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Lst>
  <p:notesMasterIdLst>
    <p:notesMasterId r:id="rId211"/>
  </p:notesMasterIdLst>
  <p:handoutMasterIdLst>
    <p:handoutMasterId r:id="rId212"/>
  </p:handoutMasterIdLst>
  <p:sldIdLst>
    <p:sldId id="920" r:id="rId3"/>
    <p:sldId id="1763" r:id="rId4"/>
    <p:sldId id="866" r:id="rId5"/>
    <p:sldId id="922" r:id="rId6"/>
    <p:sldId id="915" r:id="rId7"/>
    <p:sldId id="921" r:id="rId8"/>
    <p:sldId id="1320" r:id="rId9"/>
    <p:sldId id="923" r:id="rId10"/>
    <p:sldId id="1206" r:id="rId11"/>
    <p:sldId id="1087" r:id="rId12"/>
    <p:sldId id="1224" r:id="rId13"/>
    <p:sldId id="1225" r:id="rId14"/>
    <p:sldId id="1210" r:id="rId15"/>
    <p:sldId id="1221" r:id="rId16"/>
    <p:sldId id="869" r:id="rId17"/>
    <p:sldId id="990" r:id="rId18"/>
    <p:sldId id="872" r:id="rId19"/>
    <p:sldId id="886" r:id="rId20"/>
    <p:sldId id="947" r:id="rId21"/>
    <p:sldId id="991" r:id="rId22"/>
    <p:sldId id="1209" r:id="rId23"/>
    <p:sldId id="891" r:id="rId24"/>
    <p:sldId id="942" r:id="rId25"/>
    <p:sldId id="893" r:id="rId26"/>
    <p:sldId id="895" r:id="rId27"/>
    <p:sldId id="894" r:id="rId28"/>
    <p:sldId id="898" r:id="rId29"/>
    <p:sldId id="900" r:id="rId30"/>
    <p:sldId id="956" r:id="rId31"/>
    <p:sldId id="1211" r:id="rId32"/>
    <p:sldId id="1222" r:id="rId33"/>
    <p:sldId id="1148" r:id="rId34"/>
    <p:sldId id="949" r:id="rId35"/>
    <p:sldId id="1214" r:id="rId36"/>
    <p:sldId id="1223" r:id="rId37"/>
    <p:sldId id="929" r:id="rId38"/>
    <p:sldId id="945" r:id="rId39"/>
    <p:sldId id="1000" r:id="rId40"/>
    <p:sldId id="1072" r:id="rId41"/>
    <p:sldId id="1001" r:id="rId42"/>
    <p:sldId id="1073" r:id="rId43"/>
    <p:sldId id="1217" r:id="rId44"/>
    <p:sldId id="1216" r:id="rId45"/>
    <p:sldId id="1074" r:id="rId46"/>
    <p:sldId id="1218" r:id="rId47"/>
    <p:sldId id="1075" r:id="rId48"/>
    <p:sldId id="913" r:id="rId49"/>
    <p:sldId id="982" r:id="rId50"/>
    <p:sldId id="983" r:id="rId51"/>
    <p:sldId id="1250" r:id="rId52"/>
    <p:sldId id="1226" r:id="rId53"/>
    <p:sldId id="1085" r:id="rId54"/>
    <p:sldId id="1053" r:id="rId55"/>
    <p:sldId id="1228" r:id="rId56"/>
    <p:sldId id="937" r:id="rId57"/>
    <p:sldId id="1008" r:id="rId58"/>
    <p:sldId id="1019" r:id="rId59"/>
    <p:sldId id="1070" r:id="rId60"/>
    <p:sldId id="1027" r:id="rId61"/>
    <p:sldId id="1007" r:id="rId62"/>
    <p:sldId id="1029" r:id="rId63"/>
    <p:sldId id="1021" r:id="rId64"/>
    <p:sldId id="1031" r:id="rId65"/>
    <p:sldId id="1030" r:id="rId66"/>
    <p:sldId id="1231" r:id="rId67"/>
    <p:sldId id="1033" r:id="rId68"/>
    <p:sldId id="1037" r:id="rId69"/>
    <p:sldId id="1048" r:id="rId70"/>
    <p:sldId id="1015" r:id="rId71"/>
    <p:sldId id="1229" r:id="rId72"/>
    <p:sldId id="1232" r:id="rId73"/>
    <p:sldId id="1233" r:id="rId74"/>
    <p:sldId id="1230" r:id="rId75"/>
    <p:sldId id="938" r:id="rId76"/>
    <p:sldId id="1052" r:id="rId77"/>
    <p:sldId id="1056" r:id="rId78"/>
    <p:sldId id="1227" r:id="rId79"/>
    <p:sldId id="1236" r:id="rId80"/>
    <p:sldId id="1319" r:id="rId81"/>
    <p:sldId id="1238" r:id="rId82"/>
    <p:sldId id="1241" r:id="rId83"/>
    <p:sldId id="1237" r:id="rId84"/>
    <p:sldId id="1244" r:id="rId85"/>
    <p:sldId id="1243" r:id="rId86"/>
    <p:sldId id="1245" r:id="rId87"/>
    <p:sldId id="1104" r:id="rId88"/>
    <p:sldId id="1090" r:id="rId89"/>
    <p:sldId id="1106" r:id="rId90"/>
    <p:sldId id="1107" r:id="rId91"/>
    <p:sldId id="1108" r:id="rId92"/>
    <p:sldId id="1109" r:id="rId93"/>
    <p:sldId id="1114" r:id="rId94"/>
    <p:sldId id="1110" r:id="rId95"/>
    <p:sldId id="1120" r:id="rId96"/>
    <p:sldId id="1111" r:id="rId97"/>
    <p:sldId id="1118" r:id="rId98"/>
    <p:sldId id="1246" r:id="rId99"/>
    <p:sldId id="1141" r:id="rId100"/>
    <p:sldId id="1137" r:id="rId101"/>
    <p:sldId id="1139" r:id="rId102"/>
    <p:sldId id="1144" r:id="rId103"/>
    <p:sldId id="1145" r:id="rId104"/>
    <p:sldId id="1136" r:id="rId105"/>
    <p:sldId id="1247" r:id="rId106"/>
    <p:sldId id="1248" r:id="rId107"/>
    <p:sldId id="1099" r:id="rId108"/>
    <p:sldId id="1249" r:id="rId109"/>
    <p:sldId id="1308" r:id="rId110"/>
    <p:sldId id="1239" r:id="rId111"/>
    <p:sldId id="1253" r:id="rId112"/>
    <p:sldId id="1254" r:id="rId113"/>
    <p:sldId id="1213" r:id="rId114"/>
    <p:sldId id="1309" r:id="rId115"/>
    <p:sldId id="1310" r:id="rId116"/>
    <p:sldId id="1311" r:id="rId117"/>
    <p:sldId id="1295" r:id="rId118"/>
    <p:sldId id="1312" r:id="rId119"/>
    <p:sldId id="1251" r:id="rId120"/>
    <p:sldId id="1240" r:id="rId121"/>
    <p:sldId id="1314" r:id="rId122"/>
    <p:sldId id="1313" r:id="rId123"/>
    <p:sldId id="1278" r:id="rId124"/>
    <p:sldId id="1265" r:id="rId125"/>
    <p:sldId id="1279" r:id="rId126"/>
    <p:sldId id="1281" r:id="rId127"/>
    <p:sldId id="1280" r:id="rId128"/>
    <p:sldId id="1300" r:id="rId129"/>
    <p:sldId id="1301" r:id="rId130"/>
    <p:sldId id="1268" r:id="rId131"/>
    <p:sldId id="1269" r:id="rId132"/>
    <p:sldId id="1302" r:id="rId133"/>
    <p:sldId id="1303" r:id="rId134"/>
    <p:sldId id="1304" r:id="rId135"/>
    <p:sldId id="1292" r:id="rId136"/>
    <p:sldId id="1252" r:id="rId137"/>
    <p:sldId id="1305" r:id="rId138"/>
    <p:sldId id="1287" r:id="rId139"/>
    <p:sldId id="1282" r:id="rId140"/>
    <p:sldId id="1284" r:id="rId141"/>
    <p:sldId id="1306" r:id="rId142"/>
    <p:sldId id="1307" r:id="rId143"/>
    <p:sldId id="1317" r:id="rId144"/>
    <p:sldId id="1316" r:id="rId145"/>
    <p:sldId id="1315" r:id="rId146"/>
    <p:sldId id="1321" r:id="rId147"/>
    <p:sldId id="1322" r:id="rId148"/>
    <p:sldId id="1323" r:id="rId149"/>
    <p:sldId id="1208" r:id="rId150"/>
    <p:sldId id="1212" r:id="rId151"/>
    <p:sldId id="1326" r:id="rId152"/>
    <p:sldId id="1327" r:id="rId153"/>
    <p:sldId id="1328" r:id="rId154"/>
    <p:sldId id="1215" r:id="rId155"/>
    <p:sldId id="1324" r:id="rId156"/>
    <p:sldId id="1329" r:id="rId157"/>
    <p:sldId id="1330" r:id="rId158"/>
    <p:sldId id="1331" r:id="rId159"/>
    <p:sldId id="1219" r:id="rId160"/>
    <p:sldId id="1220" r:id="rId161"/>
    <p:sldId id="1332" r:id="rId162"/>
    <p:sldId id="1333" r:id="rId163"/>
    <p:sldId id="1334" r:id="rId164"/>
    <p:sldId id="1335" r:id="rId165"/>
    <p:sldId id="1336" r:id="rId166"/>
    <p:sldId id="1337" r:id="rId167"/>
    <p:sldId id="1325" r:id="rId168"/>
    <p:sldId id="1338" r:id="rId169"/>
    <p:sldId id="1339" r:id="rId170"/>
    <p:sldId id="1340" r:id="rId171"/>
    <p:sldId id="1011" r:id="rId172"/>
    <p:sldId id="1204" r:id="rId173"/>
    <p:sldId id="1341" r:id="rId174"/>
    <p:sldId id="1342" r:id="rId175"/>
    <p:sldId id="1343" r:id="rId176"/>
    <p:sldId id="1344" r:id="rId177"/>
    <p:sldId id="1345" r:id="rId178"/>
    <p:sldId id="1346" r:id="rId179"/>
    <p:sldId id="1348" r:id="rId180"/>
    <p:sldId id="1347" r:id="rId181"/>
    <p:sldId id="1371" r:id="rId182"/>
    <p:sldId id="957" r:id="rId183"/>
    <p:sldId id="1360" r:id="rId184"/>
    <p:sldId id="1361" r:id="rId185"/>
    <p:sldId id="919" r:id="rId186"/>
    <p:sldId id="924" r:id="rId187"/>
    <p:sldId id="931" r:id="rId188"/>
    <p:sldId id="955" r:id="rId189"/>
    <p:sldId id="926" r:id="rId190"/>
    <p:sldId id="928" r:id="rId191"/>
    <p:sldId id="1362" r:id="rId192"/>
    <p:sldId id="927" r:id="rId193"/>
    <p:sldId id="1363" r:id="rId194"/>
    <p:sldId id="930" r:id="rId195"/>
    <p:sldId id="1364" r:id="rId196"/>
    <p:sldId id="1365" r:id="rId197"/>
    <p:sldId id="948" r:id="rId198"/>
    <p:sldId id="1366" r:id="rId199"/>
    <p:sldId id="1367" r:id="rId200"/>
    <p:sldId id="944" r:id="rId201"/>
    <p:sldId id="1368" r:id="rId202"/>
    <p:sldId id="946" r:id="rId203"/>
    <p:sldId id="940" r:id="rId204"/>
    <p:sldId id="941" r:id="rId205"/>
    <p:sldId id="939" r:id="rId206"/>
    <p:sldId id="1370" r:id="rId207"/>
    <p:sldId id="951" r:id="rId208"/>
    <p:sldId id="952" r:id="rId209"/>
    <p:sldId id="953" r:id="rId2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64155"/>
    <a:srgbClr val="2F2523"/>
    <a:srgbClr val="DFF6FF"/>
    <a:srgbClr val="F8FDFF"/>
    <a:srgbClr val="D39E00"/>
    <a:srgbClr val="F7FCFE"/>
    <a:srgbClr val="EDF7ED"/>
    <a:srgbClr val="2D350F"/>
    <a:srgbClr val="00A57C"/>
    <a:srgbClr val="FFF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9859" autoAdjust="0"/>
  </p:normalViewPr>
  <p:slideViewPr>
    <p:cSldViewPr snapToGrid="0">
      <p:cViewPr varScale="1">
        <p:scale>
          <a:sx n="97" d="100"/>
          <a:sy n="97" d="100"/>
        </p:scale>
        <p:origin x="976" y="192"/>
      </p:cViewPr>
      <p:guideLst>
        <p:guide orient="horz" pos="2137"/>
        <p:guide pos="2880"/>
      </p:guideLst>
    </p:cSldViewPr>
  </p:slideViewPr>
  <p:notesTextViewPr>
    <p:cViewPr>
      <p:scale>
        <a:sx n="130" d="100"/>
        <a:sy n="13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tableStyles" Target="tableStyle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viewProps" Target="viewProps.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theme" Target="theme/theme1.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notesMaster" Target="notesMasters/notes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handoutMaster" Target="handoutMasters/handout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349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82885-CB8F-6043-87D0-F90CE52B0672}" type="datetimeFigureOut">
              <a:rPr kumimoji="1" lang="ja-JP" altLang="en-US" smtClean="0"/>
              <a:t>2025/10/3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FD14A-E872-994C-B31E-6E17119D20B2}" type="slidenum">
              <a:rPr kumimoji="1" lang="ja-JP" altLang="en-US" smtClean="0"/>
              <a:t>‹#›</a:t>
            </a:fld>
            <a:endParaRPr kumimoji="1" lang="ja-JP" altLang="en-US"/>
          </a:p>
        </p:txBody>
      </p:sp>
    </p:spTree>
    <p:extLst>
      <p:ext uri="{BB962C8B-B14F-4D97-AF65-F5344CB8AC3E}">
        <p14:creationId xmlns:p14="http://schemas.microsoft.com/office/powerpoint/2010/main" val="3813000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E7E40-B51A-2A5E-3792-31B0709E8E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EB7193-3A4E-6016-5B9B-EDE5BF6AE1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1C1FD28-EEAD-F6C0-0F60-954C7F040627}"/>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A505D568-5BC0-69B6-FD0E-FEAFD366DA44}"/>
              </a:ext>
            </a:extLst>
          </p:cNvPr>
          <p:cNvSpPr>
            <a:spLocks noGrp="1"/>
          </p:cNvSpPr>
          <p:nvPr>
            <p:ph type="sldNum" sz="quarter" idx="5"/>
          </p:nvPr>
        </p:nvSpPr>
        <p:spPr/>
        <p:txBody>
          <a:bodyPr/>
          <a:lstStyle/>
          <a:p>
            <a:fld id="{000FD14A-E872-994C-B31E-6E17119D20B2}" type="slidenum">
              <a:rPr kumimoji="1" lang="ja-JP" altLang="en-US" smtClean="0"/>
              <a:t>10</a:t>
            </a:fld>
            <a:endParaRPr kumimoji="1" lang="ja-JP" altLang="en-US"/>
          </a:p>
        </p:txBody>
      </p:sp>
    </p:spTree>
    <p:extLst>
      <p:ext uri="{BB962C8B-B14F-4D97-AF65-F5344CB8AC3E}">
        <p14:creationId xmlns:p14="http://schemas.microsoft.com/office/powerpoint/2010/main" val="3323959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30AD-FA79-F133-258B-795954D0CF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C90507-FCAD-606A-DDA1-127E511E3A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08DCB1-8B8B-F1C0-BAF3-CF6E5DA877F4}"/>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E39C1297-708B-3583-E8EB-02AF63966E58}"/>
              </a:ext>
            </a:extLst>
          </p:cNvPr>
          <p:cNvSpPr>
            <a:spLocks noGrp="1"/>
          </p:cNvSpPr>
          <p:nvPr>
            <p:ph type="sldNum" sz="quarter" idx="5"/>
          </p:nvPr>
        </p:nvSpPr>
        <p:spPr/>
        <p:txBody>
          <a:bodyPr/>
          <a:lstStyle/>
          <a:p>
            <a:fld id="{000FD14A-E872-994C-B31E-6E17119D20B2}" type="slidenum">
              <a:rPr kumimoji="1" lang="ja-JP" altLang="en-US" smtClean="0"/>
              <a:t>11</a:t>
            </a:fld>
            <a:endParaRPr kumimoji="1" lang="ja-JP" altLang="en-US"/>
          </a:p>
        </p:txBody>
      </p:sp>
    </p:spTree>
    <p:extLst>
      <p:ext uri="{BB962C8B-B14F-4D97-AF65-F5344CB8AC3E}">
        <p14:creationId xmlns:p14="http://schemas.microsoft.com/office/powerpoint/2010/main" val="911311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GB"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29</a:t>
            </a:fld>
            <a:endParaRPr kumimoji="1" lang="ja-JP" altLang="en-US"/>
          </a:p>
        </p:txBody>
      </p:sp>
    </p:spTree>
    <p:extLst>
      <p:ext uri="{BB962C8B-B14F-4D97-AF65-F5344CB8AC3E}">
        <p14:creationId xmlns:p14="http://schemas.microsoft.com/office/powerpoint/2010/main" val="1601061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GB"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33</a:t>
            </a:fld>
            <a:endParaRPr kumimoji="1" lang="ja-JP" altLang="en-US"/>
          </a:p>
        </p:txBody>
      </p:sp>
    </p:spTree>
    <p:extLst>
      <p:ext uri="{BB962C8B-B14F-4D97-AF65-F5344CB8AC3E}">
        <p14:creationId xmlns:p14="http://schemas.microsoft.com/office/powerpoint/2010/main" val="2757633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5B40-A559-46F2-F097-C1AB97E8E9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2B243-BD13-4BE6-E299-7A16B03F90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CC430F8-E51D-510C-699A-D74029E69732}"/>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AE7B2C88-3E63-9E17-6B8C-434492B48B42}"/>
              </a:ext>
            </a:extLst>
          </p:cNvPr>
          <p:cNvSpPr>
            <a:spLocks noGrp="1"/>
          </p:cNvSpPr>
          <p:nvPr>
            <p:ph type="sldNum" sz="quarter" idx="5"/>
          </p:nvPr>
        </p:nvSpPr>
        <p:spPr/>
        <p:txBody>
          <a:bodyPr/>
          <a:lstStyle/>
          <a:p>
            <a:fld id="{000FD14A-E872-994C-B31E-6E17119D20B2}" type="slidenum">
              <a:rPr kumimoji="1" lang="ja-JP" altLang="en-US" smtClean="0"/>
              <a:t>34</a:t>
            </a:fld>
            <a:endParaRPr kumimoji="1" lang="ja-JP" altLang="en-US"/>
          </a:p>
        </p:txBody>
      </p:sp>
    </p:spTree>
    <p:extLst>
      <p:ext uri="{BB962C8B-B14F-4D97-AF65-F5344CB8AC3E}">
        <p14:creationId xmlns:p14="http://schemas.microsoft.com/office/powerpoint/2010/main" val="2451778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AF712-061E-3511-156A-2C40D1A98F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4C02B34-25C3-52B4-EDC2-F21CFC662F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56387F-820A-C983-DEAB-A0A3758CFFB6}"/>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5E4D9440-0F81-93FD-6FB2-3336BFCDD2A2}"/>
              </a:ext>
            </a:extLst>
          </p:cNvPr>
          <p:cNvSpPr>
            <a:spLocks noGrp="1"/>
          </p:cNvSpPr>
          <p:nvPr>
            <p:ph type="sldNum" sz="quarter" idx="5"/>
          </p:nvPr>
        </p:nvSpPr>
        <p:spPr/>
        <p:txBody>
          <a:bodyPr/>
          <a:lstStyle/>
          <a:p>
            <a:fld id="{000FD14A-E872-994C-B31E-6E17119D20B2}" type="slidenum">
              <a:rPr kumimoji="1" lang="ja-JP" altLang="en-US" smtClean="0"/>
              <a:t>50</a:t>
            </a:fld>
            <a:endParaRPr kumimoji="1" lang="ja-JP" altLang="en-US"/>
          </a:p>
        </p:txBody>
      </p:sp>
    </p:spTree>
    <p:extLst>
      <p:ext uri="{BB962C8B-B14F-4D97-AF65-F5344CB8AC3E}">
        <p14:creationId xmlns:p14="http://schemas.microsoft.com/office/powerpoint/2010/main" val="218820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EEA5-11D4-8C22-9344-33EE599141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971826-96D2-3F7F-F69D-E9C058A23D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125CA56-70D6-2572-3C2D-04F4314EFBC7}"/>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029685C6-F160-01ED-F710-FEF0C4CF6153}"/>
              </a:ext>
            </a:extLst>
          </p:cNvPr>
          <p:cNvSpPr>
            <a:spLocks noGrp="1"/>
          </p:cNvSpPr>
          <p:nvPr>
            <p:ph type="sldNum" sz="quarter" idx="5"/>
          </p:nvPr>
        </p:nvSpPr>
        <p:spPr/>
        <p:txBody>
          <a:bodyPr/>
          <a:lstStyle/>
          <a:p>
            <a:fld id="{000FD14A-E872-994C-B31E-6E17119D20B2}" type="slidenum">
              <a:rPr kumimoji="1" lang="ja-JP" altLang="en-US" smtClean="0"/>
              <a:t>52</a:t>
            </a:fld>
            <a:endParaRPr kumimoji="1" lang="ja-JP" altLang="en-US"/>
          </a:p>
        </p:txBody>
      </p:sp>
    </p:spTree>
    <p:extLst>
      <p:ext uri="{BB962C8B-B14F-4D97-AF65-F5344CB8AC3E}">
        <p14:creationId xmlns:p14="http://schemas.microsoft.com/office/powerpoint/2010/main" val="2798198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60</a:t>
            </a:fld>
            <a:endParaRPr kumimoji="1" lang="ja-JP" altLang="en-US"/>
          </a:p>
        </p:txBody>
      </p:sp>
    </p:spTree>
    <p:extLst>
      <p:ext uri="{BB962C8B-B14F-4D97-AF65-F5344CB8AC3E}">
        <p14:creationId xmlns:p14="http://schemas.microsoft.com/office/powerpoint/2010/main" val="2313878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A94A-4441-3761-0B8F-1428C09E55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3076DF-A0B4-C14E-D9BA-453AA23215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782F82-6966-CC65-4BCF-C299569FA75A}"/>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28132DF7-4B42-3477-96BA-3B9E950EEACF}"/>
              </a:ext>
            </a:extLst>
          </p:cNvPr>
          <p:cNvSpPr>
            <a:spLocks noGrp="1"/>
          </p:cNvSpPr>
          <p:nvPr>
            <p:ph type="sldNum" sz="quarter" idx="5"/>
          </p:nvPr>
        </p:nvSpPr>
        <p:spPr/>
        <p:txBody>
          <a:bodyPr/>
          <a:lstStyle/>
          <a:p>
            <a:fld id="{000FD14A-E872-994C-B31E-6E17119D20B2}" type="slidenum">
              <a:rPr kumimoji="1" lang="ja-JP" altLang="en-US" smtClean="0"/>
              <a:t>78</a:t>
            </a:fld>
            <a:endParaRPr kumimoji="1" lang="ja-JP" altLang="en-US"/>
          </a:p>
        </p:txBody>
      </p:sp>
    </p:spTree>
    <p:extLst>
      <p:ext uri="{BB962C8B-B14F-4D97-AF65-F5344CB8AC3E}">
        <p14:creationId xmlns:p14="http://schemas.microsoft.com/office/powerpoint/2010/main" val="3307912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93</a:t>
            </a:fld>
            <a:endParaRPr kumimoji="1" lang="ja-JP" altLang="en-US"/>
          </a:p>
        </p:txBody>
      </p:sp>
    </p:spTree>
    <p:extLst>
      <p:ext uri="{BB962C8B-B14F-4D97-AF65-F5344CB8AC3E}">
        <p14:creationId xmlns:p14="http://schemas.microsoft.com/office/powerpoint/2010/main" val="2127350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B518-EE52-8F08-5E2E-9079F033C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7A6E48-48D9-B77F-4C63-AC59FBD997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3270C4-677B-B2DD-2D40-05528A315459}"/>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B17B46FA-BD31-4B62-8442-9DE95863DBB0}"/>
              </a:ext>
            </a:extLst>
          </p:cNvPr>
          <p:cNvSpPr>
            <a:spLocks noGrp="1"/>
          </p:cNvSpPr>
          <p:nvPr>
            <p:ph type="sldNum" sz="quarter" idx="5"/>
          </p:nvPr>
        </p:nvSpPr>
        <p:spPr/>
        <p:txBody>
          <a:bodyPr/>
          <a:lstStyle/>
          <a:p>
            <a:fld id="{000FD14A-E872-994C-B31E-6E17119D20B2}" type="slidenum">
              <a:rPr kumimoji="1" lang="ja-JP" altLang="en-US" smtClean="0"/>
              <a:t>94</a:t>
            </a:fld>
            <a:endParaRPr kumimoji="1" lang="ja-JP" altLang="en-US"/>
          </a:p>
        </p:txBody>
      </p:sp>
    </p:spTree>
    <p:extLst>
      <p:ext uri="{BB962C8B-B14F-4D97-AF65-F5344CB8AC3E}">
        <p14:creationId xmlns:p14="http://schemas.microsoft.com/office/powerpoint/2010/main" val="4039558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114</a:t>
            </a:fld>
            <a:endParaRPr kumimoji="1" lang="ja-JP" altLang="en-US"/>
          </a:p>
        </p:txBody>
      </p:sp>
    </p:spTree>
    <p:extLst>
      <p:ext uri="{BB962C8B-B14F-4D97-AF65-F5344CB8AC3E}">
        <p14:creationId xmlns:p14="http://schemas.microsoft.com/office/powerpoint/2010/main" val="1714769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94A-D18B-73BE-2977-431F935769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7AD83D-D7DB-45B3-C709-FCF31759AF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FE63E9-8A38-2062-0785-E1C36020C4FA}"/>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755E1ECF-C9FC-E79E-CD9F-CB4F1A116AEE}"/>
              </a:ext>
            </a:extLst>
          </p:cNvPr>
          <p:cNvSpPr>
            <a:spLocks noGrp="1"/>
          </p:cNvSpPr>
          <p:nvPr>
            <p:ph type="sldNum" sz="quarter" idx="5"/>
          </p:nvPr>
        </p:nvSpPr>
        <p:spPr/>
        <p:txBody>
          <a:bodyPr/>
          <a:lstStyle/>
          <a:p>
            <a:fld id="{000FD14A-E872-994C-B31E-6E17119D20B2}" type="slidenum">
              <a:rPr kumimoji="1" lang="ja-JP" altLang="en-US" smtClean="0"/>
              <a:t>122</a:t>
            </a:fld>
            <a:endParaRPr kumimoji="1" lang="ja-JP" altLang="en-US"/>
          </a:p>
        </p:txBody>
      </p:sp>
    </p:spTree>
    <p:extLst>
      <p:ext uri="{BB962C8B-B14F-4D97-AF65-F5344CB8AC3E}">
        <p14:creationId xmlns:p14="http://schemas.microsoft.com/office/powerpoint/2010/main" val="2846782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3AB65-C871-1BA1-30BE-D6BE3D1E38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4DB70-3179-EB86-3465-75297F48A8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13BA7C4-C022-0817-F2E5-DB54E5A1DE74}"/>
              </a:ext>
            </a:extLst>
          </p:cNvPr>
          <p:cNvSpPr>
            <a:spLocks noGrp="1"/>
          </p:cNvSpPr>
          <p:nvPr>
            <p:ph type="body" idx="1"/>
          </p:nvPr>
        </p:nvSpPr>
        <p:spPr/>
        <p:txBody>
          <a:bodyPr/>
          <a:lstStyle/>
          <a:p>
            <a:endParaRPr kumimoji="1" lang="ja-GB" altLang="en-US" dirty="0"/>
          </a:p>
        </p:txBody>
      </p:sp>
      <p:sp>
        <p:nvSpPr>
          <p:cNvPr id="4" name="スライド番号プレースホルダー 3">
            <a:extLst>
              <a:ext uri="{FF2B5EF4-FFF2-40B4-BE49-F238E27FC236}">
                <a16:creationId xmlns:a16="http://schemas.microsoft.com/office/drawing/2014/main" id="{3FFB7077-5820-785C-2FA0-06B85F150CCE}"/>
              </a:ext>
            </a:extLst>
          </p:cNvPr>
          <p:cNvSpPr>
            <a:spLocks noGrp="1"/>
          </p:cNvSpPr>
          <p:nvPr>
            <p:ph type="sldNum" sz="quarter" idx="5"/>
          </p:nvPr>
        </p:nvSpPr>
        <p:spPr/>
        <p:txBody>
          <a:bodyPr/>
          <a:lstStyle/>
          <a:p>
            <a:fld id="{000FD14A-E872-994C-B31E-6E17119D20B2}" type="slidenum">
              <a:rPr kumimoji="1" lang="ja-JP" altLang="en-US" smtClean="0"/>
              <a:t>170</a:t>
            </a:fld>
            <a:endParaRPr kumimoji="1" lang="ja-JP" altLang="en-US"/>
          </a:p>
        </p:txBody>
      </p:sp>
    </p:spTree>
    <p:extLst>
      <p:ext uri="{BB962C8B-B14F-4D97-AF65-F5344CB8AC3E}">
        <p14:creationId xmlns:p14="http://schemas.microsoft.com/office/powerpoint/2010/main" val="3497200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GB" altLang="en-US" dirty="0"/>
          </a:p>
        </p:txBody>
      </p:sp>
      <p:sp>
        <p:nvSpPr>
          <p:cNvPr id="4" name="スライド番号プレースホルダー 3"/>
          <p:cNvSpPr>
            <a:spLocks noGrp="1"/>
          </p:cNvSpPr>
          <p:nvPr>
            <p:ph type="sldNum" sz="quarter" idx="5"/>
          </p:nvPr>
        </p:nvSpPr>
        <p:spPr/>
        <p:txBody>
          <a:bodyPr/>
          <a:lstStyle/>
          <a:p>
            <a:fld id="{000FD14A-E872-994C-B31E-6E17119D20B2}" type="slidenum">
              <a:rPr kumimoji="1" lang="ja-JP" altLang="en-US" smtClean="0"/>
              <a:t>207</a:t>
            </a:fld>
            <a:endParaRPr kumimoji="1" lang="ja-JP" altLang="en-US"/>
          </a:p>
        </p:txBody>
      </p:sp>
    </p:spTree>
    <p:extLst>
      <p:ext uri="{BB962C8B-B14F-4D97-AF65-F5344CB8AC3E}">
        <p14:creationId xmlns:p14="http://schemas.microsoft.com/office/powerpoint/2010/main" val="920731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41400"/>
            <a:ext cx="84582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143000" y="4256881"/>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extLst>
      <p:ext uri="{BB962C8B-B14F-4D97-AF65-F5344CB8AC3E}">
        <p14:creationId xmlns:p14="http://schemas.microsoft.com/office/powerpoint/2010/main" val="225196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1662456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4_タイトル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1201587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タイトルとコンテンツ">
    <p:bg>
      <p:bgPr>
        <a:solidFill>
          <a:schemeClr val="bg1">
            <a:lumMod val="95000"/>
          </a:schemeClr>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rgbClr val="2F2523"/>
                </a:solidFill>
              </a:defRPr>
            </a:lvl1pPr>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3670458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chemeClr val="accent6">
              <a:lumMod val="5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chemeClr val="accent6">
                    <a:lumMod val="50000"/>
                  </a:schemeClr>
                </a:solidFill>
              </a:defRPr>
            </a:lvl1pPr>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290541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A641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1pPr>
              <a:defRPr>
                <a:solidFill>
                  <a:srgbClr val="A64155"/>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406316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03B7421-E648-C6E0-525B-AB5F8ADAED49}"/>
              </a:ext>
            </a:extLst>
          </p:cNvPr>
          <p:cNvSpPr/>
          <p:nvPr userDrawn="1"/>
        </p:nvSpPr>
        <p:spPr>
          <a:xfrm>
            <a:off x="0" y="0"/>
            <a:ext cx="9144000" cy="1046163"/>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タイトル 1">
            <a:extLst>
              <a:ext uri="{FF2B5EF4-FFF2-40B4-BE49-F238E27FC236}">
                <a16:creationId xmlns:a16="http://schemas.microsoft.com/office/drawing/2014/main" id="{C670D3B4-8BD2-3A7A-FAE9-F2A1421B0834}"/>
              </a:ext>
            </a:extLst>
          </p:cNvPr>
          <p:cNvSpPr>
            <a:spLocks noGrp="1"/>
          </p:cNvSpPr>
          <p:nvPr>
            <p:ph type="title"/>
          </p:nvPr>
        </p:nvSpPr>
        <p:spPr/>
        <p:txBody>
          <a:bodyPr/>
          <a:lstStyle/>
          <a:p>
            <a:r>
              <a:rPr kumimoji="1" lang="ja-JP" altLang="en-US"/>
              <a:t>マスター タイトルの書式設定</a:t>
            </a:r>
          </a:p>
        </p:txBody>
      </p:sp>
      <p:sp>
        <p:nvSpPr>
          <p:cNvPr id="4" name="Slide Number Placeholder 4">
            <a:extLst>
              <a:ext uri="{FF2B5EF4-FFF2-40B4-BE49-F238E27FC236}">
                <a16:creationId xmlns:a16="http://schemas.microsoft.com/office/drawing/2014/main" id="{6A06C13F-E606-6F12-D501-090C2E3BA469}"/>
              </a:ext>
            </a:extLst>
          </p:cNvPr>
          <p:cNvSpPr txBox="1">
            <a:spLocks/>
          </p:cNvSpPr>
          <p:nvPr userDrawn="1"/>
        </p:nvSpPr>
        <p:spPr>
          <a:xfrm>
            <a:off x="7741918" y="61644"/>
            <a:ext cx="1087755" cy="94342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mtClean="0">
                <a:solidFill>
                  <a:srgbClr val="FDFBEC"/>
                </a:solidFill>
              </a:rPr>
              <a:pPr algn="ctr"/>
              <a:t>‹#›</a:t>
            </a:fld>
            <a:endParaRPr kumimoji="1" lang="ja-JP" altLang="en-US">
              <a:solidFill>
                <a:srgbClr val="FDFBEC"/>
              </a:solidFill>
            </a:endParaRPr>
          </a:p>
        </p:txBody>
      </p:sp>
    </p:spTree>
    <p:extLst>
      <p:ext uri="{BB962C8B-B14F-4D97-AF65-F5344CB8AC3E}">
        <p14:creationId xmlns:p14="http://schemas.microsoft.com/office/powerpoint/2010/main" val="74693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41400"/>
            <a:ext cx="8458200" cy="2387600"/>
          </a:xfrm>
        </p:spPr>
        <p:txBody>
          <a:bodyPr anchor="b">
            <a:normAutofit/>
          </a:bodyPr>
          <a:lstStyle>
            <a:lvl1pPr algn="ctr">
              <a:defRPr sz="3600">
                <a:solidFill>
                  <a:srgbClr val="002060"/>
                </a:solidFill>
              </a:defRPr>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extLst>
      <p:ext uri="{BB962C8B-B14F-4D97-AF65-F5344CB8AC3E}">
        <p14:creationId xmlns:p14="http://schemas.microsoft.com/office/powerpoint/2010/main" val="1233396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071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B9E8174-6630-E243-91AC-443BD34E9CE1}"/>
              </a:ext>
            </a:extLst>
          </p:cNvPr>
          <p:cNvSpPr/>
          <p:nvPr userDrawn="1"/>
        </p:nvSpPr>
        <p:spPr>
          <a:xfrm>
            <a:off x="0" y="0"/>
            <a:ext cx="9144000" cy="65922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solidFill>
            </a:endParaRPr>
          </a:p>
        </p:txBody>
      </p:sp>
      <p:sp>
        <p:nvSpPr>
          <p:cNvPr id="2" name="Title 1"/>
          <p:cNvSpPr>
            <a:spLocks noGrp="1"/>
          </p:cNvSpPr>
          <p:nvPr>
            <p:ph type="title"/>
          </p:nvPr>
        </p:nvSpPr>
        <p:spPr>
          <a:xfrm>
            <a:off x="314325" y="17679"/>
            <a:ext cx="7595184" cy="641540"/>
          </a:xfrm>
        </p:spPr>
        <p:txBody>
          <a:bodyPr anchor="ctr"/>
          <a:lstStyle>
            <a:lvl1pPr>
              <a:defRPr sz="2800">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14325" y="854765"/>
            <a:ext cx="8515350" cy="6003234"/>
          </a:xfrm>
        </p:spPr>
        <p:txBody>
          <a:bodyPr/>
          <a:lstStyle>
            <a:lvl3pPr>
              <a:defRPr>
                <a:solidFill>
                  <a:srgbClr val="2F2624"/>
                </a:solidFill>
              </a:defRPr>
            </a:lvl3pPr>
            <a:lvl4pPr>
              <a:defRPr>
                <a:solidFill>
                  <a:srgbClr val="2F2624"/>
                </a:solidFill>
              </a:defRPr>
            </a:lvl4pPr>
            <a:lvl5pPr>
              <a:defRPr>
                <a:solidFill>
                  <a:srgbClr val="2F2624"/>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Slide Number Placeholder 4">
            <a:extLst>
              <a:ext uri="{FF2B5EF4-FFF2-40B4-BE49-F238E27FC236}">
                <a16:creationId xmlns:a16="http://schemas.microsoft.com/office/drawing/2014/main" id="{50E9AB7F-67B4-E040-AAD5-5E8CCF7FCA83}"/>
              </a:ext>
            </a:extLst>
          </p:cNvPr>
          <p:cNvSpPr txBox="1">
            <a:spLocks/>
          </p:cNvSpPr>
          <p:nvPr userDrawn="1"/>
        </p:nvSpPr>
        <p:spPr>
          <a:xfrm>
            <a:off x="7909509" y="17679"/>
            <a:ext cx="920166" cy="641540"/>
          </a:xfrm>
          <a:prstGeom prst="rect">
            <a:avLst/>
          </a:prstGeom>
        </p:spPr>
        <p:txBody>
          <a:bodyPr anchor="ctr"/>
          <a:lstStyle>
            <a:defPPr>
              <a:defRPr lang="en-US"/>
            </a:defPPr>
            <a:lvl1pPr marL="0" algn="l" defTabSz="457200" rtl="0" eaLnBrk="1" latinLnBrk="0" hangingPunct="1">
              <a:defRPr sz="3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355D15C-4A7A-1640-A605-3CDA8E31B7D0}" type="slidenum">
              <a:rPr kumimoji="1" lang="ja-JP" altLang="en-US" sz="2800" smtClean="0">
                <a:solidFill>
                  <a:srgbClr val="FDFBEC"/>
                </a:solidFill>
              </a:rPr>
              <a:pPr algn="ctr"/>
              <a:t>‹#›</a:t>
            </a:fld>
            <a:endParaRPr kumimoji="1" lang="ja-JP" altLang="en-US" sz="2800">
              <a:solidFill>
                <a:srgbClr val="FDFBEC"/>
              </a:solidFill>
            </a:endParaRPr>
          </a:p>
        </p:txBody>
      </p:sp>
    </p:spTree>
    <p:extLst>
      <p:ext uri="{BB962C8B-B14F-4D97-AF65-F5344CB8AC3E}">
        <p14:creationId xmlns:p14="http://schemas.microsoft.com/office/powerpoint/2010/main" val="4141493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C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4325" y="113016"/>
            <a:ext cx="8515350" cy="922759"/>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314325" y="1270000"/>
            <a:ext cx="8515350" cy="5587999"/>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テキスト ボックス 3">
            <a:extLst>
              <a:ext uri="{FF2B5EF4-FFF2-40B4-BE49-F238E27FC236}">
                <a16:creationId xmlns:a16="http://schemas.microsoft.com/office/drawing/2014/main" id="{D49A627A-A4E9-D124-69A0-CBFDD6245443}"/>
              </a:ext>
            </a:extLst>
          </p:cNvPr>
          <p:cNvSpPr txBox="1"/>
          <p:nvPr userDrawn="1"/>
        </p:nvSpPr>
        <p:spPr>
          <a:xfrm>
            <a:off x="7866086" y="6618026"/>
            <a:ext cx="1277914" cy="253916"/>
          </a:xfrm>
          <a:prstGeom prst="rect">
            <a:avLst/>
          </a:prstGeom>
          <a:noFill/>
        </p:spPr>
        <p:txBody>
          <a:bodyPr wrap="none" rtlCol="0">
            <a:spAutoFit/>
          </a:bodyPr>
          <a:lstStyle/>
          <a:p>
            <a:r>
              <a:rPr kumimoji="1" lang="en-US" altLang="ja-GB" sz="1050" dirty="0">
                <a:solidFill>
                  <a:schemeClr val="bg1">
                    <a:lumMod val="95000"/>
                  </a:schemeClr>
                </a:solidFill>
              </a:rPr>
              <a:t>©2025 Rio Tomioka</a:t>
            </a:r>
            <a:endParaRPr kumimoji="1" lang="ja-GB" altLang="en-US" sz="1050" dirty="0">
              <a:solidFill>
                <a:schemeClr val="bg1">
                  <a:lumMod val="95000"/>
                </a:schemeClr>
              </a:solidFill>
            </a:endParaRPr>
          </a:p>
        </p:txBody>
      </p:sp>
    </p:spTree>
    <p:extLst>
      <p:ext uri="{BB962C8B-B14F-4D97-AF65-F5344CB8AC3E}">
        <p14:creationId xmlns:p14="http://schemas.microsoft.com/office/powerpoint/2010/main" val="2199914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1" r:id="rId3"/>
    <p:sldLayoutId id="2147483670" r:id="rId4"/>
    <p:sldLayoutId id="2147483669" r:id="rId5"/>
    <p:sldLayoutId id="2147483668" r:id="rId6"/>
    <p:sldLayoutId id="2147483666" r:id="rId7"/>
  </p:sldLayoutIdLst>
  <p:hf hdr="0" ftr="0" dt="0"/>
  <p:txStyles>
    <p:titleStyle>
      <a:lvl1pPr algn="l" defTabSz="914400" rtl="0" eaLnBrk="1" latinLnBrk="0" hangingPunct="1">
        <a:lnSpc>
          <a:spcPct val="90000"/>
        </a:lnSpc>
        <a:spcBef>
          <a:spcPct val="0"/>
        </a:spcBef>
        <a:buNone/>
        <a:defRPr kumimoji="1" sz="3600" b="1" kern="1200" baseline="0">
          <a:solidFill>
            <a:schemeClr val="bg1"/>
          </a:solidFill>
          <a:latin typeface="Yu Gothic UI" panose="020B0500000000000000" pitchFamily="34" charset="-128"/>
          <a:ea typeface="Yu Gothic UI" panose="020B05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7FC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4325" y="113016"/>
            <a:ext cx="8515350" cy="922759"/>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314325" y="1270000"/>
            <a:ext cx="8515350" cy="5587999"/>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extLst>
      <p:ext uri="{BB962C8B-B14F-4D97-AF65-F5344CB8AC3E}">
        <p14:creationId xmlns:p14="http://schemas.microsoft.com/office/powerpoint/2010/main" val="2880840127"/>
      </p:ext>
    </p:extLst>
  </p:cSld>
  <p:clrMap bg1="lt1" tx1="dk1" bg2="lt2" tx2="dk2" accent1="accent1" accent2="accent2" accent3="accent3" accent4="accent4" accent5="accent5" accent6="accent6" hlink="hlink" folHlink="folHlink"/>
  <p:sldLayoutIdLst>
    <p:sldLayoutId id="2147483674" r:id="rId1"/>
    <p:sldLayoutId id="2147483681" r:id="rId2"/>
    <p:sldLayoutId id="2147483682" r:id="rId3"/>
  </p:sldLayoutIdLst>
  <p:hf hdr="0" ftr="0" dt="0"/>
  <p:txStyles>
    <p:titleStyle>
      <a:lvl1pPr algn="l" defTabSz="914400" rtl="0" eaLnBrk="1" latinLnBrk="0" hangingPunct="1">
        <a:lnSpc>
          <a:spcPct val="90000"/>
        </a:lnSpc>
        <a:spcBef>
          <a:spcPct val="0"/>
        </a:spcBef>
        <a:buNone/>
        <a:defRPr kumimoji="1" sz="3600" b="1" kern="1200" baseline="0">
          <a:solidFill>
            <a:schemeClr val="bg1"/>
          </a:solidFill>
          <a:latin typeface="Yu Gothic UI" panose="020B0500000000000000" pitchFamily="34" charset="-128"/>
          <a:ea typeface="Yu Gothic UI" panose="020B05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jpg"/><Relationship Id="rId5" Type="http://schemas.openxmlformats.org/officeDocument/2006/relationships/image" Target="../media/image4.jpe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8.emf"/></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hyperlink" Target="https://www.jma.go.jp/jma/kishou/know/whitep/1-3-1.html" TargetMode="External"/><Relationship Id="rId4" Type="http://schemas.openxmlformats.org/officeDocument/2006/relationships/hyperlink" Target="https://www.jma.go.jp/jma/kishou/books/nwpleaflet/index.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commons.wikimedia.org/w/index.php?curid=47640595" TargetMode="External"/><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hyperlink" Target="https://www.soumu.go.jp/johotsusintokei/whitepaper/ja/h30/html/nd135210.html"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jp.toto.com/company/csr/environment/greenfactory/?utm_source=chatgpt.com" TargetMode="External"/><Relationship Id="rId2" Type="http://schemas.openxmlformats.org/officeDocument/2006/relationships/hyperlink" Target="https://www.cct-inc.co.jp/koto-online/archives/412?utm_source=chatgpt.com" TargetMode="Externa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www8.cao.go.jp/cstp/society5_0/"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sv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meti.go.jp/shingikai/mono_info_service/digital_jinzai/jissenteki_manabi_wg/003.html" TargetMode="Externa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3.jitec.ipa.go.jp/JitesCbt/html/about/range.html"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s://www.ipa.go.jp/shiken/kubun/fe.html" TargetMode="External"/><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4.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7.jpeg"/><Relationship Id="rId1" Type="http://schemas.openxmlformats.org/officeDocument/2006/relationships/slideLayout" Target="../slideLayouts/slideLayout4.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hyperlink" Target="https://commons.wikimedia.org/w/index.php?curid=314282" TargetMode="External"/><Relationship Id="rId1" Type="http://schemas.openxmlformats.org/officeDocument/2006/relationships/slideLayout" Target="../slideLayouts/slideLayout4.xml"/><Relationship Id="rId5" Type="http://schemas.openxmlformats.org/officeDocument/2006/relationships/image" Target="../media/image47.jpeg"/><Relationship Id="rId4" Type="http://schemas.openxmlformats.org/officeDocument/2006/relationships/image" Target="../media/image46.jpg"/></Relationships>
</file>

<file path=ppt/slides/_rels/slide6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32.png"/><Relationship Id="rId2" Type="http://schemas.openxmlformats.org/officeDocument/2006/relationships/image" Target="../media/image421.png"/><Relationship Id="rId1" Type="http://schemas.openxmlformats.org/officeDocument/2006/relationships/slideLayout" Target="../slideLayouts/slideLayout4.xml"/><Relationship Id="rId4" Type="http://schemas.openxmlformats.org/officeDocument/2006/relationships/image" Target="../media/image442.png"/></Relationships>
</file>

<file path=ppt/slides/_rels/slide6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hyperlink" Target="https://www.soumu.go.jp/main_content/000723626.pdf" TargetMode="External"/><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4.xml"/><Relationship Id="rId5" Type="http://schemas.openxmlformats.org/officeDocument/2006/relationships/image" Target="../media/image57.svg"/><Relationship Id="rId4" Type="http://schemas.openxmlformats.org/officeDocument/2006/relationships/image" Target="../media/image56.png"/></Relationships>
</file>

<file path=ppt/slides/_rels/slide72.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4.xml"/><Relationship Id="rId5" Type="http://schemas.openxmlformats.org/officeDocument/2006/relationships/image" Target="../media/image61.svg"/><Relationship Id="rId4"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4.xml"/><Relationship Id="rId5" Type="http://schemas.openxmlformats.org/officeDocument/2006/relationships/image" Target="../media/image57.svg"/><Relationship Id="rId4" Type="http://schemas.openxmlformats.org/officeDocument/2006/relationships/image" Target="../media/image56.png"/></Relationships>
</file>

<file path=ppt/slides/_rels/slide75.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4.xml"/><Relationship Id="rId5" Type="http://schemas.openxmlformats.org/officeDocument/2006/relationships/image" Target="../media/image61.svg"/><Relationship Id="rId4" Type="http://schemas.openxmlformats.org/officeDocument/2006/relationships/image" Target="../media/image60.png"/></Relationships>
</file>

<file path=ppt/slides/_rels/slide7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svg"/><Relationship Id="rId7" Type="http://schemas.openxmlformats.org/officeDocument/2006/relationships/image" Target="../media/image67.svg"/><Relationship Id="rId2"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64.png"/><Relationship Id="rId9" Type="http://schemas.openxmlformats.org/officeDocument/2006/relationships/image" Target="../media/image69.svg"/></Relationships>
</file>

<file path=ppt/slides/_rels/slide7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70.png"/><Relationship Id="rId1" Type="http://schemas.openxmlformats.org/officeDocument/2006/relationships/slideLayout" Target="../slideLayouts/slideLayout4.xml"/><Relationship Id="rId6" Type="http://schemas.openxmlformats.org/officeDocument/2006/relationships/image" Target="../media/image74.png"/><Relationship Id="rId5" Type="http://schemas.openxmlformats.org/officeDocument/2006/relationships/image" Target="../media/image73.svg"/><Relationship Id="rId10" Type="http://schemas.openxmlformats.org/officeDocument/2006/relationships/image" Target="../media/image78.svg"/><Relationship Id="rId4" Type="http://schemas.openxmlformats.org/officeDocument/2006/relationships/image" Target="../media/image72.png"/><Relationship Id="rId9" Type="http://schemas.openxmlformats.org/officeDocument/2006/relationships/image" Target="../media/image77.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84.svg"/></Relationships>
</file>

<file path=ppt/slides/_rels/slide9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6.svg"/></Relationships>
</file>

<file path=ppt/slides/_rels/slide95.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4.xml"/><Relationship Id="rId5" Type="http://schemas.openxmlformats.org/officeDocument/2006/relationships/image" Target="../media/image84.svg"/><Relationship Id="rId4" Type="http://schemas.openxmlformats.org/officeDocument/2006/relationships/image" Target="../media/image83.png"/></Relationships>
</file>

<file path=ppt/slides/_rels/slide96.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image" Target="../media/image87.png"/><Relationship Id="rId1" Type="http://schemas.openxmlformats.org/officeDocument/2006/relationships/slideLayout" Target="../slideLayouts/slideLayout4.xml"/><Relationship Id="rId5" Type="http://schemas.openxmlformats.org/officeDocument/2006/relationships/image" Target="../media/image84.svg"/><Relationship Id="rId4" Type="http://schemas.openxmlformats.org/officeDocument/2006/relationships/image" Target="../media/image83.png"/></Relationships>
</file>

<file path=ppt/slides/_rels/slide97.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9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hyperlink" Target="https://commons.wikimedia.org/w/index.php?curid=314282" TargetMode="External"/><Relationship Id="rId1" Type="http://schemas.openxmlformats.org/officeDocument/2006/relationships/slideLayout" Target="../slideLayouts/slideLayout4.xml"/><Relationship Id="rId5" Type="http://schemas.openxmlformats.org/officeDocument/2006/relationships/image" Target="../media/image47.jpeg"/><Relationship Id="rId4" Type="http://schemas.openxmlformats.org/officeDocument/2006/relationships/image" Target="../media/image46.jpg"/></Relationships>
</file>

<file path=ppt/slides/_rels/slide100.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4.xml"/><Relationship Id="rId5" Type="http://schemas.openxmlformats.org/officeDocument/2006/relationships/image" Target="../media/image84.svg"/><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850.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4.xml"/><Relationship Id="rId5" Type="http://schemas.openxmlformats.org/officeDocument/2006/relationships/image" Target="../media/image93.png"/><Relationship Id="rId4" Type="http://schemas.openxmlformats.org/officeDocument/2006/relationships/image" Target="../media/image92.png"/></Relationships>
</file>

<file path=ppt/slides/_rels/slide114.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hyperlink" Target="https://commons.wikimedia.org/w/index.php?curid=6457163" TargetMode="External"/><Relationship Id="rId5" Type="http://schemas.openxmlformats.org/officeDocument/2006/relationships/image" Target="../media/image95.png"/><Relationship Id="rId4" Type="http://schemas.openxmlformats.org/officeDocument/2006/relationships/image" Target="../media/image9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hyperlink" Target="https://www.research.autodesk.com/publications/same-stats-different-graphs/" TargetMode="External"/><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commons.wikimedia.org/w/index.php?curid=6457163" TargetMode="External"/><Relationship Id="rId5" Type="http://schemas.openxmlformats.org/officeDocument/2006/relationships/image" Target="../media/image95.png"/><Relationship Id="rId4" Type="http://schemas.openxmlformats.org/officeDocument/2006/relationships/image" Target="../media/image94.png"/></Relationships>
</file>

<file path=ppt/slides/_rels/slide123.xml.rels><?xml version="1.0" encoding="UTF-8" standalone="yes"?>
<Relationships xmlns="http://schemas.openxmlformats.org/package/2006/relationships"><Relationship Id="rId2" Type="http://schemas.openxmlformats.org/officeDocument/2006/relationships/image" Target="../media/image950.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98.png"/><Relationship Id="rId1" Type="http://schemas.openxmlformats.org/officeDocument/2006/relationships/slideLayout" Target="../slideLayouts/slideLayout4.xml"/><Relationship Id="rId6" Type="http://schemas.openxmlformats.org/officeDocument/2006/relationships/image" Target="../media/image102.emf"/><Relationship Id="rId5" Type="http://schemas.openxmlformats.org/officeDocument/2006/relationships/image" Target="../media/image101.svg"/><Relationship Id="rId4" Type="http://schemas.openxmlformats.org/officeDocument/2006/relationships/image" Target="../media/image100.png"/></Relationships>
</file>

<file path=ppt/slides/_rels/slide125.x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4.png"/><Relationship Id="rId1" Type="http://schemas.openxmlformats.org/officeDocument/2006/relationships/slideLayout" Target="../slideLayouts/slideLayout4.xml"/><Relationship Id="rId5" Type="http://schemas.openxmlformats.org/officeDocument/2006/relationships/image" Target="../media/image105.jpg"/><Relationship Id="rId4" Type="http://schemas.openxmlformats.org/officeDocument/2006/relationships/image" Target="../media/image102.em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hyperlink" Target="https://github.com/mielka/yoronchizu2024/tree/main" TargetMode="External"/><Relationship Id="rId2" Type="http://schemas.openxmlformats.org/officeDocument/2006/relationships/image" Target="../media/image109.png"/><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hyperlink" Target="https://www.anthropic.com/engineering/building-effective-agents" TargetMode="External"/><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 Id="rId4" Type="http://schemas.openxmlformats.org/officeDocument/2006/relationships/hyperlink" Target="https://www.anthropic.com/engineering/building-effective-agents" TargetMode="External"/></Relationships>
</file>

<file path=ppt/slides/_rels/slide14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3" Type="http://schemas.openxmlformats.org/officeDocument/2006/relationships/hyperlink" Target="https://www.mext.go.jp/miraino_manabi/content/285.html" TargetMode="External"/><Relationship Id="rId2" Type="http://schemas.openxmlformats.org/officeDocument/2006/relationships/image" Target="../media/image117.png"/><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hyperlink" Target="https://commons.wikimedia.org/w/index.php?curid=22194413" TargetMode="External"/><Relationship Id="rId1" Type="http://schemas.openxmlformats.org/officeDocument/2006/relationships/slideLayout" Target="../slideLayouts/slideLayout4.xml"/><Relationship Id="rId5" Type="http://schemas.openxmlformats.org/officeDocument/2006/relationships/image" Target="../media/image119.png"/><Relationship Id="rId4" Type="http://schemas.openxmlformats.org/officeDocument/2006/relationships/hyperlink" Target="https://commons.wikimedia.org/w/index.php?curid=120932135"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3" Type="http://schemas.openxmlformats.org/officeDocument/2006/relationships/hyperlink" Target="https://sites.google.com/view/tomiokario/home" TargetMode="External"/><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tomiokario.notion.site/Publication-list-1a6532283c7a802a97edca590300b9f6?pvs=4" TargetMode="External"/><Relationship Id="rId1" Type="http://schemas.openxmlformats.org/officeDocument/2006/relationships/slideLayout" Target="../slideLayouts/slideLayout4.xml"/><Relationship Id="rId4" Type="http://schemas.openxmlformats.org/officeDocument/2006/relationships/image" Target="../media/image122.png"/></Relationships>
</file>

<file path=ppt/slides/_rels/slide19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4.xml"/><Relationship Id="rId4" Type="http://schemas.openxmlformats.org/officeDocument/2006/relationships/image" Target="../media/image126.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3" Type="http://schemas.openxmlformats.org/officeDocument/2006/relationships/hyperlink" Target="https://commons.wikimedia.org/w/index.php?curid=73107397"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27.png"/></Relationships>
</file>

<file path=ppt/slides/_rels/slide208.xml.rels><?xml version="1.0" encoding="UTF-8" standalone="yes"?>
<Relationships xmlns="http://schemas.openxmlformats.org/package/2006/relationships"><Relationship Id="rId2" Type="http://schemas.openxmlformats.org/officeDocument/2006/relationships/hyperlink" Target="https://cloud.google.com/translate?hl=ja"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E0EAB9E-69D7-72F1-444B-FC1F0043469E}"/>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CB1F0B11-E9AD-B69D-775B-3486AB04CD48}"/>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全説明スライド</a:t>
            </a:r>
            <a:r>
              <a:rPr kumimoji="1" lang="en-US" altLang="ja-GB" sz="3200" dirty="0">
                <a:solidFill>
                  <a:schemeClr val="bg1"/>
                </a:solidFill>
              </a:rPr>
              <a:t> </a:t>
            </a:r>
            <a:r>
              <a:rPr kumimoji="1" lang="ja-GB" altLang="en-US" sz="3200" dirty="0">
                <a:solidFill>
                  <a:schemeClr val="bg1"/>
                </a:solidFill>
              </a:rPr>
              <a:t>画像圧縮版</a:t>
            </a:r>
            <a:r>
              <a:rPr kumimoji="1" lang="en-US" altLang="ja-GB" sz="3200" dirty="0">
                <a:solidFill>
                  <a:schemeClr val="bg1"/>
                </a:solidFill>
              </a:rPr>
              <a:t> </a:t>
            </a:r>
            <a:r>
              <a:rPr kumimoji="1" lang="ja-GB" altLang="en-US" sz="3200" dirty="0">
                <a:solidFill>
                  <a:schemeClr val="bg1"/>
                </a:solidFill>
              </a:rPr>
              <a:t>前半</a:t>
            </a:r>
            <a:br>
              <a:rPr kumimoji="1" lang="en-US" altLang="ja-JP" sz="2400" dirty="0">
                <a:solidFill>
                  <a:schemeClr val="bg1"/>
                </a:solidFill>
              </a:rPr>
            </a:br>
            <a:endParaRPr kumimoji="1" lang="ja-JP" altLang="en-US" sz="2400">
              <a:solidFill>
                <a:schemeClr val="bg1"/>
              </a:solidFill>
            </a:endParaRPr>
          </a:p>
        </p:txBody>
      </p:sp>
      <p:sp>
        <p:nvSpPr>
          <p:cNvPr id="6" name="字幕 2">
            <a:extLst>
              <a:ext uri="{FF2B5EF4-FFF2-40B4-BE49-F238E27FC236}">
                <a16:creationId xmlns:a16="http://schemas.microsoft.com/office/drawing/2014/main" id="{8F2D9799-792A-3B6D-6EF0-3887B177B1E6}"/>
              </a:ext>
            </a:extLst>
          </p:cNvPr>
          <p:cNvSpPr txBox="1">
            <a:spLocks/>
          </p:cNvSpPr>
          <p:nvPr/>
        </p:nvSpPr>
        <p:spPr>
          <a:xfrm>
            <a:off x="342900" y="4404640"/>
            <a:ext cx="8458199" cy="176262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b="1" kern="1200">
                <a:solidFill>
                  <a:srgbClr val="002060"/>
                </a:solidFill>
                <a:latin typeface="+mn-ea"/>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b="1" kern="1200">
                <a:solidFill>
                  <a:srgbClr val="2F2624"/>
                </a:solidFill>
                <a:latin typeface="+mn-ea"/>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b="1" kern="1200">
                <a:solidFill>
                  <a:srgbClr val="2F2624"/>
                </a:solidFill>
                <a:latin typeface="+mn-ea"/>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b="1" kern="1200">
                <a:solidFill>
                  <a:srgbClr val="2F2624"/>
                </a:solidFill>
                <a:latin typeface="+mn-ea"/>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lvl="0" algn="l">
              <a:lnSpc>
                <a:spcPct val="100000"/>
              </a:lnSpc>
              <a:spcBef>
                <a:spcPts val="600"/>
              </a:spcBef>
            </a:pPr>
            <a:endParaRPr lang="en-GB" altLang="ja-JP" sz="2000" dirty="0">
              <a:solidFill>
                <a:srgbClr val="2F2523"/>
              </a:solidFill>
              <a:latin typeface="Yu Gothic UI" panose="020B0500000000000000" pitchFamily="34" charset="-128"/>
              <a:ea typeface="Yu Gothic UI" panose="020B0500000000000000" pitchFamily="34" charset="-128"/>
            </a:endParaRPr>
          </a:p>
          <a:p>
            <a:pPr lvl="0" algn="l">
              <a:lnSpc>
                <a:spcPct val="100000"/>
              </a:lnSpc>
              <a:spcBef>
                <a:spcPts val="600"/>
              </a:spcBef>
            </a:pPr>
            <a:r>
              <a:rPr lang="en-US" altLang="ja-JP" sz="2600" dirty="0">
                <a:solidFill>
                  <a:srgbClr val="2F2523"/>
                </a:solidFill>
                <a:latin typeface="Yu Gothic UI" panose="020B0500000000000000" pitchFamily="34" charset="-128"/>
                <a:ea typeface="Yu Gothic UI" panose="020B0500000000000000" pitchFamily="34" charset="-128"/>
              </a:rPr>
              <a:t>2025/9/26(</a:t>
            </a:r>
            <a:r>
              <a:rPr lang="ja-JP" altLang="en-US" sz="2600">
                <a:solidFill>
                  <a:srgbClr val="2F2523"/>
                </a:solidFill>
                <a:latin typeface="Yu Gothic UI" panose="020B0500000000000000" pitchFamily="34" charset="-128"/>
                <a:ea typeface="Yu Gothic UI" panose="020B0500000000000000" pitchFamily="34" charset="-128"/>
              </a:rPr>
              <a:t>金</a:t>
            </a:r>
            <a:r>
              <a:rPr lang="en-US" altLang="ja-JP" sz="2600" dirty="0">
                <a:solidFill>
                  <a:srgbClr val="2F2523"/>
                </a:solidFill>
                <a:latin typeface="Yu Gothic UI" panose="020B0500000000000000" pitchFamily="34" charset="-128"/>
                <a:ea typeface="Yu Gothic UI" panose="020B0500000000000000" pitchFamily="34" charset="-128"/>
              </a:rPr>
              <a:t>)</a:t>
            </a:r>
          </a:p>
          <a:p>
            <a:pPr lvl="0" algn="l">
              <a:lnSpc>
                <a:spcPct val="100000"/>
              </a:lnSpc>
              <a:spcBef>
                <a:spcPts val="600"/>
              </a:spcBef>
            </a:pPr>
            <a:r>
              <a:rPr lang="ja-JP" altLang="en-US" sz="2600">
                <a:solidFill>
                  <a:srgbClr val="2F2523"/>
                </a:solidFill>
                <a:latin typeface="Yu Gothic UI" panose="020B0500000000000000" pitchFamily="34" charset="-128"/>
                <a:ea typeface="Yu Gothic UI" panose="020B0500000000000000" pitchFamily="34" charset="-128"/>
              </a:rPr>
              <a:t>担当講師</a:t>
            </a:r>
            <a:r>
              <a:rPr lang="en-US" altLang="ja-JP" sz="2600" dirty="0">
                <a:solidFill>
                  <a:srgbClr val="2F2523"/>
                </a:solidFill>
                <a:latin typeface="Yu Gothic UI" panose="020B0500000000000000" pitchFamily="34" charset="-128"/>
                <a:ea typeface="Yu Gothic UI" panose="020B0500000000000000" pitchFamily="34" charset="-128"/>
              </a:rPr>
              <a:t> </a:t>
            </a:r>
            <a:r>
              <a:rPr lang="ja-JP" altLang="en-US" sz="2600">
                <a:solidFill>
                  <a:srgbClr val="2F2523"/>
                </a:solidFill>
                <a:latin typeface="Yu Gothic UI" panose="020B0500000000000000" pitchFamily="34" charset="-128"/>
                <a:ea typeface="Yu Gothic UI" panose="020B0500000000000000" pitchFamily="34" charset="-128"/>
              </a:rPr>
              <a:t>冨岡莉生</a:t>
            </a:r>
            <a:endParaRPr lang="en-US" altLang="ja-JP" sz="1500" dirty="0">
              <a:solidFill>
                <a:srgbClr val="2F252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375557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A026D3-94F3-62F1-EA29-ACC566C755C2}"/>
              </a:ext>
            </a:extLst>
          </p:cNvPr>
          <p:cNvSpPr>
            <a:spLocks noGrp="1"/>
          </p:cNvSpPr>
          <p:nvPr>
            <p:ph type="title"/>
          </p:nvPr>
        </p:nvSpPr>
        <p:spPr/>
        <p:txBody>
          <a:bodyPr/>
          <a:lstStyle/>
          <a:p>
            <a:r>
              <a:rPr kumimoji="1" lang="ja-GB" altLang="en-US" dirty="0"/>
              <a:t>試験の特性と持ち込み資料のアドバイス</a:t>
            </a:r>
          </a:p>
        </p:txBody>
      </p:sp>
      <p:sp>
        <p:nvSpPr>
          <p:cNvPr id="3" name="コンテンツ プレースホルダー 2">
            <a:extLst>
              <a:ext uri="{FF2B5EF4-FFF2-40B4-BE49-F238E27FC236}">
                <a16:creationId xmlns:a16="http://schemas.microsoft.com/office/drawing/2014/main" id="{94AC0598-1010-6388-92AD-E9D834957EEE}"/>
              </a:ext>
            </a:extLst>
          </p:cNvPr>
          <p:cNvSpPr>
            <a:spLocks noGrp="1"/>
          </p:cNvSpPr>
          <p:nvPr>
            <p:ph idx="1"/>
          </p:nvPr>
        </p:nvSpPr>
        <p:spPr/>
        <p:txBody>
          <a:bodyPr/>
          <a:lstStyle/>
          <a:p>
            <a:pPr marL="0" indent="0">
              <a:buNone/>
            </a:pPr>
            <a:r>
              <a:rPr kumimoji="1" lang="ja-GB" altLang="en-US" dirty="0"/>
              <a:t>紙資料を持ち込み可能，問題数は多め</a:t>
            </a:r>
            <a:endParaRPr kumimoji="1" lang="en-US" altLang="ja-GB" dirty="0"/>
          </a:p>
          <a:p>
            <a:pPr lvl="1"/>
            <a:r>
              <a:rPr kumimoji="1" lang="ja-GB" altLang="en-US" dirty="0"/>
              <a:t>授業資料はページ数が膨大なため，</a:t>
            </a:r>
            <a:r>
              <a:rPr lang="ja-GB" altLang="en-US" dirty="0"/>
              <a:t>必要な箇所を素早く参照できるように持ち込み資料を自作することを推奨</a:t>
            </a:r>
            <a:endParaRPr lang="en-US" altLang="ja-GB" dirty="0"/>
          </a:p>
          <a:p>
            <a:pPr lvl="3"/>
            <a:endParaRPr lang="en-US" altLang="ja-GB" dirty="0"/>
          </a:p>
          <a:p>
            <a:pPr lvl="1"/>
            <a:r>
              <a:rPr lang="ja-GB" altLang="en-US" dirty="0"/>
              <a:t>定義やアルゴリズムなどの暗記項目に対して，自身が場所を把握できる</a:t>
            </a:r>
            <a:br>
              <a:rPr lang="en-US" altLang="ja-GB" dirty="0"/>
            </a:br>
            <a:r>
              <a:rPr lang="ja-GB" altLang="en-US" dirty="0"/>
              <a:t>分量の資料を用意することを推奨</a:t>
            </a:r>
            <a:endParaRPr lang="en-US" altLang="ja-GB" dirty="0"/>
          </a:p>
          <a:p>
            <a:pPr marL="1257300" lvl="2" indent="-342900">
              <a:buFont typeface="+mj-lt"/>
              <a:buAutoNum type="arabicPeriod"/>
            </a:pPr>
            <a:r>
              <a:rPr lang="ja-GB" altLang="en-US" dirty="0"/>
              <a:t>知識問題は，できるだけ参照せずに高速に解けるよう理解する</a:t>
            </a:r>
            <a:endParaRPr lang="en-US" altLang="ja-GB" dirty="0"/>
          </a:p>
          <a:p>
            <a:pPr marL="1257300" lvl="2" indent="-342900">
              <a:buFont typeface="+mj-lt"/>
              <a:buAutoNum type="arabicPeriod"/>
            </a:pPr>
            <a:r>
              <a:rPr lang="ja-GB" altLang="en-US" dirty="0"/>
              <a:t>計算問題は，数式やアルゴリズムをすぐに見つけ出せるようにする</a:t>
            </a:r>
            <a:endParaRPr lang="en-US" altLang="ja-GB" dirty="0"/>
          </a:p>
          <a:p>
            <a:pPr marL="1257300" lvl="2" indent="-342900">
              <a:buFont typeface="+mj-lt"/>
              <a:buAutoNum type="arabicPeriod"/>
            </a:pPr>
            <a:r>
              <a:rPr lang="ja-GB" altLang="en-US" dirty="0"/>
              <a:t>応用問題は，できるだけ計算特性を理解して不要な計算を避けるようにする</a:t>
            </a:r>
            <a:br>
              <a:rPr lang="en-US" altLang="ja-GB" dirty="0"/>
            </a:br>
            <a:r>
              <a:rPr lang="ja-GB" altLang="en-US" dirty="0"/>
              <a:t>（解放を思いつかなければ素直な手順で計算することでも回答可能）</a:t>
            </a:r>
            <a:endParaRPr lang="en-US" altLang="ja-GB" dirty="0"/>
          </a:p>
          <a:p>
            <a:pPr lvl="3"/>
            <a:endParaRPr lang="en-US" altLang="ja-GB" dirty="0"/>
          </a:p>
          <a:p>
            <a:pPr lvl="1"/>
            <a:r>
              <a:rPr lang="en-US" altLang="ja-GB" dirty="0"/>
              <a:t>PowerPoint</a:t>
            </a:r>
            <a:r>
              <a:rPr lang="ja-GB" altLang="en-US" dirty="0"/>
              <a:t>形式で資料を配布</a:t>
            </a:r>
            <a:r>
              <a:rPr lang="ja-GB" altLang="en-US" baseline="30000" dirty="0"/>
              <a:t>（</a:t>
            </a:r>
            <a:r>
              <a:rPr lang="en-US" altLang="ja-GB" baseline="30000" dirty="0"/>
              <a:t>※</a:t>
            </a:r>
            <a:r>
              <a:rPr lang="ja-GB" altLang="en-US" baseline="30000" dirty="0"/>
              <a:t>）</a:t>
            </a:r>
            <a:r>
              <a:rPr lang="ja-GB" altLang="en-US" dirty="0"/>
              <a:t>するので，必要な箇所のみを抽出して，</a:t>
            </a:r>
            <a:br>
              <a:rPr lang="en-US" altLang="ja-GB" dirty="0"/>
            </a:br>
            <a:r>
              <a:rPr lang="ja-GB" altLang="en-US" dirty="0"/>
              <a:t>できるだけ少ない枚数に圧縮することを推奨</a:t>
            </a:r>
            <a:endParaRPr kumimoji="1" lang="en-US" altLang="ja-GB" dirty="0"/>
          </a:p>
          <a:p>
            <a:pPr lvl="2"/>
            <a:r>
              <a:rPr kumimoji="1" lang="en-US" altLang="ja-GB" dirty="0"/>
              <a:t>Word</a:t>
            </a:r>
            <a:r>
              <a:rPr kumimoji="1" lang="ja-GB" altLang="en-US" dirty="0"/>
              <a:t>や手書きノートなどに画像と説明をまとめる</a:t>
            </a:r>
            <a:endParaRPr kumimoji="1" lang="en-US" altLang="ja-GB" dirty="0"/>
          </a:p>
          <a:p>
            <a:pPr lvl="2"/>
            <a:r>
              <a:rPr lang="ja-GB" altLang="en-US" dirty="0"/>
              <a:t>スライド形式にまとめる場合は，</a:t>
            </a:r>
            <a:r>
              <a:rPr lang="en-US" altLang="ja-GB" u="sng" dirty="0"/>
              <a:t>6</a:t>
            </a:r>
            <a:r>
              <a:rPr lang="ja-GB" altLang="en-US" u="sng" dirty="0"/>
              <a:t>枚刷り</a:t>
            </a:r>
            <a:r>
              <a:rPr lang="ja-GB" altLang="en-US" dirty="0"/>
              <a:t>などにすると枚数を約</a:t>
            </a:r>
            <a:r>
              <a:rPr lang="en-US" altLang="ja-GB" dirty="0"/>
              <a:t>1/6</a:t>
            </a:r>
            <a:r>
              <a:rPr lang="ja-GB" altLang="en-US" dirty="0"/>
              <a:t>にできる</a:t>
            </a:r>
            <a:endParaRPr lang="en-US" altLang="ja-GB" dirty="0"/>
          </a:p>
          <a:p>
            <a:pPr lvl="2"/>
            <a:endParaRPr kumimoji="1" lang="en-US" altLang="ja-GB" dirty="0"/>
          </a:p>
        </p:txBody>
      </p:sp>
      <p:sp>
        <p:nvSpPr>
          <p:cNvPr id="4" name="テキスト ボックス 3">
            <a:extLst>
              <a:ext uri="{FF2B5EF4-FFF2-40B4-BE49-F238E27FC236}">
                <a16:creationId xmlns:a16="http://schemas.microsoft.com/office/drawing/2014/main" id="{4B596BA7-0017-4335-D540-DA4BF1625F63}"/>
              </a:ext>
            </a:extLst>
          </p:cNvPr>
          <p:cNvSpPr txBox="1"/>
          <p:nvPr/>
        </p:nvSpPr>
        <p:spPr>
          <a:xfrm>
            <a:off x="350335" y="5883492"/>
            <a:ext cx="8443338" cy="523220"/>
          </a:xfrm>
          <a:prstGeom prst="rect">
            <a:avLst/>
          </a:prstGeom>
          <a:noFill/>
        </p:spPr>
        <p:txBody>
          <a:bodyPr wrap="none" rtlCol="0">
            <a:spAutoFit/>
          </a:bodyPr>
          <a:lstStyle/>
          <a:p>
            <a:pPr algn="ctr"/>
            <a:r>
              <a:rPr kumimoji="1" lang="en-US" altLang="ja-GB" sz="1400" dirty="0">
                <a:solidFill>
                  <a:schemeClr val="accent6">
                    <a:lumMod val="50000"/>
                  </a:schemeClr>
                </a:solidFill>
              </a:rPr>
              <a:t>※</a:t>
            </a:r>
            <a:r>
              <a:rPr kumimoji="1" lang="ja-GB" altLang="en-US" sz="1400" dirty="0">
                <a:solidFill>
                  <a:schemeClr val="accent6">
                    <a:lumMod val="50000"/>
                  </a:schemeClr>
                </a:solidFill>
              </a:rPr>
              <a:t>もし本講義の授業資料を</a:t>
            </a:r>
            <a:r>
              <a:rPr kumimoji="1" lang="ja-GB" altLang="en-US" sz="1400" b="1" u="sng" dirty="0">
                <a:solidFill>
                  <a:schemeClr val="accent6">
                    <a:lumMod val="50000"/>
                  </a:schemeClr>
                </a:solidFill>
              </a:rPr>
              <a:t>授業外で使用したい場合は，本</a:t>
            </a:r>
            <a:r>
              <a:rPr kumimoji="1" lang="en-US" altLang="ja-GB" sz="1400" b="1" u="sng" dirty="0">
                <a:solidFill>
                  <a:schemeClr val="accent6">
                    <a:lumMod val="50000"/>
                  </a:schemeClr>
                </a:solidFill>
              </a:rPr>
              <a:t>pptx</a:t>
            </a:r>
            <a:r>
              <a:rPr kumimoji="1" lang="ja-GB" altLang="en-US" sz="1400" b="1" u="sng" dirty="0">
                <a:solidFill>
                  <a:schemeClr val="accent6">
                    <a:lumMod val="50000"/>
                  </a:schemeClr>
                </a:solidFill>
              </a:rPr>
              <a:t>ファイルを使用してください</a:t>
            </a:r>
            <a:r>
              <a:rPr kumimoji="1" lang="ja-GB" altLang="en-US" sz="1400" dirty="0">
                <a:solidFill>
                  <a:schemeClr val="accent6">
                    <a:lumMod val="50000"/>
                  </a:schemeClr>
                </a:solidFill>
              </a:rPr>
              <a:t>．</a:t>
            </a:r>
            <a:endParaRPr kumimoji="1" lang="en-US" altLang="ja-GB" sz="1400" dirty="0">
              <a:solidFill>
                <a:schemeClr val="accent6">
                  <a:lumMod val="50000"/>
                </a:schemeClr>
              </a:solidFill>
            </a:endParaRPr>
          </a:p>
          <a:p>
            <a:pPr algn="ctr"/>
            <a:r>
              <a:rPr kumimoji="1" lang="ja-GB" altLang="en-US" sz="1400" dirty="0">
                <a:solidFill>
                  <a:schemeClr val="accent6">
                    <a:lumMod val="50000"/>
                  </a:schemeClr>
                </a:solidFill>
              </a:rPr>
              <a:t>授業中に配布した資料には一部「教育目的の引用」および「個別の許可に基づく引用」が含まれます．</a:t>
            </a:r>
            <a:endParaRPr kumimoji="1" lang="en-US" altLang="ja-GB" sz="1400" dirty="0">
              <a:solidFill>
                <a:schemeClr val="accent6">
                  <a:lumMod val="50000"/>
                </a:schemeClr>
              </a:solidFill>
            </a:endParaRPr>
          </a:p>
        </p:txBody>
      </p:sp>
    </p:spTree>
    <p:extLst>
      <p:ext uri="{BB962C8B-B14F-4D97-AF65-F5344CB8AC3E}">
        <p14:creationId xmlns:p14="http://schemas.microsoft.com/office/powerpoint/2010/main" val="2925987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383CA-B23C-8BB1-C0BF-4764B9517319}"/>
              </a:ext>
            </a:extLst>
          </p:cNvPr>
          <p:cNvSpPr>
            <a:spLocks noGrp="1"/>
          </p:cNvSpPr>
          <p:nvPr>
            <p:ph type="title"/>
          </p:nvPr>
        </p:nvSpPr>
        <p:spPr/>
        <p:txBody>
          <a:bodyPr>
            <a:normAutofit/>
          </a:bodyPr>
          <a:lstStyle/>
          <a:p>
            <a:r>
              <a:rPr lang="ja-GB" dirty="0"/>
              <a:t>この授業について</a:t>
            </a:r>
          </a:p>
        </p:txBody>
      </p:sp>
      <p:sp>
        <p:nvSpPr>
          <p:cNvPr id="3" name="コンテンツ プレースホルダー 2">
            <a:extLst>
              <a:ext uri="{FF2B5EF4-FFF2-40B4-BE49-F238E27FC236}">
                <a16:creationId xmlns:a16="http://schemas.microsoft.com/office/drawing/2014/main" id="{4599C7E9-1D51-D4D2-B239-7730B2932A7C}"/>
              </a:ext>
            </a:extLst>
          </p:cNvPr>
          <p:cNvSpPr>
            <a:spLocks noGrp="1"/>
          </p:cNvSpPr>
          <p:nvPr>
            <p:ph idx="1"/>
          </p:nvPr>
        </p:nvSpPr>
        <p:spPr/>
        <p:txBody>
          <a:bodyPr/>
          <a:lstStyle/>
          <a:p>
            <a:pPr marL="0" indent="0">
              <a:buNone/>
            </a:pPr>
            <a:r>
              <a:rPr lang="ja-GB" dirty="0"/>
              <a:t>コンピュータシステム</a:t>
            </a:r>
          </a:p>
          <a:p>
            <a:pPr marL="457200" lvl="1" indent="0">
              <a:buNone/>
            </a:pPr>
            <a:r>
              <a:rPr lang="ja-JP" altLang="en-US"/>
              <a:t>情報社会において</a:t>
            </a:r>
            <a:r>
              <a:rPr lang="ja-JP" altLang="en-US">
                <a:solidFill>
                  <a:srgbClr val="0070C0"/>
                </a:solidFill>
              </a:rPr>
              <a:t>情報技術（</a:t>
            </a:r>
            <a:r>
              <a:rPr lang="en-US" altLang="ja-JP" dirty="0">
                <a:solidFill>
                  <a:srgbClr val="0070C0"/>
                </a:solidFill>
              </a:rPr>
              <a:t>IT</a:t>
            </a:r>
            <a:r>
              <a:rPr lang="ja-JP" altLang="en-US">
                <a:solidFill>
                  <a:srgbClr val="0070C0"/>
                </a:solidFill>
              </a:rPr>
              <a:t>）を活用できるようになる</a:t>
            </a:r>
            <a:r>
              <a:rPr lang="ja-JP" altLang="en-US"/>
              <a:t>ために</a:t>
            </a:r>
            <a:br>
              <a:rPr lang="en-US" altLang="ja-JP" dirty="0"/>
            </a:br>
            <a:r>
              <a:rPr lang="ja-JP" altLang="en-US"/>
              <a:t>そのキーテクノロジーである</a:t>
            </a:r>
            <a:r>
              <a:rPr lang="ja-JP" altLang="en-US">
                <a:solidFill>
                  <a:srgbClr val="0070C0"/>
                </a:solidFill>
              </a:rPr>
              <a:t>コンピュータの仕組み</a:t>
            </a:r>
            <a:r>
              <a:rPr lang="ja-JP" altLang="en-US"/>
              <a:t>を学ぶ</a:t>
            </a:r>
            <a:endParaRPr lang="en-US" altLang="ja-JP" dirty="0"/>
          </a:p>
          <a:p>
            <a:pPr lvl="1"/>
            <a:endParaRPr lang="ja-GB" dirty="0"/>
          </a:p>
          <a:p>
            <a:pPr marL="0" indent="0">
              <a:buNone/>
            </a:pPr>
            <a:r>
              <a:rPr lang="ja-GB" dirty="0"/>
              <a:t>授業目的</a:t>
            </a:r>
          </a:p>
          <a:p>
            <a:pPr marL="914400" lvl="1" indent="-457200">
              <a:buFont typeface="+mj-lt"/>
              <a:buAutoNum type="arabicPeriod"/>
            </a:pPr>
            <a:r>
              <a:rPr lang="ja-GB" dirty="0"/>
              <a:t>コンピュータの仕組みを理解する</a:t>
            </a:r>
          </a:p>
          <a:p>
            <a:pPr marL="914400" lvl="1" indent="-457200">
              <a:buFont typeface="+mj-lt"/>
              <a:buAutoNum type="arabicPeriod"/>
            </a:pPr>
            <a:r>
              <a:rPr lang="ja-JP" altLang="en-US"/>
              <a:t>コンピュータの引き起こす現象をその仕組みから正しく把握できるようになる</a:t>
            </a:r>
            <a:endParaRPr lang="ja-GB" altLang="ja-JP" dirty="0"/>
          </a:p>
          <a:p>
            <a:pPr marL="914400" lvl="1" indent="-457200">
              <a:buFont typeface="+mj-lt"/>
              <a:buAutoNum type="arabicPeriod"/>
            </a:pPr>
            <a:r>
              <a:rPr lang="en-US" altLang="ja-JP" dirty="0"/>
              <a:t>IT</a:t>
            </a:r>
            <a:r>
              <a:rPr lang="ja-JP" altLang="en-US"/>
              <a:t>システムを仕事や生活で活用できるようになる</a:t>
            </a:r>
            <a:endParaRPr lang="en-US" altLang="ja-JP" dirty="0"/>
          </a:p>
          <a:p>
            <a:pPr marL="914400" lvl="1" indent="-457200">
              <a:buFont typeface="+mj-lt"/>
              <a:buAutoNum type="arabicPeriod"/>
            </a:pPr>
            <a:endParaRPr lang="en-US" dirty="0"/>
          </a:p>
          <a:p>
            <a:pPr marL="0" indent="0">
              <a:buNone/>
            </a:pPr>
            <a:r>
              <a:rPr lang="ja-GB" dirty="0"/>
              <a:t>授業内容</a:t>
            </a:r>
          </a:p>
          <a:p>
            <a:pPr lvl="1"/>
            <a:r>
              <a:rPr lang="ja-GB" dirty="0"/>
              <a:t>コンピュータ，データ・AIにできること</a:t>
            </a:r>
          </a:p>
          <a:p>
            <a:pPr lvl="1"/>
            <a:r>
              <a:rPr lang="ja-GB" dirty="0"/>
              <a:t>ITシステムの依頼から，デザイン，実装されるまでの流れ</a:t>
            </a:r>
          </a:p>
          <a:p>
            <a:pPr lvl="1"/>
            <a:r>
              <a:rPr lang="ja-GB" dirty="0"/>
              <a:t>コンピュータのハードウェア構成（CPU，メモリ，ストレージなど）</a:t>
            </a:r>
          </a:p>
          <a:p>
            <a:pPr lvl="1"/>
            <a:r>
              <a:rPr lang="ja-GB" dirty="0"/>
              <a:t>コンピュータが様々な情報処理を行える仕組み（アルゴリズム，基数など）</a:t>
            </a:r>
          </a:p>
          <a:p>
            <a:pPr lvl="1"/>
            <a:r>
              <a:rPr lang="ja-GB" dirty="0"/>
              <a:t>コンピュータの外でも役立つコンピュータを使うための思考（計算論的思考）</a:t>
            </a:r>
          </a:p>
        </p:txBody>
      </p:sp>
    </p:spTree>
    <p:extLst>
      <p:ext uri="{BB962C8B-B14F-4D97-AF65-F5344CB8AC3E}">
        <p14:creationId xmlns:p14="http://schemas.microsoft.com/office/powerpoint/2010/main" val="1651437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0E43E3-59EC-FFC0-9AC3-8FAE5DA95FD6}"/>
              </a:ext>
            </a:extLst>
          </p:cNvPr>
          <p:cNvSpPr>
            <a:spLocks noGrp="1"/>
          </p:cNvSpPr>
          <p:nvPr>
            <p:ph type="title"/>
          </p:nvPr>
        </p:nvSpPr>
        <p:spPr/>
        <p:txBody>
          <a:bodyPr/>
          <a:lstStyle/>
          <a:p>
            <a:r>
              <a:rPr kumimoji="1" lang="ja-GB" altLang="en-US" dirty="0"/>
              <a:t>補足説明</a:t>
            </a:r>
          </a:p>
        </p:txBody>
      </p:sp>
      <p:sp>
        <p:nvSpPr>
          <p:cNvPr id="3" name="コンテンツ プレースホルダー 2">
            <a:extLst>
              <a:ext uri="{FF2B5EF4-FFF2-40B4-BE49-F238E27FC236}">
                <a16:creationId xmlns:a16="http://schemas.microsoft.com/office/drawing/2014/main" id="{4BAED56C-9E46-3D82-294C-AA0CE6D5D3A1}"/>
              </a:ext>
            </a:extLst>
          </p:cNvPr>
          <p:cNvSpPr>
            <a:spLocks noGrp="1"/>
          </p:cNvSpPr>
          <p:nvPr>
            <p:ph idx="1"/>
          </p:nvPr>
        </p:nvSpPr>
        <p:spPr/>
        <p:txBody>
          <a:bodyPr>
            <a:normAutofit/>
          </a:bodyPr>
          <a:lstStyle/>
          <a:p>
            <a:pPr marL="0" indent="0">
              <a:buNone/>
            </a:pPr>
            <a:r>
              <a:rPr lang="ja-JP" altLang="en-US" sz="1600">
                <a:solidFill>
                  <a:schemeClr val="tx1">
                    <a:lumMod val="65000"/>
                    <a:lumOff val="35000"/>
                  </a:schemeClr>
                </a:solidFill>
              </a:rPr>
              <a:t>概要</a:t>
            </a:r>
          </a:p>
          <a:p>
            <a:pPr marL="0" indent="0">
              <a:buNone/>
            </a:pPr>
            <a:r>
              <a:rPr lang="ja-JP" altLang="en-US" sz="1200">
                <a:solidFill>
                  <a:schemeClr val="tx1">
                    <a:lumMod val="65000"/>
                    <a:lumOff val="35000"/>
                  </a:schemeClr>
                </a:solidFill>
              </a:rPr>
              <a:t>この授業では，受講者が情報社会において求められる情報技術（</a:t>
            </a:r>
            <a:r>
              <a:rPr lang="en-GB" altLang="ja-GB" sz="1200" dirty="0">
                <a:solidFill>
                  <a:schemeClr val="tx1">
                    <a:lumMod val="65000"/>
                    <a:lumOff val="35000"/>
                  </a:schemeClr>
                </a:solidFill>
              </a:rPr>
              <a:t>IT</a:t>
            </a:r>
            <a:r>
              <a:rPr lang="ja-GB" altLang="en-GB" sz="1200" dirty="0">
                <a:solidFill>
                  <a:schemeClr val="tx1">
                    <a:lumMod val="65000"/>
                    <a:lumOff val="35000"/>
                  </a:schemeClr>
                </a:solidFill>
              </a:rPr>
              <a:t>）</a:t>
            </a:r>
            <a:r>
              <a:rPr lang="ja-JP" altLang="en-US" sz="1200">
                <a:solidFill>
                  <a:schemeClr val="tx1">
                    <a:lumMod val="65000"/>
                    <a:lumOff val="35000"/>
                  </a:schemeClr>
                </a:solidFill>
              </a:rPr>
              <a:t>を活用できるようになることを目指す．</a:t>
            </a:r>
          </a:p>
          <a:p>
            <a:pPr marL="0" indent="0">
              <a:buNone/>
            </a:pPr>
            <a:r>
              <a:rPr lang="ja-JP" altLang="en-US" sz="1200">
                <a:solidFill>
                  <a:schemeClr val="tx1">
                    <a:lumMod val="65000"/>
                    <a:lumOff val="35000"/>
                  </a:schemeClr>
                </a:solidFill>
              </a:rPr>
              <a:t>そのために，キーテクノロジーであるコンピュータの仕組みを学ぶ．</a:t>
            </a:r>
          </a:p>
          <a:p>
            <a:pPr marL="0" indent="0">
              <a:buNone/>
            </a:pPr>
            <a:r>
              <a:rPr lang="ja-JP" altLang="en-US" sz="1600">
                <a:solidFill>
                  <a:schemeClr val="tx1">
                    <a:lumMod val="65000"/>
                    <a:lumOff val="35000"/>
                  </a:schemeClr>
                </a:solidFill>
              </a:rPr>
              <a:t>目的</a:t>
            </a:r>
          </a:p>
          <a:p>
            <a:pPr marL="0" indent="0">
              <a:buNone/>
            </a:pPr>
            <a:r>
              <a:rPr lang="ja-JP" altLang="en-US" sz="1200">
                <a:solidFill>
                  <a:schemeClr val="tx1">
                    <a:lumMod val="65000"/>
                    <a:lumOff val="35000"/>
                  </a:schemeClr>
                </a:solidFill>
              </a:rPr>
              <a:t>・まず，コンピュータの仕組みを理解して欲しい</a:t>
            </a:r>
          </a:p>
          <a:p>
            <a:pPr marL="0" indent="0">
              <a:buNone/>
            </a:pPr>
            <a:r>
              <a:rPr lang="ja-JP" altLang="en-US" sz="1200">
                <a:solidFill>
                  <a:schemeClr val="tx1">
                    <a:lumMod val="65000"/>
                    <a:lumOff val="35000"/>
                  </a:schemeClr>
                </a:solidFill>
              </a:rPr>
              <a:t>・それにより，コンピュータの引き起こす現象をその仕組みから正しく把握できるようになって欲しい</a:t>
            </a:r>
          </a:p>
          <a:p>
            <a:pPr marL="0" indent="0">
              <a:buNone/>
            </a:pPr>
            <a:r>
              <a:rPr lang="ja-JP" altLang="en-US" sz="1200">
                <a:solidFill>
                  <a:schemeClr val="tx1">
                    <a:lumMod val="65000"/>
                    <a:lumOff val="35000"/>
                  </a:schemeClr>
                </a:solidFill>
              </a:rPr>
              <a:t>・そして最終的に，</a:t>
            </a:r>
            <a:r>
              <a:rPr lang="en-GB" altLang="ja-GB" sz="1200" dirty="0">
                <a:solidFill>
                  <a:schemeClr val="tx1">
                    <a:lumMod val="65000"/>
                    <a:lumOff val="35000"/>
                  </a:schemeClr>
                </a:solidFill>
              </a:rPr>
              <a:t>IT</a:t>
            </a:r>
            <a:r>
              <a:rPr lang="ja-JP" altLang="en-US" sz="1200">
                <a:solidFill>
                  <a:schemeClr val="tx1">
                    <a:lumMod val="65000"/>
                    <a:lumOff val="35000"/>
                  </a:schemeClr>
                </a:solidFill>
              </a:rPr>
              <a:t>システムを仕事や生活で活用できるようになって欲しい</a:t>
            </a:r>
            <a:endParaRPr lang="en-US" altLang="ja-JP" sz="1200" dirty="0">
              <a:solidFill>
                <a:schemeClr val="tx1">
                  <a:lumMod val="65000"/>
                  <a:lumOff val="35000"/>
                </a:schemeClr>
              </a:solidFill>
            </a:endParaRPr>
          </a:p>
          <a:p>
            <a:pPr marL="0" indent="0">
              <a:buNone/>
            </a:pPr>
            <a:endParaRPr lang="ja-JP" altLang="en-US" sz="1200">
              <a:solidFill>
                <a:schemeClr val="tx1">
                  <a:lumMod val="65000"/>
                  <a:lumOff val="35000"/>
                </a:schemeClr>
              </a:solidFill>
            </a:endParaRPr>
          </a:p>
          <a:p>
            <a:pPr marL="0" indent="0">
              <a:buNone/>
            </a:pPr>
            <a:r>
              <a:rPr lang="ja-JP" altLang="en-US" sz="1600">
                <a:solidFill>
                  <a:schemeClr val="tx1">
                    <a:lumMod val="65000"/>
                    <a:lumOff val="35000"/>
                  </a:schemeClr>
                </a:solidFill>
              </a:rPr>
              <a:t>目標と内容</a:t>
            </a:r>
          </a:p>
          <a:p>
            <a:pPr marL="0" indent="0">
              <a:buNone/>
            </a:pPr>
            <a:r>
              <a:rPr lang="ja-JP" altLang="en-US" sz="1200">
                <a:solidFill>
                  <a:schemeClr val="tx1">
                    <a:lumMod val="65000"/>
                    <a:lumOff val="35000"/>
                  </a:schemeClr>
                </a:solidFill>
              </a:rPr>
              <a:t>目標</a:t>
            </a:r>
            <a:r>
              <a:rPr lang="en-US" altLang="ja-JP" sz="1200" dirty="0">
                <a:solidFill>
                  <a:schemeClr val="tx1">
                    <a:lumMod val="65000"/>
                    <a:lumOff val="35000"/>
                  </a:schemeClr>
                </a:solidFill>
              </a:rPr>
              <a:t>1</a:t>
            </a:r>
            <a:r>
              <a:rPr lang="ja-JP" altLang="en-US" sz="1200">
                <a:solidFill>
                  <a:schemeClr val="tx1">
                    <a:lumMod val="65000"/>
                    <a:lumOff val="35000"/>
                  </a:schemeClr>
                </a:solidFill>
              </a:rPr>
              <a:t>：仕事のために，コンピュータ・</a:t>
            </a:r>
            <a:r>
              <a:rPr lang="en-GB" altLang="ja-GB" sz="1200" dirty="0">
                <a:solidFill>
                  <a:schemeClr val="tx1">
                    <a:lumMod val="65000"/>
                    <a:lumOff val="35000"/>
                  </a:schemeClr>
                </a:solidFill>
              </a:rPr>
              <a:t>IT</a:t>
            </a:r>
            <a:r>
              <a:rPr lang="ja-JP" altLang="en-US" sz="1200">
                <a:solidFill>
                  <a:schemeClr val="tx1">
                    <a:lumMod val="65000"/>
                    <a:lumOff val="35000"/>
                  </a:schemeClr>
                </a:solidFill>
              </a:rPr>
              <a:t>システムをデザインする</a:t>
            </a:r>
          </a:p>
          <a:p>
            <a:pPr marL="0" indent="0">
              <a:buNone/>
            </a:pPr>
            <a:r>
              <a:rPr lang="ja-JP" altLang="en-US" sz="1200">
                <a:solidFill>
                  <a:schemeClr val="tx1">
                    <a:lumMod val="65000"/>
                    <a:lumOff val="35000"/>
                  </a:schemeClr>
                </a:solidFill>
              </a:rPr>
              <a:t>  ・コンピュータやデータ・</a:t>
            </a:r>
            <a:r>
              <a:rPr lang="en-GB" altLang="ja-GB" sz="1200" dirty="0">
                <a:solidFill>
                  <a:schemeClr val="tx1">
                    <a:lumMod val="65000"/>
                    <a:lumOff val="35000"/>
                  </a:schemeClr>
                </a:solidFill>
              </a:rPr>
              <a:t>AI</a:t>
            </a:r>
            <a:r>
              <a:rPr lang="ja-JP" altLang="en-US" sz="1200">
                <a:solidFill>
                  <a:schemeClr val="tx1">
                    <a:lumMod val="65000"/>
                    <a:lumOff val="35000"/>
                  </a:schemeClr>
                </a:solidFill>
              </a:rPr>
              <a:t>にできることを知る</a:t>
            </a:r>
          </a:p>
          <a:p>
            <a:pPr marL="0" indent="0">
              <a:buNone/>
            </a:pPr>
            <a:r>
              <a:rPr lang="ja-JP" altLang="en-US" sz="1200">
                <a:solidFill>
                  <a:schemeClr val="tx1">
                    <a:lumMod val="65000"/>
                    <a:lumOff val="35000"/>
                  </a:schemeClr>
                </a:solidFill>
              </a:rPr>
              <a:t>  ・</a:t>
            </a:r>
            <a:r>
              <a:rPr lang="en-GB" altLang="ja-GB" sz="1200" dirty="0">
                <a:solidFill>
                  <a:schemeClr val="tx1">
                    <a:lumMod val="65000"/>
                    <a:lumOff val="35000"/>
                  </a:schemeClr>
                </a:solidFill>
              </a:rPr>
              <a:t>IT</a:t>
            </a:r>
            <a:r>
              <a:rPr lang="ja-JP" altLang="en-US" sz="1200">
                <a:solidFill>
                  <a:schemeClr val="tx1">
                    <a:lumMod val="65000"/>
                    <a:lumOff val="35000"/>
                  </a:schemeClr>
                </a:solidFill>
              </a:rPr>
              <a:t>システムの依頼や開発をするために，依頼・開発・納品までどのように行われるかを知る</a:t>
            </a:r>
          </a:p>
          <a:p>
            <a:pPr marL="0" indent="0">
              <a:buNone/>
            </a:pPr>
            <a:r>
              <a:rPr lang="ja-JP" altLang="en-US" sz="1200">
                <a:solidFill>
                  <a:schemeClr val="tx1">
                    <a:lumMod val="65000"/>
                    <a:lumOff val="35000"/>
                  </a:schemeClr>
                </a:solidFill>
              </a:rPr>
              <a:t>  ・コンピュータを選定できるように，ハードウェア構成（</a:t>
            </a:r>
            <a:r>
              <a:rPr lang="en-GB" altLang="ja-GB" sz="1200" dirty="0">
                <a:solidFill>
                  <a:schemeClr val="tx1">
                    <a:lumMod val="65000"/>
                    <a:lumOff val="35000"/>
                  </a:schemeClr>
                </a:solidFill>
              </a:rPr>
              <a:t>CPU</a:t>
            </a:r>
            <a:r>
              <a:rPr lang="ja-GB" altLang="en-GB" sz="1200" dirty="0">
                <a:solidFill>
                  <a:schemeClr val="tx1">
                    <a:lumMod val="65000"/>
                    <a:lumOff val="35000"/>
                  </a:schemeClr>
                </a:solidFill>
              </a:rPr>
              <a:t>，</a:t>
            </a:r>
            <a:r>
              <a:rPr lang="ja-JP" altLang="en-US" sz="1200">
                <a:solidFill>
                  <a:schemeClr val="tx1">
                    <a:lumMod val="65000"/>
                    <a:lumOff val="35000"/>
                  </a:schemeClr>
                </a:solidFill>
              </a:rPr>
              <a:t>メモリ，ストレージ）を知る</a:t>
            </a:r>
          </a:p>
          <a:p>
            <a:pPr marL="0" indent="0">
              <a:buNone/>
            </a:pPr>
            <a:r>
              <a:rPr lang="ja-JP" altLang="en-US" sz="1200">
                <a:solidFill>
                  <a:schemeClr val="tx1">
                    <a:lumMod val="65000"/>
                    <a:lumOff val="35000"/>
                  </a:schemeClr>
                </a:solidFill>
              </a:rPr>
              <a:t>目標</a:t>
            </a:r>
            <a:r>
              <a:rPr lang="en-US" altLang="ja-JP" sz="1200" dirty="0">
                <a:solidFill>
                  <a:schemeClr val="tx1">
                    <a:lumMod val="65000"/>
                    <a:lumOff val="35000"/>
                  </a:schemeClr>
                </a:solidFill>
              </a:rPr>
              <a:t>2</a:t>
            </a:r>
            <a:r>
              <a:rPr lang="ja-JP" altLang="en-US" sz="1200">
                <a:solidFill>
                  <a:schemeClr val="tx1">
                    <a:lumMod val="65000"/>
                    <a:lumOff val="35000"/>
                  </a:schemeClr>
                </a:solidFill>
              </a:rPr>
              <a:t>：既存のコンピュータ・</a:t>
            </a:r>
            <a:r>
              <a:rPr lang="en-GB" altLang="ja-GB" sz="1200" dirty="0">
                <a:solidFill>
                  <a:schemeClr val="tx1">
                    <a:lumMod val="65000"/>
                    <a:lumOff val="35000"/>
                  </a:schemeClr>
                </a:solidFill>
              </a:rPr>
              <a:t>IT</a:t>
            </a:r>
            <a:r>
              <a:rPr lang="ja-JP" altLang="en-US" sz="1200">
                <a:solidFill>
                  <a:schemeClr val="tx1">
                    <a:lumMod val="65000"/>
                    <a:lumOff val="35000"/>
                  </a:schemeClr>
                </a:solidFill>
              </a:rPr>
              <a:t>システムを利用する</a:t>
            </a:r>
          </a:p>
          <a:p>
            <a:pPr marL="0" indent="0">
              <a:buNone/>
            </a:pPr>
            <a:r>
              <a:rPr lang="ja-JP" altLang="en-US" sz="1200">
                <a:solidFill>
                  <a:schemeClr val="tx1">
                    <a:lumMod val="65000"/>
                    <a:lumOff val="35000"/>
                  </a:schemeClr>
                </a:solidFill>
              </a:rPr>
              <a:t>  ・コンピュータの引き起こす現象を正しく理解するために，コンピュータが様々な情報処理を行える仕組み</a:t>
            </a:r>
            <a:br>
              <a:rPr lang="en-US" altLang="ja-JP" sz="1200" dirty="0">
                <a:solidFill>
                  <a:schemeClr val="tx1">
                    <a:lumMod val="65000"/>
                    <a:lumOff val="35000"/>
                  </a:schemeClr>
                </a:solidFill>
              </a:rPr>
            </a:br>
            <a:r>
              <a:rPr lang="ja-JP" altLang="en-US" sz="1200">
                <a:solidFill>
                  <a:schemeClr val="tx1">
                    <a:lumMod val="65000"/>
                    <a:lumOff val="35000"/>
                  </a:schemeClr>
                </a:solidFill>
              </a:rPr>
              <a:t>（アルゴリズム，基数など）を理解する</a:t>
            </a:r>
          </a:p>
          <a:p>
            <a:pPr marL="0" indent="0">
              <a:buNone/>
            </a:pPr>
            <a:r>
              <a:rPr lang="ja-JP" altLang="en-US" sz="1200">
                <a:solidFill>
                  <a:schemeClr val="tx1">
                    <a:lumMod val="65000"/>
                    <a:lumOff val="35000"/>
                  </a:schemeClr>
                </a:solidFill>
              </a:rPr>
              <a:t>目標</a:t>
            </a:r>
            <a:r>
              <a:rPr lang="en-US" altLang="ja-JP" sz="1200" dirty="0">
                <a:solidFill>
                  <a:schemeClr val="tx1">
                    <a:lumMod val="65000"/>
                    <a:lumOff val="35000"/>
                  </a:schemeClr>
                </a:solidFill>
              </a:rPr>
              <a:t>3</a:t>
            </a:r>
            <a:r>
              <a:rPr lang="ja-JP" altLang="en-US" sz="1200">
                <a:solidFill>
                  <a:schemeClr val="tx1">
                    <a:lumMod val="65000"/>
                    <a:lumOff val="35000"/>
                  </a:schemeClr>
                </a:solidFill>
              </a:rPr>
              <a:t>：コンピュータ・</a:t>
            </a:r>
            <a:r>
              <a:rPr lang="en-GB" altLang="ja-GB" sz="1200" dirty="0">
                <a:solidFill>
                  <a:schemeClr val="tx1">
                    <a:lumMod val="65000"/>
                    <a:lumOff val="35000"/>
                  </a:schemeClr>
                </a:solidFill>
              </a:rPr>
              <a:t>IT</a:t>
            </a:r>
            <a:r>
              <a:rPr lang="ja-JP" altLang="en-US" sz="1200">
                <a:solidFill>
                  <a:schemeClr val="tx1">
                    <a:lumMod val="65000"/>
                    <a:lumOff val="35000"/>
                  </a:schemeClr>
                </a:solidFill>
              </a:rPr>
              <a:t>システムのためにを学んだことを，他の場面で活かす</a:t>
            </a:r>
          </a:p>
          <a:p>
            <a:pPr marL="0" indent="0">
              <a:buNone/>
            </a:pPr>
            <a:r>
              <a:rPr lang="ja-JP" altLang="en-US" sz="1200">
                <a:solidFill>
                  <a:schemeClr val="tx1">
                    <a:lumMod val="65000"/>
                    <a:lumOff val="35000"/>
                  </a:schemeClr>
                </a:solidFill>
              </a:rPr>
              <a:t>  ・コンピュータを使うための思考が，生活や仕事の場面一般に応用できることを知る（計算論的思考）</a:t>
            </a:r>
            <a:endParaRPr lang="en-US" altLang="ja-JP"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JP" altLang="en-US" sz="1200">
                <a:solidFill>
                  <a:schemeClr val="tx1">
                    <a:lumMod val="65000"/>
                    <a:lumOff val="35000"/>
                  </a:schemeClr>
                </a:solidFill>
              </a:rPr>
              <a:t>これら目標と内容を</a:t>
            </a:r>
            <a:r>
              <a:rPr lang="ja-GB" altLang="en-US" sz="1200" dirty="0">
                <a:solidFill>
                  <a:schemeClr val="tx1">
                    <a:lumMod val="65000"/>
                    <a:lumOff val="35000"/>
                  </a:schemeClr>
                </a:solidFill>
              </a:rPr>
              <a:t>実現するために</a:t>
            </a:r>
            <a:r>
              <a:rPr lang="ja-JP" altLang="en-US" sz="1200">
                <a:solidFill>
                  <a:schemeClr val="tx1">
                    <a:lumMod val="65000"/>
                    <a:lumOff val="35000"/>
                  </a:schemeClr>
                </a:solidFill>
              </a:rPr>
              <a:t>，</a:t>
            </a:r>
            <a:r>
              <a:rPr lang="ja-GB" altLang="en-US" sz="1200" dirty="0">
                <a:solidFill>
                  <a:schemeClr val="tx1">
                    <a:lumMod val="65000"/>
                    <a:lumOff val="35000"/>
                  </a:schemeClr>
                </a:solidFill>
              </a:rPr>
              <a:t>次とその次のスライドに示す流れで全</a:t>
            </a:r>
            <a:r>
              <a:rPr lang="en-US" altLang="ja-GB" sz="1200" dirty="0">
                <a:solidFill>
                  <a:schemeClr val="tx1">
                    <a:lumMod val="65000"/>
                    <a:lumOff val="35000"/>
                  </a:schemeClr>
                </a:solidFill>
              </a:rPr>
              <a:t>15</a:t>
            </a:r>
            <a:r>
              <a:rPr lang="ja-GB" altLang="en-US" sz="1200" dirty="0">
                <a:solidFill>
                  <a:schemeClr val="tx1">
                    <a:lumMod val="65000"/>
                    <a:lumOff val="35000"/>
                  </a:schemeClr>
                </a:solidFill>
              </a:rPr>
              <a:t>回の授業を構成する</a:t>
            </a:r>
            <a:endParaRPr lang="ja-JP" altLang="en-US" sz="1200">
              <a:solidFill>
                <a:schemeClr val="tx1">
                  <a:lumMod val="65000"/>
                  <a:lumOff val="35000"/>
                </a:schemeClr>
              </a:solidFill>
            </a:endParaRPr>
          </a:p>
        </p:txBody>
      </p:sp>
    </p:spTree>
    <p:extLst>
      <p:ext uri="{BB962C8B-B14F-4D97-AF65-F5344CB8AC3E}">
        <p14:creationId xmlns:p14="http://schemas.microsoft.com/office/powerpoint/2010/main" val="1098556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C7846C-DF96-50FC-41B8-B67EC6F8C7A5}"/>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FEE02EF4-1085-1CED-46B6-78861458BBD9}"/>
              </a:ext>
            </a:extLst>
          </p:cNvPr>
          <p:cNvSpPr>
            <a:spLocks noGrp="1"/>
          </p:cNvSpPr>
          <p:nvPr>
            <p:ph idx="1"/>
          </p:nvPr>
        </p:nvSpPr>
        <p:spPr/>
        <p:txBody>
          <a:bodyPr>
            <a:normAutofit/>
          </a:bodyPr>
          <a:lstStyle/>
          <a:p>
            <a:pPr marL="457200" indent="-457200">
              <a:buFont typeface="+mj-lt"/>
              <a:buAutoNum type="arabicPeriod"/>
            </a:pPr>
            <a:r>
              <a:rPr lang="ja-GB" sz="2000" dirty="0">
                <a:solidFill>
                  <a:srgbClr val="2F2523"/>
                </a:solidFill>
              </a:rPr>
              <a:t>日本政府や学科の教育方針を知り，現状や将来像に基づいて</a:t>
            </a:r>
            <a:br>
              <a:rPr lang="ja-GB" sz="2000" dirty="0">
                <a:solidFill>
                  <a:srgbClr val="2F2523"/>
                </a:solidFill>
              </a:rPr>
            </a:br>
            <a:r>
              <a:rPr lang="ja-GB" sz="2000" dirty="0"/>
              <a:t>自分が計算機を学ぶ意味</a:t>
            </a:r>
            <a:r>
              <a:rPr lang="ja-GB" sz="2000" dirty="0">
                <a:solidFill>
                  <a:srgbClr val="2F2523"/>
                </a:solidFill>
              </a:rPr>
              <a:t>を見つける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rgbClr val="2F2523"/>
                </a:solidFill>
              </a:rPr>
              <a:t>計算機やデータ・</a:t>
            </a:r>
            <a:r>
              <a:rPr lang="en-GB" sz="2000" dirty="0">
                <a:solidFill>
                  <a:srgbClr val="2F2523"/>
                </a:solidFill>
              </a:rPr>
              <a:t>AI</a:t>
            </a:r>
            <a:r>
              <a:rPr lang="ja-JP" altLang="en-US" sz="2000">
                <a:solidFill>
                  <a:srgbClr val="2F2523"/>
                </a:solidFill>
              </a:rPr>
              <a:t>にできることを</a:t>
            </a:r>
            <a:r>
              <a:rPr lang="ja-GB" altLang="en-US" sz="2000" dirty="0">
                <a:solidFill>
                  <a:srgbClr val="2F2523"/>
                </a:solidFill>
              </a:rPr>
              <a:t>知り</a:t>
            </a:r>
            <a:r>
              <a:rPr lang="ja-JP" altLang="en-US" sz="2000">
                <a:solidFill>
                  <a:srgbClr val="2F2523"/>
                </a:solidFill>
              </a:rPr>
              <a:t>，</a:t>
            </a:r>
            <a:br>
              <a:rPr lang="en-US" altLang="ja-JP" sz="2000" dirty="0">
                <a:solidFill>
                  <a:srgbClr val="2F2523"/>
                </a:solidFill>
              </a:rPr>
            </a:br>
            <a:r>
              <a:rPr lang="ja-JP" altLang="en-US" sz="2000"/>
              <a:t>目的達成に</a:t>
            </a:r>
            <a:r>
              <a:rPr lang="ja-GB" altLang="en-US" sz="2000" dirty="0"/>
              <a:t>向けた人間と</a:t>
            </a:r>
            <a:r>
              <a:rPr lang="ja-JP" altLang="en-US" sz="2000"/>
              <a:t>計算機，</a:t>
            </a:r>
            <a:r>
              <a:rPr lang="en-GB" sz="2000" dirty="0"/>
              <a:t>AI</a:t>
            </a:r>
            <a:r>
              <a:rPr lang="ja-JP" altLang="en-US" sz="2000"/>
              <a:t>の効果的な分業</a:t>
            </a:r>
            <a:r>
              <a:rPr lang="ja-JP" altLang="en-US" sz="2000">
                <a:solidFill>
                  <a:srgbClr val="2F2523"/>
                </a:solidFill>
              </a:rPr>
              <a:t>を想像できるようになる</a:t>
            </a:r>
            <a:endParaRPr lang="en-US" altLang="ja-JP" sz="2000" dirty="0">
              <a:solidFill>
                <a:srgbClr val="2F2523"/>
              </a:solidFill>
            </a:endParaRP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ITシステムの構造や仕組みを学び，</a:t>
            </a:r>
            <a:br>
              <a:rPr lang="ja-GB" sz="2000" dirty="0">
                <a:solidFill>
                  <a:srgbClr val="2F2523"/>
                </a:solidFill>
              </a:rPr>
            </a:br>
            <a:r>
              <a:rPr lang="ja-GB" sz="2000" dirty="0"/>
              <a:t>問題を計算機が使える形に整理したり，エンジニアに伝えたり</a:t>
            </a:r>
            <a:r>
              <a:rPr lang="ja-GB" sz="2000" dirty="0">
                <a:solidFill>
                  <a:srgbClr val="2F2523"/>
                </a:solidFill>
              </a:rPr>
              <a:t>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計算機のハードウェア構成を</a:t>
            </a:r>
            <a:r>
              <a:rPr lang="ja-GB" altLang="en-US" sz="2000" dirty="0">
                <a:solidFill>
                  <a:srgbClr val="2F2523"/>
                </a:solidFill>
              </a:rPr>
              <a:t>知り</a:t>
            </a:r>
            <a:r>
              <a:rPr lang="ja-GB" sz="2000" dirty="0">
                <a:solidFill>
                  <a:srgbClr val="2F2523"/>
                </a:solidFill>
              </a:rPr>
              <a:t>，</a:t>
            </a:r>
            <a:br>
              <a:rPr lang="ja-GB" sz="2000" dirty="0">
                <a:solidFill>
                  <a:srgbClr val="2F2523"/>
                </a:solidFill>
              </a:rPr>
            </a:br>
            <a:r>
              <a:rPr lang="ja-GB" sz="2000" dirty="0"/>
              <a:t>目的達成に必要な装置の見積もりや購入</a:t>
            </a:r>
            <a:r>
              <a:rPr lang="ja-GB" sz="2000" dirty="0">
                <a:solidFill>
                  <a:srgbClr val="2F2523"/>
                </a:solidFill>
              </a:rPr>
              <a:t>ができるようになる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rgbClr val="2F2523"/>
                </a:solidFill>
              </a:rPr>
              <a:t>計算機に特有のデータ表現を学び，</a:t>
            </a:r>
            <a:br>
              <a:rPr lang="en-US" altLang="ja-JP" sz="2000" dirty="0">
                <a:solidFill>
                  <a:srgbClr val="2F2523"/>
                </a:solidFill>
              </a:rPr>
            </a:br>
            <a:r>
              <a:rPr lang="ja-JP" altLang="en-US" sz="2000"/>
              <a:t>機器設定や開発でしばしば遭遇する数値・記号の意味を理解</a:t>
            </a:r>
            <a:r>
              <a:rPr lang="ja-JP" altLang="en-US" sz="2000">
                <a:solidFill>
                  <a:srgbClr val="2F2523"/>
                </a:solidFill>
              </a:rPr>
              <a:t>できるようになる</a:t>
            </a:r>
            <a:endParaRPr lang="en-US" altLang="ja-JP" sz="2000" dirty="0">
              <a:solidFill>
                <a:srgbClr val="2F2523"/>
              </a:solidFill>
            </a:endParaRPr>
          </a:p>
          <a:p>
            <a:pPr marL="1828800" lvl="3" indent="-457200">
              <a:buFont typeface="+mj-lt"/>
              <a:buAutoNum type="arabicPeriod"/>
            </a:pPr>
            <a:endParaRPr lang="en-US" altLang="ja-JP" sz="1200" dirty="0">
              <a:solidFill>
                <a:srgbClr val="2F2523"/>
              </a:solidFill>
            </a:endParaRPr>
          </a:p>
          <a:p>
            <a:pPr marL="457200" indent="-457200">
              <a:buFont typeface="+mj-lt"/>
              <a:buAutoNum type="arabicPeriod"/>
            </a:pPr>
            <a:r>
              <a:rPr lang="ja-JP" altLang="en-US" sz="2000"/>
              <a:t>計算機を使うための思考を計算機と無関係な場面で役立てる計算論的思考</a:t>
            </a:r>
            <a:r>
              <a:rPr lang="ja-JP" altLang="en-US" sz="2000">
                <a:solidFill>
                  <a:srgbClr val="2F2523"/>
                </a:solidFill>
              </a:rPr>
              <a:t>を体験する</a:t>
            </a:r>
            <a:endParaRPr lang="ja-GB" sz="2000" dirty="0">
              <a:solidFill>
                <a:srgbClr val="2F2523"/>
              </a:solidFill>
            </a:endParaRPr>
          </a:p>
        </p:txBody>
      </p:sp>
    </p:spTree>
    <p:extLst>
      <p:ext uri="{BB962C8B-B14F-4D97-AF65-F5344CB8AC3E}">
        <p14:creationId xmlns:p14="http://schemas.microsoft.com/office/powerpoint/2010/main" val="234113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D912D2-B0CF-FFCE-A00D-90ED7CC46D16}"/>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9B22A160-4179-37D9-45F6-C9EED9537564}"/>
              </a:ext>
            </a:extLst>
          </p:cNvPr>
          <p:cNvSpPr>
            <a:spLocks noGrp="1"/>
          </p:cNvSpPr>
          <p:nvPr>
            <p:ph idx="1"/>
          </p:nvPr>
        </p:nvSpPr>
        <p:spPr>
          <a:xfrm>
            <a:off x="314325" y="854765"/>
            <a:ext cx="4257675" cy="6003234"/>
          </a:xfrm>
        </p:spPr>
        <p:txBody>
          <a:bodyPr>
            <a:normAutofit/>
          </a:bodyPr>
          <a:lstStyle/>
          <a:p>
            <a:pPr marL="0" indent="0">
              <a:buNone/>
            </a:pPr>
            <a:r>
              <a:rPr lang="en-GB" sz="1800" dirty="0"/>
              <a:t>I. </a:t>
            </a:r>
            <a:r>
              <a:rPr lang="ja-JP" altLang="en-US" sz="1800"/>
              <a:t>計算機システムを学ぶ意味を見つける</a:t>
            </a:r>
          </a:p>
          <a:p>
            <a:pPr marL="0" indent="0">
              <a:buNone/>
            </a:pPr>
            <a:r>
              <a:rPr lang="ja-JP" altLang="en-US" sz="1800">
                <a:solidFill>
                  <a:srgbClr val="2F2523"/>
                </a:solidFill>
              </a:rPr>
              <a:t>　</a:t>
            </a:r>
            <a:r>
              <a:rPr lang="en-US" altLang="ja-JP" sz="1800" dirty="0">
                <a:solidFill>
                  <a:srgbClr val="2F2523"/>
                </a:solidFill>
              </a:rPr>
              <a:t>1. </a:t>
            </a:r>
            <a:r>
              <a:rPr lang="ja-GB" altLang="en-US" sz="1800" dirty="0">
                <a:solidFill>
                  <a:srgbClr val="2F2523"/>
                </a:solidFill>
              </a:rPr>
              <a:t>計算機とプログラムによる自動化</a:t>
            </a:r>
            <a:endParaRPr lang="ja-JP" altLang="en-US" sz="1800">
              <a:solidFill>
                <a:srgbClr val="2F2523"/>
              </a:solidFill>
            </a:endParaRPr>
          </a:p>
          <a:p>
            <a:pPr marL="0" indent="0">
              <a:buNone/>
            </a:pPr>
            <a:r>
              <a:rPr lang="ja-JP" altLang="en-US" sz="1800">
                <a:solidFill>
                  <a:srgbClr val="2F2523"/>
                </a:solidFill>
              </a:rPr>
              <a:t>　</a:t>
            </a:r>
            <a:r>
              <a:rPr lang="en-US" altLang="ja-JP" sz="1800" dirty="0">
                <a:solidFill>
                  <a:srgbClr val="2F2523"/>
                </a:solidFill>
              </a:rPr>
              <a:t>2. </a:t>
            </a:r>
            <a:r>
              <a:rPr lang="ja-GB" altLang="en-US" sz="1800" dirty="0">
                <a:solidFill>
                  <a:srgbClr val="2F2523"/>
                </a:solidFill>
              </a:rPr>
              <a:t>計算機，インターネット，情報システム</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t>II. </a:t>
            </a:r>
            <a:r>
              <a:rPr lang="ja-JP" altLang="en-US" sz="1800"/>
              <a:t>計算機やデータ，</a:t>
            </a:r>
            <a:r>
              <a:rPr lang="en-GB" sz="1800" dirty="0"/>
              <a:t>AI</a:t>
            </a:r>
            <a:r>
              <a:rPr lang="ja-JP" altLang="en-US" sz="1800"/>
              <a:t>にできることを知る</a:t>
            </a:r>
          </a:p>
          <a:p>
            <a:pPr marL="0" indent="0">
              <a:buNone/>
            </a:pPr>
            <a:r>
              <a:rPr lang="ja-JP" altLang="en-US" sz="1800">
                <a:solidFill>
                  <a:srgbClr val="2F2523"/>
                </a:solidFill>
              </a:rPr>
              <a:t>　</a:t>
            </a:r>
            <a:r>
              <a:rPr lang="en-US" altLang="ja-JP" sz="1800" dirty="0">
                <a:solidFill>
                  <a:srgbClr val="2F2523"/>
                </a:solidFill>
              </a:rPr>
              <a:t>3. </a:t>
            </a:r>
            <a:r>
              <a:rPr lang="ja-JP" altLang="en-US" sz="1800">
                <a:solidFill>
                  <a:srgbClr val="2F2523"/>
                </a:solidFill>
              </a:rPr>
              <a:t>計算機の基本原理</a:t>
            </a:r>
          </a:p>
          <a:p>
            <a:pPr marL="0" indent="0">
              <a:buNone/>
            </a:pPr>
            <a:r>
              <a:rPr lang="ja-JP" altLang="en-US" sz="1800">
                <a:solidFill>
                  <a:srgbClr val="2F2523"/>
                </a:solidFill>
              </a:rPr>
              <a:t>　</a:t>
            </a:r>
            <a:r>
              <a:rPr lang="en-US" altLang="ja-JP" sz="1800" dirty="0">
                <a:solidFill>
                  <a:srgbClr val="2F2523"/>
                </a:solidFill>
              </a:rPr>
              <a:t>4. </a:t>
            </a:r>
            <a:r>
              <a:rPr lang="ja-JP" altLang="en-US" sz="1800">
                <a:solidFill>
                  <a:srgbClr val="2F2523"/>
                </a:solidFill>
              </a:rPr>
              <a:t>計算機と統計</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t>III. </a:t>
            </a:r>
            <a:r>
              <a:rPr lang="ja-JP" altLang="en-US" sz="1800"/>
              <a:t>問題を「計算機の使える形」に整理する</a:t>
            </a:r>
          </a:p>
          <a:p>
            <a:pPr marL="0" indent="0">
              <a:buNone/>
            </a:pPr>
            <a:r>
              <a:rPr lang="ja-JP" altLang="en-US" sz="1800">
                <a:solidFill>
                  <a:srgbClr val="2F2523"/>
                </a:solidFill>
              </a:rPr>
              <a:t>　</a:t>
            </a:r>
            <a:r>
              <a:rPr lang="en-US" altLang="ja-JP" sz="1800" dirty="0">
                <a:solidFill>
                  <a:srgbClr val="2F2523"/>
                </a:solidFill>
              </a:rPr>
              <a:t>5. </a:t>
            </a:r>
            <a:r>
              <a:rPr lang="ja-JP" altLang="en-US" sz="1800">
                <a:solidFill>
                  <a:srgbClr val="2F2523"/>
                </a:solidFill>
              </a:rPr>
              <a:t>情報システムのデザイン</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t>IV. </a:t>
            </a:r>
            <a:r>
              <a:rPr lang="ja-JP" altLang="en-US" sz="1800"/>
              <a:t>計算機の考え方を体感する</a:t>
            </a:r>
          </a:p>
          <a:p>
            <a:pPr marL="0" indent="0">
              <a:buNone/>
            </a:pPr>
            <a:r>
              <a:rPr lang="ja-JP" altLang="en-US" sz="1800">
                <a:solidFill>
                  <a:srgbClr val="2F2523"/>
                </a:solidFill>
              </a:rPr>
              <a:t>　</a:t>
            </a:r>
            <a:r>
              <a:rPr lang="en-US" altLang="ja-JP" sz="1800" dirty="0">
                <a:solidFill>
                  <a:srgbClr val="2F2523"/>
                </a:solidFill>
              </a:rPr>
              <a:t>6. </a:t>
            </a:r>
            <a:r>
              <a:rPr lang="ja-JP" altLang="en-US" sz="1800">
                <a:solidFill>
                  <a:srgbClr val="2F2523"/>
                </a:solidFill>
              </a:rPr>
              <a:t>プログラムの基本</a:t>
            </a:r>
          </a:p>
          <a:p>
            <a:pPr marL="0" indent="0">
              <a:buNone/>
            </a:pPr>
            <a:r>
              <a:rPr lang="ja-JP" altLang="en-US" sz="1800">
                <a:solidFill>
                  <a:srgbClr val="2F2523"/>
                </a:solidFill>
              </a:rPr>
              <a:t>　</a:t>
            </a:r>
            <a:r>
              <a:rPr lang="en-US" altLang="ja-JP" sz="1800" dirty="0">
                <a:solidFill>
                  <a:srgbClr val="2F2523"/>
                </a:solidFill>
              </a:rPr>
              <a:t>7. </a:t>
            </a:r>
            <a:r>
              <a:rPr lang="ja-JP" altLang="en-US" sz="1800">
                <a:solidFill>
                  <a:srgbClr val="2F2523"/>
                </a:solidFill>
              </a:rPr>
              <a:t>データ構造</a:t>
            </a:r>
          </a:p>
          <a:p>
            <a:pPr marL="0" indent="0">
              <a:buNone/>
            </a:pPr>
            <a:r>
              <a:rPr lang="ja-JP" altLang="en-US" sz="1800">
                <a:solidFill>
                  <a:srgbClr val="2F2523"/>
                </a:solidFill>
              </a:rPr>
              <a:t>　</a:t>
            </a:r>
            <a:r>
              <a:rPr lang="en-US" altLang="ja-JP" sz="1800" dirty="0">
                <a:solidFill>
                  <a:srgbClr val="2F2523"/>
                </a:solidFill>
              </a:rPr>
              <a:t>8. </a:t>
            </a:r>
            <a:r>
              <a:rPr lang="ja-JP" altLang="en-US" sz="1800">
                <a:solidFill>
                  <a:srgbClr val="2F2523"/>
                </a:solidFill>
              </a:rPr>
              <a:t>アルゴリズム</a:t>
            </a:r>
          </a:p>
          <a:p>
            <a:pPr marL="0" indent="0">
              <a:buNone/>
            </a:pPr>
            <a:r>
              <a:rPr lang="ja-JP" altLang="en-US" sz="1800">
                <a:solidFill>
                  <a:srgbClr val="2F2523"/>
                </a:solidFill>
              </a:rPr>
              <a:t>　</a:t>
            </a:r>
            <a:r>
              <a:rPr lang="en-US" altLang="ja-JP" sz="1800" dirty="0">
                <a:solidFill>
                  <a:srgbClr val="2F2523"/>
                </a:solidFill>
              </a:rPr>
              <a:t>9. </a:t>
            </a:r>
            <a:r>
              <a:rPr lang="ja-JP" altLang="en-US" sz="1800">
                <a:solidFill>
                  <a:srgbClr val="2F2523"/>
                </a:solidFill>
              </a:rPr>
              <a:t>演習（データ構造とアルゴリズム）</a:t>
            </a:r>
          </a:p>
        </p:txBody>
      </p:sp>
      <p:sp>
        <p:nvSpPr>
          <p:cNvPr id="4" name="コンテンツ プレースホルダー 2">
            <a:extLst>
              <a:ext uri="{FF2B5EF4-FFF2-40B4-BE49-F238E27FC236}">
                <a16:creationId xmlns:a16="http://schemas.microsoft.com/office/drawing/2014/main" id="{008201D6-1C61-92D4-154D-38C8FC038C19}"/>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t>V. </a:t>
            </a:r>
            <a:r>
              <a:rPr lang="ja-JP" altLang="en-US" sz="1800"/>
              <a:t>計算機のハードウェア構成を知る</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10. </a:t>
            </a:r>
            <a:r>
              <a:rPr lang="ja-JP" altLang="en-US" sz="1800">
                <a:solidFill>
                  <a:srgbClr val="2F2523"/>
                </a:solidFill>
              </a:rPr>
              <a:t>計算機の中の情報表現</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11. </a:t>
            </a:r>
            <a:r>
              <a:rPr lang="ja-GB" altLang="en-US" sz="1800" dirty="0">
                <a:solidFill>
                  <a:srgbClr val="2F2523"/>
                </a:solidFill>
              </a:rPr>
              <a:t>演算とハードウェア構成</a:t>
            </a:r>
            <a:endParaRPr lang="en-US" altLang="ja-JP" sz="1800" dirty="0">
              <a:solidFill>
                <a:srgbClr val="2F2523"/>
              </a:solidFill>
            </a:endParaRPr>
          </a:p>
          <a:p>
            <a:pPr marL="0" indent="0">
              <a:buFont typeface="Arial" panose="020B0604020202020204" pitchFamily="34" charset="0"/>
              <a:buNone/>
            </a:pPr>
            <a:endParaRPr lang="ja-JP" altLang="en-US" sz="800">
              <a:solidFill>
                <a:srgbClr val="2F2523"/>
              </a:solidFill>
            </a:endParaRPr>
          </a:p>
          <a:p>
            <a:pPr marL="0" indent="0">
              <a:buFont typeface="Arial" panose="020B0604020202020204" pitchFamily="34" charset="0"/>
              <a:buNone/>
            </a:pPr>
            <a:r>
              <a:rPr lang="en-GB" sz="1800" dirty="0"/>
              <a:t>VI. </a:t>
            </a:r>
            <a:r>
              <a:rPr lang="ja-JP" altLang="en-US" sz="1800"/>
              <a:t>計算機特有の数値表現に慣れる</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12. </a:t>
            </a:r>
            <a:r>
              <a:rPr lang="ja-JP" altLang="en-US" sz="1800">
                <a:solidFill>
                  <a:srgbClr val="2F2523"/>
                </a:solidFill>
              </a:rPr>
              <a:t>演習（基数と論理演算）</a:t>
            </a:r>
            <a:endParaRPr lang="en-US" altLang="ja-JP" sz="1800" dirty="0">
              <a:solidFill>
                <a:srgbClr val="2F2523"/>
              </a:solidFill>
            </a:endParaRPr>
          </a:p>
          <a:p>
            <a:pPr marL="0" indent="0">
              <a:buFont typeface="Arial" panose="020B0604020202020204" pitchFamily="34" charset="0"/>
              <a:buNone/>
            </a:pPr>
            <a:endParaRPr lang="ja-JP" altLang="en-US" sz="800">
              <a:solidFill>
                <a:srgbClr val="2F2523"/>
              </a:solidFill>
            </a:endParaRPr>
          </a:p>
          <a:p>
            <a:pPr marL="0" indent="0">
              <a:buFont typeface="Arial" panose="020B0604020202020204" pitchFamily="34" charset="0"/>
              <a:buNone/>
            </a:pPr>
            <a:r>
              <a:rPr lang="en-GB" sz="1800" dirty="0"/>
              <a:t>VII. </a:t>
            </a:r>
            <a:r>
              <a:rPr lang="ja-JP" altLang="en-US" sz="1800"/>
              <a:t>計算論的思考</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13. </a:t>
            </a:r>
            <a:r>
              <a:rPr lang="ja-JP" altLang="en-US" sz="1800">
                <a:solidFill>
                  <a:srgbClr val="2F2523"/>
                </a:solidFill>
              </a:rPr>
              <a:t>問題解決のためのモデル：</a:t>
            </a:r>
            <a:r>
              <a:rPr lang="en-GB" sz="1800" dirty="0">
                <a:solidFill>
                  <a:srgbClr val="2F2523"/>
                </a:solidFill>
              </a:rPr>
              <a:t>PERT</a:t>
            </a:r>
            <a:r>
              <a:rPr lang="ja-JP" altLang="en-US" sz="1800">
                <a:solidFill>
                  <a:srgbClr val="2F2523"/>
                </a:solidFill>
              </a:rPr>
              <a:t>図</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14. </a:t>
            </a:r>
            <a:r>
              <a:rPr lang="ja-JP" altLang="en-US" sz="1800">
                <a:solidFill>
                  <a:srgbClr val="2F2523"/>
                </a:solidFill>
              </a:rPr>
              <a:t>問題解決のためのモデル：決定表</a:t>
            </a:r>
          </a:p>
          <a:p>
            <a:pPr marL="0" indent="0">
              <a:buFont typeface="Arial" panose="020B0604020202020204" pitchFamily="34" charset="0"/>
              <a:buNone/>
            </a:pPr>
            <a:r>
              <a:rPr lang="ja-JP" altLang="en-US" sz="1800">
                <a:solidFill>
                  <a:srgbClr val="2F2523"/>
                </a:solidFill>
              </a:rPr>
              <a:t>　</a:t>
            </a:r>
            <a:r>
              <a:rPr lang="en-US" altLang="ja-JP" sz="1800" dirty="0">
                <a:solidFill>
                  <a:srgbClr val="2F2523"/>
                </a:solidFill>
              </a:rPr>
              <a:t>15. </a:t>
            </a:r>
            <a:r>
              <a:rPr lang="ja-JP" altLang="en-US" sz="1800">
                <a:solidFill>
                  <a:srgbClr val="2F2523"/>
                </a:solidFill>
              </a:rPr>
              <a:t>まとめ </a:t>
            </a:r>
            <a:r>
              <a:rPr lang="en-US" altLang="ja-JP" sz="1800" dirty="0">
                <a:solidFill>
                  <a:srgbClr val="2F2523"/>
                </a:solidFill>
              </a:rPr>
              <a:t>+ </a:t>
            </a:r>
            <a:r>
              <a:rPr lang="ja-JP" altLang="en-US" sz="1800">
                <a:solidFill>
                  <a:srgbClr val="2F2523"/>
                </a:solidFill>
              </a:rPr>
              <a:t>演習（</a:t>
            </a:r>
            <a:r>
              <a:rPr lang="en-US" altLang="ja-JP" sz="1800" dirty="0">
                <a:solidFill>
                  <a:srgbClr val="2F2523"/>
                </a:solidFill>
              </a:rPr>
              <a:t>PERT</a:t>
            </a:r>
            <a:r>
              <a:rPr lang="ja-JP" altLang="en-US" sz="1800">
                <a:solidFill>
                  <a:srgbClr val="2F2523"/>
                </a:solidFill>
              </a:rPr>
              <a:t>図，決定表）</a:t>
            </a:r>
            <a:endParaRPr lang="ja-GB" sz="1800" dirty="0">
              <a:solidFill>
                <a:srgbClr val="2F2523"/>
              </a:solidFill>
            </a:endParaRPr>
          </a:p>
        </p:txBody>
      </p:sp>
    </p:spTree>
    <p:extLst>
      <p:ext uri="{BB962C8B-B14F-4D97-AF65-F5344CB8AC3E}">
        <p14:creationId xmlns:p14="http://schemas.microsoft.com/office/powerpoint/2010/main" val="2653952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12C3A0-4BA5-77AF-4739-71F800A1075B}"/>
              </a:ext>
            </a:extLst>
          </p:cNvPr>
          <p:cNvSpPr>
            <a:spLocks noGrp="1"/>
          </p:cNvSpPr>
          <p:nvPr>
            <p:ph type="ctrTitle"/>
          </p:nvPr>
        </p:nvSpPr>
        <p:spPr/>
        <p:txBody>
          <a:bodyPr/>
          <a:lstStyle/>
          <a:p>
            <a:r>
              <a:rPr kumimoji="1" lang="en-US" altLang="ja-GB" dirty="0">
                <a:solidFill>
                  <a:schemeClr val="bg1"/>
                </a:solidFill>
              </a:rPr>
              <a:t>I. </a:t>
            </a:r>
            <a:r>
              <a:rPr kumimoji="1" lang="ja-GB" altLang="en-US" dirty="0">
                <a:solidFill>
                  <a:schemeClr val="bg1"/>
                </a:solidFill>
              </a:rPr>
              <a:t>計算機システムを学ぶ意味を見つける</a:t>
            </a:r>
          </a:p>
        </p:txBody>
      </p:sp>
      <p:sp>
        <p:nvSpPr>
          <p:cNvPr id="3" name="字幕 2">
            <a:extLst>
              <a:ext uri="{FF2B5EF4-FFF2-40B4-BE49-F238E27FC236}">
                <a16:creationId xmlns:a16="http://schemas.microsoft.com/office/drawing/2014/main" id="{79A1D704-B702-3A30-ADED-AC593DC19577}"/>
              </a:ext>
            </a:extLst>
          </p:cNvPr>
          <p:cNvSpPr>
            <a:spLocks noGrp="1"/>
          </p:cNvSpPr>
          <p:nvPr>
            <p:ph type="subTitle" idx="1"/>
          </p:nvPr>
        </p:nvSpPr>
        <p:spPr/>
        <p:txBody>
          <a:bodyPr/>
          <a:lstStyle/>
          <a:p>
            <a:pPr marL="457200" indent="-457200">
              <a:buAutoNum type="arabicPeriod"/>
            </a:pPr>
            <a:r>
              <a:rPr kumimoji="1" lang="ja-GB" altLang="en-US" dirty="0">
                <a:solidFill>
                  <a:schemeClr val="bg1"/>
                </a:solidFill>
              </a:rPr>
              <a:t>計算機とプログラムによる自動化</a:t>
            </a:r>
            <a:endParaRPr kumimoji="1" lang="en-US" altLang="ja-GB" dirty="0">
              <a:solidFill>
                <a:schemeClr val="bg1"/>
              </a:solidFill>
            </a:endParaRPr>
          </a:p>
          <a:p>
            <a:pPr marL="457200" indent="-457200">
              <a:buAutoNum type="arabicPeriod"/>
            </a:pPr>
            <a:r>
              <a:rPr lang="ja-GB" altLang="en-US" dirty="0">
                <a:solidFill>
                  <a:schemeClr val="bg1"/>
                </a:solidFill>
              </a:rPr>
              <a:t>計算機，インターネット，情報システム</a:t>
            </a:r>
            <a:endParaRPr kumimoji="1" lang="ja-GB" altLang="en-US" dirty="0">
              <a:solidFill>
                <a:schemeClr val="bg1"/>
              </a:solidFill>
            </a:endParaRPr>
          </a:p>
        </p:txBody>
      </p:sp>
    </p:spTree>
    <p:extLst>
      <p:ext uri="{BB962C8B-B14F-4D97-AF65-F5344CB8AC3E}">
        <p14:creationId xmlns:p14="http://schemas.microsoft.com/office/powerpoint/2010/main" val="400029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96DF-8570-D4CC-E29B-5BB030100F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8E70CD-AF24-5166-87C3-C65707C1D8E8}"/>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9AC34194-48A5-F6D8-7CC5-029F5DB994A2}"/>
              </a:ext>
            </a:extLst>
          </p:cNvPr>
          <p:cNvSpPr>
            <a:spLocks noGrp="1"/>
          </p:cNvSpPr>
          <p:nvPr>
            <p:ph idx="1"/>
          </p:nvPr>
        </p:nvSpPr>
        <p:spPr/>
        <p:txBody>
          <a:bodyPr>
            <a:normAutofit/>
          </a:bodyPr>
          <a:lstStyle/>
          <a:p>
            <a:pPr marL="0" indent="0">
              <a:buNone/>
            </a:pPr>
            <a:r>
              <a:rPr lang="en-GB" sz="1800" dirty="0"/>
              <a:t>I. </a:t>
            </a:r>
            <a:r>
              <a:rPr lang="ja-JP" altLang="en-US" sz="1800"/>
              <a:t>計算機システムを学ぶ意味を見つける</a:t>
            </a:r>
          </a:p>
          <a:p>
            <a:pPr marL="0" indent="0">
              <a:buNone/>
            </a:pPr>
            <a:r>
              <a:rPr lang="ja-JP" altLang="en-US" sz="1800">
                <a:solidFill>
                  <a:srgbClr val="2F2523"/>
                </a:solidFill>
              </a:rPr>
              <a:t>　</a:t>
            </a:r>
            <a:r>
              <a:rPr lang="en-US" altLang="ja-JP" sz="1800" dirty="0">
                <a:solidFill>
                  <a:srgbClr val="2F2523"/>
                </a:solidFill>
              </a:rPr>
              <a:t>1. </a:t>
            </a:r>
            <a:r>
              <a:rPr lang="ja-GB" altLang="en-US" sz="1800" dirty="0">
                <a:solidFill>
                  <a:srgbClr val="2F2523"/>
                </a:solidFill>
              </a:rPr>
              <a:t>計算機とプログラムによる自動化</a:t>
            </a:r>
            <a:endParaRPr lang="ja-JP" altLang="en-US" sz="1800">
              <a:solidFill>
                <a:srgbClr val="2F2523"/>
              </a:solidFill>
            </a:endParaRPr>
          </a:p>
          <a:p>
            <a:pPr marL="0" indent="0">
              <a:buNone/>
            </a:pPr>
            <a:r>
              <a:rPr lang="ja-JP" altLang="en-US" sz="1800">
                <a:solidFill>
                  <a:srgbClr val="2F2523"/>
                </a:solidFill>
              </a:rPr>
              <a:t>　</a:t>
            </a:r>
            <a:r>
              <a:rPr lang="en-US" altLang="ja-JP" sz="1800" dirty="0">
                <a:solidFill>
                  <a:srgbClr val="2F2523"/>
                </a:solidFill>
              </a:rPr>
              <a:t>2. </a:t>
            </a:r>
            <a:r>
              <a:rPr lang="ja-GB" altLang="en-US" sz="1800" dirty="0">
                <a:solidFill>
                  <a:srgbClr val="2F2523"/>
                </a:solidFill>
              </a:rPr>
              <a:t>計算機，インターネット，情報システム</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solidFill>
                  <a:schemeClr val="bg1">
                    <a:lumMod val="75000"/>
                  </a:schemeClr>
                </a:solidFill>
              </a:rPr>
              <a:t>II. </a:t>
            </a:r>
            <a:r>
              <a:rPr lang="ja-JP" altLang="en-US" sz="1800">
                <a:solidFill>
                  <a:schemeClr val="bg1">
                    <a:lumMod val="75000"/>
                  </a:schemeClr>
                </a:solidFill>
              </a:rPr>
              <a:t>計算機やデータ，</a:t>
            </a:r>
            <a:r>
              <a:rPr lang="en-GB" sz="1800" dirty="0">
                <a:solidFill>
                  <a:schemeClr val="bg1">
                    <a:lumMod val="75000"/>
                  </a:schemeClr>
                </a:solidFill>
              </a:rPr>
              <a:t>AI</a:t>
            </a:r>
            <a:r>
              <a:rPr lang="ja-JP" altLang="en-US" sz="1800">
                <a:solidFill>
                  <a:schemeClr val="bg1">
                    <a:lumMod val="75000"/>
                  </a:schemeClr>
                </a:solidFill>
              </a:rPr>
              <a:t>にできることを知る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3. </a:t>
            </a:r>
            <a:r>
              <a:rPr lang="ja-JP" altLang="en-US" sz="1800">
                <a:solidFill>
                  <a:schemeClr val="bg1">
                    <a:lumMod val="75000"/>
                  </a:schemeClr>
                </a:solidFill>
              </a:rPr>
              <a:t>計算機の基本原理</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4. </a:t>
            </a:r>
            <a:r>
              <a:rPr lang="ja-JP" altLang="en-US" sz="1800">
                <a:solidFill>
                  <a:schemeClr val="bg1">
                    <a:lumMod val="75000"/>
                  </a:schemeClr>
                </a:solidFill>
              </a:rPr>
              <a:t>計算機と統計</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III. </a:t>
            </a:r>
            <a:r>
              <a:rPr lang="ja-JP" altLang="en-US" sz="1800">
                <a:solidFill>
                  <a:schemeClr val="bg1">
                    <a:lumMod val="75000"/>
                  </a:schemeClr>
                </a:solidFill>
              </a:rPr>
              <a:t>問題を「計算機の使える形」に整理する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5. </a:t>
            </a:r>
            <a:r>
              <a:rPr lang="ja-JP" altLang="en-US" sz="1800">
                <a:solidFill>
                  <a:schemeClr val="bg1">
                    <a:lumMod val="75000"/>
                  </a:schemeClr>
                </a:solidFill>
              </a:rPr>
              <a:t>情報システムのデザイン</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IV. </a:t>
            </a:r>
            <a:r>
              <a:rPr lang="ja-JP" altLang="en-US" sz="1800">
                <a:solidFill>
                  <a:schemeClr val="bg1">
                    <a:lumMod val="75000"/>
                  </a:schemeClr>
                </a:solidFill>
              </a:rPr>
              <a:t>計算機の考え方を体感する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6. </a:t>
            </a:r>
            <a:r>
              <a:rPr lang="ja-JP" altLang="en-US" sz="1800">
                <a:solidFill>
                  <a:schemeClr val="bg1">
                    <a:lumMod val="75000"/>
                  </a:schemeClr>
                </a:solidFill>
              </a:rPr>
              <a:t>プログラムの基本</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7. </a:t>
            </a:r>
            <a:r>
              <a:rPr lang="ja-JP" altLang="en-US" sz="1800">
                <a:solidFill>
                  <a:schemeClr val="bg1">
                    <a:lumMod val="75000"/>
                  </a:schemeClr>
                </a:solidFill>
              </a:rPr>
              <a:t>データ構造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8. </a:t>
            </a:r>
            <a:r>
              <a:rPr lang="ja-JP" altLang="en-US" sz="1800">
                <a:solidFill>
                  <a:schemeClr val="bg1">
                    <a:lumMod val="75000"/>
                  </a:schemeClr>
                </a:solidFill>
              </a:rPr>
              <a:t>アルゴリズム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9. </a:t>
            </a:r>
            <a:r>
              <a:rPr lang="ja-JP" altLang="en-US" sz="1800">
                <a:solidFill>
                  <a:schemeClr val="bg1">
                    <a:lumMod val="75000"/>
                  </a:schemeClr>
                </a:solidFill>
              </a:rPr>
              <a:t>演習（データ構造とアルゴリズム）</a:t>
            </a:r>
          </a:p>
        </p:txBody>
      </p:sp>
      <p:sp>
        <p:nvSpPr>
          <p:cNvPr id="4" name="コンテンツ プレースホルダー 2">
            <a:extLst>
              <a:ext uri="{FF2B5EF4-FFF2-40B4-BE49-F238E27FC236}">
                <a16:creationId xmlns:a16="http://schemas.microsoft.com/office/drawing/2014/main" id="{7BD34043-BF05-9154-F350-6F3EC2F00ECC}"/>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bg1">
                    <a:lumMod val="75000"/>
                  </a:schemeClr>
                </a:solidFill>
              </a:rPr>
              <a:t>VI. </a:t>
            </a:r>
            <a:r>
              <a:rPr lang="ja-JP" altLang="en-US" sz="1800">
                <a:solidFill>
                  <a:schemeClr val="bg1">
                    <a:lumMod val="75000"/>
                  </a:schemeClr>
                </a:solidFill>
              </a:rPr>
              <a:t>計算機のハードウェア構成を知る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10. </a:t>
            </a:r>
            <a:r>
              <a:rPr lang="ja-JP" altLang="en-US" sz="1800">
                <a:solidFill>
                  <a:schemeClr val="bg1">
                    <a:lumMod val="75000"/>
                  </a:schemeClr>
                </a:solidFill>
              </a:rPr>
              <a:t>計算機の中の情報表現</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11. </a:t>
            </a:r>
            <a:r>
              <a:rPr lang="ja-GB" altLang="en-US" sz="1800" dirty="0">
                <a:solidFill>
                  <a:schemeClr val="bg1">
                    <a:lumMod val="75000"/>
                  </a:schemeClr>
                </a:solidFill>
              </a:rPr>
              <a:t>演算とハードウェア構成</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計算機特有の数値表現に慣れる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12. </a:t>
            </a:r>
            <a:r>
              <a:rPr lang="ja-JP" altLang="en-US" sz="1800">
                <a:solidFill>
                  <a:schemeClr val="bg1">
                    <a:lumMod val="75000"/>
                  </a:schemeClr>
                </a:solidFill>
              </a:rPr>
              <a:t>演習（基数と論理演算）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VIII. </a:t>
            </a:r>
            <a:r>
              <a:rPr lang="ja-JP" altLang="en-US" sz="1800">
                <a:solidFill>
                  <a:schemeClr val="bg1">
                    <a:lumMod val="75000"/>
                  </a:schemeClr>
                </a:solidFill>
              </a:rPr>
              <a:t>計算論的思考</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13. </a:t>
            </a:r>
            <a:r>
              <a:rPr lang="ja-JP" altLang="en-US" sz="1800">
                <a:solidFill>
                  <a:schemeClr val="bg1">
                    <a:lumMod val="75000"/>
                  </a:schemeClr>
                </a:solidFill>
              </a:rPr>
              <a:t>問題解決のためのモデル：</a:t>
            </a:r>
            <a:r>
              <a:rPr lang="en-GB" sz="1800" dirty="0">
                <a:solidFill>
                  <a:schemeClr val="bg1">
                    <a:lumMod val="75000"/>
                  </a:schemeClr>
                </a:solidFill>
              </a:rPr>
              <a:t>PERT</a:t>
            </a:r>
            <a:r>
              <a:rPr lang="ja-JP" altLang="en-US" sz="1800">
                <a:solidFill>
                  <a:schemeClr val="bg1">
                    <a:lumMod val="75000"/>
                  </a:schemeClr>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Tree>
    <p:extLst>
      <p:ext uri="{BB962C8B-B14F-4D97-AF65-F5344CB8AC3E}">
        <p14:creationId xmlns:p14="http://schemas.microsoft.com/office/powerpoint/2010/main" val="2002156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C023B-7932-893A-895D-4F9272172A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691CC1-B301-18AF-C1C2-2823CC7BCDE2}"/>
              </a:ext>
            </a:extLst>
          </p:cNvPr>
          <p:cNvSpPr>
            <a:spLocks noGrp="1"/>
          </p:cNvSpPr>
          <p:nvPr>
            <p:ph type="title"/>
          </p:nvPr>
        </p:nvSpPr>
        <p:spPr/>
        <p:txBody>
          <a:bodyPr>
            <a:normAutofit/>
          </a:bodyPr>
          <a:lstStyle/>
          <a:p>
            <a:r>
              <a:rPr lang="ja-GB" altLang="en-US" dirty="0"/>
              <a:t>第</a:t>
            </a:r>
            <a:r>
              <a:rPr lang="en-US" altLang="ja-GB" dirty="0"/>
              <a:t>I</a:t>
            </a:r>
            <a:r>
              <a:rPr lang="ja-GB" altLang="en-US" dirty="0"/>
              <a:t>部（第</a:t>
            </a:r>
            <a:r>
              <a:rPr lang="en-US" altLang="ja-GB" dirty="0"/>
              <a:t>1</a:t>
            </a:r>
            <a:r>
              <a:rPr lang="ja-GB" altLang="en-US" dirty="0"/>
              <a:t>回，第</a:t>
            </a:r>
            <a:r>
              <a:rPr lang="en-US" altLang="ja-GB" dirty="0"/>
              <a:t>2</a:t>
            </a:r>
            <a:r>
              <a:rPr lang="ja-GB" altLang="en-US" dirty="0"/>
              <a:t>回）の位置付け</a:t>
            </a:r>
            <a:endParaRPr lang="ja-GB" dirty="0"/>
          </a:p>
        </p:txBody>
      </p:sp>
      <p:sp>
        <p:nvSpPr>
          <p:cNvPr id="3" name="コンテンツ プレースホルダー 2">
            <a:extLst>
              <a:ext uri="{FF2B5EF4-FFF2-40B4-BE49-F238E27FC236}">
                <a16:creationId xmlns:a16="http://schemas.microsoft.com/office/drawing/2014/main" id="{78B77630-A02C-D722-E72A-C57F6190A915}"/>
              </a:ext>
            </a:extLst>
          </p:cNvPr>
          <p:cNvSpPr>
            <a:spLocks noGrp="1"/>
          </p:cNvSpPr>
          <p:nvPr>
            <p:ph idx="1"/>
          </p:nvPr>
        </p:nvSpPr>
        <p:spPr/>
        <p:txBody>
          <a:bodyPr/>
          <a:lstStyle/>
          <a:p>
            <a:pPr marL="0" indent="0">
              <a:buNone/>
            </a:pPr>
            <a:r>
              <a:rPr lang="ja-GB" dirty="0"/>
              <a:t>コンピュータシステム</a:t>
            </a:r>
          </a:p>
          <a:p>
            <a:pPr marL="457200" lvl="1" indent="0">
              <a:buNone/>
            </a:pPr>
            <a:r>
              <a:rPr lang="ja-JP" altLang="en-US">
                <a:solidFill>
                  <a:srgbClr val="2F2523"/>
                </a:solidFill>
              </a:rPr>
              <a:t>情報社会において情報技術（</a:t>
            </a:r>
            <a:r>
              <a:rPr lang="en-US" altLang="ja-JP" dirty="0">
                <a:solidFill>
                  <a:srgbClr val="2F2523"/>
                </a:solidFill>
              </a:rPr>
              <a:t>IT</a:t>
            </a:r>
            <a:r>
              <a:rPr lang="ja-JP" altLang="en-US">
                <a:solidFill>
                  <a:srgbClr val="2F2523"/>
                </a:solidFill>
              </a:rPr>
              <a:t>）を活用できるようになるために</a:t>
            </a:r>
            <a:br>
              <a:rPr lang="en-US" altLang="ja-JP" dirty="0">
                <a:solidFill>
                  <a:srgbClr val="2F2523"/>
                </a:solidFill>
              </a:rPr>
            </a:br>
            <a:r>
              <a:rPr lang="ja-JP" altLang="en-US">
                <a:solidFill>
                  <a:srgbClr val="2F2523"/>
                </a:solidFill>
              </a:rPr>
              <a:t>そのキーテクノロジーであるコンピュータの仕組みを学ぶ</a:t>
            </a:r>
            <a:endParaRPr lang="en-US" altLang="ja-JP" dirty="0">
              <a:solidFill>
                <a:srgbClr val="2F2523"/>
              </a:solidFill>
            </a:endParaRPr>
          </a:p>
          <a:p>
            <a:pPr lvl="1"/>
            <a:endParaRPr lang="ja-GB" dirty="0">
              <a:solidFill>
                <a:srgbClr val="2F2523"/>
              </a:solidFill>
            </a:endParaRPr>
          </a:p>
        </p:txBody>
      </p:sp>
      <p:sp>
        <p:nvSpPr>
          <p:cNvPr id="4" name="正方形/長方形 3">
            <a:extLst>
              <a:ext uri="{FF2B5EF4-FFF2-40B4-BE49-F238E27FC236}">
                <a16:creationId xmlns:a16="http://schemas.microsoft.com/office/drawing/2014/main" id="{3E26C18E-E081-21BF-FEB0-4CFB10596CFC}"/>
              </a:ext>
            </a:extLst>
          </p:cNvPr>
          <p:cNvSpPr/>
          <p:nvPr/>
        </p:nvSpPr>
        <p:spPr>
          <a:xfrm>
            <a:off x="228600" y="2829599"/>
            <a:ext cx="8601075" cy="2053565"/>
          </a:xfrm>
          <a:prstGeom prst="rect">
            <a:avLst/>
          </a:prstGeom>
          <a:solidFill>
            <a:srgbClr val="F8F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3200" b="1" dirty="0">
                <a:solidFill>
                  <a:srgbClr val="2F2523"/>
                </a:solidFill>
              </a:rPr>
              <a:t>内容に入る前に</a:t>
            </a:r>
            <a:endParaRPr kumimoji="1" lang="en-US" altLang="ja-GB" sz="3200" b="1" dirty="0">
              <a:solidFill>
                <a:srgbClr val="2F2523"/>
              </a:solidFill>
            </a:endParaRPr>
          </a:p>
          <a:p>
            <a:pPr algn="ctr"/>
            <a:r>
              <a:rPr kumimoji="1" lang="ja-GB" altLang="en-US" sz="3200" b="1" dirty="0">
                <a:solidFill>
                  <a:srgbClr val="2F2523"/>
                </a:solidFill>
              </a:rPr>
              <a:t>なぜこのような授業が必要なのか考える</a:t>
            </a:r>
          </a:p>
        </p:txBody>
      </p:sp>
    </p:spTree>
    <p:extLst>
      <p:ext uri="{BB962C8B-B14F-4D97-AF65-F5344CB8AC3E}">
        <p14:creationId xmlns:p14="http://schemas.microsoft.com/office/powerpoint/2010/main" val="1457565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5A6C1-CA2A-5663-C501-D65C8C1489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E548B0-24AE-616C-1FE9-AB867870BFBA}"/>
              </a:ext>
            </a:extLst>
          </p:cNvPr>
          <p:cNvSpPr>
            <a:spLocks noGrp="1"/>
          </p:cNvSpPr>
          <p:nvPr>
            <p:ph type="title"/>
          </p:nvPr>
        </p:nvSpPr>
        <p:spPr/>
        <p:txBody>
          <a:bodyPr/>
          <a:lstStyle/>
          <a:p>
            <a:r>
              <a:rPr lang="ja-GB" altLang="en-US" dirty="0"/>
              <a:t>概説</a:t>
            </a:r>
            <a:r>
              <a:rPr lang="en-US" altLang="ja-GB" dirty="0"/>
              <a:t>1</a:t>
            </a:r>
            <a:r>
              <a:rPr lang="ja-GB" altLang="en-US" dirty="0"/>
              <a:t>：</a:t>
            </a:r>
            <a:r>
              <a:rPr lang="ja-JP" altLang="en-US"/>
              <a:t>計算機</a:t>
            </a:r>
            <a:r>
              <a:rPr lang="ja-JP" altLang="en-US" dirty="0"/>
              <a:t>とはなにか？なぜ学ぶのか？</a:t>
            </a:r>
            <a:endParaRPr kumimoji="1" lang="ja-GB" altLang="en-US" dirty="0"/>
          </a:p>
        </p:txBody>
      </p:sp>
      <p:sp>
        <p:nvSpPr>
          <p:cNvPr id="3" name="コンテンツ プレースホルダー 2">
            <a:extLst>
              <a:ext uri="{FF2B5EF4-FFF2-40B4-BE49-F238E27FC236}">
                <a16:creationId xmlns:a16="http://schemas.microsoft.com/office/drawing/2014/main" id="{D2F915AB-3102-91A5-95B2-CBC66AD77438}"/>
              </a:ext>
            </a:extLst>
          </p:cNvPr>
          <p:cNvSpPr>
            <a:spLocks noGrp="1"/>
          </p:cNvSpPr>
          <p:nvPr>
            <p:ph idx="1"/>
          </p:nvPr>
        </p:nvSpPr>
        <p:spPr/>
        <p:txBody>
          <a:bodyPr>
            <a:normAutofit/>
          </a:bodyPr>
          <a:lstStyle/>
          <a:p>
            <a:pPr marL="0" indent="0">
              <a:buNone/>
            </a:pPr>
            <a:r>
              <a:rPr kumimoji="1" lang="ja-GB" altLang="en-US" sz="2000" dirty="0"/>
              <a:t>コンピュータとプログラム</a:t>
            </a:r>
            <a:endParaRPr kumimoji="1" lang="en-US" altLang="ja-GB" sz="2000" dirty="0"/>
          </a:p>
          <a:p>
            <a:pPr marL="457200" lvl="1" indent="0">
              <a:buNone/>
            </a:pPr>
            <a:r>
              <a:rPr lang="ja-GB" altLang="en-US" sz="1800" dirty="0">
                <a:solidFill>
                  <a:srgbClr val="2F2523"/>
                </a:solidFill>
              </a:rPr>
              <a:t>コンピュータは自動で</a:t>
            </a:r>
            <a:r>
              <a:rPr lang="en-US" altLang="ja-GB" sz="1800" dirty="0">
                <a:solidFill>
                  <a:srgbClr val="2F2523"/>
                </a:solidFill>
              </a:rPr>
              <a:t>”</a:t>
            </a:r>
            <a:r>
              <a:rPr lang="ja-GB" altLang="en-US" sz="1800" dirty="0">
                <a:solidFill>
                  <a:srgbClr val="2F2523"/>
                </a:solidFill>
              </a:rPr>
              <a:t>計算</a:t>
            </a:r>
            <a:r>
              <a:rPr lang="en-US" altLang="ja-GB" sz="1800" dirty="0">
                <a:solidFill>
                  <a:srgbClr val="2F2523"/>
                </a:solidFill>
              </a:rPr>
              <a:t>”</a:t>
            </a:r>
            <a:r>
              <a:rPr lang="ja-GB" altLang="en-US" sz="1800" dirty="0">
                <a:solidFill>
                  <a:srgbClr val="2F2523"/>
                </a:solidFill>
              </a:rPr>
              <a:t>を行う装置</a:t>
            </a:r>
            <a:endParaRPr lang="en-US" altLang="ja-GB" sz="1800" dirty="0">
              <a:solidFill>
                <a:srgbClr val="2F2523"/>
              </a:solidFill>
            </a:endParaRPr>
          </a:p>
          <a:p>
            <a:pPr marL="914400" lvl="2" indent="0">
              <a:buNone/>
            </a:pPr>
            <a:r>
              <a:rPr lang="ja-GB" altLang="en-US" sz="1600" dirty="0"/>
              <a:t>→</a:t>
            </a:r>
            <a:r>
              <a:rPr lang="ja-GB" altLang="en-US" sz="1600" dirty="0">
                <a:solidFill>
                  <a:schemeClr val="accent2"/>
                </a:solidFill>
              </a:rPr>
              <a:t>計算の仕方を書いておけば情報処理を自動化できる</a:t>
            </a:r>
            <a:endParaRPr lang="en-US" altLang="ja-GB" sz="1600" dirty="0">
              <a:solidFill>
                <a:schemeClr val="accent2"/>
              </a:solidFill>
            </a:endParaRPr>
          </a:p>
          <a:p>
            <a:pPr marL="457200" lvl="1" indent="0">
              <a:buNone/>
            </a:pPr>
            <a:r>
              <a:rPr kumimoji="1" lang="ja-GB" altLang="en-US" sz="1800" dirty="0">
                <a:solidFill>
                  <a:srgbClr val="2F2523"/>
                </a:solidFill>
              </a:rPr>
              <a:t>プログラムは計算手順を予め書いたもの</a:t>
            </a:r>
            <a:endParaRPr kumimoji="1" lang="en-US" altLang="ja-GB" sz="1800" dirty="0">
              <a:solidFill>
                <a:srgbClr val="2F2523"/>
              </a:solidFill>
            </a:endParaRPr>
          </a:p>
          <a:p>
            <a:pPr lvl="1"/>
            <a:endParaRPr kumimoji="1" lang="en-US" altLang="ja-GB" sz="1800" dirty="0"/>
          </a:p>
          <a:p>
            <a:pPr marL="0" indent="0">
              <a:buNone/>
            </a:pPr>
            <a:r>
              <a:rPr lang="ja-GB" altLang="en-US" sz="2000" dirty="0"/>
              <a:t>情報通信技術と社会の情報化</a:t>
            </a:r>
            <a:endParaRPr lang="en-US" altLang="ja-GB" sz="2000" dirty="0"/>
          </a:p>
          <a:p>
            <a:pPr marL="457200" lvl="1" indent="0">
              <a:buNone/>
            </a:pPr>
            <a:r>
              <a:rPr kumimoji="1" lang="ja-GB" altLang="en-US" sz="1800" dirty="0">
                <a:solidFill>
                  <a:srgbClr val="2F2523"/>
                </a:solidFill>
              </a:rPr>
              <a:t>インターネット・</a:t>
            </a:r>
            <a:r>
              <a:rPr kumimoji="1" lang="en-US" altLang="ja-GB" sz="1800" dirty="0">
                <a:solidFill>
                  <a:srgbClr val="2F2523"/>
                </a:solidFill>
              </a:rPr>
              <a:t>IoT</a:t>
            </a:r>
            <a:r>
              <a:rPr lang="ja-GB" altLang="en-US" sz="1800" dirty="0">
                <a:solidFill>
                  <a:srgbClr val="2F2523"/>
                </a:solidFill>
              </a:rPr>
              <a:t>は物理・仮想世界で</a:t>
            </a:r>
            <a:r>
              <a:rPr kumimoji="1" lang="ja-GB" altLang="en-US" sz="1800" dirty="0">
                <a:solidFill>
                  <a:srgbClr val="2F2523"/>
                </a:solidFill>
              </a:rPr>
              <a:t>膨大な情報を集積可能にする技術</a:t>
            </a:r>
            <a:endParaRPr lang="en-US" altLang="ja-GB" sz="1800" dirty="0">
              <a:solidFill>
                <a:srgbClr val="2F2523"/>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情報を分析・活用する技術（データ科学や</a:t>
            </a:r>
            <a:r>
              <a:rPr kumimoji="1" lang="en-US" altLang="ja-GB" sz="1600" dirty="0">
                <a:solidFill>
                  <a:schemeClr val="tx1">
                    <a:lumMod val="50000"/>
                    <a:lumOff val="50000"/>
                  </a:schemeClr>
                </a:solidFill>
              </a:rPr>
              <a:t>AI</a:t>
            </a:r>
            <a:r>
              <a:rPr kumimoji="1" lang="ja-GB" altLang="en-US" sz="1600" dirty="0">
                <a:solidFill>
                  <a:schemeClr val="tx1">
                    <a:lumMod val="50000"/>
                    <a:lumOff val="50000"/>
                  </a:schemeClr>
                </a:solidFill>
              </a:rPr>
              <a:t>）が発展する</a:t>
            </a:r>
            <a:endParaRPr kumimoji="1" lang="en-US" altLang="ja-GB" sz="1600" dirty="0">
              <a:solidFill>
                <a:schemeClr val="tx1">
                  <a:lumMod val="50000"/>
                  <a:lumOff val="50000"/>
                </a:schemeClr>
              </a:solidFill>
            </a:endParaRPr>
          </a:p>
          <a:p>
            <a:pPr marL="914400" lvl="2" indent="0">
              <a:buNone/>
            </a:pPr>
            <a:r>
              <a:rPr kumimoji="1" lang="en-US" altLang="ja-GB" sz="1600" dirty="0"/>
              <a:t>→</a:t>
            </a:r>
            <a:r>
              <a:rPr kumimoji="1" lang="ja-GB" altLang="en-US" sz="1600" dirty="0">
                <a:solidFill>
                  <a:schemeClr val="accent2"/>
                </a:solidFill>
              </a:rPr>
              <a:t>現実問題を「情報世界の問題」に変換すれば，情報技術の力を借りて解決できる</a:t>
            </a:r>
            <a:endParaRPr kumimoji="1" lang="en-US" altLang="ja-GB" sz="1600" dirty="0">
              <a:solidFill>
                <a:schemeClr val="accent2"/>
              </a:solidFill>
            </a:endParaRPr>
          </a:p>
          <a:p>
            <a:pPr marL="457200" lvl="1" indent="0">
              <a:buNone/>
            </a:pPr>
            <a:r>
              <a:rPr kumimoji="1" lang="en-US" altLang="ja-GB" sz="1800" dirty="0">
                <a:solidFill>
                  <a:srgbClr val="2F2523"/>
                </a:solidFill>
              </a:rPr>
              <a:t>Industry4.0</a:t>
            </a:r>
            <a:r>
              <a:rPr kumimoji="1" lang="ja-GB" altLang="en-US" sz="1800" dirty="0">
                <a:solidFill>
                  <a:srgbClr val="2F2523"/>
                </a:solidFill>
              </a:rPr>
              <a:t>・</a:t>
            </a:r>
            <a:r>
              <a:rPr kumimoji="1" lang="en-US" altLang="ja-GB" sz="1800" dirty="0">
                <a:solidFill>
                  <a:srgbClr val="2F2523"/>
                </a:solidFill>
              </a:rPr>
              <a:t>Society5.0</a:t>
            </a:r>
            <a:r>
              <a:rPr kumimoji="1" lang="ja-GB" altLang="en-US" sz="1800" dirty="0">
                <a:solidFill>
                  <a:srgbClr val="2F2523"/>
                </a:solidFill>
              </a:rPr>
              <a:t>は情報を集積・分析して産業・社会を最適化する構想</a:t>
            </a:r>
            <a:endParaRPr kumimoji="1" lang="en-US" altLang="ja-GB" sz="1800" dirty="0">
              <a:solidFill>
                <a:srgbClr val="2F2523"/>
              </a:solidFill>
            </a:endParaRPr>
          </a:p>
          <a:p>
            <a:pPr marL="914400" lvl="2" indent="0">
              <a:buNone/>
            </a:pPr>
            <a:r>
              <a:rPr kumimoji="1" lang="en-US" altLang="ja-GB" sz="1600" dirty="0"/>
              <a:t>→</a:t>
            </a:r>
            <a:r>
              <a:rPr kumimoji="1" lang="ja-GB" altLang="en-US" sz="1600" dirty="0">
                <a:solidFill>
                  <a:schemeClr val="accent2"/>
                </a:solidFill>
              </a:rPr>
              <a:t>産業・社会での情報技術活用を推進するため，</a:t>
            </a:r>
            <a:r>
              <a:rPr lang="ja-GB" altLang="en-US" sz="1600" dirty="0">
                <a:solidFill>
                  <a:schemeClr val="accent2"/>
                </a:solidFill>
              </a:rPr>
              <a:t> 国民全員が情報を学ぶ方針になる</a:t>
            </a:r>
            <a:endParaRPr kumimoji="1" lang="en-US" altLang="ja-GB" sz="1600" dirty="0">
              <a:solidFill>
                <a:schemeClr val="accent2"/>
              </a:solidFill>
            </a:endParaRPr>
          </a:p>
          <a:p>
            <a:pPr lvl="4"/>
            <a:endParaRPr kumimoji="1" lang="en-US" altLang="ja-GB" sz="500" dirty="0"/>
          </a:p>
        </p:txBody>
      </p:sp>
    </p:spTree>
    <p:extLst>
      <p:ext uri="{BB962C8B-B14F-4D97-AF65-F5344CB8AC3E}">
        <p14:creationId xmlns:p14="http://schemas.microsoft.com/office/powerpoint/2010/main" val="152557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44D6-E9D9-5000-5DD1-A48D1BB230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941349-35D5-E846-01B2-39640CCC7D81}"/>
              </a:ext>
            </a:extLst>
          </p:cNvPr>
          <p:cNvSpPr>
            <a:spLocks noGrp="1"/>
          </p:cNvSpPr>
          <p:nvPr>
            <p:ph type="title"/>
          </p:nvPr>
        </p:nvSpPr>
        <p:spPr/>
        <p:txBody>
          <a:bodyPr/>
          <a:lstStyle/>
          <a:p>
            <a:r>
              <a:rPr kumimoji="1" lang="ja-GB" altLang="en-US" dirty="0"/>
              <a:t>概説</a:t>
            </a:r>
            <a:r>
              <a:rPr kumimoji="1" lang="en-US" altLang="ja-GB" dirty="0"/>
              <a:t>2</a:t>
            </a:r>
            <a:r>
              <a:rPr kumimoji="1" lang="ja-GB" altLang="en-US" dirty="0"/>
              <a:t>：</a:t>
            </a:r>
            <a:r>
              <a:rPr kumimoji="1" lang="ja-JP" altLang="en-US"/>
              <a:t>情報</a:t>
            </a:r>
            <a:r>
              <a:rPr kumimoji="1" lang="ja-JP" altLang="en-US" dirty="0"/>
              <a:t>システムとは何か？なぜ重要なのか？</a:t>
            </a:r>
            <a:endParaRPr kumimoji="1" lang="ja-GB" altLang="en-US" dirty="0"/>
          </a:p>
        </p:txBody>
      </p:sp>
      <p:sp>
        <p:nvSpPr>
          <p:cNvPr id="3" name="コンテンツ プレースホルダー 2">
            <a:extLst>
              <a:ext uri="{FF2B5EF4-FFF2-40B4-BE49-F238E27FC236}">
                <a16:creationId xmlns:a16="http://schemas.microsoft.com/office/drawing/2014/main" id="{ED874517-E9AC-ACA1-A632-67D696181C70}"/>
              </a:ext>
            </a:extLst>
          </p:cNvPr>
          <p:cNvSpPr>
            <a:spLocks noGrp="1"/>
          </p:cNvSpPr>
          <p:nvPr>
            <p:ph idx="1"/>
          </p:nvPr>
        </p:nvSpPr>
        <p:spPr/>
        <p:txBody>
          <a:bodyPr>
            <a:normAutofit/>
          </a:bodyPr>
          <a:lstStyle/>
          <a:p>
            <a:pPr marL="0" indent="0">
              <a:buNone/>
            </a:pPr>
            <a:r>
              <a:rPr lang="ja-GB" altLang="en-US" sz="2000" dirty="0"/>
              <a:t>計算機やインターネットの仕組み</a:t>
            </a:r>
            <a:endParaRPr lang="en-US" altLang="ja-GB" sz="2000" dirty="0"/>
          </a:p>
          <a:p>
            <a:pPr marL="457200" lvl="1" indent="0">
              <a:buNone/>
            </a:pPr>
            <a:r>
              <a:rPr kumimoji="1" lang="ja-GB" altLang="en-US" sz="1800" dirty="0">
                <a:solidFill>
                  <a:srgbClr val="2F2523"/>
                </a:solidFill>
              </a:rPr>
              <a:t>計算機内部の情報表現は</a:t>
            </a:r>
            <a:r>
              <a:rPr kumimoji="1" lang="ja-GB" altLang="en-US" sz="1800" dirty="0"/>
              <a:t>デジタル（数字式）の二進表現（</a:t>
            </a:r>
            <a:r>
              <a:rPr kumimoji="1" lang="en-US" altLang="ja-GB" sz="1800" dirty="0"/>
              <a:t>0 or 1</a:t>
            </a:r>
            <a:r>
              <a:rPr kumimoji="1" lang="ja-GB" altLang="en-US" sz="1800" dirty="0"/>
              <a:t>）</a:t>
            </a:r>
            <a:endParaRPr kumimoji="1" lang="en-US" altLang="ja-GB" sz="1800" dirty="0"/>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物理量（</a:t>
            </a:r>
            <a:r>
              <a:rPr lang="ja-GB" altLang="en-US" sz="1600" dirty="0">
                <a:solidFill>
                  <a:schemeClr val="tx1">
                    <a:lumMod val="50000"/>
                    <a:lumOff val="50000"/>
                  </a:schemeClr>
                </a:solidFill>
              </a:rPr>
              <a:t>アナログ値</a:t>
            </a:r>
            <a:r>
              <a:rPr kumimoji="1" lang="ja-GB" altLang="en-US" sz="1600" dirty="0">
                <a:solidFill>
                  <a:schemeClr val="tx1">
                    <a:lumMod val="50000"/>
                    <a:lumOff val="50000"/>
                  </a:schemeClr>
                </a:solidFill>
              </a:rPr>
              <a:t>）を数字式に近似すると記録・伝達しやすくなる</a:t>
            </a:r>
            <a:endParaRPr kumimoji="1" lang="en-US" altLang="ja-GB" sz="1600" dirty="0">
              <a:solidFill>
                <a:schemeClr val="tx1">
                  <a:lumMod val="50000"/>
                  <a:lumOff val="50000"/>
                </a:schemeClr>
              </a:solidFill>
            </a:endParaRPr>
          </a:p>
          <a:p>
            <a:pPr marL="914400" lvl="2" indent="0">
              <a:buNone/>
            </a:pPr>
            <a:r>
              <a:rPr kumimoji="1" lang="en-US" altLang="ja-GB" sz="1600" dirty="0">
                <a:solidFill>
                  <a:schemeClr val="accent2"/>
                </a:solidFill>
              </a:rPr>
              <a:t>→</a:t>
            </a:r>
            <a:r>
              <a:rPr kumimoji="1" lang="ja-GB" altLang="en-US" sz="1600" dirty="0">
                <a:solidFill>
                  <a:schemeClr val="accent2"/>
                </a:solidFill>
              </a:rPr>
              <a:t>数値を</a:t>
            </a:r>
            <a:r>
              <a:rPr kumimoji="1" lang="en-US" altLang="ja-GB" sz="1600" dirty="0">
                <a:solidFill>
                  <a:schemeClr val="accent2"/>
                </a:solidFill>
              </a:rPr>
              <a:t>0</a:t>
            </a:r>
            <a:r>
              <a:rPr kumimoji="1" lang="ja-GB" altLang="en-US" sz="1600" dirty="0">
                <a:solidFill>
                  <a:schemeClr val="accent2"/>
                </a:solidFill>
              </a:rPr>
              <a:t>と</a:t>
            </a:r>
            <a:r>
              <a:rPr kumimoji="1" lang="en-US" altLang="ja-GB" sz="1600" dirty="0">
                <a:solidFill>
                  <a:schemeClr val="accent2"/>
                </a:solidFill>
              </a:rPr>
              <a:t>1</a:t>
            </a:r>
            <a:r>
              <a:rPr kumimoji="1" lang="ja-GB" altLang="en-US" sz="1600" dirty="0">
                <a:solidFill>
                  <a:schemeClr val="accent2"/>
                </a:solidFill>
              </a:rPr>
              <a:t>のみで表現すると，単純な</a:t>
            </a:r>
            <a:r>
              <a:rPr kumimoji="1" lang="en-US" altLang="ja-GB" sz="1600" dirty="0">
                <a:solidFill>
                  <a:schemeClr val="accent2"/>
                </a:solidFill>
              </a:rPr>
              <a:t>“</a:t>
            </a:r>
            <a:r>
              <a:rPr kumimoji="1" lang="ja-GB" altLang="en-US" sz="1600" dirty="0">
                <a:solidFill>
                  <a:schemeClr val="accent2"/>
                </a:solidFill>
              </a:rPr>
              <a:t>スイッチ</a:t>
            </a:r>
            <a:r>
              <a:rPr kumimoji="1" lang="en-US" altLang="ja-GB" sz="1600" dirty="0">
                <a:solidFill>
                  <a:schemeClr val="accent2"/>
                </a:solidFill>
              </a:rPr>
              <a:t>”</a:t>
            </a:r>
            <a:r>
              <a:rPr kumimoji="1" lang="ja-GB" altLang="en-US" sz="1600" dirty="0">
                <a:solidFill>
                  <a:schemeClr val="accent2"/>
                </a:solidFill>
              </a:rPr>
              <a:t>（半導体）で実現できる</a:t>
            </a:r>
            <a:endParaRPr kumimoji="1" lang="en-US" altLang="ja-GB" sz="1600" dirty="0">
              <a:solidFill>
                <a:schemeClr val="accent2"/>
              </a:solidFill>
            </a:endParaRPr>
          </a:p>
          <a:p>
            <a:pPr marL="457200" lvl="1" indent="0">
              <a:buNone/>
            </a:pPr>
            <a:r>
              <a:rPr lang="ja-GB" altLang="en-US" sz="1800" dirty="0">
                <a:solidFill>
                  <a:srgbClr val="2F2523"/>
                </a:solidFill>
              </a:rPr>
              <a:t>ネットワークは網目状に結ばれた計算機同士の通信経路</a:t>
            </a:r>
            <a:endParaRPr lang="en-US" altLang="ja-GB" sz="1800" dirty="0">
              <a:solidFill>
                <a:srgbClr val="2F2523"/>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インターネット（世界中のネットワーク同士が相互に通信できる仕組み）が登場する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tx1">
                    <a:lumMod val="50000"/>
                    <a:lumOff val="50000"/>
                  </a:schemeClr>
                </a:solidFill>
              </a:rPr>
              <a:t>→</a:t>
            </a:r>
            <a:r>
              <a:rPr lang="ja-GB" altLang="en-US" sz="1600" dirty="0">
                <a:solidFill>
                  <a:schemeClr val="tx1">
                    <a:lumMod val="50000"/>
                    <a:lumOff val="50000"/>
                  </a:schemeClr>
                </a:solidFill>
              </a:rPr>
              <a:t>情報システム（基本的には情報を操作する仕組み）が普及する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accent2"/>
                </a:solidFill>
              </a:rPr>
              <a:t>→</a:t>
            </a:r>
            <a:r>
              <a:rPr lang="ja-GB" altLang="en-US" sz="1600" dirty="0">
                <a:solidFill>
                  <a:schemeClr val="accent2"/>
                </a:solidFill>
              </a:rPr>
              <a:t>セキュリティ（攻撃者や災害などの外的要因から情報を守る仕組み）が重要になる</a:t>
            </a:r>
            <a:endParaRPr kumimoji="1" lang="en-US" altLang="ja-GB" sz="1600" dirty="0">
              <a:solidFill>
                <a:schemeClr val="accent2"/>
              </a:solidFill>
            </a:endParaRPr>
          </a:p>
        </p:txBody>
      </p:sp>
    </p:spTree>
    <p:extLst>
      <p:ext uri="{BB962C8B-B14F-4D97-AF65-F5344CB8AC3E}">
        <p14:creationId xmlns:p14="http://schemas.microsoft.com/office/powerpoint/2010/main" val="1684454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BF379-229E-D3D8-0993-63F5D84B1B66}"/>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EEF9E19-7E80-C2A2-DD7E-ED86E353C373}"/>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C0FEC83A-575E-C824-3F11-C6C45BA98B84}"/>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1</a:t>
            </a:r>
            <a:r>
              <a:rPr kumimoji="1" lang="ja-GB" altLang="en-US" sz="3200" dirty="0">
                <a:solidFill>
                  <a:schemeClr val="bg1"/>
                </a:solidFill>
              </a:rPr>
              <a:t>回：計算機とプログラムによる自動化</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2898686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C23E-24C8-19BD-0713-268B8BF037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CBE861-4A50-4872-C3ED-F764E0C733DA}"/>
              </a:ext>
            </a:extLst>
          </p:cNvPr>
          <p:cNvSpPr>
            <a:spLocks noGrp="1"/>
          </p:cNvSpPr>
          <p:nvPr>
            <p:ph type="title"/>
          </p:nvPr>
        </p:nvSpPr>
        <p:spPr/>
        <p:txBody>
          <a:bodyPr>
            <a:normAutofit/>
          </a:bodyPr>
          <a:lstStyle/>
          <a:p>
            <a:r>
              <a:rPr kumimoji="1" lang="ja-GB" altLang="en-US" dirty="0"/>
              <a:t>第</a:t>
            </a:r>
            <a:r>
              <a:rPr kumimoji="1" lang="en-US" altLang="ja-GB" dirty="0"/>
              <a:t>1</a:t>
            </a:r>
            <a:r>
              <a:rPr kumimoji="1" lang="ja-GB" altLang="en-US" dirty="0"/>
              <a:t>回内容：計算機とプログラムによる自動化</a:t>
            </a:r>
          </a:p>
        </p:txBody>
      </p:sp>
      <p:sp>
        <p:nvSpPr>
          <p:cNvPr id="3" name="コンテンツ プレースホルダー 2">
            <a:extLst>
              <a:ext uri="{FF2B5EF4-FFF2-40B4-BE49-F238E27FC236}">
                <a16:creationId xmlns:a16="http://schemas.microsoft.com/office/drawing/2014/main" id="{7B7CA606-EFCC-9EA7-9FCD-782F2C9EA403}"/>
              </a:ext>
            </a:extLst>
          </p:cNvPr>
          <p:cNvSpPr>
            <a:spLocks noGrp="1"/>
          </p:cNvSpPr>
          <p:nvPr>
            <p:ph idx="1"/>
          </p:nvPr>
        </p:nvSpPr>
        <p:spPr/>
        <p:txBody>
          <a:bodyPr/>
          <a:lstStyle/>
          <a:p>
            <a:pPr marL="457200" indent="-457200">
              <a:buFont typeface="+mj-lt"/>
              <a:buAutoNum type="arabicPeriod"/>
            </a:pPr>
            <a:r>
              <a:rPr kumimoji="1" lang="ja-JP" altLang="en-US"/>
              <a:t>コンピュータとは何か</a:t>
            </a:r>
          </a:p>
          <a:p>
            <a:pPr lvl="1"/>
            <a:r>
              <a:rPr kumimoji="1" lang="ja-JP" altLang="en-US"/>
              <a:t>自動で計算する道具（計算機）</a:t>
            </a:r>
          </a:p>
          <a:p>
            <a:pPr lvl="1"/>
            <a:r>
              <a:rPr kumimoji="1" lang="ja-JP" altLang="en-US"/>
              <a:t>計算機が様々な情報処理を行う仕組み</a:t>
            </a:r>
          </a:p>
          <a:p>
            <a:pPr lvl="1"/>
            <a:endParaRPr kumimoji="1" lang="ja-JP" altLang="en-US"/>
          </a:p>
          <a:p>
            <a:pPr marL="457200" indent="-457200">
              <a:buFont typeface="+mj-lt"/>
              <a:buAutoNum type="arabicPeriod"/>
            </a:pPr>
            <a:r>
              <a:rPr kumimoji="1" lang="ja-JP" altLang="en-US"/>
              <a:t>計算の自動化</a:t>
            </a:r>
          </a:p>
          <a:p>
            <a:pPr lvl="1"/>
            <a:r>
              <a:rPr kumimoji="1" lang="ja-JP" altLang="en-US"/>
              <a:t>計算機とプログラム</a:t>
            </a:r>
          </a:p>
          <a:p>
            <a:pPr lvl="1"/>
            <a:r>
              <a:rPr kumimoji="1" lang="ja-JP" altLang="en-US"/>
              <a:t>計算の組み合わせで作られる機能・サービス</a:t>
            </a:r>
          </a:p>
          <a:p>
            <a:pPr lvl="1"/>
            <a:endParaRPr lang="ja-GB" altLang="ja-GB" dirty="0"/>
          </a:p>
          <a:p>
            <a:pPr marL="457200" indent="-457200">
              <a:buFont typeface="+mj-lt"/>
              <a:buAutoNum type="arabicPeriod"/>
            </a:pPr>
            <a:r>
              <a:rPr lang="ja-GB" altLang="en-US" dirty="0"/>
              <a:t>情報通信技術と社会の情報化</a:t>
            </a:r>
            <a:endParaRPr lang="ja-GB" altLang="ja-GB" dirty="0"/>
          </a:p>
          <a:p>
            <a:pPr lvl="1"/>
            <a:r>
              <a:rPr lang="ja-GB" altLang="en-US" dirty="0"/>
              <a:t>インターネット・</a:t>
            </a:r>
            <a:r>
              <a:rPr lang="en-US" altLang="ja-GB" dirty="0"/>
              <a:t>IoT</a:t>
            </a:r>
            <a:r>
              <a:rPr lang="ja-GB" altLang="en-US" dirty="0"/>
              <a:t>による情報の集積</a:t>
            </a:r>
            <a:endParaRPr lang="ja-GB" altLang="ja-GB" dirty="0"/>
          </a:p>
          <a:p>
            <a:pPr lvl="1"/>
            <a:r>
              <a:rPr lang="ja-GB" altLang="en-US" dirty="0"/>
              <a:t>情報を分析・活用する技術の発達</a:t>
            </a:r>
            <a:endParaRPr lang="en-US" altLang="ja-GB" dirty="0"/>
          </a:p>
          <a:p>
            <a:pPr lvl="1"/>
            <a:r>
              <a:rPr lang="ja-GB" altLang="en-US" dirty="0"/>
              <a:t>情報社会の問題解決</a:t>
            </a:r>
            <a:endParaRPr lang="ja-GB" altLang="ja-GB" dirty="0"/>
          </a:p>
        </p:txBody>
      </p:sp>
    </p:spTree>
    <p:extLst>
      <p:ext uri="{BB962C8B-B14F-4D97-AF65-F5344CB8AC3E}">
        <p14:creationId xmlns:p14="http://schemas.microsoft.com/office/powerpoint/2010/main" val="1110004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E82AA-12FB-9AFD-1CE3-9A759B1B87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EC584D-51DC-FC14-8B09-359663090045}"/>
              </a:ext>
            </a:extLst>
          </p:cNvPr>
          <p:cNvSpPr>
            <a:spLocks noGrp="1"/>
          </p:cNvSpPr>
          <p:nvPr>
            <p:ph type="title"/>
          </p:nvPr>
        </p:nvSpPr>
        <p:spPr/>
        <p:txBody>
          <a:bodyPr>
            <a:normAutofit/>
          </a:bodyPr>
          <a:lstStyle/>
          <a:p>
            <a:r>
              <a:rPr kumimoji="1" lang="ja-GB" altLang="en-US" dirty="0"/>
              <a:t>第</a:t>
            </a:r>
            <a:r>
              <a:rPr kumimoji="1" lang="en-US" altLang="ja-GB" dirty="0"/>
              <a:t>1</a:t>
            </a:r>
            <a:r>
              <a:rPr kumimoji="1" lang="ja-GB" altLang="en-US" dirty="0"/>
              <a:t>回内容：計算機とプログラムによる自動化</a:t>
            </a:r>
          </a:p>
        </p:txBody>
      </p:sp>
      <p:sp>
        <p:nvSpPr>
          <p:cNvPr id="3" name="コンテンツ プレースホルダー 2">
            <a:extLst>
              <a:ext uri="{FF2B5EF4-FFF2-40B4-BE49-F238E27FC236}">
                <a16:creationId xmlns:a16="http://schemas.microsoft.com/office/drawing/2014/main" id="{48346D3E-A12C-9418-6E54-ED518025F7D0}"/>
              </a:ext>
            </a:extLst>
          </p:cNvPr>
          <p:cNvSpPr>
            <a:spLocks noGrp="1"/>
          </p:cNvSpPr>
          <p:nvPr>
            <p:ph idx="1"/>
          </p:nvPr>
        </p:nvSpPr>
        <p:spPr/>
        <p:txBody>
          <a:bodyPr/>
          <a:lstStyle/>
          <a:p>
            <a:pPr marL="457200" indent="-457200">
              <a:buFont typeface="+mj-lt"/>
              <a:buAutoNum type="arabicPeriod"/>
            </a:pPr>
            <a:r>
              <a:rPr kumimoji="1" lang="ja-JP" altLang="en-US"/>
              <a:t>コンピュータとは何か</a:t>
            </a:r>
          </a:p>
          <a:p>
            <a:pPr lvl="1"/>
            <a:r>
              <a:rPr kumimoji="1" lang="ja-JP" altLang="en-US"/>
              <a:t>自動で計算する道具（計算機）</a:t>
            </a:r>
          </a:p>
          <a:p>
            <a:pPr lvl="1"/>
            <a:r>
              <a:rPr kumimoji="1" lang="ja-JP" altLang="en-US"/>
              <a:t>計算機が様々な情報処理を行う仕組み</a:t>
            </a:r>
          </a:p>
          <a:p>
            <a:pPr lvl="1"/>
            <a:endParaRPr kumimoji="1" lang="ja-JP" altLang="en-US"/>
          </a:p>
          <a:p>
            <a:pPr marL="457200" indent="-457200">
              <a:buFont typeface="+mj-lt"/>
              <a:buAutoNum type="arabicPeriod"/>
            </a:pPr>
            <a:r>
              <a:rPr kumimoji="1" lang="ja-JP" altLang="en-US">
                <a:solidFill>
                  <a:schemeClr val="tx1">
                    <a:lumMod val="50000"/>
                    <a:lumOff val="50000"/>
                  </a:schemeClr>
                </a:solidFill>
              </a:rPr>
              <a:t>計算の自動化</a:t>
            </a:r>
          </a:p>
          <a:p>
            <a:pPr lvl="1"/>
            <a:r>
              <a:rPr kumimoji="1" lang="ja-JP" altLang="en-US">
                <a:solidFill>
                  <a:schemeClr val="tx1">
                    <a:lumMod val="50000"/>
                    <a:lumOff val="50000"/>
                  </a:schemeClr>
                </a:solidFill>
              </a:rPr>
              <a:t>計算機とプログラム</a:t>
            </a:r>
          </a:p>
          <a:p>
            <a:pPr lvl="1"/>
            <a:r>
              <a:rPr kumimoji="1" lang="ja-JP" altLang="en-US">
                <a:solidFill>
                  <a:schemeClr val="tx1">
                    <a:lumMod val="50000"/>
                    <a:lumOff val="50000"/>
                  </a:schemeClr>
                </a:solidFill>
              </a:rPr>
              <a:t>計算の組み合わせで作られる機能・サービス</a:t>
            </a:r>
          </a:p>
          <a:p>
            <a:pPr lvl="1"/>
            <a:endParaRPr lang="ja-GB"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情報通信技術と社会の情報化</a:t>
            </a:r>
            <a:endParaRPr lang="ja-GB" altLang="ja-GB" dirty="0">
              <a:solidFill>
                <a:schemeClr val="tx1">
                  <a:lumMod val="50000"/>
                  <a:lumOff val="50000"/>
                </a:schemeClr>
              </a:solidFill>
            </a:endParaRPr>
          </a:p>
          <a:p>
            <a:pPr lvl="1"/>
            <a:r>
              <a:rPr lang="ja-GB" altLang="en-US" dirty="0">
                <a:solidFill>
                  <a:schemeClr val="tx1">
                    <a:lumMod val="50000"/>
                    <a:lumOff val="50000"/>
                  </a:schemeClr>
                </a:solidFill>
              </a:rPr>
              <a:t>インターネット・</a:t>
            </a:r>
            <a:r>
              <a:rPr lang="en-US" altLang="ja-GB" dirty="0">
                <a:solidFill>
                  <a:schemeClr val="tx1">
                    <a:lumMod val="50000"/>
                    <a:lumOff val="50000"/>
                  </a:schemeClr>
                </a:solidFill>
              </a:rPr>
              <a:t>IoT</a:t>
            </a:r>
            <a:r>
              <a:rPr lang="ja-GB" altLang="en-US" dirty="0">
                <a:solidFill>
                  <a:schemeClr val="tx1">
                    <a:lumMod val="50000"/>
                    <a:lumOff val="50000"/>
                  </a:schemeClr>
                </a:solidFill>
              </a:rPr>
              <a:t>による情報の集積</a:t>
            </a:r>
            <a:endParaRPr lang="ja-GB" altLang="ja-GB" dirty="0">
              <a:solidFill>
                <a:schemeClr val="tx1">
                  <a:lumMod val="50000"/>
                  <a:lumOff val="50000"/>
                </a:schemeClr>
              </a:solidFill>
            </a:endParaRPr>
          </a:p>
          <a:p>
            <a:pPr lvl="1"/>
            <a:r>
              <a:rPr lang="ja-GB" altLang="en-US" dirty="0">
                <a:solidFill>
                  <a:schemeClr val="tx1">
                    <a:lumMod val="50000"/>
                    <a:lumOff val="50000"/>
                  </a:schemeClr>
                </a:solidFill>
              </a:rPr>
              <a:t>情報を分析・活用する技術の発達</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情報社会の問題解決</a:t>
            </a:r>
            <a:endParaRPr lang="ja-GB" altLang="ja-GB" dirty="0">
              <a:solidFill>
                <a:schemeClr val="tx1">
                  <a:lumMod val="50000"/>
                  <a:lumOff val="50000"/>
                </a:schemeClr>
              </a:solidFill>
            </a:endParaRPr>
          </a:p>
        </p:txBody>
      </p:sp>
    </p:spTree>
    <p:extLst>
      <p:ext uri="{BB962C8B-B14F-4D97-AF65-F5344CB8AC3E}">
        <p14:creationId xmlns:p14="http://schemas.microsoft.com/office/powerpoint/2010/main" val="2672895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088EE5-F230-7918-24D2-6391123723FD}"/>
              </a:ext>
            </a:extLst>
          </p:cNvPr>
          <p:cNvSpPr>
            <a:spLocks noGrp="1"/>
          </p:cNvSpPr>
          <p:nvPr>
            <p:ph type="title"/>
          </p:nvPr>
        </p:nvSpPr>
        <p:spPr/>
        <p:txBody>
          <a:bodyPr/>
          <a:lstStyle/>
          <a:p>
            <a:r>
              <a:rPr lang="ja-GB" dirty="0"/>
              <a:t>一般的なコンピュータのイメージ</a:t>
            </a:r>
          </a:p>
        </p:txBody>
      </p:sp>
      <p:sp>
        <p:nvSpPr>
          <p:cNvPr id="3" name="コンテンツ プレースホルダー 2">
            <a:extLst>
              <a:ext uri="{FF2B5EF4-FFF2-40B4-BE49-F238E27FC236}">
                <a16:creationId xmlns:a16="http://schemas.microsoft.com/office/drawing/2014/main" id="{7AA0BB1A-B58E-BED8-30E9-CED4D5DD6667}"/>
              </a:ext>
            </a:extLst>
          </p:cNvPr>
          <p:cNvSpPr>
            <a:spLocks noGrp="1"/>
          </p:cNvSpPr>
          <p:nvPr>
            <p:ph idx="1"/>
          </p:nvPr>
        </p:nvSpPr>
        <p:spPr/>
        <p:txBody>
          <a:bodyPr/>
          <a:lstStyle/>
          <a:p>
            <a:endParaRPr lang="ja-GB" altLang="en-US"/>
          </a:p>
        </p:txBody>
      </p:sp>
      <p:grpSp>
        <p:nvGrpSpPr>
          <p:cNvPr id="41" name="グループ化 40">
            <a:extLst>
              <a:ext uri="{FF2B5EF4-FFF2-40B4-BE49-F238E27FC236}">
                <a16:creationId xmlns:a16="http://schemas.microsoft.com/office/drawing/2014/main" id="{2A9F7465-720C-EEA8-9E8E-6826A8FF9755}"/>
              </a:ext>
            </a:extLst>
          </p:cNvPr>
          <p:cNvGrpSpPr/>
          <p:nvPr/>
        </p:nvGrpSpPr>
        <p:grpSpPr>
          <a:xfrm>
            <a:off x="557842" y="1215338"/>
            <a:ext cx="8028316" cy="2593282"/>
            <a:chOff x="557842" y="1332710"/>
            <a:chExt cx="8028316" cy="2593282"/>
          </a:xfrm>
        </p:grpSpPr>
        <p:pic>
          <p:nvPicPr>
            <p:cNvPr id="26" name="コンテンツ プレースホルダー 22" descr="キーボードとマウス&#10;&#10;AI によって生成されたコンテンツは間違っている可能性があります。">
              <a:extLst>
                <a:ext uri="{FF2B5EF4-FFF2-40B4-BE49-F238E27FC236}">
                  <a16:creationId xmlns:a16="http://schemas.microsoft.com/office/drawing/2014/main" id="{1B5C4D41-30C1-D581-AFDF-315C0911BF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7842" y="1332710"/>
              <a:ext cx="2795053" cy="2096290"/>
            </a:xfrm>
            <a:prstGeom prst="rect">
              <a:avLst/>
            </a:prstGeom>
            <a:ln>
              <a:noFill/>
            </a:ln>
            <a:effectLst>
              <a:outerShdw blurRad="292100" dist="139700" dir="2700000" algn="tl" rotWithShape="0">
                <a:srgbClr val="333333">
                  <a:alpha val="65000"/>
                </a:srgbClr>
              </a:outerShdw>
            </a:effectLst>
          </p:spPr>
        </p:pic>
        <p:pic>
          <p:nvPicPr>
            <p:cNvPr id="28" name="図 27" descr="駅のホーム&#10;&#10;AI によって生成されたコンテンツは間違っている可能性があります。">
              <a:extLst>
                <a:ext uri="{FF2B5EF4-FFF2-40B4-BE49-F238E27FC236}">
                  <a16:creationId xmlns:a16="http://schemas.microsoft.com/office/drawing/2014/main" id="{187D5673-C9C8-9442-BFCB-4E3FA404D58B}"/>
                </a:ext>
              </a:extLst>
            </p:cNvPr>
            <p:cNvPicPr>
              <a:picLocks noChangeAspect="1"/>
            </p:cNvPicPr>
            <p:nvPr/>
          </p:nvPicPr>
          <p:blipFill>
            <a:blip r:embed="rId3"/>
            <a:stretch>
              <a:fillRect/>
            </a:stretch>
          </p:blipFill>
          <p:spPr>
            <a:xfrm>
              <a:off x="4522158" y="1332710"/>
              <a:ext cx="4064000" cy="2108200"/>
            </a:xfrm>
            <a:prstGeom prst="rect">
              <a:avLst/>
            </a:prstGeom>
            <a:ln>
              <a:noFill/>
            </a:ln>
            <a:effectLst>
              <a:outerShdw blurRad="292100" dist="139700" dir="2700000" algn="tl" rotWithShape="0">
                <a:srgbClr val="333333">
                  <a:alpha val="65000"/>
                </a:srgbClr>
              </a:outerShdw>
            </a:effectLst>
          </p:spPr>
        </p:pic>
        <p:sp>
          <p:nvSpPr>
            <p:cNvPr id="29" name="テキスト ボックス 28">
              <a:extLst>
                <a:ext uri="{FF2B5EF4-FFF2-40B4-BE49-F238E27FC236}">
                  <a16:creationId xmlns:a16="http://schemas.microsoft.com/office/drawing/2014/main" id="{880D96F8-9E9D-A4CC-F013-D29192808C25}"/>
                </a:ext>
              </a:extLst>
            </p:cNvPr>
            <p:cNvSpPr txBox="1"/>
            <p:nvPr/>
          </p:nvSpPr>
          <p:spPr>
            <a:xfrm>
              <a:off x="1511977" y="3556660"/>
              <a:ext cx="886782" cy="369332"/>
            </a:xfrm>
            <a:prstGeom prst="rect">
              <a:avLst/>
            </a:prstGeom>
            <a:noFill/>
          </p:spPr>
          <p:txBody>
            <a:bodyPr wrap="none" rtlCol="0">
              <a:spAutoFit/>
            </a:bodyPr>
            <a:lstStyle/>
            <a:p>
              <a:pPr algn="ctr"/>
              <a:r>
                <a:rPr lang="ja-GB" b="1" dirty="0">
                  <a:solidFill>
                    <a:srgbClr val="2F2523"/>
                  </a:solidFill>
                  <a:latin typeface="Yu Gothic UI" panose="020B0500000000000000" pitchFamily="34" charset="-128"/>
                  <a:ea typeface="Yu Gothic UI" panose="020B0500000000000000" pitchFamily="34" charset="-128"/>
                </a:rPr>
                <a:t>パソコン</a:t>
              </a:r>
            </a:p>
          </p:txBody>
        </p:sp>
        <p:sp>
          <p:nvSpPr>
            <p:cNvPr id="30" name="テキスト ボックス 29">
              <a:extLst>
                <a:ext uri="{FF2B5EF4-FFF2-40B4-BE49-F238E27FC236}">
                  <a16:creationId xmlns:a16="http://schemas.microsoft.com/office/drawing/2014/main" id="{BA526703-AD7A-37CE-77E8-426DF992696C}"/>
                </a:ext>
              </a:extLst>
            </p:cNvPr>
            <p:cNvSpPr txBox="1"/>
            <p:nvPr/>
          </p:nvSpPr>
          <p:spPr>
            <a:xfrm>
              <a:off x="5440717" y="3556660"/>
              <a:ext cx="2226892" cy="369332"/>
            </a:xfrm>
            <a:prstGeom prst="rect">
              <a:avLst/>
            </a:prstGeom>
            <a:noFill/>
          </p:spPr>
          <p:txBody>
            <a:bodyPr wrap="none" rtlCol="0">
              <a:spAutoFit/>
            </a:bodyPr>
            <a:lstStyle/>
            <a:p>
              <a:pPr algn="ctr"/>
              <a:r>
                <a:rPr lang="ja-GB" b="1" dirty="0">
                  <a:solidFill>
                    <a:srgbClr val="2F2523"/>
                  </a:solidFill>
                  <a:latin typeface="Yu Gothic UI" panose="020B0500000000000000" pitchFamily="34" charset="-128"/>
                  <a:ea typeface="Yu Gothic UI" panose="020B0500000000000000" pitchFamily="34" charset="-128"/>
                </a:rPr>
                <a:t>スパコン・データセンター</a:t>
              </a:r>
            </a:p>
          </p:txBody>
        </p:sp>
      </p:grpSp>
      <p:grpSp>
        <p:nvGrpSpPr>
          <p:cNvPr id="40" name="グループ化 39">
            <a:extLst>
              <a:ext uri="{FF2B5EF4-FFF2-40B4-BE49-F238E27FC236}">
                <a16:creationId xmlns:a16="http://schemas.microsoft.com/office/drawing/2014/main" id="{3D3F67DD-D5DE-9EF9-7BF0-DE33F0B21131}"/>
              </a:ext>
            </a:extLst>
          </p:cNvPr>
          <p:cNvGrpSpPr/>
          <p:nvPr/>
        </p:nvGrpSpPr>
        <p:grpSpPr>
          <a:xfrm>
            <a:off x="372780" y="4287686"/>
            <a:ext cx="8298756" cy="2317741"/>
            <a:chOff x="557842" y="4369552"/>
            <a:chExt cx="8298756" cy="2317741"/>
          </a:xfrm>
        </p:grpSpPr>
        <p:pic>
          <p:nvPicPr>
            <p:cNvPr id="32" name="図 31" descr="テレビのリモコン&#10;&#10;AI によって生成されたコンテンツは間違っている可能性があります。">
              <a:extLst>
                <a:ext uri="{FF2B5EF4-FFF2-40B4-BE49-F238E27FC236}">
                  <a16:creationId xmlns:a16="http://schemas.microsoft.com/office/drawing/2014/main" id="{9E96C3A9-9C99-23C9-A90B-528FC491360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7842" y="4369553"/>
              <a:ext cx="2443544" cy="1832658"/>
            </a:xfrm>
            <a:prstGeom prst="rect">
              <a:avLst/>
            </a:prstGeom>
            <a:ln>
              <a:noFill/>
            </a:ln>
            <a:effectLst>
              <a:outerShdw blurRad="292100" dist="139700" dir="2700000" algn="tl" rotWithShape="0">
                <a:srgbClr val="333333">
                  <a:alpha val="65000"/>
                </a:srgbClr>
              </a:outerShdw>
            </a:effectLst>
          </p:spPr>
        </p:pic>
        <p:sp>
          <p:nvSpPr>
            <p:cNvPr id="33" name="テキスト ボックス 32">
              <a:extLst>
                <a:ext uri="{FF2B5EF4-FFF2-40B4-BE49-F238E27FC236}">
                  <a16:creationId xmlns:a16="http://schemas.microsoft.com/office/drawing/2014/main" id="{CDADD444-C647-3961-7FEF-671ABA67B16E}"/>
                </a:ext>
              </a:extLst>
            </p:cNvPr>
            <p:cNvSpPr txBox="1"/>
            <p:nvPr/>
          </p:nvSpPr>
          <p:spPr>
            <a:xfrm>
              <a:off x="1309775" y="6317961"/>
              <a:ext cx="939681" cy="369332"/>
            </a:xfrm>
            <a:prstGeom prst="rect">
              <a:avLst/>
            </a:prstGeom>
            <a:noFill/>
          </p:spPr>
          <p:txBody>
            <a:bodyPr wrap="none" rtlCol="0">
              <a:spAutoFit/>
            </a:bodyPr>
            <a:lstStyle/>
            <a:p>
              <a:pPr algn="ctr"/>
              <a:r>
                <a:rPr lang="ja-GB" b="1" dirty="0">
                  <a:solidFill>
                    <a:srgbClr val="2F2523"/>
                  </a:solidFill>
                  <a:latin typeface="Yu Gothic UI" panose="020B0500000000000000" pitchFamily="34" charset="-128"/>
                  <a:ea typeface="Yu Gothic UI" panose="020B0500000000000000" pitchFamily="34" charset="-128"/>
                </a:rPr>
                <a:t>ゲーム機</a:t>
              </a:r>
            </a:p>
          </p:txBody>
        </p:sp>
        <p:pic>
          <p:nvPicPr>
            <p:cNvPr id="35" name="図 34" descr="リモコン, コンピュータ, 携帯電話 が含まれている画像&#10;&#10;AI によって生成されたコンテンツは間違っている可能性があります。">
              <a:extLst>
                <a:ext uri="{FF2B5EF4-FFF2-40B4-BE49-F238E27FC236}">
                  <a16:creationId xmlns:a16="http://schemas.microsoft.com/office/drawing/2014/main" id="{D2649287-0641-849F-9DC2-0617E0646A2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352895" y="4369552"/>
              <a:ext cx="2443545" cy="1832659"/>
            </a:xfrm>
            <a:prstGeom prst="rect">
              <a:avLst/>
            </a:prstGeom>
            <a:ln>
              <a:noFill/>
            </a:ln>
            <a:effectLst>
              <a:outerShdw blurRad="292100" dist="139700" dir="2700000" algn="tl" rotWithShape="0">
                <a:srgbClr val="333333">
                  <a:alpha val="65000"/>
                </a:srgbClr>
              </a:outerShdw>
            </a:effectLst>
          </p:spPr>
        </p:pic>
        <p:sp>
          <p:nvSpPr>
            <p:cNvPr id="36" name="テキスト ボックス 35">
              <a:extLst>
                <a:ext uri="{FF2B5EF4-FFF2-40B4-BE49-F238E27FC236}">
                  <a16:creationId xmlns:a16="http://schemas.microsoft.com/office/drawing/2014/main" id="{A9EBA224-3FE4-60F8-56FA-70BB8608ACF1}"/>
                </a:ext>
              </a:extLst>
            </p:cNvPr>
            <p:cNvSpPr txBox="1"/>
            <p:nvPr/>
          </p:nvSpPr>
          <p:spPr>
            <a:xfrm>
              <a:off x="3843127" y="6317961"/>
              <a:ext cx="1358065" cy="369332"/>
            </a:xfrm>
            <a:prstGeom prst="rect">
              <a:avLst/>
            </a:prstGeom>
            <a:noFill/>
          </p:spPr>
          <p:txBody>
            <a:bodyPr wrap="none" rtlCol="0">
              <a:spAutoFit/>
            </a:bodyPr>
            <a:lstStyle/>
            <a:p>
              <a:pPr algn="ctr"/>
              <a:r>
                <a:rPr lang="ja-GB" b="1" dirty="0">
                  <a:solidFill>
                    <a:srgbClr val="2F2523"/>
                  </a:solidFill>
                  <a:latin typeface="Yu Gothic UI" panose="020B0500000000000000" pitchFamily="34" charset="-128"/>
                  <a:ea typeface="Yu Gothic UI" panose="020B0500000000000000" pitchFamily="34" charset="-128"/>
                </a:rPr>
                <a:t>スマートフォン</a:t>
              </a:r>
            </a:p>
          </p:txBody>
        </p:sp>
        <p:pic>
          <p:nvPicPr>
            <p:cNvPr id="38" name="図 37" descr="回路, ケーブル, ブルー, コンピュータ が含まれている画像&#10;&#10;AI によって生成されたコンテンツは間違っている可能性があります。">
              <a:extLst>
                <a:ext uri="{FF2B5EF4-FFF2-40B4-BE49-F238E27FC236}">
                  <a16:creationId xmlns:a16="http://schemas.microsoft.com/office/drawing/2014/main" id="{8CE23189-EA6E-F0A8-E141-911E58C986F0}"/>
                </a:ext>
              </a:extLst>
            </p:cNvPr>
            <p:cNvPicPr>
              <a:picLocks noChangeAspect="1"/>
            </p:cNvPicPr>
            <p:nvPr/>
          </p:nvPicPr>
          <p:blipFill>
            <a:blip r:embed="rId6"/>
            <a:stretch>
              <a:fillRect/>
            </a:stretch>
          </p:blipFill>
          <p:spPr>
            <a:xfrm>
              <a:off x="6147949" y="4384409"/>
              <a:ext cx="2708649" cy="1802944"/>
            </a:xfrm>
            <a:prstGeom prst="rect">
              <a:avLst/>
            </a:prstGeom>
            <a:ln>
              <a:noFill/>
            </a:ln>
            <a:effectLst>
              <a:outerShdw blurRad="292100" dist="139700" dir="2700000" algn="tl" rotWithShape="0">
                <a:srgbClr val="333333">
                  <a:alpha val="65000"/>
                </a:srgbClr>
              </a:outerShdw>
            </a:effectLst>
          </p:spPr>
        </p:pic>
        <p:sp>
          <p:nvSpPr>
            <p:cNvPr id="39" name="テキスト ボックス 38">
              <a:extLst>
                <a:ext uri="{FF2B5EF4-FFF2-40B4-BE49-F238E27FC236}">
                  <a16:creationId xmlns:a16="http://schemas.microsoft.com/office/drawing/2014/main" id="{E80C3749-881D-697E-592A-F8EB66C1CFF5}"/>
                </a:ext>
              </a:extLst>
            </p:cNvPr>
            <p:cNvSpPr txBox="1"/>
            <p:nvPr/>
          </p:nvSpPr>
          <p:spPr>
            <a:xfrm>
              <a:off x="6972389" y="6311800"/>
              <a:ext cx="1107996" cy="369332"/>
            </a:xfrm>
            <a:prstGeom prst="rect">
              <a:avLst/>
            </a:prstGeom>
            <a:noFill/>
          </p:spPr>
          <p:txBody>
            <a:bodyPr wrap="none" rtlCol="0">
              <a:spAutoFit/>
            </a:bodyPr>
            <a:lstStyle/>
            <a:p>
              <a:pPr algn="ctr"/>
              <a:r>
                <a:rPr lang="ja-GB" b="1" dirty="0">
                  <a:solidFill>
                    <a:srgbClr val="2F2523"/>
                  </a:solidFill>
                  <a:latin typeface="Yu Gothic UI" panose="020B0500000000000000" pitchFamily="34" charset="-128"/>
                  <a:ea typeface="Yu Gothic UI" panose="020B0500000000000000" pitchFamily="34" charset="-128"/>
                </a:rPr>
                <a:t>通信機器</a:t>
              </a:r>
            </a:p>
          </p:txBody>
        </p:sp>
      </p:grpSp>
    </p:spTree>
    <p:extLst>
      <p:ext uri="{BB962C8B-B14F-4D97-AF65-F5344CB8AC3E}">
        <p14:creationId xmlns:p14="http://schemas.microsoft.com/office/powerpoint/2010/main" val="247982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EE2A-C8E5-4417-F846-6DB58C968D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7E3074-BCDB-ADB0-9ECC-BDFD39AE306D}"/>
              </a:ext>
            </a:extLst>
          </p:cNvPr>
          <p:cNvSpPr>
            <a:spLocks noGrp="1"/>
          </p:cNvSpPr>
          <p:nvPr>
            <p:ph type="title"/>
          </p:nvPr>
        </p:nvSpPr>
        <p:spPr/>
        <p:txBody>
          <a:bodyPr/>
          <a:lstStyle/>
          <a:p>
            <a:r>
              <a:rPr lang="ja-GB" dirty="0"/>
              <a:t>コンピュータ</a:t>
            </a:r>
            <a:r>
              <a:rPr lang="ja-GB" altLang="en-US" dirty="0"/>
              <a:t>の意味</a:t>
            </a:r>
            <a:endParaRPr lang="ja-GB" dirty="0"/>
          </a:p>
        </p:txBody>
      </p:sp>
      <p:sp>
        <p:nvSpPr>
          <p:cNvPr id="3" name="コンテンツ プレースホルダー 2">
            <a:extLst>
              <a:ext uri="{FF2B5EF4-FFF2-40B4-BE49-F238E27FC236}">
                <a16:creationId xmlns:a16="http://schemas.microsoft.com/office/drawing/2014/main" id="{53693718-2A68-4DE5-8C62-1988C95F9752}"/>
              </a:ext>
            </a:extLst>
          </p:cNvPr>
          <p:cNvSpPr>
            <a:spLocks noGrp="1"/>
          </p:cNvSpPr>
          <p:nvPr>
            <p:ph idx="1"/>
          </p:nvPr>
        </p:nvSpPr>
        <p:spPr/>
        <p:txBody>
          <a:bodyPr/>
          <a:lstStyle/>
          <a:p>
            <a:pPr marL="0" indent="0">
              <a:buNone/>
            </a:pPr>
            <a:r>
              <a:rPr lang="ja-GB" dirty="0"/>
              <a:t>コンピュータ（計算機）</a:t>
            </a:r>
          </a:p>
          <a:p>
            <a:pPr marL="457200" lvl="1" indent="0">
              <a:buNone/>
            </a:pPr>
            <a:r>
              <a:rPr lang="ja-GB" dirty="0">
                <a:solidFill>
                  <a:srgbClr val="0070C0"/>
                </a:solidFill>
              </a:rPr>
              <a:t>Compute + er：計算する人・もの</a:t>
            </a:r>
          </a:p>
          <a:p>
            <a:pPr lvl="1"/>
            <a:endParaRPr lang="ja-GB" dirty="0"/>
          </a:p>
          <a:p>
            <a:pPr marL="0" indent="0">
              <a:buNone/>
            </a:pPr>
            <a:r>
              <a:rPr lang="ja-JP" altLang="en-US"/>
              <a:t>計算</a:t>
            </a:r>
            <a:endParaRPr lang="en-US" altLang="ja-JP" dirty="0"/>
          </a:p>
          <a:p>
            <a:pPr marL="457200" lvl="1" indent="0">
              <a:buNone/>
            </a:pPr>
            <a:r>
              <a:rPr lang="ja-JP" altLang="en-US">
                <a:solidFill>
                  <a:srgbClr val="0070C0"/>
                </a:solidFill>
              </a:rPr>
              <a:t>情報を決められた方法で処理すること</a:t>
            </a:r>
            <a:r>
              <a:rPr lang="en-US" altLang="ja-JP" dirty="0">
                <a:solidFill>
                  <a:srgbClr val="0070C0"/>
                </a:solidFill>
              </a:rPr>
              <a:t>(</a:t>
            </a:r>
            <a:r>
              <a:rPr lang="ja-JP" altLang="en-US">
                <a:solidFill>
                  <a:srgbClr val="0070C0"/>
                </a:solidFill>
              </a:rPr>
              <a:t>演算</a:t>
            </a:r>
            <a:r>
              <a:rPr lang="en-US" altLang="ja-JP" dirty="0">
                <a:solidFill>
                  <a:srgbClr val="0070C0"/>
                </a:solidFill>
              </a:rPr>
              <a:t>)</a:t>
            </a:r>
            <a:r>
              <a:rPr lang="ja-JP" altLang="en-US">
                <a:solidFill>
                  <a:srgbClr val="0070C0"/>
                </a:solidFill>
              </a:rPr>
              <a:t>，その結果を求めること</a:t>
            </a:r>
            <a:r>
              <a:rPr lang="en-US" altLang="ja-JP" dirty="0">
                <a:solidFill>
                  <a:srgbClr val="0070C0"/>
                </a:solidFill>
              </a:rPr>
              <a:t>(</a:t>
            </a:r>
            <a:r>
              <a:rPr lang="ja-JP" altLang="en-US">
                <a:solidFill>
                  <a:srgbClr val="0070C0"/>
                </a:solidFill>
              </a:rPr>
              <a:t>算出</a:t>
            </a:r>
            <a:r>
              <a:rPr lang="en-US" altLang="ja-JP" dirty="0">
                <a:solidFill>
                  <a:srgbClr val="0070C0"/>
                </a:solidFill>
              </a:rPr>
              <a:t>)</a:t>
            </a:r>
          </a:p>
          <a:p>
            <a:pPr marL="914400" lvl="2" indent="0">
              <a:buNone/>
            </a:pPr>
            <a:r>
              <a:rPr lang="en-US" dirty="0"/>
              <a:t>例1）四則演算</a:t>
            </a:r>
          </a:p>
          <a:p>
            <a:pPr lvl="3"/>
            <a:r>
              <a:rPr lang="ja-GB" dirty="0"/>
              <a:t>3+5=8，10-3=7，4×8=32，7÷2=3.5（3あまり1）</a:t>
            </a:r>
          </a:p>
          <a:p>
            <a:pPr lvl="3"/>
            <a:endParaRPr lang="ja-GB" dirty="0"/>
          </a:p>
          <a:p>
            <a:pPr marL="914400" lvl="2" indent="0">
              <a:buNone/>
            </a:pPr>
            <a:r>
              <a:rPr lang="ja-GB" dirty="0"/>
              <a:t>例2）数学の計算問題 </a:t>
            </a:r>
          </a:p>
          <a:p>
            <a:pPr lvl="3"/>
            <a:endParaRPr lang="ja-GB" dirty="0"/>
          </a:p>
          <a:p>
            <a:endParaRPr lang="ja-GB" dirty="0"/>
          </a:p>
          <a:p>
            <a:endParaRPr lang="ja-GB" dirty="0"/>
          </a:p>
        </p:txBody>
      </p:sp>
      <p:pic>
        <p:nvPicPr>
          <p:cNvPr id="4" name="図 3">
            <a:extLst>
              <a:ext uri="{FF2B5EF4-FFF2-40B4-BE49-F238E27FC236}">
                <a16:creationId xmlns:a16="http://schemas.microsoft.com/office/drawing/2014/main" id="{F8602B92-AD94-0295-EECC-EE1E7245AE0F}"/>
              </a:ext>
            </a:extLst>
          </p:cNvPr>
          <p:cNvPicPr>
            <a:picLocks noChangeAspect="1"/>
          </p:cNvPicPr>
          <p:nvPr/>
        </p:nvPicPr>
        <p:blipFill>
          <a:blip r:embed="rId2"/>
          <a:stretch>
            <a:fillRect/>
          </a:stretch>
        </p:blipFill>
        <p:spPr>
          <a:xfrm>
            <a:off x="1975125" y="3953618"/>
            <a:ext cx="1811395" cy="536476"/>
          </a:xfrm>
          <a:prstGeom prst="rect">
            <a:avLst/>
          </a:prstGeom>
        </p:spPr>
      </p:pic>
      <p:pic>
        <p:nvPicPr>
          <p:cNvPr id="5" name="図 4">
            <a:extLst>
              <a:ext uri="{FF2B5EF4-FFF2-40B4-BE49-F238E27FC236}">
                <a16:creationId xmlns:a16="http://schemas.microsoft.com/office/drawing/2014/main" id="{FFB447C0-9FFC-2054-0F6C-217B81BB56F9}"/>
              </a:ext>
            </a:extLst>
          </p:cNvPr>
          <p:cNvPicPr>
            <a:picLocks noChangeAspect="1"/>
          </p:cNvPicPr>
          <p:nvPr/>
        </p:nvPicPr>
        <p:blipFill>
          <a:blip r:embed="rId3"/>
          <a:stretch>
            <a:fillRect/>
          </a:stretch>
        </p:blipFill>
        <p:spPr>
          <a:xfrm>
            <a:off x="4111917" y="3953618"/>
            <a:ext cx="2106165" cy="536476"/>
          </a:xfrm>
          <a:prstGeom prst="rect">
            <a:avLst/>
          </a:prstGeom>
        </p:spPr>
      </p:pic>
      <p:pic>
        <p:nvPicPr>
          <p:cNvPr id="6" name="図 5">
            <a:extLst>
              <a:ext uri="{FF2B5EF4-FFF2-40B4-BE49-F238E27FC236}">
                <a16:creationId xmlns:a16="http://schemas.microsoft.com/office/drawing/2014/main" id="{CE334D0B-DBA2-0855-E348-0E046DC1BF9B}"/>
              </a:ext>
            </a:extLst>
          </p:cNvPr>
          <p:cNvPicPr>
            <a:picLocks noChangeAspect="1"/>
          </p:cNvPicPr>
          <p:nvPr/>
        </p:nvPicPr>
        <p:blipFill>
          <a:blip r:embed="rId4"/>
          <a:stretch>
            <a:fillRect/>
          </a:stretch>
        </p:blipFill>
        <p:spPr>
          <a:xfrm>
            <a:off x="6448612" y="3948980"/>
            <a:ext cx="2298073" cy="541998"/>
          </a:xfrm>
          <a:prstGeom prst="rect">
            <a:avLst/>
          </a:prstGeom>
        </p:spPr>
      </p:pic>
    </p:spTree>
    <p:extLst>
      <p:ext uri="{BB962C8B-B14F-4D97-AF65-F5344CB8AC3E}">
        <p14:creationId xmlns:p14="http://schemas.microsoft.com/office/powerpoint/2010/main" val="1533291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38A0C7-4F7B-7C7F-2704-9B83E6F6931F}"/>
              </a:ext>
            </a:extLst>
          </p:cNvPr>
          <p:cNvSpPr>
            <a:spLocks noGrp="1"/>
          </p:cNvSpPr>
          <p:nvPr>
            <p:ph type="title"/>
          </p:nvPr>
        </p:nvSpPr>
        <p:spPr/>
        <p:txBody>
          <a:bodyPr/>
          <a:lstStyle/>
          <a:p>
            <a:r>
              <a:rPr lang="ja-GB" dirty="0"/>
              <a:t>コンピュータ</a:t>
            </a:r>
            <a:r>
              <a:rPr lang="ja-GB" altLang="en-US" dirty="0"/>
              <a:t>の意味</a:t>
            </a:r>
            <a:endParaRPr lang="ja-GB" dirty="0"/>
          </a:p>
        </p:txBody>
      </p:sp>
      <p:sp>
        <p:nvSpPr>
          <p:cNvPr id="3" name="コンテンツ プレースホルダー 2">
            <a:extLst>
              <a:ext uri="{FF2B5EF4-FFF2-40B4-BE49-F238E27FC236}">
                <a16:creationId xmlns:a16="http://schemas.microsoft.com/office/drawing/2014/main" id="{3B553093-3804-0428-11DD-22005C814FE4}"/>
              </a:ext>
            </a:extLst>
          </p:cNvPr>
          <p:cNvSpPr>
            <a:spLocks noGrp="1"/>
          </p:cNvSpPr>
          <p:nvPr>
            <p:ph idx="1"/>
          </p:nvPr>
        </p:nvSpPr>
        <p:spPr/>
        <p:txBody>
          <a:bodyPr/>
          <a:lstStyle/>
          <a:p>
            <a:pPr marL="0" indent="0">
              <a:buNone/>
            </a:pPr>
            <a:r>
              <a:rPr lang="ja-GB" dirty="0">
                <a:solidFill>
                  <a:schemeClr val="tx1">
                    <a:lumMod val="50000"/>
                    <a:lumOff val="50000"/>
                  </a:schemeClr>
                </a:solidFill>
              </a:rPr>
              <a:t>コンピュータ（計算機）</a:t>
            </a:r>
          </a:p>
          <a:p>
            <a:pPr lvl="1"/>
            <a:r>
              <a:rPr lang="ja-GB" dirty="0">
                <a:solidFill>
                  <a:schemeClr val="tx1">
                    <a:lumMod val="50000"/>
                    <a:lumOff val="50000"/>
                  </a:schemeClr>
                </a:solidFill>
              </a:rPr>
              <a:t>Compute + er：計算する人・もの</a:t>
            </a:r>
          </a:p>
          <a:p>
            <a:pPr lvl="1"/>
            <a:endParaRPr lang="ja-GB" dirty="0">
              <a:solidFill>
                <a:schemeClr val="tx1">
                  <a:lumMod val="50000"/>
                  <a:lumOff val="50000"/>
                </a:schemeClr>
              </a:solidFill>
            </a:endParaRPr>
          </a:p>
          <a:p>
            <a:pPr marL="0" indent="0">
              <a:buNone/>
            </a:pPr>
            <a:r>
              <a:rPr lang="ja-JP" altLang="en-US">
                <a:solidFill>
                  <a:schemeClr val="tx1">
                    <a:lumMod val="50000"/>
                    <a:lumOff val="50000"/>
                  </a:schemeClr>
                </a:solidFill>
              </a:rPr>
              <a:t>計算</a:t>
            </a:r>
            <a:endParaRPr lang="en-US" altLang="ja-JP" dirty="0">
              <a:solidFill>
                <a:schemeClr val="tx1">
                  <a:lumMod val="50000"/>
                  <a:lumOff val="50000"/>
                </a:schemeClr>
              </a:solidFill>
            </a:endParaRPr>
          </a:p>
          <a:p>
            <a:pPr lvl="1"/>
            <a:r>
              <a:rPr lang="ja-JP" altLang="en-US">
                <a:solidFill>
                  <a:schemeClr val="tx1">
                    <a:lumMod val="50000"/>
                    <a:lumOff val="50000"/>
                  </a:schemeClr>
                </a:solidFill>
              </a:rPr>
              <a:t>情報を決められた方法で処理すること</a:t>
            </a:r>
            <a:r>
              <a:rPr lang="en-US" altLang="ja-JP" dirty="0">
                <a:solidFill>
                  <a:schemeClr val="tx1">
                    <a:lumMod val="50000"/>
                    <a:lumOff val="50000"/>
                  </a:schemeClr>
                </a:solidFill>
              </a:rPr>
              <a:t>(</a:t>
            </a:r>
            <a:r>
              <a:rPr lang="ja-JP" altLang="en-US">
                <a:solidFill>
                  <a:schemeClr val="tx1">
                    <a:lumMod val="50000"/>
                    <a:lumOff val="50000"/>
                  </a:schemeClr>
                </a:solidFill>
              </a:rPr>
              <a:t>演算</a:t>
            </a:r>
            <a:r>
              <a:rPr lang="en-US" altLang="ja-JP" dirty="0">
                <a:solidFill>
                  <a:schemeClr val="tx1">
                    <a:lumMod val="50000"/>
                    <a:lumOff val="50000"/>
                  </a:schemeClr>
                </a:solidFill>
              </a:rPr>
              <a:t>)</a:t>
            </a:r>
            <a:r>
              <a:rPr lang="ja-JP" altLang="en-US">
                <a:solidFill>
                  <a:schemeClr val="tx1">
                    <a:lumMod val="50000"/>
                    <a:lumOff val="50000"/>
                  </a:schemeClr>
                </a:solidFill>
              </a:rPr>
              <a:t>，その結果を求めること</a:t>
            </a:r>
            <a:r>
              <a:rPr lang="en-US" altLang="ja-JP" dirty="0">
                <a:solidFill>
                  <a:schemeClr val="tx1">
                    <a:lumMod val="50000"/>
                    <a:lumOff val="50000"/>
                  </a:schemeClr>
                </a:solidFill>
              </a:rPr>
              <a:t>(</a:t>
            </a:r>
            <a:r>
              <a:rPr lang="ja-JP" altLang="en-US">
                <a:solidFill>
                  <a:schemeClr val="tx1">
                    <a:lumMod val="50000"/>
                    <a:lumOff val="50000"/>
                  </a:schemeClr>
                </a:solidFill>
              </a:rPr>
              <a:t>算出</a:t>
            </a:r>
            <a:r>
              <a:rPr lang="en-US" altLang="ja-JP" dirty="0">
                <a:solidFill>
                  <a:schemeClr val="tx1">
                    <a:lumMod val="50000"/>
                    <a:lumOff val="50000"/>
                  </a:schemeClr>
                </a:solidFill>
              </a:rPr>
              <a:t>)</a:t>
            </a:r>
          </a:p>
          <a:p>
            <a:pPr marL="914400" lvl="2" indent="0">
              <a:buNone/>
            </a:pPr>
            <a:r>
              <a:rPr lang="en-US" dirty="0">
                <a:solidFill>
                  <a:schemeClr val="tx1">
                    <a:lumMod val="50000"/>
                    <a:lumOff val="50000"/>
                  </a:schemeClr>
                </a:solidFill>
              </a:rPr>
              <a:t>例1）四則演算</a:t>
            </a:r>
          </a:p>
          <a:p>
            <a:pPr lvl="3"/>
            <a:r>
              <a:rPr lang="ja-GB" dirty="0">
                <a:solidFill>
                  <a:schemeClr val="tx1">
                    <a:lumMod val="50000"/>
                    <a:lumOff val="50000"/>
                  </a:schemeClr>
                </a:solidFill>
              </a:rPr>
              <a:t>3+5=8，10-3=7，4×8=32，7÷2=3.5（3あまり1）</a:t>
            </a:r>
          </a:p>
          <a:p>
            <a:pPr lvl="3"/>
            <a:endParaRPr lang="ja-GB" dirty="0">
              <a:solidFill>
                <a:schemeClr val="tx1">
                  <a:lumMod val="50000"/>
                  <a:lumOff val="50000"/>
                </a:schemeClr>
              </a:solidFill>
            </a:endParaRPr>
          </a:p>
          <a:p>
            <a:pPr marL="914400" lvl="2" indent="0">
              <a:buNone/>
            </a:pPr>
            <a:r>
              <a:rPr lang="ja-GB" dirty="0">
                <a:solidFill>
                  <a:schemeClr val="tx1">
                    <a:lumMod val="50000"/>
                    <a:lumOff val="50000"/>
                  </a:schemeClr>
                </a:solidFill>
              </a:rPr>
              <a:t>例2）数学の計算問題 </a:t>
            </a:r>
          </a:p>
          <a:p>
            <a:pPr lvl="3"/>
            <a:endParaRPr lang="ja-GB" dirty="0"/>
          </a:p>
          <a:p>
            <a:endParaRPr lang="ja-GB" dirty="0"/>
          </a:p>
          <a:p>
            <a:endParaRPr lang="ja-GB" dirty="0"/>
          </a:p>
          <a:p>
            <a:pPr marL="0" indent="0">
              <a:buNone/>
            </a:pPr>
            <a:r>
              <a:rPr lang="ja-GB" dirty="0">
                <a:solidFill>
                  <a:srgbClr val="0070C0"/>
                </a:solidFill>
              </a:rPr>
              <a:t>“コンピュータ”のイメージとの乖離</a:t>
            </a:r>
          </a:p>
          <a:p>
            <a:pPr lvl="1"/>
            <a:r>
              <a:rPr lang="ja-GB" dirty="0"/>
              <a:t>Wordでレポートを作る</a:t>
            </a:r>
          </a:p>
          <a:p>
            <a:pPr lvl="1"/>
            <a:r>
              <a:rPr lang="ja-GB" dirty="0"/>
              <a:t>Amazonで買い物をする</a:t>
            </a:r>
          </a:p>
          <a:p>
            <a:pPr lvl="1"/>
            <a:r>
              <a:rPr lang="ja-GB" dirty="0"/>
              <a:t>YouTubeで動画を見る</a:t>
            </a:r>
          </a:p>
        </p:txBody>
      </p:sp>
      <p:pic>
        <p:nvPicPr>
          <p:cNvPr id="4" name="図 3">
            <a:extLst>
              <a:ext uri="{FF2B5EF4-FFF2-40B4-BE49-F238E27FC236}">
                <a16:creationId xmlns:a16="http://schemas.microsoft.com/office/drawing/2014/main" id="{FF03F931-7782-5BC3-3E87-369CD52F8228}"/>
              </a:ext>
            </a:extLst>
          </p:cNvPr>
          <p:cNvPicPr>
            <a:picLocks noChangeAspect="1"/>
          </p:cNvPicPr>
          <p:nvPr/>
        </p:nvPicPr>
        <p:blipFill>
          <a:blip r:embed="rId2">
            <a:duotone>
              <a:schemeClr val="bg2">
                <a:shade val="45000"/>
                <a:satMod val="135000"/>
              </a:schemeClr>
              <a:prstClr val="white"/>
            </a:duotone>
          </a:blip>
          <a:stretch>
            <a:fillRect/>
          </a:stretch>
        </p:blipFill>
        <p:spPr>
          <a:xfrm>
            <a:off x="1975125" y="3953618"/>
            <a:ext cx="1811395" cy="536476"/>
          </a:xfrm>
          <a:prstGeom prst="rect">
            <a:avLst/>
          </a:prstGeom>
        </p:spPr>
      </p:pic>
      <p:pic>
        <p:nvPicPr>
          <p:cNvPr id="5" name="図 4">
            <a:extLst>
              <a:ext uri="{FF2B5EF4-FFF2-40B4-BE49-F238E27FC236}">
                <a16:creationId xmlns:a16="http://schemas.microsoft.com/office/drawing/2014/main" id="{8B029C63-065B-435E-AE9F-619C9C3243E7}"/>
              </a:ext>
            </a:extLst>
          </p:cNvPr>
          <p:cNvPicPr>
            <a:picLocks noChangeAspect="1"/>
          </p:cNvPicPr>
          <p:nvPr/>
        </p:nvPicPr>
        <p:blipFill>
          <a:blip r:embed="rId3">
            <a:duotone>
              <a:schemeClr val="bg2">
                <a:shade val="45000"/>
                <a:satMod val="135000"/>
              </a:schemeClr>
              <a:prstClr val="white"/>
            </a:duotone>
          </a:blip>
          <a:stretch>
            <a:fillRect/>
          </a:stretch>
        </p:blipFill>
        <p:spPr>
          <a:xfrm>
            <a:off x="4111917" y="3953618"/>
            <a:ext cx="2106165" cy="536476"/>
          </a:xfrm>
          <a:prstGeom prst="rect">
            <a:avLst/>
          </a:prstGeom>
        </p:spPr>
      </p:pic>
      <p:pic>
        <p:nvPicPr>
          <p:cNvPr id="6" name="図 5">
            <a:extLst>
              <a:ext uri="{FF2B5EF4-FFF2-40B4-BE49-F238E27FC236}">
                <a16:creationId xmlns:a16="http://schemas.microsoft.com/office/drawing/2014/main" id="{A9E7EC95-910F-9098-27EB-94A7AF011800}"/>
              </a:ext>
            </a:extLst>
          </p:cNvPr>
          <p:cNvPicPr>
            <a:picLocks noChangeAspect="1"/>
          </p:cNvPicPr>
          <p:nvPr/>
        </p:nvPicPr>
        <p:blipFill>
          <a:blip r:embed="rId4">
            <a:duotone>
              <a:schemeClr val="bg2">
                <a:shade val="45000"/>
                <a:satMod val="135000"/>
              </a:schemeClr>
              <a:prstClr val="white"/>
            </a:duotone>
          </a:blip>
          <a:stretch>
            <a:fillRect/>
          </a:stretch>
        </p:blipFill>
        <p:spPr>
          <a:xfrm>
            <a:off x="6448612" y="3948980"/>
            <a:ext cx="2298073" cy="541998"/>
          </a:xfrm>
          <a:prstGeom prst="rect">
            <a:avLst/>
          </a:prstGeom>
        </p:spPr>
      </p:pic>
      <p:pic>
        <p:nvPicPr>
          <p:cNvPr id="7" name="コンテンツ プレースホルダー 22" descr="キーボードとマウス&#10;&#10;AI によって生成されたコンテンツは間違っている可能性があります。">
            <a:extLst>
              <a:ext uri="{FF2B5EF4-FFF2-40B4-BE49-F238E27FC236}">
                <a16:creationId xmlns:a16="http://schemas.microsoft.com/office/drawing/2014/main" id="{B344DBDD-7D71-FA71-4654-2482F2A65A3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642164" y="5139812"/>
            <a:ext cx="2267345" cy="17005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65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15D34-84BE-A896-FFAB-A1DBE776FA50}"/>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01F0650-97F4-440B-E884-AAA229627785}"/>
              </a:ext>
            </a:extLst>
          </p:cNvPr>
          <p:cNvSpPr/>
          <p:nvPr/>
        </p:nvSpPr>
        <p:spPr>
          <a:xfrm>
            <a:off x="636204" y="4468502"/>
            <a:ext cx="2944084" cy="112993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8" name="正方形/長方形 7">
            <a:extLst>
              <a:ext uri="{FF2B5EF4-FFF2-40B4-BE49-F238E27FC236}">
                <a16:creationId xmlns:a16="http://schemas.microsoft.com/office/drawing/2014/main" id="{92B84EC8-C62D-0A26-07AC-8E47BBC8BE10}"/>
              </a:ext>
            </a:extLst>
          </p:cNvPr>
          <p:cNvSpPr/>
          <p:nvPr/>
        </p:nvSpPr>
        <p:spPr>
          <a:xfrm>
            <a:off x="637674" y="1128837"/>
            <a:ext cx="7796463" cy="197317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2" name="タイトル 1">
            <a:extLst>
              <a:ext uri="{FF2B5EF4-FFF2-40B4-BE49-F238E27FC236}">
                <a16:creationId xmlns:a16="http://schemas.microsoft.com/office/drawing/2014/main" id="{F923B8F4-8424-50E5-6032-169566513529}"/>
              </a:ext>
            </a:extLst>
          </p:cNvPr>
          <p:cNvSpPr>
            <a:spLocks noGrp="1"/>
          </p:cNvSpPr>
          <p:nvPr>
            <p:ph type="title"/>
          </p:nvPr>
        </p:nvSpPr>
        <p:spPr/>
        <p:txBody>
          <a:bodyPr/>
          <a:lstStyle/>
          <a:p>
            <a:r>
              <a:rPr lang="ja-GB" dirty="0"/>
              <a:t>どうして“計算機“で様々なことができるのか？</a:t>
            </a:r>
          </a:p>
        </p:txBody>
      </p:sp>
      <p:sp>
        <p:nvSpPr>
          <p:cNvPr id="3" name="コンテンツ プレースホルダー 2">
            <a:extLst>
              <a:ext uri="{FF2B5EF4-FFF2-40B4-BE49-F238E27FC236}">
                <a16:creationId xmlns:a16="http://schemas.microsoft.com/office/drawing/2014/main" id="{4EE441D6-373B-BE0C-EE31-6A3A5177E40C}"/>
              </a:ext>
            </a:extLst>
          </p:cNvPr>
          <p:cNvSpPr>
            <a:spLocks noGrp="1"/>
          </p:cNvSpPr>
          <p:nvPr>
            <p:ph idx="1"/>
          </p:nvPr>
        </p:nvSpPr>
        <p:spPr/>
        <p:txBody>
          <a:bodyPr/>
          <a:lstStyle/>
          <a:p>
            <a:endParaRPr lang="ja-GB" altLang="en-US"/>
          </a:p>
        </p:txBody>
      </p:sp>
      <p:pic>
        <p:nvPicPr>
          <p:cNvPr id="4" name="図 3">
            <a:extLst>
              <a:ext uri="{FF2B5EF4-FFF2-40B4-BE49-F238E27FC236}">
                <a16:creationId xmlns:a16="http://schemas.microsoft.com/office/drawing/2014/main" id="{8FA12442-9CCF-AA25-4C5E-C3CDF921F8F5}"/>
              </a:ext>
            </a:extLst>
          </p:cNvPr>
          <p:cNvPicPr>
            <a:picLocks noChangeAspect="1"/>
          </p:cNvPicPr>
          <p:nvPr/>
        </p:nvPicPr>
        <p:blipFill>
          <a:blip r:embed="rId2"/>
          <a:stretch>
            <a:fillRect/>
          </a:stretch>
        </p:blipFill>
        <p:spPr>
          <a:xfrm>
            <a:off x="1445737" y="2363318"/>
            <a:ext cx="1811395" cy="536476"/>
          </a:xfrm>
          <a:prstGeom prst="rect">
            <a:avLst/>
          </a:prstGeom>
        </p:spPr>
      </p:pic>
      <p:pic>
        <p:nvPicPr>
          <p:cNvPr id="5" name="図 4">
            <a:extLst>
              <a:ext uri="{FF2B5EF4-FFF2-40B4-BE49-F238E27FC236}">
                <a16:creationId xmlns:a16="http://schemas.microsoft.com/office/drawing/2014/main" id="{DB79C60D-4915-44EF-C3BA-B7AD86E45492}"/>
              </a:ext>
            </a:extLst>
          </p:cNvPr>
          <p:cNvPicPr>
            <a:picLocks noChangeAspect="1"/>
          </p:cNvPicPr>
          <p:nvPr/>
        </p:nvPicPr>
        <p:blipFill>
          <a:blip r:embed="rId3"/>
          <a:stretch>
            <a:fillRect/>
          </a:stretch>
        </p:blipFill>
        <p:spPr>
          <a:xfrm>
            <a:off x="3582529" y="2363318"/>
            <a:ext cx="2106165" cy="536476"/>
          </a:xfrm>
          <a:prstGeom prst="rect">
            <a:avLst/>
          </a:prstGeom>
        </p:spPr>
      </p:pic>
      <p:pic>
        <p:nvPicPr>
          <p:cNvPr id="6" name="図 5">
            <a:extLst>
              <a:ext uri="{FF2B5EF4-FFF2-40B4-BE49-F238E27FC236}">
                <a16:creationId xmlns:a16="http://schemas.microsoft.com/office/drawing/2014/main" id="{4DDA073F-4457-2E00-2072-B99826F85731}"/>
              </a:ext>
            </a:extLst>
          </p:cNvPr>
          <p:cNvPicPr>
            <a:picLocks noChangeAspect="1"/>
          </p:cNvPicPr>
          <p:nvPr/>
        </p:nvPicPr>
        <p:blipFill>
          <a:blip r:embed="rId4"/>
          <a:stretch>
            <a:fillRect/>
          </a:stretch>
        </p:blipFill>
        <p:spPr>
          <a:xfrm>
            <a:off x="5919224" y="2358680"/>
            <a:ext cx="2298073" cy="541998"/>
          </a:xfrm>
          <a:prstGeom prst="rect">
            <a:avLst/>
          </a:prstGeom>
        </p:spPr>
      </p:pic>
      <p:sp>
        <p:nvSpPr>
          <p:cNvPr id="9" name="テキスト ボックス 8">
            <a:extLst>
              <a:ext uri="{FF2B5EF4-FFF2-40B4-BE49-F238E27FC236}">
                <a16:creationId xmlns:a16="http://schemas.microsoft.com/office/drawing/2014/main" id="{B4DF7D55-19F3-C8F6-7025-2930E93E25CA}"/>
              </a:ext>
            </a:extLst>
          </p:cNvPr>
          <p:cNvSpPr txBox="1"/>
          <p:nvPr/>
        </p:nvSpPr>
        <p:spPr>
          <a:xfrm>
            <a:off x="314325" y="746140"/>
            <a:ext cx="2868093" cy="430887"/>
          </a:xfrm>
          <a:prstGeom prst="rect">
            <a:avLst/>
          </a:prstGeom>
          <a:noFill/>
        </p:spPr>
        <p:txBody>
          <a:bodyPr wrap="none" rtlCol="0">
            <a:spAutoFit/>
          </a:bodyPr>
          <a:lstStyle/>
          <a:p>
            <a:r>
              <a:rPr lang="ja-GB" sz="2200" b="1" dirty="0">
                <a:solidFill>
                  <a:schemeClr val="accent2"/>
                </a:solidFill>
                <a:latin typeface="Yu Gothic UI" panose="020B0500000000000000" pitchFamily="34" charset="-128"/>
                <a:ea typeface="Yu Gothic UI" panose="020B0500000000000000" pitchFamily="34" charset="-128"/>
              </a:rPr>
              <a:t>素朴な“計算“のイメージ</a:t>
            </a:r>
          </a:p>
        </p:txBody>
      </p:sp>
      <p:sp>
        <p:nvSpPr>
          <p:cNvPr id="11" name="テキスト ボックス 10">
            <a:extLst>
              <a:ext uri="{FF2B5EF4-FFF2-40B4-BE49-F238E27FC236}">
                <a16:creationId xmlns:a16="http://schemas.microsoft.com/office/drawing/2014/main" id="{4C7A1B07-9E83-EE0F-BD76-D36ECFD45841}"/>
              </a:ext>
            </a:extLst>
          </p:cNvPr>
          <p:cNvSpPr txBox="1"/>
          <p:nvPr/>
        </p:nvSpPr>
        <p:spPr>
          <a:xfrm>
            <a:off x="312855" y="4060497"/>
            <a:ext cx="3520516" cy="430887"/>
          </a:xfrm>
          <a:prstGeom prst="rect">
            <a:avLst/>
          </a:prstGeom>
          <a:noFill/>
        </p:spPr>
        <p:txBody>
          <a:bodyPr wrap="none" rtlCol="0">
            <a:spAutoFit/>
          </a:bodyPr>
          <a:lstStyle/>
          <a:p>
            <a:r>
              <a:rPr lang="ja-GB" sz="2200" b="1" dirty="0">
                <a:solidFill>
                  <a:srgbClr val="0070C0"/>
                </a:solidFill>
                <a:latin typeface="Yu Gothic UI" panose="020B0500000000000000" pitchFamily="34" charset="-128"/>
                <a:ea typeface="Yu Gothic UI" panose="020B0500000000000000" pitchFamily="34" charset="-128"/>
              </a:rPr>
              <a:t>素朴な“コンピュータ”のイメージ</a:t>
            </a:r>
          </a:p>
        </p:txBody>
      </p:sp>
      <p:cxnSp>
        <p:nvCxnSpPr>
          <p:cNvPr id="13" name="直線矢印コネクタ 12">
            <a:extLst>
              <a:ext uri="{FF2B5EF4-FFF2-40B4-BE49-F238E27FC236}">
                <a16:creationId xmlns:a16="http://schemas.microsoft.com/office/drawing/2014/main" id="{93A77A1A-0EA1-E992-2E28-636562C872C7}"/>
              </a:ext>
            </a:extLst>
          </p:cNvPr>
          <p:cNvCxnSpPr>
            <a:cxnSpLocks/>
          </p:cNvCxnSpPr>
          <p:nvPr/>
        </p:nvCxnSpPr>
        <p:spPr>
          <a:xfrm>
            <a:off x="1440264" y="3202948"/>
            <a:ext cx="0" cy="844979"/>
          </a:xfrm>
          <a:prstGeom prst="straightConnector1">
            <a:avLst/>
          </a:prstGeom>
          <a:ln w="76200">
            <a:gradFill>
              <a:gsLst>
                <a:gs pos="87000">
                  <a:srgbClr val="0070C0"/>
                </a:gs>
                <a:gs pos="24000">
                  <a:schemeClr val="accent2"/>
                </a:gs>
                <a:gs pos="100000">
                  <a:srgbClr val="0070C0"/>
                </a:gs>
              </a:gsLst>
              <a:lin ang="5400000" scaled="1"/>
            </a:gra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F8224CD-7C1C-0782-27D6-BE67E4E04046}"/>
              </a:ext>
            </a:extLst>
          </p:cNvPr>
          <p:cNvSpPr txBox="1"/>
          <p:nvPr/>
        </p:nvSpPr>
        <p:spPr>
          <a:xfrm>
            <a:off x="0" y="1173451"/>
            <a:ext cx="6623929" cy="1200329"/>
          </a:xfrm>
          <a:prstGeom prst="rect">
            <a:avLst/>
          </a:prstGeom>
          <a:noFill/>
        </p:spPr>
        <p:txBody>
          <a:bodyPr wrap="none" rtlCol="0">
            <a:spAutoFit/>
          </a:bodyPr>
          <a:lstStyle/>
          <a:p>
            <a:pPr marL="914400" lvl="2" indent="0">
              <a:buNone/>
            </a:pPr>
            <a:r>
              <a:rPr lang="en-US" b="1" dirty="0">
                <a:latin typeface="Yu Gothic UI" panose="020B0500000000000000" pitchFamily="34" charset="-128"/>
                <a:ea typeface="Yu Gothic UI" panose="020B0500000000000000" pitchFamily="34" charset="-128"/>
              </a:rPr>
              <a:t>例1）四則演算</a:t>
            </a:r>
          </a:p>
          <a:p>
            <a:pPr lvl="3"/>
            <a:r>
              <a:rPr lang="ja-GB" b="1" dirty="0">
                <a:latin typeface="Yu Gothic UI" panose="020B0500000000000000" pitchFamily="34" charset="-128"/>
                <a:ea typeface="Yu Gothic UI" panose="020B0500000000000000" pitchFamily="34" charset="-128"/>
              </a:rPr>
              <a:t>3+5=8，10-3=7，4×8=32，7÷2=3.5（3あまり1）</a:t>
            </a:r>
          </a:p>
          <a:p>
            <a:pPr lvl="3"/>
            <a:endParaRPr lang="ja-GB" b="1" dirty="0">
              <a:latin typeface="Yu Gothic UI" panose="020B0500000000000000" pitchFamily="34" charset="-128"/>
              <a:ea typeface="Yu Gothic UI" panose="020B0500000000000000" pitchFamily="34" charset="-128"/>
            </a:endParaRPr>
          </a:p>
          <a:p>
            <a:pPr marL="914400" lvl="2" indent="0">
              <a:buNone/>
            </a:pPr>
            <a:r>
              <a:rPr lang="ja-GB" b="1" dirty="0">
                <a:latin typeface="Yu Gothic UI" panose="020B0500000000000000" pitchFamily="34" charset="-128"/>
                <a:ea typeface="Yu Gothic UI" panose="020B0500000000000000" pitchFamily="34" charset="-128"/>
              </a:rPr>
              <a:t>例2）数学の計算問題</a:t>
            </a:r>
          </a:p>
        </p:txBody>
      </p:sp>
      <p:sp>
        <p:nvSpPr>
          <p:cNvPr id="12" name="テキスト ボックス 11">
            <a:extLst>
              <a:ext uri="{FF2B5EF4-FFF2-40B4-BE49-F238E27FC236}">
                <a16:creationId xmlns:a16="http://schemas.microsoft.com/office/drawing/2014/main" id="{E26A57EA-1131-7284-ADFB-C4F594E0A087}"/>
              </a:ext>
            </a:extLst>
          </p:cNvPr>
          <p:cNvSpPr txBox="1"/>
          <p:nvPr/>
        </p:nvSpPr>
        <p:spPr>
          <a:xfrm>
            <a:off x="312855" y="4565936"/>
            <a:ext cx="2900153" cy="923330"/>
          </a:xfrm>
          <a:prstGeom prst="rect">
            <a:avLst/>
          </a:prstGeom>
          <a:noFill/>
        </p:spPr>
        <p:txBody>
          <a:bodyPr wrap="none" rtlCol="0">
            <a:spAutoFit/>
          </a:bodyPr>
          <a:lstStyle/>
          <a:p>
            <a:pPr lvl="1"/>
            <a:r>
              <a:rPr lang="ja-GB" b="1" dirty="0">
                <a:latin typeface="Yu Gothic UI" panose="020B0500000000000000" pitchFamily="34" charset="-128"/>
                <a:ea typeface="Yu Gothic UI" panose="020B0500000000000000" pitchFamily="34" charset="-128"/>
              </a:rPr>
              <a:t>Wordでレポートを作る</a:t>
            </a:r>
          </a:p>
          <a:p>
            <a:pPr lvl="1"/>
            <a:r>
              <a:rPr lang="ja-GB" b="1" dirty="0">
                <a:latin typeface="Yu Gothic UI" panose="020B0500000000000000" pitchFamily="34" charset="-128"/>
                <a:ea typeface="Yu Gothic UI" panose="020B0500000000000000" pitchFamily="34" charset="-128"/>
              </a:rPr>
              <a:t>Amazonで買い物をする</a:t>
            </a:r>
          </a:p>
          <a:p>
            <a:pPr lvl="1"/>
            <a:r>
              <a:rPr lang="ja-GB" b="1" dirty="0">
                <a:latin typeface="Yu Gothic UI" panose="020B0500000000000000" pitchFamily="34" charset="-128"/>
                <a:ea typeface="Yu Gothic UI" panose="020B0500000000000000" pitchFamily="34" charset="-128"/>
              </a:rPr>
              <a:t>YouTubeで動画を見る</a:t>
            </a:r>
          </a:p>
        </p:txBody>
      </p:sp>
    </p:spTree>
    <p:extLst>
      <p:ext uri="{BB962C8B-B14F-4D97-AF65-F5344CB8AC3E}">
        <p14:creationId xmlns:p14="http://schemas.microsoft.com/office/powerpoint/2010/main" val="2832923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A9A9C-5037-B82A-198A-08736C7C46C3}"/>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60CB716-1E87-D0E4-FD44-7B16DE2C531F}"/>
              </a:ext>
            </a:extLst>
          </p:cNvPr>
          <p:cNvSpPr/>
          <p:nvPr/>
        </p:nvSpPr>
        <p:spPr>
          <a:xfrm>
            <a:off x="636204" y="4468502"/>
            <a:ext cx="2944084" cy="112993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8" name="正方形/長方形 7">
            <a:extLst>
              <a:ext uri="{FF2B5EF4-FFF2-40B4-BE49-F238E27FC236}">
                <a16:creationId xmlns:a16="http://schemas.microsoft.com/office/drawing/2014/main" id="{5D1C84D0-B86C-688F-2C41-91739478B6E2}"/>
              </a:ext>
            </a:extLst>
          </p:cNvPr>
          <p:cNvSpPr/>
          <p:nvPr/>
        </p:nvSpPr>
        <p:spPr>
          <a:xfrm>
            <a:off x="637674" y="1128837"/>
            <a:ext cx="7796463" cy="197317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2" name="タイトル 1">
            <a:extLst>
              <a:ext uri="{FF2B5EF4-FFF2-40B4-BE49-F238E27FC236}">
                <a16:creationId xmlns:a16="http://schemas.microsoft.com/office/drawing/2014/main" id="{42E8515E-6637-ACDE-933C-4A05C05325FD}"/>
              </a:ext>
            </a:extLst>
          </p:cNvPr>
          <p:cNvSpPr>
            <a:spLocks noGrp="1"/>
          </p:cNvSpPr>
          <p:nvPr>
            <p:ph type="title"/>
          </p:nvPr>
        </p:nvSpPr>
        <p:spPr/>
        <p:txBody>
          <a:bodyPr/>
          <a:lstStyle/>
          <a:p>
            <a:r>
              <a:rPr lang="ja-GB" dirty="0"/>
              <a:t>どうして“計算機“で様々なことができるのか？</a:t>
            </a:r>
          </a:p>
        </p:txBody>
      </p:sp>
      <p:sp>
        <p:nvSpPr>
          <p:cNvPr id="14" name="コンテンツ プレースホルダー 13">
            <a:extLst>
              <a:ext uri="{FF2B5EF4-FFF2-40B4-BE49-F238E27FC236}">
                <a16:creationId xmlns:a16="http://schemas.microsoft.com/office/drawing/2014/main" id="{B9BE78C6-8365-9064-A427-F5D5AA7EAA13}"/>
              </a:ext>
            </a:extLst>
          </p:cNvPr>
          <p:cNvSpPr>
            <a:spLocks noGrp="1"/>
          </p:cNvSpPr>
          <p:nvPr>
            <p:ph idx="1"/>
          </p:nvPr>
        </p:nvSpPr>
        <p:spPr/>
        <p:txBody>
          <a:bodyPr/>
          <a:lstStyle/>
          <a:p>
            <a:endParaRPr lang="ja-GB" altLang="en-US"/>
          </a:p>
        </p:txBody>
      </p:sp>
      <p:pic>
        <p:nvPicPr>
          <p:cNvPr id="4" name="図 3">
            <a:extLst>
              <a:ext uri="{FF2B5EF4-FFF2-40B4-BE49-F238E27FC236}">
                <a16:creationId xmlns:a16="http://schemas.microsoft.com/office/drawing/2014/main" id="{96319932-AC0E-4AE6-468F-45D57A2F6290}"/>
              </a:ext>
            </a:extLst>
          </p:cNvPr>
          <p:cNvPicPr>
            <a:picLocks noChangeAspect="1"/>
          </p:cNvPicPr>
          <p:nvPr/>
        </p:nvPicPr>
        <p:blipFill>
          <a:blip r:embed="rId2"/>
          <a:stretch>
            <a:fillRect/>
          </a:stretch>
        </p:blipFill>
        <p:spPr>
          <a:xfrm>
            <a:off x="1445737" y="2363318"/>
            <a:ext cx="1811395" cy="536476"/>
          </a:xfrm>
          <a:prstGeom prst="rect">
            <a:avLst/>
          </a:prstGeom>
        </p:spPr>
      </p:pic>
      <p:pic>
        <p:nvPicPr>
          <p:cNvPr id="5" name="図 4">
            <a:extLst>
              <a:ext uri="{FF2B5EF4-FFF2-40B4-BE49-F238E27FC236}">
                <a16:creationId xmlns:a16="http://schemas.microsoft.com/office/drawing/2014/main" id="{B8A0799A-0502-DDBD-8FD8-90CB263A0E8A}"/>
              </a:ext>
            </a:extLst>
          </p:cNvPr>
          <p:cNvPicPr>
            <a:picLocks noChangeAspect="1"/>
          </p:cNvPicPr>
          <p:nvPr/>
        </p:nvPicPr>
        <p:blipFill>
          <a:blip r:embed="rId3"/>
          <a:stretch>
            <a:fillRect/>
          </a:stretch>
        </p:blipFill>
        <p:spPr>
          <a:xfrm>
            <a:off x="3582529" y="2363318"/>
            <a:ext cx="2106165" cy="536476"/>
          </a:xfrm>
          <a:prstGeom prst="rect">
            <a:avLst/>
          </a:prstGeom>
        </p:spPr>
      </p:pic>
      <p:pic>
        <p:nvPicPr>
          <p:cNvPr id="6" name="図 5">
            <a:extLst>
              <a:ext uri="{FF2B5EF4-FFF2-40B4-BE49-F238E27FC236}">
                <a16:creationId xmlns:a16="http://schemas.microsoft.com/office/drawing/2014/main" id="{CA818068-34FF-626C-93D5-2F61BB7C846F}"/>
              </a:ext>
            </a:extLst>
          </p:cNvPr>
          <p:cNvPicPr>
            <a:picLocks noChangeAspect="1"/>
          </p:cNvPicPr>
          <p:nvPr/>
        </p:nvPicPr>
        <p:blipFill>
          <a:blip r:embed="rId4"/>
          <a:stretch>
            <a:fillRect/>
          </a:stretch>
        </p:blipFill>
        <p:spPr>
          <a:xfrm>
            <a:off x="5919224" y="2358680"/>
            <a:ext cx="2298073" cy="541998"/>
          </a:xfrm>
          <a:prstGeom prst="rect">
            <a:avLst/>
          </a:prstGeom>
        </p:spPr>
      </p:pic>
      <p:sp>
        <p:nvSpPr>
          <p:cNvPr id="9" name="テキスト ボックス 8">
            <a:extLst>
              <a:ext uri="{FF2B5EF4-FFF2-40B4-BE49-F238E27FC236}">
                <a16:creationId xmlns:a16="http://schemas.microsoft.com/office/drawing/2014/main" id="{81CA6494-3C2F-19B1-9456-C6DB80968F00}"/>
              </a:ext>
            </a:extLst>
          </p:cNvPr>
          <p:cNvSpPr txBox="1"/>
          <p:nvPr/>
        </p:nvSpPr>
        <p:spPr>
          <a:xfrm>
            <a:off x="314325" y="746140"/>
            <a:ext cx="2868093" cy="430887"/>
          </a:xfrm>
          <a:prstGeom prst="rect">
            <a:avLst/>
          </a:prstGeom>
          <a:noFill/>
        </p:spPr>
        <p:txBody>
          <a:bodyPr wrap="none" rtlCol="0">
            <a:spAutoFit/>
          </a:bodyPr>
          <a:lstStyle/>
          <a:p>
            <a:r>
              <a:rPr lang="ja-GB" sz="2200" b="1" dirty="0">
                <a:solidFill>
                  <a:srgbClr val="2F2523"/>
                </a:solidFill>
                <a:latin typeface="Yu Gothic UI" panose="020B0500000000000000" pitchFamily="34" charset="-128"/>
                <a:ea typeface="Yu Gothic UI" panose="020B0500000000000000" pitchFamily="34" charset="-128"/>
              </a:rPr>
              <a:t>素朴な“計算“のイメージ</a:t>
            </a:r>
          </a:p>
        </p:txBody>
      </p:sp>
      <p:sp>
        <p:nvSpPr>
          <p:cNvPr id="11" name="テキスト ボックス 10">
            <a:extLst>
              <a:ext uri="{FF2B5EF4-FFF2-40B4-BE49-F238E27FC236}">
                <a16:creationId xmlns:a16="http://schemas.microsoft.com/office/drawing/2014/main" id="{BB3C28BE-D84B-CE09-D736-9447DEE48AC4}"/>
              </a:ext>
            </a:extLst>
          </p:cNvPr>
          <p:cNvSpPr txBox="1"/>
          <p:nvPr/>
        </p:nvSpPr>
        <p:spPr>
          <a:xfrm>
            <a:off x="312855" y="4060497"/>
            <a:ext cx="3520516" cy="430887"/>
          </a:xfrm>
          <a:prstGeom prst="rect">
            <a:avLst/>
          </a:prstGeom>
          <a:noFill/>
        </p:spPr>
        <p:txBody>
          <a:bodyPr wrap="none" rtlCol="0">
            <a:spAutoFit/>
          </a:bodyPr>
          <a:lstStyle/>
          <a:p>
            <a:r>
              <a:rPr lang="ja-GB" sz="2200" b="1" dirty="0">
                <a:solidFill>
                  <a:srgbClr val="2F2523"/>
                </a:solidFill>
                <a:latin typeface="Yu Gothic UI" panose="020B0500000000000000" pitchFamily="34" charset="-128"/>
                <a:ea typeface="Yu Gothic UI" panose="020B0500000000000000" pitchFamily="34" charset="-128"/>
              </a:rPr>
              <a:t>素朴な“コンピュータ”のイメージ</a:t>
            </a:r>
          </a:p>
        </p:txBody>
      </p:sp>
      <p:cxnSp>
        <p:nvCxnSpPr>
          <p:cNvPr id="13" name="直線矢印コネクタ 12">
            <a:extLst>
              <a:ext uri="{FF2B5EF4-FFF2-40B4-BE49-F238E27FC236}">
                <a16:creationId xmlns:a16="http://schemas.microsoft.com/office/drawing/2014/main" id="{F8601F55-98B1-280F-D15F-2BDBFF430A96}"/>
              </a:ext>
            </a:extLst>
          </p:cNvPr>
          <p:cNvCxnSpPr>
            <a:cxnSpLocks/>
          </p:cNvCxnSpPr>
          <p:nvPr/>
        </p:nvCxnSpPr>
        <p:spPr>
          <a:xfrm>
            <a:off x="1440264" y="3202948"/>
            <a:ext cx="0" cy="844979"/>
          </a:xfrm>
          <a:prstGeom prst="straightConnector1">
            <a:avLst/>
          </a:prstGeom>
          <a:ln w="76200">
            <a:solidFill>
              <a:schemeClr val="tx1">
                <a:lumMod val="85000"/>
                <a:lumOff val="1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147E72-A11E-0F3A-0552-37057328CAAA}"/>
              </a:ext>
            </a:extLst>
          </p:cNvPr>
          <p:cNvSpPr txBox="1"/>
          <p:nvPr/>
        </p:nvSpPr>
        <p:spPr>
          <a:xfrm>
            <a:off x="0" y="1173451"/>
            <a:ext cx="6623929" cy="1200329"/>
          </a:xfrm>
          <a:prstGeom prst="rect">
            <a:avLst/>
          </a:prstGeom>
          <a:noFill/>
        </p:spPr>
        <p:txBody>
          <a:bodyPr wrap="none" rtlCol="0">
            <a:spAutoFit/>
          </a:bodyPr>
          <a:lstStyle/>
          <a:p>
            <a:pPr marL="914400" lvl="2" indent="0">
              <a:buNone/>
            </a:pPr>
            <a:r>
              <a:rPr lang="en-US" b="1" dirty="0">
                <a:latin typeface="Yu Gothic UI" panose="020B0500000000000000" pitchFamily="34" charset="-128"/>
                <a:ea typeface="Yu Gothic UI" panose="020B0500000000000000" pitchFamily="34" charset="-128"/>
              </a:rPr>
              <a:t>例1）四則演算</a:t>
            </a:r>
          </a:p>
          <a:p>
            <a:pPr lvl="3"/>
            <a:r>
              <a:rPr lang="ja-GB" b="1" dirty="0">
                <a:latin typeface="Yu Gothic UI" panose="020B0500000000000000" pitchFamily="34" charset="-128"/>
                <a:ea typeface="Yu Gothic UI" panose="020B0500000000000000" pitchFamily="34" charset="-128"/>
              </a:rPr>
              <a:t>3+5=8，10-3=7，4×8=32，7÷2=3.5（3あまり1）</a:t>
            </a:r>
          </a:p>
          <a:p>
            <a:pPr lvl="3"/>
            <a:endParaRPr lang="ja-GB" b="1" dirty="0">
              <a:latin typeface="Yu Gothic UI" panose="020B0500000000000000" pitchFamily="34" charset="-128"/>
              <a:ea typeface="Yu Gothic UI" panose="020B0500000000000000" pitchFamily="34" charset="-128"/>
            </a:endParaRPr>
          </a:p>
          <a:p>
            <a:pPr marL="914400" lvl="2" indent="0">
              <a:buNone/>
            </a:pPr>
            <a:r>
              <a:rPr lang="ja-GB" b="1" dirty="0">
                <a:latin typeface="Yu Gothic UI" panose="020B0500000000000000" pitchFamily="34" charset="-128"/>
                <a:ea typeface="Yu Gothic UI" panose="020B0500000000000000" pitchFamily="34" charset="-128"/>
              </a:rPr>
              <a:t>例2）数学の計算問題</a:t>
            </a:r>
          </a:p>
        </p:txBody>
      </p:sp>
      <p:sp>
        <p:nvSpPr>
          <p:cNvPr id="12" name="テキスト ボックス 11">
            <a:extLst>
              <a:ext uri="{FF2B5EF4-FFF2-40B4-BE49-F238E27FC236}">
                <a16:creationId xmlns:a16="http://schemas.microsoft.com/office/drawing/2014/main" id="{7AF87375-D2E5-EEDC-1A4E-0AAD694224FE}"/>
              </a:ext>
            </a:extLst>
          </p:cNvPr>
          <p:cNvSpPr txBox="1"/>
          <p:nvPr/>
        </p:nvSpPr>
        <p:spPr>
          <a:xfrm>
            <a:off x="312855" y="4565936"/>
            <a:ext cx="2900153" cy="923330"/>
          </a:xfrm>
          <a:prstGeom prst="rect">
            <a:avLst/>
          </a:prstGeom>
          <a:noFill/>
        </p:spPr>
        <p:txBody>
          <a:bodyPr wrap="none" rtlCol="0">
            <a:spAutoFit/>
          </a:bodyPr>
          <a:lstStyle/>
          <a:p>
            <a:pPr lvl="1"/>
            <a:r>
              <a:rPr lang="ja-GB" b="1" dirty="0">
                <a:latin typeface="Yu Gothic UI" panose="020B0500000000000000" pitchFamily="34" charset="-128"/>
                <a:ea typeface="Yu Gothic UI" panose="020B0500000000000000" pitchFamily="34" charset="-128"/>
              </a:rPr>
              <a:t>Wordでレポートを作る</a:t>
            </a:r>
          </a:p>
          <a:p>
            <a:pPr lvl="1"/>
            <a:r>
              <a:rPr lang="ja-GB" b="1" dirty="0">
                <a:latin typeface="Yu Gothic UI" panose="020B0500000000000000" pitchFamily="34" charset="-128"/>
                <a:ea typeface="Yu Gothic UI" panose="020B0500000000000000" pitchFamily="34" charset="-128"/>
              </a:rPr>
              <a:t>Amazonで買い物をする</a:t>
            </a:r>
          </a:p>
          <a:p>
            <a:pPr lvl="1"/>
            <a:r>
              <a:rPr lang="ja-GB" b="1" dirty="0">
                <a:latin typeface="Yu Gothic UI" panose="020B0500000000000000" pitchFamily="34" charset="-128"/>
                <a:ea typeface="Yu Gothic UI" panose="020B0500000000000000" pitchFamily="34" charset="-128"/>
              </a:rPr>
              <a:t>YouTubeで動画を見る</a:t>
            </a:r>
          </a:p>
        </p:txBody>
      </p:sp>
      <p:sp>
        <p:nvSpPr>
          <p:cNvPr id="16" name="テキスト ボックス 15">
            <a:extLst>
              <a:ext uri="{FF2B5EF4-FFF2-40B4-BE49-F238E27FC236}">
                <a16:creationId xmlns:a16="http://schemas.microsoft.com/office/drawing/2014/main" id="{98352CF5-783B-980C-E935-C719A4F3D7E5}"/>
              </a:ext>
            </a:extLst>
          </p:cNvPr>
          <p:cNvSpPr txBox="1"/>
          <p:nvPr/>
        </p:nvSpPr>
        <p:spPr>
          <a:xfrm>
            <a:off x="3833371" y="4704435"/>
            <a:ext cx="4972835" cy="646331"/>
          </a:xfrm>
          <a:prstGeom prst="rect">
            <a:avLst/>
          </a:prstGeom>
          <a:noFill/>
        </p:spPr>
        <p:txBody>
          <a:bodyPr wrap="none" rtlCol="0">
            <a:spAutoFit/>
          </a:bodyPr>
          <a:lstStyle/>
          <a:p>
            <a:pPr algn="ctr"/>
            <a:r>
              <a:rPr lang="ja-GB" b="1" dirty="0">
                <a:solidFill>
                  <a:schemeClr val="accent2"/>
                </a:solidFill>
                <a:latin typeface="Yu Gothic UI" panose="020B0500000000000000" pitchFamily="34" charset="-128"/>
                <a:ea typeface="Yu Gothic UI" panose="020B0500000000000000" pitchFamily="34" charset="-128"/>
              </a:rPr>
              <a:t>文字や画像などあらゆる情報を数値として表すことで</a:t>
            </a:r>
            <a:br>
              <a:rPr lang="ja-GB" b="1" dirty="0">
                <a:solidFill>
                  <a:schemeClr val="accent2"/>
                </a:solidFill>
                <a:latin typeface="Yu Gothic UI" panose="020B0500000000000000" pitchFamily="34" charset="-128"/>
                <a:ea typeface="Yu Gothic UI" panose="020B0500000000000000" pitchFamily="34" charset="-128"/>
              </a:rPr>
            </a:br>
            <a:r>
              <a:rPr lang="ja-GB" b="1" dirty="0">
                <a:solidFill>
                  <a:schemeClr val="accent2"/>
                </a:solidFill>
                <a:latin typeface="Yu Gothic UI" panose="020B0500000000000000" pitchFamily="34" charset="-128"/>
                <a:ea typeface="Yu Gothic UI" panose="020B0500000000000000" pitchFamily="34" charset="-128"/>
              </a:rPr>
              <a:t>様々な機能を計算</a:t>
            </a:r>
            <a:r>
              <a:rPr lang="ja-GB" altLang="en-US" b="1" dirty="0">
                <a:solidFill>
                  <a:schemeClr val="accent2"/>
                </a:solidFill>
                <a:latin typeface="Yu Gothic UI" panose="020B0500000000000000" pitchFamily="34" charset="-128"/>
                <a:ea typeface="Yu Gothic UI" panose="020B0500000000000000" pitchFamily="34" charset="-128"/>
              </a:rPr>
              <a:t>問題に表現できる</a:t>
            </a:r>
            <a:endParaRPr lang="ja-GB" b="1" dirty="0">
              <a:solidFill>
                <a:schemeClr val="accent2"/>
              </a:solidFill>
              <a:latin typeface="Yu Gothic UI" panose="020B0500000000000000" pitchFamily="34" charset="-128"/>
              <a:ea typeface="Yu Gothic UI" panose="020B0500000000000000" pitchFamily="34" charset="-128"/>
            </a:endParaRPr>
          </a:p>
        </p:txBody>
      </p:sp>
      <p:sp>
        <p:nvSpPr>
          <p:cNvPr id="3" name="テキスト ボックス 2">
            <a:extLst>
              <a:ext uri="{FF2B5EF4-FFF2-40B4-BE49-F238E27FC236}">
                <a16:creationId xmlns:a16="http://schemas.microsoft.com/office/drawing/2014/main" id="{2D9FE8AF-452D-4156-3A71-8C77046BD871}"/>
              </a:ext>
            </a:extLst>
          </p:cNvPr>
          <p:cNvSpPr txBox="1"/>
          <p:nvPr/>
        </p:nvSpPr>
        <p:spPr>
          <a:xfrm>
            <a:off x="1593444" y="6006446"/>
            <a:ext cx="5884944" cy="369332"/>
          </a:xfrm>
          <a:prstGeom prst="rect">
            <a:avLst/>
          </a:prstGeom>
          <a:noFill/>
        </p:spPr>
        <p:txBody>
          <a:bodyPr wrap="none" rtlCol="0">
            <a:spAutoFit/>
          </a:bodyPr>
          <a:lstStyle/>
          <a:p>
            <a:pPr algn="ctr"/>
            <a:r>
              <a:rPr lang="ja-GB" altLang="en-US" b="1" dirty="0">
                <a:solidFill>
                  <a:srgbClr val="2F2523"/>
                </a:solidFill>
                <a:latin typeface="Yu Gothic UI" panose="020B0500000000000000" pitchFamily="34" charset="-128"/>
                <a:ea typeface="Yu Gothic UI" panose="020B0500000000000000" pitchFamily="34" charset="-128"/>
              </a:rPr>
              <a:t>計算機の仕組みを理解すれば，この説明の意味が理解できる</a:t>
            </a:r>
            <a:endParaRPr lang="ja-GB" b="1" dirty="0">
              <a:solidFill>
                <a:srgbClr val="2F252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823184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68AE-EA61-C815-ABFD-AFF4E43BCD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B627F5-DB9D-D9E3-8FAF-2DBFE4192BC0}"/>
              </a:ext>
            </a:extLst>
          </p:cNvPr>
          <p:cNvSpPr>
            <a:spLocks noGrp="1"/>
          </p:cNvSpPr>
          <p:nvPr>
            <p:ph type="title"/>
          </p:nvPr>
        </p:nvSpPr>
        <p:spPr/>
        <p:txBody>
          <a:bodyPr>
            <a:normAutofit/>
          </a:bodyPr>
          <a:lstStyle/>
          <a:p>
            <a:r>
              <a:rPr lang="ja-GB" altLang="en-US" dirty="0"/>
              <a:t>計算機の中身：自動で</a:t>
            </a:r>
            <a:r>
              <a:rPr lang="ja-GB" dirty="0"/>
              <a:t>計算する</a:t>
            </a:r>
            <a:r>
              <a:rPr lang="ja-GB" altLang="en-US" dirty="0"/>
              <a:t>装置</a:t>
            </a:r>
            <a:endParaRPr lang="ja-GB" dirty="0"/>
          </a:p>
        </p:txBody>
      </p:sp>
      <p:sp>
        <p:nvSpPr>
          <p:cNvPr id="3" name="コンテンツ プレースホルダー 2">
            <a:extLst>
              <a:ext uri="{FF2B5EF4-FFF2-40B4-BE49-F238E27FC236}">
                <a16:creationId xmlns:a16="http://schemas.microsoft.com/office/drawing/2014/main" id="{6F679E0B-49EB-0FBB-C3B7-A6998201EFFD}"/>
              </a:ext>
            </a:extLst>
          </p:cNvPr>
          <p:cNvSpPr>
            <a:spLocks noGrp="1"/>
          </p:cNvSpPr>
          <p:nvPr>
            <p:ph idx="1"/>
          </p:nvPr>
        </p:nvSpPr>
        <p:spPr/>
        <p:txBody>
          <a:bodyPr/>
          <a:lstStyle/>
          <a:p>
            <a:pPr marL="0" indent="0">
              <a:buNone/>
            </a:pPr>
            <a:r>
              <a:rPr lang="ja-GB" altLang="en-US" dirty="0"/>
              <a:t>自動で</a:t>
            </a:r>
            <a:r>
              <a:rPr lang="ja-GB" dirty="0"/>
              <a:t>計算をする</a:t>
            </a:r>
            <a:r>
              <a:rPr lang="ja-GB" altLang="en-US" dirty="0"/>
              <a:t>装置は次の仕組みで実現可能</a:t>
            </a:r>
            <a:endParaRPr lang="ja-GB" dirty="0"/>
          </a:p>
          <a:p>
            <a:pPr lvl="1"/>
            <a:r>
              <a:rPr lang="ja-GB" altLang="ja-GB" dirty="0"/>
              <a:t>入力装置：数値や計算方法を入力する装置</a:t>
            </a:r>
            <a:endParaRPr lang="en-US" altLang="ja-GB" dirty="0"/>
          </a:p>
          <a:p>
            <a:pPr lvl="1"/>
            <a:r>
              <a:rPr lang="ja-GB" altLang="ja-GB" dirty="0">
                <a:solidFill>
                  <a:srgbClr val="2F2523"/>
                </a:solidFill>
              </a:rPr>
              <a:t>出力装置：計算結果を出力する装置</a:t>
            </a:r>
            <a:endParaRPr lang="en-US" altLang="ja-GB" dirty="0"/>
          </a:p>
          <a:p>
            <a:pPr lvl="1"/>
            <a:r>
              <a:rPr lang="ja-GB" dirty="0"/>
              <a:t>演算装置：足し算や掛け算などを行う回路</a:t>
            </a:r>
          </a:p>
          <a:p>
            <a:pPr lvl="1"/>
            <a:r>
              <a:rPr lang="ja-JP" altLang="en-US"/>
              <a:t>制御装置：計算を行うために装置同士を連携させる装置</a:t>
            </a:r>
            <a:endParaRPr lang="en-US" altLang="ja-JP" dirty="0"/>
          </a:p>
          <a:p>
            <a:pPr lvl="1"/>
            <a:endParaRPr lang="ja-GB" altLang="ja-GB" dirty="0"/>
          </a:p>
        </p:txBody>
      </p:sp>
      <p:sp>
        <p:nvSpPr>
          <p:cNvPr id="9" name="テキスト ボックス 8">
            <a:extLst>
              <a:ext uri="{FF2B5EF4-FFF2-40B4-BE49-F238E27FC236}">
                <a16:creationId xmlns:a16="http://schemas.microsoft.com/office/drawing/2014/main" id="{3B93FD4A-9016-670B-F467-51A352597DCE}"/>
              </a:ext>
            </a:extLst>
          </p:cNvPr>
          <p:cNvSpPr txBox="1"/>
          <p:nvPr/>
        </p:nvSpPr>
        <p:spPr>
          <a:xfrm>
            <a:off x="5866642"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11" name="直線矢印コネクタ 10">
            <a:extLst>
              <a:ext uri="{FF2B5EF4-FFF2-40B4-BE49-F238E27FC236}">
                <a16:creationId xmlns:a16="http://schemas.microsoft.com/office/drawing/2014/main" id="{BC7C77BD-244B-B179-3039-10B84E13F546}"/>
              </a:ext>
            </a:extLst>
          </p:cNvPr>
          <p:cNvCxnSpPr>
            <a:cxnSpLocks/>
          </p:cNvCxnSpPr>
          <p:nvPr/>
        </p:nvCxnSpPr>
        <p:spPr>
          <a:xfrm>
            <a:off x="5161039" y="4731944"/>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曲線コネクタ 11">
            <a:extLst>
              <a:ext uri="{FF2B5EF4-FFF2-40B4-BE49-F238E27FC236}">
                <a16:creationId xmlns:a16="http://schemas.microsoft.com/office/drawing/2014/main" id="{6F503C31-5018-A6D4-E446-2166110AD6B2}"/>
              </a:ext>
            </a:extLst>
          </p:cNvPr>
          <p:cNvCxnSpPr>
            <a:cxnSpLocks/>
            <a:stCxn id="23" idx="2"/>
            <a:endCxn id="9" idx="0"/>
          </p:cNvCxnSpPr>
          <p:nvPr/>
        </p:nvCxnSpPr>
        <p:spPr>
          <a:xfrm rot="16200000" flipH="1">
            <a:off x="4438713" y="2565350"/>
            <a:ext cx="336657" cy="3627197"/>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2C5F5432-7708-7545-E893-FA7B7DAEF189}"/>
              </a:ext>
            </a:extLst>
          </p:cNvPr>
          <p:cNvSpPr txBox="1"/>
          <p:nvPr/>
        </p:nvSpPr>
        <p:spPr>
          <a:xfrm>
            <a:off x="2239445" y="3841289"/>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25" name="テキスト ボックス 24">
            <a:extLst>
              <a:ext uri="{FF2B5EF4-FFF2-40B4-BE49-F238E27FC236}">
                <a16:creationId xmlns:a16="http://schemas.microsoft.com/office/drawing/2014/main" id="{38D91D3D-390F-5809-4911-30FDF1AC3A3F}"/>
              </a:ext>
            </a:extLst>
          </p:cNvPr>
          <p:cNvSpPr txBox="1"/>
          <p:nvPr/>
        </p:nvSpPr>
        <p:spPr>
          <a:xfrm>
            <a:off x="4053043" y="3841289"/>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6" name="テキスト ボックス 25">
            <a:extLst>
              <a:ext uri="{FF2B5EF4-FFF2-40B4-BE49-F238E27FC236}">
                <a16:creationId xmlns:a16="http://schemas.microsoft.com/office/drawing/2014/main" id="{3A8EC08B-9B74-F2CC-A53D-018F3726ACA3}"/>
              </a:ext>
            </a:extLst>
          </p:cNvPr>
          <p:cNvSpPr txBox="1"/>
          <p:nvPr/>
        </p:nvSpPr>
        <p:spPr>
          <a:xfrm>
            <a:off x="2239444"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cxnSp>
        <p:nvCxnSpPr>
          <p:cNvPr id="27" name="直線矢印コネクタ 26">
            <a:extLst>
              <a:ext uri="{FF2B5EF4-FFF2-40B4-BE49-F238E27FC236}">
                <a16:creationId xmlns:a16="http://schemas.microsoft.com/office/drawing/2014/main" id="{53B758B8-AD01-BBB5-D626-1EE7D78FACCF}"/>
              </a:ext>
            </a:extLst>
          </p:cNvPr>
          <p:cNvCxnSpPr>
            <a:cxnSpLocks/>
          </p:cNvCxnSpPr>
          <p:nvPr/>
        </p:nvCxnSpPr>
        <p:spPr>
          <a:xfrm>
            <a:off x="3347440" y="4731944"/>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440FBD52-F11C-4D3E-BF03-57F9AFD8757B}"/>
              </a:ext>
            </a:extLst>
          </p:cNvPr>
          <p:cNvCxnSpPr>
            <a:cxnSpLocks/>
            <a:stCxn id="25" idx="2"/>
            <a:endCxn id="32" idx="0"/>
          </p:cNvCxnSpPr>
          <p:nvPr/>
        </p:nvCxnSpPr>
        <p:spPr>
          <a:xfrm>
            <a:off x="4607041" y="4210621"/>
            <a:ext cx="0" cy="33665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曲線コネクタ 28">
            <a:extLst>
              <a:ext uri="{FF2B5EF4-FFF2-40B4-BE49-F238E27FC236}">
                <a16:creationId xmlns:a16="http://schemas.microsoft.com/office/drawing/2014/main" id="{30551F37-13DE-1B7A-5757-1C823955661F}"/>
              </a:ext>
            </a:extLst>
          </p:cNvPr>
          <p:cNvCxnSpPr>
            <a:cxnSpLocks/>
            <a:stCxn id="23" idx="2"/>
            <a:endCxn id="32" idx="0"/>
          </p:cNvCxnSpPr>
          <p:nvPr/>
        </p:nvCxnSpPr>
        <p:spPr>
          <a:xfrm rot="16200000" flipH="1">
            <a:off x="3531914" y="3472150"/>
            <a:ext cx="336657" cy="1813598"/>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2FE7915-B5EC-EBF4-4115-D880B32221C8}"/>
              </a:ext>
            </a:extLst>
          </p:cNvPr>
          <p:cNvCxnSpPr>
            <a:cxnSpLocks/>
            <a:stCxn id="23" idx="2"/>
            <a:endCxn id="26" idx="0"/>
          </p:cNvCxnSpPr>
          <p:nvPr/>
        </p:nvCxnSpPr>
        <p:spPr>
          <a:xfrm flipH="1">
            <a:off x="2793442" y="4210621"/>
            <a:ext cx="1" cy="336657"/>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8034468D-9D70-FCDE-DA3D-EF25AD019FFF}"/>
              </a:ext>
            </a:extLst>
          </p:cNvPr>
          <p:cNvCxnSpPr>
            <a:cxnSpLocks/>
            <a:stCxn id="23" idx="3"/>
            <a:endCxn id="25" idx="1"/>
          </p:cNvCxnSpPr>
          <p:nvPr/>
        </p:nvCxnSpPr>
        <p:spPr>
          <a:xfrm>
            <a:off x="3347441" y="4025955"/>
            <a:ext cx="705602"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A39CB439-EB1F-F605-73E8-BF1E7FA65D8C}"/>
              </a:ext>
            </a:extLst>
          </p:cNvPr>
          <p:cNvSpPr txBox="1"/>
          <p:nvPr/>
        </p:nvSpPr>
        <p:spPr>
          <a:xfrm>
            <a:off x="4053043" y="454727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sp>
        <p:nvSpPr>
          <p:cNvPr id="4" name="テキスト ボックス 3">
            <a:extLst>
              <a:ext uri="{FF2B5EF4-FFF2-40B4-BE49-F238E27FC236}">
                <a16:creationId xmlns:a16="http://schemas.microsoft.com/office/drawing/2014/main" id="{1CC392FC-0D4B-8B28-B619-FD110DABB907}"/>
              </a:ext>
            </a:extLst>
          </p:cNvPr>
          <p:cNvSpPr txBox="1"/>
          <p:nvPr/>
        </p:nvSpPr>
        <p:spPr>
          <a:xfrm>
            <a:off x="5953204" y="4916610"/>
            <a:ext cx="934871"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⑤答えは8</a:t>
            </a:r>
          </a:p>
        </p:txBody>
      </p:sp>
      <p:sp>
        <p:nvSpPr>
          <p:cNvPr id="5" name="テキスト ボックス 4">
            <a:extLst>
              <a:ext uri="{FF2B5EF4-FFF2-40B4-BE49-F238E27FC236}">
                <a16:creationId xmlns:a16="http://schemas.microsoft.com/office/drawing/2014/main" id="{FE48BFCA-19F8-615A-92BC-1EB7B1A5E57B}"/>
              </a:ext>
            </a:extLst>
          </p:cNvPr>
          <p:cNvSpPr txBox="1"/>
          <p:nvPr/>
        </p:nvSpPr>
        <p:spPr>
          <a:xfrm>
            <a:off x="2180134" y="4921076"/>
            <a:ext cx="1226618"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①3+5</a:t>
            </a:r>
            <a:r>
              <a:rPr lang="ja-GB" altLang="en-US" sz="1400" dirty="0">
                <a:solidFill>
                  <a:schemeClr val="accent5"/>
                </a:solidFill>
                <a:latin typeface="Yu Gothic UI" panose="020B0500000000000000" pitchFamily="34" charset="-128"/>
                <a:ea typeface="Yu Gothic UI" panose="020B0500000000000000" pitchFamily="34" charset="-128"/>
              </a:rPr>
              <a:t>をしたい</a:t>
            </a:r>
            <a:endParaRPr lang="ja-GB" sz="1400" dirty="0">
              <a:solidFill>
                <a:schemeClr val="accent5"/>
              </a:solidFill>
              <a:latin typeface="Yu Gothic UI" panose="020B0500000000000000" pitchFamily="34" charset="-128"/>
              <a:ea typeface="Yu Gothic UI" panose="020B0500000000000000" pitchFamily="34" charset="-128"/>
            </a:endParaRPr>
          </a:p>
        </p:txBody>
      </p:sp>
      <p:sp>
        <p:nvSpPr>
          <p:cNvPr id="6" name="テキスト ボックス 5">
            <a:extLst>
              <a:ext uri="{FF2B5EF4-FFF2-40B4-BE49-F238E27FC236}">
                <a16:creationId xmlns:a16="http://schemas.microsoft.com/office/drawing/2014/main" id="{4D72A821-0B24-7BF8-1A07-B29881050964}"/>
              </a:ext>
            </a:extLst>
          </p:cNvPr>
          <p:cNvSpPr txBox="1"/>
          <p:nvPr/>
        </p:nvSpPr>
        <p:spPr>
          <a:xfrm>
            <a:off x="3489200" y="4927491"/>
            <a:ext cx="1178528" cy="307777"/>
          </a:xfrm>
          <a:prstGeom prst="rect">
            <a:avLst/>
          </a:prstGeom>
          <a:noFill/>
        </p:spPr>
        <p:txBody>
          <a:bodyPr wrap="none" rtlCol="0">
            <a:spAutoFit/>
          </a:bodyPr>
          <a:lstStyle/>
          <a:p>
            <a:r>
              <a:rPr lang="ja-GB" sz="1400" dirty="0">
                <a:solidFill>
                  <a:schemeClr val="accent5"/>
                </a:solidFill>
                <a:latin typeface="Yu Gothic UI" panose="020B0500000000000000" pitchFamily="34" charset="-128"/>
                <a:ea typeface="Yu Gothic UI" panose="020B0500000000000000" pitchFamily="34" charset="-128"/>
              </a:rPr>
              <a:t>②3と5を記憶</a:t>
            </a:r>
          </a:p>
        </p:txBody>
      </p:sp>
      <p:sp>
        <p:nvSpPr>
          <p:cNvPr id="7" name="テキスト ボックス 6">
            <a:extLst>
              <a:ext uri="{FF2B5EF4-FFF2-40B4-BE49-F238E27FC236}">
                <a16:creationId xmlns:a16="http://schemas.microsoft.com/office/drawing/2014/main" id="{BD358EEC-3CB7-E624-DE0A-CC9574D1DA62}"/>
              </a:ext>
            </a:extLst>
          </p:cNvPr>
          <p:cNvSpPr txBox="1"/>
          <p:nvPr/>
        </p:nvSpPr>
        <p:spPr>
          <a:xfrm>
            <a:off x="4132391" y="3540310"/>
            <a:ext cx="949299" cy="307777"/>
          </a:xfrm>
          <a:prstGeom prst="rect">
            <a:avLst/>
          </a:prstGeom>
          <a:noFill/>
        </p:spPr>
        <p:txBody>
          <a:bodyPr wrap="none" rtlCol="0">
            <a:spAutoFit/>
          </a:bodyPr>
          <a:lstStyle/>
          <a:p>
            <a:pPr algn="ctr"/>
            <a:r>
              <a:rPr lang="ja-GB" sz="1400" dirty="0">
                <a:solidFill>
                  <a:schemeClr val="accent5"/>
                </a:solidFill>
                <a:latin typeface="Yu Gothic UI" panose="020B0500000000000000" pitchFamily="34" charset="-128"/>
                <a:ea typeface="Yu Gothic UI" panose="020B0500000000000000" pitchFamily="34" charset="-128"/>
              </a:rPr>
              <a:t>③3</a:t>
            </a:r>
            <a:r>
              <a:rPr lang="en-US" altLang="ja-GB" sz="1400" dirty="0">
                <a:solidFill>
                  <a:schemeClr val="accent5"/>
                </a:solidFill>
                <a:latin typeface="Yu Gothic UI" panose="020B0500000000000000" pitchFamily="34" charset="-128"/>
                <a:ea typeface="Yu Gothic UI" panose="020B0500000000000000" pitchFamily="34" charset="-128"/>
              </a:rPr>
              <a:t> +</a:t>
            </a:r>
            <a:r>
              <a:rPr lang="ja-GB" sz="1400" dirty="0">
                <a:solidFill>
                  <a:schemeClr val="accent5"/>
                </a:solidFill>
                <a:latin typeface="Yu Gothic UI" panose="020B0500000000000000" pitchFamily="34" charset="-128"/>
                <a:ea typeface="Yu Gothic UI" panose="020B0500000000000000" pitchFamily="34" charset="-128"/>
              </a:rPr>
              <a:t>5</a:t>
            </a:r>
            <a:r>
              <a:rPr lang="en-US" altLang="ja-GB" sz="1400" dirty="0">
                <a:solidFill>
                  <a:schemeClr val="accent5"/>
                </a:solidFill>
                <a:latin typeface="Yu Gothic UI" panose="020B0500000000000000" pitchFamily="34" charset="-128"/>
                <a:ea typeface="Yu Gothic UI" panose="020B0500000000000000" pitchFamily="34" charset="-128"/>
              </a:rPr>
              <a:t>=</a:t>
            </a:r>
            <a:r>
              <a:rPr lang="ja-GB" sz="1400" dirty="0">
                <a:solidFill>
                  <a:schemeClr val="accent5"/>
                </a:solidFill>
                <a:latin typeface="Yu Gothic UI" panose="020B0500000000000000" pitchFamily="34" charset="-128"/>
                <a:ea typeface="Yu Gothic UI" panose="020B0500000000000000" pitchFamily="34" charset="-128"/>
              </a:rPr>
              <a:t>8</a:t>
            </a:r>
          </a:p>
        </p:txBody>
      </p:sp>
      <p:sp>
        <p:nvSpPr>
          <p:cNvPr id="8" name="テキスト ボックス 7">
            <a:extLst>
              <a:ext uri="{FF2B5EF4-FFF2-40B4-BE49-F238E27FC236}">
                <a16:creationId xmlns:a16="http://schemas.microsoft.com/office/drawing/2014/main" id="{EDAAFD82-38BA-6125-0EF1-AE2DE180B4A7}"/>
              </a:ext>
            </a:extLst>
          </p:cNvPr>
          <p:cNvSpPr txBox="1"/>
          <p:nvPr/>
        </p:nvSpPr>
        <p:spPr>
          <a:xfrm>
            <a:off x="4640493" y="4932224"/>
            <a:ext cx="957313" cy="307777"/>
          </a:xfrm>
          <a:prstGeom prst="rect">
            <a:avLst/>
          </a:prstGeom>
          <a:noFill/>
        </p:spPr>
        <p:txBody>
          <a:bodyPr wrap="none" rtlCol="0">
            <a:spAutoFit/>
          </a:bodyPr>
          <a:lstStyle/>
          <a:p>
            <a:r>
              <a:rPr lang="ja-GB" sz="1400" dirty="0">
                <a:solidFill>
                  <a:schemeClr val="accent5"/>
                </a:solidFill>
                <a:latin typeface="Yu Gothic UI" panose="020B0500000000000000" pitchFamily="34" charset="-128"/>
                <a:ea typeface="Yu Gothic UI" panose="020B0500000000000000" pitchFamily="34" charset="-128"/>
              </a:rPr>
              <a:t>④8を記憶</a:t>
            </a:r>
          </a:p>
        </p:txBody>
      </p:sp>
      <p:sp>
        <p:nvSpPr>
          <p:cNvPr id="10" name="テキスト ボックス 9">
            <a:extLst>
              <a:ext uri="{FF2B5EF4-FFF2-40B4-BE49-F238E27FC236}">
                <a16:creationId xmlns:a16="http://schemas.microsoft.com/office/drawing/2014/main" id="{908901C7-42A4-609F-8449-307F82C5D6ED}"/>
              </a:ext>
            </a:extLst>
          </p:cNvPr>
          <p:cNvSpPr txBox="1"/>
          <p:nvPr/>
        </p:nvSpPr>
        <p:spPr>
          <a:xfrm>
            <a:off x="1760963" y="5897687"/>
            <a:ext cx="5549917" cy="430887"/>
          </a:xfrm>
          <a:prstGeom prst="rect">
            <a:avLst/>
          </a:prstGeom>
          <a:noFill/>
        </p:spPr>
        <p:txBody>
          <a:bodyPr wrap="none" rtlCol="0">
            <a:spAutoFit/>
          </a:bodyPr>
          <a:lstStyle/>
          <a:p>
            <a:pPr algn="ctr"/>
            <a:r>
              <a:rPr lang="ja-GB" sz="2200" b="1" dirty="0">
                <a:solidFill>
                  <a:schemeClr val="accent2"/>
                </a:solidFill>
                <a:latin typeface="Yu Gothic UI" panose="020B0500000000000000" pitchFamily="34" charset="-128"/>
                <a:ea typeface="Yu Gothic UI" panose="020B0500000000000000" pitchFamily="34" charset="-128"/>
              </a:rPr>
              <a:t>この装置があれば，様々な</a:t>
            </a:r>
            <a:r>
              <a:rPr lang="ja-GB" altLang="en-US" sz="2200" b="1" dirty="0">
                <a:solidFill>
                  <a:schemeClr val="accent2"/>
                </a:solidFill>
                <a:latin typeface="Yu Gothic UI" panose="020B0500000000000000" pitchFamily="34" charset="-128"/>
                <a:ea typeface="Yu Gothic UI" panose="020B0500000000000000" pitchFamily="34" charset="-128"/>
              </a:rPr>
              <a:t>仕事</a:t>
            </a:r>
            <a:r>
              <a:rPr lang="ja-GB" sz="2200" b="1" dirty="0">
                <a:solidFill>
                  <a:schemeClr val="accent2"/>
                </a:solidFill>
                <a:latin typeface="Yu Gothic UI" panose="020B0500000000000000" pitchFamily="34" charset="-128"/>
                <a:ea typeface="Yu Gothic UI" panose="020B0500000000000000" pitchFamily="34" charset="-128"/>
              </a:rPr>
              <a:t>を</a:t>
            </a:r>
            <a:r>
              <a:rPr lang="ja-GB" altLang="en-US" sz="2200" b="1" dirty="0">
                <a:solidFill>
                  <a:schemeClr val="accent2"/>
                </a:solidFill>
                <a:latin typeface="Yu Gothic UI" panose="020B0500000000000000" pitchFamily="34" charset="-128"/>
                <a:ea typeface="Yu Gothic UI" panose="020B0500000000000000" pitchFamily="34" charset="-128"/>
              </a:rPr>
              <a:t>自動化</a:t>
            </a:r>
            <a:r>
              <a:rPr lang="ja-GB" sz="2200" b="1" dirty="0">
                <a:solidFill>
                  <a:schemeClr val="accent2"/>
                </a:solidFill>
                <a:latin typeface="Yu Gothic UI" panose="020B0500000000000000" pitchFamily="34" charset="-128"/>
                <a:ea typeface="Yu Gothic UI" panose="020B0500000000000000" pitchFamily="34" charset="-128"/>
              </a:rPr>
              <a:t>できる</a:t>
            </a:r>
          </a:p>
        </p:txBody>
      </p:sp>
    </p:spTree>
    <p:extLst>
      <p:ext uri="{BB962C8B-B14F-4D97-AF65-F5344CB8AC3E}">
        <p14:creationId xmlns:p14="http://schemas.microsoft.com/office/powerpoint/2010/main" val="154980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166C-A7CE-4271-A23B-5A6857DF19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155DA8-4FC1-0887-3499-7451099B096D}"/>
              </a:ext>
            </a:extLst>
          </p:cNvPr>
          <p:cNvSpPr>
            <a:spLocks noGrp="1"/>
          </p:cNvSpPr>
          <p:nvPr>
            <p:ph type="title"/>
          </p:nvPr>
        </p:nvSpPr>
        <p:spPr/>
        <p:txBody>
          <a:bodyPr/>
          <a:lstStyle/>
          <a:p>
            <a:r>
              <a:rPr lang="ja-GB" altLang="en-US" dirty="0"/>
              <a:t>補足説明</a:t>
            </a:r>
            <a:endParaRPr kumimoji="1" lang="ja-GB" altLang="en-US" dirty="0"/>
          </a:p>
        </p:txBody>
      </p:sp>
      <p:sp>
        <p:nvSpPr>
          <p:cNvPr id="3" name="コンテンツ プレースホルダー 2">
            <a:extLst>
              <a:ext uri="{FF2B5EF4-FFF2-40B4-BE49-F238E27FC236}">
                <a16:creationId xmlns:a16="http://schemas.microsoft.com/office/drawing/2014/main" id="{1BB354F4-C34B-1A31-1CE4-4F59BED47E63}"/>
              </a:ext>
            </a:extLst>
          </p:cNvPr>
          <p:cNvSpPr>
            <a:spLocks noGrp="1"/>
          </p:cNvSpPr>
          <p:nvPr>
            <p:ph idx="1"/>
          </p:nvPr>
        </p:nvSpPr>
        <p:spPr/>
        <p:txBody>
          <a:bodyPr>
            <a:normAutofit/>
          </a:bodyPr>
          <a:lstStyle/>
          <a:p>
            <a:pPr marL="0" indent="0">
              <a:buNone/>
            </a:pPr>
            <a:r>
              <a:rPr lang="ja-GB" altLang="en-US" sz="1200" dirty="0">
                <a:solidFill>
                  <a:schemeClr val="tx1">
                    <a:lumMod val="65000"/>
                    <a:lumOff val="35000"/>
                  </a:schemeClr>
                </a:solidFill>
              </a:rPr>
              <a:t>自動で計算をする装置は図に示すようなハードウェア構成で実現できる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まず，計算をするは入力装置が必要．例えば，キーボードのようなもの</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そして，結果を出力する装置が必要．例えば，ディスプレイのようなもの</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当然，数値同士の足し算や掛け算など，演算を行う装置が必要．</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また，筆算をするときに書いておかないと分からなくなるように，計算過程の数値を覚えておくためのメモのような記憶装置が必要</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最後に，これらがバラバラにあっても自動で計算ができることにはならないので，これら</a:t>
            </a:r>
            <a:r>
              <a:rPr lang="en-US" altLang="ja-GB" sz="1200" dirty="0">
                <a:solidFill>
                  <a:schemeClr val="tx1">
                    <a:lumMod val="65000"/>
                    <a:lumOff val="35000"/>
                  </a:schemeClr>
                </a:solidFill>
              </a:rPr>
              <a:t>4</a:t>
            </a:r>
            <a:r>
              <a:rPr lang="ja-GB" altLang="en-US" sz="1200" dirty="0">
                <a:solidFill>
                  <a:schemeClr val="tx1">
                    <a:lumMod val="65000"/>
                    <a:lumOff val="35000"/>
                  </a:schemeClr>
                </a:solidFill>
              </a:rPr>
              <a:t>つの装置を連携させて動作させるための制御装置が必要</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これら</a:t>
            </a:r>
            <a:r>
              <a:rPr lang="en-US" altLang="ja-GB" sz="1200" dirty="0">
                <a:solidFill>
                  <a:schemeClr val="tx1">
                    <a:lumMod val="65000"/>
                    <a:lumOff val="35000"/>
                  </a:schemeClr>
                </a:solidFill>
              </a:rPr>
              <a:t>5</a:t>
            </a:r>
            <a:r>
              <a:rPr lang="ja-GB" altLang="en-US" sz="1200" dirty="0">
                <a:solidFill>
                  <a:schemeClr val="tx1">
                    <a:lumMod val="65000"/>
                    <a:lumOff val="35000"/>
                  </a:schemeClr>
                </a:solidFill>
              </a:rPr>
              <a:t>つの装置があれば，「計算」を自動実行する機械を作ることができる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例えば，</a:t>
            </a:r>
            <a:r>
              <a:rPr lang="en-US" altLang="ja-GB" sz="1200" dirty="0">
                <a:solidFill>
                  <a:schemeClr val="tx1">
                    <a:lumMod val="65000"/>
                    <a:lumOff val="35000"/>
                  </a:schemeClr>
                </a:solidFill>
              </a:rPr>
              <a:t>3+5</a:t>
            </a:r>
            <a:r>
              <a:rPr lang="ja-GB" altLang="en-US" sz="1200" dirty="0">
                <a:solidFill>
                  <a:schemeClr val="tx1">
                    <a:lumMod val="65000"/>
                    <a:lumOff val="35000"/>
                  </a:schemeClr>
                </a:solidFill>
              </a:rPr>
              <a:t>という演算を考える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入力装置で数値と行いたい演算を入力する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記憶装置に入力情報が記憶される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記憶した情報に基づいて，演算装置で足し算されて，その結果が導出される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導出された結果は記憶装置に記憶される</a:t>
            </a:r>
            <a:endParaRPr lang="en-US" altLang="ja-GB" sz="1200" dirty="0">
              <a:solidFill>
                <a:schemeClr val="tx1">
                  <a:lumMod val="65000"/>
                  <a:lumOff val="35000"/>
                </a:schemeClr>
              </a:solidFill>
            </a:endParaRPr>
          </a:p>
          <a:p>
            <a:pPr>
              <a:buAutoNum type="arabicPeriod"/>
            </a:pPr>
            <a:r>
              <a:rPr lang="ja-GB" altLang="en-US" sz="1200" dirty="0">
                <a:solidFill>
                  <a:schemeClr val="tx1">
                    <a:lumMod val="65000"/>
                    <a:lumOff val="35000"/>
                  </a:schemeClr>
                </a:solidFill>
              </a:rPr>
              <a:t>最後に，その結果がディスプレイから出力される</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制御装置はこれら一連の動作を自動で取り持ってくれる</a:t>
            </a:r>
            <a:endParaRPr lang="en-US" altLang="ja-GB" sz="1200" dirty="0">
              <a:solidFill>
                <a:schemeClr val="tx1">
                  <a:lumMod val="65000"/>
                  <a:lumOff val="35000"/>
                </a:schemeClr>
              </a:solidFill>
            </a:endParaRPr>
          </a:p>
          <a:p>
            <a:pPr marL="0" indent="0">
              <a:buNone/>
            </a:pPr>
            <a:endParaRPr lang="en-US" altLang="ja-JP"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このように，</a:t>
            </a:r>
            <a:r>
              <a:rPr lang="en-US" altLang="ja-GB" sz="1200" dirty="0">
                <a:solidFill>
                  <a:schemeClr val="tx1">
                    <a:lumMod val="65000"/>
                    <a:lumOff val="35000"/>
                  </a:schemeClr>
                </a:solidFill>
              </a:rPr>
              <a:t>5</a:t>
            </a:r>
            <a:r>
              <a:rPr lang="ja-GB" altLang="en-US" sz="1200" dirty="0">
                <a:solidFill>
                  <a:schemeClr val="tx1">
                    <a:lumMod val="65000"/>
                    <a:lumOff val="35000"/>
                  </a:schemeClr>
                </a:solidFill>
              </a:rPr>
              <a:t>つの装置があれば計算は人間が介在することなく自動で実行される．</a:t>
            </a:r>
            <a:endParaRPr lang="en-US" altLang="ja-GB" sz="1200" dirty="0">
              <a:solidFill>
                <a:schemeClr val="tx1">
                  <a:lumMod val="65000"/>
                  <a:lumOff val="35000"/>
                </a:schemeClr>
              </a:solidFill>
            </a:endParaRPr>
          </a:p>
          <a:p>
            <a:pPr marL="0" indent="0">
              <a:buNone/>
            </a:pPr>
            <a:r>
              <a:rPr lang="ja-GB" altLang="en-US" sz="1200" dirty="0">
                <a:solidFill>
                  <a:schemeClr val="tx1">
                    <a:lumMod val="65000"/>
                    <a:lumOff val="35000"/>
                  </a:schemeClr>
                </a:solidFill>
              </a:rPr>
              <a:t>これまでをまとめると，計算機とはこのようなもので，「自動で計算する機械」である．そして，これがあれば色々な仕事ができる</a:t>
            </a:r>
            <a:endParaRPr lang="ja-JP" altLang="en-US" sz="1200">
              <a:solidFill>
                <a:schemeClr val="tx1">
                  <a:lumMod val="65000"/>
                  <a:lumOff val="35000"/>
                </a:schemeClr>
              </a:solidFill>
            </a:endParaRPr>
          </a:p>
        </p:txBody>
      </p:sp>
    </p:spTree>
    <p:extLst>
      <p:ext uri="{BB962C8B-B14F-4D97-AF65-F5344CB8AC3E}">
        <p14:creationId xmlns:p14="http://schemas.microsoft.com/office/powerpoint/2010/main" val="2874614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65E2-EF24-92EF-E3E9-1F3F2F0D10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52653D-B85A-485B-A589-43ECBA6DF5A6}"/>
              </a:ext>
            </a:extLst>
          </p:cNvPr>
          <p:cNvSpPr>
            <a:spLocks noGrp="1"/>
          </p:cNvSpPr>
          <p:nvPr>
            <p:ph type="title"/>
          </p:nvPr>
        </p:nvSpPr>
        <p:spPr/>
        <p:txBody>
          <a:bodyPr>
            <a:normAutofit/>
          </a:bodyPr>
          <a:lstStyle/>
          <a:p>
            <a:r>
              <a:rPr lang="ja-GB" dirty="0"/>
              <a:t>計算機で画像を表示する仕組み</a:t>
            </a:r>
          </a:p>
        </p:txBody>
      </p:sp>
      <p:sp>
        <p:nvSpPr>
          <p:cNvPr id="3" name="コンテンツ プレースホルダー 2">
            <a:extLst>
              <a:ext uri="{FF2B5EF4-FFF2-40B4-BE49-F238E27FC236}">
                <a16:creationId xmlns:a16="http://schemas.microsoft.com/office/drawing/2014/main" id="{1E4C01EC-B6CC-16B2-5AA8-231CD0B30245}"/>
              </a:ext>
            </a:extLst>
          </p:cNvPr>
          <p:cNvSpPr>
            <a:spLocks noGrp="1"/>
          </p:cNvSpPr>
          <p:nvPr>
            <p:ph idx="1"/>
          </p:nvPr>
        </p:nvSpPr>
        <p:spPr/>
        <p:txBody>
          <a:bodyPr/>
          <a:lstStyle/>
          <a:p>
            <a:pPr marL="0" indent="0">
              <a:buNone/>
            </a:pPr>
            <a:r>
              <a:rPr lang="ja-GB" dirty="0"/>
              <a:t>画像をたくさんの数値が縦横に並んだ情報として出力する</a:t>
            </a:r>
          </a:p>
          <a:p>
            <a:pPr lvl="1"/>
            <a:endParaRPr lang="en-US" dirty="0"/>
          </a:p>
        </p:txBody>
      </p:sp>
      <p:sp>
        <p:nvSpPr>
          <p:cNvPr id="32" name="正方形/長方形 31">
            <a:extLst>
              <a:ext uri="{FF2B5EF4-FFF2-40B4-BE49-F238E27FC236}">
                <a16:creationId xmlns:a16="http://schemas.microsoft.com/office/drawing/2014/main" id="{52D84B71-D254-110D-C10B-8DB662227C9A}"/>
              </a:ext>
            </a:extLst>
          </p:cNvPr>
          <p:cNvSpPr/>
          <p:nvPr/>
        </p:nvSpPr>
        <p:spPr>
          <a:xfrm>
            <a:off x="5324042" y="1291557"/>
            <a:ext cx="1810405"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31" name="正方形/長方形 30">
            <a:extLst>
              <a:ext uri="{FF2B5EF4-FFF2-40B4-BE49-F238E27FC236}">
                <a16:creationId xmlns:a16="http://schemas.microsoft.com/office/drawing/2014/main" id="{B59DA015-A30F-E69F-3A0B-FF18D7A8575A}"/>
              </a:ext>
            </a:extLst>
          </p:cNvPr>
          <p:cNvSpPr/>
          <p:nvPr/>
        </p:nvSpPr>
        <p:spPr>
          <a:xfrm>
            <a:off x="1782548" y="1291557"/>
            <a:ext cx="2368851"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grpSp>
        <p:nvGrpSpPr>
          <p:cNvPr id="9" name="グループ化 8">
            <a:extLst>
              <a:ext uri="{FF2B5EF4-FFF2-40B4-BE49-F238E27FC236}">
                <a16:creationId xmlns:a16="http://schemas.microsoft.com/office/drawing/2014/main" id="{F394D6CC-509D-522C-B577-8BA76DED2979}"/>
              </a:ext>
            </a:extLst>
          </p:cNvPr>
          <p:cNvGrpSpPr/>
          <p:nvPr/>
        </p:nvGrpSpPr>
        <p:grpSpPr>
          <a:xfrm>
            <a:off x="2204403" y="5699187"/>
            <a:ext cx="4735194" cy="1077649"/>
            <a:chOff x="2204403" y="4077777"/>
            <a:chExt cx="4735194" cy="1077649"/>
          </a:xfrm>
        </p:grpSpPr>
        <p:sp>
          <p:nvSpPr>
            <p:cNvPr id="4" name="テキスト ボックス 3">
              <a:extLst>
                <a:ext uri="{FF2B5EF4-FFF2-40B4-BE49-F238E27FC236}">
                  <a16:creationId xmlns:a16="http://schemas.microsoft.com/office/drawing/2014/main" id="{687E2890-A22C-4E2F-576D-F696A80FE7FF}"/>
                </a:ext>
              </a:extLst>
            </p:cNvPr>
            <p:cNvSpPr txBox="1"/>
            <p:nvPr/>
          </p:nvSpPr>
          <p:spPr>
            <a:xfrm>
              <a:off x="4018002" y="478609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2F2523"/>
                  </a:solidFill>
                </a:rPr>
                <a:t>制御装置</a:t>
              </a:r>
            </a:p>
          </p:txBody>
        </p:sp>
        <p:sp>
          <p:nvSpPr>
            <p:cNvPr id="7" name="テキスト ボックス 6">
              <a:extLst>
                <a:ext uri="{FF2B5EF4-FFF2-40B4-BE49-F238E27FC236}">
                  <a16:creationId xmlns:a16="http://schemas.microsoft.com/office/drawing/2014/main" id="{079748A8-E738-51A1-B801-F825D4FFDA3E}"/>
                </a:ext>
              </a:extLst>
            </p:cNvPr>
            <p:cNvSpPr txBox="1"/>
            <p:nvPr/>
          </p:nvSpPr>
          <p:spPr>
            <a:xfrm>
              <a:off x="2204403"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50000"/>
                      <a:lumOff val="50000"/>
                    </a:schemeClr>
                  </a:solidFill>
                </a:rPr>
                <a:t>入力装置</a:t>
              </a:r>
            </a:p>
          </p:txBody>
        </p:sp>
        <p:sp>
          <p:nvSpPr>
            <p:cNvPr id="8" name="テキスト ボックス 7">
              <a:extLst>
                <a:ext uri="{FF2B5EF4-FFF2-40B4-BE49-F238E27FC236}">
                  <a16:creationId xmlns:a16="http://schemas.microsoft.com/office/drawing/2014/main" id="{285E6CF5-7925-F9EB-C2A0-656C67493EE5}"/>
                </a:ext>
              </a:extLst>
            </p:cNvPr>
            <p:cNvSpPr txBox="1"/>
            <p:nvPr/>
          </p:nvSpPr>
          <p:spPr>
            <a:xfrm>
              <a:off x="5831601"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0070C0"/>
                  </a:solidFill>
                </a:rPr>
                <a:t>出力装置</a:t>
              </a:r>
            </a:p>
          </p:txBody>
        </p:sp>
        <p:cxnSp>
          <p:nvCxnSpPr>
            <p:cNvPr id="13" name="直線矢印コネクタ 12">
              <a:extLst>
                <a:ext uri="{FF2B5EF4-FFF2-40B4-BE49-F238E27FC236}">
                  <a16:creationId xmlns:a16="http://schemas.microsoft.com/office/drawing/2014/main" id="{4ADAA53E-A0D5-44F7-C421-CE9E48792B46}"/>
                </a:ext>
              </a:extLst>
            </p:cNvPr>
            <p:cNvCxnSpPr>
              <a:cxnSpLocks/>
            </p:cNvCxnSpPr>
            <p:nvPr/>
          </p:nvCxnSpPr>
          <p:spPr>
            <a:xfrm>
              <a:off x="5125998"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778054A1-C3A5-916D-F499-420B0B6AB1A8}"/>
                </a:ext>
              </a:extLst>
            </p:cNvPr>
            <p:cNvCxnSpPr>
              <a:cxnSpLocks/>
              <a:stCxn id="4" idx="3"/>
              <a:endCxn id="8" idx="2"/>
            </p:cNvCxnSpPr>
            <p:nvPr/>
          </p:nvCxnSpPr>
          <p:spPr>
            <a:xfrm flipV="1">
              <a:off x="5125998" y="4447109"/>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2EDC55A4-7561-1A57-6360-C97EE692AFC9}"/>
                </a:ext>
              </a:extLst>
            </p:cNvPr>
            <p:cNvCxnSpPr>
              <a:cxnSpLocks/>
              <a:stCxn id="4" idx="0"/>
              <a:endCxn id="6" idx="2"/>
            </p:cNvCxnSpPr>
            <p:nvPr/>
          </p:nvCxnSpPr>
          <p:spPr>
            <a:xfrm flipV="1">
              <a:off x="4572000" y="4447109"/>
              <a:ext cx="0" cy="338985"/>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491AF814-8EF1-14DF-1774-DF2CAC9A87BB}"/>
                </a:ext>
              </a:extLst>
            </p:cNvPr>
            <p:cNvSpPr txBox="1"/>
            <p:nvPr/>
          </p:nvSpPr>
          <p:spPr>
            <a:xfrm>
              <a:off x="4018002"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0070C0"/>
                  </a:solidFill>
                </a:rPr>
                <a:t>記憶装置</a:t>
              </a:r>
            </a:p>
          </p:txBody>
        </p:sp>
      </p:grpSp>
      <p:sp>
        <p:nvSpPr>
          <p:cNvPr id="11" name="テキスト ボックス 10">
            <a:extLst>
              <a:ext uri="{FF2B5EF4-FFF2-40B4-BE49-F238E27FC236}">
                <a16:creationId xmlns:a16="http://schemas.microsoft.com/office/drawing/2014/main" id="{C668DF61-1D52-6041-FA38-A5868DDBD698}"/>
              </a:ext>
            </a:extLst>
          </p:cNvPr>
          <p:cNvSpPr txBox="1"/>
          <p:nvPr/>
        </p:nvSpPr>
        <p:spPr>
          <a:xfrm>
            <a:off x="1897375" y="1374602"/>
            <a:ext cx="2194416" cy="1569660"/>
          </a:xfrm>
          <a:prstGeom prst="rect">
            <a:avLst/>
          </a:prstGeom>
          <a:noFill/>
        </p:spPr>
        <p:txBody>
          <a:bodyPr wrap="square" rtlCol="0">
            <a:spAutoFit/>
          </a:bodyPr>
          <a:lstStyle/>
          <a:p>
            <a:pPr algn="ctr"/>
            <a:r>
              <a:rPr lang="ja-GB" sz="1200" b="0" i="0" dirty="0">
                <a:solidFill>
                  <a:srgbClr val="0D0D0D"/>
                </a:solidFill>
                <a:effectLst/>
                <a:latin typeface="ui-monospace"/>
              </a:rPr>
              <a:t>0   0   1   1   1   1   0   0 </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1   0   0   0   0   0   0   1</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1   0   0   1   1   0   0   1</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0   0   1   1   1   1   0   0</a:t>
            </a:r>
            <a:endParaRPr lang="ja-GB" sz="1200" dirty="0"/>
          </a:p>
        </p:txBody>
      </p:sp>
      <p:pic>
        <p:nvPicPr>
          <p:cNvPr id="12" name="Picture 2" descr="プロット">
            <a:extLst>
              <a:ext uri="{FF2B5EF4-FFF2-40B4-BE49-F238E27FC236}">
                <a16:creationId xmlns:a16="http://schemas.microsoft.com/office/drawing/2014/main" id="{D7515B95-4408-2859-D2A6-E5BEB4111D2A}"/>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474639" y="1429789"/>
            <a:ext cx="1525868" cy="1459285"/>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直線矢印コネクタ 20">
            <a:extLst>
              <a:ext uri="{FF2B5EF4-FFF2-40B4-BE49-F238E27FC236}">
                <a16:creationId xmlns:a16="http://schemas.microsoft.com/office/drawing/2014/main" id="{B559BEEE-DEC5-96C4-C31F-A6494E85BF44}"/>
              </a:ext>
            </a:extLst>
          </p:cNvPr>
          <p:cNvCxnSpPr>
            <a:cxnSpLocks/>
          </p:cNvCxnSpPr>
          <p:nvPr/>
        </p:nvCxnSpPr>
        <p:spPr>
          <a:xfrm>
            <a:off x="4192254" y="2159431"/>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0429657D-09C2-9DB6-419E-6F90A294293F}"/>
              </a:ext>
            </a:extLst>
          </p:cNvPr>
          <p:cNvCxnSpPr>
            <a:cxnSpLocks/>
            <a:stCxn id="31" idx="2"/>
            <a:endCxn id="6" idx="0"/>
          </p:cNvCxnSpPr>
          <p:nvPr/>
        </p:nvCxnSpPr>
        <p:spPr>
          <a:xfrm>
            <a:off x="2966974" y="4763332"/>
            <a:ext cx="1605026" cy="935855"/>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1EC281BE-CE9E-BA17-F459-31A3A2726239}"/>
              </a:ext>
            </a:extLst>
          </p:cNvPr>
          <p:cNvCxnSpPr>
            <a:cxnSpLocks/>
            <a:stCxn id="32" idx="2"/>
            <a:endCxn id="8" idx="0"/>
          </p:cNvCxnSpPr>
          <p:nvPr/>
        </p:nvCxnSpPr>
        <p:spPr>
          <a:xfrm>
            <a:off x="6229245" y="4763332"/>
            <a:ext cx="156354" cy="935855"/>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433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883D-6384-6514-C193-7BF827827E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BBA59E-A296-552E-6A2B-AF09A243203E}"/>
              </a:ext>
            </a:extLst>
          </p:cNvPr>
          <p:cNvSpPr>
            <a:spLocks noGrp="1"/>
          </p:cNvSpPr>
          <p:nvPr>
            <p:ph type="title"/>
          </p:nvPr>
        </p:nvSpPr>
        <p:spPr/>
        <p:txBody>
          <a:bodyPr>
            <a:normAutofit/>
          </a:bodyPr>
          <a:lstStyle/>
          <a:p>
            <a:r>
              <a:rPr lang="ja-GB" dirty="0"/>
              <a:t>計算機で画像を表示する仕組み</a:t>
            </a:r>
          </a:p>
        </p:txBody>
      </p:sp>
      <p:sp>
        <p:nvSpPr>
          <p:cNvPr id="3" name="コンテンツ プレースホルダー 2">
            <a:extLst>
              <a:ext uri="{FF2B5EF4-FFF2-40B4-BE49-F238E27FC236}">
                <a16:creationId xmlns:a16="http://schemas.microsoft.com/office/drawing/2014/main" id="{59FEC8C3-BAC2-3EEC-52A3-B9D83E5C58A6}"/>
              </a:ext>
            </a:extLst>
          </p:cNvPr>
          <p:cNvSpPr>
            <a:spLocks noGrp="1"/>
          </p:cNvSpPr>
          <p:nvPr>
            <p:ph idx="1"/>
          </p:nvPr>
        </p:nvSpPr>
        <p:spPr/>
        <p:txBody>
          <a:bodyPr/>
          <a:lstStyle/>
          <a:p>
            <a:pPr marL="0" indent="0">
              <a:buNone/>
            </a:pPr>
            <a:r>
              <a:rPr lang="ja-GB" dirty="0"/>
              <a:t>画像をたくさんの数値が縦横に並んだ情報として出力する</a:t>
            </a:r>
          </a:p>
          <a:p>
            <a:pPr lvl="1"/>
            <a:endParaRPr lang="en-US" dirty="0"/>
          </a:p>
        </p:txBody>
      </p:sp>
      <p:sp>
        <p:nvSpPr>
          <p:cNvPr id="32" name="正方形/長方形 31">
            <a:extLst>
              <a:ext uri="{FF2B5EF4-FFF2-40B4-BE49-F238E27FC236}">
                <a16:creationId xmlns:a16="http://schemas.microsoft.com/office/drawing/2014/main" id="{25D42FAD-A539-53DB-9736-296E1F91AC16}"/>
              </a:ext>
            </a:extLst>
          </p:cNvPr>
          <p:cNvSpPr/>
          <p:nvPr/>
        </p:nvSpPr>
        <p:spPr>
          <a:xfrm>
            <a:off x="5324042" y="1291557"/>
            <a:ext cx="1810405"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31" name="正方形/長方形 30">
            <a:extLst>
              <a:ext uri="{FF2B5EF4-FFF2-40B4-BE49-F238E27FC236}">
                <a16:creationId xmlns:a16="http://schemas.microsoft.com/office/drawing/2014/main" id="{8187C74B-937B-7EB6-7B9E-DABEE7978CBB}"/>
              </a:ext>
            </a:extLst>
          </p:cNvPr>
          <p:cNvSpPr/>
          <p:nvPr/>
        </p:nvSpPr>
        <p:spPr>
          <a:xfrm>
            <a:off x="1782548" y="1291557"/>
            <a:ext cx="2368851" cy="34717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grpSp>
        <p:nvGrpSpPr>
          <p:cNvPr id="9" name="グループ化 8">
            <a:extLst>
              <a:ext uri="{FF2B5EF4-FFF2-40B4-BE49-F238E27FC236}">
                <a16:creationId xmlns:a16="http://schemas.microsoft.com/office/drawing/2014/main" id="{6B94685B-1ACF-C78E-DAC0-A2AD7B77E4B4}"/>
              </a:ext>
            </a:extLst>
          </p:cNvPr>
          <p:cNvGrpSpPr/>
          <p:nvPr/>
        </p:nvGrpSpPr>
        <p:grpSpPr>
          <a:xfrm>
            <a:off x="2204403" y="5699187"/>
            <a:ext cx="4735194" cy="1077649"/>
            <a:chOff x="2204403" y="4077777"/>
            <a:chExt cx="4735194" cy="1077649"/>
          </a:xfrm>
        </p:grpSpPr>
        <p:sp>
          <p:nvSpPr>
            <p:cNvPr id="4" name="テキスト ボックス 3">
              <a:extLst>
                <a:ext uri="{FF2B5EF4-FFF2-40B4-BE49-F238E27FC236}">
                  <a16:creationId xmlns:a16="http://schemas.microsoft.com/office/drawing/2014/main" id="{589CC2E2-2068-26D0-F294-F1CE5530F845}"/>
                </a:ext>
              </a:extLst>
            </p:cNvPr>
            <p:cNvSpPr txBox="1"/>
            <p:nvPr/>
          </p:nvSpPr>
          <p:spPr>
            <a:xfrm>
              <a:off x="4018002" y="478609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2F2523"/>
                  </a:solidFill>
                </a:rPr>
                <a:t>制御装置</a:t>
              </a:r>
            </a:p>
          </p:txBody>
        </p:sp>
        <p:sp>
          <p:nvSpPr>
            <p:cNvPr id="7" name="テキスト ボックス 6">
              <a:extLst>
                <a:ext uri="{FF2B5EF4-FFF2-40B4-BE49-F238E27FC236}">
                  <a16:creationId xmlns:a16="http://schemas.microsoft.com/office/drawing/2014/main" id="{1FF468AD-2257-5DCB-FA4B-55FA07CE5166}"/>
                </a:ext>
              </a:extLst>
            </p:cNvPr>
            <p:cNvSpPr txBox="1"/>
            <p:nvPr/>
          </p:nvSpPr>
          <p:spPr>
            <a:xfrm>
              <a:off x="2204403"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chemeClr val="tx1">
                      <a:lumMod val="50000"/>
                      <a:lumOff val="50000"/>
                    </a:schemeClr>
                  </a:solidFill>
                </a:rPr>
                <a:t>入力装置</a:t>
              </a:r>
            </a:p>
          </p:txBody>
        </p:sp>
        <p:sp>
          <p:nvSpPr>
            <p:cNvPr id="8" name="テキスト ボックス 7">
              <a:extLst>
                <a:ext uri="{FF2B5EF4-FFF2-40B4-BE49-F238E27FC236}">
                  <a16:creationId xmlns:a16="http://schemas.microsoft.com/office/drawing/2014/main" id="{075C92E7-D65C-54C9-532F-FE1ECB7DD4C8}"/>
                </a:ext>
              </a:extLst>
            </p:cNvPr>
            <p:cNvSpPr txBox="1"/>
            <p:nvPr/>
          </p:nvSpPr>
          <p:spPr>
            <a:xfrm>
              <a:off x="5831601"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0070C0"/>
                  </a:solidFill>
                </a:rPr>
                <a:t>出力装置</a:t>
              </a:r>
            </a:p>
          </p:txBody>
        </p:sp>
        <p:cxnSp>
          <p:nvCxnSpPr>
            <p:cNvPr id="13" name="直線矢印コネクタ 12">
              <a:extLst>
                <a:ext uri="{FF2B5EF4-FFF2-40B4-BE49-F238E27FC236}">
                  <a16:creationId xmlns:a16="http://schemas.microsoft.com/office/drawing/2014/main" id="{460F99E4-D503-48C0-D5B9-A23EFA3DC127}"/>
                </a:ext>
              </a:extLst>
            </p:cNvPr>
            <p:cNvCxnSpPr>
              <a:cxnSpLocks/>
            </p:cNvCxnSpPr>
            <p:nvPr/>
          </p:nvCxnSpPr>
          <p:spPr>
            <a:xfrm>
              <a:off x="5125998"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5D62FC4E-1389-45AF-FD69-C9744A7E41EE}"/>
                </a:ext>
              </a:extLst>
            </p:cNvPr>
            <p:cNvCxnSpPr>
              <a:cxnSpLocks/>
              <a:stCxn id="4" idx="3"/>
              <a:endCxn id="8" idx="2"/>
            </p:cNvCxnSpPr>
            <p:nvPr/>
          </p:nvCxnSpPr>
          <p:spPr>
            <a:xfrm flipV="1">
              <a:off x="5125998" y="4447109"/>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82DDDE78-CE7E-79CF-4360-6BDA42D31F26}"/>
                </a:ext>
              </a:extLst>
            </p:cNvPr>
            <p:cNvCxnSpPr>
              <a:cxnSpLocks/>
              <a:stCxn id="4" idx="0"/>
              <a:endCxn id="6" idx="2"/>
            </p:cNvCxnSpPr>
            <p:nvPr/>
          </p:nvCxnSpPr>
          <p:spPr>
            <a:xfrm flipV="1">
              <a:off x="4572000" y="4447109"/>
              <a:ext cx="0" cy="338985"/>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DBD3784B-D6EF-6871-F593-295AB8255509}"/>
                </a:ext>
              </a:extLst>
            </p:cNvPr>
            <p:cNvSpPr txBox="1"/>
            <p:nvPr/>
          </p:nvSpPr>
          <p:spPr>
            <a:xfrm>
              <a:off x="4018002"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solidFill>
                    <a:srgbClr val="0070C0"/>
                  </a:solidFill>
                </a:rPr>
                <a:t>記憶装置</a:t>
              </a:r>
            </a:p>
          </p:txBody>
        </p:sp>
      </p:grpSp>
      <p:sp>
        <p:nvSpPr>
          <p:cNvPr id="11" name="テキスト ボックス 10">
            <a:extLst>
              <a:ext uri="{FF2B5EF4-FFF2-40B4-BE49-F238E27FC236}">
                <a16:creationId xmlns:a16="http://schemas.microsoft.com/office/drawing/2014/main" id="{E52E74E5-CB08-E254-FF6C-8FAB79A6BD94}"/>
              </a:ext>
            </a:extLst>
          </p:cNvPr>
          <p:cNvSpPr txBox="1"/>
          <p:nvPr/>
        </p:nvSpPr>
        <p:spPr>
          <a:xfrm>
            <a:off x="1897375" y="1374602"/>
            <a:ext cx="2194416" cy="1569660"/>
          </a:xfrm>
          <a:prstGeom prst="rect">
            <a:avLst/>
          </a:prstGeom>
          <a:noFill/>
        </p:spPr>
        <p:txBody>
          <a:bodyPr wrap="square" rtlCol="0">
            <a:spAutoFit/>
          </a:bodyPr>
          <a:lstStyle/>
          <a:p>
            <a:pPr algn="ctr"/>
            <a:r>
              <a:rPr lang="ja-GB" sz="1200" b="0" i="0" dirty="0">
                <a:solidFill>
                  <a:srgbClr val="0D0D0D"/>
                </a:solidFill>
                <a:effectLst/>
                <a:latin typeface="ui-monospace"/>
              </a:rPr>
              <a:t>0   0   1   1   1   1   0   0 </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1   0   0   0   0   0   0   1</a:t>
            </a:r>
          </a:p>
          <a:p>
            <a:pPr algn="ctr"/>
            <a:r>
              <a:rPr lang="ja-GB" sz="1200" b="0" i="0" dirty="0">
                <a:solidFill>
                  <a:srgbClr val="0D0D0D"/>
                </a:solidFill>
                <a:effectLst/>
                <a:latin typeface="ui-monospace"/>
              </a:rPr>
              <a:t>1   0   1   0   0   1   0   1</a:t>
            </a:r>
          </a:p>
          <a:p>
            <a:pPr algn="ctr"/>
            <a:r>
              <a:rPr lang="ja-GB" sz="1200" b="0" i="0" dirty="0">
                <a:solidFill>
                  <a:srgbClr val="0D0D0D"/>
                </a:solidFill>
                <a:effectLst/>
                <a:latin typeface="ui-monospace"/>
              </a:rPr>
              <a:t>1   0   0   1   1   0   0   1</a:t>
            </a:r>
          </a:p>
          <a:p>
            <a:pPr algn="ctr"/>
            <a:r>
              <a:rPr lang="ja-GB" sz="1200" b="0" i="0" dirty="0">
                <a:solidFill>
                  <a:srgbClr val="0D0D0D"/>
                </a:solidFill>
                <a:effectLst/>
                <a:latin typeface="ui-monospace"/>
              </a:rPr>
              <a:t>0   1   0   0   0   0   1   0</a:t>
            </a:r>
          </a:p>
          <a:p>
            <a:pPr algn="ctr"/>
            <a:r>
              <a:rPr lang="ja-GB" sz="1200" b="0" i="0" dirty="0">
                <a:solidFill>
                  <a:srgbClr val="0D0D0D"/>
                </a:solidFill>
                <a:effectLst/>
                <a:latin typeface="ui-monospace"/>
              </a:rPr>
              <a:t>0   0   1   1   1   1   0   0</a:t>
            </a:r>
            <a:endParaRPr lang="ja-GB" sz="1200" dirty="0"/>
          </a:p>
        </p:txBody>
      </p:sp>
      <p:pic>
        <p:nvPicPr>
          <p:cNvPr id="12" name="Picture 2" descr="プロット">
            <a:extLst>
              <a:ext uri="{FF2B5EF4-FFF2-40B4-BE49-F238E27FC236}">
                <a16:creationId xmlns:a16="http://schemas.microsoft.com/office/drawing/2014/main" id="{5DBFED28-4645-7AC1-1943-23BFFA5346AB}"/>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474639" y="1429789"/>
            <a:ext cx="1525868" cy="1459285"/>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直線矢印コネクタ 20">
            <a:extLst>
              <a:ext uri="{FF2B5EF4-FFF2-40B4-BE49-F238E27FC236}">
                <a16:creationId xmlns:a16="http://schemas.microsoft.com/office/drawing/2014/main" id="{A7D86755-8655-563B-859E-59410A88E420}"/>
              </a:ext>
            </a:extLst>
          </p:cNvPr>
          <p:cNvCxnSpPr>
            <a:cxnSpLocks/>
          </p:cNvCxnSpPr>
          <p:nvPr/>
        </p:nvCxnSpPr>
        <p:spPr>
          <a:xfrm>
            <a:off x="4192254" y="2159431"/>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CE5C5825-4698-4AD0-AD38-2F7B65A723D8}"/>
              </a:ext>
            </a:extLst>
          </p:cNvPr>
          <p:cNvSpPr txBox="1"/>
          <p:nvPr/>
        </p:nvSpPr>
        <p:spPr>
          <a:xfrm>
            <a:off x="1833744" y="3109260"/>
            <a:ext cx="2317656" cy="1569660"/>
          </a:xfrm>
          <a:prstGeom prst="rect">
            <a:avLst/>
          </a:prstGeom>
          <a:noFill/>
        </p:spPr>
        <p:txBody>
          <a:bodyPr wrap="square" rtlCol="0">
            <a:spAutoFit/>
          </a:bodyPr>
          <a:lstStyle/>
          <a:p>
            <a:pPr algn="l"/>
            <a:r>
              <a:rPr lang="en-GB" sz="1200" dirty="0">
                <a:solidFill>
                  <a:srgbClr val="000000"/>
                </a:solidFill>
                <a:latin typeface="ui-monospace"/>
              </a:rPr>
              <a:t>00</a:t>
            </a:r>
            <a:r>
              <a:rPr lang="en-GB" sz="1200" b="0" i="0" dirty="0">
                <a:solidFill>
                  <a:srgbClr val="000000"/>
                </a:solidFill>
                <a:effectLst/>
                <a:latin typeface="ui-monospace"/>
              </a:rPr>
              <a:t>0 030 060 090 120 150 180 210 </a:t>
            </a:r>
          </a:p>
          <a:p>
            <a:pPr algn="l"/>
            <a:r>
              <a:rPr lang="en-GB" sz="1200" dirty="0">
                <a:solidFill>
                  <a:srgbClr val="000000"/>
                </a:solidFill>
                <a:latin typeface="ui-monospace"/>
              </a:rPr>
              <a:t>0</a:t>
            </a:r>
            <a:r>
              <a:rPr lang="en-GB" sz="1200" b="0" i="0" dirty="0">
                <a:solidFill>
                  <a:srgbClr val="000000"/>
                </a:solidFill>
                <a:effectLst/>
                <a:latin typeface="ui-monospace"/>
              </a:rPr>
              <a:t>30 060 090 120 150 180 210 240 </a:t>
            </a:r>
          </a:p>
          <a:p>
            <a:pPr algn="l"/>
            <a:r>
              <a:rPr lang="en-GB" sz="1200" dirty="0">
                <a:solidFill>
                  <a:srgbClr val="000000"/>
                </a:solidFill>
                <a:latin typeface="ui-monospace"/>
              </a:rPr>
              <a:t>0</a:t>
            </a:r>
            <a:r>
              <a:rPr lang="en-GB" sz="1200" b="0" i="0" dirty="0">
                <a:solidFill>
                  <a:srgbClr val="000000"/>
                </a:solidFill>
                <a:effectLst/>
                <a:latin typeface="ui-monospace"/>
              </a:rPr>
              <a:t>60 090 120 150 180 210 240 255 </a:t>
            </a:r>
          </a:p>
          <a:p>
            <a:pPr algn="l"/>
            <a:r>
              <a:rPr lang="en-GB" sz="1200" dirty="0">
                <a:solidFill>
                  <a:srgbClr val="000000"/>
                </a:solidFill>
                <a:latin typeface="ui-monospace"/>
              </a:rPr>
              <a:t>0</a:t>
            </a:r>
            <a:r>
              <a:rPr lang="en-GB" sz="1200" b="0" i="0" dirty="0">
                <a:solidFill>
                  <a:srgbClr val="000000"/>
                </a:solidFill>
                <a:effectLst/>
                <a:latin typeface="ui-monospace"/>
              </a:rPr>
              <a:t>90 120 150 180 210 240 255 225 </a:t>
            </a:r>
          </a:p>
          <a:p>
            <a:pPr algn="l"/>
            <a:r>
              <a:rPr lang="en-GB" sz="1200" b="0" i="0" dirty="0">
                <a:solidFill>
                  <a:srgbClr val="000000"/>
                </a:solidFill>
                <a:effectLst/>
                <a:latin typeface="ui-monospace"/>
              </a:rPr>
              <a:t>120 150 180 210 240 255 225 195 </a:t>
            </a:r>
          </a:p>
          <a:p>
            <a:pPr algn="l"/>
            <a:r>
              <a:rPr lang="en-GB" sz="1200" b="0" i="0" dirty="0">
                <a:solidFill>
                  <a:srgbClr val="000000"/>
                </a:solidFill>
                <a:effectLst/>
                <a:latin typeface="ui-monospace"/>
              </a:rPr>
              <a:t>150 180 210 240 255 225 195 165 </a:t>
            </a:r>
          </a:p>
          <a:p>
            <a:pPr algn="l"/>
            <a:r>
              <a:rPr lang="en-GB" sz="1200" b="0" i="0" dirty="0">
                <a:solidFill>
                  <a:srgbClr val="000000"/>
                </a:solidFill>
                <a:effectLst/>
                <a:latin typeface="ui-monospace"/>
              </a:rPr>
              <a:t>180 210 240 255 225 195 165 135 </a:t>
            </a:r>
          </a:p>
          <a:p>
            <a:pPr algn="l"/>
            <a:r>
              <a:rPr lang="en-GB" sz="1200" b="0" i="0" dirty="0">
                <a:solidFill>
                  <a:srgbClr val="000000"/>
                </a:solidFill>
                <a:effectLst/>
                <a:latin typeface="ui-monospace"/>
              </a:rPr>
              <a:t>210 240 255 225 195 165 135 105</a:t>
            </a:r>
          </a:p>
        </p:txBody>
      </p:sp>
      <p:pic>
        <p:nvPicPr>
          <p:cNvPr id="30" name="Picture 2">
            <a:extLst>
              <a:ext uri="{FF2B5EF4-FFF2-40B4-BE49-F238E27FC236}">
                <a16:creationId xmlns:a16="http://schemas.microsoft.com/office/drawing/2014/main" id="{8F8D026B-F581-E40B-34CD-D38660AEFA15}"/>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5510847" y="3164447"/>
            <a:ext cx="1461655" cy="145928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直線矢印コネクタ 27">
            <a:extLst>
              <a:ext uri="{FF2B5EF4-FFF2-40B4-BE49-F238E27FC236}">
                <a16:creationId xmlns:a16="http://schemas.microsoft.com/office/drawing/2014/main" id="{8C12072D-36E0-A20E-A47A-3F927CA08DC2}"/>
              </a:ext>
            </a:extLst>
          </p:cNvPr>
          <p:cNvCxnSpPr>
            <a:cxnSpLocks/>
          </p:cNvCxnSpPr>
          <p:nvPr/>
        </p:nvCxnSpPr>
        <p:spPr>
          <a:xfrm>
            <a:off x="4192254" y="3894089"/>
            <a:ext cx="1066495" cy="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31F4E812-A37A-CF6A-DE43-9B192CBED852}"/>
              </a:ext>
            </a:extLst>
          </p:cNvPr>
          <p:cNvCxnSpPr>
            <a:cxnSpLocks/>
          </p:cNvCxnSpPr>
          <p:nvPr/>
        </p:nvCxnSpPr>
        <p:spPr>
          <a:xfrm>
            <a:off x="2966974" y="4763332"/>
            <a:ext cx="1605026" cy="935855"/>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C703B90-BBD9-4AC8-61EA-797848A83E2F}"/>
              </a:ext>
            </a:extLst>
          </p:cNvPr>
          <p:cNvCxnSpPr>
            <a:cxnSpLocks/>
          </p:cNvCxnSpPr>
          <p:nvPr/>
        </p:nvCxnSpPr>
        <p:spPr>
          <a:xfrm>
            <a:off x="6229245" y="4763332"/>
            <a:ext cx="156354" cy="935855"/>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057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65FE-32FB-399B-76A5-64119928B0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00D884-132C-7C1B-A079-7C4CF640F8E0}"/>
              </a:ext>
            </a:extLst>
          </p:cNvPr>
          <p:cNvSpPr>
            <a:spLocks noGrp="1"/>
          </p:cNvSpPr>
          <p:nvPr>
            <p:ph type="title"/>
          </p:nvPr>
        </p:nvSpPr>
        <p:spPr/>
        <p:txBody>
          <a:bodyPr>
            <a:normAutofit/>
          </a:bodyPr>
          <a:lstStyle/>
          <a:p>
            <a:r>
              <a:rPr lang="ja-GB" dirty="0"/>
              <a:t>計算機でカラー画像を表示する仕組み</a:t>
            </a:r>
          </a:p>
        </p:txBody>
      </p:sp>
      <p:sp>
        <p:nvSpPr>
          <p:cNvPr id="3" name="コンテンツ プレースホルダー 2">
            <a:extLst>
              <a:ext uri="{FF2B5EF4-FFF2-40B4-BE49-F238E27FC236}">
                <a16:creationId xmlns:a16="http://schemas.microsoft.com/office/drawing/2014/main" id="{569E3528-2561-445C-A4E1-B2670CD64509}"/>
              </a:ext>
            </a:extLst>
          </p:cNvPr>
          <p:cNvSpPr>
            <a:spLocks noGrp="1"/>
          </p:cNvSpPr>
          <p:nvPr>
            <p:ph idx="1"/>
          </p:nvPr>
        </p:nvSpPr>
        <p:spPr/>
        <p:txBody>
          <a:bodyPr/>
          <a:lstStyle/>
          <a:p>
            <a:pPr marL="0" indent="0">
              <a:buNone/>
            </a:pPr>
            <a:r>
              <a:rPr lang="ja-GB" dirty="0"/>
              <a:t>一つの画素に赤緑青の3種類の明るさ情報を持たせる</a:t>
            </a:r>
          </a:p>
          <a:p>
            <a:pPr lvl="1"/>
            <a:r>
              <a:rPr lang="ja-GB" dirty="0"/>
              <a:t>赤青緑を混ぜ合わせると，その割合により様々な色ができる</a:t>
            </a:r>
          </a:p>
          <a:p>
            <a:pPr lvl="1"/>
            <a:endParaRPr lang="en-US" dirty="0"/>
          </a:p>
        </p:txBody>
      </p:sp>
      <p:sp>
        <p:nvSpPr>
          <p:cNvPr id="4" name="テキスト ボックス 3">
            <a:extLst>
              <a:ext uri="{FF2B5EF4-FFF2-40B4-BE49-F238E27FC236}">
                <a16:creationId xmlns:a16="http://schemas.microsoft.com/office/drawing/2014/main" id="{D211B8C4-FCC4-030E-9B83-EDD0F2EEABD4}"/>
              </a:ext>
            </a:extLst>
          </p:cNvPr>
          <p:cNvSpPr txBox="1"/>
          <p:nvPr/>
        </p:nvSpPr>
        <p:spPr>
          <a:xfrm>
            <a:off x="187783" y="2646179"/>
            <a:ext cx="2108104" cy="1200329"/>
          </a:xfrm>
          <a:prstGeom prst="rect">
            <a:avLst/>
          </a:prstGeom>
          <a:noFill/>
        </p:spPr>
        <p:txBody>
          <a:bodyPr wrap="square" rtlCol="0">
            <a:spAutoFit/>
          </a:bodyPr>
          <a:lstStyle/>
          <a:p>
            <a:pPr algn="ctr"/>
            <a:r>
              <a:rPr lang="en-GB" sz="900" dirty="0">
                <a:solidFill>
                  <a:srgbClr val="000000"/>
                </a:solidFill>
                <a:latin typeface="ui-monospace"/>
              </a:rPr>
              <a:t>255 250 245 240 235 230 225 220</a:t>
            </a:r>
          </a:p>
          <a:p>
            <a:pPr algn="ctr"/>
            <a:r>
              <a:rPr lang="en-GB" sz="900" dirty="0">
                <a:solidFill>
                  <a:srgbClr val="000000"/>
                </a:solidFill>
                <a:latin typeface="ui-monospace"/>
              </a:rPr>
              <a:t>225 220 215 210 205 200 195 190</a:t>
            </a:r>
          </a:p>
          <a:p>
            <a:pPr algn="ctr"/>
            <a:r>
              <a:rPr lang="en-GB" sz="900" dirty="0">
                <a:solidFill>
                  <a:srgbClr val="000000"/>
                </a:solidFill>
                <a:latin typeface="ui-monospace"/>
              </a:rPr>
              <a:t>195 190 185 180 175 170 165 160</a:t>
            </a:r>
          </a:p>
          <a:p>
            <a:pPr algn="ctr"/>
            <a:r>
              <a:rPr lang="en-GB" sz="900" dirty="0">
                <a:solidFill>
                  <a:srgbClr val="000000"/>
                </a:solidFill>
                <a:latin typeface="ui-monospace"/>
              </a:rPr>
              <a:t>165 160 155 150 145 140 135 130</a:t>
            </a:r>
          </a:p>
          <a:p>
            <a:pPr algn="ctr"/>
            <a:r>
              <a:rPr lang="en-GB" sz="900" dirty="0">
                <a:solidFill>
                  <a:srgbClr val="000000"/>
                </a:solidFill>
                <a:latin typeface="ui-monospace"/>
              </a:rPr>
              <a:t>135 130 125 120 115 110 105 100</a:t>
            </a:r>
          </a:p>
          <a:p>
            <a:pPr algn="ctr"/>
            <a:r>
              <a:rPr lang="en-GB" sz="900" dirty="0">
                <a:solidFill>
                  <a:srgbClr val="000000"/>
                </a:solidFill>
                <a:latin typeface="ui-monospace"/>
              </a:rPr>
              <a:t>105 100 095 090 085 080 075 070</a:t>
            </a:r>
          </a:p>
          <a:p>
            <a:pPr algn="ctr"/>
            <a:r>
              <a:rPr lang="en-GB" sz="900" dirty="0">
                <a:solidFill>
                  <a:srgbClr val="000000"/>
                </a:solidFill>
                <a:latin typeface="ui-monospace"/>
              </a:rPr>
              <a:t>075 070 065 060 055 050 045 040</a:t>
            </a:r>
          </a:p>
          <a:p>
            <a:pPr algn="ctr"/>
            <a:r>
              <a:rPr lang="en-GB" sz="900" dirty="0">
                <a:solidFill>
                  <a:srgbClr val="000000"/>
                </a:solidFill>
                <a:latin typeface="ui-monospace"/>
              </a:rPr>
              <a:t>045 040 035 030 025 020 015 010</a:t>
            </a:r>
            <a:endParaRPr lang="en-GB" sz="900" b="0" i="0" dirty="0">
              <a:solidFill>
                <a:srgbClr val="000000"/>
              </a:solidFill>
              <a:effectLst/>
              <a:latin typeface="ui-monospace"/>
            </a:endParaRPr>
          </a:p>
        </p:txBody>
      </p:sp>
      <p:sp>
        <p:nvSpPr>
          <p:cNvPr id="5" name="テキスト ボックス 4">
            <a:extLst>
              <a:ext uri="{FF2B5EF4-FFF2-40B4-BE49-F238E27FC236}">
                <a16:creationId xmlns:a16="http://schemas.microsoft.com/office/drawing/2014/main" id="{54BBA41A-F3B9-7747-E468-D9B3C15E4C47}"/>
              </a:ext>
            </a:extLst>
          </p:cNvPr>
          <p:cNvSpPr txBox="1"/>
          <p:nvPr/>
        </p:nvSpPr>
        <p:spPr>
          <a:xfrm>
            <a:off x="1924776" y="2646673"/>
            <a:ext cx="2108104" cy="1200329"/>
          </a:xfrm>
          <a:prstGeom prst="rect">
            <a:avLst/>
          </a:prstGeom>
          <a:noFill/>
        </p:spPr>
        <p:txBody>
          <a:bodyPr wrap="square" rtlCol="0">
            <a:spAutoFit/>
          </a:bodyPr>
          <a:lstStyle/>
          <a:p>
            <a:pPr algn="ctr"/>
            <a:r>
              <a:rPr lang="en-GB" sz="900" dirty="0">
                <a:solidFill>
                  <a:srgbClr val="000000"/>
                </a:solidFill>
                <a:latin typeface="ui-monospace"/>
              </a:rPr>
              <a:t>000 000 000 000 000 000 000 000</a:t>
            </a:r>
          </a:p>
          <a:p>
            <a:pPr algn="ctr"/>
            <a:r>
              <a:rPr lang="en-GB" sz="900" dirty="0">
                <a:solidFill>
                  <a:srgbClr val="000000"/>
                </a:solidFill>
                <a:latin typeface="ui-monospace"/>
              </a:rPr>
              <a:t>036 036 036 036 036 036 036 036</a:t>
            </a:r>
          </a:p>
          <a:p>
            <a:pPr algn="ctr"/>
            <a:r>
              <a:rPr lang="en-GB" sz="900" dirty="0">
                <a:solidFill>
                  <a:srgbClr val="000000"/>
                </a:solidFill>
                <a:latin typeface="ui-monospace"/>
              </a:rPr>
              <a:t>072 072 072 072 072 072 072 072</a:t>
            </a:r>
          </a:p>
          <a:p>
            <a:pPr algn="ctr"/>
            <a:r>
              <a:rPr lang="en-GB" sz="900" dirty="0">
                <a:solidFill>
                  <a:srgbClr val="000000"/>
                </a:solidFill>
                <a:latin typeface="ui-monospace"/>
              </a:rPr>
              <a:t>109 109 109 109 109 109 109 109</a:t>
            </a:r>
          </a:p>
          <a:p>
            <a:pPr algn="ctr"/>
            <a:r>
              <a:rPr lang="en-GB" sz="900" dirty="0">
                <a:solidFill>
                  <a:srgbClr val="000000"/>
                </a:solidFill>
                <a:latin typeface="ui-monospace"/>
              </a:rPr>
              <a:t>145 145 145 145 145 145 145 145</a:t>
            </a:r>
          </a:p>
          <a:p>
            <a:pPr algn="ctr"/>
            <a:r>
              <a:rPr lang="en-GB" sz="900" dirty="0">
                <a:solidFill>
                  <a:srgbClr val="000000"/>
                </a:solidFill>
                <a:latin typeface="ui-monospace"/>
              </a:rPr>
              <a:t>182 182 182 182 182 182 182 182</a:t>
            </a:r>
          </a:p>
          <a:p>
            <a:pPr algn="ctr"/>
            <a:r>
              <a:rPr lang="en-GB" sz="900" dirty="0">
                <a:solidFill>
                  <a:srgbClr val="000000"/>
                </a:solidFill>
                <a:latin typeface="ui-monospace"/>
              </a:rPr>
              <a:t>218 218 218 218 218 218 218 218</a:t>
            </a:r>
          </a:p>
          <a:p>
            <a:pPr algn="ctr"/>
            <a:r>
              <a:rPr lang="en-GB" sz="900" dirty="0">
                <a:solidFill>
                  <a:srgbClr val="000000"/>
                </a:solidFill>
                <a:latin typeface="ui-monospace"/>
              </a:rPr>
              <a:t>255 255 255 255 255 255 255 255</a:t>
            </a:r>
            <a:endParaRPr lang="en-GB" sz="900" b="0" i="0" dirty="0">
              <a:solidFill>
                <a:srgbClr val="000000"/>
              </a:solidFill>
              <a:effectLst/>
              <a:latin typeface="ui-monospace"/>
            </a:endParaRPr>
          </a:p>
        </p:txBody>
      </p:sp>
      <p:sp>
        <p:nvSpPr>
          <p:cNvPr id="6" name="テキスト ボックス 5">
            <a:extLst>
              <a:ext uri="{FF2B5EF4-FFF2-40B4-BE49-F238E27FC236}">
                <a16:creationId xmlns:a16="http://schemas.microsoft.com/office/drawing/2014/main" id="{9364656D-FC0C-AB99-D9E2-4288FF8190B3}"/>
              </a:ext>
            </a:extLst>
          </p:cNvPr>
          <p:cNvSpPr txBox="1"/>
          <p:nvPr/>
        </p:nvSpPr>
        <p:spPr>
          <a:xfrm>
            <a:off x="3635704" y="2646673"/>
            <a:ext cx="2108104" cy="1200329"/>
          </a:xfrm>
          <a:prstGeom prst="rect">
            <a:avLst/>
          </a:prstGeom>
          <a:noFill/>
        </p:spPr>
        <p:txBody>
          <a:bodyPr wrap="square" rtlCol="0">
            <a:spAutoFit/>
          </a:bodyPr>
          <a:lstStyle/>
          <a:p>
            <a:pPr algn="ctr"/>
            <a:r>
              <a:rPr lang="en-GB" sz="900" dirty="0">
                <a:solidFill>
                  <a:srgbClr val="000000"/>
                </a:solidFill>
                <a:latin typeface="ui-monospace"/>
              </a:rPr>
              <a:t>255 192 150 130 130 150 192 255</a:t>
            </a:r>
          </a:p>
          <a:p>
            <a:pPr algn="ctr"/>
            <a:r>
              <a:rPr lang="en-GB" sz="900" dirty="0">
                <a:solidFill>
                  <a:srgbClr val="000000"/>
                </a:solidFill>
                <a:latin typeface="ui-monospace"/>
              </a:rPr>
              <a:t>192 130 088 067 067 088 130 192</a:t>
            </a:r>
          </a:p>
          <a:p>
            <a:pPr algn="ctr"/>
            <a:r>
              <a:rPr lang="en-GB" sz="900" dirty="0">
                <a:solidFill>
                  <a:srgbClr val="000000"/>
                </a:solidFill>
                <a:latin typeface="ui-monospace"/>
              </a:rPr>
              <a:t>150 088 046 026 026 046 088 150</a:t>
            </a:r>
          </a:p>
          <a:p>
            <a:pPr algn="ctr"/>
            <a:r>
              <a:rPr lang="en-GB" sz="900" dirty="0">
                <a:solidFill>
                  <a:srgbClr val="000000"/>
                </a:solidFill>
                <a:latin typeface="ui-monospace"/>
              </a:rPr>
              <a:t>130 067 026 005 005 026 067 130</a:t>
            </a:r>
          </a:p>
          <a:p>
            <a:pPr algn="ctr"/>
            <a:r>
              <a:rPr lang="en-GB" sz="900" dirty="0">
                <a:solidFill>
                  <a:srgbClr val="000000"/>
                </a:solidFill>
                <a:latin typeface="ui-monospace"/>
              </a:rPr>
              <a:t>130 067 026 005 005 026 067 130</a:t>
            </a:r>
          </a:p>
          <a:p>
            <a:pPr algn="ctr"/>
            <a:r>
              <a:rPr lang="en-GB" sz="900" dirty="0">
                <a:solidFill>
                  <a:srgbClr val="000000"/>
                </a:solidFill>
                <a:latin typeface="ui-monospace"/>
              </a:rPr>
              <a:t>150 088 046 026 026 046 088 150</a:t>
            </a:r>
          </a:p>
          <a:p>
            <a:pPr algn="ctr"/>
            <a:r>
              <a:rPr lang="en-GB" sz="900" dirty="0">
                <a:solidFill>
                  <a:srgbClr val="000000"/>
                </a:solidFill>
                <a:latin typeface="ui-monospace"/>
              </a:rPr>
              <a:t>192 130 088 067 067 088 130 192</a:t>
            </a:r>
          </a:p>
          <a:p>
            <a:pPr algn="ctr"/>
            <a:r>
              <a:rPr lang="en-GB" sz="900" dirty="0">
                <a:solidFill>
                  <a:srgbClr val="000000"/>
                </a:solidFill>
                <a:latin typeface="ui-monospace"/>
              </a:rPr>
              <a:t>255 192 150 130 130 150 192 255</a:t>
            </a:r>
            <a:endParaRPr lang="en-GB" sz="900" b="0" i="0" dirty="0">
              <a:solidFill>
                <a:srgbClr val="000000"/>
              </a:solidFill>
              <a:effectLst/>
              <a:latin typeface="ui-monospace"/>
            </a:endParaRPr>
          </a:p>
        </p:txBody>
      </p:sp>
      <p:pic>
        <p:nvPicPr>
          <p:cNvPr id="4098" name="Picture 2" descr="プロット">
            <a:extLst>
              <a:ext uri="{FF2B5EF4-FFF2-40B4-BE49-F238E27FC236}">
                <a16:creationId xmlns:a16="http://schemas.microsoft.com/office/drawing/2014/main" id="{E21A4EA2-B8AA-9E00-1F33-B825C30341C1}"/>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r="24916"/>
          <a:stretch/>
        </p:blipFill>
        <p:spPr bwMode="auto">
          <a:xfrm>
            <a:off x="314325" y="4461020"/>
            <a:ext cx="5293146" cy="211489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00FCD104-99BD-CC34-A83C-DDA0BFAA6132}"/>
              </a:ext>
            </a:extLst>
          </p:cNvPr>
          <p:cNvCxnSpPr>
            <a:cxnSpLocks/>
          </p:cNvCxnSpPr>
          <p:nvPr/>
        </p:nvCxnSpPr>
        <p:spPr>
          <a:xfrm>
            <a:off x="1230818" y="384650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F9480C1A-51C9-8E09-4D85-F9BD8DF0EB66}"/>
              </a:ext>
            </a:extLst>
          </p:cNvPr>
          <p:cNvCxnSpPr>
            <a:cxnSpLocks/>
          </p:cNvCxnSpPr>
          <p:nvPr/>
        </p:nvCxnSpPr>
        <p:spPr>
          <a:xfrm>
            <a:off x="2978828" y="384650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3C4DE55-9C9B-1CC3-9A35-BBD73E838564}"/>
              </a:ext>
            </a:extLst>
          </p:cNvPr>
          <p:cNvCxnSpPr>
            <a:cxnSpLocks/>
          </p:cNvCxnSpPr>
          <p:nvPr/>
        </p:nvCxnSpPr>
        <p:spPr>
          <a:xfrm flipH="1">
            <a:off x="4683357" y="3868048"/>
            <a:ext cx="0" cy="576000"/>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2" descr="プロット">
            <a:extLst>
              <a:ext uri="{FF2B5EF4-FFF2-40B4-BE49-F238E27FC236}">
                <a16:creationId xmlns:a16="http://schemas.microsoft.com/office/drawing/2014/main" id="{25714FBE-625B-59BB-3B36-F9C5459BEFCF}"/>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6664041" y="4461019"/>
            <a:ext cx="1762407" cy="211489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線矢印コネクタ 16">
            <a:extLst>
              <a:ext uri="{FF2B5EF4-FFF2-40B4-BE49-F238E27FC236}">
                <a16:creationId xmlns:a16="http://schemas.microsoft.com/office/drawing/2014/main" id="{88B8B9D6-7947-9E69-5C11-1E0B4889735C}"/>
              </a:ext>
            </a:extLst>
          </p:cNvPr>
          <p:cNvCxnSpPr>
            <a:cxnSpLocks/>
            <a:stCxn id="4098" idx="3"/>
            <a:endCxn id="16" idx="1"/>
          </p:cNvCxnSpPr>
          <p:nvPr/>
        </p:nvCxnSpPr>
        <p:spPr>
          <a:xfrm flipV="1">
            <a:off x="5607471" y="5518466"/>
            <a:ext cx="1056570" cy="1"/>
          </a:xfrm>
          <a:prstGeom prst="straightConnector1">
            <a:avLst/>
          </a:prstGeom>
          <a:ln w="57150">
            <a:solidFill>
              <a:srgbClr val="2F2523"/>
            </a:solidFill>
            <a:tailEnd type="triangle"/>
          </a:ln>
        </p:spPr>
        <p:style>
          <a:lnRef idx="1">
            <a:schemeClr val="accent1"/>
          </a:lnRef>
          <a:fillRef idx="0">
            <a:schemeClr val="accent1"/>
          </a:fillRef>
          <a:effectRef idx="0">
            <a:schemeClr val="accent1"/>
          </a:effectRef>
          <a:fontRef idx="minor">
            <a:schemeClr val="tx1"/>
          </a:fontRef>
        </p:style>
      </p:cxnSp>
      <p:pic>
        <p:nvPicPr>
          <p:cNvPr id="4099" name="Picture 3" descr="プロット">
            <a:extLst>
              <a:ext uri="{FF2B5EF4-FFF2-40B4-BE49-F238E27FC236}">
                <a16:creationId xmlns:a16="http://schemas.microsoft.com/office/drawing/2014/main" id="{479692DB-785B-62E8-33FE-A1CD61696C00}"/>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6487479" y="1734238"/>
            <a:ext cx="1938969" cy="196743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4">
            <a:extLst>
              <a:ext uri="{FF2B5EF4-FFF2-40B4-BE49-F238E27FC236}">
                <a16:creationId xmlns:a16="http://schemas.microsoft.com/office/drawing/2014/main" id="{E571BB7F-ACED-DE91-DFA8-BB3145BB3466}"/>
              </a:ext>
            </a:extLst>
          </p:cNvPr>
          <p:cNvSpPr>
            <a:spLocks noChangeArrowheads="1"/>
          </p:cNvSpPr>
          <p:nvPr/>
        </p:nvSpPr>
        <p:spPr bwMode="auto">
          <a:xfrm flipV="1">
            <a:off x="5106835" y="-3509413"/>
            <a:ext cx="31283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GB" altLang="ja-GB" sz="1800" b="0" i="0" u="none" strike="noStrike" cap="none" normalizeH="0" baseline="0">
                <a:ln>
                  <a:noFill/>
                </a:ln>
                <a:solidFill>
                  <a:schemeClr val="tx1"/>
                </a:solidFill>
                <a:effectLst/>
                <a:latin typeface="Arial" panose="020B0604020202020204" pitchFamily="34" charset="0"/>
              </a:rPr>
            </a:br>
            <a:endParaRPr kumimoji="0" lang="ja-GB" altLang="ja-GB" sz="1800" b="0" i="0" u="none" strike="noStrike" cap="none" normalizeH="0" baseline="0">
              <a:ln>
                <a:noFill/>
              </a:ln>
              <a:solidFill>
                <a:schemeClr val="tx1"/>
              </a:solidFill>
              <a:effectLst/>
              <a:latin typeface="Arial" panose="020B0604020202020204" pitchFamily="34" charset="0"/>
            </a:endParaRPr>
          </a:p>
        </p:txBody>
      </p:sp>
      <p:sp>
        <p:nvSpPr>
          <p:cNvPr id="21" name="テキスト ボックス 20">
            <a:extLst>
              <a:ext uri="{FF2B5EF4-FFF2-40B4-BE49-F238E27FC236}">
                <a16:creationId xmlns:a16="http://schemas.microsoft.com/office/drawing/2014/main" id="{BC94FC37-29FF-4DC4-5E4F-CF9E37F55376}"/>
              </a:ext>
            </a:extLst>
          </p:cNvPr>
          <p:cNvSpPr txBox="1"/>
          <p:nvPr/>
        </p:nvSpPr>
        <p:spPr>
          <a:xfrm>
            <a:off x="6787549" y="3712685"/>
            <a:ext cx="1338828" cy="369332"/>
          </a:xfrm>
          <a:prstGeom prst="rect">
            <a:avLst/>
          </a:prstGeom>
          <a:noFill/>
        </p:spPr>
        <p:txBody>
          <a:bodyPr wrap="none" rtlCol="0">
            <a:spAutoFit/>
          </a:bodyPr>
          <a:lstStyle/>
          <a:p>
            <a:pPr algn="ctr"/>
            <a:r>
              <a:rPr lang="ja-GB" dirty="0"/>
              <a:t>光の三原色</a:t>
            </a:r>
          </a:p>
        </p:txBody>
      </p:sp>
    </p:spTree>
    <p:extLst>
      <p:ext uri="{BB962C8B-B14F-4D97-AF65-F5344CB8AC3E}">
        <p14:creationId xmlns:p14="http://schemas.microsoft.com/office/powerpoint/2010/main" val="3349133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C75C0-196C-2CD4-0B0F-47321D1680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F0AD74-4B94-6C19-EDF1-79AA59732D23}"/>
              </a:ext>
            </a:extLst>
          </p:cNvPr>
          <p:cNvSpPr>
            <a:spLocks noGrp="1"/>
          </p:cNvSpPr>
          <p:nvPr>
            <p:ph type="title"/>
          </p:nvPr>
        </p:nvSpPr>
        <p:spPr/>
        <p:txBody>
          <a:bodyPr>
            <a:normAutofit/>
          </a:bodyPr>
          <a:lstStyle/>
          <a:p>
            <a:r>
              <a:rPr lang="ja-GB" dirty="0"/>
              <a:t>計算機で動画を表示する仕組み</a:t>
            </a:r>
          </a:p>
        </p:txBody>
      </p:sp>
      <p:sp>
        <p:nvSpPr>
          <p:cNvPr id="3" name="コンテンツ プレースホルダー 2">
            <a:extLst>
              <a:ext uri="{FF2B5EF4-FFF2-40B4-BE49-F238E27FC236}">
                <a16:creationId xmlns:a16="http://schemas.microsoft.com/office/drawing/2014/main" id="{23097C96-D8E1-C312-1FC7-2011DFD53F08}"/>
              </a:ext>
            </a:extLst>
          </p:cNvPr>
          <p:cNvSpPr>
            <a:spLocks noGrp="1"/>
          </p:cNvSpPr>
          <p:nvPr>
            <p:ph idx="1"/>
          </p:nvPr>
        </p:nvSpPr>
        <p:spPr/>
        <p:txBody>
          <a:bodyPr/>
          <a:lstStyle/>
          <a:p>
            <a:pPr marL="0" indent="0">
              <a:buNone/>
            </a:pPr>
            <a:r>
              <a:rPr lang="ja-GB" dirty="0"/>
              <a:t>画像を素早く切り替えて出力する</a:t>
            </a:r>
          </a:p>
          <a:p>
            <a:pPr lvl="1"/>
            <a:endParaRPr lang="en-US" dirty="0"/>
          </a:p>
        </p:txBody>
      </p:sp>
      <p:pic>
        <p:nvPicPr>
          <p:cNvPr id="5" name="図 4" descr="アイコン が含まれている画像&#10;&#10;AI によって生成されたコンテンツは間違っている可能性があります。">
            <a:extLst>
              <a:ext uri="{FF2B5EF4-FFF2-40B4-BE49-F238E27FC236}">
                <a16:creationId xmlns:a16="http://schemas.microsoft.com/office/drawing/2014/main" id="{577BD371-92BA-A166-B4DD-F6A74FBF638E}"/>
              </a:ext>
            </a:extLst>
          </p:cNvPr>
          <p:cNvPicPr>
            <a:picLocks noChangeAspect="1"/>
          </p:cNvPicPr>
          <p:nvPr/>
        </p:nvPicPr>
        <p:blipFill>
          <a:blip r:embed="rId2"/>
          <a:stretch>
            <a:fillRect/>
          </a:stretch>
        </p:blipFill>
        <p:spPr>
          <a:xfrm>
            <a:off x="3730127" y="1500898"/>
            <a:ext cx="1683745" cy="1683745"/>
          </a:xfrm>
          <a:prstGeom prst="rect">
            <a:avLst/>
          </a:prstGeom>
        </p:spPr>
      </p:pic>
      <p:grpSp>
        <p:nvGrpSpPr>
          <p:cNvPr id="9" name="グループ化 8">
            <a:extLst>
              <a:ext uri="{FF2B5EF4-FFF2-40B4-BE49-F238E27FC236}">
                <a16:creationId xmlns:a16="http://schemas.microsoft.com/office/drawing/2014/main" id="{8645C77F-8073-DF5A-27A7-49A77B87630D}"/>
              </a:ext>
            </a:extLst>
          </p:cNvPr>
          <p:cNvGrpSpPr/>
          <p:nvPr/>
        </p:nvGrpSpPr>
        <p:grpSpPr>
          <a:xfrm>
            <a:off x="220390" y="4522693"/>
            <a:ext cx="8923609" cy="834409"/>
            <a:chOff x="220391" y="3765761"/>
            <a:chExt cx="8923609" cy="834409"/>
          </a:xfrm>
        </p:grpSpPr>
        <p:sp>
          <p:nvSpPr>
            <p:cNvPr id="8" name="正方形/長方形 7">
              <a:extLst>
                <a:ext uri="{FF2B5EF4-FFF2-40B4-BE49-F238E27FC236}">
                  <a16:creationId xmlns:a16="http://schemas.microsoft.com/office/drawing/2014/main" id="{B2DD96BB-FA62-D943-3847-F9B0B78586B4}"/>
                </a:ext>
              </a:extLst>
            </p:cNvPr>
            <p:cNvSpPr/>
            <p:nvPr/>
          </p:nvSpPr>
          <p:spPr>
            <a:xfrm>
              <a:off x="220391" y="4078798"/>
              <a:ext cx="8703218" cy="46481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ja-GB"/>
            </a:p>
          </p:txBody>
        </p:sp>
        <p:pic>
          <p:nvPicPr>
            <p:cNvPr id="7" name="図 6">
              <a:extLst>
                <a:ext uri="{FF2B5EF4-FFF2-40B4-BE49-F238E27FC236}">
                  <a16:creationId xmlns:a16="http://schemas.microsoft.com/office/drawing/2014/main" id="{3B2AFE53-793F-8973-6E2E-599C17A8BDA6}"/>
                </a:ext>
              </a:extLst>
            </p:cNvPr>
            <p:cNvPicPr>
              <a:picLocks noChangeAspect="1"/>
            </p:cNvPicPr>
            <p:nvPr/>
          </p:nvPicPr>
          <p:blipFill>
            <a:blip r:embed="rId3" cstate="print">
              <a:extLst>
                <a:ext uri="{28A0092B-C50C-407E-A947-70E740481C1C}">
                  <a14:useLocalDpi xmlns:a14="http://schemas.microsoft.com/office/drawing/2010/main"/>
                </a:ext>
              </a:extLst>
            </a:blip>
            <a:srcRect b="-15233"/>
            <a:stretch/>
          </p:blipFill>
          <p:spPr>
            <a:xfrm>
              <a:off x="220391" y="3765761"/>
              <a:ext cx="8923609" cy="834409"/>
            </a:xfrm>
            <a:prstGeom prst="rect">
              <a:avLst/>
            </a:prstGeom>
          </p:spPr>
        </p:pic>
      </p:grpSp>
      <p:cxnSp>
        <p:nvCxnSpPr>
          <p:cNvPr id="11" name="直線矢印コネクタ 10">
            <a:extLst>
              <a:ext uri="{FF2B5EF4-FFF2-40B4-BE49-F238E27FC236}">
                <a16:creationId xmlns:a16="http://schemas.microsoft.com/office/drawing/2014/main" id="{BD402EDF-F066-7461-E081-27BF9F9FE5E1}"/>
              </a:ext>
            </a:extLst>
          </p:cNvPr>
          <p:cNvCxnSpPr>
            <a:cxnSpLocks/>
          </p:cNvCxnSpPr>
          <p:nvPr/>
        </p:nvCxnSpPr>
        <p:spPr>
          <a:xfrm flipV="1">
            <a:off x="220390" y="5565800"/>
            <a:ext cx="8703218" cy="0"/>
          </a:xfrm>
          <a:prstGeom prst="straightConnector1">
            <a:avLst/>
          </a:prstGeom>
          <a:ln w="76200">
            <a:gradFill flip="none" rotWithShape="1">
              <a:gsLst>
                <a:gs pos="0">
                  <a:schemeClr val="bg2">
                    <a:lumMod val="90000"/>
                  </a:schemeClr>
                </a:gs>
                <a:gs pos="42000">
                  <a:schemeClr val="bg2">
                    <a:lumMod val="50000"/>
                  </a:schemeClr>
                </a:gs>
                <a:gs pos="81000">
                  <a:schemeClr val="bg2">
                    <a:lumMod val="25000"/>
                  </a:schemeClr>
                </a:gs>
                <a:gs pos="58000">
                  <a:schemeClr val="bg2">
                    <a:lumMod val="25000"/>
                  </a:schemeClr>
                </a:gs>
                <a:gs pos="100000">
                  <a:schemeClr val="tx1">
                    <a:lumMod val="95000"/>
                    <a:lumOff val="5000"/>
                  </a:schemeClr>
                </a:gs>
              </a:gsLst>
              <a:lin ang="0" scaled="0"/>
              <a:tileRect/>
            </a:gra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611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E3677-F487-FF36-7CBF-1896E8EAC74A}"/>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86A1C4A0-496D-27A6-6938-3A9E6E81BCB8}"/>
              </a:ext>
            </a:extLst>
          </p:cNvPr>
          <p:cNvSpPr/>
          <p:nvPr/>
        </p:nvSpPr>
        <p:spPr>
          <a:xfrm>
            <a:off x="5627164" y="1460305"/>
            <a:ext cx="3230567" cy="172230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2" name="タイトル 1">
            <a:extLst>
              <a:ext uri="{FF2B5EF4-FFF2-40B4-BE49-F238E27FC236}">
                <a16:creationId xmlns:a16="http://schemas.microsoft.com/office/drawing/2014/main" id="{F5B5320F-F266-7744-65E2-50FCA82BB0A4}"/>
              </a:ext>
            </a:extLst>
          </p:cNvPr>
          <p:cNvSpPr>
            <a:spLocks noGrp="1"/>
          </p:cNvSpPr>
          <p:nvPr>
            <p:ph type="title"/>
          </p:nvPr>
        </p:nvSpPr>
        <p:spPr/>
        <p:txBody>
          <a:bodyPr>
            <a:normAutofit/>
          </a:bodyPr>
          <a:lstStyle/>
          <a:p>
            <a:r>
              <a:rPr lang="ja-GB" dirty="0"/>
              <a:t>計算機で文章を取り扱う仕組み</a:t>
            </a:r>
          </a:p>
        </p:txBody>
      </p:sp>
      <p:sp>
        <p:nvSpPr>
          <p:cNvPr id="3" name="コンテンツ プレースホルダー 2">
            <a:extLst>
              <a:ext uri="{FF2B5EF4-FFF2-40B4-BE49-F238E27FC236}">
                <a16:creationId xmlns:a16="http://schemas.microsoft.com/office/drawing/2014/main" id="{F54E6F8D-B19C-0088-F67C-50D0FFBAE1B2}"/>
              </a:ext>
            </a:extLst>
          </p:cNvPr>
          <p:cNvSpPr>
            <a:spLocks noGrp="1"/>
          </p:cNvSpPr>
          <p:nvPr>
            <p:ph idx="1"/>
          </p:nvPr>
        </p:nvSpPr>
        <p:spPr/>
        <p:txBody>
          <a:bodyPr/>
          <a:lstStyle/>
          <a:p>
            <a:pPr marL="0" indent="0">
              <a:buNone/>
            </a:pPr>
            <a:r>
              <a:rPr lang="ja-GB" dirty="0"/>
              <a:t>文字を数値として記憶して，画像として出力する</a:t>
            </a:r>
          </a:p>
          <a:p>
            <a:pPr lvl="1"/>
            <a:endParaRPr lang="en-US" dirty="0"/>
          </a:p>
        </p:txBody>
      </p:sp>
      <p:pic>
        <p:nvPicPr>
          <p:cNvPr id="7" name="図 6">
            <a:extLst>
              <a:ext uri="{FF2B5EF4-FFF2-40B4-BE49-F238E27FC236}">
                <a16:creationId xmlns:a16="http://schemas.microsoft.com/office/drawing/2014/main" id="{9FC102B2-5752-B9AF-794A-A866776FD7B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6268" y="1436926"/>
            <a:ext cx="5202543" cy="1898790"/>
          </a:xfrm>
          <a:prstGeom prst="rect">
            <a:avLst/>
          </a:prstGeom>
        </p:spPr>
      </p:pic>
      <p:sp>
        <p:nvSpPr>
          <p:cNvPr id="8" name="テキスト ボックス 7">
            <a:extLst>
              <a:ext uri="{FF2B5EF4-FFF2-40B4-BE49-F238E27FC236}">
                <a16:creationId xmlns:a16="http://schemas.microsoft.com/office/drawing/2014/main" id="{41FB695F-312F-4FDE-3FF6-30507F3941F1}"/>
              </a:ext>
            </a:extLst>
          </p:cNvPr>
          <p:cNvSpPr txBox="1"/>
          <p:nvPr/>
        </p:nvSpPr>
        <p:spPr>
          <a:xfrm>
            <a:off x="2210110" y="3335716"/>
            <a:ext cx="1354858" cy="369332"/>
          </a:xfrm>
          <a:prstGeom prst="rect">
            <a:avLst/>
          </a:prstGeom>
          <a:noFill/>
        </p:spPr>
        <p:txBody>
          <a:bodyPr wrap="none" rtlCol="0">
            <a:spAutoFit/>
          </a:bodyPr>
          <a:lstStyle/>
          <a:p>
            <a:pPr algn="ctr"/>
            <a:r>
              <a:rPr lang="ja-GB" dirty="0"/>
              <a:t>ASCIIコード</a:t>
            </a:r>
          </a:p>
        </p:txBody>
      </p:sp>
      <p:pic>
        <p:nvPicPr>
          <p:cNvPr id="10" name="図 9">
            <a:extLst>
              <a:ext uri="{FF2B5EF4-FFF2-40B4-BE49-F238E27FC236}">
                <a16:creationId xmlns:a16="http://schemas.microsoft.com/office/drawing/2014/main" id="{AB6DFDA8-2172-AF78-BD8D-918286CDC17C}"/>
              </a:ext>
            </a:extLst>
          </p:cNvPr>
          <p:cNvPicPr>
            <a:picLocks noChangeAspect="1"/>
          </p:cNvPicPr>
          <p:nvPr/>
        </p:nvPicPr>
        <p:blipFill>
          <a:blip r:embed="rId3"/>
          <a:stretch>
            <a:fillRect/>
          </a:stretch>
        </p:blipFill>
        <p:spPr>
          <a:xfrm>
            <a:off x="7189871" y="1602644"/>
            <a:ext cx="1515355" cy="1515355"/>
          </a:xfrm>
          <a:prstGeom prst="rect">
            <a:avLst/>
          </a:prstGeom>
        </p:spPr>
      </p:pic>
      <p:sp>
        <p:nvSpPr>
          <p:cNvPr id="13" name="テキスト ボックス 12">
            <a:extLst>
              <a:ext uri="{FF2B5EF4-FFF2-40B4-BE49-F238E27FC236}">
                <a16:creationId xmlns:a16="http://schemas.microsoft.com/office/drawing/2014/main" id="{0B257DFC-2F3D-7B3C-5FBB-6BF7FD235882}"/>
              </a:ext>
            </a:extLst>
          </p:cNvPr>
          <p:cNvSpPr txBox="1"/>
          <p:nvPr/>
        </p:nvSpPr>
        <p:spPr>
          <a:xfrm>
            <a:off x="1163200" y="5622242"/>
            <a:ext cx="550151" cy="523220"/>
          </a:xfrm>
          <a:prstGeom prst="rect">
            <a:avLst/>
          </a:prstGeom>
          <a:noFill/>
        </p:spPr>
        <p:txBody>
          <a:bodyPr wrap="none" rtlCol="0">
            <a:spAutoFit/>
          </a:bodyPr>
          <a:lstStyle/>
          <a:p>
            <a:r>
              <a:rPr lang="ja-GB" sz="2800" dirty="0"/>
              <a:t>97</a:t>
            </a:r>
          </a:p>
        </p:txBody>
      </p:sp>
      <p:grpSp>
        <p:nvGrpSpPr>
          <p:cNvPr id="16" name="グループ化 15">
            <a:extLst>
              <a:ext uri="{FF2B5EF4-FFF2-40B4-BE49-F238E27FC236}">
                <a16:creationId xmlns:a16="http://schemas.microsoft.com/office/drawing/2014/main" id="{6721F78A-9A25-1512-133C-901B24421BB9}"/>
              </a:ext>
            </a:extLst>
          </p:cNvPr>
          <p:cNvGrpSpPr/>
          <p:nvPr/>
        </p:nvGrpSpPr>
        <p:grpSpPr>
          <a:xfrm>
            <a:off x="2204403" y="5699187"/>
            <a:ext cx="4735194" cy="1077649"/>
            <a:chOff x="2204403" y="4077777"/>
            <a:chExt cx="4735194" cy="1077649"/>
          </a:xfrm>
        </p:grpSpPr>
        <p:sp>
          <p:nvSpPr>
            <p:cNvPr id="19" name="テキスト ボックス 18">
              <a:extLst>
                <a:ext uri="{FF2B5EF4-FFF2-40B4-BE49-F238E27FC236}">
                  <a16:creationId xmlns:a16="http://schemas.microsoft.com/office/drawing/2014/main" id="{88021CB3-71C9-AF83-0E12-8C2737BFD8BD}"/>
                </a:ext>
              </a:extLst>
            </p:cNvPr>
            <p:cNvSpPr txBox="1"/>
            <p:nvPr/>
          </p:nvSpPr>
          <p:spPr>
            <a:xfrm>
              <a:off x="4018002" y="478609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24" name="テキスト ボックス 23">
              <a:extLst>
                <a:ext uri="{FF2B5EF4-FFF2-40B4-BE49-F238E27FC236}">
                  <a16:creationId xmlns:a16="http://schemas.microsoft.com/office/drawing/2014/main" id="{2E703627-C338-95A3-7BDC-90C6CC61F78D}"/>
                </a:ext>
              </a:extLst>
            </p:cNvPr>
            <p:cNvSpPr txBox="1"/>
            <p:nvPr/>
          </p:nvSpPr>
          <p:spPr>
            <a:xfrm>
              <a:off x="2204403"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8A281A93-CBB9-492B-3815-2E6C991308F6}"/>
                </a:ext>
              </a:extLst>
            </p:cNvPr>
            <p:cNvSpPr txBox="1"/>
            <p:nvPr/>
          </p:nvSpPr>
          <p:spPr>
            <a:xfrm>
              <a:off x="5831601"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27" name="直線矢印コネクタ 26">
              <a:extLst>
                <a:ext uri="{FF2B5EF4-FFF2-40B4-BE49-F238E27FC236}">
                  <a16:creationId xmlns:a16="http://schemas.microsoft.com/office/drawing/2014/main" id="{28A57F72-364B-4054-1B96-043D67BC338E}"/>
                </a:ext>
              </a:extLst>
            </p:cNvPr>
            <p:cNvCxnSpPr>
              <a:cxnSpLocks/>
            </p:cNvCxnSpPr>
            <p:nvPr/>
          </p:nvCxnSpPr>
          <p:spPr>
            <a:xfrm>
              <a:off x="3312399"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E5946318-A1A5-4C53-0B8D-D34E1FB36EA9}"/>
                </a:ext>
              </a:extLst>
            </p:cNvPr>
            <p:cNvCxnSpPr>
              <a:cxnSpLocks/>
            </p:cNvCxnSpPr>
            <p:nvPr/>
          </p:nvCxnSpPr>
          <p:spPr>
            <a:xfrm>
              <a:off x="5125998"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曲線コネクタ 29">
              <a:extLst>
                <a:ext uri="{FF2B5EF4-FFF2-40B4-BE49-F238E27FC236}">
                  <a16:creationId xmlns:a16="http://schemas.microsoft.com/office/drawing/2014/main" id="{B4BE206A-0C3D-2582-535F-C82BABA2C82D}"/>
                </a:ext>
              </a:extLst>
            </p:cNvPr>
            <p:cNvCxnSpPr>
              <a:cxnSpLocks/>
              <a:stCxn id="19" idx="1"/>
              <a:endCxn id="24" idx="2"/>
            </p:cNvCxnSpPr>
            <p:nvPr/>
          </p:nvCxnSpPr>
          <p:spPr>
            <a:xfrm rot="10800000">
              <a:off x="2758402" y="4447110"/>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曲線コネクタ 30">
              <a:extLst>
                <a:ext uri="{FF2B5EF4-FFF2-40B4-BE49-F238E27FC236}">
                  <a16:creationId xmlns:a16="http://schemas.microsoft.com/office/drawing/2014/main" id="{AB527E18-C596-3A70-7C39-A5315EC4B161}"/>
                </a:ext>
              </a:extLst>
            </p:cNvPr>
            <p:cNvCxnSpPr>
              <a:cxnSpLocks/>
              <a:stCxn id="19" idx="3"/>
              <a:endCxn id="25" idx="2"/>
            </p:cNvCxnSpPr>
            <p:nvPr/>
          </p:nvCxnSpPr>
          <p:spPr>
            <a:xfrm flipV="1">
              <a:off x="5125998" y="4447109"/>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3F5DDB81-A503-8197-0573-4C4CA9338EB1}"/>
                </a:ext>
              </a:extLst>
            </p:cNvPr>
            <p:cNvCxnSpPr>
              <a:cxnSpLocks/>
              <a:stCxn id="19" idx="0"/>
              <a:endCxn id="34" idx="2"/>
            </p:cNvCxnSpPr>
            <p:nvPr/>
          </p:nvCxnSpPr>
          <p:spPr>
            <a:xfrm flipV="1">
              <a:off x="4572000" y="4447109"/>
              <a:ext cx="0" cy="338985"/>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E02691C-00AE-7D88-2691-126F636F7947}"/>
                </a:ext>
              </a:extLst>
            </p:cNvPr>
            <p:cNvSpPr txBox="1"/>
            <p:nvPr/>
          </p:nvSpPr>
          <p:spPr>
            <a:xfrm>
              <a:off x="4018002"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grpSp>
      <p:sp>
        <p:nvSpPr>
          <p:cNvPr id="35" name="テキスト ボックス 34">
            <a:extLst>
              <a:ext uri="{FF2B5EF4-FFF2-40B4-BE49-F238E27FC236}">
                <a16:creationId xmlns:a16="http://schemas.microsoft.com/office/drawing/2014/main" id="{8B869F51-F510-715D-0358-380D05AC6DF1}"/>
              </a:ext>
            </a:extLst>
          </p:cNvPr>
          <p:cNvSpPr txBox="1"/>
          <p:nvPr/>
        </p:nvSpPr>
        <p:spPr>
          <a:xfrm>
            <a:off x="6143581" y="3335716"/>
            <a:ext cx="2031325" cy="553998"/>
          </a:xfrm>
          <a:prstGeom prst="rect">
            <a:avLst/>
          </a:prstGeom>
          <a:noFill/>
        </p:spPr>
        <p:txBody>
          <a:bodyPr wrap="none" rtlCol="0">
            <a:spAutoFit/>
          </a:bodyPr>
          <a:lstStyle/>
          <a:p>
            <a:pPr algn="ctr"/>
            <a:r>
              <a:rPr lang="ja-GB" dirty="0"/>
              <a:t> フォント</a:t>
            </a:r>
            <a:br>
              <a:rPr lang="ja-GB" dirty="0"/>
            </a:br>
            <a:r>
              <a:rPr lang="ja-GB" sz="1200" dirty="0">
                <a:solidFill>
                  <a:schemeClr val="tx1">
                    <a:lumMod val="50000"/>
                    <a:lumOff val="50000"/>
                  </a:schemeClr>
                </a:solidFill>
              </a:rPr>
              <a:t>（ビットマップフォント）</a:t>
            </a:r>
            <a:endParaRPr lang="ja-GB" dirty="0">
              <a:solidFill>
                <a:schemeClr val="tx1">
                  <a:lumMod val="50000"/>
                  <a:lumOff val="50000"/>
                </a:schemeClr>
              </a:solidFill>
            </a:endParaRPr>
          </a:p>
        </p:txBody>
      </p:sp>
      <p:sp>
        <p:nvSpPr>
          <p:cNvPr id="36" name="テキスト ボックス 35">
            <a:extLst>
              <a:ext uri="{FF2B5EF4-FFF2-40B4-BE49-F238E27FC236}">
                <a16:creationId xmlns:a16="http://schemas.microsoft.com/office/drawing/2014/main" id="{422DD004-D023-E86B-A62A-BBC81A721C24}"/>
              </a:ext>
            </a:extLst>
          </p:cNvPr>
          <p:cNvSpPr txBox="1"/>
          <p:nvPr/>
        </p:nvSpPr>
        <p:spPr>
          <a:xfrm>
            <a:off x="5777832" y="1582174"/>
            <a:ext cx="1305165" cy="1600438"/>
          </a:xfrm>
          <a:prstGeom prst="rect">
            <a:avLst/>
          </a:prstGeom>
          <a:noFill/>
        </p:spPr>
        <p:txBody>
          <a:bodyPr wrap="none" rtlCol="0">
            <a:spAutoFit/>
          </a:bodyPr>
          <a:lstStyle/>
          <a:p>
            <a:r>
              <a:rPr lang="ja-GB" sz="1400" dirty="0"/>
              <a:t>0  0  1  1  0  0  0</a:t>
            </a:r>
          </a:p>
          <a:p>
            <a:r>
              <a:rPr lang="ja-GB" sz="1400" dirty="0"/>
              <a:t>0  1  0  0  1  0  0</a:t>
            </a:r>
          </a:p>
          <a:p>
            <a:r>
              <a:rPr lang="ja-GB" sz="1400" dirty="0"/>
              <a:t>0  0  1  1  1  0  0</a:t>
            </a:r>
          </a:p>
          <a:p>
            <a:r>
              <a:rPr lang="ja-GB" sz="1400" dirty="0"/>
              <a:t>0  1  0  0  1  0  0</a:t>
            </a:r>
          </a:p>
          <a:p>
            <a:r>
              <a:rPr lang="ja-GB" sz="1400" dirty="0"/>
              <a:t>0  1  0  0  1  0  0</a:t>
            </a:r>
          </a:p>
          <a:p>
            <a:r>
              <a:rPr lang="ja-GB" sz="1400" dirty="0"/>
              <a:t>0  0  1  1  0  1  0</a:t>
            </a:r>
          </a:p>
          <a:p>
            <a:r>
              <a:rPr lang="ja-GB" sz="1400" dirty="0"/>
              <a:t>0  0  0  0  0  0  0</a:t>
            </a:r>
          </a:p>
        </p:txBody>
      </p:sp>
      <p:cxnSp>
        <p:nvCxnSpPr>
          <p:cNvPr id="39" name="直線コネクタ 38">
            <a:extLst>
              <a:ext uri="{FF2B5EF4-FFF2-40B4-BE49-F238E27FC236}">
                <a16:creationId xmlns:a16="http://schemas.microsoft.com/office/drawing/2014/main" id="{D31728F1-9740-AB9B-51E9-955A2FAFD7AD}"/>
              </a:ext>
            </a:extLst>
          </p:cNvPr>
          <p:cNvCxnSpPr>
            <a:cxnSpLocks/>
            <a:stCxn id="8" idx="2"/>
          </p:cNvCxnSpPr>
          <p:nvPr/>
        </p:nvCxnSpPr>
        <p:spPr>
          <a:xfrm>
            <a:off x="2887539" y="3705048"/>
            <a:ext cx="1332199" cy="1994137"/>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38D0490-3C93-F341-22BC-F3789970388A}"/>
              </a:ext>
            </a:extLst>
          </p:cNvPr>
          <p:cNvCxnSpPr>
            <a:cxnSpLocks/>
            <a:stCxn id="35" idx="2"/>
          </p:cNvCxnSpPr>
          <p:nvPr/>
        </p:nvCxnSpPr>
        <p:spPr>
          <a:xfrm flipH="1">
            <a:off x="4874508" y="3889714"/>
            <a:ext cx="2284736" cy="1809469"/>
          </a:xfrm>
          <a:prstGeom prst="line">
            <a:avLst/>
          </a:prstGeom>
          <a:ln>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9" name="図 48">
            <a:extLst>
              <a:ext uri="{FF2B5EF4-FFF2-40B4-BE49-F238E27FC236}">
                <a16:creationId xmlns:a16="http://schemas.microsoft.com/office/drawing/2014/main" id="{B4251E8B-08E0-7EA8-4F03-53C90AD35B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436142" y="5505981"/>
            <a:ext cx="755743" cy="755743"/>
          </a:xfrm>
          <a:prstGeom prst="rect">
            <a:avLst/>
          </a:prstGeom>
        </p:spPr>
      </p:pic>
    </p:spTree>
    <p:extLst>
      <p:ext uri="{BB962C8B-B14F-4D97-AF65-F5344CB8AC3E}">
        <p14:creationId xmlns:p14="http://schemas.microsoft.com/office/powerpoint/2010/main" val="2525757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66923-D59C-B298-5647-0C8A6FCB2A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63E6F2-9547-2043-BED8-65A10ABD42CD}"/>
              </a:ext>
            </a:extLst>
          </p:cNvPr>
          <p:cNvSpPr>
            <a:spLocks noGrp="1"/>
          </p:cNvSpPr>
          <p:nvPr>
            <p:ph type="title"/>
          </p:nvPr>
        </p:nvSpPr>
        <p:spPr/>
        <p:txBody>
          <a:bodyPr>
            <a:normAutofit/>
          </a:bodyPr>
          <a:lstStyle/>
          <a:p>
            <a:r>
              <a:rPr lang="ja-GB" dirty="0"/>
              <a:t>計算機でゲームを動かす仕組み</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AEF893C-7ADF-F018-3818-D6A3FC8DCD5A}"/>
                  </a:ext>
                </a:extLst>
              </p:cNvPr>
              <p:cNvSpPr>
                <a:spLocks noGrp="1"/>
              </p:cNvSpPr>
              <p:nvPr>
                <p:ph idx="1"/>
              </p:nvPr>
            </p:nvSpPr>
            <p:spPr/>
            <p:txBody>
              <a:bodyPr/>
              <a:lstStyle/>
              <a:p>
                <a:pPr marL="0" indent="0">
                  <a:buNone/>
                </a:pPr>
                <a:r>
                  <a:rPr lang="ja-GB" dirty="0"/>
                  <a:t>入力を数値として，処理を計算として，出力を画像として扱う</a:t>
                </a:r>
              </a:p>
              <a:p>
                <a:pPr marL="914400" lvl="1" indent="-457200">
                  <a:buFont typeface="+mj-lt"/>
                  <a:buAutoNum type="arabicPeriod"/>
                </a:pPr>
                <a:r>
                  <a:rPr lang="en-US" dirty="0" err="1"/>
                  <a:t>コントローラからキー入力を受け取る</a:t>
                </a:r>
                <a:endParaRPr lang="en-US" dirty="0"/>
              </a:p>
              <a:p>
                <a:pPr marL="914400" lvl="1" indent="-457200">
                  <a:buFont typeface="+mj-lt"/>
                  <a:buAutoNum type="arabicPeriod"/>
                </a:pPr>
                <a:r>
                  <a:rPr lang="en-US" dirty="0" err="1"/>
                  <a:t>キー入力に沿った物理演算を計算</a:t>
                </a:r>
                <a:endParaRPr lang="en-US" dirty="0"/>
              </a:p>
              <a:p>
                <a:pPr marL="914400" lvl="2" indent="0">
                  <a:buNone/>
                </a:pPr>
                <a:r>
                  <a:rPr lang="en-US" dirty="0">
                    <a:solidFill>
                      <a:schemeClr val="tx1">
                        <a:lumMod val="65000"/>
                        <a:lumOff val="35000"/>
                      </a:schemeClr>
                    </a:solidFill>
                  </a:rPr>
                  <a:t>例：ジャンプコマンドの計算</a:t>
                </a:r>
              </a:p>
              <a:p>
                <a:pPr marL="1714500" lvl="3" indent="-342900">
                  <a:buFont typeface="+mj-lt"/>
                  <a:buAutoNum type="arabicPeriod"/>
                </a:pPr>
                <a:r>
                  <a:rPr lang="en-US" dirty="0" err="1">
                    <a:solidFill>
                      <a:schemeClr val="tx1">
                        <a:lumMod val="65000"/>
                        <a:lumOff val="35000"/>
                      </a:schemeClr>
                    </a:solidFill>
                  </a:rPr>
                  <a:t>キャラクターに上向きの力を加えて，ジャンプアニメーションを動かす</a:t>
                </a:r>
                <a:endParaRPr lang="en-US" dirty="0">
                  <a:solidFill>
                    <a:schemeClr val="tx1">
                      <a:lumMod val="65000"/>
                      <a:lumOff val="35000"/>
                    </a:schemeClr>
                  </a:solidFill>
                </a:endParaRPr>
              </a:p>
              <a:p>
                <a:pPr marL="1714500" lvl="3" indent="-342900">
                  <a:buFont typeface="+mj-lt"/>
                  <a:buAutoNum type="arabicPeriod"/>
                </a:pPr>
                <a:r>
                  <a:rPr lang="en-US" dirty="0" err="1">
                    <a:solidFill>
                      <a:schemeClr val="tx1">
                        <a:lumMod val="65000"/>
                        <a:lumOff val="35000"/>
                      </a:schemeClr>
                    </a:solidFill>
                  </a:rPr>
                  <a:t>重力に従った計算をする</a:t>
                </a:r>
                <a:r>
                  <a:rPr lang="en-US" dirty="0">
                    <a:solidFill>
                      <a:schemeClr val="tx1">
                        <a:lumMod val="65000"/>
                        <a:lumOff val="35000"/>
                      </a:schemeClr>
                    </a:solidFill>
                  </a:rPr>
                  <a:t> ： </a:t>
                </a:r>
                <a14:m>
                  <m:oMath xmlns:m="http://schemas.openxmlformats.org/officeDocument/2006/math">
                    <m:r>
                      <a:rPr lang="en-US" b="1" i="1" dirty="0" smtClean="0">
                        <a:solidFill>
                          <a:schemeClr val="tx1">
                            <a:lumMod val="65000"/>
                            <a:lumOff val="35000"/>
                          </a:schemeClr>
                        </a:solidFill>
                        <a:latin typeface="Cambria Math" panose="02040503050406030204" pitchFamily="18" charset="0"/>
                      </a:rPr>
                      <m:t>𝒚</m:t>
                    </m:r>
                    <m:d>
                      <m:dPr>
                        <m:ctrlPr>
                          <a:rPr lang="en-US" b="1" i="1" dirty="0" smtClean="0">
                            <a:solidFill>
                              <a:schemeClr val="tx1">
                                <a:lumMod val="65000"/>
                                <a:lumOff val="35000"/>
                              </a:schemeClr>
                            </a:solidFill>
                            <a:latin typeface="Cambria Math" panose="02040503050406030204" pitchFamily="18" charset="0"/>
                          </a:rPr>
                        </m:ctrlPr>
                      </m:dPr>
                      <m:e>
                        <m:r>
                          <a:rPr lang="en-US" b="1" i="1" dirty="0" smtClean="0">
                            <a:solidFill>
                              <a:schemeClr val="tx1">
                                <a:lumMod val="65000"/>
                                <a:lumOff val="35000"/>
                              </a:schemeClr>
                            </a:solidFill>
                            <a:latin typeface="Cambria Math" panose="02040503050406030204" pitchFamily="18" charset="0"/>
                          </a:rPr>
                          <m:t>𝒕</m:t>
                        </m:r>
                      </m:e>
                    </m:d>
                    <m:r>
                      <a:rPr lang="en-US" b="1" i="1" dirty="0" smtClean="0">
                        <a:solidFill>
                          <a:schemeClr val="tx1">
                            <a:lumMod val="65000"/>
                            <a:lumOff val="35000"/>
                          </a:schemeClr>
                        </a:solidFill>
                        <a:latin typeface="Cambria Math" panose="02040503050406030204" pitchFamily="18" charset="0"/>
                      </a:rPr>
                      <m:t>=</m:t>
                    </m:r>
                    <m:sSub>
                      <m:sSubPr>
                        <m:ctrlPr>
                          <a:rPr lang="en-US" b="1" i="1" dirty="0" smtClean="0">
                            <a:solidFill>
                              <a:schemeClr val="tx1">
                                <a:lumMod val="65000"/>
                                <a:lumOff val="35000"/>
                              </a:schemeClr>
                            </a:solidFill>
                            <a:latin typeface="Cambria Math" panose="02040503050406030204" pitchFamily="18" charset="0"/>
                          </a:rPr>
                        </m:ctrlPr>
                      </m:sSubPr>
                      <m:e>
                        <m:r>
                          <a:rPr lang="en-US" b="1" i="1" dirty="0" smtClean="0">
                            <a:solidFill>
                              <a:schemeClr val="tx1">
                                <a:lumMod val="65000"/>
                                <a:lumOff val="35000"/>
                              </a:schemeClr>
                            </a:solidFill>
                            <a:latin typeface="Cambria Math" panose="02040503050406030204" pitchFamily="18" charset="0"/>
                          </a:rPr>
                          <m:t>𝒚</m:t>
                        </m:r>
                      </m:e>
                      <m:sub>
                        <m:r>
                          <a:rPr lang="en-US" b="1" i="1" dirty="0" smtClean="0">
                            <a:solidFill>
                              <a:schemeClr val="tx1">
                                <a:lumMod val="65000"/>
                                <a:lumOff val="35000"/>
                              </a:schemeClr>
                            </a:solidFill>
                            <a:latin typeface="Cambria Math" panose="02040503050406030204" pitchFamily="18" charset="0"/>
                          </a:rPr>
                          <m:t>𝒐</m:t>
                        </m:r>
                      </m:sub>
                    </m:sSub>
                    <m:r>
                      <a:rPr lang="en-US" b="1" i="1" dirty="0" smtClean="0">
                        <a:solidFill>
                          <a:schemeClr val="tx1">
                            <a:lumMod val="65000"/>
                            <a:lumOff val="35000"/>
                          </a:schemeClr>
                        </a:solidFill>
                        <a:latin typeface="Cambria Math" panose="02040503050406030204" pitchFamily="18" charset="0"/>
                      </a:rPr>
                      <m:t>+</m:t>
                    </m:r>
                    <m:sSub>
                      <m:sSubPr>
                        <m:ctrlPr>
                          <a:rPr lang="en-US" b="1" i="1" dirty="0" smtClean="0">
                            <a:solidFill>
                              <a:schemeClr val="tx1">
                                <a:lumMod val="65000"/>
                                <a:lumOff val="35000"/>
                              </a:schemeClr>
                            </a:solidFill>
                            <a:latin typeface="Cambria Math" panose="02040503050406030204" pitchFamily="18" charset="0"/>
                          </a:rPr>
                        </m:ctrlPr>
                      </m:sSubPr>
                      <m:e>
                        <m:r>
                          <a:rPr lang="en-US" b="1" i="1" dirty="0" smtClean="0">
                            <a:solidFill>
                              <a:schemeClr val="tx1">
                                <a:lumMod val="65000"/>
                                <a:lumOff val="35000"/>
                              </a:schemeClr>
                            </a:solidFill>
                            <a:latin typeface="Cambria Math" panose="02040503050406030204" pitchFamily="18" charset="0"/>
                          </a:rPr>
                          <m:t>𝒗</m:t>
                        </m:r>
                      </m:e>
                      <m:sub>
                        <m:r>
                          <a:rPr lang="en-US" b="1" i="1" dirty="0" smtClean="0">
                            <a:solidFill>
                              <a:schemeClr val="tx1">
                                <a:lumMod val="65000"/>
                                <a:lumOff val="35000"/>
                              </a:schemeClr>
                            </a:solidFill>
                            <a:latin typeface="Cambria Math" panose="02040503050406030204" pitchFamily="18" charset="0"/>
                          </a:rPr>
                          <m:t>𝒐</m:t>
                        </m:r>
                      </m:sub>
                    </m:sSub>
                    <m:r>
                      <a:rPr lang="en-US" b="1" i="1" dirty="0" smtClean="0">
                        <a:solidFill>
                          <a:schemeClr val="tx1">
                            <a:lumMod val="65000"/>
                            <a:lumOff val="35000"/>
                          </a:schemeClr>
                        </a:solidFill>
                        <a:latin typeface="Cambria Math" panose="02040503050406030204" pitchFamily="18" charset="0"/>
                      </a:rPr>
                      <m:t>𝒕</m:t>
                    </m:r>
                    <m:r>
                      <a:rPr lang="en-US" b="1" i="1" dirty="0" smtClean="0">
                        <a:solidFill>
                          <a:schemeClr val="tx1">
                            <a:lumMod val="65000"/>
                            <a:lumOff val="35000"/>
                          </a:schemeClr>
                        </a:solidFill>
                        <a:latin typeface="Cambria Math" panose="02040503050406030204" pitchFamily="18" charset="0"/>
                      </a:rPr>
                      <m:t>−</m:t>
                    </m:r>
                    <m:f>
                      <m:fPr>
                        <m:ctrlPr>
                          <a:rPr lang="en-US" b="1" i="1" dirty="0" smtClean="0">
                            <a:solidFill>
                              <a:schemeClr val="tx1">
                                <a:lumMod val="65000"/>
                                <a:lumOff val="35000"/>
                              </a:schemeClr>
                            </a:solidFill>
                            <a:latin typeface="Cambria Math" panose="02040503050406030204" pitchFamily="18" charset="0"/>
                          </a:rPr>
                        </m:ctrlPr>
                      </m:fPr>
                      <m:num>
                        <m:r>
                          <a:rPr lang="en-US" b="1" i="1" dirty="0" smtClean="0">
                            <a:solidFill>
                              <a:schemeClr val="tx1">
                                <a:lumMod val="65000"/>
                                <a:lumOff val="35000"/>
                              </a:schemeClr>
                            </a:solidFill>
                            <a:latin typeface="Cambria Math" panose="02040503050406030204" pitchFamily="18" charset="0"/>
                          </a:rPr>
                          <m:t>𝟏</m:t>
                        </m:r>
                      </m:num>
                      <m:den>
                        <m:r>
                          <a:rPr lang="en-US" b="1" i="1" dirty="0" smtClean="0">
                            <a:solidFill>
                              <a:schemeClr val="tx1">
                                <a:lumMod val="65000"/>
                                <a:lumOff val="35000"/>
                              </a:schemeClr>
                            </a:solidFill>
                            <a:latin typeface="Cambria Math" panose="02040503050406030204" pitchFamily="18" charset="0"/>
                          </a:rPr>
                          <m:t>𝟐</m:t>
                        </m:r>
                      </m:den>
                    </m:f>
                    <m:r>
                      <a:rPr lang="en-US" b="1" i="1" dirty="0" smtClean="0">
                        <a:solidFill>
                          <a:schemeClr val="tx1">
                            <a:lumMod val="65000"/>
                            <a:lumOff val="35000"/>
                          </a:schemeClr>
                        </a:solidFill>
                        <a:latin typeface="Cambria Math" panose="02040503050406030204" pitchFamily="18" charset="0"/>
                      </a:rPr>
                      <m:t>𝒈</m:t>
                    </m:r>
                    <m:sSup>
                      <m:sSupPr>
                        <m:ctrlPr>
                          <a:rPr lang="en-US" b="1" i="1" dirty="0" smtClean="0">
                            <a:solidFill>
                              <a:schemeClr val="tx1">
                                <a:lumMod val="65000"/>
                                <a:lumOff val="35000"/>
                              </a:schemeClr>
                            </a:solidFill>
                            <a:latin typeface="Cambria Math" panose="02040503050406030204" pitchFamily="18" charset="0"/>
                          </a:rPr>
                        </m:ctrlPr>
                      </m:sSupPr>
                      <m:e>
                        <m:r>
                          <a:rPr lang="en-US" b="1" i="1" dirty="0" smtClean="0">
                            <a:solidFill>
                              <a:schemeClr val="tx1">
                                <a:lumMod val="65000"/>
                                <a:lumOff val="35000"/>
                              </a:schemeClr>
                            </a:solidFill>
                            <a:latin typeface="Cambria Math" panose="02040503050406030204" pitchFamily="18" charset="0"/>
                          </a:rPr>
                          <m:t>𝒕</m:t>
                        </m:r>
                      </m:e>
                      <m:sup>
                        <m:r>
                          <a:rPr lang="en-US" b="1" i="1" dirty="0" smtClean="0">
                            <a:solidFill>
                              <a:schemeClr val="tx1">
                                <a:lumMod val="65000"/>
                                <a:lumOff val="35000"/>
                              </a:schemeClr>
                            </a:solidFill>
                            <a:latin typeface="Cambria Math" panose="02040503050406030204" pitchFamily="18" charset="0"/>
                          </a:rPr>
                          <m:t>𝟐</m:t>
                        </m:r>
                      </m:sup>
                    </m:sSup>
                  </m:oMath>
                </a14:m>
                <a:r>
                  <a:rPr lang="en-US" dirty="0">
                    <a:solidFill>
                      <a:schemeClr val="tx1">
                        <a:lumMod val="65000"/>
                        <a:lumOff val="35000"/>
                      </a:schemeClr>
                    </a:solidFill>
                  </a:rPr>
                  <a:t> </a:t>
                </a:r>
                <a:endParaRPr lang="en-US" dirty="0"/>
              </a:p>
              <a:p>
                <a:pPr marL="933450" lvl="1" indent="-476250">
                  <a:buFont typeface="+mj-lt"/>
                  <a:buAutoNum type="arabicPeriod"/>
                </a:pPr>
                <a:r>
                  <a:rPr lang="en-US" dirty="0" err="1"/>
                  <a:t>キャラクターの位置を</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oMath>
                </a14:m>
                <a:r>
                  <a:rPr lang="en-US" dirty="0"/>
                  <a:t>に合わせて変える</a:t>
                </a:r>
              </a:p>
              <a:p>
                <a:pPr marL="914400" lvl="1" indent="-457200">
                  <a:buFont typeface="+mj-lt"/>
                  <a:buAutoNum type="arabicPeriod"/>
                </a:pPr>
                <a:r>
                  <a:rPr lang="en-US" dirty="0" err="1"/>
                  <a:t>映像をディスプレイに出力する</a:t>
                </a:r>
                <a:endParaRPr lang="en-US" dirty="0"/>
              </a:p>
            </p:txBody>
          </p:sp>
        </mc:Choice>
        <mc:Fallback xmlns="">
          <p:sp>
            <p:nvSpPr>
              <p:cNvPr id="3" name="コンテンツ プレースホルダー 2">
                <a:extLst>
                  <a:ext uri="{FF2B5EF4-FFF2-40B4-BE49-F238E27FC236}">
                    <a16:creationId xmlns:a16="http://schemas.microsoft.com/office/drawing/2014/main" id="{7AEF893C-7ADF-F018-3818-D6A3FC8DCD5A}"/>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p:grpSp>
        <p:nvGrpSpPr>
          <p:cNvPr id="9" name="グループ化 8">
            <a:extLst>
              <a:ext uri="{FF2B5EF4-FFF2-40B4-BE49-F238E27FC236}">
                <a16:creationId xmlns:a16="http://schemas.microsoft.com/office/drawing/2014/main" id="{C0B232DD-7BAC-4F69-9E7F-0A8315B3207F}"/>
              </a:ext>
            </a:extLst>
          </p:cNvPr>
          <p:cNvGrpSpPr/>
          <p:nvPr/>
        </p:nvGrpSpPr>
        <p:grpSpPr>
          <a:xfrm>
            <a:off x="2204403" y="4361602"/>
            <a:ext cx="4735194" cy="1783638"/>
            <a:chOff x="2204403" y="3371788"/>
            <a:chExt cx="4735194" cy="1783638"/>
          </a:xfrm>
        </p:grpSpPr>
        <p:sp>
          <p:nvSpPr>
            <p:cNvPr id="11" name="テキスト ボックス 10">
              <a:extLst>
                <a:ext uri="{FF2B5EF4-FFF2-40B4-BE49-F238E27FC236}">
                  <a16:creationId xmlns:a16="http://schemas.microsoft.com/office/drawing/2014/main" id="{84B9B8C5-753E-A168-2768-FB1B1C0A13FA}"/>
                </a:ext>
              </a:extLst>
            </p:cNvPr>
            <p:cNvSpPr txBox="1"/>
            <p:nvPr/>
          </p:nvSpPr>
          <p:spPr>
            <a:xfrm>
              <a:off x="4018002" y="478609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2" name="テキスト ボックス 11">
              <a:extLst>
                <a:ext uri="{FF2B5EF4-FFF2-40B4-BE49-F238E27FC236}">
                  <a16:creationId xmlns:a16="http://schemas.microsoft.com/office/drawing/2014/main" id="{A4616DC1-D907-AC35-D8FF-3F1CCCD1535D}"/>
                </a:ext>
              </a:extLst>
            </p:cNvPr>
            <p:cNvSpPr txBox="1"/>
            <p:nvPr/>
          </p:nvSpPr>
          <p:spPr>
            <a:xfrm>
              <a:off x="4018002" y="337178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4" name="テキスト ボックス 13">
              <a:extLst>
                <a:ext uri="{FF2B5EF4-FFF2-40B4-BE49-F238E27FC236}">
                  <a16:creationId xmlns:a16="http://schemas.microsoft.com/office/drawing/2014/main" id="{84E732B1-F17A-598C-9AF4-FE39902518AB}"/>
                </a:ext>
              </a:extLst>
            </p:cNvPr>
            <p:cNvSpPr txBox="1"/>
            <p:nvPr/>
          </p:nvSpPr>
          <p:spPr>
            <a:xfrm>
              <a:off x="2204403"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5" name="テキスト ボックス 14">
              <a:extLst>
                <a:ext uri="{FF2B5EF4-FFF2-40B4-BE49-F238E27FC236}">
                  <a16:creationId xmlns:a16="http://schemas.microsoft.com/office/drawing/2014/main" id="{0D02FC2C-79D5-4818-0044-27B8AAFFDADA}"/>
                </a:ext>
              </a:extLst>
            </p:cNvPr>
            <p:cNvSpPr txBox="1"/>
            <p:nvPr/>
          </p:nvSpPr>
          <p:spPr>
            <a:xfrm>
              <a:off x="5831601"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17" name="直線矢印コネクタ 16">
              <a:extLst>
                <a:ext uri="{FF2B5EF4-FFF2-40B4-BE49-F238E27FC236}">
                  <a16:creationId xmlns:a16="http://schemas.microsoft.com/office/drawing/2014/main" id="{C61C3477-035A-EA8B-E837-B4F0483786D0}"/>
                </a:ext>
              </a:extLst>
            </p:cNvPr>
            <p:cNvCxnSpPr>
              <a:cxnSpLocks/>
            </p:cNvCxnSpPr>
            <p:nvPr/>
          </p:nvCxnSpPr>
          <p:spPr>
            <a:xfrm>
              <a:off x="3312399"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FABC64A7-DAFC-A31F-4D93-4E0082CC7D98}"/>
                </a:ext>
              </a:extLst>
            </p:cNvPr>
            <p:cNvCxnSpPr>
              <a:cxnSpLocks/>
            </p:cNvCxnSpPr>
            <p:nvPr/>
          </p:nvCxnSpPr>
          <p:spPr>
            <a:xfrm>
              <a:off x="5125998"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2E0896C1-B82C-8F94-056B-4901EE6011AB}"/>
                </a:ext>
              </a:extLst>
            </p:cNvPr>
            <p:cNvCxnSpPr>
              <a:cxnSpLocks/>
              <a:stCxn id="12" idx="2"/>
              <a:endCxn id="26" idx="0"/>
            </p:cNvCxnSpPr>
            <p:nvPr/>
          </p:nvCxnSpPr>
          <p:spPr>
            <a:xfrm>
              <a:off x="4572000" y="3741120"/>
              <a:ext cx="0" cy="33665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曲線コネクタ 19">
              <a:extLst>
                <a:ext uri="{FF2B5EF4-FFF2-40B4-BE49-F238E27FC236}">
                  <a16:creationId xmlns:a16="http://schemas.microsoft.com/office/drawing/2014/main" id="{16968CA4-045B-932A-624E-782177A0F7D2}"/>
                </a:ext>
              </a:extLst>
            </p:cNvPr>
            <p:cNvCxnSpPr>
              <a:cxnSpLocks/>
              <a:stCxn id="11" idx="1"/>
              <a:endCxn id="14" idx="2"/>
            </p:cNvCxnSpPr>
            <p:nvPr/>
          </p:nvCxnSpPr>
          <p:spPr>
            <a:xfrm rot="10800000">
              <a:off x="2758402" y="4447110"/>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曲線コネクタ 21">
              <a:extLst>
                <a:ext uri="{FF2B5EF4-FFF2-40B4-BE49-F238E27FC236}">
                  <a16:creationId xmlns:a16="http://schemas.microsoft.com/office/drawing/2014/main" id="{0B318ADA-4924-AFAF-DC65-A28EBD348A3C}"/>
                </a:ext>
              </a:extLst>
            </p:cNvPr>
            <p:cNvCxnSpPr>
              <a:cxnSpLocks/>
              <a:stCxn id="11" idx="3"/>
              <a:endCxn id="15" idx="2"/>
            </p:cNvCxnSpPr>
            <p:nvPr/>
          </p:nvCxnSpPr>
          <p:spPr>
            <a:xfrm flipV="1">
              <a:off x="5125998" y="4447109"/>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20A7DE74-BBF8-1391-B299-277AEEC621CC}"/>
                </a:ext>
              </a:extLst>
            </p:cNvPr>
            <p:cNvCxnSpPr>
              <a:cxnSpLocks/>
              <a:stCxn id="11" idx="0"/>
              <a:endCxn id="26" idx="2"/>
            </p:cNvCxnSpPr>
            <p:nvPr/>
          </p:nvCxnSpPr>
          <p:spPr>
            <a:xfrm flipV="1">
              <a:off x="4572000" y="4447109"/>
              <a:ext cx="0" cy="338985"/>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FF9B48D7-B9ED-D88F-CDC7-D1AF4CEEC091}"/>
                </a:ext>
              </a:extLst>
            </p:cNvPr>
            <p:cNvCxnSpPr>
              <a:cxnSpLocks/>
            </p:cNvCxnSpPr>
            <p:nvPr/>
          </p:nvCxnSpPr>
          <p:spPr>
            <a:xfrm flipV="1">
              <a:off x="4296137" y="3741120"/>
              <a:ext cx="0" cy="1044974"/>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E42E4007-7071-694D-79C0-E4BD38AD682D}"/>
                </a:ext>
              </a:extLst>
            </p:cNvPr>
            <p:cNvSpPr txBox="1"/>
            <p:nvPr/>
          </p:nvSpPr>
          <p:spPr>
            <a:xfrm>
              <a:off x="4018002"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grpSp>
    </p:spTree>
    <p:extLst>
      <p:ext uri="{BB962C8B-B14F-4D97-AF65-F5344CB8AC3E}">
        <p14:creationId xmlns:p14="http://schemas.microsoft.com/office/powerpoint/2010/main" val="3011647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EF254-056E-87F2-4BC6-5CC761FB59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5522E4-298F-2A88-902A-A8266CCBE16D}"/>
              </a:ext>
            </a:extLst>
          </p:cNvPr>
          <p:cNvSpPr>
            <a:spLocks noGrp="1"/>
          </p:cNvSpPr>
          <p:nvPr>
            <p:ph type="title"/>
          </p:nvPr>
        </p:nvSpPr>
        <p:spPr/>
        <p:txBody>
          <a:bodyPr>
            <a:normAutofit/>
          </a:bodyPr>
          <a:lstStyle/>
          <a:p>
            <a:r>
              <a:rPr lang="ja-GB" dirty="0"/>
              <a:t>計算機で帳簿をつける仕組み</a:t>
            </a:r>
          </a:p>
        </p:txBody>
      </p:sp>
      <p:sp>
        <p:nvSpPr>
          <p:cNvPr id="3" name="コンテンツ プレースホルダー 2">
            <a:extLst>
              <a:ext uri="{FF2B5EF4-FFF2-40B4-BE49-F238E27FC236}">
                <a16:creationId xmlns:a16="http://schemas.microsoft.com/office/drawing/2014/main" id="{7275F3E8-9859-77D2-649E-64B266E980B5}"/>
              </a:ext>
            </a:extLst>
          </p:cNvPr>
          <p:cNvSpPr>
            <a:spLocks noGrp="1"/>
          </p:cNvSpPr>
          <p:nvPr>
            <p:ph idx="1"/>
          </p:nvPr>
        </p:nvSpPr>
        <p:spPr/>
        <p:txBody>
          <a:bodyPr/>
          <a:lstStyle/>
          <a:p>
            <a:pPr marL="0" indent="0">
              <a:buNone/>
            </a:pPr>
            <a:r>
              <a:rPr lang="en-US" dirty="0" err="1"/>
              <a:t>帳簿情報を表形式で記録，取り出し，編集する</a:t>
            </a:r>
            <a:endParaRPr lang="en-US" dirty="0"/>
          </a:p>
        </p:txBody>
      </p:sp>
      <p:grpSp>
        <p:nvGrpSpPr>
          <p:cNvPr id="9" name="グループ化 8">
            <a:extLst>
              <a:ext uri="{FF2B5EF4-FFF2-40B4-BE49-F238E27FC236}">
                <a16:creationId xmlns:a16="http://schemas.microsoft.com/office/drawing/2014/main" id="{796FF952-7030-0AF3-962A-EFFF632ED48E}"/>
              </a:ext>
            </a:extLst>
          </p:cNvPr>
          <p:cNvGrpSpPr/>
          <p:nvPr/>
        </p:nvGrpSpPr>
        <p:grpSpPr>
          <a:xfrm>
            <a:off x="2204403" y="4993198"/>
            <a:ext cx="4735194" cy="1783638"/>
            <a:chOff x="2204403" y="3371788"/>
            <a:chExt cx="4735194" cy="1783638"/>
          </a:xfrm>
        </p:grpSpPr>
        <p:sp>
          <p:nvSpPr>
            <p:cNvPr id="11" name="テキスト ボックス 10">
              <a:extLst>
                <a:ext uri="{FF2B5EF4-FFF2-40B4-BE49-F238E27FC236}">
                  <a16:creationId xmlns:a16="http://schemas.microsoft.com/office/drawing/2014/main" id="{C4B12706-9265-24A3-0EBC-98B3546688B8}"/>
                </a:ext>
              </a:extLst>
            </p:cNvPr>
            <p:cNvSpPr txBox="1"/>
            <p:nvPr/>
          </p:nvSpPr>
          <p:spPr>
            <a:xfrm>
              <a:off x="4018002" y="478609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2" name="テキスト ボックス 11">
              <a:extLst>
                <a:ext uri="{FF2B5EF4-FFF2-40B4-BE49-F238E27FC236}">
                  <a16:creationId xmlns:a16="http://schemas.microsoft.com/office/drawing/2014/main" id="{532AA081-F7F2-0FE6-404C-893C27CDF8FC}"/>
                </a:ext>
              </a:extLst>
            </p:cNvPr>
            <p:cNvSpPr txBox="1"/>
            <p:nvPr/>
          </p:nvSpPr>
          <p:spPr>
            <a:xfrm>
              <a:off x="4018002" y="3371788"/>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4" name="テキスト ボックス 13">
              <a:extLst>
                <a:ext uri="{FF2B5EF4-FFF2-40B4-BE49-F238E27FC236}">
                  <a16:creationId xmlns:a16="http://schemas.microsoft.com/office/drawing/2014/main" id="{2BF2BBB6-ACAC-78B5-017B-938FDBD52237}"/>
                </a:ext>
              </a:extLst>
            </p:cNvPr>
            <p:cNvSpPr txBox="1"/>
            <p:nvPr/>
          </p:nvSpPr>
          <p:spPr>
            <a:xfrm>
              <a:off x="2204403"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5" name="テキスト ボックス 14">
              <a:extLst>
                <a:ext uri="{FF2B5EF4-FFF2-40B4-BE49-F238E27FC236}">
                  <a16:creationId xmlns:a16="http://schemas.microsoft.com/office/drawing/2014/main" id="{AF0F40ED-2D08-C89C-6BC4-38CACB1A9BD4}"/>
                </a:ext>
              </a:extLst>
            </p:cNvPr>
            <p:cNvSpPr txBox="1"/>
            <p:nvPr/>
          </p:nvSpPr>
          <p:spPr>
            <a:xfrm>
              <a:off x="5831601"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17" name="直線矢印コネクタ 16">
              <a:extLst>
                <a:ext uri="{FF2B5EF4-FFF2-40B4-BE49-F238E27FC236}">
                  <a16:creationId xmlns:a16="http://schemas.microsoft.com/office/drawing/2014/main" id="{D9BF9FAD-514D-5D79-F767-D0EB4537D008}"/>
                </a:ext>
              </a:extLst>
            </p:cNvPr>
            <p:cNvCxnSpPr>
              <a:cxnSpLocks/>
            </p:cNvCxnSpPr>
            <p:nvPr/>
          </p:nvCxnSpPr>
          <p:spPr>
            <a:xfrm>
              <a:off x="3312399"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6B837DB9-2516-BEB5-BF75-544BE1EF6C6E}"/>
                </a:ext>
              </a:extLst>
            </p:cNvPr>
            <p:cNvCxnSpPr>
              <a:cxnSpLocks/>
            </p:cNvCxnSpPr>
            <p:nvPr/>
          </p:nvCxnSpPr>
          <p:spPr>
            <a:xfrm>
              <a:off x="5125998" y="4262443"/>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AD79095F-CBE6-B945-77B7-87D0D7B14C49}"/>
                </a:ext>
              </a:extLst>
            </p:cNvPr>
            <p:cNvCxnSpPr>
              <a:cxnSpLocks/>
              <a:stCxn id="12" idx="2"/>
              <a:endCxn id="26" idx="0"/>
            </p:cNvCxnSpPr>
            <p:nvPr/>
          </p:nvCxnSpPr>
          <p:spPr>
            <a:xfrm>
              <a:off x="4572000" y="3741120"/>
              <a:ext cx="0" cy="33665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曲線コネクタ 19">
              <a:extLst>
                <a:ext uri="{FF2B5EF4-FFF2-40B4-BE49-F238E27FC236}">
                  <a16:creationId xmlns:a16="http://schemas.microsoft.com/office/drawing/2014/main" id="{E563C9A9-0436-46ED-CBB0-E4ED3EC9387F}"/>
                </a:ext>
              </a:extLst>
            </p:cNvPr>
            <p:cNvCxnSpPr>
              <a:cxnSpLocks/>
              <a:stCxn id="11" idx="1"/>
              <a:endCxn id="14" idx="2"/>
            </p:cNvCxnSpPr>
            <p:nvPr/>
          </p:nvCxnSpPr>
          <p:spPr>
            <a:xfrm rot="10800000">
              <a:off x="2758402" y="4447110"/>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曲線コネクタ 21">
              <a:extLst>
                <a:ext uri="{FF2B5EF4-FFF2-40B4-BE49-F238E27FC236}">
                  <a16:creationId xmlns:a16="http://schemas.microsoft.com/office/drawing/2014/main" id="{A3DC996D-FCB3-720A-AD52-E936110C912E}"/>
                </a:ext>
              </a:extLst>
            </p:cNvPr>
            <p:cNvCxnSpPr>
              <a:cxnSpLocks/>
              <a:stCxn id="11" idx="3"/>
              <a:endCxn id="15" idx="2"/>
            </p:cNvCxnSpPr>
            <p:nvPr/>
          </p:nvCxnSpPr>
          <p:spPr>
            <a:xfrm flipV="1">
              <a:off x="5125998" y="4447109"/>
              <a:ext cx="1259601" cy="523651"/>
            </a:xfrm>
            <a:prstGeom prst="curvedConnector2">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1B659D9D-DDB2-E7E8-12A3-1AE43A8E3809}"/>
                </a:ext>
              </a:extLst>
            </p:cNvPr>
            <p:cNvCxnSpPr>
              <a:cxnSpLocks/>
              <a:stCxn id="11" idx="0"/>
              <a:endCxn id="26" idx="2"/>
            </p:cNvCxnSpPr>
            <p:nvPr/>
          </p:nvCxnSpPr>
          <p:spPr>
            <a:xfrm flipV="1">
              <a:off x="4572000" y="4447109"/>
              <a:ext cx="0" cy="338985"/>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A7ED48B-023B-F4D7-1635-F13C0C484BC4}"/>
                </a:ext>
              </a:extLst>
            </p:cNvPr>
            <p:cNvCxnSpPr>
              <a:cxnSpLocks/>
            </p:cNvCxnSpPr>
            <p:nvPr/>
          </p:nvCxnSpPr>
          <p:spPr>
            <a:xfrm flipV="1">
              <a:off x="4296137" y="3741120"/>
              <a:ext cx="0" cy="1044974"/>
            </a:xfrm>
            <a:prstGeom prst="straightConnector1">
              <a:avLst/>
            </a:prstGeom>
            <a:ln w="22225">
              <a:prstDash val="sysDot"/>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645EAEC5-27EE-2A6E-1274-1FF47004C0C8}"/>
                </a:ext>
              </a:extLst>
            </p:cNvPr>
            <p:cNvSpPr txBox="1"/>
            <p:nvPr/>
          </p:nvSpPr>
          <p:spPr>
            <a:xfrm>
              <a:off x="4018002" y="4077777"/>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grpSp>
      <p:pic>
        <p:nvPicPr>
          <p:cNvPr id="5" name="図 4" descr="テーブル&#10;&#10;AI によって生成されたコンテンツは間違っている可能性があります。">
            <a:extLst>
              <a:ext uri="{FF2B5EF4-FFF2-40B4-BE49-F238E27FC236}">
                <a16:creationId xmlns:a16="http://schemas.microsoft.com/office/drawing/2014/main" id="{FB0DD4B4-B3A2-4146-57A9-09BF8893976D}"/>
              </a:ext>
            </a:extLst>
          </p:cNvPr>
          <p:cNvPicPr>
            <a:picLocks noChangeAspect="1"/>
          </p:cNvPicPr>
          <p:nvPr/>
        </p:nvPicPr>
        <p:blipFill>
          <a:blip r:embed="rId2"/>
          <a:stretch>
            <a:fillRect/>
          </a:stretch>
        </p:blipFill>
        <p:spPr>
          <a:xfrm>
            <a:off x="685800" y="1864802"/>
            <a:ext cx="7772400" cy="1809723"/>
          </a:xfrm>
          <a:prstGeom prst="rect">
            <a:avLst/>
          </a:prstGeom>
        </p:spPr>
      </p:pic>
    </p:spTree>
    <p:extLst>
      <p:ext uri="{BB962C8B-B14F-4D97-AF65-F5344CB8AC3E}">
        <p14:creationId xmlns:p14="http://schemas.microsoft.com/office/powerpoint/2010/main" val="2139538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136EEE-58E4-4953-B578-CEEE8E3D4954}"/>
              </a:ext>
            </a:extLst>
          </p:cNvPr>
          <p:cNvSpPr>
            <a:spLocks noGrp="1"/>
          </p:cNvSpPr>
          <p:nvPr>
            <p:ph type="title"/>
          </p:nvPr>
        </p:nvSpPr>
        <p:spPr/>
        <p:txBody>
          <a:bodyPr/>
          <a:lstStyle/>
          <a:p>
            <a:r>
              <a:rPr lang="ja-GB" dirty="0"/>
              <a:t>計算機で気象予報をする仕組み</a:t>
            </a:r>
          </a:p>
        </p:txBody>
      </p:sp>
      <p:pic>
        <p:nvPicPr>
          <p:cNvPr id="6" name="コンテンツ プレースホルダー 5" descr="グラフィカル ユーザー インターフェイス が含まれている画像&#10;&#10;AI によって生成されたコンテンツは間違っている可能性があります。">
            <a:extLst>
              <a:ext uri="{FF2B5EF4-FFF2-40B4-BE49-F238E27FC236}">
                <a16:creationId xmlns:a16="http://schemas.microsoft.com/office/drawing/2014/main" id="{02F0AD4E-AFAB-527C-7A5E-17E76EDCD0F8}"/>
              </a:ext>
            </a:extLst>
          </p:cNvPr>
          <p:cNvPicPr>
            <a:picLocks noGrp="1" noChangeAspect="1"/>
          </p:cNvPicPr>
          <p:nvPr>
            <p:ph idx="1"/>
          </p:nvPr>
        </p:nvPicPr>
        <p:blipFill>
          <a:blip r:embed="rId3" cstate="print">
            <a:extLst>
              <a:ext uri="{28A0092B-C50C-407E-A947-70E740481C1C}">
                <a14:useLocalDpi xmlns:a14="http://schemas.microsoft.com/office/drawing/2010/main"/>
              </a:ext>
            </a:extLst>
          </a:blip>
          <a:stretch>
            <a:fillRect/>
          </a:stretch>
        </p:blipFill>
        <p:spPr>
          <a:xfrm>
            <a:off x="186186" y="702221"/>
            <a:ext cx="4290609" cy="6003925"/>
          </a:xfrm>
        </p:spPr>
      </p:pic>
      <p:sp>
        <p:nvSpPr>
          <p:cNvPr id="4" name="テキスト ボックス 3">
            <a:extLst>
              <a:ext uri="{FF2B5EF4-FFF2-40B4-BE49-F238E27FC236}">
                <a16:creationId xmlns:a16="http://schemas.microsoft.com/office/drawing/2014/main" id="{A5A637B8-344A-6960-4FA5-1D806FDB2638}"/>
              </a:ext>
            </a:extLst>
          </p:cNvPr>
          <p:cNvSpPr txBox="1"/>
          <p:nvPr/>
        </p:nvSpPr>
        <p:spPr>
          <a:xfrm>
            <a:off x="4476795" y="5916991"/>
            <a:ext cx="4639347" cy="892552"/>
          </a:xfrm>
          <a:prstGeom prst="rect">
            <a:avLst/>
          </a:prstGeom>
          <a:noFill/>
        </p:spPr>
        <p:txBody>
          <a:bodyPr wrap="none" rtlCol="0">
            <a:spAutoFit/>
          </a:bodyPr>
          <a:lstStyle/>
          <a:p>
            <a:pPr algn="ctr"/>
            <a:r>
              <a:rPr lang="ja-GB" sz="1600" dirty="0"/>
              <a:t>出典：気象庁ホームページ</a:t>
            </a:r>
            <a:br>
              <a:rPr lang="ja-GB" sz="1600" dirty="0"/>
            </a:br>
            <a:r>
              <a:rPr lang="ja-GB" sz="1200" b="1" dirty="0">
                <a:solidFill>
                  <a:schemeClr val="tx1">
                    <a:lumMod val="50000"/>
                    <a:lumOff val="50000"/>
                  </a:schemeClr>
                </a:solidFill>
              </a:rPr>
              <a:t>（</a:t>
            </a:r>
            <a:r>
              <a:rPr lang="ja-JP" altLang="en-US" sz="1200" b="1">
                <a:solidFill>
                  <a:schemeClr val="tx1">
                    <a:lumMod val="50000"/>
                    <a:lumOff val="50000"/>
                  </a:schemeClr>
                </a:solidFill>
              </a:rPr>
              <a:t>公共データ利用規約（第</a:t>
            </a:r>
            <a:r>
              <a:rPr lang="en-US" altLang="ja-JP" sz="1200" b="1" dirty="0">
                <a:solidFill>
                  <a:schemeClr val="tx1">
                    <a:lumMod val="50000"/>
                    <a:lumOff val="50000"/>
                  </a:schemeClr>
                </a:solidFill>
              </a:rPr>
              <a:t>1.0</a:t>
            </a:r>
            <a:r>
              <a:rPr lang="ja-JP" altLang="en-US" sz="1200" b="1">
                <a:solidFill>
                  <a:schemeClr val="tx1">
                    <a:lumMod val="50000"/>
                    <a:lumOff val="50000"/>
                  </a:schemeClr>
                </a:solidFill>
              </a:rPr>
              <a:t>版）に従って引用）</a:t>
            </a:r>
            <a:br>
              <a:rPr lang="en-US" altLang="ja-JP" sz="1200" dirty="0"/>
            </a:br>
            <a:r>
              <a:rPr lang="ja-JP" altLang="en-US" sz="1200"/>
              <a:t>左：</a:t>
            </a:r>
            <a:r>
              <a:rPr lang="en-GB" sz="1200" dirty="0">
                <a:hlinkClick r:id="rId4"/>
              </a:rPr>
              <a:t>https://www.jma.go.jp/jma/kishou/books/nwpleaflet/index.html</a:t>
            </a:r>
            <a:r>
              <a:rPr lang="en-US" sz="1200" dirty="0"/>
              <a:t> </a:t>
            </a:r>
          </a:p>
          <a:p>
            <a:pPr algn="ctr"/>
            <a:r>
              <a:rPr lang="ja-JP" altLang="en-US" sz="1200"/>
              <a:t>右：</a:t>
            </a:r>
            <a:r>
              <a:rPr lang="en-GB" altLang="ja-JP" sz="1200" dirty="0">
                <a:hlinkClick r:id="rId5"/>
              </a:rPr>
              <a:t>https://www.jma.go.jp/jma/kishou/know/whitep/1-3-1.html</a:t>
            </a:r>
            <a:r>
              <a:rPr lang="en-GB" altLang="ja-JP" sz="1200" dirty="0"/>
              <a:t>         </a:t>
            </a:r>
            <a:endParaRPr lang="en-US" sz="1200" dirty="0"/>
          </a:p>
        </p:txBody>
      </p:sp>
      <p:pic>
        <p:nvPicPr>
          <p:cNvPr id="10" name="図 9" descr="ダイアグラム&#10;&#10;AI によって生成されたコンテンツは間違っている可能性があります。">
            <a:extLst>
              <a:ext uri="{FF2B5EF4-FFF2-40B4-BE49-F238E27FC236}">
                <a16:creationId xmlns:a16="http://schemas.microsoft.com/office/drawing/2014/main" id="{73FE0E4D-52ED-89B3-8435-40ECD2E37E8F}"/>
              </a:ext>
            </a:extLst>
          </p:cNvPr>
          <p:cNvPicPr>
            <a:picLocks noChangeAspect="1"/>
          </p:cNvPicPr>
          <p:nvPr/>
        </p:nvPicPr>
        <p:blipFill>
          <a:blip r:embed="rId6"/>
          <a:stretch>
            <a:fillRect/>
          </a:stretch>
        </p:blipFill>
        <p:spPr>
          <a:xfrm>
            <a:off x="4438217" y="702221"/>
            <a:ext cx="4716502" cy="3379659"/>
          </a:xfrm>
          <a:prstGeom prst="rect">
            <a:avLst/>
          </a:prstGeom>
        </p:spPr>
      </p:pic>
      <p:sp>
        <p:nvSpPr>
          <p:cNvPr id="11" name="テキスト ボックス 10">
            <a:extLst>
              <a:ext uri="{FF2B5EF4-FFF2-40B4-BE49-F238E27FC236}">
                <a16:creationId xmlns:a16="http://schemas.microsoft.com/office/drawing/2014/main" id="{202076E3-5C4C-FCD3-70BA-D4B30981BD92}"/>
              </a:ext>
            </a:extLst>
          </p:cNvPr>
          <p:cNvSpPr txBox="1"/>
          <p:nvPr/>
        </p:nvSpPr>
        <p:spPr>
          <a:xfrm>
            <a:off x="4438217" y="4306938"/>
            <a:ext cx="4634602" cy="1384995"/>
          </a:xfrm>
          <a:prstGeom prst="rect">
            <a:avLst/>
          </a:prstGeom>
          <a:noFill/>
        </p:spPr>
        <p:txBody>
          <a:bodyPr wrap="none" rtlCol="0">
            <a:spAutoFit/>
          </a:bodyPr>
          <a:lstStyle/>
          <a:p>
            <a:pPr algn="ctr"/>
            <a:r>
              <a:rPr lang="ja-GB" sz="2000" dirty="0">
                <a:solidFill>
                  <a:schemeClr val="accent2"/>
                </a:solidFill>
              </a:rPr>
              <a:t>気象予報の計算</a:t>
            </a:r>
          </a:p>
          <a:p>
            <a:pPr marL="342900" indent="-342900">
              <a:buFont typeface="+mj-lt"/>
              <a:buAutoNum type="arabicPeriod"/>
            </a:pPr>
            <a:r>
              <a:rPr lang="ja-GB" sz="1600" dirty="0"/>
              <a:t>「気象の時間変化」を計算式に記述</a:t>
            </a:r>
          </a:p>
          <a:p>
            <a:pPr marL="342900" indent="-342900">
              <a:buFont typeface="+mj-lt"/>
              <a:buAutoNum type="arabicPeriod"/>
            </a:pPr>
            <a:r>
              <a:rPr lang="ja-GB" sz="1600" dirty="0"/>
              <a:t>「現在の気象」として式に観測データを代入</a:t>
            </a:r>
          </a:p>
          <a:p>
            <a:pPr marL="342900" indent="-342900">
              <a:buFont typeface="+mj-lt"/>
              <a:buAutoNum type="arabicPeriod"/>
            </a:pPr>
            <a:r>
              <a:rPr lang="ja-GB" sz="1600" dirty="0"/>
              <a:t>「未来の気象状況」を計算</a:t>
            </a:r>
          </a:p>
          <a:p>
            <a:pPr marL="342900" indent="-342900">
              <a:buFont typeface="+mj-lt"/>
              <a:buAutoNum type="arabicPeriod"/>
            </a:pPr>
            <a:r>
              <a:rPr lang="ja-GB" sz="1600" dirty="0"/>
              <a:t>雨量予測図など人間に分かりやすい形で出力</a:t>
            </a:r>
          </a:p>
        </p:txBody>
      </p:sp>
    </p:spTree>
    <p:extLst>
      <p:ext uri="{BB962C8B-B14F-4D97-AF65-F5344CB8AC3E}">
        <p14:creationId xmlns:p14="http://schemas.microsoft.com/office/powerpoint/2010/main" val="848193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5C496-7375-CA5B-05E4-12FE22E93D42}"/>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91DC452-90D0-98FD-DACB-50DBD1D6E540}"/>
              </a:ext>
            </a:extLst>
          </p:cNvPr>
          <p:cNvSpPr/>
          <p:nvPr/>
        </p:nvSpPr>
        <p:spPr>
          <a:xfrm>
            <a:off x="636204" y="4468502"/>
            <a:ext cx="2944084" cy="112993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8" name="正方形/長方形 7">
            <a:extLst>
              <a:ext uri="{FF2B5EF4-FFF2-40B4-BE49-F238E27FC236}">
                <a16:creationId xmlns:a16="http://schemas.microsoft.com/office/drawing/2014/main" id="{B6694031-74C0-0310-4908-9253014064B6}"/>
              </a:ext>
            </a:extLst>
          </p:cNvPr>
          <p:cNvSpPr/>
          <p:nvPr/>
        </p:nvSpPr>
        <p:spPr>
          <a:xfrm>
            <a:off x="637674" y="1128837"/>
            <a:ext cx="7796463" cy="197317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sp>
        <p:nvSpPr>
          <p:cNvPr id="2" name="タイトル 1">
            <a:extLst>
              <a:ext uri="{FF2B5EF4-FFF2-40B4-BE49-F238E27FC236}">
                <a16:creationId xmlns:a16="http://schemas.microsoft.com/office/drawing/2014/main" id="{2B511883-BE32-5C3F-5F7B-ABEB0E55208A}"/>
              </a:ext>
            </a:extLst>
          </p:cNvPr>
          <p:cNvSpPr>
            <a:spLocks noGrp="1"/>
          </p:cNvSpPr>
          <p:nvPr>
            <p:ph type="title"/>
          </p:nvPr>
        </p:nvSpPr>
        <p:spPr/>
        <p:txBody>
          <a:bodyPr/>
          <a:lstStyle/>
          <a:p>
            <a:r>
              <a:rPr lang="ja-GB" dirty="0"/>
              <a:t>どうして“計算機“で様々なことができるのか？</a:t>
            </a:r>
          </a:p>
        </p:txBody>
      </p:sp>
      <p:pic>
        <p:nvPicPr>
          <p:cNvPr id="4" name="図 3">
            <a:extLst>
              <a:ext uri="{FF2B5EF4-FFF2-40B4-BE49-F238E27FC236}">
                <a16:creationId xmlns:a16="http://schemas.microsoft.com/office/drawing/2014/main" id="{DA832BBE-EACE-0EA7-1FE5-3C0C369311BA}"/>
              </a:ext>
            </a:extLst>
          </p:cNvPr>
          <p:cNvPicPr>
            <a:picLocks noChangeAspect="1"/>
          </p:cNvPicPr>
          <p:nvPr/>
        </p:nvPicPr>
        <p:blipFill>
          <a:blip r:embed="rId2"/>
          <a:stretch>
            <a:fillRect/>
          </a:stretch>
        </p:blipFill>
        <p:spPr>
          <a:xfrm>
            <a:off x="1445737" y="2363318"/>
            <a:ext cx="1811395" cy="536476"/>
          </a:xfrm>
          <a:prstGeom prst="rect">
            <a:avLst/>
          </a:prstGeom>
        </p:spPr>
      </p:pic>
      <p:pic>
        <p:nvPicPr>
          <p:cNvPr id="5" name="図 4">
            <a:extLst>
              <a:ext uri="{FF2B5EF4-FFF2-40B4-BE49-F238E27FC236}">
                <a16:creationId xmlns:a16="http://schemas.microsoft.com/office/drawing/2014/main" id="{E9C27690-47DA-F203-9BE2-97CEE371355F}"/>
              </a:ext>
            </a:extLst>
          </p:cNvPr>
          <p:cNvPicPr>
            <a:picLocks noChangeAspect="1"/>
          </p:cNvPicPr>
          <p:nvPr/>
        </p:nvPicPr>
        <p:blipFill>
          <a:blip r:embed="rId3"/>
          <a:stretch>
            <a:fillRect/>
          </a:stretch>
        </p:blipFill>
        <p:spPr>
          <a:xfrm>
            <a:off x="3582529" y="2363318"/>
            <a:ext cx="2106165" cy="536476"/>
          </a:xfrm>
          <a:prstGeom prst="rect">
            <a:avLst/>
          </a:prstGeom>
        </p:spPr>
      </p:pic>
      <p:pic>
        <p:nvPicPr>
          <p:cNvPr id="6" name="図 5">
            <a:extLst>
              <a:ext uri="{FF2B5EF4-FFF2-40B4-BE49-F238E27FC236}">
                <a16:creationId xmlns:a16="http://schemas.microsoft.com/office/drawing/2014/main" id="{89BF56F7-F15B-9092-0CD5-C00B97C0DAEC}"/>
              </a:ext>
            </a:extLst>
          </p:cNvPr>
          <p:cNvPicPr>
            <a:picLocks noChangeAspect="1"/>
          </p:cNvPicPr>
          <p:nvPr/>
        </p:nvPicPr>
        <p:blipFill>
          <a:blip r:embed="rId4"/>
          <a:stretch>
            <a:fillRect/>
          </a:stretch>
        </p:blipFill>
        <p:spPr>
          <a:xfrm>
            <a:off x="5919224" y="2358680"/>
            <a:ext cx="2298073" cy="541998"/>
          </a:xfrm>
          <a:prstGeom prst="rect">
            <a:avLst/>
          </a:prstGeom>
        </p:spPr>
      </p:pic>
      <p:sp>
        <p:nvSpPr>
          <p:cNvPr id="9" name="テキスト ボックス 8">
            <a:extLst>
              <a:ext uri="{FF2B5EF4-FFF2-40B4-BE49-F238E27FC236}">
                <a16:creationId xmlns:a16="http://schemas.microsoft.com/office/drawing/2014/main" id="{1C44DE1A-E821-455F-443D-4CFE2975EE42}"/>
              </a:ext>
            </a:extLst>
          </p:cNvPr>
          <p:cNvSpPr txBox="1"/>
          <p:nvPr/>
        </p:nvSpPr>
        <p:spPr>
          <a:xfrm>
            <a:off x="314325" y="746140"/>
            <a:ext cx="2868093" cy="430887"/>
          </a:xfrm>
          <a:prstGeom prst="rect">
            <a:avLst/>
          </a:prstGeom>
          <a:noFill/>
        </p:spPr>
        <p:txBody>
          <a:bodyPr wrap="none" rtlCol="0">
            <a:spAutoFit/>
          </a:bodyPr>
          <a:lstStyle/>
          <a:p>
            <a:r>
              <a:rPr lang="ja-GB" sz="2200" b="1" dirty="0">
                <a:solidFill>
                  <a:srgbClr val="2F2523"/>
                </a:solidFill>
                <a:latin typeface="Yu Gothic UI" panose="020B0500000000000000" pitchFamily="34" charset="-128"/>
                <a:ea typeface="Yu Gothic UI" panose="020B0500000000000000" pitchFamily="34" charset="-128"/>
              </a:rPr>
              <a:t>素朴な“計算“のイメージ</a:t>
            </a:r>
          </a:p>
        </p:txBody>
      </p:sp>
      <p:sp>
        <p:nvSpPr>
          <p:cNvPr id="11" name="テキスト ボックス 10">
            <a:extLst>
              <a:ext uri="{FF2B5EF4-FFF2-40B4-BE49-F238E27FC236}">
                <a16:creationId xmlns:a16="http://schemas.microsoft.com/office/drawing/2014/main" id="{AF697482-4EF2-A5E4-904A-C4FF64C994A7}"/>
              </a:ext>
            </a:extLst>
          </p:cNvPr>
          <p:cNvSpPr txBox="1"/>
          <p:nvPr/>
        </p:nvSpPr>
        <p:spPr>
          <a:xfrm>
            <a:off x="312855" y="4060497"/>
            <a:ext cx="3520516" cy="430887"/>
          </a:xfrm>
          <a:prstGeom prst="rect">
            <a:avLst/>
          </a:prstGeom>
          <a:noFill/>
        </p:spPr>
        <p:txBody>
          <a:bodyPr wrap="none" rtlCol="0">
            <a:spAutoFit/>
          </a:bodyPr>
          <a:lstStyle/>
          <a:p>
            <a:r>
              <a:rPr lang="ja-GB" sz="2200" b="1" dirty="0">
                <a:solidFill>
                  <a:srgbClr val="2F2523"/>
                </a:solidFill>
                <a:latin typeface="Yu Gothic UI" panose="020B0500000000000000" pitchFamily="34" charset="-128"/>
                <a:ea typeface="Yu Gothic UI" panose="020B0500000000000000" pitchFamily="34" charset="-128"/>
              </a:rPr>
              <a:t>素朴な“コンピュータ”のイメージ</a:t>
            </a:r>
          </a:p>
        </p:txBody>
      </p:sp>
      <p:cxnSp>
        <p:nvCxnSpPr>
          <p:cNvPr id="13" name="直線矢印コネクタ 12">
            <a:extLst>
              <a:ext uri="{FF2B5EF4-FFF2-40B4-BE49-F238E27FC236}">
                <a16:creationId xmlns:a16="http://schemas.microsoft.com/office/drawing/2014/main" id="{C86D7B24-EA34-7EB7-C9AC-EA472831B99A}"/>
              </a:ext>
            </a:extLst>
          </p:cNvPr>
          <p:cNvCxnSpPr>
            <a:cxnSpLocks/>
          </p:cNvCxnSpPr>
          <p:nvPr/>
        </p:nvCxnSpPr>
        <p:spPr>
          <a:xfrm>
            <a:off x="1440264" y="3202948"/>
            <a:ext cx="0" cy="844979"/>
          </a:xfrm>
          <a:prstGeom prst="straightConnector1">
            <a:avLst/>
          </a:prstGeom>
          <a:ln w="76200">
            <a:solidFill>
              <a:schemeClr val="tx1">
                <a:lumMod val="85000"/>
                <a:lumOff val="1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A48A102-81A0-7DB3-FA85-068984E8C5E2}"/>
              </a:ext>
            </a:extLst>
          </p:cNvPr>
          <p:cNvSpPr txBox="1"/>
          <p:nvPr/>
        </p:nvSpPr>
        <p:spPr>
          <a:xfrm>
            <a:off x="0" y="1173451"/>
            <a:ext cx="6623929" cy="1200329"/>
          </a:xfrm>
          <a:prstGeom prst="rect">
            <a:avLst/>
          </a:prstGeom>
          <a:noFill/>
        </p:spPr>
        <p:txBody>
          <a:bodyPr wrap="none" rtlCol="0">
            <a:spAutoFit/>
          </a:bodyPr>
          <a:lstStyle/>
          <a:p>
            <a:pPr marL="914400" lvl="2" indent="0">
              <a:buNone/>
            </a:pPr>
            <a:r>
              <a:rPr lang="en-US" b="1" dirty="0">
                <a:latin typeface="Yu Gothic UI" panose="020B0500000000000000" pitchFamily="34" charset="-128"/>
                <a:ea typeface="Yu Gothic UI" panose="020B0500000000000000" pitchFamily="34" charset="-128"/>
              </a:rPr>
              <a:t>例1）四則演算</a:t>
            </a:r>
          </a:p>
          <a:p>
            <a:pPr lvl="3"/>
            <a:r>
              <a:rPr lang="ja-GB" b="1" dirty="0">
                <a:latin typeface="Yu Gothic UI" panose="020B0500000000000000" pitchFamily="34" charset="-128"/>
                <a:ea typeface="Yu Gothic UI" panose="020B0500000000000000" pitchFamily="34" charset="-128"/>
              </a:rPr>
              <a:t>3+5=8，10-3=7，4×8=32，7÷2=3.5（3あまり1）</a:t>
            </a:r>
          </a:p>
          <a:p>
            <a:pPr lvl="3"/>
            <a:endParaRPr lang="ja-GB" b="1" dirty="0">
              <a:latin typeface="Yu Gothic UI" panose="020B0500000000000000" pitchFamily="34" charset="-128"/>
              <a:ea typeface="Yu Gothic UI" panose="020B0500000000000000" pitchFamily="34" charset="-128"/>
            </a:endParaRPr>
          </a:p>
          <a:p>
            <a:pPr marL="914400" lvl="2" indent="0">
              <a:buNone/>
            </a:pPr>
            <a:r>
              <a:rPr lang="ja-GB" b="1" dirty="0">
                <a:latin typeface="Yu Gothic UI" panose="020B0500000000000000" pitchFamily="34" charset="-128"/>
                <a:ea typeface="Yu Gothic UI" panose="020B0500000000000000" pitchFamily="34" charset="-128"/>
              </a:rPr>
              <a:t>例2）数学の計算問題</a:t>
            </a:r>
          </a:p>
        </p:txBody>
      </p:sp>
      <p:sp>
        <p:nvSpPr>
          <p:cNvPr id="12" name="テキスト ボックス 11">
            <a:extLst>
              <a:ext uri="{FF2B5EF4-FFF2-40B4-BE49-F238E27FC236}">
                <a16:creationId xmlns:a16="http://schemas.microsoft.com/office/drawing/2014/main" id="{3DE5EC49-74BE-C933-F34A-24B64F248F94}"/>
              </a:ext>
            </a:extLst>
          </p:cNvPr>
          <p:cNvSpPr txBox="1"/>
          <p:nvPr/>
        </p:nvSpPr>
        <p:spPr>
          <a:xfrm>
            <a:off x="312855" y="4565936"/>
            <a:ext cx="2900153" cy="923330"/>
          </a:xfrm>
          <a:prstGeom prst="rect">
            <a:avLst/>
          </a:prstGeom>
          <a:noFill/>
        </p:spPr>
        <p:txBody>
          <a:bodyPr wrap="none" rtlCol="0">
            <a:spAutoFit/>
          </a:bodyPr>
          <a:lstStyle/>
          <a:p>
            <a:pPr lvl="1"/>
            <a:r>
              <a:rPr lang="ja-GB" b="1" dirty="0">
                <a:latin typeface="Yu Gothic UI" panose="020B0500000000000000" pitchFamily="34" charset="-128"/>
                <a:ea typeface="Yu Gothic UI" panose="020B0500000000000000" pitchFamily="34" charset="-128"/>
              </a:rPr>
              <a:t>Wordでレポートを作る</a:t>
            </a:r>
          </a:p>
          <a:p>
            <a:pPr lvl="1"/>
            <a:r>
              <a:rPr lang="ja-GB" b="1" dirty="0">
                <a:latin typeface="Yu Gothic UI" panose="020B0500000000000000" pitchFamily="34" charset="-128"/>
                <a:ea typeface="Yu Gothic UI" panose="020B0500000000000000" pitchFamily="34" charset="-128"/>
              </a:rPr>
              <a:t>Amazonで買い物をする</a:t>
            </a:r>
          </a:p>
          <a:p>
            <a:pPr lvl="1"/>
            <a:r>
              <a:rPr lang="ja-GB" b="1" dirty="0">
                <a:latin typeface="Yu Gothic UI" panose="020B0500000000000000" pitchFamily="34" charset="-128"/>
                <a:ea typeface="Yu Gothic UI" panose="020B0500000000000000" pitchFamily="34" charset="-128"/>
              </a:rPr>
              <a:t>YouTubeで動画を見る</a:t>
            </a:r>
          </a:p>
        </p:txBody>
      </p:sp>
      <p:sp>
        <p:nvSpPr>
          <p:cNvPr id="16" name="テキスト ボックス 15">
            <a:extLst>
              <a:ext uri="{FF2B5EF4-FFF2-40B4-BE49-F238E27FC236}">
                <a16:creationId xmlns:a16="http://schemas.microsoft.com/office/drawing/2014/main" id="{185959B2-0D17-C061-874A-6B0432740D73}"/>
              </a:ext>
            </a:extLst>
          </p:cNvPr>
          <p:cNvSpPr txBox="1"/>
          <p:nvPr/>
        </p:nvSpPr>
        <p:spPr>
          <a:xfrm>
            <a:off x="3833371" y="4704435"/>
            <a:ext cx="4972835" cy="646331"/>
          </a:xfrm>
          <a:prstGeom prst="rect">
            <a:avLst/>
          </a:prstGeom>
          <a:noFill/>
        </p:spPr>
        <p:txBody>
          <a:bodyPr wrap="none" rtlCol="0">
            <a:spAutoFit/>
          </a:bodyPr>
          <a:lstStyle/>
          <a:p>
            <a:pPr algn="ctr"/>
            <a:r>
              <a:rPr lang="ja-GB" b="1" dirty="0">
                <a:solidFill>
                  <a:schemeClr val="accent2"/>
                </a:solidFill>
                <a:latin typeface="Yu Gothic UI" panose="020B0500000000000000" pitchFamily="34" charset="-128"/>
                <a:ea typeface="Yu Gothic UI" panose="020B0500000000000000" pitchFamily="34" charset="-128"/>
              </a:rPr>
              <a:t>文字や画像などあらゆる情報を数値として表すことで</a:t>
            </a:r>
            <a:br>
              <a:rPr lang="ja-GB" b="1" dirty="0">
                <a:solidFill>
                  <a:schemeClr val="accent2"/>
                </a:solidFill>
                <a:latin typeface="Yu Gothic UI" panose="020B0500000000000000" pitchFamily="34" charset="-128"/>
                <a:ea typeface="Yu Gothic UI" panose="020B0500000000000000" pitchFamily="34" charset="-128"/>
              </a:rPr>
            </a:br>
            <a:r>
              <a:rPr lang="ja-GB" b="1" dirty="0">
                <a:solidFill>
                  <a:schemeClr val="accent2"/>
                </a:solidFill>
                <a:latin typeface="Yu Gothic UI" panose="020B0500000000000000" pitchFamily="34" charset="-128"/>
                <a:ea typeface="Yu Gothic UI" panose="020B0500000000000000" pitchFamily="34" charset="-128"/>
              </a:rPr>
              <a:t>様々な機能を計算</a:t>
            </a:r>
            <a:r>
              <a:rPr lang="ja-GB" altLang="en-US" b="1" dirty="0">
                <a:solidFill>
                  <a:schemeClr val="accent2"/>
                </a:solidFill>
                <a:latin typeface="Yu Gothic UI" panose="020B0500000000000000" pitchFamily="34" charset="-128"/>
                <a:ea typeface="Yu Gothic UI" panose="020B0500000000000000" pitchFamily="34" charset="-128"/>
              </a:rPr>
              <a:t>問題に表現できる</a:t>
            </a:r>
            <a:endParaRPr lang="ja-GB" b="1" dirty="0">
              <a:solidFill>
                <a:schemeClr val="accent2"/>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579406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EED8-A95D-0ABF-7FB9-2CD284CC7B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1A8952-C5C5-F83B-B987-C5A582EFCDD2}"/>
              </a:ext>
            </a:extLst>
          </p:cNvPr>
          <p:cNvSpPr>
            <a:spLocks noGrp="1"/>
          </p:cNvSpPr>
          <p:nvPr>
            <p:ph type="title"/>
          </p:nvPr>
        </p:nvSpPr>
        <p:spPr/>
        <p:txBody>
          <a:bodyPr>
            <a:normAutofit/>
          </a:bodyPr>
          <a:lstStyle/>
          <a:p>
            <a:r>
              <a:rPr kumimoji="1" lang="ja-GB" altLang="en-US" dirty="0"/>
              <a:t>第</a:t>
            </a:r>
            <a:r>
              <a:rPr kumimoji="1" lang="en-US" altLang="ja-GB" dirty="0"/>
              <a:t>1</a:t>
            </a:r>
            <a:r>
              <a:rPr kumimoji="1" lang="ja-GB" altLang="en-US" dirty="0"/>
              <a:t>回内容：計算機とプログラムによる自動化</a:t>
            </a:r>
          </a:p>
        </p:txBody>
      </p:sp>
      <p:sp>
        <p:nvSpPr>
          <p:cNvPr id="3" name="コンテンツ プレースホルダー 2">
            <a:extLst>
              <a:ext uri="{FF2B5EF4-FFF2-40B4-BE49-F238E27FC236}">
                <a16:creationId xmlns:a16="http://schemas.microsoft.com/office/drawing/2014/main" id="{E9619026-5EE1-DFE9-C6ED-F47FEF9E0140}"/>
              </a:ext>
            </a:extLst>
          </p:cNvPr>
          <p:cNvSpPr>
            <a:spLocks noGrp="1"/>
          </p:cNvSpPr>
          <p:nvPr>
            <p:ph idx="1"/>
          </p:nvPr>
        </p:nvSpPr>
        <p:spPr/>
        <p:txBody>
          <a:bodyPr/>
          <a:lstStyle/>
          <a:p>
            <a:pPr marL="457200" indent="-457200">
              <a:buFont typeface="+mj-lt"/>
              <a:buAutoNum type="arabicPeriod"/>
            </a:pPr>
            <a:r>
              <a:rPr kumimoji="1" lang="ja-JP" altLang="en-US">
                <a:solidFill>
                  <a:schemeClr val="tx1">
                    <a:lumMod val="50000"/>
                    <a:lumOff val="50000"/>
                  </a:schemeClr>
                </a:solidFill>
              </a:rPr>
              <a:t>コンピュータとは何か</a:t>
            </a:r>
          </a:p>
          <a:p>
            <a:pPr lvl="1"/>
            <a:r>
              <a:rPr kumimoji="1" lang="ja-JP" altLang="en-US">
                <a:solidFill>
                  <a:schemeClr val="tx1">
                    <a:lumMod val="50000"/>
                    <a:lumOff val="50000"/>
                  </a:schemeClr>
                </a:solidFill>
              </a:rPr>
              <a:t>自動で計算する道具（計算機）</a:t>
            </a:r>
          </a:p>
          <a:p>
            <a:pPr lvl="1"/>
            <a:r>
              <a:rPr kumimoji="1" lang="ja-JP" altLang="en-US">
                <a:solidFill>
                  <a:schemeClr val="tx1">
                    <a:lumMod val="50000"/>
                    <a:lumOff val="50000"/>
                  </a:schemeClr>
                </a:solidFill>
              </a:rPr>
              <a:t>計算機が様々な情報処理を行う仕組み</a:t>
            </a:r>
          </a:p>
          <a:p>
            <a:pPr lvl="1"/>
            <a:endParaRPr kumimoji="1" lang="ja-JP" altLang="en-US"/>
          </a:p>
          <a:p>
            <a:pPr marL="457200" indent="-457200">
              <a:buFont typeface="+mj-lt"/>
              <a:buAutoNum type="arabicPeriod"/>
            </a:pPr>
            <a:r>
              <a:rPr kumimoji="1" lang="ja-JP" altLang="en-US"/>
              <a:t>計算の自動化</a:t>
            </a:r>
          </a:p>
          <a:p>
            <a:pPr lvl="1"/>
            <a:r>
              <a:rPr kumimoji="1" lang="ja-JP" altLang="en-US"/>
              <a:t>計算機とプログラム</a:t>
            </a:r>
          </a:p>
          <a:p>
            <a:pPr lvl="1"/>
            <a:r>
              <a:rPr kumimoji="1" lang="ja-JP" altLang="en-US"/>
              <a:t>計算の組み合わせで作られる機能・サービス</a:t>
            </a:r>
          </a:p>
          <a:p>
            <a:pPr lvl="1"/>
            <a:endParaRPr lang="ja-GB" altLang="ja-GB" dirty="0"/>
          </a:p>
          <a:p>
            <a:pPr marL="457200" indent="-457200">
              <a:buFont typeface="+mj-lt"/>
              <a:buAutoNum type="arabicPeriod"/>
            </a:pPr>
            <a:r>
              <a:rPr lang="ja-GB" altLang="en-US" dirty="0">
                <a:solidFill>
                  <a:schemeClr val="tx1">
                    <a:lumMod val="50000"/>
                    <a:lumOff val="50000"/>
                  </a:schemeClr>
                </a:solidFill>
              </a:rPr>
              <a:t>情報通信技術と社会の情報化</a:t>
            </a:r>
            <a:endParaRPr lang="ja-GB" altLang="ja-GB" dirty="0">
              <a:solidFill>
                <a:schemeClr val="tx1">
                  <a:lumMod val="50000"/>
                  <a:lumOff val="50000"/>
                </a:schemeClr>
              </a:solidFill>
            </a:endParaRPr>
          </a:p>
          <a:p>
            <a:pPr lvl="1"/>
            <a:r>
              <a:rPr lang="ja-GB" altLang="en-US" dirty="0">
                <a:solidFill>
                  <a:schemeClr val="tx1">
                    <a:lumMod val="50000"/>
                    <a:lumOff val="50000"/>
                  </a:schemeClr>
                </a:solidFill>
              </a:rPr>
              <a:t>インターネット・</a:t>
            </a:r>
            <a:r>
              <a:rPr lang="en-US" altLang="ja-GB" dirty="0">
                <a:solidFill>
                  <a:schemeClr val="tx1">
                    <a:lumMod val="50000"/>
                    <a:lumOff val="50000"/>
                  </a:schemeClr>
                </a:solidFill>
              </a:rPr>
              <a:t>IoT</a:t>
            </a:r>
            <a:r>
              <a:rPr lang="ja-GB" altLang="en-US" dirty="0">
                <a:solidFill>
                  <a:schemeClr val="tx1">
                    <a:lumMod val="50000"/>
                    <a:lumOff val="50000"/>
                  </a:schemeClr>
                </a:solidFill>
              </a:rPr>
              <a:t>による情報の集積</a:t>
            </a:r>
            <a:endParaRPr lang="ja-GB" altLang="ja-GB" dirty="0">
              <a:solidFill>
                <a:schemeClr val="tx1">
                  <a:lumMod val="50000"/>
                  <a:lumOff val="50000"/>
                </a:schemeClr>
              </a:solidFill>
            </a:endParaRPr>
          </a:p>
          <a:p>
            <a:pPr lvl="1"/>
            <a:r>
              <a:rPr lang="ja-GB" altLang="en-US" dirty="0">
                <a:solidFill>
                  <a:schemeClr val="tx1">
                    <a:lumMod val="50000"/>
                    <a:lumOff val="50000"/>
                  </a:schemeClr>
                </a:solidFill>
              </a:rPr>
              <a:t>情報を分析・活用する技術の発達</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情報社会の問題解決</a:t>
            </a:r>
            <a:endParaRPr lang="ja-GB" altLang="ja-GB" dirty="0">
              <a:solidFill>
                <a:schemeClr val="tx1">
                  <a:lumMod val="50000"/>
                  <a:lumOff val="50000"/>
                </a:schemeClr>
              </a:solidFill>
            </a:endParaRPr>
          </a:p>
        </p:txBody>
      </p:sp>
    </p:spTree>
    <p:extLst>
      <p:ext uri="{BB962C8B-B14F-4D97-AF65-F5344CB8AC3E}">
        <p14:creationId xmlns:p14="http://schemas.microsoft.com/office/powerpoint/2010/main" val="82037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BA99B-51E0-AE6C-7996-9C18B18306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AC67AA-AB40-C711-7D19-E85AA19D6F33}"/>
              </a:ext>
            </a:extLst>
          </p:cNvPr>
          <p:cNvSpPr>
            <a:spLocks noGrp="1"/>
          </p:cNvSpPr>
          <p:nvPr>
            <p:ph type="title"/>
          </p:nvPr>
        </p:nvSpPr>
        <p:spPr/>
        <p:txBody>
          <a:bodyPr/>
          <a:lstStyle/>
          <a:p>
            <a:r>
              <a:rPr lang="ja-GB" dirty="0"/>
              <a:t>計算の自動化</a:t>
            </a:r>
          </a:p>
        </p:txBody>
      </p:sp>
      <p:sp>
        <p:nvSpPr>
          <p:cNvPr id="3" name="コンテンツ プレースホルダー 2">
            <a:extLst>
              <a:ext uri="{FF2B5EF4-FFF2-40B4-BE49-F238E27FC236}">
                <a16:creationId xmlns:a16="http://schemas.microsoft.com/office/drawing/2014/main" id="{42DA374D-C2FC-C1D9-F2E6-7B8FE273835B}"/>
              </a:ext>
            </a:extLst>
          </p:cNvPr>
          <p:cNvSpPr>
            <a:spLocks noGrp="1"/>
          </p:cNvSpPr>
          <p:nvPr>
            <p:ph idx="1"/>
          </p:nvPr>
        </p:nvSpPr>
        <p:spPr/>
        <p:txBody>
          <a:bodyPr/>
          <a:lstStyle/>
          <a:p>
            <a:pPr marL="0" indent="0">
              <a:buNone/>
            </a:pPr>
            <a:r>
              <a:rPr lang="ja-GB" dirty="0"/>
              <a:t>計算機は計算を自動で行う機械</a:t>
            </a:r>
          </a:p>
          <a:p>
            <a:pPr marL="457200" lvl="1" indent="0">
              <a:buNone/>
            </a:pPr>
            <a:r>
              <a:rPr lang="ja-GB" dirty="0">
                <a:solidFill>
                  <a:srgbClr val="2F2523"/>
                </a:solidFill>
              </a:rPr>
              <a:t>→</a:t>
            </a:r>
            <a:r>
              <a:rPr lang="ja-GB" dirty="0">
                <a:solidFill>
                  <a:srgbClr val="0070C0"/>
                </a:solidFill>
              </a:rPr>
              <a:t>計算の手順として書かれていれば</a:t>
            </a:r>
            <a:r>
              <a:rPr lang="ja-GB" dirty="0">
                <a:solidFill>
                  <a:srgbClr val="2F2523"/>
                </a:solidFill>
              </a:rPr>
              <a:t>様々な情報処理を自動化できる</a:t>
            </a:r>
          </a:p>
          <a:p>
            <a:endParaRPr lang="ja-GB" dirty="0">
              <a:solidFill>
                <a:srgbClr val="2F2523"/>
              </a:solidFill>
            </a:endParaRPr>
          </a:p>
          <a:p>
            <a:pPr marL="0" indent="0">
              <a:buNone/>
            </a:pPr>
            <a:r>
              <a:rPr lang="ja-GB" dirty="0"/>
              <a:t>プログラム（program）</a:t>
            </a:r>
          </a:p>
          <a:p>
            <a:pPr lvl="1"/>
            <a:r>
              <a:rPr lang="en-GB" dirty="0">
                <a:solidFill>
                  <a:srgbClr val="0070C0"/>
                </a:solidFill>
              </a:rPr>
              <a:t>P</a:t>
            </a:r>
            <a:r>
              <a:rPr lang="ja-GB" dirty="0">
                <a:solidFill>
                  <a:srgbClr val="0070C0"/>
                </a:solidFill>
              </a:rPr>
              <a:t>ro + gram：あらかじめ + 書かれたもの</a:t>
            </a:r>
          </a:p>
          <a:p>
            <a:pPr lvl="2"/>
            <a:r>
              <a:rPr lang="ja-GB" dirty="0"/>
              <a:t>例1）四則演算</a:t>
            </a:r>
          </a:p>
          <a:p>
            <a:pPr lvl="2"/>
            <a:r>
              <a:rPr lang="ja-GB" dirty="0"/>
              <a:t>例2）フローチャート</a:t>
            </a:r>
          </a:p>
          <a:p>
            <a:pPr lvl="2"/>
            <a:r>
              <a:rPr lang="ja-GB" dirty="0">
                <a:solidFill>
                  <a:srgbClr val="2F2523"/>
                </a:solidFill>
              </a:rPr>
              <a:t>例3）アルゴリズム，プログラミング言語で書かれたソースコード</a:t>
            </a:r>
          </a:p>
        </p:txBody>
      </p:sp>
      <p:pic>
        <p:nvPicPr>
          <p:cNvPr id="4" name="図 3" descr="テキスト&#10;&#10;AI によって生成されたコンテンツは間違っている可能性があります。">
            <a:extLst>
              <a:ext uri="{FF2B5EF4-FFF2-40B4-BE49-F238E27FC236}">
                <a16:creationId xmlns:a16="http://schemas.microsoft.com/office/drawing/2014/main" id="{15E7D32C-BEB6-E5FC-527D-1735D9A9A05A}"/>
              </a:ext>
            </a:extLst>
          </p:cNvPr>
          <p:cNvPicPr>
            <a:picLocks noChangeAspect="1"/>
          </p:cNvPicPr>
          <p:nvPr/>
        </p:nvPicPr>
        <p:blipFill>
          <a:blip r:embed="rId2"/>
          <a:stretch>
            <a:fillRect/>
          </a:stretch>
        </p:blipFill>
        <p:spPr>
          <a:xfrm>
            <a:off x="2419640" y="3954156"/>
            <a:ext cx="4304720" cy="1695352"/>
          </a:xfrm>
          <a:prstGeom prst="rect">
            <a:avLst/>
          </a:prstGeom>
        </p:spPr>
      </p:pic>
      <p:pic>
        <p:nvPicPr>
          <p:cNvPr id="5" name="図 4">
            <a:extLst>
              <a:ext uri="{FF2B5EF4-FFF2-40B4-BE49-F238E27FC236}">
                <a16:creationId xmlns:a16="http://schemas.microsoft.com/office/drawing/2014/main" id="{5048B3D4-6608-6556-A700-AADE8330D354}"/>
              </a:ext>
            </a:extLst>
          </p:cNvPr>
          <p:cNvPicPr>
            <a:picLocks noChangeAspect="1"/>
          </p:cNvPicPr>
          <p:nvPr/>
        </p:nvPicPr>
        <p:blipFill>
          <a:blip r:embed="rId3"/>
          <a:srcRect b="92464"/>
          <a:stretch/>
        </p:blipFill>
        <p:spPr>
          <a:xfrm>
            <a:off x="314325" y="5837426"/>
            <a:ext cx="8021748" cy="782343"/>
          </a:xfrm>
          <a:prstGeom prst="rect">
            <a:avLst/>
          </a:prstGeom>
        </p:spPr>
      </p:pic>
    </p:spTree>
    <p:extLst>
      <p:ext uri="{BB962C8B-B14F-4D97-AF65-F5344CB8AC3E}">
        <p14:creationId xmlns:p14="http://schemas.microsoft.com/office/powerpoint/2010/main" val="766041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B6A1F5-B08F-C48C-4BA1-231AFD208022}"/>
              </a:ext>
            </a:extLst>
          </p:cNvPr>
          <p:cNvSpPr>
            <a:spLocks noGrp="1"/>
          </p:cNvSpPr>
          <p:nvPr>
            <p:ph type="title"/>
          </p:nvPr>
        </p:nvSpPr>
        <p:spPr/>
        <p:txBody>
          <a:bodyPr>
            <a:normAutofit/>
          </a:bodyPr>
          <a:lstStyle/>
          <a:p>
            <a:r>
              <a:rPr lang="ja-GB" dirty="0"/>
              <a:t>「プログラム」で「計算」を組み合わせて機能を作る</a:t>
            </a:r>
          </a:p>
        </p:txBody>
      </p:sp>
      <p:sp>
        <p:nvSpPr>
          <p:cNvPr id="3" name="コンテンツ プレースホルダー 2">
            <a:extLst>
              <a:ext uri="{FF2B5EF4-FFF2-40B4-BE49-F238E27FC236}">
                <a16:creationId xmlns:a16="http://schemas.microsoft.com/office/drawing/2014/main" id="{715D8F55-DAB2-8480-028A-255F98C0BFB7}"/>
              </a:ext>
            </a:extLst>
          </p:cNvPr>
          <p:cNvSpPr>
            <a:spLocks noGrp="1"/>
          </p:cNvSpPr>
          <p:nvPr>
            <p:ph idx="1"/>
          </p:nvPr>
        </p:nvSpPr>
        <p:spPr/>
        <p:txBody>
          <a:bodyPr/>
          <a:lstStyle/>
          <a:p>
            <a:pPr marL="0" indent="0">
              <a:buNone/>
            </a:pPr>
            <a:r>
              <a:rPr lang="ja-GB" dirty="0"/>
              <a:t>例1：Word</a:t>
            </a:r>
          </a:p>
          <a:p>
            <a:pPr marL="914400" lvl="1" indent="-457200">
              <a:buFont typeface="+mj-lt"/>
              <a:buAutoNum type="arabicPeriod"/>
            </a:pPr>
            <a:r>
              <a:rPr lang="ja-GB" dirty="0"/>
              <a:t>キーボードで入力された文字を数列として記憶</a:t>
            </a:r>
          </a:p>
          <a:p>
            <a:pPr marL="914400" lvl="1" indent="-457200">
              <a:buFont typeface="+mj-lt"/>
              <a:buAutoNum type="arabicPeriod"/>
            </a:pPr>
            <a:r>
              <a:rPr lang="ja-GB" dirty="0"/>
              <a:t>カーソルの場所（何行目の何文字目）を記憶</a:t>
            </a:r>
          </a:p>
          <a:p>
            <a:pPr marL="914400" lvl="1" indent="-457200">
              <a:buFont typeface="+mj-lt"/>
              <a:buAutoNum type="arabicPeriod"/>
            </a:pPr>
            <a:r>
              <a:rPr lang="ja-GB" dirty="0"/>
              <a:t>新しい文字が入力されたら，その位置に「文字を表す数値」を挿入</a:t>
            </a:r>
          </a:p>
          <a:p>
            <a:pPr marL="914400" lvl="1" indent="-457200">
              <a:buFont typeface="+mj-lt"/>
              <a:buAutoNum type="arabicPeriod"/>
            </a:pPr>
            <a:r>
              <a:rPr lang="ja-GB" dirty="0"/>
              <a:t>「文字を表す数値の列」を「対応するフォント」に置き換えて表示</a:t>
            </a:r>
          </a:p>
          <a:p>
            <a:pPr marL="2286000" lvl="4" indent="-457200">
              <a:buFont typeface="+mj-lt"/>
              <a:buAutoNum type="arabicPeriod"/>
            </a:pPr>
            <a:endParaRPr lang="ja-GB" dirty="0"/>
          </a:p>
          <a:p>
            <a:pPr marL="0" indent="0">
              <a:buNone/>
            </a:pPr>
            <a:r>
              <a:rPr lang="ja-GB" dirty="0"/>
              <a:t>例2：YouTube</a:t>
            </a:r>
          </a:p>
          <a:p>
            <a:pPr marL="914400" lvl="1" indent="-457200">
              <a:buFont typeface="+mj-lt"/>
              <a:buAutoNum type="arabicPeriod"/>
            </a:pPr>
            <a:r>
              <a:rPr lang="ja-GB" dirty="0"/>
              <a:t>動画が投稿されたら識別番号（ID）を割り振り，動画データを紐付ける</a:t>
            </a:r>
          </a:p>
          <a:p>
            <a:pPr marL="914400" lvl="1" indent="-457200">
              <a:buFont typeface="+mj-lt"/>
              <a:buAutoNum type="arabicPeriod"/>
            </a:pPr>
            <a:r>
              <a:rPr lang="ja-GB" dirty="0"/>
              <a:t>アプリは指定された動画に対応するIDをサーバーにリクエスト</a:t>
            </a:r>
          </a:p>
          <a:p>
            <a:pPr marL="914400" lvl="1" indent="-457200">
              <a:buFont typeface="+mj-lt"/>
              <a:buAutoNum type="arabicPeriod"/>
            </a:pPr>
            <a:r>
              <a:rPr lang="ja-GB" dirty="0"/>
              <a:t>サーバーはIDに対応するデータをアプリに送信</a:t>
            </a:r>
          </a:p>
          <a:p>
            <a:pPr marL="914400" lvl="1" indent="-457200">
              <a:buFont typeface="+mj-lt"/>
              <a:buAutoNum type="arabicPeriod"/>
            </a:pPr>
            <a:r>
              <a:rPr lang="ja-GB" dirty="0"/>
              <a:t>アプリはデータを動画としてディスプレイに表示</a:t>
            </a:r>
          </a:p>
          <a:p>
            <a:pPr lvl="4"/>
            <a:endParaRPr lang="ja-GB" dirty="0"/>
          </a:p>
          <a:p>
            <a:pPr marL="0" indent="0">
              <a:buNone/>
            </a:pPr>
            <a:r>
              <a:rPr lang="ja-GB" dirty="0"/>
              <a:t>例3：自動販売機</a:t>
            </a:r>
          </a:p>
          <a:p>
            <a:pPr marL="914400" lvl="1" indent="-457200">
              <a:buFont typeface="+mj-lt"/>
              <a:buAutoNum type="arabicPeriod"/>
            </a:pPr>
            <a:endParaRPr lang="ja-GB" dirty="0"/>
          </a:p>
        </p:txBody>
      </p:sp>
      <p:pic>
        <p:nvPicPr>
          <p:cNvPr id="7" name="図 6">
            <a:extLst>
              <a:ext uri="{FF2B5EF4-FFF2-40B4-BE49-F238E27FC236}">
                <a16:creationId xmlns:a16="http://schemas.microsoft.com/office/drawing/2014/main" id="{D170C2B9-56C9-44B1-51B0-8C8AC187BD1E}"/>
              </a:ext>
            </a:extLst>
          </p:cNvPr>
          <p:cNvPicPr>
            <a:picLocks noChangeAspect="1"/>
          </p:cNvPicPr>
          <p:nvPr/>
        </p:nvPicPr>
        <p:blipFill>
          <a:blip r:embed="rId3">
            <a:clrChange>
              <a:clrFrom>
                <a:srgbClr val="000000">
                  <a:alpha val="0"/>
                </a:srgbClr>
              </a:clrFrom>
              <a:clrTo>
                <a:srgbClr val="000000">
                  <a:alpha val="0"/>
                </a:srgbClr>
              </a:clrTo>
            </a:clrChange>
          </a:blip>
          <a:srcRect b="89306"/>
          <a:stretch/>
        </p:blipFill>
        <p:spPr>
          <a:xfrm>
            <a:off x="64099" y="5250086"/>
            <a:ext cx="9015801" cy="1247775"/>
          </a:xfrm>
          <a:prstGeom prst="rect">
            <a:avLst/>
          </a:prstGeom>
        </p:spPr>
      </p:pic>
    </p:spTree>
    <p:extLst>
      <p:ext uri="{BB962C8B-B14F-4D97-AF65-F5344CB8AC3E}">
        <p14:creationId xmlns:p14="http://schemas.microsoft.com/office/powerpoint/2010/main" val="52808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5F07-2D85-7FD3-F78C-16CF9766A3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1C1E57-7B20-8AF9-87FB-0BAE7DDF6F82}"/>
              </a:ext>
            </a:extLst>
          </p:cNvPr>
          <p:cNvSpPr>
            <a:spLocks noGrp="1"/>
          </p:cNvSpPr>
          <p:nvPr>
            <p:ph type="title"/>
          </p:nvPr>
        </p:nvSpPr>
        <p:spPr/>
        <p:txBody>
          <a:bodyPr/>
          <a:lstStyle/>
          <a:p>
            <a:r>
              <a:rPr lang="ja-GB" altLang="en-US" dirty="0"/>
              <a:t>概説：</a:t>
            </a:r>
            <a:r>
              <a:rPr lang="ja-JP" altLang="en-US"/>
              <a:t>計算機</a:t>
            </a:r>
            <a:r>
              <a:rPr lang="ja-JP" altLang="en-US" dirty="0"/>
              <a:t>とはなにか？なぜ学ぶのか？</a:t>
            </a:r>
            <a:endParaRPr kumimoji="1" lang="ja-GB" altLang="en-US" dirty="0"/>
          </a:p>
        </p:txBody>
      </p:sp>
      <p:sp>
        <p:nvSpPr>
          <p:cNvPr id="3" name="コンテンツ プレースホルダー 2">
            <a:extLst>
              <a:ext uri="{FF2B5EF4-FFF2-40B4-BE49-F238E27FC236}">
                <a16:creationId xmlns:a16="http://schemas.microsoft.com/office/drawing/2014/main" id="{F85E25F0-D252-7995-412E-1FAE74A5E326}"/>
              </a:ext>
            </a:extLst>
          </p:cNvPr>
          <p:cNvSpPr>
            <a:spLocks noGrp="1"/>
          </p:cNvSpPr>
          <p:nvPr>
            <p:ph idx="1"/>
          </p:nvPr>
        </p:nvSpPr>
        <p:spPr/>
        <p:txBody>
          <a:bodyPr>
            <a:normAutofit/>
          </a:bodyPr>
          <a:lstStyle/>
          <a:p>
            <a:pPr marL="0" indent="0">
              <a:buNone/>
            </a:pPr>
            <a:r>
              <a:rPr kumimoji="1" lang="ja-GB" altLang="en-US" sz="2000" dirty="0"/>
              <a:t>コンピュータとプログラム</a:t>
            </a:r>
            <a:endParaRPr kumimoji="1" lang="en-US" altLang="ja-GB" sz="2000" dirty="0"/>
          </a:p>
          <a:p>
            <a:pPr marL="457200" lvl="1" indent="0">
              <a:buNone/>
            </a:pPr>
            <a:r>
              <a:rPr lang="ja-GB" altLang="en-US" sz="1800" dirty="0">
                <a:solidFill>
                  <a:srgbClr val="2F2523"/>
                </a:solidFill>
              </a:rPr>
              <a:t>コンピュータは自動で</a:t>
            </a:r>
            <a:r>
              <a:rPr lang="en-US" altLang="ja-GB" sz="1800" dirty="0">
                <a:solidFill>
                  <a:srgbClr val="2F2523"/>
                </a:solidFill>
              </a:rPr>
              <a:t>”</a:t>
            </a:r>
            <a:r>
              <a:rPr lang="ja-GB" altLang="en-US" sz="1800" dirty="0">
                <a:solidFill>
                  <a:srgbClr val="2F2523"/>
                </a:solidFill>
              </a:rPr>
              <a:t>計算</a:t>
            </a:r>
            <a:r>
              <a:rPr lang="en-US" altLang="ja-GB" sz="1800" dirty="0">
                <a:solidFill>
                  <a:srgbClr val="2F2523"/>
                </a:solidFill>
              </a:rPr>
              <a:t>”</a:t>
            </a:r>
            <a:r>
              <a:rPr lang="ja-GB" altLang="en-US" sz="1800" dirty="0">
                <a:solidFill>
                  <a:srgbClr val="2F2523"/>
                </a:solidFill>
              </a:rPr>
              <a:t>を行う装置</a:t>
            </a:r>
            <a:endParaRPr lang="en-US" altLang="ja-GB" sz="1800" dirty="0">
              <a:solidFill>
                <a:srgbClr val="2F2523"/>
              </a:solidFill>
            </a:endParaRPr>
          </a:p>
          <a:p>
            <a:pPr marL="914400" lvl="2" indent="0">
              <a:buNone/>
            </a:pPr>
            <a:r>
              <a:rPr lang="ja-GB" altLang="en-US" sz="1600" dirty="0"/>
              <a:t>→</a:t>
            </a:r>
            <a:r>
              <a:rPr lang="ja-GB" altLang="en-US" sz="1600" dirty="0">
                <a:solidFill>
                  <a:schemeClr val="accent2"/>
                </a:solidFill>
              </a:rPr>
              <a:t>計算の仕方を書いておけば情報処理を自動化できる</a:t>
            </a:r>
            <a:endParaRPr lang="en-US" altLang="ja-GB" sz="1600" dirty="0">
              <a:solidFill>
                <a:schemeClr val="accent2"/>
              </a:solidFill>
            </a:endParaRPr>
          </a:p>
          <a:p>
            <a:pPr marL="457200" lvl="1" indent="0">
              <a:buNone/>
            </a:pPr>
            <a:r>
              <a:rPr kumimoji="1" lang="ja-GB" altLang="en-US" sz="1800" dirty="0">
                <a:solidFill>
                  <a:srgbClr val="2F2523"/>
                </a:solidFill>
              </a:rPr>
              <a:t>プログラムは計算手順を予め書いたもの</a:t>
            </a:r>
            <a:endParaRPr kumimoji="1" lang="en-US" altLang="ja-GB" sz="1800" dirty="0">
              <a:solidFill>
                <a:srgbClr val="2F2523"/>
              </a:solidFill>
            </a:endParaRPr>
          </a:p>
          <a:p>
            <a:pPr lvl="1"/>
            <a:endParaRPr kumimoji="1" lang="en-US" altLang="ja-GB" sz="1800" dirty="0"/>
          </a:p>
          <a:p>
            <a:pPr marL="0" indent="0">
              <a:buNone/>
            </a:pPr>
            <a:r>
              <a:rPr lang="ja-GB" altLang="en-US" sz="2000" dirty="0">
                <a:solidFill>
                  <a:schemeClr val="tx1">
                    <a:lumMod val="50000"/>
                    <a:lumOff val="50000"/>
                  </a:schemeClr>
                </a:solidFill>
              </a:rPr>
              <a:t>情報通信技術と社会の情報化</a:t>
            </a:r>
            <a:endParaRPr lang="en-US" altLang="ja-GB" sz="2000" dirty="0">
              <a:solidFill>
                <a:schemeClr val="tx1">
                  <a:lumMod val="50000"/>
                  <a:lumOff val="50000"/>
                </a:schemeClr>
              </a:solidFill>
            </a:endParaRPr>
          </a:p>
          <a:p>
            <a:pPr marL="457200" lvl="1" indent="0">
              <a:buNone/>
            </a:pPr>
            <a:r>
              <a:rPr kumimoji="1" lang="ja-GB" altLang="en-US" sz="1800" dirty="0">
                <a:solidFill>
                  <a:schemeClr val="tx1">
                    <a:lumMod val="50000"/>
                    <a:lumOff val="50000"/>
                  </a:schemeClr>
                </a:solidFill>
              </a:rPr>
              <a:t>インターネット・</a:t>
            </a:r>
            <a:r>
              <a:rPr kumimoji="1" lang="en-US" altLang="ja-GB" sz="1800" dirty="0">
                <a:solidFill>
                  <a:schemeClr val="tx1">
                    <a:lumMod val="50000"/>
                    <a:lumOff val="50000"/>
                  </a:schemeClr>
                </a:solidFill>
              </a:rPr>
              <a:t>IoT</a:t>
            </a:r>
            <a:r>
              <a:rPr lang="ja-GB" altLang="en-US" sz="1800" dirty="0">
                <a:solidFill>
                  <a:schemeClr val="tx1">
                    <a:lumMod val="50000"/>
                    <a:lumOff val="50000"/>
                  </a:schemeClr>
                </a:solidFill>
              </a:rPr>
              <a:t>は物理・仮想世界で</a:t>
            </a:r>
            <a:r>
              <a:rPr kumimoji="1" lang="ja-GB" altLang="en-US" sz="1800" dirty="0">
                <a:solidFill>
                  <a:schemeClr val="tx1">
                    <a:lumMod val="50000"/>
                    <a:lumOff val="50000"/>
                  </a:schemeClr>
                </a:solidFill>
              </a:rPr>
              <a:t>膨大な情報を集積可能にする技術</a:t>
            </a:r>
            <a:endParaRPr lang="en-US" altLang="ja-GB" sz="1800" dirty="0">
              <a:solidFill>
                <a:schemeClr val="tx1">
                  <a:lumMod val="50000"/>
                  <a:lumOff val="50000"/>
                </a:schemeClr>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情報を分析・活用する技術（データ科学や</a:t>
            </a:r>
            <a:r>
              <a:rPr kumimoji="1" lang="en-US" altLang="ja-GB" sz="1600" dirty="0">
                <a:solidFill>
                  <a:schemeClr val="tx1">
                    <a:lumMod val="50000"/>
                    <a:lumOff val="50000"/>
                  </a:schemeClr>
                </a:solidFill>
              </a:rPr>
              <a:t>AI</a:t>
            </a:r>
            <a:r>
              <a:rPr kumimoji="1" lang="ja-GB" altLang="en-US" sz="1600" dirty="0">
                <a:solidFill>
                  <a:schemeClr val="tx1">
                    <a:lumMod val="50000"/>
                    <a:lumOff val="50000"/>
                  </a:schemeClr>
                </a:solidFill>
              </a:rPr>
              <a:t>）が発展する</a:t>
            </a:r>
            <a:endParaRPr kumimoji="1" lang="en-US" altLang="ja-GB" sz="1600" dirty="0">
              <a:solidFill>
                <a:schemeClr val="tx1">
                  <a:lumMod val="50000"/>
                  <a:lumOff val="50000"/>
                </a:schemeClr>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現実問題を「情報世界の問題」に変換すれば，情報技術の力を借りて解決できる</a:t>
            </a:r>
            <a:endParaRPr kumimoji="1" lang="en-US" altLang="ja-GB" sz="1600" dirty="0">
              <a:solidFill>
                <a:schemeClr val="tx1">
                  <a:lumMod val="50000"/>
                  <a:lumOff val="50000"/>
                </a:schemeClr>
              </a:solidFill>
            </a:endParaRPr>
          </a:p>
          <a:p>
            <a:pPr marL="457200" lvl="1" indent="0">
              <a:buNone/>
            </a:pPr>
            <a:r>
              <a:rPr kumimoji="1" lang="en-US" altLang="ja-GB" sz="1800" dirty="0">
                <a:solidFill>
                  <a:schemeClr val="tx1">
                    <a:lumMod val="50000"/>
                    <a:lumOff val="50000"/>
                  </a:schemeClr>
                </a:solidFill>
              </a:rPr>
              <a:t>Industry4.0</a:t>
            </a:r>
            <a:r>
              <a:rPr kumimoji="1" lang="ja-GB" altLang="en-US" sz="1800" dirty="0">
                <a:solidFill>
                  <a:schemeClr val="tx1">
                    <a:lumMod val="50000"/>
                    <a:lumOff val="50000"/>
                  </a:schemeClr>
                </a:solidFill>
              </a:rPr>
              <a:t>・</a:t>
            </a:r>
            <a:r>
              <a:rPr kumimoji="1" lang="en-US" altLang="ja-GB" sz="1800" dirty="0">
                <a:solidFill>
                  <a:schemeClr val="tx1">
                    <a:lumMod val="50000"/>
                    <a:lumOff val="50000"/>
                  </a:schemeClr>
                </a:solidFill>
              </a:rPr>
              <a:t>Society5.0</a:t>
            </a:r>
            <a:r>
              <a:rPr kumimoji="1" lang="ja-GB" altLang="en-US" sz="1800" dirty="0">
                <a:solidFill>
                  <a:schemeClr val="tx1">
                    <a:lumMod val="50000"/>
                    <a:lumOff val="50000"/>
                  </a:schemeClr>
                </a:solidFill>
              </a:rPr>
              <a:t>は情報を集積・分析して産業・社会を最適化する構想</a:t>
            </a:r>
            <a:endParaRPr kumimoji="1" lang="en-US" altLang="ja-GB" sz="1800" dirty="0">
              <a:solidFill>
                <a:schemeClr val="tx1">
                  <a:lumMod val="50000"/>
                  <a:lumOff val="50000"/>
                </a:schemeClr>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産業・社会での情報技術活用を推進するため，</a:t>
            </a:r>
            <a:r>
              <a:rPr lang="ja-GB" altLang="en-US" sz="1600" dirty="0">
                <a:solidFill>
                  <a:schemeClr val="tx1">
                    <a:lumMod val="50000"/>
                    <a:lumOff val="50000"/>
                  </a:schemeClr>
                </a:solidFill>
              </a:rPr>
              <a:t> 国民全員が情報を学ぶ方針になる</a:t>
            </a:r>
            <a:endParaRPr kumimoji="1" lang="en-US" altLang="ja-GB" sz="1600" dirty="0">
              <a:solidFill>
                <a:schemeClr val="tx1">
                  <a:lumMod val="50000"/>
                  <a:lumOff val="50000"/>
                </a:schemeClr>
              </a:solidFill>
            </a:endParaRPr>
          </a:p>
          <a:p>
            <a:pPr lvl="4"/>
            <a:endParaRPr kumimoji="1" lang="en-US" altLang="ja-GB" sz="500" dirty="0">
              <a:solidFill>
                <a:schemeClr val="tx1">
                  <a:lumMod val="50000"/>
                  <a:lumOff val="50000"/>
                </a:schemeClr>
              </a:solidFill>
            </a:endParaRPr>
          </a:p>
        </p:txBody>
      </p:sp>
    </p:spTree>
    <p:extLst>
      <p:ext uri="{BB962C8B-B14F-4D97-AF65-F5344CB8AC3E}">
        <p14:creationId xmlns:p14="http://schemas.microsoft.com/office/powerpoint/2010/main" val="54787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CF2FD-AB64-6CD3-72DE-91201C91CF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3F0C87-61E4-E177-2EBB-9B3253D1864D}"/>
              </a:ext>
            </a:extLst>
          </p:cNvPr>
          <p:cNvSpPr>
            <a:spLocks noGrp="1"/>
          </p:cNvSpPr>
          <p:nvPr>
            <p:ph type="title"/>
          </p:nvPr>
        </p:nvSpPr>
        <p:spPr/>
        <p:txBody>
          <a:bodyPr>
            <a:normAutofit/>
          </a:bodyPr>
          <a:lstStyle/>
          <a:p>
            <a:r>
              <a:rPr kumimoji="1" lang="ja-GB" altLang="en-US" dirty="0"/>
              <a:t>第</a:t>
            </a:r>
            <a:r>
              <a:rPr kumimoji="1" lang="en-US" altLang="ja-GB" dirty="0"/>
              <a:t>1</a:t>
            </a:r>
            <a:r>
              <a:rPr kumimoji="1" lang="ja-GB" altLang="en-US" dirty="0"/>
              <a:t>回内容：計算機とプログラムによる自動化</a:t>
            </a:r>
          </a:p>
        </p:txBody>
      </p:sp>
      <p:sp>
        <p:nvSpPr>
          <p:cNvPr id="3" name="コンテンツ プレースホルダー 2">
            <a:extLst>
              <a:ext uri="{FF2B5EF4-FFF2-40B4-BE49-F238E27FC236}">
                <a16:creationId xmlns:a16="http://schemas.microsoft.com/office/drawing/2014/main" id="{8FDB2E4E-EDC0-F943-28D9-241E9D878425}"/>
              </a:ext>
            </a:extLst>
          </p:cNvPr>
          <p:cNvSpPr>
            <a:spLocks noGrp="1"/>
          </p:cNvSpPr>
          <p:nvPr>
            <p:ph idx="1"/>
          </p:nvPr>
        </p:nvSpPr>
        <p:spPr/>
        <p:txBody>
          <a:bodyPr/>
          <a:lstStyle/>
          <a:p>
            <a:pPr marL="457200" indent="-457200">
              <a:buFont typeface="+mj-lt"/>
              <a:buAutoNum type="arabicPeriod"/>
            </a:pPr>
            <a:r>
              <a:rPr kumimoji="1" lang="ja-JP" altLang="en-US">
                <a:solidFill>
                  <a:schemeClr val="tx1">
                    <a:lumMod val="50000"/>
                    <a:lumOff val="50000"/>
                  </a:schemeClr>
                </a:solidFill>
              </a:rPr>
              <a:t>コンピュータとは何か</a:t>
            </a:r>
          </a:p>
          <a:p>
            <a:pPr lvl="1"/>
            <a:r>
              <a:rPr kumimoji="1" lang="ja-JP" altLang="en-US">
                <a:solidFill>
                  <a:schemeClr val="tx1">
                    <a:lumMod val="50000"/>
                    <a:lumOff val="50000"/>
                  </a:schemeClr>
                </a:solidFill>
              </a:rPr>
              <a:t>自動で計算する道具（計算機）</a:t>
            </a:r>
          </a:p>
          <a:p>
            <a:pPr lvl="1"/>
            <a:r>
              <a:rPr kumimoji="1" lang="ja-JP" altLang="en-US">
                <a:solidFill>
                  <a:schemeClr val="tx1">
                    <a:lumMod val="50000"/>
                    <a:lumOff val="50000"/>
                  </a:schemeClr>
                </a:solidFill>
              </a:rPr>
              <a:t>計算機が様々な情報処理を行う仕組み</a:t>
            </a:r>
          </a:p>
          <a:p>
            <a:pPr lvl="1"/>
            <a:endParaRPr kumimoji="1" lang="ja-JP" altLang="en-US">
              <a:solidFill>
                <a:schemeClr val="tx1">
                  <a:lumMod val="50000"/>
                  <a:lumOff val="50000"/>
                </a:schemeClr>
              </a:solidFill>
            </a:endParaRPr>
          </a:p>
          <a:p>
            <a:pPr marL="457200" indent="-457200">
              <a:buFont typeface="+mj-lt"/>
              <a:buAutoNum type="arabicPeriod"/>
            </a:pPr>
            <a:r>
              <a:rPr kumimoji="1" lang="ja-JP" altLang="en-US">
                <a:solidFill>
                  <a:schemeClr val="tx1">
                    <a:lumMod val="50000"/>
                    <a:lumOff val="50000"/>
                  </a:schemeClr>
                </a:solidFill>
              </a:rPr>
              <a:t>計算の自動化</a:t>
            </a:r>
          </a:p>
          <a:p>
            <a:pPr lvl="1"/>
            <a:r>
              <a:rPr kumimoji="1" lang="ja-JP" altLang="en-US">
                <a:solidFill>
                  <a:schemeClr val="tx1">
                    <a:lumMod val="50000"/>
                    <a:lumOff val="50000"/>
                  </a:schemeClr>
                </a:solidFill>
              </a:rPr>
              <a:t>計算機とプログラム</a:t>
            </a:r>
          </a:p>
          <a:p>
            <a:pPr lvl="1"/>
            <a:r>
              <a:rPr kumimoji="1" lang="ja-JP" altLang="en-US">
                <a:solidFill>
                  <a:schemeClr val="tx1">
                    <a:lumMod val="50000"/>
                    <a:lumOff val="50000"/>
                  </a:schemeClr>
                </a:solidFill>
              </a:rPr>
              <a:t>計算の組み合わせで作られる機能・サービス</a:t>
            </a:r>
          </a:p>
          <a:p>
            <a:pPr lvl="1"/>
            <a:endParaRPr lang="ja-GB" altLang="ja-GB" dirty="0"/>
          </a:p>
          <a:p>
            <a:pPr marL="457200" indent="-457200">
              <a:buFont typeface="+mj-lt"/>
              <a:buAutoNum type="arabicPeriod"/>
            </a:pPr>
            <a:r>
              <a:rPr lang="ja-GB" altLang="en-US" dirty="0"/>
              <a:t>情報通信技術と社会の情報化</a:t>
            </a:r>
            <a:endParaRPr lang="ja-GB" altLang="ja-GB" dirty="0"/>
          </a:p>
          <a:p>
            <a:pPr lvl="1"/>
            <a:r>
              <a:rPr lang="ja-GB" altLang="en-US" dirty="0"/>
              <a:t>インターネット・</a:t>
            </a:r>
            <a:r>
              <a:rPr lang="en-US" altLang="ja-GB" dirty="0"/>
              <a:t>IoT</a:t>
            </a:r>
            <a:r>
              <a:rPr lang="ja-GB" altLang="en-US" dirty="0"/>
              <a:t>による情報の集積</a:t>
            </a:r>
            <a:endParaRPr lang="ja-GB" altLang="ja-GB" dirty="0"/>
          </a:p>
          <a:p>
            <a:pPr lvl="1"/>
            <a:r>
              <a:rPr lang="ja-GB" altLang="en-US" dirty="0"/>
              <a:t>情報を分析・活用する技術の発達</a:t>
            </a:r>
            <a:endParaRPr lang="en-US" altLang="ja-GB" dirty="0"/>
          </a:p>
          <a:p>
            <a:pPr lvl="1"/>
            <a:r>
              <a:rPr lang="ja-GB" altLang="en-US" dirty="0"/>
              <a:t>情報社会の問題解決</a:t>
            </a:r>
            <a:endParaRPr lang="ja-GB" altLang="ja-GB" dirty="0"/>
          </a:p>
        </p:txBody>
      </p:sp>
    </p:spTree>
    <p:extLst>
      <p:ext uri="{BB962C8B-B14F-4D97-AF65-F5344CB8AC3E}">
        <p14:creationId xmlns:p14="http://schemas.microsoft.com/office/powerpoint/2010/main" val="2085431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74A2FB-6679-58B2-870B-CC8A348A3537}"/>
              </a:ext>
            </a:extLst>
          </p:cNvPr>
          <p:cNvSpPr>
            <a:spLocks noGrp="1"/>
          </p:cNvSpPr>
          <p:nvPr>
            <p:ph type="title"/>
          </p:nvPr>
        </p:nvSpPr>
        <p:spPr/>
        <p:txBody>
          <a:bodyPr/>
          <a:lstStyle/>
          <a:p>
            <a:r>
              <a:rPr kumimoji="1" lang="ja-GB" altLang="en-US" dirty="0"/>
              <a:t>通信・インターネットの発展</a:t>
            </a:r>
          </a:p>
        </p:txBody>
      </p:sp>
      <p:sp>
        <p:nvSpPr>
          <p:cNvPr id="3" name="コンテンツ プレースホルダー 2">
            <a:extLst>
              <a:ext uri="{FF2B5EF4-FFF2-40B4-BE49-F238E27FC236}">
                <a16:creationId xmlns:a16="http://schemas.microsoft.com/office/drawing/2014/main" id="{105AEEE8-9512-2795-8E5A-0F0994CEB7F1}"/>
              </a:ext>
            </a:extLst>
          </p:cNvPr>
          <p:cNvSpPr>
            <a:spLocks noGrp="1"/>
          </p:cNvSpPr>
          <p:nvPr>
            <p:ph idx="1"/>
          </p:nvPr>
        </p:nvSpPr>
        <p:spPr/>
        <p:txBody>
          <a:bodyPr>
            <a:normAutofit/>
          </a:bodyPr>
          <a:lstStyle/>
          <a:p>
            <a:pPr marL="0" indent="0">
              <a:buNone/>
            </a:pPr>
            <a:r>
              <a:rPr kumimoji="1" lang="ja-GB" altLang="en-US" sz="2000" dirty="0"/>
              <a:t>通信</a:t>
            </a:r>
            <a:r>
              <a:rPr lang="ja-GB" altLang="en-US" sz="2000" dirty="0"/>
              <a:t>：情報をやり取りする仕組み</a:t>
            </a:r>
            <a:endParaRPr lang="en-US" altLang="ja-GB" sz="2000" dirty="0"/>
          </a:p>
          <a:p>
            <a:pPr marL="914400" lvl="2" indent="0">
              <a:buNone/>
            </a:pPr>
            <a:r>
              <a:rPr kumimoji="1" lang="ja-GB" altLang="en-US" sz="1600" dirty="0"/>
              <a:t>例）狼煙，音声会話</a:t>
            </a:r>
            <a:r>
              <a:rPr lang="ja-GB" altLang="en-US" sz="1600" dirty="0"/>
              <a:t>，手紙</a:t>
            </a:r>
            <a:r>
              <a:rPr kumimoji="1" lang="ja-GB" altLang="en-US" sz="1600" dirty="0"/>
              <a:t>，モールス信号機，電話，インターネット</a:t>
            </a:r>
            <a:endParaRPr kumimoji="1" lang="en-US" altLang="ja-GB" sz="1600" dirty="0"/>
          </a:p>
          <a:p>
            <a:pPr lvl="1"/>
            <a:endParaRPr kumimoji="1" lang="en-US" altLang="ja-GB" sz="1800" dirty="0"/>
          </a:p>
          <a:p>
            <a:pPr marL="0" indent="0">
              <a:buNone/>
            </a:pPr>
            <a:r>
              <a:rPr kumimoji="1" lang="ja-GB" altLang="en-US" sz="2000" dirty="0"/>
              <a:t>インターネット</a:t>
            </a:r>
            <a:r>
              <a:rPr lang="ja-GB" altLang="en-US" sz="2000" dirty="0"/>
              <a:t>：世界中の計算機が互いに情報をやり取りできる仕組み</a:t>
            </a:r>
            <a:endParaRPr lang="en-US" altLang="ja-GB" sz="2000" dirty="0"/>
          </a:p>
          <a:p>
            <a:pPr marL="457200" lvl="1" indent="0">
              <a:buNone/>
            </a:pPr>
            <a:r>
              <a:rPr kumimoji="1" lang="ja-GB" altLang="en-US" sz="1800" dirty="0"/>
              <a:t>インターネットを基盤として様々なサービスが発達</a:t>
            </a:r>
            <a:endParaRPr kumimoji="1" lang="en-US" altLang="ja-GB" sz="1800" dirty="0"/>
          </a:p>
          <a:p>
            <a:pPr marL="914400" lvl="2" indent="0">
              <a:buNone/>
            </a:pPr>
            <a:r>
              <a:rPr lang="ja-GB" altLang="en-US" sz="1600" dirty="0"/>
              <a:t>例）</a:t>
            </a:r>
            <a:r>
              <a:rPr lang="en-US" altLang="ja-GB" sz="1600" dirty="0"/>
              <a:t>SNS</a:t>
            </a:r>
            <a:r>
              <a:rPr lang="ja-GB" altLang="en-US" sz="1600" dirty="0"/>
              <a:t>，</a:t>
            </a:r>
            <a:r>
              <a:rPr kumimoji="1" lang="ja-GB" altLang="en-US" sz="1600" dirty="0"/>
              <a:t>動画配信</a:t>
            </a:r>
            <a:r>
              <a:rPr lang="ja-GB" altLang="en-US" sz="1600" dirty="0"/>
              <a:t>，通販，銀行，データ管理，ビデオ会議</a:t>
            </a:r>
            <a:endParaRPr lang="en-US" altLang="ja-GB" sz="1600" dirty="0"/>
          </a:p>
          <a:p>
            <a:pPr lvl="2"/>
            <a:endParaRPr lang="en-US" altLang="ja-GB" sz="1600" dirty="0"/>
          </a:p>
          <a:p>
            <a:pPr marL="0" indent="0">
              <a:buNone/>
            </a:pPr>
            <a:r>
              <a:rPr kumimoji="1" lang="en-US" altLang="ja-GB" sz="2000" dirty="0"/>
              <a:t> IoT</a:t>
            </a:r>
            <a:r>
              <a:rPr lang="ja-GB" altLang="en-US" sz="2000" dirty="0"/>
              <a:t>（</a:t>
            </a:r>
            <a:r>
              <a:rPr lang="en-US" altLang="ja-GB" sz="2000" dirty="0"/>
              <a:t>I</a:t>
            </a:r>
            <a:r>
              <a:rPr kumimoji="1" lang="en-US" altLang="ja-GB" sz="2000" dirty="0"/>
              <a:t>nternet of Things</a:t>
            </a:r>
            <a:r>
              <a:rPr kumimoji="1" lang="ja-GB" altLang="en-US" sz="2000" dirty="0"/>
              <a:t>）： もののインターネット</a:t>
            </a:r>
            <a:endParaRPr kumimoji="1" lang="en-US" altLang="ja-GB" sz="2000" dirty="0"/>
          </a:p>
          <a:p>
            <a:pPr marL="457200" lvl="1" indent="0">
              <a:buNone/>
            </a:pPr>
            <a:r>
              <a:rPr kumimoji="1" lang="ja-GB" altLang="en-US" sz="1800" dirty="0"/>
              <a:t>インターネットを介して相互に情報をやり取りする物理的な機器や装置</a:t>
            </a:r>
            <a:endParaRPr kumimoji="1" lang="en-US" altLang="ja-GB" sz="1800" dirty="0"/>
          </a:p>
          <a:p>
            <a:pPr marL="914400" lvl="2" indent="0">
              <a:buNone/>
            </a:pPr>
            <a:r>
              <a:rPr lang="ja-GB" altLang="en-US" sz="1600" dirty="0"/>
              <a:t>例）スマホ，スマート家電，自動運転車，残量通知陳列棚</a:t>
            </a:r>
            <a:endParaRPr kumimoji="1" lang="en-US" altLang="ja-GB" sz="1600" dirty="0"/>
          </a:p>
          <a:p>
            <a:endParaRPr kumimoji="1" lang="en-US" altLang="ja-GB" sz="2200" dirty="0"/>
          </a:p>
          <a:p>
            <a:endParaRPr kumimoji="1" lang="en-US" altLang="ja-GB" sz="2200" dirty="0"/>
          </a:p>
          <a:p>
            <a:pPr marL="0" indent="0" algn="ctr">
              <a:buNone/>
            </a:pPr>
            <a:r>
              <a:rPr lang="ja-GB" altLang="en-US" dirty="0">
                <a:solidFill>
                  <a:schemeClr val="accent2"/>
                </a:solidFill>
              </a:rPr>
              <a:t>インターネットにより</a:t>
            </a:r>
            <a:r>
              <a:rPr kumimoji="1" lang="ja-GB" altLang="en-US" dirty="0">
                <a:solidFill>
                  <a:schemeClr val="accent2"/>
                </a:solidFill>
              </a:rPr>
              <a:t>仮想世界</a:t>
            </a:r>
            <a:r>
              <a:rPr kumimoji="1" lang="en-US" altLang="ja-GB" dirty="0">
                <a:solidFill>
                  <a:schemeClr val="accent2"/>
                </a:solidFill>
              </a:rPr>
              <a:t>+</a:t>
            </a:r>
            <a:r>
              <a:rPr kumimoji="1" lang="ja-GB" altLang="en-US" dirty="0">
                <a:solidFill>
                  <a:schemeClr val="accent2"/>
                </a:solidFill>
              </a:rPr>
              <a:t>現実世界の</a:t>
            </a:r>
            <a:endParaRPr lang="en-US" altLang="ja-GB" dirty="0">
              <a:solidFill>
                <a:schemeClr val="accent2"/>
              </a:solidFill>
            </a:endParaRPr>
          </a:p>
          <a:p>
            <a:pPr marL="0" indent="0" algn="ctr">
              <a:buNone/>
            </a:pPr>
            <a:r>
              <a:rPr kumimoji="1" lang="ja-GB" altLang="en-US" dirty="0">
                <a:solidFill>
                  <a:schemeClr val="accent2"/>
                </a:solidFill>
              </a:rPr>
              <a:t>膨大なデータが収集可能になった</a:t>
            </a:r>
            <a:endParaRPr kumimoji="1" lang="en-US" altLang="ja-GB" dirty="0">
              <a:solidFill>
                <a:schemeClr val="accent2"/>
              </a:solidFill>
            </a:endParaRPr>
          </a:p>
        </p:txBody>
      </p:sp>
    </p:spTree>
    <p:extLst>
      <p:ext uri="{BB962C8B-B14F-4D97-AF65-F5344CB8AC3E}">
        <p14:creationId xmlns:p14="http://schemas.microsoft.com/office/powerpoint/2010/main" val="409615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8A05B-3F30-363A-5990-A456AC366624}"/>
              </a:ext>
            </a:extLst>
          </p:cNvPr>
          <p:cNvSpPr>
            <a:spLocks noGrp="1"/>
          </p:cNvSpPr>
          <p:nvPr>
            <p:ph type="title"/>
          </p:nvPr>
        </p:nvSpPr>
        <p:spPr/>
        <p:txBody>
          <a:bodyPr/>
          <a:lstStyle/>
          <a:p>
            <a:r>
              <a:rPr kumimoji="1" lang="ja-GB" altLang="en-US" dirty="0"/>
              <a:t>データ科学・人工知能</a:t>
            </a:r>
          </a:p>
        </p:txBody>
      </p:sp>
      <p:sp>
        <p:nvSpPr>
          <p:cNvPr id="3" name="コンテンツ プレースホルダー 2">
            <a:extLst>
              <a:ext uri="{FF2B5EF4-FFF2-40B4-BE49-F238E27FC236}">
                <a16:creationId xmlns:a16="http://schemas.microsoft.com/office/drawing/2014/main" id="{2FD45842-19C5-22CA-599F-B4F8427B0CC0}"/>
              </a:ext>
            </a:extLst>
          </p:cNvPr>
          <p:cNvSpPr>
            <a:spLocks noGrp="1"/>
          </p:cNvSpPr>
          <p:nvPr>
            <p:ph idx="1"/>
          </p:nvPr>
        </p:nvSpPr>
        <p:spPr/>
        <p:txBody>
          <a:bodyPr/>
          <a:lstStyle/>
          <a:p>
            <a:pPr marL="0" indent="0">
              <a:buNone/>
            </a:pPr>
            <a:r>
              <a:rPr kumimoji="1" lang="ja-GB" altLang="en-US" dirty="0"/>
              <a:t>膨大なデータを前提とした技術・学問の発展</a:t>
            </a:r>
            <a:endParaRPr kumimoji="1" lang="en-US" altLang="ja-GB" dirty="0"/>
          </a:p>
          <a:p>
            <a:pPr marL="457200" lvl="1" indent="0">
              <a:buNone/>
            </a:pPr>
            <a:r>
              <a:rPr lang="ja-GB" altLang="en-US" dirty="0">
                <a:solidFill>
                  <a:srgbClr val="0070C0"/>
                </a:solidFill>
              </a:rPr>
              <a:t>データ科学：大量のデータから有益な知見を導き出す科学的な手法</a:t>
            </a:r>
            <a:endParaRPr lang="en-US" altLang="ja-GB" dirty="0">
              <a:solidFill>
                <a:srgbClr val="0070C0"/>
              </a:solidFill>
            </a:endParaRPr>
          </a:p>
          <a:p>
            <a:pPr lvl="2"/>
            <a:r>
              <a:rPr lang="ja-GB" altLang="en-US" dirty="0"/>
              <a:t>数学，統計学，計算機科学，情報学など様々な知識を活用して，</a:t>
            </a:r>
            <a:br>
              <a:rPr lang="en-US" altLang="ja-GB" dirty="0"/>
            </a:br>
            <a:endParaRPr lang="en-US" altLang="ja-GB" dirty="0"/>
          </a:p>
          <a:p>
            <a:pPr marL="457200" lvl="1" indent="0">
              <a:buNone/>
            </a:pPr>
            <a:r>
              <a:rPr kumimoji="1" lang="ja-GB" altLang="en-US" dirty="0">
                <a:solidFill>
                  <a:srgbClr val="0070C0"/>
                </a:solidFill>
              </a:rPr>
              <a:t>人工知能：知的な振る舞いを計算機で再現する技術</a:t>
            </a:r>
            <a:endParaRPr kumimoji="1" lang="en-US" altLang="ja-GB" dirty="0">
              <a:solidFill>
                <a:srgbClr val="0070C0"/>
              </a:solidFill>
            </a:endParaRPr>
          </a:p>
          <a:p>
            <a:pPr lvl="2"/>
            <a:r>
              <a:rPr lang="ja-GB" altLang="en-US" dirty="0"/>
              <a:t>第一次</a:t>
            </a:r>
            <a:r>
              <a:rPr lang="en-US" altLang="ja-GB" dirty="0"/>
              <a:t>AI</a:t>
            </a:r>
            <a:r>
              <a:rPr lang="ja-GB" altLang="en-US" dirty="0"/>
              <a:t>ブーム：論理的な推論に基づくゲームや迷路の攻略</a:t>
            </a:r>
            <a:endParaRPr lang="en-US" altLang="ja-GB" dirty="0"/>
          </a:p>
          <a:p>
            <a:pPr lvl="2"/>
            <a:r>
              <a:rPr kumimoji="1" lang="ja-GB" altLang="en-US" dirty="0"/>
              <a:t>第二次</a:t>
            </a:r>
            <a:r>
              <a:rPr kumimoji="1" lang="en-US" altLang="ja-GB" dirty="0"/>
              <a:t>AI</a:t>
            </a:r>
            <a:r>
              <a:rPr kumimoji="1" lang="ja-GB" altLang="en-US" dirty="0"/>
              <a:t>ブーム：整備された専門知識に基づくクイズやカスタマーサポート</a:t>
            </a:r>
            <a:endParaRPr kumimoji="1" lang="en-US" altLang="ja-GB" dirty="0"/>
          </a:p>
          <a:p>
            <a:pPr lvl="2"/>
            <a:r>
              <a:rPr lang="ja-GB" altLang="en-US" dirty="0"/>
              <a:t>第三次</a:t>
            </a:r>
            <a:r>
              <a:rPr lang="en-US" altLang="ja-GB" dirty="0"/>
              <a:t>AI</a:t>
            </a:r>
            <a:r>
              <a:rPr lang="ja-GB" altLang="en-US" dirty="0"/>
              <a:t>ブーム：ビッグデータによる最適化に基づく画像認識や対話</a:t>
            </a:r>
            <a:endParaRPr lang="en-US" altLang="ja-GB" dirty="0"/>
          </a:p>
          <a:p>
            <a:pPr lvl="2"/>
            <a:endParaRPr kumimoji="1" lang="en-US" altLang="ja-GB" dirty="0"/>
          </a:p>
          <a:p>
            <a:pPr lvl="2"/>
            <a:endParaRPr kumimoji="1" lang="en-US" altLang="ja-GB" dirty="0"/>
          </a:p>
          <a:p>
            <a:pPr lvl="2"/>
            <a:endParaRPr lang="en-US" altLang="ja-GB" dirty="0"/>
          </a:p>
          <a:p>
            <a:pPr marL="0" indent="0" algn="ctr">
              <a:buNone/>
            </a:pPr>
            <a:r>
              <a:rPr lang="ja-GB" altLang="en-US" dirty="0">
                <a:solidFill>
                  <a:schemeClr val="accent2"/>
                </a:solidFill>
              </a:rPr>
              <a:t>膨大なデータを分析・整理する方法が整備され</a:t>
            </a:r>
            <a:endParaRPr lang="en-US" altLang="ja-GB" dirty="0">
              <a:solidFill>
                <a:schemeClr val="accent2"/>
              </a:solidFill>
            </a:endParaRPr>
          </a:p>
          <a:p>
            <a:pPr marL="0" indent="0" algn="ctr">
              <a:buNone/>
            </a:pPr>
            <a:r>
              <a:rPr kumimoji="1" lang="ja-GB" altLang="en-US" dirty="0">
                <a:solidFill>
                  <a:schemeClr val="accent2"/>
                </a:solidFill>
              </a:rPr>
              <a:t>社会への活用が進められている</a:t>
            </a:r>
          </a:p>
        </p:txBody>
      </p:sp>
    </p:spTree>
    <p:extLst>
      <p:ext uri="{BB962C8B-B14F-4D97-AF65-F5344CB8AC3E}">
        <p14:creationId xmlns:p14="http://schemas.microsoft.com/office/powerpoint/2010/main" val="268501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355F7-1B3B-A66A-4D12-55A4A1138931}"/>
              </a:ext>
            </a:extLst>
          </p:cNvPr>
          <p:cNvSpPr>
            <a:spLocks noGrp="1"/>
          </p:cNvSpPr>
          <p:nvPr>
            <p:ph type="title"/>
          </p:nvPr>
        </p:nvSpPr>
        <p:spPr/>
        <p:txBody>
          <a:bodyPr/>
          <a:lstStyle/>
          <a:p>
            <a:r>
              <a:rPr kumimoji="1" lang="en-US" altLang="ja-GB" dirty="0"/>
              <a:t>Industry 4.0</a:t>
            </a:r>
            <a:r>
              <a:rPr kumimoji="1" lang="ja-GB" altLang="en-US" dirty="0"/>
              <a:t>：第四次産業革命</a:t>
            </a:r>
          </a:p>
        </p:txBody>
      </p:sp>
      <p:sp>
        <p:nvSpPr>
          <p:cNvPr id="3" name="コンテンツ プレースホルダー 2">
            <a:extLst>
              <a:ext uri="{FF2B5EF4-FFF2-40B4-BE49-F238E27FC236}">
                <a16:creationId xmlns:a16="http://schemas.microsoft.com/office/drawing/2014/main" id="{1AF9623C-5581-D5FE-C940-79C535C371F7}"/>
              </a:ext>
            </a:extLst>
          </p:cNvPr>
          <p:cNvSpPr>
            <a:spLocks noGrp="1"/>
          </p:cNvSpPr>
          <p:nvPr>
            <p:ph idx="1"/>
          </p:nvPr>
        </p:nvSpPr>
        <p:spPr/>
        <p:txBody>
          <a:bodyPr>
            <a:normAutofit/>
          </a:bodyPr>
          <a:lstStyle/>
          <a:p>
            <a:pPr marL="0" indent="0">
              <a:buNone/>
            </a:pPr>
            <a:r>
              <a:rPr kumimoji="1" lang="ja-GB" altLang="en-US" dirty="0"/>
              <a:t>データ・コンピュータによる製造工程全体の最適化</a:t>
            </a:r>
            <a:endParaRPr kumimoji="1" lang="en-US" altLang="ja-GB" dirty="0"/>
          </a:p>
          <a:p>
            <a:pPr lvl="1"/>
            <a:r>
              <a:rPr lang="ja-GB" altLang="en-US" sz="1800" dirty="0"/>
              <a:t>水力・蒸気機関による</a:t>
            </a:r>
            <a:r>
              <a:rPr lang="ja-GB" altLang="en-US" sz="1800" dirty="0">
                <a:solidFill>
                  <a:srgbClr val="0070C0"/>
                </a:solidFill>
              </a:rPr>
              <a:t>動力の獲得</a:t>
            </a:r>
            <a:r>
              <a:rPr lang="ja-GB" altLang="en-US" sz="1800" dirty="0"/>
              <a:t>（</a:t>
            </a:r>
            <a:r>
              <a:rPr lang="en-US" altLang="ja-GB" sz="1800" dirty="0"/>
              <a:t>1.0</a:t>
            </a:r>
            <a:r>
              <a:rPr lang="ja-GB" altLang="en-US" sz="1800" dirty="0"/>
              <a:t>）石油・電力による</a:t>
            </a:r>
            <a:r>
              <a:rPr lang="ja-GB" altLang="en-US" sz="1800" dirty="0">
                <a:solidFill>
                  <a:srgbClr val="0070C0"/>
                </a:solidFill>
              </a:rPr>
              <a:t>大量生産</a:t>
            </a:r>
            <a:r>
              <a:rPr lang="ja-GB" altLang="en-US" sz="1800" dirty="0"/>
              <a:t>（</a:t>
            </a:r>
            <a:r>
              <a:rPr lang="en-US" altLang="ja-GB" sz="1800" dirty="0"/>
              <a:t>2.0</a:t>
            </a:r>
            <a:r>
              <a:rPr lang="ja-GB" altLang="en-US" sz="1800" dirty="0"/>
              <a:t>）</a:t>
            </a:r>
            <a:br>
              <a:rPr lang="en-US" altLang="ja-GB" sz="1800" dirty="0"/>
            </a:br>
            <a:r>
              <a:rPr lang="ja-GB" altLang="en-US" sz="1800" dirty="0"/>
              <a:t>計算機・情報技術を活用した</a:t>
            </a:r>
            <a:r>
              <a:rPr lang="ja-GB" altLang="en-US" sz="1800" dirty="0">
                <a:solidFill>
                  <a:srgbClr val="0070C0"/>
                </a:solidFill>
              </a:rPr>
              <a:t>機械操作の自動化</a:t>
            </a:r>
            <a:r>
              <a:rPr lang="ja-GB" altLang="en-US" sz="1800" dirty="0"/>
              <a:t>（</a:t>
            </a:r>
            <a:r>
              <a:rPr lang="en-US" altLang="ja-GB" sz="1800" dirty="0"/>
              <a:t>3.0</a:t>
            </a:r>
            <a:r>
              <a:rPr lang="ja-GB" altLang="en-US" sz="1800" dirty="0"/>
              <a:t>）に続く製造業の変革</a:t>
            </a:r>
            <a:endParaRPr lang="en-US" altLang="ja-GB" sz="1800" dirty="0"/>
          </a:p>
          <a:p>
            <a:pPr lvl="1"/>
            <a:r>
              <a:rPr lang="ja-GB" altLang="en-US" sz="2000" dirty="0">
                <a:solidFill>
                  <a:schemeClr val="accent2"/>
                </a:solidFill>
              </a:rPr>
              <a:t>仮想世界での分析により，生産・流通を含めた全工程を自動的に調整</a:t>
            </a:r>
            <a:endParaRPr lang="en-US" altLang="ja-GB" sz="2000" dirty="0">
              <a:solidFill>
                <a:schemeClr val="accent2"/>
              </a:solidFill>
            </a:endParaRPr>
          </a:p>
          <a:p>
            <a:pPr lvl="1"/>
            <a:endParaRPr lang="en-US" altLang="ja-GB" dirty="0"/>
          </a:p>
        </p:txBody>
      </p:sp>
      <p:pic>
        <p:nvPicPr>
          <p:cNvPr id="5" name="図 4" descr="ダイアグラム&#10;&#10;AI によって生成されたコンテンツは間違っている可能性があります。">
            <a:extLst>
              <a:ext uri="{FF2B5EF4-FFF2-40B4-BE49-F238E27FC236}">
                <a16:creationId xmlns:a16="http://schemas.microsoft.com/office/drawing/2014/main" id="{4205BADC-20AD-8B7D-9895-960A6D1628D2}"/>
              </a:ext>
            </a:extLst>
          </p:cNvPr>
          <p:cNvPicPr>
            <a:picLocks noChangeAspect="1"/>
          </p:cNvPicPr>
          <p:nvPr/>
        </p:nvPicPr>
        <p:blipFill>
          <a:blip r:embed="rId2"/>
          <a:stretch>
            <a:fillRect/>
          </a:stretch>
        </p:blipFill>
        <p:spPr>
          <a:xfrm>
            <a:off x="1701554" y="2400985"/>
            <a:ext cx="5740892" cy="2788556"/>
          </a:xfrm>
          <a:prstGeom prst="rect">
            <a:avLst/>
          </a:prstGeom>
          <a:ln>
            <a:noFill/>
          </a:ln>
          <a:effectLst>
            <a:outerShdw blurRad="292100" dist="139700" dir="2700000" algn="tl" rotWithShape="0">
              <a:srgbClr val="333333">
                <a:alpha val="65000"/>
              </a:srgbClr>
            </a:outerShdw>
          </a:effectLst>
        </p:spPr>
      </p:pic>
      <p:sp>
        <p:nvSpPr>
          <p:cNvPr id="6" name="テキスト ボックス 5">
            <a:extLst>
              <a:ext uri="{FF2B5EF4-FFF2-40B4-BE49-F238E27FC236}">
                <a16:creationId xmlns:a16="http://schemas.microsoft.com/office/drawing/2014/main" id="{13AAD8C8-C020-8771-3646-90DE4DA0F364}"/>
              </a:ext>
            </a:extLst>
          </p:cNvPr>
          <p:cNvSpPr txBox="1"/>
          <p:nvPr/>
        </p:nvSpPr>
        <p:spPr>
          <a:xfrm>
            <a:off x="314325" y="5330183"/>
            <a:ext cx="8515350" cy="461665"/>
          </a:xfrm>
          <a:prstGeom prst="rect">
            <a:avLst/>
          </a:prstGeom>
          <a:noFill/>
        </p:spPr>
        <p:txBody>
          <a:bodyPr wrap="square" rtlCol="0">
            <a:spAutoFit/>
          </a:bodyPr>
          <a:lstStyle/>
          <a:p>
            <a:pPr algn="ctr"/>
            <a:r>
              <a:rPr kumimoji="1" lang="en-GB" altLang="ja-GB" sz="1200" b="1" dirty="0" err="1">
                <a:solidFill>
                  <a:schemeClr val="tx1">
                    <a:lumMod val="50000"/>
                    <a:lumOff val="50000"/>
                  </a:schemeClr>
                </a:solidFill>
                <a:latin typeface="Yu Gothic UI" panose="020B0500000000000000" pitchFamily="34" charset="-128"/>
                <a:ea typeface="Yu Gothic UI" panose="020B0500000000000000" pitchFamily="34" charset="-128"/>
              </a:rPr>
              <a:t>ChristophRoser</a:t>
            </a:r>
            <a:r>
              <a:rPr kumimoji="1" lang="en-GB" altLang="ja-GB" sz="1200" b="1" dirty="0">
                <a:solidFill>
                  <a:schemeClr val="tx1">
                    <a:lumMod val="50000"/>
                    <a:lumOff val="50000"/>
                  </a:schemeClr>
                </a:solidFill>
                <a:latin typeface="Yu Gothic UI" panose="020B0500000000000000" pitchFamily="34" charset="-128"/>
                <a:ea typeface="Yu Gothic UI" panose="020B0500000000000000" pitchFamily="34" charset="-128"/>
              </a:rPr>
              <a:t>. Please credit "Christoph Roser at </a:t>
            </a:r>
            <a:r>
              <a:rPr kumimoji="1" lang="en-GB" altLang="ja-GB" sz="1200" b="1" dirty="0" err="1">
                <a:solidFill>
                  <a:schemeClr val="tx1">
                    <a:lumMod val="50000"/>
                    <a:lumOff val="50000"/>
                  </a:schemeClr>
                </a:solidFill>
                <a:latin typeface="Yu Gothic UI" panose="020B0500000000000000" pitchFamily="34" charset="-128"/>
                <a:ea typeface="Yu Gothic UI" panose="020B0500000000000000" pitchFamily="34" charset="-128"/>
              </a:rPr>
              <a:t>AllAboutLean.com</a:t>
            </a:r>
            <a:r>
              <a:rPr kumimoji="1" lang="en-GB" altLang="ja-GB" sz="1200" b="1" dirty="0">
                <a:solidFill>
                  <a:schemeClr val="tx1">
                    <a:lumMod val="50000"/>
                    <a:lumOff val="50000"/>
                  </a:schemeClr>
                </a:solidFill>
                <a:latin typeface="Yu Gothic UI" panose="020B0500000000000000" pitchFamily="34" charset="-128"/>
                <a:ea typeface="Yu Gothic UI" panose="020B0500000000000000" pitchFamily="34" charset="-128"/>
              </a:rPr>
              <a:t>". - </a:t>
            </a:r>
            <a:r>
              <a:rPr kumimoji="1" lang="ja-JP" altLang="en-US" sz="1200" b="1">
                <a:solidFill>
                  <a:schemeClr val="tx1">
                    <a:lumMod val="50000"/>
                    <a:lumOff val="50000"/>
                  </a:schemeClr>
                </a:solidFill>
                <a:latin typeface="Yu Gothic UI" panose="020B0500000000000000" pitchFamily="34" charset="-128"/>
                <a:ea typeface="Yu Gothic UI" panose="020B0500000000000000" pitchFamily="34" charset="-128"/>
              </a:rPr>
              <a:t>投稿者自身による著作物</a:t>
            </a:r>
            <a:r>
              <a:rPr kumimoji="1" lang="en-US" altLang="ja-JP" sz="1200" b="1" dirty="0">
                <a:solidFill>
                  <a:schemeClr val="tx1">
                    <a:lumMod val="50000"/>
                    <a:lumOff val="50000"/>
                  </a:schemeClr>
                </a:solidFill>
                <a:latin typeface="Yu Gothic UI" panose="020B0500000000000000" pitchFamily="34" charset="-128"/>
                <a:ea typeface="Yu Gothic UI" panose="020B0500000000000000" pitchFamily="34" charset="-128"/>
              </a:rPr>
              <a:t>, </a:t>
            </a:r>
          </a:p>
          <a:p>
            <a:pPr algn="ctr"/>
            <a:r>
              <a:rPr kumimoji="1" lang="en-GB" altLang="ja-GB" sz="1200" b="1" dirty="0">
                <a:solidFill>
                  <a:schemeClr val="tx1">
                    <a:lumMod val="50000"/>
                    <a:lumOff val="50000"/>
                  </a:schemeClr>
                </a:solidFill>
                <a:latin typeface="Yu Gothic UI" panose="020B0500000000000000" pitchFamily="34" charset="-128"/>
                <a:ea typeface="Yu Gothic UI" panose="020B0500000000000000" pitchFamily="34" charset="-128"/>
              </a:rPr>
              <a:t>CC </a:t>
            </a:r>
            <a:r>
              <a:rPr kumimoji="1" lang="ja-JP" altLang="en-US" sz="1200" b="1">
                <a:solidFill>
                  <a:schemeClr val="tx1">
                    <a:lumMod val="50000"/>
                    <a:lumOff val="50000"/>
                  </a:schemeClr>
                </a:solidFill>
                <a:latin typeface="Yu Gothic UI" panose="020B0500000000000000" pitchFamily="34" charset="-128"/>
                <a:ea typeface="Yu Gothic UI" panose="020B0500000000000000" pitchFamily="34" charset="-128"/>
              </a:rPr>
              <a:t>表示</a:t>
            </a:r>
            <a:r>
              <a:rPr kumimoji="1" lang="en-US" altLang="ja-JP" sz="1200" b="1" dirty="0">
                <a:solidFill>
                  <a:schemeClr val="tx1">
                    <a:lumMod val="50000"/>
                    <a:lumOff val="50000"/>
                  </a:schemeClr>
                </a:solidFill>
                <a:latin typeface="Yu Gothic UI" panose="020B0500000000000000" pitchFamily="34" charset="-128"/>
                <a:ea typeface="Yu Gothic UI" panose="020B0500000000000000" pitchFamily="34" charset="-128"/>
              </a:rPr>
              <a:t>-</a:t>
            </a:r>
            <a:r>
              <a:rPr kumimoji="1" lang="ja-JP" altLang="en-US" sz="1200" b="1">
                <a:solidFill>
                  <a:schemeClr val="tx1">
                    <a:lumMod val="50000"/>
                    <a:lumOff val="50000"/>
                  </a:schemeClr>
                </a:solidFill>
                <a:latin typeface="Yu Gothic UI" panose="020B0500000000000000" pitchFamily="34" charset="-128"/>
                <a:ea typeface="Yu Gothic UI" panose="020B0500000000000000" pitchFamily="34" charset="-128"/>
              </a:rPr>
              <a:t>継承 </a:t>
            </a:r>
            <a:r>
              <a:rPr kumimoji="1" lang="en-US" altLang="ja-JP" sz="1200" b="1" dirty="0">
                <a:solidFill>
                  <a:schemeClr val="tx1">
                    <a:lumMod val="50000"/>
                    <a:lumOff val="50000"/>
                  </a:schemeClr>
                </a:solidFill>
                <a:latin typeface="Yu Gothic UI" panose="020B0500000000000000" pitchFamily="34" charset="-128"/>
                <a:ea typeface="Yu Gothic UI" panose="020B0500000000000000" pitchFamily="34" charset="-128"/>
              </a:rPr>
              <a:t>4.0, </a:t>
            </a:r>
            <a:r>
              <a:rPr kumimoji="1" lang="en-GB" altLang="ja-GB" sz="1200" b="1" dirty="0">
                <a:solidFill>
                  <a:schemeClr val="tx1">
                    <a:lumMod val="50000"/>
                    <a:lumOff val="50000"/>
                  </a:schemeClr>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https://commons.wikimedia.org/w/index.php?curid=47640595</a:t>
            </a:r>
            <a:r>
              <a:rPr kumimoji="1" lang="en-GB" altLang="ja-GB" sz="1200" b="1" dirty="0">
                <a:solidFill>
                  <a:schemeClr val="tx1">
                    <a:lumMod val="50000"/>
                    <a:lumOff val="50000"/>
                  </a:schemeClr>
                </a:solidFill>
                <a:latin typeface="Yu Gothic UI" panose="020B0500000000000000" pitchFamily="34" charset="-128"/>
                <a:ea typeface="Yu Gothic UI" panose="020B0500000000000000" pitchFamily="34" charset="-128"/>
              </a:rPr>
              <a:t> </a:t>
            </a:r>
            <a:r>
              <a:rPr kumimoji="1" lang="ja-JP" altLang="en-US" sz="1200" b="1">
                <a:solidFill>
                  <a:schemeClr val="tx1">
                    <a:lumMod val="50000"/>
                    <a:lumOff val="50000"/>
                  </a:schemeClr>
                </a:solidFill>
                <a:latin typeface="Yu Gothic UI" panose="020B0500000000000000" pitchFamily="34" charset="-128"/>
                <a:ea typeface="Yu Gothic UI" panose="020B0500000000000000" pitchFamily="34" charset="-128"/>
              </a:rPr>
              <a:t>による</a:t>
            </a:r>
            <a:r>
              <a:rPr kumimoji="1" lang="en-US" altLang="ja-JP" sz="1200" b="1" dirty="0">
                <a:solidFill>
                  <a:schemeClr val="tx1">
                    <a:lumMod val="50000"/>
                    <a:lumOff val="50000"/>
                  </a:schemeClr>
                </a:solidFill>
                <a:latin typeface="Yu Gothic UI" panose="020B0500000000000000" pitchFamily="34" charset="-128"/>
                <a:ea typeface="Yu Gothic UI" panose="020B0500000000000000" pitchFamily="34" charset="-128"/>
              </a:rPr>
              <a:t> </a:t>
            </a:r>
            <a:endParaRPr kumimoji="1" lang="ja-GB" altLang="en-US" sz="12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7" name="テキスト ボックス 6">
            <a:extLst>
              <a:ext uri="{FF2B5EF4-FFF2-40B4-BE49-F238E27FC236}">
                <a16:creationId xmlns:a16="http://schemas.microsoft.com/office/drawing/2014/main" id="{784AAC30-71FA-82AA-5C1C-7F0E5E40378E}"/>
              </a:ext>
            </a:extLst>
          </p:cNvPr>
          <p:cNvSpPr txBox="1"/>
          <p:nvPr/>
        </p:nvSpPr>
        <p:spPr>
          <a:xfrm>
            <a:off x="314325" y="6143490"/>
            <a:ext cx="8690190" cy="523220"/>
          </a:xfrm>
          <a:prstGeom prst="rect">
            <a:avLst/>
          </a:prstGeom>
          <a:noFill/>
        </p:spPr>
        <p:txBody>
          <a:bodyPr wrap="square" rtlCol="0">
            <a:spAutoFit/>
          </a:bodyPr>
          <a:lstStyle/>
          <a:p>
            <a:r>
              <a:rPr kumimoji="1" lang="ja-GB" altLang="en-US" sz="1400" b="1" dirty="0">
                <a:solidFill>
                  <a:srgbClr val="2F2523"/>
                </a:solidFill>
                <a:latin typeface="Yu Gothic UI" panose="020B0500000000000000" pitchFamily="34" charset="-128"/>
                <a:ea typeface="Yu Gothic UI" panose="020B0500000000000000" pitchFamily="34" charset="-128"/>
              </a:rPr>
              <a:t>参考資料：</a:t>
            </a:r>
            <a:r>
              <a:rPr kumimoji="1" lang="ja-JP" altLang="en-US" sz="1400" b="1">
                <a:solidFill>
                  <a:srgbClr val="2F2523"/>
                </a:solidFill>
                <a:latin typeface="Yu Gothic UI" panose="020B0500000000000000" pitchFamily="34" charset="-128"/>
                <a:ea typeface="Yu Gothic UI" panose="020B0500000000000000" pitchFamily="34" charset="-128"/>
              </a:rPr>
              <a:t>総務省｜平成</a:t>
            </a:r>
            <a:r>
              <a:rPr kumimoji="1" lang="en-US" altLang="ja-JP" sz="1400" b="1" dirty="0">
                <a:solidFill>
                  <a:srgbClr val="2F2523"/>
                </a:solidFill>
                <a:latin typeface="Yu Gothic UI" panose="020B0500000000000000" pitchFamily="34" charset="-128"/>
                <a:ea typeface="Yu Gothic UI" panose="020B0500000000000000" pitchFamily="34" charset="-128"/>
              </a:rPr>
              <a:t>30</a:t>
            </a:r>
            <a:r>
              <a:rPr kumimoji="1" lang="ja-JP" altLang="en-US" sz="1400" b="1">
                <a:solidFill>
                  <a:srgbClr val="2F2523"/>
                </a:solidFill>
                <a:latin typeface="Yu Gothic UI" panose="020B0500000000000000" pitchFamily="34" charset="-128"/>
                <a:ea typeface="Yu Gothic UI" panose="020B0500000000000000" pitchFamily="34" charset="-128"/>
              </a:rPr>
              <a:t>年版 情報通信白書｜インダストリー</a:t>
            </a:r>
            <a:r>
              <a:rPr kumimoji="1" lang="en-US" altLang="ja-JP" sz="1400" b="1" dirty="0">
                <a:solidFill>
                  <a:srgbClr val="2F2523"/>
                </a:solidFill>
                <a:latin typeface="Yu Gothic UI" panose="020B0500000000000000" pitchFamily="34" charset="-128"/>
                <a:ea typeface="Yu Gothic UI" panose="020B0500000000000000" pitchFamily="34" charset="-128"/>
              </a:rPr>
              <a:t>4.0</a:t>
            </a:r>
            <a:r>
              <a:rPr kumimoji="1" lang="ja-JP" altLang="en-US" sz="1400" b="1">
                <a:solidFill>
                  <a:srgbClr val="2F2523"/>
                </a:solidFill>
                <a:latin typeface="Yu Gothic UI" panose="020B0500000000000000" pitchFamily="34" charset="-128"/>
                <a:ea typeface="Yu Gothic UI" panose="020B0500000000000000" pitchFamily="34" charset="-128"/>
              </a:rPr>
              <a:t>とは </a:t>
            </a:r>
            <a:r>
              <a:rPr kumimoji="1" lang="en-GB" altLang="ja-GB" sz="1400" b="1" dirty="0">
                <a:solidFill>
                  <a:srgbClr val="0070C0"/>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https://www.soumu.go.jp/johotsusintokei/whitepaper/ja/h30/html/nd135210.html</a:t>
            </a:r>
            <a:r>
              <a:rPr kumimoji="1" lang="en-GB" altLang="ja-GB" sz="1400" b="1" dirty="0">
                <a:solidFill>
                  <a:srgbClr val="0070C0"/>
                </a:solidFill>
                <a:latin typeface="Yu Gothic UI" panose="020B0500000000000000" pitchFamily="34" charset="-128"/>
                <a:ea typeface="Yu Gothic UI" panose="020B0500000000000000" pitchFamily="34" charset="-128"/>
              </a:rPr>
              <a:t> </a:t>
            </a:r>
            <a:r>
              <a:rPr kumimoji="1" lang="ja-GB" altLang="en-US" sz="1400" b="1" dirty="0">
                <a:solidFill>
                  <a:srgbClr val="2F2523"/>
                </a:solidFill>
                <a:latin typeface="Yu Gothic UI" panose="020B0500000000000000" pitchFamily="34" charset="-128"/>
                <a:ea typeface="Yu Gothic UI" panose="020B0500000000000000" pitchFamily="34" charset="-128"/>
              </a:rPr>
              <a:t>，</a:t>
            </a:r>
            <a:r>
              <a:rPr kumimoji="1" lang="en-US" altLang="ja-GB" sz="1400" b="1" dirty="0">
                <a:solidFill>
                  <a:srgbClr val="2F2523"/>
                </a:solidFill>
                <a:latin typeface="Yu Gothic UI" panose="020B0500000000000000" pitchFamily="34" charset="-128"/>
                <a:ea typeface="Yu Gothic UI" panose="020B0500000000000000" pitchFamily="34" charset="-128"/>
              </a:rPr>
              <a:t>2025/04/01</a:t>
            </a:r>
            <a:r>
              <a:rPr kumimoji="1" lang="ja-GB" altLang="en-US" sz="1400" b="1" dirty="0">
                <a:solidFill>
                  <a:srgbClr val="2F2523"/>
                </a:solidFill>
                <a:latin typeface="Yu Gothic UI" panose="020B0500000000000000" pitchFamily="34" charset="-128"/>
                <a:ea typeface="Yu Gothic UI" panose="020B0500000000000000" pitchFamily="34" charset="-128"/>
              </a:rPr>
              <a:t>アクセス</a:t>
            </a:r>
          </a:p>
        </p:txBody>
      </p:sp>
    </p:spTree>
    <p:extLst>
      <p:ext uri="{BB962C8B-B14F-4D97-AF65-F5344CB8AC3E}">
        <p14:creationId xmlns:p14="http://schemas.microsoft.com/office/powerpoint/2010/main" val="3470439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16D3B7-267E-7679-A30E-4DC6FAF0ED2D}"/>
              </a:ext>
            </a:extLst>
          </p:cNvPr>
          <p:cNvSpPr>
            <a:spLocks noGrp="1"/>
          </p:cNvSpPr>
          <p:nvPr>
            <p:ph type="title"/>
          </p:nvPr>
        </p:nvSpPr>
        <p:spPr/>
        <p:txBody>
          <a:bodyPr/>
          <a:lstStyle/>
          <a:p>
            <a:r>
              <a:rPr kumimoji="1" lang="ja-GB" altLang="en-US" dirty="0"/>
              <a:t>具体例：スマートファクトリー</a:t>
            </a:r>
          </a:p>
        </p:txBody>
      </p:sp>
      <p:sp>
        <p:nvSpPr>
          <p:cNvPr id="3" name="コンテンツ プレースホルダー 2">
            <a:extLst>
              <a:ext uri="{FF2B5EF4-FFF2-40B4-BE49-F238E27FC236}">
                <a16:creationId xmlns:a16="http://schemas.microsoft.com/office/drawing/2014/main" id="{82DBE39D-C7EF-0533-20B8-325B8AA8A0AB}"/>
              </a:ext>
            </a:extLst>
          </p:cNvPr>
          <p:cNvSpPr>
            <a:spLocks noGrp="1"/>
          </p:cNvSpPr>
          <p:nvPr>
            <p:ph idx="1"/>
          </p:nvPr>
        </p:nvSpPr>
        <p:spPr/>
        <p:txBody>
          <a:bodyPr/>
          <a:lstStyle/>
          <a:p>
            <a:pPr marL="0" indent="0">
              <a:buNone/>
            </a:pPr>
            <a:r>
              <a:rPr kumimoji="1" lang="en-US" altLang="ja-GB" dirty="0"/>
              <a:t>TOTO</a:t>
            </a:r>
            <a:r>
              <a:rPr kumimoji="1" lang="ja-GB" altLang="en-US" dirty="0"/>
              <a:t>滋賀工場の歩留まり改善サイクル</a:t>
            </a:r>
            <a:endParaRPr kumimoji="1" lang="en-US" altLang="ja-GB" dirty="0"/>
          </a:p>
          <a:p>
            <a:pPr marL="914400" lvl="1" indent="-457200">
              <a:buFont typeface="+mj-lt"/>
              <a:buAutoNum type="arabicPeriod"/>
            </a:pPr>
            <a:r>
              <a:rPr lang="ja-GB" altLang="en-US" dirty="0"/>
              <a:t>衛生陶器工場の設備自動化に際して</a:t>
            </a:r>
            <a:r>
              <a:rPr lang="ja-GB" altLang="en-US" dirty="0">
                <a:solidFill>
                  <a:srgbClr val="0070C0"/>
                </a:solidFill>
              </a:rPr>
              <a:t>データ自動取得の仕組み</a:t>
            </a:r>
            <a:r>
              <a:rPr lang="ja-GB" altLang="en-US" dirty="0"/>
              <a:t>を導入</a:t>
            </a:r>
            <a:endParaRPr lang="en-US" altLang="ja-GB" dirty="0"/>
          </a:p>
          <a:p>
            <a:pPr lvl="2"/>
            <a:r>
              <a:rPr kumimoji="1" lang="ja-GB" altLang="en-US" dirty="0"/>
              <a:t>製造過程の温度，湿度，圧力，原材料の状態，運搬ルート，時刻など，</a:t>
            </a:r>
            <a:br>
              <a:rPr kumimoji="1" lang="en-US" altLang="ja-GB" dirty="0"/>
            </a:br>
            <a:r>
              <a:rPr kumimoji="1" lang="ja-GB" altLang="en-US" dirty="0"/>
              <a:t>多岐にわたるデータを自動的に取得</a:t>
            </a:r>
            <a:endParaRPr kumimoji="1" lang="en-US" altLang="ja-GB" dirty="0"/>
          </a:p>
          <a:p>
            <a:pPr lvl="4"/>
            <a:endParaRPr kumimoji="1" lang="en-US" altLang="ja-GB" dirty="0"/>
          </a:p>
          <a:p>
            <a:pPr marL="914400" lvl="1" indent="-457200">
              <a:buFont typeface="+mj-lt"/>
              <a:buAutoNum type="arabicPeriod"/>
            </a:pPr>
            <a:r>
              <a:rPr kumimoji="1" lang="ja-GB" altLang="en-US" dirty="0"/>
              <a:t>データ分析により</a:t>
            </a:r>
            <a:r>
              <a:rPr kumimoji="1" lang="ja-GB" altLang="en-US" dirty="0">
                <a:solidFill>
                  <a:srgbClr val="0070C0"/>
                </a:solidFill>
              </a:rPr>
              <a:t>不良の出やすい条件</a:t>
            </a:r>
            <a:r>
              <a:rPr kumimoji="1" lang="ja-GB" altLang="en-US" dirty="0"/>
              <a:t>や</a:t>
            </a:r>
            <a:r>
              <a:rPr kumimoji="1" lang="ja-GB" altLang="en-US" dirty="0">
                <a:solidFill>
                  <a:srgbClr val="0070C0"/>
                </a:solidFill>
              </a:rPr>
              <a:t>安定する条件</a:t>
            </a:r>
            <a:r>
              <a:rPr kumimoji="1" lang="ja-GB" altLang="en-US" dirty="0"/>
              <a:t>を解明</a:t>
            </a:r>
            <a:endParaRPr kumimoji="1" lang="en-US" altLang="ja-GB" dirty="0"/>
          </a:p>
          <a:p>
            <a:pPr marL="2286000" lvl="4" indent="-457200">
              <a:buFont typeface="+mj-lt"/>
              <a:buAutoNum type="arabicPeriod"/>
            </a:pPr>
            <a:endParaRPr kumimoji="1" lang="en-US" altLang="ja-GB" dirty="0"/>
          </a:p>
          <a:p>
            <a:pPr marL="914400" lvl="1" indent="-457200">
              <a:buFont typeface="+mj-lt"/>
              <a:buAutoNum type="arabicPeriod"/>
            </a:pPr>
            <a:r>
              <a:rPr kumimoji="1" lang="ja-GB" altLang="en-US" dirty="0"/>
              <a:t>分析結果に基づいて状況を</a:t>
            </a:r>
            <a:r>
              <a:rPr kumimoji="1" lang="ja-GB" altLang="en-US" dirty="0">
                <a:solidFill>
                  <a:srgbClr val="0070C0"/>
                </a:solidFill>
              </a:rPr>
              <a:t>リアルタイムに取得・可視化</a:t>
            </a:r>
            <a:r>
              <a:rPr kumimoji="1" lang="ja-GB" altLang="en-US" dirty="0"/>
              <a:t>して，</a:t>
            </a:r>
            <a:br>
              <a:rPr kumimoji="1" lang="en-US" altLang="ja-GB" dirty="0"/>
            </a:br>
            <a:r>
              <a:rPr kumimoji="1" lang="ja-GB" altLang="en-US" dirty="0"/>
              <a:t>生産技術や現場へ</a:t>
            </a:r>
            <a:r>
              <a:rPr kumimoji="1" lang="ja-GB" altLang="en-US" dirty="0">
                <a:solidFill>
                  <a:srgbClr val="0070C0"/>
                </a:solidFill>
              </a:rPr>
              <a:t>即座にフィードバック</a:t>
            </a:r>
            <a:r>
              <a:rPr kumimoji="1" lang="ja-GB" altLang="en-US" dirty="0"/>
              <a:t>する仕組みを構築</a:t>
            </a:r>
            <a:endParaRPr kumimoji="1" lang="en-US" altLang="ja-GB" dirty="0"/>
          </a:p>
          <a:p>
            <a:pPr marL="2286000" lvl="4" indent="-457200">
              <a:buFont typeface="+mj-lt"/>
              <a:buAutoNum type="arabicPeriod"/>
            </a:pPr>
            <a:endParaRPr kumimoji="1" lang="en-US" altLang="ja-GB" dirty="0"/>
          </a:p>
          <a:p>
            <a:pPr marL="914400" lvl="1" indent="-457200">
              <a:buFont typeface="+mj-lt"/>
              <a:buAutoNum type="arabicPeriod"/>
            </a:pPr>
            <a:r>
              <a:rPr lang="ja-GB" altLang="en-US" dirty="0"/>
              <a:t>成功を受けて他の工場へ横展開</a:t>
            </a:r>
            <a:endParaRPr kumimoji="1" lang="en-US" altLang="ja-GB" dirty="0"/>
          </a:p>
          <a:p>
            <a:pPr lvl="2"/>
            <a:r>
              <a:rPr lang="ja-GB" altLang="en-US" dirty="0"/>
              <a:t>工場を視察して少しでも多くのデータが取れる状況づくりを思案</a:t>
            </a:r>
            <a:endParaRPr lang="en-US" altLang="ja-GB" dirty="0"/>
          </a:p>
          <a:p>
            <a:pPr lvl="3"/>
            <a:r>
              <a:rPr lang="ja-GB" altLang="en-US" dirty="0"/>
              <a:t>紙面データや扱いにくいデータを手動で整理</a:t>
            </a:r>
            <a:endParaRPr lang="en-US" altLang="ja-GB" dirty="0"/>
          </a:p>
          <a:p>
            <a:pPr lvl="3"/>
            <a:r>
              <a:rPr lang="ja-GB" altLang="en-US" dirty="0"/>
              <a:t>紙入力をタブレット入力に変更</a:t>
            </a:r>
            <a:endParaRPr lang="en-US" altLang="ja-GB" dirty="0"/>
          </a:p>
          <a:p>
            <a:pPr lvl="3"/>
            <a:r>
              <a:rPr lang="ja-GB" altLang="en-US" dirty="0"/>
              <a:t>センサーの取り付け</a:t>
            </a:r>
            <a:r>
              <a:rPr lang="ja-JP" altLang="en-US"/>
              <a:t>　</a:t>
            </a:r>
            <a:r>
              <a:rPr lang="ja-GB" altLang="en-US" dirty="0"/>
              <a:t>など</a:t>
            </a:r>
            <a:endParaRPr lang="en-US" altLang="ja-GB" dirty="0"/>
          </a:p>
          <a:p>
            <a:pPr lvl="2"/>
            <a:endParaRPr lang="en-US" altLang="ja-GB" dirty="0"/>
          </a:p>
          <a:p>
            <a:pPr lvl="2"/>
            <a:endParaRPr kumimoji="1" lang="ja-GB" altLang="en-US" dirty="0"/>
          </a:p>
        </p:txBody>
      </p:sp>
      <p:sp>
        <p:nvSpPr>
          <p:cNvPr id="4" name="テキスト ボックス 3">
            <a:extLst>
              <a:ext uri="{FF2B5EF4-FFF2-40B4-BE49-F238E27FC236}">
                <a16:creationId xmlns:a16="http://schemas.microsoft.com/office/drawing/2014/main" id="{30C47B64-91A6-66DD-FBE9-74DD0C17688A}"/>
              </a:ext>
            </a:extLst>
          </p:cNvPr>
          <p:cNvSpPr txBox="1"/>
          <p:nvPr/>
        </p:nvSpPr>
        <p:spPr>
          <a:xfrm>
            <a:off x="314325" y="5743924"/>
            <a:ext cx="7203687" cy="984885"/>
          </a:xfrm>
          <a:prstGeom prst="rect">
            <a:avLst/>
          </a:prstGeom>
          <a:noFill/>
        </p:spPr>
        <p:txBody>
          <a:bodyPr wrap="square" rtlCol="0">
            <a:spAutoFit/>
          </a:bodyPr>
          <a:lstStyle/>
          <a:p>
            <a:r>
              <a:rPr kumimoji="1" lang="ja-GB" altLang="en-US" sz="1400" b="1" dirty="0">
                <a:solidFill>
                  <a:schemeClr val="tx1">
                    <a:lumMod val="65000"/>
                    <a:lumOff val="35000"/>
                  </a:schemeClr>
                </a:solidFill>
              </a:rPr>
              <a:t>情報源：</a:t>
            </a:r>
            <a:endParaRPr kumimoji="1" lang="en-US" altLang="ja-JP" sz="1400" b="1" dirty="0">
              <a:solidFill>
                <a:schemeClr val="tx1">
                  <a:lumMod val="65000"/>
                  <a:lumOff val="35000"/>
                </a:schemeClr>
              </a:solidFill>
            </a:endParaRPr>
          </a:p>
          <a:p>
            <a:r>
              <a:rPr kumimoji="1" lang="en-US" altLang="ja-JP" sz="1100" b="1" dirty="0">
                <a:solidFill>
                  <a:schemeClr val="tx1">
                    <a:lumMod val="65000"/>
                    <a:lumOff val="35000"/>
                  </a:schemeClr>
                </a:solidFill>
              </a:rPr>
              <a:t>[1] </a:t>
            </a:r>
            <a:r>
              <a:rPr kumimoji="1" lang="ja-JP" altLang="en-US" sz="1100" b="1">
                <a:solidFill>
                  <a:schemeClr val="tx1">
                    <a:lumMod val="65000"/>
                    <a:lumOff val="35000"/>
                  </a:schemeClr>
                </a:solidFill>
              </a:rPr>
              <a:t>成功のカギは「良品と均質」を追求する理念の浸透 創立</a:t>
            </a:r>
            <a:r>
              <a:rPr kumimoji="1" lang="en-US" altLang="ja-JP" sz="1100" b="1" dirty="0">
                <a:solidFill>
                  <a:schemeClr val="tx1">
                    <a:lumMod val="65000"/>
                    <a:lumOff val="35000"/>
                  </a:schemeClr>
                </a:solidFill>
              </a:rPr>
              <a:t>107</a:t>
            </a:r>
            <a:r>
              <a:rPr kumimoji="1" lang="ja-JP" altLang="en-US" sz="1100" b="1">
                <a:solidFill>
                  <a:schemeClr val="tx1">
                    <a:lumMod val="65000"/>
                    <a:lumOff val="35000"/>
                  </a:schemeClr>
                </a:solidFill>
              </a:rPr>
              <a:t>年の</a:t>
            </a:r>
            <a:r>
              <a:rPr kumimoji="1" lang="en-GB" altLang="ja-JP" sz="1100" b="1" dirty="0">
                <a:solidFill>
                  <a:schemeClr val="tx1">
                    <a:lumMod val="65000"/>
                    <a:lumOff val="35000"/>
                  </a:schemeClr>
                </a:solidFill>
              </a:rPr>
              <a:t>TOTO</a:t>
            </a:r>
            <a:r>
              <a:rPr kumimoji="1" lang="ja-JP" altLang="en-US" sz="1100" b="1">
                <a:solidFill>
                  <a:schemeClr val="tx1">
                    <a:lumMod val="65000"/>
                    <a:lumOff val="35000"/>
                  </a:schemeClr>
                </a:solidFill>
              </a:rPr>
              <a:t>が挑むデジタル活用 </a:t>
            </a:r>
            <a:r>
              <a:rPr kumimoji="1" lang="en-US" altLang="ja-JP" sz="1100" b="1" dirty="0">
                <a:solidFill>
                  <a:schemeClr val="tx1">
                    <a:lumMod val="65000"/>
                    <a:lumOff val="35000"/>
                  </a:schemeClr>
                </a:solidFill>
              </a:rPr>
              <a:t>| </a:t>
            </a:r>
            <a:r>
              <a:rPr kumimoji="1" lang="en-GB" altLang="ja-JP" sz="1100" b="1" dirty="0">
                <a:solidFill>
                  <a:schemeClr val="tx1">
                    <a:lumMod val="65000"/>
                    <a:lumOff val="35000"/>
                  </a:schemeClr>
                </a:solidFill>
              </a:rPr>
              <a:t>Koto Online</a:t>
            </a:r>
          </a:p>
          <a:p>
            <a:r>
              <a:rPr kumimoji="1" lang="en-GB" altLang="ja-JP" sz="1100" b="1" dirty="0">
                <a:solidFill>
                  <a:schemeClr val="tx1">
                    <a:lumMod val="65000"/>
                    <a:lumOff val="35000"/>
                  </a:schemeClr>
                </a:solidFill>
              </a:rPr>
              <a:t>       </a:t>
            </a:r>
            <a:r>
              <a:rPr kumimoji="1" lang="en-GB" altLang="ja-JP" sz="1100" b="1" dirty="0">
                <a:solidFill>
                  <a:schemeClr val="tx1">
                    <a:lumMod val="65000"/>
                    <a:lumOff val="35000"/>
                  </a:schemeClr>
                </a:solidFill>
                <a:hlinkClick r:id="rId2">
                  <a:extLst>
                    <a:ext uri="{A12FA001-AC4F-418D-AE19-62706E023703}">
                      <ahyp:hlinkClr xmlns:ahyp="http://schemas.microsoft.com/office/drawing/2018/hyperlinkcolor" val="tx"/>
                    </a:ext>
                  </a:extLst>
                </a:hlinkClick>
              </a:rPr>
              <a:t>https://www.cct-inc.co.jp/koto-online/archives/412?utm_source=chatgpt.com</a:t>
            </a:r>
            <a:r>
              <a:rPr kumimoji="1" lang="en-GB" altLang="ja-JP" sz="1100" b="1" dirty="0">
                <a:solidFill>
                  <a:schemeClr val="tx1">
                    <a:lumMod val="65000"/>
                    <a:lumOff val="35000"/>
                  </a:schemeClr>
                </a:solidFill>
              </a:rPr>
              <a:t> </a:t>
            </a:r>
            <a:r>
              <a:rPr kumimoji="1" lang="en-US" altLang="ja-JP" sz="1100" b="1" dirty="0">
                <a:solidFill>
                  <a:schemeClr val="tx1">
                    <a:lumMod val="65000"/>
                    <a:lumOff val="35000"/>
                  </a:schemeClr>
                </a:solidFill>
              </a:rPr>
              <a:t>2025/04/18 </a:t>
            </a:r>
            <a:r>
              <a:rPr kumimoji="1" lang="ja-GB" altLang="en-US" sz="1100" b="1" dirty="0">
                <a:solidFill>
                  <a:schemeClr val="tx1">
                    <a:lumMod val="65000"/>
                    <a:lumOff val="35000"/>
                  </a:schemeClr>
                </a:solidFill>
              </a:rPr>
              <a:t>アクセス</a:t>
            </a:r>
            <a:endParaRPr kumimoji="1" lang="en-US" altLang="ja-GB" sz="1100" b="1" dirty="0">
              <a:solidFill>
                <a:schemeClr val="tx1">
                  <a:lumMod val="65000"/>
                  <a:lumOff val="35000"/>
                </a:schemeClr>
              </a:solidFill>
            </a:endParaRPr>
          </a:p>
          <a:p>
            <a:r>
              <a:rPr kumimoji="1" lang="en-US" altLang="ja-JP" sz="1100" b="1" dirty="0">
                <a:solidFill>
                  <a:schemeClr val="tx1">
                    <a:lumMod val="65000"/>
                    <a:lumOff val="35000"/>
                  </a:schemeClr>
                </a:solidFill>
              </a:rPr>
              <a:t>[2] </a:t>
            </a:r>
            <a:r>
              <a:rPr kumimoji="1" lang="ja-JP" altLang="en-US" sz="1100" b="1">
                <a:solidFill>
                  <a:schemeClr val="tx1">
                    <a:lumMod val="65000"/>
                    <a:lumOff val="35000"/>
                  </a:schemeClr>
                </a:solidFill>
              </a:rPr>
              <a:t>グリーンファクトリー滋賀工場 </a:t>
            </a:r>
            <a:r>
              <a:rPr kumimoji="1" lang="en-US" altLang="ja-JP" sz="1100" b="1" dirty="0">
                <a:solidFill>
                  <a:schemeClr val="tx1">
                    <a:lumMod val="65000"/>
                    <a:lumOff val="35000"/>
                  </a:schemeClr>
                </a:solidFill>
              </a:rPr>
              <a:t>| </a:t>
            </a:r>
            <a:r>
              <a:rPr kumimoji="1" lang="ja-JP" altLang="en-US" sz="1100" b="1">
                <a:solidFill>
                  <a:schemeClr val="tx1">
                    <a:lumMod val="65000"/>
                    <a:lumOff val="35000"/>
                  </a:schemeClr>
                </a:solidFill>
              </a:rPr>
              <a:t>サステナビリティ </a:t>
            </a:r>
            <a:r>
              <a:rPr kumimoji="1" lang="en-US" altLang="ja-JP" sz="1100" b="1" dirty="0">
                <a:solidFill>
                  <a:schemeClr val="tx1">
                    <a:lumMod val="65000"/>
                    <a:lumOff val="35000"/>
                  </a:schemeClr>
                </a:solidFill>
              </a:rPr>
              <a:t>| </a:t>
            </a:r>
            <a:r>
              <a:rPr kumimoji="1" lang="ja-JP" altLang="en-US" sz="1100" b="1">
                <a:solidFill>
                  <a:schemeClr val="tx1">
                    <a:lumMod val="65000"/>
                    <a:lumOff val="35000"/>
                  </a:schemeClr>
                </a:solidFill>
              </a:rPr>
              <a:t>会社情報 </a:t>
            </a:r>
            <a:r>
              <a:rPr kumimoji="1" lang="en-US" altLang="ja-JP" sz="1100" b="1" dirty="0">
                <a:solidFill>
                  <a:schemeClr val="tx1">
                    <a:lumMod val="65000"/>
                    <a:lumOff val="35000"/>
                  </a:schemeClr>
                </a:solidFill>
              </a:rPr>
              <a:t>| </a:t>
            </a:r>
            <a:r>
              <a:rPr kumimoji="1" lang="en-GB" altLang="ja-GB" sz="1100" b="1" dirty="0">
                <a:solidFill>
                  <a:schemeClr val="tx1">
                    <a:lumMod val="65000"/>
                    <a:lumOff val="35000"/>
                  </a:schemeClr>
                </a:solidFill>
              </a:rPr>
              <a:t>TOTO</a:t>
            </a:r>
            <a:r>
              <a:rPr kumimoji="1" lang="ja-JP" altLang="en-US" sz="1100" b="1">
                <a:solidFill>
                  <a:schemeClr val="tx1">
                    <a:lumMod val="65000"/>
                    <a:lumOff val="35000"/>
                  </a:schemeClr>
                </a:solidFill>
              </a:rPr>
              <a:t>株式会社</a:t>
            </a:r>
            <a:endParaRPr kumimoji="1" lang="en-US" altLang="ja-JP" sz="1100" b="1" dirty="0">
              <a:solidFill>
                <a:schemeClr val="tx1">
                  <a:lumMod val="65000"/>
                  <a:lumOff val="35000"/>
                </a:schemeClr>
              </a:solidFill>
            </a:endParaRPr>
          </a:p>
          <a:p>
            <a:r>
              <a:rPr kumimoji="1" lang="en-US" altLang="ja-JP" sz="1100" b="1" dirty="0">
                <a:solidFill>
                  <a:schemeClr val="tx1">
                    <a:lumMod val="65000"/>
                    <a:lumOff val="35000"/>
                  </a:schemeClr>
                </a:solidFill>
              </a:rPr>
              <a:t>       </a:t>
            </a:r>
            <a:r>
              <a:rPr kumimoji="1" lang="en-GB" altLang="ja-GB" sz="1100" b="1" dirty="0">
                <a:solidFill>
                  <a:schemeClr val="tx1">
                    <a:lumMod val="65000"/>
                    <a:lumOff val="35000"/>
                  </a:schemeClr>
                </a:solidFill>
                <a:hlinkClick r:id="rId3">
                  <a:extLst>
                    <a:ext uri="{A12FA001-AC4F-418D-AE19-62706E023703}">
                      <ahyp:hlinkClr xmlns:ahyp="http://schemas.microsoft.com/office/drawing/2018/hyperlinkcolor" val="tx"/>
                    </a:ext>
                  </a:extLst>
                </a:hlinkClick>
              </a:rPr>
              <a:t>https://jp.toto.com/company/csr/environment/greenfactory/?utm_source=chatgpt.com</a:t>
            </a:r>
            <a:r>
              <a:rPr kumimoji="1" lang="en-US" altLang="ja-GB" sz="1100" b="1" dirty="0">
                <a:solidFill>
                  <a:schemeClr val="tx1">
                    <a:lumMod val="65000"/>
                    <a:lumOff val="35000"/>
                  </a:schemeClr>
                </a:solidFill>
              </a:rPr>
              <a:t> 4/18</a:t>
            </a:r>
            <a:r>
              <a:rPr kumimoji="1" lang="ja-GB" altLang="en-US" sz="1100" b="1" dirty="0">
                <a:solidFill>
                  <a:schemeClr val="tx1">
                    <a:lumMod val="65000"/>
                    <a:lumOff val="35000"/>
                  </a:schemeClr>
                </a:solidFill>
              </a:rPr>
              <a:t>アクセス</a:t>
            </a:r>
          </a:p>
        </p:txBody>
      </p:sp>
    </p:spTree>
    <p:extLst>
      <p:ext uri="{BB962C8B-B14F-4D97-AF65-F5344CB8AC3E}">
        <p14:creationId xmlns:p14="http://schemas.microsoft.com/office/powerpoint/2010/main" val="1736965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413241-3FDF-F622-1AE0-AA6B5CE681D2}"/>
              </a:ext>
            </a:extLst>
          </p:cNvPr>
          <p:cNvSpPr>
            <a:spLocks noGrp="1"/>
          </p:cNvSpPr>
          <p:nvPr>
            <p:ph type="title"/>
          </p:nvPr>
        </p:nvSpPr>
        <p:spPr/>
        <p:txBody>
          <a:bodyPr/>
          <a:lstStyle/>
          <a:p>
            <a:r>
              <a:rPr kumimoji="1" lang="en-US" altLang="ja-GB" dirty="0"/>
              <a:t>Society 5.0</a:t>
            </a:r>
            <a:r>
              <a:rPr kumimoji="1" lang="ja-GB" altLang="en-US" dirty="0"/>
              <a:t>：超スマート社会</a:t>
            </a:r>
          </a:p>
        </p:txBody>
      </p:sp>
      <p:sp>
        <p:nvSpPr>
          <p:cNvPr id="3" name="コンテンツ プレースホルダー 2">
            <a:extLst>
              <a:ext uri="{FF2B5EF4-FFF2-40B4-BE49-F238E27FC236}">
                <a16:creationId xmlns:a16="http://schemas.microsoft.com/office/drawing/2014/main" id="{01E1AFB9-3EB3-E36D-974E-E87841DE7CEF}"/>
              </a:ext>
            </a:extLst>
          </p:cNvPr>
          <p:cNvSpPr>
            <a:spLocks noGrp="1"/>
          </p:cNvSpPr>
          <p:nvPr>
            <p:ph idx="1"/>
          </p:nvPr>
        </p:nvSpPr>
        <p:spPr/>
        <p:txBody>
          <a:bodyPr/>
          <a:lstStyle/>
          <a:p>
            <a:pPr marL="0" indent="0">
              <a:buNone/>
            </a:pPr>
            <a:r>
              <a:rPr kumimoji="1" lang="ja-GB" altLang="en-US" dirty="0"/>
              <a:t>内閣府が掲げる「我が国の目指すべき未来社会の姿」</a:t>
            </a:r>
            <a:endParaRPr kumimoji="1" lang="en-US" altLang="ja-GB" dirty="0"/>
          </a:p>
          <a:p>
            <a:pPr marL="457200" lvl="1" indent="0">
              <a:buNone/>
            </a:pPr>
            <a:r>
              <a:rPr lang="ja-GB" altLang="en-US" dirty="0">
                <a:solidFill>
                  <a:schemeClr val="accent2"/>
                </a:solidFill>
              </a:rPr>
              <a:t>第四次産業革命を「製造業」から「社会全体」に拡張したようなもの</a:t>
            </a:r>
            <a:endParaRPr lang="en-US" altLang="ja-GB" dirty="0">
              <a:solidFill>
                <a:schemeClr val="accent2"/>
              </a:solidFill>
            </a:endParaRPr>
          </a:p>
          <a:p>
            <a:pPr lvl="2"/>
            <a:r>
              <a:rPr lang="ja-GB" altLang="en-US" dirty="0">
                <a:solidFill>
                  <a:srgbClr val="2F2523"/>
                </a:solidFill>
              </a:rPr>
              <a:t>社会全体を</a:t>
            </a:r>
            <a:r>
              <a:rPr lang="ja-GB" altLang="en-US" dirty="0">
                <a:solidFill>
                  <a:srgbClr val="0070C0"/>
                </a:solidFill>
              </a:rPr>
              <a:t>仮想世界で分析して</a:t>
            </a:r>
            <a:r>
              <a:rPr lang="ja-GB" altLang="en-US" dirty="0"/>
              <a:t>，社会制度やビジネスデザイン，</a:t>
            </a:r>
            <a:br>
              <a:rPr lang="en-US" altLang="ja-GB" dirty="0"/>
            </a:br>
            <a:r>
              <a:rPr lang="ja-GB" altLang="en-US" dirty="0"/>
              <a:t>都市や地域の整備などを再構成することで，</a:t>
            </a:r>
            <a:r>
              <a:rPr lang="ja-GB" altLang="en-US" dirty="0">
                <a:solidFill>
                  <a:srgbClr val="0070C0"/>
                </a:solidFill>
              </a:rPr>
              <a:t>現実社会を変革</a:t>
            </a:r>
            <a:r>
              <a:rPr lang="ja-GB" altLang="en-US" dirty="0"/>
              <a:t>していく</a:t>
            </a:r>
            <a:endParaRPr lang="en-US" altLang="ja-GB" dirty="0"/>
          </a:p>
          <a:p>
            <a:pPr lvl="2"/>
            <a:r>
              <a:rPr lang="ja-GB" altLang="en-US" dirty="0"/>
              <a:t>技術革新や人材育成，研究開発などの</a:t>
            </a:r>
            <a:r>
              <a:rPr lang="ja-GB" altLang="en-US" dirty="0">
                <a:solidFill>
                  <a:srgbClr val="0070C0"/>
                </a:solidFill>
              </a:rPr>
              <a:t>政策を通じて実現</a:t>
            </a:r>
            <a:r>
              <a:rPr lang="ja-GB" altLang="en-US" dirty="0"/>
              <a:t>が目指される</a:t>
            </a:r>
            <a:endParaRPr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4F078731-BE85-20B6-DB94-6DBA8332FCBB}"/>
              </a:ext>
            </a:extLst>
          </p:cNvPr>
          <p:cNvSpPr txBox="1"/>
          <p:nvPr/>
        </p:nvSpPr>
        <p:spPr>
          <a:xfrm>
            <a:off x="314325" y="6232316"/>
            <a:ext cx="8690190" cy="523220"/>
          </a:xfrm>
          <a:prstGeom prst="rect">
            <a:avLst/>
          </a:prstGeom>
          <a:noFill/>
        </p:spPr>
        <p:txBody>
          <a:bodyPr wrap="square" rtlCol="0">
            <a:spAutoFit/>
          </a:bodyPr>
          <a:lstStyle/>
          <a:p>
            <a:r>
              <a:rPr kumimoji="1" lang="ja-GB" altLang="en-US" sz="1400" b="1" dirty="0">
                <a:solidFill>
                  <a:srgbClr val="2F2523"/>
                </a:solidFill>
                <a:latin typeface="Yu Gothic UI" panose="020B0500000000000000" pitchFamily="34" charset="-128"/>
                <a:ea typeface="Yu Gothic UI" panose="020B0500000000000000" pitchFamily="34" charset="-128"/>
              </a:rPr>
              <a:t>参考資料：</a:t>
            </a:r>
            <a:br>
              <a:rPr kumimoji="1" lang="en-US" altLang="ja-GB" sz="1400" b="1" dirty="0">
                <a:solidFill>
                  <a:srgbClr val="2F2523"/>
                </a:solidFill>
                <a:latin typeface="Yu Gothic UI" panose="020B0500000000000000" pitchFamily="34" charset="-128"/>
                <a:ea typeface="Yu Gothic UI" panose="020B0500000000000000" pitchFamily="34" charset="-128"/>
              </a:rPr>
            </a:br>
            <a:r>
              <a:rPr kumimoji="1" lang="en-GB" altLang="ja-JP" sz="1400" b="1" dirty="0">
                <a:solidFill>
                  <a:srgbClr val="2F2523"/>
                </a:solidFill>
                <a:latin typeface="Yu Gothic UI" panose="020B0500000000000000" pitchFamily="34" charset="-128"/>
                <a:ea typeface="Yu Gothic UI" panose="020B0500000000000000" pitchFamily="34" charset="-128"/>
              </a:rPr>
              <a:t>Society 5.0 - </a:t>
            </a:r>
            <a:r>
              <a:rPr kumimoji="1" lang="ja-JP" altLang="en-US" sz="1400" b="1">
                <a:solidFill>
                  <a:srgbClr val="2F2523"/>
                </a:solidFill>
                <a:latin typeface="Yu Gothic UI" panose="020B0500000000000000" pitchFamily="34" charset="-128"/>
                <a:ea typeface="Yu Gothic UI" panose="020B0500000000000000" pitchFamily="34" charset="-128"/>
              </a:rPr>
              <a:t>科学技術政策 </a:t>
            </a:r>
            <a:r>
              <a:rPr kumimoji="1" lang="en-US" altLang="ja-JP" sz="1400" b="1" dirty="0">
                <a:solidFill>
                  <a:srgbClr val="2F2523"/>
                </a:solidFill>
                <a:latin typeface="Yu Gothic UI" panose="020B0500000000000000" pitchFamily="34" charset="-128"/>
                <a:ea typeface="Yu Gothic UI" panose="020B0500000000000000" pitchFamily="34" charset="-128"/>
              </a:rPr>
              <a:t>- </a:t>
            </a:r>
            <a:r>
              <a:rPr kumimoji="1" lang="ja-JP" altLang="en-US" sz="1400" b="1">
                <a:solidFill>
                  <a:srgbClr val="2F2523"/>
                </a:solidFill>
                <a:latin typeface="Yu Gothic UI" panose="020B0500000000000000" pitchFamily="34" charset="-128"/>
                <a:ea typeface="Yu Gothic UI" panose="020B0500000000000000" pitchFamily="34" charset="-128"/>
              </a:rPr>
              <a:t>内閣府 </a:t>
            </a:r>
            <a:r>
              <a:rPr kumimoji="1" lang="en-GB" altLang="ja-JP" sz="1400" b="1" dirty="0">
                <a:solidFill>
                  <a:srgbClr val="2F2523"/>
                </a:solidFill>
                <a:latin typeface="Yu Gothic UI" panose="020B0500000000000000" pitchFamily="34" charset="-128"/>
                <a:ea typeface="Yu Gothic UI" panose="020B0500000000000000" pitchFamily="34" charset="-128"/>
                <a:hlinkClick r:id="rId2"/>
              </a:rPr>
              <a:t>https://www8.cao.go.jp/cstp/society5_0/</a:t>
            </a:r>
            <a:r>
              <a:rPr kumimoji="1" lang="en-GB" altLang="ja-JP" sz="1400" b="1" dirty="0">
                <a:solidFill>
                  <a:srgbClr val="2F2523"/>
                </a:solidFill>
                <a:latin typeface="Yu Gothic UI" panose="020B0500000000000000" pitchFamily="34" charset="-128"/>
                <a:ea typeface="Yu Gothic UI" panose="020B0500000000000000" pitchFamily="34" charset="-128"/>
              </a:rPr>
              <a:t> </a:t>
            </a:r>
            <a:r>
              <a:rPr kumimoji="1" lang="ja-GB" altLang="en-US" sz="1400" b="1" dirty="0">
                <a:solidFill>
                  <a:srgbClr val="2F2523"/>
                </a:solidFill>
                <a:latin typeface="Yu Gothic UI" panose="020B0500000000000000" pitchFamily="34" charset="-128"/>
                <a:ea typeface="Yu Gothic UI" panose="020B0500000000000000" pitchFamily="34" charset="-128"/>
              </a:rPr>
              <a:t>，</a:t>
            </a:r>
            <a:r>
              <a:rPr kumimoji="1" lang="en-US" altLang="ja-GB" sz="1400" b="1" dirty="0">
                <a:solidFill>
                  <a:srgbClr val="2F2523"/>
                </a:solidFill>
                <a:latin typeface="Yu Gothic UI" panose="020B0500000000000000" pitchFamily="34" charset="-128"/>
                <a:ea typeface="Yu Gothic UI" panose="020B0500000000000000" pitchFamily="34" charset="-128"/>
              </a:rPr>
              <a:t>2025/04/01</a:t>
            </a:r>
            <a:r>
              <a:rPr kumimoji="1" lang="ja-GB" altLang="en-US" sz="1400" b="1" dirty="0">
                <a:solidFill>
                  <a:srgbClr val="2F2523"/>
                </a:solidFill>
                <a:latin typeface="Yu Gothic UI" panose="020B0500000000000000" pitchFamily="34" charset="-128"/>
                <a:ea typeface="Yu Gothic UI" panose="020B0500000000000000" pitchFamily="34" charset="-128"/>
              </a:rPr>
              <a:t>アクセス</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pic>
        <p:nvPicPr>
          <p:cNvPr id="1026" name="Picture 2" descr="Society 5.0 説明図">
            <a:extLst>
              <a:ext uri="{FF2B5EF4-FFF2-40B4-BE49-F238E27FC236}">
                <a16:creationId xmlns:a16="http://schemas.microsoft.com/office/drawing/2014/main" id="{9C1956D7-90B2-D0EB-F4D4-3E192A71203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92036" y="2871585"/>
            <a:ext cx="4359927" cy="30178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1A8D8707-70FF-CDE3-3EEF-9DD15B96DD3C}"/>
              </a:ext>
            </a:extLst>
          </p:cNvPr>
          <p:cNvSpPr txBox="1"/>
          <p:nvPr/>
        </p:nvSpPr>
        <p:spPr>
          <a:xfrm>
            <a:off x="2131267" y="5991934"/>
            <a:ext cx="4881465" cy="307777"/>
          </a:xfrm>
          <a:prstGeom prst="rect">
            <a:avLst/>
          </a:prstGeom>
          <a:noFill/>
        </p:spPr>
        <p:txBody>
          <a:bodyPr wrap="none" rtlCol="0">
            <a:spAutoFit/>
          </a:bodyPr>
          <a:lstStyle/>
          <a:p>
            <a:r>
              <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rPr>
              <a:t>参考資料より「</a:t>
            </a:r>
            <a:r>
              <a:rPr kumimoji="1" lang="ja-JP" altLang="en-US" sz="1400" b="1">
                <a:solidFill>
                  <a:schemeClr val="tx1">
                    <a:lumMod val="50000"/>
                    <a:lumOff val="50000"/>
                  </a:schemeClr>
                </a:solidFill>
                <a:latin typeface="Yu Gothic UI" panose="020B0500000000000000" pitchFamily="34" charset="-128"/>
                <a:ea typeface="Yu Gothic UI" panose="020B0500000000000000" pitchFamily="34" charset="-128"/>
              </a:rPr>
              <a:t>公共データ利用規約（第</a:t>
            </a:r>
            <a:r>
              <a:rPr kumimoji="1" lang="en-US" altLang="ja-JP" sz="1400" b="1" dirty="0">
                <a:solidFill>
                  <a:schemeClr val="tx1">
                    <a:lumMod val="50000"/>
                    <a:lumOff val="50000"/>
                  </a:schemeClr>
                </a:solidFill>
                <a:latin typeface="Yu Gothic UI" panose="020B0500000000000000" pitchFamily="34" charset="-128"/>
                <a:ea typeface="Yu Gothic UI" panose="020B0500000000000000" pitchFamily="34" charset="-128"/>
              </a:rPr>
              <a:t>1.0</a:t>
            </a:r>
            <a:r>
              <a:rPr kumimoji="1" lang="ja-JP" altLang="en-US" sz="1400" b="1">
                <a:solidFill>
                  <a:schemeClr val="tx1">
                    <a:lumMod val="50000"/>
                    <a:lumOff val="50000"/>
                  </a:schemeClr>
                </a:solidFill>
                <a:latin typeface="Yu Gothic UI" panose="020B0500000000000000" pitchFamily="34" charset="-128"/>
                <a:ea typeface="Yu Gothic UI" panose="020B0500000000000000" pitchFamily="34" charset="-128"/>
              </a:rPr>
              <a:t>版）」</a:t>
            </a:r>
            <a:r>
              <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rPr>
              <a:t>に基づいて引用</a:t>
            </a:r>
          </a:p>
        </p:txBody>
      </p:sp>
    </p:spTree>
    <p:extLst>
      <p:ext uri="{BB962C8B-B14F-4D97-AF65-F5344CB8AC3E}">
        <p14:creationId xmlns:p14="http://schemas.microsoft.com/office/powerpoint/2010/main" val="1101787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7ABBE6-47A8-0C7D-4CF6-F2DA12B2EA95}"/>
              </a:ext>
            </a:extLst>
          </p:cNvPr>
          <p:cNvSpPr>
            <a:spLocks noGrp="1"/>
          </p:cNvSpPr>
          <p:nvPr>
            <p:ph type="title"/>
          </p:nvPr>
        </p:nvSpPr>
        <p:spPr/>
        <p:txBody>
          <a:bodyPr/>
          <a:lstStyle/>
          <a:p>
            <a:r>
              <a:rPr kumimoji="1" lang="ja-GB" altLang="en-US" dirty="0"/>
              <a:t>具体例：再配達の削減</a:t>
            </a:r>
          </a:p>
        </p:txBody>
      </p:sp>
      <p:sp>
        <p:nvSpPr>
          <p:cNvPr id="3" name="コンテンツ プレースホルダー 2">
            <a:extLst>
              <a:ext uri="{FF2B5EF4-FFF2-40B4-BE49-F238E27FC236}">
                <a16:creationId xmlns:a16="http://schemas.microsoft.com/office/drawing/2014/main" id="{09CFB23D-4D52-B8B4-5256-3DE3D41C2AB2}"/>
              </a:ext>
            </a:extLst>
          </p:cNvPr>
          <p:cNvSpPr>
            <a:spLocks noGrp="1"/>
          </p:cNvSpPr>
          <p:nvPr>
            <p:ph idx="1"/>
          </p:nvPr>
        </p:nvSpPr>
        <p:spPr/>
        <p:txBody>
          <a:bodyPr/>
          <a:lstStyle/>
          <a:p>
            <a:pPr marL="0" indent="0">
              <a:buNone/>
            </a:pPr>
            <a:r>
              <a:rPr kumimoji="1" lang="ja-GB" altLang="en-US" dirty="0"/>
              <a:t>複数社にまたがるデータ分析体制を作り，社会全体を改善した事例</a:t>
            </a:r>
            <a:endParaRPr kumimoji="1" lang="en-US" altLang="ja-GB" dirty="0"/>
          </a:p>
          <a:p>
            <a:pPr marL="457200" lvl="1" indent="0">
              <a:buNone/>
            </a:pPr>
            <a:r>
              <a:rPr lang="ja-GB" altLang="en-US" dirty="0"/>
              <a:t>複数の会社・研究室が協力して行った実証実験</a:t>
            </a:r>
            <a:endParaRPr kumimoji="1" lang="en-US" altLang="ja-GB" dirty="0"/>
          </a:p>
          <a:p>
            <a:pPr lvl="2"/>
            <a:r>
              <a:rPr kumimoji="1" lang="ja-GB" altLang="en-US" dirty="0"/>
              <a:t>佐川急便，</a:t>
            </a:r>
            <a:r>
              <a:rPr kumimoji="1" lang="en-US" altLang="ja-GB" dirty="0"/>
              <a:t>JDSC</a:t>
            </a:r>
            <a:r>
              <a:rPr kumimoji="1" lang="ja-GB" altLang="en-US" dirty="0"/>
              <a:t>，東京大学大学院越塚登研究室・田中謙司研究室，</a:t>
            </a:r>
            <a:br>
              <a:rPr kumimoji="1" lang="en-US" altLang="ja-GB" dirty="0"/>
            </a:br>
            <a:r>
              <a:rPr kumimoji="1" lang="ja-GB" altLang="en-US" dirty="0"/>
              <a:t>横須賀市，グリッドデータバンク・ラボ有限責任事業組合</a:t>
            </a:r>
            <a:endParaRPr kumimoji="1" lang="en-US" altLang="ja-GB" dirty="0"/>
          </a:p>
          <a:p>
            <a:pPr lvl="2"/>
            <a:endParaRPr kumimoji="1" lang="en-US" altLang="ja-GB" dirty="0"/>
          </a:p>
          <a:p>
            <a:pPr marL="457200" lvl="1" indent="0">
              <a:buNone/>
            </a:pPr>
            <a:r>
              <a:rPr lang="en-US" altLang="ja-GB" dirty="0"/>
              <a:t>150</a:t>
            </a:r>
            <a:r>
              <a:rPr lang="ja-GB" altLang="en-US" dirty="0"/>
              <a:t>世帯に配布したスマートメーター（遠隔で情報取得できる計器）を利用</a:t>
            </a:r>
            <a:endParaRPr lang="en-US" altLang="ja-GB" dirty="0"/>
          </a:p>
          <a:p>
            <a:pPr marL="1257300" lvl="2" indent="-342900">
              <a:buFont typeface="+mj-lt"/>
              <a:buAutoNum type="arabicPeriod"/>
            </a:pPr>
            <a:r>
              <a:rPr kumimoji="1" lang="ja-GB" altLang="en-US" dirty="0"/>
              <a:t>スマートメータが消費電力を記録</a:t>
            </a:r>
            <a:endParaRPr kumimoji="1" lang="en-US" altLang="ja-GB" dirty="0"/>
          </a:p>
          <a:p>
            <a:pPr marL="1257300" lvl="2" indent="-342900">
              <a:buFont typeface="+mj-lt"/>
              <a:buAutoNum type="arabicPeriod"/>
            </a:pPr>
            <a:r>
              <a:rPr lang="ja-GB" altLang="en-US" dirty="0"/>
              <a:t>ネットワークを経由してサーバにアップロード</a:t>
            </a:r>
            <a:endParaRPr lang="en-US" altLang="ja-GB" dirty="0"/>
          </a:p>
          <a:p>
            <a:pPr marL="1257300" lvl="2" indent="-342900">
              <a:buFont typeface="+mj-lt"/>
              <a:buAutoNum type="arabicPeriod"/>
            </a:pPr>
            <a:r>
              <a:rPr lang="ja-GB" altLang="en-US" dirty="0"/>
              <a:t>消費電力のパターンを元に在宅か不在かを推定</a:t>
            </a:r>
            <a:endParaRPr lang="en-US" altLang="ja-GB" dirty="0"/>
          </a:p>
          <a:p>
            <a:pPr marL="1257300" lvl="2" indent="-342900">
              <a:buFont typeface="+mj-lt"/>
              <a:buAutoNum type="arabicPeriod"/>
            </a:pPr>
            <a:r>
              <a:rPr kumimoji="1" lang="ja-GB" altLang="en-US" dirty="0"/>
              <a:t>在宅確率が高い時間帯に訪問するように，再送先経路をリアルタイムに変更</a:t>
            </a:r>
            <a:endParaRPr kumimoji="1" lang="en-US" altLang="ja-GB" dirty="0"/>
          </a:p>
          <a:p>
            <a:pPr lvl="2"/>
            <a:endParaRPr kumimoji="1" lang="en-US" altLang="ja-GB" dirty="0"/>
          </a:p>
          <a:p>
            <a:pPr marL="457200" lvl="1" indent="0">
              <a:buNone/>
            </a:pPr>
            <a:r>
              <a:rPr lang="ja-GB" altLang="en-US" dirty="0"/>
              <a:t>結果：不在率が</a:t>
            </a:r>
            <a:r>
              <a:rPr lang="en-US" altLang="ja-GB" dirty="0"/>
              <a:t>20%</a:t>
            </a:r>
            <a:r>
              <a:rPr lang="ja-GB" altLang="en-US" dirty="0"/>
              <a:t>改善</a:t>
            </a:r>
            <a:endParaRPr lang="en-US" altLang="ja-GB" dirty="0"/>
          </a:p>
          <a:p>
            <a:pPr lvl="2"/>
            <a:endParaRPr kumimoji="1" lang="ja-GB" altLang="en-US" dirty="0"/>
          </a:p>
        </p:txBody>
      </p:sp>
      <p:sp>
        <p:nvSpPr>
          <p:cNvPr id="4" name="テキスト ボックス 3">
            <a:extLst>
              <a:ext uri="{FF2B5EF4-FFF2-40B4-BE49-F238E27FC236}">
                <a16:creationId xmlns:a16="http://schemas.microsoft.com/office/drawing/2014/main" id="{6D05C2A2-9EE9-162B-EE6C-F0B3CE7121C8}"/>
              </a:ext>
            </a:extLst>
          </p:cNvPr>
          <p:cNvSpPr txBox="1"/>
          <p:nvPr/>
        </p:nvSpPr>
        <p:spPr>
          <a:xfrm>
            <a:off x="431283" y="6270864"/>
            <a:ext cx="8281434" cy="276999"/>
          </a:xfrm>
          <a:prstGeom prst="rect">
            <a:avLst/>
          </a:prstGeom>
          <a:noFill/>
        </p:spPr>
        <p:txBody>
          <a:bodyPr wrap="none" rtlCol="0">
            <a:spAutoFit/>
          </a:bodyPr>
          <a:lstStyle/>
          <a:p>
            <a:r>
              <a:rPr kumimoji="1" lang="ja-GB" altLang="en-US" sz="1200" b="1" dirty="0">
                <a:solidFill>
                  <a:schemeClr val="tx1">
                    <a:lumMod val="50000"/>
                    <a:lumOff val="50000"/>
                  </a:schemeClr>
                </a:solidFill>
              </a:rPr>
              <a:t>参考文献：</a:t>
            </a:r>
            <a:r>
              <a:rPr kumimoji="1" lang="ja-JP" altLang="en-US" sz="1200" b="1">
                <a:solidFill>
                  <a:schemeClr val="tx1">
                    <a:lumMod val="50000"/>
                    <a:lumOff val="50000"/>
                  </a:schemeClr>
                </a:solidFill>
              </a:rPr>
              <a:t>中山 心太，</a:t>
            </a:r>
            <a:r>
              <a:rPr kumimoji="1" lang="en-US" altLang="ja-JP" sz="1200" b="1" dirty="0">
                <a:solidFill>
                  <a:schemeClr val="tx1">
                    <a:lumMod val="50000"/>
                    <a:lumOff val="50000"/>
                  </a:schemeClr>
                </a:solidFill>
              </a:rPr>
              <a:t>“</a:t>
            </a:r>
            <a:r>
              <a:rPr kumimoji="1" lang="ja-JP" altLang="en-US" sz="1200" b="1">
                <a:solidFill>
                  <a:schemeClr val="tx1">
                    <a:lumMod val="50000"/>
                    <a:lumOff val="50000"/>
                  </a:schemeClr>
                </a:solidFill>
              </a:rPr>
              <a:t>高校生だけじゃもったいない　仕事に役立つ新・必修科目「情報</a:t>
            </a:r>
            <a:r>
              <a:rPr kumimoji="1" lang="en-US" altLang="ja-JP" sz="1200" b="1" dirty="0">
                <a:solidFill>
                  <a:schemeClr val="tx1">
                    <a:lumMod val="50000"/>
                    <a:lumOff val="50000"/>
                  </a:schemeClr>
                </a:solidFill>
              </a:rPr>
              <a:t>Ⅰ”</a:t>
            </a:r>
            <a:r>
              <a:rPr kumimoji="1" lang="ja-JP" altLang="en-US" sz="1200" b="1">
                <a:solidFill>
                  <a:schemeClr val="tx1">
                    <a:lumMod val="50000"/>
                    <a:lumOff val="50000"/>
                  </a:schemeClr>
                </a:solidFill>
              </a:rPr>
              <a:t>，</a:t>
            </a:r>
            <a:r>
              <a:rPr kumimoji="1" lang="en-GB" altLang="ja-JP" sz="1200" b="1" dirty="0">
                <a:solidFill>
                  <a:schemeClr val="tx1">
                    <a:lumMod val="50000"/>
                    <a:lumOff val="50000"/>
                  </a:schemeClr>
                </a:solidFill>
              </a:rPr>
              <a:t>PHP</a:t>
            </a:r>
            <a:r>
              <a:rPr kumimoji="1" lang="ja-JP" altLang="en-US" sz="1200" b="1">
                <a:solidFill>
                  <a:schemeClr val="tx1">
                    <a:lumMod val="50000"/>
                    <a:lumOff val="50000"/>
                  </a:schemeClr>
                </a:solidFill>
              </a:rPr>
              <a:t>研究所 </a:t>
            </a:r>
            <a:r>
              <a:rPr kumimoji="1" lang="en-US" altLang="ja-JP" sz="1200" b="1" dirty="0">
                <a:solidFill>
                  <a:schemeClr val="tx1">
                    <a:lumMod val="50000"/>
                    <a:lumOff val="50000"/>
                  </a:schemeClr>
                </a:solidFill>
              </a:rPr>
              <a:t>(2023/10/27)</a:t>
            </a:r>
            <a:endParaRPr kumimoji="1" lang="ja-GB" altLang="en-US" sz="1200" b="1" dirty="0">
              <a:solidFill>
                <a:schemeClr val="tx1">
                  <a:lumMod val="50000"/>
                  <a:lumOff val="50000"/>
                </a:schemeClr>
              </a:solidFill>
            </a:endParaRPr>
          </a:p>
        </p:txBody>
      </p:sp>
    </p:spTree>
    <p:extLst>
      <p:ext uri="{BB962C8B-B14F-4D97-AF65-F5344CB8AC3E}">
        <p14:creationId xmlns:p14="http://schemas.microsoft.com/office/powerpoint/2010/main" val="397058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1BBA89-765E-F57F-BE1A-6EA066087BDF}"/>
              </a:ext>
            </a:extLst>
          </p:cNvPr>
          <p:cNvSpPr>
            <a:spLocks noGrp="1"/>
          </p:cNvSpPr>
          <p:nvPr>
            <p:ph type="title"/>
          </p:nvPr>
        </p:nvSpPr>
        <p:spPr/>
        <p:txBody>
          <a:bodyPr/>
          <a:lstStyle/>
          <a:p>
            <a:r>
              <a:rPr kumimoji="1" lang="en-US" altLang="ja-GB" dirty="0"/>
              <a:t>Industry 4.0</a:t>
            </a:r>
            <a:r>
              <a:rPr kumimoji="1" lang="ja-GB" altLang="en-US" dirty="0"/>
              <a:t>と</a:t>
            </a:r>
            <a:r>
              <a:rPr kumimoji="1" lang="en-US" altLang="ja-GB" dirty="0"/>
              <a:t>Society 5.0</a:t>
            </a:r>
            <a:r>
              <a:rPr kumimoji="1" lang="ja-GB" altLang="en-US" dirty="0"/>
              <a:t>の示す方向性</a:t>
            </a:r>
          </a:p>
        </p:txBody>
      </p:sp>
      <p:sp>
        <p:nvSpPr>
          <p:cNvPr id="3" name="コンテンツ プレースホルダー 2">
            <a:extLst>
              <a:ext uri="{FF2B5EF4-FFF2-40B4-BE49-F238E27FC236}">
                <a16:creationId xmlns:a16="http://schemas.microsoft.com/office/drawing/2014/main" id="{2C0E9BCF-86F7-DE9E-D72C-096B33E0A9EE}"/>
              </a:ext>
            </a:extLst>
          </p:cNvPr>
          <p:cNvSpPr>
            <a:spLocks noGrp="1"/>
          </p:cNvSpPr>
          <p:nvPr>
            <p:ph idx="1"/>
          </p:nvPr>
        </p:nvSpPr>
        <p:spPr/>
        <p:txBody>
          <a:bodyPr>
            <a:normAutofit/>
          </a:bodyPr>
          <a:lstStyle/>
          <a:p>
            <a:pPr marL="0" indent="0">
              <a:buNone/>
            </a:pPr>
            <a:r>
              <a:rPr kumimoji="1" lang="ja-GB" altLang="en-US" sz="1600" dirty="0">
                <a:solidFill>
                  <a:schemeClr val="tx1">
                    <a:lumMod val="65000"/>
                    <a:lumOff val="35000"/>
                  </a:schemeClr>
                </a:solidFill>
              </a:rPr>
              <a:t>これらに共通している方向性としては，情報世界を介して問題を解決するという発想である．</a:t>
            </a:r>
            <a:endParaRPr kumimoji="1" lang="en-US" altLang="ja-GB" sz="1600" dirty="0">
              <a:solidFill>
                <a:schemeClr val="tx1">
                  <a:lumMod val="65000"/>
                  <a:lumOff val="35000"/>
                </a:schemeClr>
              </a:solidFill>
            </a:endParaRPr>
          </a:p>
          <a:p>
            <a:endParaRPr lang="en-US" altLang="ja-GB" sz="1600" dirty="0">
              <a:solidFill>
                <a:schemeClr val="tx1">
                  <a:lumMod val="65000"/>
                  <a:lumOff val="35000"/>
                </a:schemeClr>
              </a:solidFill>
            </a:endParaRPr>
          </a:p>
          <a:p>
            <a:pPr marL="0" indent="0">
              <a:buNone/>
            </a:pPr>
            <a:r>
              <a:rPr lang="ja-GB" altLang="en-US" sz="1600" dirty="0">
                <a:solidFill>
                  <a:schemeClr val="tx1">
                    <a:lumMod val="65000"/>
                    <a:lumOff val="35000"/>
                  </a:schemeClr>
                </a:solidFill>
              </a:rPr>
              <a:t>この考え方が重要である理由は，計算機という「自動で計算する装置」の存在に由来する．</a:t>
            </a:r>
            <a:endParaRPr lang="en-US" altLang="ja-GB" sz="1600" dirty="0">
              <a:solidFill>
                <a:schemeClr val="tx1">
                  <a:lumMod val="65000"/>
                  <a:lumOff val="35000"/>
                </a:schemeClr>
              </a:solidFill>
            </a:endParaRPr>
          </a:p>
          <a:p>
            <a:pPr marL="0" indent="0">
              <a:buNone/>
            </a:pPr>
            <a:r>
              <a:rPr lang="ja-GB" altLang="en-US" sz="1600" dirty="0">
                <a:solidFill>
                  <a:schemeClr val="tx1">
                    <a:lumMod val="65000"/>
                    <a:lumOff val="35000"/>
                  </a:schemeClr>
                </a:solidFill>
              </a:rPr>
              <a:t>「現実世界の仕事」を「情報世界の問題解決」に整理してしまえば，人間が手を煩わせることなく，</a:t>
            </a:r>
            <a:br>
              <a:rPr lang="en-US" altLang="ja-GB" sz="1600" dirty="0">
                <a:solidFill>
                  <a:schemeClr val="tx1">
                    <a:lumMod val="65000"/>
                    <a:lumOff val="35000"/>
                  </a:schemeClr>
                </a:solidFill>
              </a:rPr>
            </a:br>
            <a:r>
              <a:rPr lang="ja-GB" altLang="en-US" sz="1600" dirty="0">
                <a:solidFill>
                  <a:schemeClr val="tx1">
                    <a:lumMod val="65000"/>
                    <a:lumOff val="35000"/>
                  </a:schemeClr>
                </a:solidFill>
              </a:rPr>
              <a:t>エネルギーと機械により自動的に遂行されるようになる．</a:t>
            </a:r>
            <a:endParaRPr lang="en-US" altLang="ja-GB" sz="1600" dirty="0">
              <a:solidFill>
                <a:schemeClr val="tx1">
                  <a:lumMod val="65000"/>
                  <a:lumOff val="35000"/>
                </a:schemeClr>
              </a:solidFill>
            </a:endParaRPr>
          </a:p>
          <a:p>
            <a:pPr marL="0" indent="0">
              <a:buNone/>
            </a:pPr>
            <a:endParaRPr kumimoji="1" lang="en-US" altLang="ja-GB" sz="1600" dirty="0">
              <a:solidFill>
                <a:schemeClr val="tx1">
                  <a:lumMod val="65000"/>
                  <a:lumOff val="35000"/>
                </a:schemeClr>
              </a:solidFill>
            </a:endParaRPr>
          </a:p>
          <a:p>
            <a:pPr marL="0" indent="0">
              <a:buNone/>
            </a:pPr>
            <a:r>
              <a:rPr kumimoji="1" lang="ja-GB" altLang="en-US" sz="1600" dirty="0">
                <a:solidFill>
                  <a:schemeClr val="tx1">
                    <a:lumMod val="65000"/>
                    <a:lumOff val="35000"/>
                  </a:schemeClr>
                </a:solidFill>
              </a:rPr>
              <a:t>これは，石油</a:t>
            </a:r>
            <a:r>
              <a:rPr kumimoji="1" lang="en-US" altLang="ja-GB" sz="1600" dirty="0">
                <a:solidFill>
                  <a:schemeClr val="tx1">
                    <a:lumMod val="65000"/>
                    <a:lumOff val="35000"/>
                  </a:schemeClr>
                </a:solidFill>
              </a:rPr>
              <a:t> + </a:t>
            </a:r>
            <a:r>
              <a:rPr kumimoji="1" lang="ja-GB" altLang="en-US" sz="1600" dirty="0">
                <a:solidFill>
                  <a:schemeClr val="tx1">
                    <a:lumMod val="65000"/>
                    <a:lumOff val="35000"/>
                  </a:schemeClr>
                </a:solidFill>
              </a:rPr>
              <a:t>エンジン</a:t>
            </a:r>
            <a:r>
              <a:rPr kumimoji="1" lang="en-US" altLang="ja-GB" sz="1600" dirty="0">
                <a:solidFill>
                  <a:schemeClr val="tx1">
                    <a:lumMod val="65000"/>
                    <a:lumOff val="35000"/>
                  </a:schemeClr>
                </a:solidFill>
              </a:rPr>
              <a:t> + </a:t>
            </a:r>
            <a:r>
              <a:rPr kumimoji="1" lang="ja-GB" altLang="en-US" sz="1600" dirty="0">
                <a:solidFill>
                  <a:schemeClr val="tx1">
                    <a:lumMod val="65000"/>
                    <a:lumOff val="35000"/>
                  </a:schemeClr>
                </a:solidFill>
              </a:rPr>
              <a:t>重機が発明されたことで，「力仕事の一部が人の手から離れた」というのと類似したイメージ（</a:t>
            </a:r>
            <a:r>
              <a:rPr lang="ja-GB" altLang="en-US" sz="1600" dirty="0">
                <a:solidFill>
                  <a:schemeClr val="tx1">
                    <a:lumMod val="65000"/>
                    <a:lumOff val="35000"/>
                  </a:schemeClr>
                </a:solidFill>
              </a:rPr>
              <a:t>アナロジー</a:t>
            </a:r>
            <a:r>
              <a:rPr kumimoji="1" lang="ja-GB" altLang="en-US" sz="1600" dirty="0">
                <a:solidFill>
                  <a:schemeClr val="tx1">
                    <a:lumMod val="65000"/>
                    <a:lumOff val="35000"/>
                  </a:schemeClr>
                </a:solidFill>
              </a:rPr>
              <a:t>）を考えると分かりやすいかもしれない</a:t>
            </a:r>
            <a:endParaRPr kumimoji="1" lang="en-US" altLang="ja-GB" sz="1600" dirty="0">
              <a:solidFill>
                <a:schemeClr val="tx1">
                  <a:lumMod val="65000"/>
                  <a:lumOff val="35000"/>
                </a:schemeClr>
              </a:solidFill>
            </a:endParaRPr>
          </a:p>
          <a:p>
            <a:pPr marL="0" indent="0">
              <a:buNone/>
            </a:pPr>
            <a:endParaRPr lang="en-US" altLang="ja-GB" sz="1600" dirty="0">
              <a:solidFill>
                <a:schemeClr val="tx1">
                  <a:lumMod val="65000"/>
                  <a:lumOff val="35000"/>
                </a:schemeClr>
              </a:solidFill>
            </a:endParaRPr>
          </a:p>
          <a:p>
            <a:pPr marL="0" indent="0">
              <a:buNone/>
            </a:pPr>
            <a:r>
              <a:rPr lang="ja-GB" altLang="en-US" sz="1600" dirty="0">
                <a:solidFill>
                  <a:schemeClr val="tx1">
                    <a:lumMod val="65000"/>
                    <a:lumOff val="35000"/>
                  </a:schemeClr>
                </a:solidFill>
              </a:rPr>
              <a:t>生活者の視点に立つなら，</a:t>
            </a:r>
            <a:r>
              <a:rPr kumimoji="1" lang="ja-GB" altLang="en-US" sz="1600" dirty="0">
                <a:solidFill>
                  <a:schemeClr val="tx1">
                    <a:lumMod val="65000"/>
                    <a:lumOff val="35000"/>
                  </a:schemeClr>
                </a:solidFill>
              </a:rPr>
              <a:t>電気</a:t>
            </a:r>
            <a:r>
              <a:rPr kumimoji="1" lang="en-US" altLang="ja-GB" sz="1600" dirty="0">
                <a:solidFill>
                  <a:schemeClr val="tx1">
                    <a:lumMod val="65000"/>
                    <a:lumOff val="35000"/>
                  </a:schemeClr>
                </a:solidFill>
              </a:rPr>
              <a:t>+</a:t>
            </a:r>
            <a:r>
              <a:rPr lang="ja-GB" altLang="en-US" sz="1600" dirty="0">
                <a:solidFill>
                  <a:schemeClr val="tx1">
                    <a:lumMod val="65000"/>
                    <a:lumOff val="35000"/>
                  </a:schemeClr>
                </a:solidFill>
              </a:rPr>
              <a:t>家電が発明されたことで，「家事が形を変えながら人の手から離れた」というのと類似したアナロジーで考えると想像しやすいかもしれない．</a:t>
            </a:r>
            <a:endParaRPr kumimoji="1" lang="ja-GB" altLang="en-US" sz="1600" dirty="0">
              <a:solidFill>
                <a:schemeClr val="tx1">
                  <a:lumMod val="65000"/>
                  <a:lumOff val="35000"/>
                </a:schemeClr>
              </a:solidFill>
            </a:endParaRPr>
          </a:p>
        </p:txBody>
      </p:sp>
    </p:spTree>
    <p:extLst>
      <p:ext uri="{BB962C8B-B14F-4D97-AF65-F5344CB8AC3E}">
        <p14:creationId xmlns:p14="http://schemas.microsoft.com/office/powerpoint/2010/main" val="1396583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25FB00-54D8-0CE4-0203-B82831D26E7D}"/>
              </a:ext>
            </a:extLst>
          </p:cNvPr>
          <p:cNvSpPr>
            <a:spLocks noGrp="1"/>
          </p:cNvSpPr>
          <p:nvPr>
            <p:ph type="title"/>
          </p:nvPr>
        </p:nvSpPr>
        <p:spPr/>
        <p:txBody>
          <a:bodyPr/>
          <a:lstStyle/>
          <a:p>
            <a:r>
              <a:rPr kumimoji="1" lang="ja-GB" altLang="en-US" dirty="0"/>
              <a:t>情報社会の問題解決</a:t>
            </a:r>
          </a:p>
        </p:txBody>
      </p:sp>
      <p:sp>
        <p:nvSpPr>
          <p:cNvPr id="3" name="コンテンツ プレースホルダー 2">
            <a:extLst>
              <a:ext uri="{FF2B5EF4-FFF2-40B4-BE49-F238E27FC236}">
                <a16:creationId xmlns:a16="http://schemas.microsoft.com/office/drawing/2014/main" id="{8D5E5960-8A30-83C4-1D53-88887765EB9A}"/>
              </a:ext>
            </a:extLst>
          </p:cNvPr>
          <p:cNvSpPr>
            <a:spLocks noGrp="1"/>
          </p:cNvSpPr>
          <p:nvPr>
            <p:ph idx="1"/>
          </p:nvPr>
        </p:nvSpPr>
        <p:spPr/>
        <p:txBody>
          <a:bodyPr/>
          <a:lstStyle/>
          <a:p>
            <a:pPr marL="0" indent="0">
              <a:buNone/>
            </a:pPr>
            <a:r>
              <a:rPr kumimoji="1" lang="ja-GB" altLang="en-US" dirty="0"/>
              <a:t>情報世界を介して現実世界の問題を解決する</a:t>
            </a:r>
            <a:endParaRPr kumimoji="1" lang="en-US" altLang="ja-GB" dirty="0"/>
          </a:p>
          <a:p>
            <a:pPr marL="914400" lvl="1" indent="-457200">
              <a:buFont typeface="+mj-lt"/>
              <a:buAutoNum type="arabicPeriod"/>
            </a:pPr>
            <a:r>
              <a:rPr kumimoji="1" lang="ja-GB" altLang="en-US" dirty="0"/>
              <a:t>現実世界の問題を</a:t>
            </a:r>
            <a:r>
              <a:rPr kumimoji="1" lang="ja-GB" altLang="en-US" dirty="0">
                <a:solidFill>
                  <a:srgbClr val="0070C0"/>
                </a:solidFill>
              </a:rPr>
              <a:t>情報世界の問題</a:t>
            </a:r>
            <a:r>
              <a:rPr lang="ja-GB" altLang="en-US" dirty="0"/>
              <a:t>に変換</a:t>
            </a:r>
            <a:endParaRPr kumimoji="1" lang="en-US" altLang="ja-GB" dirty="0">
              <a:solidFill>
                <a:schemeClr val="accent2"/>
              </a:solidFill>
            </a:endParaRPr>
          </a:p>
          <a:p>
            <a:pPr marL="914400" lvl="1" indent="-457200">
              <a:buFont typeface="+mj-lt"/>
              <a:buAutoNum type="arabicPeriod"/>
            </a:pPr>
            <a:r>
              <a:rPr lang="ja-GB" altLang="en-US" dirty="0"/>
              <a:t>情報処理の</a:t>
            </a:r>
            <a:r>
              <a:rPr lang="ja-GB" altLang="en-US" dirty="0">
                <a:solidFill>
                  <a:srgbClr val="0070C0"/>
                </a:solidFill>
              </a:rPr>
              <a:t>知識や道具を活用</a:t>
            </a:r>
            <a:r>
              <a:rPr lang="ja-GB" altLang="en-US" dirty="0"/>
              <a:t>して情報世界で問題を解決</a:t>
            </a:r>
            <a:endParaRPr lang="en-US" altLang="ja-GB" dirty="0"/>
          </a:p>
          <a:p>
            <a:pPr marL="914400" lvl="1" indent="-457200">
              <a:buFont typeface="+mj-lt"/>
              <a:buAutoNum type="arabicPeriod"/>
            </a:pPr>
            <a:r>
              <a:rPr lang="ja-GB" altLang="en-US" dirty="0"/>
              <a:t>情報世界で解決した結果を</a:t>
            </a:r>
            <a:r>
              <a:rPr lang="ja-GB" altLang="en-US" dirty="0">
                <a:solidFill>
                  <a:srgbClr val="0070C0"/>
                </a:solidFill>
              </a:rPr>
              <a:t>現実世界の結果</a:t>
            </a:r>
            <a:r>
              <a:rPr lang="ja-GB" altLang="en-US" dirty="0"/>
              <a:t>に変換</a:t>
            </a:r>
            <a:endParaRPr lang="en-US" altLang="ja-GB" dirty="0"/>
          </a:p>
          <a:p>
            <a:pPr lvl="1"/>
            <a:endParaRPr kumimoji="1" lang="ja-GB" altLang="en-US" dirty="0"/>
          </a:p>
        </p:txBody>
      </p:sp>
      <p:sp>
        <p:nvSpPr>
          <p:cNvPr id="24" name="正方形/長方形 23">
            <a:extLst>
              <a:ext uri="{FF2B5EF4-FFF2-40B4-BE49-F238E27FC236}">
                <a16:creationId xmlns:a16="http://schemas.microsoft.com/office/drawing/2014/main" id="{703DFFF4-E12E-DE2C-25C8-DB1A9B9641A9}"/>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23" name="正方形/長方形 22">
            <a:extLst>
              <a:ext uri="{FF2B5EF4-FFF2-40B4-BE49-F238E27FC236}">
                <a16:creationId xmlns:a16="http://schemas.microsoft.com/office/drawing/2014/main" id="{3B3306EC-A9A1-9F68-7372-19A3D409878B}"/>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4" name="テキスト ボックス 3">
            <a:extLst>
              <a:ext uri="{FF2B5EF4-FFF2-40B4-BE49-F238E27FC236}">
                <a16:creationId xmlns:a16="http://schemas.microsoft.com/office/drawing/2014/main" id="{A9EE920E-BBA7-131A-2D28-4B50C5628B50}"/>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5" name="テキスト ボックス 4">
            <a:extLst>
              <a:ext uri="{FF2B5EF4-FFF2-40B4-BE49-F238E27FC236}">
                <a16:creationId xmlns:a16="http://schemas.microsoft.com/office/drawing/2014/main" id="{1B6F8B32-2310-C762-2B1F-D363197B4157}"/>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6" name="テキスト ボックス 5">
            <a:extLst>
              <a:ext uri="{FF2B5EF4-FFF2-40B4-BE49-F238E27FC236}">
                <a16:creationId xmlns:a16="http://schemas.microsoft.com/office/drawing/2014/main" id="{1B892555-4681-1A79-7C8A-5C629E87FB71}"/>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7" name="テキスト ボックス 6">
            <a:extLst>
              <a:ext uri="{FF2B5EF4-FFF2-40B4-BE49-F238E27FC236}">
                <a16:creationId xmlns:a16="http://schemas.microsoft.com/office/drawing/2014/main" id="{9645C48E-BD26-5CEB-3E67-9DAF9370E33F}"/>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9" name="直線矢印コネクタ 8">
            <a:extLst>
              <a:ext uri="{FF2B5EF4-FFF2-40B4-BE49-F238E27FC236}">
                <a16:creationId xmlns:a16="http://schemas.microsoft.com/office/drawing/2014/main" id="{D94E78A3-7FCB-36A6-9B4E-649D5A27C476}"/>
              </a:ext>
            </a:extLst>
          </p:cNvPr>
          <p:cNvCxnSpPr>
            <a:cxnSpLocks/>
            <a:stCxn id="4" idx="3"/>
            <a:endCxn id="6"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F577155F-E712-7715-A006-853AA555E198}"/>
              </a:ext>
            </a:extLst>
          </p:cNvPr>
          <p:cNvCxnSpPr>
            <a:cxnSpLocks/>
            <a:stCxn id="6" idx="2"/>
            <a:endCxn id="7" idx="0"/>
          </p:cNvCxnSpPr>
          <p:nvPr/>
        </p:nvCxnSpPr>
        <p:spPr>
          <a:xfrm flipH="1">
            <a:off x="5444522" y="3613666"/>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979C6F9-40F1-985C-07B4-C01D43F348D1}"/>
              </a:ext>
            </a:extLst>
          </p:cNvPr>
          <p:cNvCxnSpPr>
            <a:cxnSpLocks/>
            <a:stCxn id="7" idx="1"/>
            <a:endCxn id="5"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EAAA66B-B6BF-A789-469B-432B688D2DC5}"/>
              </a:ext>
            </a:extLst>
          </p:cNvPr>
          <p:cNvCxnSpPr>
            <a:cxnSpLocks/>
            <a:stCxn id="4" idx="2"/>
            <a:endCxn id="5" idx="0"/>
          </p:cNvCxnSpPr>
          <p:nvPr/>
        </p:nvCxnSpPr>
        <p:spPr>
          <a:xfrm flipH="1">
            <a:off x="2613360" y="3613666"/>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4011E5DC-6C72-8320-EF36-69745298F6BC}"/>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26" name="テキスト ボックス 25">
            <a:extLst>
              <a:ext uri="{FF2B5EF4-FFF2-40B4-BE49-F238E27FC236}">
                <a16:creationId xmlns:a16="http://schemas.microsoft.com/office/drawing/2014/main" id="{30BF412E-70EE-D16A-3413-6F5593BB171A}"/>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Tree>
    <p:extLst>
      <p:ext uri="{BB962C8B-B14F-4D97-AF65-F5344CB8AC3E}">
        <p14:creationId xmlns:p14="http://schemas.microsoft.com/office/powerpoint/2010/main" val="4278503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C664-38CD-A368-D41A-B6CD03E5DC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1EBCDE-0E58-56BE-F869-520A4E884300}"/>
              </a:ext>
            </a:extLst>
          </p:cNvPr>
          <p:cNvSpPr>
            <a:spLocks noGrp="1"/>
          </p:cNvSpPr>
          <p:nvPr>
            <p:ph type="title"/>
          </p:nvPr>
        </p:nvSpPr>
        <p:spPr/>
        <p:txBody>
          <a:bodyPr/>
          <a:lstStyle/>
          <a:p>
            <a:r>
              <a:rPr kumimoji="1" lang="ja-GB" altLang="en-US" dirty="0"/>
              <a:t>類似例：数学の問題解決</a:t>
            </a:r>
          </a:p>
        </p:txBody>
      </p:sp>
      <p:sp>
        <p:nvSpPr>
          <p:cNvPr id="3" name="コンテンツ プレースホルダー 2">
            <a:extLst>
              <a:ext uri="{FF2B5EF4-FFF2-40B4-BE49-F238E27FC236}">
                <a16:creationId xmlns:a16="http://schemas.microsoft.com/office/drawing/2014/main" id="{A42E2A83-FA47-966A-036F-A35B533423E4}"/>
              </a:ext>
            </a:extLst>
          </p:cNvPr>
          <p:cNvSpPr>
            <a:spLocks noGrp="1"/>
          </p:cNvSpPr>
          <p:nvPr>
            <p:ph idx="1"/>
          </p:nvPr>
        </p:nvSpPr>
        <p:spPr/>
        <p:txBody>
          <a:bodyPr/>
          <a:lstStyle/>
          <a:p>
            <a:pPr marL="0" indent="0">
              <a:buNone/>
            </a:pPr>
            <a:r>
              <a:rPr lang="ja-GB" altLang="en-US" dirty="0"/>
              <a:t>数学</a:t>
            </a:r>
            <a:r>
              <a:rPr kumimoji="1" lang="ja-GB" altLang="en-US" dirty="0"/>
              <a:t>世界を介して現実世界の問題を解決する</a:t>
            </a:r>
            <a:endParaRPr kumimoji="1" lang="en-US" altLang="ja-GB" dirty="0"/>
          </a:p>
          <a:p>
            <a:pPr marL="914400" lvl="1" indent="-457200">
              <a:buFont typeface="+mj-lt"/>
              <a:buAutoNum type="arabicPeriod"/>
            </a:pPr>
            <a:r>
              <a:rPr kumimoji="1" lang="ja-GB" altLang="en-US" dirty="0"/>
              <a:t>現実世界の問題を</a:t>
            </a:r>
            <a:r>
              <a:rPr lang="ja-GB" altLang="en-US" dirty="0">
                <a:solidFill>
                  <a:srgbClr val="0070C0"/>
                </a:solidFill>
              </a:rPr>
              <a:t>数学</a:t>
            </a:r>
            <a:r>
              <a:rPr kumimoji="1" lang="ja-GB" altLang="en-US" dirty="0">
                <a:solidFill>
                  <a:srgbClr val="0070C0"/>
                </a:solidFill>
              </a:rPr>
              <a:t>の問題</a:t>
            </a:r>
            <a:r>
              <a:rPr lang="ja-GB" altLang="en-US" dirty="0"/>
              <a:t>に変換</a:t>
            </a:r>
            <a:endParaRPr kumimoji="1" lang="en-US" altLang="ja-GB" dirty="0">
              <a:solidFill>
                <a:schemeClr val="accent2"/>
              </a:solidFill>
            </a:endParaRPr>
          </a:p>
          <a:p>
            <a:pPr marL="914400" lvl="1" indent="-457200">
              <a:buFont typeface="+mj-lt"/>
              <a:buAutoNum type="arabicPeriod"/>
            </a:pPr>
            <a:r>
              <a:rPr lang="ja-GB" altLang="en-US" dirty="0"/>
              <a:t>数学の</a:t>
            </a:r>
            <a:r>
              <a:rPr lang="ja-GB" altLang="en-US" dirty="0">
                <a:solidFill>
                  <a:srgbClr val="0070C0"/>
                </a:solidFill>
              </a:rPr>
              <a:t>知識や道具を活用</a:t>
            </a:r>
            <a:r>
              <a:rPr lang="ja-GB" altLang="en-US" dirty="0"/>
              <a:t>して情報世界で問題を解決</a:t>
            </a:r>
            <a:endParaRPr lang="en-US" altLang="ja-GB" dirty="0"/>
          </a:p>
          <a:p>
            <a:pPr marL="914400" lvl="1" indent="-457200">
              <a:buFont typeface="+mj-lt"/>
              <a:buAutoNum type="arabicPeriod"/>
            </a:pPr>
            <a:r>
              <a:rPr lang="ja-GB" altLang="en-US" dirty="0"/>
              <a:t>数学で得られた結果を</a:t>
            </a:r>
            <a:r>
              <a:rPr lang="ja-GB" altLang="en-US" dirty="0">
                <a:solidFill>
                  <a:srgbClr val="0070C0"/>
                </a:solidFill>
              </a:rPr>
              <a:t>現実世界の結果</a:t>
            </a:r>
            <a:r>
              <a:rPr lang="ja-GB" altLang="en-US" dirty="0"/>
              <a:t>に変換</a:t>
            </a:r>
            <a:endParaRPr lang="en-US" altLang="ja-GB" dirty="0"/>
          </a:p>
          <a:p>
            <a:pPr lvl="1"/>
            <a:endParaRPr kumimoji="1" lang="ja-GB" altLang="en-US" dirty="0"/>
          </a:p>
        </p:txBody>
      </p:sp>
      <p:sp>
        <p:nvSpPr>
          <p:cNvPr id="24" name="正方形/長方形 23">
            <a:extLst>
              <a:ext uri="{FF2B5EF4-FFF2-40B4-BE49-F238E27FC236}">
                <a16:creationId xmlns:a16="http://schemas.microsoft.com/office/drawing/2014/main" id="{0FAE516D-7569-8882-F520-22EA6C440638}"/>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23" name="正方形/長方形 22">
            <a:extLst>
              <a:ext uri="{FF2B5EF4-FFF2-40B4-BE49-F238E27FC236}">
                <a16:creationId xmlns:a16="http://schemas.microsoft.com/office/drawing/2014/main" id="{66C07BAA-0243-EFAC-5647-DBB7F1766B6D}"/>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4" name="テキスト ボックス 3">
            <a:extLst>
              <a:ext uri="{FF2B5EF4-FFF2-40B4-BE49-F238E27FC236}">
                <a16:creationId xmlns:a16="http://schemas.microsoft.com/office/drawing/2014/main" id="{85FB91C0-D213-73BD-2916-38E61A889182}"/>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5" name="テキスト ボックス 4">
            <a:extLst>
              <a:ext uri="{FF2B5EF4-FFF2-40B4-BE49-F238E27FC236}">
                <a16:creationId xmlns:a16="http://schemas.microsoft.com/office/drawing/2014/main" id="{21670469-2C74-1B7C-FF55-F3B0B800DD64}"/>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6" name="テキスト ボックス 5">
            <a:extLst>
              <a:ext uri="{FF2B5EF4-FFF2-40B4-BE49-F238E27FC236}">
                <a16:creationId xmlns:a16="http://schemas.microsoft.com/office/drawing/2014/main" id="{181CB683-5AA5-3EBC-8CC5-E2377AA94E89}"/>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7" name="テキスト ボックス 6">
            <a:extLst>
              <a:ext uri="{FF2B5EF4-FFF2-40B4-BE49-F238E27FC236}">
                <a16:creationId xmlns:a16="http://schemas.microsoft.com/office/drawing/2014/main" id="{68B13A5B-2342-9981-19A1-564100B20345}"/>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9" name="直線矢印コネクタ 8">
            <a:extLst>
              <a:ext uri="{FF2B5EF4-FFF2-40B4-BE49-F238E27FC236}">
                <a16:creationId xmlns:a16="http://schemas.microsoft.com/office/drawing/2014/main" id="{BE3400EC-6B76-6F97-D812-74A2BD68ABA4}"/>
              </a:ext>
            </a:extLst>
          </p:cNvPr>
          <p:cNvCxnSpPr>
            <a:cxnSpLocks/>
            <a:stCxn id="4" idx="3"/>
            <a:endCxn id="6" idx="1"/>
          </p:cNvCxnSpPr>
          <p:nvPr/>
        </p:nvCxnSpPr>
        <p:spPr>
          <a:xfrm>
            <a:off x="2936528" y="3429000"/>
            <a:ext cx="218483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A51C0DE-D84E-D094-23D0-DDAEACCAB6A7}"/>
              </a:ext>
            </a:extLst>
          </p:cNvPr>
          <p:cNvCxnSpPr>
            <a:cxnSpLocks/>
            <a:stCxn id="6" idx="2"/>
            <a:endCxn id="7" idx="0"/>
          </p:cNvCxnSpPr>
          <p:nvPr/>
        </p:nvCxnSpPr>
        <p:spPr>
          <a:xfrm flipH="1">
            <a:off x="5444522" y="3613666"/>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5C3AEE40-6397-65C0-E7FE-8D9D687C9C7A}"/>
              </a:ext>
            </a:extLst>
          </p:cNvPr>
          <p:cNvCxnSpPr>
            <a:cxnSpLocks/>
            <a:stCxn id="7" idx="1"/>
            <a:endCxn id="5" idx="3"/>
          </p:cNvCxnSpPr>
          <p:nvPr/>
        </p:nvCxnSpPr>
        <p:spPr>
          <a:xfrm flipH="1">
            <a:off x="3051942" y="5611536"/>
            <a:ext cx="206941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2AC925BC-D012-FD4B-88EE-667B9EAF6792}"/>
              </a:ext>
            </a:extLst>
          </p:cNvPr>
          <p:cNvCxnSpPr>
            <a:cxnSpLocks/>
            <a:stCxn id="4" idx="2"/>
            <a:endCxn id="5" idx="0"/>
          </p:cNvCxnSpPr>
          <p:nvPr/>
        </p:nvCxnSpPr>
        <p:spPr>
          <a:xfrm flipH="1">
            <a:off x="2613360" y="3613666"/>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7B691B9-DD09-F849-DCFC-DC689E44DDBC}"/>
              </a:ext>
            </a:extLst>
          </p:cNvPr>
          <p:cNvSpPr txBox="1"/>
          <p:nvPr/>
        </p:nvSpPr>
        <p:spPr>
          <a:xfrm>
            <a:off x="5444521" y="4365073"/>
            <a:ext cx="543739" cy="307777"/>
          </a:xfrm>
          <a:prstGeom prst="rect">
            <a:avLst/>
          </a:prstGeom>
          <a:noFill/>
        </p:spPr>
        <p:txBody>
          <a:bodyPr wrap="none" rtlCol="0">
            <a:spAutoFit/>
          </a:bodyPr>
          <a:lstStyle/>
          <a:p>
            <a:r>
              <a:rPr kumimoji="1" lang="ja-GB" altLang="en-US" sz="1400" b="1" dirty="0">
                <a:solidFill>
                  <a:srgbClr val="0070C0"/>
                </a:solidFill>
              </a:rPr>
              <a:t>計算</a:t>
            </a:r>
          </a:p>
        </p:txBody>
      </p:sp>
      <p:sp>
        <p:nvSpPr>
          <p:cNvPr id="25" name="テキスト ボックス 24">
            <a:extLst>
              <a:ext uri="{FF2B5EF4-FFF2-40B4-BE49-F238E27FC236}">
                <a16:creationId xmlns:a16="http://schemas.microsoft.com/office/drawing/2014/main" id="{7727E3E3-10B1-423C-DAB9-2F0AC654F389}"/>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26" name="テキスト ボックス 25">
            <a:extLst>
              <a:ext uri="{FF2B5EF4-FFF2-40B4-BE49-F238E27FC236}">
                <a16:creationId xmlns:a16="http://schemas.microsoft.com/office/drawing/2014/main" id="{C0D92B3F-64FC-F9C0-C0C6-FE9C68CE7EF6}"/>
              </a:ext>
            </a:extLst>
          </p:cNvPr>
          <p:cNvSpPr txBox="1"/>
          <p:nvPr/>
        </p:nvSpPr>
        <p:spPr>
          <a:xfrm>
            <a:off x="4916437" y="6359042"/>
            <a:ext cx="646331"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数学</a:t>
            </a:r>
          </a:p>
        </p:txBody>
      </p:sp>
      <p:pic>
        <p:nvPicPr>
          <p:cNvPr id="10" name="グラフィックス 9" descr="ビーバー 単色塗りつぶし">
            <a:extLst>
              <a:ext uri="{FF2B5EF4-FFF2-40B4-BE49-F238E27FC236}">
                <a16:creationId xmlns:a16="http://schemas.microsoft.com/office/drawing/2014/main" id="{69C019CB-8D7B-F660-ED75-7C2FBDB486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325" y="2854709"/>
            <a:ext cx="530331" cy="530331"/>
          </a:xfrm>
          <a:prstGeom prst="rect">
            <a:avLst/>
          </a:prstGeom>
        </p:spPr>
      </p:pic>
      <p:pic>
        <p:nvPicPr>
          <p:cNvPr id="13" name="グラフィックス 12" descr="ドングリ 単色塗りつぶし">
            <a:extLst>
              <a:ext uri="{FF2B5EF4-FFF2-40B4-BE49-F238E27FC236}">
                <a16:creationId xmlns:a16="http://schemas.microsoft.com/office/drawing/2014/main" id="{16FA0779-5814-21AD-FCDE-565B7CE095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2484" y="2676816"/>
            <a:ext cx="530331" cy="530331"/>
          </a:xfrm>
          <a:prstGeom prst="rect">
            <a:avLst/>
          </a:prstGeom>
        </p:spPr>
      </p:pic>
      <p:pic>
        <p:nvPicPr>
          <p:cNvPr id="15" name="グラフィックス 14" descr="ビーバー 単色塗りつぶし">
            <a:extLst>
              <a:ext uri="{FF2B5EF4-FFF2-40B4-BE49-F238E27FC236}">
                <a16:creationId xmlns:a16="http://schemas.microsoft.com/office/drawing/2014/main" id="{6BA5E21C-BBF8-C8C7-A817-B98BD01ED1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2971" y="3244334"/>
            <a:ext cx="530331" cy="530331"/>
          </a:xfrm>
          <a:prstGeom prst="rect">
            <a:avLst/>
          </a:prstGeom>
        </p:spPr>
      </p:pic>
      <p:pic>
        <p:nvPicPr>
          <p:cNvPr id="16" name="グラフィックス 15" descr="ビーバー 単色塗りつぶし">
            <a:extLst>
              <a:ext uri="{FF2B5EF4-FFF2-40B4-BE49-F238E27FC236}">
                <a16:creationId xmlns:a16="http://schemas.microsoft.com/office/drawing/2014/main" id="{8C01E19A-3E3F-635F-647F-03BF355285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25821" y="3025604"/>
            <a:ext cx="530331" cy="530331"/>
          </a:xfrm>
          <a:prstGeom prst="rect">
            <a:avLst/>
          </a:prstGeom>
        </p:spPr>
      </p:pic>
      <p:pic>
        <p:nvPicPr>
          <p:cNvPr id="18" name="グラフィックス 17" descr="ドングリ 単色塗りつぶし">
            <a:extLst>
              <a:ext uri="{FF2B5EF4-FFF2-40B4-BE49-F238E27FC236}">
                <a16:creationId xmlns:a16="http://schemas.microsoft.com/office/drawing/2014/main" id="{233D3978-FEBB-6EB0-7E94-2B72581AF4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7634" y="3540060"/>
            <a:ext cx="530331" cy="530331"/>
          </a:xfrm>
          <a:prstGeom prst="rect">
            <a:avLst/>
          </a:prstGeom>
        </p:spPr>
      </p:pic>
      <p:sp>
        <p:nvSpPr>
          <p:cNvPr id="19" name="テキスト ボックス 18">
            <a:extLst>
              <a:ext uri="{FF2B5EF4-FFF2-40B4-BE49-F238E27FC236}">
                <a16:creationId xmlns:a16="http://schemas.microsoft.com/office/drawing/2014/main" id="{9AF9FA47-2E18-273C-91E3-10421F81C6F6}"/>
              </a:ext>
            </a:extLst>
          </p:cNvPr>
          <p:cNvSpPr txBox="1"/>
          <p:nvPr/>
        </p:nvSpPr>
        <p:spPr>
          <a:xfrm>
            <a:off x="6830634" y="3251228"/>
            <a:ext cx="769763" cy="400110"/>
          </a:xfrm>
          <a:prstGeom prst="rect">
            <a:avLst/>
          </a:prstGeom>
          <a:noFill/>
        </p:spPr>
        <p:txBody>
          <a:bodyPr wrap="none" rtlCol="0">
            <a:spAutoFit/>
          </a:bodyPr>
          <a:lstStyle/>
          <a:p>
            <a:r>
              <a:rPr kumimoji="1" lang="en-US" altLang="ja-GB" sz="2000" b="1" dirty="0">
                <a:solidFill>
                  <a:srgbClr val="0070C0"/>
                </a:solidFill>
              </a:rPr>
              <a:t>3-2=?</a:t>
            </a:r>
            <a:endParaRPr kumimoji="1" lang="ja-GB" altLang="en-US" sz="2000" b="1" dirty="0">
              <a:solidFill>
                <a:srgbClr val="0070C0"/>
              </a:solidFill>
            </a:endParaRPr>
          </a:p>
        </p:txBody>
      </p:sp>
      <p:sp>
        <p:nvSpPr>
          <p:cNvPr id="20" name="テキスト ボックス 19">
            <a:extLst>
              <a:ext uri="{FF2B5EF4-FFF2-40B4-BE49-F238E27FC236}">
                <a16:creationId xmlns:a16="http://schemas.microsoft.com/office/drawing/2014/main" id="{D3ACE4C1-AF41-6E04-BC5C-51816DB05F46}"/>
              </a:ext>
            </a:extLst>
          </p:cNvPr>
          <p:cNvSpPr txBox="1"/>
          <p:nvPr/>
        </p:nvSpPr>
        <p:spPr>
          <a:xfrm>
            <a:off x="6673541" y="5396092"/>
            <a:ext cx="1083951" cy="400110"/>
          </a:xfrm>
          <a:prstGeom prst="rect">
            <a:avLst/>
          </a:prstGeom>
          <a:noFill/>
        </p:spPr>
        <p:txBody>
          <a:bodyPr wrap="none" rtlCol="0">
            <a:spAutoFit/>
          </a:bodyPr>
          <a:lstStyle/>
          <a:p>
            <a:r>
              <a:rPr kumimoji="1" lang="ja-GB" altLang="en-US" sz="2000" b="1" dirty="0">
                <a:solidFill>
                  <a:srgbClr val="0070C0"/>
                </a:solidFill>
              </a:rPr>
              <a:t>回答：</a:t>
            </a:r>
            <a:r>
              <a:rPr kumimoji="1" lang="en-US" altLang="ja-GB" sz="2000" b="1" dirty="0">
                <a:solidFill>
                  <a:srgbClr val="0070C0"/>
                </a:solidFill>
              </a:rPr>
              <a:t>1</a:t>
            </a:r>
            <a:endParaRPr kumimoji="1" lang="ja-GB" altLang="en-US" sz="2000" b="1" dirty="0">
              <a:solidFill>
                <a:srgbClr val="0070C0"/>
              </a:solidFill>
            </a:endParaRPr>
          </a:p>
        </p:txBody>
      </p:sp>
      <p:sp>
        <p:nvSpPr>
          <p:cNvPr id="22" name="テキスト ボックス 21">
            <a:extLst>
              <a:ext uri="{FF2B5EF4-FFF2-40B4-BE49-F238E27FC236}">
                <a16:creationId xmlns:a16="http://schemas.microsoft.com/office/drawing/2014/main" id="{654B41BC-7AA5-26A4-E651-80339115F4D6}"/>
              </a:ext>
            </a:extLst>
          </p:cNvPr>
          <p:cNvSpPr txBox="1"/>
          <p:nvPr/>
        </p:nvSpPr>
        <p:spPr>
          <a:xfrm>
            <a:off x="3750279" y="3497449"/>
            <a:ext cx="723276" cy="307777"/>
          </a:xfrm>
          <a:prstGeom prst="rect">
            <a:avLst/>
          </a:prstGeom>
          <a:noFill/>
        </p:spPr>
        <p:txBody>
          <a:bodyPr wrap="none" rtlCol="0">
            <a:spAutoFit/>
          </a:bodyPr>
          <a:lstStyle/>
          <a:p>
            <a:pPr algn="ctr"/>
            <a:r>
              <a:rPr kumimoji="1" lang="ja-GB" altLang="en-US" sz="1400" b="1" dirty="0">
                <a:solidFill>
                  <a:srgbClr val="0070C0"/>
                </a:solidFill>
              </a:rPr>
              <a:t>定式化</a:t>
            </a:r>
          </a:p>
        </p:txBody>
      </p:sp>
      <p:sp>
        <p:nvSpPr>
          <p:cNvPr id="27" name="テキスト ボックス 26">
            <a:extLst>
              <a:ext uri="{FF2B5EF4-FFF2-40B4-BE49-F238E27FC236}">
                <a16:creationId xmlns:a16="http://schemas.microsoft.com/office/drawing/2014/main" id="{1582F5BE-6753-D32E-5CF8-58D89CA589A0}"/>
              </a:ext>
            </a:extLst>
          </p:cNvPr>
          <p:cNvSpPr txBox="1"/>
          <p:nvPr/>
        </p:nvSpPr>
        <p:spPr>
          <a:xfrm>
            <a:off x="3834629" y="5642313"/>
            <a:ext cx="543739" cy="307777"/>
          </a:xfrm>
          <a:prstGeom prst="rect">
            <a:avLst/>
          </a:prstGeom>
          <a:noFill/>
        </p:spPr>
        <p:txBody>
          <a:bodyPr wrap="none" rtlCol="0">
            <a:spAutoFit/>
          </a:bodyPr>
          <a:lstStyle/>
          <a:p>
            <a:pPr algn="ctr"/>
            <a:r>
              <a:rPr kumimoji="1" lang="ja-GB" altLang="en-US" sz="1400" b="1" dirty="0">
                <a:solidFill>
                  <a:srgbClr val="0070C0"/>
                </a:solidFill>
              </a:rPr>
              <a:t>解釈</a:t>
            </a:r>
          </a:p>
        </p:txBody>
      </p:sp>
      <p:sp>
        <p:nvSpPr>
          <p:cNvPr id="28" name="テキスト ボックス 27">
            <a:extLst>
              <a:ext uri="{FF2B5EF4-FFF2-40B4-BE49-F238E27FC236}">
                <a16:creationId xmlns:a16="http://schemas.microsoft.com/office/drawing/2014/main" id="{AC9A8E24-9764-5FE4-2D5D-8112ADDE229B}"/>
              </a:ext>
            </a:extLst>
          </p:cNvPr>
          <p:cNvSpPr txBox="1"/>
          <p:nvPr/>
        </p:nvSpPr>
        <p:spPr>
          <a:xfrm>
            <a:off x="245526" y="5295349"/>
            <a:ext cx="1596912" cy="707886"/>
          </a:xfrm>
          <a:prstGeom prst="rect">
            <a:avLst/>
          </a:prstGeom>
          <a:noFill/>
        </p:spPr>
        <p:txBody>
          <a:bodyPr wrap="none" rtlCol="0">
            <a:spAutoFit/>
          </a:bodyPr>
          <a:lstStyle/>
          <a:p>
            <a:pPr algn="ctr"/>
            <a:r>
              <a:rPr kumimoji="1" lang="ja-GB" altLang="en-US" sz="2000" b="1" dirty="0">
                <a:solidFill>
                  <a:schemeClr val="accent2"/>
                </a:solidFill>
              </a:rPr>
              <a:t>どんぐりは</a:t>
            </a:r>
            <a:endParaRPr kumimoji="1" lang="en-US" altLang="ja-GB" sz="2000" b="1" dirty="0">
              <a:solidFill>
                <a:schemeClr val="accent2"/>
              </a:solidFill>
            </a:endParaRPr>
          </a:p>
          <a:p>
            <a:pPr algn="ctr"/>
            <a:r>
              <a:rPr kumimoji="1" lang="en-US" altLang="ja-GB" sz="2000" b="1" dirty="0">
                <a:solidFill>
                  <a:schemeClr val="accent2"/>
                </a:solidFill>
              </a:rPr>
              <a:t>1</a:t>
            </a:r>
            <a:r>
              <a:rPr kumimoji="1" lang="ja-GB" altLang="en-US" sz="2000" b="1" dirty="0">
                <a:solidFill>
                  <a:schemeClr val="accent2"/>
                </a:solidFill>
              </a:rPr>
              <a:t>つ足りない</a:t>
            </a:r>
          </a:p>
        </p:txBody>
      </p:sp>
    </p:spTree>
    <p:extLst>
      <p:ext uri="{BB962C8B-B14F-4D97-AF65-F5344CB8AC3E}">
        <p14:creationId xmlns:p14="http://schemas.microsoft.com/office/powerpoint/2010/main" val="1228384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F45F35-D221-B1E1-A07C-8BFF4606D3F5}"/>
              </a:ext>
            </a:extLst>
          </p:cNvPr>
          <p:cNvSpPr>
            <a:spLocks noGrp="1"/>
          </p:cNvSpPr>
          <p:nvPr>
            <p:ph type="title"/>
          </p:nvPr>
        </p:nvSpPr>
        <p:spPr/>
        <p:txBody>
          <a:bodyPr/>
          <a:lstStyle/>
          <a:p>
            <a:r>
              <a:rPr lang="ja-GB" altLang="en-US" dirty="0"/>
              <a:t>類似例：数学の問題解決（説明）</a:t>
            </a:r>
            <a:endParaRPr kumimoji="1" lang="ja-GB" altLang="en-US" dirty="0"/>
          </a:p>
        </p:txBody>
      </p:sp>
      <p:sp>
        <p:nvSpPr>
          <p:cNvPr id="3" name="コンテンツ プレースホルダー 2">
            <a:extLst>
              <a:ext uri="{FF2B5EF4-FFF2-40B4-BE49-F238E27FC236}">
                <a16:creationId xmlns:a16="http://schemas.microsoft.com/office/drawing/2014/main" id="{BA8C8F1F-19B8-8F40-12FD-9D6403D991AD}"/>
              </a:ext>
            </a:extLst>
          </p:cNvPr>
          <p:cNvSpPr>
            <a:spLocks noGrp="1"/>
          </p:cNvSpPr>
          <p:nvPr>
            <p:ph idx="1"/>
          </p:nvPr>
        </p:nvSpPr>
        <p:spPr/>
        <p:txBody>
          <a:bodyPr>
            <a:normAutofit/>
          </a:bodyPr>
          <a:lstStyle/>
          <a:p>
            <a:pPr marL="0" indent="0">
              <a:buNone/>
            </a:pPr>
            <a:r>
              <a:rPr kumimoji="1" lang="ja-GB" altLang="en-US" sz="1600" dirty="0"/>
              <a:t>イメージが難しければ，皆さんの多くも「数学」で似たようなことをしているので，そのアナロジーが分かりやすいかもしれない</a:t>
            </a:r>
            <a:endParaRPr kumimoji="1" lang="en-US" altLang="ja-GB" sz="1600" dirty="0"/>
          </a:p>
          <a:p>
            <a:pPr marL="0" indent="0">
              <a:buNone/>
            </a:pPr>
            <a:endParaRPr lang="en-US" altLang="ja-GB" sz="1600" dirty="0"/>
          </a:p>
          <a:p>
            <a:pPr marL="0" indent="0">
              <a:buNone/>
            </a:pPr>
            <a:r>
              <a:rPr lang="ja-GB" altLang="en-US" sz="1600" dirty="0"/>
              <a:t>例えば，買い物をするときに，物の価格と手持ちの金額を計算するとき，当然のように足し算をすると思う．</a:t>
            </a:r>
            <a:endParaRPr lang="en-US" altLang="ja-GB" sz="1600" dirty="0"/>
          </a:p>
          <a:p>
            <a:pPr marL="0" indent="0">
              <a:buNone/>
            </a:pPr>
            <a:r>
              <a:rPr kumimoji="1" lang="ja-GB" altLang="en-US" sz="1600" dirty="0"/>
              <a:t>これは，現実世界の問題（手持ちのお金を，商品の金額の関係と比較する）を「数学世界の問題」に変換して，数学の道具を使って解決していると説明できる</a:t>
            </a:r>
            <a:endParaRPr kumimoji="1" lang="en-US" altLang="ja-GB" sz="1600" dirty="0"/>
          </a:p>
          <a:p>
            <a:pPr marL="0" indent="0">
              <a:buNone/>
            </a:pPr>
            <a:endParaRPr lang="en-US" altLang="ja-GB" sz="1600" dirty="0"/>
          </a:p>
          <a:p>
            <a:pPr marL="0" indent="0">
              <a:buNone/>
            </a:pPr>
            <a:r>
              <a:rPr lang="ja-GB" altLang="en-US" sz="1600" dirty="0"/>
              <a:t>これと同様に，「情報世界の問題解決」では，「現実世界の問題」を「情報処理の問題」に変換して，情報処理のための道具（理論的なものから，計算機のような装置を含む）を使って問題を解決する</a:t>
            </a:r>
            <a:endParaRPr kumimoji="1" lang="ja-GB" altLang="en-US" sz="1600" dirty="0"/>
          </a:p>
        </p:txBody>
      </p:sp>
    </p:spTree>
    <p:extLst>
      <p:ext uri="{BB962C8B-B14F-4D97-AF65-F5344CB8AC3E}">
        <p14:creationId xmlns:p14="http://schemas.microsoft.com/office/powerpoint/2010/main" val="2859656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0D7C-680C-3E43-8D8D-ED8EEC41F5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2519E9-7C73-8DDE-084F-03BE5713F36F}"/>
              </a:ext>
            </a:extLst>
          </p:cNvPr>
          <p:cNvSpPr>
            <a:spLocks noGrp="1"/>
          </p:cNvSpPr>
          <p:nvPr>
            <p:ph type="title"/>
          </p:nvPr>
        </p:nvSpPr>
        <p:spPr/>
        <p:txBody>
          <a:bodyPr/>
          <a:lstStyle/>
          <a:p>
            <a:r>
              <a:rPr kumimoji="1" lang="ja-GB" altLang="en-US" dirty="0"/>
              <a:t>情報社会の問題解決</a:t>
            </a:r>
          </a:p>
        </p:txBody>
      </p:sp>
      <p:sp>
        <p:nvSpPr>
          <p:cNvPr id="3" name="コンテンツ プレースホルダー 2">
            <a:extLst>
              <a:ext uri="{FF2B5EF4-FFF2-40B4-BE49-F238E27FC236}">
                <a16:creationId xmlns:a16="http://schemas.microsoft.com/office/drawing/2014/main" id="{5FE97DFA-BEA2-2073-9658-9AE92BEE253B}"/>
              </a:ext>
            </a:extLst>
          </p:cNvPr>
          <p:cNvSpPr>
            <a:spLocks noGrp="1"/>
          </p:cNvSpPr>
          <p:nvPr>
            <p:ph idx="1"/>
          </p:nvPr>
        </p:nvSpPr>
        <p:spPr/>
        <p:txBody>
          <a:bodyPr/>
          <a:lstStyle/>
          <a:p>
            <a:pPr marL="0" indent="0">
              <a:buNone/>
            </a:pPr>
            <a:r>
              <a:rPr kumimoji="1" lang="ja-GB" altLang="en-US" dirty="0"/>
              <a:t>情報世界を介して現実世界の問題を解決する</a:t>
            </a:r>
            <a:endParaRPr kumimoji="1" lang="en-US" altLang="ja-GB" dirty="0"/>
          </a:p>
          <a:p>
            <a:pPr marL="914400" lvl="1" indent="-457200">
              <a:buFont typeface="+mj-lt"/>
              <a:buAutoNum type="arabicPeriod"/>
            </a:pPr>
            <a:r>
              <a:rPr kumimoji="1" lang="ja-GB" altLang="en-US" dirty="0"/>
              <a:t>現実世界の問題を</a:t>
            </a:r>
            <a:r>
              <a:rPr kumimoji="1" lang="ja-GB" altLang="en-US" dirty="0">
                <a:solidFill>
                  <a:srgbClr val="0070C0"/>
                </a:solidFill>
              </a:rPr>
              <a:t>情報世界の問題</a:t>
            </a:r>
            <a:r>
              <a:rPr lang="ja-GB" altLang="en-US" dirty="0"/>
              <a:t>に変換</a:t>
            </a:r>
            <a:endParaRPr kumimoji="1" lang="en-US" altLang="ja-GB" dirty="0">
              <a:solidFill>
                <a:schemeClr val="accent2"/>
              </a:solidFill>
            </a:endParaRPr>
          </a:p>
          <a:p>
            <a:pPr marL="914400" lvl="1" indent="-457200">
              <a:buFont typeface="+mj-lt"/>
              <a:buAutoNum type="arabicPeriod"/>
            </a:pPr>
            <a:r>
              <a:rPr lang="ja-GB" altLang="en-US" dirty="0"/>
              <a:t>情報処理の</a:t>
            </a:r>
            <a:r>
              <a:rPr lang="ja-GB" altLang="en-US" dirty="0">
                <a:solidFill>
                  <a:srgbClr val="0070C0"/>
                </a:solidFill>
              </a:rPr>
              <a:t>知識や道具を活用</a:t>
            </a:r>
            <a:r>
              <a:rPr lang="ja-GB" altLang="en-US" dirty="0"/>
              <a:t>して情報世界で問題を解決</a:t>
            </a:r>
            <a:endParaRPr lang="en-US" altLang="ja-GB" dirty="0"/>
          </a:p>
          <a:p>
            <a:pPr marL="914400" lvl="1" indent="-457200">
              <a:buFont typeface="+mj-lt"/>
              <a:buAutoNum type="arabicPeriod"/>
            </a:pPr>
            <a:r>
              <a:rPr lang="ja-GB" altLang="en-US" dirty="0"/>
              <a:t>情報世界で解決した結果を</a:t>
            </a:r>
            <a:r>
              <a:rPr lang="ja-GB" altLang="en-US" dirty="0">
                <a:solidFill>
                  <a:srgbClr val="0070C0"/>
                </a:solidFill>
              </a:rPr>
              <a:t>現実世界の結果</a:t>
            </a:r>
            <a:r>
              <a:rPr lang="ja-GB" altLang="en-US" dirty="0"/>
              <a:t>に変換</a:t>
            </a:r>
            <a:endParaRPr lang="en-US" altLang="ja-GB" dirty="0"/>
          </a:p>
          <a:p>
            <a:pPr lvl="1"/>
            <a:endParaRPr kumimoji="1" lang="ja-GB" altLang="en-US" dirty="0"/>
          </a:p>
        </p:txBody>
      </p:sp>
      <p:sp>
        <p:nvSpPr>
          <p:cNvPr id="24" name="正方形/長方形 23">
            <a:extLst>
              <a:ext uri="{FF2B5EF4-FFF2-40B4-BE49-F238E27FC236}">
                <a16:creationId xmlns:a16="http://schemas.microsoft.com/office/drawing/2014/main" id="{C02B096D-E825-137B-3F6F-F5FD8525FF03}"/>
              </a:ext>
            </a:extLst>
          </p:cNvPr>
          <p:cNvSpPr/>
          <p:nvPr/>
        </p:nvSpPr>
        <p:spPr>
          <a:xfrm>
            <a:off x="4138000" y="2941982"/>
            <a:ext cx="2203201"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23" name="正方形/長方形 22">
            <a:extLst>
              <a:ext uri="{FF2B5EF4-FFF2-40B4-BE49-F238E27FC236}">
                <a16:creationId xmlns:a16="http://schemas.microsoft.com/office/drawing/2014/main" id="{CDE49719-7295-82A0-DF99-07F18783A88A}"/>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4" name="テキスト ボックス 3">
            <a:extLst>
              <a:ext uri="{FF2B5EF4-FFF2-40B4-BE49-F238E27FC236}">
                <a16:creationId xmlns:a16="http://schemas.microsoft.com/office/drawing/2014/main" id="{B688D9C9-57AE-9908-B4F4-15321F951C27}"/>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dirty="0"/>
              <a:t>現状</a:t>
            </a:r>
          </a:p>
        </p:txBody>
      </p:sp>
      <p:sp>
        <p:nvSpPr>
          <p:cNvPr id="5" name="テキスト ボックス 4">
            <a:extLst>
              <a:ext uri="{FF2B5EF4-FFF2-40B4-BE49-F238E27FC236}">
                <a16:creationId xmlns:a16="http://schemas.microsoft.com/office/drawing/2014/main" id="{FF25B9EE-E17B-EAB2-C5EF-2DA59932C4A6}"/>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6" name="テキスト ボックス 5">
            <a:extLst>
              <a:ext uri="{FF2B5EF4-FFF2-40B4-BE49-F238E27FC236}">
                <a16:creationId xmlns:a16="http://schemas.microsoft.com/office/drawing/2014/main" id="{0E1B59E8-C975-5AE1-164E-8F5A34BF94FC}"/>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dirty="0"/>
              <a:t>問題</a:t>
            </a:r>
          </a:p>
        </p:txBody>
      </p:sp>
      <p:sp>
        <p:nvSpPr>
          <p:cNvPr id="7" name="テキスト ボックス 6">
            <a:extLst>
              <a:ext uri="{FF2B5EF4-FFF2-40B4-BE49-F238E27FC236}">
                <a16:creationId xmlns:a16="http://schemas.microsoft.com/office/drawing/2014/main" id="{B9B2E106-D244-7F98-2C04-5BF9731AE352}"/>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9" name="直線矢印コネクタ 8">
            <a:extLst>
              <a:ext uri="{FF2B5EF4-FFF2-40B4-BE49-F238E27FC236}">
                <a16:creationId xmlns:a16="http://schemas.microsoft.com/office/drawing/2014/main" id="{6BEA4A89-FEF8-1CF8-E0A8-5E771F40D5C5}"/>
              </a:ext>
            </a:extLst>
          </p:cNvPr>
          <p:cNvCxnSpPr>
            <a:cxnSpLocks/>
            <a:stCxn id="4" idx="3"/>
            <a:endCxn id="6"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561DA484-B911-DDA0-7573-FFA6204AD6C1}"/>
              </a:ext>
            </a:extLst>
          </p:cNvPr>
          <p:cNvCxnSpPr>
            <a:cxnSpLocks/>
            <a:stCxn id="6" idx="2"/>
            <a:endCxn id="7" idx="0"/>
          </p:cNvCxnSpPr>
          <p:nvPr/>
        </p:nvCxnSpPr>
        <p:spPr>
          <a:xfrm flipH="1">
            <a:off x="5444522" y="3613666"/>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15539E36-B7E9-40CD-C4A9-478AEB81DE5B}"/>
              </a:ext>
            </a:extLst>
          </p:cNvPr>
          <p:cNvCxnSpPr>
            <a:cxnSpLocks/>
            <a:stCxn id="7" idx="1"/>
            <a:endCxn id="5"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D3D41F4-1D40-EB4C-C1D7-63452E077A96}"/>
              </a:ext>
            </a:extLst>
          </p:cNvPr>
          <p:cNvCxnSpPr>
            <a:cxnSpLocks/>
            <a:stCxn id="4" idx="2"/>
            <a:endCxn id="5" idx="0"/>
          </p:cNvCxnSpPr>
          <p:nvPr/>
        </p:nvCxnSpPr>
        <p:spPr>
          <a:xfrm flipH="1">
            <a:off x="2613360" y="3613666"/>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02099F86-D4CC-C686-9E5C-859E9D89302B}"/>
              </a:ext>
            </a:extLst>
          </p:cNvPr>
          <p:cNvSpPr txBox="1"/>
          <p:nvPr/>
        </p:nvSpPr>
        <p:spPr>
          <a:xfrm>
            <a:off x="6427881" y="3283363"/>
            <a:ext cx="2159566" cy="954107"/>
          </a:xfrm>
          <a:prstGeom prst="rect">
            <a:avLst/>
          </a:prstGeom>
          <a:noFill/>
        </p:spPr>
        <p:txBody>
          <a:bodyPr wrap="none" rtlCol="0">
            <a:spAutoFit/>
          </a:bodyPr>
          <a:lstStyle/>
          <a:p>
            <a:r>
              <a:rPr kumimoji="1" lang="ja-GB" altLang="en-US" sz="1400" b="1" dirty="0">
                <a:solidFill>
                  <a:srgbClr val="0070C0"/>
                </a:solidFill>
              </a:rPr>
              <a:t>情報収集</a:t>
            </a:r>
            <a:endParaRPr kumimoji="1" lang="en-US" altLang="ja-GB" sz="1400" b="1" dirty="0">
              <a:solidFill>
                <a:srgbClr val="0070C0"/>
              </a:solidFill>
            </a:endParaRPr>
          </a:p>
          <a:p>
            <a:r>
              <a:rPr kumimoji="1" lang="ja-GB" altLang="en-US" sz="1400" dirty="0">
                <a:solidFill>
                  <a:srgbClr val="0070C0"/>
                </a:solidFill>
              </a:rPr>
              <a:t>・アンケート</a:t>
            </a:r>
            <a:endParaRPr kumimoji="1" lang="en-US" altLang="ja-GB" sz="1400" dirty="0">
              <a:solidFill>
                <a:srgbClr val="0070C0"/>
              </a:solidFill>
            </a:endParaRPr>
          </a:p>
          <a:p>
            <a:r>
              <a:rPr kumimoji="1" lang="ja-GB" altLang="en-US" sz="1400" dirty="0">
                <a:solidFill>
                  <a:srgbClr val="0070C0"/>
                </a:solidFill>
              </a:rPr>
              <a:t>・オープンデータの参照</a:t>
            </a:r>
            <a:endParaRPr kumimoji="1" lang="en-US" altLang="ja-GB" sz="1400" dirty="0">
              <a:solidFill>
                <a:srgbClr val="0070C0"/>
              </a:solidFill>
            </a:endParaRPr>
          </a:p>
          <a:p>
            <a:r>
              <a:rPr kumimoji="1" lang="ja-GB" altLang="en-US" sz="1400" dirty="0">
                <a:solidFill>
                  <a:srgbClr val="0070C0"/>
                </a:solidFill>
              </a:rPr>
              <a:t>・</a:t>
            </a:r>
            <a:r>
              <a:rPr kumimoji="1" lang="en-US" altLang="ja-GB" sz="1400" dirty="0">
                <a:solidFill>
                  <a:srgbClr val="0070C0"/>
                </a:solidFill>
              </a:rPr>
              <a:t>IoT</a:t>
            </a:r>
            <a:r>
              <a:rPr kumimoji="1" lang="ja-GB" altLang="en-US" sz="1400" dirty="0">
                <a:solidFill>
                  <a:srgbClr val="0070C0"/>
                </a:solidFill>
              </a:rPr>
              <a:t>機器の設置</a:t>
            </a:r>
            <a:r>
              <a:rPr kumimoji="1" lang="en-US" altLang="ja-GB" sz="1400" dirty="0">
                <a:solidFill>
                  <a:srgbClr val="0070C0"/>
                </a:solidFill>
              </a:rPr>
              <a:t> </a:t>
            </a:r>
            <a:r>
              <a:rPr kumimoji="1" lang="ja-GB" altLang="en-US" sz="1400" dirty="0">
                <a:solidFill>
                  <a:srgbClr val="0070C0"/>
                </a:solidFill>
              </a:rPr>
              <a:t>など</a:t>
            </a:r>
            <a:endParaRPr kumimoji="1" lang="en-US" altLang="ja-GB" sz="1400" dirty="0">
              <a:solidFill>
                <a:srgbClr val="0070C0"/>
              </a:solidFill>
            </a:endParaRPr>
          </a:p>
        </p:txBody>
      </p:sp>
      <p:sp>
        <p:nvSpPr>
          <p:cNvPr id="25" name="テキスト ボックス 24">
            <a:extLst>
              <a:ext uri="{FF2B5EF4-FFF2-40B4-BE49-F238E27FC236}">
                <a16:creationId xmlns:a16="http://schemas.microsoft.com/office/drawing/2014/main" id="{8FB3F50F-5667-ABAB-0F05-4B4A19C26942}"/>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26" name="テキスト ボックス 25">
            <a:extLst>
              <a:ext uri="{FF2B5EF4-FFF2-40B4-BE49-F238E27FC236}">
                <a16:creationId xmlns:a16="http://schemas.microsoft.com/office/drawing/2014/main" id="{E72A3295-5F53-6EDB-E8D6-AB2EC81AC282}"/>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
        <p:nvSpPr>
          <p:cNvPr id="8" name="テキスト ボックス 7">
            <a:extLst>
              <a:ext uri="{FF2B5EF4-FFF2-40B4-BE49-F238E27FC236}">
                <a16:creationId xmlns:a16="http://schemas.microsoft.com/office/drawing/2014/main" id="{BB2BB5B4-CEEF-97D8-CE7D-EE241D55D763}"/>
              </a:ext>
            </a:extLst>
          </p:cNvPr>
          <p:cNvSpPr txBox="1"/>
          <p:nvPr/>
        </p:nvSpPr>
        <p:spPr>
          <a:xfrm>
            <a:off x="6427878" y="4520268"/>
            <a:ext cx="2339102" cy="1169551"/>
          </a:xfrm>
          <a:prstGeom prst="rect">
            <a:avLst/>
          </a:prstGeom>
          <a:noFill/>
        </p:spPr>
        <p:txBody>
          <a:bodyPr wrap="none" rtlCol="0">
            <a:spAutoFit/>
          </a:bodyPr>
          <a:lstStyle/>
          <a:p>
            <a:r>
              <a:rPr kumimoji="1" lang="ja-GB" altLang="en-US" sz="1400" b="1" dirty="0">
                <a:solidFill>
                  <a:srgbClr val="0070C0"/>
                </a:solidFill>
              </a:rPr>
              <a:t>情報処理</a:t>
            </a:r>
            <a:endParaRPr kumimoji="1" lang="en-US" altLang="ja-GB" sz="1400" b="1" dirty="0">
              <a:solidFill>
                <a:srgbClr val="0070C0"/>
              </a:solidFill>
            </a:endParaRPr>
          </a:p>
          <a:p>
            <a:r>
              <a:rPr kumimoji="1" lang="ja-GB" altLang="en-US" sz="1400" dirty="0">
                <a:solidFill>
                  <a:srgbClr val="0070C0"/>
                </a:solidFill>
              </a:rPr>
              <a:t>・計算</a:t>
            </a:r>
            <a:endParaRPr kumimoji="1" lang="en-US" altLang="ja-GB" sz="1400" dirty="0">
              <a:solidFill>
                <a:srgbClr val="0070C0"/>
              </a:solidFill>
            </a:endParaRPr>
          </a:p>
          <a:p>
            <a:r>
              <a:rPr kumimoji="1" lang="ja-GB" altLang="en-US" sz="1400" dirty="0">
                <a:solidFill>
                  <a:srgbClr val="0070C0"/>
                </a:solidFill>
              </a:rPr>
              <a:t>・統計・データサイエンス</a:t>
            </a:r>
            <a:endParaRPr kumimoji="1" lang="en-US" altLang="ja-GB" sz="1400" dirty="0">
              <a:solidFill>
                <a:srgbClr val="0070C0"/>
              </a:solidFill>
            </a:endParaRPr>
          </a:p>
          <a:p>
            <a:r>
              <a:rPr kumimoji="1" lang="ja-GB" altLang="en-US" sz="1400" dirty="0">
                <a:solidFill>
                  <a:srgbClr val="0070C0"/>
                </a:solidFill>
              </a:rPr>
              <a:t>・プログラム</a:t>
            </a:r>
            <a:endParaRPr kumimoji="1" lang="en-US" altLang="ja-GB" sz="1400" dirty="0">
              <a:solidFill>
                <a:srgbClr val="0070C0"/>
              </a:solidFill>
            </a:endParaRPr>
          </a:p>
          <a:p>
            <a:r>
              <a:rPr kumimoji="1" lang="ja-GB" altLang="en-US" sz="1400" dirty="0">
                <a:solidFill>
                  <a:srgbClr val="0070C0"/>
                </a:solidFill>
              </a:rPr>
              <a:t>・人工知能　など</a:t>
            </a:r>
            <a:endParaRPr kumimoji="1" lang="en-US" altLang="ja-GB" sz="1400" dirty="0">
              <a:solidFill>
                <a:srgbClr val="0070C0"/>
              </a:solidFill>
            </a:endParaRPr>
          </a:p>
        </p:txBody>
      </p:sp>
    </p:spTree>
    <p:extLst>
      <p:ext uri="{BB962C8B-B14F-4D97-AF65-F5344CB8AC3E}">
        <p14:creationId xmlns:p14="http://schemas.microsoft.com/office/powerpoint/2010/main" val="2868380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01981D-E21E-D203-5875-3DF40B3C771B}"/>
              </a:ext>
            </a:extLst>
          </p:cNvPr>
          <p:cNvSpPr>
            <a:spLocks noGrp="1"/>
          </p:cNvSpPr>
          <p:nvPr>
            <p:ph type="title"/>
          </p:nvPr>
        </p:nvSpPr>
        <p:spPr/>
        <p:txBody>
          <a:bodyPr/>
          <a:lstStyle/>
          <a:p>
            <a:r>
              <a:rPr lang="ja-GB" altLang="en-US" dirty="0"/>
              <a:t>経産省：デジタル社会における人物像</a:t>
            </a:r>
            <a:endParaRPr lang="ja-GB" dirty="0"/>
          </a:p>
        </p:txBody>
      </p:sp>
      <p:sp>
        <p:nvSpPr>
          <p:cNvPr id="3" name="コンテンツ プレースホルダー 2">
            <a:extLst>
              <a:ext uri="{FF2B5EF4-FFF2-40B4-BE49-F238E27FC236}">
                <a16:creationId xmlns:a16="http://schemas.microsoft.com/office/drawing/2014/main" id="{E708CC66-8E88-AC4E-D2EF-1ACBA8717A04}"/>
              </a:ext>
            </a:extLst>
          </p:cNvPr>
          <p:cNvSpPr>
            <a:spLocks noGrp="1"/>
          </p:cNvSpPr>
          <p:nvPr>
            <p:ph idx="1"/>
          </p:nvPr>
        </p:nvSpPr>
        <p:spPr/>
        <p:txBody>
          <a:bodyPr>
            <a:normAutofit/>
          </a:bodyPr>
          <a:lstStyle/>
          <a:p>
            <a:pPr marL="0" indent="0">
              <a:buNone/>
            </a:pPr>
            <a:r>
              <a:rPr lang="ja-GB" altLang="en-US" sz="2000" dirty="0">
                <a:solidFill>
                  <a:srgbClr val="2F2523"/>
                </a:solidFill>
              </a:rPr>
              <a:t>「</a:t>
            </a:r>
            <a:r>
              <a:rPr lang="ja-GB" altLang="en-US" sz="2000" dirty="0"/>
              <a:t>コンピュータの仕組み、プログラムの処理手順等</a:t>
            </a:r>
            <a:r>
              <a:rPr lang="ja-GB" altLang="en-US" sz="2000" dirty="0">
                <a:solidFill>
                  <a:srgbClr val="2F2523"/>
                </a:solidFill>
              </a:rPr>
              <a:t>」は</a:t>
            </a:r>
            <a:br>
              <a:rPr lang="en-US" altLang="ja-GB" sz="2000" dirty="0">
                <a:solidFill>
                  <a:srgbClr val="2F2523"/>
                </a:solidFill>
              </a:rPr>
            </a:br>
            <a:r>
              <a:rPr lang="ja-GB" altLang="en-US" sz="2000" dirty="0">
                <a:solidFill>
                  <a:srgbClr val="2F2523"/>
                </a:solidFill>
              </a:rPr>
              <a:t>「</a:t>
            </a:r>
            <a:r>
              <a:rPr lang="ja-GB" altLang="en-US" sz="2000" dirty="0">
                <a:solidFill>
                  <a:srgbClr val="0070C0"/>
                </a:solidFill>
              </a:rPr>
              <a:t>小・中・高等学校</a:t>
            </a:r>
            <a:r>
              <a:rPr lang="ja-GB" altLang="en-US" sz="2000" dirty="0">
                <a:solidFill>
                  <a:srgbClr val="2F2523"/>
                </a:solidFill>
              </a:rPr>
              <a:t>」と「</a:t>
            </a:r>
            <a:r>
              <a:rPr lang="ja-GB" altLang="en-US" sz="2000" dirty="0">
                <a:solidFill>
                  <a:srgbClr val="C00000"/>
                </a:solidFill>
              </a:rPr>
              <a:t>その他のビジネスパーソン</a:t>
            </a:r>
            <a:r>
              <a:rPr lang="ja-GB" altLang="en-US" sz="2000" dirty="0">
                <a:solidFill>
                  <a:srgbClr val="2F2523"/>
                </a:solidFill>
              </a:rPr>
              <a:t>」の重複領域に存在</a:t>
            </a:r>
            <a:endParaRPr lang="ja-GB" sz="2000" dirty="0">
              <a:solidFill>
                <a:srgbClr val="2F2523"/>
              </a:solidFill>
            </a:endParaRPr>
          </a:p>
        </p:txBody>
      </p:sp>
      <p:sp>
        <p:nvSpPr>
          <p:cNvPr id="4" name="テキスト ボックス 3">
            <a:extLst>
              <a:ext uri="{FF2B5EF4-FFF2-40B4-BE49-F238E27FC236}">
                <a16:creationId xmlns:a16="http://schemas.microsoft.com/office/drawing/2014/main" id="{93E13D45-A9F4-0FA5-D73B-BCDF021AAC69}"/>
              </a:ext>
            </a:extLst>
          </p:cNvPr>
          <p:cNvSpPr txBox="1"/>
          <p:nvPr/>
        </p:nvSpPr>
        <p:spPr>
          <a:xfrm>
            <a:off x="0" y="6347878"/>
            <a:ext cx="9144000" cy="492443"/>
          </a:xfrm>
          <a:prstGeom prst="rect">
            <a:avLst/>
          </a:prstGeom>
          <a:noFill/>
        </p:spPr>
        <p:txBody>
          <a:bodyPr wrap="square" rtlCol="0">
            <a:spAutoFit/>
          </a:bodyPr>
          <a:lstStyle/>
          <a:p>
            <a:pPr algn="ctr"/>
            <a:r>
              <a:rPr kumimoji="1" lang="ja-GB" altLang="en-US" sz="1400" b="1" dirty="0">
                <a:solidFill>
                  <a:srgbClr val="2F2523"/>
                </a:solidFill>
                <a:latin typeface="Yu Gothic UI" panose="020B0500000000000000" pitchFamily="34" charset="-128"/>
                <a:ea typeface="Yu Gothic UI" panose="020B0500000000000000" pitchFamily="34" charset="-128"/>
              </a:rPr>
              <a:t>出典：「資料</a:t>
            </a:r>
            <a:r>
              <a:rPr kumimoji="1" lang="en-US" altLang="ja-GB" sz="1400" b="1" dirty="0">
                <a:solidFill>
                  <a:srgbClr val="2F2523"/>
                </a:solidFill>
                <a:latin typeface="Yu Gothic UI" panose="020B0500000000000000" pitchFamily="34" charset="-128"/>
                <a:ea typeface="Yu Gothic UI" panose="020B0500000000000000" pitchFamily="34" charset="-128"/>
              </a:rPr>
              <a:t> </a:t>
            </a:r>
            <a:r>
              <a:rPr kumimoji="1" lang="ja-GB" altLang="en-US" sz="1400" b="1" dirty="0">
                <a:solidFill>
                  <a:srgbClr val="2F2523"/>
                </a:solidFill>
                <a:latin typeface="Yu Gothic UI" panose="020B0500000000000000" pitchFamily="34" charset="-128"/>
                <a:ea typeface="Yu Gothic UI" panose="020B0500000000000000" pitchFamily="34" charset="-128"/>
              </a:rPr>
              <a:t>デジタル人材育成プラットフォームについて（事務局）」（経済産業省）</a:t>
            </a:r>
            <a:r>
              <a:rPr kumimoji="1" lang="en-GB" altLang="ja-GB" sz="1400" b="1" dirty="0">
                <a:solidFill>
                  <a:srgbClr val="2F2523"/>
                </a:solidFill>
                <a:latin typeface="Yu Gothic UI" panose="020B0500000000000000" pitchFamily="34" charset="-128"/>
                <a:ea typeface="Yu Gothic UI" panose="020B0500000000000000" pitchFamily="34" charset="-128"/>
              </a:rPr>
              <a:t> </a:t>
            </a:r>
            <a:r>
              <a:rPr kumimoji="1" lang="en-GB" altLang="ja-GB" sz="1100" b="1" dirty="0">
                <a:solidFill>
                  <a:srgbClr val="0070C0"/>
                </a:solidFill>
                <a:latin typeface="Yu Gothic UI" panose="020B0500000000000000" pitchFamily="34" charset="-128"/>
                <a:ea typeface="Yu Gothic UI" panose="020B0500000000000000" pitchFamily="34" charset="-128"/>
                <a:hlinkClick r:id="rId2">
                  <a:extLst>
                    <a:ext uri="{A12FA001-AC4F-418D-AE19-62706E023703}">
                      <ahyp:hlinkClr xmlns:ahyp="http://schemas.microsoft.com/office/drawing/2018/hyperlinkcolor" val="tx"/>
                    </a:ext>
                  </a:extLst>
                </a:hlinkClick>
              </a:rPr>
              <a:t>https://www.meti.go.jp/shingikai/mono_info_service/digital_jinzai/jissenteki_manabi_wg/003.html</a:t>
            </a:r>
            <a:r>
              <a:rPr kumimoji="1" lang="en-GB" altLang="ja-GB" sz="1100" b="1" dirty="0">
                <a:solidFill>
                  <a:srgbClr val="0070C0"/>
                </a:solidFill>
                <a:latin typeface="Yu Gothic UI" panose="020B0500000000000000" pitchFamily="34" charset="-128"/>
                <a:ea typeface="Yu Gothic UI" panose="020B0500000000000000" pitchFamily="34" charset="-128"/>
              </a:rPr>
              <a:t> </a:t>
            </a:r>
            <a:endParaRPr kumimoji="1" lang="ja-GB" altLang="en-US" sz="1400" b="1" dirty="0">
              <a:solidFill>
                <a:srgbClr val="0070C0"/>
              </a:solidFill>
              <a:latin typeface="Yu Gothic UI" panose="020B0500000000000000" pitchFamily="34" charset="-128"/>
              <a:ea typeface="Yu Gothic UI" panose="020B0500000000000000" pitchFamily="34" charset="-128"/>
            </a:endParaRPr>
          </a:p>
        </p:txBody>
      </p:sp>
      <p:pic>
        <p:nvPicPr>
          <p:cNvPr id="7" name="図 6" descr="タイムライン&#10;&#10;AI によって生成されたコンテンツは間違っている可能性があります。">
            <a:extLst>
              <a:ext uri="{FF2B5EF4-FFF2-40B4-BE49-F238E27FC236}">
                <a16:creationId xmlns:a16="http://schemas.microsoft.com/office/drawing/2014/main" id="{B967CEA7-54E9-0A94-FE69-15C1E888ECC3}"/>
              </a:ext>
            </a:extLst>
          </p:cNvPr>
          <p:cNvPicPr>
            <a:picLocks noChangeAspect="1"/>
          </p:cNvPicPr>
          <p:nvPr/>
        </p:nvPicPr>
        <p:blipFill>
          <a:blip r:embed="rId3" cstate="print">
            <a:extLst>
              <a:ext uri="{28A0092B-C50C-407E-A947-70E740481C1C}">
                <a14:useLocalDpi xmlns:a14="http://schemas.microsoft.com/office/drawing/2010/main"/>
              </a:ext>
            </a:extLst>
          </a:blip>
          <a:srcRect l="746"/>
          <a:stretch/>
        </p:blipFill>
        <p:spPr>
          <a:xfrm>
            <a:off x="1175616" y="1523145"/>
            <a:ext cx="6792767" cy="47269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64458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FE692-480F-6448-093E-FC6910B6D2EA}"/>
              </a:ext>
            </a:extLst>
          </p:cNvPr>
          <p:cNvSpPr>
            <a:spLocks noGrp="1"/>
          </p:cNvSpPr>
          <p:nvPr>
            <p:ph type="title"/>
          </p:nvPr>
        </p:nvSpPr>
        <p:spPr/>
        <p:txBody>
          <a:bodyPr/>
          <a:lstStyle/>
          <a:p>
            <a:r>
              <a:rPr lang="ja-GB" altLang="en-US" dirty="0"/>
              <a:t>学科の</a:t>
            </a:r>
            <a:r>
              <a:rPr kumimoji="1" lang="ja-GB" altLang="en-US" dirty="0"/>
              <a:t>推奨資格との関係</a:t>
            </a:r>
          </a:p>
        </p:txBody>
      </p:sp>
      <p:sp>
        <p:nvSpPr>
          <p:cNvPr id="3" name="コンテンツ プレースホルダー 2">
            <a:extLst>
              <a:ext uri="{FF2B5EF4-FFF2-40B4-BE49-F238E27FC236}">
                <a16:creationId xmlns:a16="http://schemas.microsoft.com/office/drawing/2014/main" id="{E2309D36-EE76-19DB-E0C4-F5E263538C46}"/>
              </a:ext>
            </a:extLst>
          </p:cNvPr>
          <p:cNvSpPr>
            <a:spLocks noGrp="1"/>
          </p:cNvSpPr>
          <p:nvPr>
            <p:ph idx="1"/>
          </p:nvPr>
        </p:nvSpPr>
        <p:spPr/>
        <p:txBody>
          <a:bodyPr/>
          <a:lstStyle/>
          <a:p>
            <a:pPr marL="0" indent="0">
              <a:buNone/>
            </a:pPr>
            <a:r>
              <a:rPr kumimoji="1" lang="en-US" altLang="ja-GB" dirty="0"/>
              <a:t>IT</a:t>
            </a:r>
            <a:r>
              <a:rPr kumimoji="1" lang="ja-GB" altLang="en-US" dirty="0"/>
              <a:t>パスポート試験</a:t>
            </a:r>
            <a:endParaRPr lang="en-US" altLang="ja-GB" dirty="0"/>
          </a:p>
          <a:p>
            <a:pPr lvl="1"/>
            <a:r>
              <a:rPr kumimoji="1" lang="en-US" altLang="ja-GB" dirty="0"/>
              <a:t>IT</a:t>
            </a:r>
            <a:r>
              <a:rPr kumimoji="1" lang="ja-GB" altLang="en-US" dirty="0"/>
              <a:t>化された社会で働くすべての人に必要な基礎知識の証明</a:t>
            </a:r>
            <a:endParaRPr kumimoji="1" lang="en-US" altLang="ja-GB" dirty="0"/>
          </a:p>
          <a:p>
            <a:pPr lvl="1"/>
            <a:endParaRPr kumimoji="1" lang="en-US" altLang="ja-GB" dirty="0"/>
          </a:p>
        </p:txBody>
      </p:sp>
      <p:sp>
        <p:nvSpPr>
          <p:cNvPr id="4" name="テキスト ボックス 3">
            <a:extLst>
              <a:ext uri="{FF2B5EF4-FFF2-40B4-BE49-F238E27FC236}">
                <a16:creationId xmlns:a16="http://schemas.microsoft.com/office/drawing/2014/main" id="{D2C24269-BEA6-FF3D-6C63-60E3FDA6AC84}"/>
              </a:ext>
            </a:extLst>
          </p:cNvPr>
          <p:cNvSpPr txBox="1"/>
          <p:nvPr/>
        </p:nvSpPr>
        <p:spPr>
          <a:xfrm>
            <a:off x="4692361" y="6110496"/>
            <a:ext cx="4451639" cy="492443"/>
          </a:xfrm>
          <a:prstGeom prst="rect">
            <a:avLst/>
          </a:prstGeom>
          <a:noFill/>
        </p:spPr>
        <p:txBody>
          <a:bodyPr wrap="square" rtlCol="0">
            <a:spAutoFit/>
          </a:bodyPr>
          <a:lstStyle/>
          <a:p>
            <a:r>
              <a:rPr kumimoji="1" lang="ja-GB" altLang="en-US" sz="1400" b="1" dirty="0">
                <a:solidFill>
                  <a:srgbClr val="2F2523"/>
                </a:solidFill>
              </a:rPr>
              <a:t>出典：</a:t>
            </a:r>
            <a:r>
              <a:rPr kumimoji="1" lang="en-GB" altLang="ja-GB" sz="1400" b="1" dirty="0">
                <a:solidFill>
                  <a:srgbClr val="2F2523"/>
                </a:solidFill>
              </a:rPr>
              <a:t>【IT</a:t>
            </a:r>
            <a:r>
              <a:rPr kumimoji="1" lang="ja-JP" altLang="en-US" sz="1400" b="1">
                <a:solidFill>
                  <a:srgbClr val="2F2523"/>
                </a:solidFill>
              </a:rPr>
              <a:t>パスポート試験</a:t>
            </a:r>
            <a:r>
              <a:rPr kumimoji="1" lang="en-US" altLang="ja-JP" sz="1400" b="1" dirty="0">
                <a:solidFill>
                  <a:srgbClr val="2F2523"/>
                </a:solidFill>
              </a:rPr>
              <a:t>】</a:t>
            </a:r>
            <a:r>
              <a:rPr kumimoji="1" lang="ja-JP" altLang="en-US" sz="1400" b="1">
                <a:solidFill>
                  <a:srgbClr val="2F2523"/>
                </a:solidFill>
              </a:rPr>
              <a:t>試験内容・出題範囲 </a:t>
            </a:r>
            <a:r>
              <a:rPr kumimoji="1" lang="en-GB" altLang="ja-GB" sz="1200" b="1" dirty="0">
                <a:solidFill>
                  <a:srgbClr val="2F2523"/>
                </a:solidFill>
                <a:hlinkClick r:id="rId2"/>
              </a:rPr>
              <a:t>https://www3.jitec.ipa.go.jp/JitesCbt/html/about/range.html</a:t>
            </a:r>
            <a:r>
              <a:rPr kumimoji="1" lang="en-GB" altLang="ja-GB" sz="1200" b="1" dirty="0">
                <a:solidFill>
                  <a:srgbClr val="2F2523"/>
                </a:solidFill>
              </a:rPr>
              <a:t> </a:t>
            </a:r>
            <a:endParaRPr kumimoji="1" lang="ja-GB" altLang="en-US" sz="1400" b="1" dirty="0">
              <a:solidFill>
                <a:srgbClr val="0070C0"/>
              </a:solidFill>
            </a:endParaRPr>
          </a:p>
        </p:txBody>
      </p:sp>
      <p:pic>
        <p:nvPicPr>
          <p:cNvPr id="6" name="図 5" descr="テーブル&#10;&#10;AI によって生成されたコンテンツは間違っている可能性があります。">
            <a:extLst>
              <a:ext uri="{FF2B5EF4-FFF2-40B4-BE49-F238E27FC236}">
                <a16:creationId xmlns:a16="http://schemas.microsoft.com/office/drawing/2014/main" id="{ABEC342C-FB4F-F2E6-A67E-300B7AA127F3}"/>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93964" y="1543178"/>
            <a:ext cx="4378036" cy="5297143"/>
          </a:xfrm>
          <a:prstGeom prst="rect">
            <a:avLst/>
          </a:prstGeom>
        </p:spPr>
      </p:pic>
    </p:spTree>
    <p:extLst>
      <p:ext uri="{BB962C8B-B14F-4D97-AF65-F5344CB8AC3E}">
        <p14:creationId xmlns:p14="http://schemas.microsoft.com/office/powerpoint/2010/main" val="24294569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BFEB-18FE-D987-5FF8-7B16A5ABC6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097D1C-42D0-5BD8-7150-61883F5BCD4D}"/>
              </a:ext>
            </a:extLst>
          </p:cNvPr>
          <p:cNvSpPr>
            <a:spLocks noGrp="1"/>
          </p:cNvSpPr>
          <p:nvPr>
            <p:ph type="title"/>
          </p:nvPr>
        </p:nvSpPr>
        <p:spPr/>
        <p:txBody>
          <a:bodyPr/>
          <a:lstStyle/>
          <a:p>
            <a:r>
              <a:rPr lang="ja-GB" altLang="en-US" dirty="0"/>
              <a:t>学科の</a:t>
            </a:r>
            <a:r>
              <a:rPr kumimoji="1" lang="ja-GB" altLang="en-US" dirty="0"/>
              <a:t>推奨資格との関係</a:t>
            </a:r>
          </a:p>
        </p:txBody>
      </p:sp>
      <p:sp>
        <p:nvSpPr>
          <p:cNvPr id="3" name="コンテンツ プレースホルダー 2">
            <a:extLst>
              <a:ext uri="{FF2B5EF4-FFF2-40B4-BE49-F238E27FC236}">
                <a16:creationId xmlns:a16="http://schemas.microsoft.com/office/drawing/2014/main" id="{7C72E4D9-BEEA-9687-0D58-0725352878EA}"/>
              </a:ext>
            </a:extLst>
          </p:cNvPr>
          <p:cNvSpPr>
            <a:spLocks noGrp="1"/>
          </p:cNvSpPr>
          <p:nvPr>
            <p:ph idx="1"/>
          </p:nvPr>
        </p:nvSpPr>
        <p:spPr/>
        <p:txBody>
          <a:bodyPr/>
          <a:lstStyle/>
          <a:p>
            <a:pPr marL="0" indent="0">
              <a:buNone/>
            </a:pPr>
            <a:r>
              <a:rPr kumimoji="1" lang="en-US" altLang="ja-GB" dirty="0">
                <a:solidFill>
                  <a:schemeClr val="tx1">
                    <a:lumMod val="50000"/>
                    <a:lumOff val="50000"/>
                  </a:schemeClr>
                </a:solidFill>
              </a:rPr>
              <a:t>IT</a:t>
            </a:r>
            <a:r>
              <a:rPr kumimoji="1" lang="ja-GB" altLang="en-US" dirty="0">
                <a:solidFill>
                  <a:schemeClr val="tx1">
                    <a:lumMod val="50000"/>
                    <a:lumOff val="50000"/>
                  </a:schemeClr>
                </a:solidFill>
              </a:rPr>
              <a:t>パスポート試験</a:t>
            </a:r>
            <a:endParaRPr lang="en-US" altLang="ja-GB" dirty="0">
              <a:solidFill>
                <a:schemeClr val="tx1">
                  <a:lumMod val="50000"/>
                  <a:lumOff val="50000"/>
                </a:schemeClr>
              </a:solidFill>
            </a:endParaRPr>
          </a:p>
          <a:p>
            <a:pPr lvl="1"/>
            <a:r>
              <a:rPr kumimoji="1" lang="en-US" altLang="ja-GB" dirty="0">
                <a:solidFill>
                  <a:schemeClr val="tx1">
                    <a:lumMod val="50000"/>
                    <a:lumOff val="50000"/>
                  </a:schemeClr>
                </a:solidFill>
              </a:rPr>
              <a:t>IT</a:t>
            </a:r>
            <a:r>
              <a:rPr kumimoji="1" lang="ja-GB" altLang="en-US" dirty="0">
                <a:solidFill>
                  <a:schemeClr val="tx1">
                    <a:lumMod val="50000"/>
                    <a:lumOff val="50000"/>
                  </a:schemeClr>
                </a:solidFill>
              </a:rPr>
              <a:t>化された社会で働くすべての人に必要な基礎知識の証明</a:t>
            </a:r>
            <a:endParaRPr kumimoji="1" lang="en-US" altLang="ja-GB" dirty="0">
              <a:solidFill>
                <a:schemeClr val="tx1">
                  <a:lumMod val="50000"/>
                  <a:lumOff val="50000"/>
                </a:schemeClr>
              </a:solidFill>
            </a:endParaRPr>
          </a:p>
          <a:p>
            <a:pPr lvl="4"/>
            <a:endParaRPr kumimoji="1" lang="en-US" altLang="ja-GB" dirty="0"/>
          </a:p>
          <a:p>
            <a:pPr marL="0" indent="0">
              <a:buNone/>
            </a:pPr>
            <a:r>
              <a:rPr kumimoji="1" lang="ja-GB" altLang="en-US" dirty="0"/>
              <a:t>基本情報技術者試験（</a:t>
            </a:r>
            <a:r>
              <a:rPr kumimoji="1" lang="en-US" altLang="ja-GB" dirty="0"/>
              <a:t>FE</a:t>
            </a:r>
            <a:r>
              <a:rPr kumimoji="1" lang="ja-GB" altLang="en-US" dirty="0"/>
              <a:t>）</a:t>
            </a:r>
            <a:r>
              <a:rPr lang="ja-GB" altLang="en-US" dirty="0"/>
              <a:t>，</a:t>
            </a:r>
            <a:r>
              <a:rPr kumimoji="1" lang="ja-GB" altLang="en-US" dirty="0"/>
              <a:t>応用情報技術者試験（</a:t>
            </a:r>
            <a:r>
              <a:rPr kumimoji="1" lang="en-US" altLang="ja-GB" dirty="0"/>
              <a:t>AP</a:t>
            </a:r>
            <a:r>
              <a:rPr kumimoji="1" lang="ja-GB" altLang="en-US" dirty="0"/>
              <a:t>）</a:t>
            </a:r>
            <a:endParaRPr kumimoji="1" lang="en-US" altLang="ja-GB" dirty="0"/>
          </a:p>
          <a:p>
            <a:pPr lvl="1"/>
            <a:r>
              <a:rPr kumimoji="1" lang="en-US" altLang="ja-GB" dirty="0"/>
              <a:t>FE</a:t>
            </a:r>
            <a:r>
              <a:rPr kumimoji="1" lang="ja-GB" altLang="en-US" dirty="0"/>
              <a:t>：</a:t>
            </a:r>
            <a:r>
              <a:rPr kumimoji="1" lang="en-US" altLang="ja-GB" dirty="0"/>
              <a:t>IT</a:t>
            </a:r>
            <a:r>
              <a:rPr kumimoji="1" lang="ja-GB" altLang="en-US" dirty="0"/>
              <a:t>エンジニアとしてのキャリアを始めるにあたり基礎的な内容</a:t>
            </a:r>
            <a:endParaRPr kumimoji="1" lang="en-US" altLang="ja-GB" dirty="0"/>
          </a:p>
          <a:p>
            <a:pPr lvl="1"/>
            <a:r>
              <a:rPr lang="en-US" altLang="ja-GB" dirty="0"/>
              <a:t>AP</a:t>
            </a:r>
            <a:r>
              <a:rPr lang="ja-GB" altLang="en-US" dirty="0"/>
              <a:t>：</a:t>
            </a:r>
            <a:r>
              <a:rPr lang="en-US" altLang="ja-GB" dirty="0"/>
              <a:t>IT</a:t>
            </a:r>
            <a:r>
              <a:rPr lang="ja-GB" altLang="en-US" dirty="0"/>
              <a:t>システム開発に重要な技術から管理，経営までの幅広い知識</a:t>
            </a:r>
            <a:endParaRPr kumimoji="1" lang="ja-GB" altLang="en-US" dirty="0"/>
          </a:p>
        </p:txBody>
      </p:sp>
      <p:pic>
        <p:nvPicPr>
          <p:cNvPr id="6" name="図 5" descr="グラフィカル ユーザー インターフェイス, テキスト, メール&#10;&#10;AI によって生成されたコンテンツは間違っている可能性があります。">
            <a:extLst>
              <a:ext uri="{FF2B5EF4-FFF2-40B4-BE49-F238E27FC236}">
                <a16:creationId xmlns:a16="http://schemas.microsoft.com/office/drawing/2014/main" id="{DDFD926A-1AF9-3851-BC94-82A31B76E284}"/>
              </a:ext>
            </a:extLst>
          </p:cNvPr>
          <p:cNvPicPr>
            <a:picLocks noChangeAspect="1"/>
          </p:cNvPicPr>
          <p:nvPr/>
        </p:nvPicPr>
        <p:blipFill>
          <a:blip r:embed="rId2"/>
          <a:stretch>
            <a:fillRect/>
          </a:stretch>
        </p:blipFill>
        <p:spPr>
          <a:xfrm>
            <a:off x="500062" y="3010065"/>
            <a:ext cx="8143875" cy="3109652"/>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913E4FF4-AE95-64A7-842B-02C2628FA0FA}"/>
              </a:ext>
            </a:extLst>
          </p:cNvPr>
          <p:cNvSpPr txBox="1"/>
          <p:nvPr/>
        </p:nvSpPr>
        <p:spPr>
          <a:xfrm>
            <a:off x="1242010" y="6227248"/>
            <a:ext cx="6667499" cy="523220"/>
          </a:xfrm>
          <a:prstGeom prst="rect">
            <a:avLst/>
          </a:prstGeom>
          <a:noFill/>
        </p:spPr>
        <p:txBody>
          <a:bodyPr wrap="square" rtlCol="0">
            <a:spAutoFit/>
          </a:bodyPr>
          <a:lstStyle/>
          <a:p>
            <a:pPr algn="ctr"/>
            <a:r>
              <a:rPr kumimoji="1" lang="ja-GB" altLang="en-US" sz="1400" b="1" dirty="0">
                <a:solidFill>
                  <a:srgbClr val="2F2523"/>
                </a:solidFill>
              </a:rPr>
              <a:t>出典：</a:t>
            </a:r>
            <a:r>
              <a:rPr kumimoji="1" lang="ja-JP" altLang="en-US" sz="1400" b="1">
                <a:solidFill>
                  <a:schemeClr val="accent2"/>
                </a:solidFill>
              </a:rPr>
              <a:t>基本情報技術者試験 </a:t>
            </a:r>
            <a:r>
              <a:rPr kumimoji="1" lang="en-US" altLang="ja-JP" sz="1400" b="1" dirty="0">
                <a:solidFill>
                  <a:srgbClr val="2F2523"/>
                </a:solidFill>
              </a:rPr>
              <a:t>| </a:t>
            </a:r>
            <a:r>
              <a:rPr kumimoji="1" lang="ja-JP" altLang="en-US" sz="1400" b="1">
                <a:solidFill>
                  <a:srgbClr val="2F2523"/>
                </a:solidFill>
              </a:rPr>
              <a:t>試験情報 </a:t>
            </a:r>
            <a:r>
              <a:rPr kumimoji="1" lang="en-US" altLang="ja-JP" sz="1400" b="1" dirty="0">
                <a:solidFill>
                  <a:srgbClr val="2F2523"/>
                </a:solidFill>
              </a:rPr>
              <a:t>| </a:t>
            </a:r>
            <a:r>
              <a:rPr kumimoji="1" lang="en-GB" altLang="ja-GB" sz="1400" b="1" dirty="0">
                <a:solidFill>
                  <a:srgbClr val="2F2523"/>
                </a:solidFill>
              </a:rPr>
              <a:t>IPA </a:t>
            </a:r>
            <a:r>
              <a:rPr kumimoji="1" lang="ja-JP" altLang="en-US" sz="1400" b="1">
                <a:solidFill>
                  <a:srgbClr val="2F2523"/>
                </a:solidFill>
              </a:rPr>
              <a:t>独立行政法人 情報処理推進機構 </a:t>
            </a:r>
            <a:r>
              <a:rPr kumimoji="1" lang="en-GB" altLang="ja-GB" sz="1400" b="1" dirty="0">
                <a:solidFill>
                  <a:srgbClr val="2F2523"/>
                </a:solidFill>
                <a:hlinkClick r:id="rId3"/>
              </a:rPr>
              <a:t>https://www.ipa.go.jp/shiken/kubun/fe.html</a:t>
            </a:r>
            <a:r>
              <a:rPr kumimoji="1" lang="en-GB" altLang="ja-GB" sz="1400" b="1" dirty="0">
                <a:solidFill>
                  <a:srgbClr val="2F2523"/>
                </a:solidFill>
              </a:rPr>
              <a:t> </a:t>
            </a:r>
            <a:endParaRPr kumimoji="1" lang="ja-GB" altLang="en-US" sz="1400" b="1" dirty="0">
              <a:solidFill>
                <a:srgbClr val="0070C0"/>
              </a:solidFill>
            </a:endParaRPr>
          </a:p>
        </p:txBody>
      </p:sp>
    </p:spTree>
    <p:extLst>
      <p:ext uri="{BB962C8B-B14F-4D97-AF65-F5344CB8AC3E}">
        <p14:creationId xmlns:p14="http://schemas.microsoft.com/office/powerpoint/2010/main" val="3914965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ECE5-5018-E76F-7DBF-E44404EE7B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752C8B-B4B2-3249-7CA7-952FECEBBE81}"/>
              </a:ext>
            </a:extLst>
          </p:cNvPr>
          <p:cNvSpPr>
            <a:spLocks noGrp="1"/>
          </p:cNvSpPr>
          <p:nvPr>
            <p:ph type="title"/>
          </p:nvPr>
        </p:nvSpPr>
        <p:spPr/>
        <p:txBody>
          <a:bodyPr/>
          <a:lstStyle/>
          <a:p>
            <a:r>
              <a:rPr lang="ja-GB" altLang="en-US" dirty="0"/>
              <a:t>概説</a:t>
            </a:r>
            <a:r>
              <a:rPr lang="en-US" altLang="ja-GB" dirty="0"/>
              <a:t>1</a:t>
            </a:r>
            <a:r>
              <a:rPr lang="ja-GB" altLang="en-US" dirty="0"/>
              <a:t>：</a:t>
            </a:r>
            <a:r>
              <a:rPr lang="ja-JP" altLang="en-US"/>
              <a:t>計算機</a:t>
            </a:r>
            <a:r>
              <a:rPr lang="ja-JP" altLang="en-US" dirty="0"/>
              <a:t>とはなにか？なぜ学ぶのか？</a:t>
            </a:r>
            <a:endParaRPr kumimoji="1" lang="ja-GB" altLang="en-US" dirty="0"/>
          </a:p>
        </p:txBody>
      </p:sp>
      <p:sp>
        <p:nvSpPr>
          <p:cNvPr id="3" name="コンテンツ プレースホルダー 2">
            <a:extLst>
              <a:ext uri="{FF2B5EF4-FFF2-40B4-BE49-F238E27FC236}">
                <a16:creationId xmlns:a16="http://schemas.microsoft.com/office/drawing/2014/main" id="{72E119E8-FEE1-A899-6329-6CA7602A0A58}"/>
              </a:ext>
            </a:extLst>
          </p:cNvPr>
          <p:cNvSpPr>
            <a:spLocks noGrp="1"/>
          </p:cNvSpPr>
          <p:nvPr>
            <p:ph idx="1"/>
          </p:nvPr>
        </p:nvSpPr>
        <p:spPr/>
        <p:txBody>
          <a:bodyPr>
            <a:normAutofit/>
          </a:bodyPr>
          <a:lstStyle/>
          <a:p>
            <a:pPr marL="0" indent="0">
              <a:buNone/>
            </a:pPr>
            <a:r>
              <a:rPr kumimoji="1" lang="ja-GB" altLang="en-US" sz="2000" dirty="0"/>
              <a:t>コンピュータとプログラム</a:t>
            </a:r>
            <a:endParaRPr kumimoji="1" lang="en-US" altLang="ja-GB" sz="2000" dirty="0"/>
          </a:p>
          <a:p>
            <a:pPr marL="457200" lvl="1" indent="0">
              <a:buNone/>
            </a:pPr>
            <a:r>
              <a:rPr lang="ja-GB" altLang="en-US" sz="1800" dirty="0">
                <a:solidFill>
                  <a:srgbClr val="2F2523"/>
                </a:solidFill>
              </a:rPr>
              <a:t>コンピュータは自動で</a:t>
            </a:r>
            <a:r>
              <a:rPr lang="en-US" altLang="ja-GB" sz="1800" dirty="0">
                <a:solidFill>
                  <a:srgbClr val="2F2523"/>
                </a:solidFill>
              </a:rPr>
              <a:t>”</a:t>
            </a:r>
            <a:r>
              <a:rPr lang="ja-GB" altLang="en-US" sz="1800" dirty="0">
                <a:solidFill>
                  <a:srgbClr val="2F2523"/>
                </a:solidFill>
              </a:rPr>
              <a:t>計算</a:t>
            </a:r>
            <a:r>
              <a:rPr lang="en-US" altLang="ja-GB" sz="1800" dirty="0">
                <a:solidFill>
                  <a:srgbClr val="2F2523"/>
                </a:solidFill>
              </a:rPr>
              <a:t>”</a:t>
            </a:r>
            <a:r>
              <a:rPr lang="ja-GB" altLang="en-US" sz="1800" dirty="0">
                <a:solidFill>
                  <a:srgbClr val="2F2523"/>
                </a:solidFill>
              </a:rPr>
              <a:t>を行う装置</a:t>
            </a:r>
            <a:endParaRPr lang="en-US" altLang="ja-GB" sz="1800" dirty="0">
              <a:solidFill>
                <a:srgbClr val="2F2523"/>
              </a:solidFill>
            </a:endParaRPr>
          </a:p>
          <a:p>
            <a:pPr marL="914400" lvl="2" indent="0">
              <a:buNone/>
            </a:pPr>
            <a:r>
              <a:rPr lang="ja-GB" altLang="en-US" sz="1600" dirty="0"/>
              <a:t>→</a:t>
            </a:r>
            <a:r>
              <a:rPr lang="ja-GB" altLang="en-US" sz="1600" dirty="0">
                <a:solidFill>
                  <a:schemeClr val="accent2"/>
                </a:solidFill>
              </a:rPr>
              <a:t>計算の仕方を書いておけば情報処理を自動化できる</a:t>
            </a:r>
            <a:endParaRPr lang="en-US" altLang="ja-GB" sz="1600" dirty="0">
              <a:solidFill>
                <a:schemeClr val="accent2"/>
              </a:solidFill>
            </a:endParaRPr>
          </a:p>
          <a:p>
            <a:pPr marL="457200" lvl="1" indent="0">
              <a:buNone/>
            </a:pPr>
            <a:r>
              <a:rPr kumimoji="1" lang="ja-GB" altLang="en-US" sz="1800" dirty="0">
                <a:solidFill>
                  <a:srgbClr val="2F2523"/>
                </a:solidFill>
              </a:rPr>
              <a:t>プログラムは計算手順を予め書いたもの</a:t>
            </a:r>
            <a:endParaRPr kumimoji="1" lang="en-US" altLang="ja-GB" sz="1800" dirty="0">
              <a:solidFill>
                <a:srgbClr val="2F2523"/>
              </a:solidFill>
            </a:endParaRPr>
          </a:p>
          <a:p>
            <a:pPr lvl="1"/>
            <a:endParaRPr kumimoji="1" lang="en-US" altLang="ja-GB" sz="1800" dirty="0"/>
          </a:p>
          <a:p>
            <a:pPr marL="0" indent="0">
              <a:buNone/>
            </a:pPr>
            <a:r>
              <a:rPr lang="ja-GB" altLang="en-US" sz="2000" dirty="0"/>
              <a:t>情報通信技術と社会の情報化</a:t>
            </a:r>
            <a:endParaRPr lang="en-US" altLang="ja-GB" sz="2000" dirty="0"/>
          </a:p>
          <a:p>
            <a:pPr marL="457200" lvl="1" indent="0">
              <a:buNone/>
            </a:pPr>
            <a:r>
              <a:rPr kumimoji="1" lang="ja-GB" altLang="en-US" sz="1800" dirty="0">
                <a:solidFill>
                  <a:srgbClr val="2F2523"/>
                </a:solidFill>
              </a:rPr>
              <a:t>インターネット・</a:t>
            </a:r>
            <a:r>
              <a:rPr kumimoji="1" lang="en-US" altLang="ja-GB" sz="1800" dirty="0">
                <a:solidFill>
                  <a:srgbClr val="2F2523"/>
                </a:solidFill>
              </a:rPr>
              <a:t>IoT</a:t>
            </a:r>
            <a:r>
              <a:rPr lang="ja-GB" altLang="en-US" sz="1800" dirty="0">
                <a:solidFill>
                  <a:srgbClr val="2F2523"/>
                </a:solidFill>
              </a:rPr>
              <a:t>は物理・仮想世界で</a:t>
            </a:r>
            <a:r>
              <a:rPr kumimoji="1" lang="ja-GB" altLang="en-US" sz="1800" dirty="0">
                <a:solidFill>
                  <a:srgbClr val="2F2523"/>
                </a:solidFill>
              </a:rPr>
              <a:t>膨大な情報を集積可能にする技術</a:t>
            </a:r>
            <a:endParaRPr lang="en-US" altLang="ja-GB" sz="1800" dirty="0">
              <a:solidFill>
                <a:srgbClr val="2F2523"/>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情報を分析・活用する技術（データ科学や</a:t>
            </a:r>
            <a:r>
              <a:rPr kumimoji="1" lang="en-US" altLang="ja-GB" sz="1600" dirty="0">
                <a:solidFill>
                  <a:schemeClr val="tx1">
                    <a:lumMod val="50000"/>
                    <a:lumOff val="50000"/>
                  </a:schemeClr>
                </a:solidFill>
              </a:rPr>
              <a:t>AI</a:t>
            </a:r>
            <a:r>
              <a:rPr kumimoji="1" lang="ja-GB" altLang="en-US" sz="1600" dirty="0">
                <a:solidFill>
                  <a:schemeClr val="tx1">
                    <a:lumMod val="50000"/>
                    <a:lumOff val="50000"/>
                  </a:schemeClr>
                </a:solidFill>
              </a:rPr>
              <a:t>）が発展する</a:t>
            </a:r>
            <a:endParaRPr kumimoji="1" lang="en-US" altLang="ja-GB" sz="1600" dirty="0">
              <a:solidFill>
                <a:schemeClr val="tx1">
                  <a:lumMod val="50000"/>
                  <a:lumOff val="50000"/>
                </a:schemeClr>
              </a:solidFill>
            </a:endParaRPr>
          </a:p>
          <a:p>
            <a:pPr marL="914400" lvl="2" indent="0">
              <a:buNone/>
            </a:pPr>
            <a:r>
              <a:rPr kumimoji="1" lang="en-US" altLang="ja-GB" sz="1600" dirty="0"/>
              <a:t>→</a:t>
            </a:r>
            <a:r>
              <a:rPr kumimoji="1" lang="ja-GB" altLang="en-US" sz="1600" dirty="0">
                <a:solidFill>
                  <a:schemeClr val="accent2"/>
                </a:solidFill>
              </a:rPr>
              <a:t>現実問題を「情報世界の問題」に変換すれば，情報技術の力を借りて解決できる</a:t>
            </a:r>
            <a:endParaRPr kumimoji="1" lang="en-US" altLang="ja-GB" sz="1600" dirty="0">
              <a:solidFill>
                <a:schemeClr val="accent2"/>
              </a:solidFill>
            </a:endParaRPr>
          </a:p>
          <a:p>
            <a:pPr marL="457200" lvl="1" indent="0">
              <a:buNone/>
            </a:pPr>
            <a:r>
              <a:rPr kumimoji="1" lang="en-US" altLang="ja-GB" sz="1800" dirty="0">
                <a:solidFill>
                  <a:srgbClr val="2F2523"/>
                </a:solidFill>
              </a:rPr>
              <a:t>Industry4.0</a:t>
            </a:r>
            <a:r>
              <a:rPr kumimoji="1" lang="ja-GB" altLang="en-US" sz="1800" dirty="0">
                <a:solidFill>
                  <a:srgbClr val="2F2523"/>
                </a:solidFill>
              </a:rPr>
              <a:t>・</a:t>
            </a:r>
            <a:r>
              <a:rPr kumimoji="1" lang="en-US" altLang="ja-GB" sz="1800" dirty="0">
                <a:solidFill>
                  <a:srgbClr val="2F2523"/>
                </a:solidFill>
              </a:rPr>
              <a:t>Society5.0</a:t>
            </a:r>
            <a:r>
              <a:rPr kumimoji="1" lang="ja-GB" altLang="en-US" sz="1800" dirty="0">
                <a:solidFill>
                  <a:srgbClr val="2F2523"/>
                </a:solidFill>
              </a:rPr>
              <a:t>は情報を集積・分析して産業・社会を最適化する構想</a:t>
            </a:r>
            <a:endParaRPr kumimoji="1" lang="en-US" altLang="ja-GB" sz="1800" dirty="0">
              <a:solidFill>
                <a:srgbClr val="2F2523"/>
              </a:solidFill>
            </a:endParaRPr>
          </a:p>
          <a:p>
            <a:pPr marL="914400" lvl="2" indent="0">
              <a:buNone/>
            </a:pPr>
            <a:r>
              <a:rPr kumimoji="1" lang="en-US" altLang="ja-GB" sz="1600" dirty="0"/>
              <a:t>→</a:t>
            </a:r>
            <a:r>
              <a:rPr kumimoji="1" lang="ja-GB" altLang="en-US" sz="1600" dirty="0">
                <a:solidFill>
                  <a:schemeClr val="accent2"/>
                </a:solidFill>
              </a:rPr>
              <a:t>産業・社会での情報技術活用を推進するため，</a:t>
            </a:r>
            <a:r>
              <a:rPr lang="ja-GB" altLang="en-US" sz="1600" dirty="0">
                <a:solidFill>
                  <a:schemeClr val="accent2"/>
                </a:solidFill>
              </a:rPr>
              <a:t> 国民全員が情報を学ぶ方針になる</a:t>
            </a:r>
            <a:endParaRPr kumimoji="1" lang="en-US" altLang="ja-GB" sz="1600" dirty="0">
              <a:solidFill>
                <a:schemeClr val="accent2"/>
              </a:solidFill>
            </a:endParaRPr>
          </a:p>
          <a:p>
            <a:pPr lvl="4"/>
            <a:endParaRPr kumimoji="1" lang="en-US" altLang="ja-GB" sz="500" dirty="0"/>
          </a:p>
        </p:txBody>
      </p:sp>
    </p:spTree>
    <p:extLst>
      <p:ext uri="{BB962C8B-B14F-4D97-AF65-F5344CB8AC3E}">
        <p14:creationId xmlns:p14="http://schemas.microsoft.com/office/powerpoint/2010/main" val="27126331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17361-2976-93E7-C7D6-AAC88666BD5F}"/>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3CE6CAB-5FA3-3F24-983F-3B29AC3CD969}"/>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B0721732-FD28-B379-E33E-42C00E4F3F34}"/>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2</a:t>
            </a:r>
            <a:r>
              <a:rPr kumimoji="1" lang="ja-GB" altLang="en-US" sz="3200" dirty="0">
                <a:solidFill>
                  <a:schemeClr val="bg1"/>
                </a:solidFill>
              </a:rPr>
              <a:t>回：計算機，インターネット，情報システム</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6337879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F59E1-54F9-574C-8E45-AA062434D4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D6D443-D82D-2437-6D86-2B06BEE7C18D}"/>
              </a:ext>
            </a:extLst>
          </p:cNvPr>
          <p:cNvSpPr>
            <a:spLocks noGrp="1"/>
          </p:cNvSpPr>
          <p:nvPr>
            <p:ph type="title"/>
          </p:nvPr>
        </p:nvSpPr>
        <p:spPr/>
        <p:txBody>
          <a:bodyPr/>
          <a:lstStyle/>
          <a:p>
            <a:r>
              <a:rPr kumimoji="1" lang="ja-GB" altLang="en-US" dirty="0"/>
              <a:t>概説</a:t>
            </a:r>
            <a:r>
              <a:rPr kumimoji="1" lang="en-US" altLang="ja-GB" dirty="0"/>
              <a:t>2</a:t>
            </a:r>
            <a:r>
              <a:rPr kumimoji="1" lang="ja-GB" altLang="en-US" dirty="0"/>
              <a:t>：</a:t>
            </a:r>
            <a:r>
              <a:rPr kumimoji="1" lang="ja-JP" altLang="en-US"/>
              <a:t>情報</a:t>
            </a:r>
            <a:r>
              <a:rPr kumimoji="1" lang="ja-JP" altLang="en-US" dirty="0"/>
              <a:t>システムとは何か？なぜ重要なのか？</a:t>
            </a:r>
            <a:endParaRPr kumimoji="1" lang="ja-GB" altLang="en-US" dirty="0"/>
          </a:p>
        </p:txBody>
      </p:sp>
      <p:sp>
        <p:nvSpPr>
          <p:cNvPr id="3" name="コンテンツ プレースホルダー 2">
            <a:extLst>
              <a:ext uri="{FF2B5EF4-FFF2-40B4-BE49-F238E27FC236}">
                <a16:creationId xmlns:a16="http://schemas.microsoft.com/office/drawing/2014/main" id="{4BC78744-3121-0F7F-1F54-60A8C4DCB6C3}"/>
              </a:ext>
            </a:extLst>
          </p:cNvPr>
          <p:cNvSpPr>
            <a:spLocks noGrp="1"/>
          </p:cNvSpPr>
          <p:nvPr>
            <p:ph idx="1"/>
          </p:nvPr>
        </p:nvSpPr>
        <p:spPr/>
        <p:txBody>
          <a:bodyPr>
            <a:normAutofit/>
          </a:bodyPr>
          <a:lstStyle/>
          <a:p>
            <a:pPr marL="0" indent="0">
              <a:buNone/>
            </a:pPr>
            <a:r>
              <a:rPr lang="ja-GB" altLang="en-US" sz="2000" dirty="0"/>
              <a:t>計算機やインターネットの仕組み</a:t>
            </a:r>
            <a:endParaRPr lang="en-US" altLang="ja-GB" sz="2000" dirty="0"/>
          </a:p>
          <a:p>
            <a:pPr marL="457200" lvl="1" indent="0">
              <a:buNone/>
            </a:pPr>
            <a:r>
              <a:rPr kumimoji="1" lang="ja-GB" altLang="en-US" sz="1800" dirty="0">
                <a:solidFill>
                  <a:srgbClr val="2F2523"/>
                </a:solidFill>
              </a:rPr>
              <a:t>計算機内部の情報表現は</a:t>
            </a:r>
            <a:r>
              <a:rPr kumimoji="1" lang="ja-GB" altLang="en-US" sz="1800" dirty="0"/>
              <a:t>デジタル（数字式）の二進表現（</a:t>
            </a:r>
            <a:r>
              <a:rPr kumimoji="1" lang="en-US" altLang="ja-GB" sz="1800" dirty="0"/>
              <a:t>0 or 1</a:t>
            </a:r>
            <a:r>
              <a:rPr kumimoji="1" lang="ja-GB" altLang="en-US" sz="1800" dirty="0"/>
              <a:t>）</a:t>
            </a:r>
            <a:endParaRPr kumimoji="1" lang="en-US" altLang="ja-GB" sz="1800" dirty="0"/>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物理量（</a:t>
            </a:r>
            <a:r>
              <a:rPr lang="ja-GB" altLang="en-US" sz="1600" dirty="0">
                <a:solidFill>
                  <a:schemeClr val="tx1">
                    <a:lumMod val="50000"/>
                    <a:lumOff val="50000"/>
                  </a:schemeClr>
                </a:solidFill>
              </a:rPr>
              <a:t>アナログ値</a:t>
            </a:r>
            <a:r>
              <a:rPr kumimoji="1" lang="ja-GB" altLang="en-US" sz="1600" dirty="0">
                <a:solidFill>
                  <a:schemeClr val="tx1">
                    <a:lumMod val="50000"/>
                    <a:lumOff val="50000"/>
                  </a:schemeClr>
                </a:solidFill>
              </a:rPr>
              <a:t>）を数字式に近似すると記録・伝達しやすくなる</a:t>
            </a:r>
            <a:endParaRPr kumimoji="1" lang="en-US" altLang="ja-GB" sz="1600" dirty="0">
              <a:solidFill>
                <a:schemeClr val="tx1">
                  <a:lumMod val="50000"/>
                  <a:lumOff val="50000"/>
                </a:schemeClr>
              </a:solidFill>
            </a:endParaRPr>
          </a:p>
          <a:p>
            <a:pPr marL="914400" lvl="2" indent="0">
              <a:buNone/>
            </a:pPr>
            <a:r>
              <a:rPr kumimoji="1" lang="en-US" altLang="ja-GB" sz="1600" dirty="0">
                <a:solidFill>
                  <a:schemeClr val="accent2"/>
                </a:solidFill>
              </a:rPr>
              <a:t>→</a:t>
            </a:r>
            <a:r>
              <a:rPr kumimoji="1" lang="ja-GB" altLang="en-US" sz="1600" dirty="0">
                <a:solidFill>
                  <a:schemeClr val="accent2"/>
                </a:solidFill>
              </a:rPr>
              <a:t>数値を</a:t>
            </a:r>
            <a:r>
              <a:rPr kumimoji="1" lang="en-US" altLang="ja-GB" sz="1600" dirty="0">
                <a:solidFill>
                  <a:schemeClr val="accent2"/>
                </a:solidFill>
              </a:rPr>
              <a:t>0</a:t>
            </a:r>
            <a:r>
              <a:rPr kumimoji="1" lang="ja-GB" altLang="en-US" sz="1600" dirty="0">
                <a:solidFill>
                  <a:schemeClr val="accent2"/>
                </a:solidFill>
              </a:rPr>
              <a:t>と</a:t>
            </a:r>
            <a:r>
              <a:rPr kumimoji="1" lang="en-US" altLang="ja-GB" sz="1600" dirty="0">
                <a:solidFill>
                  <a:schemeClr val="accent2"/>
                </a:solidFill>
              </a:rPr>
              <a:t>1</a:t>
            </a:r>
            <a:r>
              <a:rPr kumimoji="1" lang="ja-GB" altLang="en-US" sz="1600" dirty="0">
                <a:solidFill>
                  <a:schemeClr val="accent2"/>
                </a:solidFill>
              </a:rPr>
              <a:t>のみで表現すると，単純な</a:t>
            </a:r>
            <a:r>
              <a:rPr kumimoji="1" lang="en-US" altLang="ja-GB" sz="1600" dirty="0">
                <a:solidFill>
                  <a:schemeClr val="accent2"/>
                </a:solidFill>
              </a:rPr>
              <a:t>“</a:t>
            </a:r>
            <a:r>
              <a:rPr kumimoji="1" lang="ja-GB" altLang="en-US" sz="1600" dirty="0">
                <a:solidFill>
                  <a:schemeClr val="accent2"/>
                </a:solidFill>
              </a:rPr>
              <a:t>スイッチ</a:t>
            </a:r>
            <a:r>
              <a:rPr kumimoji="1" lang="en-US" altLang="ja-GB" sz="1600" dirty="0">
                <a:solidFill>
                  <a:schemeClr val="accent2"/>
                </a:solidFill>
              </a:rPr>
              <a:t>”</a:t>
            </a:r>
            <a:r>
              <a:rPr kumimoji="1" lang="ja-GB" altLang="en-US" sz="1600" dirty="0">
                <a:solidFill>
                  <a:schemeClr val="accent2"/>
                </a:solidFill>
              </a:rPr>
              <a:t>（半導体）で実現できる</a:t>
            </a:r>
            <a:endParaRPr kumimoji="1" lang="en-US" altLang="ja-GB" sz="1600" dirty="0">
              <a:solidFill>
                <a:schemeClr val="accent2"/>
              </a:solidFill>
            </a:endParaRPr>
          </a:p>
          <a:p>
            <a:pPr marL="457200" lvl="1" indent="0">
              <a:buNone/>
            </a:pPr>
            <a:r>
              <a:rPr lang="ja-GB" altLang="en-US" sz="1800" dirty="0">
                <a:solidFill>
                  <a:srgbClr val="2F2523"/>
                </a:solidFill>
              </a:rPr>
              <a:t>ネットワークは網目状に結ばれた計算機同士の通信経路</a:t>
            </a:r>
            <a:endParaRPr lang="en-US" altLang="ja-GB" sz="1800" dirty="0">
              <a:solidFill>
                <a:srgbClr val="2F2523"/>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インターネット（世界中のネットワーク同士が相互に通信できる仕組み）が登場する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tx1">
                    <a:lumMod val="50000"/>
                    <a:lumOff val="50000"/>
                  </a:schemeClr>
                </a:solidFill>
              </a:rPr>
              <a:t>→</a:t>
            </a:r>
            <a:r>
              <a:rPr lang="ja-GB" altLang="en-US" sz="1600" dirty="0">
                <a:solidFill>
                  <a:schemeClr val="tx1">
                    <a:lumMod val="50000"/>
                    <a:lumOff val="50000"/>
                  </a:schemeClr>
                </a:solidFill>
              </a:rPr>
              <a:t>情報システム（基本的には情報を操作する仕組み）が普及する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accent2"/>
                </a:solidFill>
              </a:rPr>
              <a:t>→</a:t>
            </a:r>
            <a:r>
              <a:rPr lang="ja-GB" altLang="en-US" sz="1600" dirty="0">
                <a:solidFill>
                  <a:schemeClr val="accent2"/>
                </a:solidFill>
              </a:rPr>
              <a:t>セキュリティ（攻撃者や災害などの外的要因から情報を守る仕組み）が重要になる</a:t>
            </a:r>
            <a:endParaRPr kumimoji="1" lang="en-US" altLang="ja-GB" sz="1600" dirty="0">
              <a:solidFill>
                <a:schemeClr val="accent2"/>
              </a:solidFill>
            </a:endParaRPr>
          </a:p>
        </p:txBody>
      </p:sp>
    </p:spTree>
    <p:extLst>
      <p:ext uri="{BB962C8B-B14F-4D97-AF65-F5344CB8AC3E}">
        <p14:creationId xmlns:p14="http://schemas.microsoft.com/office/powerpoint/2010/main" val="2830076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D2B2C-C753-BD6D-BB19-79A9081CEC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BA4A95-C09D-B5C1-E933-E69F9F24B356}"/>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034B6497-D7BD-1F3B-97B6-2A35ABDC217C}"/>
              </a:ext>
            </a:extLst>
          </p:cNvPr>
          <p:cNvSpPr>
            <a:spLocks noGrp="1"/>
          </p:cNvSpPr>
          <p:nvPr>
            <p:ph idx="1"/>
          </p:nvPr>
        </p:nvSpPr>
        <p:spPr/>
        <p:txBody>
          <a:bodyPr/>
          <a:lstStyle/>
          <a:p>
            <a:pPr marL="457200" indent="-457200">
              <a:buFont typeface="+mj-lt"/>
              <a:buAutoNum type="arabicPeriod"/>
            </a:pPr>
            <a:r>
              <a:rPr lang="ja-GB" altLang="en-US" dirty="0"/>
              <a:t>計算機の仕組み</a:t>
            </a:r>
            <a:endParaRPr lang="en-US" altLang="ja-GB" dirty="0"/>
          </a:p>
          <a:p>
            <a:pPr lvl="1"/>
            <a:r>
              <a:rPr lang="ja-GB" altLang="en-US" dirty="0"/>
              <a:t>計算機内の情報表現</a:t>
            </a:r>
            <a:endParaRPr lang="en-US" altLang="ja-GB" dirty="0"/>
          </a:p>
          <a:p>
            <a:pPr lvl="1"/>
            <a:r>
              <a:rPr lang="ja-GB" altLang="en-US" dirty="0"/>
              <a:t>計算機のハードウェア</a:t>
            </a:r>
            <a:endParaRPr lang="en-US" altLang="ja-GB" dirty="0"/>
          </a:p>
          <a:p>
            <a:pPr lvl="1"/>
            <a:r>
              <a:rPr kumimoji="1" lang="ja-GB" altLang="en-US" dirty="0"/>
              <a:t>人間が扱うための仕組み</a:t>
            </a:r>
            <a:endParaRPr kumimoji="1" lang="en-US" altLang="ja-GB" dirty="0"/>
          </a:p>
          <a:p>
            <a:pPr lvl="1"/>
            <a:endParaRPr lang="en-US" altLang="ja-GB" dirty="0"/>
          </a:p>
          <a:p>
            <a:pPr marL="457200" indent="-457200">
              <a:buFont typeface="+mj-lt"/>
              <a:buAutoNum type="arabicPeriod"/>
            </a:pPr>
            <a:r>
              <a:rPr lang="ja-GB" altLang="en-US" dirty="0"/>
              <a:t>ネットワークの仕組み</a:t>
            </a:r>
            <a:endParaRPr kumimoji="1" lang="en-US" altLang="ja-GB" dirty="0"/>
          </a:p>
          <a:p>
            <a:pPr lvl="1"/>
            <a:r>
              <a:rPr lang="ja-GB" altLang="en-US" dirty="0"/>
              <a:t>計算機同士の情報交換</a:t>
            </a:r>
            <a:endParaRPr kumimoji="1" lang="en-US" altLang="ja-GB" dirty="0"/>
          </a:p>
          <a:p>
            <a:pPr lvl="1"/>
            <a:r>
              <a:rPr lang="ja-GB" altLang="en-US" dirty="0"/>
              <a:t>インターネット</a:t>
            </a:r>
            <a:endParaRPr kumimoji="1" lang="en-US" altLang="ja-GB" dirty="0"/>
          </a:p>
          <a:p>
            <a:pPr lvl="1"/>
            <a:endParaRPr kumimoji="1" lang="en-US" altLang="ja-GB" dirty="0"/>
          </a:p>
          <a:p>
            <a:pPr marL="457200" indent="-457200">
              <a:buFont typeface="+mj-lt"/>
              <a:buAutoNum type="arabicPeriod"/>
            </a:pPr>
            <a:r>
              <a:rPr lang="ja-GB" altLang="en-US" dirty="0"/>
              <a:t>情報システムの仕組み</a:t>
            </a:r>
            <a:endParaRPr lang="en-US" altLang="ja-GB" dirty="0"/>
          </a:p>
          <a:p>
            <a:pPr lvl="1"/>
            <a:r>
              <a:rPr lang="ja-GB" altLang="en-US" dirty="0"/>
              <a:t>情報システムとデータベース</a:t>
            </a:r>
            <a:endParaRPr lang="en-US" altLang="ja-GB" dirty="0"/>
          </a:p>
          <a:p>
            <a:pPr lvl="1"/>
            <a:r>
              <a:rPr lang="ja-GB" altLang="en-US" dirty="0"/>
              <a:t>情報セキュリティ</a:t>
            </a:r>
            <a:endParaRPr lang="en-US" altLang="ja-GB" dirty="0"/>
          </a:p>
          <a:p>
            <a:pPr lvl="1"/>
            <a:endParaRPr lang="en-US" altLang="ja-GB" dirty="0"/>
          </a:p>
        </p:txBody>
      </p:sp>
    </p:spTree>
    <p:extLst>
      <p:ext uri="{BB962C8B-B14F-4D97-AF65-F5344CB8AC3E}">
        <p14:creationId xmlns:p14="http://schemas.microsoft.com/office/powerpoint/2010/main" val="11765210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DC21-CE51-FAE5-3AF4-4AAB6A7881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FAF174-C522-DD4E-DB6C-6541A890E025}"/>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0210445E-752A-F7B3-2045-DD81F2D441DD}"/>
              </a:ext>
            </a:extLst>
          </p:cNvPr>
          <p:cNvSpPr>
            <a:spLocks noGrp="1"/>
          </p:cNvSpPr>
          <p:nvPr>
            <p:ph idx="1"/>
          </p:nvPr>
        </p:nvSpPr>
        <p:spPr/>
        <p:txBody>
          <a:bodyPr/>
          <a:lstStyle/>
          <a:p>
            <a:pPr marL="457200" indent="-457200">
              <a:buFont typeface="+mj-lt"/>
              <a:buAutoNum type="arabicPeriod"/>
            </a:pPr>
            <a:r>
              <a:rPr lang="ja-GB" altLang="en-US" dirty="0"/>
              <a:t>計算機の仕組み</a:t>
            </a:r>
            <a:endParaRPr lang="en-US" altLang="ja-GB" dirty="0"/>
          </a:p>
          <a:p>
            <a:pPr lvl="1"/>
            <a:r>
              <a:rPr lang="ja-GB" altLang="en-US" dirty="0"/>
              <a:t>計算機内の情報表現</a:t>
            </a:r>
            <a:endParaRPr lang="en-US" altLang="ja-GB" dirty="0"/>
          </a:p>
          <a:p>
            <a:pPr lvl="1"/>
            <a:r>
              <a:rPr lang="ja-GB" altLang="en-US" dirty="0"/>
              <a:t>計算機のハードウェア</a:t>
            </a:r>
            <a:endParaRPr lang="en-US" altLang="ja-GB" dirty="0"/>
          </a:p>
          <a:p>
            <a:pPr lvl="1"/>
            <a:r>
              <a:rPr kumimoji="1" lang="ja-GB" altLang="en-US" dirty="0"/>
              <a:t>人間が扱うための仕組み</a:t>
            </a:r>
            <a:endParaRPr kumimoji="1" lang="en-US" altLang="ja-GB" dirty="0"/>
          </a:p>
          <a:p>
            <a:pPr lvl="1"/>
            <a:endParaRPr lang="en-US" altLang="ja-GB" dirty="0"/>
          </a:p>
          <a:p>
            <a:pPr marL="457200" indent="-457200">
              <a:buFont typeface="+mj-lt"/>
              <a:buAutoNum type="arabicPeriod"/>
            </a:pPr>
            <a:r>
              <a:rPr lang="ja-GB" altLang="en-US" dirty="0">
                <a:solidFill>
                  <a:schemeClr val="tx1">
                    <a:lumMod val="50000"/>
                    <a:lumOff val="50000"/>
                  </a:schemeClr>
                </a:solidFill>
              </a:rPr>
              <a:t>ネットワークの仕組み</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計算機同士の情報交換</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インターネット</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情報システムの仕組み</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情報システムとデータベース</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情報セキュリティ</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p:txBody>
      </p:sp>
    </p:spTree>
    <p:extLst>
      <p:ext uri="{BB962C8B-B14F-4D97-AF65-F5344CB8AC3E}">
        <p14:creationId xmlns:p14="http://schemas.microsoft.com/office/powerpoint/2010/main" val="1208411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0C1F84-4CEB-234A-509A-BEBCC71C04BE}"/>
              </a:ext>
            </a:extLst>
          </p:cNvPr>
          <p:cNvSpPr>
            <a:spLocks noGrp="1"/>
          </p:cNvSpPr>
          <p:nvPr>
            <p:ph type="title"/>
          </p:nvPr>
        </p:nvSpPr>
        <p:spPr/>
        <p:txBody>
          <a:bodyPr/>
          <a:lstStyle/>
          <a:p>
            <a:r>
              <a:rPr kumimoji="1" lang="ja-GB" altLang="en-US" dirty="0"/>
              <a:t>計算機内の情報表現</a:t>
            </a:r>
          </a:p>
        </p:txBody>
      </p:sp>
      <p:sp>
        <p:nvSpPr>
          <p:cNvPr id="3" name="コンテンツ プレースホルダー 2">
            <a:extLst>
              <a:ext uri="{FF2B5EF4-FFF2-40B4-BE49-F238E27FC236}">
                <a16:creationId xmlns:a16="http://schemas.microsoft.com/office/drawing/2014/main" id="{5F172219-C554-A452-8C8F-E756D8AC758D}"/>
              </a:ext>
            </a:extLst>
          </p:cNvPr>
          <p:cNvSpPr>
            <a:spLocks noGrp="1"/>
          </p:cNvSpPr>
          <p:nvPr>
            <p:ph idx="1"/>
          </p:nvPr>
        </p:nvSpPr>
        <p:spPr/>
        <p:txBody>
          <a:bodyPr/>
          <a:lstStyle/>
          <a:p>
            <a:pPr marL="0" indent="0">
              <a:buNone/>
            </a:pPr>
            <a:r>
              <a:rPr kumimoji="1" lang="ja-GB" altLang="en-US" dirty="0"/>
              <a:t>文字，画像，音声</a:t>
            </a:r>
            <a:r>
              <a:rPr lang="ja-GB" altLang="en-US" dirty="0"/>
              <a:t>など様々な情報はすべて数値として表現される</a:t>
            </a:r>
            <a:endParaRPr lang="en-US" altLang="ja-GB" dirty="0"/>
          </a:p>
          <a:p>
            <a:pPr lvl="1"/>
            <a:endParaRPr kumimoji="1" lang="ja-GB" altLang="en-US" dirty="0"/>
          </a:p>
        </p:txBody>
      </p:sp>
      <p:pic>
        <p:nvPicPr>
          <p:cNvPr id="12" name="図 11" descr="グラフ, 折れ線グラフ&#10;&#10;AI によって生成されたコンテンツは間違っている可能性があります。">
            <a:extLst>
              <a:ext uri="{FF2B5EF4-FFF2-40B4-BE49-F238E27FC236}">
                <a16:creationId xmlns:a16="http://schemas.microsoft.com/office/drawing/2014/main" id="{90332A6E-05B3-B5A4-8F0A-F77AE8B6E22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534595" y="4570241"/>
            <a:ext cx="4378205" cy="1751282"/>
          </a:xfrm>
          <a:prstGeom prst="rect">
            <a:avLst/>
          </a:prstGeom>
        </p:spPr>
      </p:pic>
      <p:grpSp>
        <p:nvGrpSpPr>
          <p:cNvPr id="17" name="グループ化 16">
            <a:extLst>
              <a:ext uri="{FF2B5EF4-FFF2-40B4-BE49-F238E27FC236}">
                <a16:creationId xmlns:a16="http://schemas.microsoft.com/office/drawing/2014/main" id="{A6B24670-5999-F409-66B7-FABAE1E72D0B}"/>
              </a:ext>
            </a:extLst>
          </p:cNvPr>
          <p:cNvGrpSpPr/>
          <p:nvPr/>
        </p:nvGrpSpPr>
        <p:grpSpPr>
          <a:xfrm>
            <a:off x="258212" y="1590203"/>
            <a:ext cx="8571463" cy="1898790"/>
            <a:chOff x="258212" y="4479982"/>
            <a:chExt cx="8571463" cy="1898790"/>
          </a:xfrm>
        </p:grpSpPr>
        <p:sp>
          <p:nvSpPr>
            <p:cNvPr id="13" name="正方形/長方形 12">
              <a:extLst>
                <a:ext uri="{FF2B5EF4-FFF2-40B4-BE49-F238E27FC236}">
                  <a16:creationId xmlns:a16="http://schemas.microsoft.com/office/drawing/2014/main" id="{AB1E0F91-1342-0B2F-69F8-DB9A781DD73B}"/>
                </a:ext>
              </a:extLst>
            </p:cNvPr>
            <p:cNvSpPr/>
            <p:nvPr/>
          </p:nvSpPr>
          <p:spPr>
            <a:xfrm>
              <a:off x="5599108" y="4503361"/>
              <a:ext cx="3230567" cy="172230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GB"/>
            </a:p>
          </p:txBody>
        </p:sp>
        <p:pic>
          <p:nvPicPr>
            <p:cNvPr id="14" name="図 13">
              <a:extLst>
                <a:ext uri="{FF2B5EF4-FFF2-40B4-BE49-F238E27FC236}">
                  <a16:creationId xmlns:a16="http://schemas.microsoft.com/office/drawing/2014/main" id="{EC771372-82AF-6B73-1B1C-032323929D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8212" y="4479982"/>
              <a:ext cx="5202543" cy="1898790"/>
            </a:xfrm>
            <a:prstGeom prst="rect">
              <a:avLst/>
            </a:prstGeom>
          </p:spPr>
        </p:pic>
        <p:pic>
          <p:nvPicPr>
            <p:cNvPr id="15" name="図 14">
              <a:extLst>
                <a:ext uri="{FF2B5EF4-FFF2-40B4-BE49-F238E27FC236}">
                  <a16:creationId xmlns:a16="http://schemas.microsoft.com/office/drawing/2014/main" id="{BA4836D9-AB55-83F4-B054-BCF0984018A8}"/>
                </a:ext>
              </a:extLst>
            </p:cNvPr>
            <p:cNvPicPr>
              <a:picLocks noChangeAspect="1"/>
            </p:cNvPicPr>
            <p:nvPr/>
          </p:nvPicPr>
          <p:blipFill>
            <a:blip r:embed="rId4"/>
            <a:stretch>
              <a:fillRect/>
            </a:stretch>
          </p:blipFill>
          <p:spPr>
            <a:xfrm>
              <a:off x="7161815" y="4645700"/>
              <a:ext cx="1515355" cy="1515355"/>
            </a:xfrm>
            <a:prstGeom prst="rect">
              <a:avLst/>
            </a:prstGeom>
          </p:spPr>
        </p:pic>
        <p:sp>
          <p:nvSpPr>
            <p:cNvPr id="16" name="テキスト ボックス 15">
              <a:extLst>
                <a:ext uri="{FF2B5EF4-FFF2-40B4-BE49-F238E27FC236}">
                  <a16:creationId xmlns:a16="http://schemas.microsoft.com/office/drawing/2014/main" id="{F01CC00A-8995-3203-BB7E-87042D9B4708}"/>
                </a:ext>
              </a:extLst>
            </p:cNvPr>
            <p:cNvSpPr txBox="1"/>
            <p:nvPr/>
          </p:nvSpPr>
          <p:spPr>
            <a:xfrm>
              <a:off x="5749776" y="4625230"/>
              <a:ext cx="1305165" cy="1600438"/>
            </a:xfrm>
            <a:prstGeom prst="rect">
              <a:avLst/>
            </a:prstGeom>
            <a:noFill/>
          </p:spPr>
          <p:txBody>
            <a:bodyPr wrap="none" rtlCol="0">
              <a:spAutoFit/>
            </a:bodyPr>
            <a:lstStyle/>
            <a:p>
              <a:r>
                <a:rPr lang="ja-GB" sz="1400" dirty="0"/>
                <a:t>0  0  1  1  0  0  0</a:t>
              </a:r>
            </a:p>
            <a:p>
              <a:r>
                <a:rPr lang="ja-GB" sz="1400" dirty="0"/>
                <a:t>0  1  0  0  1  0  0</a:t>
              </a:r>
            </a:p>
            <a:p>
              <a:r>
                <a:rPr lang="ja-GB" sz="1400" dirty="0"/>
                <a:t>0  0  1  1  1  0  0</a:t>
              </a:r>
            </a:p>
            <a:p>
              <a:r>
                <a:rPr lang="ja-GB" sz="1400" dirty="0"/>
                <a:t>0  1  0  0  1  0  0</a:t>
              </a:r>
            </a:p>
            <a:p>
              <a:r>
                <a:rPr lang="ja-GB" sz="1400" dirty="0"/>
                <a:t>0  1  0  0  1  0  0</a:t>
              </a:r>
            </a:p>
            <a:p>
              <a:r>
                <a:rPr lang="ja-GB" sz="1400" dirty="0"/>
                <a:t>0  0  1  1  0  1  0</a:t>
              </a:r>
            </a:p>
            <a:p>
              <a:r>
                <a:rPr lang="ja-GB" sz="1400" dirty="0"/>
                <a:t>0  0  0  0  0  0  0</a:t>
              </a:r>
            </a:p>
          </p:txBody>
        </p:sp>
      </p:grpSp>
      <p:sp>
        <p:nvSpPr>
          <p:cNvPr id="18" name="テキスト ボックス 17">
            <a:extLst>
              <a:ext uri="{FF2B5EF4-FFF2-40B4-BE49-F238E27FC236}">
                <a16:creationId xmlns:a16="http://schemas.microsoft.com/office/drawing/2014/main" id="{0C10392B-C1FD-63FE-327A-6B6367C0E374}"/>
              </a:ext>
            </a:extLst>
          </p:cNvPr>
          <p:cNvSpPr txBox="1"/>
          <p:nvPr/>
        </p:nvSpPr>
        <p:spPr>
          <a:xfrm>
            <a:off x="3325508" y="3515472"/>
            <a:ext cx="2492990" cy="369332"/>
          </a:xfrm>
          <a:prstGeom prst="rect">
            <a:avLst/>
          </a:prstGeom>
          <a:noFill/>
        </p:spPr>
        <p:txBody>
          <a:bodyPr wrap="none" rtlCol="0">
            <a:spAutoFit/>
          </a:bodyPr>
          <a:lstStyle/>
          <a:p>
            <a:pPr algn="ctr"/>
            <a:r>
              <a:rPr kumimoji="1" lang="ja-GB" altLang="en-US" b="1" dirty="0">
                <a:solidFill>
                  <a:srgbClr val="2F2523"/>
                </a:solidFill>
              </a:rPr>
              <a:t>文字コードとフォント</a:t>
            </a:r>
          </a:p>
        </p:txBody>
      </p:sp>
      <p:sp>
        <p:nvSpPr>
          <p:cNvPr id="19" name="テキスト ボックス 18">
            <a:extLst>
              <a:ext uri="{FF2B5EF4-FFF2-40B4-BE49-F238E27FC236}">
                <a16:creationId xmlns:a16="http://schemas.microsoft.com/office/drawing/2014/main" id="{3AC8079E-63C2-2390-9227-85C8DCA94683}"/>
              </a:ext>
            </a:extLst>
          </p:cNvPr>
          <p:cNvSpPr txBox="1"/>
          <p:nvPr/>
        </p:nvSpPr>
        <p:spPr>
          <a:xfrm>
            <a:off x="1427146" y="6277125"/>
            <a:ext cx="1338829" cy="369332"/>
          </a:xfrm>
          <a:prstGeom prst="rect">
            <a:avLst/>
          </a:prstGeom>
          <a:noFill/>
        </p:spPr>
        <p:txBody>
          <a:bodyPr wrap="none" rtlCol="0">
            <a:spAutoFit/>
          </a:bodyPr>
          <a:lstStyle/>
          <a:p>
            <a:pPr algn="ctr"/>
            <a:r>
              <a:rPr kumimoji="1" lang="ja-GB" altLang="en-US" b="1" dirty="0">
                <a:solidFill>
                  <a:srgbClr val="2F2523"/>
                </a:solidFill>
              </a:rPr>
              <a:t>画像データ</a:t>
            </a:r>
          </a:p>
        </p:txBody>
      </p:sp>
      <p:sp>
        <p:nvSpPr>
          <p:cNvPr id="20" name="テキスト ボックス 19">
            <a:extLst>
              <a:ext uri="{FF2B5EF4-FFF2-40B4-BE49-F238E27FC236}">
                <a16:creationId xmlns:a16="http://schemas.microsoft.com/office/drawing/2014/main" id="{263FB391-C84E-057A-F6CB-45DFAF5F5F66}"/>
              </a:ext>
            </a:extLst>
          </p:cNvPr>
          <p:cNvSpPr txBox="1"/>
          <p:nvPr/>
        </p:nvSpPr>
        <p:spPr>
          <a:xfrm>
            <a:off x="5708038" y="6274023"/>
            <a:ext cx="2031325" cy="615553"/>
          </a:xfrm>
          <a:prstGeom prst="rect">
            <a:avLst/>
          </a:prstGeom>
          <a:noFill/>
        </p:spPr>
        <p:txBody>
          <a:bodyPr wrap="none" rtlCol="0">
            <a:spAutoFit/>
          </a:bodyPr>
          <a:lstStyle/>
          <a:p>
            <a:pPr algn="ctr"/>
            <a:r>
              <a:rPr kumimoji="1" lang="ja-GB" altLang="en-US" b="1" dirty="0">
                <a:solidFill>
                  <a:srgbClr val="2F2523"/>
                </a:solidFill>
              </a:rPr>
              <a:t>音声波形の数列化</a:t>
            </a:r>
            <a:endParaRPr kumimoji="1" lang="en-US" altLang="ja-GB" b="1" dirty="0">
              <a:solidFill>
                <a:srgbClr val="2F2523"/>
              </a:solidFill>
            </a:endParaRPr>
          </a:p>
          <a:p>
            <a:pPr algn="ctr"/>
            <a:r>
              <a:rPr kumimoji="1" lang="ja-GB" altLang="en-US" sz="1600" b="1" dirty="0">
                <a:solidFill>
                  <a:schemeClr val="tx1">
                    <a:lumMod val="50000"/>
                    <a:lumOff val="50000"/>
                  </a:schemeClr>
                </a:solidFill>
              </a:rPr>
              <a:t>（後で説明）</a:t>
            </a:r>
          </a:p>
        </p:txBody>
      </p:sp>
      <p:sp>
        <p:nvSpPr>
          <p:cNvPr id="21" name="テキスト ボックス 20">
            <a:extLst>
              <a:ext uri="{FF2B5EF4-FFF2-40B4-BE49-F238E27FC236}">
                <a16:creationId xmlns:a16="http://schemas.microsoft.com/office/drawing/2014/main" id="{B217C1E1-F711-574B-DAF9-06E04BC90BD6}"/>
              </a:ext>
            </a:extLst>
          </p:cNvPr>
          <p:cNvSpPr txBox="1"/>
          <p:nvPr/>
        </p:nvSpPr>
        <p:spPr>
          <a:xfrm>
            <a:off x="175656" y="4602632"/>
            <a:ext cx="2317656" cy="1569660"/>
          </a:xfrm>
          <a:prstGeom prst="rect">
            <a:avLst/>
          </a:prstGeom>
          <a:noFill/>
        </p:spPr>
        <p:txBody>
          <a:bodyPr wrap="square" rtlCol="0">
            <a:spAutoFit/>
          </a:bodyPr>
          <a:lstStyle/>
          <a:p>
            <a:pPr algn="l"/>
            <a:r>
              <a:rPr lang="en-GB" sz="1200" dirty="0">
                <a:solidFill>
                  <a:srgbClr val="000000"/>
                </a:solidFill>
                <a:latin typeface="ui-monospace"/>
              </a:rPr>
              <a:t>00</a:t>
            </a:r>
            <a:r>
              <a:rPr lang="en-GB" sz="1200" b="0" i="0" dirty="0">
                <a:solidFill>
                  <a:srgbClr val="000000"/>
                </a:solidFill>
                <a:effectLst/>
                <a:latin typeface="ui-monospace"/>
              </a:rPr>
              <a:t>0 030 060 090 120 150 180 210 </a:t>
            </a:r>
          </a:p>
          <a:p>
            <a:pPr algn="l"/>
            <a:r>
              <a:rPr lang="en-GB" sz="1200" dirty="0">
                <a:solidFill>
                  <a:srgbClr val="000000"/>
                </a:solidFill>
                <a:latin typeface="ui-monospace"/>
              </a:rPr>
              <a:t>0</a:t>
            </a:r>
            <a:r>
              <a:rPr lang="en-GB" sz="1200" b="0" i="0" dirty="0">
                <a:solidFill>
                  <a:srgbClr val="000000"/>
                </a:solidFill>
                <a:effectLst/>
                <a:latin typeface="ui-monospace"/>
              </a:rPr>
              <a:t>30 060 090 120 150 180 210 240 </a:t>
            </a:r>
          </a:p>
          <a:p>
            <a:pPr algn="l"/>
            <a:r>
              <a:rPr lang="en-GB" sz="1200" dirty="0">
                <a:solidFill>
                  <a:srgbClr val="000000"/>
                </a:solidFill>
                <a:latin typeface="ui-monospace"/>
              </a:rPr>
              <a:t>0</a:t>
            </a:r>
            <a:r>
              <a:rPr lang="en-GB" sz="1200" b="0" i="0" dirty="0">
                <a:solidFill>
                  <a:srgbClr val="000000"/>
                </a:solidFill>
                <a:effectLst/>
                <a:latin typeface="ui-monospace"/>
              </a:rPr>
              <a:t>60 090 120 150 180 210 240 255 </a:t>
            </a:r>
          </a:p>
          <a:p>
            <a:pPr algn="l"/>
            <a:r>
              <a:rPr lang="en-GB" sz="1200" dirty="0">
                <a:solidFill>
                  <a:srgbClr val="000000"/>
                </a:solidFill>
                <a:latin typeface="ui-monospace"/>
              </a:rPr>
              <a:t>0</a:t>
            </a:r>
            <a:r>
              <a:rPr lang="en-GB" sz="1200" b="0" i="0" dirty="0">
                <a:solidFill>
                  <a:srgbClr val="000000"/>
                </a:solidFill>
                <a:effectLst/>
                <a:latin typeface="ui-monospace"/>
              </a:rPr>
              <a:t>90 120 150 180 210 240 255 225 </a:t>
            </a:r>
          </a:p>
          <a:p>
            <a:pPr algn="l"/>
            <a:r>
              <a:rPr lang="en-GB" sz="1200" b="0" i="0" dirty="0">
                <a:solidFill>
                  <a:srgbClr val="000000"/>
                </a:solidFill>
                <a:effectLst/>
                <a:latin typeface="ui-monospace"/>
              </a:rPr>
              <a:t>120 150 180 210 240 255 225 195 </a:t>
            </a:r>
          </a:p>
          <a:p>
            <a:pPr algn="l"/>
            <a:r>
              <a:rPr lang="en-GB" sz="1200" b="0" i="0" dirty="0">
                <a:solidFill>
                  <a:srgbClr val="000000"/>
                </a:solidFill>
                <a:effectLst/>
                <a:latin typeface="ui-monospace"/>
              </a:rPr>
              <a:t>150 180 210 240 255 225 195 165 </a:t>
            </a:r>
          </a:p>
          <a:p>
            <a:pPr algn="l"/>
            <a:r>
              <a:rPr lang="en-GB" sz="1200" b="0" i="0" dirty="0">
                <a:solidFill>
                  <a:srgbClr val="000000"/>
                </a:solidFill>
                <a:effectLst/>
                <a:latin typeface="ui-monospace"/>
              </a:rPr>
              <a:t>180 210 240 255 225 195 165 135 </a:t>
            </a:r>
          </a:p>
          <a:p>
            <a:pPr algn="l"/>
            <a:r>
              <a:rPr lang="en-GB" sz="1200" b="0" i="0" dirty="0">
                <a:solidFill>
                  <a:srgbClr val="000000"/>
                </a:solidFill>
                <a:effectLst/>
                <a:latin typeface="ui-monospace"/>
              </a:rPr>
              <a:t>210 240 255 225 195 165 135 105</a:t>
            </a:r>
          </a:p>
        </p:txBody>
      </p:sp>
      <p:pic>
        <p:nvPicPr>
          <p:cNvPr id="22" name="Picture 2">
            <a:extLst>
              <a:ext uri="{FF2B5EF4-FFF2-40B4-BE49-F238E27FC236}">
                <a16:creationId xmlns:a16="http://schemas.microsoft.com/office/drawing/2014/main" id="{DB50D5F8-C3AE-B176-4B29-7438EC9C7910}"/>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2493312" y="4599187"/>
            <a:ext cx="1461655" cy="1459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6304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45C775-D02F-70F1-B0C5-810C570E40A7}"/>
              </a:ext>
            </a:extLst>
          </p:cNvPr>
          <p:cNvSpPr>
            <a:spLocks noGrp="1"/>
          </p:cNvSpPr>
          <p:nvPr>
            <p:ph type="title"/>
          </p:nvPr>
        </p:nvSpPr>
        <p:spPr/>
        <p:txBody>
          <a:bodyPr>
            <a:normAutofit fontScale="90000"/>
          </a:bodyPr>
          <a:lstStyle/>
          <a:p>
            <a:r>
              <a:rPr kumimoji="1" lang="ja-GB" altLang="en-US" dirty="0"/>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D519CC0B-232F-D386-7349-AD38F9E14ED4}"/>
              </a:ext>
            </a:extLst>
          </p:cNvPr>
          <p:cNvSpPr>
            <a:spLocks noGrp="1"/>
          </p:cNvSpPr>
          <p:nvPr>
            <p:ph idx="1"/>
          </p:nvPr>
        </p:nvSpPr>
        <p:spPr/>
        <p:txBody>
          <a:bodyPr/>
          <a:lstStyle/>
          <a:p>
            <a:pPr marL="0" indent="0">
              <a:buNone/>
            </a:pPr>
            <a:r>
              <a:rPr lang="ja-GB" altLang="en-US" dirty="0"/>
              <a:t>ハードウェアの中で物理的に表現される</a:t>
            </a:r>
            <a:endParaRPr lang="en-US" altLang="ja-GB" dirty="0"/>
          </a:p>
          <a:p>
            <a:pPr marL="457200" lvl="1" indent="0">
              <a:buNone/>
            </a:pPr>
            <a:r>
              <a:rPr lang="ja-GB" altLang="en-US" dirty="0">
                <a:solidFill>
                  <a:srgbClr val="0070C0"/>
                </a:solidFill>
              </a:rPr>
              <a:t>　計算機の設計によって色々な表現が可能</a:t>
            </a:r>
            <a:endParaRPr lang="en-US" altLang="ja-GB" dirty="0">
              <a:solidFill>
                <a:srgbClr val="0070C0"/>
              </a:solidFill>
            </a:endParaRPr>
          </a:p>
          <a:p>
            <a:pPr marL="914400" lvl="2" indent="0">
              <a:buNone/>
            </a:pPr>
            <a:r>
              <a:rPr kumimoji="1" lang="ja-GB" altLang="en-US" dirty="0">
                <a:solidFill>
                  <a:srgbClr val="2F2523"/>
                </a:solidFill>
              </a:rPr>
              <a:t>例：</a:t>
            </a:r>
            <a:r>
              <a:rPr kumimoji="1" lang="en-US" altLang="ja-GB" dirty="0">
                <a:solidFill>
                  <a:srgbClr val="2F2523"/>
                </a:solidFill>
              </a:rPr>
              <a:t>ENIAC</a:t>
            </a:r>
            <a:r>
              <a:rPr kumimoji="1" lang="ja-GB" altLang="en-US" dirty="0">
                <a:solidFill>
                  <a:srgbClr val="2F2523"/>
                </a:solidFill>
              </a:rPr>
              <a:t>は</a:t>
            </a:r>
            <a:r>
              <a:rPr kumimoji="1" lang="en-US" altLang="ja-GB" dirty="0">
                <a:solidFill>
                  <a:srgbClr val="2F2523"/>
                </a:solidFill>
              </a:rPr>
              <a:t>10</a:t>
            </a:r>
            <a:r>
              <a:rPr kumimoji="1" lang="ja-GB" altLang="en-US" dirty="0">
                <a:solidFill>
                  <a:srgbClr val="2F2523"/>
                </a:solidFill>
              </a:rPr>
              <a:t>進数，アナログ時計は</a:t>
            </a:r>
            <a:r>
              <a:rPr lang="en-US" altLang="ja-GB" dirty="0">
                <a:solidFill>
                  <a:srgbClr val="2F2523"/>
                </a:solidFill>
              </a:rPr>
              <a:t>12</a:t>
            </a:r>
            <a:r>
              <a:rPr lang="ja-GB" altLang="en-US" dirty="0">
                <a:solidFill>
                  <a:srgbClr val="2F2523"/>
                </a:solidFill>
              </a:rPr>
              <a:t>進数と</a:t>
            </a:r>
            <a:r>
              <a:rPr lang="en-US" altLang="ja-GB" dirty="0">
                <a:solidFill>
                  <a:srgbClr val="2F2523"/>
                </a:solidFill>
              </a:rPr>
              <a:t>60</a:t>
            </a:r>
            <a:r>
              <a:rPr lang="ja-GB" altLang="en-US" dirty="0">
                <a:solidFill>
                  <a:srgbClr val="2F2523"/>
                </a:solidFill>
              </a:rPr>
              <a:t>進数の併用</a:t>
            </a:r>
            <a:endParaRPr lang="en-US" altLang="ja-GB" dirty="0">
              <a:solidFill>
                <a:srgbClr val="2F2523"/>
              </a:solidFill>
            </a:endParaRPr>
          </a:p>
          <a:p>
            <a:pPr marL="457200" lvl="1" indent="0">
              <a:buNone/>
            </a:pPr>
            <a:endParaRPr lang="ja-GB" altLang="en-US" dirty="0">
              <a:solidFill>
                <a:srgbClr val="2F2523"/>
              </a:solidFill>
            </a:endParaRPr>
          </a:p>
          <a:p>
            <a:pPr marL="0" indent="0" algn="ctr">
              <a:buNone/>
            </a:pPr>
            <a:endParaRPr kumimoji="1" lang="ja-GB" altLang="en-US" dirty="0">
              <a:solidFill>
                <a:srgbClr val="2F2523"/>
              </a:solidFill>
            </a:endParaRPr>
          </a:p>
        </p:txBody>
      </p:sp>
      <p:grpSp>
        <p:nvGrpSpPr>
          <p:cNvPr id="11" name="グループ化 10">
            <a:extLst>
              <a:ext uri="{FF2B5EF4-FFF2-40B4-BE49-F238E27FC236}">
                <a16:creationId xmlns:a16="http://schemas.microsoft.com/office/drawing/2014/main" id="{4C1DB1B0-C4FE-0B1C-4ADA-D5EC2A16CCAA}"/>
              </a:ext>
            </a:extLst>
          </p:cNvPr>
          <p:cNvGrpSpPr/>
          <p:nvPr/>
        </p:nvGrpSpPr>
        <p:grpSpPr>
          <a:xfrm>
            <a:off x="836839" y="2942112"/>
            <a:ext cx="6925374" cy="2631428"/>
            <a:chOff x="753712" y="3001489"/>
            <a:chExt cx="6925374" cy="2631428"/>
          </a:xfrm>
        </p:grpSpPr>
        <p:pic>
          <p:nvPicPr>
            <p:cNvPr id="6" name="図 5" descr="そろばんが並んでいる&#10;&#10;AI によって生成されたコンテンツは間違っている可能性があります。">
              <a:extLst>
                <a:ext uri="{FF2B5EF4-FFF2-40B4-BE49-F238E27FC236}">
                  <a16:creationId xmlns:a16="http://schemas.microsoft.com/office/drawing/2014/main" id="{BCC5566A-1D81-0B32-4CBA-8BCEB140C340}"/>
                </a:ext>
              </a:extLst>
            </p:cNvPr>
            <p:cNvPicPr>
              <a:picLocks noChangeAspect="1"/>
            </p:cNvPicPr>
            <p:nvPr/>
          </p:nvPicPr>
          <p:blipFill>
            <a:blip r:embed="rId2"/>
            <a:stretch>
              <a:fillRect/>
            </a:stretch>
          </p:blipFill>
          <p:spPr>
            <a:xfrm>
              <a:off x="1176031" y="3001489"/>
              <a:ext cx="2776856" cy="1848345"/>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2DA29F69-8A6B-F40C-963D-8CF8DA805BE8}"/>
                </a:ext>
              </a:extLst>
            </p:cNvPr>
            <p:cNvSpPr txBox="1"/>
            <p:nvPr/>
          </p:nvSpPr>
          <p:spPr>
            <a:xfrm>
              <a:off x="753712" y="5048142"/>
              <a:ext cx="3621504" cy="584775"/>
            </a:xfrm>
            <a:prstGeom prst="rect">
              <a:avLst/>
            </a:prstGeom>
            <a:noFill/>
          </p:spPr>
          <p:txBody>
            <a:bodyPr wrap="none" rtlCol="0">
              <a:spAutoFit/>
            </a:bodyPr>
            <a:lstStyle/>
            <a:p>
              <a:pPr algn="ctr"/>
              <a:r>
                <a:rPr kumimoji="1" lang="ja-GB" altLang="en-US" b="1" dirty="0">
                  <a:solidFill>
                    <a:srgbClr val="2F2523"/>
                  </a:solidFill>
                </a:rPr>
                <a:t>そろばん：二・五進法</a:t>
              </a:r>
              <a:endParaRPr kumimoji="1" lang="en-US" altLang="ja-GB" b="1" dirty="0">
                <a:solidFill>
                  <a:srgbClr val="2F2523"/>
                </a:solidFill>
              </a:endParaRPr>
            </a:p>
            <a:p>
              <a:pPr algn="ctr"/>
              <a:r>
                <a:rPr kumimoji="1" lang="en-US" altLang="ja-GB" sz="1400" b="1" dirty="0">
                  <a:solidFill>
                    <a:srgbClr val="2F2523"/>
                  </a:solidFill>
                </a:rPr>
                <a:t>(+5</a:t>
              </a:r>
              <a:r>
                <a:rPr kumimoji="1" lang="ja-GB" altLang="en-US" sz="1400" b="1" dirty="0">
                  <a:solidFill>
                    <a:srgbClr val="2F2523"/>
                  </a:solidFill>
                </a:rPr>
                <a:t>で一段階進み，</a:t>
              </a:r>
              <a:r>
                <a:rPr kumimoji="1" lang="en-US" altLang="ja-GB" sz="1400" b="1" dirty="0">
                  <a:solidFill>
                    <a:srgbClr val="2F2523"/>
                  </a:solidFill>
                </a:rPr>
                <a:t>2</a:t>
              </a:r>
              <a:r>
                <a:rPr kumimoji="1" lang="ja-GB" altLang="en-US" sz="1400" b="1" dirty="0">
                  <a:solidFill>
                    <a:srgbClr val="2F2523"/>
                  </a:solidFill>
                </a:rPr>
                <a:t>段階進むと桁が上がる</a:t>
              </a:r>
              <a:r>
                <a:rPr kumimoji="1" lang="en-US" altLang="ja-GB" sz="1400" b="1" dirty="0">
                  <a:solidFill>
                    <a:srgbClr val="2F2523"/>
                  </a:solidFill>
                </a:rPr>
                <a:t>)</a:t>
              </a:r>
              <a:endParaRPr kumimoji="1" lang="ja-GB" altLang="en-US" sz="1400" b="1" dirty="0">
                <a:solidFill>
                  <a:srgbClr val="2F2523"/>
                </a:solidFill>
              </a:endParaRPr>
            </a:p>
          </p:txBody>
        </p:sp>
        <p:pic>
          <p:nvPicPr>
            <p:cNvPr id="9" name="図 8" descr="ドアのノブ&#10;&#10;AI によって生成されたコンテンツは間違っている可能性があります。">
              <a:extLst>
                <a:ext uri="{FF2B5EF4-FFF2-40B4-BE49-F238E27FC236}">
                  <a16:creationId xmlns:a16="http://schemas.microsoft.com/office/drawing/2014/main" id="{6342E26D-562B-CE5A-D966-F4EC771C18E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29826" y="3001489"/>
              <a:ext cx="2464460" cy="1848345"/>
            </a:xfrm>
            <a:prstGeom prst="rect">
              <a:avLst/>
            </a:prstGeom>
            <a:ln>
              <a:noFill/>
            </a:ln>
            <a:effectLst>
              <a:outerShdw blurRad="292100" dist="139700" dir="2700000" algn="tl" rotWithShape="0">
                <a:srgbClr val="333333">
                  <a:alpha val="65000"/>
                </a:srgbClr>
              </a:outerShdw>
            </a:effectLst>
          </p:spPr>
        </p:pic>
        <p:sp>
          <p:nvSpPr>
            <p:cNvPr id="10" name="テキスト ボックス 9">
              <a:extLst>
                <a:ext uri="{FF2B5EF4-FFF2-40B4-BE49-F238E27FC236}">
                  <a16:creationId xmlns:a16="http://schemas.microsoft.com/office/drawing/2014/main" id="{7065E93B-D8BD-01C6-B760-F716DD23A64D}"/>
                </a:ext>
              </a:extLst>
            </p:cNvPr>
            <p:cNvSpPr txBox="1"/>
            <p:nvPr/>
          </p:nvSpPr>
          <p:spPr>
            <a:xfrm>
              <a:off x="5045032" y="5048142"/>
              <a:ext cx="2634054" cy="584775"/>
            </a:xfrm>
            <a:prstGeom prst="rect">
              <a:avLst/>
            </a:prstGeom>
            <a:noFill/>
          </p:spPr>
          <p:txBody>
            <a:bodyPr wrap="none" rtlCol="0">
              <a:spAutoFit/>
            </a:bodyPr>
            <a:lstStyle/>
            <a:p>
              <a:pPr algn="ctr"/>
              <a:r>
                <a:rPr kumimoji="1" lang="ja-GB" altLang="en-US" b="1" dirty="0">
                  <a:solidFill>
                    <a:srgbClr val="2F2523"/>
                  </a:solidFill>
                </a:rPr>
                <a:t>スイッチ：二進数</a:t>
              </a:r>
              <a:endParaRPr kumimoji="1" lang="en-US" altLang="ja-GB" b="1" dirty="0">
                <a:solidFill>
                  <a:srgbClr val="2F2523"/>
                </a:solidFill>
              </a:endParaRPr>
            </a:p>
            <a:p>
              <a:pPr algn="ctr"/>
              <a:r>
                <a:rPr kumimoji="1" lang="en-US" altLang="ja-GB" sz="1400" b="1" dirty="0">
                  <a:solidFill>
                    <a:srgbClr val="2F2523"/>
                  </a:solidFill>
                </a:rPr>
                <a:t>(0</a:t>
              </a:r>
              <a:r>
                <a:rPr kumimoji="1" lang="ja-GB" altLang="en-US" sz="1400" b="1" dirty="0">
                  <a:solidFill>
                    <a:srgbClr val="2F2523"/>
                  </a:solidFill>
                </a:rPr>
                <a:t>と</a:t>
              </a:r>
              <a:r>
                <a:rPr kumimoji="1" lang="en-US" altLang="ja-GB" sz="1400" b="1" dirty="0">
                  <a:solidFill>
                    <a:srgbClr val="2F2523"/>
                  </a:solidFill>
                </a:rPr>
                <a:t>1</a:t>
              </a:r>
              <a:r>
                <a:rPr kumimoji="1" lang="ja-GB" altLang="en-US" sz="1400" b="1" dirty="0">
                  <a:solidFill>
                    <a:srgbClr val="2F2523"/>
                  </a:solidFill>
                </a:rPr>
                <a:t>の二つの状態のみ表せる</a:t>
              </a:r>
              <a:r>
                <a:rPr kumimoji="1" lang="en-US" altLang="ja-GB" sz="1400" b="1" dirty="0">
                  <a:solidFill>
                    <a:srgbClr val="2F2523"/>
                  </a:solidFill>
                </a:rPr>
                <a:t>)</a:t>
              </a:r>
              <a:endParaRPr kumimoji="1" lang="ja-GB" altLang="en-US" sz="1400" b="1" dirty="0">
                <a:solidFill>
                  <a:srgbClr val="2F2523"/>
                </a:solidFill>
              </a:endParaRPr>
            </a:p>
          </p:txBody>
        </p:sp>
      </p:grpSp>
    </p:spTree>
    <p:extLst>
      <p:ext uri="{BB962C8B-B14F-4D97-AF65-F5344CB8AC3E}">
        <p14:creationId xmlns:p14="http://schemas.microsoft.com/office/powerpoint/2010/main" val="29757109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7534-26A5-0BBE-3CED-E021A195A3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2DC8B8-7270-3F42-D7CC-3EB2DB11ABD2}"/>
              </a:ext>
            </a:extLst>
          </p:cNvPr>
          <p:cNvSpPr>
            <a:spLocks noGrp="1"/>
          </p:cNvSpPr>
          <p:nvPr>
            <p:ph type="title"/>
          </p:nvPr>
        </p:nvSpPr>
        <p:spPr/>
        <p:txBody>
          <a:bodyPr>
            <a:normAutofit fontScale="90000"/>
          </a:bodyPr>
          <a:lstStyle/>
          <a:p>
            <a:r>
              <a:rPr kumimoji="1" lang="ja-GB" altLang="en-US" dirty="0"/>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4E1CDAF3-F222-FD42-E924-1880E28BEEB3}"/>
              </a:ext>
            </a:extLst>
          </p:cNvPr>
          <p:cNvSpPr>
            <a:spLocks noGrp="1"/>
          </p:cNvSpPr>
          <p:nvPr>
            <p:ph idx="1"/>
          </p:nvPr>
        </p:nvSpPr>
        <p:spPr/>
        <p:txBody>
          <a:bodyPr/>
          <a:lstStyle/>
          <a:p>
            <a:pPr marL="0" indent="0">
              <a:buNone/>
            </a:pPr>
            <a:r>
              <a:rPr kumimoji="1" lang="ja-GB" altLang="en-US" dirty="0"/>
              <a:t>現在の電子計算機では，</a:t>
            </a:r>
            <a:r>
              <a:rPr kumimoji="1" lang="en-US" altLang="ja-GB" dirty="0"/>
              <a:t>2</a:t>
            </a:r>
            <a:r>
              <a:rPr kumimoji="1" lang="ja-GB" altLang="en-US" dirty="0"/>
              <a:t>進数のデジタル表現が標準的</a:t>
            </a:r>
            <a:endParaRPr kumimoji="1" lang="en-US" altLang="ja-GB" dirty="0"/>
          </a:p>
          <a:p>
            <a:pPr lvl="1"/>
            <a:r>
              <a:rPr lang="ja-GB" altLang="en-US" dirty="0">
                <a:solidFill>
                  <a:srgbClr val="2F2523"/>
                </a:solidFill>
              </a:rPr>
              <a:t>あらゆる情報（数値）は</a:t>
            </a:r>
            <a:r>
              <a:rPr lang="ja-GB" altLang="en-US" dirty="0">
                <a:solidFill>
                  <a:srgbClr val="0070C0"/>
                </a:solidFill>
              </a:rPr>
              <a:t>デジタル化</a:t>
            </a:r>
            <a:r>
              <a:rPr lang="ja-GB" altLang="en-US" dirty="0">
                <a:solidFill>
                  <a:srgbClr val="2F2523"/>
                </a:solidFill>
              </a:rPr>
              <a:t>されて離散的に近似される</a:t>
            </a:r>
            <a:endParaRPr lang="en-US" altLang="ja-GB" dirty="0">
              <a:solidFill>
                <a:srgbClr val="2F2523"/>
              </a:solidFill>
            </a:endParaRPr>
          </a:p>
          <a:p>
            <a:pPr lvl="1"/>
            <a:r>
              <a:rPr lang="ja-GB" altLang="en-US" dirty="0">
                <a:solidFill>
                  <a:srgbClr val="2F2523"/>
                </a:solidFill>
              </a:rPr>
              <a:t>あらゆる情報（数値）は</a:t>
            </a:r>
            <a:r>
              <a:rPr lang="en-US" altLang="ja-GB" dirty="0">
                <a:solidFill>
                  <a:srgbClr val="0070C0"/>
                </a:solidFill>
              </a:rPr>
              <a:t>2</a:t>
            </a:r>
            <a:r>
              <a:rPr lang="ja-GB" altLang="en-US" dirty="0">
                <a:solidFill>
                  <a:srgbClr val="0070C0"/>
                </a:solidFill>
              </a:rPr>
              <a:t>進数で表現</a:t>
            </a:r>
            <a:r>
              <a:rPr lang="ja-GB" altLang="en-US" dirty="0">
                <a:solidFill>
                  <a:srgbClr val="2F2523"/>
                </a:solidFill>
              </a:rPr>
              <a:t>されて</a:t>
            </a:r>
            <a:r>
              <a:rPr lang="en-US" altLang="ja-GB" dirty="0">
                <a:solidFill>
                  <a:srgbClr val="2F2523"/>
                </a:solidFill>
              </a:rPr>
              <a:t>0</a:t>
            </a:r>
            <a:r>
              <a:rPr lang="ja-GB" altLang="en-US" dirty="0">
                <a:solidFill>
                  <a:srgbClr val="2F2523"/>
                </a:solidFill>
              </a:rPr>
              <a:t>と</a:t>
            </a:r>
            <a:r>
              <a:rPr lang="en-US" altLang="ja-GB" dirty="0">
                <a:solidFill>
                  <a:srgbClr val="2F2523"/>
                </a:solidFill>
              </a:rPr>
              <a:t>1</a:t>
            </a:r>
            <a:r>
              <a:rPr lang="ja-GB" altLang="en-US" dirty="0">
                <a:solidFill>
                  <a:srgbClr val="2F2523"/>
                </a:solidFill>
              </a:rPr>
              <a:t>のみで記述される</a:t>
            </a:r>
            <a:endParaRPr lang="en-US" altLang="ja-GB" dirty="0">
              <a:solidFill>
                <a:srgbClr val="2F2523"/>
              </a:solidFill>
            </a:endParaRPr>
          </a:p>
          <a:p>
            <a:pPr lvl="2"/>
            <a:endParaRPr lang="ja-GB" altLang="en-US" dirty="0">
              <a:solidFill>
                <a:srgbClr val="2F2523"/>
              </a:solidFill>
            </a:endParaRPr>
          </a:p>
          <a:p>
            <a:pPr marL="0" indent="0" algn="ctr">
              <a:buNone/>
            </a:pPr>
            <a:endParaRPr kumimoji="1" lang="ja-GB" altLang="en-US" dirty="0">
              <a:solidFill>
                <a:srgbClr val="2F2523"/>
              </a:solidFill>
            </a:endParaRPr>
          </a:p>
        </p:txBody>
      </p:sp>
      <p:pic>
        <p:nvPicPr>
          <p:cNvPr id="16" name="コンテンツ プレースホルダー 22" descr="キーボードとマウス&#10;&#10;AI によって生成されたコンテンツは間違っている可能性があります。">
            <a:extLst>
              <a:ext uri="{FF2B5EF4-FFF2-40B4-BE49-F238E27FC236}">
                <a16:creationId xmlns:a16="http://schemas.microsoft.com/office/drawing/2014/main" id="{7DF17FBF-9135-D1AB-54A4-3E7ECFA2975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4325" y="2779840"/>
            <a:ext cx="2028957" cy="1521718"/>
          </a:xfrm>
          <a:prstGeom prst="rect">
            <a:avLst/>
          </a:prstGeom>
          <a:ln>
            <a:noFill/>
          </a:ln>
          <a:effectLst>
            <a:outerShdw blurRad="292100" dist="139700" dir="2700000" algn="tl" rotWithShape="0">
              <a:srgbClr val="333333">
                <a:alpha val="65000"/>
              </a:srgbClr>
            </a:outerShdw>
          </a:effectLst>
        </p:spPr>
      </p:pic>
      <p:pic>
        <p:nvPicPr>
          <p:cNvPr id="17" name="図 16" descr="駅のホーム&#10;&#10;AI によって生成されたコンテンツは間違っている可能性があります。">
            <a:extLst>
              <a:ext uri="{FF2B5EF4-FFF2-40B4-BE49-F238E27FC236}">
                <a16:creationId xmlns:a16="http://schemas.microsoft.com/office/drawing/2014/main" id="{F9C854B6-37E5-28FB-212D-2A5183F80A18}"/>
              </a:ext>
            </a:extLst>
          </p:cNvPr>
          <p:cNvPicPr>
            <a:picLocks noChangeAspect="1"/>
          </p:cNvPicPr>
          <p:nvPr/>
        </p:nvPicPr>
        <p:blipFill>
          <a:blip r:embed="rId3"/>
          <a:stretch>
            <a:fillRect/>
          </a:stretch>
        </p:blipFill>
        <p:spPr>
          <a:xfrm>
            <a:off x="3096950" y="2779840"/>
            <a:ext cx="2950099" cy="1530364"/>
          </a:xfrm>
          <a:prstGeom prst="rect">
            <a:avLst/>
          </a:prstGeom>
          <a:ln>
            <a:noFill/>
          </a:ln>
          <a:effectLst>
            <a:outerShdw blurRad="292100" dist="139700" dir="2700000" algn="tl" rotWithShape="0">
              <a:srgbClr val="333333">
                <a:alpha val="65000"/>
              </a:srgbClr>
            </a:outerShdw>
          </a:effectLst>
        </p:spPr>
      </p:pic>
      <p:pic>
        <p:nvPicPr>
          <p:cNvPr id="18" name="図 17" descr="リモコン, コンピュータ, 携帯電話 が含まれている画像&#10;&#10;AI によって生成されたコンテンツは間違っている可能性があります。">
            <a:extLst>
              <a:ext uri="{FF2B5EF4-FFF2-40B4-BE49-F238E27FC236}">
                <a16:creationId xmlns:a16="http://schemas.microsoft.com/office/drawing/2014/main" id="{9CFD8197-35EC-DD6A-0FB4-42B1F395049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00717" y="2779840"/>
            <a:ext cx="2028957" cy="1521718"/>
          </a:xfrm>
          <a:prstGeom prst="rect">
            <a:avLst/>
          </a:prstGeom>
          <a:ln>
            <a:noFill/>
          </a:ln>
          <a:effectLst>
            <a:outerShdw blurRad="292100" dist="139700" dir="2700000" algn="tl" rotWithShape="0">
              <a:srgbClr val="333333">
                <a:alpha val="65000"/>
              </a:srgbClr>
            </a:outerShdw>
          </a:effectLst>
        </p:spPr>
      </p:pic>
      <p:pic>
        <p:nvPicPr>
          <p:cNvPr id="22" name="図 21" descr="テレビのリモコン&#10;&#10;AI によって生成されたコンテンツは間違っている可能性があります。">
            <a:extLst>
              <a:ext uri="{FF2B5EF4-FFF2-40B4-BE49-F238E27FC236}">
                <a16:creationId xmlns:a16="http://schemas.microsoft.com/office/drawing/2014/main" id="{06834B9D-2B56-A1DF-D1D2-21C00EBB588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710271" y="4545613"/>
            <a:ext cx="1937732" cy="1453299"/>
          </a:xfrm>
          <a:prstGeom prst="rect">
            <a:avLst/>
          </a:prstGeom>
          <a:ln>
            <a:noFill/>
          </a:ln>
          <a:effectLst>
            <a:outerShdw blurRad="292100" dist="139700" dir="2700000" algn="tl" rotWithShape="0">
              <a:srgbClr val="333333">
                <a:alpha val="65000"/>
              </a:srgbClr>
            </a:outerShdw>
          </a:effectLst>
        </p:spPr>
      </p:pic>
      <p:pic>
        <p:nvPicPr>
          <p:cNvPr id="23" name="図 22" descr="回路, ケーブル, ブルー, コンピュータ が含まれている画像&#10;&#10;AI によって生成されたコンテンツは間違っている可能性があります。">
            <a:extLst>
              <a:ext uri="{FF2B5EF4-FFF2-40B4-BE49-F238E27FC236}">
                <a16:creationId xmlns:a16="http://schemas.microsoft.com/office/drawing/2014/main" id="{3CC09F6D-F73A-3294-8D79-1B70E2162D3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5250368" y="4549936"/>
            <a:ext cx="2183361" cy="14532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990682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4F04-563F-142A-84A4-2C22F9AD4A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5979EC-15B4-4679-C058-8DB453FA227A}"/>
              </a:ext>
            </a:extLst>
          </p:cNvPr>
          <p:cNvSpPr>
            <a:spLocks noGrp="1"/>
          </p:cNvSpPr>
          <p:nvPr>
            <p:ph type="title"/>
          </p:nvPr>
        </p:nvSpPr>
        <p:spPr/>
        <p:txBody>
          <a:bodyPr>
            <a:normAutofit fontScale="90000"/>
          </a:bodyPr>
          <a:lstStyle/>
          <a:p>
            <a:r>
              <a:rPr kumimoji="1" lang="ja-GB" altLang="en-US" dirty="0"/>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3A7FEBA0-C3FC-07B3-D91D-C0EA3BE1C307}"/>
              </a:ext>
            </a:extLst>
          </p:cNvPr>
          <p:cNvSpPr>
            <a:spLocks noGrp="1"/>
          </p:cNvSpPr>
          <p:nvPr>
            <p:ph idx="1"/>
          </p:nvPr>
        </p:nvSpPr>
        <p:spPr/>
        <p:txBody>
          <a:bodyPr/>
          <a:lstStyle/>
          <a:p>
            <a:pPr marL="0" indent="0">
              <a:buNone/>
            </a:pPr>
            <a:r>
              <a:rPr lang="ja-GB" altLang="en-US" dirty="0"/>
              <a:t>ハードウェアの中で物理的に表現される</a:t>
            </a:r>
            <a:endParaRPr lang="en-US" altLang="ja-GB" dirty="0"/>
          </a:p>
          <a:p>
            <a:pPr marL="457200" lvl="1" indent="0">
              <a:buNone/>
            </a:pPr>
            <a:r>
              <a:rPr lang="ja-GB" altLang="en-US" dirty="0">
                <a:solidFill>
                  <a:schemeClr val="tx1">
                    <a:lumMod val="50000"/>
                    <a:lumOff val="50000"/>
                  </a:schemeClr>
                </a:solidFill>
              </a:rPr>
              <a:t>（計算機の設計によって色々な表現が可能）</a:t>
            </a:r>
            <a:endParaRPr lang="en-US" altLang="ja-GB" dirty="0">
              <a:solidFill>
                <a:schemeClr val="tx1">
                  <a:lumMod val="50000"/>
                  <a:lumOff val="50000"/>
                </a:schemeClr>
              </a:solidFill>
            </a:endParaRPr>
          </a:p>
          <a:p>
            <a:pPr marL="914400" lvl="2"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ENIAC</a:t>
            </a:r>
            <a:r>
              <a:rPr kumimoji="1" lang="ja-GB" altLang="en-US" dirty="0">
                <a:solidFill>
                  <a:schemeClr val="tx1">
                    <a:lumMod val="50000"/>
                    <a:lumOff val="50000"/>
                  </a:schemeClr>
                </a:solidFill>
              </a:rPr>
              <a:t>は</a:t>
            </a:r>
            <a:r>
              <a:rPr kumimoji="1" lang="en-US" altLang="ja-GB" dirty="0">
                <a:solidFill>
                  <a:schemeClr val="tx1">
                    <a:lumMod val="50000"/>
                    <a:lumOff val="50000"/>
                  </a:schemeClr>
                </a:solidFill>
              </a:rPr>
              <a:t>10</a:t>
            </a:r>
            <a:r>
              <a:rPr kumimoji="1" lang="ja-GB" altLang="en-US" dirty="0">
                <a:solidFill>
                  <a:schemeClr val="tx1">
                    <a:lumMod val="50000"/>
                    <a:lumOff val="50000"/>
                  </a:schemeClr>
                </a:solidFill>
              </a:rPr>
              <a:t>進数，アナログ時計は</a:t>
            </a:r>
            <a:r>
              <a:rPr lang="en-US" altLang="ja-GB" dirty="0">
                <a:solidFill>
                  <a:schemeClr val="tx1">
                    <a:lumMod val="50000"/>
                    <a:lumOff val="50000"/>
                  </a:schemeClr>
                </a:solidFill>
              </a:rPr>
              <a:t>12</a:t>
            </a:r>
            <a:r>
              <a:rPr lang="ja-GB" altLang="en-US" dirty="0">
                <a:solidFill>
                  <a:schemeClr val="tx1">
                    <a:lumMod val="50000"/>
                    <a:lumOff val="50000"/>
                  </a:schemeClr>
                </a:solidFill>
              </a:rPr>
              <a:t>進数と</a:t>
            </a:r>
            <a:r>
              <a:rPr lang="en-US" altLang="ja-GB" dirty="0">
                <a:solidFill>
                  <a:schemeClr val="tx1">
                    <a:lumMod val="50000"/>
                    <a:lumOff val="50000"/>
                  </a:schemeClr>
                </a:solidFill>
              </a:rPr>
              <a:t>60</a:t>
            </a:r>
            <a:r>
              <a:rPr lang="ja-GB" altLang="en-US" dirty="0">
                <a:solidFill>
                  <a:schemeClr val="tx1">
                    <a:lumMod val="50000"/>
                    <a:lumOff val="50000"/>
                  </a:schemeClr>
                </a:solidFill>
              </a:rPr>
              <a:t>進数の併用</a:t>
            </a:r>
            <a:endParaRPr lang="en-US" altLang="ja-GB" dirty="0">
              <a:solidFill>
                <a:schemeClr val="tx1">
                  <a:lumMod val="50000"/>
                  <a:lumOff val="50000"/>
                </a:schemeClr>
              </a:solidFill>
            </a:endParaRPr>
          </a:p>
          <a:p>
            <a:pPr marL="457200" lvl="1" indent="0">
              <a:buNone/>
            </a:pPr>
            <a:r>
              <a:rPr kumimoji="1" lang="ja-GB" altLang="en-US" dirty="0">
                <a:solidFill>
                  <a:srgbClr val="2F2523"/>
                </a:solidFill>
              </a:rPr>
              <a:t>現在の電子計算機では，</a:t>
            </a:r>
            <a:r>
              <a:rPr kumimoji="1" lang="en-US" altLang="ja-GB" dirty="0">
                <a:solidFill>
                  <a:srgbClr val="2F2523"/>
                </a:solidFill>
              </a:rPr>
              <a:t>2</a:t>
            </a:r>
            <a:r>
              <a:rPr kumimoji="1" lang="ja-GB" altLang="en-US" dirty="0">
                <a:solidFill>
                  <a:srgbClr val="2F2523"/>
                </a:solidFill>
              </a:rPr>
              <a:t>進数のデジタル表現が標準的</a:t>
            </a:r>
            <a:endParaRPr kumimoji="1" lang="en-US" altLang="ja-GB" dirty="0">
              <a:solidFill>
                <a:srgbClr val="2F2523"/>
              </a:solidFill>
            </a:endParaRPr>
          </a:p>
          <a:p>
            <a:pPr lvl="2"/>
            <a:r>
              <a:rPr lang="ja-GB" altLang="en-US" dirty="0">
                <a:solidFill>
                  <a:srgbClr val="2F2523"/>
                </a:solidFill>
              </a:rPr>
              <a:t>あらゆる情報（数値）は</a:t>
            </a:r>
            <a:r>
              <a:rPr lang="ja-GB" altLang="en-US" dirty="0">
                <a:solidFill>
                  <a:srgbClr val="0070C0"/>
                </a:solidFill>
              </a:rPr>
              <a:t>デジタル化</a:t>
            </a:r>
            <a:r>
              <a:rPr lang="ja-GB" altLang="en-US" dirty="0">
                <a:solidFill>
                  <a:srgbClr val="2F2523"/>
                </a:solidFill>
              </a:rPr>
              <a:t>されて離散的に近似される</a:t>
            </a:r>
            <a:endParaRPr lang="en-US" altLang="ja-GB" dirty="0">
              <a:solidFill>
                <a:srgbClr val="2F2523"/>
              </a:solidFill>
            </a:endParaRPr>
          </a:p>
          <a:p>
            <a:pPr lvl="2"/>
            <a:r>
              <a:rPr lang="ja-GB" altLang="en-US" dirty="0">
                <a:solidFill>
                  <a:srgbClr val="2F2523"/>
                </a:solidFill>
              </a:rPr>
              <a:t>あらゆる情報（数値）は</a:t>
            </a:r>
            <a:r>
              <a:rPr lang="en-US" altLang="ja-GB" dirty="0">
                <a:solidFill>
                  <a:srgbClr val="0070C0"/>
                </a:solidFill>
              </a:rPr>
              <a:t>2</a:t>
            </a:r>
            <a:r>
              <a:rPr lang="ja-GB" altLang="en-US" dirty="0">
                <a:solidFill>
                  <a:srgbClr val="0070C0"/>
                </a:solidFill>
              </a:rPr>
              <a:t>進数で表現</a:t>
            </a:r>
            <a:r>
              <a:rPr lang="ja-GB" altLang="en-US" dirty="0">
                <a:solidFill>
                  <a:srgbClr val="2F2523"/>
                </a:solidFill>
              </a:rPr>
              <a:t>されて</a:t>
            </a:r>
            <a:r>
              <a:rPr lang="en-US" altLang="ja-GB" dirty="0">
                <a:solidFill>
                  <a:srgbClr val="2F2523"/>
                </a:solidFill>
              </a:rPr>
              <a:t>0</a:t>
            </a:r>
            <a:r>
              <a:rPr lang="ja-GB" altLang="en-US" dirty="0">
                <a:solidFill>
                  <a:srgbClr val="2F2523"/>
                </a:solidFill>
              </a:rPr>
              <a:t>と</a:t>
            </a:r>
            <a:r>
              <a:rPr lang="en-US" altLang="ja-GB" dirty="0">
                <a:solidFill>
                  <a:srgbClr val="2F2523"/>
                </a:solidFill>
              </a:rPr>
              <a:t>1</a:t>
            </a:r>
            <a:r>
              <a:rPr lang="ja-GB" altLang="en-US" dirty="0">
                <a:solidFill>
                  <a:srgbClr val="2F2523"/>
                </a:solidFill>
              </a:rPr>
              <a:t>のみで表現される</a:t>
            </a:r>
          </a:p>
          <a:p>
            <a:pPr marL="0" indent="0" algn="ctr">
              <a:buNone/>
            </a:pPr>
            <a:r>
              <a:rPr lang="en-US" altLang="ja-GB" dirty="0">
                <a:solidFill>
                  <a:srgbClr val="2F2523"/>
                </a:solidFill>
              </a:rPr>
              <a:t>↓</a:t>
            </a:r>
          </a:p>
          <a:p>
            <a:pPr marL="0" indent="0" algn="ctr">
              <a:buNone/>
            </a:pPr>
            <a:r>
              <a:rPr kumimoji="1" lang="ja-GB" altLang="en-US" dirty="0">
                <a:solidFill>
                  <a:schemeClr val="accent2"/>
                </a:solidFill>
              </a:rPr>
              <a:t>デジタルとは何か</a:t>
            </a:r>
            <a:r>
              <a:rPr lang="ja-GB" altLang="en-US" dirty="0">
                <a:solidFill>
                  <a:schemeClr val="accent2"/>
                </a:solidFill>
              </a:rPr>
              <a:t>？</a:t>
            </a:r>
            <a:endParaRPr kumimoji="1" lang="en-US" altLang="ja-GB" dirty="0">
              <a:solidFill>
                <a:schemeClr val="accent2"/>
              </a:solidFill>
            </a:endParaRPr>
          </a:p>
          <a:p>
            <a:pPr marL="0" indent="0" algn="ctr">
              <a:buNone/>
            </a:pPr>
            <a:r>
              <a:rPr kumimoji="1" lang="en-US" altLang="ja-GB" dirty="0">
                <a:solidFill>
                  <a:schemeClr val="tx1">
                    <a:lumMod val="50000"/>
                    <a:lumOff val="50000"/>
                  </a:schemeClr>
                </a:solidFill>
              </a:rPr>
              <a:t>2</a:t>
            </a:r>
            <a:r>
              <a:rPr kumimoji="1" lang="ja-GB" altLang="en-US" dirty="0">
                <a:solidFill>
                  <a:schemeClr val="tx1">
                    <a:lumMod val="50000"/>
                    <a:lumOff val="50000"/>
                  </a:schemeClr>
                </a:solidFill>
              </a:rPr>
              <a:t>進数とは何か</a:t>
            </a:r>
            <a:r>
              <a:rPr lang="ja-GB" altLang="en-US" dirty="0">
                <a:solidFill>
                  <a:schemeClr val="tx1">
                    <a:lumMod val="50000"/>
                    <a:lumOff val="50000"/>
                  </a:schemeClr>
                </a:solidFill>
              </a:rPr>
              <a:t>？</a:t>
            </a:r>
            <a:endParaRPr kumimoji="1" lang="ja-GB" altLang="en-US" dirty="0">
              <a:solidFill>
                <a:schemeClr val="tx1">
                  <a:lumMod val="50000"/>
                  <a:lumOff val="50000"/>
                </a:schemeClr>
              </a:solidFill>
            </a:endParaRPr>
          </a:p>
        </p:txBody>
      </p:sp>
    </p:spTree>
    <p:extLst>
      <p:ext uri="{BB962C8B-B14F-4D97-AF65-F5344CB8AC3E}">
        <p14:creationId xmlns:p14="http://schemas.microsoft.com/office/powerpoint/2010/main" val="1244106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0D71-BE7C-F89F-7918-C68D8F55C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848F22-C00B-36C3-4BAF-B3D1B641B5DA}"/>
              </a:ext>
            </a:extLst>
          </p:cNvPr>
          <p:cNvSpPr>
            <a:spLocks noGrp="1"/>
          </p:cNvSpPr>
          <p:nvPr>
            <p:ph type="title"/>
          </p:nvPr>
        </p:nvSpPr>
        <p:spPr/>
        <p:txBody>
          <a:bodyPr/>
          <a:lstStyle/>
          <a:p>
            <a:r>
              <a:rPr lang="ja-GB" altLang="en-US" dirty="0"/>
              <a:t>アナログとデジタル</a:t>
            </a:r>
            <a:endParaRPr kumimoji="1" lang="ja-GB" altLang="en-US" dirty="0"/>
          </a:p>
        </p:txBody>
      </p:sp>
      <p:sp>
        <p:nvSpPr>
          <p:cNvPr id="3" name="コンテンツ プレースホルダー 2">
            <a:extLst>
              <a:ext uri="{FF2B5EF4-FFF2-40B4-BE49-F238E27FC236}">
                <a16:creationId xmlns:a16="http://schemas.microsoft.com/office/drawing/2014/main" id="{DB1F49B2-0B5F-03DC-A43B-5D92E5BFE351}"/>
              </a:ext>
            </a:extLst>
          </p:cNvPr>
          <p:cNvSpPr>
            <a:spLocks noGrp="1"/>
          </p:cNvSpPr>
          <p:nvPr>
            <p:ph idx="1"/>
          </p:nvPr>
        </p:nvSpPr>
        <p:spPr/>
        <p:txBody>
          <a:bodyPr/>
          <a:lstStyle/>
          <a:p>
            <a:pPr marL="0" indent="0">
              <a:buNone/>
            </a:pPr>
            <a:r>
              <a:rPr kumimoji="1" lang="ja-GB" altLang="en-US" dirty="0"/>
              <a:t>パソコンやスマホ，ゲーム機，電卓などは全て</a:t>
            </a:r>
            <a:r>
              <a:rPr lang="ja-GB" altLang="en-US" dirty="0"/>
              <a:t>「</a:t>
            </a:r>
            <a:r>
              <a:rPr kumimoji="1" lang="ja-GB" altLang="en-US" dirty="0"/>
              <a:t>デジタル」な計算機</a:t>
            </a:r>
            <a:endParaRPr kumimoji="1" lang="en-US" altLang="ja-GB" dirty="0"/>
          </a:p>
          <a:p>
            <a:pPr marL="457200" lvl="1" indent="0">
              <a:buNone/>
            </a:pPr>
            <a:r>
              <a:rPr kumimoji="1" lang="ja-GB" altLang="en-US" dirty="0">
                <a:solidFill>
                  <a:srgbClr val="0070C0"/>
                </a:solidFill>
              </a:rPr>
              <a:t>デジタル：数字式</a:t>
            </a:r>
            <a:endParaRPr kumimoji="1" lang="en-US" altLang="ja-GB" dirty="0">
              <a:solidFill>
                <a:srgbClr val="0070C0"/>
              </a:solidFill>
            </a:endParaRPr>
          </a:p>
          <a:p>
            <a:pPr lvl="2"/>
            <a:r>
              <a:rPr lang="en-US" altLang="ja-GB" dirty="0"/>
              <a:t>dig</a:t>
            </a:r>
            <a:r>
              <a:rPr kumimoji="1" lang="en-US" altLang="ja-GB" dirty="0"/>
              <a:t>it + al</a:t>
            </a:r>
            <a:r>
              <a:rPr kumimoji="1" lang="ja-GB" altLang="en-US" dirty="0"/>
              <a:t>：数字</a:t>
            </a:r>
            <a:r>
              <a:rPr lang="ja-GB" altLang="en-US" dirty="0"/>
              <a:t>の</a:t>
            </a:r>
            <a:r>
              <a:rPr kumimoji="1" lang="en-US" altLang="ja-GB" dirty="0"/>
              <a:t>+</a:t>
            </a:r>
            <a:r>
              <a:rPr kumimoji="1" lang="ja-GB" altLang="en-US" dirty="0"/>
              <a:t>方式</a:t>
            </a:r>
            <a:endParaRPr kumimoji="1" lang="en-US" altLang="ja-GB" dirty="0"/>
          </a:p>
          <a:p>
            <a:pPr lvl="2"/>
            <a:r>
              <a:rPr lang="ja-GB" altLang="en-US" dirty="0"/>
              <a:t>物理量を</a:t>
            </a:r>
            <a:r>
              <a:rPr lang="ja-GB" altLang="en-US" dirty="0">
                <a:solidFill>
                  <a:schemeClr val="accent2"/>
                </a:solidFill>
              </a:rPr>
              <a:t>数字</a:t>
            </a:r>
            <a:r>
              <a:rPr lang="ja-GB" altLang="en-US" dirty="0"/>
              <a:t>で記述</a:t>
            </a:r>
            <a:endParaRPr lang="en-US" altLang="ja-GB" dirty="0"/>
          </a:p>
          <a:p>
            <a:pPr lvl="3"/>
            <a:r>
              <a:rPr kumimoji="1" lang="ja-GB" altLang="en-US" dirty="0"/>
              <a:t>結び目の数，デジタル温度計，チャットなど</a:t>
            </a:r>
            <a:endParaRPr kumimoji="1" lang="en-US" altLang="ja-GB" dirty="0"/>
          </a:p>
          <a:p>
            <a:pPr lvl="2"/>
            <a:endParaRPr kumimoji="1" lang="en-US" altLang="ja-GB" dirty="0"/>
          </a:p>
          <a:p>
            <a:pPr marL="457200" lvl="1" indent="0">
              <a:buNone/>
            </a:pPr>
            <a:r>
              <a:rPr lang="ja-GB" altLang="en-US" dirty="0">
                <a:solidFill>
                  <a:srgbClr val="0070C0"/>
                </a:solidFill>
              </a:rPr>
              <a:t>アナログ：相似式</a:t>
            </a:r>
            <a:endParaRPr lang="en-US" altLang="ja-GB" dirty="0">
              <a:solidFill>
                <a:srgbClr val="0070C0"/>
              </a:solidFill>
            </a:endParaRPr>
          </a:p>
          <a:p>
            <a:pPr lvl="2"/>
            <a:r>
              <a:rPr lang="en-US" altLang="ja-GB" dirty="0"/>
              <a:t>analog</a:t>
            </a:r>
            <a:r>
              <a:rPr lang="ja-GB" altLang="en-US" dirty="0"/>
              <a:t>：語源は</a:t>
            </a:r>
            <a:r>
              <a:rPr lang="en-US" altLang="ja-GB" dirty="0"/>
              <a:t>a</a:t>
            </a:r>
            <a:r>
              <a:rPr kumimoji="1" lang="en-US" altLang="ja-GB" dirty="0"/>
              <a:t>nalogy</a:t>
            </a:r>
            <a:r>
              <a:rPr kumimoji="1" lang="ja-GB" altLang="en-US" dirty="0"/>
              <a:t>（類似・相似）</a:t>
            </a:r>
            <a:endParaRPr kumimoji="1" lang="en-US" altLang="ja-GB" dirty="0"/>
          </a:p>
          <a:p>
            <a:pPr lvl="2"/>
            <a:r>
              <a:rPr lang="ja-GB" altLang="en-US" dirty="0"/>
              <a:t>物理量を別の</a:t>
            </a:r>
            <a:r>
              <a:rPr lang="ja-GB" altLang="en-US" dirty="0">
                <a:solidFill>
                  <a:schemeClr val="accent2"/>
                </a:solidFill>
              </a:rPr>
              <a:t>物理量との対応</a:t>
            </a:r>
            <a:r>
              <a:rPr lang="ja-GB" altLang="en-US" dirty="0"/>
              <a:t>で表現</a:t>
            </a:r>
            <a:endParaRPr lang="en-US" altLang="ja-GB" dirty="0"/>
          </a:p>
          <a:p>
            <a:pPr lvl="3"/>
            <a:r>
              <a:rPr kumimoji="1" lang="ja-GB" altLang="en-US" dirty="0"/>
              <a:t>紐の長さ，水銀温度計，糸電話など</a:t>
            </a:r>
            <a:endParaRPr kumimoji="1" lang="en-US" altLang="ja-GB" dirty="0"/>
          </a:p>
          <a:p>
            <a:pPr lvl="2"/>
            <a:endParaRPr lang="en-US" altLang="ja-GB" dirty="0"/>
          </a:p>
          <a:p>
            <a:pPr marL="457200" lvl="1" indent="0">
              <a:buNone/>
            </a:pPr>
            <a:r>
              <a:rPr kumimoji="1" lang="ja-GB" altLang="en-US" dirty="0">
                <a:solidFill>
                  <a:schemeClr val="accent2"/>
                </a:solidFill>
              </a:rPr>
              <a:t>デジタルは情報を完全に表現できないが，ノイズに強くて伝達しやすい</a:t>
            </a:r>
            <a:endParaRPr kumimoji="1" lang="en-US" altLang="ja-GB" dirty="0">
              <a:solidFill>
                <a:schemeClr val="accent2"/>
              </a:solidFill>
            </a:endParaRPr>
          </a:p>
          <a:p>
            <a:pPr lvl="2"/>
            <a:r>
              <a:rPr lang="ja-GB" altLang="en-US" dirty="0"/>
              <a:t>量を正しく</a:t>
            </a:r>
            <a:r>
              <a:rPr kumimoji="1" lang="ja-GB" altLang="en-US" dirty="0"/>
              <a:t>表すには無限桁の数値が必要</a:t>
            </a:r>
            <a:endParaRPr kumimoji="1" lang="en-US" altLang="ja-GB" dirty="0"/>
          </a:p>
          <a:p>
            <a:pPr lvl="2"/>
            <a:r>
              <a:rPr lang="ja-GB" altLang="en-US" dirty="0"/>
              <a:t>数値は量よりも</a:t>
            </a:r>
            <a:r>
              <a:rPr lang="en-US" altLang="ja-GB" dirty="0"/>
              <a:t>“</a:t>
            </a:r>
            <a:r>
              <a:rPr lang="ja-GB" altLang="en-US" dirty="0"/>
              <a:t>伝達ミス</a:t>
            </a:r>
            <a:r>
              <a:rPr lang="en-US" altLang="ja-GB" dirty="0"/>
              <a:t>”</a:t>
            </a:r>
            <a:r>
              <a:rPr lang="ja-GB" altLang="en-US" dirty="0"/>
              <a:t>が起きにくい</a:t>
            </a:r>
            <a:endParaRPr kumimoji="1" lang="en-US" altLang="ja-GB" dirty="0"/>
          </a:p>
          <a:p>
            <a:pPr marL="1371600" lvl="3" indent="0">
              <a:buNone/>
            </a:pPr>
            <a:r>
              <a:rPr kumimoji="1" lang="ja-GB" altLang="en-US" dirty="0"/>
              <a:t>例</a:t>
            </a:r>
            <a:r>
              <a:rPr kumimoji="1" lang="en-US" altLang="ja-GB" dirty="0"/>
              <a:t>1</a:t>
            </a:r>
            <a:r>
              <a:rPr lang="ja-GB" altLang="en-US" dirty="0"/>
              <a:t>）</a:t>
            </a:r>
            <a:r>
              <a:rPr kumimoji="1" lang="ja-GB" altLang="en-US" dirty="0"/>
              <a:t>水銀温度計の結果を</a:t>
            </a:r>
            <a:r>
              <a:rPr lang="en-US" altLang="ja-GB" dirty="0"/>
              <a:t>“</a:t>
            </a:r>
            <a:r>
              <a:rPr kumimoji="1" lang="ja-GB" altLang="en-US" dirty="0"/>
              <a:t>正しく</a:t>
            </a:r>
            <a:r>
              <a:rPr kumimoji="1" lang="en-US" altLang="ja-GB" dirty="0"/>
              <a:t>”</a:t>
            </a:r>
            <a:r>
              <a:rPr kumimoji="1" lang="ja-GB" altLang="en-US" dirty="0"/>
              <a:t>伝えることは難しいが，数値を伝えるのは簡単</a:t>
            </a:r>
            <a:endParaRPr kumimoji="1" lang="en-US" altLang="ja-GB" dirty="0"/>
          </a:p>
          <a:p>
            <a:pPr marL="1371600" lvl="3" indent="0">
              <a:buNone/>
            </a:pPr>
            <a:r>
              <a:rPr lang="ja-GB" altLang="en-US" dirty="0"/>
              <a:t>例</a:t>
            </a:r>
            <a:r>
              <a:rPr lang="en-US" altLang="ja-GB" dirty="0"/>
              <a:t>2</a:t>
            </a:r>
            <a:r>
              <a:rPr lang="ja-GB" altLang="en-US" dirty="0"/>
              <a:t>）紐の長さを正確に伝えることは難しいが，結び目の数を伝えるのは簡単</a:t>
            </a:r>
            <a:endParaRPr kumimoji="1" lang="ja-GB" altLang="en-US" dirty="0"/>
          </a:p>
        </p:txBody>
      </p:sp>
    </p:spTree>
    <p:extLst>
      <p:ext uri="{BB962C8B-B14F-4D97-AF65-F5344CB8AC3E}">
        <p14:creationId xmlns:p14="http://schemas.microsoft.com/office/powerpoint/2010/main" val="92715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5BA253-F099-CF84-C860-8FAE90C9BED0}"/>
              </a:ext>
            </a:extLst>
          </p:cNvPr>
          <p:cNvSpPr>
            <a:spLocks noGrp="1"/>
          </p:cNvSpPr>
          <p:nvPr>
            <p:ph type="title"/>
          </p:nvPr>
        </p:nvSpPr>
        <p:spPr/>
        <p:txBody>
          <a:bodyPr/>
          <a:lstStyle/>
          <a:p>
            <a:r>
              <a:rPr kumimoji="1" lang="ja-GB" altLang="en-US" dirty="0"/>
              <a:t>デジタル符号化の例：音声</a:t>
            </a:r>
          </a:p>
        </p:txBody>
      </p:sp>
      <p:sp>
        <p:nvSpPr>
          <p:cNvPr id="3" name="コンテンツ プレースホルダー 2">
            <a:extLst>
              <a:ext uri="{FF2B5EF4-FFF2-40B4-BE49-F238E27FC236}">
                <a16:creationId xmlns:a16="http://schemas.microsoft.com/office/drawing/2014/main" id="{4F55FD0A-40FB-5727-7628-E21EEA7375BB}"/>
              </a:ext>
            </a:extLst>
          </p:cNvPr>
          <p:cNvSpPr>
            <a:spLocks noGrp="1"/>
          </p:cNvSpPr>
          <p:nvPr>
            <p:ph idx="1"/>
          </p:nvPr>
        </p:nvSpPr>
        <p:spPr/>
        <p:txBody>
          <a:bodyPr/>
          <a:lstStyle/>
          <a:p>
            <a:pPr marL="0" indent="0">
              <a:buNone/>
            </a:pPr>
            <a:r>
              <a:rPr kumimoji="1" lang="ja-GB" altLang="en-US" dirty="0"/>
              <a:t>縦横に適当な間隔で区切り，棒状にすることで波形を数列に変換</a:t>
            </a:r>
          </a:p>
        </p:txBody>
      </p:sp>
      <p:pic>
        <p:nvPicPr>
          <p:cNvPr id="4" name="図 3" descr="グラフ, 折れ線グラフ&#10;&#10;AI によって生成されたコンテンツは間違っている可能性があります。">
            <a:extLst>
              <a:ext uri="{FF2B5EF4-FFF2-40B4-BE49-F238E27FC236}">
                <a16:creationId xmlns:a16="http://schemas.microsoft.com/office/drawing/2014/main" id="{A71921D1-A185-08DE-4382-8E9FCCA2536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95783" y="1595742"/>
            <a:ext cx="4832268" cy="1932907"/>
          </a:xfrm>
          <a:prstGeom prst="rect">
            <a:avLst/>
          </a:prstGeom>
        </p:spPr>
      </p:pic>
      <p:pic>
        <p:nvPicPr>
          <p:cNvPr id="7" name="図 6">
            <a:extLst>
              <a:ext uri="{FF2B5EF4-FFF2-40B4-BE49-F238E27FC236}">
                <a16:creationId xmlns:a16="http://schemas.microsoft.com/office/drawing/2014/main" id="{DFB72791-8B58-00C1-8A8E-A60B5EC612B7}"/>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314325" y="4990096"/>
            <a:ext cx="8687062" cy="544323"/>
          </a:xfrm>
          <a:prstGeom prst="rect">
            <a:avLst/>
          </a:prstGeom>
        </p:spPr>
      </p:pic>
      <p:cxnSp>
        <p:nvCxnSpPr>
          <p:cNvPr id="9" name="直線コネクタ 8">
            <a:extLst>
              <a:ext uri="{FF2B5EF4-FFF2-40B4-BE49-F238E27FC236}">
                <a16:creationId xmlns:a16="http://schemas.microsoft.com/office/drawing/2014/main" id="{3C9D03F8-7FD9-2A24-5FF3-B78840124B83}"/>
              </a:ext>
            </a:extLst>
          </p:cNvPr>
          <p:cNvCxnSpPr>
            <a:cxnSpLocks/>
          </p:cNvCxnSpPr>
          <p:nvPr/>
        </p:nvCxnSpPr>
        <p:spPr>
          <a:xfrm flipH="1">
            <a:off x="904775" y="2416629"/>
            <a:ext cx="1172219" cy="2573467"/>
          </a:xfrm>
          <a:prstGeom prst="line">
            <a:avLst/>
          </a:prstGeom>
          <a:ln w="19050">
            <a:solidFill>
              <a:schemeClr val="accent6">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F1D42DC-2273-6AFE-ADFC-60CF5ECC2085}"/>
              </a:ext>
            </a:extLst>
          </p:cNvPr>
          <p:cNvCxnSpPr>
            <a:cxnSpLocks/>
          </p:cNvCxnSpPr>
          <p:nvPr/>
        </p:nvCxnSpPr>
        <p:spPr>
          <a:xfrm>
            <a:off x="2365930" y="2097365"/>
            <a:ext cx="386895" cy="2892731"/>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16DB887B-A821-D121-D0FA-BB16FD699EA8}"/>
              </a:ext>
            </a:extLst>
          </p:cNvPr>
          <p:cNvCxnSpPr>
            <a:cxnSpLocks/>
          </p:cNvCxnSpPr>
          <p:nvPr/>
        </p:nvCxnSpPr>
        <p:spPr>
          <a:xfrm>
            <a:off x="2471088" y="2052604"/>
            <a:ext cx="1124181" cy="2937492"/>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704C2A82-DE18-90CB-08B4-62A4F079FACA}"/>
              </a:ext>
            </a:extLst>
          </p:cNvPr>
          <p:cNvCxnSpPr>
            <a:cxnSpLocks/>
          </p:cNvCxnSpPr>
          <p:nvPr/>
        </p:nvCxnSpPr>
        <p:spPr>
          <a:xfrm>
            <a:off x="3004819" y="1867904"/>
            <a:ext cx="4314240" cy="3122192"/>
          </a:xfrm>
          <a:prstGeom prst="line">
            <a:avLst/>
          </a:prstGeom>
          <a:ln w="22225">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円/楕円 5">
            <a:extLst>
              <a:ext uri="{FF2B5EF4-FFF2-40B4-BE49-F238E27FC236}">
                <a16:creationId xmlns:a16="http://schemas.microsoft.com/office/drawing/2014/main" id="{78578813-5A98-5008-3894-CAE1C2FAB524}"/>
              </a:ext>
            </a:extLst>
          </p:cNvPr>
          <p:cNvSpPr>
            <a:spLocks noChangeAspect="1"/>
          </p:cNvSpPr>
          <p:nvPr/>
        </p:nvSpPr>
        <p:spPr>
          <a:xfrm flipH="1">
            <a:off x="2023656" y="2371489"/>
            <a:ext cx="90280" cy="9028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Tree>
    <p:extLst>
      <p:ext uri="{BB962C8B-B14F-4D97-AF65-F5344CB8AC3E}">
        <p14:creationId xmlns:p14="http://schemas.microsoft.com/office/powerpoint/2010/main" val="24421501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CB8E-D852-84E7-FC4B-5E24E2744F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926B61-5406-E1B0-BA17-D5D9A6E609C6}"/>
              </a:ext>
            </a:extLst>
          </p:cNvPr>
          <p:cNvSpPr>
            <a:spLocks noGrp="1"/>
          </p:cNvSpPr>
          <p:nvPr>
            <p:ph type="title"/>
          </p:nvPr>
        </p:nvSpPr>
        <p:spPr/>
        <p:txBody>
          <a:bodyPr>
            <a:normAutofit fontScale="90000"/>
          </a:bodyPr>
          <a:lstStyle/>
          <a:p>
            <a:r>
              <a:rPr kumimoji="1" lang="ja-GB" altLang="en-US" dirty="0"/>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7E31D50E-D166-A773-6352-EC014A859B84}"/>
              </a:ext>
            </a:extLst>
          </p:cNvPr>
          <p:cNvSpPr>
            <a:spLocks noGrp="1"/>
          </p:cNvSpPr>
          <p:nvPr>
            <p:ph idx="1"/>
          </p:nvPr>
        </p:nvSpPr>
        <p:spPr/>
        <p:txBody>
          <a:bodyPr/>
          <a:lstStyle/>
          <a:p>
            <a:pPr marL="0" indent="0">
              <a:buNone/>
            </a:pPr>
            <a:r>
              <a:rPr lang="ja-GB" altLang="en-US" dirty="0"/>
              <a:t>ハードウェアの中で物理的に表現される</a:t>
            </a:r>
            <a:endParaRPr lang="en-US" altLang="ja-GB" dirty="0"/>
          </a:p>
          <a:p>
            <a:pPr marL="457200" lvl="1" indent="0">
              <a:buNone/>
            </a:pPr>
            <a:r>
              <a:rPr lang="ja-GB" altLang="en-US" dirty="0">
                <a:solidFill>
                  <a:schemeClr val="bg1">
                    <a:lumMod val="75000"/>
                  </a:schemeClr>
                </a:solidFill>
              </a:rPr>
              <a:t>（計算機の設計によって色々な表現が可能）</a:t>
            </a:r>
            <a:endParaRPr lang="en-US" altLang="ja-GB" dirty="0">
              <a:solidFill>
                <a:schemeClr val="bg1">
                  <a:lumMod val="75000"/>
                </a:schemeClr>
              </a:solidFill>
            </a:endParaRPr>
          </a:p>
          <a:p>
            <a:pPr marL="914400" lvl="2" indent="0">
              <a:buNone/>
            </a:pPr>
            <a:r>
              <a:rPr kumimoji="1" lang="ja-GB" altLang="en-US" dirty="0">
                <a:solidFill>
                  <a:schemeClr val="bg1">
                    <a:lumMod val="75000"/>
                  </a:schemeClr>
                </a:solidFill>
              </a:rPr>
              <a:t>例：</a:t>
            </a:r>
            <a:r>
              <a:rPr kumimoji="1" lang="en-US" altLang="ja-GB" dirty="0">
                <a:solidFill>
                  <a:schemeClr val="bg1">
                    <a:lumMod val="75000"/>
                  </a:schemeClr>
                </a:solidFill>
              </a:rPr>
              <a:t>ENIAC</a:t>
            </a:r>
            <a:r>
              <a:rPr kumimoji="1" lang="ja-GB" altLang="en-US" dirty="0">
                <a:solidFill>
                  <a:schemeClr val="bg1">
                    <a:lumMod val="75000"/>
                  </a:schemeClr>
                </a:solidFill>
              </a:rPr>
              <a:t>は</a:t>
            </a:r>
            <a:r>
              <a:rPr kumimoji="1" lang="en-US" altLang="ja-GB" dirty="0">
                <a:solidFill>
                  <a:schemeClr val="bg1">
                    <a:lumMod val="75000"/>
                  </a:schemeClr>
                </a:solidFill>
              </a:rPr>
              <a:t>10</a:t>
            </a:r>
            <a:r>
              <a:rPr kumimoji="1" lang="ja-GB" altLang="en-US" dirty="0">
                <a:solidFill>
                  <a:schemeClr val="bg1">
                    <a:lumMod val="75000"/>
                  </a:schemeClr>
                </a:solidFill>
              </a:rPr>
              <a:t>進数，アナログ時計は</a:t>
            </a:r>
            <a:r>
              <a:rPr lang="en-US" altLang="ja-GB" dirty="0">
                <a:solidFill>
                  <a:schemeClr val="bg1">
                    <a:lumMod val="75000"/>
                  </a:schemeClr>
                </a:solidFill>
              </a:rPr>
              <a:t>12</a:t>
            </a:r>
            <a:r>
              <a:rPr lang="ja-GB" altLang="en-US" dirty="0">
                <a:solidFill>
                  <a:schemeClr val="bg1">
                    <a:lumMod val="75000"/>
                  </a:schemeClr>
                </a:solidFill>
              </a:rPr>
              <a:t>進数と</a:t>
            </a:r>
            <a:r>
              <a:rPr lang="en-US" altLang="ja-GB" dirty="0">
                <a:solidFill>
                  <a:schemeClr val="bg1">
                    <a:lumMod val="75000"/>
                  </a:schemeClr>
                </a:solidFill>
              </a:rPr>
              <a:t>60</a:t>
            </a:r>
            <a:r>
              <a:rPr lang="ja-GB" altLang="en-US" dirty="0">
                <a:solidFill>
                  <a:schemeClr val="bg1">
                    <a:lumMod val="75000"/>
                  </a:schemeClr>
                </a:solidFill>
              </a:rPr>
              <a:t>進数の併用</a:t>
            </a:r>
            <a:endParaRPr lang="en-US" altLang="ja-GB" dirty="0">
              <a:solidFill>
                <a:schemeClr val="bg1">
                  <a:lumMod val="75000"/>
                </a:schemeClr>
              </a:solidFill>
            </a:endParaRPr>
          </a:p>
          <a:p>
            <a:pPr marL="457200" lvl="1" indent="0">
              <a:buNone/>
            </a:pPr>
            <a:r>
              <a:rPr kumimoji="1" lang="ja-GB" altLang="en-US" dirty="0">
                <a:solidFill>
                  <a:srgbClr val="2F2523"/>
                </a:solidFill>
              </a:rPr>
              <a:t>現在の電子計算機では，</a:t>
            </a:r>
            <a:r>
              <a:rPr kumimoji="1" lang="en-US" altLang="ja-GB" dirty="0">
                <a:solidFill>
                  <a:srgbClr val="2F2523"/>
                </a:solidFill>
              </a:rPr>
              <a:t>2</a:t>
            </a:r>
            <a:r>
              <a:rPr kumimoji="1" lang="ja-GB" altLang="en-US" dirty="0">
                <a:solidFill>
                  <a:srgbClr val="2F2523"/>
                </a:solidFill>
              </a:rPr>
              <a:t>進数のデジタル表現が標準的</a:t>
            </a:r>
            <a:endParaRPr kumimoji="1" lang="en-US" altLang="ja-GB" dirty="0">
              <a:solidFill>
                <a:srgbClr val="2F2523"/>
              </a:solidFill>
            </a:endParaRPr>
          </a:p>
          <a:p>
            <a:pPr lvl="2"/>
            <a:r>
              <a:rPr lang="ja-GB" altLang="en-US" dirty="0">
                <a:solidFill>
                  <a:schemeClr val="tx1">
                    <a:lumMod val="65000"/>
                    <a:lumOff val="35000"/>
                  </a:schemeClr>
                </a:solidFill>
              </a:rPr>
              <a:t>あらゆる情報（数値）はデジタル化されて離散的に近似される</a:t>
            </a:r>
            <a:endParaRPr lang="en-US" altLang="ja-GB" dirty="0">
              <a:solidFill>
                <a:schemeClr val="tx1">
                  <a:lumMod val="65000"/>
                  <a:lumOff val="35000"/>
                </a:schemeClr>
              </a:solidFill>
            </a:endParaRPr>
          </a:p>
          <a:p>
            <a:pPr lvl="2"/>
            <a:r>
              <a:rPr lang="ja-GB" altLang="en-US" dirty="0">
                <a:solidFill>
                  <a:schemeClr val="tx1">
                    <a:lumMod val="65000"/>
                    <a:lumOff val="35000"/>
                  </a:schemeClr>
                </a:solidFill>
              </a:rPr>
              <a:t>あらゆる情報（数値）は</a:t>
            </a:r>
            <a:r>
              <a:rPr lang="en-US" altLang="ja-GB" dirty="0">
                <a:solidFill>
                  <a:schemeClr val="tx1">
                    <a:lumMod val="65000"/>
                    <a:lumOff val="35000"/>
                  </a:schemeClr>
                </a:solidFill>
              </a:rPr>
              <a:t>2</a:t>
            </a:r>
            <a:r>
              <a:rPr lang="ja-GB" altLang="en-US" dirty="0">
                <a:solidFill>
                  <a:schemeClr val="tx1">
                    <a:lumMod val="65000"/>
                    <a:lumOff val="35000"/>
                  </a:schemeClr>
                </a:solidFill>
              </a:rPr>
              <a:t>進数で表現されて</a:t>
            </a:r>
            <a:r>
              <a:rPr lang="en-US" altLang="ja-GB" dirty="0">
                <a:solidFill>
                  <a:schemeClr val="tx1">
                    <a:lumMod val="65000"/>
                    <a:lumOff val="35000"/>
                  </a:schemeClr>
                </a:solidFill>
              </a:rPr>
              <a:t>0</a:t>
            </a:r>
            <a:r>
              <a:rPr lang="ja-GB" altLang="en-US" dirty="0">
                <a:solidFill>
                  <a:schemeClr val="tx1">
                    <a:lumMod val="65000"/>
                    <a:lumOff val="35000"/>
                  </a:schemeClr>
                </a:solidFill>
              </a:rPr>
              <a:t>と</a:t>
            </a:r>
            <a:r>
              <a:rPr lang="en-US" altLang="ja-GB" dirty="0">
                <a:solidFill>
                  <a:schemeClr val="tx1">
                    <a:lumMod val="65000"/>
                    <a:lumOff val="35000"/>
                  </a:schemeClr>
                </a:solidFill>
              </a:rPr>
              <a:t>1</a:t>
            </a:r>
            <a:r>
              <a:rPr lang="ja-GB" altLang="en-US" dirty="0">
                <a:solidFill>
                  <a:schemeClr val="tx1">
                    <a:lumMod val="65000"/>
                    <a:lumOff val="35000"/>
                  </a:schemeClr>
                </a:solidFill>
              </a:rPr>
              <a:t>のみで表現される</a:t>
            </a:r>
          </a:p>
          <a:p>
            <a:pPr marL="0" indent="0" algn="ctr">
              <a:buNone/>
            </a:pPr>
            <a:r>
              <a:rPr lang="en-US" altLang="ja-GB" dirty="0">
                <a:solidFill>
                  <a:srgbClr val="2F2523"/>
                </a:solidFill>
              </a:rPr>
              <a:t>↓</a:t>
            </a:r>
          </a:p>
          <a:p>
            <a:pPr marL="0" indent="0" algn="ctr">
              <a:buNone/>
            </a:pPr>
            <a:r>
              <a:rPr kumimoji="1" lang="ja-GB" altLang="en-US" dirty="0">
                <a:solidFill>
                  <a:schemeClr val="tx1">
                    <a:lumMod val="65000"/>
                    <a:lumOff val="35000"/>
                  </a:schemeClr>
                </a:solidFill>
              </a:rPr>
              <a:t>デジタル：情報を数値で表現すること</a:t>
            </a:r>
            <a:endParaRPr kumimoji="1" lang="en-US" altLang="ja-GB" dirty="0">
              <a:solidFill>
                <a:schemeClr val="tx1">
                  <a:lumMod val="65000"/>
                  <a:lumOff val="35000"/>
                </a:schemeClr>
              </a:solidFill>
            </a:endParaRPr>
          </a:p>
          <a:p>
            <a:pPr marL="0" indent="0" algn="ctr">
              <a:buNone/>
            </a:pPr>
            <a:r>
              <a:rPr kumimoji="1" lang="en-US" altLang="ja-GB" dirty="0">
                <a:solidFill>
                  <a:schemeClr val="accent2"/>
                </a:solidFill>
              </a:rPr>
              <a:t>2</a:t>
            </a:r>
            <a:r>
              <a:rPr kumimoji="1" lang="ja-GB" altLang="en-US" dirty="0">
                <a:solidFill>
                  <a:schemeClr val="accent2"/>
                </a:solidFill>
              </a:rPr>
              <a:t>進数とは何か</a:t>
            </a:r>
            <a:r>
              <a:rPr lang="ja-GB" altLang="en-US" dirty="0">
                <a:solidFill>
                  <a:schemeClr val="accent2"/>
                </a:solidFill>
              </a:rPr>
              <a:t>？</a:t>
            </a:r>
            <a:endParaRPr kumimoji="1" lang="ja-GB" altLang="en-US" dirty="0">
              <a:solidFill>
                <a:schemeClr val="accent2"/>
              </a:solidFill>
            </a:endParaRPr>
          </a:p>
        </p:txBody>
      </p:sp>
    </p:spTree>
    <p:extLst>
      <p:ext uri="{BB962C8B-B14F-4D97-AF65-F5344CB8AC3E}">
        <p14:creationId xmlns:p14="http://schemas.microsoft.com/office/powerpoint/2010/main" val="1674130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2797D-F10E-299A-5F07-3C2D6AF81A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641AB9-6488-22E5-409E-656D1684BF50}"/>
              </a:ext>
            </a:extLst>
          </p:cNvPr>
          <p:cNvSpPr>
            <a:spLocks noGrp="1"/>
          </p:cNvSpPr>
          <p:nvPr>
            <p:ph type="title"/>
          </p:nvPr>
        </p:nvSpPr>
        <p:spPr/>
        <p:txBody>
          <a:bodyPr/>
          <a:lstStyle/>
          <a:p>
            <a:r>
              <a:rPr kumimoji="1" lang="en-US" altLang="ja-GB" dirty="0"/>
              <a:t>2</a:t>
            </a:r>
            <a:r>
              <a:rPr lang="ja-GB" altLang="en-US" dirty="0"/>
              <a:t>進数</a:t>
            </a:r>
            <a:endParaRPr kumimoji="1" lang="ja-GB" altLang="en-US" dirty="0"/>
          </a:p>
        </p:txBody>
      </p:sp>
      <p:sp>
        <p:nvSpPr>
          <p:cNvPr id="3" name="コンテンツ プレースホルダー 2">
            <a:extLst>
              <a:ext uri="{FF2B5EF4-FFF2-40B4-BE49-F238E27FC236}">
                <a16:creationId xmlns:a16="http://schemas.microsoft.com/office/drawing/2014/main" id="{F1B69D75-B8A8-BF7F-1184-95A23844A86D}"/>
              </a:ext>
            </a:extLst>
          </p:cNvPr>
          <p:cNvSpPr>
            <a:spLocks noGrp="1"/>
          </p:cNvSpPr>
          <p:nvPr>
            <p:ph idx="1"/>
          </p:nvPr>
        </p:nvSpPr>
        <p:spPr/>
        <p:txBody>
          <a:bodyPr/>
          <a:lstStyle/>
          <a:p>
            <a:pPr marL="0" indent="0">
              <a:buNone/>
            </a:pPr>
            <a:r>
              <a:rPr kumimoji="1" lang="ja-GB" altLang="en-US" dirty="0"/>
              <a:t>通常の計算機は情報（</a:t>
            </a:r>
            <a:r>
              <a:rPr kumimoji="1" lang="en-US" altLang="ja-GB" dirty="0"/>
              <a:t>=</a:t>
            </a:r>
            <a:r>
              <a:rPr kumimoji="1" lang="ja-GB" altLang="en-US" dirty="0"/>
              <a:t>数値）を</a:t>
            </a:r>
            <a:r>
              <a:rPr kumimoji="1" lang="en-US" altLang="ja-GB" dirty="0"/>
              <a:t>”0”</a:t>
            </a:r>
            <a:r>
              <a:rPr kumimoji="1" lang="ja-GB" altLang="en-US" dirty="0"/>
              <a:t>と</a:t>
            </a:r>
            <a:r>
              <a:rPr kumimoji="1" lang="en-US" altLang="ja-GB" dirty="0"/>
              <a:t>”1”</a:t>
            </a:r>
            <a:r>
              <a:rPr kumimoji="1" lang="ja-GB" altLang="en-US" dirty="0"/>
              <a:t>で表現する</a:t>
            </a:r>
            <a:endParaRPr lang="en-US" altLang="ja-GB" dirty="0"/>
          </a:p>
          <a:p>
            <a:pPr marL="457200" lvl="1" indent="0">
              <a:buNone/>
            </a:pPr>
            <a:r>
              <a:rPr kumimoji="1" lang="en-US" altLang="ja-GB" dirty="0">
                <a:solidFill>
                  <a:srgbClr val="2F2523"/>
                </a:solidFill>
              </a:rPr>
              <a:t>10</a:t>
            </a:r>
            <a:r>
              <a:rPr kumimoji="1" lang="ja-GB" altLang="en-US" dirty="0">
                <a:solidFill>
                  <a:srgbClr val="2F2523"/>
                </a:solidFill>
              </a:rPr>
              <a:t>進数：</a:t>
            </a:r>
            <a:r>
              <a:rPr kumimoji="1" lang="en-US" altLang="ja-GB" dirty="0">
                <a:solidFill>
                  <a:srgbClr val="2F2523"/>
                </a:solidFill>
              </a:rPr>
              <a:t>10</a:t>
            </a:r>
            <a:r>
              <a:rPr kumimoji="1" lang="ja-GB" altLang="en-US" dirty="0">
                <a:solidFill>
                  <a:srgbClr val="2F2523"/>
                </a:solidFill>
              </a:rPr>
              <a:t>種類の数字を用いて</a:t>
            </a:r>
            <a:r>
              <a:rPr lang="ja-GB" altLang="en-US" dirty="0">
                <a:solidFill>
                  <a:srgbClr val="2F2523"/>
                </a:solidFill>
              </a:rPr>
              <a:t>，</a:t>
            </a:r>
            <a:r>
              <a:rPr lang="en-US" altLang="ja-GB" dirty="0">
                <a:solidFill>
                  <a:srgbClr val="2F2523"/>
                </a:solidFill>
              </a:rPr>
              <a:t>10</a:t>
            </a:r>
            <a:r>
              <a:rPr lang="ja-GB" altLang="en-US" dirty="0">
                <a:solidFill>
                  <a:srgbClr val="2F2523"/>
                </a:solidFill>
              </a:rPr>
              <a:t>ごとに桁が上がる</a:t>
            </a:r>
            <a:endParaRPr lang="en-US" altLang="ja-GB" dirty="0">
              <a:solidFill>
                <a:srgbClr val="2F2523"/>
              </a:solidFill>
            </a:endParaRPr>
          </a:p>
          <a:p>
            <a:pPr marL="457200" lvl="1" indent="0">
              <a:buNone/>
            </a:pPr>
            <a:r>
              <a:rPr kumimoji="1" lang="en-US" altLang="ja-GB" dirty="0">
                <a:solidFill>
                  <a:srgbClr val="2F2523"/>
                </a:solidFill>
              </a:rPr>
              <a:t>2</a:t>
            </a:r>
            <a:r>
              <a:rPr kumimoji="1" lang="ja-GB" altLang="en-US" dirty="0">
                <a:solidFill>
                  <a:srgbClr val="2F2523"/>
                </a:solidFill>
              </a:rPr>
              <a:t>進数：</a:t>
            </a:r>
            <a:r>
              <a:rPr kumimoji="1" lang="en-US" altLang="ja-GB" dirty="0">
                <a:solidFill>
                  <a:srgbClr val="2F2523"/>
                </a:solidFill>
              </a:rPr>
              <a:t>2</a:t>
            </a:r>
            <a:r>
              <a:rPr kumimoji="1" lang="ja-GB" altLang="en-US" dirty="0">
                <a:solidFill>
                  <a:srgbClr val="2F2523"/>
                </a:solidFill>
              </a:rPr>
              <a:t>種類の数字を用いて，</a:t>
            </a:r>
            <a:r>
              <a:rPr kumimoji="1" lang="en-US" altLang="ja-GB" dirty="0">
                <a:solidFill>
                  <a:srgbClr val="2F2523"/>
                </a:solidFill>
              </a:rPr>
              <a:t>2</a:t>
            </a:r>
            <a:r>
              <a:rPr kumimoji="1" lang="ja-GB" altLang="en-US" dirty="0">
                <a:solidFill>
                  <a:srgbClr val="2F2523"/>
                </a:solidFill>
              </a:rPr>
              <a:t>ごとに桁が上がる</a:t>
            </a:r>
            <a:endParaRPr kumimoji="1" lang="en-US" altLang="ja-GB" dirty="0">
              <a:solidFill>
                <a:srgbClr val="2F2523"/>
              </a:solidFill>
            </a:endParaRPr>
          </a:p>
          <a:p>
            <a:pPr lvl="1"/>
            <a:endParaRPr kumimoji="1" lang="en-US" altLang="ja-GB" dirty="0"/>
          </a:p>
          <a:p>
            <a:pPr lvl="2"/>
            <a:endParaRPr kumimoji="1" lang="en-US" altLang="ja-GB" dirty="0"/>
          </a:p>
          <a:p>
            <a:pPr lvl="2"/>
            <a:endParaRPr lang="en-US" altLang="ja-GB" dirty="0"/>
          </a:p>
          <a:p>
            <a:pPr lvl="2"/>
            <a:endParaRPr kumimoji="1" lang="en-US" altLang="ja-GB" dirty="0"/>
          </a:p>
          <a:p>
            <a:pPr marL="457200" lvl="1" indent="0">
              <a:buNone/>
            </a:pPr>
            <a:r>
              <a:rPr lang="en-US" altLang="ja-GB" dirty="0">
                <a:solidFill>
                  <a:srgbClr val="0070C0"/>
                </a:solidFill>
              </a:rPr>
              <a:t>2</a:t>
            </a:r>
            <a:r>
              <a:rPr lang="ja-GB" altLang="en-US" dirty="0">
                <a:solidFill>
                  <a:srgbClr val="0070C0"/>
                </a:solidFill>
              </a:rPr>
              <a:t>進数は機械の仕組みとして表現しやすい</a:t>
            </a:r>
            <a:endParaRPr lang="en-US" altLang="ja-GB" dirty="0">
              <a:solidFill>
                <a:srgbClr val="0070C0"/>
              </a:solidFill>
            </a:endParaRPr>
          </a:p>
          <a:p>
            <a:pPr lvl="2"/>
            <a:r>
              <a:rPr lang="ja-GB" altLang="en-US" dirty="0"/>
              <a:t>スイッチ：オン</a:t>
            </a:r>
            <a:r>
              <a:rPr lang="en-US" altLang="ja-GB" dirty="0"/>
              <a:t>(1)</a:t>
            </a:r>
            <a:r>
              <a:rPr lang="ja-GB" altLang="en-US" dirty="0"/>
              <a:t>，オフ</a:t>
            </a:r>
            <a:r>
              <a:rPr lang="en-US" altLang="ja-GB" dirty="0"/>
              <a:t>(0)</a:t>
            </a:r>
          </a:p>
          <a:p>
            <a:pPr lvl="2"/>
            <a:r>
              <a:rPr lang="ja-GB" altLang="en-US" dirty="0"/>
              <a:t>電圧：高い</a:t>
            </a:r>
            <a:r>
              <a:rPr lang="en-US" altLang="ja-GB" dirty="0"/>
              <a:t>(1)</a:t>
            </a:r>
            <a:r>
              <a:rPr lang="ja-GB" altLang="en-US" dirty="0"/>
              <a:t>，低い</a:t>
            </a:r>
            <a:r>
              <a:rPr lang="en-US" altLang="ja-GB" dirty="0"/>
              <a:t>(0)</a:t>
            </a:r>
          </a:p>
          <a:p>
            <a:pPr lvl="1"/>
            <a:endParaRPr kumimoji="1" lang="en-US" altLang="ja-GB" dirty="0"/>
          </a:p>
          <a:p>
            <a:pPr lvl="1"/>
            <a:endParaRPr kumimoji="1" lang="ja-GB" altLang="en-US" dirty="0"/>
          </a:p>
        </p:txBody>
      </p:sp>
      <p:graphicFrame>
        <p:nvGraphicFramePr>
          <p:cNvPr id="5" name="表 4">
            <a:extLst>
              <a:ext uri="{FF2B5EF4-FFF2-40B4-BE49-F238E27FC236}">
                <a16:creationId xmlns:a16="http://schemas.microsoft.com/office/drawing/2014/main" id="{DFF6E4F8-DAC6-517D-5C61-18FF6A290001}"/>
              </a:ext>
            </a:extLst>
          </p:cNvPr>
          <p:cNvGraphicFramePr>
            <a:graphicFrameLocks noGrp="1"/>
          </p:cNvGraphicFramePr>
          <p:nvPr/>
        </p:nvGraphicFramePr>
        <p:xfrm>
          <a:off x="713343" y="2178273"/>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dirty="0">
                          <a:solidFill>
                            <a:srgbClr val="2F2523"/>
                          </a:solidFill>
                        </a:rPr>
                        <a:t>10</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2</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3</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4</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5</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6</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7</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8</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9</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dirty="0">
                          <a:solidFill>
                            <a:srgbClr val="2F2523"/>
                          </a:solidFill>
                        </a:rPr>
                        <a:t>2</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pic>
        <p:nvPicPr>
          <p:cNvPr id="7" name="図 6">
            <a:extLst>
              <a:ext uri="{FF2B5EF4-FFF2-40B4-BE49-F238E27FC236}">
                <a16:creationId xmlns:a16="http://schemas.microsoft.com/office/drawing/2014/main" id="{D3738C25-ED8B-B6F8-0ED6-5FE019E2561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1777" y="4625171"/>
            <a:ext cx="4212940" cy="1378064"/>
          </a:xfrm>
          <a:prstGeom prst="rect">
            <a:avLst/>
          </a:prstGeom>
          <a:ln>
            <a:noFill/>
          </a:ln>
          <a:effectLst>
            <a:outerShdw blurRad="292100" dist="139700" dir="2700000" algn="tl" rotWithShape="0">
              <a:srgbClr val="333333">
                <a:alpha val="65000"/>
              </a:srgbClr>
            </a:outerShdw>
          </a:effectLst>
        </p:spPr>
      </p:pic>
      <p:sp>
        <p:nvSpPr>
          <p:cNvPr id="8" name="テキスト ボックス 7">
            <a:extLst>
              <a:ext uri="{FF2B5EF4-FFF2-40B4-BE49-F238E27FC236}">
                <a16:creationId xmlns:a16="http://schemas.microsoft.com/office/drawing/2014/main" id="{F3650BFF-4DD5-5C3D-E6DC-FC782B0DF74B}"/>
              </a:ext>
            </a:extLst>
          </p:cNvPr>
          <p:cNvSpPr txBox="1"/>
          <p:nvPr/>
        </p:nvSpPr>
        <p:spPr>
          <a:xfrm>
            <a:off x="949160" y="6167139"/>
            <a:ext cx="2698176" cy="523220"/>
          </a:xfrm>
          <a:prstGeom prst="rect">
            <a:avLst/>
          </a:prstGeom>
          <a:noFill/>
        </p:spPr>
        <p:txBody>
          <a:bodyPr wrap="none" rtlCol="0">
            <a:spAutoFit/>
          </a:bodyPr>
          <a:lstStyle/>
          <a:p>
            <a:pPr algn="ctr"/>
            <a:r>
              <a:rPr kumimoji="1" lang="ja-GB" altLang="en-US" sz="1400" dirty="0"/>
              <a:t>電圧による数値表現のイメージ</a:t>
            </a:r>
            <a:endParaRPr kumimoji="1" lang="en-US" altLang="ja-GB" sz="1400" dirty="0"/>
          </a:p>
          <a:p>
            <a:pPr algn="ctr"/>
            <a:r>
              <a:rPr kumimoji="1" lang="en-US" altLang="ja-GB" sz="1400" b="1" dirty="0"/>
              <a:t>(2</a:t>
            </a:r>
            <a:r>
              <a:rPr kumimoji="1" lang="ja-GB" altLang="en-US" sz="1400" b="1" dirty="0"/>
              <a:t>進数</a:t>
            </a:r>
            <a:r>
              <a:rPr kumimoji="1" lang="en-US" altLang="ja-GB" sz="1400" b="1" dirty="0"/>
              <a:t>)</a:t>
            </a:r>
            <a:endParaRPr kumimoji="1" lang="ja-GB" altLang="en-US" sz="1400" b="1" dirty="0"/>
          </a:p>
        </p:txBody>
      </p:sp>
      <p:pic>
        <p:nvPicPr>
          <p:cNvPr id="10" name="図 9" descr="グラフ, 棒グラフ&#10;&#10;AI によって生成されたコンテンツは間違っている可能性があります。">
            <a:extLst>
              <a:ext uri="{FF2B5EF4-FFF2-40B4-BE49-F238E27FC236}">
                <a16:creationId xmlns:a16="http://schemas.microsoft.com/office/drawing/2014/main" id="{5794A84C-2B89-ABA2-F899-99E0C6C6174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61470" y="4625171"/>
            <a:ext cx="4212940" cy="1378064"/>
          </a:xfrm>
          <a:prstGeom prst="rect">
            <a:avLst/>
          </a:prstGeom>
          <a:ln>
            <a:noFill/>
          </a:ln>
          <a:effectLst>
            <a:outerShdw blurRad="292100" dist="139700" dir="2700000" algn="tl" rotWithShape="0">
              <a:srgbClr val="333333">
                <a:alpha val="65000"/>
              </a:srgbClr>
            </a:outerShdw>
          </a:effectLst>
        </p:spPr>
      </p:pic>
      <p:sp>
        <p:nvSpPr>
          <p:cNvPr id="11" name="テキスト ボックス 10">
            <a:extLst>
              <a:ext uri="{FF2B5EF4-FFF2-40B4-BE49-F238E27FC236}">
                <a16:creationId xmlns:a16="http://schemas.microsoft.com/office/drawing/2014/main" id="{A50237F1-D770-38B3-7666-5E04CF9B27D1}"/>
              </a:ext>
            </a:extLst>
          </p:cNvPr>
          <p:cNvSpPr txBox="1"/>
          <p:nvPr/>
        </p:nvSpPr>
        <p:spPr>
          <a:xfrm>
            <a:off x="5418853" y="6167139"/>
            <a:ext cx="2698176" cy="523220"/>
          </a:xfrm>
          <a:prstGeom prst="rect">
            <a:avLst/>
          </a:prstGeom>
          <a:noFill/>
        </p:spPr>
        <p:txBody>
          <a:bodyPr wrap="none" rtlCol="0">
            <a:spAutoFit/>
          </a:bodyPr>
          <a:lstStyle/>
          <a:p>
            <a:pPr algn="ctr"/>
            <a:r>
              <a:rPr kumimoji="1" lang="ja-GB" altLang="en-US" sz="1400" dirty="0"/>
              <a:t>電圧による数値表現のイメージ</a:t>
            </a:r>
            <a:endParaRPr kumimoji="1" lang="en-US" altLang="ja-GB" sz="1400" dirty="0"/>
          </a:p>
          <a:p>
            <a:pPr algn="ctr"/>
            <a:r>
              <a:rPr kumimoji="1" lang="en-US" altLang="ja-GB" sz="1400" b="1" dirty="0"/>
              <a:t>(10</a:t>
            </a:r>
            <a:r>
              <a:rPr kumimoji="1" lang="ja-GB" altLang="en-US" sz="1400" b="1" dirty="0"/>
              <a:t>進数</a:t>
            </a:r>
            <a:r>
              <a:rPr kumimoji="1" lang="en-US" altLang="ja-GB" sz="1400" b="1" dirty="0"/>
              <a:t>)</a:t>
            </a:r>
            <a:endParaRPr kumimoji="1" lang="ja-GB" altLang="en-US" sz="1400" b="1" dirty="0"/>
          </a:p>
        </p:txBody>
      </p:sp>
    </p:spTree>
    <p:extLst>
      <p:ext uri="{BB962C8B-B14F-4D97-AF65-F5344CB8AC3E}">
        <p14:creationId xmlns:p14="http://schemas.microsoft.com/office/powerpoint/2010/main" val="328263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B372-AAA1-EAA7-82DE-C0A4E9D402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E55392-5557-CC76-832F-6E2932980213}"/>
              </a:ext>
            </a:extLst>
          </p:cNvPr>
          <p:cNvSpPr>
            <a:spLocks noGrp="1"/>
          </p:cNvSpPr>
          <p:nvPr>
            <p:ph type="title"/>
          </p:nvPr>
        </p:nvSpPr>
        <p:spPr/>
        <p:txBody>
          <a:bodyPr/>
          <a:lstStyle/>
          <a:p>
            <a:r>
              <a:rPr kumimoji="1" lang="ja-GB" altLang="en-US" dirty="0"/>
              <a:t>デジタル電子計算機と</a:t>
            </a:r>
            <a:r>
              <a:rPr kumimoji="1" lang="en-US" altLang="ja-GB" dirty="0"/>
              <a:t>2</a:t>
            </a:r>
            <a:r>
              <a:rPr kumimoji="1" lang="ja-GB" altLang="en-US" dirty="0"/>
              <a:t>進数表現</a:t>
            </a:r>
          </a:p>
        </p:txBody>
      </p:sp>
      <p:sp>
        <p:nvSpPr>
          <p:cNvPr id="3" name="コンテンツ プレースホルダー 2">
            <a:extLst>
              <a:ext uri="{FF2B5EF4-FFF2-40B4-BE49-F238E27FC236}">
                <a16:creationId xmlns:a16="http://schemas.microsoft.com/office/drawing/2014/main" id="{24EE98C6-3BF1-D44B-9586-9616CD3EBF89}"/>
              </a:ext>
            </a:extLst>
          </p:cNvPr>
          <p:cNvSpPr>
            <a:spLocks noGrp="1"/>
          </p:cNvSpPr>
          <p:nvPr>
            <p:ph idx="1"/>
          </p:nvPr>
        </p:nvSpPr>
        <p:spPr/>
        <p:txBody>
          <a:bodyPr>
            <a:normAutofit/>
          </a:bodyPr>
          <a:lstStyle/>
          <a:p>
            <a:pPr marL="0" indent="0">
              <a:buNone/>
            </a:pPr>
            <a:r>
              <a:rPr lang="ja-GB" altLang="en-US" sz="2000" dirty="0"/>
              <a:t>微細な電圧スイッチで</a:t>
            </a:r>
            <a:r>
              <a:rPr lang="en-US" altLang="ja-GB" sz="2000" dirty="0"/>
              <a:t>0</a:t>
            </a:r>
            <a:r>
              <a:rPr lang="ja-GB" altLang="en-US" sz="2000" dirty="0"/>
              <a:t>と</a:t>
            </a:r>
            <a:r>
              <a:rPr lang="en-US" altLang="ja-GB" sz="2000" dirty="0"/>
              <a:t>1</a:t>
            </a:r>
            <a:r>
              <a:rPr lang="ja-GB" altLang="en-US" sz="2000" dirty="0"/>
              <a:t>を表現</a:t>
            </a:r>
            <a:endParaRPr kumimoji="1" lang="en-US" altLang="ja-GB" sz="2000" dirty="0"/>
          </a:p>
          <a:p>
            <a:pPr marL="457200" lvl="1" indent="0">
              <a:buNone/>
            </a:pPr>
            <a:r>
              <a:rPr kumimoji="1" lang="ja-GB" altLang="en-US" sz="1800" dirty="0">
                <a:solidFill>
                  <a:srgbClr val="0070C0"/>
                </a:solidFill>
              </a:rPr>
              <a:t>半導体：導体（電気を通す）と絶縁体（通さない）の中間的な物質</a:t>
            </a:r>
            <a:endParaRPr kumimoji="1" lang="en-US" altLang="ja-GB" sz="1800" dirty="0">
              <a:solidFill>
                <a:srgbClr val="0070C0"/>
              </a:solidFill>
            </a:endParaRPr>
          </a:p>
          <a:p>
            <a:pPr lvl="2"/>
            <a:r>
              <a:rPr lang="ja-GB" altLang="en-US" sz="1600" dirty="0">
                <a:solidFill>
                  <a:srgbClr val="2F2523"/>
                </a:solidFill>
              </a:rPr>
              <a:t>電気抵抗が導体と絶縁体の中間程度の物質</a:t>
            </a:r>
            <a:endParaRPr lang="en-US" altLang="ja-GB" sz="1600" dirty="0">
              <a:solidFill>
                <a:srgbClr val="2F2523"/>
              </a:solidFill>
            </a:endParaRPr>
          </a:p>
          <a:p>
            <a:pPr lvl="3"/>
            <a:r>
              <a:rPr lang="ja-GB" altLang="en-US" sz="1400" dirty="0">
                <a:solidFill>
                  <a:srgbClr val="2F2523"/>
                </a:solidFill>
              </a:rPr>
              <a:t>例：シリコン，ゲルマニウム</a:t>
            </a:r>
            <a:endParaRPr lang="en-US" altLang="ja-GB" sz="1400" dirty="0">
              <a:solidFill>
                <a:srgbClr val="2F2523"/>
              </a:solidFill>
            </a:endParaRPr>
          </a:p>
          <a:p>
            <a:pPr lvl="2"/>
            <a:r>
              <a:rPr kumimoji="1" lang="ja-GB" altLang="en-US" sz="1600" dirty="0">
                <a:solidFill>
                  <a:srgbClr val="2F2523"/>
                </a:solidFill>
              </a:rPr>
              <a:t>不純物や外部刺激の有無によって，電気を通したり通さなかったりする</a:t>
            </a:r>
            <a:endParaRPr lang="en-US" altLang="ja-GB" sz="1600" dirty="0">
              <a:solidFill>
                <a:srgbClr val="2F2523"/>
              </a:solidFill>
            </a:endParaRPr>
          </a:p>
          <a:p>
            <a:pPr marL="1371600" lvl="3" indent="0">
              <a:buNone/>
            </a:pPr>
            <a:r>
              <a:rPr lang="en-US" altLang="ja-GB" sz="1400" dirty="0">
                <a:solidFill>
                  <a:srgbClr val="2F2523"/>
                </a:solidFill>
              </a:rPr>
              <a:t>→ </a:t>
            </a:r>
            <a:r>
              <a:rPr lang="ja-GB" altLang="en-US" sz="1400" dirty="0">
                <a:solidFill>
                  <a:srgbClr val="2F2523"/>
                </a:solidFill>
              </a:rPr>
              <a:t>スイッチとして</a:t>
            </a:r>
            <a:r>
              <a:rPr lang="en-US" altLang="ja-GB" sz="1400" dirty="0">
                <a:solidFill>
                  <a:srgbClr val="2F2523"/>
                </a:solidFill>
              </a:rPr>
              <a:t>0/1</a:t>
            </a:r>
            <a:r>
              <a:rPr lang="ja-GB" altLang="en-US" sz="1400" dirty="0">
                <a:solidFill>
                  <a:srgbClr val="2F2523"/>
                </a:solidFill>
              </a:rPr>
              <a:t>を表現可能</a:t>
            </a:r>
            <a:endParaRPr lang="en-US" altLang="ja-GB" sz="1400" dirty="0">
              <a:solidFill>
                <a:srgbClr val="2F2523"/>
              </a:solidFill>
            </a:endParaRPr>
          </a:p>
          <a:p>
            <a:pPr lvl="2"/>
            <a:endParaRPr lang="en-US" altLang="ja-GB" sz="1600" dirty="0"/>
          </a:p>
          <a:p>
            <a:pPr marL="457200" lvl="1" indent="0">
              <a:buNone/>
            </a:pPr>
            <a:r>
              <a:rPr kumimoji="1" lang="en-US" altLang="ja-GB" sz="1800" dirty="0">
                <a:solidFill>
                  <a:srgbClr val="0070C0"/>
                </a:solidFill>
              </a:rPr>
              <a:t>IC</a:t>
            </a:r>
            <a:r>
              <a:rPr kumimoji="1" lang="ja-GB" altLang="en-US" sz="1800" dirty="0">
                <a:solidFill>
                  <a:srgbClr val="0070C0"/>
                </a:solidFill>
              </a:rPr>
              <a:t>チップ：大量のスイッチを並べた装置（集積回路，</a:t>
            </a:r>
            <a:r>
              <a:rPr kumimoji="1" lang="en-US" altLang="ja-GB" sz="1800" dirty="0">
                <a:solidFill>
                  <a:srgbClr val="0070C0"/>
                </a:solidFill>
              </a:rPr>
              <a:t>Integrated Circuit</a:t>
            </a:r>
            <a:r>
              <a:rPr kumimoji="1" lang="ja-GB" altLang="en-US" sz="1800" dirty="0">
                <a:solidFill>
                  <a:srgbClr val="0070C0"/>
                </a:solidFill>
              </a:rPr>
              <a:t>）</a:t>
            </a:r>
            <a:endParaRPr kumimoji="1" lang="en-US" altLang="ja-GB" sz="1800" dirty="0">
              <a:solidFill>
                <a:srgbClr val="0070C0"/>
              </a:solidFill>
            </a:endParaRPr>
          </a:p>
          <a:p>
            <a:pPr lvl="2"/>
            <a:r>
              <a:rPr kumimoji="1" lang="ja-GB" altLang="en-US" sz="1600" dirty="0"/>
              <a:t>微細な半導体装置を大量に並べたデバイス</a:t>
            </a:r>
            <a:endParaRPr kumimoji="1" lang="en-US" altLang="ja-GB" sz="1600" dirty="0"/>
          </a:p>
          <a:p>
            <a:pPr lvl="2"/>
            <a:r>
              <a:rPr lang="ja-GB" altLang="en-US" sz="1600" dirty="0"/>
              <a:t>各半導体装置は電気信号の「遮断</a:t>
            </a:r>
            <a:r>
              <a:rPr lang="en-US" altLang="ja-GB" sz="1600" dirty="0"/>
              <a:t> or </a:t>
            </a:r>
            <a:r>
              <a:rPr lang="ja-GB" altLang="en-US" sz="1600" dirty="0"/>
              <a:t>通過」で「</a:t>
            </a:r>
            <a:r>
              <a:rPr lang="en-US" altLang="ja-GB" sz="1600" dirty="0"/>
              <a:t>0 or 1</a:t>
            </a:r>
            <a:r>
              <a:rPr lang="ja-GB" altLang="en-US" sz="1600" dirty="0"/>
              <a:t>」を表現</a:t>
            </a:r>
            <a:endParaRPr lang="en-US" altLang="ja-GB" sz="1600" dirty="0"/>
          </a:p>
          <a:p>
            <a:pPr lvl="2"/>
            <a:endParaRPr kumimoji="1" lang="ja-GB" altLang="en-US" sz="1600" dirty="0"/>
          </a:p>
        </p:txBody>
      </p:sp>
      <p:sp>
        <p:nvSpPr>
          <p:cNvPr id="8" name="テキスト ボックス 7">
            <a:extLst>
              <a:ext uri="{FF2B5EF4-FFF2-40B4-BE49-F238E27FC236}">
                <a16:creationId xmlns:a16="http://schemas.microsoft.com/office/drawing/2014/main" id="{D771939E-3695-50FE-86CF-B564F03943A3}"/>
              </a:ext>
            </a:extLst>
          </p:cNvPr>
          <p:cNvSpPr txBox="1"/>
          <p:nvPr/>
        </p:nvSpPr>
        <p:spPr>
          <a:xfrm>
            <a:off x="1460550" y="6312945"/>
            <a:ext cx="5302734" cy="461665"/>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左：シリコン単結晶のインゴット</a:t>
            </a:r>
            <a:endParaRPr kumimoji="1" lang="en-US" altLang="ja-GB" sz="1200" b="1" dirty="0">
              <a:solidFill>
                <a:schemeClr val="tx1">
                  <a:lumMod val="50000"/>
                  <a:lumOff val="50000"/>
                </a:schemeClr>
              </a:solidFill>
            </a:endParaRPr>
          </a:p>
          <a:p>
            <a:pPr algn="ctr"/>
            <a:r>
              <a:rPr kumimoji="1" lang="en-GB" altLang="ja-GB" sz="1200" b="1" dirty="0">
                <a:solidFill>
                  <a:schemeClr val="tx1">
                    <a:lumMod val="50000"/>
                    <a:lumOff val="50000"/>
                  </a:schemeClr>
                </a:solidFill>
              </a:rPr>
              <a:t>CC </a:t>
            </a:r>
            <a:r>
              <a:rPr kumimoji="1" lang="ja-JP" altLang="en-US" sz="1200" b="1">
                <a:solidFill>
                  <a:schemeClr val="tx1">
                    <a:lumMod val="50000"/>
                    <a:lumOff val="50000"/>
                  </a:schemeClr>
                </a:solidFill>
              </a:rPr>
              <a:t>表示</a:t>
            </a:r>
            <a:r>
              <a:rPr kumimoji="1" lang="en-US" altLang="ja-JP" sz="1200" b="1" dirty="0">
                <a:solidFill>
                  <a:schemeClr val="tx1">
                    <a:lumMod val="50000"/>
                    <a:lumOff val="50000"/>
                  </a:schemeClr>
                </a:solidFill>
              </a:rPr>
              <a:t>-</a:t>
            </a:r>
            <a:r>
              <a:rPr kumimoji="1" lang="ja-JP" altLang="en-US" sz="1200" b="1">
                <a:solidFill>
                  <a:schemeClr val="tx1">
                    <a:lumMod val="50000"/>
                    <a:lumOff val="50000"/>
                  </a:schemeClr>
                </a:solidFill>
              </a:rPr>
              <a:t>継承 </a:t>
            </a:r>
            <a:r>
              <a:rPr kumimoji="1" lang="en-US" altLang="ja-JP" sz="1200" b="1" dirty="0">
                <a:solidFill>
                  <a:schemeClr val="tx1">
                    <a:lumMod val="50000"/>
                    <a:lumOff val="50000"/>
                  </a:schemeClr>
                </a:solidFill>
              </a:rPr>
              <a:t>3.0, </a:t>
            </a:r>
            <a:r>
              <a:rPr kumimoji="1" lang="en-GB" altLang="ja-GB" sz="1200" b="1"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https://commons.wikimedia.org/w/index.php?curid=314282</a:t>
            </a:r>
            <a:r>
              <a:rPr kumimoji="1" lang="en-GB" altLang="ja-GB" sz="1200" b="1" dirty="0">
                <a:solidFill>
                  <a:schemeClr val="tx1">
                    <a:lumMod val="50000"/>
                    <a:lumOff val="50000"/>
                  </a:schemeClr>
                </a:solidFill>
              </a:rPr>
              <a:t> </a:t>
            </a:r>
            <a:endParaRPr kumimoji="1" lang="ja-GB" altLang="en-US" sz="1200" b="1" dirty="0">
              <a:solidFill>
                <a:schemeClr val="tx1">
                  <a:lumMod val="50000"/>
                  <a:lumOff val="50000"/>
                </a:schemeClr>
              </a:solidFill>
            </a:endParaRPr>
          </a:p>
        </p:txBody>
      </p:sp>
      <p:grpSp>
        <p:nvGrpSpPr>
          <p:cNvPr id="11" name="グループ化 10">
            <a:extLst>
              <a:ext uri="{FF2B5EF4-FFF2-40B4-BE49-F238E27FC236}">
                <a16:creationId xmlns:a16="http://schemas.microsoft.com/office/drawing/2014/main" id="{E588D220-01D1-F65D-6957-D375650B3AAD}"/>
              </a:ext>
            </a:extLst>
          </p:cNvPr>
          <p:cNvGrpSpPr/>
          <p:nvPr/>
        </p:nvGrpSpPr>
        <p:grpSpPr>
          <a:xfrm>
            <a:off x="582033" y="4091457"/>
            <a:ext cx="7979934" cy="2025942"/>
            <a:chOff x="1045050" y="4030497"/>
            <a:chExt cx="7979934" cy="2025942"/>
          </a:xfrm>
        </p:grpSpPr>
        <p:pic>
          <p:nvPicPr>
            <p:cNvPr id="5" name="図 4" descr="電子機器, 回路 が含まれている画像&#10;&#10;AI によって生成されたコンテンツは間違っている可能性があります。">
              <a:extLst>
                <a:ext uri="{FF2B5EF4-FFF2-40B4-BE49-F238E27FC236}">
                  <a16:creationId xmlns:a16="http://schemas.microsoft.com/office/drawing/2014/main" id="{159B3C4E-3A9E-DDE7-7771-1A48ECAFB63C}"/>
                </a:ext>
              </a:extLst>
            </p:cNvPr>
            <p:cNvPicPr>
              <a:picLocks noChangeAspect="1"/>
            </p:cNvPicPr>
            <p:nvPr/>
          </p:nvPicPr>
          <p:blipFill>
            <a:blip r:embed="rId3"/>
            <a:stretch>
              <a:fillRect/>
            </a:stretch>
          </p:blipFill>
          <p:spPr>
            <a:xfrm>
              <a:off x="5981316" y="4030497"/>
              <a:ext cx="3043668" cy="2025942"/>
            </a:xfrm>
            <a:prstGeom prst="rect">
              <a:avLst/>
            </a:prstGeom>
            <a:ln>
              <a:noFill/>
            </a:ln>
            <a:effectLst>
              <a:outerShdw blurRad="292100" dist="139700" dir="2700000" algn="tl" rotWithShape="0">
                <a:srgbClr val="333333">
                  <a:alpha val="65000"/>
                </a:srgbClr>
              </a:outerShdw>
            </a:effectLst>
          </p:spPr>
        </p:pic>
        <p:pic>
          <p:nvPicPr>
            <p:cNvPr id="7" name="図 6" descr="屋内, 人, 座る, テーブル が含まれている画像&#10;&#10;AI によって生成されたコンテンツは間違っている可能性があります。">
              <a:extLst>
                <a:ext uri="{FF2B5EF4-FFF2-40B4-BE49-F238E27FC236}">
                  <a16:creationId xmlns:a16="http://schemas.microsoft.com/office/drawing/2014/main" id="{A20DF834-3673-962B-0515-749F6898A841}"/>
                </a:ext>
              </a:extLst>
            </p:cNvPr>
            <p:cNvPicPr>
              <a:picLocks noChangeAspect="1"/>
            </p:cNvPicPr>
            <p:nvPr/>
          </p:nvPicPr>
          <p:blipFill>
            <a:blip r:embed="rId4"/>
            <a:stretch>
              <a:fillRect/>
            </a:stretch>
          </p:blipFill>
          <p:spPr>
            <a:xfrm>
              <a:off x="2577416" y="4030497"/>
              <a:ext cx="3043669" cy="2025942"/>
            </a:xfrm>
            <a:prstGeom prst="rect">
              <a:avLst/>
            </a:prstGeom>
            <a:ln>
              <a:noFill/>
            </a:ln>
            <a:effectLst>
              <a:outerShdw blurRad="292100" dist="139700" dir="2700000" algn="tl" rotWithShape="0">
                <a:srgbClr val="333333">
                  <a:alpha val="65000"/>
                </a:srgbClr>
              </a:outerShdw>
            </a:effectLst>
          </p:spPr>
        </p:pic>
        <p:pic>
          <p:nvPicPr>
            <p:cNvPr id="10" name="図 9" descr="ガラスの瓶&#10;&#10;AI によって生成されたコンテンツは間違っている可能性があります。">
              <a:extLst>
                <a:ext uri="{FF2B5EF4-FFF2-40B4-BE49-F238E27FC236}">
                  <a16:creationId xmlns:a16="http://schemas.microsoft.com/office/drawing/2014/main" id="{EA844CCF-D251-0D2F-EB77-D725312DF8F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045050" y="4030497"/>
              <a:ext cx="1172135" cy="2025942"/>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15311642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D8952-744E-EBE0-091B-F3212350ED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7751DB-4861-4E53-39D4-7735A085E0FF}"/>
              </a:ext>
            </a:extLst>
          </p:cNvPr>
          <p:cNvSpPr>
            <a:spLocks noGrp="1"/>
          </p:cNvSpPr>
          <p:nvPr>
            <p:ph type="title"/>
          </p:nvPr>
        </p:nvSpPr>
        <p:spPr/>
        <p:txBody>
          <a:bodyPr>
            <a:normAutofit fontScale="90000"/>
          </a:bodyPr>
          <a:lstStyle/>
          <a:p>
            <a:r>
              <a:rPr kumimoji="1" lang="ja-GB" altLang="en-US" dirty="0"/>
              <a:t>数値化された情報はどのように計算機に入っているか？</a:t>
            </a:r>
          </a:p>
        </p:txBody>
      </p:sp>
      <p:sp>
        <p:nvSpPr>
          <p:cNvPr id="3" name="コンテンツ プレースホルダー 2">
            <a:extLst>
              <a:ext uri="{FF2B5EF4-FFF2-40B4-BE49-F238E27FC236}">
                <a16:creationId xmlns:a16="http://schemas.microsoft.com/office/drawing/2014/main" id="{C693F9C9-59C5-D9CF-7BED-23F9F3D93DB9}"/>
              </a:ext>
            </a:extLst>
          </p:cNvPr>
          <p:cNvSpPr>
            <a:spLocks noGrp="1"/>
          </p:cNvSpPr>
          <p:nvPr>
            <p:ph idx="1"/>
          </p:nvPr>
        </p:nvSpPr>
        <p:spPr/>
        <p:txBody>
          <a:bodyPr/>
          <a:lstStyle/>
          <a:p>
            <a:pPr marL="0" indent="0">
              <a:buNone/>
            </a:pPr>
            <a:r>
              <a:rPr kumimoji="1" lang="ja-GB" altLang="en-US" dirty="0"/>
              <a:t>現在の電子計算機では，</a:t>
            </a:r>
            <a:r>
              <a:rPr kumimoji="1" lang="en-US" altLang="ja-GB" dirty="0"/>
              <a:t>2</a:t>
            </a:r>
            <a:r>
              <a:rPr kumimoji="1" lang="ja-GB" altLang="en-US" dirty="0"/>
              <a:t>進数のデジタル表現が標準的</a:t>
            </a:r>
            <a:endParaRPr kumimoji="1" lang="en-US" altLang="ja-GB" dirty="0"/>
          </a:p>
          <a:p>
            <a:pPr lvl="1"/>
            <a:r>
              <a:rPr lang="ja-GB" altLang="en-US" dirty="0">
                <a:solidFill>
                  <a:srgbClr val="2F2523"/>
                </a:solidFill>
              </a:rPr>
              <a:t>あらゆる情報（数値）はデジタル化されて離散的に近似される</a:t>
            </a:r>
            <a:endParaRPr lang="en-US" altLang="ja-GB" dirty="0">
              <a:solidFill>
                <a:srgbClr val="2F2523"/>
              </a:solidFill>
            </a:endParaRPr>
          </a:p>
          <a:p>
            <a:pPr lvl="1"/>
            <a:r>
              <a:rPr lang="ja-GB" altLang="en-US" dirty="0">
                <a:solidFill>
                  <a:srgbClr val="2F2523"/>
                </a:solidFill>
              </a:rPr>
              <a:t>あらゆる情報（数値）は</a:t>
            </a:r>
            <a:r>
              <a:rPr lang="en-US" altLang="ja-GB" dirty="0">
                <a:solidFill>
                  <a:srgbClr val="2F2523"/>
                </a:solidFill>
              </a:rPr>
              <a:t>2</a:t>
            </a:r>
            <a:r>
              <a:rPr lang="ja-GB" altLang="en-US" dirty="0">
                <a:solidFill>
                  <a:srgbClr val="2F2523"/>
                </a:solidFill>
              </a:rPr>
              <a:t>進数で表現されて</a:t>
            </a:r>
            <a:r>
              <a:rPr lang="en-US" altLang="ja-GB" dirty="0">
                <a:solidFill>
                  <a:srgbClr val="2F2523"/>
                </a:solidFill>
              </a:rPr>
              <a:t>0</a:t>
            </a:r>
            <a:r>
              <a:rPr lang="ja-GB" altLang="en-US" dirty="0">
                <a:solidFill>
                  <a:srgbClr val="2F2523"/>
                </a:solidFill>
              </a:rPr>
              <a:t>と</a:t>
            </a:r>
            <a:r>
              <a:rPr lang="en-US" altLang="ja-GB" dirty="0">
                <a:solidFill>
                  <a:srgbClr val="2F2523"/>
                </a:solidFill>
              </a:rPr>
              <a:t>1</a:t>
            </a:r>
            <a:r>
              <a:rPr lang="ja-GB" altLang="en-US" dirty="0">
                <a:solidFill>
                  <a:srgbClr val="2F2523"/>
                </a:solidFill>
              </a:rPr>
              <a:t>のみで記述される</a:t>
            </a:r>
            <a:endParaRPr lang="en-US" altLang="ja-GB" dirty="0">
              <a:solidFill>
                <a:srgbClr val="2F2523"/>
              </a:solidFill>
            </a:endParaRPr>
          </a:p>
          <a:p>
            <a:pPr marL="0" indent="0" algn="ctr">
              <a:buNone/>
            </a:pPr>
            <a:endParaRPr lang="en-US" altLang="ja-GB" sz="1600" dirty="0">
              <a:solidFill>
                <a:srgbClr val="2F2523"/>
              </a:solidFill>
            </a:endParaRPr>
          </a:p>
          <a:p>
            <a:pPr marL="0" indent="0" algn="ctr">
              <a:buNone/>
            </a:pPr>
            <a:endParaRPr lang="en-US" altLang="ja-GB" sz="1600" dirty="0">
              <a:solidFill>
                <a:srgbClr val="2F2523"/>
              </a:solidFill>
            </a:endParaRPr>
          </a:p>
          <a:p>
            <a:pPr marL="0" indent="0" algn="ctr">
              <a:buNone/>
            </a:pPr>
            <a:r>
              <a:rPr kumimoji="1" lang="ja-GB" altLang="en-US" dirty="0">
                <a:solidFill>
                  <a:schemeClr val="accent2"/>
                </a:solidFill>
              </a:rPr>
              <a:t>デジタル：情報を数値で表現する方法，保持・伝達しやすい</a:t>
            </a:r>
            <a:endParaRPr kumimoji="1" lang="en-US" altLang="ja-GB" dirty="0">
              <a:solidFill>
                <a:schemeClr val="accent2"/>
              </a:solidFill>
            </a:endParaRPr>
          </a:p>
          <a:p>
            <a:pPr marL="0" indent="0" algn="ctr">
              <a:buNone/>
            </a:pPr>
            <a:r>
              <a:rPr kumimoji="1" lang="en-US" altLang="ja-GB" dirty="0">
                <a:solidFill>
                  <a:schemeClr val="accent2"/>
                </a:solidFill>
              </a:rPr>
              <a:t>2</a:t>
            </a:r>
            <a:r>
              <a:rPr kumimoji="1" lang="ja-GB" altLang="en-US" dirty="0">
                <a:solidFill>
                  <a:schemeClr val="accent2"/>
                </a:solidFill>
              </a:rPr>
              <a:t>進数：</a:t>
            </a:r>
            <a:r>
              <a:rPr lang="en-US" altLang="ja-GB" dirty="0">
                <a:solidFill>
                  <a:schemeClr val="accent2"/>
                </a:solidFill>
              </a:rPr>
              <a:t>2</a:t>
            </a:r>
            <a:r>
              <a:rPr lang="ja-GB" altLang="en-US" dirty="0">
                <a:solidFill>
                  <a:schemeClr val="accent2"/>
                </a:solidFill>
              </a:rPr>
              <a:t>で桁の上がる数値表現，機械で表現しやすい</a:t>
            </a:r>
            <a:endParaRPr kumimoji="1" lang="ja-GB" altLang="en-US" dirty="0">
              <a:solidFill>
                <a:schemeClr val="accent2"/>
              </a:solidFill>
            </a:endParaRPr>
          </a:p>
        </p:txBody>
      </p:sp>
      <p:graphicFrame>
        <p:nvGraphicFramePr>
          <p:cNvPr id="4" name="表 3">
            <a:extLst>
              <a:ext uri="{FF2B5EF4-FFF2-40B4-BE49-F238E27FC236}">
                <a16:creationId xmlns:a16="http://schemas.microsoft.com/office/drawing/2014/main" id="{BAE45B3D-DE05-4B5A-BB23-5E7ABDF7D333}"/>
              </a:ext>
            </a:extLst>
          </p:cNvPr>
          <p:cNvGraphicFramePr>
            <a:graphicFrameLocks noGrp="1"/>
          </p:cNvGraphicFramePr>
          <p:nvPr/>
        </p:nvGraphicFramePr>
        <p:xfrm>
          <a:off x="713343" y="3959224"/>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dirty="0">
                          <a:solidFill>
                            <a:srgbClr val="2F2523"/>
                          </a:solidFill>
                        </a:rPr>
                        <a:t>10</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2</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3</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4</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5</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6</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7</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8</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9</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dirty="0">
                          <a:solidFill>
                            <a:srgbClr val="2F2523"/>
                          </a:solidFill>
                        </a:rPr>
                        <a:t>2</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grpSp>
        <p:nvGrpSpPr>
          <p:cNvPr id="9" name="グループ化 8">
            <a:extLst>
              <a:ext uri="{FF2B5EF4-FFF2-40B4-BE49-F238E27FC236}">
                <a16:creationId xmlns:a16="http://schemas.microsoft.com/office/drawing/2014/main" id="{76D98516-71FD-26C4-BA13-34CF6C08B9E0}"/>
              </a:ext>
            </a:extLst>
          </p:cNvPr>
          <p:cNvGrpSpPr/>
          <p:nvPr/>
        </p:nvGrpSpPr>
        <p:grpSpPr>
          <a:xfrm>
            <a:off x="713343" y="4957410"/>
            <a:ext cx="7717313" cy="1045825"/>
            <a:chOff x="753983" y="5480322"/>
            <a:chExt cx="7717313" cy="1045825"/>
          </a:xfrm>
        </p:grpSpPr>
        <p:pic>
          <p:nvPicPr>
            <p:cNvPr id="5" name="図 4">
              <a:extLst>
                <a:ext uri="{FF2B5EF4-FFF2-40B4-BE49-F238E27FC236}">
                  <a16:creationId xmlns:a16="http://schemas.microsoft.com/office/drawing/2014/main" id="{A7882AEF-AC59-3173-4E52-D3A7E13C870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3983" y="5480322"/>
              <a:ext cx="3197239" cy="1045825"/>
            </a:xfrm>
            <a:prstGeom prst="rect">
              <a:avLst/>
            </a:prstGeom>
            <a:ln>
              <a:noFill/>
            </a:ln>
            <a:effectLst>
              <a:outerShdw blurRad="292100" dist="139700" dir="2700000" algn="tl" rotWithShape="0">
                <a:srgbClr val="333333">
                  <a:alpha val="65000"/>
                </a:srgbClr>
              </a:outerShdw>
            </a:effectLst>
          </p:spPr>
        </p:pic>
        <p:pic>
          <p:nvPicPr>
            <p:cNvPr id="7" name="図 6" descr="電子機器, 回路 が含まれている画像&#10;&#10;AI によって生成されたコンテンツは間違っている可能性があります。">
              <a:extLst>
                <a:ext uri="{FF2B5EF4-FFF2-40B4-BE49-F238E27FC236}">
                  <a16:creationId xmlns:a16="http://schemas.microsoft.com/office/drawing/2014/main" id="{90367CD0-2ED0-1F11-7044-4A32A7B104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734152" y="5480322"/>
              <a:ext cx="1563976" cy="1041022"/>
            </a:xfrm>
            <a:prstGeom prst="rect">
              <a:avLst/>
            </a:prstGeom>
            <a:ln>
              <a:noFill/>
            </a:ln>
            <a:effectLst>
              <a:outerShdw blurRad="292100" dist="139700" dir="2700000" algn="tl" rotWithShape="0">
                <a:srgbClr val="333333">
                  <a:alpha val="65000"/>
                </a:srgbClr>
              </a:outerShdw>
            </a:effectLst>
          </p:spPr>
        </p:pic>
        <p:pic>
          <p:nvPicPr>
            <p:cNvPr id="8" name="図 7" descr="ドアのノブ&#10;&#10;AI によって生成されたコンテンツは間違っている可能性があります。">
              <a:extLst>
                <a:ext uri="{FF2B5EF4-FFF2-40B4-BE49-F238E27FC236}">
                  <a16:creationId xmlns:a16="http://schemas.microsoft.com/office/drawing/2014/main" id="{89A67954-37F3-BCE3-B86E-0AF13BB2FE8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1058" y="5480322"/>
              <a:ext cx="1390238" cy="1042679"/>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461107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A2C11-03CB-3C14-6C2D-154FCC2001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29427D-7318-B8D8-F5CE-FFD550FCB651}"/>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E3314176-B079-4268-76D2-A0FB08078A74}"/>
              </a:ext>
            </a:extLst>
          </p:cNvPr>
          <p:cNvSpPr>
            <a:spLocks noGrp="1"/>
          </p:cNvSpPr>
          <p:nvPr>
            <p:ph idx="1"/>
          </p:nvPr>
        </p:nvSpPr>
        <p:spPr/>
        <p:txBody>
          <a:bodyPr/>
          <a:lstStyle/>
          <a:p>
            <a:pPr marL="457200" indent="-457200">
              <a:buFont typeface="+mj-lt"/>
              <a:buAutoNum type="arabicPeriod"/>
            </a:pPr>
            <a:r>
              <a:rPr lang="ja-GB" altLang="en-US" dirty="0"/>
              <a:t>計算機の仕組み</a:t>
            </a:r>
            <a:endParaRPr lang="en-US" altLang="ja-GB" dirty="0"/>
          </a:p>
          <a:p>
            <a:pPr lvl="1"/>
            <a:r>
              <a:rPr lang="ja-GB" altLang="en-US" dirty="0"/>
              <a:t>計算機内の情報表現</a:t>
            </a:r>
            <a:endParaRPr lang="en-US" altLang="ja-GB" dirty="0"/>
          </a:p>
          <a:p>
            <a:pPr lvl="1"/>
            <a:r>
              <a:rPr lang="ja-GB" altLang="en-US" dirty="0"/>
              <a:t>計算機のハードウェア</a:t>
            </a:r>
            <a:endParaRPr lang="en-US" altLang="ja-GB" dirty="0"/>
          </a:p>
          <a:p>
            <a:pPr lvl="1"/>
            <a:r>
              <a:rPr kumimoji="1" lang="ja-GB" altLang="en-US" dirty="0">
                <a:solidFill>
                  <a:srgbClr val="0070C0"/>
                </a:solidFill>
              </a:rPr>
              <a:t>人間が扱うための仕組み</a:t>
            </a:r>
            <a:endParaRPr kumimoji="1" lang="en-US" altLang="ja-GB" dirty="0">
              <a:solidFill>
                <a:srgbClr val="0070C0"/>
              </a:solidFill>
            </a:endParaRPr>
          </a:p>
          <a:p>
            <a:pPr lvl="1"/>
            <a:endParaRPr lang="en-US" altLang="ja-GB" dirty="0"/>
          </a:p>
          <a:p>
            <a:pPr marL="457200" indent="-457200">
              <a:buFont typeface="+mj-lt"/>
              <a:buAutoNum type="arabicPeriod"/>
            </a:pPr>
            <a:r>
              <a:rPr lang="ja-GB" altLang="en-US" dirty="0">
                <a:solidFill>
                  <a:schemeClr val="tx1">
                    <a:lumMod val="50000"/>
                    <a:lumOff val="50000"/>
                  </a:schemeClr>
                </a:solidFill>
              </a:rPr>
              <a:t>ネットワークの仕組み</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計算機同士の情報交換</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インターネット</a:t>
            </a:r>
            <a:endParaRPr kumimoji="1" lang="en-US" altLang="ja-GB" dirty="0">
              <a:solidFill>
                <a:schemeClr val="tx1">
                  <a:lumMod val="50000"/>
                  <a:lumOff val="50000"/>
                </a:schemeClr>
              </a:solidFill>
            </a:endParaRPr>
          </a:p>
          <a:p>
            <a:pPr lvl="1"/>
            <a:endParaRPr kumimoji="1"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情報システムの仕組み</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情報システムとデータベース</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情報セキュリティ</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p:txBody>
      </p:sp>
    </p:spTree>
    <p:extLst>
      <p:ext uri="{BB962C8B-B14F-4D97-AF65-F5344CB8AC3E}">
        <p14:creationId xmlns:p14="http://schemas.microsoft.com/office/powerpoint/2010/main" val="25914218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275E1-73F1-29F0-381D-BE7DF4C41D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AABDBE-F460-3A7E-08FB-A67E89E13741}"/>
              </a:ext>
            </a:extLst>
          </p:cNvPr>
          <p:cNvSpPr>
            <a:spLocks noGrp="1"/>
          </p:cNvSpPr>
          <p:nvPr>
            <p:ph type="title"/>
          </p:nvPr>
        </p:nvSpPr>
        <p:spPr/>
        <p:txBody>
          <a:bodyPr>
            <a:normAutofit/>
          </a:bodyPr>
          <a:lstStyle/>
          <a:p>
            <a:r>
              <a:rPr kumimoji="1" lang="ja-GB" altLang="en-US" dirty="0"/>
              <a:t>単位：ビット</a:t>
            </a:r>
            <a:r>
              <a:rPr kumimoji="1" lang="en-US" altLang="ja-GB" dirty="0"/>
              <a:t>(bit)</a:t>
            </a:r>
            <a:r>
              <a:rPr kumimoji="1" lang="ja-GB" altLang="en-US" dirty="0"/>
              <a:t>とバイト</a:t>
            </a:r>
            <a:r>
              <a:rPr kumimoji="1" lang="en-US" altLang="ja-GB" dirty="0"/>
              <a:t>(Byte)</a:t>
            </a:r>
            <a:endParaRPr kumimoji="1" lang="ja-GB"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C943554-EC78-6B17-56C4-F6CA7065101C}"/>
                  </a:ext>
                </a:extLst>
              </p:cNvPr>
              <p:cNvSpPr>
                <a:spLocks noGrp="1"/>
              </p:cNvSpPr>
              <p:nvPr>
                <p:ph idx="1"/>
              </p:nvPr>
            </p:nvSpPr>
            <p:spPr/>
            <p:txBody>
              <a:bodyPr/>
              <a:lstStyle/>
              <a:p>
                <a:pPr marL="0" indent="0">
                  <a:buNone/>
                </a:pPr>
                <a:r>
                  <a:rPr lang="ja-GB" altLang="en-US" dirty="0"/>
                  <a:t>「</a:t>
                </a:r>
                <a:r>
                  <a:rPr lang="en-US" altLang="ja-GB" dirty="0"/>
                  <a:t>2</a:t>
                </a:r>
                <a:r>
                  <a:rPr lang="ja-GB" altLang="en-US" dirty="0"/>
                  <a:t>進数表現にしたときの情報の大きさ」を分かりやすく示す単位</a:t>
                </a:r>
                <a:endParaRPr kumimoji="1" lang="en-US" altLang="ja-GB" dirty="0"/>
              </a:p>
              <a:p>
                <a:pPr marL="457200" lvl="1" indent="0">
                  <a:buNone/>
                </a:pPr>
                <a:r>
                  <a:rPr kumimoji="1" lang="ja-GB" altLang="en-US" dirty="0"/>
                  <a:t>ビット：</a:t>
                </a:r>
                <a:r>
                  <a:rPr kumimoji="1" lang="en-US" altLang="ja-GB" dirty="0"/>
                  <a:t>2</a:t>
                </a:r>
                <a:r>
                  <a:rPr lang="ja-GB" altLang="en-US" dirty="0"/>
                  <a:t>進数の桁数を表す単位</a:t>
                </a:r>
                <a:endParaRPr lang="en-US" altLang="ja-GB" dirty="0"/>
              </a:p>
              <a:p>
                <a:pPr marL="914400" lvl="2" indent="0">
                  <a:buNone/>
                </a:pPr>
                <a:r>
                  <a:rPr lang="ja-GB" altLang="en-US" dirty="0"/>
                  <a:t>例：</a:t>
                </a:r>
                <a:r>
                  <a:rPr lang="en-US" altLang="ja-GB" dirty="0"/>
                  <a:t>0→1bit</a:t>
                </a:r>
                <a:r>
                  <a:rPr lang="ja-GB" altLang="en-US" dirty="0"/>
                  <a:t>，</a:t>
                </a:r>
                <a:r>
                  <a:rPr lang="en-US" altLang="ja-GB" dirty="0"/>
                  <a:t>1→1bit</a:t>
                </a:r>
                <a:r>
                  <a:rPr lang="ja-GB" altLang="en-US" dirty="0"/>
                  <a:t>，</a:t>
                </a:r>
                <a:r>
                  <a:rPr lang="en-US" altLang="ja-GB" dirty="0"/>
                  <a:t>101→3bit</a:t>
                </a:r>
                <a:r>
                  <a:rPr lang="ja-GB" altLang="en-US" dirty="0"/>
                  <a:t>，</a:t>
                </a:r>
                <a:r>
                  <a:rPr lang="en-US" altLang="ja-GB" dirty="0"/>
                  <a:t>10010010→8bit</a:t>
                </a:r>
              </a:p>
              <a:p>
                <a:pPr lvl="4"/>
                <a:endParaRPr kumimoji="1" lang="en-US" altLang="ja-GB" dirty="0"/>
              </a:p>
              <a:p>
                <a:pPr marL="457200" lvl="1" indent="0">
                  <a:buNone/>
                </a:pPr>
                <a:r>
                  <a:rPr lang="ja-GB" altLang="en-US" dirty="0"/>
                  <a:t>バイト：</a:t>
                </a:r>
                <a:r>
                  <a:rPr lang="en-US" altLang="ja-GB" dirty="0"/>
                  <a:t>2</a:t>
                </a:r>
                <a:r>
                  <a:rPr lang="ja-GB" altLang="en-US" dirty="0"/>
                  <a:t>進数の</a:t>
                </a:r>
                <a:r>
                  <a:rPr lang="en-US" altLang="ja-GB" dirty="0"/>
                  <a:t>8</a:t>
                </a:r>
                <a:r>
                  <a:rPr lang="ja-GB" altLang="en-US" dirty="0"/>
                  <a:t>桁</a:t>
                </a:r>
                <a:r>
                  <a:rPr lang="en-US" altLang="ja-GB" baseline="30000" dirty="0"/>
                  <a:t>※</a:t>
                </a:r>
                <a:r>
                  <a:rPr lang="ja-GB" altLang="en-US" dirty="0"/>
                  <a:t>を</a:t>
                </a:r>
                <a:r>
                  <a:rPr lang="en-US" altLang="ja-GB" dirty="0"/>
                  <a:t>”1</a:t>
                </a:r>
                <a:r>
                  <a:rPr lang="ja-GB" altLang="en-US" dirty="0"/>
                  <a:t>つ</a:t>
                </a:r>
                <a:r>
                  <a:rPr lang="en-US" altLang="ja-GB" dirty="0"/>
                  <a:t>”</a:t>
                </a:r>
                <a:r>
                  <a:rPr lang="ja-GB" altLang="en-US" dirty="0"/>
                  <a:t>にまとめたとき単位（</a:t>
                </a:r>
                <a:r>
                  <a:rPr lang="en-US" altLang="ja-GB" dirty="0"/>
                  <a:t>8bit = 1Byte</a:t>
                </a:r>
                <a:r>
                  <a:rPr lang="ja-GB" altLang="en-US" dirty="0"/>
                  <a:t>）</a:t>
                </a:r>
                <a:endParaRPr lang="en-US" altLang="ja-GB" dirty="0"/>
              </a:p>
              <a:p>
                <a:pPr marL="914400" lvl="2" indent="0">
                  <a:buNone/>
                </a:pPr>
                <a:r>
                  <a:rPr kumimoji="1" lang="ja-GB" altLang="en-US" dirty="0"/>
                  <a:t>例：</a:t>
                </a:r>
                <a:r>
                  <a:rPr lang="en-US" altLang="ja-GB" dirty="0"/>
                  <a:t>10010010 → 1Byte (=8bit)</a:t>
                </a:r>
                <a:r>
                  <a:rPr lang="ja-GB" altLang="en-US" dirty="0"/>
                  <a:t>，</a:t>
                </a:r>
                <a:r>
                  <a:rPr lang="en-US" altLang="ja-GB" dirty="0"/>
                  <a:t> 1101101010000011 → 2Byte (=16bit)</a:t>
                </a:r>
              </a:p>
              <a:p>
                <a:pPr lvl="4"/>
                <a:endParaRPr kumimoji="1" lang="en-US" altLang="ja-GB" dirty="0"/>
              </a:p>
              <a:p>
                <a:pPr marL="0" indent="0">
                  <a:buNone/>
                </a:pPr>
                <a:r>
                  <a:rPr lang="ja-GB" altLang="en-US" dirty="0"/>
                  <a:t>ビット数やバイト数が増えると，内部で扱える情報が大きくなる</a:t>
                </a:r>
                <a:endParaRPr lang="en-US" altLang="ja-GB" dirty="0"/>
              </a:p>
              <a:p>
                <a:pPr lvl="1"/>
                <a:r>
                  <a:rPr kumimoji="1" lang="ja-GB" altLang="en-US" sz="1800" dirty="0"/>
                  <a:t>ファミコンの</a:t>
                </a:r>
                <a:r>
                  <a:rPr kumimoji="1" lang="en-US" altLang="ja-GB" sz="1800" dirty="0"/>
                  <a:t>CPU</a:t>
                </a:r>
                <a:r>
                  <a:rPr kumimoji="1" lang="ja-GB" altLang="en-US" sz="1800" dirty="0"/>
                  <a:t>は</a:t>
                </a:r>
                <a:r>
                  <a:rPr kumimoji="1" lang="en-US" altLang="ja-GB" sz="1800" dirty="0"/>
                  <a:t>8bit</a:t>
                </a:r>
                <a:r>
                  <a:rPr kumimoji="1" lang="ja-GB" altLang="en-US" sz="1800" dirty="0"/>
                  <a:t>，</a:t>
                </a:r>
                <a:r>
                  <a:rPr lang="ja-GB" altLang="en-US" sz="1800" dirty="0"/>
                  <a:t>通常のパソコンの</a:t>
                </a:r>
                <a:r>
                  <a:rPr lang="en-US" altLang="ja-GB" sz="1800" dirty="0"/>
                  <a:t>CPU</a:t>
                </a:r>
                <a:r>
                  <a:rPr lang="ja-GB" altLang="en-US" sz="1800" dirty="0"/>
                  <a:t>は</a:t>
                </a:r>
                <a:r>
                  <a:rPr lang="en-US" altLang="ja-GB" sz="1800" dirty="0"/>
                  <a:t>64bit</a:t>
                </a:r>
              </a:p>
              <a:p>
                <a:pPr lvl="1"/>
                <a:r>
                  <a:rPr kumimoji="1" lang="en-US" altLang="ja-GB" sz="1800" dirty="0"/>
                  <a:t>iPhone 16</a:t>
                </a:r>
                <a:r>
                  <a:rPr kumimoji="1" lang="ja-GB" altLang="en-US" sz="1800" dirty="0"/>
                  <a:t>のメモリは</a:t>
                </a:r>
                <a:r>
                  <a:rPr kumimoji="1" lang="en-US" altLang="ja-GB" sz="1800" dirty="0"/>
                  <a:t>8GB</a:t>
                </a:r>
                <a:r>
                  <a:rPr lang="ja-GB" altLang="en-US" sz="1800" dirty="0"/>
                  <a:t>，</a:t>
                </a:r>
                <a:r>
                  <a:rPr kumimoji="1" lang="ja-GB" altLang="en-US" sz="1800" dirty="0"/>
                  <a:t>ストレージは</a:t>
                </a:r>
                <a:r>
                  <a:rPr kumimoji="1" lang="en-US" altLang="ja-GB" sz="1800" dirty="0"/>
                  <a:t>128GB</a:t>
                </a:r>
                <a:br>
                  <a:rPr kumimoji="1" lang="en-US" altLang="ja-GB" sz="1800" dirty="0"/>
                </a:br>
                <a:r>
                  <a:rPr kumimoji="1" lang="ja-GB" altLang="en-US" sz="1400" dirty="0">
                    <a:solidFill>
                      <a:schemeClr val="bg1">
                        <a:lumMod val="75000"/>
                      </a:schemeClr>
                    </a:solidFill>
                  </a:rPr>
                  <a:t>（計算機では通常，</a:t>
                </a:r>
                <a:r>
                  <a:rPr kumimoji="1" lang="en-US" altLang="ja-GB" sz="1400" dirty="0">
                    <a:solidFill>
                      <a:schemeClr val="bg1">
                        <a:lumMod val="75000"/>
                      </a:schemeClr>
                    </a:solidFill>
                  </a:rPr>
                  <a:t>K</a:t>
                </a:r>
                <a:r>
                  <a:rPr lang="en-US" altLang="ja-GB" sz="1400" dirty="0">
                    <a:solidFill>
                      <a:schemeClr val="bg1">
                        <a:lumMod val="75000"/>
                      </a:schemeClr>
                    </a:solidFill>
                  </a:rPr>
                  <a:t>= </a:t>
                </a:r>
                <a14:m>
                  <m:oMath xmlns:m="http://schemas.openxmlformats.org/officeDocument/2006/math">
                    <m:sSup>
                      <m:sSupPr>
                        <m:ctrlPr>
                          <a:rPr lang="en-US" altLang="ja-GB" sz="1400" i="1">
                            <a:solidFill>
                              <a:schemeClr val="bg1">
                                <a:lumMod val="75000"/>
                              </a:schemeClr>
                            </a:solidFill>
                            <a:latin typeface="Cambria Math" panose="02040503050406030204" pitchFamily="18" charset="0"/>
                          </a:rPr>
                        </m:ctrlPr>
                      </m:sSupPr>
                      <m:e>
                        <m:r>
                          <a:rPr lang="en-US" altLang="ja-GB" sz="1400" i="1">
                            <a:solidFill>
                              <a:schemeClr val="bg1">
                                <a:lumMod val="75000"/>
                              </a:schemeClr>
                            </a:solidFill>
                            <a:latin typeface="Cambria Math" panose="02040503050406030204" pitchFamily="18" charset="0"/>
                          </a:rPr>
                          <m:t>𝟐</m:t>
                        </m:r>
                      </m:e>
                      <m:sup>
                        <m:r>
                          <a:rPr lang="en-US" altLang="ja-GB" sz="1400" b="1" i="1" smtClean="0">
                            <a:solidFill>
                              <a:schemeClr val="bg1">
                                <a:lumMod val="75000"/>
                              </a:schemeClr>
                            </a:solidFill>
                            <a:latin typeface="Cambria Math" panose="02040503050406030204" pitchFamily="18" charset="0"/>
                          </a:rPr>
                          <m:t>𝟑</m:t>
                        </m:r>
                      </m:sup>
                    </m:sSup>
                    <m:r>
                      <a:rPr lang="en-US" altLang="ja-GB" sz="1400" i="1">
                        <a:solidFill>
                          <a:schemeClr val="bg1">
                            <a:lumMod val="75000"/>
                          </a:schemeClr>
                        </a:solidFill>
                        <a:latin typeface="Cambria Math" panose="02040503050406030204" pitchFamily="18" charset="0"/>
                      </a:rPr>
                      <m:t> </m:t>
                    </m:r>
                  </m:oMath>
                </a14:m>
                <a:r>
                  <a:rPr kumimoji="1" lang="ja-GB" altLang="en-US" sz="1400" dirty="0">
                    <a:solidFill>
                      <a:schemeClr val="bg1">
                        <a:lumMod val="75000"/>
                      </a:schemeClr>
                    </a:solidFill>
                  </a:rPr>
                  <a:t>，</a:t>
                </a:r>
                <a:r>
                  <a:rPr kumimoji="1" lang="en-US" altLang="ja-GB" sz="1400" dirty="0">
                    <a:solidFill>
                      <a:schemeClr val="bg1">
                        <a:lumMod val="75000"/>
                      </a:schemeClr>
                    </a:solidFill>
                  </a:rPr>
                  <a:t>M</a:t>
                </a:r>
                <a:r>
                  <a:rPr lang="en-US" altLang="ja-GB" sz="1400" dirty="0">
                    <a:solidFill>
                      <a:schemeClr val="bg1">
                        <a:lumMod val="75000"/>
                      </a:schemeClr>
                    </a:solidFill>
                  </a:rPr>
                  <a:t> =</a:t>
                </a:r>
                <a14:m>
                  <m:oMath xmlns:m="http://schemas.openxmlformats.org/officeDocument/2006/math">
                    <m:sSup>
                      <m:sSupPr>
                        <m:ctrlPr>
                          <a:rPr lang="en-US" altLang="ja-GB" sz="1400" i="1">
                            <a:solidFill>
                              <a:schemeClr val="bg1">
                                <a:lumMod val="75000"/>
                              </a:schemeClr>
                            </a:solidFill>
                            <a:latin typeface="Cambria Math" panose="02040503050406030204" pitchFamily="18" charset="0"/>
                          </a:rPr>
                        </m:ctrlPr>
                      </m:sSupPr>
                      <m:e>
                        <m:r>
                          <a:rPr lang="en-US" altLang="ja-GB" sz="1400" i="1">
                            <a:solidFill>
                              <a:schemeClr val="bg1">
                                <a:lumMod val="75000"/>
                              </a:schemeClr>
                            </a:solidFill>
                            <a:latin typeface="Cambria Math" panose="02040503050406030204" pitchFamily="18" charset="0"/>
                          </a:rPr>
                          <m:t>𝟐</m:t>
                        </m:r>
                      </m:e>
                      <m:sup>
                        <m:r>
                          <a:rPr lang="en-US" altLang="ja-GB" sz="1400" b="1" i="1" smtClean="0">
                            <a:solidFill>
                              <a:schemeClr val="bg1">
                                <a:lumMod val="75000"/>
                              </a:schemeClr>
                            </a:solidFill>
                            <a:latin typeface="Cambria Math" panose="02040503050406030204" pitchFamily="18" charset="0"/>
                          </a:rPr>
                          <m:t>𝟔</m:t>
                        </m:r>
                      </m:sup>
                    </m:sSup>
                    <m:r>
                      <a:rPr lang="en-US" altLang="ja-GB" sz="1400" i="1">
                        <a:solidFill>
                          <a:schemeClr val="bg1">
                            <a:lumMod val="75000"/>
                          </a:schemeClr>
                        </a:solidFill>
                        <a:latin typeface="Cambria Math" panose="02040503050406030204" pitchFamily="18" charset="0"/>
                      </a:rPr>
                      <m:t> </m:t>
                    </m:r>
                  </m:oMath>
                </a14:m>
                <a:r>
                  <a:rPr kumimoji="1" lang="ja-GB" altLang="en-US" sz="1400" dirty="0">
                    <a:solidFill>
                      <a:schemeClr val="bg1">
                        <a:lumMod val="75000"/>
                      </a:schemeClr>
                    </a:solidFill>
                  </a:rPr>
                  <a:t>，</a:t>
                </a:r>
                <a:r>
                  <a:rPr kumimoji="1" lang="en-US" altLang="ja-GB" sz="1400" dirty="0">
                    <a:solidFill>
                      <a:schemeClr val="bg1">
                        <a:lumMod val="75000"/>
                      </a:schemeClr>
                    </a:solidFill>
                  </a:rPr>
                  <a:t>G</a:t>
                </a:r>
                <a:r>
                  <a:rPr lang="en-US" altLang="ja-GB" sz="1400" dirty="0">
                    <a:solidFill>
                      <a:schemeClr val="bg1">
                        <a:lumMod val="75000"/>
                      </a:schemeClr>
                    </a:solidFill>
                  </a:rPr>
                  <a:t>=</a:t>
                </a:r>
                <a14:m>
                  <m:oMath xmlns:m="http://schemas.openxmlformats.org/officeDocument/2006/math">
                    <m:sSup>
                      <m:sSupPr>
                        <m:ctrlPr>
                          <a:rPr kumimoji="1" lang="en-US" altLang="ja-GB" sz="1400" b="1" i="1" smtClean="0">
                            <a:solidFill>
                              <a:schemeClr val="bg1">
                                <a:lumMod val="75000"/>
                              </a:schemeClr>
                            </a:solidFill>
                            <a:latin typeface="Cambria Math" panose="02040503050406030204" pitchFamily="18" charset="0"/>
                          </a:rPr>
                        </m:ctrlPr>
                      </m:sSupPr>
                      <m:e>
                        <m:r>
                          <a:rPr kumimoji="1" lang="en-US" altLang="ja-GB" sz="1400" b="1" i="1" smtClean="0">
                            <a:solidFill>
                              <a:schemeClr val="bg1">
                                <a:lumMod val="75000"/>
                              </a:schemeClr>
                            </a:solidFill>
                            <a:latin typeface="Cambria Math" panose="02040503050406030204" pitchFamily="18" charset="0"/>
                          </a:rPr>
                          <m:t>𝟐</m:t>
                        </m:r>
                      </m:e>
                      <m:sup>
                        <m:r>
                          <a:rPr kumimoji="1" lang="en-US" altLang="ja-GB" sz="1400" b="1" i="1" smtClean="0">
                            <a:solidFill>
                              <a:schemeClr val="bg1">
                                <a:lumMod val="75000"/>
                              </a:schemeClr>
                            </a:solidFill>
                            <a:latin typeface="Cambria Math" panose="02040503050406030204" pitchFamily="18" charset="0"/>
                          </a:rPr>
                          <m:t>𝟗</m:t>
                        </m:r>
                      </m:sup>
                    </m:sSup>
                  </m:oMath>
                </a14:m>
                <a:r>
                  <a:rPr kumimoji="1" lang="ja-GB" altLang="en-US" sz="1400" dirty="0">
                    <a:solidFill>
                      <a:schemeClr val="bg1">
                        <a:lumMod val="75000"/>
                      </a:schemeClr>
                    </a:solidFill>
                  </a:rPr>
                  <a:t>を表す）</a:t>
                </a:r>
                <a:endParaRPr kumimoji="1" lang="en-US" altLang="ja-GB" sz="1600" dirty="0">
                  <a:solidFill>
                    <a:schemeClr val="tx1">
                      <a:lumMod val="50000"/>
                      <a:lumOff val="50000"/>
                    </a:schemeClr>
                  </a:solidFill>
                </a:endParaRPr>
              </a:p>
              <a:p>
                <a:pPr lvl="2"/>
                <a:endParaRPr kumimoji="1" lang="ja-GB" altLang="en-US" dirty="0"/>
              </a:p>
            </p:txBody>
          </p:sp>
        </mc:Choice>
        <mc:Fallback xmlns="">
          <p:sp>
            <p:nvSpPr>
              <p:cNvPr id="3" name="コンテンツ プレースホルダー 2">
                <a:extLst>
                  <a:ext uri="{FF2B5EF4-FFF2-40B4-BE49-F238E27FC236}">
                    <a16:creationId xmlns:a16="http://schemas.microsoft.com/office/drawing/2014/main" id="{DC943554-EC78-6B17-56C4-F6CA7065101C}"/>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5234CEF1-A162-F09D-FD24-7B0C68B883A9}"/>
                  </a:ext>
                </a:extLst>
              </p:cNvPr>
              <p:cNvGraphicFramePr>
                <a:graphicFrameLocks noGrp="1"/>
              </p:cNvGraphicFramePr>
              <p:nvPr>
                <p:extLst>
                  <p:ext uri="{D42A27DB-BD31-4B8C-83A1-F6EECF244321}">
                    <p14:modId xmlns:p14="http://schemas.microsoft.com/office/powerpoint/2010/main" val="800811713"/>
                  </p:ext>
                </p:extLst>
              </p:nvPr>
            </p:nvGraphicFramePr>
            <p:xfrm>
              <a:off x="2593548" y="4410272"/>
              <a:ext cx="3956904" cy="2011680"/>
            </p:xfrm>
            <a:graphic>
              <a:graphicData uri="http://schemas.openxmlformats.org/drawingml/2006/table">
                <a:tbl>
                  <a:tblPr firstRow="1" bandRow="1">
                    <a:tableStyleId>{F5AB1C69-6EDB-4FF4-983F-18BD219EF322}</a:tableStyleId>
                  </a:tblPr>
                  <a:tblGrid>
                    <a:gridCol w="1241985">
                      <a:extLst>
                        <a:ext uri="{9D8B030D-6E8A-4147-A177-3AD203B41FA5}">
                          <a16:colId xmlns:a16="http://schemas.microsoft.com/office/drawing/2014/main" val="3575913920"/>
                        </a:ext>
                      </a:extLst>
                    </a:gridCol>
                    <a:gridCol w="2714919">
                      <a:extLst>
                        <a:ext uri="{9D8B030D-6E8A-4147-A177-3AD203B41FA5}">
                          <a16:colId xmlns:a16="http://schemas.microsoft.com/office/drawing/2014/main" val="595603879"/>
                        </a:ext>
                      </a:extLst>
                    </a:gridCol>
                  </a:tblGrid>
                  <a:tr h="333439">
                    <a:tc>
                      <a:txBody>
                        <a:bodyPr/>
                        <a:lstStyle/>
                        <a:p>
                          <a:pPr algn="ctr"/>
                          <a:r>
                            <a:rPr lang="ja-GB" altLang="en-US" sz="1600" b="0" dirty="0"/>
                            <a:t>情報量</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tx1">
                            <a:lumMod val="50000"/>
                            <a:lumOff val="50000"/>
                          </a:schemeClr>
                        </a:solidFill>
                      </a:tcPr>
                    </a:tc>
                    <a:tc>
                      <a:txBody>
                        <a:bodyPr/>
                        <a:lstStyle/>
                        <a:p>
                          <a:pPr algn="ctr"/>
                          <a:r>
                            <a:rPr lang="ja-GB" altLang="en-US" sz="1600" b="0" dirty="0"/>
                            <a:t>表せる情報の種類</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367891275"/>
                      </a:ext>
                    </a:extLst>
                  </a:tr>
                  <a:tr h="333439">
                    <a:tc>
                      <a:txBody>
                        <a:bodyPr/>
                        <a:lstStyle/>
                        <a:p>
                          <a:r>
                            <a:rPr lang="en-US" altLang="ja-GB" sz="1600" dirty="0"/>
                            <a:t>1bit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2</a:t>
                          </a:r>
                          <a:r>
                            <a:rPr lang="ja-GB" altLang="en-US" sz="1600" dirty="0"/>
                            <a:t>種類：</a:t>
                          </a:r>
                          <a:r>
                            <a:rPr lang="en-US" altLang="ja-GB" sz="1600" dirty="0"/>
                            <a:t>0</a:t>
                          </a:r>
                          <a:r>
                            <a:rPr lang="ja-GB" altLang="en-US" sz="1600" dirty="0"/>
                            <a:t>か</a:t>
                          </a:r>
                          <a:r>
                            <a:rPr lang="en-US" altLang="ja-GB" sz="1600" dirty="0"/>
                            <a:t>1</a:t>
                          </a:r>
                          <a:r>
                            <a:rPr lang="ja-GB" altLang="en-US" sz="1600" dirty="0"/>
                            <a:t>のどちらか</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3950156967"/>
                      </a:ext>
                    </a:extLst>
                  </a:tr>
                  <a:tr h="333439">
                    <a:tc>
                      <a:txBody>
                        <a:bodyPr/>
                        <a:lstStyle/>
                        <a:p>
                          <a:r>
                            <a:rPr lang="en-US" altLang="ja-GB" sz="1600" dirty="0"/>
                            <a:t>2bit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4</a:t>
                          </a:r>
                          <a:r>
                            <a:rPr lang="ja-GB" altLang="en-US" sz="1600" dirty="0"/>
                            <a:t>種類：</a:t>
                          </a:r>
                          <a:r>
                            <a:rPr lang="en-US" altLang="ja-GB" sz="1600" dirty="0"/>
                            <a:t>00, 01, 10, 11</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916301642"/>
                      </a:ext>
                    </a:extLst>
                  </a:tr>
                  <a:tr h="333439">
                    <a:tc>
                      <a:txBody>
                        <a:bodyPr/>
                        <a:lstStyle/>
                        <a:p>
                          <a:r>
                            <a:rPr lang="en-US" altLang="ja-GB" sz="1600" dirty="0"/>
                            <a:t>3bit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8</a:t>
                          </a:r>
                          <a:r>
                            <a:rPr lang="ja-GB" altLang="en-US" sz="1600" dirty="0"/>
                            <a:t>種類：</a:t>
                          </a:r>
                          <a:r>
                            <a:rPr lang="en-US" altLang="ja-GB" sz="1600" dirty="0"/>
                            <a:t>0〜</a:t>
                          </a:r>
                          <a14:m>
                            <m:oMath xmlns:m="http://schemas.openxmlformats.org/officeDocument/2006/math">
                              <m:sSup>
                                <m:sSupPr>
                                  <m:ctrlPr>
                                    <a:rPr lang="en-US" altLang="ja-GB" sz="1600" b="0" i="1" smtClean="0">
                                      <a:latin typeface="Cambria Math" panose="02040503050406030204" pitchFamily="18" charset="0"/>
                                    </a:rPr>
                                  </m:ctrlPr>
                                </m:sSupPr>
                                <m:e>
                                  <m:r>
                                    <a:rPr lang="en-US" altLang="ja-GB" sz="1600" b="0" smtClean="0">
                                      <a:latin typeface="Cambria Math" panose="02040503050406030204" pitchFamily="18" charset="0"/>
                                    </a:rPr>
                                    <m:t>2</m:t>
                                  </m:r>
                                </m:e>
                                <m:sup>
                                  <m:r>
                                    <a:rPr lang="en-US" altLang="ja-GB" sz="1600" b="0" smtClean="0">
                                      <a:latin typeface="Cambria Math" panose="02040503050406030204" pitchFamily="18" charset="0"/>
                                    </a:rPr>
                                    <m:t>3</m:t>
                                  </m:r>
                                </m:sup>
                              </m:sSup>
                            </m:oMath>
                          </a14:m>
                          <a:r>
                            <a:rPr lang="en-US" altLang="ja-GB" sz="1600" dirty="0"/>
                            <a:t>, </a:t>
                          </a:r>
                          <a:r>
                            <a:rPr lang="ja-GB" altLang="en-US" sz="1600" dirty="0"/>
                            <a:t>つまり</a:t>
                          </a:r>
                          <a:r>
                            <a:rPr lang="en-US" altLang="ja-GB" sz="1600" dirty="0"/>
                            <a:t>0〜8</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614241213"/>
                      </a:ext>
                    </a:extLst>
                  </a:tr>
                  <a:tr h="333439">
                    <a:tc>
                      <a:txBody>
                        <a:bodyPr/>
                        <a:lstStyle/>
                        <a:p>
                          <a:r>
                            <a:rPr lang="en-US" altLang="ja-GB" sz="1600" dirty="0"/>
                            <a: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1456983240"/>
                      </a:ext>
                    </a:extLst>
                  </a:tr>
                  <a:tr h="333439">
                    <a:tc>
                      <a:txBody>
                        <a:bodyPr/>
                        <a:lstStyle/>
                        <a:p>
                          <a:r>
                            <a:rPr lang="en-US" altLang="ja-GB" sz="1600" dirty="0"/>
                            <a:t>8bit (1Byte)</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256</a:t>
                          </a:r>
                          <a:r>
                            <a:rPr lang="ja-GB" altLang="en-US" sz="1600" dirty="0"/>
                            <a:t>種類：</a:t>
                          </a:r>
                          <a:r>
                            <a:rPr lang="en-US" altLang="ja-GB" sz="1600" dirty="0"/>
                            <a:t>0〜</a:t>
                          </a:r>
                          <a14:m>
                            <m:oMath xmlns:m="http://schemas.openxmlformats.org/officeDocument/2006/math">
                              <m:sSup>
                                <m:sSupPr>
                                  <m:ctrlPr>
                                    <a:rPr lang="en-US" altLang="ja-GB" sz="1600" b="0" i="1" smtClean="0">
                                      <a:latin typeface="Cambria Math" panose="02040503050406030204" pitchFamily="18" charset="0"/>
                                    </a:rPr>
                                  </m:ctrlPr>
                                </m:sSupPr>
                                <m:e>
                                  <m:r>
                                    <a:rPr lang="en-US" altLang="ja-GB" sz="1600" b="0" smtClean="0">
                                      <a:latin typeface="Cambria Math" panose="02040503050406030204" pitchFamily="18" charset="0"/>
                                    </a:rPr>
                                    <m:t>2</m:t>
                                  </m:r>
                                </m:e>
                                <m:sup>
                                  <m:r>
                                    <a:rPr lang="en-US" altLang="ja-GB" sz="1600" b="0" smtClean="0">
                                      <a:latin typeface="Cambria Math" panose="02040503050406030204" pitchFamily="18" charset="0"/>
                                    </a:rPr>
                                    <m:t>8</m:t>
                                  </m:r>
                                </m:sup>
                              </m:sSup>
                            </m:oMath>
                          </a14:m>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2461899375"/>
                      </a:ext>
                    </a:extLst>
                  </a:tr>
                </a:tbl>
              </a:graphicData>
            </a:graphic>
          </p:graphicFrame>
        </mc:Choice>
        <mc:Fallback xmlns="">
          <p:graphicFrame>
            <p:nvGraphicFramePr>
              <p:cNvPr id="4" name="表 3">
                <a:extLst>
                  <a:ext uri="{FF2B5EF4-FFF2-40B4-BE49-F238E27FC236}">
                    <a16:creationId xmlns:a16="http://schemas.microsoft.com/office/drawing/2014/main" id="{5234CEF1-A162-F09D-FD24-7B0C68B883A9}"/>
                  </a:ext>
                </a:extLst>
              </p:cNvPr>
              <p:cNvGraphicFramePr>
                <a:graphicFrameLocks noGrp="1"/>
              </p:cNvGraphicFramePr>
              <p:nvPr>
                <p:extLst>
                  <p:ext uri="{D42A27DB-BD31-4B8C-83A1-F6EECF244321}">
                    <p14:modId xmlns:p14="http://schemas.microsoft.com/office/powerpoint/2010/main" val="800811713"/>
                  </p:ext>
                </p:extLst>
              </p:nvPr>
            </p:nvGraphicFramePr>
            <p:xfrm>
              <a:off x="2593548" y="4410272"/>
              <a:ext cx="3956904" cy="2011680"/>
            </p:xfrm>
            <a:graphic>
              <a:graphicData uri="http://schemas.openxmlformats.org/drawingml/2006/table">
                <a:tbl>
                  <a:tblPr firstRow="1" bandRow="1">
                    <a:tableStyleId>{F5AB1C69-6EDB-4FF4-983F-18BD219EF322}</a:tableStyleId>
                  </a:tblPr>
                  <a:tblGrid>
                    <a:gridCol w="1241985">
                      <a:extLst>
                        <a:ext uri="{9D8B030D-6E8A-4147-A177-3AD203B41FA5}">
                          <a16:colId xmlns:a16="http://schemas.microsoft.com/office/drawing/2014/main" val="3575913920"/>
                        </a:ext>
                      </a:extLst>
                    </a:gridCol>
                    <a:gridCol w="2714919">
                      <a:extLst>
                        <a:ext uri="{9D8B030D-6E8A-4147-A177-3AD203B41FA5}">
                          <a16:colId xmlns:a16="http://schemas.microsoft.com/office/drawing/2014/main" val="595603879"/>
                        </a:ext>
                      </a:extLst>
                    </a:gridCol>
                  </a:tblGrid>
                  <a:tr h="335280">
                    <a:tc>
                      <a:txBody>
                        <a:bodyPr/>
                        <a:lstStyle/>
                        <a:p>
                          <a:pPr algn="ctr"/>
                          <a:r>
                            <a:rPr lang="ja-GB" altLang="en-US" sz="1600" b="0" dirty="0"/>
                            <a:t>情報量</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tx1">
                            <a:lumMod val="50000"/>
                            <a:lumOff val="50000"/>
                          </a:schemeClr>
                        </a:solidFill>
                      </a:tcPr>
                    </a:tc>
                    <a:tc>
                      <a:txBody>
                        <a:bodyPr/>
                        <a:lstStyle/>
                        <a:p>
                          <a:pPr algn="ctr"/>
                          <a:r>
                            <a:rPr lang="ja-GB" altLang="en-US" sz="1600" b="0" dirty="0"/>
                            <a:t>表せる情報の種類</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367891275"/>
                      </a:ext>
                    </a:extLst>
                  </a:tr>
                  <a:tr h="335280">
                    <a:tc>
                      <a:txBody>
                        <a:bodyPr/>
                        <a:lstStyle/>
                        <a:p>
                          <a:r>
                            <a:rPr lang="en-US" altLang="ja-GB" sz="1600" dirty="0"/>
                            <a:t>1bit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2</a:t>
                          </a:r>
                          <a:r>
                            <a:rPr lang="ja-GB" altLang="en-US" sz="1600" dirty="0"/>
                            <a:t>種類：</a:t>
                          </a:r>
                          <a:r>
                            <a:rPr lang="en-US" altLang="ja-GB" sz="1600" dirty="0"/>
                            <a:t>0</a:t>
                          </a:r>
                          <a:r>
                            <a:rPr lang="ja-GB" altLang="en-US" sz="1600" dirty="0"/>
                            <a:t>か</a:t>
                          </a:r>
                          <a:r>
                            <a:rPr lang="en-US" altLang="ja-GB" sz="1600" dirty="0"/>
                            <a:t>1</a:t>
                          </a:r>
                          <a:r>
                            <a:rPr lang="ja-GB" altLang="en-US" sz="1600" dirty="0"/>
                            <a:t>のどちらか</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3950156967"/>
                      </a:ext>
                    </a:extLst>
                  </a:tr>
                  <a:tr h="335280">
                    <a:tc>
                      <a:txBody>
                        <a:bodyPr/>
                        <a:lstStyle/>
                        <a:p>
                          <a:r>
                            <a:rPr lang="en-US" altLang="ja-GB" sz="1600" dirty="0"/>
                            <a:t>2bit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r>
                            <a:rPr lang="en-US" altLang="ja-GB" sz="1600" dirty="0"/>
                            <a:t>4</a:t>
                          </a:r>
                          <a:r>
                            <a:rPr lang="ja-GB" altLang="en-US" sz="1600" dirty="0"/>
                            <a:t>種類：</a:t>
                          </a:r>
                          <a:r>
                            <a:rPr lang="en-US" altLang="ja-GB" sz="1600" dirty="0"/>
                            <a:t>00, 01, 10, 11</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916301642"/>
                      </a:ext>
                    </a:extLst>
                  </a:tr>
                  <a:tr h="335280">
                    <a:tc>
                      <a:txBody>
                        <a:bodyPr/>
                        <a:lstStyle/>
                        <a:p>
                          <a:r>
                            <a:rPr lang="en-US" altLang="ja-GB" sz="1600" dirty="0"/>
                            <a:t>3bit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endParaRPr lang="ja-GB"/>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blipFill>
                          <a:blip r:embed="rId3"/>
                          <a:stretch>
                            <a:fillRect l="-46262" t="-311538" r="-467" b="-230769"/>
                          </a:stretch>
                        </a:blipFill>
                      </a:tcPr>
                    </a:tc>
                    <a:extLst>
                      <a:ext uri="{0D108BD9-81ED-4DB2-BD59-A6C34878D82A}">
                        <a16:rowId xmlns:a16="http://schemas.microsoft.com/office/drawing/2014/main" val="614241213"/>
                      </a:ext>
                    </a:extLst>
                  </a:tr>
                  <a:tr h="335280">
                    <a:tc>
                      <a:txBody>
                        <a:bodyPr/>
                        <a:lstStyle/>
                        <a:p>
                          <a:r>
                            <a:rPr lang="en-US" altLang="ja-GB" sz="1600" dirty="0"/>
                            <a:t>…</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extLst>
                      <a:ext uri="{0D108BD9-81ED-4DB2-BD59-A6C34878D82A}">
                        <a16:rowId xmlns:a16="http://schemas.microsoft.com/office/drawing/2014/main" val="1456983240"/>
                      </a:ext>
                    </a:extLst>
                  </a:tr>
                  <a:tr h="335280">
                    <a:tc>
                      <a:txBody>
                        <a:bodyPr/>
                        <a:lstStyle/>
                        <a:p>
                          <a:r>
                            <a:rPr lang="en-US" altLang="ja-GB" sz="1600" dirty="0"/>
                            <a:t>8bit (1Byte)</a:t>
                          </a:r>
                          <a:endParaRPr lang="ja-GB" altLang="en-US" sz="1600" dirty="0"/>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tcPr>
                    </a:tc>
                    <a:tc>
                      <a:txBody>
                        <a:bodyPr/>
                        <a:lstStyle/>
                        <a:p>
                          <a:endParaRPr lang="ja-GB"/>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blipFill>
                          <a:blip r:embed="rId3"/>
                          <a:stretch>
                            <a:fillRect l="-46262" t="-515385" r="-467" b="-26923"/>
                          </a:stretch>
                        </a:blipFill>
                      </a:tcPr>
                    </a:tc>
                    <a:extLst>
                      <a:ext uri="{0D108BD9-81ED-4DB2-BD59-A6C34878D82A}">
                        <a16:rowId xmlns:a16="http://schemas.microsoft.com/office/drawing/2014/main" val="2461899375"/>
                      </a:ext>
                    </a:extLst>
                  </a:tr>
                </a:tbl>
              </a:graphicData>
            </a:graphic>
          </p:graphicFrame>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47BBB715-F3DF-C425-CDE7-93C1433DCD60}"/>
                  </a:ext>
                </a:extLst>
              </p:cNvPr>
              <p:cNvSpPr txBox="1"/>
              <p:nvPr/>
            </p:nvSpPr>
            <p:spPr>
              <a:xfrm>
                <a:off x="314325" y="6486087"/>
                <a:ext cx="5924442" cy="307777"/>
              </a:xfrm>
              <a:prstGeom prst="rect">
                <a:avLst/>
              </a:prstGeom>
              <a:noFill/>
            </p:spPr>
            <p:txBody>
              <a:bodyPr wrap="none" rtlCol="0">
                <a:spAutoFit/>
              </a:bodyPr>
              <a:lstStyle/>
              <a:p>
                <a:r>
                  <a:rPr kumimoji="1" lang="en-US" altLang="ja-GB" sz="1400" dirty="0">
                    <a:solidFill>
                      <a:schemeClr val="bg1">
                        <a:lumMod val="75000"/>
                      </a:schemeClr>
                    </a:solidFill>
                  </a:rPr>
                  <a:t>※ “8”</a:t>
                </a:r>
                <a:r>
                  <a:rPr kumimoji="1" lang="ja-GB" altLang="en-US" sz="1400" dirty="0">
                    <a:solidFill>
                      <a:schemeClr val="bg1">
                        <a:lumMod val="75000"/>
                      </a:schemeClr>
                    </a:solidFill>
                  </a:rPr>
                  <a:t>は</a:t>
                </a:r>
                <a14:m>
                  <m:oMath xmlns:m="http://schemas.openxmlformats.org/officeDocument/2006/math">
                    <m:sSup>
                      <m:sSupPr>
                        <m:ctrlPr>
                          <a:rPr kumimoji="1" lang="en-US" altLang="ja-GB" sz="1400" b="0" i="1" smtClean="0">
                            <a:solidFill>
                              <a:schemeClr val="bg1">
                                <a:lumMod val="75000"/>
                              </a:schemeClr>
                            </a:solidFill>
                            <a:latin typeface="Cambria Math" panose="02040503050406030204" pitchFamily="18" charset="0"/>
                          </a:rPr>
                        </m:ctrlPr>
                      </m:sSupPr>
                      <m:e>
                        <m:r>
                          <a:rPr kumimoji="1" lang="en-US" altLang="ja-GB" sz="1400" b="0" i="1" smtClean="0">
                            <a:solidFill>
                              <a:schemeClr val="bg1">
                                <a:lumMod val="75000"/>
                              </a:schemeClr>
                            </a:solidFill>
                            <a:latin typeface="Cambria Math" panose="02040503050406030204" pitchFamily="18" charset="0"/>
                          </a:rPr>
                          <m:t>2</m:t>
                        </m:r>
                      </m:e>
                      <m:sup>
                        <m:r>
                          <a:rPr kumimoji="1" lang="en-US" altLang="ja-GB" sz="1400" b="0" i="1" smtClean="0">
                            <a:solidFill>
                              <a:schemeClr val="bg1">
                                <a:lumMod val="75000"/>
                              </a:schemeClr>
                            </a:solidFill>
                            <a:latin typeface="Cambria Math" panose="02040503050406030204" pitchFamily="18" charset="0"/>
                          </a:rPr>
                          <m:t>3</m:t>
                        </m:r>
                      </m:sup>
                    </m:sSup>
                  </m:oMath>
                </a14:m>
                <a:r>
                  <a:rPr kumimoji="1" lang="ja-GB" altLang="en-US" sz="1400" dirty="0">
                    <a:solidFill>
                      <a:schemeClr val="bg1">
                        <a:lumMod val="75000"/>
                      </a:schemeClr>
                    </a:solidFill>
                  </a:rPr>
                  <a:t>，すなわち，</a:t>
                </a:r>
                <a:r>
                  <a:rPr kumimoji="1" lang="en-US" altLang="ja-GB" sz="1400" dirty="0">
                    <a:solidFill>
                      <a:schemeClr val="bg1">
                        <a:lumMod val="75000"/>
                      </a:schemeClr>
                    </a:solidFill>
                  </a:rPr>
                  <a:t>2</a:t>
                </a:r>
                <a:r>
                  <a:rPr kumimoji="1" lang="ja-GB" altLang="en-US" sz="1400" dirty="0">
                    <a:solidFill>
                      <a:schemeClr val="bg1">
                        <a:lumMod val="75000"/>
                      </a:schemeClr>
                    </a:solidFill>
                  </a:rPr>
                  <a:t>進数表現における</a:t>
                </a:r>
                <a:r>
                  <a:rPr kumimoji="1" lang="en-US" altLang="ja-GB" sz="1400" dirty="0">
                    <a:solidFill>
                      <a:schemeClr val="bg1">
                        <a:lumMod val="75000"/>
                      </a:schemeClr>
                    </a:solidFill>
                  </a:rPr>
                  <a:t>“1000”</a:t>
                </a:r>
                <a:r>
                  <a:rPr kumimoji="1" lang="ja-GB" altLang="en-US" sz="1400" dirty="0">
                    <a:solidFill>
                      <a:schemeClr val="bg1">
                        <a:lumMod val="75000"/>
                      </a:schemeClr>
                    </a:solidFill>
                  </a:rPr>
                  <a:t>というキリのいい数字</a:t>
                </a:r>
              </a:p>
            </p:txBody>
          </p:sp>
        </mc:Choice>
        <mc:Fallback xmlns="">
          <p:sp>
            <p:nvSpPr>
              <p:cNvPr id="6" name="テキスト ボックス 5">
                <a:extLst>
                  <a:ext uri="{FF2B5EF4-FFF2-40B4-BE49-F238E27FC236}">
                    <a16:creationId xmlns:a16="http://schemas.microsoft.com/office/drawing/2014/main" id="{47BBB715-F3DF-C425-CDE7-93C1433DCD60}"/>
                  </a:ext>
                </a:extLst>
              </p:cNvPr>
              <p:cNvSpPr txBox="1">
                <a:spLocks noRot="1" noChangeAspect="1" noMove="1" noResize="1" noEditPoints="1" noAdjustHandles="1" noChangeArrowheads="1" noChangeShapeType="1" noTextEdit="1"/>
              </p:cNvSpPr>
              <p:nvPr/>
            </p:nvSpPr>
            <p:spPr>
              <a:xfrm>
                <a:off x="314325" y="6486087"/>
                <a:ext cx="5924442" cy="307777"/>
              </a:xfrm>
              <a:prstGeom prst="rect">
                <a:avLst/>
              </a:prstGeom>
              <a:blipFill>
                <a:blip r:embed="rId4"/>
                <a:stretch>
                  <a:fillRect l="-214" t="-8000" b="-20000"/>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45105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E5AB-3453-466F-CB9C-BB03DA9CEE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421DF8-C7F4-B583-7AA8-E97380CE9A51}"/>
              </a:ext>
            </a:extLst>
          </p:cNvPr>
          <p:cNvSpPr>
            <a:spLocks noGrp="1"/>
          </p:cNvSpPr>
          <p:nvPr>
            <p:ph type="title"/>
          </p:nvPr>
        </p:nvSpPr>
        <p:spPr/>
        <p:txBody>
          <a:bodyPr/>
          <a:lstStyle/>
          <a:p>
            <a:r>
              <a:rPr lang="ja-GB" altLang="en-US" dirty="0"/>
              <a:t>命令</a:t>
            </a:r>
            <a:r>
              <a:rPr kumimoji="1" lang="ja-GB" altLang="en-US" dirty="0"/>
              <a:t>：プログラミング言語</a:t>
            </a:r>
          </a:p>
        </p:txBody>
      </p:sp>
      <p:sp>
        <p:nvSpPr>
          <p:cNvPr id="3" name="コンテンツ プレースホルダー 2">
            <a:extLst>
              <a:ext uri="{FF2B5EF4-FFF2-40B4-BE49-F238E27FC236}">
                <a16:creationId xmlns:a16="http://schemas.microsoft.com/office/drawing/2014/main" id="{640E32CA-8FA6-0A88-6B15-4BCD08AB4819}"/>
              </a:ext>
            </a:extLst>
          </p:cNvPr>
          <p:cNvSpPr>
            <a:spLocks noGrp="1"/>
          </p:cNvSpPr>
          <p:nvPr>
            <p:ph idx="1"/>
          </p:nvPr>
        </p:nvSpPr>
        <p:spPr/>
        <p:txBody>
          <a:bodyPr/>
          <a:lstStyle/>
          <a:p>
            <a:pPr marL="0" indent="0">
              <a:buNone/>
            </a:pPr>
            <a:r>
              <a:rPr lang="ja-GB" altLang="en-US" dirty="0"/>
              <a:t>人間が計算機に命令を出すための言語</a:t>
            </a:r>
            <a:endParaRPr lang="en-US" altLang="ja-GB" dirty="0"/>
          </a:p>
          <a:p>
            <a:pPr marL="457200" lvl="1" indent="0">
              <a:buNone/>
            </a:pPr>
            <a:r>
              <a:rPr kumimoji="1" lang="ja-GB" altLang="en-US" dirty="0">
                <a:solidFill>
                  <a:srgbClr val="0070C0"/>
                </a:solidFill>
              </a:rPr>
              <a:t>「</a:t>
            </a:r>
            <a:r>
              <a:rPr kumimoji="1" lang="en-US" altLang="ja-GB" dirty="0">
                <a:solidFill>
                  <a:srgbClr val="0070C0"/>
                </a:solidFill>
              </a:rPr>
              <a:t>0</a:t>
            </a:r>
            <a:r>
              <a:rPr kumimoji="1" lang="ja-GB" altLang="en-US" dirty="0">
                <a:solidFill>
                  <a:srgbClr val="0070C0"/>
                </a:solidFill>
              </a:rPr>
              <a:t>と</a:t>
            </a:r>
            <a:r>
              <a:rPr kumimoji="1" lang="en-US" altLang="ja-GB" dirty="0">
                <a:solidFill>
                  <a:srgbClr val="0070C0"/>
                </a:solidFill>
              </a:rPr>
              <a:t>1</a:t>
            </a:r>
            <a:r>
              <a:rPr lang="ja-GB" altLang="en-US" dirty="0">
                <a:solidFill>
                  <a:srgbClr val="0070C0"/>
                </a:solidFill>
              </a:rPr>
              <a:t>を記憶・伝達する</a:t>
            </a:r>
            <a:r>
              <a:rPr kumimoji="1" lang="ja-GB" altLang="en-US" dirty="0">
                <a:solidFill>
                  <a:srgbClr val="0070C0"/>
                </a:solidFill>
              </a:rPr>
              <a:t>スイッチ群」を直接操作して</a:t>
            </a:r>
            <a:r>
              <a:rPr kumimoji="1" lang="en-US" altLang="ja-GB" dirty="0">
                <a:solidFill>
                  <a:srgbClr val="0070C0"/>
                </a:solidFill>
              </a:rPr>
              <a:t>IT</a:t>
            </a:r>
            <a:r>
              <a:rPr kumimoji="1" lang="ja-GB" altLang="en-US" dirty="0">
                <a:solidFill>
                  <a:srgbClr val="0070C0"/>
                </a:solidFill>
              </a:rPr>
              <a:t>システムを作るのは難しい</a:t>
            </a:r>
            <a:endParaRPr kumimoji="1" lang="en-US" altLang="ja-GB" dirty="0">
              <a:solidFill>
                <a:srgbClr val="0070C0"/>
              </a:solidFill>
            </a:endParaRPr>
          </a:p>
          <a:p>
            <a:pPr lvl="2"/>
            <a:r>
              <a:rPr lang="ja-GB" altLang="en-US" dirty="0"/>
              <a:t>四則演算や文字入力・表示など</a:t>
            </a:r>
            <a:r>
              <a:rPr lang="ja-GB" altLang="en-US" dirty="0">
                <a:solidFill>
                  <a:schemeClr val="accent2"/>
                </a:solidFill>
              </a:rPr>
              <a:t>基本的な命令を簡単に書ける</a:t>
            </a:r>
            <a:r>
              <a:rPr lang="ja-GB" altLang="en-US" dirty="0">
                <a:solidFill>
                  <a:srgbClr val="2F2523"/>
                </a:solidFill>
              </a:rPr>
              <a:t>言語</a:t>
            </a:r>
            <a:endParaRPr kumimoji="1" lang="en-US" altLang="ja-GB" dirty="0"/>
          </a:p>
          <a:p>
            <a:pPr lvl="2"/>
            <a:r>
              <a:rPr kumimoji="1" lang="ja-GB" altLang="en-US" dirty="0"/>
              <a:t>用途や好みに応じて様々な言語が開発されている</a:t>
            </a:r>
            <a:endParaRPr lang="en-US" altLang="ja-GB" dirty="0"/>
          </a:p>
          <a:p>
            <a:pPr lvl="3"/>
            <a:r>
              <a:rPr lang="ja-GB" altLang="en-US" dirty="0"/>
              <a:t>例：</a:t>
            </a:r>
            <a:r>
              <a:rPr lang="en-US" altLang="ja-GB" dirty="0"/>
              <a:t>Python</a:t>
            </a:r>
            <a:r>
              <a:rPr lang="ja-GB" altLang="en-US" dirty="0"/>
              <a:t>，</a:t>
            </a:r>
            <a:r>
              <a:rPr lang="en-US" altLang="ja-GB" dirty="0"/>
              <a:t>java</a:t>
            </a:r>
            <a:r>
              <a:rPr lang="ja-GB" altLang="en-US" dirty="0"/>
              <a:t>，</a:t>
            </a:r>
            <a:r>
              <a:rPr lang="en-US" altLang="ja-GB" dirty="0"/>
              <a:t>C++</a:t>
            </a:r>
            <a:r>
              <a:rPr lang="ja-GB" altLang="en-US" dirty="0"/>
              <a:t>，</a:t>
            </a:r>
            <a:r>
              <a:rPr lang="en-US" altLang="ja-GB" dirty="0"/>
              <a:t>R</a:t>
            </a:r>
            <a:r>
              <a:rPr lang="ja-GB" altLang="en-US" dirty="0"/>
              <a:t>，</a:t>
            </a:r>
            <a:r>
              <a:rPr lang="en-US" altLang="ja-GB" dirty="0"/>
              <a:t>Go</a:t>
            </a:r>
            <a:r>
              <a:rPr lang="ja-GB" altLang="en-US" dirty="0"/>
              <a:t>，</a:t>
            </a:r>
            <a:r>
              <a:rPr lang="en-US" altLang="ja-GB" dirty="0"/>
              <a:t>Rust</a:t>
            </a:r>
            <a:r>
              <a:rPr lang="ja-GB" altLang="en-US" dirty="0"/>
              <a:t>，</a:t>
            </a:r>
            <a:r>
              <a:rPr lang="en-US" altLang="ja-GB" dirty="0"/>
              <a:t>…</a:t>
            </a:r>
            <a:endParaRPr kumimoji="1" lang="ja-GB" altLang="en-US" dirty="0"/>
          </a:p>
        </p:txBody>
      </p:sp>
      <p:pic>
        <p:nvPicPr>
          <p:cNvPr id="4" name="図 3" descr="テキスト&#10;&#10;AI によって生成されたコンテンツは間違っている可能性があります。">
            <a:extLst>
              <a:ext uri="{FF2B5EF4-FFF2-40B4-BE49-F238E27FC236}">
                <a16:creationId xmlns:a16="http://schemas.microsoft.com/office/drawing/2014/main" id="{B975F7F3-6D3E-770D-47D7-159EF8F8788C}"/>
              </a:ext>
            </a:extLst>
          </p:cNvPr>
          <p:cNvPicPr>
            <a:picLocks noChangeAspect="1"/>
          </p:cNvPicPr>
          <p:nvPr/>
        </p:nvPicPr>
        <p:blipFill>
          <a:blip r:embed="rId2"/>
          <a:stretch>
            <a:fillRect/>
          </a:stretch>
        </p:blipFill>
        <p:spPr>
          <a:xfrm>
            <a:off x="1912338" y="4384958"/>
            <a:ext cx="5319324" cy="2094939"/>
          </a:xfrm>
          <a:prstGeom prst="rect">
            <a:avLst/>
          </a:prstGeom>
        </p:spPr>
      </p:pic>
      <p:pic>
        <p:nvPicPr>
          <p:cNvPr id="5" name="図 4">
            <a:extLst>
              <a:ext uri="{FF2B5EF4-FFF2-40B4-BE49-F238E27FC236}">
                <a16:creationId xmlns:a16="http://schemas.microsoft.com/office/drawing/2014/main" id="{E548984E-C1D2-3B1F-0476-351E9D948BF8}"/>
              </a:ext>
            </a:extLst>
          </p:cNvPr>
          <p:cNvPicPr>
            <a:picLocks noChangeAspect="1"/>
          </p:cNvPicPr>
          <p:nvPr/>
        </p:nvPicPr>
        <p:blipFill>
          <a:blip r:embed="rId3"/>
          <a:srcRect b="92464"/>
          <a:stretch/>
        </p:blipFill>
        <p:spPr>
          <a:xfrm>
            <a:off x="561126" y="3037828"/>
            <a:ext cx="8021748" cy="782343"/>
          </a:xfrm>
          <a:prstGeom prst="rect">
            <a:avLst/>
          </a:prstGeom>
        </p:spPr>
      </p:pic>
    </p:spTree>
    <p:extLst>
      <p:ext uri="{BB962C8B-B14F-4D97-AF65-F5344CB8AC3E}">
        <p14:creationId xmlns:p14="http://schemas.microsoft.com/office/powerpoint/2010/main" val="23241847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922B18-23C5-717D-2800-2796C3444FBA}"/>
              </a:ext>
            </a:extLst>
          </p:cNvPr>
          <p:cNvSpPr>
            <a:spLocks noGrp="1"/>
          </p:cNvSpPr>
          <p:nvPr>
            <p:ph type="title"/>
          </p:nvPr>
        </p:nvSpPr>
        <p:spPr/>
        <p:txBody>
          <a:bodyPr/>
          <a:lstStyle/>
          <a:p>
            <a:r>
              <a:rPr kumimoji="1" lang="ja-GB" altLang="en-US" dirty="0"/>
              <a:t>利用：アプリケーション</a:t>
            </a:r>
          </a:p>
        </p:txBody>
      </p:sp>
      <p:sp>
        <p:nvSpPr>
          <p:cNvPr id="3" name="コンテンツ プレースホルダー 2">
            <a:extLst>
              <a:ext uri="{FF2B5EF4-FFF2-40B4-BE49-F238E27FC236}">
                <a16:creationId xmlns:a16="http://schemas.microsoft.com/office/drawing/2014/main" id="{67E15223-CAFE-7806-436E-6D7B701C09F3}"/>
              </a:ext>
            </a:extLst>
          </p:cNvPr>
          <p:cNvSpPr>
            <a:spLocks noGrp="1"/>
          </p:cNvSpPr>
          <p:nvPr>
            <p:ph idx="1"/>
          </p:nvPr>
        </p:nvSpPr>
        <p:spPr/>
        <p:txBody>
          <a:bodyPr/>
          <a:lstStyle/>
          <a:p>
            <a:pPr marL="0" indent="0">
              <a:buNone/>
            </a:pPr>
            <a:r>
              <a:rPr kumimoji="1" lang="ja-GB" altLang="en-US" dirty="0"/>
              <a:t>プログラムされた計算を簡単に使うための仕組み</a:t>
            </a:r>
            <a:endParaRPr kumimoji="1" lang="en-US" altLang="ja-GB" dirty="0"/>
          </a:p>
          <a:p>
            <a:pPr marL="457200" lvl="1" indent="0">
              <a:buNone/>
            </a:pPr>
            <a:r>
              <a:rPr lang="ja-GB" altLang="en-US" dirty="0"/>
              <a:t>計算機への命令を書かずに，特定の目的を達成するために計算を呼び出す</a:t>
            </a:r>
            <a:endParaRPr lang="en-US" altLang="ja-GB" dirty="0"/>
          </a:p>
          <a:p>
            <a:pPr lvl="2"/>
            <a:r>
              <a:rPr kumimoji="1" lang="ja-GB" altLang="en-US" dirty="0"/>
              <a:t>例</a:t>
            </a:r>
            <a:r>
              <a:rPr kumimoji="1" lang="en-US" altLang="ja-GB" dirty="0"/>
              <a:t>1</a:t>
            </a:r>
            <a:r>
              <a:rPr lang="ja-GB" altLang="en-US" dirty="0"/>
              <a:t>：</a:t>
            </a:r>
            <a:r>
              <a:rPr kumimoji="1" lang="en-US" altLang="ja-GB" dirty="0"/>
              <a:t>PowerPoint</a:t>
            </a:r>
            <a:r>
              <a:rPr kumimoji="1" lang="ja-GB" altLang="en-US" dirty="0"/>
              <a:t>はキーボードを打つとスライドショーが作れる</a:t>
            </a:r>
            <a:endParaRPr kumimoji="1" lang="en-US" altLang="ja-GB" dirty="0"/>
          </a:p>
          <a:p>
            <a:pPr lvl="2"/>
            <a:r>
              <a:rPr lang="ja-GB" altLang="en-US" dirty="0"/>
              <a:t>例</a:t>
            </a:r>
            <a:r>
              <a:rPr lang="en-US" altLang="ja-GB" dirty="0"/>
              <a:t>2</a:t>
            </a:r>
            <a:r>
              <a:rPr lang="ja-GB" altLang="en-US" dirty="0"/>
              <a:t>：写真編集アプリは画面上のバーを触るだけで画像に加工を加えられる</a:t>
            </a:r>
            <a:endParaRPr lang="en-US" altLang="ja-GB" dirty="0"/>
          </a:p>
          <a:p>
            <a:pPr lvl="2"/>
            <a:r>
              <a:rPr kumimoji="1" lang="ja-GB" altLang="en-US" dirty="0"/>
              <a:t>例</a:t>
            </a:r>
            <a:r>
              <a:rPr kumimoji="1" lang="en-US" altLang="ja-GB" dirty="0"/>
              <a:t>3</a:t>
            </a:r>
            <a:r>
              <a:rPr kumimoji="1" lang="ja-GB" altLang="en-US" dirty="0"/>
              <a:t>：ゲームはボタンを操作するだけで，仮想世界のキャラクターを動かせる</a:t>
            </a:r>
          </a:p>
        </p:txBody>
      </p:sp>
      <p:pic>
        <p:nvPicPr>
          <p:cNvPr id="5" name="図 4" descr="グラフィカル ユーザー インターフェイス, テキスト, アプリケーション, チャットまたはテキスト メッセージ&#10;&#10;AI によって生成されたコンテンツは間違っている可能性があります。">
            <a:extLst>
              <a:ext uri="{FF2B5EF4-FFF2-40B4-BE49-F238E27FC236}">
                <a16:creationId xmlns:a16="http://schemas.microsoft.com/office/drawing/2014/main" id="{7A0C9DD5-70A1-A6E7-A6C4-70B28F5BC2F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225103" y="2601057"/>
            <a:ext cx="6693794" cy="4256943"/>
          </a:xfrm>
          <a:prstGeom prst="rect">
            <a:avLst/>
          </a:prstGeom>
        </p:spPr>
      </p:pic>
    </p:spTree>
    <p:extLst>
      <p:ext uri="{BB962C8B-B14F-4D97-AF65-F5344CB8AC3E}">
        <p14:creationId xmlns:p14="http://schemas.microsoft.com/office/powerpoint/2010/main" val="9773791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9B8B-C342-58B4-4E86-C8B3D09ED1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A797A0-313A-49ED-186D-F8CD7A390FFD}"/>
              </a:ext>
            </a:extLst>
          </p:cNvPr>
          <p:cNvSpPr>
            <a:spLocks noGrp="1"/>
          </p:cNvSpPr>
          <p:nvPr>
            <p:ph type="title"/>
          </p:nvPr>
        </p:nvSpPr>
        <p:spPr/>
        <p:txBody>
          <a:bodyPr/>
          <a:lstStyle/>
          <a:p>
            <a:r>
              <a:rPr lang="ja-GB" altLang="en-US" dirty="0"/>
              <a:t>注意点：人間可読性</a:t>
            </a:r>
            <a:r>
              <a:rPr lang="en-US" altLang="ja-GB" dirty="0"/>
              <a:t> vs </a:t>
            </a:r>
            <a:r>
              <a:rPr lang="ja-GB" altLang="en-US" dirty="0"/>
              <a:t>機械可</a:t>
            </a:r>
            <a:r>
              <a:rPr kumimoji="1" lang="ja-GB" altLang="en-US" dirty="0"/>
              <a:t>読性</a:t>
            </a:r>
          </a:p>
        </p:txBody>
      </p:sp>
      <p:sp>
        <p:nvSpPr>
          <p:cNvPr id="3" name="コンテンツ プレースホルダー 2">
            <a:extLst>
              <a:ext uri="{FF2B5EF4-FFF2-40B4-BE49-F238E27FC236}">
                <a16:creationId xmlns:a16="http://schemas.microsoft.com/office/drawing/2014/main" id="{4AD051C8-B384-A4E9-7DA5-4AA6D76C12A2}"/>
              </a:ext>
            </a:extLst>
          </p:cNvPr>
          <p:cNvSpPr>
            <a:spLocks noGrp="1"/>
          </p:cNvSpPr>
          <p:nvPr>
            <p:ph idx="1"/>
          </p:nvPr>
        </p:nvSpPr>
        <p:spPr/>
        <p:txBody>
          <a:bodyPr/>
          <a:lstStyle/>
          <a:p>
            <a:pPr marL="0" indent="0">
              <a:buNone/>
            </a:pPr>
            <a:r>
              <a:rPr lang="ja-GB" altLang="en-US" dirty="0"/>
              <a:t>計算機は「構造化」されているデータしか計算できない</a:t>
            </a:r>
            <a:endParaRPr lang="en-US" altLang="ja-GB" dirty="0">
              <a:solidFill>
                <a:srgbClr val="0070C0"/>
              </a:solidFill>
            </a:endParaRPr>
          </a:p>
          <a:p>
            <a:pPr marL="457200" lvl="1" indent="0">
              <a:buNone/>
            </a:pPr>
            <a:r>
              <a:rPr lang="ja-GB" altLang="en-US" dirty="0">
                <a:solidFill>
                  <a:schemeClr val="tx1">
                    <a:lumMod val="65000"/>
                    <a:lumOff val="35000"/>
                  </a:schemeClr>
                </a:solidFill>
              </a:rPr>
              <a:t>計算機と人間で同じように見えているとは限らない</a:t>
            </a:r>
            <a:endParaRPr lang="en-US" altLang="ja-GB" dirty="0">
              <a:solidFill>
                <a:schemeClr val="tx1">
                  <a:lumMod val="65000"/>
                  <a:lumOff val="35000"/>
                </a:schemeClr>
              </a:solidFill>
            </a:endParaRPr>
          </a:p>
          <a:p>
            <a:pPr lvl="2"/>
            <a:r>
              <a:rPr lang="ja-GB" altLang="en-US" dirty="0">
                <a:solidFill>
                  <a:schemeClr val="tx1">
                    <a:lumMod val="65000"/>
                    <a:lumOff val="35000"/>
                  </a:schemeClr>
                </a:solidFill>
              </a:rPr>
              <a:t>構造化データ：意味が計算機内で維持される（例：出勤簿</a:t>
            </a:r>
            <a:r>
              <a:rPr lang="en-US" altLang="ja-GB" dirty="0">
                <a:solidFill>
                  <a:schemeClr val="tx1">
                    <a:lumMod val="65000"/>
                    <a:lumOff val="35000"/>
                  </a:schemeClr>
                </a:solidFill>
              </a:rPr>
              <a:t>.txt</a:t>
            </a:r>
            <a:r>
              <a:rPr lang="ja-GB" altLang="en-US" dirty="0">
                <a:solidFill>
                  <a:schemeClr val="tx1">
                    <a:lumMod val="65000"/>
                    <a:lumOff val="35000"/>
                  </a:schemeClr>
                </a:solidFill>
              </a:rPr>
              <a:t>）</a:t>
            </a:r>
            <a:endParaRPr lang="en-US" altLang="ja-GB" dirty="0">
              <a:solidFill>
                <a:schemeClr val="tx1">
                  <a:lumMod val="65000"/>
                  <a:lumOff val="35000"/>
                </a:schemeClr>
              </a:solidFill>
            </a:endParaRPr>
          </a:p>
          <a:p>
            <a:pPr lvl="2"/>
            <a:r>
              <a:rPr lang="ja-GB" altLang="en-US" dirty="0">
                <a:solidFill>
                  <a:schemeClr val="tx1">
                    <a:lumMod val="65000"/>
                    <a:lumOff val="35000"/>
                  </a:schemeClr>
                </a:solidFill>
              </a:rPr>
              <a:t>非構造化データ：意味が計算機内で維持されない（例：出勤簿</a:t>
            </a:r>
            <a:r>
              <a:rPr lang="en-US" altLang="ja-GB" dirty="0">
                <a:solidFill>
                  <a:schemeClr val="tx1">
                    <a:lumMod val="65000"/>
                    <a:lumOff val="35000"/>
                  </a:schemeClr>
                </a:solidFill>
              </a:rPr>
              <a:t>.</a:t>
            </a:r>
            <a:r>
              <a:rPr lang="en-US" altLang="ja-GB" dirty="0" err="1">
                <a:solidFill>
                  <a:schemeClr val="tx1">
                    <a:lumMod val="65000"/>
                    <a:lumOff val="35000"/>
                  </a:schemeClr>
                </a:solidFill>
              </a:rPr>
              <a:t>png</a:t>
            </a:r>
            <a:r>
              <a:rPr lang="ja-GB" altLang="en-US" dirty="0">
                <a:solidFill>
                  <a:schemeClr val="tx1">
                    <a:lumMod val="65000"/>
                    <a:lumOff val="35000"/>
                  </a:schemeClr>
                </a:solidFill>
              </a:rPr>
              <a:t>）</a:t>
            </a:r>
            <a:endParaRPr lang="en-US" altLang="ja-GB" dirty="0">
              <a:solidFill>
                <a:schemeClr val="tx1">
                  <a:lumMod val="65000"/>
                  <a:lumOff val="35000"/>
                </a:schemeClr>
              </a:solidFill>
            </a:endParaRPr>
          </a:p>
          <a:p>
            <a:pPr lvl="3"/>
            <a:endParaRPr lang="en-US" altLang="ja-GB" dirty="0"/>
          </a:p>
          <a:p>
            <a:pPr marL="457200" lvl="1" indent="0">
              <a:buNone/>
            </a:pPr>
            <a:r>
              <a:rPr kumimoji="1" lang="ja-GB" altLang="en-US" dirty="0">
                <a:solidFill>
                  <a:srgbClr val="0070C0"/>
                </a:solidFill>
              </a:rPr>
              <a:t>「人間に読みやすいデータ」が計算機にも読みやすいとは限らない</a:t>
            </a:r>
            <a:endParaRPr kumimoji="1" lang="en-US" altLang="ja-GB" dirty="0">
              <a:solidFill>
                <a:srgbClr val="0070C0"/>
              </a:solidFill>
            </a:endParaRPr>
          </a:p>
          <a:p>
            <a:pPr marL="914400" lvl="2" indent="0">
              <a:buNone/>
            </a:pPr>
            <a:r>
              <a:rPr lang="ja-GB" altLang="en-US" dirty="0"/>
              <a:t>「</a:t>
            </a:r>
            <a:r>
              <a:rPr lang="en-US" altLang="ja-GB" dirty="0"/>
              <a:t>10,000</a:t>
            </a:r>
            <a:r>
              <a:rPr lang="ja-GB" altLang="en-US" dirty="0"/>
              <a:t>」</a:t>
            </a:r>
            <a:r>
              <a:rPr lang="en-US" altLang="ja-GB" dirty="0"/>
              <a:t> → </a:t>
            </a:r>
            <a:r>
              <a:rPr lang="en-GB" altLang="ja-GB" dirty="0">
                <a:solidFill>
                  <a:schemeClr val="accent2"/>
                </a:solidFill>
              </a:rPr>
              <a:t>31302c303030</a:t>
            </a:r>
            <a:r>
              <a:rPr lang="ja-GB" altLang="en-US" dirty="0"/>
              <a:t>（</a:t>
            </a:r>
            <a:r>
              <a:rPr lang="en-US" altLang="ja-GB" dirty="0" err="1"/>
              <a:t>Shift_JIS</a:t>
            </a:r>
            <a:r>
              <a:rPr lang="ja-GB" altLang="en-US" dirty="0"/>
              <a:t>コード）</a:t>
            </a:r>
            <a:endParaRPr lang="en-US" altLang="ja-GB" dirty="0"/>
          </a:p>
          <a:p>
            <a:pPr marL="914400" lvl="2" indent="0">
              <a:buNone/>
            </a:pPr>
            <a:r>
              <a:rPr lang="ja-GB" altLang="en-US" dirty="0"/>
              <a:t>「</a:t>
            </a:r>
            <a:r>
              <a:rPr lang="en-US" altLang="ja-GB" dirty="0"/>
              <a:t>10000</a:t>
            </a:r>
            <a:r>
              <a:rPr lang="ja-GB" altLang="en-US" dirty="0"/>
              <a:t>」</a:t>
            </a:r>
            <a:r>
              <a:rPr lang="en-US" altLang="ja-GB" dirty="0"/>
              <a:t>  → </a:t>
            </a:r>
            <a:r>
              <a:rPr lang="en-US" altLang="ja-GB" dirty="0">
                <a:solidFill>
                  <a:schemeClr val="accent2"/>
                </a:solidFill>
              </a:rPr>
              <a:t>10000</a:t>
            </a:r>
            <a:r>
              <a:rPr lang="ja-GB" altLang="en-US" dirty="0"/>
              <a:t>（整数型）</a:t>
            </a:r>
            <a:endParaRPr lang="en-US" altLang="ja-GB" dirty="0"/>
          </a:p>
        </p:txBody>
      </p:sp>
      <p:pic>
        <p:nvPicPr>
          <p:cNvPr id="5" name="図 4" descr="テーブル&#10;&#10;AI によって生成されたコンテンツは間違っている可能性があります。">
            <a:extLst>
              <a:ext uri="{FF2B5EF4-FFF2-40B4-BE49-F238E27FC236}">
                <a16:creationId xmlns:a16="http://schemas.microsoft.com/office/drawing/2014/main" id="{B1FFA55D-C5D5-BB7D-2DC8-C935E89B13B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04770" y="3614826"/>
            <a:ext cx="5511440" cy="2597402"/>
          </a:xfrm>
          <a:prstGeom prst="rect">
            <a:avLst/>
          </a:prstGeom>
          <a:ln>
            <a:noFill/>
          </a:ln>
          <a:effectLst>
            <a:outerShdw blurRad="292100" dist="139700" dir="2700000" algn="tl" rotWithShape="0">
              <a:srgbClr val="333333">
                <a:alpha val="65000"/>
              </a:srgbClr>
            </a:outerShdw>
          </a:effectLst>
        </p:spPr>
      </p:pic>
      <p:sp>
        <p:nvSpPr>
          <p:cNvPr id="6" name="テキスト ボックス 5">
            <a:extLst>
              <a:ext uri="{FF2B5EF4-FFF2-40B4-BE49-F238E27FC236}">
                <a16:creationId xmlns:a16="http://schemas.microsoft.com/office/drawing/2014/main" id="{DF950AE0-E404-D69A-017E-F51BD80BE5BA}"/>
              </a:ext>
            </a:extLst>
          </p:cNvPr>
          <p:cNvSpPr txBox="1"/>
          <p:nvPr/>
        </p:nvSpPr>
        <p:spPr>
          <a:xfrm>
            <a:off x="3591" y="6379493"/>
            <a:ext cx="5913798" cy="446276"/>
          </a:xfrm>
          <a:prstGeom prst="rect">
            <a:avLst/>
          </a:prstGeom>
          <a:noFill/>
        </p:spPr>
        <p:txBody>
          <a:bodyPr wrap="none" rtlCol="0">
            <a:spAutoFit/>
          </a:bodyPr>
          <a:lstStyle/>
          <a:p>
            <a:pPr algn="ctr"/>
            <a:r>
              <a:rPr kumimoji="1" lang="ja-GB" altLang="en-US" sz="1200" dirty="0">
                <a:solidFill>
                  <a:srgbClr val="2F2523"/>
                </a:solidFill>
              </a:rPr>
              <a:t>出典：「</a:t>
            </a:r>
            <a:r>
              <a:rPr kumimoji="1" lang="ja-JP" altLang="en-US" sz="1200">
                <a:solidFill>
                  <a:srgbClr val="2F2523"/>
                </a:solidFill>
              </a:rPr>
              <a:t>統計表における機械判読可能なデータ 作成に関する表記方法」（</a:t>
            </a:r>
            <a:r>
              <a:rPr kumimoji="1" lang="ja-GB" altLang="en-US" sz="1200" dirty="0">
                <a:solidFill>
                  <a:srgbClr val="2F2523"/>
                </a:solidFill>
              </a:rPr>
              <a:t>総務省</a:t>
            </a:r>
            <a:r>
              <a:rPr kumimoji="1" lang="ja-JP" altLang="en-US" sz="1200">
                <a:solidFill>
                  <a:srgbClr val="2F2523"/>
                </a:solidFill>
              </a:rPr>
              <a:t>）</a:t>
            </a:r>
            <a:endParaRPr kumimoji="1" lang="en-US" altLang="ja-JP" sz="1200" dirty="0">
              <a:solidFill>
                <a:srgbClr val="2F2523"/>
              </a:solidFill>
            </a:endParaRPr>
          </a:p>
          <a:p>
            <a:pPr algn="ctr"/>
            <a:r>
              <a:rPr kumimoji="1" lang="en-US" altLang="ja-JP" sz="1100" dirty="0">
                <a:solidFill>
                  <a:srgbClr val="2F2523"/>
                </a:solidFill>
              </a:rPr>
              <a:t> </a:t>
            </a:r>
            <a:r>
              <a:rPr kumimoji="1" lang="en-GB" altLang="ja-GB" sz="1100" dirty="0">
                <a:solidFill>
                  <a:srgbClr val="2F2523"/>
                </a:solidFill>
                <a:hlinkClick r:id="rId3">
                  <a:extLst>
                    <a:ext uri="{A12FA001-AC4F-418D-AE19-62706E023703}">
                      <ahyp:hlinkClr xmlns:ahyp="http://schemas.microsoft.com/office/drawing/2018/hyperlinkcolor" val="tx"/>
                    </a:ext>
                  </a:extLst>
                </a:hlinkClick>
              </a:rPr>
              <a:t>https://www.soumu.go.jp/main_content/000723626.pdf</a:t>
            </a:r>
            <a:r>
              <a:rPr kumimoji="1" lang="en-GB" altLang="ja-GB" sz="1100" dirty="0">
                <a:solidFill>
                  <a:srgbClr val="2F2523"/>
                </a:solidFill>
              </a:rPr>
              <a:t> </a:t>
            </a:r>
            <a:endParaRPr kumimoji="1" lang="ja-GB" altLang="en-US" sz="1100" dirty="0">
              <a:solidFill>
                <a:srgbClr val="2F2523"/>
              </a:solidFill>
            </a:endParaRPr>
          </a:p>
        </p:txBody>
      </p:sp>
      <p:pic>
        <p:nvPicPr>
          <p:cNvPr id="4" name="図 3">
            <a:extLst>
              <a:ext uri="{FF2B5EF4-FFF2-40B4-BE49-F238E27FC236}">
                <a16:creationId xmlns:a16="http://schemas.microsoft.com/office/drawing/2014/main" id="{7E70339E-5887-B9CF-A3B0-C443891CA67F}"/>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6149146" y="3964132"/>
            <a:ext cx="2598334" cy="1898790"/>
          </a:xfrm>
          <a:prstGeom prst="rect">
            <a:avLst/>
          </a:prstGeom>
          <a:ln>
            <a:noFill/>
          </a:ln>
          <a:effectLst>
            <a:outerShdw blurRad="292100" dist="139700" dir="2700000" algn="tl" rotWithShape="0">
              <a:srgbClr val="333333">
                <a:alpha val="65000"/>
              </a:srgbClr>
            </a:outerShdw>
          </a:effectLst>
        </p:spPr>
      </p:pic>
      <p:sp>
        <p:nvSpPr>
          <p:cNvPr id="7" name="テキスト ボックス 6">
            <a:extLst>
              <a:ext uri="{FF2B5EF4-FFF2-40B4-BE49-F238E27FC236}">
                <a16:creationId xmlns:a16="http://schemas.microsoft.com/office/drawing/2014/main" id="{42BC8C32-A999-17D5-29FC-C8FFEF0EF05A}"/>
              </a:ext>
            </a:extLst>
          </p:cNvPr>
          <p:cNvSpPr txBox="1"/>
          <p:nvPr/>
        </p:nvSpPr>
        <p:spPr>
          <a:xfrm>
            <a:off x="6124873" y="6379493"/>
            <a:ext cx="2646878" cy="461665"/>
          </a:xfrm>
          <a:prstGeom prst="rect">
            <a:avLst/>
          </a:prstGeom>
          <a:noFill/>
        </p:spPr>
        <p:txBody>
          <a:bodyPr wrap="none" rtlCol="0">
            <a:spAutoFit/>
          </a:bodyPr>
          <a:lstStyle/>
          <a:p>
            <a:pPr algn="ctr"/>
            <a:r>
              <a:rPr lang="ja-GB" altLang="en-US" sz="1200" b="1" dirty="0">
                <a:solidFill>
                  <a:srgbClr val="2F2523"/>
                </a:solidFill>
              </a:rPr>
              <a:t>計算機は文字も数値として管理する</a:t>
            </a:r>
            <a:endParaRPr lang="en-US" altLang="ja-GB" sz="1200" b="1" dirty="0">
              <a:solidFill>
                <a:srgbClr val="2F2523"/>
              </a:solidFill>
            </a:endParaRPr>
          </a:p>
          <a:p>
            <a:pPr algn="ctr"/>
            <a:r>
              <a:rPr lang="ja-GB" altLang="en-US" sz="1200" dirty="0">
                <a:solidFill>
                  <a:srgbClr val="2F2523"/>
                </a:solidFill>
              </a:rPr>
              <a:t>（</a:t>
            </a:r>
            <a:r>
              <a:rPr lang="ja-GB" sz="1200" dirty="0">
                <a:solidFill>
                  <a:srgbClr val="2F2523"/>
                </a:solidFill>
              </a:rPr>
              <a:t>ASCIIコード</a:t>
            </a:r>
            <a:r>
              <a:rPr lang="ja-GB" altLang="en-US" sz="1200" dirty="0">
                <a:solidFill>
                  <a:srgbClr val="2F2523"/>
                </a:solidFill>
              </a:rPr>
              <a:t>）</a:t>
            </a:r>
            <a:endParaRPr lang="ja-GB" sz="1200" dirty="0">
              <a:solidFill>
                <a:srgbClr val="2F2523"/>
              </a:solidFill>
            </a:endParaRPr>
          </a:p>
        </p:txBody>
      </p:sp>
    </p:spTree>
    <p:extLst>
      <p:ext uri="{BB962C8B-B14F-4D97-AF65-F5344CB8AC3E}">
        <p14:creationId xmlns:p14="http://schemas.microsoft.com/office/powerpoint/2010/main" val="37876216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9C1B4-B694-60B1-0FA6-E969D9253B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E514CD-783B-32C5-CF96-5777FD9CC6F8}"/>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891254D5-38F0-DBB3-F35F-C9BA2A9BFBE8}"/>
              </a:ext>
            </a:extLst>
          </p:cNvPr>
          <p:cNvSpPr>
            <a:spLocks noGrp="1"/>
          </p:cNvSpPr>
          <p:nvPr>
            <p:ph idx="1"/>
          </p:nvPr>
        </p:nvSpPr>
        <p:spPr/>
        <p:txBody>
          <a:bodyPr/>
          <a:lstStyle/>
          <a:p>
            <a:pPr marL="457200" indent="-457200">
              <a:buFont typeface="+mj-lt"/>
              <a:buAutoNum type="arabicPeriod"/>
            </a:pPr>
            <a:r>
              <a:rPr lang="ja-GB" altLang="en-US" dirty="0">
                <a:solidFill>
                  <a:schemeClr val="tx1">
                    <a:lumMod val="50000"/>
                    <a:lumOff val="50000"/>
                  </a:schemeClr>
                </a:solidFill>
              </a:rPr>
              <a:t>計算機の仕組み</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計算機内の情報表現</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計算機のハードウェア</a:t>
            </a:r>
            <a:endParaRPr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人間が扱うための仕組み</a:t>
            </a:r>
            <a:endParaRPr kumimoji="1" lang="en-US" altLang="ja-GB" dirty="0">
              <a:solidFill>
                <a:schemeClr val="tx1">
                  <a:lumMod val="50000"/>
                  <a:lumOff val="50000"/>
                </a:schemeClr>
              </a:solidFill>
            </a:endParaRPr>
          </a:p>
          <a:p>
            <a:pPr lvl="1"/>
            <a:endParaRPr lang="en-US" altLang="ja-GB" dirty="0"/>
          </a:p>
          <a:p>
            <a:pPr marL="457200" indent="-457200">
              <a:buFont typeface="+mj-lt"/>
              <a:buAutoNum type="arabicPeriod"/>
            </a:pPr>
            <a:r>
              <a:rPr lang="ja-GB" altLang="en-US" dirty="0"/>
              <a:t>ネットワークの仕組み</a:t>
            </a:r>
            <a:endParaRPr kumimoji="1" lang="en-US" altLang="ja-GB" dirty="0"/>
          </a:p>
          <a:p>
            <a:pPr lvl="1"/>
            <a:r>
              <a:rPr lang="ja-GB" altLang="en-US" dirty="0"/>
              <a:t>計算機同士の情報交換</a:t>
            </a:r>
            <a:endParaRPr kumimoji="1" lang="en-US" altLang="ja-GB" dirty="0"/>
          </a:p>
          <a:p>
            <a:pPr lvl="1"/>
            <a:r>
              <a:rPr lang="ja-GB" altLang="en-US" dirty="0"/>
              <a:t>インターネット</a:t>
            </a:r>
            <a:endParaRPr kumimoji="1" lang="en-US" altLang="ja-GB" dirty="0"/>
          </a:p>
          <a:p>
            <a:pPr lvl="1"/>
            <a:endParaRPr kumimoji="1" lang="en-US" altLang="ja-GB" dirty="0"/>
          </a:p>
          <a:p>
            <a:pPr marL="457200" indent="-457200">
              <a:buFont typeface="+mj-lt"/>
              <a:buAutoNum type="arabicPeriod"/>
            </a:pPr>
            <a:r>
              <a:rPr lang="ja-GB" altLang="en-US" dirty="0">
                <a:solidFill>
                  <a:schemeClr val="tx1">
                    <a:lumMod val="50000"/>
                    <a:lumOff val="50000"/>
                  </a:schemeClr>
                </a:solidFill>
              </a:rPr>
              <a:t>情報システムの仕組み</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情報システムとデータベース</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情報セキュリティ</a:t>
            </a:r>
            <a:endParaRPr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p:txBody>
      </p:sp>
    </p:spTree>
    <p:extLst>
      <p:ext uri="{BB962C8B-B14F-4D97-AF65-F5344CB8AC3E}">
        <p14:creationId xmlns:p14="http://schemas.microsoft.com/office/powerpoint/2010/main" val="34886467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01426-8686-CA34-B795-1DCA3867E2F8}"/>
              </a:ext>
            </a:extLst>
          </p:cNvPr>
          <p:cNvSpPr>
            <a:spLocks noGrp="1"/>
          </p:cNvSpPr>
          <p:nvPr>
            <p:ph type="title"/>
          </p:nvPr>
        </p:nvSpPr>
        <p:spPr/>
        <p:txBody>
          <a:bodyPr/>
          <a:lstStyle/>
          <a:p>
            <a:r>
              <a:rPr kumimoji="1" lang="ja-GB" altLang="en-US" dirty="0"/>
              <a:t>ネットワーク</a:t>
            </a:r>
          </a:p>
        </p:txBody>
      </p:sp>
      <p:sp>
        <p:nvSpPr>
          <p:cNvPr id="3" name="コンテンツ プレースホルダー 2">
            <a:extLst>
              <a:ext uri="{FF2B5EF4-FFF2-40B4-BE49-F238E27FC236}">
                <a16:creationId xmlns:a16="http://schemas.microsoft.com/office/drawing/2014/main" id="{640D8B9A-A435-6B3F-EAF8-E20C9356A219}"/>
              </a:ext>
            </a:extLst>
          </p:cNvPr>
          <p:cNvSpPr>
            <a:spLocks noGrp="1"/>
          </p:cNvSpPr>
          <p:nvPr>
            <p:ph idx="1"/>
          </p:nvPr>
        </p:nvSpPr>
        <p:spPr/>
        <p:txBody>
          <a:bodyPr/>
          <a:lstStyle/>
          <a:p>
            <a:pPr marL="0" indent="0">
              <a:buNone/>
            </a:pPr>
            <a:r>
              <a:rPr lang="ja-GB" altLang="en-US" dirty="0"/>
              <a:t>計算機同士の通信経路を網目上に結んだもの</a:t>
            </a:r>
            <a:endParaRPr lang="en-US" altLang="ja-GB" dirty="0"/>
          </a:p>
          <a:p>
            <a:pPr marL="457200" lvl="1" indent="0">
              <a:buNone/>
            </a:pPr>
            <a:r>
              <a:rPr kumimoji="1" lang="en-US" altLang="ja-GB" dirty="0">
                <a:solidFill>
                  <a:srgbClr val="0070C0"/>
                </a:solidFill>
              </a:rPr>
              <a:t>LAN</a:t>
            </a:r>
            <a:r>
              <a:rPr kumimoji="1" lang="ja-GB" altLang="en-US" dirty="0">
                <a:solidFill>
                  <a:srgbClr val="0070C0"/>
                </a:solidFill>
              </a:rPr>
              <a:t>：</a:t>
            </a:r>
            <a:r>
              <a:rPr lang="en-US" altLang="ja-GB" dirty="0">
                <a:solidFill>
                  <a:srgbClr val="0070C0"/>
                </a:solidFill>
              </a:rPr>
              <a:t>Local Area Network</a:t>
            </a:r>
          </a:p>
          <a:p>
            <a:pPr marL="914400" lvl="2" indent="0">
              <a:buNone/>
            </a:pPr>
            <a:r>
              <a:rPr lang="ja-GB" altLang="en-US" dirty="0"/>
              <a:t>限定された場所</a:t>
            </a:r>
            <a:r>
              <a:rPr kumimoji="1" lang="ja-GB" altLang="en-US" dirty="0"/>
              <a:t>のネットワーク</a:t>
            </a:r>
            <a:endParaRPr kumimoji="1" lang="en-US" altLang="ja-GB" dirty="0"/>
          </a:p>
          <a:p>
            <a:pPr marL="1371600" lvl="3" indent="0">
              <a:buNone/>
            </a:pPr>
            <a:r>
              <a:rPr lang="ja-GB" altLang="en-US" dirty="0"/>
              <a:t>例）大学の無線</a:t>
            </a:r>
            <a:r>
              <a:rPr lang="en-US" altLang="ja-GB" dirty="0"/>
              <a:t>LAN</a:t>
            </a:r>
            <a:r>
              <a:rPr lang="ja-GB" altLang="en-US" dirty="0"/>
              <a:t>，社内</a:t>
            </a:r>
            <a:r>
              <a:rPr lang="en-US" altLang="ja-GB" dirty="0"/>
              <a:t>LAN</a:t>
            </a:r>
            <a:r>
              <a:rPr lang="ja-GB" altLang="en-US" dirty="0"/>
              <a:t>，（</a:t>
            </a:r>
            <a:r>
              <a:rPr lang="en-US" altLang="ja-GB" dirty="0"/>
              <a:t>LAN</a:t>
            </a:r>
            <a:r>
              <a:rPr lang="ja-GB" altLang="en-US" dirty="0"/>
              <a:t>ケーブル）</a:t>
            </a:r>
            <a:endParaRPr lang="en-US" altLang="ja-GB" dirty="0"/>
          </a:p>
          <a:p>
            <a:pPr lvl="4"/>
            <a:endParaRPr kumimoji="1" lang="en-US" altLang="ja-GB" dirty="0"/>
          </a:p>
          <a:p>
            <a:pPr marL="457200" lvl="1" indent="0">
              <a:buNone/>
            </a:pPr>
            <a:r>
              <a:rPr lang="en-US" altLang="ja-GB" dirty="0">
                <a:solidFill>
                  <a:srgbClr val="0070C0"/>
                </a:solidFill>
              </a:rPr>
              <a:t>WAN</a:t>
            </a:r>
            <a:r>
              <a:rPr lang="ja-GB" altLang="en-US" dirty="0">
                <a:solidFill>
                  <a:srgbClr val="0070C0"/>
                </a:solidFill>
              </a:rPr>
              <a:t>：</a:t>
            </a:r>
            <a:r>
              <a:rPr lang="en-US" altLang="ja-GB" dirty="0">
                <a:solidFill>
                  <a:srgbClr val="0070C0"/>
                </a:solidFill>
              </a:rPr>
              <a:t>Wide Area Network</a:t>
            </a:r>
          </a:p>
          <a:p>
            <a:pPr marL="914400" lvl="2" indent="0">
              <a:buNone/>
            </a:pPr>
            <a:r>
              <a:rPr lang="ja-GB" altLang="en-US" dirty="0"/>
              <a:t>遠く離れた地点を結ぶネットワーク</a:t>
            </a:r>
            <a:endParaRPr lang="en-US" altLang="ja-GB" dirty="0"/>
          </a:p>
          <a:p>
            <a:pPr marL="1371600" lvl="3" indent="0">
              <a:buNone/>
            </a:pPr>
            <a:r>
              <a:rPr lang="ja-GB" altLang="en-US" dirty="0"/>
              <a:t>例）電話回線，企業の複数拠点で通信するためのネットワーク</a:t>
            </a:r>
            <a:endParaRPr lang="en-US" altLang="ja-GB" dirty="0"/>
          </a:p>
          <a:p>
            <a:pPr lvl="4"/>
            <a:endParaRPr lang="en-US" altLang="ja-GB" dirty="0"/>
          </a:p>
        </p:txBody>
      </p:sp>
      <p:pic>
        <p:nvPicPr>
          <p:cNvPr id="9" name="グラフィックス 8">
            <a:extLst>
              <a:ext uri="{FF2B5EF4-FFF2-40B4-BE49-F238E27FC236}">
                <a16:creationId xmlns:a16="http://schemas.microsoft.com/office/drawing/2014/main" id="{2157E2B0-BD9B-C608-EFCB-C584441384C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03401" y="3449246"/>
            <a:ext cx="4875401" cy="3047126"/>
          </a:xfrm>
          <a:prstGeom prst="rect">
            <a:avLst/>
          </a:prstGeom>
        </p:spPr>
      </p:pic>
      <p:pic>
        <p:nvPicPr>
          <p:cNvPr id="11" name="グラフィックス 10">
            <a:extLst>
              <a:ext uri="{FF2B5EF4-FFF2-40B4-BE49-F238E27FC236}">
                <a16:creationId xmlns:a16="http://schemas.microsoft.com/office/drawing/2014/main" id="{6F89798E-02E6-E77B-B579-D900948043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0465" y="3085051"/>
            <a:ext cx="5378742" cy="3361714"/>
          </a:xfrm>
          <a:prstGeom prst="rect">
            <a:avLst/>
          </a:prstGeom>
        </p:spPr>
      </p:pic>
      <p:sp>
        <p:nvSpPr>
          <p:cNvPr id="15" name="テキスト ボックス 14">
            <a:extLst>
              <a:ext uri="{FF2B5EF4-FFF2-40B4-BE49-F238E27FC236}">
                <a16:creationId xmlns:a16="http://schemas.microsoft.com/office/drawing/2014/main" id="{1660662D-8CBB-8361-1580-3D7F17BFB560}"/>
              </a:ext>
            </a:extLst>
          </p:cNvPr>
          <p:cNvSpPr txBox="1"/>
          <p:nvPr/>
        </p:nvSpPr>
        <p:spPr>
          <a:xfrm>
            <a:off x="1868841" y="6385329"/>
            <a:ext cx="530915"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LAN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16" name="テキスト ボックス 15">
            <a:extLst>
              <a:ext uri="{FF2B5EF4-FFF2-40B4-BE49-F238E27FC236}">
                <a16:creationId xmlns:a16="http://schemas.microsoft.com/office/drawing/2014/main" id="{5DE5801A-0E3B-B9D4-69C9-F65568ABED25}"/>
              </a:ext>
            </a:extLst>
          </p:cNvPr>
          <p:cNvSpPr txBox="1"/>
          <p:nvPr/>
        </p:nvSpPr>
        <p:spPr>
          <a:xfrm>
            <a:off x="6241899" y="6388622"/>
            <a:ext cx="615874"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WAN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5412945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03E9C-9F81-3D2A-17CC-9D2CF9031DBC}"/>
              </a:ext>
            </a:extLst>
          </p:cNvPr>
          <p:cNvSpPr>
            <a:spLocks noGrp="1"/>
          </p:cNvSpPr>
          <p:nvPr>
            <p:ph type="title"/>
          </p:nvPr>
        </p:nvSpPr>
        <p:spPr/>
        <p:txBody>
          <a:bodyPr/>
          <a:lstStyle/>
          <a:p>
            <a:r>
              <a:rPr kumimoji="1" lang="ja-GB" altLang="en-US" dirty="0"/>
              <a:t>インターネット</a:t>
            </a:r>
          </a:p>
        </p:txBody>
      </p:sp>
      <p:sp>
        <p:nvSpPr>
          <p:cNvPr id="3" name="コンテンツ プレースホルダー 2">
            <a:extLst>
              <a:ext uri="{FF2B5EF4-FFF2-40B4-BE49-F238E27FC236}">
                <a16:creationId xmlns:a16="http://schemas.microsoft.com/office/drawing/2014/main" id="{6FA88A49-48AB-AA7B-1362-54D9C213F35B}"/>
              </a:ext>
            </a:extLst>
          </p:cNvPr>
          <p:cNvSpPr>
            <a:spLocks noGrp="1"/>
          </p:cNvSpPr>
          <p:nvPr>
            <p:ph idx="1"/>
          </p:nvPr>
        </p:nvSpPr>
        <p:spPr/>
        <p:txBody>
          <a:bodyPr/>
          <a:lstStyle/>
          <a:p>
            <a:pPr marL="0" indent="0">
              <a:buNone/>
            </a:pPr>
            <a:r>
              <a:rPr kumimoji="1" lang="ja-GB" altLang="en-US" dirty="0"/>
              <a:t>世界中のネットワークを相互に接続可能にする通信経路</a:t>
            </a:r>
            <a:endParaRPr kumimoji="1" lang="en-US" altLang="ja-GB" dirty="0"/>
          </a:p>
          <a:p>
            <a:pPr marL="457200" lvl="1" indent="0">
              <a:buNone/>
            </a:pPr>
            <a:r>
              <a:rPr lang="ja-GB" altLang="en-US" dirty="0">
                <a:solidFill>
                  <a:srgbClr val="0070C0"/>
                </a:solidFill>
              </a:rPr>
              <a:t>インターネット</a:t>
            </a:r>
            <a:endParaRPr lang="en-US" altLang="ja-GB" dirty="0">
              <a:solidFill>
                <a:srgbClr val="0070C0"/>
              </a:solidFill>
            </a:endParaRPr>
          </a:p>
          <a:p>
            <a:pPr marL="914400" lvl="2" indent="0">
              <a:buNone/>
            </a:pPr>
            <a:r>
              <a:rPr lang="en-US" altLang="ja-GB" sz="1600" dirty="0">
                <a:solidFill>
                  <a:srgbClr val="2F2523"/>
                </a:solidFill>
              </a:rPr>
              <a:t>Inter + net</a:t>
            </a:r>
            <a:r>
              <a:rPr lang="ja-GB" altLang="en-US" sz="1600" dirty="0">
                <a:solidFill>
                  <a:srgbClr val="2F2523"/>
                </a:solidFill>
              </a:rPr>
              <a:t>：中間の</a:t>
            </a:r>
            <a:r>
              <a:rPr lang="en-US" altLang="ja-GB" sz="1600" dirty="0">
                <a:solidFill>
                  <a:srgbClr val="2F2523"/>
                </a:solidFill>
              </a:rPr>
              <a:t>/</a:t>
            </a:r>
            <a:r>
              <a:rPr lang="ja-GB" altLang="en-US" sz="1600" dirty="0">
                <a:solidFill>
                  <a:srgbClr val="2F2523"/>
                </a:solidFill>
              </a:rPr>
              <a:t>相互の</a:t>
            </a:r>
            <a:r>
              <a:rPr lang="en-US" altLang="ja-GB" sz="1600" dirty="0">
                <a:solidFill>
                  <a:srgbClr val="2F2523"/>
                </a:solidFill>
              </a:rPr>
              <a:t> + </a:t>
            </a:r>
            <a:r>
              <a:rPr lang="ja-GB" altLang="en-US" sz="1600" dirty="0">
                <a:solidFill>
                  <a:srgbClr val="2F2523"/>
                </a:solidFill>
              </a:rPr>
              <a:t>ネットワーク</a:t>
            </a:r>
            <a:endParaRPr lang="en-US" altLang="ja-GB" sz="1600" dirty="0">
              <a:solidFill>
                <a:srgbClr val="2F2523"/>
              </a:solidFill>
            </a:endParaRPr>
          </a:p>
          <a:p>
            <a:pPr marL="1371600" lvl="3" indent="0">
              <a:buNone/>
            </a:pPr>
            <a:r>
              <a:rPr lang="en-US" altLang="ja-GB" sz="1400" dirty="0">
                <a:solidFill>
                  <a:srgbClr val="2F2523"/>
                </a:solidFill>
              </a:rPr>
              <a:t>→</a:t>
            </a:r>
            <a:r>
              <a:rPr lang="ja-GB" altLang="en-US" sz="1400" dirty="0">
                <a:solidFill>
                  <a:schemeClr val="accent2"/>
                </a:solidFill>
              </a:rPr>
              <a:t>ネットワークとネットワークを接続したもの</a:t>
            </a:r>
            <a:endParaRPr lang="en-US" altLang="ja-GB" sz="1400" dirty="0">
              <a:solidFill>
                <a:schemeClr val="accent2"/>
              </a:solidFill>
            </a:endParaRPr>
          </a:p>
          <a:p>
            <a:pPr marL="914400" lvl="2" indent="0">
              <a:buNone/>
            </a:pPr>
            <a:r>
              <a:rPr lang="ja-GB" altLang="en-US" sz="1600" dirty="0">
                <a:solidFill>
                  <a:srgbClr val="2F2523"/>
                </a:solidFill>
              </a:rPr>
              <a:t>世界中のネットワーク同士の通信経路を網状に結んだもの</a:t>
            </a:r>
            <a:endParaRPr lang="en-US" altLang="ja-GB" sz="1600" dirty="0">
              <a:solidFill>
                <a:srgbClr val="2F2523"/>
              </a:solidFill>
            </a:endParaRPr>
          </a:p>
          <a:p>
            <a:pPr marL="1371600" lvl="3" indent="0">
              <a:buNone/>
            </a:pPr>
            <a:r>
              <a:rPr lang="en-US" altLang="ja-GB" sz="1400" dirty="0">
                <a:solidFill>
                  <a:srgbClr val="2F2523"/>
                </a:solidFill>
              </a:rPr>
              <a:t>→</a:t>
            </a:r>
            <a:r>
              <a:rPr lang="ja-GB" altLang="en-US" sz="1400" dirty="0">
                <a:solidFill>
                  <a:schemeClr val="accent2"/>
                </a:solidFill>
              </a:rPr>
              <a:t>接続されたネットワークの中にいれば，別のネットワークの端末にもアクセス可能</a:t>
            </a:r>
            <a:endParaRPr lang="en-US" altLang="ja-GB" sz="1400" dirty="0">
              <a:solidFill>
                <a:schemeClr val="accent2"/>
              </a:solidFill>
            </a:endParaRPr>
          </a:p>
          <a:p>
            <a:pPr lvl="4"/>
            <a:endParaRPr lang="en-US" altLang="ja-GB" dirty="0"/>
          </a:p>
          <a:p>
            <a:pPr marL="457200" lvl="1" indent="0">
              <a:buNone/>
            </a:pPr>
            <a:r>
              <a:rPr lang="en-US" altLang="ja-GB" dirty="0">
                <a:solidFill>
                  <a:srgbClr val="0070C0"/>
                </a:solidFill>
              </a:rPr>
              <a:t>VPN</a:t>
            </a:r>
            <a:r>
              <a:rPr lang="ja-GB" altLang="en-US" dirty="0">
                <a:solidFill>
                  <a:srgbClr val="0070C0"/>
                </a:solidFill>
              </a:rPr>
              <a:t>：</a:t>
            </a:r>
            <a:r>
              <a:rPr lang="en-US" altLang="ja-GB" dirty="0">
                <a:solidFill>
                  <a:srgbClr val="0070C0"/>
                </a:solidFill>
              </a:rPr>
              <a:t>Virtual Private Network</a:t>
            </a:r>
          </a:p>
          <a:p>
            <a:pPr marL="914400" lvl="2" indent="0">
              <a:buNone/>
            </a:pPr>
            <a:r>
              <a:rPr lang="ja-GB" altLang="en-US" sz="1600" dirty="0"/>
              <a:t>インターネット上に作られた仮想的なネットワーク</a:t>
            </a:r>
            <a:endParaRPr lang="en-US" altLang="ja-GB" sz="1600" dirty="0"/>
          </a:p>
          <a:p>
            <a:pPr marL="1371600" lvl="3" indent="0">
              <a:buNone/>
            </a:pPr>
            <a:r>
              <a:rPr lang="en-US" altLang="ja-GB" sz="1400" dirty="0"/>
              <a:t>→</a:t>
            </a:r>
            <a:r>
              <a:rPr lang="en-US" altLang="ja-GB" sz="1400" dirty="0">
                <a:solidFill>
                  <a:schemeClr val="accent2"/>
                </a:solidFill>
              </a:rPr>
              <a:t>VPN</a:t>
            </a:r>
            <a:r>
              <a:rPr lang="ja-GB" altLang="en-US" sz="1400" dirty="0">
                <a:solidFill>
                  <a:schemeClr val="accent2"/>
                </a:solidFill>
              </a:rPr>
              <a:t>で結ばれたネットワーク内の端末同士でのみアクセス可能</a:t>
            </a:r>
            <a:endParaRPr lang="en-US" altLang="ja-GB" sz="1400" dirty="0">
              <a:solidFill>
                <a:schemeClr val="accent2"/>
              </a:solidFill>
            </a:endParaRPr>
          </a:p>
          <a:p>
            <a:pPr marL="914400" lvl="2" indent="0">
              <a:buNone/>
            </a:pPr>
            <a:r>
              <a:rPr lang="ja-GB" altLang="en-US" sz="1600" dirty="0"/>
              <a:t>例）在宅ワーク用</a:t>
            </a:r>
            <a:r>
              <a:rPr lang="en-US" altLang="ja-GB" sz="1600" dirty="0"/>
              <a:t>VPN</a:t>
            </a:r>
            <a:r>
              <a:rPr lang="ja-GB" altLang="en-US" sz="1600" dirty="0"/>
              <a:t>，大学</a:t>
            </a:r>
            <a:r>
              <a:rPr lang="en-US" altLang="ja-GB" sz="1600" dirty="0"/>
              <a:t>VPN</a:t>
            </a:r>
            <a:r>
              <a:rPr lang="ja-GB" altLang="en-US" sz="1600" dirty="0"/>
              <a:t>，海外</a:t>
            </a:r>
            <a:r>
              <a:rPr lang="en-US" altLang="ja-GB" sz="1600" dirty="0"/>
              <a:t>VPN</a:t>
            </a:r>
            <a:endParaRPr kumimoji="1" lang="ja-GB" altLang="en-US" sz="1600" dirty="0"/>
          </a:p>
        </p:txBody>
      </p:sp>
      <p:pic>
        <p:nvPicPr>
          <p:cNvPr id="6" name="グラフィックス 5">
            <a:extLst>
              <a:ext uri="{FF2B5EF4-FFF2-40B4-BE49-F238E27FC236}">
                <a16:creationId xmlns:a16="http://schemas.microsoft.com/office/drawing/2014/main" id="{4640959C-34A2-6AFB-AD8D-7F220DEAD47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2218" y="3655032"/>
            <a:ext cx="4666944" cy="2916840"/>
          </a:xfrm>
          <a:prstGeom prst="rect">
            <a:avLst/>
          </a:prstGeom>
        </p:spPr>
      </p:pic>
      <p:pic>
        <p:nvPicPr>
          <p:cNvPr id="7" name="グラフィックス 6">
            <a:extLst>
              <a:ext uri="{FF2B5EF4-FFF2-40B4-BE49-F238E27FC236}">
                <a16:creationId xmlns:a16="http://schemas.microsoft.com/office/drawing/2014/main" id="{8B452D6A-C2E1-676B-FBB8-D447297930F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477055" y="3655032"/>
            <a:ext cx="4666945" cy="2916840"/>
          </a:xfrm>
          <a:prstGeom prst="rect">
            <a:avLst/>
          </a:prstGeom>
        </p:spPr>
      </p:pic>
      <p:sp>
        <p:nvSpPr>
          <p:cNvPr id="13" name="テキスト ボックス 12">
            <a:extLst>
              <a:ext uri="{FF2B5EF4-FFF2-40B4-BE49-F238E27FC236}">
                <a16:creationId xmlns:a16="http://schemas.microsoft.com/office/drawing/2014/main" id="{14CC775A-142D-2BC2-B85B-D74CE51E7261}"/>
              </a:ext>
            </a:extLst>
          </p:cNvPr>
          <p:cNvSpPr txBox="1"/>
          <p:nvPr/>
        </p:nvSpPr>
        <p:spPr>
          <a:xfrm>
            <a:off x="1838487" y="6398086"/>
            <a:ext cx="1114408"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rPr>
              <a:t>インターネット</a:t>
            </a:r>
          </a:p>
        </p:txBody>
      </p:sp>
      <p:sp>
        <p:nvSpPr>
          <p:cNvPr id="14" name="テキスト ボックス 13">
            <a:extLst>
              <a:ext uri="{FF2B5EF4-FFF2-40B4-BE49-F238E27FC236}">
                <a16:creationId xmlns:a16="http://schemas.microsoft.com/office/drawing/2014/main" id="{22267CF2-FD41-B1B1-007F-4C427D74840E}"/>
              </a:ext>
            </a:extLst>
          </p:cNvPr>
          <p:cNvSpPr txBox="1"/>
          <p:nvPr/>
        </p:nvSpPr>
        <p:spPr>
          <a:xfrm>
            <a:off x="6539459" y="6344907"/>
            <a:ext cx="542136"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VPN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3894534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AE6F-882C-99AF-0FC9-A040C1E534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D15CF2-41D7-FA79-B485-F4194E1048FE}"/>
              </a:ext>
            </a:extLst>
          </p:cNvPr>
          <p:cNvSpPr>
            <a:spLocks noGrp="1"/>
          </p:cNvSpPr>
          <p:nvPr>
            <p:ph type="title"/>
          </p:nvPr>
        </p:nvSpPr>
        <p:spPr/>
        <p:txBody>
          <a:bodyPr/>
          <a:lstStyle/>
          <a:p>
            <a:r>
              <a:rPr kumimoji="1" lang="ja-GB" altLang="en-US" dirty="0"/>
              <a:t>本日の内容</a:t>
            </a:r>
          </a:p>
        </p:txBody>
      </p:sp>
      <p:sp>
        <p:nvSpPr>
          <p:cNvPr id="3" name="コンテンツ プレースホルダー 2">
            <a:extLst>
              <a:ext uri="{FF2B5EF4-FFF2-40B4-BE49-F238E27FC236}">
                <a16:creationId xmlns:a16="http://schemas.microsoft.com/office/drawing/2014/main" id="{1C24FD9A-836F-0C7C-094D-0DD8B0D2FAA7}"/>
              </a:ext>
            </a:extLst>
          </p:cNvPr>
          <p:cNvSpPr>
            <a:spLocks noGrp="1"/>
          </p:cNvSpPr>
          <p:nvPr>
            <p:ph idx="1"/>
          </p:nvPr>
        </p:nvSpPr>
        <p:spPr/>
        <p:txBody>
          <a:bodyPr/>
          <a:lstStyle/>
          <a:p>
            <a:pPr marL="457200" indent="-457200">
              <a:buFont typeface="+mj-lt"/>
              <a:buAutoNum type="arabicPeriod"/>
            </a:pPr>
            <a:r>
              <a:rPr lang="ja-GB" altLang="en-US" dirty="0">
                <a:solidFill>
                  <a:schemeClr val="tx1">
                    <a:lumMod val="50000"/>
                    <a:lumOff val="50000"/>
                  </a:schemeClr>
                </a:solidFill>
              </a:rPr>
              <a:t>計算機の仕組み</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計算機内の情報表現</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計算機のハードウェア</a:t>
            </a:r>
            <a:endParaRPr lang="en-US" altLang="ja-GB" dirty="0">
              <a:solidFill>
                <a:schemeClr val="tx1">
                  <a:lumMod val="50000"/>
                  <a:lumOff val="50000"/>
                </a:schemeClr>
              </a:solidFill>
            </a:endParaRPr>
          </a:p>
          <a:p>
            <a:pPr lvl="1"/>
            <a:r>
              <a:rPr kumimoji="1" lang="ja-GB" altLang="en-US" dirty="0">
                <a:solidFill>
                  <a:schemeClr val="tx1">
                    <a:lumMod val="50000"/>
                    <a:lumOff val="50000"/>
                  </a:schemeClr>
                </a:solidFill>
              </a:rPr>
              <a:t>人間が扱うための仕組み</a:t>
            </a:r>
            <a:endParaRPr kumimoji="1" lang="en-US" altLang="ja-GB" dirty="0">
              <a:solidFill>
                <a:schemeClr val="tx1">
                  <a:lumMod val="50000"/>
                  <a:lumOff val="50000"/>
                </a:schemeClr>
              </a:solidFill>
            </a:endParaRPr>
          </a:p>
          <a:p>
            <a:pPr lvl="1"/>
            <a:endParaRPr lang="en-US" altLang="ja-GB" dirty="0">
              <a:solidFill>
                <a:schemeClr val="tx1">
                  <a:lumMod val="50000"/>
                  <a:lumOff val="50000"/>
                </a:schemeClr>
              </a:solidFill>
            </a:endParaRPr>
          </a:p>
          <a:p>
            <a:pPr marL="457200" indent="-457200">
              <a:buFont typeface="+mj-lt"/>
              <a:buAutoNum type="arabicPeriod"/>
            </a:pPr>
            <a:r>
              <a:rPr lang="ja-GB" altLang="en-US" dirty="0">
                <a:solidFill>
                  <a:schemeClr val="tx1">
                    <a:lumMod val="50000"/>
                    <a:lumOff val="50000"/>
                  </a:schemeClr>
                </a:solidFill>
              </a:rPr>
              <a:t>ネットワークの仕組み</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計算機同士の情報交換</a:t>
            </a:r>
            <a:endParaRPr kumimoji="1" lang="en-US" altLang="ja-GB" dirty="0">
              <a:solidFill>
                <a:schemeClr val="tx1">
                  <a:lumMod val="50000"/>
                  <a:lumOff val="50000"/>
                </a:schemeClr>
              </a:solidFill>
            </a:endParaRPr>
          </a:p>
          <a:p>
            <a:pPr lvl="1"/>
            <a:r>
              <a:rPr lang="ja-GB" altLang="en-US" dirty="0">
                <a:solidFill>
                  <a:schemeClr val="tx1">
                    <a:lumMod val="50000"/>
                    <a:lumOff val="50000"/>
                  </a:schemeClr>
                </a:solidFill>
              </a:rPr>
              <a:t>インターネット</a:t>
            </a:r>
            <a:endParaRPr kumimoji="1" lang="en-US" altLang="ja-GB" dirty="0">
              <a:solidFill>
                <a:schemeClr val="tx1">
                  <a:lumMod val="50000"/>
                  <a:lumOff val="50000"/>
                </a:schemeClr>
              </a:solidFill>
            </a:endParaRPr>
          </a:p>
          <a:p>
            <a:pPr lvl="1"/>
            <a:endParaRPr kumimoji="1" lang="en-US" altLang="ja-GB" dirty="0"/>
          </a:p>
          <a:p>
            <a:pPr marL="457200" indent="-457200">
              <a:buFont typeface="+mj-lt"/>
              <a:buAutoNum type="arabicPeriod"/>
            </a:pPr>
            <a:r>
              <a:rPr lang="ja-GB" altLang="en-US" dirty="0"/>
              <a:t>情報システムの仕組み</a:t>
            </a:r>
            <a:endParaRPr lang="en-US" altLang="ja-GB" dirty="0"/>
          </a:p>
          <a:p>
            <a:pPr lvl="1"/>
            <a:r>
              <a:rPr lang="ja-GB" altLang="en-US" dirty="0"/>
              <a:t>情報システムとデータベース</a:t>
            </a:r>
            <a:endParaRPr lang="en-US" altLang="ja-GB" dirty="0"/>
          </a:p>
          <a:p>
            <a:pPr lvl="1"/>
            <a:r>
              <a:rPr lang="ja-GB" altLang="en-US" dirty="0"/>
              <a:t>情報セキュリティ</a:t>
            </a:r>
            <a:endParaRPr lang="en-US" altLang="ja-GB" dirty="0"/>
          </a:p>
          <a:p>
            <a:pPr lvl="1"/>
            <a:endParaRPr lang="en-US" altLang="ja-GB" dirty="0"/>
          </a:p>
        </p:txBody>
      </p:sp>
    </p:spTree>
    <p:extLst>
      <p:ext uri="{BB962C8B-B14F-4D97-AF65-F5344CB8AC3E}">
        <p14:creationId xmlns:p14="http://schemas.microsoft.com/office/powerpoint/2010/main" val="24866060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01426-8686-CA34-B795-1DCA3867E2F8}"/>
              </a:ext>
            </a:extLst>
          </p:cNvPr>
          <p:cNvSpPr>
            <a:spLocks noGrp="1"/>
          </p:cNvSpPr>
          <p:nvPr>
            <p:ph type="title"/>
          </p:nvPr>
        </p:nvSpPr>
        <p:spPr/>
        <p:txBody>
          <a:bodyPr/>
          <a:lstStyle/>
          <a:p>
            <a:r>
              <a:rPr kumimoji="1" lang="ja-GB" altLang="en-US" dirty="0"/>
              <a:t>ネットワーク</a:t>
            </a:r>
          </a:p>
        </p:txBody>
      </p:sp>
      <p:sp>
        <p:nvSpPr>
          <p:cNvPr id="3" name="コンテンツ プレースホルダー 2">
            <a:extLst>
              <a:ext uri="{FF2B5EF4-FFF2-40B4-BE49-F238E27FC236}">
                <a16:creationId xmlns:a16="http://schemas.microsoft.com/office/drawing/2014/main" id="{640D8B9A-A435-6B3F-EAF8-E20C9356A219}"/>
              </a:ext>
            </a:extLst>
          </p:cNvPr>
          <p:cNvSpPr>
            <a:spLocks noGrp="1"/>
          </p:cNvSpPr>
          <p:nvPr>
            <p:ph idx="1"/>
          </p:nvPr>
        </p:nvSpPr>
        <p:spPr/>
        <p:txBody>
          <a:bodyPr/>
          <a:lstStyle/>
          <a:p>
            <a:pPr marL="0" indent="0">
              <a:buNone/>
            </a:pPr>
            <a:r>
              <a:rPr lang="ja-GB" altLang="en-US" dirty="0"/>
              <a:t>計算機同士の通信経路を網目上に結んだもの</a:t>
            </a:r>
            <a:endParaRPr lang="en-US" altLang="ja-GB" dirty="0"/>
          </a:p>
          <a:p>
            <a:pPr marL="457200" lvl="1" indent="0">
              <a:buNone/>
            </a:pPr>
            <a:r>
              <a:rPr kumimoji="1" lang="en-US" altLang="ja-GB" dirty="0">
                <a:solidFill>
                  <a:srgbClr val="0070C0"/>
                </a:solidFill>
              </a:rPr>
              <a:t>LAN</a:t>
            </a:r>
            <a:r>
              <a:rPr kumimoji="1" lang="ja-GB" altLang="en-US" dirty="0">
                <a:solidFill>
                  <a:srgbClr val="0070C0"/>
                </a:solidFill>
              </a:rPr>
              <a:t>：</a:t>
            </a:r>
            <a:r>
              <a:rPr lang="en-US" altLang="ja-GB" dirty="0">
                <a:solidFill>
                  <a:srgbClr val="0070C0"/>
                </a:solidFill>
              </a:rPr>
              <a:t>Local Area Network</a:t>
            </a:r>
          </a:p>
          <a:p>
            <a:pPr marL="914400" lvl="2" indent="0">
              <a:buNone/>
            </a:pPr>
            <a:r>
              <a:rPr lang="ja-GB" altLang="en-US" dirty="0"/>
              <a:t>限定された場所</a:t>
            </a:r>
            <a:r>
              <a:rPr kumimoji="1" lang="ja-GB" altLang="en-US" dirty="0"/>
              <a:t>のネットワーク</a:t>
            </a:r>
            <a:endParaRPr kumimoji="1" lang="en-US" altLang="ja-GB" dirty="0"/>
          </a:p>
          <a:p>
            <a:pPr marL="1371600" lvl="3" indent="0">
              <a:buNone/>
            </a:pPr>
            <a:r>
              <a:rPr lang="ja-GB" altLang="en-US" dirty="0"/>
              <a:t>例）大学の無線</a:t>
            </a:r>
            <a:r>
              <a:rPr lang="en-US" altLang="ja-GB" dirty="0"/>
              <a:t>LAN</a:t>
            </a:r>
            <a:r>
              <a:rPr lang="ja-GB" altLang="en-US" dirty="0"/>
              <a:t>，社内</a:t>
            </a:r>
            <a:r>
              <a:rPr lang="en-US" altLang="ja-GB" dirty="0"/>
              <a:t>LAN</a:t>
            </a:r>
            <a:r>
              <a:rPr lang="ja-GB" altLang="en-US" dirty="0"/>
              <a:t>，（</a:t>
            </a:r>
            <a:r>
              <a:rPr lang="en-US" altLang="ja-GB" dirty="0"/>
              <a:t>LAN</a:t>
            </a:r>
            <a:r>
              <a:rPr lang="ja-GB" altLang="en-US" dirty="0"/>
              <a:t>ケーブル）</a:t>
            </a:r>
            <a:endParaRPr lang="en-US" altLang="ja-GB" dirty="0"/>
          </a:p>
          <a:p>
            <a:pPr lvl="4"/>
            <a:endParaRPr kumimoji="1" lang="en-US" altLang="ja-GB" dirty="0"/>
          </a:p>
          <a:p>
            <a:pPr marL="457200" lvl="1" indent="0">
              <a:buNone/>
            </a:pPr>
            <a:r>
              <a:rPr lang="en-US" altLang="ja-GB" dirty="0">
                <a:solidFill>
                  <a:srgbClr val="0070C0"/>
                </a:solidFill>
              </a:rPr>
              <a:t>WAN</a:t>
            </a:r>
            <a:r>
              <a:rPr lang="ja-GB" altLang="en-US" dirty="0">
                <a:solidFill>
                  <a:srgbClr val="0070C0"/>
                </a:solidFill>
              </a:rPr>
              <a:t>：</a:t>
            </a:r>
            <a:r>
              <a:rPr lang="en-US" altLang="ja-GB" dirty="0">
                <a:solidFill>
                  <a:srgbClr val="0070C0"/>
                </a:solidFill>
              </a:rPr>
              <a:t>Wide Area Network</a:t>
            </a:r>
          </a:p>
          <a:p>
            <a:pPr marL="914400" lvl="2" indent="0">
              <a:buNone/>
            </a:pPr>
            <a:r>
              <a:rPr lang="ja-GB" altLang="en-US" dirty="0"/>
              <a:t>遠く離れた地点を結ぶネットワーク</a:t>
            </a:r>
            <a:endParaRPr lang="en-US" altLang="ja-GB" dirty="0"/>
          </a:p>
          <a:p>
            <a:pPr marL="1371600" lvl="3" indent="0">
              <a:buNone/>
            </a:pPr>
            <a:r>
              <a:rPr lang="ja-GB" altLang="en-US" dirty="0"/>
              <a:t>例）電話回線，企業の複数拠点で通信するためのネットワーク</a:t>
            </a:r>
            <a:endParaRPr lang="en-US" altLang="ja-GB" dirty="0"/>
          </a:p>
          <a:p>
            <a:pPr lvl="4"/>
            <a:endParaRPr lang="en-US" altLang="ja-GB" dirty="0"/>
          </a:p>
        </p:txBody>
      </p:sp>
      <p:pic>
        <p:nvPicPr>
          <p:cNvPr id="9" name="グラフィックス 8">
            <a:extLst>
              <a:ext uri="{FF2B5EF4-FFF2-40B4-BE49-F238E27FC236}">
                <a16:creationId xmlns:a16="http://schemas.microsoft.com/office/drawing/2014/main" id="{2157E2B0-BD9B-C608-EFCB-C584441384C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03401" y="3449246"/>
            <a:ext cx="4875401" cy="3047126"/>
          </a:xfrm>
          <a:prstGeom prst="rect">
            <a:avLst/>
          </a:prstGeom>
        </p:spPr>
      </p:pic>
      <p:pic>
        <p:nvPicPr>
          <p:cNvPr id="11" name="グラフィックス 10">
            <a:extLst>
              <a:ext uri="{FF2B5EF4-FFF2-40B4-BE49-F238E27FC236}">
                <a16:creationId xmlns:a16="http://schemas.microsoft.com/office/drawing/2014/main" id="{6F89798E-02E6-E77B-B579-D900948043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0465" y="3085051"/>
            <a:ext cx="5378742" cy="3361714"/>
          </a:xfrm>
          <a:prstGeom prst="rect">
            <a:avLst/>
          </a:prstGeom>
        </p:spPr>
      </p:pic>
      <p:sp>
        <p:nvSpPr>
          <p:cNvPr id="15" name="テキスト ボックス 14">
            <a:extLst>
              <a:ext uri="{FF2B5EF4-FFF2-40B4-BE49-F238E27FC236}">
                <a16:creationId xmlns:a16="http://schemas.microsoft.com/office/drawing/2014/main" id="{1660662D-8CBB-8361-1580-3D7F17BFB560}"/>
              </a:ext>
            </a:extLst>
          </p:cNvPr>
          <p:cNvSpPr txBox="1"/>
          <p:nvPr/>
        </p:nvSpPr>
        <p:spPr>
          <a:xfrm>
            <a:off x="1868841" y="6385329"/>
            <a:ext cx="530915"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LAN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
        <p:nvSpPr>
          <p:cNvPr id="16" name="テキスト ボックス 15">
            <a:extLst>
              <a:ext uri="{FF2B5EF4-FFF2-40B4-BE49-F238E27FC236}">
                <a16:creationId xmlns:a16="http://schemas.microsoft.com/office/drawing/2014/main" id="{5DE5801A-0E3B-B9D4-69C9-F65568ABED25}"/>
              </a:ext>
            </a:extLst>
          </p:cNvPr>
          <p:cNvSpPr txBox="1"/>
          <p:nvPr/>
        </p:nvSpPr>
        <p:spPr>
          <a:xfrm>
            <a:off x="6241899" y="6388622"/>
            <a:ext cx="615874"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WAN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1293076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03E9C-9F81-3D2A-17CC-9D2CF9031DBC}"/>
              </a:ext>
            </a:extLst>
          </p:cNvPr>
          <p:cNvSpPr>
            <a:spLocks noGrp="1"/>
          </p:cNvSpPr>
          <p:nvPr>
            <p:ph type="title"/>
          </p:nvPr>
        </p:nvSpPr>
        <p:spPr/>
        <p:txBody>
          <a:bodyPr/>
          <a:lstStyle/>
          <a:p>
            <a:r>
              <a:rPr kumimoji="1" lang="ja-GB" altLang="en-US" dirty="0"/>
              <a:t>インターネット</a:t>
            </a:r>
          </a:p>
        </p:txBody>
      </p:sp>
      <p:sp>
        <p:nvSpPr>
          <p:cNvPr id="3" name="コンテンツ プレースホルダー 2">
            <a:extLst>
              <a:ext uri="{FF2B5EF4-FFF2-40B4-BE49-F238E27FC236}">
                <a16:creationId xmlns:a16="http://schemas.microsoft.com/office/drawing/2014/main" id="{6FA88A49-48AB-AA7B-1362-54D9C213F35B}"/>
              </a:ext>
            </a:extLst>
          </p:cNvPr>
          <p:cNvSpPr>
            <a:spLocks noGrp="1"/>
          </p:cNvSpPr>
          <p:nvPr>
            <p:ph idx="1"/>
          </p:nvPr>
        </p:nvSpPr>
        <p:spPr/>
        <p:txBody>
          <a:bodyPr/>
          <a:lstStyle/>
          <a:p>
            <a:pPr marL="0" indent="0">
              <a:buNone/>
            </a:pPr>
            <a:r>
              <a:rPr kumimoji="1" lang="ja-GB" altLang="en-US" dirty="0"/>
              <a:t>世界中のネットワークを相互に接続可能にする通信経路</a:t>
            </a:r>
            <a:endParaRPr kumimoji="1" lang="en-US" altLang="ja-GB" dirty="0"/>
          </a:p>
          <a:p>
            <a:pPr marL="457200" lvl="1" indent="0">
              <a:buNone/>
            </a:pPr>
            <a:r>
              <a:rPr lang="ja-GB" altLang="en-US" dirty="0">
                <a:solidFill>
                  <a:srgbClr val="0070C0"/>
                </a:solidFill>
              </a:rPr>
              <a:t>インターネット</a:t>
            </a:r>
            <a:endParaRPr lang="en-US" altLang="ja-GB" dirty="0">
              <a:solidFill>
                <a:srgbClr val="0070C0"/>
              </a:solidFill>
            </a:endParaRPr>
          </a:p>
          <a:p>
            <a:pPr marL="914400" lvl="2" indent="0">
              <a:buNone/>
            </a:pPr>
            <a:r>
              <a:rPr lang="en-US" altLang="ja-GB" sz="1600" dirty="0">
                <a:solidFill>
                  <a:srgbClr val="2F2523"/>
                </a:solidFill>
              </a:rPr>
              <a:t>Inter + net</a:t>
            </a:r>
            <a:r>
              <a:rPr lang="ja-GB" altLang="en-US" sz="1600" dirty="0">
                <a:solidFill>
                  <a:srgbClr val="2F2523"/>
                </a:solidFill>
              </a:rPr>
              <a:t>：中間の</a:t>
            </a:r>
            <a:r>
              <a:rPr lang="en-US" altLang="ja-GB" sz="1600" dirty="0">
                <a:solidFill>
                  <a:srgbClr val="2F2523"/>
                </a:solidFill>
              </a:rPr>
              <a:t>/</a:t>
            </a:r>
            <a:r>
              <a:rPr lang="ja-GB" altLang="en-US" sz="1600" dirty="0">
                <a:solidFill>
                  <a:srgbClr val="2F2523"/>
                </a:solidFill>
              </a:rPr>
              <a:t>相互の</a:t>
            </a:r>
            <a:r>
              <a:rPr lang="en-US" altLang="ja-GB" sz="1600" dirty="0">
                <a:solidFill>
                  <a:srgbClr val="2F2523"/>
                </a:solidFill>
              </a:rPr>
              <a:t> + </a:t>
            </a:r>
            <a:r>
              <a:rPr lang="ja-GB" altLang="en-US" sz="1600" dirty="0">
                <a:solidFill>
                  <a:srgbClr val="2F2523"/>
                </a:solidFill>
              </a:rPr>
              <a:t>ネットワーク</a:t>
            </a:r>
            <a:endParaRPr lang="en-US" altLang="ja-GB" sz="1600" dirty="0">
              <a:solidFill>
                <a:srgbClr val="2F2523"/>
              </a:solidFill>
            </a:endParaRPr>
          </a:p>
          <a:p>
            <a:pPr marL="1371600" lvl="3" indent="0">
              <a:buNone/>
            </a:pPr>
            <a:r>
              <a:rPr lang="en-US" altLang="ja-GB" sz="1400" dirty="0">
                <a:solidFill>
                  <a:srgbClr val="2F2523"/>
                </a:solidFill>
              </a:rPr>
              <a:t>→</a:t>
            </a:r>
            <a:r>
              <a:rPr lang="ja-GB" altLang="en-US" sz="1400" dirty="0">
                <a:solidFill>
                  <a:schemeClr val="accent2"/>
                </a:solidFill>
              </a:rPr>
              <a:t>ネットワークとネットワークを接続したもの</a:t>
            </a:r>
            <a:endParaRPr lang="en-US" altLang="ja-GB" sz="1400" dirty="0">
              <a:solidFill>
                <a:schemeClr val="accent2"/>
              </a:solidFill>
            </a:endParaRPr>
          </a:p>
          <a:p>
            <a:pPr marL="914400" lvl="2" indent="0">
              <a:buNone/>
            </a:pPr>
            <a:r>
              <a:rPr lang="ja-GB" altLang="en-US" sz="1600" dirty="0">
                <a:solidFill>
                  <a:srgbClr val="2F2523"/>
                </a:solidFill>
              </a:rPr>
              <a:t>世界中のネットワーク同士の通信経路を網状に結んだもの</a:t>
            </a:r>
            <a:endParaRPr lang="en-US" altLang="ja-GB" sz="1600" dirty="0">
              <a:solidFill>
                <a:srgbClr val="2F2523"/>
              </a:solidFill>
            </a:endParaRPr>
          </a:p>
          <a:p>
            <a:pPr marL="1371600" lvl="3" indent="0">
              <a:buNone/>
            </a:pPr>
            <a:r>
              <a:rPr lang="en-US" altLang="ja-GB" sz="1400" dirty="0">
                <a:solidFill>
                  <a:srgbClr val="2F2523"/>
                </a:solidFill>
              </a:rPr>
              <a:t>→</a:t>
            </a:r>
            <a:r>
              <a:rPr lang="ja-GB" altLang="en-US" sz="1400" dirty="0">
                <a:solidFill>
                  <a:schemeClr val="accent2"/>
                </a:solidFill>
              </a:rPr>
              <a:t>接続されたネットワークの中にいれば，別のネットワークの端末にもアクセス可能</a:t>
            </a:r>
            <a:endParaRPr lang="en-US" altLang="ja-GB" sz="1400" dirty="0">
              <a:solidFill>
                <a:schemeClr val="accent2"/>
              </a:solidFill>
            </a:endParaRPr>
          </a:p>
          <a:p>
            <a:pPr lvl="4"/>
            <a:endParaRPr lang="en-US" altLang="ja-GB" dirty="0"/>
          </a:p>
          <a:p>
            <a:pPr marL="457200" lvl="1" indent="0">
              <a:buNone/>
            </a:pPr>
            <a:r>
              <a:rPr lang="en-US" altLang="ja-GB" dirty="0">
                <a:solidFill>
                  <a:srgbClr val="0070C0"/>
                </a:solidFill>
              </a:rPr>
              <a:t>VPN</a:t>
            </a:r>
            <a:r>
              <a:rPr lang="ja-GB" altLang="en-US" dirty="0">
                <a:solidFill>
                  <a:srgbClr val="0070C0"/>
                </a:solidFill>
              </a:rPr>
              <a:t>：</a:t>
            </a:r>
            <a:r>
              <a:rPr lang="en-US" altLang="ja-GB" dirty="0">
                <a:solidFill>
                  <a:srgbClr val="0070C0"/>
                </a:solidFill>
              </a:rPr>
              <a:t>Virtual Private Network</a:t>
            </a:r>
          </a:p>
          <a:p>
            <a:pPr marL="914400" lvl="2" indent="0">
              <a:buNone/>
            </a:pPr>
            <a:r>
              <a:rPr lang="ja-GB" altLang="en-US" sz="1600" dirty="0"/>
              <a:t>インターネット上に作られた仮想的なネットワーク</a:t>
            </a:r>
            <a:endParaRPr lang="en-US" altLang="ja-GB" sz="1600" dirty="0"/>
          </a:p>
          <a:p>
            <a:pPr marL="1371600" lvl="3" indent="0">
              <a:buNone/>
            </a:pPr>
            <a:r>
              <a:rPr lang="en-US" altLang="ja-GB" sz="1400" dirty="0"/>
              <a:t>→</a:t>
            </a:r>
            <a:r>
              <a:rPr lang="en-US" altLang="ja-GB" sz="1400" dirty="0">
                <a:solidFill>
                  <a:schemeClr val="accent2"/>
                </a:solidFill>
              </a:rPr>
              <a:t>VPN</a:t>
            </a:r>
            <a:r>
              <a:rPr lang="ja-GB" altLang="en-US" sz="1400" dirty="0">
                <a:solidFill>
                  <a:schemeClr val="accent2"/>
                </a:solidFill>
              </a:rPr>
              <a:t>で結ばれたネットワーク内の端末同士でのみアクセス可能</a:t>
            </a:r>
            <a:endParaRPr lang="en-US" altLang="ja-GB" sz="1400" dirty="0">
              <a:solidFill>
                <a:schemeClr val="accent2"/>
              </a:solidFill>
            </a:endParaRPr>
          </a:p>
          <a:p>
            <a:pPr marL="914400" lvl="2" indent="0">
              <a:buNone/>
            </a:pPr>
            <a:r>
              <a:rPr lang="ja-GB" altLang="en-US" sz="1600" dirty="0"/>
              <a:t>例）在宅ワーク用</a:t>
            </a:r>
            <a:r>
              <a:rPr lang="en-US" altLang="ja-GB" sz="1600" dirty="0"/>
              <a:t>VPN</a:t>
            </a:r>
            <a:r>
              <a:rPr lang="ja-GB" altLang="en-US" sz="1600" dirty="0"/>
              <a:t>，大学</a:t>
            </a:r>
            <a:r>
              <a:rPr lang="en-US" altLang="ja-GB" sz="1600" dirty="0"/>
              <a:t>VPN</a:t>
            </a:r>
            <a:r>
              <a:rPr lang="ja-GB" altLang="en-US" sz="1600" dirty="0"/>
              <a:t>，海外</a:t>
            </a:r>
            <a:r>
              <a:rPr lang="en-US" altLang="ja-GB" sz="1600" dirty="0"/>
              <a:t>VPN</a:t>
            </a:r>
            <a:endParaRPr kumimoji="1" lang="ja-GB" altLang="en-US" sz="1600" dirty="0"/>
          </a:p>
        </p:txBody>
      </p:sp>
      <p:pic>
        <p:nvPicPr>
          <p:cNvPr id="6" name="グラフィックス 5">
            <a:extLst>
              <a:ext uri="{FF2B5EF4-FFF2-40B4-BE49-F238E27FC236}">
                <a16:creationId xmlns:a16="http://schemas.microsoft.com/office/drawing/2014/main" id="{4640959C-34A2-6AFB-AD8D-7F220DEAD47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2218" y="3655032"/>
            <a:ext cx="4666944" cy="2916840"/>
          </a:xfrm>
          <a:prstGeom prst="rect">
            <a:avLst/>
          </a:prstGeom>
        </p:spPr>
      </p:pic>
      <p:pic>
        <p:nvPicPr>
          <p:cNvPr id="7" name="グラフィックス 6">
            <a:extLst>
              <a:ext uri="{FF2B5EF4-FFF2-40B4-BE49-F238E27FC236}">
                <a16:creationId xmlns:a16="http://schemas.microsoft.com/office/drawing/2014/main" id="{8B452D6A-C2E1-676B-FBB8-D447297930F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477055" y="3655032"/>
            <a:ext cx="4666945" cy="2916840"/>
          </a:xfrm>
          <a:prstGeom prst="rect">
            <a:avLst/>
          </a:prstGeom>
        </p:spPr>
      </p:pic>
      <p:sp>
        <p:nvSpPr>
          <p:cNvPr id="13" name="テキスト ボックス 12">
            <a:extLst>
              <a:ext uri="{FF2B5EF4-FFF2-40B4-BE49-F238E27FC236}">
                <a16:creationId xmlns:a16="http://schemas.microsoft.com/office/drawing/2014/main" id="{14CC775A-142D-2BC2-B85B-D74CE51E7261}"/>
              </a:ext>
            </a:extLst>
          </p:cNvPr>
          <p:cNvSpPr txBox="1"/>
          <p:nvPr/>
        </p:nvSpPr>
        <p:spPr>
          <a:xfrm>
            <a:off x="1838487" y="6398086"/>
            <a:ext cx="1114408"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rPr>
              <a:t>インターネット</a:t>
            </a:r>
          </a:p>
        </p:txBody>
      </p:sp>
      <p:sp>
        <p:nvSpPr>
          <p:cNvPr id="14" name="テキスト ボックス 13">
            <a:extLst>
              <a:ext uri="{FF2B5EF4-FFF2-40B4-BE49-F238E27FC236}">
                <a16:creationId xmlns:a16="http://schemas.microsoft.com/office/drawing/2014/main" id="{22267CF2-FD41-B1B1-007F-4C427D74840E}"/>
              </a:ext>
            </a:extLst>
          </p:cNvPr>
          <p:cNvSpPr txBox="1"/>
          <p:nvPr/>
        </p:nvSpPr>
        <p:spPr>
          <a:xfrm>
            <a:off x="6539459" y="6344907"/>
            <a:ext cx="542136"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latin typeface="Yu Gothic UI" panose="020B0500000000000000" pitchFamily="34" charset="-128"/>
                <a:ea typeface="Yu Gothic UI" panose="020B0500000000000000" pitchFamily="34" charset="-128"/>
              </a:rPr>
              <a:t>VPN</a:t>
            </a:r>
            <a:endParaRPr kumimoji="1" lang="ja-GB" altLang="en-US" sz="1400" b="1" dirty="0">
              <a:solidFill>
                <a:schemeClr val="tx1">
                  <a:lumMod val="50000"/>
                  <a:lumOff val="50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3136134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6FAE-9701-0722-E4B6-0CC2E6238B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3C33EF-11F9-4CC5-D655-2E8195F129D3}"/>
              </a:ext>
            </a:extLst>
          </p:cNvPr>
          <p:cNvSpPr>
            <a:spLocks noGrp="1"/>
          </p:cNvSpPr>
          <p:nvPr>
            <p:ph type="title"/>
          </p:nvPr>
        </p:nvSpPr>
        <p:spPr/>
        <p:txBody>
          <a:bodyPr/>
          <a:lstStyle/>
          <a:p>
            <a:r>
              <a:rPr kumimoji="1" lang="ja-GB" altLang="en-US" dirty="0"/>
              <a:t>情報システム</a:t>
            </a:r>
          </a:p>
        </p:txBody>
      </p:sp>
      <p:sp>
        <p:nvSpPr>
          <p:cNvPr id="3" name="コンテンツ プレースホルダー 2">
            <a:extLst>
              <a:ext uri="{FF2B5EF4-FFF2-40B4-BE49-F238E27FC236}">
                <a16:creationId xmlns:a16="http://schemas.microsoft.com/office/drawing/2014/main" id="{97615745-913B-8920-757E-253FC9D63215}"/>
              </a:ext>
            </a:extLst>
          </p:cNvPr>
          <p:cNvSpPr>
            <a:spLocks noGrp="1"/>
          </p:cNvSpPr>
          <p:nvPr>
            <p:ph idx="1"/>
          </p:nvPr>
        </p:nvSpPr>
        <p:spPr/>
        <p:txBody>
          <a:bodyPr>
            <a:normAutofit/>
          </a:bodyPr>
          <a:lstStyle/>
          <a:p>
            <a:pPr marL="0" indent="0">
              <a:buNone/>
            </a:pPr>
            <a:r>
              <a:rPr kumimoji="1" lang="ja-GB" altLang="en-US" dirty="0"/>
              <a:t>多くはデータを管理する「データベース」が中核にある</a:t>
            </a:r>
            <a:endParaRPr kumimoji="1" lang="en-US" altLang="ja-GB" dirty="0"/>
          </a:p>
          <a:p>
            <a:pPr marL="457200" lvl="1" indent="0">
              <a:buNone/>
            </a:pPr>
            <a:r>
              <a:rPr kumimoji="1" lang="ja-GB" altLang="en-US" dirty="0"/>
              <a:t>例）</a:t>
            </a:r>
            <a:r>
              <a:rPr kumimoji="1" lang="en-US" altLang="ja-GB" dirty="0"/>
              <a:t>MVC</a:t>
            </a:r>
            <a:r>
              <a:rPr lang="ja-GB" altLang="en-US" dirty="0"/>
              <a:t>モデル</a:t>
            </a:r>
            <a:endParaRPr kumimoji="1" lang="en-US" altLang="ja-GB" dirty="0"/>
          </a:p>
          <a:p>
            <a:pPr marL="914400" lvl="2" indent="0">
              <a:buNone/>
            </a:pPr>
            <a:r>
              <a:rPr kumimoji="1" lang="en-US" altLang="ja-GB" sz="1600" dirty="0">
                <a:solidFill>
                  <a:srgbClr val="0070C0"/>
                </a:solidFill>
              </a:rPr>
              <a:t>Model</a:t>
            </a:r>
            <a:r>
              <a:rPr kumimoji="1" lang="ja-GB" altLang="en-US" sz="1600" dirty="0"/>
              <a:t>：データベースを操作するプログラム</a:t>
            </a:r>
            <a:endParaRPr kumimoji="1" lang="en-US" altLang="ja-GB" sz="1600" dirty="0"/>
          </a:p>
          <a:p>
            <a:pPr marL="914400" lvl="2" indent="0">
              <a:buNone/>
            </a:pPr>
            <a:r>
              <a:rPr lang="en-US" altLang="ja-GB" sz="1600" dirty="0">
                <a:solidFill>
                  <a:schemeClr val="accent2"/>
                </a:solidFill>
              </a:rPr>
              <a:t>View</a:t>
            </a:r>
            <a:r>
              <a:rPr lang="ja-GB" altLang="en-US" sz="1600" dirty="0"/>
              <a:t>：ユーザーに情報を閲覧・入力させるプログラム</a:t>
            </a:r>
            <a:endParaRPr lang="en-US" altLang="ja-GB" sz="1600" dirty="0"/>
          </a:p>
          <a:p>
            <a:pPr marL="1371600" lvl="3" indent="0">
              <a:buNone/>
            </a:pPr>
            <a:r>
              <a:rPr lang="ja-GB" altLang="en-US" sz="1400" dirty="0">
                <a:solidFill>
                  <a:schemeClr val="tx1">
                    <a:lumMod val="50000"/>
                    <a:lumOff val="50000"/>
                  </a:schemeClr>
                </a:solidFill>
              </a:rPr>
              <a:t>例）ボタン，検索欄，入力ウィンドウ，マウスでクリックして動かせる図形</a:t>
            </a:r>
            <a:endParaRPr lang="en-US" altLang="ja-GB" sz="1400" dirty="0">
              <a:solidFill>
                <a:schemeClr val="tx1">
                  <a:lumMod val="50000"/>
                  <a:lumOff val="50000"/>
                </a:schemeClr>
              </a:solidFill>
            </a:endParaRPr>
          </a:p>
          <a:p>
            <a:pPr marL="914400" lvl="2" indent="0">
              <a:buNone/>
            </a:pPr>
            <a:r>
              <a:rPr kumimoji="1" lang="en-US" altLang="ja-GB" sz="1600" dirty="0">
                <a:solidFill>
                  <a:schemeClr val="accent6"/>
                </a:solidFill>
              </a:rPr>
              <a:t>Controller</a:t>
            </a:r>
            <a:r>
              <a:rPr kumimoji="1" lang="ja-GB" altLang="en-US" sz="1600" dirty="0"/>
              <a:t>：</a:t>
            </a:r>
            <a:r>
              <a:rPr lang="ja-GB" altLang="en-US" sz="1600" dirty="0"/>
              <a:t>情報を</a:t>
            </a:r>
            <a:r>
              <a:rPr lang="en-US" altLang="ja-GB" sz="1600" dirty="0">
                <a:solidFill>
                  <a:schemeClr val="accent2"/>
                </a:solidFill>
              </a:rPr>
              <a:t>View</a:t>
            </a:r>
            <a:r>
              <a:rPr lang="ja-GB" altLang="en-US" sz="1600" dirty="0"/>
              <a:t>に渡す・データの操作を</a:t>
            </a:r>
            <a:r>
              <a:rPr lang="en-US" altLang="ja-GB" sz="1600" dirty="0">
                <a:solidFill>
                  <a:srgbClr val="0070C0"/>
                </a:solidFill>
              </a:rPr>
              <a:t>Model</a:t>
            </a:r>
            <a:r>
              <a:rPr lang="ja-GB" altLang="en-US" sz="1600" dirty="0"/>
              <a:t>に指示するプログラム</a:t>
            </a:r>
            <a:endParaRPr kumimoji="1" lang="en-US" altLang="ja-GB" sz="1600" dirty="0"/>
          </a:p>
          <a:p>
            <a:pPr lvl="2"/>
            <a:endParaRPr kumimoji="1" lang="en-US" altLang="ja-GB" dirty="0"/>
          </a:p>
          <a:p>
            <a:pPr lvl="3"/>
            <a:endParaRPr lang="en-US" altLang="ja-GB" dirty="0"/>
          </a:p>
          <a:p>
            <a:pPr lvl="3"/>
            <a:endParaRPr kumimoji="1" lang="en-US" altLang="ja-GB" dirty="0"/>
          </a:p>
          <a:p>
            <a:pPr lvl="3"/>
            <a:endParaRPr kumimoji="1" lang="en-US" altLang="ja-GB" dirty="0"/>
          </a:p>
          <a:p>
            <a:pPr lvl="3"/>
            <a:endParaRPr kumimoji="1" lang="en-US" altLang="ja-GB" dirty="0"/>
          </a:p>
        </p:txBody>
      </p:sp>
      <p:pic>
        <p:nvPicPr>
          <p:cNvPr id="10" name="グラフィックス 9">
            <a:extLst>
              <a:ext uri="{FF2B5EF4-FFF2-40B4-BE49-F238E27FC236}">
                <a16:creationId xmlns:a16="http://schemas.microsoft.com/office/drawing/2014/main" id="{ED4842F4-AAE4-F0A1-50DF-BD08018D2D9F}"/>
              </a:ext>
            </a:extLst>
          </p:cNvPr>
          <p:cNvPicPr>
            <a:picLocks noChangeAspect="1"/>
          </p:cNvPicPr>
          <p:nvPr/>
        </p:nvPicPr>
        <p:blipFill>
          <a:blip r:embed="rId2">
            <a:extLst>
              <a:ext uri="{96DAC541-7B7A-43D3-8B79-37D633B846F1}">
                <asvg:svgBlip xmlns:asvg="http://schemas.microsoft.com/office/drawing/2016/SVG/main" r:embed="rId3"/>
              </a:ext>
            </a:extLst>
          </a:blip>
          <a:srcRect t="11587" b="12224"/>
          <a:stretch/>
        </p:blipFill>
        <p:spPr>
          <a:xfrm>
            <a:off x="136036" y="3453078"/>
            <a:ext cx="7951761" cy="3411307"/>
          </a:xfrm>
          <a:prstGeom prst="rect">
            <a:avLst/>
          </a:prstGeom>
        </p:spPr>
      </p:pic>
      <p:grpSp>
        <p:nvGrpSpPr>
          <p:cNvPr id="31" name="グループ化 30">
            <a:extLst>
              <a:ext uri="{FF2B5EF4-FFF2-40B4-BE49-F238E27FC236}">
                <a16:creationId xmlns:a16="http://schemas.microsoft.com/office/drawing/2014/main" id="{DF877F31-4985-F3C0-AAFE-B6285BF777BA}"/>
              </a:ext>
            </a:extLst>
          </p:cNvPr>
          <p:cNvGrpSpPr/>
          <p:nvPr/>
        </p:nvGrpSpPr>
        <p:grpSpPr>
          <a:xfrm>
            <a:off x="620734" y="2798506"/>
            <a:ext cx="8351671" cy="982721"/>
            <a:chOff x="419747" y="2932928"/>
            <a:chExt cx="8351671" cy="982721"/>
          </a:xfrm>
        </p:grpSpPr>
        <p:grpSp>
          <p:nvGrpSpPr>
            <p:cNvPr id="26" name="グループ化 25">
              <a:extLst>
                <a:ext uri="{FF2B5EF4-FFF2-40B4-BE49-F238E27FC236}">
                  <a16:creationId xmlns:a16="http://schemas.microsoft.com/office/drawing/2014/main" id="{A8400992-EB7A-B433-9A29-1D5B7374971B}"/>
                </a:ext>
              </a:extLst>
            </p:cNvPr>
            <p:cNvGrpSpPr/>
            <p:nvPr/>
          </p:nvGrpSpPr>
          <p:grpSpPr>
            <a:xfrm>
              <a:off x="419747" y="2949777"/>
              <a:ext cx="7467063" cy="720129"/>
              <a:chOff x="689655" y="3000111"/>
              <a:chExt cx="7467063" cy="720129"/>
            </a:xfrm>
          </p:grpSpPr>
          <p:pic>
            <p:nvPicPr>
              <p:cNvPr id="5" name="グラフィックス 4" descr="ユーザー 単色塗りつぶし">
                <a:extLst>
                  <a:ext uri="{FF2B5EF4-FFF2-40B4-BE49-F238E27FC236}">
                    <a16:creationId xmlns:a16="http://schemas.microsoft.com/office/drawing/2014/main" id="{6B5F1AF2-7133-56F9-11A1-54F06C46F5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9655" y="3010798"/>
                <a:ext cx="709442" cy="709442"/>
              </a:xfrm>
              <a:prstGeom prst="rect">
                <a:avLst/>
              </a:prstGeom>
            </p:spPr>
          </p:pic>
          <p:sp>
            <p:nvSpPr>
              <p:cNvPr id="6" name="角丸四角形 5">
                <a:extLst>
                  <a:ext uri="{FF2B5EF4-FFF2-40B4-BE49-F238E27FC236}">
                    <a16:creationId xmlns:a16="http://schemas.microsoft.com/office/drawing/2014/main" id="{F0A4C51E-D2B3-5A6E-4EB4-039FCDE37735}"/>
                  </a:ext>
                </a:extLst>
              </p:cNvPr>
              <p:cNvSpPr/>
              <p:nvPr/>
            </p:nvSpPr>
            <p:spPr>
              <a:xfrm>
                <a:off x="2290240" y="3260623"/>
                <a:ext cx="914400" cy="359678"/>
              </a:xfrm>
              <a:prstGeom prst="roundRect">
                <a:avLst/>
              </a:prstGeom>
              <a:solidFill>
                <a:schemeClr val="accent2">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sz="1100" dirty="0">
                    <a:solidFill>
                      <a:srgbClr val="2F2523"/>
                    </a:solidFill>
                  </a:rPr>
                  <a:t>View</a:t>
                </a:r>
                <a:endParaRPr kumimoji="1" lang="ja-GB" altLang="en-US" sz="1100" dirty="0">
                  <a:solidFill>
                    <a:srgbClr val="2F2523"/>
                  </a:solidFill>
                </a:endParaRPr>
              </a:p>
            </p:txBody>
          </p:sp>
          <p:sp>
            <p:nvSpPr>
              <p:cNvPr id="7" name="角丸四角形 6">
                <a:extLst>
                  <a:ext uri="{FF2B5EF4-FFF2-40B4-BE49-F238E27FC236}">
                    <a16:creationId xmlns:a16="http://schemas.microsoft.com/office/drawing/2014/main" id="{700BB3B1-E63E-87CE-1729-A4F2F3973902}"/>
                  </a:ext>
                </a:extLst>
              </p:cNvPr>
              <p:cNvSpPr/>
              <p:nvPr/>
            </p:nvSpPr>
            <p:spPr>
              <a:xfrm>
                <a:off x="4815295" y="3260623"/>
                <a:ext cx="1184814" cy="359678"/>
              </a:xfrm>
              <a:prstGeom prst="roundRect">
                <a:avLst/>
              </a:prstGeom>
              <a:solidFill>
                <a:schemeClr val="accent6">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sz="1100" dirty="0">
                    <a:solidFill>
                      <a:srgbClr val="2F2523"/>
                    </a:solidFill>
                  </a:rPr>
                  <a:t>Controller</a:t>
                </a:r>
                <a:endParaRPr kumimoji="1" lang="ja-GB" altLang="en-US" sz="1100" dirty="0">
                  <a:solidFill>
                    <a:srgbClr val="2F2523"/>
                  </a:solidFill>
                </a:endParaRPr>
              </a:p>
            </p:txBody>
          </p:sp>
          <p:sp>
            <p:nvSpPr>
              <p:cNvPr id="8" name="角丸四角形 7">
                <a:extLst>
                  <a:ext uri="{FF2B5EF4-FFF2-40B4-BE49-F238E27FC236}">
                    <a16:creationId xmlns:a16="http://schemas.microsoft.com/office/drawing/2014/main" id="{5FD41056-077C-9558-FA7C-FC63E7C6E235}"/>
                  </a:ext>
                </a:extLst>
              </p:cNvPr>
              <p:cNvSpPr/>
              <p:nvPr/>
            </p:nvSpPr>
            <p:spPr>
              <a:xfrm>
                <a:off x="6858207" y="3260623"/>
                <a:ext cx="891200" cy="359678"/>
              </a:xfrm>
              <a:prstGeom prst="roundRect">
                <a:avLst/>
              </a:prstGeom>
              <a:solidFill>
                <a:schemeClr val="accent5">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sz="1100" dirty="0">
                    <a:solidFill>
                      <a:srgbClr val="2F2523"/>
                    </a:solidFill>
                  </a:rPr>
                  <a:t>Model</a:t>
                </a:r>
                <a:endParaRPr kumimoji="1" lang="ja-GB" altLang="en-US" sz="1100" dirty="0">
                  <a:solidFill>
                    <a:srgbClr val="2F2523"/>
                  </a:solidFill>
                </a:endParaRPr>
              </a:p>
            </p:txBody>
          </p:sp>
          <p:pic>
            <p:nvPicPr>
              <p:cNvPr id="9" name="グラフィックス 8" descr="ノート PC 単色塗りつぶし">
                <a:extLst>
                  <a:ext uri="{FF2B5EF4-FFF2-40B4-BE49-F238E27FC236}">
                    <a16:creationId xmlns:a16="http://schemas.microsoft.com/office/drawing/2014/main" id="{DB8295E8-4C5F-3DAE-39C1-1182D6327E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80141" y="3000111"/>
                <a:ext cx="457870" cy="457870"/>
              </a:xfrm>
              <a:prstGeom prst="rect">
                <a:avLst/>
              </a:prstGeom>
            </p:spPr>
          </p:pic>
          <p:cxnSp>
            <p:nvCxnSpPr>
              <p:cNvPr id="21" name="直線矢印コネクタ 20">
                <a:extLst>
                  <a:ext uri="{FF2B5EF4-FFF2-40B4-BE49-F238E27FC236}">
                    <a16:creationId xmlns:a16="http://schemas.microsoft.com/office/drawing/2014/main" id="{F8A8C416-4E07-24D4-6AB1-E38F13AB6751}"/>
                  </a:ext>
                </a:extLst>
              </p:cNvPr>
              <p:cNvCxnSpPr>
                <a:cxnSpLocks/>
                <a:endCxn id="8" idx="3"/>
              </p:cNvCxnSpPr>
              <p:nvPr/>
            </p:nvCxnSpPr>
            <p:spPr>
              <a:xfrm flipH="1">
                <a:off x="7749407" y="3440462"/>
                <a:ext cx="407311" cy="0"/>
              </a:xfrm>
              <a:prstGeom prst="straightConnector1">
                <a:avLst/>
              </a:prstGeom>
              <a:ln w="38100">
                <a:solidFill>
                  <a:srgbClr val="2F2523"/>
                </a:solidFill>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29" name="グラフィックス 28" descr="テーブル 単色塗りつぶし">
              <a:extLst>
                <a:ext uri="{FF2B5EF4-FFF2-40B4-BE49-F238E27FC236}">
                  <a16:creationId xmlns:a16="http://schemas.microsoft.com/office/drawing/2014/main" id="{C6E6E534-8682-1C30-042B-9B18073BEFC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0549" y="2932928"/>
              <a:ext cx="914400" cy="914400"/>
            </a:xfrm>
            <a:prstGeom prst="rect">
              <a:avLst/>
            </a:prstGeom>
          </p:spPr>
        </p:pic>
        <p:sp>
          <p:nvSpPr>
            <p:cNvPr id="30" name="テキスト ボックス 29">
              <a:extLst>
                <a:ext uri="{FF2B5EF4-FFF2-40B4-BE49-F238E27FC236}">
                  <a16:creationId xmlns:a16="http://schemas.microsoft.com/office/drawing/2014/main" id="{931382CA-6CC7-4AE8-097C-4C3B6EC0776C}"/>
                </a:ext>
              </a:extLst>
            </p:cNvPr>
            <p:cNvSpPr txBox="1"/>
            <p:nvPr/>
          </p:nvSpPr>
          <p:spPr>
            <a:xfrm>
              <a:off x="7740367" y="3654039"/>
              <a:ext cx="1031051" cy="261610"/>
            </a:xfrm>
            <a:prstGeom prst="rect">
              <a:avLst/>
            </a:prstGeom>
            <a:noFill/>
          </p:spPr>
          <p:txBody>
            <a:bodyPr wrap="none" rtlCol="0">
              <a:spAutoFit/>
            </a:bodyPr>
            <a:lstStyle/>
            <a:p>
              <a:pPr algn="ctr"/>
              <a:r>
                <a:rPr kumimoji="1" lang="ja-GB" altLang="en-US" sz="1100" dirty="0"/>
                <a:t>データベース</a:t>
              </a:r>
            </a:p>
          </p:txBody>
        </p:sp>
      </p:grpSp>
    </p:spTree>
    <p:extLst>
      <p:ext uri="{BB962C8B-B14F-4D97-AF65-F5344CB8AC3E}">
        <p14:creationId xmlns:p14="http://schemas.microsoft.com/office/powerpoint/2010/main" val="16174016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6FBE48-AF98-65E4-35C9-E73B9D8AF0FF}"/>
              </a:ext>
            </a:extLst>
          </p:cNvPr>
          <p:cNvSpPr>
            <a:spLocks noGrp="1"/>
          </p:cNvSpPr>
          <p:nvPr>
            <p:ph type="title"/>
          </p:nvPr>
        </p:nvSpPr>
        <p:spPr/>
        <p:txBody>
          <a:bodyPr/>
          <a:lstStyle/>
          <a:p>
            <a:r>
              <a:rPr kumimoji="1" lang="ja-GB" altLang="en-US" dirty="0"/>
              <a:t>情報セキュリティ</a:t>
            </a:r>
          </a:p>
        </p:txBody>
      </p:sp>
      <p:sp>
        <p:nvSpPr>
          <p:cNvPr id="3" name="コンテンツ プレースホルダー 2">
            <a:extLst>
              <a:ext uri="{FF2B5EF4-FFF2-40B4-BE49-F238E27FC236}">
                <a16:creationId xmlns:a16="http://schemas.microsoft.com/office/drawing/2014/main" id="{7C2CA72C-E89F-E33E-083C-6C9B3ACB245F}"/>
              </a:ext>
            </a:extLst>
          </p:cNvPr>
          <p:cNvSpPr>
            <a:spLocks noGrp="1"/>
          </p:cNvSpPr>
          <p:nvPr>
            <p:ph idx="1"/>
          </p:nvPr>
        </p:nvSpPr>
        <p:spPr/>
        <p:txBody>
          <a:bodyPr/>
          <a:lstStyle/>
          <a:p>
            <a:pPr marL="0" indent="0">
              <a:buNone/>
            </a:pPr>
            <a:r>
              <a:rPr kumimoji="1" lang="ja-GB" altLang="en-US" dirty="0"/>
              <a:t>情報漏洩や改竄，喪失などを防ぐための安全対策</a:t>
            </a:r>
            <a:endParaRPr kumimoji="1" lang="en-US" altLang="ja-GB" dirty="0"/>
          </a:p>
          <a:p>
            <a:pPr marL="457200" lvl="1" indent="0">
              <a:buNone/>
            </a:pPr>
            <a:r>
              <a:rPr kumimoji="1" lang="ja-GB" altLang="en-US" dirty="0"/>
              <a:t>情報セキュリティの</a:t>
            </a:r>
            <a:r>
              <a:rPr kumimoji="1" lang="en-US" altLang="ja-GB" dirty="0"/>
              <a:t>3</a:t>
            </a:r>
            <a:r>
              <a:rPr kumimoji="1" lang="ja-GB" altLang="en-US" dirty="0"/>
              <a:t>要素</a:t>
            </a:r>
            <a:endParaRPr kumimoji="1" lang="en-US" altLang="ja-GB" dirty="0"/>
          </a:p>
          <a:p>
            <a:pPr marL="914400" lvl="2" indent="0">
              <a:buNone/>
            </a:pPr>
            <a:r>
              <a:rPr lang="ja-GB" altLang="en-US" dirty="0">
                <a:solidFill>
                  <a:srgbClr val="0070C0"/>
                </a:solidFill>
              </a:rPr>
              <a:t>機密性：許可された人だけアクセス可能</a:t>
            </a:r>
            <a:endParaRPr lang="en-US" altLang="ja-GB" dirty="0">
              <a:solidFill>
                <a:srgbClr val="0070C0"/>
              </a:solidFill>
            </a:endParaRPr>
          </a:p>
          <a:p>
            <a:pPr lvl="3"/>
            <a:r>
              <a:rPr lang="ja-GB" altLang="en-US" sz="1400" dirty="0"/>
              <a:t>脅威例）不正アクセスによる情報の漏洩・破壊</a:t>
            </a:r>
            <a:endParaRPr lang="en-US" altLang="ja-GB" sz="1400" dirty="0"/>
          </a:p>
          <a:p>
            <a:pPr lvl="3"/>
            <a:r>
              <a:rPr lang="ja-GB" altLang="en-US" sz="1400" dirty="0"/>
              <a:t>対策例）パスワード管理，外部からの不正通信を遮断（ファイアウォール）</a:t>
            </a:r>
            <a:endParaRPr lang="en-US" altLang="ja-GB" dirty="0"/>
          </a:p>
          <a:p>
            <a:pPr marL="914400" lvl="2" indent="0">
              <a:buNone/>
            </a:pPr>
            <a:r>
              <a:rPr kumimoji="1" lang="ja-GB" altLang="en-US" dirty="0">
                <a:solidFill>
                  <a:srgbClr val="0070C0"/>
                </a:solidFill>
              </a:rPr>
              <a:t>完全性：情報を正確に維持</a:t>
            </a:r>
            <a:endParaRPr kumimoji="1" lang="en-US" altLang="ja-GB" dirty="0">
              <a:solidFill>
                <a:srgbClr val="0070C0"/>
              </a:solidFill>
            </a:endParaRPr>
          </a:p>
          <a:p>
            <a:pPr lvl="3"/>
            <a:r>
              <a:rPr lang="ja-GB" altLang="en-US" sz="1400" dirty="0"/>
              <a:t>脅威例）データの改竄，ウイルス感染</a:t>
            </a:r>
            <a:endParaRPr lang="en-US" altLang="ja-GB" sz="1400" dirty="0"/>
          </a:p>
          <a:p>
            <a:pPr lvl="3"/>
            <a:r>
              <a:rPr kumimoji="1" lang="ja-GB" altLang="en-US" sz="1400" dirty="0"/>
              <a:t>対策例）セキュリティソフト，</a:t>
            </a:r>
            <a:r>
              <a:rPr kumimoji="1" lang="en-US" altLang="ja-GB" sz="1400" dirty="0"/>
              <a:t>OS</a:t>
            </a:r>
            <a:r>
              <a:rPr kumimoji="1" lang="ja-GB" altLang="en-US" sz="1400" dirty="0"/>
              <a:t>更新</a:t>
            </a:r>
            <a:endParaRPr kumimoji="1" lang="en-US" altLang="ja-GB" sz="1400" dirty="0"/>
          </a:p>
          <a:p>
            <a:pPr marL="914400" lvl="2" indent="0">
              <a:buNone/>
            </a:pPr>
            <a:r>
              <a:rPr kumimoji="1" lang="ja-GB" altLang="en-US" dirty="0">
                <a:solidFill>
                  <a:srgbClr val="0070C0"/>
                </a:solidFill>
              </a:rPr>
              <a:t>可用性：許可された人は必要なときいつでも利用可能</a:t>
            </a:r>
            <a:endParaRPr kumimoji="1" lang="en-US" altLang="ja-GB" dirty="0">
              <a:solidFill>
                <a:srgbClr val="0070C0"/>
              </a:solidFill>
            </a:endParaRPr>
          </a:p>
          <a:p>
            <a:pPr lvl="3"/>
            <a:r>
              <a:rPr lang="ja-GB" altLang="en-US" sz="1400" dirty="0"/>
              <a:t>脅威例）自然災害，サービス妨害攻撃</a:t>
            </a:r>
            <a:endParaRPr lang="en-US" altLang="ja-GB" sz="1400" dirty="0"/>
          </a:p>
          <a:p>
            <a:pPr lvl="3"/>
            <a:r>
              <a:rPr lang="ja-GB" altLang="en-US" sz="1400" dirty="0"/>
              <a:t>対策例）バックアップ，無停電電源装置</a:t>
            </a:r>
            <a:endParaRPr lang="en-US" altLang="ja-GB" sz="1400" dirty="0"/>
          </a:p>
          <a:p>
            <a:pPr lvl="1"/>
            <a:endParaRPr kumimoji="1" lang="ja-GB" altLang="en-US" dirty="0"/>
          </a:p>
        </p:txBody>
      </p:sp>
      <p:sp>
        <p:nvSpPr>
          <p:cNvPr id="117" name="角丸四角形 116">
            <a:extLst>
              <a:ext uri="{FF2B5EF4-FFF2-40B4-BE49-F238E27FC236}">
                <a16:creationId xmlns:a16="http://schemas.microsoft.com/office/drawing/2014/main" id="{FE39948B-B07D-E546-B538-42E4B01E4FA5}"/>
              </a:ext>
            </a:extLst>
          </p:cNvPr>
          <p:cNvSpPr/>
          <p:nvPr/>
        </p:nvSpPr>
        <p:spPr>
          <a:xfrm>
            <a:off x="4601213" y="4392441"/>
            <a:ext cx="4312075" cy="2137901"/>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4" name="角丸四角形 93">
            <a:extLst>
              <a:ext uri="{FF2B5EF4-FFF2-40B4-BE49-F238E27FC236}">
                <a16:creationId xmlns:a16="http://schemas.microsoft.com/office/drawing/2014/main" id="{4CE944A3-B180-296A-AA2F-DDCBDE53E04E}"/>
              </a:ext>
            </a:extLst>
          </p:cNvPr>
          <p:cNvSpPr/>
          <p:nvPr/>
        </p:nvSpPr>
        <p:spPr>
          <a:xfrm>
            <a:off x="134089" y="4392441"/>
            <a:ext cx="4312075" cy="2137901"/>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pic>
        <p:nvPicPr>
          <p:cNvPr id="60" name="グラフィックス 59" descr="ノート PC 単色塗りつぶし">
            <a:extLst>
              <a:ext uri="{FF2B5EF4-FFF2-40B4-BE49-F238E27FC236}">
                <a16:creationId xmlns:a16="http://schemas.microsoft.com/office/drawing/2014/main" id="{2D60A1E8-2C0C-490A-F50F-FC2C7FE96B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55834" y="4828487"/>
            <a:ext cx="612016" cy="612016"/>
          </a:xfrm>
          <a:prstGeom prst="rect">
            <a:avLst/>
          </a:prstGeom>
        </p:spPr>
      </p:pic>
      <p:pic>
        <p:nvPicPr>
          <p:cNvPr id="62" name="グラフィックス 61" descr="インターネット 単色塗りつぶし">
            <a:extLst>
              <a:ext uri="{FF2B5EF4-FFF2-40B4-BE49-F238E27FC236}">
                <a16:creationId xmlns:a16="http://schemas.microsoft.com/office/drawing/2014/main" id="{C38E848C-096B-CB71-517C-18CB4B097A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2648" y="5631565"/>
            <a:ext cx="914400" cy="914400"/>
          </a:xfrm>
          <a:prstGeom prst="rect">
            <a:avLst/>
          </a:prstGeom>
        </p:spPr>
      </p:pic>
      <p:pic>
        <p:nvPicPr>
          <p:cNvPr id="64" name="グラフィックス 63" descr="コンピューター 単色塗りつぶし">
            <a:extLst>
              <a:ext uri="{FF2B5EF4-FFF2-40B4-BE49-F238E27FC236}">
                <a16:creationId xmlns:a16="http://schemas.microsoft.com/office/drawing/2014/main" id="{AAC9F083-8FB3-4DE9-A4D2-6A9F0121AF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4033" y="5631565"/>
            <a:ext cx="914400" cy="914400"/>
          </a:xfrm>
          <a:prstGeom prst="rect">
            <a:avLst/>
          </a:prstGeom>
        </p:spPr>
      </p:pic>
      <p:sp>
        <p:nvSpPr>
          <p:cNvPr id="65" name="正方形/長方形 64">
            <a:extLst>
              <a:ext uri="{FF2B5EF4-FFF2-40B4-BE49-F238E27FC236}">
                <a16:creationId xmlns:a16="http://schemas.microsoft.com/office/drawing/2014/main" id="{EC19B99E-8FB0-2E12-5381-4AD31C2E33CA}"/>
              </a:ext>
            </a:extLst>
          </p:cNvPr>
          <p:cNvSpPr/>
          <p:nvPr/>
        </p:nvSpPr>
        <p:spPr>
          <a:xfrm>
            <a:off x="2214694" y="4446165"/>
            <a:ext cx="268447" cy="1904301"/>
          </a:xfrm>
          <a:prstGeom prst="rect">
            <a:avLst/>
          </a:prstGeom>
          <a:blipFill>
            <a:blip r:embed="rId8"/>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6" name="テキスト ボックス 65">
            <a:extLst>
              <a:ext uri="{FF2B5EF4-FFF2-40B4-BE49-F238E27FC236}">
                <a16:creationId xmlns:a16="http://schemas.microsoft.com/office/drawing/2014/main" id="{4EF7F19D-0AFA-C6A2-2C6C-78CE0528EB2E}"/>
              </a:ext>
            </a:extLst>
          </p:cNvPr>
          <p:cNvSpPr txBox="1"/>
          <p:nvPr/>
        </p:nvSpPr>
        <p:spPr>
          <a:xfrm>
            <a:off x="289138" y="4518020"/>
            <a:ext cx="1441420"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rPr>
              <a:t>インターネット</a:t>
            </a:r>
          </a:p>
        </p:txBody>
      </p:sp>
      <p:cxnSp>
        <p:nvCxnSpPr>
          <p:cNvPr id="68" name="直線矢印コネクタ 67">
            <a:extLst>
              <a:ext uri="{FF2B5EF4-FFF2-40B4-BE49-F238E27FC236}">
                <a16:creationId xmlns:a16="http://schemas.microsoft.com/office/drawing/2014/main" id="{DD26E867-1BE6-78CB-1D5F-2E84399D42AD}"/>
              </a:ext>
            </a:extLst>
          </p:cNvPr>
          <p:cNvCxnSpPr>
            <a:cxnSpLocks/>
          </p:cNvCxnSpPr>
          <p:nvPr/>
        </p:nvCxnSpPr>
        <p:spPr>
          <a:xfrm>
            <a:off x="3361842" y="5397936"/>
            <a:ext cx="0" cy="4291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441A2CDA-68CC-AAC9-E4A8-F3E94C5D96B4}"/>
              </a:ext>
            </a:extLst>
          </p:cNvPr>
          <p:cNvCxnSpPr>
            <a:cxnSpLocks/>
            <a:endCxn id="64" idx="1"/>
          </p:cNvCxnSpPr>
          <p:nvPr/>
        </p:nvCxnSpPr>
        <p:spPr>
          <a:xfrm>
            <a:off x="2348917" y="6088765"/>
            <a:ext cx="715116" cy="0"/>
          </a:xfrm>
          <a:prstGeom prst="straightConnector1">
            <a:avLst/>
          </a:prstGeom>
          <a:ln w="28575">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3114C697-E814-DC0B-63C6-E43E0EF2CAB9}"/>
              </a:ext>
            </a:extLst>
          </p:cNvPr>
          <p:cNvCxnSpPr>
            <a:cxnSpLocks/>
          </p:cNvCxnSpPr>
          <p:nvPr/>
        </p:nvCxnSpPr>
        <p:spPr>
          <a:xfrm>
            <a:off x="1467048" y="6088765"/>
            <a:ext cx="881869"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C5ACC908-E56C-3B06-90C3-209D7D6485E4}"/>
              </a:ext>
            </a:extLst>
          </p:cNvPr>
          <p:cNvSpPr txBox="1"/>
          <p:nvPr/>
        </p:nvSpPr>
        <p:spPr>
          <a:xfrm>
            <a:off x="1820798" y="5523501"/>
            <a:ext cx="1031051" cy="1107996"/>
          </a:xfrm>
          <a:prstGeom prst="rect">
            <a:avLst/>
          </a:prstGeom>
          <a:noFill/>
        </p:spPr>
        <p:txBody>
          <a:bodyPr wrap="none" rtlCol="0">
            <a:spAutoFit/>
          </a:bodyPr>
          <a:lstStyle/>
          <a:p>
            <a:r>
              <a:rPr kumimoji="1" lang="en-US" altLang="ja-GB" sz="6600" b="1" dirty="0">
                <a:solidFill>
                  <a:srgbClr val="C00000"/>
                </a:solidFill>
              </a:rPr>
              <a:t>×</a:t>
            </a:r>
            <a:endParaRPr kumimoji="1" lang="ja-GB" altLang="en-US" sz="6600" b="1" dirty="0">
              <a:solidFill>
                <a:srgbClr val="C00000"/>
              </a:solidFill>
            </a:endParaRPr>
          </a:p>
        </p:txBody>
      </p:sp>
      <p:sp>
        <p:nvSpPr>
          <p:cNvPr id="85" name="テキスト ボックス 84">
            <a:extLst>
              <a:ext uri="{FF2B5EF4-FFF2-40B4-BE49-F238E27FC236}">
                <a16:creationId xmlns:a16="http://schemas.microsoft.com/office/drawing/2014/main" id="{B572D9B5-5B99-694E-B7E4-44BA84A0D662}"/>
              </a:ext>
            </a:extLst>
          </p:cNvPr>
          <p:cNvSpPr txBox="1"/>
          <p:nvPr/>
        </p:nvSpPr>
        <p:spPr>
          <a:xfrm>
            <a:off x="3114574" y="4518020"/>
            <a:ext cx="487634" cy="307777"/>
          </a:xfrm>
          <a:prstGeom prst="rect">
            <a:avLst/>
          </a:prstGeom>
          <a:noFill/>
        </p:spPr>
        <p:txBody>
          <a:bodyPr wrap="none" rtlCol="0">
            <a:spAutoFit/>
          </a:bodyPr>
          <a:lstStyle/>
          <a:p>
            <a:pPr algn="ctr"/>
            <a:r>
              <a:rPr kumimoji="1" lang="en-US" altLang="ja-GB" sz="1400" b="1" dirty="0">
                <a:solidFill>
                  <a:schemeClr val="tx1">
                    <a:lumMod val="50000"/>
                    <a:lumOff val="50000"/>
                  </a:schemeClr>
                </a:solidFill>
              </a:rPr>
              <a:t>LAN</a:t>
            </a:r>
            <a:endParaRPr kumimoji="1" lang="ja-GB" altLang="en-US" sz="1400" b="1" dirty="0">
              <a:solidFill>
                <a:schemeClr val="tx1">
                  <a:lumMod val="50000"/>
                  <a:lumOff val="50000"/>
                </a:schemeClr>
              </a:solidFill>
            </a:endParaRPr>
          </a:p>
        </p:txBody>
      </p:sp>
      <p:sp>
        <p:nvSpPr>
          <p:cNvPr id="86" name="テキスト ボックス 85">
            <a:extLst>
              <a:ext uri="{FF2B5EF4-FFF2-40B4-BE49-F238E27FC236}">
                <a16:creationId xmlns:a16="http://schemas.microsoft.com/office/drawing/2014/main" id="{4D02AA98-9DA0-6F45-1F4F-6301208F35EE}"/>
              </a:ext>
            </a:extLst>
          </p:cNvPr>
          <p:cNvSpPr txBox="1"/>
          <p:nvPr/>
        </p:nvSpPr>
        <p:spPr>
          <a:xfrm>
            <a:off x="532809" y="6502532"/>
            <a:ext cx="3595857" cy="307777"/>
          </a:xfrm>
          <a:prstGeom prst="rect">
            <a:avLst/>
          </a:prstGeom>
          <a:noFill/>
        </p:spPr>
        <p:txBody>
          <a:bodyPr wrap="none" rtlCol="0">
            <a:spAutoFit/>
          </a:bodyPr>
          <a:lstStyle/>
          <a:p>
            <a:pPr algn="ctr"/>
            <a:r>
              <a:rPr kumimoji="1" lang="ja-GB" altLang="en-US" sz="1400" b="1" dirty="0">
                <a:solidFill>
                  <a:srgbClr val="2F2523"/>
                </a:solidFill>
              </a:rPr>
              <a:t>ファイアウォール：正常な通信のみ認める</a:t>
            </a:r>
          </a:p>
        </p:txBody>
      </p:sp>
      <p:pic>
        <p:nvPicPr>
          <p:cNvPr id="87" name="グラフィックス 86" descr="インターネット 単色塗りつぶし">
            <a:extLst>
              <a:ext uri="{FF2B5EF4-FFF2-40B4-BE49-F238E27FC236}">
                <a16:creationId xmlns:a16="http://schemas.microsoft.com/office/drawing/2014/main" id="{53E0C139-E95A-C841-6EAB-0DA2DDFC43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250" y="4825797"/>
            <a:ext cx="914400" cy="914400"/>
          </a:xfrm>
          <a:prstGeom prst="rect">
            <a:avLst/>
          </a:prstGeom>
        </p:spPr>
      </p:pic>
      <p:cxnSp>
        <p:nvCxnSpPr>
          <p:cNvPr id="88" name="直線矢印コネクタ 87">
            <a:extLst>
              <a:ext uri="{FF2B5EF4-FFF2-40B4-BE49-F238E27FC236}">
                <a16:creationId xmlns:a16="http://schemas.microsoft.com/office/drawing/2014/main" id="{6F64A5C1-8A06-9BCA-D06C-BE652011FC4F}"/>
              </a:ext>
            </a:extLst>
          </p:cNvPr>
          <p:cNvCxnSpPr>
            <a:cxnSpLocks/>
          </p:cNvCxnSpPr>
          <p:nvPr/>
        </p:nvCxnSpPr>
        <p:spPr>
          <a:xfrm>
            <a:off x="1493650" y="5282997"/>
            <a:ext cx="881869" cy="0"/>
          </a:xfrm>
          <a:prstGeom prst="straightConnector1">
            <a:avLst/>
          </a:prstGeom>
          <a:ln w="571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B0DB84AE-4DDD-9373-05D2-D86DB9BF1BB5}"/>
              </a:ext>
            </a:extLst>
          </p:cNvPr>
          <p:cNvSpPr txBox="1"/>
          <p:nvPr/>
        </p:nvSpPr>
        <p:spPr>
          <a:xfrm>
            <a:off x="1821406" y="4796738"/>
            <a:ext cx="1048685" cy="1107996"/>
          </a:xfrm>
          <a:prstGeom prst="rect">
            <a:avLst/>
          </a:prstGeom>
          <a:noFill/>
        </p:spPr>
        <p:txBody>
          <a:bodyPr wrap="none" rtlCol="0">
            <a:spAutoFit/>
          </a:bodyPr>
          <a:lstStyle/>
          <a:p>
            <a:r>
              <a:rPr kumimoji="1" lang="en-US" altLang="ja-GB" sz="6600" b="1" dirty="0">
                <a:solidFill>
                  <a:srgbClr val="0070C0"/>
                </a:solidFill>
              </a:rPr>
              <a:t>○</a:t>
            </a:r>
            <a:endParaRPr kumimoji="1" lang="ja-GB" altLang="en-US" sz="6600" b="1" dirty="0">
              <a:solidFill>
                <a:srgbClr val="0070C0"/>
              </a:solidFill>
            </a:endParaRPr>
          </a:p>
        </p:txBody>
      </p:sp>
      <p:cxnSp>
        <p:nvCxnSpPr>
          <p:cNvPr id="90" name="直線矢印コネクタ 89">
            <a:extLst>
              <a:ext uri="{FF2B5EF4-FFF2-40B4-BE49-F238E27FC236}">
                <a16:creationId xmlns:a16="http://schemas.microsoft.com/office/drawing/2014/main" id="{9AE3B669-4BD3-825A-092D-37645FAF1FB2}"/>
              </a:ext>
            </a:extLst>
          </p:cNvPr>
          <p:cNvCxnSpPr>
            <a:cxnSpLocks/>
            <a:endCxn id="64" idx="1"/>
          </p:cNvCxnSpPr>
          <p:nvPr/>
        </p:nvCxnSpPr>
        <p:spPr>
          <a:xfrm>
            <a:off x="2345748" y="5282997"/>
            <a:ext cx="718285" cy="805768"/>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97797F4C-7EB5-C68B-8DE0-D2C1BBFE5510}"/>
              </a:ext>
            </a:extLst>
          </p:cNvPr>
          <p:cNvSpPr txBox="1"/>
          <p:nvPr/>
        </p:nvSpPr>
        <p:spPr>
          <a:xfrm>
            <a:off x="4546669" y="6502532"/>
            <a:ext cx="4493539" cy="307777"/>
          </a:xfrm>
          <a:prstGeom prst="rect">
            <a:avLst/>
          </a:prstGeom>
          <a:noFill/>
        </p:spPr>
        <p:txBody>
          <a:bodyPr wrap="none" rtlCol="0">
            <a:spAutoFit/>
          </a:bodyPr>
          <a:lstStyle/>
          <a:p>
            <a:pPr algn="ctr"/>
            <a:r>
              <a:rPr kumimoji="1" lang="ja-GB" altLang="en-US" sz="1400" b="1" dirty="0">
                <a:solidFill>
                  <a:srgbClr val="2F2523"/>
                </a:solidFill>
              </a:rPr>
              <a:t>アクセス制御：データごとにアクセス権限を設定する</a:t>
            </a:r>
          </a:p>
        </p:txBody>
      </p:sp>
      <p:pic>
        <p:nvPicPr>
          <p:cNvPr id="107" name="グラフィックス 106" descr="開いたフォルダー 単色塗りつぶし">
            <a:extLst>
              <a:ext uri="{FF2B5EF4-FFF2-40B4-BE49-F238E27FC236}">
                <a16:creationId xmlns:a16="http://schemas.microsoft.com/office/drawing/2014/main" id="{85AC40CA-7F10-C46F-A76B-46076363E3D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52080" y="4381751"/>
            <a:ext cx="657226" cy="657226"/>
          </a:xfrm>
          <a:prstGeom prst="rect">
            <a:avLst/>
          </a:prstGeom>
        </p:spPr>
      </p:pic>
      <p:pic>
        <p:nvPicPr>
          <p:cNvPr id="109" name="グラフィックス 108" descr="開いたフォルダー 単色塗りつぶし">
            <a:extLst>
              <a:ext uri="{FF2B5EF4-FFF2-40B4-BE49-F238E27FC236}">
                <a16:creationId xmlns:a16="http://schemas.microsoft.com/office/drawing/2014/main" id="{CA358A10-DA74-97AE-3280-67DB91D598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52080" y="5028655"/>
            <a:ext cx="657226" cy="657226"/>
          </a:xfrm>
          <a:prstGeom prst="rect">
            <a:avLst/>
          </a:prstGeom>
        </p:spPr>
      </p:pic>
      <p:pic>
        <p:nvPicPr>
          <p:cNvPr id="110" name="グラフィックス 109" descr="開いたフォルダー 単色塗りつぶし">
            <a:extLst>
              <a:ext uri="{FF2B5EF4-FFF2-40B4-BE49-F238E27FC236}">
                <a16:creationId xmlns:a16="http://schemas.microsoft.com/office/drawing/2014/main" id="{8A9F74F9-287A-97BC-BFE8-D8BB8B3BEBC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52080" y="5685881"/>
            <a:ext cx="657226" cy="657226"/>
          </a:xfrm>
          <a:prstGeom prst="rect">
            <a:avLst/>
          </a:prstGeom>
        </p:spPr>
      </p:pic>
      <p:sp>
        <p:nvSpPr>
          <p:cNvPr id="111" name="テキスト ボックス 110">
            <a:extLst>
              <a:ext uri="{FF2B5EF4-FFF2-40B4-BE49-F238E27FC236}">
                <a16:creationId xmlns:a16="http://schemas.microsoft.com/office/drawing/2014/main" id="{32560182-E45D-342C-B3F0-98924F5A15F8}"/>
              </a:ext>
            </a:extLst>
          </p:cNvPr>
          <p:cNvSpPr txBox="1"/>
          <p:nvPr/>
        </p:nvSpPr>
        <p:spPr>
          <a:xfrm>
            <a:off x="5606231" y="6213064"/>
            <a:ext cx="748923" cy="261610"/>
          </a:xfrm>
          <a:prstGeom prst="rect">
            <a:avLst/>
          </a:prstGeom>
          <a:noFill/>
        </p:spPr>
        <p:txBody>
          <a:bodyPr wrap="none" rtlCol="0">
            <a:spAutoFit/>
          </a:bodyPr>
          <a:lstStyle/>
          <a:p>
            <a:pPr algn="ctr"/>
            <a:r>
              <a:rPr kumimoji="1" lang="ja-GB" altLang="en-US" sz="1100" dirty="0">
                <a:solidFill>
                  <a:srgbClr val="2F2523"/>
                </a:solidFill>
              </a:rPr>
              <a:t>期末試験</a:t>
            </a:r>
          </a:p>
        </p:txBody>
      </p:sp>
      <p:sp>
        <p:nvSpPr>
          <p:cNvPr id="112" name="テキスト ボックス 111">
            <a:extLst>
              <a:ext uri="{FF2B5EF4-FFF2-40B4-BE49-F238E27FC236}">
                <a16:creationId xmlns:a16="http://schemas.microsoft.com/office/drawing/2014/main" id="{AC424D8B-61FB-DB99-B334-FB55235E571B}"/>
              </a:ext>
            </a:extLst>
          </p:cNvPr>
          <p:cNvSpPr txBox="1"/>
          <p:nvPr/>
        </p:nvSpPr>
        <p:spPr>
          <a:xfrm>
            <a:off x="5606234" y="5545925"/>
            <a:ext cx="748923" cy="261610"/>
          </a:xfrm>
          <a:prstGeom prst="rect">
            <a:avLst/>
          </a:prstGeom>
          <a:noFill/>
        </p:spPr>
        <p:txBody>
          <a:bodyPr wrap="none" rtlCol="0">
            <a:spAutoFit/>
          </a:bodyPr>
          <a:lstStyle/>
          <a:p>
            <a:pPr algn="ctr"/>
            <a:r>
              <a:rPr kumimoji="1" lang="ja-GB" altLang="en-US" sz="1100" dirty="0">
                <a:solidFill>
                  <a:srgbClr val="2F2523"/>
                </a:solidFill>
              </a:rPr>
              <a:t>授業資料</a:t>
            </a:r>
          </a:p>
        </p:txBody>
      </p:sp>
      <p:sp>
        <p:nvSpPr>
          <p:cNvPr id="113" name="テキスト ボックス 112">
            <a:extLst>
              <a:ext uri="{FF2B5EF4-FFF2-40B4-BE49-F238E27FC236}">
                <a16:creationId xmlns:a16="http://schemas.microsoft.com/office/drawing/2014/main" id="{0A2E84FD-49A4-270D-A0D3-84F9CB4BD044}"/>
              </a:ext>
            </a:extLst>
          </p:cNvPr>
          <p:cNvSpPr txBox="1"/>
          <p:nvPr/>
        </p:nvSpPr>
        <p:spPr>
          <a:xfrm>
            <a:off x="5606235" y="4895564"/>
            <a:ext cx="748923" cy="261610"/>
          </a:xfrm>
          <a:prstGeom prst="rect">
            <a:avLst/>
          </a:prstGeom>
          <a:noFill/>
        </p:spPr>
        <p:txBody>
          <a:bodyPr wrap="none" rtlCol="0">
            <a:spAutoFit/>
          </a:bodyPr>
          <a:lstStyle/>
          <a:p>
            <a:pPr algn="ctr"/>
            <a:r>
              <a:rPr kumimoji="1" lang="ja-GB" altLang="en-US" sz="1100" dirty="0">
                <a:solidFill>
                  <a:srgbClr val="2F2523"/>
                </a:solidFill>
              </a:rPr>
              <a:t>成績情報</a:t>
            </a:r>
          </a:p>
        </p:txBody>
      </p:sp>
      <p:sp>
        <p:nvSpPr>
          <p:cNvPr id="114" name="テキスト ボックス 113">
            <a:extLst>
              <a:ext uri="{FF2B5EF4-FFF2-40B4-BE49-F238E27FC236}">
                <a16:creationId xmlns:a16="http://schemas.microsoft.com/office/drawing/2014/main" id="{2B0B96BE-4FFD-CAE8-882C-307DB5F804BD}"/>
              </a:ext>
            </a:extLst>
          </p:cNvPr>
          <p:cNvSpPr txBox="1"/>
          <p:nvPr/>
        </p:nvSpPr>
        <p:spPr>
          <a:xfrm>
            <a:off x="6577713" y="5891390"/>
            <a:ext cx="902811" cy="523220"/>
          </a:xfrm>
          <a:prstGeom prst="rect">
            <a:avLst/>
          </a:prstGeom>
          <a:noFill/>
        </p:spPr>
        <p:txBody>
          <a:bodyPr wrap="none" rtlCol="0">
            <a:spAutoFit/>
          </a:bodyPr>
          <a:lstStyle/>
          <a:p>
            <a:r>
              <a:rPr kumimoji="1" lang="ja-GB" altLang="en-US" sz="1400" dirty="0">
                <a:solidFill>
                  <a:srgbClr val="2F2523"/>
                </a:solidFill>
              </a:rPr>
              <a:t>教員：○</a:t>
            </a:r>
            <a:endParaRPr kumimoji="1" lang="en-US" altLang="ja-GB" sz="1400" dirty="0">
              <a:solidFill>
                <a:srgbClr val="2F2523"/>
              </a:solidFill>
            </a:endParaRPr>
          </a:p>
          <a:p>
            <a:r>
              <a:rPr kumimoji="1" lang="ja-GB" altLang="en-US" sz="1400" dirty="0">
                <a:solidFill>
                  <a:srgbClr val="2F2523"/>
                </a:solidFill>
              </a:rPr>
              <a:t>学生：</a:t>
            </a:r>
            <a:r>
              <a:rPr kumimoji="1" lang="en-US" altLang="ja-GB" sz="1400" dirty="0">
                <a:solidFill>
                  <a:srgbClr val="2F2523"/>
                </a:solidFill>
              </a:rPr>
              <a:t>×</a:t>
            </a:r>
          </a:p>
        </p:txBody>
      </p:sp>
      <p:sp>
        <p:nvSpPr>
          <p:cNvPr id="115" name="テキスト ボックス 114">
            <a:extLst>
              <a:ext uri="{FF2B5EF4-FFF2-40B4-BE49-F238E27FC236}">
                <a16:creationId xmlns:a16="http://schemas.microsoft.com/office/drawing/2014/main" id="{BB500281-2FEA-F1D6-5964-1C0698F4734D}"/>
              </a:ext>
            </a:extLst>
          </p:cNvPr>
          <p:cNvSpPr txBox="1"/>
          <p:nvPr/>
        </p:nvSpPr>
        <p:spPr>
          <a:xfrm>
            <a:off x="6577713" y="5216977"/>
            <a:ext cx="902811" cy="523220"/>
          </a:xfrm>
          <a:prstGeom prst="rect">
            <a:avLst/>
          </a:prstGeom>
          <a:noFill/>
        </p:spPr>
        <p:txBody>
          <a:bodyPr wrap="none" rtlCol="0">
            <a:spAutoFit/>
          </a:bodyPr>
          <a:lstStyle/>
          <a:p>
            <a:r>
              <a:rPr kumimoji="1" lang="ja-GB" altLang="en-US" sz="1400" dirty="0">
                <a:solidFill>
                  <a:srgbClr val="2F2523"/>
                </a:solidFill>
              </a:rPr>
              <a:t>教員：○</a:t>
            </a:r>
            <a:endParaRPr kumimoji="1" lang="en-US" altLang="ja-GB" sz="1400" dirty="0">
              <a:solidFill>
                <a:srgbClr val="2F2523"/>
              </a:solidFill>
            </a:endParaRPr>
          </a:p>
          <a:p>
            <a:r>
              <a:rPr kumimoji="1" lang="ja-GB" altLang="en-US" sz="1400" dirty="0">
                <a:solidFill>
                  <a:srgbClr val="2F2523"/>
                </a:solidFill>
              </a:rPr>
              <a:t>学生：○</a:t>
            </a:r>
            <a:endParaRPr kumimoji="1" lang="en-US" altLang="ja-GB" sz="1400" dirty="0">
              <a:solidFill>
                <a:srgbClr val="2F2523"/>
              </a:solidFill>
            </a:endParaRPr>
          </a:p>
        </p:txBody>
      </p:sp>
      <p:sp>
        <p:nvSpPr>
          <p:cNvPr id="116" name="テキスト ボックス 115">
            <a:extLst>
              <a:ext uri="{FF2B5EF4-FFF2-40B4-BE49-F238E27FC236}">
                <a16:creationId xmlns:a16="http://schemas.microsoft.com/office/drawing/2014/main" id="{4DB74AB4-E1A8-8031-F942-EA710F07A17B}"/>
              </a:ext>
            </a:extLst>
          </p:cNvPr>
          <p:cNvSpPr txBox="1"/>
          <p:nvPr/>
        </p:nvSpPr>
        <p:spPr>
          <a:xfrm>
            <a:off x="6577713" y="4530334"/>
            <a:ext cx="2339102" cy="523220"/>
          </a:xfrm>
          <a:prstGeom prst="rect">
            <a:avLst/>
          </a:prstGeom>
          <a:noFill/>
        </p:spPr>
        <p:txBody>
          <a:bodyPr wrap="none" rtlCol="0">
            <a:spAutoFit/>
          </a:bodyPr>
          <a:lstStyle/>
          <a:p>
            <a:r>
              <a:rPr kumimoji="1" lang="ja-GB" altLang="en-US" sz="1400" dirty="0">
                <a:solidFill>
                  <a:srgbClr val="2F2523"/>
                </a:solidFill>
              </a:rPr>
              <a:t>教員：○</a:t>
            </a:r>
            <a:endParaRPr kumimoji="1" lang="en-US" altLang="ja-GB" sz="1400" dirty="0">
              <a:solidFill>
                <a:srgbClr val="2F2523"/>
              </a:solidFill>
            </a:endParaRPr>
          </a:p>
          <a:p>
            <a:r>
              <a:rPr kumimoji="1" lang="ja-GB" altLang="en-US" sz="1400" dirty="0">
                <a:solidFill>
                  <a:srgbClr val="2F2523"/>
                </a:solidFill>
              </a:rPr>
              <a:t>学生：本人は</a:t>
            </a:r>
            <a:r>
              <a:rPr kumimoji="1" lang="en-US" altLang="ja-GB" sz="1400" dirty="0">
                <a:solidFill>
                  <a:srgbClr val="2F2523"/>
                </a:solidFill>
              </a:rPr>
              <a:t>○</a:t>
            </a:r>
            <a:r>
              <a:rPr kumimoji="1" lang="ja-GB" altLang="en-US" sz="1400" dirty="0">
                <a:solidFill>
                  <a:srgbClr val="2F2523"/>
                </a:solidFill>
              </a:rPr>
              <a:t>，他人は</a:t>
            </a:r>
            <a:r>
              <a:rPr kumimoji="1" lang="en-US" altLang="ja-GB" sz="1400" dirty="0">
                <a:solidFill>
                  <a:srgbClr val="2F2523"/>
                </a:solidFill>
              </a:rPr>
              <a:t>×</a:t>
            </a:r>
          </a:p>
        </p:txBody>
      </p:sp>
    </p:spTree>
    <p:extLst>
      <p:ext uri="{BB962C8B-B14F-4D97-AF65-F5344CB8AC3E}">
        <p14:creationId xmlns:p14="http://schemas.microsoft.com/office/powerpoint/2010/main" val="111463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BDA4-7D89-5537-119D-E39F46DCAA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82F557-52CC-318F-1D66-3E3507C1E3C1}"/>
              </a:ext>
            </a:extLst>
          </p:cNvPr>
          <p:cNvSpPr>
            <a:spLocks noGrp="1"/>
          </p:cNvSpPr>
          <p:nvPr>
            <p:ph type="title"/>
          </p:nvPr>
        </p:nvSpPr>
        <p:spPr/>
        <p:txBody>
          <a:bodyPr/>
          <a:lstStyle/>
          <a:p>
            <a:r>
              <a:rPr kumimoji="1" lang="ja-GB" altLang="en-US" dirty="0"/>
              <a:t>概説</a:t>
            </a:r>
            <a:r>
              <a:rPr kumimoji="1" lang="en-US" altLang="ja-GB" dirty="0"/>
              <a:t>2</a:t>
            </a:r>
            <a:r>
              <a:rPr kumimoji="1" lang="ja-GB" altLang="en-US" dirty="0"/>
              <a:t>：</a:t>
            </a:r>
            <a:r>
              <a:rPr kumimoji="1" lang="ja-JP" altLang="en-US"/>
              <a:t>情報</a:t>
            </a:r>
            <a:r>
              <a:rPr kumimoji="1" lang="ja-JP" altLang="en-US" dirty="0"/>
              <a:t>システムとは何か？なぜ重要なのか？</a:t>
            </a:r>
            <a:endParaRPr kumimoji="1" lang="ja-GB" altLang="en-US" dirty="0"/>
          </a:p>
        </p:txBody>
      </p:sp>
      <p:sp>
        <p:nvSpPr>
          <p:cNvPr id="3" name="コンテンツ プレースホルダー 2">
            <a:extLst>
              <a:ext uri="{FF2B5EF4-FFF2-40B4-BE49-F238E27FC236}">
                <a16:creationId xmlns:a16="http://schemas.microsoft.com/office/drawing/2014/main" id="{5CB8629F-4A60-0FD8-7090-C748EEA18045}"/>
              </a:ext>
            </a:extLst>
          </p:cNvPr>
          <p:cNvSpPr>
            <a:spLocks noGrp="1"/>
          </p:cNvSpPr>
          <p:nvPr>
            <p:ph idx="1"/>
          </p:nvPr>
        </p:nvSpPr>
        <p:spPr/>
        <p:txBody>
          <a:bodyPr>
            <a:normAutofit/>
          </a:bodyPr>
          <a:lstStyle/>
          <a:p>
            <a:pPr marL="0" indent="0">
              <a:buNone/>
            </a:pPr>
            <a:r>
              <a:rPr lang="ja-GB" altLang="en-US" sz="2000" dirty="0"/>
              <a:t>計算機やインターネットの仕組み</a:t>
            </a:r>
            <a:endParaRPr lang="en-US" altLang="ja-GB" sz="2000" dirty="0"/>
          </a:p>
          <a:p>
            <a:pPr marL="457200" lvl="1" indent="0">
              <a:buNone/>
            </a:pPr>
            <a:r>
              <a:rPr kumimoji="1" lang="ja-GB" altLang="en-US" sz="1800" dirty="0">
                <a:solidFill>
                  <a:srgbClr val="2F2523"/>
                </a:solidFill>
              </a:rPr>
              <a:t>計算機内部の情報表現は</a:t>
            </a:r>
            <a:r>
              <a:rPr kumimoji="1" lang="ja-GB" altLang="en-US" sz="1800" dirty="0"/>
              <a:t>デジタル（数字式）の二進表現（</a:t>
            </a:r>
            <a:r>
              <a:rPr kumimoji="1" lang="en-US" altLang="ja-GB" sz="1800" dirty="0"/>
              <a:t>0 or 1</a:t>
            </a:r>
            <a:r>
              <a:rPr kumimoji="1" lang="ja-GB" altLang="en-US" sz="1800" dirty="0"/>
              <a:t>）</a:t>
            </a:r>
            <a:endParaRPr kumimoji="1" lang="en-US" altLang="ja-GB" sz="1800" dirty="0"/>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物理量（</a:t>
            </a:r>
            <a:r>
              <a:rPr lang="ja-GB" altLang="en-US" sz="1600" dirty="0">
                <a:solidFill>
                  <a:schemeClr val="tx1">
                    <a:lumMod val="50000"/>
                    <a:lumOff val="50000"/>
                  </a:schemeClr>
                </a:solidFill>
              </a:rPr>
              <a:t>アナログ値</a:t>
            </a:r>
            <a:r>
              <a:rPr kumimoji="1" lang="ja-GB" altLang="en-US" sz="1600" dirty="0">
                <a:solidFill>
                  <a:schemeClr val="tx1">
                    <a:lumMod val="50000"/>
                    <a:lumOff val="50000"/>
                  </a:schemeClr>
                </a:solidFill>
              </a:rPr>
              <a:t>）を数字式に近似すると記録・伝達しやすくなる</a:t>
            </a:r>
            <a:endParaRPr kumimoji="1" lang="en-US" altLang="ja-GB" sz="1600" dirty="0">
              <a:solidFill>
                <a:schemeClr val="tx1">
                  <a:lumMod val="50000"/>
                  <a:lumOff val="50000"/>
                </a:schemeClr>
              </a:solidFill>
            </a:endParaRPr>
          </a:p>
          <a:p>
            <a:pPr marL="914400" lvl="2" indent="0">
              <a:buNone/>
            </a:pPr>
            <a:r>
              <a:rPr kumimoji="1" lang="en-US" altLang="ja-GB" sz="1600" dirty="0">
                <a:solidFill>
                  <a:schemeClr val="accent2"/>
                </a:solidFill>
              </a:rPr>
              <a:t>→</a:t>
            </a:r>
            <a:r>
              <a:rPr kumimoji="1" lang="ja-GB" altLang="en-US" sz="1600" dirty="0">
                <a:solidFill>
                  <a:schemeClr val="accent2"/>
                </a:solidFill>
              </a:rPr>
              <a:t>数値を</a:t>
            </a:r>
            <a:r>
              <a:rPr kumimoji="1" lang="en-US" altLang="ja-GB" sz="1600" dirty="0">
                <a:solidFill>
                  <a:schemeClr val="accent2"/>
                </a:solidFill>
              </a:rPr>
              <a:t>0</a:t>
            </a:r>
            <a:r>
              <a:rPr kumimoji="1" lang="ja-GB" altLang="en-US" sz="1600" dirty="0">
                <a:solidFill>
                  <a:schemeClr val="accent2"/>
                </a:solidFill>
              </a:rPr>
              <a:t>と</a:t>
            </a:r>
            <a:r>
              <a:rPr kumimoji="1" lang="en-US" altLang="ja-GB" sz="1600" dirty="0">
                <a:solidFill>
                  <a:schemeClr val="accent2"/>
                </a:solidFill>
              </a:rPr>
              <a:t>1</a:t>
            </a:r>
            <a:r>
              <a:rPr kumimoji="1" lang="ja-GB" altLang="en-US" sz="1600" dirty="0">
                <a:solidFill>
                  <a:schemeClr val="accent2"/>
                </a:solidFill>
              </a:rPr>
              <a:t>のみで表現すると，単純な</a:t>
            </a:r>
            <a:r>
              <a:rPr kumimoji="1" lang="en-US" altLang="ja-GB" sz="1600" dirty="0">
                <a:solidFill>
                  <a:schemeClr val="accent2"/>
                </a:solidFill>
              </a:rPr>
              <a:t>“</a:t>
            </a:r>
            <a:r>
              <a:rPr kumimoji="1" lang="ja-GB" altLang="en-US" sz="1600" dirty="0">
                <a:solidFill>
                  <a:schemeClr val="accent2"/>
                </a:solidFill>
              </a:rPr>
              <a:t>スイッチ</a:t>
            </a:r>
            <a:r>
              <a:rPr kumimoji="1" lang="en-US" altLang="ja-GB" sz="1600" dirty="0">
                <a:solidFill>
                  <a:schemeClr val="accent2"/>
                </a:solidFill>
              </a:rPr>
              <a:t>”</a:t>
            </a:r>
            <a:r>
              <a:rPr kumimoji="1" lang="ja-GB" altLang="en-US" sz="1600" dirty="0">
                <a:solidFill>
                  <a:schemeClr val="accent2"/>
                </a:solidFill>
              </a:rPr>
              <a:t>（半導体）で実現できる</a:t>
            </a:r>
            <a:endParaRPr kumimoji="1" lang="en-US" altLang="ja-GB" sz="1600" dirty="0">
              <a:solidFill>
                <a:schemeClr val="accent2"/>
              </a:solidFill>
            </a:endParaRPr>
          </a:p>
          <a:p>
            <a:pPr marL="457200" lvl="1" indent="0">
              <a:buNone/>
            </a:pPr>
            <a:r>
              <a:rPr lang="ja-GB" altLang="en-US" sz="1800" dirty="0">
                <a:solidFill>
                  <a:srgbClr val="2F2523"/>
                </a:solidFill>
              </a:rPr>
              <a:t>ネットワークは網目状に結ばれた計算機同士の通信経路</a:t>
            </a:r>
            <a:endParaRPr lang="en-US" altLang="ja-GB" sz="1800" dirty="0">
              <a:solidFill>
                <a:srgbClr val="2F2523"/>
              </a:solidFill>
            </a:endParaRPr>
          </a:p>
          <a:p>
            <a:pPr marL="914400" lvl="2" indent="0">
              <a:buNone/>
            </a:pPr>
            <a:r>
              <a:rPr kumimoji="1" lang="en-US" altLang="ja-GB" sz="1600" dirty="0">
                <a:solidFill>
                  <a:schemeClr val="tx1">
                    <a:lumMod val="50000"/>
                    <a:lumOff val="50000"/>
                  </a:schemeClr>
                </a:solidFill>
              </a:rPr>
              <a:t>→</a:t>
            </a:r>
            <a:r>
              <a:rPr kumimoji="1" lang="ja-GB" altLang="en-US" sz="1600" dirty="0">
                <a:solidFill>
                  <a:schemeClr val="tx1">
                    <a:lumMod val="50000"/>
                    <a:lumOff val="50000"/>
                  </a:schemeClr>
                </a:solidFill>
              </a:rPr>
              <a:t>インターネット（世界中のネットワーク同士が相互に通信できる仕組み）が登場する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tx1">
                    <a:lumMod val="50000"/>
                    <a:lumOff val="50000"/>
                  </a:schemeClr>
                </a:solidFill>
              </a:rPr>
              <a:t>→</a:t>
            </a:r>
            <a:r>
              <a:rPr lang="ja-GB" altLang="en-US" sz="1600" dirty="0">
                <a:solidFill>
                  <a:schemeClr val="tx1">
                    <a:lumMod val="50000"/>
                    <a:lumOff val="50000"/>
                  </a:schemeClr>
                </a:solidFill>
              </a:rPr>
              <a:t>情報システム（基本的には情報を操作する仕組み）が普及する</a:t>
            </a:r>
            <a:endParaRPr kumimoji="1" lang="en-US" altLang="ja-GB" sz="1600" dirty="0">
              <a:solidFill>
                <a:schemeClr val="tx1">
                  <a:lumMod val="50000"/>
                  <a:lumOff val="50000"/>
                </a:schemeClr>
              </a:solidFill>
            </a:endParaRPr>
          </a:p>
          <a:p>
            <a:pPr marL="914400" lvl="2" indent="0">
              <a:buNone/>
            </a:pPr>
            <a:r>
              <a:rPr lang="en-US" altLang="ja-GB" sz="1600" dirty="0">
                <a:solidFill>
                  <a:schemeClr val="accent2"/>
                </a:solidFill>
              </a:rPr>
              <a:t>→</a:t>
            </a:r>
            <a:r>
              <a:rPr lang="ja-GB" altLang="en-US" sz="1600" dirty="0">
                <a:solidFill>
                  <a:schemeClr val="accent2"/>
                </a:solidFill>
              </a:rPr>
              <a:t>セキュリティ（攻撃者や災害などの外的要因から情報を守る仕組み）が重要になる</a:t>
            </a:r>
            <a:endParaRPr kumimoji="1" lang="en-US" altLang="ja-GB" sz="1600" dirty="0">
              <a:solidFill>
                <a:schemeClr val="accent2"/>
              </a:solidFill>
            </a:endParaRPr>
          </a:p>
        </p:txBody>
      </p:sp>
    </p:spTree>
    <p:extLst>
      <p:ext uri="{BB962C8B-B14F-4D97-AF65-F5344CB8AC3E}">
        <p14:creationId xmlns:p14="http://schemas.microsoft.com/office/powerpoint/2010/main" val="7683176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9B1AF-425F-21AA-A877-3C7124B27634}"/>
              </a:ext>
            </a:extLst>
          </p:cNvPr>
          <p:cNvSpPr>
            <a:spLocks noGrp="1"/>
          </p:cNvSpPr>
          <p:nvPr>
            <p:ph type="ctrTitle"/>
          </p:nvPr>
        </p:nvSpPr>
        <p:spPr/>
        <p:txBody>
          <a:bodyPr/>
          <a:lstStyle/>
          <a:p>
            <a:r>
              <a:rPr kumimoji="1" lang="en-US" altLang="ja-GB" dirty="0">
                <a:solidFill>
                  <a:schemeClr val="bg1"/>
                </a:solidFill>
              </a:rPr>
              <a:t>II. </a:t>
            </a:r>
            <a:r>
              <a:rPr kumimoji="1" lang="ja-GB" altLang="en-US" dirty="0">
                <a:solidFill>
                  <a:schemeClr val="bg1"/>
                </a:solidFill>
              </a:rPr>
              <a:t>計算機やデータ，</a:t>
            </a:r>
            <a:r>
              <a:rPr kumimoji="1" lang="en-US" altLang="ja-GB" dirty="0">
                <a:solidFill>
                  <a:schemeClr val="bg1"/>
                </a:solidFill>
              </a:rPr>
              <a:t>AI</a:t>
            </a:r>
            <a:r>
              <a:rPr kumimoji="1" lang="ja-GB" altLang="en-US" dirty="0">
                <a:solidFill>
                  <a:schemeClr val="bg1"/>
                </a:solidFill>
              </a:rPr>
              <a:t>にできることを知る</a:t>
            </a:r>
          </a:p>
        </p:txBody>
      </p:sp>
      <p:sp>
        <p:nvSpPr>
          <p:cNvPr id="3" name="字幕 2">
            <a:extLst>
              <a:ext uri="{FF2B5EF4-FFF2-40B4-BE49-F238E27FC236}">
                <a16:creationId xmlns:a16="http://schemas.microsoft.com/office/drawing/2014/main" id="{A0FBACE4-6AAA-D541-90C3-CE5591151E91}"/>
              </a:ext>
            </a:extLst>
          </p:cNvPr>
          <p:cNvSpPr>
            <a:spLocks noGrp="1"/>
          </p:cNvSpPr>
          <p:nvPr>
            <p:ph type="subTitle" idx="1"/>
          </p:nvPr>
        </p:nvSpPr>
        <p:spPr/>
        <p:txBody>
          <a:bodyPr/>
          <a:lstStyle/>
          <a:p>
            <a:r>
              <a:rPr kumimoji="1" lang="en-US" altLang="ja-GB" dirty="0">
                <a:solidFill>
                  <a:schemeClr val="bg1"/>
                </a:solidFill>
              </a:rPr>
              <a:t>3. </a:t>
            </a:r>
            <a:r>
              <a:rPr kumimoji="1" lang="ja-GB" altLang="en-US" dirty="0">
                <a:solidFill>
                  <a:schemeClr val="bg1"/>
                </a:solidFill>
              </a:rPr>
              <a:t>計算機の基本原理</a:t>
            </a:r>
            <a:endParaRPr kumimoji="1" lang="en-US" altLang="ja-GB" dirty="0">
              <a:solidFill>
                <a:schemeClr val="bg1"/>
              </a:solidFill>
            </a:endParaRPr>
          </a:p>
          <a:p>
            <a:r>
              <a:rPr lang="en-US" altLang="ja-GB" dirty="0">
                <a:solidFill>
                  <a:schemeClr val="bg1"/>
                </a:solidFill>
              </a:rPr>
              <a:t>4. </a:t>
            </a:r>
            <a:r>
              <a:rPr lang="ja-GB" altLang="en-US" dirty="0">
                <a:solidFill>
                  <a:schemeClr val="bg1"/>
                </a:solidFill>
              </a:rPr>
              <a:t>計算機と統計</a:t>
            </a:r>
            <a:endParaRPr kumimoji="1" lang="ja-GB" altLang="en-US" dirty="0">
              <a:solidFill>
                <a:schemeClr val="bg1"/>
              </a:solidFill>
            </a:endParaRPr>
          </a:p>
        </p:txBody>
      </p:sp>
    </p:spTree>
    <p:extLst>
      <p:ext uri="{BB962C8B-B14F-4D97-AF65-F5344CB8AC3E}">
        <p14:creationId xmlns:p14="http://schemas.microsoft.com/office/powerpoint/2010/main" val="32019795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2014D-C801-4AA7-D979-EE286DFB00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D07FE6-1F77-A66D-366B-87B8112A158C}"/>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EB4D7A4D-8F80-C0CB-EFE4-0DAADEE7CDEF}"/>
              </a:ext>
            </a:extLst>
          </p:cNvPr>
          <p:cNvSpPr>
            <a:spLocks noGrp="1"/>
          </p:cNvSpPr>
          <p:nvPr>
            <p:ph idx="1"/>
          </p:nvPr>
        </p:nvSpPr>
        <p:spPr/>
        <p:txBody>
          <a:bodyPr>
            <a:normAutofit/>
          </a:bodyPr>
          <a:lstStyle/>
          <a:p>
            <a:pPr marL="0" indent="0">
              <a:buNone/>
            </a:pPr>
            <a:r>
              <a:rPr lang="en-GB" sz="1800" dirty="0">
                <a:solidFill>
                  <a:schemeClr val="bg1">
                    <a:lumMod val="75000"/>
                  </a:schemeClr>
                </a:solidFill>
              </a:rPr>
              <a:t>I. </a:t>
            </a:r>
            <a:r>
              <a:rPr lang="ja-JP" altLang="en-US" sz="1800">
                <a:solidFill>
                  <a:schemeClr val="bg1">
                    <a:lumMod val="75000"/>
                  </a:schemeClr>
                </a:solidFill>
              </a:rPr>
              <a:t>計算機システムを学ぶ意味を見つける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1. </a:t>
            </a:r>
            <a:r>
              <a:rPr lang="ja-GB" altLang="en-US" sz="1800" dirty="0">
                <a:solidFill>
                  <a:schemeClr val="bg1">
                    <a:lumMod val="75000"/>
                  </a:schemeClr>
                </a:solidFill>
              </a:rPr>
              <a:t>計算機とプログラムによる自動化</a:t>
            </a:r>
            <a:endParaRPr lang="ja-JP" altLang="en-US" sz="1800">
              <a:solidFill>
                <a:schemeClr val="bg1">
                  <a:lumMod val="75000"/>
                </a:schemeClr>
              </a:solidFill>
            </a:endParaRPr>
          </a:p>
          <a:p>
            <a:pPr marL="0" indent="0">
              <a:buNone/>
            </a:pPr>
            <a:r>
              <a:rPr lang="ja-JP" altLang="en-US" sz="1800">
                <a:solidFill>
                  <a:schemeClr val="bg1">
                    <a:lumMod val="75000"/>
                  </a:schemeClr>
                </a:solidFill>
              </a:rPr>
              <a:t>　</a:t>
            </a:r>
            <a:r>
              <a:rPr lang="en-US" altLang="ja-JP" sz="1800" dirty="0">
                <a:solidFill>
                  <a:schemeClr val="bg1">
                    <a:lumMod val="75000"/>
                  </a:schemeClr>
                </a:solidFill>
              </a:rPr>
              <a:t>2. </a:t>
            </a:r>
            <a:r>
              <a:rPr lang="ja-GB" altLang="en-US" sz="1800" dirty="0">
                <a:solidFill>
                  <a:schemeClr val="bg1">
                    <a:lumMod val="75000"/>
                  </a:schemeClr>
                </a:solidFill>
              </a:rPr>
              <a:t>計算機，インターネット，情報システム</a:t>
            </a:r>
            <a:endParaRPr lang="en-US" altLang="ja-JP" sz="1800" dirty="0">
              <a:solidFill>
                <a:schemeClr val="bg1">
                  <a:lumMod val="75000"/>
                </a:schemeClr>
              </a:solidFill>
            </a:endParaRPr>
          </a:p>
          <a:p>
            <a:pPr marL="0" indent="0">
              <a:buNone/>
            </a:pPr>
            <a:endParaRPr lang="ja-JP" altLang="en-US" sz="800">
              <a:solidFill>
                <a:srgbClr val="2F2523"/>
              </a:solidFill>
            </a:endParaRPr>
          </a:p>
          <a:p>
            <a:pPr marL="0" indent="0">
              <a:buNone/>
            </a:pPr>
            <a:r>
              <a:rPr lang="en-GB" sz="1800" dirty="0"/>
              <a:t>II. </a:t>
            </a:r>
            <a:r>
              <a:rPr lang="ja-JP" altLang="en-US" sz="1800"/>
              <a:t>計算機やデータ，</a:t>
            </a:r>
            <a:r>
              <a:rPr lang="en-GB" sz="1800" dirty="0"/>
              <a:t>AI</a:t>
            </a:r>
            <a:r>
              <a:rPr lang="ja-JP" altLang="en-US" sz="1800"/>
              <a:t>にできることを知る</a:t>
            </a:r>
          </a:p>
          <a:p>
            <a:pPr marL="0" indent="0">
              <a:buNone/>
            </a:pPr>
            <a:r>
              <a:rPr lang="ja-JP" altLang="en-US" sz="1800">
                <a:solidFill>
                  <a:srgbClr val="2F2523"/>
                </a:solidFill>
              </a:rPr>
              <a:t>　</a:t>
            </a:r>
            <a:r>
              <a:rPr lang="en-US" altLang="ja-JP" sz="1800" dirty="0">
                <a:solidFill>
                  <a:srgbClr val="2F2523"/>
                </a:solidFill>
              </a:rPr>
              <a:t>3. </a:t>
            </a:r>
            <a:r>
              <a:rPr lang="ja-JP" altLang="en-US" sz="1800">
                <a:solidFill>
                  <a:srgbClr val="2F2523"/>
                </a:solidFill>
              </a:rPr>
              <a:t>計算機の基本原理</a:t>
            </a:r>
          </a:p>
          <a:p>
            <a:pPr marL="0" indent="0">
              <a:buNone/>
            </a:pPr>
            <a:r>
              <a:rPr lang="ja-JP" altLang="en-US" sz="1800">
                <a:solidFill>
                  <a:srgbClr val="2F2523"/>
                </a:solidFill>
              </a:rPr>
              <a:t>　</a:t>
            </a:r>
            <a:r>
              <a:rPr lang="en-US" altLang="ja-JP" sz="1800" dirty="0">
                <a:solidFill>
                  <a:srgbClr val="2F2523"/>
                </a:solidFill>
              </a:rPr>
              <a:t>4. </a:t>
            </a:r>
            <a:r>
              <a:rPr lang="ja-JP" altLang="en-US" sz="1800">
                <a:solidFill>
                  <a:srgbClr val="2F2523"/>
                </a:solidFill>
              </a:rPr>
              <a:t>計算機と統計</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solidFill>
                  <a:schemeClr val="bg1">
                    <a:lumMod val="75000"/>
                  </a:schemeClr>
                </a:solidFill>
              </a:rPr>
              <a:t>III. </a:t>
            </a:r>
            <a:r>
              <a:rPr lang="ja-JP" altLang="en-US" sz="1800">
                <a:solidFill>
                  <a:schemeClr val="bg1">
                    <a:lumMod val="75000"/>
                  </a:schemeClr>
                </a:solidFill>
              </a:rPr>
              <a:t>問題を「計算機の使える形」に整理する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5. </a:t>
            </a:r>
            <a:r>
              <a:rPr lang="ja-JP" altLang="en-US" sz="1800">
                <a:solidFill>
                  <a:schemeClr val="bg1">
                    <a:lumMod val="75000"/>
                  </a:schemeClr>
                </a:solidFill>
              </a:rPr>
              <a:t>情報システムのデザイン</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IV. </a:t>
            </a:r>
            <a:r>
              <a:rPr lang="ja-JP" altLang="en-US" sz="1800">
                <a:solidFill>
                  <a:schemeClr val="bg1">
                    <a:lumMod val="75000"/>
                  </a:schemeClr>
                </a:solidFill>
              </a:rPr>
              <a:t>計算機の考え方を体感する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6. </a:t>
            </a:r>
            <a:r>
              <a:rPr lang="ja-JP" altLang="en-US" sz="1800">
                <a:solidFill>
                  <a:schemeClr val="bg1">
                    <a:lumMod val="75000"/>
                  </a:schemeClr>
                </a:solidFill>
              </a:rPr>
              <a:t>プログラムの基本</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7. </a:t>
            </a:r>
            <a:r>
              <a:rPr lang="ja-JP" altLang="en-US" sz="1800">
                <a:solidFill>
                  <a:schemeClr val="bg1">
                    <a:lumMod val="75000"/>
                  </a:schemeClr>
                </a:solidFill>
              </a:rPr>
              <a:t>データ構造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8. </a:t>
            </a:r>
            <a:r>
              <a:rPr lang="ja-JP" altLang="en-US" sz="1800">
                <a:solidFill>
                  <a:schemeClr val="bg1">
                    <a:lumMod val="75000"/>
                  </a:schemeClr>
                </a:solidFill>
              </a:rPr>
              <a:t>アルゴリズム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9. </a:t>
            </a:r>
            <a:r>
              <a:rPr lang="ja-JP" altLang="en-US" sz="1800">
                <a:solidFill>
                  <a:schemeClr val="bg1">
                    <a:lumMod val="75000"/>
                  </a:schemeClr>
                </a:solidFill>
              </a:rPr>
              <a:t>演習（データ構造とアルゴリズム）</a:t>
            </a:r>
          </a:p>
        </p:txBody>
      </p:sp>
      <p:sp>
        <p:nvSpPr>
          <p:cNvPr id="4" name="コンテンツ プレースホルダー 2">
            <a:extLst>
              <a:ext uri="{FF2B5EF4-FFF2-40B4-BE49-F238E27FC236}">
                <a16:creationId xmlns:a16="http://schemas.microsoft.com/office/drawing/2014/main" id="{A1773133-9AC3-0469-C2E4-6A9B4F136CF7}"/>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bg1">
                    <a:lumMod val="75000"/>
                  </a:schemeClr>
                </a:solidFill>
              </a:rPr>
              <a:t>V. </a:t>
            </a:r>
            <a:r>
              <a:rPr lang="ja-JP" altLang="en-US" sz="1800">
                <a:solidFill>
                  <a:schemeClr val="bg1">
                    <a:lumMod val="75000"/>
                  </a:schemeClr>
                </a:solidFill>
              </a:rPr>
              <a:t>計算機のハードウェア構成を知る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10. </a:t>
            </a:r>
            <a:r>
              <a:rPr lang="ja-JP" altLang="en-US" sz="1800">
                <a:solidFill>
                  <a:schemeClr val="bg1">
                    <a:lumMod val="75000"/>
                  </a:schemeClr>
                </a:solidFill>
              </a:rPr>
              <a:t>計算機の中の情報表現</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11. </a:t>
            </a:r>
            <a:r>
              <a:rPr lang="ja-GB" altLang="en-US" sz="1800" dirty="0">
                <a:solidFill>
                  <a:schemeClr val="bg1">
                    <a:lumMod val="75000"/>
                  </a:schemeClr>
                </a:solidFill>
              </a:rPr>
              <a:t>演算とハードウェア構成</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 </a:t>
            </a:r>
            <a:r>
              <a:rPr lang="ja-JP" altLang="en-US" sz="1800">
                <a:solidFill>
                  <a:schemeClr val="bg1">
                    <a:lumMod val="75000"/>
                  </a:schemeClr>
                </a:solidFill>
              </a:rPr>
              <a:t>計算機特有の数値表現に慣れる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12. </a:t>
            </a:r>
            <a:r>
              <a:rPr lang="ja-JP" altLang="en-US" sz="1800">
                <a:solidFill>
                  <a:schemeClr val="bg1">
                    <a:lumMod val="75000"/>
                  </a:schemeClr>
                </a:solidFill>
              </a:rPr>
              <a:t>演習（基数と論理演算）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計算論的思考</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13. </a:t>
            </a:r>
            <a:r>
              <a:rPr lang="ja-JP" altLang="en-US" sz="1800">
                <a:solidFill>
                  <a:schemeClr val="bg1">
                    <a:lumMod val="75000"/>
                  </a:schemeClr>
                </a:solidFill>
              </a:rPr>
              <a:t>問題解決のためのモデル：</a:t>
            </a:r>
            <a:r>
              <a:rPr lang="en-GB" sz="1800" dirty="0">
                <a:solidFill>
                  <a:schemeClr val="bg1">
                    <a:lumMod val="75000"/>
                  </a:schemeClr>
                </a:solidFill>
              </a:rPr>
              <a:t>PERT</a:t>
            </a:r>
            <a:r>
              <a:rPr lang="ja-JP" altLang="en-US" sz="1800">
                <a:solidFill>
                  <a:schemeClr val="bg1">
                    <a:lumMod val="75000"/>
                  </a:schemeClr>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Tree>
    <p:extLst>
      <p:ext uri="{BB962C8B-B14F-4D97-AF65-F5344CB8AC3E}">
        <p14:creationId xmlns:p14="http://schemas.microsoft.com/office/powerpoint/2010/main" val="26283883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459D-F142-C65D-2C81-DB843069F8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5C163A-0FFC-30DE-A0CB-AF3669169ED4}"/>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1CFC1D9E-5402-0B02-E986-336F2F5E55C6}"/>
              </a:ext>
            </a:extLst>
          </p:cNvPr>
          <p:cNvSpPr>
            <a:spLocks noGrp="1"/>
          </p:cNvSpPr>
          <p:nvPr>
            <p:ph idx="1"/>
          </p:nvPr>
        </p:nvSpPr>
        <p:spPr/>
        <p:txBody>
          <a:bodyPr>
            <a:normAutofit/>
          </a:bodyPr>
          <a:lstStyle/>
          <a:p>
            <a:pPr marL="457200" indent="-457200">
              <a:buFont typeface="+mj-lt"/>
              <a:buAutoNum type="arabicPeriod"/>
            </a:pPr>
            <a:r>
              <a:rPr lang="ja-GB" sz="2000" dirty="0">
                <a:solidFill>
                  <a:schemeClr val="bg1">
                    <a:lumMod val="75000"/>
                  </a:schemeClr>
                </a:solidFill>
              </a:rPr>
              <a:t>日本政府や学科の教育方針を知り，現状や将来像に基づいて</a:t>
            </a:r>
            <a:br>
              <a:rPr lang="ja-GB" sz="2000" dirty="0">
                <a:solidFill>
                  <a:schemeClr val="bg1">
                    <a:lumMod val="75000"/>
                  </a:schemeClr>
                </a:solidFill>
              </a:rPr>
            </a:br>
            <a:r>
              <a:rPr lang="ja-GB" sz="2000" dirty="0">
                <a:solidFill>
                  <a:schemeClr val="bg1">
                    <a:lumMod val="75000"/>
                  </a:schemeClr>
                </a:solidFill>
              </a:rPr>
              <a:t>自分が計算機を学ぶ意味を見つける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rgbClr val="2F2523"/>
                </a:solidFill>
              </a:rPr>
              <a:t>計算機やデータ・</a:t>
            </a:r>
            <a:r>
              <a:rPr lang="en-GB" sz="2000" dirty="0">
                <a:solidFill>
                  <a:srgbClr val="2F2523"/>
                </a:solidFill>
              </a:rPr>
              <a:t>AI</a:t>
            </a:r>
            <a:r>
              <a:rPr lang="ja-JP" altLang="en-US" sz="2000">
                <a:solidFill>
                  <a:srgbClr val="2F2523"/>
                </a:solidFill>
              </a:rPr>
              <a:t>にできることを</a:t>
            </a:r>
            <a:r>
              <a:rPr lang="ja-GB" altLang="en-US" sz="2000" dirty="0">
                <a:solidFill>
                  <a:srgbClr val="2F2523"/>
                </a:solidFill>
              </a:rPr>
              <a:t>知り</a:t>
            </a:r>
            <a:r>
              <a:rPr lang="ja-JP" altLang="en-US" sz="2000">
                <a:solidFill>
                  <a:srgbClr val="2F2523"/>
                </a:solidFill>
              </a:rPr>
              <a:t>，</a:t>
            </a:r>
            <a:br>
              <a:rPr lang="en-US" altLang="ja-JP" sz="2000" dirty="0">
                <a:solidFill>
                  <a:srgbClr val="2F2523"/>
                </a:solidFill>
              </a:rPr>
            </a:br>
            <a:r>
              <a:rPr lang="ja-JP" altLang="en-US" sz="2000"/>
              <a:t>目的達成に</a:t>
            </a:r>
            <a:r>
              <a:rPr lang="ja-GB" altLang="en-US" sz="2000" dirty="0"/>
              <a:t>向けた人間と</a:t>
            </a:r>
            <a:r>
              <a:rPr lang="ja-JP" altLang="en-US" sz="2000"/>
              <a:t>計算機，</a:t>
            </a:r>
            <a:r>
              <a:rPr lang="en-GB" sz="2000" dirty="0"/>
              <a:t>AI</a:t>
            </a:r>
            <a:r>
              <a:rPr lang="ja-JP" altLang="en-US" sz="2000"/>
              <a:t>の効果的な分業</a:t>
            </a:r>
            <a:r>
              <a:rPr lang="ja-JP" altLang="en-US" sz="2000">
                <a:solidFill>
                  <a:srgbClr val="2F2523"/>
                </a:solidFill>
              </a:rPr>
              <a:t>を想像できるようになる</a:t>
            </a:r>
            <a:endParaRPr lang="en-US" altLang="ja-JP" sz="2000" dirty="0">
              <a:solidFill>
                <a:srgbClr val="2F2523"/>
              </a:solidFill>
            </a:endParaRP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chemeClr val="bg1">
                    <a:lumMod val="75000"/>
                  </a:schemeClr>
                </a:solidFill>
              </a:rPr>
              <a:t>ITシステムの構造や仕組みを学び，</a:t>
            </a:r>
            <a:br>
              <a:rPr lang="ja-GB" sz="2000" dirty="0">
                <a:solidFill>
                  <a:schemeClr val="bg1">
                    <a:lumMod val="75000"/>
                  </a:schemeClr>
                </a:solidFill>
              </a:rPr>
            </a:br>
            <a:r>
              <a:rPr lang="ja-GB" sz="2000" dirty="0">
                <a:solidFill>
                  <a:schemeClr val="bg1">
                    <a:lumMod val="75000"/>
                  </a:schemeClr>
                </a:solidFill>
              </a:rPr>
              <a:t>問題を計算機が使える形に整理したり，エンジニアに伝えたりできるようになる</a:t>
            </a:r>
          </a:p>
          <a:p>
            <a:pPr marL="1828800" lvl="3" indent="-457200">
              <a:buFont typeface="+mj-lt"/>
              <a:buAutoNum type="arabicPeriod"/>
            </a:pPr>
            <a:endParaRPr lang="ja-GB" sz="1200" dirty="0">
              <a:solidFill>
                <a:schemeClr val="bg1">
                  <a:lumMod val="75000"/>
                </a:schemeClr>
              </a:solidFill>
            </a:endParaRPr>
          </a:p>
          <a:p>
            <a:pPr marL="457200" indent="-457200">
              <a:buFont typeface="+mj-lt"/>
              <a:buAutoNum type="arabicPeriod"/>
            </a:pPr>
            <a:r>
              <a:rPr lang="ja-GB" sz="2000" dirty="0">
                <a:solidFill>
                  <a:schemeClr val="bg1">
                    <a:lumMod val="75000"/>
                  </a:schemeClr>
                </a:solidFill>
              </a:rPr>
              <a:t>計算機のハードウェア構成を</a:t>
            </a:r>
            <a:r>
              <a:rPr lang="ja-GB" altLang="en-US" sz="2000" dirty="0">
                <a:solidFill>
                  <a:schemeClr val="bg1">
                    <a:lumMod val="75000"/>
                  </a:schemeClr>
                </a:solidFill>
              </a:rPr>
              <a:t>知り</a:t>
            </a:r>
            <a:r>
              <a:rPr lang="ja-GB" sz="2000" dirty="0">
                <a:solidFill>
                  <a:schemeClr val="bg1">
                    <a:lumMod val="75000"/>
                  </a:schemeClr>
                </a:solidFill>
              </a:rPr>
              <a:t>，</a:t>
            </a:r>
            <a:br>
              <a:rPr lang="ja-GB" sz="2000" dirty="0">
                <a:solidFill>
                  <a:schemeClr val="bg1">
                    <a:lumMod val="75000"/>
                  </a:schemeClr>
                </a:solidFill>
              </a:rPr>
            </a:br>
            <a:r>
              <a:rPr lang="ja-GB" sz="2000" dirty="0">
                <a:solidFill>
                  <a:schemeClr val="bg1">
                    <a:lumMod val="75000"/>
                  </a:schemeClr>
                </a:solidFill>
              </a:rPr>
              <a:t>目的達成に必要な装置の見積もりや購入ができるようになる</a:t>
            </a:r>
          </a:p>
          <a:p>
            <a:pPr marL="1828800" lvl="3" indent="-457200">
              <a:buFont typeface="+mj-lt"/>
              <a:buAutoNum type="arabicPeriod"/>
            </a:pPr>
            <a:endParaRPr lang="ja-GB" sz="1200" dirty="0">
              <a:solidFill>
                <a:schemeClr val="bg1">
                  <a:lumMod val="75000"/>
                </a:schemeClr>
              </a:solidFill>
            </a:endParaRPr>
          </a:p>
          <a:p>
            <a:pPr marL="457200" indent="-457200">
              <a:buFont typeface="+mj-lt"/>
              <a:buAutoNum type="arabicPeriod"/>
            </a:pPr>
            <a:r>
              <a:rPr lang="ja-JP" altLang="en-US" sz="2000">
                <a:solidFill>
                  <a:schemeClr val="bg1">
                    <a:lumMod val="75000"/>
                  </a:schemeClr>
                </a:solidFill>
              </a:rPr>
              <a:t>計算機に特有のデータ表現を学び，</a:t>
            </a:r>
            <a:br>
              <a:rPr lang="en-US" altLang="ja-JP" sz="2000" dirty="0">
                <a:solidFill>
                  <a:schemeClr val="bg1">
                    <a:lumMod val="75000"/>
                  </a:schemeClr>
                </a:solidFill>
              </a:rPr>
            </a:br>
            <a:r>
              <a:rPr lang="ja-JP" altLang="en-US" sz="2000">
                <a:solidFill>
                  <a:schemeClr val="bg1">
                    <a:lumMod val="75000"/>
                  </a:schemeClr>
                </a:solidFill>
              </a:rPr>
              <a:t>機器設定や開発でしばしば遭遇する数値・記号の意味を理解できるようになる</a:t>
            </a:r>
            <a:endParaRPr lang="en-US" altLang="ja-JP" sz="2000" dirty="0">
              <a:solidFill>
                <a:schemeClr val="bg1">
                  <a:lumMod val="75000"/>
                </a:schemeClr>
              </a:solidFill>
            </a:endParaRPr>
          </a:p>
          <a:p>
            <a:pPr marL="1828800" lvl="3" indent="-457200">
              <a:buFont typeface="+mj-lt"/>
              <a:buAutoNum type="arabicPeriod"/>
            </a:pPr>
            <a:endParaRPr lang="en-US" altLang="ja-JP" sz="1200" dirty="0">
              <a:solidFill>
                <a:schemeClr val="bg1">
                  <a:lumMod val="75000"/>
                </a:schemeClr>
              </a:solidFill>
            </a:endParaRPr>
          </a:p>
          <a:p>
            <a:pPr marL="457200" indent="-457200">
              <a:buFont typeface="+mj-lt"/>
              <a:buAutoNum type="arabicPeriod"/>
            </a:pPr>
            <a:r>
              <a:rPr lang="ja-JP" altLang="en-US" sz="2000">
                <a:solidFill>
                  <a:schemeClr val="bg1">
                    <a:lumMod val="75000"/>
                  </a:schemeClr>
                </a:solidFill>
              </a:rPr>
              <a:t>計算機を使うための思考を計算機と無関係な場面で役立てる計算論的思考を体験する</a:t>
            </a:r>
            <a:endParaRPr lang="ja-GB" sz="2000" dirty="0">
              <a:solidFill>
                <a:schemeClr val="bg1">
                  <a:lumMod val="75000"/>
                </a:schemeClr>
              </a:solidFill>
            </a:endParaRPr>
          </a:p>
        </p:txBody>
      </p:sp>
    </p:spTree>
    <p:extLst>
      <p:ext uri="{BB962C8B-B14F-4D97-AF65-F5344CB8AC3E}">
        <p14:creationId xmlns:p14="http://schemas.microsoft.com/office/powerpoint/2010/main" val="1531099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45A7-B15E-AF22-B91C-AAE43BF02F0B}"/>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FA4F1A57-3623-6037-22C1-F24DA3D2F943}"/>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F9A42708-AE1E-A214-6DDC-74C31E44E825}"/>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3</a:t>
            </a:r>
            <a:r>
              <a:rPr kumimoji="1" lang="ja-GB" altLang="en-US" sz="3200" dirty="0">
                <a:solidFill>
                  <a:schemeClr val="bg1"/>
                </a:solidFill>
              </a:rPr>
              <a:t>回：計算機とプログラムによる自動化</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17402024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9F344-94CB-4C59-B813-199F777C8B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B9956D-8D87-3518-FF29-C0B6C3A5762F}"/>
              </a:ext>
            </a:extLst>
          </p:cNvPr>
          <p:cNvSpPr>
            <a:spLocks noGrp="1"/>
          </p:cNvSpPr>
          <p:nvPr>
            <p:ph type="title"/>
          </p:nvPr>
        </p:nvSpPr>
        <p:spPr/>
        <p:txBody>
          <a:bodyPr>
            <a:normAutofit/>
          </a:bodyPr>
          <a:lstStyle/>
          <a:p>
            <a:r>
              <a:rPr kumimoji="1" lang="ja-GB" altLang="en-US" dirty="0"/>
              <a:t>第</a:t>
            </a:r>
            <a:r>
              <a:rPr kumimoji="1" lang="en-US" altLang="ja-GB" dirty="0"/>
              <a:t>3</a:t>
            </a:r>
            <a:r>
              <a:rPr kumimoji="1" lang="ja-GB" altLang="en-US" dirty="0"/>
              <a:t>回：計算機の基本原理</a:t>
            </a:r>
          </a:p>
        </p:txBody>
      </p:sp>
      <p:sp>
        <p:nvSpPr>
          <p:cNvPr id="3" name="コンテンツ プレースホルダー 2">
            <a:extLst>
              <a:ext uri="{FF2B5EF4-FFF2-40B4-BE49-F238E27FC236}">
                <a16:creationId xmlns:a16="http://schemas.microsoft.com/office/drawing/2014/main" id="{601CF6AD-0C5D-321F-752A-2623152FF269}"/>
              </a:ext>
            </a:extLst>
          </p:cNvPr>
          <p:cNvSpPr>
            <a:spLocks noGrp="1"/>
          </p:cNvSpPr>
          <p:nvPr>
            <p:ph idx="1"/>
          </p:nvPr>
        </p:nvSpPr>
        <p:spPr/>
        <p:txBody>
          <a:bodyPr/>
          <a:lstStyle/>
          <a:p>
            <a:pPr marL="0" indent="0">
              <a:buNone/>
            </a:pPr>
            <a:r>
              <a:rPr lang="ja-GB" altLang="en-US" dirty="0"/>
              <a:t>計算機の持つ機能は少ないが，組み合わせて色々な機能を作れる</a:t>
            </a:r>
            <a:endParaRPr lang="en-US" altLang="ja-GB" dirty="0"/>
          </a:p>
          <a:p>
            <a:pPr marL="914400" lvl="1" indent="-457200">
              <a:buFont typeface="+mj-lt"/>
              <a:buAutoNum type="arabicPeriod"/>
            </a:pPr>
            <a:r>
              <a:rPr lang="ja-GB" altLang="en-US" dirty="0">
                <a:solidFill>
                  <a:srgbClr val="2F2523"/>
                </a:solidFill>
              </a:rPr>
              <a:t>計算機の構造と自動計算の原理</a:t>
            </a:r>
            <a:endParaRPr lang="en-US" altLang="ja-GB" dirty="0">
              <a:solidFill>
                <a:srgbClr val="2F2523"/>
              </a:solidFill>
            </a:endParaRPr>
          </a:p>
          <a:p>
            <a:pPr lvl="2"/>
            <a:r>
              <a:rPr lang="en-US" altLang="ja-GB" dirty="0">
                <a:solidFill>
                  <a:schemeClr val="tx1">
                    <a:lumMod val="65000"/>
                    <a:lumOff val="35000"/>
                  </a:schemeClr>
                </a:solidFill>
              </a:rPr>
              <a:t>5</a:t>
            </a:r>
            <a:r>
              <a:rPr lang="ja-GB" altLang="en-US" dirty="0">
                <a:solidFill>
                  <a:schemeClr val="tx1">
                    <a:lumMod val="65000"/>
                    <a:lumOff val="35000"/>
                  </a:schemeClr>
                </a:solidFill>
              </a:rPr>
              <a:t>種類の装置で構成される</a:t>
            </a:r>
            <a:endParaRPr lang="en-US" altLang="ja-GB" dirty="0">
              <a:solidFill>
                <a:schemeClr val="tx1">
                  <a:lumMod val="65000"/>
                  <a:lumOff val="35000"/>
                </a:schemeClr>
              </a:solidFill>
            </a:endParaRPr>
          </a:p>
          <a:p>
            <a:pPr lvl="2"/>
            <a:r>
              <a:rPr lang="ja-GB" altLang="en-US" dirty="0">
                <a:solidFill>
                  <a:schemeClr val="tx1">
                    <a:lumMod val="65000"/>
                    <a:lumOff val="35000"/>
                  </a:schemeClr>
                </a:solidFill>
              </a:rPr>
              <a:t>装置が連携して計算を行う</a:t>
            </a:r>
            <a:endParaRPr lang="en-US" altLang="ja-GB" dirty="0"/>
          </a:p>
          <a:p>
            <a:pPr lvl="2"/>
            <a:endParaRPr lang="en-US" altLang="ja-GB" dirty="0"/>
          </a:p>
          <a:p>
            <a:pPr marL="914400" lvl="1" indent="-457200">
              <a:buFont typeface="+mj-lt"/>
              <a:buAutoNum type="arabicPeriod"/>
            </a:pPr>
            <a:r>
              <a:rPr lang="ja-GB" altLang="en-US" dirty="0">
                <a:solidFill>
                  <a:srgbClr val="2F2523"/>
                </a:solidFill>
              </a:rPr>
              <a:t>ハードウェア実装される</a:t>
            </a:r>
            <a:r>
              <a:rPr kumimoji="1" lang="ja-GB" altLang="en-US" dirty="0">
                <a:solidFill>
                  <a:srgbClr val="2F2523"/>
                </a:solidFill>
              </a:rPr>
              <a:t>演算は数種類</a:t>
            </a:r>
            <a:r>
              <a:rPr lang="ja-GB" altLang="en-US" dirty="0">
                <a:solidFill>
                  <a:srgbClr val="2F2523"/>
                </a:solidFill>
              </a:rPr>
              <a:t>のみ</a:t>
            </a:r>
            <a:endParaRPr kumimoji="1" lang="en-US" altLang="ja-GB" dirty="0">
              <a:solidFill>
                <a:srgbClr val="2F2523"/>
              </a:solidFill>
            </a:endParaRPr>
          </a:p>
          <a:p>
            <a:pPr lvl="2"/>
            <a:r>
              <a:rPr lang="ja-GB" altLang="en-US" dirty="0">
                <a:solidFill>
                  <a:schemeClr val="tx1">
                    <a:lumMod val="65000"/>
                    <a:lumOff val="35000"/>
                  </a:schemeClr>
                </a:solidFill>
              </a:rPr>
              <a:t>機械語（</a:t>
            </a:r>
            <a:r>
              <a:rPr lang="en-US" altLang="ja-GB" dirty="0">
                <a:solidFill>
                  <a:schemeClr val="tx1">
                    <a:lumMod val="65000"/>
                    <a:lumOff val="35000"/>
                  </a:schemeClr>
                </a:solidFill>
              </a:rPr>
              <a:t>2</a:t>
            </a:r>
            <a:r>
              <a:rPr lang="ja-GB" altLang="en-US" dirty="0">
                <a:solidFill>
                  <a:schemeClr val="tx1">
                    <a:lumMod val="65000"/>
                    <a:lumOff val="35000"/>
                  </a:schemeClr>
                </a:solidFill>
              </a:rPr>
              <a:t>進数），アセンブリ言語（機械語直訳），プログラミング言語</a:t>
            </a:r>
            <a:endParaRPr lang="en-US" altLang="ja-GB" dirty="0">
              <a:solidFill>
                <a:schemeClr val="tx1">
                  <a:lumMod val="65000"/>
                  <a:lumOff val="35000"/>
                </a:schemeClr>
              </a:solidFill>
            </a:endParaRPr>
          </a:p>
          <a:p>
            <a:pPr lvl="2"/>
            <a:endParaRPr lang="en-US" altLang="ja-GB" dirty="0">
              <a:solidFill>
                <a:srgbClr val="2F2523"/>
              </a:solidFill>
            </a:endParaRPr>
          </a:p>
          <a:p>
            <a:pPr marL="914400" lvl="1" indent="-457200">
              <a:buFont typeface="+mj-lt"/>
              <a:buAutoNum type="arabicPeriod"/>
            </a:pPr>
            <a:r>
              <a:rPr lang="ja-GB" altLang="en-US" dirty="0">
                <a:solidFill>
                  <a:srgbClr val="2F2523"/>
                </a:solidFill>
              </a:rPr>
              <a:t>演算の組み合わせ（アルゴリズム）で多様な演算を実現</a:t>
            </a:r>
            <a:endParaRPr lang="en-US" altLang="ja-GB" dirty="0">
              <a:solidFill>
                <a:srgbClr val="2F2523"/>
              </a:solidFill>
            </a:endParaRPr>
          </a:p>
          <a:p>
            <a:pPr lvl="2"/>
            <a:r>
              <a:rPr kumimoji="1" lang="ja-GB" altLang="en-US" dirty="0">
                <a:solidFill>
                  <a:schemeClr val="tx1">
                    <a:lumMod val="65000"/>
                    <a:lumOff val="35000"/>
                  </a:schemeClr>
                </a:solidFill>
              </a:rPr>
              <a:t>命令を逐次処理，分岐，繰り返しに並べてアルゴリズムを作る</a:t>
            </a:r>
            <a:endParaRPr kumimoji="1" lang="en-US" altLang="ja-GB" dirty="0">
              <a:solidFill>
                <a:schemeClr val="tx1">
                  <a:lumMod val="65000"/>
                  <a:lumOff val="35000"/>
                </a:schemeClr>
              </a:solidFill>
            </a:endParaRPr>
          </a:p>
          <a:p>
            <a:pPr lvl="2"/>
            <a:r>
              <a:rPr kumimoji="1" lang="ja-GB" altLang="en-US" dirty="0">
                <a:solidFill>
                  <a:schemeClr val="tx1">
                    <a:lumMod val="65000"/>
                    <a:lumOff val="35000"/>
                  </a:schemeClr>
                </a:solidFill>
              </a:rPr>
              <a:t>アルゴリズムを組み合わせてアルゴリズムをつくる</a:t>
            </a:r>
            <a:endParaRPr kumimoji="1" lang="en-US" altLang="ja-GB" dirty="0">
              <a:solidFill>
                <a:schemeClr val="tx1">
                  <a:lumMod val="65000"/>
                  <a:lumOff val="35000"/>
                </a:schemeClr>
              </a:solidFill>
            </a:endParaRPr>
          </a:p>
        </p:txBody>
      </p:sp>
      <p:pic>
        <p:nvPicPr>
          <p:cNvPr id="25" name="図 24">
            <a:extLst>
              <a:ext uri="{FF2B5EF4-FFF2-40B4-BE49-F238E27FC236}">
                <a16:creationId xmlns:a16="http://schemas.microsoft.com/office/drawing/2014/main" id="{B26DBF38-0EA5-246C-29BA-1D08D63E6072}"/>
              </a:ext>
            </a:extLst>
          </p:cNvPr>
          <p:cNvPicPr>
            <a:picLocks noChangeAspect="1"/>
          </p:cNvPicPr>
          <p:nvPr/>
        </p:nvPicPr>
        <p:blipFill>
          <a:blip r:embed="rId2">
            <a:clrChange>
              <a:clrFrom>
                <a:srgbClr val="000000">
                  <a:alpha val="0"/>
                </a:srgbClr>
              </a:clrFrom>
              <a:clrTo>
                <a:srgbClr val="000000">
                  <a:alpha val="0"/>
                </a:srgbClr>
              </a:clrTo>
            </a:clrChange>
          </a:blip>
          <a:stretch>
            <a:fillRect/>
          </a:stretch>
        </p:blipFill>
        <p:spPr>
          <a:xfrm>
            <a:off x="738412" y="4775143"/>
            <a:ext cx="7667176" cy="1692607"/>
          </a:xfrm>
          <a:prstGeom prst="rect">
            <a:avLst/>
          </a:prstGeom>
        </p:spPr>
      </p:pic>
      <p:pic>
        <p:nvPicPr>
          <p:cNvPr id="44" name="図 43">
            <a:extLst>
              <a:ext uri="{FF2B5EF4-FFF2-40B4-BE49-F238E27FC236}">
                <a16:creationId xmlns:a16="http://schemas.microsoft.com/office/drawing/2014/main" id="{34A10808-0CFB-DC69-6218-28D7BCF4F823}"/>
              </a:ext>
            </a:extLst>
          </p:cNvPr>
          <p:cNvPicPr>
            <a:picLocks noChangeAspect="1"/>
          </p:cNvPicPr>
          <p:nvPr/>
        </p:nvPicPr>
        <p:blipFill>
          <a:blip r:embed="rId3"/>
          <a:stretch>
            <a:fillRect/>
          </a:stretch>
        </p:blipFill>
        <p:spPr>
          <a:xfrm>
            <a:off x="5510463" y="1236553"/>
            <a:ext cx="3001754" cy="1097248"/>
          </a:xfrm>
          <a:prstGeom prst="rect">
            <a:avLst/>
          </a:prstGeom>
        </p:spPr>
      </p:pic>
    </p:spTree>
    <p:extLst>
      <p:ext uri="{BB962C8B-B14F-4D97-AF65-F5344CB8AC3E}">
        <p14:creationId xmlns:p14="http://schemas.microsoft.com/office/powerpoint/2010/main" val="10055459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E2BB1-DA8D-FEAF-7BD8-7D0C76BCDA6D}"/>
              </a:ext>
            </a:extLst>
          </p:cNvPr>
          <p:cNvSpPr>
            <a:spLocks noGrp="1"/>
          </p:cNvSpPr>
          <p:nvPr>
            <p:ph type="title"/>
          </p:nvPr>
        </p:nvSpPr>
        <p:spPr/>
        <p:txBody>
          <a:bodyPr/>
          <a:lstStyle/>
          <a:p>
            <a:r>
              <a:rPr kumimoji="1" lang="ja-GB" altLang="en-US" dirty="0"/>
              <a:t>補足説明</a:t>
            </a:r>
          </a:p>
        </p:txBody>
      </p:sp>
      <p:sp>
        <p:nvSpPr>
          <p:cNvPr id="3" name="コンテンツ プレースホルダー 2">
            <a:extLst>
              <a:ext uri="{FF2B5EF4-FFF2-40B4-BE49-F238E27FC236}">
                <a16:creationId xmlns:a16="http://schemas.microsoft.com/office/drawing/2014/main" id="{4E4BACFA-1772-C8DD-FCA1-1F052E43EA7F}"/>
              </a:ext>
            </a:extLst>
          </p:cNvPr>
          <p:cNvSpPr>
            <a:spLocks noGrp="1"/>
          </p:cNvSpPr>
          <p:nvPr>
            <p:ph idx="1"/>
          </p:nvPr>
        </p:nvSpPr>
        <p:spPr/>
        <p:txBody>
          <a:bodyPr>
            <a:normAutofit/>
          </a:bodyPr>
          <a:lstStyle/>
          <a:p>
            <a:pPr marL="0" indent="0">
              <a:buNone/>
            </a:pPr>
            <a:r>
              <a:rPr kumimoji="1" lang="ja-GB" altLang="en-US" sz="1400" dirty="0"/>
              <a:t>第</a:t>
            </a:r>
            <a:r>
              <a:rPr kumimoji="1" lang="en-US" altLang="ja-GB" sz="1400" dirty="0"/>
              <a:t>3</a:t>
            </a:r>
            <a:r>
              <a:rPr kumimoji="1" lang="ja-GB" altLang="en-US" sz="1400" dirty="0"/>
              <a:t>回の内容は，端的に述べると次のようになる．</a:t>
            </a:r>
            <a:endParaRPr kumimoji="1" lang="en-US" altLang="ja-GB" sz="1400" dirty="0"/>
          </a:p>
          <a:p>
            <a:pPr marL="0" indent="0">
              <a:buNone/>
            </a:pPr>
            <a:endParaRPr lang="en-US" altLang="ja-GB" sz="1400" dirty="0"/>
          </a:p>
          <a:p>
            <a:pPr marL="0" indent="0">
              <a:buNone/>
            </a:pPr>
            <a:r>
              <a:rPr kumimoji="1" lang="ja-GB" altLang="en-US" sz="1400" dirty="0"/>
              <a:t>まず，「計算機」というハードウェアに実装されている演算の種類はとても少ない．</a:t>
            </a:r>
            <a:endParaRPr kumimoji="1" lang="en-US" altLang="ja-GB" sz="1400" dirty="0"/>
          </a:p>
          <a:p>
            <a:pPr marL="0" indent="0">
              <a:buNone/>
            </a:pPr>
            <a:r>
              <a:rPr lang="ja-GB" altLang="en-US" sz="1400" dirty="0"/>
              <a:t>しかし，演算を使って「計算手順（アルゴリズム）」を考えることで様々な機能を実現できる</a:t>
            </a:r>
            <a:endParaRPr lang="en-US" altLang="ja-GB" sz="1400" dirty="0"/>
          </a:p>
          <a:p>
            <a:pPr marL="0" indent="0">
              <a:buNone/>
            </a:pPr>
            <a:endParaRPr kumimoji="1" lang="en-US" altLang="ja-GB" sz="1400" dirty="0"/>
          </a:p>
          <a:p>
            <a:pPr marL="0" indent="0">
              <a:buNone/>
            </a:pPr>
            <a:r>
              <a:rPr lang="ja-GB" altLang="en-US" sz="1400" dirty="0"/>
              <a:t>そして，そうして作ったアルゴリズムを，別のアルゴリズムを考えるとき「一つの演算」として使うことができる．</a:t>
            </a:r>
            <a:endParaRPr lang="en-US" altLang="ja-GB" sz="1400" dirty="0"/>
          </a:p>
          <a:p>
            <a:pPr marL="0" indent="0">
              <a:buNone/>
            </a:pPr>
            <a:r>
              <a:rPr kumimoji="1" lang="ja-GB" altLang="en-US" sz="1400" dirty="0"/>
              <a:t>このように，アルゴリズムを組み合わせてアルゴリズムを作ることで，より複雑なアルゴリズムを考えられるようになる</a:t>
            </a:r>
            <a:endParaRPr kumimoji="1" lang="en-US" altLang="ja-GB" sz="1400" dirty="0"/>
          </a:p>
          <a:p>
            <a:pPr marL="0" indent="0">
              <a:buNone/>
            </a:pPr>
            <a:endParaRPr lang="en-US" altLang="ja-GB" sz="1400" dirty="0"/>
          </a:p>
          <a:p>
            <a:pPr marL="0" indent="0">
              <a:buNone/>
            </a:pPr>
            <a:r>
              <a:rPr kumimoji="1" lang="ja-GB" altLang="en-US" sz="1400" dirty="0"/>
              <a:t>エンジニアやプログラマは，アルゴリズムを利用してアルゴリズムを作ることで，色々な仕事を計算機で自動化している</a:t>
            </a:r>
            <a:endParaRPr kumimoji="1" lang="en-US" altLang="ja-GB" sz="1400" dirty="0"/>
          </a:p>
        </p:txBody>
      </p:sp>
    </p:spTree>
    <p:extLst>
      <p:ext uri="{BB962C8B-B14F-4D97-AF65-F5344CB8AC3E}">
        <p14:creationId xmlns:p14="http://schemas.microsoft.com/office/powerpoint/2010/main" val="29143536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5F909-C36F-DC80-CEFA-C21ED337B4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9D7287-C4EE-04F2-FFB9-41925B1B85F0}"/>
              </a:ext>
            </a:extLst>
          </p:cNvPr>
          <p:cNvSpPr>
            <a:spLocks noGrp="1"/>
          </p:cNvSpPr>
          <p:nvPr>
            <p:ph type="title"/>
          </p:nvPr>
        </p:nvSpPr>
        <p:spPr/>
        <p:txBody>
          <a:bodyPr>
            <a:normAutofit/>
          </a:bodyPr>
          <a:lstStyle/>
          <a:p>
            <a:r>
              <a:rPr kumimoji="1" lang="ja-GB" altLang="en-US" dirty="0"/>
              <a:t>第</a:t>
            </a:r>
            <a:r>
              <a:rPr kumimoji="1" lang="en-US" altLang="ja-GB" dirty="0"/>
              <a:t>3</a:t>
            </a:r>
            <a:r>
              <a:rPr kumimoji="1" lang="ja-GB" altLang="en-US" dirty="0"/>
              <a:t>回：計算機の基本原理</a:t>
            </a:r>
          </a:p>
        </p:txBody>
      </p:sp>
      <p:sp>
        <p:nvSpPr>
          <p:cNvPr id="3" name="コンテンツ プレースホルダー 2">
            <a:extLst>
              <a:ext uri="{FF2B5EF4-FFF2-40B4-BE49-F238E27FC236}">
                <a16:creationId xmlns:a16="http://schemas.microsoft.com/office/drawing/2014/main" id="{A5B19B25-B2C9-6A42-436E-27C9385A6B25}"/>
              </a:ext>
            </a:extLst>
          </p:cNvPr>
          <p:cNvSpPr>
            <a:spLocks noGrp="1"/>
          </p:cNvSpPr>
          <p:nvPr>
            <p:ph idx="1"/>
          </p:nvPr>
        </p:nvSpPr>
        <p:spPr/>
        <p:txBody>
          <a:bodyPr/>
          <a:lstStyle/>
          <a:p>
            <a:pPr marL="0" indent="0">
              <a:buNone/>
            </a:pPr>
            <a:r>
              <a:rPr lang="ja-GB" altLang="en-US" dirty="0">
                <a:solidFill>
                  <a:schemeClr val="tx1">
                    <a:lumMod val="50000"/>
                    <a:lumOff val="50000"/>
                  </a:schemeClr>
                </a:solidFill>
              </a:rPr>
              <a:t>計算機の持つ機能は少ないが，組み合わせて色々な機能を作れる</a:t>
            </a:r>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rgbClr val="002060"/>
                </a:solidFill>
              </a:rPr>
              <a:t>計算機の構造と自動計算の原理</a:t>
            </a:r>
            <a:endParaRPr lang="en-US" altLang="ja-GB" dirty="0">
              <a:solidFill>
                <a:srgbClr val="002060"/>
              </a:solidFill>
            </a:endParaRPr>
          </a:p>
          <a:p>
            <a:pPr lvl="2"/>
            <a:r>
              <a:rPr lang="en-US" altLang="ja-GB" dirty="0">
                <a:solidFill>
                  <a:schemeClr val="tx1">
                    <a:lumMod val="65000"/>
                    <a:lumOff val="35000"/>
                  </a:schemeClr>
                </a:solidFill>
              </a:rPr>
              <a:t>5</a:t>
            </a:r>
            <a:r>
              <a:rPr lang="ja-GB" altLang="en-US" dirty="0">
                <a:solidFill>
                  <a:schemeClr val="tx1">
                    <a:lumMod val="65000"/>
                    <a:lumOff val="35000"/>
                  </a:schemeClr>
                </a:solidFill>
              </a:rPr>
              <a:t>種類の装置で構成される</a:t>
            </a:r>
            <a:endParaRPr lang="en-US" altLang="ja-GB" dirty="0">
              <a:solidFill>
                <a:schemeClr val="tx1">
                  <a:lumMod val="65000"/>
                  <a:lumOff val="35000"/>
                </a:schemeClr>
              </a:solidFill>
            </a:endParaRPr>
          </a:p>
          <a:p>
            <a:pPr lvl="2"/>
            <a:r>
              <a:rPr lang="ja-GB" altLang="en-US" dirty="0">
                <a:solidFill>
                  <a:schemeClr val="tx1">
                    <a:lumMod val="65000"/>
                    <a:lumOff val="35000"/>
                  </a:schemeClr>
                </a:solidFill>
              </a:rPr>
              <a:t>装置が連携して計算を行う</a:t>
            </a:r>
            <a:endParaRPr lang="en-US" altLang="ja-GB" dirty="0"/>
          </a:p>
          <a:p>
            <a:pPr lvl="2"/>
            <a:endParaRPr lang="en-US" altLang="ja-GB" dirty="0"/>
          </a:p>
          <a:p>
            <a:pPr marL="914400" lvl="1" indent="-457200">
              <a:buFont typeface="+mj-lt"/>
              <a:buAutoNum type="arabicPeriod"/>
            </a:pPr>
            <a:r>
              <a:rPr lang="ja-GB" altLang="en-US" dirty="0">
                <a:solidFill>
                  <a:schemeClr val="bg1">
                    <a:lumMod val="75000"/>
                  </a:schemeClr>
                </a:solidFill>
              </a:rPr>
              <a:t>ハードウェア実装される</a:t>
            </a:r>
            <a:r>
              <a:rPr kumimoji="1" lang="ja-GB" altLang="en-US" dirty="0">
                <a:solidFill>
                  <a:schemeClr val="bg1">
                    <a:lumMod val="75000"/>
                  </a:schemeClr>
                </a:solidFill>
              </a:rPr>
              <a:t>演算は数種類</a:t>
            </a:r>
            <a:r>
              <a:rPr lang="ja-GB" altLang="en-US" dirty="0">
                <a:solidFill>
                  <a:schemeClr val="bg1">
                    <a:lumMod val="75000"/>
                  </a:schemeClr>
                </a:solidFill>
              </a:rPr>
              <a:t>のみ</a:t>
            </a:r>
            <a:endParaRPr kumimoji="1" lang="en-US" altLang="ja-GB" dirty="0">
              <a:solidFill>
                <a:schemeClr val="bg1">
                  <a:lumMod val="75000"/>
                </a:schemeClr>
              </a:solidFill>
            </a:endParaRPr>
          </a:p>
          <a:p>
            <a:pPr lvl="2"/>
            <a:r>
              <a:rPr lang="ja-GB" altLang="en-US" dirty="0">
                <a:solidFill>
                  <a:schemeClr val="bg1">
                    <a:lumMod val="75000"/>
                  </a:schemeClr>
                </a:solidFill>
              </a:rPr>
              <a:t>機械語（</a:t>
            </a:r>
            <a:r>
              <a:rPr lang="en-US" altLang="ja-GB" dirty="0">
                <a:solidFill>
                  <a:schemeClr val="bg1">
                    <a:lumMod val="75000"/>
                  </a:schemeClr>
                </a:solidFill>
              </a:rPr>
              <a:t>2</a:t>
            </a:r>
            <a:r>
              <a:rPr lang="ja-GB" altLang="en-US" dirty="0">
                <a:solidFill>
                  <a:schemeClr val="bg1">
                    <a:lumMod val="75000"/>
                  </a:schemeClr>
                </a:solidFill>
              </a:rPr>
              <a:t>進数），アセンブリ言語（機械語直訳），プログラミング言語</a:t>
            </a:r>
            <a:endParaRPr lang="en-US" altLang="ja-GB" dirty="0">
              <a:solidFill>
                <a:schemeClr val="bg1">
                  <a:lumMod val="75000"/>
                </a:schemeClr>
              </a:solidFill>
            </a:endParaRPr>
          </a:p>
          <a:p>
            <a:pPr lvl="2"/>
            <a:endParaRPr lang="en-US" altLang="ja-GB" dirty="0">
              <a:solidFill>
                <a:schemeClr val="bg1">
                  <a:lumMod val="75000"/>
                </a:schemeClr>
              </a:solidFill>
            </a:endParaRPr>
          </a:p>
          <a:p>
            <a:pPr marL="914400" lvl="1" indent="-457200">
              <a:buFont typeface="+mj-lt"/>
              <a:buAutoNum type="arabicPeriod"/>
            </a:pPr>
            <a:r>
              <a:rPr lang="ja-GB" altLang="en-US" dirty="0">
                <a:solidFill>
                  <a:schemeClr val="bg1">
                    <a:lumMod val="75000"/>
                  </a:schemeClr>
                </a:solidFill>
              </a:rPr>
              <a:t>演算の組み合わせ（アルゴリズム）で多様な演算を実現</a:t>
            </a:r>
            <a:endParaRPr lang="en-US" altLang="ja-GB" dirty="0">
              <a:solidFill>
                <a:schemeClr val="bg1">
                  <a:lumMod val="75000"/>
                </a:schemeClr>
              </a:solidFill>
            </a:endParaRPr>
          </a:p>
          <a:p>
            <a:pPr lvl="2"/>
            <a:r>
              <a:rPr kumimoji="1" lang="ja-GB" altLang="en-US" dirty="0">
                <a:solidFill>
                  <a:schemeClr val="bg1">
                    <a:lumMod val="75000"/>
                  </a:schemeClr>
                </a:solidFill>
              </a:rPr>
              <a:t>命令を逐次処理，分岐，繰り返しに並べてアルゴリズムを作る</a:t>
            </a:r>
            <a:endParaRPr kumimoji="1" lang="en-US" altLang="ja-GB" dirty="0">
              <a:solidFill>
                <a:schemeClr val="bg1">
                  <a:lumMod val="75000"/>
                </a:schemeClr>
              </a:solidFill>
            </a:endParaRPr>
          </a:p>
          <a:p>
            <a:pPr lvl="2"/>
            <a:r>
              <a:rPr kumimoji="1" lang="ja-GB" altLang="en-US" dirty="0">
                <a:solidFill>
                  <a:schemeClr val="bg1">
                    <a:lumMod val="75000"/>
                  </a:schemeClr>
                </a:solidFill>
              </a:rPr>
              <a:t>アルゴリズムを組み合わせてアルゴリズムをつくる</a:t>
            </a:r>
            <a:endParaRPr kumimoji="1" lang="en-US" altLang="ja-GB" dirty="0">
              <a:solidFill>
                <a:schemeClr val="bg1">
                  <a:lumMod val="75000"/>
                </a:schemeClr>
              </a:solidFill>
            </a:endParaRPr>
          </a:p>
        </p:txBody>
      </p:sp>
      <p:pic>
        <p:nvPicPr>
          <p:cNvPr id="44" name="図 43">
            <a:extLst>
              <a:ext uri="{FF2B5EF4-FFF2-40B4-BE49-F238E27FC236}">
                <a16:creationId xmlns:a16="http://schemas.microsoft.com/office/drawing/2014/main" id="{E6D3FFEA-6F7C-C6C7-C1FA-1429C2FBA4F6}"/>
              </a:ext>
            </a:extLst>
          </p:cNvPr>
          <p:cNvPicPr>
            <a:picLocks noChangeAspect="1"/>
          </p:cNvPicPr>
          <p:nvPr/>
        </p:nvPicPr>
        <p:blipFill>
          <a:blip r:embed="rId2"/>
          <a:stretch>
            <a:fillRect/>
          </a:stretch>
        </p:blipFill>
        <p:spPr>
          <a:xfrm>
            <a:off x="5510463" y="1236553"/>
            <a:ext cx="3001754" cy="1097248"/>
          </a:xfrm>
          <a:prstGeom prst="rect">
            <a:avLst/>
          </a:prstGeom>
        </p:spPr>
      </p:pic>
    </p:spTree>
    <p:extLst>
      <p:ext uri="{BB962C8B-B14F-4D97-AF65-F5344CB8AC3E}">
        <p14:creationId xmlns:p14="http://schemas.microsoft.com/office/powerpoint/2010/main" val="9059454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C9E2-44A1-9DC0-1259-4A7229A529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F649F-E3AD-4345-6D17-0CC94D69D112}"/>
              </a:ext>
            </a:extLst>
          </p:cNvPr>
          <p:cNvSpPr>
            <a:spLocks noGrp="1"/>
          </p:cNvSpPr>
          <p:nvPr>
            <p:ph type="title"/>
          </p:nvPr>
        </p:nvSpPr>
        <p:spPr/>
        <p:txBody>
          <a:bodyPr>
            <a:normAutofit/>
          </a:bodyPr>
          <a:lstStyle/>
          <a:p>
            <a:r>
              <a:rPr lang="ja-GB" altLang="en-US" dirty="0"/>
              <a:t>五大装置：</a:t>
            </a:r>
            <a:r>
              <a:rPr lang="ja-GB" altLang="ja-GB" dirty="0"/>
              <a:t>計算をするために必要な</a:t>
            </a:r>
            <a:r>
              <a:rPr lang="ja-GB" altLang="en-US" dirty="0"/>
              <a:t>装置</a:t>
            </a:r>
            <a:endParaRPr lang="ja-GB" dirty="0"/>
          </a:p>
        </p:txBody>
      </p:sp>
      <p:sp>
        <p:nvSpPr>
          <p:cNvPr id="3" name="コンテンツ プレースホルダー 2">
            <a:extLst>
              <a:ext uri="{FF2B5EF4-FFF2-40B4-BE49-F238E27FC236}">
                <a16:creationId xmlns:a16="http://schemas.microsoft.com/office/drawing/2014/main" id="{05614EF2-2CFC-3721-B464-AD5AEEF23355}"/>
              </a:ext>
            </a:extLst>
          </p:cNvPr>
          <p:cNvSpPr>
            <a:spLocks noGrp="1"/>
          </p:cNvSpPr>
          <p:nvPr>
            <p:ph idx="1"/>
          </p:nvPr>
        </p:nvSpPr>
        <p:spPr/>
        <p:txBody>
          <a:bodyPr/>
          <a:lstStyle/>
          <a:p>
            <a:pPr marL="0" indent="0">
              <a:buNone/>
            </a:pPr>
            <a:r>
              <a:rPr lang="ja-GB" altLang="ja-GB" dirty="0"/>
              <a:t>計算機が計算をする仕組み</a:t>
            </a:r>
            <a:r>
              <a:rPr lang="ja-GB" altLang="en-US" dirty="0"/>
              <a:t>の簡単な説明</a:t>
            </a:r>
            <a:endParaRPr lang="ja-GB" dirty="0"/>
          </a:p>
          <a:p>
            <a:pPr marL="914400" lvl="1" indent="-457200">
              <a:buFont typeface="+mj-lt"/>
              <a:buAutoNum type="arabicPeriod"/>
            </a:pPr>
            <a:r>
              <a:rPr lang="ja-GB" dirty="0"/>
              <a:t>演算装置：足し算や掛け算など，演算を行う回路</a:t>
            </a:r>
          </a:p>
          <a:p>
            <a:pPr marL="914400" lvl="1" indent="-457200">
              <a:buFont typeface="+mj-lt"/>
              <a:buAutoNum type="arabicPeriod"/>
            </a:pPr>
            <a:r>
              <a:rPr lang="ja-GB" dirty="0"/>
              <a:t>記憶装置：計算途中の数値などを記憶する装置</a:t>
            </a:r>
          </a:p>
          <a:p>
            <a:pPr marL="914400" lvl="1" indent="-457200">
              <a:buFont typeface="+mj-lt"/>
              <a:buAutoNum type="arabicPeriod"/>
            </a:pPr>
            <a:r>
              <a:rPr lang="ja-GB" dirty="0"/>
              <a:t>入力装置：数値や計算方法を入力する装置</a:t>
            </a:r>
          </a:p>
          <a:p>
            <a:pPr marL="914400" lvl="1" indent="-457200">
              <a:buFont typeface="+mj-lt"/>
              <a:buAutoNum type="arabicPeriod"/>
            </a:pPr>
            <a:r>
              <a:rPr lang="ja-JP" altLang="en-US"/>
              <a:t>制御装置：計算を行うために装置同士を連携させる装置</a:t>
            </a:r>
            <a:endParaRPr lang="ja-GB" dirty="0"/>
          </a:p>
          <a:p>
            <a:pPr marL="914400" lvl="1" indent="-457200">
              <a:buFont typeface="+mj-lt"/>
              <a:buAutoNum type="arabicPeriod"/>
            </a:pPr>
            <a:r>
              <a:rPr lang="ja-GB" dirty="0">
                <a:solidFill>
                  <a:srgbClr val="2F2523"/>
                </a:solidFill>
              </a:rPr>
              <a:t>出力装置：計算結果を出力する装置</a:t>
            </a:r>
          </a:p>
        </p:txBody>
      </p:sp>
      <p:sp>
        <p:nvSpPr>
          <p:cNvPr id="5" name="角丸四角形 4">
            <a:extLst>
              <a:ext uri="{FF2B5EF4-FFF2-40B4-BE49-F238E27FC236}">
                <a16:creationId xmlns:a16="http://schemas.microsoft.com/office/drawing/2014/main" id="{41CCE8DD-EAFF-AD0A-6C38-C47D9E59CF95}"/>
              </a:ext>
            </a:extLst>
          </p:cNvPr>
          <p:cNvSpPr/>
          <p:nvPr/>
        </p:nvSpPr>
        <p:spPr>
          <a:xfrm>
            <a:off x="1927781" y="3147274"/>
            <a:ext cx="5288438" cy="1678631"/>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9" name="テキスト ボックス 8">
            <a:extLst>
              <a:ext uri="{FF2B5EF4-FFF2-40B4-BE49-F238E27FC236}">
                <a16:creationId xmlns:a16="http://schemas.microsoft.com/office/drawing/2014/main" id="{1869E2E4-A316-E28A-A90F-7BD4B60FBC98}"/>
              </a:ext>
            </a:extLst>
          </p:cNvPr>
          <p:cNvSpPr txBox="1"/>
          <p:nvPr/>
        </p:nvSpPr>
        <p:spPr>
          <a:xfrm>
            <a:off x="5866642" y="414925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cxnSp>
        <p:nvCxnSpPr>
          <p:cNvPr id="11" name="直線矢印コネクタ 10">
            <a:extLst>
              <a:ext uri="{FF2B5EF4-FFF2-40B4-BE49-F238E27FC236}">
                <a16:creationId xmlns:a16="http://schemas.microsoft.com/office/drawing/2014/main" id="{EA322C27-C308-99D4-1A34-D719DEFEDAA0}"/>
              </a:ext>
            </a:extLst>
          </p:cNvPr>
          <p:cNvCxnSpPr>
            <a:cxnSpLocks/>
          </p:cNvCxnSpPr>
          <p:nvPr/>
        </p:nvCxnSpPr>
        <p:spPr>
          <a:xfrm>
            <a:off x="5161039" y="4333920"/>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曲線コネクタ 11">
            <a:extLst>
              <a:ext uri="{FF2B5EF4-FFF2-40B4-BE49-F238E27FC236}">
                <a16:creationId xmlns:a16="http://schemas.microsoft.com/office/drawing/2014/main" id="{49323955-D338-92A7-1AEA-4A02471A867F}"/>
              </a:ext>
            </a:extLst>
          </p:cNvPr>
          <p:cNvCxnSpPr>
            <a:cxnSpLocks/>
            <a:stCxn id="23" idx="2"/>
            <a:endCxn id="9" idx="0"/>
          </p:cNvCxnSpPr>
          <p:nvPr/>
        </p:nvCxnSpPr>
        <p:spPr>
          <a:xfrm rot="16200000" flipH="1">
            <a:off x="4438713" y="2167326"/>
            <a:ext cx="336657" cy="3627197"/>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BA9AF162-0E57-5A7E-08DD-6FE62D8199A6}"/>
              </a:ext>
            </a:extLst>
          </p:cNvPr>
          <p:cNvSpPr txBox="1"/>
          <p:nvPr/>
        </p:nvSpPr>
        <p:spPr>
          <a:xfrm>
            <a:off x="2239445" y="3443265"/>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25" name="テキスト ボックス 24">
            <a:extLst>
              <a:ext uri="{FF2B5EF4-FFF2-40B4-BE49-F238E27FC236}">
                <a16:creationId xmlns:a16="http://schemas.microsoft.com/office/drawing/2014/main" id="{BF5536FE-AE29-77EC-8B45-EF32FE3B395D}"/>
              </a:ext>
            </a:extLst>
          </p:cNvPr>
          <p:cNvSpPr txBox="1"/>
          <p:nvPr/>
        </p:nvSpPr>
        <p:spPr>
          <a:xfrm>
            <a:off x="4053043" y="3443265"/>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6" name="テキスト ボックス 25">
            <a:extLst>
              <a:ext uri="{FF2B5EF4-FFF2-40B4-BE49-F238E27FC236}">
                <a16:creationId xmlns:a16="http://schemas.microsoft.com/office/drawing/2014/main" id="{28090879-244D-AAE7-E84F-CDC1A5133B8A}"/>
              </a:ext>
            </a:extLst>
          </p:cNvPr>
          <p:cNvSpPr txBox="1"/>
          <p:nvPr/>
        </p:nvSpPr>
        <p:spPr>
          <a:xfrm>
            <a:off x="2239444" y="414925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cxnSp>
        <p:nvCxnSpPr>
          <p:cNvPr id="27" name="直線矢印コネクタ 26">
            <a:extLst>
              <a:ext uri="{FF2B5EF4-FFF2-40B4-BE49-F238E27FC236}">
                <a16:creationId xmlns:a16="http://schemas.microsoft.com/office/drawing/2014/main" id="{E3D5710C-590B-A129-8A42-8103D4AEB580}"/>
              </a:ext>
            </a:extLst>
          </p:cNvPr>
          <p:cNvCxnSpPr>
            <a:cxnSpLocks/>
          </p:cNvCxnSpPr>
          <p:nvPr/>
        </p:nvCxnSpPr>
        <p:spPr>
          <a:xfrm>
            <a:off x="3347440" y="4333920"/>
            <a:ext cx="705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42C318C0-7AD2-2DEB-6321-AED767033644}"/>
              </a:ext>
            </a:extLst>
          </p:cNvPr>
          <p:cNvCxnSpPr>
            <a:cxnSpLocks/>
            <a:stCxn id="25" idx="2"/>
            <a:endCxn id="32" idx="0"/>
          </p:cNvCxnSpPr>
          <p:nvPr/>
        </p:nvCxnSpPr>
        <p:spPr>
          <a:xfrm>
            <a:off x="4607041" y="3812597"/>
            <a:ext cx="0" cy="33665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曲線コネクタ 28">
            <a:extLst>
              <a:ext uri="{FF2B5EF4-FFF2-40B4-BE49-F238E27FC236}">
                <a16:creationId xmlns:a16="http://schemas.microsoft.com/office/drawing/2014/main" id="{1DDD9DF2-EC0C-37BC-6E5B-E01B856806FA}"/>
              </a:ext>
            </a:extLst>
          </p:cNvPr>
          <p:cNvCxnSpPr>
            <a:cxnSpLocks/>
            <a:stCxn id="23" idx="2"/>
            <a:endCxn id="32" idx="0"/>
          </p:cNvCxnSpPr>
          <p:nvPr/>
        </p:nvCxnSpPr>
        <p:spPr>
          <a:xfrm rot="16200000" flipH="1">
            <a:off x="3531914" y="3074126"/>
            <a:ext cx="336657" cy="1813598"/>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86E3EAC2-E044-D4B2-9222-48272B186212}"/>
              </a:ext>
            </a:extLst>
          </p:cNvPr>
          <p:cNvCxnSpPr>
            <a:cxnSpLocks/>
            <a:stCxn id="23" idx="2"/>
            <a:endCxn id="26" idx="0"/>
          </p:cNvCxnSpPr>
          <p:nvPr/>
        </p:nvCxnSpPr>
        <p:spPr>
          <a:xfrm flipH="1">
            <a:off x="2793442" y="3812597"/>
            <a:ext cx="1" cy="336657"/>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66D40A14-5DDD-8447-79BC-0803D1BBF0C1}"/>
              </a:ext>
            </a:extLst>
          </p:cNvPr>
          <p:cNvCxnSpPr>
            <a:cxnSpLocks/>
            <a:stCxn id="23" idx="3"/>
            <a:endCxn id="25" idx="1"/>
          </p:cNvCxnSpPr>
          <p:nvPr/>
        </p:nvCxnSpPr>
        <p:spPr>
          <a:xfrm>
            <a:off x="3347441" y="3627931"/>
            <a:ext cx="705602"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B3CC718A-A01E-B56B-54AA-8E01D6BF64A1}"/>
              </a:ext>
            </a:extLst>
          </p:cNvPr>
          <p:cNvSpPr txBox="1"/>
          <p:nvPr/>
        </p:nvSpPr>
        <p:spPr>
          <a:xfrm>
            <a:off x="4053043" y="4149254"/>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sp>
        <p:nvSpPr>
          <p:cNvPr id="4" name="テキスト ボックス 3">
            <a:extLst>
              <a:ext uri="{FF2B5EF4-FFF2-40B4-BE49-F238E27FC236}">
                <a16:creationId xmlns:a16="http://schemas.microsoft.com/office/drawing/2014/main" id="{1F63950B-1410-E7C6-0F92-CF2EF5A5FB93}"/>
              </a:ext>
            </a:extLst>
          </p:cNvPr>
          <p:cNvSpPr txBox="1"/>
          <p:nvPr/>
        </p:nvSpPr>
        <p:spPr>
          <a:xfrm>
            <a:off x="1356221" y="4970553"/>
            <a:ext cx="6431569" cy="1077218"/>
          </a:xfrm>
          <a:prstGeom prst="rect">
            <a:avLst/>
          </a:prstGeom>
          <a:noFill/>
        </p:spPr>
        <p:txBody>
          <a:bodyPr wrap="none" rtlCol="0">
            <a:spAutoFit/>
          </a:bodyPr>
          <a:lstStyle/>
          <a:p>
            <a:pPr algn="ctr"/>
            <a:r>
              <a:rPr kumimoji="1" lang="en-US" altLang="ja-GB" b="1" dirty="0">
                <a:solidFill>
                  <a:srgbClr val="0070C0"/>
                </a:solidFill>
              </a:rPr>
              <a:t>PC</a:t>
            </a:r>
            <a:r>
              <a:rPr kumimoji="1" lang="ja-GB" altLang="en-US" b="1" dirty="0">
                <a:solidFill>
                  <a:srgbClr val="0070C0"/>
                </a:solidFill>
              </a:rPr>
              <a:t>やスマホを選ぶとき，スペック表はどう見たらいいのか？</a:t>
            </a:r>
            <a:endParaRPr kumimoji="1" lang="en-US" altLang="ja-GB" b="1" dirty="0">
              <a:solidFill>
                <a:srgbClr val="0070C0"/>
              </a:solidFill>
            </a:endParaRPr>
          </a:p>
          <a:p>
            <a:pPr algn="ctr"/>
            <a:r>
              <a:rPr kumimoji="1" lang="en-US" altLang="ja-GB" sz="1400" dirty="0"/>
              <a:t>CPU</a:t>
            </a:r>
            <a:r>
              <a:rPr kumimoji="1" lang="ja-GB" altLang="en-US" sz="1400" dirty="0"/>
              <a:t>，メモリ，</a:t>
            </a:r>
            <a:r>
              <a:rPr kumimoji="1" lang="en-US" altLang="ja-GB" sz="1400" dirty="0"/>
              <a:t>HDD/SSD</a:t>
            </a:r>
            <a:r>
              <a:rPr kumimoji="1" lang="ja-GB" altLang="en-US" sz="1400" dirty="0"/>
              <a:t>，</a:t>
            </a:r>
            <a:r>
              <a:rPr kumimoji="1" lang="en-US" altLang="ja-GB" sz="1400" dirty="0"/>
              <a:t>…</a:t>
            </a:r>
          </a:p>
          <a:p>
            <a:pPr algn="ctr"/>
            <a:endParaRPr kumimoji="1" lang="en-US" altLang="ja-GB" sz="1400" dirty="0"/>
          </a:p>
          <a:p>
            <a:pPr algn="ctr"/>
            <a:r>
              <a:rPr kumimoji="1" lang="ja-GB" altLang="en-US" b="1" dirty="0">
                <a:solidFill>
                  <a:srgbClr val="0070C0"/>
                </a:solidFill>
              </a:rPr>
              <a:t>結局，情報技術は何に使えるのか？どう使えばいいのか？</a:t>
            </a:r>
          </a:p>
        </p:txBody>
      </p:sp>
      <p:sp>
        <p:nvSpPr>
          <p:cNvPr id="7" name="テキスト ボックス 6">
            <a:extLst>
              <a:ext uri="{FF2B5EF4-FFF2-40B4-BE49-F238E27FC236}">
                <a16:creationId xmlns:a16="http://schemas.microsoft.com/office/drawing/2014/main" id="{A347DF4D-FB31-BBC0-A787-9C4DCFEA6E54}"/>
              </a:ext>
            </a:extLst>
          </p:cNvPr>
          <p:cNvSpPr txBox="1"/>
          <p:nvPr/>
        </p:nvSpPr>
        <p:spPr>
          <a:xfrm>
            <a:off x="1555789" y="6267381"/>
            <a:ext cx="6032422" cy="461665"/>
          </a:xfrm>
          <a:prstGeom prst="rect">
            <a:avLst/>
          </a:prstGeom>
          <a:noFill/>
        </p:spPr>
        <p:txBody>
          <a:bodyPr wrap="none" rtlCol="0">
            <a:spAutoFit/>
          </a:bodyPr>
          <a:lstStyle/>
          <a:p>
            <a:pPr algn="ctr"/>
            <a:r>
              <a:rPr kumimoji="1" lang="ja-GB" altLang="en-US" sz="2400" b="1" dirty="0">
                <a:solidFill>
                  <a:schemeClr val="accent2"/>
                </a:solidFill>
              </a:rPr>
              <a:t>より詳細に踏み込んで理解する必要がある</a:t>
            </a:r>
          </a:p>
        </p:txBody>
      </p:sp>
    </p:spTree>
    <p:extLst>
      <p:ext uri="{BB962C8B-B14F-4D97-AF65-F5344CB8AC3E}">
        <p14:creationId xmlns:p14="http://schemas.microsoft.com/office/powerpoint/2010/main" val="18693307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A5985-8072-A9F5-411D-488DAC3B35DE}"/>
              </a:ext>
            </a:extLst>
          </p:cNvPr>
          <p:cNvSpPr>
            <a:spLocks noGrp="1"/>
          </p:cNvSpPr>
          <p:nvPr>
            <p:ph type="title"/>
          </p:nvPr>
        </p:nvSpPr>
        <p:spPr/>
        <p:txBody>
          <a:bodyPr/>
          <a:lstStyle/>
          <a:p>
            <a:r>
              <a:rPr kumimoji="1" lang="ja-GB" altLang="en-US" dirty="0"/>
              <a:t>五大装置によるプログラム実行の流れ</a:t>
            </a:r>
          </a:p>
        </p:txBody>
      </p:sp>
      <p:sp>
        <p:nvSpPr>
          <p:cNvPr id="3" name="コンテンツ プレースホルダー 2">
            <a:extLst>
              <a:ext uri="{FF2B5EF4-FFF2-40B4-BE49-F238E27FC236}">
                <a16:creationId xmlns:a16="http://schemas.microsoft.com/office/drawing/2014/main" id="{6DB38A7C-E531-6429-9983-184613484A30}"/>
              </a:ext>
            </a:extLst>
          </p:cNvPr>
          <p:cNvSpPr>
            <a:spLocks noGrp="1"/>
          </p:cNvSpPr>
          <p:nvPr>
            <p:ph idx="1"/>
          </p:nvPr>
        </p:nvSpPr>
        <p:spPr/>
        <p:txBody>
          <a:bodyPr/>
          <a:lstStyle/>
          <a:p>
            <a:endParaRPr lang="ja-GB" altLang="en-US"/>
          </a:p>
        </p:txBody>
      </p:sp>
      <p:cxnSp>
        <p:nvCxnSpPr>
          <p:cNvPr id="6" name="直線矢印コネクタ 5">
            <a:extLst>
              <a:ext uri="{FF2B5EF4-FFF2-40B4-BE49-F238E27FC236}">
                <a16:creationId xmlns:a16="http://schemas.microsoft.com/office/drawing/2014/main" id="{6ADF256E-7CD1-0280-69F4-52E176EF52FF}"/>
              </a:ext>
            </a:extLst>
          </p:cNvPr>
          <p:cNvCxnSpPr>
            <a:cxnSpLocks/>
            <a:stCxn id="17" idx="3"/>
            <a:endCxn id="28" idx="1"/>
          </p:cNvCxnSpPr>
          <p:nvPr/>
        </p:nvCxnSpPr>
        <p:spPr>
          <a:xfrm>
            <a:off x="5104478" y="5196912"/>
            <a:ext cx="1318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曲線コネクタ 6">
            <a:extLst>
              <a:ext uri="{FF2B5EF4-FFF2-40B4-BE49-F238E27FC236}">
                <a16:creationId xmlns:a16="http://schemas.microsoft.com/office/drawing/2014/main" id="{3D2ED9D7-7927-394C-AD00-6AEA7316C87F}"/>
              </a:ext>
            </a:extLst>
          </p:cNvPr>
          <p:cNvCxnSpPr>
            <a:cxnSpLocks/>
            <a:stCxn id="8" idx="2"/>
            <a:endCxn id="28"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B953E0C3-9F89-3A28-8D6F-D8E7434F8862}"/>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94D98CAF-5DFE-CB1B-C872-0281A93548BC}"/>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cxnSp>
        <p:nvCxnSpPr>
          <p:cNvPr id="12" name="直線矢印コネクタ 11">
            <a:extLst>
              <a:ext uri="{FF2B5EF4-FFF2-40B4-BE49-F238E27FC236}">
                <a16:creationId xmlns:a16="http://schemas.microsoft.com/office/drawing/2014/main" id="{9933F117-6E46-F621-D91E-02D870D214C7}"/>
              </a:ext>
            </a:extLst>
          </p:cNvPr>
          <p:cNvCxnSpPr>
            <a:cxnSpLocks/>
            <a:stCxn id="29" idx="3"/>
            <a:endCxn id="17" idx="1"/>
          </p:cNvCxnSpPr>
          <p:nvPr/>
        </p:nvCxnSpPr>
        <p:spPr>
          <a:xfrm>
            <a:off x="2678136" y="5196912"/>
            <a:ext cx="1318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C1EFCE3-5DDC-42A1-DC3A-43D7ACD4B5B5}"/>
              </a:ext>
            </a:extLst>
          </p:cNvPr>
          <p:cNvCxnSpPr>
            <a:cxnSpLocks/>
            <a:stCxn id="10" idx="2"/>
            <a:endCxn id="17" idx="0"/>
          </p:cNvCxnSpPr>
          <p:nvPr/>
        </p:nvCxnSpPr>
        <p:spPr>
          <a:xfrm>
            <a:off x="4550480" y="3204822"/>
            <a:ext cx="0" cy="180742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曲線コネクタ 13">
            <a:extLst>
              <a:ext uri="{FF2B5EF4-FFF2-40B4-BE49-F238E27FC236}">
                <a16:creationId xmlns:a16="http://schemas.microsoft.com/office/drawing/2014/main" id="{7B7AA29F-C489-857C-7B27-3AF18E19FF7D}"/>
              </a:ext>
            </a:extLst>
          </p:cNvPr>
          <p:cNvCxnSpPr>
            <a:cxnSpLocks/>
            <a:stCxn id="8" idx="2"/>
            <a:endCxn id="17" idx="1"/>
          </p:cNvCxnSpPr>
          <p:nvPr/>
        </p:nvCxnSpPr>
        <p:spPr>
          <a:xfrm rot="16200000" flipH="1">
            <a:off x="2064265" y="3264695"/>
            <a:ext cx="1992090" cy="187234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692006D-48FC-F5CB-A503-71D28485BA4F}"/>
              </a:ext>
            </a:extLst>
          </p:cNvPr>
          <p:cNvCxnSpPr>
            <a:cxnSpLocks/>
            <a:stCxn id="8" idx="2"/>
            <a:endCxn id="29"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4848DB1-1F5B-1BBC-885E-093D3E14E28C}"/>
              </a:ext>
            </a:extLst>
          </p:cNvPr>
          <p:cNvCxnSpPr>
            <a:cxnSpLocks/>
            <a:stCxn id="8" idx="3"/>
            <a:endCxn id="10" idx="1"/>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05F5A0A4-3AC8-A36E-9357-63C014E79872}"/>
              </a:ext>
            </a:extLst>
          </p:cNvPr>
          <p:cNvSpPr txBox="1"/>
          <p:nvPr/>
        </p:nvSpPr>
        <p:spPr>
          <a:xfrm>
            <a:off x="3996482"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記憶装置</a:t>
            </a:r>
          </a:p>
        </p:txBody>
      </p:sp>
      <p:sp>
        <p:nvSpPr>
          <p:cNvPr id="28" name="テキスト ボックス 27">
            <a:extLst>
              <a:ext uri="{FF2B5EF4-FFF2-40B4-BE49-F238E27FC236}">
                <a16:creationId xmlns:a16="http://schemas.microsoft.com/office/drawing/2014/main" id="{0B7CA3D0-14A8-21E9-919C-7F87B6BD0B40}"/>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9" name="テキスト ボックス 28">
            <a:extLst>
              <a:ext uri="{FF2B5EF4-FFF2-40B4-BE49-F238E27FC236}">
                <a16:creationId xmlns:a16="http://schemas.microsoft.com/office/drawing/2014/main" id="{983F9CA4-31D6-8E63-DEFC-ABD8B1106CD3}"/>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Tree>
    <p:extLst>
      <p:ext uri="{BB962C8B-B14F-4D97-AF65-F5344CB8AC3E}">
        <p14:creationId xmlns:p14="http://schemas.microsoft.com/office/powerpoint/2010/main" val="36396114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221F-31FD-4178-C214-39D382536AB8}"/>
            </a:ext>
          </a:extLst>
        </p:cNvPr>
        <p:cNvGrpSpPr/>
        <p:nvPr/>
      </p:nvGrpSpPr>
      <p:grpSpPr>
        <a:xfrm>
          <a:off x="0" y="0"/>
          <a:ext cx="0" cy="0"/>
          <a:chOff x="0" y="0"/>
          <a:chExt cx="0" cy="0"/>
        </a:xfrm>
      </p:grpSpPr>
      <p:sp>
        <p:nvSpPr>
          <p:cNvPr id="20" name="角丸四角形 19">
            <a:extLst>
              <a:ext uri="{FF2B5EF4-FFF2-40B4-BE49-F238E27FC236}">
                <a16:creationId xmlns:a16="http://schemas.microsoft.com/office/drawing/2014/main" id="{9FA56E96-65D4-3FB5-8936-085A58ED6A63}"/>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C3FDBEEB-732F-2D55-6A18-A36485C23212}"/>
              </a:ext>
            </a:extLst>
          </p:cNvPr>
          <p:cNvSpPr>
            <a:spLocks noGrp="1"/>
          </p:cNvSpPr>
          <p:nvPr>
            <p:ph type="title"/>
          </p:nvPr>
        </p:nvSpPr>
        <p:spPr/>
        <p:txBody>
          <a:bodyPr/>
          <a:lstStyle/>
          <a:p>
            <a:r>
              <a:rPr kumimoji="1" lang="ja-GB" altLang="en-US" dirty="0"/>
              <a:t>プログラム実行の流れ</a:t>
            </a:r>
          </a:p>
        </p:txBody>
      </p:sp>
      <p:sp>
        <p:nvSpPr>
          <p:cNvPr id="4" name="コンテンツ プレースホルダー 3">
            <a:extLst>
              <a:ext uri="{FF2B5EF4-FFF2-40B4-BE49-F238E27FC236}">
                <a16:creationId xmlns:a16="http://schemas.microsoft.com/office/drawing/2014/main" id="{7DF913ED-59A0-C14E-B949-8D094CBE2F16}"/>
              </a:ext>
            </a:extLst>
          </p:cNvPr>
          <p:cNvSpPr>
            <a:spLocks noGrp="1"/>
          </p:cNvSpPr>
          <p:nvPr>
            <p:ph idx="1"/>
          </p:nvPr>
        </p:nvSpPr>
        <p:spPr/>
        <p:txBody>
          <a:bodyPr/>
          <a:lstStyle/>
          <a:p>
            <a:endParaRPr lang="ja-GB" altLang="en-US"/>
          </a:p>
        </p:txBody>
      </p:sp>
      <p:sp>
        <p:nvSpPr>
          <p:cNvPr id="5" name="テキスト ボックス 4">
            <a:extLst>
              <a:ext uri="{FF2B5EF4-FFF2-40B4-BE49-F238E27FC236}">
                <a16:creationId xmlns:a16="http://schemas.microsoft.com/office/drawing/2014/main" id="{23F37259-9894-6051-4B0A-A22155F680FC}"/>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1686771A-B16C-4FAF-331F-7CD7179A770F}"/>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418A8B93-F214-8E83-C538-1BE36880C9C4}"/>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1" name="テキスト ボックス 10">
            <a:extLst>
              <a:ext uri="{FF2B5EF4-FFF2-40B4-BE49-F238E27FC236}">
                <a16:creationId xmlns:a16="http://schemas.microsoft.com/office/drawing/2014/main" id="{9CEAE354-F768-42AF-D0BF-9F9177C38C2D}"/>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9" name="テキスト ボックス 18">
            <a:extLst>
              <a:ext uri="{FF2B5EF4-FFF2-40B4-BE49-F238E27FC236}">
                <a16:creationId xmlns:a16="http://schemas.microsoft.com/office/drawing/2014/main" id="{370B2343-B867-B3A7-6691-F4DE12401538}"/>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1" name="曲線コネクタ 20">
            <a:extLst>
              <a:ext uri="{FF2B5EF4-FFF2-40B4-BE49-F238E27FC236}">
                <a16:creationId xmlns:a16="http://schemas.microsoft.com/office/drawing/2014/main" id="{EF1FC434-1772-742A-B755-7A474DE888FB}"/>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B355725A-44DB-BA10-6AC0-E5DD2EBB2375}"/>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FA7924C-B0D8-A05F-A080-D082049B610B}"/>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76719BA5-264F-37AF-0BFF-6D6937C8F781}"/>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C8C8A6C8-75B1-D3BA-F743-0AB43905B4A6}"/>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44" name="テキスト ボックス 43">
            <a:extLst>
              <a:ext uri="{FF2B5EF4-FFF2-40B4-BE49-F238E27FC236}">
                <a16:creationId xmlns:a16="http://schemas.microsoft.com/office/drawing/2014/main" id="{BB1C8A14-0149-162A-6743-8F070459C8A5}"/>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54" name="曲線コネクタ 53">
            <a:extLst>
              <a:ext uri="{FF2B5EF4-FFF2-40B4-BE49-F238E27FC236}">
                <a16:creationId xmlns:a16="http://schemas.microsoft.com/office/drawing/2014/main" id="{2189681C-D2DF-7FF8-41F0-AF8283531E43}"/>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5D6A7D2A-42D7-3D76-571B-AE9E8AB3B794}"/>
              </a:ext>
            </a:extLst>
          </p:cNvPr>
          <p:cNvSpPr txBox="1"/>
          <p:nvPr/>
        </p:nvSpPr>
        <p:spPr>
          <a:xfrm>
            <a:off x="3470697" y="6388769"/>
            <a:ext cx="2159566"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rPr>
              <a:t>参考：計算システム入門</a:t>
            </a:r>
          </a:p>
        </p:txBody>
      </p:sp>
    </p:spTree>
    <p:extLst>
      <p:ext uri="{BB962C8B-B14F-4D97-AF65-F5344CB8AC3E}">
        <p14:creationId xmlns:p14="http://schemas.microsoft.com/office/powerpoint/2010/main" val="25613628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268972-B329-42F4-0D8A-F67860505DCE}"/>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9EC8C6B2-9514-3995-86CA-C79C79A4B82B}"/>
              </a:ext>
            </a:extLst>
          </p:cNvPr>
          <p:cNvSpPr>
            <a:spLocks noGrp="1"/>
          </p:cNvSpPr>
          <p:nvPr>
            <p:ph idx="1"/>
          </p:nvPr>
        </p:nvSpPr>
        <p:spPr/>
        <p:txBody>
          <a:bodyPr>
            <a:normAutofit/>
          </a:bodyPr>
          <a:lstStyle/>
          <a:p>
            <a:pPr marL="0" indent="0">
              <a:buNone/>
            </a:pPr>
            <a:r>
              <a:rPr kumimoji="1" lang="en-US" altLang="ja-GB" sz="2000" dirty="0"/>
              <a:t>①</a:t>
            </a:r>
            <a:r>
              <a:rPr kumimoji="1" lang="ja-GB" altLang="en-US" sz="2000" dirty="0"/>
              <a:t>事前準備：プログラム転送命令</a:t>
            </a:r>
            <a:endParaRPr kumimoji="1" lang="en-US" altLang="ja-GB" sz="2000" dirty="0"/>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4" name="角丸四角形 3">
            <a:extLst>
              <a:ext uri="{FF2B5EF4-FFF2-40B4-BE49-F238E27FC236}">
                <a16:creationId xmlns:a16="http://schemas.microsoft.com/office/drawing/2014/main" id="{5909E143-E3D1-F8A7-E1A5-F8B572D089C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15F822FA-C9EE-45EA-A504-5E0BF094D66F}"/>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6" name="テキスト ボックス 5">
            <a:extLst>
              <a:ext uri="{FF2B5EF4-FFF2-40B4-BE49-F238E27FC236}">
                <a16:creationId xmlns:a16="http://schemas.microsoft.com/office/drawing/2014/main" id="{B181BE98-19D6-388D-B501-751E776CD5F5}"/>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7" name="テキスト ボックス 6">
            <a:extLst>
              <a:ext uri="{FF2B5EF4-FFF2-40B4-BE49-F238E27FC236}">
                <a16:creationId xmlns:a16="http://schemas.microsoft.com/office/drawing/2014/main" id="{E0FE21A6-025C-5A6F-01B4-A2CC4F01E520}"/>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8" name="テキスト ボックス 7">
            <a:extLst>
              <a:ext uri="{FF2B5EF4-FFF2-40B4-BE49-F238E27FC236}">
                <a16:creationId xmlns:a16="http://schemas.microsoft.com/office/drawing/2014/main" id="{9408014D-5922-71C2-288E-6730C7D04F2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9" name="テキスト ボックス 8">
            <a:extLst>
              <a:ext uri="{FF2B5EF4-FFF2-40B4-BE49-F238E27FC236}">
                <a16:creationId xmlns:a16="http://schemas.microsoft.com/office/drawing/2014/main" id="{C88ECE92-6137-16DC-07D3-A5018B451652}"/>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0" name="曲線コネクタ 9">
            <a:extLst>
              <a:ext uri="{FF2B5EF4-FFF2-40B4-BE49-F238E27FC236}">
                <a16:creationId xmlns:a16="http://schemas.microsoft.com/office/drawing/2014/main" id="{F274DE30-FF5C-F27F-1B35-73F5F98DEA37}"/>
              </a:ext>
            </a:extLst>
          </p:cNvPr>
          <p:cNvCxnSpPr>
            <a:cxnSpLocks/>
            <a:stCxn id="6"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1" name="曲線コネクタ 10">
            <a:extLst>
              <a:ext uri="{FF2B5EF4-FFF2-40B4-BE49-F238E27FC236}">
                <a16:creationId xmlns:a16="http://schemas.microsoft.com/office/drawing/2014/main" id="{AFD6E2CB-8AF9-B4D0-495E-40D39D26B1E5}"/>
              </a:ext>
            </a:extLst>
          </p:cNvPr>
          <p:cNvCxnSpPr>
            <a:cxnSpLocks/>
            <a:stCxn id="6" idx="2"/>
            <a:endCxn id="15"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156F188B-57ED-A9F9-3E8F-728BB02C26C5}"/>
              </a:ext>
            </a:extLst>
          </p:cNvPr>
          <p:cNvCxnSpPr>
            <a:cxnSpLocks/>
            <a:endCxn id="8"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8A883F6-C376-F04F-13EE-DF761092F8F8}"/>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05F103A-0221-F926-67A7-66094B909BD2}"/>
              </a:ext>
            </a:extLst>
          </p:cNvPr>
          <p:cNvSpPr txBox="1"/>
          <p:nvPr/>
        </p:nvSpPr>
        <p:spPr>
          <a:xfrm>
            <a:off x="3431492" y="5012246"/>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15" name="テキスト ボックス 14">
            <a:extLst>
              <a:ext uri="{FF2B5EF4-FFF2-40B4-BE49-F238E27FC236}">
                <a16:creationId xmlns:a16="http://schemas.microsoft.com/office/drawing/2014/main" id="{78DC847B-789C-6688-5393-44049AF55EDB}"/>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16" name="曲線コネクタ 15">
            <a:extLst>
              <a:ext uri="{FF2B5EF4-FFF2-40B4-BE49-F238E27FC236}">
                <a16:creationId xmlns:a16="http://schemas.microsoft.com/office/drawing/2014/main" id="{2B7785DD-F3E9-F1D2-7184-8A77BDF94136}"/>
              </a:ext>
            </a:extLst>
          </p:cNvPr>
          <p:cNvCxnSpPr>
            <a:cxnSpLocks/>
            <a:stCxn id="6" idx="2"/>
            <a:endCxn id="14" idx="1"/>
          </p:cNvCxnSpPr>
          <p:nvPr/>
        </p:nvCxnSpPr>
        <p:spPr>
          <a:xfrm rot="16200000" flipH="1">
            <a:off x="1781770" y="3547190"/>
            <a:ext cx="1992090" cy="1307353"/>
          </a:xfrm>
          <a:prstGeom prst="curvedConnector2">
            <a:avLst/>
          </a:prstGeom>
          <a:ln w="50800" cap="flat">
            <a:solidFill>
              <a:schemeClr val="accent2"/>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DEEC999-72DB-F9AD-78DC-8BDD912C5D2A}"/>
              </a:ext>
            </a:extLst>
          </p:cNvPr>
          <p:cNvCxnSpPr>
            <a:cxnSpLocks/>
            <a:stCxn id="14" idx="1"/>
            <a:endCxn id="6" idx="2"/>
          </p:cNvCxnSpPr>
          <p:nvPr/>
        </p:nvCxnSpPr>
        <p:spPr>
          <a:xfrm flipH="1" flipV="1">
            <a:off x="2124139" y="3204822"/>
            <a:ext cx="1307353" cy="199209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B009CEEE-CBEB-8B26-382D-14A2D9EA8A11}"/>
              </a:ext>
            </a:extLst>
          </p:cNvPr>
          <p:cNvSpPr txBox="1"/>
          <p:nvPr/>
        </p:nvSpPr>
        <p:spPr>
          <a:xfrm>
            <a:off x="619446" y="4149930"/>
            <a:ext cx="1800493" cy="307777"/>
          </a:xfrm>
          <a:prstGeom prst="rect">
            <a:avLst/>
          </a:prstGeom>
          <a:noFill/>
        </p:spPr>
        <p:txBody>
          <a:bodyPr wrap="none" rtlCol="0">
            <a:spAutoFit/>
          </a:bodyPr>
          <a:lstStyle/>
          <a:p>
            <a:r>
              <a:rPr kumimoji="1" lang="ja-GB" altLang="en-US" sz="1400" b="1" dirty="0">
                <a:solidFill>
                  <a:schemeClr val="accent2"/>
                </a:solidFill>
              </a:rPr>
              <a:t>プログラム転送命令</a:t>
            </a:r>
          </a:p>
        </p:txBody>
      </p:sp>
      <p:sp>
        <p:nvSpPr>
          <p:cNvPr id="21" name="テキスト ボックス 20">
            <a:extLst>
              <a:ext uri="{FF2B5EF4-FFF2-40B4-BE49-F238E27FC236}">
                <a16:creationId xmlns:a16="http://schemas.microsoft.com/office/drawing/2014/main" id="{393E85EB-D191-82A9-24C8-BE1639F73877}"/>
              </a:ext>
            </a:extLst>
          </p:cNvPr>
          <p:cNvSpPr txBox="1"/>
          <p:nvPr/>
        </p:nvSpPr>
        <p:spPr>
          <a:xfrm>
            <a:off x="2349145" y="3389486"/>
            <a:ext cx="1561646" cy="307777"/>
          </a:xfrm>
          <a:prstGeom prst="rect">
            <a:avLst/>
          </a:prstGeom>
          <a:noFill/>
        </p:spPr>
        <p:txBody>
          <a:bodyPr wrap="none" rtlCol="0">
            <a:spAutoFit/>
          </a:bodyPr>
          <a:lstStyle/>
          <a:p>
            <a:r>
              <a:rPr kumimoji="1" lang="ja-GB" altLang="en-US" sz="1400" b="1" dirty="0">
                <a:solidFill>
                  <a:srgbClr val="0070C0"/>
                </a:solidFill>
              </a:rPr>
              <a:t>プログラム：</a:t>
            </a:r>
            <a:r>
              <a:rPr kumimoji="1" lang="en-US" altLang="ja-GB" sz="1400" b="1" dirty="0">
                <a:solidFill>
                  <a:srgbClr val="0070C0"/>
                </a:solidFill>
              </a:rPr>
              <a:t>A+B</a:t>
            </a:r>
            <a:endParaRPr kumimoji="1" lang="ja-GB" altLang="en-US" sz="1400" b="1" dirty="0">
              <a:solidFill>
                <a:srgbClr val="0070C0"/>
              </a:solidFill>
            </a:endParaRPr>
          </a:p>
        </p:txBody>
      </p:sp>
      <p:sp>
        <p:nvSpPr>
          <p:cNvPr id="18" name="テキスト ボックス 17">
            <a:extLst>
              <a:ext uri="{FF2B5EF4-FFF2-40B4-BE49-F238E27FC236}">
                <a16:creationId xmlns:a16="http://schemas.microsoft.com/office/drawing/2014/main" id="{0C6E93C7-0102-BDE2-59DD-784327C577EC}"/>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0070C0"/>
                </a:solidFill>
              </a:rPr>
              <a:t>A+B</a:t>
            </a:r>
            <a:endParaRPr kumimoji="1" lang="ja-GB" altLang="en-US" dirty="0">
              <a:solidFill>
                <a:srgbClr val="0070C0"/>
              </a:solidFill>
            </a:endParaRPr>
          </a:p>
        </p:txBody>
      </p:sp>
    </p:spTree>
    <p:extLst>
      <p:ext uri="{BB962C8B-B14F-4D97-AF65-F5344CB8AC3E}">
        <p14:creationId xmlns:p14="http://schemas.microsoft.com/office/powerpoint/2010/main" val="8863165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28572-AA3E-BE1E-92DE-75086C9BF5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6C9A42-1EB1-CED5-A0A7-49438F971D00}"/>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9BDD5F44-6FC7-2F29-4FCF-0F3F64581B34}"/>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t>②</a:t>
            </a:r>
            <a:r>
              <a:rPr lang="ja-GB" altLang="en-US" sz="2000" dirty="0"/>
              <a:t>入力受付：入力命令，データ転送命令</a:t>
            </a:r>
            <a:endParaRPr lang="en-US" altLang="ja-GB" sz="2000" dirty="0"/>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A651EDA7-EA2B-0B91-A0F8-49A1CE55A1F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D988CE13-15D5-932D-568D-E8DE831D7763}"/>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EC2873AE-23F2-95C3-4540-B72219972CA9}"/>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89B9D846-C1BB-B75F-14D8-A9B221733ABA}"/>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3ECB7C76-6768-96D1-7EC7-2F40B2339009}"/>
              </a:ext>
            </a:extLst>
          </p:cNvPr>
          <p:cNvSpPr txBox="1"/>
          <p:nvPr/>
        </p:nvSpPr>
        <p:spPr>
          <a:xfrm>
            <a:off x="1570140"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964A2521-5DBA-F3E7-42F3-0C35610A44C1}"/>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F192D56C-D8D3-5AA0-054E-52C075008497}"/>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710456F3-E8C4-83A8-44F4-8BBD86FF7B88}"/>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E8F3F67B-A72B-1352-8968-B3A9BDB63609}"/>
              </a:ext>
            </a:extLst>
          </p:cNvPr>
          <p:cNvCxnSpPr>
            <a:cxnSpLocks/>
            <a:endCxn id="24" idx="0"/>
          </p:cNvCxnSpPr>
          <p:nvPr/>
        </p:nvCxnSpPr>
        <p:spPr>
          <a:xfrm flipH="1">
            <a:off x="2124138" y="3204822"/>
            <a:ext cx="1" cy="1807424"/>
          </a:xfrm>
          <a:prstGeom prst="straightConnector1">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76A3C03-F6A7-4AB5-8B2D-53AC8F2DE245}"/>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34174885-8ABF-A90B-FC4B-E8CA0FF5A307}"/>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1048B4DF-DA77-C4DC-C721-AAD1A5EE28F3}"/>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A684E7A3-12F5-72ED-63E4-57F04FE5BB26}"/>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89DDEB98-208D-6A8F-D45A-7343F968727F}"/>
              </a:ext>
            </a:extLst>
          </p:cNvPr>
          <p:cNvCxnSpPr>
            <a:cxnSpLocks/>
            <a:endCxn id="24" idx="2"/>
          </p:cNvCxnSpPr>
          <p:nvPr/>
        </p:nvCxnSpPr>
        <p:spPr>
          <a:xfrm flipH="1" flipV="1">
            <a:off x="2124138" y="5381578"/>
            <a:ext cx="12560" cy="53410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B2EDAAA5-2873-807A-A635-5726313F60C9}"/>
              </a:ext>
            </a:extLst>
          </p:cNvPr>
          <p:cNvSpPr txBox="1"/>
          <p:nvPr/>
        </p:nvSpPr>
        <p:spPr>
          <a:xfrm>
            <a:off x="615686" y="3939256"/>
            <a:ext cx="1441420" cy="523220"/>
          </a:xfrm>
          <a:prstGeom prst="rect">
            <a:avLst/>
          </a:prstGeom>
          <a:noFill/>
        </p:spPr>
        <p:txBody>
          <a:bodyPr wrap="none" rtlCol="0">
            <a:spAutoFit/>
          </a:bodyPr>
          <a:lstStyle/>
          <a:p>
            <a:pPr algn="ctr"/>
            <a:r>
              <a:rPr kumimoji="1" lang="ja-GB" altLang="en-US" sz="1400" b="1" dirty="0">
                <a:solidFill>
                  <a:schemeClr val="accent2"/>
                </a:solidFill>
              </a:rPr>
              <a:t>入力命令</a:t>
            </a:r>
            <a:endParaRPr kumimoji="1" lang="en-US" altLang="ja-GB" sz="1400" b="1" dirty="0">
              <a:solidFill>
                <a:schemeClr val="accent2"/>
              </a:solidFill>
            </a:endParaRPr>
          </a:p>
          <a:p>
            <a:pPr algn="ctr"/>
            <a:r>
              <a:rPr kumimoji="1" lang="ja-GB" altLang="en-US" sz="1400" b="1" dirty="0">
                <a:solidFill>
                  <a:schemeClr val="accent2"/>
                </a:solidFill>
              </a:rPr>
              <a:t>データ転送命令</a:t>
            </a:r>
          </a:p>
        </p:txBody>
      </p:sp>
      <p:sp>
        <p:nvSpPr>
          <p:cNvPr id="8" name="テキスト ボックス 7">
            <a:extLst>
              <a:ext uri="{FF2B5EF4-FFF2-40B4-BE49-F238E27FC236}">
                <a16:creationId xmlns:a16="http://schemas.microsoft.com/office/drawing/2014/main" id="{49D1C8D8-D2C9-995A-DFF2-AF76D4CC9254}"/>
              </a:ext>
            </a:extLst>
          </p:cNvPr>
          <p:cNvSpPr txBox="1"/>
          <p:nvPr/>
        </p:nvSpPr>
        <p:spPr>
          <a:xfrm>
            <a:off x="2162603" y="542084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cxnSp>
        <p:nvCxnSpPr>
          <p:cNvPr id="15" name="直線矢印コネクタ 14">
            <a:extLst>
              <a:ext uri="{FF2B5EF4-FFF2-40B4-BE49-F238E27FC236}">
                <a16:creationId xmlns:a16="http://schemas.microsoft.com/office/drawing/2014/main" id="{FFC4B2B5-3163-9223-E29D-0C15049D39BB}"/>
              </a:ext>
            </a:extLst>
          </p:cNvPr>
          <p:cNvCxnSpPr>
            <a:cxnSpLocks/>
            <a:stCxn id="24" idx="3"/>
            <a:endCxn id="31" idx="1"/>
          </p:cNvCxnSpPr>
          <p:nvPr/>
        </p:nvCxnSpPr>
        <p:spPr>
          <a:xfrm flipV="1">
            <a:off x="2678136" y="4527243"/>
            <a:ext cx="753356"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47B25B64-376A-30EA-85D3-7011916647E3}"/>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35" name="グラフィックス 34" descr="キーボード 単色塗りつぶし">
            <a:extLst>
              <a:ext uri="{FF2B5EF4-FFF2-40B4-BE49-F238E27FC236}">
                <a16:creationId xmlns:a16="http://schemas.microsoft.com/office/drawing/2014/main" id="{5CBBDFD3-47AD-2859-9BC8-79BEEBC169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40347082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283C0-C850-A4B2-0DD8-4F359D44B8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15379E-8E12-7482-DB02-20BE68D68E2A}"/>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AFFD2A26-7AD5-F5E4-E8DE-0A236AF18C91}"/>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t>③</a:t>
            </a:r>
            <a:r>
              <a:rPr kumimoji="1" lang="ja-GB" altLang="en-US" sz="2000" dirty="0"/>
              <a:t>演算実行：演算命令，データ転送命令</a:t>
            </a:r>
            <a:endParaRPr kumimoji="1" lang="en-US" altLang="ja-GB" sz="2000" dirty="0"/>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0FB758AD-69DE-B2B8-224D-48B404538BFB}"/>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6AA36675-4978-E8A8-8C5C-EFB21E1DB39E}"/>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E3940A8A-BB4D-9F9C-A0FA-C4BC12E66BBF}"/>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E1C47AFD-EA43-665D-BD2B-2B6A12D9386C}"/>
              </a:ext>
            </a:extLst>
          </p:cNvPr>
          <p:cNvSpPr txBox="1"/>
          <p:nvPr/>
        </p:nvSpPr>
        <p:spPr>
          <a:xfrm>
            <a:off x="3996482"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770CF92B-2510-378E-9D07-0BF4F337332C}"/>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29E0F9EB-01ED-D577-E794-9FFF09841B4F}"/>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AADF4507-7CE0-00E7-8FFA-B24ED15F4473}"/>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7F0A406A-9F7F-89F2-B06A-3AD052218A41}"/>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56E8A25-4330-0AE0-7E39-7C1670737D34}"/>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240E214-2F21-58CC-F6D9-158716577CA3}"/>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5E1857F-9E14-E8C3-C0C6-5233515989D7}"/>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A6D06E19-DF14-495F-CE79-2416C3D6AD44}"/>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DDE940C9-D3BA-4589-BEFD-26A33E9ADE85}"/>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8" name="曲線コネクタ 7">
            <a:extLst>
              <a:ext uri="{FF2B5EF4-FFF2-40B4-BE49-F238E27FC236}">
                <a16:creationId xmlns:a16="http://schemas.microsoft.com/office/drawing/2014/main" id="{3F588EFD-3CFD-D1A3-6681-F45D347D796B}"/>
              </a:ext>
            </a:extLst>
          </p:cNvPr>
          <p:cNvCxnSpPr>
            <a:cxnSpLocks/>
          </p:cNvCxnSpPr>
          <p:nvPr/>
        </p:nvCxnSpPr>
        <p:spPr>
          <a:xfrm rot="16200000" flipH="1">
            <a:off x="2116605" y="3212355"/>
            <a:ext cx="1322421" cy="1307353"/>
          </a:xfrm>
          <a:prstGeom prst="curvedConnector2">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9B408396-9980-6E44-6C22-B5692B7187E1}"/>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chemeClr val="accent2"/>
                </a:solidFill>
              </a:rPr>
              <a:t>データ転送命令</a:t>
            </a:r>
          </a:p>
        </p:txBody>
      </p:sp>
      <p:cxnSp>
        <p:nvCxnSpPr>
          <p:cNvPr id="12" name="直線矢印コネクタ 11">
            <a:extLst>
              <a:ext uri="{FF2B5EF4-FFF2-40B4-BE49-F238E27FC236}">
                <a16:creationId xmlns:a16="http://schemas.microsoft.com/office/drawing/2014/main" id="{E6C237A3-0DF0-8B37-1B30-5D2BEDE72298}"/>
              </a:ext>
            </a:extLst>
          </p:cNvPr>
          <p:cNvCxnSpPr>
            <a:cxnSpLocks/>
          </p:cNvCxnSpPr>
          <p:nvPr/>
        </p:nvCxnSpPr>
        <p:spPr>
          <a:xfrm flipH="1" flipV="1">
            <a:off x="4427930"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2886BE8D-A05B-44DF-9433-BC8FF4B3D5A8}"/>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sp>
        <p:nvSpPr>
          <p:cNvPr id="15" name="テキスト ボックス 14">
            <a:extLst>
              <a:ext uri="{FF2B5EF4-FFF2-40B4-BE49-F238E27FC236}">
                <a16:creationId xmlns:a16="http://schemas.microsoft.com/office/drawing/2014/main" id="{869D9E8B-C8DE-8D81-ACAE-7D7A0D5272C7}"/>
              </a:ext>
            </a:extLst>
          </p:cNvPr>
          <p:cNvSpPr txBox="1"/>
          <p:nvPr/>
        </p:nvSpPr>
        <p:spPr>
          <a:xfrm>
            <a:off x="3959165" y="3594772"/>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pic>
        <p:nvPicPr>
          <p:cNvPr id="17" name="グラフィックス 16" descr="キーボード 単色塗りつぶし">
            <a:extLst>
              <a:ext uri="{FF2B5EF4-FFF2-40B4-BE49-F238E27FC236}">
                <a16:creationId xmlns:a16="http://schemas.microsoft.com/office/drawing/2014/main" id="{3F65D793-7DAE-72C3-E17E-ABDA597CEC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14465709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F37DF-4713-8542-4ABD-C2D3F9BBDC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DDA3D7-76F7-29D5-4E1B-A5F7B894FC36}"/>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E95063EE-C978-9590-26E7-A7C629E742C7}"/>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t>③</a:t>
            </a:r>
            <a:r>
              <a:rPr kumimoji="1" lang="ja-GB" altLang="en-US" sz="2000" dirty="0"/>
              <a:t>演算実行：演算命令，データ転送命令</a:t>
            </a:r>
            <a:endParaRPr kumimoji="1" lang="en-US" altLang="ja-GB" sz="2000" dirty="0"/>
          </a:p>
          <a:p>
            <a:pPr marL="0" indent="0">
              <a:buNone/>
            </a:pPr>
            <a:r>
              <a:rPr lang="en-US" altLang="ja-GB" sz="2000" dirty="0">
                <a:solidFill>
                  <a:schemeClr val="bg1">
                    <a:lumMod val="75000"/>
                  </a:schemeClr>
                </a:solidFill>
              </a:rPr>
              <a:t>④</a:t>
            </a:r>
            <a:r>
              <a:rPr lang="ja-GB" altLang="en-US" sz="2000" dirty="0">
                <a:solidFill>
                  <a:schemeClr val="bg1">
                    <a:lumMod val="75000"/>
                  </a:schemeClr>
                </a:solidFill>
              </a:rPr>
              <a:t>結果出力：データ転送命令，出力命令</a:t>
            </a:r>
            <a:endParaRPr kumimoji="1" lang="ja-GB" altLang="en-US" sz="2000" dirty="0">
              <a:solidFill>
                <a:schemeClr val="bg1">
                  <a:lumMod val="75000"/>
                </a:schemeClr>
              </a:solidFill>
            </a:endParaRPr>
          </a:p>
        </p:txBody>
      </p:sp>
      <p:sp>
        <p:nvSpPr>
          <p:cNvPr id="18" name="角丸四角形 17">
            <a:extLst>
              <a:ext uri="{FF2B5EF4-FFF2-40B4-BE49-F238E27FC236}">
                <a16:creationId xmlns:a16="http://schemas.microsoft.com/office/drawing/2014/main" id="{4AE1D3A1-8730-BB9C-07FB-9417816DB50D}"/>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2B59ACA7-B359-8660-B1EB-CE64ABFEB671}"/>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3AD78576-EC1C-17B1-7864-6C7DDDE851C4}"/>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AC7F41A9-AECD-4A74-00EE-13F7627CA900}"/>
              </a:ext>
            </a:extLst>
          </p:cNvPr>
          <p:cNvSpPr txBox="1"/>
          <p:nvPr/>
        </p:nvSpPr>
        <p:spPr>
          <a:xfrm>
            <a:off x="3996482"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B20526EB-9CF0-7E27-7517-C5EA722065B6}"/>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8A601D5B-D5C0-9F31-F3C7-1A41FB730B20}"/>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FE8DBFBA-82A8-2926-1A26-1498E06FCB31}"/>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CC2A6E41-9CD9-F1A9-E20F-383AB36712A7}"/>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5A7983CC-056F-0530-C519-47738E11A2A0}"/>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B2B60318-0C9B-ED03-F788-A634E7DEB1E1}"/>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A3B1C517-CB6E-81FF-D90C-3DD26258A0ED}"/>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C4085C7B-B8A6-7440-8272-7582261222D1}"/>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27B37451-EC12-20CC-298E-976A0D003308}"/>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8" name="曲線コネクタ 7">
            <a:extLst>
              <a:ext uri="{FF2B5EF4-FFF2-40B4-BE49-F238E27FC236}">
                <a16:creationId xmlns:a16="http://schemas.microsoft.com/office/drawing/2014/main" id="{E04EA539-5E15-A7F0-ABA1-7D59ABE26D92}"/>
              </a:ext>
            </a:extLst>
          </p:cNvPr>
          <p:cNvCxnSpPr>
            <a:cxnSpLocks/>
          </p:cNvCxnSpPr>
          <p:nvPr/>
        </p:nvCxnSpPr>
        <p:spPr>
          <a:xfrm rot="16200000" flipH="1">
            <a:off x="2116605" y="3212355"/>
            <a:ext cx="1322421" cy="1307353"/>
          </a:xfrm>
          <a:prstGeom prst="curvedConnector2">
            <a:avLst/>
          </a:prstGeom>
          <a:ln w="50800" cap="flat">
            <a:solidFill>
              <a:srgbClr val="2F25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0BAB3A3-1157-D298-9F2A-D32F4DDADAEB}"/>
              </a:ext>
            </a:extLst>
          </p:cNvPr>
          <p:cNvCxnSpPr>
            <a:cxnSpLocks/>
          </p:cNvCxnSpPr>
          <p:nvPr/>
        </p:nvCxnSpPr>
        <p:spPr>
          <a:xfrm flipH="1" flipV="1">
            <a:off x="4427930" y="3204822"/>
            <a:ext cx="12091" cy="1137755"/>
          </a:xfrm>
          <a:prstGeom prst="straightConnector1">
            <a:avLst/>
          </a:prstGeom>
          <a:ln w="508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D13D4D-CB38-262D-E535-4EA7EC2EA31E}"/>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rgbClr val="2F2523"/>
                </a:solidFill>
              </a:rPr>
              <a:t>データ転送命令</a:t>
            </a:r>
          </a:p>
        </p:txBody>
      </p:sp>
      <p:cxnSp>
        <p:nvCxnSpPr>
          <p:cNvPr id="4" name="曲線コネクタ 3">
            <a:extLst>
              <a:ext uri="{FF2B5EF4-FFF2-40B4-BE49-F238E27FC236}">
                <a16:creationId xmlns:a16="http://schemas.microsoft.com/office/drawing/2014/main" id="{4478F9B8-807C-AEA1-C338-F3936A86FEC5}"/>
              </a:ext>
            </a:extLst>
          </p:cNvPr>
          <p:cNvCxnSpPr>
            <a:cxnSpLocks/>
            <a:stCxn id="22" idx="3"/>
            <a:endCxn id="23" idx="1"/>
          </p:cNvCxnSpPr>
          <p:nvPr/>
        </p:nvCxnSpPr>
        <p:spPr>
          <a:xfrm>
            <a:off x="2678137" y="3020156"/>
            <a:ext cx="1318345" cy="12700"/>
          </a:xfrm>
          <a:prstGeom prst="curvedConnector3">
            <a:avLst>
              <a:gd name="adj1" fmla="val 50000"/>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A30D4000-F240-5866-A187-4E465135FE6F}"/>
              </a:ext>
            </a:extLst>
          </p:cNvPr>
          <p:cNvSpPr txBox="1"/>
          <p:nvPr/>
        </p:nvSpPr>
        <p:spPr>
          <a:xfrm>
            <a:off x="2618469" y="3071583"/>
            <a:ext cx="1441420" cy="523220"/>
          </a:xfrm>
          <a:prstGeom prst="rect">
            <a:avLst/>
          </a:prstGeom>
          <a:noFill/>
        </p:spPr>
        <p:txBody>
          <a:bodyPr wrap="none" rtlCol="0">
            <a:spAutoFit/>
          </a:bodyPr>
          <a:lstStyle/>
          <a:p>
            <a:pPr algn="ctr"/>
            <a:r>
              <a:rPr kumimoji="1" lang="ja-GB" altLang="en-US" sz="1400" b="1" dirty="0">
                <a:solidFill>
                  <a:schemeClr val="accent2"/>
                </a:solidFill>
              </a:rPr>
              <a:t>演算命令</a:t>
            </a:r>
            <a:endParaRPr kumimoji="1" lang="en-US" altLang="ja-GB" sz="1400" b="1" dirty="0">
              <a:solidFill>
                <a:schemeClr val="accent2"/>
              </a:solidFill>
            </a:endParaRPr>
          </a:p>
          <a:p>
            <a:pPr algn="ctr"/>
            <a:r>
              <a:rPr kumimoji="1" lang="ja-GB" altLang="en-US" sz="1400" b="1" dirty="0">
                <a:solidFill>
                  <a:schemeClr val="accent2"/>
                </a:solidFill>
              </a:rPr>
              <a:t>データ転送命令</a:t>
            </a:r>
          </a:p>
        </p:txBody>
      </p:sp>
      <p:cxnSp>
        <p:nvCxnSpPr>
          <p:cNvPr id="12" name="直線矢印コネクタ 11">
            <a:extLst>
              <a:ext uri="{FF2B5EF4-FFF2-40B4-BE49-F238E27FC236}">
                <a16:creationId xmlns:a16="http://schemas.microsoft.com/office/drawing/2014/main" id="{2BA61717-06DC-D76B-6AE8-5CBAB66B0D97}"/>
              </a:ext>
            </a:extLst>
          </p:cNvPr>
          <p:cNvCxnSpPr>
            <a:cxnSpLocks/>
          </p:cNvCxnSpPr>
          <p:nvPr/>
        </p:nvCxnSpPr>
        <p:spPr>
          <a:xfrm>
            <a:off x="4597615"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17DB2EF9-90B5-2B2D-F1A0-0356972B627A}"/>
              </a:ext>
            </a:extLst>
          </p:cNvPr>
          <p:cNvSpPr txBox="1"/>
          <p:nvPr/>
        </p:nvSpPr>
        <p:spPr>
          <a:xfrm>
            <a:off x="4607938" y="3715869"/>
            <a:ext cx="814647" cy="307777"/>
          </a:xfrm>
          <a:prstGeom prst="rect">
            <a:avLst/>
          </a:prstGeom>
          <a:noFill/>
        </p:spPr>
        <p:txBody>
          <a:bodyPr wrap="none" rtlCol="0">
            <a:spAutoFit/>
          </a:bodyPr>
          <a:lstStyle/>
          <a:p>
            <a:r>
              <a:rPr kumimoji="1" lang="ja-GB" altLang="en-US" sz="1400" b="1" dirty="0">
                <a:solidFill>
                  <a:srgbClr val="0070C0"/>
                </a:solidFill>
              </a:rPr>
              <a:t>結果：</a:t>
            </a:r>
            <a:r>
              <a:rPr kumimoji="1" lang="en-US" altLang="ja-GB" sz="1400" b="1" dirty="0">
                <a:solidFill>
                  <a:srgbClr val="0070C0"/>
                </a:solidFill>
              </a:rPr>
              <a:t>5</a:t>
            </a:r>
            <a:endParaRPr kumimoji="1" lang="ja-GB" altLang="en-US" sz="1400" b="1" dirty="0">
              <a:solidFill>
                <a:srgbClr val="0070C0"/>
              </a:solidFill>
            </a:endParaRPr>
          </a:p>
        </p:txBody>
      </p:sp>
      <p:sp>
        <p:nvSpPr>
          <p:cNvPr id="17" name="テキスト ボックス 16">
            <a:extLst>
              <a:ext uri="{FF2B5EF4-FFF2-40B4-BE49-F238E27FC236}">
                <a16:creationId xmlns:a16="http://schemas.microsoft.com/office/drawing/2014/main" id="{BE337D8A-9CB4-5DFC-D532-95A00EAD9579}"/>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sp>
        <p:nvSpPr>
          <p:cNvPr id="20" name="テキスト ボックス 19">
            <a:extLst>
              <a:ext uri="{FF2B5EF4-FFF2-40B4-BE49-F238E27FC236}">
                <a16:creationId xmlns:a16="http://schemas.microsoft.com/office/drawing/2014/main" id="{A3FC62E7-9116-FA65-36B8-820B22E3417A}"/>
              </a:ext>
            </a:extLst>
          </p:cNvPr>
          <p:cNvSpPr txBox="1"/>
          <p:nvPr/>
        </p:nvSpPr>
        <p:spPr>
          <a:xfrm>
            <a:off x="5160146" y="276489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sp>
        <p:nvSpPr>
          <p:cNvPr id="21" name="テキスト ボックス 20">
            <a:extLst>
              <a:ext uri="{FF2B5EF4-FFF2-40B4-BE49-F238E27FC236}">
                <a16:creationId xmlns:a16="http://schemas.microsoft.com/office/drawing/2014/main" id="{42953D47-2805-A58C-1991-FB77F9D12C45}"/>
              </a:ext>
            </a:extLst>
          </p:cNvPr>
          <p:cNvSpPr txBox="1"/>
          <p:nvPr/>
        </p:nvSpPr>
        <p:spPr>
          <a:xfrm>
            <a:off x="5690624" y="2878967"/>
            <a:ext cx="665567" cy="307777"/>
          </a:xfrm>
          <a:prstGeom prst="rect">
            <a:avLst/>
          </a:prstGeom>
          <a:noFill/>
        </p:spPr>
        <p:txBody>
          <a:bodyPr wrap="none" rtlCol="0">
            <a:spAutoFit/>
          </a:bodyPr>
          <a:lstStyle/>
          <a:p>
            <a:r>
              <a:rPr kumimoji="1" lang="en-US" altLang="ja-GB" sz="1400" b="1" dirty="0">
                <a:solidFill>
                  <a:srgbClr val="0070C0"/>
                </a:solidFill>
              </a:rPr>
              <a:t>A+B=5</a:t>
            </a:r>
            <a:endParaRPr kumimoji="1" lang="ja-GB" altLang="en-US" sz="1400" b="1" dirty="0">
              <a:solidFill>
                <a:srgbClr val="0070C0"/>
              </a:solidFill>
            </a:endParaRPr>
          </a:p>
        </p:txBody>
      </p:sp>
      <p:pic>
        <p:nvPicPr>
          <p:cNvPr id="34" name="グラフィックス 33" descr="キーボード 単色塗りつぶし">
            <a:extLst>
              <a:ext uri="{FF2B5EF4-FFF2-40B4-BE49-F238E27FC236}">
                <a16:creationId xmlns:a16="http://schemas.microsoft.com/office/drawing/2014/main" id="{0050B08D-4157-9CEA-C196-64FE8A09DA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9498" y="5662588"/>
            <a:ext cx="914400" cy="914400"/>
          </a:xfrm>
          <a:prstGeom prst="rect">
            <a:avLst/>
          </a:prstGeom>
        </p:spPr>
      </p:pic>
      <p:sp>
        <p:nvSpPr>
          <p:cNvPr id="35" name="テキスト ボックス 34">
            <a:extLst>
              <a:ext uri="{FF2B5EF4-FFF2-40B4-BE49-F238E27FC236}">
                <a16:creationId xmlns:a16="http://schemas.microsoft.com/office/drawing/2014/main" id="{4B8E6E6D-BF5B-78DD-9109-22C3C2DE6200}"/>
              </a:ext>
            </a:extLst>
          </p:cNvPr>
          <p:cNvSpPr txBox="1"/>
          <p:nvPr/>
        </p:nvSpPr>
        <p:spPr>
          <a:xfrm>
            <a:off x="3959165" y="3594772"/>
            <a:ext cx="474810" cy="523220"/>
          </a:xfrm>
          <a:prstGeom prst="rect">
            <a:avLst/>
          </a:prstGeom>
          <a:noFill/>
        </p:spPr>
        <p:txBody>
          <a:bodyPr wrap="none" rtlCol="0">
            <a:spAutoFit/>
          </a:bodyPr>
          <a:lstStyle/>
          <a:p>
            <a:r>
              <a:rPr kumimoji="1" lang="en-US" altLang="ja-GB" sz="1400" b="1" dirty="0">
                <a:solidFill>
                  <a:srgbClr val="2F2523"/>
                </a:solidFill>
              </a:rPr>
              <a:t>A=2</a:t>
            </a:r>
          </a:p>
          <a:p>
            <a:r>
              <a:rPr kumimoji="1" lang="en-US" altLang="ja-GB" sz="1400" b="1" dirty="0">
                <a:solidFill>
                  <a:srgbClr val="2F2523"/>
                </a:solidFill>
              </a:rPr>
              <a:t>B=3</a:t>
            </a:r>
            <a:endParaRPr kumimoji="1" lang="ja-GB" altLang="en-US" sz="1400" b="1" dirty="0">
              <a:solidFill>
                <a:srgbClr val="2F2523"/>
              </a:solidFill>
            </a:endParaRPr>
          </a:p>
        </p:txBody>
      </p:sp>
    </p:spTree>
    <p:extLst>
      <p:ext uri="{BB962C8B-B14F-4D97-AF65-F5344CB8AC3E}">
        <p14:creationId xmlns:p14="http://schemas.microsoft.com/office/powerpoint/2010/main" val="6454859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50A41-FD70-4D9F-9A0C-31366C5DA5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91BCBA-8696-7D3C-6A20-95B0AC6716B6}"/>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47A57CA7-9A32-FB3D-68A3-D3259FB74343}"/>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t>④</a:t>
            </a:r>
            <a:r>
              <a:rPr lang="ja-GB" altLang="en-US" sz="2000" dirty="0"/>
              <a:t>結果出力：データ転送命令，出力命令</a:t>
            </a:r>
            <a:endParaRPr kumimoji="1" lang="ja-GB" altLang="en-US" sz="2000" dirty="0"/>
          </a:p>
        </p:txBody>
      </p:sp>
      <p:sp>
        <p:nvSpPr>
          <p:cNvPr id="18" name="角丸四角形 17">
            <a:extLst>
              <a:ext uri="{FF2B5EF4-FFF2-40B4-BE49-F238E27FC236}">
                <a16:creationId xmlns:a16="http://schemas.microsoft.com/office/drawing/2014/main" id="{1FB98757-79B7-5270-2526-6693F6665751}"/>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FED8D833-388E-1A42-69DC-D8EA2667E997}"/>
              </a:ext>
            </a:extLst>
          </p:cNvPr>
          <p:cNvSpPr txBox="1"/>
          <p:nvPr/>
        </p:nvSpPr>
        <p:spPr>
          <a:xfrm>
            <a:off x="6422824"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5060959B-DAF4-836B-2431-ABD9F7349D3B}"/>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7654DE2E-FF86-93D9-6E98-599172E49478}"/>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89676766-5AD5-3135-B142-46FE4CB4547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A78E0D86-EB4F-C8D4-2C18-C1B5670EC969}"/>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CC84CBC3-A5F9-5E41-51C1-0A9307817E2D}"/>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82BD0694-C191-2842-B699-97AA98DB79E7}"/>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0E7DD708-2887-A13D-DA94-DF5239A80BD5}"/>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85905D0C-B382-8E45-ABA8-98585835B60E}"/>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6F415770-F44F-C8BE-D08B-145A1EC35910}"/>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8C25EE33-A0A6-EB00-0D09-299D394F4EE3}"/>
              </a:ext>
            </a:extLst>
          </p:cNvPr>
          <p:cNvSpPr txBox="1"/>
          <p:nvPr/>
        </p:nvSpPr>
        <p:spPr>
          <a:xfrm>
            <a:off x="3431492" y="4342577"/>
            <a:ext cx="2262158"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83518B68-9663-A49B-028B-F7C3229F415B}"/>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 name="曲線コネクタ 3">
            <a:extLst>
              <a:ext uri="{FF2B5EF4-FFF2-40B4-BE49-F238E27FC236}">
                <a16:creationId xmlns:a16="http://schemas.microsoft.com/office/drawing/2014/main" id="{B6965285-8B1F-5F1A-7509-E7D0006C49FD}"/>
              </a:ext>
            </a:extLst>
          </p:cNvPr>
          <p:cNvCxnSpPr>
            <a:cxnSpLocks/>
          </p:cNvCxnSpPr>
          <p:nvPr/>
        </p:nvCxnSpPr>
        <p:spPr>
          <a:xfrm rot="16200000" flipH="1">
            <a:off x="2116605" y="3212355"/>
            <a:ext cx="1322421" cy="1307353"/>
          </a:xfrm>
          <a:prstGeom prst="curvedConnector2">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EA60A881-0065-AAB6-3EEA-29E42AE36990}"/>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chemeClr val="accent2"/>
                </a:solidFill>
              </a:rPr>
              <a:t>データ転送命令</a:t>
            </a:r>
          </a:p>
        </p:txBody>
      </p:sp>
      <p:cxnSp>
        <p:nvCxnSpPr>
          <p:cNvPr id="6" name="直線矢印コネクタ 5">
            <a:extLst>
              <a:ext uri="{FF2B5EF4-FFF2-40B4-BE49-F238E27FC236}">
                <a16:creationId xmlns:a16="http://schemas.microsoft.com/office/drawing/2014/main" id="{3F6A92A6-1D1E-4A47-1E5A-91CFC600A467}"/>
              </a:ext>
            </a:extLst>
          </p:cNvPr>
          <p:cNvCxnSpPr>
            <a:cxnSpLocks/>
            <a:stCxn id="31" idx="3"/>
            <a:endCxn id="19" idx="1"/>
          </p:cNvCxnSpPr>
          <p:nvPr/>
        </p:nvCxnSpPr>
        <p:spPr>
          <a:xfrm>
            <a:off x="5693650" y="4527243"/>
            <a:ext cx="729174"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8709ADD-6FFC-6915-1DB7-75C8E5207678}"/>
              </a:ext>
            </a:extLst>
          </p:cNvPr>
          <p:cNvSpPr txBox="1"/>
          <p:nvPr/>
        </p:nvSpPr>
        <p:spPr>
          <a:xfrm>
            <a:off x="6007021" y="4615856"/>
            <a:ext cx="276038" cy="307777"/>
          </a:xfrm>
          <a:prstGeom prst="rect">
            <a:avLst/>
          </a:prstGeom>
          <a:noFill/>
        </p:spPr>
        <p:txBody>
          <a:bodyPr wrap="none" rtlCol="0">
            <a:spAutoFit/>
          </a:bodyPr>
          <a:lstStyle/>
          <a:p>
            <a:r>
              <a:rPr kumimoji="1" lang="en-US" altLang="ja-GB" sz="1400" b="1" dirty="0">
                <a:solidFill>
                  <a:srgbClr val="0070C0"/>
                </a:solidFill>
              </a:rPr>
              <a:t>5</a:t>
            </a:r>
            <a:endParaRPr kumimoji="1" lang="ja-GB" altLang="en-US" sz="1400" b="1" dirty="0">
              <a:solidFill>
                <a:srgbClr val="0070C0"/>
              </a:solidFill>
            </a:endParaRPr>
          </a:p>
        </p:txBody>
      </p:sp>
      <p:sp>
        <p:nvSpPr>
          <p:cNvPr id="10" name="テキスト ボックス 9">
            <a:extLst>
              <a:ext uri="{FF2B5EF4-FFF2-40B4-BE49-F238E27FC236}">
                <a16:creationId xmlns:a16="http://schemas.microsoft.com/office/drawing/2014/main" id="{80E225D1-44F2-F318-FEE8-A56E50C2A7CC}"/>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13" name="グラフィックス 12" descr="キーボード 単色塗りつぶし">
            <a:extLst>
              <a:ext uri="{FF2B5EF4-FFF2-40B4-BE49-F238E27FC236}">
                <a16:creationId xmlns:a16="http://schemas.microsoft.com/office/drawing/2014/main" id="{86C88C28-BDEF-C105-0DB4-AD3AB405CB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9498" y="5662588"/>
            <a:ext cx="914400" cy="914400"/>
          </a:xfrm>
          <a:prstGeom prst="rect">
            <a:avLst/>
          </a:prstGeom>
        </p:spPr>
      </p:pic>
    </p:spTree>
    <p:extLst>
      <p:ext uri="{BB962C8B-B14F-4D97-AF65-F5344CB8AC3E}">
        <p14:creationId xmlns:p14="http://schemas.microsoft.com/office/powerpoint/2010/main" val="42310906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4DACF-AF73-FDAA-ED7B-DB459B1FFA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B09C55-0B57-A86C-7DC2-2EA9BBF7AD41}"/>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F1AA2A71-F12D-0AB5-FCFD-EE255F4B5680}"/>
              </a:ext>
            </a:extLst>
          </p:cNvPr>
          <p:cNvSpPr>
            <a:spLocks noGrp="1"/>
          </p:cNvSpPr>
          <p:nvPr>
            <p:ph idx="1"/>
          </p:nvPr>
        </p:nvSpPr>
        <p:spPr/>
        <p:txBody>
          <a:bodyPr>
            <a:normAutofit/>
          </a:bodyPr>
          <a:lstStyle/>
          <a:p>
            <a:pPr marL="0" indent="0">
              <a:buNone/>
            </a:pPr>
            <a:r>
              <a:rPr kumimoji="1" lang="en-US" altLang="ja-GB" sz="2000" dirty="0">
                <a:solidFill>
                  <a:schemeClr val="bg1">
                    <a:lumMod val="75000"/>
                  </a:schemeClr>
                </a:solidFill>
              </a:rPr>
              <a:t>①</a:t>
            </a:r>
            <a:r>
              <a:rPr kumimoji="1" lang="ja-GB" altLang="en-US" sz="2000" dirty="0">
                <a:solidFill>
                  <a:schemeClr val="bg1">
                    <a:lumMod val="75000"/>
                  </a:schemeClr>
                </a:solidFill>
              </a:rPr>
              <a:t>事前準備：プログラム転送命令</a:t>
            </a:r>
            <a:endParaRPr kumimoji="1" lang="en-US" altLang="ja-GB" sz="2000" dirty="0">
              <a:solidFill>
                <a:schemeClr val="bg1">
                  <a:lumMod val="75000"/>
                </a:schemeClr>
              </a:solidFill>
            </a:endParaRPr>
          </a:p>
          <a:p>
            <a:pPr marL="0" indent="0">
              <a:buNone/>
            </a:pPr>
            <a:r>
              <a:rPr lang="en-US" altLang="ja-GB" sz="2000" dirty="0">
                <a:solidFill>
                  <a:schemeClr val="bg1">
                    <a:lumMod val="75000"/>
                  </a:schemeClr>
                </a:solidFill>
              </a:rPr>
              <a:t>②</a:t>
            </a:r>
            <a:r>
              <a:rPr lang="ja-GB" altLang="en-US" sz="2000" dirty="0">
                <a:solidFill>
                  <a:schemeClr val="bg1">
                    <a:lumMod val="75000"/>
                  </a:schemeClr>
                </a:solidFill>
              </a:rPr>
              <a:t>入力受付：入力命令，データ転送命令</a:t>
            </a:r>
            <a:endParaRPr lang="en-US" altLang="ja-GB" sz="2000" dirty="0">
              <a:solidFill>
                <a:schemeClr val="bg1">
                  <a:lumMod val="75000"/>
                </a:schemeClr>
              </a:solidFill>
            </a:endParaRPr>
          </a:p>
          <a:p>
            <a:pPr marL="0" indent="0">
              <a:buNone/>
            </a:pPr>
            <a:r>
              <a:rPr kumimoji="1" lang="en-US" altLang="ja-GB" sz="2000" dirty="0">
                <a:solidFill>
                  <a:schemeClr val="bg1">
                    <a:lumMod val="75000"/>
                  </a:schemeClr>
                </a:solidFill>
              </a:rPr>
              <a:t>③</a:t>
            </a:r>
            <a:r>
              <a:rPr kumimoji="1" lang="ja-GB" altLang="en-US" sz="2000" dirty="0">
                <a:solidFill>
                  <a:schemeClr val="bg1">
                    <a:lumMod val="75000"/>
                  </a:schemeClr>
                </a:solidFill>
              </a:rPr>
              <a:t>演算実行：演算命令，データ転送命令</a:t>
            </a:r>
            <a:endParaRPr kumimoji="1" lang="en-US" altLang="ja-GB" sz="2000" dirty="0">
              <a:solidFill>
                <a:schemeClr val="bg1">
                  <a:lumMod val="75000"/>
                </a:schemeClr>
              </a:solidFill>
            </a:endParaRPr>
          </a:p>
          <a:p>
            <a:pPr marL="0" indent="0">
              <a:buNone/>
            </a:pPr>
            <a:r>
              <a:rPr lang="en-US" altLang="ja-GB" sz="2000" dirty="0"/>
              <a:t>④</a:t>
            </a:r>
            <a:r>
              <a:rPr lang="ja-GB" altLang="en-US" sz="2000" dirty="0"/>
              <a:t>結果出力：データ転送命令，出力命令</a:t>
            </a:r>
            <a:endParaRPr kumimoji="1" lang="ja-GB" altLang="en-US" sz="2000" dirty="0"/>
          </a:p>
        </p:txBody>
      </p:sp>
      <p:sp>
        <p:nvSpPr>
          <p:cNvPr id="7" name="角丸四角形 6">
            <a:extLst>
              <a:ext uri="{FF2B5EF4-FFF2-40B4-BE49-F238E27FC236}">
                <a16:creationId xmlns:a16="http://schemas.microsoft.com/office/drawing/2014/main" id="{AA6D5DD7-68BD-4FFF-B07C-F4F5E9A4ED29}"/>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テキスト ボックス 7">
            <a:extLst>
              <a:ext uri="{FF2B5EF4-FFF2-40B4-BE49-F238E27FC236}">
                <a16:creationId xmlns:a16="http://schemas.microsoft.com/office/drawing/2014/main" id="{1EB2B485-3BAC-3035-678C-25932692905D}"/>
              </a:ext>
            </a:extLst>
          </p:cNvPr>
          <p:cNvSpPr txBox="1"/>
          <p:nvPr/>
        </p:nvSpPr>
        <p:spPr>
          <a:xfrm>
            <a:off x="6422824" y="5012246"/>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12" name="テキスト ボックス 11">
            <a:extLst>
              <a:ext uri="{FF2B5EF4-FFF2-40B4-BE49-F238E27FC236}">
                <a16:creationId xmlns:a16="http://schemas.microsoft.com/office/drawing/2014/main" id="{51CD8E07-5515-1D67-86F1-CBCEE2EB5EA2}"/>
              </a:ext>
            </a:extLst>
          </p:cNvPr>
          <p:cNvSpPr txBox="1"/>
          <p:nvPr/>
        </p:nvSpPr>
        <p:spPr>
          <a:xfrm>
            <a:off x="1570141" y="2835490"/>
            <a:ext cx="1107996" cy="369332"/>
          </a:xfrm>
          <a:prstGeom prst="rect">
            <a:avLst/>
          </a:prstGeom>
          <a:solidFill>
            <a:schemeClr val="accent2">
              <a:lumMod val="20000"/>
              <a:lumOff val="80000"/>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14" name="テキスト ボックス 13">
            <a:extLst>
              <a:ext uri="{FF2B5EF4-FFF2-40B4-BE49-F238E27FC236}">
                <a16:creationId xmlns:a16="http://schemas.microsoft.com/office/drawing/2014/main" id="{FC838A2C-25BF-D3F7-B950-C7A2FBC94F52}"/>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5" name="テキスト ボックス 14">
            <a:extLst>
              <a:ext uri="{FF2B5EF4-FFF2-40B4-BE49-F238E27FC236}">
                <a16:creationId xmlns:a16="http://schemas.microsoft.com/office/drawing/2014/main" id="{DEE85614-D592-BBCF-60FC-D33BF25845D3}"/>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6" name="テキスト ボックス 15">
            <a:extLst>
              <a:ext uri="{FF2B5EF4-FFF2-40B4-BE49-F238E27FC236}">
                <a16:creationId xmlns:a16="http://schemas.microsoft.com/office/drawing/2014/main" id="{CE62E793-1D7D-20E7-218F-7C8053FCA10C}"/>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7" name="曲線コネクタ 16">
            <a:extLst>
              <a:ext uri="{FF2B5EF4-FFF2-40B4-BE49-F238E27FC236}">
                <a16:creationId xmlns:a16="http://schemas.microsoft.com/office/drawing/2014/main" id="{41287735-8236-12B5-1FEC-B9DCD4FC6163}"/>
              </a:ext>
            </a:extLst>
          </p:cNvPr>
          <p:cNvCxnSpPr>
            <a:cxnSpLocks/>
            <a:stCxn id="12" idx="2"/>
            <a:endCxn id="8"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0" name="曲線コネクタ 19">
            <a:extLst>
              <a:ext uri="{FF2B5EF4-FFF2-40B4-BE49-F238E27FC236}">
                <a16:creationId xmlns:a16="http://schemas.microsoft.com/office/drawing/2014/main" id="{46954A24-6B74-2DAE-A5EB-70E5F610554F}"/>
              </a:ext>
            </a:extLst>
          </p:cNvPr>
          <p:cNvCxnSpPr>
            <a:cxnSpLocks/>
            <a:stCxn id="12" idx="2"/>
            <a:endCxn id="35"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19DD9E0-A222-7CBE-A6F3-94112E4E0D18}"/>
              </a:ext>
            </a:extLst>
          </p:cNvPr>
          <p:cNvCxnSpPr>
            <a:cxnSpLocks/>
            <a:endCxn id="15"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673F9685-E815-2A62-4219-5675B6BBA940}"/>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F774777-DC50-192D-9B1F-E47D5F97BE19}"/>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5" name="テキスト ボックス 34">
            <a:extLst>
              <a:ext uri="{FF2B5EF4-FFF2-40B4-BE49-F238E27FC236}">
                <a16:creationId xmlns:a16="http://schemas.microsoft.com/office/drawing/2014/main" id="{15CF2CF6-A7AE-DAE8-4DD8-A9C683FD4868}"/>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6" name="曲線コネクタ 35">
            <a:extLst>
              <a:ext uri="{FF2B5EF4-FFF2-40B4-BE49-F238E27FC236}">
                <a16:creationId xmlns:a16="http://schemas.microsoft.com/office/drawing/2014/main" id="{1D5BCE48-BE29-E85D-6B1F-38124519AAF9}"/>
              </a:ext>
            </a:extLst>
          </p:cNvPr>
          <p:cNvCxnSpPr>
            <a:cxnSpLocks/>
            <a:stCxn id="12" idx="2"/>
            <a:endCxn id="34"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7" name="曲線コネクタ 36">
            <a:extLst>
              <a:ext uri="{FF2B5EF4-FFF2-40B4-BE49-F238E27FC236}">
                <a16:creationId xmlns:a16="http://schemas.microsoft.com/office/drawing/2014/main" id="{462CE488-0331-018B-5183-4F374D7D85F6}"/>
              </a:ext>
            </a:extLst>
          </p:cNvPr>
          <p:cNvCxnSpPr>
            <a:cxnSpLocks/>
          </p:cNvCxnSpPr>
          <p:nvPr/>
        </p:nvCxnSpPr>
        <p:spPr>
          <a:xfrm rot="16200000" flipH="1">
            <a:off x="2116605" y="3212355"/>
            <a:ext cx="1322421" cy="1307353"/>
          </a:xfrm>
          <a:prstGeom prst="curvedConnector2">
            <a:avLst/>
          </a:prstGeom>
          <a:ln w="50800" cap="flat">
            <a:solidFill>
              <a:srgbClr val="2F2523"/>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CCE73E5A-2ECE-B02C-28E5-63DA1C5237A8}"/>
              </a:ext>
            </a:extLst>
          </p:cNvPr>
          <p:cNvSpPr txBox="1"/>
          <p:nvPr/>
        </p:nvSpPr>
        <p:spPr>
          <a:xfrm>
            <a:off x="2456032" y="3857725"/>
            <a:ext cx="1441420" cy="307777"/>
          </a:xfrm>
          <a:prstGeom prst="rect">
            <a:avLst/>
          </a:prstGeom>
          <a:noFill/>
        </p:spPr>
        <p:txBody>
          <a:bodyPr wrap="none" rtlCol="0">
            <a:spAutoFit/>
          </a:bodyPr>
          <a:lstStyle/>
          <a:p>
            <a:r>
              <a:rPr kumimoji="1" lang="ja-GB" altLang="en-US" sz="1400" b="1" dirty="0">
                <a:solidFill>
                  <a:srgbClr val="2F2523"/>
                </a:solidFill>
              </a:rPr>
              <a:t>データ転送命令</a:t>
            </a:r>
          </a:p>
        </p:txBody>
      </p:sp>
      <p:cxnSp>
        <p:nvCxnSpPr>
          <p:cNvPr id="39" name="直線矢印コネクタ 38">
            <a:extLst>
              <a:ext uri="{FF2B5EF4-FFF2-40B4-BE49-F238E27FC236}">
                <a16:creationId xmlns:a16="http://schemas.microsoft.com/office/drawing/2014/main" id="{7FB9732D-2A08-AF0C-9213-B7AD741CFB61}"/>
              </a:ext>
            </a:extLst>
          </p:cNvPr>
          <p:cNvCxnSpPr>
            <a:cxnSpLocks/>
          </p:cNvCxnSpPr>
          <p:nvPr/>
        </p:nvCxnSpPr>
        <p:spPr>
          <a:xfrm>
            <a:off x="5693650" y="4527243"/>
            <a:ext cx="729174" cy="669669"/>
          </a:xfrm>
          <a:prstGeom prst="straightConnector1">
            <a:avLst/>
          </a:prstGeom>
          <a:ln w="508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555085E-9839-1D81-1B07-0493DC2B6C26}"/>
              </a:ext>
            </a:extLst>
          </p:cNvPr>
          <p:cNvSpPr txBox="1"/>
          <p:nvPr/>
        </p:nvSpPr>
        <p:spPr>
          <a:xfrm>
            <a:off x="6007021" y="4615856"/>
            <a:ext cx="276038" cy="307777"/>
          </a:xfrm>
          <a:prstGeom prst="rect">
            <a:avLst/>
          </a:prstGeom>
          <a:noFill/>
        </p:spPr>
        <p:txBody>
          <a:bodyPr wrap="none" rtlCol="0">
            <a:spAutoFit/>
          </a:bodyPr>
          <a:lstStyle/>
          <a:p>
            <a:r>
              <a:rPr kumimoji="1" lang="en-US" altLang="ja-GB" sz="1400" b="1" dirty="0">
                <a:solidFill>
                  <a:srgbClr val="2F2523"/>
                </a:solidFill>
              </a:rPr>
              <a:t>5</a:t>
            </a:r>
            <a:endParaRPr kumimoji="1" lang="ja-GB" altLang="en-US" sz="1400" b="1" dirty="0">
              <a:solidFill>
                <a:srgbClr val="2F2523"/>
              </a:solidFill>
            </a:endParaRPr>
          </a:p>
        </p:txBody>
      </p:sp>
      <p:cxnSp>
        <p:nvCxnSpPr>
          <p:cNvPr id="41" name="曲線コネクタ 40">
            <a:extLst>
              <a:ext uri="{FF2B5EF4-FFF2-40B4-BE49-F238E27FC236}">
                <a16:creationId xmlns:a16="http://schemas.microsoft.com/office/drawing/2014/main" id="{539E6822-B13C-3BA0-5890-1087EC3C2A11}"/>
              </a:ext>
            </a:extLst>
          </p:cNvPr>
          <p:cNvCxnSpPr>
            <a:cxnSpLocks/>
            <a:stCxn id="12" idx="2"/>
            <a:endCxn id="8" idx="0"/>
          </p:cNvCxnSpPr>
          <p:nvPr/>
        </p:nvCxnSpPr>
        <p:spPr>
          <a:xfrm rot="16200000" flipH="1">
            <a:off x="3646768" y="1682192"/>
            <a:ext cx="1807424" cy="4852683"/>
          </a:xfrm>
          <a:prstGeom prst="curvedConnector3">
            <a:avLst>
              <a:gd name="adj1" fmla="val 50000"/>
            </a:avLst>
          </a:prstGeom>
          <a:ln w="50800" cap="flat">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475E68F2-76B8-7BB2-AAAF-4017D8E6B046}"/>
              </a:ext>
            </a:extLst>
          </p:cNvPr>
          <p:cNvSpPr txBox="1"/>
          <p:nvPr/>
        </p:nvSpPr>
        <p:spPr>
          <a:xfrm>
            <a:off x="6107914" y="4109884"/>
            <a:ext cx="902811" cy="307777"/>
          </a:xfrm>
          <a:prstGeom prst="rect">
            <a:avLst/>
          </a:prstGeom>
          <a:noFill/>
        </p:spPr>
        <p:txBody>
          <a:bodyPr wrap="none" rtlCol="0">
            <a:spAutoFit/>
          </a:bodyPr>
          <a:lstStyle/>
          <a:p>
            <a:r>
              <a:rPr kumimoji="1" lang="ja-GB" altLang="en-US" sz="1400" b="1" dirty="0">
                <a:solidFill>
                  <a:schemeClr val="accent2"/>
                </a:solidFill>
              </a:rPr>
              <a:t>出力命令</a:t>
            </a:r>
          </a:p>
        </p:txBody>
      </p:sp>
      <p:sp>
        <p:nvSpPr>
          <p:cNvPr id="43" name="テキスト ボックス 42">
            <a:extLst>
              <a:ext uri="{FF2B5EF4-FFF2-40B4-BE49-F238E27FC236}">
                <a16:creationId xmlns:a16="http://schemas.microsoft.com/office/drawing/2014/main" id="{E30D123F-5682-811A-307A-CF0D41CAFFFB}"/>
              </a:ext>
            </a:extLst>
          </p:cNvPr>
          <p:cNvSpPr txBox="1"/>
          <p:nvPr/>
        </p:nvSpPr>
        <p:spPr>
          <a:xfrm>
            <a:off x="940149" y="2835490"/>
            <a:ext cx="558166" cy="369332"/>
          </a:xfrm>
          <a:prstGeom prst="rect">
            <a:avLst/>
          </a:prstGeom>
          <a:noFill/>
        </p:spPr>
        <p:txBody>
          <a:bodyPr wrap="none" rtlCol="0">
            <a:spAutoFit/>
          </a:bodyPr>
          <a:lstStyle/>
          <a:p>
            <a:r>
              <a:rPr kumimoji="1" lang="en-US" altLang="ja-GB" dirty="0">
                <a:solidFill>
                  <a:srgbClr val="2F2523"/>
                </a:solidFill>
              </a:rPr>
              <a:t>A+B</a:t>
            </a:r>
            <a:endParaRPr kumimoji="1" lang="ja-GB" altLang="en-US" dirty="0">
              <a:solidFill>
                <a:srgbClr val="2F2523"/>
              </a:solidFill>
            </a:endParaRPr>
          </a:p>
        </p:txBody>
      </p:sp>
      <p:pic>
        <p:nvPicPr>
          <p:cNvPr id="45" name="グラフィックス 44" descr="モニター 単色塗りつぶし">
            <a:extLst>
              <a:ext uri="{FF2B5EF4-FFF2-40B4-BE49-F238E27FC236}">
                <a16:creationId xmlns:a16="http://schemas.microsoft.com/office/drawing/2014/main" id="{5A1CBA75-55C3-FF30-E369-0E470D2852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9622" y="5460109"/>
            <a:ext cx="914400" cy="914400"/>
          </a:xfrm>
          <a:prstGeom prst="rect">
            <a:avLst/>
          </a:prstGeom>
        </p:spPr>
      </p:pic>
      <p:sp>
        <p:nvSpPr>
          <p:cNvPr id="46" name="テキスト ボックス 45">
            <a:extLst>
              <a:ext uri="{FF2B5EF4-FFF2-40B4-BE49-F238E27FC236}">
                <a16:creationId xmlns:a16="http://schemas.microsoft.com/office/drawing/2014/main" id="{C52C0AC1-43CA-22B0-8895-C0A380440071}"/>
              </a:ext>
            </a:extLst>
          </p:cNvPr>
          <p:cNvSpPr txBox="1"/>
          <p:nvPr/>
        </p:nvSpPr>
        <p:spPr>
          <a:xfrm>
            <a:off x="6806743" y="5624404"/>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47" name="グラフィックス 46" descr="キーボード 単色塗りつぶし">
            <a:extLst>
              <a:ext uri="{FF2B5EF4-FFF2-40B4-BE49-F238E27FC236}">
                <a16:creationId xmlns:a16="http://schemas.microsoft.com/office/drawing/2014/main" id="{EBDB4388-2D81-076B-0E47-CCFC2DCC58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9498" y="5662588"/>
            <a:ext cx="914400" cy="914400"/>
          </a:xfrm>
          <a:prstGeom prst="rect">
            <a:avLst/>
          </a:prstGeom>
        </p:spPr>
      </p:pic>
      <p:cxnSp>
        <p:nvCxnSpPr>
          <p:cNvPr id="48" name="直線矢印コネクタ 47">
            <a:extLst>
              <a:ext uri="{FF2B5EF4-FFF2-40B4-BE49-F238E27FC236}">
                <a16:creationId xmlns:a16="http://schemas.microsoft.com/office/drawing/2014/main" id="{48A75585-55B8-2E06-A0F6-464DD66156F7}"/>
              </a:ext>
            </a:extLst>
          </p:cNvPr>
          <p:cNvCxnSpPr>
            <a:cxnSpLocks/>
            <a:stCxn id="8" idx="2"/>
            <a:endCxn id="46" idx="0"/>
          </p:cNvCxnSpPr>
          <p:nvPr/>
        </p:nvCxnSpPr>
        <p:spPr>
          <a:xfrm>
            <a:off x="6976822" y="5381578"/>
            <a:ext cx="0" cy="242826"/>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69080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CA5D2-07C2-D1E6-2D36-E97E03EB6E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381EA6-714F-ABE1-305F-BE07F7E7CF15}"/>
              </a:ext>
            </a:extLst>
          </p:cNvPr>
          <p:cNvSpPr>
            <a:spLocks noGrp="1"/>
          </p:cNvSpPr>
          <p:nvPr>
            <p:ph type="title"/>
          </p:nvPr>
        </p:nvSpPr>
        <p:spPr/>
        <p:txBody>
          <a:bodyPr/>
          <a:lstStyle/>
          <a:p>
            <a:r>
              <a:rPr kumimoji="1" lang="ja-GB" altLang="en-US" dirty="0"/>
              <a:t>プログラム実行の流れ（例</a:t>
            </a:r>
            <a:r>
              <a:rPr kumimoji="1" lang="en-US" altLang="ja-GB" dirty="0"/>
              <a:t> A+B</a:t>
            </a:r>
            <a:r>
              <a:rPr kumimoji="1" lang="ja-GB" altLang="en-US" dirty="0"/>
              <a:t>）</a:t>
            </a:r>
          </a:p>
        </p:txBody>
      </p:sp>
      <p:sp>
        <p:nvSpPr>
          <p:cNvPr id="3" name="コンテンツ プレースホルダー 2">
            <a:extLst>
              <a:ext uri="{FF2B5EF4-FFF2-40B4-BE49-F238E27FC236}">
                <a16:creationId xmlns:a16="http://schemas.microsoft.com/office/drawing/2014/main" id="{67ADD58C-EC6D-1F38-43D3-399E0B82D329}"/>
              </a:ext>
            </a:extLst>
          </p:cNvPr>
          <p:cNvSpPr>
            <a:spLocks noGrp="1"/>
          </p:cNvSpPr>
          <p:nvPr>
            <p:ph idx="1"/>
          </p:nvPr>
        </p:nvSpPr>
        <p:spPr/>
        <p:txBody>
          <a:bodyPr>
            <a:normAutofit/>
          </a:bodyPr>
          <a:lstStyle/>
          <a:p>
            <a:pPr marL="0" indent="0">
              <a:buNone/>
            </a:pPr>
            <a:r>
              <a:rPr kumimoji="1" lang="en-US" altLang="ja-GB" sz="2000" dirty="0">
                <a:solidFill>
                  <a:srgbClr val="2F2523"/>
                </a:solidFill>
              </a:rPr>
              <a:t>①</a:t>
            </a:r>
            <a:r>
              <a:rPr kumimoji="1" lang="ja-GB" altLang="en-US" sz="2000" dirty="0">
                <a:solidFill>
                  <a:srgbClr val="2F2523"/>
                </a:solidFill>
              </a:rPr>
              <a:t>事前準備：プログラム転送命令</a:t>
            </a:r>
            <a:endParaRPr kumimoji="1" lang="en-US" altLang="ja-GB" sz="2000" dirty="0">
              <a:solidFill>
                <a:srgbClr val="2F2523"/>
              </a:solidFill>
            </a:endParaRPr>
          </a:p>
          <a:p>
            <a:pPr marL="0" indent="0">
              <a:buNone/>
            </a:pPr>
            <a:r>
              <a:rPr lang="en-US" altLang="ja-GB" sz="2000" dirty="0">
                <a:solidFill>
                  <a:srgbClr val="2F2523"/>
                </a:solidFill>
              </a:rPr>
              <a:t>②</a:t>
            </a:r>
            <a:r>
              <a:rPr lang="ja-GB" altLang="en-US" sz="2000" dirty="0">
                <a:solidFill>
                  <a:srgbClr val="2F2523"/>
                </a:solidFill>
              </a:rPr>
              <a:t>入力受付：入力命令，データ転送命令</a:t>
            </a:r>
            <a:endParaRPr lang="en-US" altLang="ja-GB" sz="2000" dirty="0">
              <a:solidFill>
                <a:srgbClr val="2F2523"/>
              </a:solidFill>
            </a:endParaRPr>
          </a:p>
          <a:p>
            <a:pPr marL="0" indent="0">
              <a:buNone/>
            </a:pPr>
            <a:r>
              <a:rPr kumimoji="1" lang="en-US" altLang="ja-GB" sz="2000" dirty="0">
                <a:solidFill>
                  <a:srgbClr val="2F2523"/>
                </a:solidFill>
              </a:rPr>
              <a:t>③</a:t>
            </a:r>
            <a:r>
              <a:rPr kumimoji="1" lang="ja-GB" altLang="en-US" sz="2000" dirty="0">
                <a:solidFill>
                  <a:srgbClr val="2F2523"/>
                </a:solidFill>
              </a:rPr>
              <a:t>演算実行：演算命令，データ転送命令</a:t>
            </a:r>
            <a:endParaRPr kumimoji="1" lang="en-US" altLang="ja-GB" sz="2000" dirty="0">
              <a:solidFill>
                <a:srgbClr val="2F2523"/>
              </a:solidFill>
            </a:endParaRPr>
          </a:p>
          <a:p>
            <a:pPr marL="0" indent="0">
              <a:buNone/>
            </a:pPr>
            <a:r>
              <a:rPr lang="en-US" altLang="ja-GB" sz="2000" dirty="0">
                <a:solidFill>
                  <a:srgbClr val="2F2523"/>
                </a:solidFill>
              </a:rPr>
              <a:t>④</a:t>
            </a:r>
            <a:r>
              <a:rPr lang="ja-GB" altLang="en-US" sz="2000" dirty="0">
                <a:solidFill>
                  <a:srgbClr val="2F2523"/>
                </a:solidFill>
              </a:rPr>
              <a:t>結果出力：データ転送命令，出力命令</a:t>
            </a:r>
            <a:endParaRPr kumimoji="1" lang="ja-GB" altLang="en-US" sz="2000" dirty="0">
              <a:solidFill>
                <a:srgbClr val="2F2523"/>
              </a:solidFill>
            </a:endParaRPr>
          </a:p>
        </p:txBody>
      </p:sp>
      <p:sp>
        <p:nvSpPr>
          <p:cNvPr id="18" name="角丸四角形 17">
            <a:extLst>
              <a:ext uri="{FF2B5EF4-FFF2-40B4-BE49-F238E27FC236}">
                <a16:creationId xmlns:a16="http://schemas.microsoft.com/office/drawing/2014/main" id="{B1733755-C868-FB6D-F2F8-6229C26A4447}"/>
              </a:ext>
            </a:extLst>
          </p:cNvPr>
          <p:cNvSpPr/>
          <p:nvPr/>
        </p:nvSpPr>
        <p:spPr>
          <a:xfrm>
            <a:off x="3219781" y="4177535"/>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19" name="テキスト ボックス 18">
            <a:extLst>
              <a:ext uri="{FF2B5EF4-FFF2-40B4-BE49-F238E27FC236}">
                <a16:creationId xmlns:a16="http://schemas.microsoft.com/office/drawing/2014/main" id="{F3B06D7A-219E-8B59-1900-30EC337883AB}"/>
              </a:ext>
            </a:extLst>
          </p:cNvPr>
          <p:cNvSpPr txBox="1"/>
          <p:nvPr/>
        </p:nvSpPr>
        <p:spPr>
          <a:xfrm>
            <a:off x="6422824" y="5012246"/>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22" name="テキスト ボックス 21">
            <a:extLst>
              <a:ext uri="{FF2B5EF4-FFF2-40B4-BE49-F238E27FC236}">
                <a16:creationId xmlns:a16="http://schemas.microsoft.com/office/drawing/2014/main" id="{2673E6AD-F065-A086-E120-173353FD19B0}"/>
              </a:ext>
            </a:extLst>
          </p:cNvPr>
          <p:cNvSpPr txBox="1"/>
          <p:nvPr/>
        </p:nvSpPr>
        <p:spPr>
          <a:xfrm>
            <a:off x="1570141" y="2835490"/>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制御装置</a:t>
            </a:r>
          </a:p>
        </p:txBody>
      </p:sp>
      <p:sp>
        <p:nvSpPr>
          <p:cNvPr id="23" name="テキスト ボックス 22">
            <a:extLst>
              <a:ext uri="{FF2B5EF4-FFF2-40B4-BE49-F238E27FC236}">
                <a16:creationId xmlns:a16="http://schemas.microsoft.com/office/drawing/2014/main" id="{10881785-1626-8290-BA5E-0F3F98F2D88B}"/>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24" name="テキスト ボックス 23">
            <a:extLst>
              <a:ext uri="{FF2B5EF4-FFF2-40B4-BE49-F238E27FC236}">
                <a16:creationId xmlns:a16="http://schemas.microsoft.com/office/drawing/2014/main" id="{66091CCF-E8C1-F4B7-6502-7DF87A2027E7}"/>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25" name="テキスト ボックス 24">
            <a:extLst>
              <a:ext uri="{FF2B5EF4-FFF2-40B4-BE49-F238E27FC236}">
                <a16:creationId xmlns:a16="http://schemas.microsoft.com/office/drawing/2014/main" id="{47BA0134-A129-13D4-5C11-95D8435DF7C8}"/>
              </a:ext>
            </a:extLst>
          </p:cNvPr>
          <p:cNvSpPr txBox="1"/>
          <p:nvPr/>
        </p:nvSpPr>
        <p:spPr>
          <a:xfrm>
            <a:off x="4112662" y="5547499"/>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26" name="曲線コネクタ 25">
            <a:extLst>
              <a:ext uri="{FF2B5EF4-FFF2-40B4-BE49-F238E27FC236}">
                <a16:creationId xmlns:a16="http://schemas.microsoft.com/office/drawing/2014/main" id="{8710CA78-0F69-E2EF-37F4-34E72E885FDE}"/>
              </a:ext>
            </a:extLst>
          </p:cNvPr>
          <p:cNvCxnSpPr>
            <a:cxnSpLocks/>
            <a:stCxn id="22" idx="2"/>
            <a:endCxn id="19"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7" name="曲線コネクタ 26">
            <a:extLst>
              <a:ext uri="{FF2B5EF4-FFF2-40B4-BE49-F238E27FC236}">
                <a16:creationId xmlns:a16="http://schemas.microsoft.com/office/drawing/2014/main" id="{63761231-EA5A-9877-D0E4-9D9F2E7EADA4}"/>
              </a:ext>
            </a:extLst>
          </p:cNvPr>
          <p:cNvCxnSpPr>
            <a:cxnSpLocks/>
            <a:stCxn id="22" idx="2"/>
            <a:endCxn id="31"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C64B5AE4-EC9A-8DFC-F02B-B3C877943A3D}"/>
              </a:ext>
            </a:extLst>
          </p:cNvPr>
          <p:cNvCxnSpPr>
            <a:cxnSpLocks/>
            <a:endCxn id="24"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6CDA1A1F-9E85-5BA6-3CF0-9D470873D943}"/>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95755861-9D01-F62D-DFA2-B949DB96C911}"/>
              </a:ext>
            </a:extLst>
          </p:cNvPr>
          <p:cNvSpPr txBox="1"/>
          <p:nvPr/>
        </p:nvSpPr>
        <p:spPr>
          <a:xfrm>
            <a:off x="3431492" y="5012246"/>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31" name="テキスト ボックス 30">
            <a:extLst>
              <a:ext uri="{FF2B5EF4-FFF2-40B4-BE49-F238E27FC236}">
                <a16:creationId xmlns:a16="http://schemas.microsoft.com/office/drawing/2014/main" id="{579FEDE2-473C-1511-72C6-3B48D3F40BA0}"/>
              </a:ext>
            </a:extLst>
          </p:cNvPr>
          <p:cNvSpPr txBox="1"/>
          <p:nvPr/>
        </p:nvSpPr>
        <p:spPr>
          <a:xfrm>
            <a:off x="3431492" y="4342577"/>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32" name="曲線コネクタ 31">
            <a:extLst>
              <a:ext uri="{FF2B5EF4-FFF2-40B4-BE49-F238E27FC236}">
                <a16:creationId xmlns:a16="http://schemas.microsoft.com/office/drawing/2014/main" id="{92AB2F49-4DB9-7BD9-A6EE-2F8AA4E42D52}"/>
              </a:ext>
            </a:extLst>
          </p:cNvPr>
          <p:cNvCxnSpPr>
            <a:cxnSpLocks/>
            <a:stCxn id="22" idx="2"/>
            <a:endCxn id="30"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pic>
        <p:nvPicPr>
          <p:cNvPr id="21" name="グラフィックス 20" descr="モニター 単色塗りつぶし">
            <a:extLst>
              <a:ext uri="{FF2B5EF4-FFF2-40B4-BE49-F238E27FC236}">
                <a16:creationId xmlns:a16="http://schemas.microsoft.com/office/drawing/2014/main" id="{AB521822-02C9-3635-DBF3-84EACEAA8D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19622" y="5460109"/>
            <a:ext cx="914400" cy="914400"/>
          </a:xfrm>
          <a:prstGeom prst="rect">
            <a:avLst/>
          </a:prstGeom>
        </p:spPr>
      </p:pic>
      <p:sp>
        <p:nvSpPr>
          <p:cNvPr id="33" name="テキスト ボックス 32">
            <a:extLst>
              <a:ext uri="{FF2B5EF4-FFF2-40B4-BE49-F238E27FC236}">
                <a16:creationId xmlns:a16="http://schemas.microsoft.com/office/drawing/2014/main" id="{66957FE5-EB2F-79FF-4B28-6FB07AFD5A1F}"/>
              </a:ext>
            </a:extLst>
          </p:cNvPr>
          <p:cNvSpPr txBox="1"/>
          <p:nvPr/>
        </p:nvSpPr>
        <p:spPr>
          <a:xfrm>
            <a:off x="6806743" y="5624404"/>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36" name="グラフィックス 35" descr="キーボード 単色塗りつぶし">
            <a:extLst>
              <a:ext uri="{FF2B5EF4-FFF2-40B4-BE49-F238E27FC236}">
                <a16:creationId xmlns:a16="http://schemas.microsoft.com/office/drawing/2014/main" id="{07957769-EF20-CECD-7FD7-DDFE32F2A2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79498" y="5662588"/>
            <a:ext cx="914400" cy="914400"/>
          </a:xfrm>
          <a:prstGeom prst="rect">
            <a:avLst/>
          </a:prstGeom>
        </p:spPr>
      </p:pic>
      <p:cxnSp>
        <p:nvCxnSpPr>
          <p:cNvPr id="37" name="直線矢印コネクタ 36">
            <a:extLst>
              <a:ext uri="{FF2B5EF4-FFF2-40B4-BE49-F238E27FC236}">
                <a16:creationId xmlns:a16="http://schemas.microsoft.com/office/drawing/2014/main" id="{8A6AE729-CF1B-4ED0-65FF-EA1E0F003C05}"/>
              </a:ext>
            </a:extLst>
          </p:cNvPr>
          <p:cNvCxnSpPr>
            <a:cxnSpLocks/>
          </p:cNvCxnSpPr>
          <p:nvPr/>
        </p:nvCxnSpPr>
        <p:spPr>
          <a:xfrm flipH="1" flipV="1">
            <a:off x="2124138" y="5381578"/>
            <a:ext cx="12560" cy="534100"/>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02047874-CB2F-E948-7301-FCA9DB419266}"/>
              </a:ext>
            </a:extLst>
          </p:cNvPr>
          <p:cNvSpPr txBox="1"/>
          <p:nvPr/>
        </p:nvSpPr>
        <p:spPr>
          <a:xfrm>
            <a:off x="2162603" y="542084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cxnSp>
        <p:nvCxnSpPr>
          <p:cNvPr id="39" name="直線矢印コネクタ 38">
            <a:extLst>
              <a:ext uri="{FF2B5EF4-FFF2-40B4-BE49-F238E27FC236}">
                <a16:creationId xmlns:a16="http://schemas.microsoft.com/office/drawing/2014/main" id="{A48B62DB-E3F2-F356-1231-826C5F9D6064}"/>
              </a:ext>
            </a:extLst>
          </p:cNvPr>
          <p:cNvCxnSpPr>
            <a:cxnSpLocks/>
          </p:cNvCxnSpPr>
          <p:nvPr/>
        </p:nvCxnSpPr>
        <p:spPr>
          <a:xfrm flipV="1">
            <a:off x="2678136" y="4527243"/>
            <a:ext cx="753356"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3812C32A-9979-31A0-8153-302C95A8905B}"/>
              </a:ext>
            </a:extLst>
          </p:cNvPr>
          <p:cNvCxnSpPr>
            <a:cxnSpLocks/>
          </p:cNvCxnSpPr>
          <p:nvPr/>
        </p:nvCxnSpPr>
        <p:spPr>
          <a:xfrm flipH="1" flipV="1">
            <a:off x="4427930"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F055D0CC-3478-DB42-465A-1056DD1BBA80}"/>
              </a:ext>
            </a:extLst>
          </p:cNvPr>
          <p:cNvSpPr txBox="1"/>
          <p:nvPr/>
        </p:nvSpPr>
        <p:spPr>
          <a:xfrm>
            <a:off x="5160146" y="2764896"/>
            <a:ext cx="474810" cy="523220"/>
          </a:xfrm>
          <a:prstGeom prst="rect">
            <a:avLst/>
          </a:prstGeom>
          <a:noFill/>
        </p:spPr>
        <p:txBody>
          <a:bodyPr wrap="none" rtlCol="0">
            <a:spAutoFit/>
          </a:bodyPr>
          <a:lstStyle/>
          <a:p>
            <a:r>
              <a:rPr kumimoji="1" lang="en-US" altLang="ja-GB" sz="1400" b="1" dirty="0">
                <a:solidFill>
                  <a:srgbClr val="0070C0"/>
                </a:solidFill>
              </a:rPr>
              <a:t>A=2</a:t>
            </a:r>
          </a:p>
          <a:p>
            <a:r>
              <a:rPr kumimoji="1" lang="en-US" altLang="ja-GB" sz="1400" b="1" dirty="0">
                <a:solidFill>
                  <a:srgbClr val="0070C0"/>
                </a:solidFill>
              </a:rPr>
              <a:t>B=3</a:t>
            </a:r>
            <a:endParaRPr kumimoji="1" lang="ja-GB" altLang="en-US" sz="1400" b="1" dirty="0">
              <a:solidFill>
                <a:srgbClr val="0070C0"/>
              </a:solidFill>
            </a:endParaRPr>
          </a:p>
        </p:txBody>
      </p:sp>
      <p:sp>
        <p:nvSpPr>
          <p:cNvPr id="44" name="テキスト ボックス 43">
            <a:extLst>
              <a:ext uri="{FF2B5EF4-FFF2-40B4-BE49-F238E27FC236}">
                <a16:creationId xmlns:a16="http://schemas.microsoft.com/office/drawing/2014/main" id="{FFC13A91-7BA1-84E7-3EC6-6E9002BFABE8}"/>
              </a:ext>
            </a:extLst>
          </p:cNvPr>
          <p:cNvSpPr txBox="1"/>
          <p:nvPr/>
        </p:nvSpPr>
        <p:spPr>
          <a:xfrm>
            <a:off x="5690624" y="2878967"/>
            <a:ext cx="665567" cy="307777"/>
          </a:xfrm>
          <a:prstGeom prst="rect">
            <a:avLst/>
          </a:prstGeom>
          <a:noFill/>
        </p:spPr>
        <p:txBody>
          <a:bodyPr wrap="none" rtlCol="0">
            <a:spAutoFit/>
          </a:bodyPr>
          <a:lstStyle/>
          <a:p>
            <a:r>
              <a:rPr kumimoji="1" lang="en-US" altLang="ja-GB" sz="1400" b="1" dirty="0">
                <a:solidFill>
                  <a:srgbClr val="0070C0"/>
                </a:solidFill>
              </a:rPr>
              <a:t>A+B=5</a:t>
            </a:r>
            <a:endParaRPr kumimoji="1" lang="ja-GB" altLang="en-US" sz="1400" b="1" dirty="0">
              <a:solidFill>
                <a:srgbClr val="0070C0"/>
              </a:solidFill>
            </a:endParaRPr>
          </a:p>
        </p:txBody>
      </p:sp>
      <p:cxnSp>
        <p:nvCxnSpPr>
          <p:cNvPr id="45" name="直線矢印コネクタ 44">
            <a:extLst>
              <a:ext uri="{FF2B5EF4-FFF2-40B4-BE49-F238E27FC236}">
                <a16:creationId xmlns:a16="http://schemas.microsoft.com/office/drawing/2014/main" id="{5CA54944-0A7F-D3C5-4CEA-1EBC5C69C2CB}"/>
              </a:ext>
            </a:extLst>
          </p:cNvPr>
          <p:cNvCxnSpPr>
            <a:cxnSpLocks/>
          </p:cNvCxnSpPr>
          <p:nvPr/>
        </p:nvCxnSpPr>
        <p:spPr>
          <a:xfrm>
            <a:off x="4597615" y="3204822"/>
            <a:ext cx="12091" cy="1137755"/>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6BA6F160-7EFC-6BF5-3FCE-26B9D5619C55}"/>
              </a:ext>
            </a:extLst>
          </p:cNvPr>
          <p:cNvCxnSpPr>
            <a:cxnSpLocks/>
          </p:cNvCxnSpPr>
          <p:nvPr/>
        </p:nvCxnSpPr>
        <p:spPr>
          <a:xfrm>
            <a:off x="5693650" y="4527243"/>
            <a:ext cx="729174" cy="669669"/>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9A9F4702-FD96-3F1D-DA6D-0686D354FA70}"/>
              </a:ext>
            </a:extLst>
          </p:cNvPr>
          <p:cNvCxnSpPr>
            <a:cxnSpLocks/>
          </p:cNvCxnSpPr>
          <p:nvPr/>
        </p:nvCxnSpPr>
        <p:spPr>
          <a:xfrm flipH="1" flipV="1">
            <a:off x="2124139" y="3204822"/>
            <a:ext cx="1307353" cy="1992090"/>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596B5105-17AA-5237-EA4F-418EA57846F7}"/>
              </a:ext>
            </a:extLst>
          </p:cNvPr>
          <p:cNvSpPr txBox="1"/>
          <p:nvPr/>
        </p:nvSpPr>
        <p:spPr>
          <a:xfrm>
            <a:off x="2349145" y="3389486"/>
            <a:ext cx="1082348" cy="523220"/>
          </a:xfrm>
          <a:prstGeom prst="rect">
            <a:avLst/>
          </a:prstGeom>
          <a:noFill/>
        </p:spPr>
        <p:txBody>
          <a:bodyPr wrap="none" rtlCol="0">
            <a:spAutoFit/>
          </a:bodyPr>
          <a:lstStyle/>
          <a:p>
            <a:r>
              <a:rPr kumimoji="1" lang="ja-GB" altLang="en-US" sz="1400" b="1" dirty="0">
                <a:solidFill>
                  <a:srgbClr val="002060"/>
                </a:solidFill>
              </a:rPr>
              <a:t>プログラム</a:t>
            </a:r>
            <a:endParaRPr kumimoji="1" lang="en-US" altLang="ja-GB" sz="1400" b="1" dirty="0">
              <a:solidFill>
                <a:srgbClr val="002060"/>
              </a:solidFill>
            </a:endParaRPr>
          </a:p>
          <a:p>
            <a:pPr algn="ctr"/>
            <a:r>
              <a:rPr kumimoji="1" lang="en-US" altLang="ja-GB" sz="1400" b="1" dirty="0">
                <a:solidFill>
                  <a:srgbClr val="002060"/>
                </a:solidFill>
              </a:rPr>
              <a:t>A+B</a:t>
            </a:r>
            <a:endParaRPr kumimoji="1" lang="ja-GB" altLang="en-US" sz="1400" b="1" dirty="0">
              <a:solidFill>
                <a:srgbClr val="002060"/>
              </a:solidFill>
            </a:endParaRPr>
          </a:p>
        </p:txBody>
      </p:sp>
      <p:sp>
        <p:nvSpPr>
          <p:cNvPr id="51" name="テキスト ボックス 50">
            <a:extLst>
              <a:ext uri="{FF2B5EF4-FFF2-40B4-BE49-F238E27FC236}">
                <a16:creationId xmlns:a16="http://schemas.microsoft.com/office/drawing/2014/main" id="{EA182475-F686-F6AE-3ABF-BF4974C24A45}"/>
              </a:ext>
            </a:extLst>
          </p:cNvPr>
          <p:cNvSpPr txBox="1"/>
          <p:nvPr/>
        </p:nvSpPr>
        <p:spPr>
          <a:xfrm>
            <a:off x="499962" y="2878967"/>
            <a:ext cx="1023036" cy="307777"/>
          </a:xfrm>
          <a:prstGeom prst="rect">
            <a:avLst/>
          </a:prstGeom>
          <a:noFill/>
        </p:spPr>
        <p:txBody>
          <a:bodyPr wrap="none" rtlCol="0">
            <a:spAutoFit/>
          </a:bodyPr>
          <a:lstStyle/>
          <a:p>
            <a:pPr algn="r"/>
            <a:r>
              <a:rPr kumimoji="1" lang="en-US" altLang="ja-GB" sz="1400" b="1" dirty="0">
                <a:solidFill>
                  <a:srgbClr val="002060"/>
                </a:solidFill>
              </a:rPr>
              <a:t>A+B</a:t>
            </a:r>
            <a:r>
              <a:rPr kumimoji="1" lang="ja-GB" altLang="en-US" sz="1400" b="1" dirty="0">
                <a:solidFill>
                  <a:srgbClr val="002060"/>
                </a:solidFill>
              </a:rPr>
              <a:t>を実行</a:t>
            </a:r>
          </a:p>
        </p:txBody>
      </p:sp>
      <p:cxnSp>
        <p:nvCxnSpPr>
          <p:cNvPr id="52" name="直線矢印コネクタ 51">
            <a:extLst>
              <a:ext uri="{FF2B5EF4-FFF2-40B4-BE49-F238E27FC236}">
                <a16:creationId xmlns:a16="http://schemas.microsoft.com/office/drawing/2014/main" id="{E74EA841-BDAB-C2C4-FF73-7A9800C201EB}"/>
              </a:ext>
            </a:extLst>
          </p:cNvPr>
          <p:cNvCxnSpPr>
            <a:cxnSpLocks/>
          </p:cNvCxnSpPr>
          <p:nvPr/>
        </p:nvCxnSpPr>
        <p:spPr>
          <a:xfrm>
            <a:off x="6976822" y="5381578"/>
            <a:ext cx="0" cy="242826"/>
          </a:xfrm>
          <a:prstGeom prst="straightConnector1">
            <a:avLst/>
          </a:prstGeom>
          <a:ln w="508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5116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7146-2FC5-30CD-718F-BB20ABFC69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96424B-2082-A6DA-241D-4BFB84AACDB7}"/>
              </a:ext>
            </a:extLst>
          </p:cNvPr>
          <p:cNvSpPr>
            <a:spLocks noGrp="1"/>
          </p:cNvSpPr>
          <p:nvPr>
            <p:ph type="title"/>
          </p:nvPr>
        </p:nvSpPr>
        <p:spPr/>
        <p:txBody>
          <a:bodyPr/>
          <a:lstStyle/>
          <a:p>
            <a:r>
              <a:rPr lang="ja-GB" altLang="en-US" dirty="0"/>
              <a:t>実際の</a:t>
            </a:r>
            <a:r>
              <a:rPr kumimoji="1" lang="ja-GB" altLang="en-US" dirty="0"/>
              <a:t>ハードウェア構成</a:t>
            </a:r>
          </a:p>
        </p:txBody>
      </p:sp>
      <p:sp>
        <p:nvSpPr>
          <p:cNvPr id="9" name="コンテンツ プレースホルダー 8">
            <a:extLst>
              <a:ext uri="{FF2B5EF4-FFF2-40B4-BE49-F238E27FC236}">
                <a16:creationId xmlns:a16="http://schemas.microsoft.com/office/drawing/2014/main" id="{8FDBBBFA-CBD9-2340-534A-41585DFA9B95}"/>
              </a:ext>
            </a:extLst>
          </p:cNvPr>
          <p:cNvSpPr>
            <a:spLocks noGrp="1"/>
          </p:cNvSpPr>
          <p:nvPr>
            <p:ph idx="1"/>
          </p:nvPr>
        </p:nvSpPr>
        <p:spPr/>
        <p:txBody>
          <a:bodyPr/>
          <a:lstStyle/>
          <a:p>
            <a:endParaRPr lang="ja-GB" altLang="en-US"/>
          </a:p>
        </p:txBody>
      </p:sp>
      <p:grpSp>
        <p:nvGrpSpPr>
          <p:cNvPr id="6" name="グループ化 5">
            <a:extLst>
              <a:ext uri="{FF2B5EF4-FFF2-40B4-BE49-F238E27FC236}">
                <a16:creationId xmlns:a16="http://schemas.microsoft.com/office/drawing/2014/main" id="{CCE965BD-5334-93B2-1DDC-F078E4730D82}"/>
              </a:ext>
            </a:extLst>
          </p:cNvPr>
          <p:cNvGrpSpPr/>
          <p:nvPr/>
        </p:nvGrpSpPr>
        <p:grpSpPr>
          <a:xfrm>
            <a:off x="1432839" y="1105009"/>
            <a:ext cx="6277520" cy="4767289"/>
            <a:chOff x="1253300" y="1903594"/>
            <a:chExt cx="6277520" cy="4767289"/>
          </a:xfrm>
        </p:grpSpPr>
        <p:sp>
          <p:nvSpPr>
            <p:cNvPr id="3" name="角丸四角形 2">
              <a:extLst>
                <a:ext uri="{FF2B5EF4-FFF2-40B4-BE49-F238E27FC236}">
                  <a16:creationId xmlns:a16="http://schemas.microsoft.com/office/drawing/2014/main" id="{53A36C8F-AC98-1875-8DD3-A5EBD1420E7B}"/>
                </a:ext>
              </a:extLst>
            </p:cNvPr>
            <p:cNvSpPr/>
            <p:nvPr/>
          </p:nvSpPr>
          <p:spPr>
            <a:xfrm>
              <a:off x="1320058" y="2466643"/>
              <a:ext cx="4044421" cy="99719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0" name="角丸四角形 19">
              <a:extLst>
                <a:ext uri="{FF2B5EF4-FFF2-40B4-BE49-F238E27FC236}">
                  <a16:creationId xmlns:a16="http://schemas.microsoft.com/office/drawing/2014/main" id="{F41563E1-D69B-DA78-A9EE-B8AB444A5481}"/>
                </a:ext>
              </a:extLst>
            </p:cNvPr>
            <p:cNvSpPr/>
            <p:nvPr/>
          </p:nvSpPr>
          <p:spPr>
            <a:xfrm>
              <a:off x="3219781" y="4177535"/>
              <a:ext cx="2676422" cy="138925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4B93E03A-B4B3-74E9-DFA0-0DF79B718823}"/>
                </a:ext>
              </a:extLst>
            </p:cNvPr>
            <p:cNvSpPr txBox="1"/>
            <p:nvPr/>
          </p:nvSpPr>
          <p:spPr>
            <a:xfrm>
              <a:off x="6422824"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CFB3F968-4126-4C76-56B9-DBF9C8076526}"/>
                </a:ext>
              </a:extLst>
            </p:cNvPr>
            <p:cNvSpPr txBox="1"/>
            <p:nvPr/>
          </p:nvSpPr>
          <p:spPr>
            <a:xfrm>
              <a:off x="1570141"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制御装置</a:t>
              </a:r>
            </a:p>
          </p:txBody>
        </p:sp>
        <p:sp>
          <p:nvSpPr>
            <p:cNvPr id="10" name="テキスト ボックス 9">
              <a:extLst>
                <a:ext uri="{FF2B5EF4-FFF2-40B4-BE49-F238E27FC236}">
                  <a16:creationId xmlns:a16="http://schemas.microsoft.com/office/drawing/2014/main" id="{705FB3FB-4F9A-6889-D58F-9B4F60FEF158}"/>
                </a:ext>
              </a:extLst>
            </p:cNvPr>
            <p:cNvSpPr txBox="1"/>
            <p:nvPr/>
          </p:nvSpPr>
          <p:spPr>
            <a:xfrm>
              <a:off x="3996482" y="2835490"/>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1" name="テキスト ボックス 10">
              <a:extLst>
                <a:ext uri="{FF2B5EF4-FFF2-40B4-BE49-F238E27FC236}">
                  <a16:creationId xmlns:a16="http://schemas.microsoft.com/office/drawing/2014/main" id="{983CC51D-7D9E-89A1-CE9E-476E2CAD8105}"/>
                </a:ext>
              </a:extLst>
            </p:cNvPr>
            <p:cNvSpPr txBox="1"/>
            <p:nvPr/>
          </p:nvSpPr>
          <p:spPr>
            <a:xfrm>
              <a:off x="1570140" y="5012246"/>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9" name="テキスト ボックス 18">
              <a:extLst>
                <a:ext uri="{FF2B5EF4-FFF2-40B4-BE49-F238E27FC236}">
                  <a16:creationId xmlns:a16="http://schemas.microsoft.com/office/drawing/2014/main" id="{612D4423-C72B-F409-B3D7-1016D8CE975D}"/>
                </a:ext>
              </a:extLst>
            </p:cNvPr>
            <p:cNvSpPr txBox="1"/>
            <p:nvPr/>
          </p:nvSpPr>
          <p:spPr>
            <a:xfrm>
              <a:off x="3086743" y="5547499"/>
              <a:ext cx="2852063" cy="1123384"/>
            </a:xfrm>
            <a:prstGeom prst="rect">
              <a:avLst/>
            </a:prstGeom>
            <a:noFill/>
          </p:spPr>
          <p:txBody>
            <a:bodyPr wrap="none" rtlCol="0">
              <a:spAutoFit/>
            </a:bodyPr>
            <a:lstStyle/>
            <a:p>
              <a:pPr algn="ctr"/>
              <a:r>
                <a:rPr kumimoji="1" lang="ja-GB" altLang="en-US" sz="1600" b="1" dirty="0">
                  <a:solidFill>
                    <a:srgbClr val="0070C0"/>
                  </a:solidFill>
                </a:rPr>
                <a:t>主記憶装置（メモリ）</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RAM (Random Access Memory)</a:t>
              </a:r>
              <a:endParaRPr kumimoji="1" lang="en-US" altLang="ja-GB" sz="1200" b="1" dirty="0">
                <a:solidFill>
                  <a:srgbClr val="0070C0"/>
                </a:solidFill>
              </a:endParaRPr>
            </a:p>
            <a:p>
              <a:pPr algn="ctr"/>
              <a:endParaRPr kumimoji="1" lang="en-US" altLang="ja-GB" sz="1100" b="1" dirty="0">
                <a:solidFill>
                  <a:srgbClr val="0070C0"/>
                </a:solidFill>
              </a:endParaRPr>
            </a:p>
            <a:p>
              <a:pPr algn="ctr"/>
              <a:r>
                <a:rPr kumimoji="1" lang="ja-GB" altLang="en-US" sz="1600" b="1" dirty="0">
                  <a:solidFill>
                    <a:srgbClr val="0070C0"/>
                  </a:solidFill>
                </a:rPr>
                <a:t>補助記憶装置（ストレージ）</a:t>
              </a:r>
              <a:endParaRPr kumimoji="1" lang="en-US" altLang="ja-GB" sz="1600" b="1" dirty="0">
                <a:solidFill>
                  <a:srgbClr val="0070C0"/>
                </a:solidFill>
              </a:endParaRPr>
            </a:p>
            <a:p>
              <a:pPr algn="ctr"/>
              <a:r>
                <a:rPr kumimoji="1" lang="ja-GB" altLang="en-US" sz="1200" b="1" dirty="0">
                  <a:solidFill>
                    <a:srgbClr val="2F2523"/>
                  </a:solidFill>
                </a:rPr>
                <a:t>例：</a:t>
              </a:r>
              <a:r>
                <a:rPr kumimoji="1" lang="en-US" altLang="ja-GB" sz="1200" b="1" dirty="0">
                  <a:solidFill>
                    <a:srgbClr val="2F2523"/>
                  </a:solidFill>
                </a:rPr>
                <a:t>HDD</a:t>
              </a:r>
              <a:r>
                <a:rPr kumimoji="1" lang="ja-GB" altLang="en-US" sz="1200" b="1" dirty="0">
                  <a:solidFill>
                    <a:srgbClr val="2F2523"/>
                  </a:solidFill>
                </a:rPr>
                <a:t>，</a:t>
              </a:r>
              <a:r>
                <a:rPr kumimoji="1" lang="en-US" altLang="ja-GB" sz="1200" b="1" dirty="0">
                  <a:solidFill>
                    <a:srgbClr val="2F2523"/>
                  </a:solidFill>
                </a:rPr>
                <a:t>SSD</a:t>
              </a:r>
              <a:r>
                <a:rPr kumimoji="1" lang="ja-GB" altLang="en-US" sz="1200" b="1" dirty="0">
                  <a:solidFill>
                    <a:srgbClr val="2F2523"/>
                  </a:solidFill>
                </a:rPr>
                <a:t>，</a:t>
              </a:r>
              <a:r>
                <a:rPr kumimoji="1" lang="en-US" altLang="ja-GB" sz="1200" b="1" dirty="0">
                  <a:solidFill>
                    <a:srgbClr val="2F2523"/>
                  </a:solidFill>
                </a:rPr>
                <a:t>USB</a:t>
              </a:r>
              <a:r>
                <a:rPr kumimoji="1" lang="ja-GB" altLang="en-US" sz="1200" b="1" dirty="0">
                  <a:solidFill>
                    <a:srgbClr val="2F2523"/>
                  </a:solidFill>
                </a:rPr>
                <a:t>，</a:t>
              </a:r>
              <a:r>
                <a:rPr kumimoji="1" lang="en-US" altLang="ja-GB" sz="1200" b="1" dirty="0">
                  <a:solidFill>
                    <a:srgbClr val="2F2523"/>
                  </a:solidFill>
                </a:rPr>
                <a:t>CD</a:t>
              </a:r>
              <a:r>
                <a:rPr kumimoji="1" lang="ja-GB" altLang="en-US" sz="1200" b="1" dirty="0">
                  <a:solidFill>
                    <a:srgbClr val="2F2523"/>
                  </a:solidFill>
                </a:rPr>
                <a:t>，</a:t>
              </a:r>
              <a:r>
                <a:rPr kumimoji="1" lang="en-US" altLang="ja-GB" sz="1200" b="1" dirty="0">
                  <a:solidFill>
                    <a:srgbClr val="2F2523"/>
                  </a:solidFill>
                </a:rPr>
                <a:t>DVD</a:t>
              </a:r>
              <a:r>
                <a:rPr kumimoji="1" lang="ja-GB" altLang="en-US" sz="1200" b="1" dirty="0">
                  <a:solidFill>
                    <a:srgbClr val="2F2523"/>
                  </a:solidFill>
                </a:rPr>
                <a:t>，</a:t>
              </a:r>
              <a:r>
                <a:rPr kumimoji="1" lang="en-US" altLang="ja-GB" sz="1200" b="1" dirty="0">
                  <a:solidFill>
                    <a:srgbClr val="2F2523"/>
                  </a:solidFill>
                </a:rPr>
                <a:t>BD</a:t>
              </a:r>
              <a:endParaRPr kumimoji="1" lang="en-US" altLang="ja-GB" sz="1200" b="1" dirty="0">
                <a:solidFill>
                  <a:srgbClr val="0070C0"/>
                </a:solidFill>
              </a:endParaRPr>
            </a:p>
          </p:txBody>
        </p:sp>
        <p:cxnSp>
          <p:nvCxnSpPr>
            <p:cNvPr id="21" name="曲線コネクタ 20">
              <a:extLst>
                <a:ext uri="{FF2B5EF4-FFF2-40B4-BE49-F238E27FC236}">
                  <a16:creationId xmlns:a16="http://schemas.microsoft.com/office/drawing/2014/main" id="{280546A2-B0B7-7276-3104-797A8613C109}"/>
                </a:ext>
              </a:extLst>
            </p:cNvPr>
            <p:cNvCxnSpPr>
              <a:cxnSpLocks/>
              <a:stCxn id="8" idx="2"/>
              <a:endCxn id="5" idx="0"/>
            </p:cNvCxnSpPr>
            <p:nvPr/>
          </p:nvCxnSpPr>
          <p:spPr>
            <a:xfrm rot="16200000" flipH="1">
              <a:off x="3646768" y="1682192"/>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4" name="曲線コネクタ 23">
              <a:extLst>
                <a:ext uri="{FF2B5EF4-FFF2-40B4-BE49-F238E27FC236}">
                  <a16:creationId xmlns:a16="http://schemas.microsoft.com/office/drawing/2014/main" id="{104CA35C-D32C-1283-04C3-DBCE8C6D24D4}"/>
                </a:ext>
              </a:extLst>
            </p:cNvPr>
            <p:cNvCxnSpPr>
              <a:cxnSpLocks/>
              <a:stCxn id="8" idx="2"/>
              <a:endCxn id="44" idx="1"/>
            </p:cNvCxnSpPr>
            <p:nvPr/>
          </p:nvCxnSpPr>
          <p:spPr>
            <a:xfrm rot="16200000" flipH="1">
              <a:off x="2116605" y="3212355"/>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D4705573-EF4E-51F7-2CD3-86973B216210}"/>
                </a:ext>
              </a:extLst>
            </p:cNvPr>
            <p:cNvCxnSpPr>
              <a:cxnSpLocks/>
              <a:endCxn id="11" idx="0"/>
            </p:cNvCxnSpPr>
            <p:nvPr/>
          </p:nvCxnSpPr>
          <p:spPr>
            <a:xfrm flipH="1">
              <a:off x="2124138" y="3204822"/>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E0E461C-17CC-6341-0800-7F9B06DCC864}"/>
                </a:ext>
              </a:extLst>
            </p:cNvPr>
            <p:cNvCxnSpPr>
              <a:cxnSpLocks/>
            </p:cNvCxnSpPr>
            <p:nvPr/>
          </p:nvCxnSpPr>
          <p:spPr>
            <a:xfrm>
              <a:off x="2678137" y="3020156"/>
              <a:ext cx="1318345" cy="0"/>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4AABBC6D-7E8B-C121-45E4-122C5C614534}"/>
                </a:ext>
              </a:extLst>
            </p:cNvPr>
            <p:cNvSpPr txBox="1"/>
            <p:nvPr/>
          </p:nvSpPr>
          <p:spPr>
            <a:xfrm>
              <a:off x="3431492" y="5012246"/>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strike="sngStrike" dirty="0">
                  <a:solidFill>
                    <a:schemeClr val="bg1">
                      <a:lumMod val="65000"/>
                    </a:schemeClr>
                  </a:solidFill>
                </a:rPr>
                <a:t>プログラム</a:t>
              </a:r>
              <a:r>
                <a:rPr lang="ja-GB" strike="sngStrike" dirty="0">
                  <a:solidFill>
                    <a:schemeClr val="bg1">
                      <a:lumMod val="65000"/>
                    </a:schemeClr>
                  </a:solidFill>
                </a:rPr>
                <a:t>記憶装置</a:t>
              </a:r>
            </a:p>
          </p:txBody>
        </p:sp>
        <p:sp>
          <p:nvSpPr>
            <p:cNvPr id="44" name="テキスト ボックス 43">
              <a:extLst>
                <a:ext uri="{FF2B5EF4-FFF2-40B4-BE49-F238E27FC236}">
                  <a16:creationId xmlns:a16="http://schemas.microsoft.com/office/drawing/2014/main" id="{7B9195D1-B36F-266C-DDFC-4E4990A21FB8}"/>
                </a:ext>
              </a:extLst>
            </p:cNvPr>
            <p:cNvSpPr txBox="1"/>
            <p:nvPr/>
          </p:nvSpPr>
          <p:spPr>
            <a:xfrm>
              <a:off x="3431492" y="4342577"/>
              <a:ext cx="2262158" cy="369332"/>
            </a:xfrm>
            <a:prstGeom prst="rect">
              <a:avLst/>
            </a:prstGeom>
            <a:solidFill>
              <a:schemeClr val="accent5">
                <a:lumMod val="40000"/>
                <a:lumOff val="60000"/>
                <a:alpha val="76120"/>
              </a:schemeClr>
            </a:solidFill>
            <a:ln>
              <a:noFill/>
            </a:ln>
          </p:spPr>
          <p:txBody>
            <a:bodyPr wrap="none" rtlCol="0">
              <a:spAutoFit/>
            </a:bodyPr>
            <a:lstStyle/>
            <a:p>
              <a:r>
                <a:rPr lang="ja-GB" altLang="en-US" dirty="0">
                  <a:solidFill>
                    <a:schemeClr val="bg1">
                      <a:lumMod val="65000"/>
                    </a:schemeClr>
                  </a:solidFill>
                </a:rPr>
                <a:t>　</a:t>
              </a:r>
              <a:r>
                <a:rPr lang="ja-GB" altLang="en-US" strike="sngStrike" dirty="0">
                  <a:solidFill>
                    <a:schemeClr val="bg1">
                      <a:lumMod val="65000"/>
                    </a:schemeClr>
                  </a:solidFill>
                </a:rPr>
                <a:t>データ</a:t>
              </a:r>
              <a:r>
                <a:rPr lang="ja-GB" strike="sngStrike" dirty="0">
                  <a:solidFill>
                    <a:schemeClr val="bg1">
                      <a:lumMod val="65000"/>
                    </a:schemeClr>
                  </a:solidFill>
                </a:rPr>
                <a:t>記憶装置</a:t>
              </a:r>
              <a:r>
                <a:rPr lang="ja-GB" altLang="en-US" strike="sngStrike" dirty="0">
                  <a:solidFill>
                    <a:schemeClr val="bg1">
                      <a:lumMod val="65000"/>
                    </a:schemeClr>
                  </a:solidFill>
                </a:rPr>
                <a:t>　</a:t>
              </a:r>
              <a:endParaRPr lang="ja-GB" strike="sngStrike" dirty="0">
                <a:solidFill>
                  <a:schemeClr val="bg1">
                    <a:lumMod val="65000"/>
                  </a:schemeClr>
                </a:solidFill>
              </a:endParaRPr>
            </a:p>
          </p:txBody>
        </p:sp>
        <p:cxnSp>
          <p:nvCxnSpPr>
            <p:cNvPr id="54" name="曲線コネクタ 53">
              <a:extLst>
                <a:ext uri="{FF2B5EF4-FFF2-40B4-BE49-F238E27FC236}">
                  <a16:creationId xmlns:a16="http://schemas.microsoft.com/office/drawing/2014/main" id="{62FAA68C-D408-4437-EB0E-EA943E473E26}"/>
                </a:ext>
              </a:extLst>
            </p:cNvPr>
            <p:cNvCxnSpPr>
              <a:cxnSpLocks/>
              <a:stCxn id="8" idx="2"/>
              <a:endCxn id="43" idx="1"/>
            </p:cNvCxnSpPr>
            <p:nvPr/>
          </p:nvCxnSpPr>
          <p:spPr>
            <a:xfrm rot="16200000" flipH="1">
              <a:off x="1781770" y="3547190"/>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7E12CA36-12A2-DEC6-D406-A6B80D6B300B}"/>
                </a:ext>
              </a:extLst>
            </p:cNvPr>
            <p:cNvSpPr txBox="1"/>
            <p:nvPr/>
          </p:nvSpPr>
          <p:spPr>
            <a:xfrm>
              <a:off x="1253300" y="1903594"/>
              <a:ext cx="4356384" cy="523220"/>
            </a:xfrm>
            <a:prstGeom prst="rect">
              <a:avLst/>
            </a:prstGeom>
            <a:noFill/>
          </p:spPr>
          <p:txBody>
            <a:bodyPr wrap="none" rtlCol="0">
              <a:spAutoFit/>
            </a:bodyPr>
            <a:lstStyle/>
            <a:p>
              <a:pPr algn="ctr"/>
              <a:r>
                <a:rPr kumimoji="1" lang="ja-GB" altLang="en-US" sz="1600" b="1" dirty="0">
                  <a:solidFill>
                    <a:schemeClr val="accent2"/>
                  </a:solidFill>
                </a:rPr>
                <a:t>中央処理装置（</a:t>
              </a:r>
              <a:r>
                <a:rPr kumimoji="1" lang="en-US" altLang="ja-GB" sz="1600" b="1" dirty="0">
                  <a:solidFill>
                    <a:schemeClr val="accent2"/>
                  </a:solidFill>
                </a:rPr>
                <a:t>CPU</a:t>
              </a:r>
              <a:r>
                <a:rPr kumimoji="1" lang="ja-GB" altLang="en-US" sz="1600" b="1" dirty="0">
                  <a:solidFill>
                    <a:schemeClr val="accent2"/>
                  </a:solidFill>
                </a:rPr>
                <a:t>，</a:t>
              </a:r>
              <a:r>
                <a:rPr kumimoji="1" lang="en-US" altLang="ja-GB" sz="1600" b="1" dirty="0">
                  <a:solidFill>
                    <a:schemeClr val="accent2"/>
                  </a:solidFill>
                </a:rPr>
                <a:t>Central Processing Unit</a:t>
              </a:r>
              <a:r>
                <a:rPr kumimoji="1" lang="ja-GB" altLang="en-US" sz="1600" b="1" dirty="0">
                  <a:solidFill>
                    <a:schemeClr val="accent2"/>
                  </a:solidFill>
                </a:rPr>
                <a:t>）</a:t>
              </a:r>
              <a:endParaRPr kumimoji="1" lang="en-US" altLang="ja-GB" sz="1600" b="1" dirty="0">
                <a:solidFill>
                  <a:schemeClr val="accent2"/>
                </a:solidFill>
              </a:endParaRPr>
            </a:p>
            <a:p>
              <a:pPr algn="ctr"/>
              <a:r>
                <a:rPr kumimoji="1" lang="ja-GB" altLang="en-US" sz="1200" b="1" dirty="0">
                  <a:solidFill>
                    <a:srgbClr val="2F2523"/>
                  </a:solidFill>
                </a:rPr>
                <a:t>例：</a:t>
              </a:r>
              <a:r>
                <a:rPr kumimoji="1" lang="en-US" altLang="ja-GB" sz="1200" b="1" dirty="0">
                  <a:solidFill>
                    <a:srgbClr val="2F2523"/>
                  </a:solidFill>
                </a:rPr>
                <a:t>Intel Core i5</a:t>
              </a:r>
              <a:r>
                <a:rPr kumimoji="1" lang="ja-GB" altLang="en-US" sz="1200" b="1" dirty="0">
                  <a:solidFill>
                    <a:srgbClr val="2F2523"/>
                  </a:solidFill>
                </a:rPr>
                <a:t>，</a:t>
              </a:r>
              <a:r>
                <a:rPr kumimoji="1" lang="en-US" altLang="ja-GB" sz="1200" b="1" dirty="0">
                  <a:solidFill>
                    <a:srgbClr val="2F2523"/>
                  </a:solidFill>
                </a:rPr>
                <a:t>Apple M1</a:t>
              </a:r>
              <a:r>
                <a:rPr kumimoji="1" lang="ja-GB" altLang="en-US" sz="1200" b="1" dirty="0">
                  <a:solidFill>
                    <a:srgbClr val="2F2523"/>
                  </a:solidFill>
                </a:rPr>
                <a:t>，</a:t>
              </a:r>
              <a:r>
                <a:rPr kumimoji="1" lang="en-US" altLang="ja-GB" sz="1200" b="1" dirty="0">
                  <a:solidFill>
                    <a:srgbClr val="2F2523"/>
                  </a:solidFill>
                </a:rPr>
                <a:t>Ryzen5 2500U</a:t>
              </a:r>
              <a:r>
                <a:rPr kumimoji="1" lang="ja-GB" altLang="en-US" sz="1200" b="1" dirty="0">
                  <a:solidFill>
                    <a:srgbClr val="2F2523"/>
                  </a:solidFill>
                </a:rPr>
                <a:t>，</a:t>
              </a:r>
              <a:r>
                <a:rPr kumimoji="1" lang="en-US" altLang="ja-GB" sz="1200" b="1" dirty="0">
                  <a:solidFill>
                    <a:srgbClr val="2F2523"/>
                  </a:solidFill>
                </a:rPr>
                <a:t>Snapdragon S2</a:t>
              </a:r>
            </a:p>
          </p:txBody>
        </p:sp>
      </p:grpSp>
      <p:sp>
        <p:nvSpPr>
          <p:cNvPr id="7" name="テキスト ボックス 6">
            <a:extLst>
              <a:ext uri="{FF2B5EF4-FFF2-40B4-BE49-F238E27FC236}">
                <a16:creationId xmlns:a16="http://schemas.microsoft.com/office/drawing/2014/main" id="{B55CCC29-685B-CEBC-05D9-72B8A6979A63}"/>
              </a:ext>
            </a:extLst>
          </p:cNvPr>
          <p:cNvSpPr txBox="1"/>
          <p:nvPr/>
        </p:nvSpPr>
        <p:spPr>
          <a:xfrm>
            <a:off x="2228249" y="6316611"/>
            <a:ext cx="4687502"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ハードウェアの詳細は第</a:t>
            </a:r>
            <a:r>
              <a:rPr kumimoji="1" lang="en-US" altLang="ja-GB" b="1" dirty="0">
                <a:solidFill>
                  <a:schemeClr val="tx1">
                    <a:lumMod val="50000"/>
                    <a:lumOff val="50000"/>
                  </a:schemeClr>
                </a:solidFill>
              </a:rPr>
              <a:t>5</a:t>
            </a:r>
            <a:r>
              <a:rPr kumimoji="1" lang="ja-GB" altLang="en-US" b="1" dirty="0">
                <a:solidFill>
                  <a:schemeClr val="tx1">
                    <a:lumMod val="50000"/>
                    <a:lumOff val="50000"/>
                  </a:schemeClr>
                </a:solidFill>
              </a:rPr>
              <a:t>回授業で取り扱う</a:t>
            </a:r>
          </a:p>
        </p:txBody>
      </p:sp>
      <p:pic>
        <p:nvPicPr>
          <p:cNvPr id="12" name="グラフィックス 11" descr="モニター 単色塗りつぶし">
            <a:extLst>
              <a:ext uri="{FF2B5EF4-FFF2-40B4-BE49-F238E27FC236}">
                <a16:creationId xmlns:a16="http://schemas.microsoft.com/office/drawing/2014/main" id="{DF6FB47F-8C8F-43C4-4FC2-46D02E38A8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361" y="4582993"/>
            <a:ext cx="756000" cy="756000"/>
          </a:xfrm>
          <a:prstGeom prst="rect">
            <a:avLst/>
          </a:prstGeom>
        </p:spPr>
      </p:pic>
      <p:pic>
        <p:nvPicPr>
          <p:cNvPr id="13" name="グラフィックス 12" descr="キーボード 単色塗りつぶし">
            <a:extLst>
              <a:ext uri="{FF2B5EF4-FFF2-40B4-BE49-F238E27FC236}">
                <a16:creationId xmlns:a16="http://schemas.microsoft.com/office/drawing/2014/main" id="{7A40E95A-ED9A-B869-F488-50962D7C8F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6499" y="4466835"/>
            <a:ext cx="756000" cy="756000"/>
          </a:xfrm>
          <a:prstGeom prst="rect">
            <a:avLst/>
          </a:prstGeom>
        </p:spPr>
      </p:pic>
    </p:spTree>
    <p:extLst>
      <p:ext uri="{BB962C8B-B14F-4D97-AF65-F5344CB8AC3E}">
        <p14:creationId xmlns:p14="http://schemas.microsoft.com/office/powerpoint/2010/main" val="3995463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57E6-825F-9303-0FE9-250D78DDA8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26CC31-C7EC-C318-475D-FE2A77D2242F}"/>
              </a:ext>
            </a:extLst>
          </p:cNvPr>
          <p:cNvSpPr>
            <a:spLocks noGrp="1"/>
          </p:cNvSpPr>
          <p:nvPr>
            <p:ph type="title"/>
          </p:nvPr>
        </p:nvSpPr>
        <p:spPr/>
        <p:txBody>
          <a:bodyPr>
            <a:normAutofit/>
          </a:bodyPr>
          <a:lstStyle/>
          <a:p>
            <a:r>
              <a:rPr kumimoji="1" lang="ja-GB" altLang="en-US" dirty="0"/>
              <a:t>第</a:t>
            </a:r>
            <a:r>
              <a:rPr kumimoji="1" lang="en-US" altLang="ja-GB" dirty="0"/>
              <a:t>3</a:t>
            </a:r>
            <a:r>
              <a:rPr kumimoji="1" lang="ja-GB" altLang="en-US" dirty="0"/>
              <a:t>回：計算機の基本原理</a:t>
            </a:r>
          </a:p>
        </p:txBody>
      </p:sp>
      <p:sp>
        <p:nvSpPr>
          <p:cNvPr id="3" name="コンテンツ プレースホルダー 2">
            <a:extLst>
              <a:ext uri="{FF2B5EF4-FFF2-40B4-BE49-F238E27FC236}">
                <a16:creationId xmlns:a16="http://schemas.microsoft.com/office/drawing/2014/main" id="{20FE0B05-AE81-7575-5107-5A5657079F73}"/>
              </a:ext>
            </a:extLst>
          </p:cNvPr>
          <p:cNvSpPr>
            <a:spLocks noGrp="1"/>
          </p:cNvSpPr>
          <p:nvPr>
            <p:ph idx="1"/>
          </p:nvPr>
        </p:nvSpPr>
        <p:spPr/>
        <p:txBody>
          <a:bodyPr/>
          <a:lstStyle/>
          <a:p>
            <a:pPr marL="0" indent="0">
              <a:buNone/>
            </a:pPr>
            <a:r>
              <a:rPr lang="ja-GB" altLang="en-US" dirty="0">
                <a:solidFill>
                  <a:schemeClr val="tx1">
                    <a:lumMod val="50000"/>
                    <a:lumOff val="50000"/>
                  </a:schemeClr>
                </a:solidFill>
              </a:rPr>
              <a:t>計算機の持つ機能は少ないが，組み合わせて色々な機能を作れる</a:t>
            </a:r>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計算機の構造と自動計算の原理</a:t>
            </a:r>
            <a:endParaRPr lang="en-US" altLang="ja-GB" dirty="0">
              <a:solidFill>
                <a:schemeClr val="tx1">
                  <a:lumMod val="50000"/>
                  <a:lumOff val="50000"/>
                </a:schemeClr>
              </a:solidFill>
            </a:endParaRPr>
          </a:p>
          <a:p>
            <a:pPr lvl="2"/>
            <a:r>
              <a:rPr lang="en-US" altLang="ja-GB" dirty="0">
                <a:solidFill>
                  <a:schemeClr val="tx1">
                    <a:lumMod val="50000"/>
                    <a:lumOff val="50000"/>
                  </a:schemeClr>
                </a:solidFill>
              </a:rPr>
              <a:t>5</a:t>
            </a:r>
            <a:r>
              <a:rPr lang="ja-GB" altLang="en-US" dirty="0">
                <a:solidFill>
                  <a:schemeClr val="tx1">
                    <a:lumMod val="50000"/>
                    <a:lumOff val="50000"/>
                  </a:schemeClr>
                </a:solidFill>
              </a:rPr>
              <a:t>種類の装置で構成される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装置が連携して計算を行う</a:t>
            </a:r>
            <a:endParaRPr lang="en-US" altLang="ja-GB" dirty="0">
              <a:solidFill>
                <a:schemeClr val="tx1">
                  <a:lumMod val="50000"/>
                  <a:lumOff val="50000"/>
                </a:schemeClr>
              </a:solidFill>
            </a:endParaRPr>
          </a:p>
          <a:p>
            <a:pPr lvl="2"/>
            <a:endParaRPr lang="en-US" altLang="ja-GB" dirty="0"/>
          </a:p>
          <a:p>
            <a:pPr marL="914400" lvl="1" indent="-457200">
              <a:buFont typeface="+mj-lt"/>
              <a:buAutoNum type="arabicPeriod"/>
            </a:pPr>
            <a:r>
              <a:rPr lang="ja-GB" altLang="en-US" dirty="0">
                <a:solidFill>
                  <a:srgbClr val="002060"/>
                </a:solidFill>
              </a:rPr>
              <a:t>ハードウェア実装される</a:t>
            </a:r>
            <a:r>
              <a:rPr kumimoji="1" lang="ja-GB" altLang="en-US" dirty="0">
                <a:solidFill>
                  <a:srgbClr val="002060"/>
                </a:solidFill>
              </a:rPr>
              <a:t>演算は数種類</a:t>
            </a:r>
            <a:r>
              <a:rPr lang="ja-GB" altLang="en-US" dirty="0">
                <a:solidFill>
                  <a:srgbClr val="002060"/>
                </a:solidFill>
              </a:rPr>
              <a:t>のみ</a:t>
            </a:r>
            <a:endParaRPr kumimoji="1" lang="en-US" altLang="ja-GB" dirty="0">
              <a:solidFill>
                <a:srgbClr val="002060"/>
              </a:solidFill>
            </a:endParaRPr>
          </a:p>
          <a:p>
            <a:pPr lvl="2"/>
            <a:r>
              <a:rPr lang="ja-GB" altLang="en-US" dirty="0">
                <a:solidFill>
                  <a:schemeClr val="tx1">
                    <a:lumMod val="65000"/>
                    <a:lumOff val="35000"/>
                  </a:schemeClr>
                </a:solidFill>
              </a:rPr>
              <a:t>機械語（</a:t>
            </a:r>
            <a:r>
              <a:rPr lang="en-US" altLang="ja-GB" dirty="0">
                <a:solidFill>
                  <a:schemeClr val="tx1">
                    <a:lumMod val="65000"/>
                    <a:lumOff val="35000"/>
                  </a:schemeClr>
                </a:solidFill>
              </a:rPr>
              <a:t>2</a:t>
            </a:r>
            <a:r>
              <a:rPr lang="ja-GB" altLang="en-US" dirty="0">
                <a:solidFill>
                  <a:schemeClr val="tx1">
                    <a:lumMod val="65000"/>
                    <a:lumOff val="35000"/>
                  </a:schemeClr>
                </a:solidFill>
              </a:rPr>
              <a:t>進数），アセンブリ言語（機械語直訳），プログラミング言語</a:t>
            </a:r>
            <a:endParaRPr lang="en-US" altLang="ja-GB" dirty="0">
              <a:solidFill>
                <a:schemeClr val="tx1">
                  <a:lumMod val="65000"/>
                  <a:lumOff val="35000"/>
                </a:schemeClr>
              </a:solidFill>
            </a:endParaRPr>
          </a:p>
          <a:p>
            <a:pPr lvl="2"/>
            <a:endParaRPr lang="en-US" altLang="ja-GB" dirty="0">
              <a:solidFill>
                <a:srgbClr val="2F2523"/>
              </a:solidFill>
            </a:endParaRPr>
          </a:p>
          <a:p>
            <a:pPr marL="914400" lvl="1" indent="-457200">
              <a:buFont typeface="+mj-lt"/>
              <a:buAutoNum type="arabicPeriod"/>
            </a:pPr>
            <a:r>
              <a:rPr lang="ja-GB" altLang="en-US" dirty="0">
                <a:solidFill>
                  <a:schemeClr val="tx1">
                    <a:lumMod val="50000"/>
                    <a:lumOff val="50000"/>
                  </a:schemeClr>
                </a:solidFill>
              </a:rPr>
              <a:t>演算の組み合わせ（アルゴリズム）で多様な演算を実現</a:t>
            </a:r>
            <a:endParaRPr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命令を逐次処理，分岐，繰り返しに並べてアルゴリズムを作る</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アルゴリズムを組み合わせてアルゴリズムをつくる</a:t>
            </a:r>
            <a:endParaRPr kumimoji="1" lang="en-US" altLang="ja-GB" dirty="0">
              <a:solidFill>
                <a:schemeClr val="tx1">
                  <a:lumMod val="50000"/>
                  <a:lumOff val="50000"/>
                </a:schemeClr>
              </a:solidFill>
            </a:endParaRPr>
          </a:p>
        </p:txBody>
      </p:sp>
      <p:pic>
        <p:nvPicPr>
          <p:cNvPr id="44" name="図 43">
            <a:extLst>
              <a:ext uri="{FF2B5EF4-FFF2-40B4-BE49-F238E27FC236}">
                <a16:creationId xmlns:a16="http://schemas.microsoft.com/office/drawing/2014/main" id="{D73C19A6-BBFC-988C-1ACE-C34A070037AE}"/>
              </a:ext>
            </a:extLst>
          </p:cNvPr>
          <p:cNvPicPr>
            <a:picLocks noChangeAspect="1"/>
          </p:cNvPicPr>
          <p:nvPr/>
        </p:nvPicPr>
        <p:blipFill>
          <a:blip r:embed="rId2"/>
          <a:stretch>
            <a:fillRect/>
          </a:stretch>
        </p:blipFill>
        <p:spPr>
          <a:xfrm>
            <a:off x="5510463" y="1236553"/>
            <a:ext cx="3001754" cy="1097248"/>
          </a:xfrm>
          <a:prstGeom prst="rect">
            <a:avLst/>
          </a:prstGeom>
        </p:spPr>
      </p:pic>
    </p:spTree>
    <p:extLst>
      <p:ext uri="{BB962C8B-B14F-4D97-AF65-F5344CB8AC3E}">
        <p14:creationId xmlns:p14="http://schemas.microsoft.com/office/powerpoint/2010/main" val="26239359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E11B9-9813-57BC-6529-E2C3813C4F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2F11E6-8B05-6055-3FF9-AD7500113567}"/>
              </a:ext>
            </a:extLst>
          </p:cNvPr>
          <p:cNvSpPr>
            <a:spLocks noGrp="1"/>
          </p:cNvSpPr>
          <p:nvPr>
            <p:ph type="title"/>
          </p:nvPr>
        </p:nvSpPr>
        <p:spPr/>
        <p:txBody>
          <a:bodyPr>
            <a:normAutofit/>
          </a:bodyPr>
          <a:lstStyle/>
          <a:p>
            <a:r>
              <a:rPr kumimoji="1" lang="ja-GB" altLang="en-US" dirty="0"/>
              <a:t>計算機内部の情報表現</a:t>
            </a:r>
          </a:p>
        </p:txBody>
      </p:sp>
      <p:sp>
        <p:nvSpPr>
          <p:cNvPr id="3" name="コンテンツ プレースホルダー 2">
            <a:extLst>
              <a:ext uri="{FF2B5EF4-FFF2-40B4-BE49-F238E27FC236}">
                <a16:creationId xmlns:a16="http://schemas.microsoft.com/office/drawing/2014/main" id="{23EC1449-F2AF-7BF5-2AA0-F8713E4CD3F0}"/>
              </a:ext>
            </a:extLst>
          </p:cNvPr>
          <p:cNvSpPr>
            <a:spLocks noGrp="1"/>
          </p:cNvSpPr>
          <p:nvPr>
            <p:ph idx="1"/>
          </p:nvPr>
        </p:nvSpPr>
        <p:spPr/>
        <p:txBody>
          <a:bodyPr/>
          <a:lstStyle/>
          <a:p>
            <a:pPr marL="0" indent="0">
              <a:buNone/>
            </a:pPr>
            <a:r>
              <a:rPr kumimoji="1" lang="ja-GB" altLang="en-US" dirty="0"/>
              <a:t>現在の電子計算機では，</a:t>
            </a:r>
            <a:r>
              <a:rPr kumimoji="1" lang="en-US" altLang="ja-GB" dirty="0"/>
              <a:t>2</a:t>
            </a:r>
            <a:r>
              <a:rPr kumimoji="1" lang="ja-GB" altLang="en-US" dirty="0"/>
              <a:t>進数のデジタル表現が標準的</a:t>
            </a:r>
            <a:endParaRPr kumimoji="1" lang="en-US" altLang="ja-GB" dirty="0"/>
          </a:p>
          <a:p>
            <a:pPr lvl="1"/>
            <a:r>
              <a:rPr lang="ja-GB" altLang="en-US" dirty="0">
                <a:solidFill>
                  <a:srgbClr val="2F2523"/>
                </a:solidFill>
              </a:rPr>
              <a:t>あらゆる情報は</a:t>
            </a:r>
            <a:r>
              <a:rPr lang="ja-GB" altLang="en-US" dirty="0">
                <a:solidFill>
                  <a:srgbClr val="0070C0"/>
                </a:solidFill>
              </a:rPr>
              <a:t>デジタル化</a:t>
            </a:r>
            <a:r>
              <a:rPr lang="ja-GB" altLang="en-US" dirty="0">
                <a:solidFill>
                  <a:srgbClr val="2F2523"/>
                </a:solidFill>
              </a:rPr>
              <a:t>されて有限桁の数字に近似される</a:t>
            </a:r>
            <a:endParaRPr lang="en-US" altLang="ja-GB" dirty="0">
              <a:solidFill>
                <a:srgbClr val="2F2523"/>
              </a:solidFill>
            </a:endParaRPr>
          </a:p>
          <a:p>
            <a:pPr lvl="1"/>
            <a:r>
              <a:rPr lang="ja-GB" altLang="en-US" dirty="0">
                <a:solidFill>
                  <a:srgbClr val="2F2523"/>
                </a:solidFill>
              </a:rPr>
              <a:t>数字化された情報は</a:t>
            </a:r>
            <a:r>
              <a:rPr lang="en-US" altLang="ja-GB" dirty="0">
                <a:solidFill>
                  <a:srgbClr val="0070C0"/>
                </a:solidFill>
              </a:rPr>
              <a:t>2</a:t>
            </a:r>
            <a:r>
              <a:rPr lang="ja-GB" altLang="en-US" dirty="0">
                <a:solidFill>
                  <a:srgbClr val="0070C0"/>
                </a:solidFill>
              </a:rPr>
              <a:t>進数で表現</a:t>
            </a:r>
            <a:r>
              <a:rPr lang="ja-GB" altLang="en-US" dirty="0">
                <a:solidFill>
                  <a:srgbClr val="2F2523"/>
                </a:solidFill>
              </a:rPr>
              <a:t>されて</a:t>
            </a:r>
            <a:r>
              <a:rPr lang="en-US" altLang="ja-GB" dirty="0">
                <a:solidFill>
                  <a:srgbClr val="2F2523"/>
                </a:solidFill>
              </a:rPr>
              <a:t>0</a:t>
            </a:r>
            <a:r>
              <a:rPr lang="ja-GB" altLang="en-US" dirty="0">
                <a:solidFill>
                  <a:srgbClr val="2F2523"/>
                </a:solidFill>
              </a:rPr>
              <a:t>と</a:t>
            </a:r>
            <a:r>
              <a:rPr lang="en-US" altLang="ja-GB" dirty="0">
                <a:solidFill>
                  <a:srgbClr val="2F2523"/>
                </a:solidFill>
              </a:rPr>
              <a:t>1</a:t>
            </a:r>
            <a:r>
              <a:rPr lang="ja-GB" altLang="en-US" dirty="0">
                <a:solidFill>
                  <a:srgbClr val="2F2523"/>
                </a:solidFill>
              </a:rPr>
              <a:t>のみで記述される</a:t>
            </a:r>
            <a:endParaRPr lang="en-US" altLang="ja-GB" dirty="0">
              <a:solidFill>
                <a:srgbClr val="2F2523"/>
              </a:solidFill>
            </a:endParaRPr>
          </a:p>
          <a:p>
            <a:pPr lvl="2"/>
            <a:endParaRPr lang="ja-GB" altLang="en-US" dirty="0">
              <a:solidFill>
                <a:srgbClr val="2F2523"/>
              </a:solidFill>
            </a:endParaRPr>
          </a:p>
          <a:p>
            <a:pPr marL="0" indent="0" algn="ctr">
              <a:buNone/>
            </a:pPr>
            <a:endParaRPr kumimoji="1" lang="ja-GB" altLang="en-US" dirty="0">
              <a:solidFill>
                <a:srgbClr val="2F2523"/>
              </a:solidFill>
            </a:endParaRPr>
          </a:p>
        </p:txBody>
      </p:sp>
      <p:graphicFrame>
        <p:nvGraphicFramePr>
          <p:cNvPr id="4" name="表 3">
            <a:extLst>
              <a:ext uri="{FF2B5EF4-FFF2-40B4-BE49-F238E27FC236}">
                <a16:creationId xmlns:a16="http://schemas.microsoft.com/office/drawing/2014/main" id="{F5C4C7EB-29B9-A3F4-9B91-8126558C2E8B}"/>
              </a:ext>
            </a:extLst>
          </p:cNvPr>
          <p:cNvGraphicFramePr>
            <a:graphicFrameLocks noGrp="1"/>
          </p:cNvGraphicFramePr>
          <p:nvPr/>
        </p:nvGraphicFramePr>
        <p:xfrm>
          <a:off x="665687" y="2868606"/>
          <a:ext cx="7717313" cy="741680"/>
        </p:xfrm>
        <a:graphic>
          <a:graphicData uri="http://schemas.openxmlformats.org/drawingml/2006/table">
            <a:tbl>
              <a:tblPr bandRow="1">
                <a:tableStyleId>{073A0DAA-6AF3-43AB-8588-CEC1D06C72B9}</a:tableStyleId>
              </a:tblPr>
              <a:tblGrid>
                <a:gridCol w="946829">
                  <a:extLst>
                    <a:ext uri="{9D8B030D-6E8A-4147-A177-3AD203B41FA5}">
                      <a16:colId xmlns:a16="http://schemas.microsoft.com/office/drawing/2014/main" val="2977301118"/>
                    </a:ext>
                  </a:extLst>
                </a:gridCol>
                <a:gridCol w="439329">
                  <a:extLst>
                    <a:ext uri="{9D8B030D-6E8A-4147-A177-3AD203B41FA5}">
                      <a16:colId xmlns:a16="http://schemas.microsoft.com/office/drawing/2014/main" val="426665724"/>
                    </a:ext>
                  </a:extLst>
                </a:gridCol>
                <a:gridCol w="439329">
                  <a:extLst>
                    <a:ext uri="{9D8B030D-6E8A-4147-A177-3AD203B41FA5}">
                      <a16:colId xmlns:a16="http://schemas.microsoft.com/office/drawing/2014/main" val="3392244070"/>
                    </a:ext>
                  </a:extLst>
                </a:gridCol>
                <a:gridCol w="439329">
                  <a:extLst>
                    <a:ext uri="{9D8B030D-6E8A-4147-A177-3AD203B41FA5}">
                      <a16:colId xmlns:a16="http://schemas.microsoft.com/office/drawing/2014/main" val="684123504"/>
                    </a:ext>
                  </a:extLst>
                </a:gridCol>
                <a:gridCol w="439329">
                  <a:extLst>
                    <a:ext uri="{9D8B030D-6E8A-4147-A177-3AD203B41FA5}">
                      <a16:colId xmlns:a16="http://schemas.microsoft.com/office/drawing/2014/main" val="2271912422"/>
                    </a:ext>
                  </a:extLst>
                </a:gridCol>
                <a:gridCol w="568098">
                  <a:extLst>
                    <a:ext uri="{9D8B030D-6E8A-4147-A177-3AD203B41FA5}">
                      <a16:colId xmlns:a16="http://schemas.microsoft.com/office/drawing/2014/main" val="3236871333"/>
                    </a:ext>
                  </a:extLst>
                </a:gridCol>
                <a:gridCol w="568098">
                  <a:extLst>
                    <a:ext uri="{9D8B030D-6E8A-4147-A177-3AD203B41FA5}">
                      <a16:colId xmlns:a16="http://schemas.microsoft.com/office/drawing/2014/main" val="2552087232"/>
                    </a:ext>
                  </a:extLst>
                </a:gridCol>
                <a:gridCol w="568098">
                  <a:extLst>
                    <a:ext uri="{9D8B030D-6E8A-4147-A177-3AD203B41FA5}">
                      <a16:colId xmlns:a16="http://schemas.microsoft.com/office/drawing/2014/main" val="4160794725"/>
                    </a:ext>
                  </a:extLst>
                </a:gridCol>
                <a:gridCol w="568098">
                  <a:extLst>
                    <a:ext uri="{9D8B030D-6E8A-4147-A177-3AD203B41FA5}">
                      <a16:colId xmlns:a16="http://schemas.microsoft.com/office/drawing/2014/main" val="3263163271"/>
                    </a:ext>
                  </a:extLst>
                </a:gridCol>
                <a:gridCol w="685194">
                  <a:extLst>
                    <a:ext uri="{9D8B030D-6E8A-4147-A177-3AD203B41FA5}">
                      <a16:colId xmlns:a16="http://schemas.microsoft.com/office/drawing/2014/main" val="1087786331"/>
                    </a:ext>
                  </a:extLst>
                </a:gridCol>
                <a:gridCol w="685194">
                  <a:extLst>
                    <a:ext uri="{9D8B030D-6E8A-4147-A177-3AD203B41FA5}">
                      <a16:colId xmlns:a16="http://schemas.microsoft.com/office/drawing/2014/main" val="2078913996"/>
                    </a:ext>
                  </a:extLst>
                </a:gridCol>
                <a:gridCol w="685194">
                  <a:extLst>
                    <a:ext uri="{9D8B030D-6E8A-4147-A177-3AD203B41FA5}">
                      <a16:colId xmlns:a16="http://schemas.microsoft.com/office/drawing/2014/main" val="3122294020"/>
                    </a:ext>
                  </a:extLst>
                </a:gridCol>
                <a:gridCol w="685194">
                  <a:extLst>
                    <a:ext uri="{9D8B030D-6E8A-4147-A177-3AD203B41FA5}">
                      <a16:colId xmlns:a16="http://schemas.microsoft.com/office/drawing/2014/main" val="1911492955"/>
                    </a:ext>
                  </a:extLst>
                </a:gridCol>
              </a:tblGrid>
              <a:tr h="370840">
                <a:tc>
                  <a:txBody>
                    <a:bodyPr/>
                    <a:lstStyle/>
                    <a:p>
                      <a:pPr algn="ctr"/>
                      <a:r>
                        <a:rPr lang="en-US" altLang="ja-GB" dirty="0">
                          <a:solidFill>
                            <a:srgbClr val="2F2523"/>
                          </a:solidFill>
                        </a:rPr>
                        <a:t>10</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2</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3</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4</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5</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6</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7</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8</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9</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49705180"/>
                  </a:ext>
                </a:extLst>
              </a:tr>
              <a:tr h="370840">
                <a:tc>
                  <a:txBody>
                    <a:bodyPr/>
                    <a:lstStyle/>
                    <a:p>
                      <a:pPr algn="ctr"/>
                      <a:r>
                        <a:rPr lang="en-US" altLang="ja-GB" dirty="0">
                          <a:solidFill>
                            <a:srgbClr val="2F2523"/>
                          </a:solidFill>
                        </a:rPr>
                        <a:t>2</a:t>
                      </a:r>
                      <a:r>
                        <a:rPr lang="ja-GB" altLang="en-US" dirty="0">
                          <a:solidFill>
                            <a:srgbClr val="2F2523"/>
                          </a:solidFill>
                        </a:rPr>
                        <a:t>進数</a:t>
                      </a: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1001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1010</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tc>
                  <a:txBody>
                    <a:bodyPr/>
                    <a:lstStyle/>
                    <a:p>
                      <a:pPr algn="ctr"/>
                      <a:r>
                        <a:rPr lang="en-US" altLang="ja-GB" dirty="0">
                          <a:solidFill>
                            <a:srgbClr val="2F2523"/>
                          </a:solidFill>
                        </a:rPr>
                        <a:t>1011</a:t>
                      </a:r>
                      <a:endParaRPr lang="ja-GB" altLang="en-US" dirty="0">
                        <a:solidFill>
                          <a:srgbClr val="2F2523"/>
                        </a:solidFill>
                      </a:endParaRPr>
                    </a:p>
                  </a:txBody>
                  <a:tcPr>
                    <a:lnL w="9525" cap="flat" cmpd="sng" algn="ctr">
                      <a:solidFill>
                        <a:srgbClr val="2F2523"/>
                      </a:solidFill>
                      <a:prstDash val="solid"/>
                      <a:round/>
                      <a:headEnd type="none" w="med" len="med"/>
                      <a:tailEnd type="none" w="med" len="med"/>
                    </a:lnL>
                    <a:lnR w="9525" cap="flat" cmpd="sng" algn="ctr">
                      <a:solidFill>
                        <a:srgbClr val="2F2523"/>
                      </a:solidFill>
                      <a:prstDash val="solid"/>
                      <a:round/>
                      <a:headEnd type="none" w="med" len="med"/>
                      <a:tailEnd type="none" w="med" len="med"/>
                    </a:lnR>
                    <a:lnT w="9525" cap="flat" cmpd="sng" algn="ctr">
                      <a:solidFill>
                        <a:srgbClr val="2F2523"/>
                      </a:solidFill>
                      <a:prstDash val="solid"/>
                      <a:round/>
                      <a:headEnd type="none" w="med" len="med"/>
                      <a:tailEnd type="none" w="med" len="med"/>
                    </a:lnT>
                    <a:lnB w="9525" cap="flat" cmpd="sng" algn="ctr">
                      <a:solidFill>
                        <a:srgbClr val="2F2523"/>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3458688"/>
                  </a:ext>
                </a:extLst>
              </a:tr>
            </a:tbl>
          </a:graphicData>
        </a:graphic>
      </p:graphicFrame>
      <p:grpSp>
        <p:nvGrpSpPr>
          <p:cNvPr id="5" name="グループ化 4">
            <a:extLst>
              <a:ext uri="{FF2B5EF4-FFF2-40B4-BE49-F238E27FC236}">
                <a16:creationId xmlns:a16="http://schemas.microsoft.com/office/drawing/2014/main" id="{F7FD6E04-2C7F-040E-2F2B-ECE55A9EA9A1}"/>
              </a:ext>
            </a:extLst>
          </p:cNvPr>
          <p:cNvGrpSpPr/>
          <p:nvPr/>
        </p:nvGrpSpPr>
        <p:grpSpPr>
          <a:xfrm>
            <a:off x="665686" y="4094294"/>
            <a:ext cx="7717313" cy="1045825"/>
            <a:chOff x="753983" y="5480322"/>
            <a:chExt cx="7717313" cy="1045825"/>
          </a:xfrm>
        </p:grpSpPr>
        <p:pic>
          <p:nvPicPr>
            <p:cNvPr id="6" name="図 5">
              <a:extLst>
                <a:ext uri="{FF2B5EF4-FFF2-40B4-BE49-F238E27FC236}">
                  <a16:creationId xmlns:a16="http://schemas.microsoft.com/office/drawing/2014/main" id="{80436514-5307-46BD-5565-23D9FBDACB9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3983" y="5480322"/>
              <a:ext cx="3197239" cy="1045825"/>
            </a:xfrm>
            <a:prstGeom prst="rect">
              <a:avLst/>
            </a:prstGeom>
            <a:ln>
              <a:noFill/>
            </a:ln>
            <a:effectLst>
              <a:outerShdw blurRad="292100" dist="139700" dir="2700000" algn="tl" rotWithShape="0">
                <a:srgbClr val="333333">
                  <a:alpha val="65000"/>
                </a:srgbClr>
              </a:outerShdw>
            </a:effectLst>
          </p:spPr>
        </p:pic>
        <p:pic>
          <p:nvPicPr>
            <p:cNvPr id="7" name="図 6" descr="電子機器, 回路 が含まれている画像&#10;&#10;AI によって生成されたコンテンツは間違っている可能性があります。">
              <a:extLst>
                <a:ext uri="{FF2B5EF4-FFF2-40B4-BE49-F238E27FC236}">
                  <a16:creationId xmlns:a16="http://schemas.microsoft.com/office/drawing/2014/main" id="{C7858D8B-1690-ED2E-E76E-BC0A8C26C2C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734152" y="5480322"/>
              <a:ext cx="1563976" cy="1041022"/>
            </a:xfrm>
            <a:prstGeom prst="rect">
              <a:avLst/>
            </a:prstGeom>
            <a:ln>
              <a:noFill/>
            </a:ln>
            <a:effectLst>
              <a:outerShdw blurRad="292100" dist="139700" dir="2700000" algn="tl" rotWithShape="0">
                <a:srgbClr val="333333">
                  <a:alpha val="65000"/>
                </a:srgbClr>
              </a:outerShdw>
            </a:effectLst>
          </p:spPr>
        </p:pic>
        <p:pic>
          <p:nvPicPr>
            <p:cNvPr id="8" name="図 7" descr="ドアのノブ&#10;&#10;AI によって生成されたコンテンツは間違っている可能性があります。">
              <a:extLst>
                <a:ext uri="{FF2B5EF4-FFF2-40B4-BE49-F238E27FC236}">
                  <a16:creationId xmlns:a16="http://schemas.microsoft.com/office/drawing/2014/main" id="{7B1BE135-4046-0018-822D-0B215DB17A6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1058" y="5480322"/>
              <a:ext cx="1390238" cy="1042679"/>
            </a:xfrm>
            <a:prstGeom prst="rect">
              <a:avLst/>
            </a:prstGeom>
            <a:ln>
              <a:noFill/>
            </a:ln>
            <a:effectLst>
              <a:outerShdw blurRad="292100" dist="139700" dir="2700000" algn="tl" rotWithShape="0">
                <a:srgbClr val="333333">
                  <a:alpha val="65000"/>
                </a:srgbClr>
              </a:outerShdw>
            </a:effectLst>
          </p:spPr>
        </p:pic>
      </p:grpSp>
      <p:sp>
        <p:nvSpPr>
          <p:cNvPr id="9" name="テキスト ボックス 8">
            <a:extLst>
              <a:ext uri="{FF2B5EF4-FFF2-40B4-BE49-F238E27FC236}">
                <a16:creationId xmlns:a16="http://schemas.microsoft.com/office/drawing/2014/main" id="{E44359C9-DA94-6F81-DBB7-54ACA7F7BC16}"/>
              </a:ext>
            </a:extLst>
          </p:cNvPr>
          <p:cNvSpPr txBox="1"/>
          <p:nvPr/>
        </p:nvSpPr>
        <p:spPr>
          <a:xfrm>
            <a:off x="2014366" y="5624127"/>
            <a:ext cx="5262979" cy="646331"/>
          </a:xfrm>
          <a:prstGeom prst="rect">
            <a:avLst/>
          </a:prstGeom>
          <a:noFill/>
        </p:spPr>
        <p:txBody>
          <a:bodyPr wrap="none" rtlCol="0">
            <a:spAutoFit/>
          </a:bodyPr>
          <a:lstStyle/>
          <a:p>
            <a:r>
              <a:rPr kumimoji="1" lang="ja-GB" altLang="en-US" b="1" dirty="0"/>
              <a:t>デジタル（数字式）：情報を保持・伝達しやすい</a:t>
            </a:r>
            <a:endParaRPr kumimoji="1" lang="en-US" altLang="ja-GB" b="1" dirty="0"/>
          </a:p>
          <a:p>
            <a:r>
              <a:rPr kumimoji="1" lang="ja-GB" altLang="en-US" b="1" dirty="0"/>
              <a:t>２進数（</a:t>
            </a:r>
            <a:r>
              <a:rPr kumimoji="1" lang="en-US" altLang="ja-GB" b="1" dirty="0"/>
              <a:t>0</a:t>
            </a:r>
            <a:r>
              <a:rPr kumimoji="1" lang="ja-GB" altLang="en-US" b="1" dirty="0"/>
              <a:t>と</a:t>
            </a:r>
            <a:r>
              <a:rPr kumimoji="1" lang="en-US" altLang="ja-GB" b="1" dirty="0"/>
              <a:t>1</a:t>
            </a:r>
            <a:r>
              <a:rPr kumimoji="1" lang="ja-GB" altLang="en-US" b="1" dirty="0"/>
              <a:t>のみ）：機械で表現しやすい</a:t>
            </a:r>
          </a:p>
        </p:txBody>
      </p:sp>
    </p:spTree>
    <p:extLst>
      <p:ext uri="{BB962C8B-B14F-4D97-AF65-F5344CB8AC3E}">
        <p14:creationId xmlns:p14="http://schemas.microsoft.com/office/powerpoint/2010/main" val="26622513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A6E8-055A-C0B6-DB07-B83F83E72B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7802D4-A1B1-5247-8DEE-1477D7E880E0}"/>
              </a:ext>
            </a:extLst>
          </p:cNvPr>
          <p:cNvSpPr>
            <a:spLocks noGrp="1"/>
          </p:cNvSpPr>
          <p:nvPr>
            <p:ph type="title"/>
          </p:nvPr>
        </p:nvSpPr>
        <p:spPr/>
        <p:txBody>
          <a:bodyPr/>
          <a:lstStyle/>
          <a:p>
            <a:r>
              <a:rPr kumimoji="1" lang="ja-GB" altLang="en-US" dirty="0"/>
              <a:t>デジタル電子計算機と</a:t>
            </a:r>
            <a:r>
              <a:rPr kumimoji="1" lang="en-US" altLang="ja-GB" dirty="0"/>
              <a:t>2</a:t>
            </a:r>
            <a:r>
              <a:rPr kumimoji="1" lang="ja-GB" altLang="en-US" dirty="0"/>
              <a:t>進数表現</a:t>
            </a:r>
          </a:p>
        </p:txBody>
      </p:sp>
      <p:sp>
        <p:nvSpPr>
          <p:cNvPr id="3" name="コンテンツ プレースホルダー 2">
            <a:extLst>
              <a:ext uri="{FF2B5EF4-FFF2-40B4-BE49-F238E27FC236}">
                <a16:creationId xmlns:a16="http://schemas.microsoft.com/office/drawing/2014/main" id="{FDD72E7E-684A-0F54-4705-6F619AE487C5}"/>
              </a:ext>
            </a:extLst>
          </p:cNvPr>
          <p:cNvSpPr>
            <a:spLocks noGrp="1"/>
          </p:cNvSpPr>
          <p:nvPr>
            <p:ph idx="1"/>
          </p:nvPr>
        </p:nvSpPr>
        <p:spPr/>
        <p:txBody>
          <a:bodyPr>
            <a:normAutofit/>
          </a:bodyPr>
          <a:lstStyle/>
          <a:p>
            <a:pPr marL="0" indent="0">
              <a:buNone/>
            </a:pPr>
            <a:r>
              <a:rPr lang="ja-GB" altLang="en-US" sz="2000" dirty="0"/>
              <a:t>微細な電圧スイッチで</a:t>
            </a:r>
            <a:r>
              <a:rPr lang="en-US" altLang="ja-GB" sz="2000" dirty="0"/>
              <a:t>0</a:t>
            </a:r>
            <a:r>
              <a:rPr lang="ja-GB" altLang="en-US" sz="2000" dirty="0"/>
              <a:t>と</a:t>
            </a:r>
            <a:r>
              <a:rPr lang="en-US" altLang="ja-GB" sz="2000" dirty="0"/>
              <a:t>1</a:t>
            </a:r>
            <a:r>
              <a:rPr lang="ja-GB" altLang="en-US" sz="2000" dirty="0"/>
              <a:t>を表現</a:t>
            </a:r>
            <a:endParaRPr kumimoji="1" lang="en-US" altLang="ja-GB" sz="2000" dirty="0"/>
          </a:p>
          <a:p>
            <a:pPr marL="457200" lvl="1" indent="0">
              <a:buNone/>
            </a:pPr>
            <a:r>
              <a:rPr kumimoji="1" lang="ja-GB" altLang="en-US" sz="1800" dirty="0">
                <a:solidFill>
                  <a:srgbClr val="2F2523"/>
                </a:solidFill>
              </a:rPr>
              <a:t>半導体：導体（電気を通す）と絶縁体（通さない）の中間的な物質</a:t>
            </a:r>
            <a:endParaRPr kumimoji="1" lang="en-US" altLang="ja-GB" sz="1800" dirty="0">
              <a:solidFill>
                <a:srgbClr val="2F2523"/>
              </a:solidFill>
            </a:endParaRPr>
          </a:p>
          <a:p>
            <a:pPr lvl="2"/>
            <a:r>
              <a:rPr lang="ja-GB" altLang="en-US" sz="1600" dirty="0">
                <a:solidFill>
                  <a:srgbClr val="2F2523"/>
                </a:solidFill>
              </a:rPr>
              <a:t>電気抵抗が導体と絶縁体の中間程度の物質</a:t>
            </a:r>
            <a:endParaRPr lang="en-US" altLang="ja-GB" sz="1600" dirty="0">
              <a:solidFill>
                <a:srgbClr val="2F2523"/>
              </a:solidFill>
            </a:endParaRPr>
          </a:p>
          <a:p>
            <a:pPr lvl="3"/>
            <a:r>
              <a:rPr lang="ja-GB" altLang="en-US" sz="1400" dirty="0">
                <a:solidFill>
                  <a:srgbClr val="2F2523"/>
                </a:solidFill>
              </a:rPr>
              <a:t>例：シリコン，ゲルマニウム</a:t>
            </a:r>
            <a:endParaRPr lang="en-US" altLang="ja-GB" sz="1400" dirty="0">
              <a:solidFill>
                <a:srgbClr val="2F2523"/>
              </a:solidFill>
            </a:endParaRPr>
          </a:p>
          <a:p>
            <a:pPr lvl="2"/>
            <a:r>
              <a:rPr kumimoji="1" lang="ja-GB" altLang="en-US" sz="1600" dirty="0">
                <a:solidFill>
                  <a:srgbClr val="2F2523"/>
                </a:solidFill>
              </a:rPr>
              <a:t>不純物や外部刺激の有無によって，電気を通したり通さなかったりする</a:t>
            </a:r>
            <a:endParaRPr lang="en-US" altLang="ja-GB" sz="1600" dirty="0">
              <a:solidFill>
                <a:srgbClr val="2F2523"/>
              </a:solidFill>
            </a:endParaRPr>
          </a:p>
          <a:p>
            <a:pPr marL="1371600" lvl="3" indent="0">
              <a:buNone/>
            </a:pPr>
            <a:r>
              <a:rPr lang="en-US" altLang="ja-GB" sz="1400" dirty="0">
                <a:solidFill>
                  <a:srgbClr val="2F2523"/>
                </a:solidFill>
              </a:rPr>
              <a:t>→ </a:t>
            </a:r>
            <a:r>
              <a:rPr lang="ja-GB" altLang="en-US" sz="1400" dirty="0">
                <a:solidFill>
                  <a:srgbClr val="2F2523"/>
                </a:solidFill>
              </a:rPr>
              <a:t>スイッチとして</a:t>
            </a:r>
            <a:r>
              <a:rPr lang="en-US" altLang="ja-GB" sz="1400" dirty="0">
                <a:solidFill>
                  <a:srgbClr val="2F2523"/>
                </a:solidFill>
              </a:rPr>
              <a:t>0/1</a:t>
            </a:r>
            <a:r>
              <a:rPr lang="ja-GB" altLang="en-US" sz="1400" dirty="0">
                <a:solidFill>
                  <a:srgbClr val="2F2523"/>
                </a:solidFill>
              </a:rPr>
              <a:t>を表現可能</a:t>
            </a:r>
            <a:endParaRPr lang="en-US" altLang="ja-GB" sz="1400" dirty="0">
              <a:solidFill>
                <a:srgbClr val="2F2523"/>
              </a:solidFill>
            </a:endParaRPr>
          </a:p>
          <a:p>
            <a:pPr lvl="2"/>
            <a:endParaRPr lang="en-US" altLang="ja-GB" sz="1600" dirty="0"/>
          </a:p>
          <a:p>
            <a:pPr marL="457200" lvl="1" indent="0">
              <a:buNone/>
            </a:pPr>
            <a:r>
              <a:rPr kumimoji="1" lang="en-US" altLang="ja-GB" sz="1800" dirty="0">
                <a:solidFill>
                  <a:srgbClr val="2F2523"/>
                </a:solidFill>
              </a:rPr>
              <a:t>IC</a:t>
            </a:r>
            <a:r>
              <a:rPr kumimoji="1" lang="ja-GB" altLang="en-US" sz="1800" dirty="0">
                <a:solidFill>
                  <a:srgbClr val="2F2523"/>
                </a:solidFill>
              </a:rPr>
              <a:t>チップ：大量のスイッチを並べた装置（集積回路，</a:t>
            </a:r>
            <a:r>
              <a:rPr kumimoji="1" lang="en-US" altLang="ja-GB" sz="1800" dirty="0">
                <a:solidFill>
                  <a:srgbClr val="2F2523"/>
                </a:solidFill>
              </a:rPr>
              <a:t>Integrated Circuit</a:t>
            </a:r>
            <a:r>
              <a:rPr kumimoji="1" lang="ja-GB" altLang="en-US" sz="1800" dirty="0">
                <a:solidFill>
                  <a:srgbClr val="2F2523"/>
                </a:solidFill>
              </a:rPr>
              <a:t>）</a:t>
            </a:r>
            <a:endParaRPr kumimoji="1" lang="en-US" altLang="ja-GB" sz="1800" dirty="0">
              <a:solidFill>
                <a:srgbClr val="2F2523"/>
              </a:solidFill>
            </a:endParaRPr>
          </a:p>
          <a:p>
            <a:pPr lvl="2"/>
            <a:r>
              <a:rPr kumimoji="1" lang="ja-GB" altLang="en-US" sz="1600" dirty="0"/>
              <a:t>微細な半導体装置を大量に並べたデバイス</a:t>
            </a:r>
            <a:endParaRPr kumimoji="1" lang="en-US" altLang="ja-GB" sz="1600" dirty="0"/>
          </a:p>
          <a:p>
            <a:pPr lvl="2"/>
            <a:r>
              <a:rPr lang="ja-GB" altLang="en-US" sz="1600" dirty="0"/>
              <a:t>各半導体装置は電気信号の「遮断</a:t>
            </a:r>
            <a:r>
              <a:rPr lang="en-US" altLang="ja-GB" sz="1600" dirty="0"/>
              <a:t> or </a:t>
            </a:r>
            <a:r>
              <a:rPr lang="ja-GB" altLang="en-US" sz="1600" dirty="0"/>
              <a:t>通過」で「</a:t>
            </a:r>
            <a:r>
              <a:rPr lang="en-US" altLang="ja-GB" sz="1600" dirty="0"/>
              <a:t>0 or 1</a:t>
            </a:r>
            <a:r>
              <a:rPr lang="ja-GB" altLang="en-US" sz="1600" dirty="0"/>
              <a:t>」を表現</a:t>
            </a:r>
            <a:endParaRPr lang="en-US" altLang="ja-GB" sz="1600" dirty="0"/>
          </a:p>
          <a:p>
            <a:pPr lvl="2"/>
            <a:endParaRPr kumimoji="1" lang="ja-GB" altLang="en-US" sz="1600" dirty="0"/>
          </a:p>
        </p:txBody>
      </p:sp>
      <p:sp>
        <p:nvSpPr>
          <p:cNvPr id="8" name="テキスト ボックス 7">
            <a:extLst>
              <a:ext uri="{FF2B5EF4-FFF2-40B4-BE49-F238E27FC236}">
                <a16:creationId xmlns:a16="http://schemas.microsoft.com/office/drawing/2014/main" id="{A8ABE331-35DB-F73D-9CC0-2958A542EB2B}"/>
              </a:ext>
            </a:extLst>
          </p:cNvPr>
          <p:cNvSpPr txBox="1"/>
          <p:nvPr/>
        </p:nvSpPr>
        <p:spPr>
          <a:xfrm>
            <a:off x="1460550" y="6312945"/>
            <a:ext cx="5302734" cy="461665"/>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左：シリコン単結晶のインゴット</a:t>
            </a:r>
            <a:endParaRPr kumimoji="1" lang="en-US" altLang="ja-GB" sz="1200" b="1" dirty="0">
              <a:solidFill>
                <a:schemeClr val="tx1">
                  <a:lumMod val="50000"/>
                  <a:lumOff val="50000"/>
                </a:schemeClr>
              </a:solidFill>
            </a:endParaRPr>
          </a:p>
          <a:p>
            <a:pPr algn="ctr"/>
            <a:r>
              <a:rPr kumimoji="1" lang="en-GB" altLang="ja-GB" sz="1200" b="1" dirty="0">
                <a:solidFill>
                  <a:schemeClr val="tx1">
                    <a:lumMod val="50000"/>
                    <a:lumOff val="50000"/>
                  </a:schemeClr>
                </a:solidFill>
              </a:rPr>
              <a:t>CC </a:t>
            </a:r>
            <a:r>
              <a:rPr kumimoji="1" lang="ja-JP" altLang="en-US" sz="1200" b="1">
                <a:solidFill>
                  <a:schemeClr val="tx1">
                    <a:lumMod val="50000"/>
                    <a:lumOff val="50000"/>
                  </a:schemeClr>
                </a:solidFill>
              </a:rPr>
              <a:t>表示</a:t>
            </a:r>
            <a:r>
              <a:rPr kumimoji="1" lang="en-US" altLang="ja-JP" sz="1200" b="1" dirty="0">
                <a:solidFill>
                  <a:schemeClr val="tx1">
                    <a:lumMod val="50000"/>
                    <a:lumOff val="50000"/>
                  </a:schemeClr>
                </a:solidFill>
              </a:rPr>
              <a:t>-</a:t>
            </a:r>
            <a:r>
              <a:rPr kumimoji="1" lang="ja-JP" altLang="en-US" sz="1200" b="1">
                <a:solidFill>
                  <a:schemeClr val="tx1">
                    <a:lumMod val="50000"/>
                    <a:lumOff val="50000"/>
                  </a:schemeClr>
                </a:solidFill>
              </a:rPr>
              <a:t>継承 </a:t>
            </a:r>
            <a:r>
              <a:rPr kumimoji="1" lang="en-US" altLang="ja-JP" sz="1200" b="1" dirty="0">
                <a:solidFill>
                  <a:schemeClr val="tx1">
                    <a:lumMod val="50000"/>
                    <a:lumOff val="50000"/>
                  </a:schemeClr>
                </a:solidFill>
              </a:rPr>
              <a:t>3.0, </a:t>
            </a:r>
            <a:r>
              <a:rPr kumimoji="1" lang="en-GB" altLang="ja-GB" sz="1200" b="1"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https://commons.wikimedia.org/w/index.php?curid=314282</a:t>
            </a:r>
            <a:r>
              <a:rPr kumimoji="1" lang="en-GB" altLang="ja-GB" sz="1200" b="1" dirty="0">
                <a:solidFill>
                  <a:schemeClr val="tx1">
                    <a:lumMod val="50000"/>
                    <a:lumOff val="50000"/>
                  </a:schemeClr>
                </a:solidFill>
              </a:rPr>
              <a:t> </a:t>
            </a:r>
            <a:endParaRPr kumimoji="1" lang="ja-GB" altLang="en-US" sz="1200" b="1" dirty="0">
              <a:solidFill>
                <a:schemeClr val="tx1">
                  <a:lumMod val="50000"/>
                  <a:lumOff val="50000"/>
                </a:schemeClr>
              </a:solidFill>
            </a:endParaRPr>
          </a:p>
        </p:txBody>
      </p:sp>
      <p:grpSp>
        <p:nvGrpSpPr>
          <p:cNvPr id="11" name="グループ化 10">
            <a:extLst>
              <a:ext uri="{FF2B5EF4-FFF2-40B4-BE49-F238E27FC236}">
                <a16:creationId xmlns:a16="http://schemas.microsoft.com/office/drawing/2014/main" id="{CECB2466-7E86-5A69-AB18-166A54F04452}"/>
              </a:ext>
            </a:extLst>
          </p:cNvPr>
          <p:cNvGrpSpPr/>
          <p:nvPr/>
        </p:nvGrpSpPr>
        <p:grpSpPr>
          <a:xfrm>
            <a:off x="582033" y="4091457"/>
            <a:ext cx="7979934" cy="2025942"/>
            <a:chOff x="1045050" y="4030497"/>
            <a:chExt cx="7979934" cy="2025942"/>
          </a:xfrm>
        </p:grpSpPr>
        <p:pic>
          <p:nvPicPr>
            <p:cNvPr id="5" name="図 4" descr="電子機器, 回路 が含まれている画像&#10;&#10;AI によって生成されたコンテンツは間違っている可能性があります。">
              <a:extLst>
                <a:ext uri="{FF2B5EF4-FFF2-40B4-BE49-F238E27FC236}">
                  <a16:creationId xmlns:a16="http://schemas.microsoft.com/office/drawing/2014/main" id="{18249F19-1C1C-DD9F-1ADC-BA5E7E4F1BF8}"/>
                </a:ext>
              </a:extLst>
            </p:cNvPr>
            <p:cNvPicPr>
              <a:picLocks noChangeAspect="1"/>
            </p:cNvPicPr>
            <p:nvPr/>
          </p:nvPicPr>
          <p:blipFill>
            <a:blip r:embed="rId3"/>
            <a:stretch>
              <a:fillRect/>
            </a:stretch>
          </p:blipFill>
          <p:spPr>
            <a:xfrm>
              <a:off x="5981316" y="4030497"/>
              <a:ext cx="3043668" cy="2025942"/>
            </a:xfrm>
            <a:prstGeom prst="rect">
              <a:avLst/>
            </a:prstGeom>
            <a:ln>
              <a:noFill/>
            </a:ln>
            <a:effectLst>
              <a:outerShdw blurRad="292100" dist="139700" dir="2700000" algn="tl" rotWithShape="0">
                <a:srgbClr val="333333">
                  <a:alpha val="65000"/>
                </a:srgbClr>
              </a:outerShdw>
            </a:effectLst>
          </p:spPr>
        </p:pic>
        <p:pic>
          <p:nvPicPr>
            <p:cNvPr id="7" name="図 6" descr="屋内, 人, 座る, テーブル が含まれている画像&#10;&#10;AI によって生成されたコンテンツは間違っている可能性があります。">
              <a:extLst>
                <a:ext uri="{FF2B5EF4-FFF2-40B4-BE49-F238E27FC236}">
                  <a16:creationId xmlns:a16="http://schemas.microsoft.com/office/drawing/2014/main" id="{D06F43BE-935B-1F57-5C33-6B186B9362B8}"/>
                </a:ext>
              </a:extLst>
            </p:cNvPr>
            <p:cNvPicPr>
              <a:picLocks noChangeAspect="1"/>
            </p:cNvPicPr>
            <p:nvPr/>
          </p:nvPicPr>
          <p:blipFill>
            <a:blip r:embed="rId4"/>
            <a:stretch>
              <a:fillRect/>
            </a:stretch>
          </p:blipFill>
          <p:spPr>
            <a:xfrm>
              <a:off x="2577416" y="4030497"/>
              <a:ext cx="3043669" cy="2025942"/>
            </a:xfrm>
            <a:prstGeom prst="rect">
              <a:avLst/>
            </a:prstGeom>
            <a:ln>
              <a:noFill/>
            </a:ln>
            <a:effectLst>
              <a:outerShdw blurRad="292100" dist="139700" dir="2700000" algn="tl" rotWithShape="0">
                <a:srgbClr val="333333">
                  <a:alpha val="65000"/>
                </a:srgbClr>
              </a:outerShdw>
            </a:effectLst>
          </p:spPr>
        </p:pic>
        <p:pic>
          <p:nvPicPr>
            <p:cNvPr id="10" name="図 9" descr="ガラスの瓶&#10;&#10;AI によって生成されたコンテンツは間違っている可能性があります。">
              <a:extLst>
                <a:ext uri="{FF2B5EF4-FFF2-40B4-BE49-F238E27FC236}">
                  <a16:creationId xmlns:a16="http://schemas.microsoft.com/office/drawing/2014/main" id="{EC6C6234-34FD-67B6-E862-953220611313}"/>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045050" y="4030497"/>
              <a:ext cx="1172135" cy="2025942"/>
            </a:xfrm>
            <a:prstGeom prst="rect">
              <a:avLst/>
            </a:prstGeom>
            <a:ln>
              <a:noFill/>
            </a:ln>
            <a:effectLst>
              <a:outerShdw blurRad="292100" dist="139700" dir="2700000" algn="tl" rotWithShape="0">
                <a:srgbClr val="333333">
                  <a:alpha val="65000"/>
                </a:srgbClr>
              </a:outerShdw>
            </a:effectLst>
          </p:spPr>
        </p:pic>
      </p:grpSp>
      <p:sp>
        <p:nvSpPr>
          <p:cNvPr id="4" name="正方形/長方形 3">
            <a:extLst>
              <a:ext uri="{FF2B5EF4-FFF2-40B4-BE49-F238E27FC236}">
                <a16:creationId xmlns:a16="http://schemas.microsoft.com/office/drawing/2014/main" id="{4F5F2673-F824-928A-D867-0B9B1F5056A2}"/>
              </a:ext>
            </a:extLst>
          </p:cNvPr>
          <p:cNvSpPr/>
          <p:nvPr/>
        </p:nvSpPr>
        <p:spPr>
          <a:xfrm>
            <a:off x="314325" y="3895910"/>
            <a:ext cx="8515350" cy="2878699"/>
          </a:xfrm>
          <a:prstGeom prst="rect">
            <a:avLst/>
          </a:prstGeom>
          <a:solidFill>
            <a:srgbClr val="F8FDFF">
              <a:alpha val="9117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 name="テキスト ボックス 5">
            <a:extLst>
              <a:ext uri="{FF2B5EF4-FFF2-40B4-BE49-F238E27FC236}">
                <a16:creationId xmlns:a16="http://schemas.microsoft.com/office/drawing/2014/main" id="{4CEC7544-0F72-7784-8FEB-85882A0B7B0E}"/>
              </a:ext>
            </a:extLst>
          </p:cNvPr>
          <p:cNvSpPr txBox="1"/>
          <p:nvPr/>
        </p:nvSpPr>
        <p:spPr>
          <a:xfrm>
            <a:off x="974942" y="4288820"/>
            <a:ext cx="7096816" cy="1631216"/>
          </a:xfrm>
          <a:prstGeom prst="rect">
            <a:avLst/>
          </a:prstGeom>
          <a:noFill/>
        </p:spPr>
        <p:txBody>
          <a:bodyPr wrap="none" rtlCol="0">
            <a:spAutoFit/>
          </a:bodyPr>
          <a:lstStyle/>
          <a:p>
            <a:pPr algn="ctr"/>
            <a:r>
              <a:rPr kumimoji="1" lang="ja-GB" altLang="en-US" sz="2000" b="1" dirty="0">
                <a:solidFill>
                  <a:schemeClr val="accent2"/>
                </a:solidFill>
              </a:rPr>
              <a:t>計算機は</a:t>
            </a:r>
            <a:r>
              <a:rPr kumimoji="1" lang="en-US" altLang="ja-GB" sz="2000" b="1" dirty="0">
                <a:solidFill>
                  <a:schemeClr val="accent2"/>
                </a:solidFill>
              </a:rPr>
              <a:t>0</a:t>
            </a:r>
            <a:r>
              <a:rPr kumimoji="1" lang="ja-GB" altLang="en-US" sz="2000" b="1" dirty="0">
                <a:solidFill>
                  <a:schemeClr val="accent2"/>
                </a:solidFill>
              </a:rPr>
              <a:t>と</a:t>
            </a:r>
            <a:r>
              <a:rPr kumimoji="1" lang="en-US" altLang="ja-GB" sz="2000" b="1" dirty="0">
                <a:solidFill>
                  <a:schemeClr val="accent2"/>
                </a:solidFill>
              </a:rPr>
              <a:t>1</a:t>
            </a:r>
            <a:r>
              <a:rPr kumimoji="1" lang="ja-GB" altLang="en-US" sz="2000" b="1" dirty="0">
                <a:solidFill>
                  <a:schemeClr val="accent2"/>
                </a:solidFill>
              </a:rPr>
              <a:t>で情報を記憶（データ記憶装置）</a:t>
            </a:r>
            <a:endParaRPr kumimoji="1" lang="en-US" altLang="ja-GB" sz="2000" b="1" dirty="0">
              <a:solidFill>
                <a:schemeClr val="accent2"/>
              </a:solidFill>
            </a:endParaRPr>
          </a:p>
          <a:p>
            <a:pPr algn="ctr"/>
            <a:r>
              <a:rPr kumimoji="1" lang="en-US" altLang="ja-GB" sz="2000" b="1" dirty="0">
                <a:solidFill>
                  <a:srgbClr val="2F2523"/>
                </a:solidFill>
              </a:rPr>
              <a:t>↓</a:t>
            </a:r>
          </a:p>
          <a:p>
            <a:pPr algn="ctr"/>
            <a:r>
              <a:rPr kumimoji="1" lang="ja-GB" altLang="en-US" sz="2000" b="1" dirty="0">
                <a:solidFill>
                  <a:srgbClr val="2F2523"/>
                </a:solidFill>
              </a:rPr>
              <a:t>電圧の高低を切り替えて情報を更新（</a:t>
            </a:r>
            <a:r>
              <a:rPr kumimoji="1" lang="en-US" altLang="ja-GB" sz="2000" b="1" dirty="0">
                <a:solidFill>
                  <a:srgbClr val="2F2523"/>
                </a:solidFill>
              </a:rPr>
              <a:t>CPU</a:t>
            </a:r>
            <a:r>
              <a:rPr kumimoji="1" lang="ja-GB" altLang="en-US" sz="2000" b="1" dirty="0">
                <a:solidFill>
                  <a:srgbClr val="2F2523"/>
                </a:solidFill>
              </a:rPr>
              <a:t>）</a:t>
            </a:r>
            <a:endParaRPr kumimoji="1" lang="en-US" altLang="ja-GB" sz="2000" b="1" dirty="0">
              <a:solidFill>
                <a:srgbClr val="2F2523"/>
              </a:solidFill>
            </a:endParaRPr>
          </a:p>
          <a:p>
            <a:pPr algn="ctr"/>
            <a:r>
              <a:rPr kumimoji="1" lang="en-US" altLang="ja-GB" sz="2000" b="1" dirty="0">
                <a:solidFill>
                  <a:srgbClr val="2F2523"/>
                </a:solidFill>
              </a:rPr>
              <a:t>↑</a:t>
            </a:r>
          </a:p>
          <a:p>
            <a:pPr algn="ctr"/>
            <a:r>
              <a:rPr kumimoji="1" lang="en-US" altLang="ja-GB" sz="2000" b="1" dirty="0">
                <a:solidFill>
                  <a:schemeClr val="accent2"/>
                </a:solidFill>
              </a:rPr>
              <a:t>0</a:t>
            </a:r>
            <a:r>
              <a:rPr kumimoji="1" lang="ja-GB" altLang="en-US" sz="2000" b="1" dirty="0">
                <a:solidFill>
                  <a:schemeClr val="accent2"/>
                </a:solidFill>
              </a:rPr>
              <a:t>と</a:t>
            </a:r>
            <a:r>
              <a:rPr kumimoji="1" lang="en-US" altLang="ja-GB" sz="2000" b="1" dirty="0">
                <a:solidFill>
                  <a:schemeClr val="accent2"/>
                </a:solidFill>
              </a:rPr>
              <a:t>1</a:t>
            </a:r>
            <a:r>
              <a:rPr kumimoji="1" lang="ja-GB" altLang="en-US" sz="2000" b="1" dirty="0">
                <a:solidFill>
                  <a:schemeClr val="accent2"/>
                </a:solidFill>
              </a:rPr>
              <a:t>のパターンで</a:t>
            </a:r>
            <a:r>
              <a:rPr kumimoji="1" lang="en-US" altLang="ja-GB" sz="2000" b="1" dirty="0">
                <a:solidFill>
                  <a:schemeClr val="accent2"/>
                </a:solidFill>
              </a:rPr>
              <a:t>CPU</a:t>
            </a:r>
            <a:r>
              <a:rPr kumimoji="1" lang="ja-GB" altLang="en-US" sz="2000" b="1" dirty="0">
                <a:solidFill>
                  <a:schemeClr val="accent2"/>
                </a:solidFill>
              </a:rPr>
              <a:t>の動</a:t>
            </a:r>
            <a:r>
              <a:rPr kumimoji="1" lang="ja-JP" altLang="en-US" sz="2000" b="1" dirty="0">
                <a:solidFill>
                  <a:schemeClr val="accent2"/>
                </a:solidFill>
              </a:rPr>
              <a:t>き</a:t>
            </a:r>
            <a:r>
              <a:rPr kumimoji="1" lang="ja-GB" altLang="en-US" sz="2000" b="1" dirty="0">
                <a:solidFill>
                  <a:schemeClr val="accent2"/>
                </a:solidFill>
              </a:rPr>
              <a:t>を記述 （プログラム記憶装置）</a:t>
            </a:r>
          </a:p>
        </p:txBody>
      </p:sp>
    </p:spTree>
    <p:extLst>
      <p:ext uri="{BB962C8B-B14F-4D97-AF65-F5344CB8AC3E}">
        <p14:creationId xmlns:p14="http://schemas.microsoft.com/office/powerpoint/2010/main" val="80155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C4A1C1-0204-B90C-1243-25E4268CB098}"/>
              </a:ext>
            </a:extLst>
          </p:cNvPr>
          <p:cNvSpPr>
            <a:spLocks noGrp="1"/>
          </p:cNvSpPr>
          <p:nvPr>
            <p:ph type="title"/>
          </p:nvPr>
        </p:nvSpPr>
        <p:spPr/>
        <p:txBody>
          <a:bodyPr/>
          <a:lstStyle/>
          <a:p>
            <a:r>
              <a:rPr kumimoji="1" lang="ja-GB" altLang="en-US" dirty="0"/>
              <a:t>機械語：</a:t>
            </a:r>
            <a:r>
              <a:rPr kumimoji="1" lang="en-US" altLang="ja-GB" dirty="0"/>
              <a:t>0</a:t>
            </a:r>
            <a:r>
              <a:rPr kumimoji="1" lang="ja-GB" altLang="en-US" dirty="0"/>
              <a:t>と</a:t>
            </a:r>
            <a:r>
              <a:rPr kumimoji="1" lang="en-US" altLang="ja-GB" dirty="0"/>
              <a:t>1</a:t>
            </a:r>
            <a:r>
              <a:rPr kumimoji="1" lang="ja-GB" altLang="en-US" dirty="0"/>
              <a:t>で書かれたプログラム</a:t>
            </a:r>
          </a:p>
        </p:txBody>
      </p:sp>
      <p:sp>
        <p:nvSpPr>
          <p:cNvPr id="3" name="コンテンツ プレースホルダー 2">
            <a:extLst>
              <a:ext uri="{FF2B5EF4-FFF2-40B4-BE49-F238E27FC236}">
                <a16:creationId xmlns:a16="http://schemas.microsoft.com/office/drawing/2014/main" id="{C78D8DCF-62E7-D591-CDA8-9A8707046600}"/>
              </a:ext>
            </a:extLst>
          </p:cNvPr>
          <p:cNvSpPr>
            <a:spLocks noGrp="1"/>
          </p:cNvSpPr>
          <p:nvPr>
            <p:ph idx="1"/>
          </p:nvPr>
        </p:nvSpPr>
        <p:spPr/>
        <p:txBody>
          <a:bodyPr/>
          <a:lstStyle/>
          <a:p>
            <a:pPr marL="0" indent="0">
              <a:buNone/>
            </a:pPr>
            <a:r>
              <a:rPr kumimoji="1" lang="en-US" altLang="ja-GB" dirty="0"/>
              <a:t>0</a:t>
            </a:r>
            <a:r>
              <a:rPr kumimoji="1" lang="ja-GB" altLang="en-US" dirty="0"/>
              <a:t>と</a:t>
            </a:r>
            <a:r>
              <a:rPr kumimoji="1" lang="en-US" altLang="ja-GB" dirty="0"/>
              <a:t>1</a:t>
            </a:r>
            <a:r>
              <a:rPr kumimoji="1" lang="ja-GB" altLang="en-US" dirty="0"/>
              <a:t>のパターンで</a:t>
            </a:r>
            <a:r>
              <a:rPr kumimoji="1" lang="en-US" altLang="ja-GB" dirty="0"/>
              <a:t>CPU</a:t>
            </a:r>
            <a:r>
              <a:rPr kumimoji="1" lang="ja-GB" altLang="en-US" dirty="0"/>
              <a:t>の動きを制御</a:t>
            </a:r>
          </a:p>
        </p:txBody>
      </p:sp>
      <p:grpSp>
        <p:nvGrpSpPr>
          <p:cNvPr id="34" name="グループ化 33">
            <a:extLst>
              <a:ext uri="{FF2B5EF4-FFF2-40B4-BE49-F238E27FC236}">
                <a16:creationId xmlns:a16="http://schemas.microsoft.com/office/drawing/2014/main" id="{E9B875A3-6F9F-5032-9AF0-F7ED272A474B}"/>
              </a:ext>
            </a:extLst>
          </p:cNvPr>
          <p:cNvGrpSpPr/>
          <p:nvPr/>
        </p:nvGrpSpPr>
        <p:grpSpPr>
          <a:xfrm>
            <a:off x="734093" y="1832345"/>
            <a:ext cx="7675813" cy="4170890"/>
            <a:chOff x="233696" y="1756393"/>
            <a:chExt cx="7675813" cy="4170890"/>
          </a:xfrm>
        </p:grpSpPr>
        <p:sp>
          <p:nvSpPr>
            <p:cNvPr id="4" name="角丸四角形 3">
              <a:extLst>
                <a:ext uri="{FF2B5EF4-FFF2-40B4-BE49-F238E27FC236}">
                  <a16:creationId xmlns:a16="http://schemas.microsoft.com/office/drawing/2014/main" id="{A377347A-A8F5-C08B-5576-B135B30C8926}"/>
                </a:ext>
              </a:extLst>
            </p:cNvPr>
            <p:cNvSpPr/>
            <p:nvPr/>
          </p:nvSpPr>
          <p:spPr>
            <a:xfrm>
              <a:off x="1788488" y="2070111"/>
              <a:ext cx="3904979" cy="64154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角丸四角形吹き出し 4">
              <a:extLst>
                <a:ext uri="{FF2B5EF4-FFF2-40B4-BE49-F238E27FC236}">
                  <a16:creationId xmlns:a16="http://schemas.microsoft.com/office/drawing/2014/main" id="{931CFB43-33B4-169C-4C08-C590920639DC}"/>
                </a:ext>
              </a:extLst>
            </p:cNvPr>
            <p:cNvSpPr/>
            <p:nvPr/>
          </p:nvSpPr>
          <p:spPr>
            <a:xfrm>
              <a:off x="233696" y="2881217"/>
              <a:ext cx="1272693" cy="1095565"/>
            </a:xfrm>
            <a:prstGeom prst="wedgeRoundRectCallout">
              <a:avLst>
                <a:gd name="adj1" fmla="val 159731"/>
                <a:gd name="adj2" fmla="val -19866"/>
                <a:gd name="adj3" fmla="val 16667"/>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 name="角丸四角形 5">
              <a:extLst>
                <a:ext uri="{FF2B5EF4-FFF2-40B4-BE49-F238E27FC236}">
                  <a16:creationId xmlns:a16="http://schemas.microsoft.com/office/drawing/2014/main" id="{96E7F7D1-C9C1-E424-DDD7-3674D753715E}"/>
                </a:ext>
              </a:extLst>
            </p:cNvPr>
            <p:cNvSpPr/>
            <p:nvPr/>
          </p:nvSpPr>
          <p:spPr>
            <a:xfrm>
              <a:off x="3598470" y="3527830"/>
              <a:ext cx="2676422" cy="138925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テキスト ボックス 6">
              <a:extLst>
                <a:ext uri="{FF2B5EF4-FFF2-40B4-BE49-F238E27FC236}">
                  <a16:creationId xmlns:a16="http://schemas.microsoft.com/office/drawing/2014/main" id="{F5C6B5B8-2080-F79D-19ED-67679001FE5A}"/>
                </a:ext>
              </a:extLst>
            </p:cNvPr>
            <p:cNvSpPr txBox="1"/>
            <p:nvPr/>
          </p:nvSpPr>
          <p:spPr>
            <a:xfrm>
              <a:off x="6801513" y="4362541"/>
              <a:ext cx="1107996" cy="369332"/>
            </a:xfrm>
            <a:prstGeom prst="rect">
              <a:avLst/>
            </a:prstGeom>
            <a:solidFill>
              <a:schemeClr val="bg1">
                <a:alpha val="76120"/>
              </a:schemeClr>
            </a:solidFill>
            <a:ln>
              <a:solidFill>
                <a:schemeClr val="tx1">
                  <a:lumMod val="50000"/>
                  <a:lumOff val="50000"/>
                </a:schemeClr>
              </a:solidFill>
            </a:ln>
          </p:spPr>
          <p:txBody>
            <a:bodyPr wrap="none" rtlCol="0">
              <a:spAutoFit/>
            </a:bodyPr>
            <a:lstStyle/>
            <a:p>
              <a:r>
                <a:rPr lang="ja-GB" dirty="0"/>
                <a:t>出力装置</a:t>
              </a:r>
            </a:p>
          </p:txBody>
        </p:sp>
        <p:sp>
          <p:nvSpPr>
            <p:cNvPr id="8" name="テキスト ボックス 7">
              <a:extLst>
                <a:ext uri="{FF2B5EF4-FFF2-40B4-BE49-F238E27FC236}">
                  <a16:creationId xmlns:a16="http://schemas.microsoft.com/office/drawing/2014/main" id="{11802D0F-E9EF-D7FB-B759-81E62C07B3FF}"/>
                </a:ext>
              </a:extLst>
            </p:cNvPr>
            <p:cNvSpPr txBox="1"/>
            <p:nvPr/>
          </p:nvSpPr>
          <p:spPr>
            <a:xfrm>
              <a:off x="1948830" y="2185785"/>
              <a:ext cx="1107996" cy="369332"/>
            </a:xfrm>
            <a:prstGeom prst="rect">
              <a:avLst/>
            </a:prstGeom>
            <a:solidFill>
              <a:schemeClr val="accent2">
                <a:lumMod val="20000"/>
                <a:lumOff val="80000"/>
              </a:schemeClr>
            </a:solidFill>
            <a:ln>
              <a:solidFill>
                <a:schemeClr val="tx1">
                  <a:lumMod val="50000"/>
                  <a:lumOff val="50000"/>
                </a:schemeClr>
              </a:solidFill>
            </a:ln>
          </p:spPr>
          <p:txBody>
            <a:bodyPr wrap="none" rtlCol="0">
              <a:spAutoFit/>
            </a:bodyPr>
            <a:lstStyle/>
            <a:p>
              <a:r>
                <a:rPr lang="ja-GB" dirty="0"/>
                <a:t>制御装置</a:t>
              </a:r>
            </a:p>
          </p:txBody>
        </p:sp>
        <p:sp>
          <p:nvSpPr>
            <p:cNvPr id="9" name="テキスト ボックス 8">
              <a:extLst>
                <a:ext uri="{FF2B5EF4-FFF2-40B4-BE49-F238E27FC236}">
                  <a16:creationId xmlns:a16="http://schemas.microsoft.com/office/drawing/2014/main" id="{9CEFCE8F-29B5-9E3D-66A0-7B658CB163FE}"/>
                </a:ext>
              </a:extLst>
            </p:cNvPr>
            <p:cNvSpPr txBox="1"/>
            <p:nvPr/>
          </p:nvSpPr>
          <p:spPr>
            <a:xfrm>
              <a:off x="4375171" y="2185785"/>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演算装置</a:t>
              </a:r>
            </a:p>
          </p:txBody>
        </p:sp>
        <p:sp>
          <p:nvSpPr>
            <p:cNvPr id="10" name="テキスト ボックス 9">
              <a:extLst>
                <a:ext uri="{FF2B5EF4-FFF2-40B4-BE49-F238E27FC236}">
                  <a16:creationId xmlns:a16="http://schemas.microsoft.com/office/drawing/2014/main" id="{A7E29D38-EA13-125D-8D52-28E31905D55C}"/>
                </a:ext>
              </a:extLst>
            </p:cNvPr>
            <p:cNvSpPr txBox="1"/>
            <p:nvPr/>
          </p:nvSpPr>
          <p:spPr>
            <a:xfrm>
              <a:off x="1948829" y="4362541"/>
              <a:ext cx="1107996"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dirty="0"/>
                <a:t>入力装置</a:t>
              </a:r>
            </a:p>
          </p:txBody>
        </p:sp>
        <p:sp>
          <p:nvSpPr>
            <p:cNvPr id="11" name="テキスト ボックス 10">
              <a:extLst>
                <a:ext uri="{FF2B5EF4-FFF2-40B4-BE49-F238E27FC236}">
                  <a16:creationId xmlns:a16="http://schemas.microsoft.com/office/drawing/2014/main" id="{E4D43515-B2E2-1813-C21C-F8A6D9D69FCC}"/>
                </a:ext>
              </a:extLst>
            </p:cNvPr>
            <p:cNvSpPr txBox="1"/>
            <p:nvPr/>
          </p:nvSpPr>
          <p:spPr>
            <a:xfrm>
              <a:off x="4491351" y="4897794"/>
              <a:ext cx="800219" cy="276999"/>
            </a:xfrm>
            <a:prstGeom prst="rect">
              <a:avLst/>
            </a:prstGeom>
            <a:noFill/>
          </p:spPr>
          <p:txBody>
            <a:bodyPr wrap="none" rtlCol="0">
              <a:spAutoFit/>
            </a:bodyPr>
            <a:lstStyle/>
            <a:p>
              <a:pPr algn="ctr"/>
              <a:r>
                <a:rPr kumimoji="1" lang="ja-GB" altLang="en-US" sz="1200" b="1" dirty="0">
                  <a:solidFill>
                    <a:schemeClr val="tx1">
                      <a:lumMod val="50000"/>
                      <a:lumOff val="50000"/>
                    </a:schemeClr>
                  </a:solidFill>
                </a:rPr>
                <a:t>記憶装置</a:t>
              </a:r>
            </a:p>
          </p:txBody>
        </p:sp>
        <p:cxnSp>
          <p:nvCxnSpPr>
            <p:cNvPr id="12" name="曲線コネクタ 11">
              <a:extLst>
                <a:ext uri="{FF2B5EF4-FFF2-40B4-BE49-F238E27FC236}">
                  <a16:creationId xmlns:a16="http://schemas.microsoft.com/office/drawing/2014/main" id="{389110B3-3CD2-7437-89DF-BB5BB515A2CD}"/>
                </a:ext>
              </a:extLst>
            </p:cNvPr>
            <p:cNvCxnSpPr>
              <a:cxnSpLocks/>
              <a:stCxn id="8" idx="2"/>
              <a:endCxn id="7" idx="0"/>
            </p:cNvCxnSpPr>
            <p:nvPr/>
          </p:nvCxnSpPr>
          <p:spPr>
            <a:xfrm rot="16200000" flipH="1">
              <a:off x="4025457" y="1032487"/>
              <a:ext cx="1807424" cy="4852683"/>
            </a:xfrm>
            <a:prstGeom prst="curvedConnector3">
              <a:avLst>
                <a:gd name="adj1" fmla="val 50000"/>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 name="曲線コネクタ 12">
              <a:extLst>
                <a:ext uri="{FF2B5EF4-FFF2-40B4-BE49-F238E27FC236}">
                  <a16:creationId xmlns:a16="http://schemas.microsoft.com/office/drawing/2014/main" id="{43F97DF5-082B-18CA-2891-6D8DBE9907D7}"/>
                </a:ext>
              </a:extLst>
            </p:cNvPr>
            <p:cNvCxnSpPr>
              <a:cxnSpLocks/>
              <a:stCxn id="8" idx="2"/>
              <a:endCxn id="17" idx="1"/>
            </p:cNvCxnSpPr>
            <p:nvPr/>
          </p:nvCxnSpPr>
          <p:spPr>
            <a:xfrm rot="16200000" flipH="1">
              <a:off x="2495294" y="2562650"/>
              <a:ext cx="1322421"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2ED09F7D-95EB-48A2-21CB-626E5F5C5884}"/>
                </a:ext>
              </a:extLst>
            </p:cNvPr>
            <p:cNvCxnSpPr>
              <a:cxnSpLocks/>
              <a:endCxn id="10" idx="0"/>
            </p:cNvCxnSpPr>
            <p:nvPr/>
          </p:nvCxnSpPr>
          <p:spPr>
            <a:xfrm flipH="1">
              <a:off x="2502827" y="2555117"/>
              <a:ext cx="1" cy="1807424"/>
            </a:xfrm>
            <a:prstGeom prst="straightConnector1">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D4E297D6-EC5C-D269-0D56-1004A1A0CBC1}"/>
                </a:ext>
              </a:extLst>
            </p:cNvPr>
            <p:cNvCxnSpPr>
              <a:cxnSpLocks/>
            </p:cNvCxnSpPr>
            <p:nvPr/>
          </p:nvCxnSpPr>
          <p:spPr>
            <a:xfrm>
              <a:off x="3056826" y="2370451"/>
              <a:ext cx="1318345" cy="0"/>
            </a:xfrm>
            <a:prstGeom prst="straightConnector1">
              <a:avLst/>
            </a:prstGeom>
            <a:ln w="34925" cap="flat">
              <a:solidFill>
                <a:schemeClr val="accent2"/>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F0513E3A-6FEE-6980-4FEC-4D649FBB9788}"/>
                </a:ext>
              </a:extLst>
            </p:cNvPr>
            <p:cNvSpPr txBox="1"/>
            <p:nvPr/>
          </p:nvSpPr>
          <p:spPr>
            <a:xfrm>
              <a:off x="3810181" y="4362541"/>
              <a:ext cx="2262158" cy="369332"/>
            </a:xfrm>
            <a:prstGeom prst="rect">
              <a:avLst/>
            </a:prstGeom>
            <a:solidFill>
              <a:schemeClr val="accent2">
                <a:lumMod val="20000"/>
                <a:lumOff val="80000"/>
              </a:schemeClr>
            </a:solidFill>
            <a:ln>
              <a:solidFill>
                <a:schemeClr val="tx1">
                  <a:lumMod val="50000"/>
                  <a:lumOff val="50000"/>
                </a:schemeClr>
              </a:solidFill>
            </a:ln>
          </p:spPr>
          <p:txBody>
            <a:bodyPr wrap="none" rtlCol="0">
              <a:spAutoFit/>
            </a:bodyPr>
            <a:lstStyle/>
            <a:p>
              <a:r>
                <a:rPr lang="ja-GB" altLang="en-US" dirty="0"/>
                <a:t>プログラム</a:t>
              </a:r>
              <a:r>
                <a:rPr lang="ja-GB" dirty="0"/>
                <a:t>記憶装置</a:t>
              </a:r>
            </a:p>
          </p:txBody>
        </p:sp>
        <p:sp>
          <p:nvSpPr>
            <p:cNvPr id="17" name="テキスト ボックス 16">
              <a:extLst>
                <a:ext uri="{FF2B5EF4-FFF2-40B4-BE49-F238E27FC236}">
                  <a16:creationId xmlns:a16="http://schemas.microsoft.com/office/drawing/2014/main" id="{0F4E4339-A555-C89A-FFE9-88A94F0376A3}"/>
                </a:ext>
              </a:extLst>
            </p:cNvPr>
            <p:cNvSpPr txBox="1"/>
            <p:nvPr/>
          </p:nvSpPr>
          <p:spPr>
            <a:xfrm>
              <a:off x="3810181" y="3692872"/>
              <a:ext cx="2262158" cy="369332"/>
            </a:xfrm>
            <a:prstGeom prst="rect">
              <a:avLst/>
            </a:prstGeom>
            <a:solidFill>
              <a:srgbClr val="F8FDFF">
                <a:alpha val="76120"/>
              </a:srgbClr>
            </a:solidFill>
            <a:ln>
              <a:solidFill>
                <a:schemeClr val="tx1">
                  <a:lumMod val="50000"/>
                  <a:lumOff val="50000"/>
                </a:schemeClr>
              </a:solidFill>
            </a:ln>
          </p:spPr>
          <p:txBody>
            <a:bodyPr wrap="none" rtlCol="0">
              <a:spAutoFit/>
            </a:bodyPr>
            <a:lstStyle/>
            <a:p>
              <a:r>
                <a:rPr lang="ja-GB" altLang="en-US" dirty="0"/>
                <a:t>　データ</a:t>
              </a:r>
              <a:r>
                <a:rPr lang="ja-GB" dirty="0"/>
                <a:t>記憶装置</a:t>
              </a:r>
              <a:r>
                <a:rPr lang="ja-GB" altLang="en-US" dirty="0"/>
                <a:t>　</a:t>
              </a:r>
              <a:endParaRPr lang="ja-GB" dirty="0"/>
            </a:p>
          </p:txBody>
        </p:sp>
        <p:cxnSp>
          <p:nvCxnSpPr>
            <p:cNvPr id="18" name="曲線コネクタ 17">
              <a:extLst>
                <a:ext uri="{FF2B5EF4-FFF2-40B4-BE49-F238E27FC236}">
                  <a16:creationId xmlns:a16="http://schemas.microsoft.com/office/drawing/2014/main" id="{7A4C9FCF-6549-D554-3EE5-BAD2010565B3}"/>
                </a:ext>
              </a:extLst>
            </p:cNvPr>
            <p:cNvCxnSpPr>
              <a:cxnSpLocks/>
              <a:stCxn id="8" idx="2"/>
              <a:endCxn id="16" idx="1"/>
            </p:cNvCxnSpPr>
            <p:nvPr/>
          </p:nvCxnSpPr>
          <p:spPr>
            <a:xfrm rot="16200000" flipH="1">
              <a:off x="2160459" y="2897485"/>
              <a:ext cx="1992090" cy="1307353"/>
            </a:xfrm>
            <a:prstGeom prst="curvedConnector2">
              <a:avLst/>
            </a:prstGeom>
            <a:ln w="12700" cap="flat">
              <a:solidFill>
                <a:schemeClr val="bg1">
                  <a:lumMod val="50000"/>
                </a:schemeClr>
              </a:solidFill>
              <a:prstDash val="sysDot"/>
              <a:tailEnd type="none"/>
            </a:ln>
          </p:spPr>
          <p:style>
            <a:lnRef idx="1">
              <a:schemeClr val="accent1"/>
            </a:lnRef>
            <a:fillRef idx="0">
              <a:schemeClr val="accent1"/>
            </a:fillRef>
            <a:effectRef idx="0">
              <a:schemeClr val="accent1"/>
            </a:effectRef>
            <a:fontRef idx="minor">
              <a:schemeClr val="tx1"/>
            </a:fontRef>
          </p:style>
        </p:cxnSp>
        <p:pic>
          <p:nvPicPr>
            <p:cNvPr id="19" name="グラフィックス 18" descr="モニター 単色塗りつぶし">
              <a:extLst>
                <a:ext uri="{FF2B5EF4-FFF2-40B4-BE49-F238E27FC236}">
                  <a16:creationId xmlns:a16="http://schemas.microsoft.com/office/drawing/2014/main" id="{FCB64FD7-D362-F692-8E60-C7D4629354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98311" y="4810404"/>
              <a:ext cx="914400" cy="914400"/>
            </a:xfrm>
            <a:prstGeom prst="rect">
              <a:avLst/>
            </a:prstGeom>
          </p:spPr>
        </p:pic>
        <p:sp>
          <p:nvSpPr>
            <p:cNvPr id="20" name="テキスト ボックス 19">
              <a:extLst>
                <a:ext uri="{FF2B5EF4-FFF2-40B4-BE49-F238E27FC236}">
                  <a16:creationId xmlns:a16="http://schemas.microsoft.com/office/drawing/2014/main" id="{D323F85C-082E-7D83-81ED-71796405F722}"/>
                </a:ext>
              </a:extLst>
            </p:cNvPr>
            <p:cNvSpPr txBox="1"/>
            <p:nvPr/>
          </p:nvSpPr>
          <p:spPr>
            <a:xfrm>
              <a:off x="7185432" y="4974699"/>
              <a:ext cx="340158" cy="461665"/>
            </a:xfrm>
            <a:prstGeom prst="rect">
              <a:avLst/>
            </a:prstGeom>
            <a:noFill/>
          </p:spPr>
          <p:txBody>
            <a:bodyPr wrap="none" rtlCol="0">
              <a:spAutoFit/>
            </a:bodyPr>
            <a:lstStyle/>
            <a:p>
              <a:r>
                <a:rPr kumimoji="1" lang="en-US" altLang="ja-GB" sz="2400" dirty="0"/>
                <a:t>5</a:t>
              </a:r>
              <a:endParaRPr kumimoji="1" lang="ja-GB" altLang="en-US" sz="2400" dirty="0"/>
            </a:p>
          </p:txBody>
        </p:sp>
        <p:pic>
          <p:nvPicPr>
            <p:cNvPr id="21" name="グラフィックス 20" descr="キーボード 単色塗りつぶし">
              <a:extLst>
                <a:ext uri="{FF2B5EF4-FFF2-40B4-BE49-F238E27FC236}">
                  <a16:creationId xmlns:a16="http://schemas.microsoft.com/office/drawing/2014/main" id="{117341D7-33D9-04D8-129D-8325E52013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8187" y="5012883"/>
              <a:ext cx="914400" cy="914400"/>
            </a:xfrm>
            <a:prstGeom prst="rect">
              <a:avLst/>
            </a:prstGeom>
          </p:spPr>
        </p:pic>
        <p:cxnSp>
          <p:nvCxnSpPr>
            <p:cNvPr id="22" name="直線矢印コネクタ 21">
              <a:extLst>
                <a:ext uri="{FF2B5EF4-FFF2-40B4-BE49-F238E27FC236}">
                  <a16:creationId xmlns:a16="http://schemas.microsoft.com/office/drawing/2014/main" id="{0D0DC75A-10B6-5B61-480F-EDD1C0C65DF1}"/>
                </a:ext>
              </a:extLst>
            </p:cNvPr>
            <p:cNvCxnSpPr>
              <a:cxnSpLocks/>
            </p:cNvCxnSpPr>
            <p:nvPr/>
          </p:nvCxnSpPr>
          <p:spPr>
            <a:xfrm flipH="1" flipV="1">
              <a:off x="2502827" y="4731873"/>
              <a:ext cx="12560" cy="534100"/>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AF407036-5059-3605-BD39-E014306BD79B}"/>
                </a:ext>
              </a:extLst>
            </p:cNvPr>
            <p:cNvSpPr txBox="1"/>
            <p:nvPr/>
          </p:nvSpPr>
          <p:spPr>
            <a:xfrm>
              <a:off x="2541292" y="4771141"/>
              <a:ext cx="641522" cy="523220"/>
            </a:xfrm>
            <a:prstGeom prst="rect">
              <a:avLst/>
            </a:prstGeom>
            <a:noFill/>
          </p:spPr>
          <p:txBody>
            <a:bodyPr wrap="none" rtlCol="0">
              <a:spAutoFit/>
            </a:bodyPr>
            <a:lstStyle/>
            <a:p>
              <a:r>
                <a:rPr kumimoji="1" lang="en-US" altLang="ja-GB" sz="1400" b="1" dirty="0">
                  <a:solidFill>
                    <a:srgbClr val="002060"/>
                  </a:solidFill>
                </a:rPr>
                <a:t>00010</a:t>
              </a:r>
            </a:p>
            <a:p>
              <a:r>
                <a:rPr kumimoji="1" lang="en-US" altLang="ja-GB" sz="1400" b="1" dirty="0">
                  <a:solidFill>
                    <a:srgbClr val="002060"/>
                  </a:solidFill>
                </a:rPr>
                <a:t>00011</a:t>
              </a:r>
              <a:endParaRPr kumimoji="1" lang="ja-GB" altLang="en-US" sz="1400" b="1" dirty="0">
                <a:solidFill>
                  <a:srgbClr val="002060"/>
                </a:solidFill>
              </a:endParaRPr>
            </a:p>
          </p:txBody>
        </p:sp>
        <p:cxnSp>
          <p:nvCxnSpPr>
            <p:cNvPr id="24" name="直線矢印コネクタ 23">
              <a:extLst>
                <a:ext uri="{FF2B5EF4-FFF2-40B4-BE49-F238E27FC236}">
                  <a16:creationId xmlns:a16="http://schemas.microsoft.com/office/drawing/2014/main" id="{043CD2AB-CC7A-ED8D-A115-F3B843A56962}"/>
                </a:ext>
              </a:extLst>
            </p:cNvPr>
            <p:cNvCxnSpPr>
              <a:cxnSpLocks/>
            </p:cNvCxnSpPr>
            <p:nvPr/>
          </p:nvCxnSpPr>
          <p:spPr>
            <a:xfrm flipV="1">
              <a:off x="3056825" y="3877538"/>
              <a:ext cx="753356" cy="669669"/>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51B94BF7-1A01-AB0F-5909-92360E994277}"/>
                </a:ext>
              </a:extLst>
            </p:cNvPr>
            <p:cNvCxnSpPr>
              <a:cxnSpLocks/>
            </p:cNvCxnSpPr>
            <p:nvPr/>
          </p:nvCxnSpPr>
          <p:spPr>
            <a:xfrm flipH="1" flipV="1">
              <a:off x="4806619" y="2555117"/>
              <a:ext cx="12091" cy="1137755"/>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F1FAA7E-EE69-41DE-416F-CFD0B8E31323}"/>
                </a:ext>
              </a:extLst>
            </p:cNvPr>
            <p:cNvCxnSpPr>
              <a:cxnSpLocks/>
            </p:cNvCxnSpPr>
            <p:nvPr/>
          </p:nvCxnSpPr>
          <p:spPr>
            <a:xfrm>
              <a:off x="4976304" y="2555117"/>
              <a:ext cx="12091" cy="1137755"/>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8B29BEBB-EB26-33AE-71A5-7426BA03CDE0}"/>
                </a:ext>
              </a:extLst>
            </p:cNvPr>
            <p:cNvCxnSpPr>
              <a:cxnSpLocks/>
            </p:cNvCxnSpPr>
            <p:nvPr/>
          </p:nvCxnSpPr>
          <p:spPr>
            <a:xfrm>
              <a:off x="6072339" y="3877538"/>
              <a:ext cx="729174" cy="669669"/>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2570A568-5C5C-64CD-FBCE-D9F116C198C1}"/>
                </a:ext>
              </a:extLst>
            </p:cNvPr>
            <p:cNvCxnSpPr>
              <a:cxnSpLocks/>
            </p:cNvCxnSpPr>
            <p:nvPr/>
          </p:nvCxnSpPr>
          <p:spPr>
            <a:xfrm flipH="1" flipV="1">
              <a:off x="2502828" y="2555117"/>
              <a:ext cx="1307353" cy="199209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3BCBEECF-6A91-4004-7023-48615ED44B9D}"/>
                </a:ext>
              </a:extLst>
            </p:cNvPr>
            <p:cNvSpPr txBox="1"/>
            <p:nvPr/>
          </p:nvSpPr>
          <p:spPr>
            <a:xfrm>
              <a:off x="267285" y="2961120"/>
              <a:ext cx="1226618" cy="954107"/>
            </a:xfrm>
            <a:prstGeom prst="rect">
              <a:avLst/>
            </a:prstGeom>
            <a:noFill/>
          </p:spPr>
          <p:txBody>
            <a:bodyPr wrap="none" rtlCol="0">
              <a:spAutoFit/>
            </a:bodyPr>
            <a:lstStyle/>
            <a:p>
              <a:pPr algn="ctr"/>
              <a:r>
                <a:rPr kumimoji="1" lang="en-US" altLang="ja-GB" sz="1400" b="1" dirty="0">
                  <a:solidFill>
                    <a:schemeClr val="accent2"/>
                  </a:solidFill>
                </a:rPr>
                <a:t>…100011100</a:t>
              </a:r>
            </a:p>
            <a:p>
              <a:pPr algn="ctr"/>
              <a:r>
                <a:rPr kumimoji="1" lang="en-US" altLang="ja-GB" sz="1400" b="1" dirty="0">
                  <a:solidFill>
                    <a:schemeClr val="accent2"/>
                  </a:solidFill>
                </a:rPr>
                <a:t>11100011110</a:t>
              </a:r>
            </a:p>
            <a:p>
              <a:pPr algn="ctr"/>
              <a:r>
                <a:rPr kumimoji="1" lang="en-US" altLang="ja-GB" sz="1400" b="1" dirty="0">
                  <a:solidFill>
                    <a:schemeClr val="accent2"/>
                  </a:solidFill>
                </a:rPr>
                <a:t>00011110000</a:t>
              </a:r>
            </a:p>
            <a:p>
              <a:pPr algn="ctr"/>
              <a:r>
                <a:rPr kumimoji="1" lang="en-US" altLang="ja-GB" sz="1400" b="1" dirty="0">
                  <a:solidFill>
                    <a:schemeClr val="accent2"/>
                  </a:solidFill>
                </a:rPr>
                <a:t>0000111101…</a:t>
              </a:r>
              <a:endParaRPr kumimoji="1" lang="ja-GB" altLang="en-US" sz="1400" b="1" dirty="0">
                <a:solidFill>
                  <a:schemeClr val="accent2"/>
                </a:solidFill>
              </a:endParaRPr>
            </a:p>
          </p:txBody>
        </p:sp>
        <p:cxnSp>
          <p:nvCxnSpPr>
            <p:cNvPr id="30" name="直線矢印コネクタ 29">
              <a:extLst>
                <a:ext uri="{FF2B5EF4-FFF2-40B4-BE49-F238E27FC236}">
                  <a16:creationId xmlns:a16="http://schemas.microsoft.com/office/drawing/2014/main" id="{50FA51F1-7119-F80E-3955-8C3703FC8E8D}"/>
                </a:ext>
              </a:extLst>
            </p:cNvPr>
            <p:cNvCxnSpPr>
              <a:cxnSpLocks/>
            </p:cNvCxnSpPr>
            <p:nvPr/>
          </p:nvCxnSpPr>
          <p:spPr>
            <a:xfrm>
              <a:off x="7355511" y="4731873"/>
              <a:ext cx="0" cy="242826"/>
            </a:xfrm>
            <a:prstGeom prst="straightConnector1">
              <a:avLst/>
            </a:prstGeom>
            <a:ln w="508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3794828-FF84-CC54-4C00-EF5312F45C96}"/>
                </a:ext>
              </a:extLst>
            </p:cNvPr>
            <p:cNvSpPr txBox="1"/>
            <p:nvPr/>
          </p:nvSpPr>
          <p:spPr>
            <a:xfrm>
              <a:off x="5051946" y="2816217"/>
              <a:ext cx="641522" cy="307777"/>
            </a:xfrm>
            <a:prstGeom prst="rect">
              <a:avLst/>
            </a:prstGeom>
            <a:noFill/>
          </p:spPr>
          <p:txBody>
            <a:bodyPr wrap="none" rtlCol="0">
              <a:spAutoFit/>
            </a:bodyPr>
            <a:lstStyle/>
            <a:p>
              <a:r>
                <a:rPr kumimoji="1" lang="en-US" altLang="ja-GB" sz="1400" b="1" dirty="0">
                  <a:solidFill>
                    <a:srgbClr val="002060"/>
                  </a:solidFill>
                </a:rPr>
                <a:t>00101</a:t>
              </a:r>
              <a:endParaRPr kumimoji="1" lang="ja-GB" altLang="en-US" sz="1400" b="1" dirty="0">
                <a:solidFill>
                  <a:srgbClr val="002060"/>
                </a:solidFill>
              </a:endParaRPr>
            </a:p>
          </p:txBody>
        </p:sp>
        <p:sp>
          <p:nvSpPr>
            <p:cNvPr id="32" name="テキスト ボックス 31">
              <a:extLst>
                <a:ext uri="{FF2B5EF4-FFF2-40B4-BE49-F238E27FC236}">
                  <a16:creationId xmlns:a16="http://schemas.microsoft.com/office/drawing/2014/main" id="{BA996157-FE7C-3981-E733-521595CEDF28}"/>
                </a:ext>
              </a:extLst>
            </p:cNvPr>
            <p:cNvSpPr txBox="1"/>
            <p:nvPr/>
          </p:nvSpPr>
          <p:spPr>
            <a:xfrm>
              <a:off x="3541517" y="1756393"/>
              <a:ext cx="537327" cy="338554"/>
            </a:xfrm>
            <a:prstGeom prst="rect">
              <a:avLst/>
            </a:prstGeom>
            <a:noFill/>
          </p:spPr>
          <p:txBody>
            <a:bodyPr wrap="none" rtlCol="0">
              <a:spAutoFit/>
            </a:bodyPr>
            <a:lstStyle/>
            <a:p>
              <a:pPr algn="ctr"/>
              <a:r>
                <a:rPr kumimoji="1" lang="en-US" altLang="ja-GB" sz="1600" b="1" dirty="0">
                  <a:solidFill>
                    <a:schemeClr val="tx1">
                      <a:lumMod val="50000"/>
                      <a:lumOff val="50000"/>
                    </a:schemeClr>
                  </a:solidFill>
                </a:rPr>
                <a:t>CPU</a:t>
              </a:r>
              <a:endParaRPr kumimoji="1" lang="ja-GB" altLang="en-US" sz="1600" b="1" dirty="0">
                <a:solidFill>
                  <a:schemeClr val="tx1">
                    <a:lumMod val="50000"/>
                    <a:lumOff val="50000"/>
                  </a:schemeClr>
                </a:solidFill>
              </a:endParaRPr>
            </a:p>
          </p:txBody>
        </p:sp>
        <p:sp>
          <p:nvSpPr>
            <p:cNvPr id="33" name="テキスト ボックス 32">
              <a:extLst>
                <a:ext uri="{FF2B5EF4-FFF2-40B4-BE49-F238E27FC236}">
                  <a16:creationId xmlns:a16="http://schemas.microsoft.com/office/drawing/2014/main" id="{589A51AE-5FE6-3786-DD56-F6D6EC7A2D6E}"/>
                </a:ext>
              </a:extLst>
            </p:cNvPr>
            <p:cNvSpPr txBox="1"/>
            <p:nvPr/>
          </p:nvSpPr>
          <p:spPr>
            <a:xfrm>
              <a:off x="264750" y="2567431"/>
              <a:ext cx="1210588" cy="338554"/>
            </a:xfrm>
            <a:prstGeom prst="rect">
              <a:avLst/>
            </a:prstGeom>
            <a:noFill/>
          </p:spPr>
          <p:txBody>
            <a:bodyPr wrap="none" rtlCol="0">
              <a:spAutoFit/>
            </a:bodyPr>
            <a:lstStyle/>
            <a:p>
              <a:pPr algn="ctr"/>
              <a:r>
                <a:rPr kumimoji="1" lang="ja-GB" altLang="en-US" sz="1600" b="1" dirty="0">
                  <a:solidFill>
                    <a:schemeClr val="tx1">
                      <a:lumMod val="50000"/>
                      <a:lumOff val="50000"/>
                    </a:schemeClr>
                  </a:solidFill>
                </a:rPr>
                <a:t>プログラム</a:t>
              </a:r>
            </a:p>
          </p:txBody>
        </p:sp>
      </p:grpSp>
    </p:spTree>
    <p:extLst>
      <p:ext uri="{BB962C8B-B14F-4D97-AF65-F5344CB8AC3E}">
        <p14:creationId xmlns:p14="http://schemas.microsoft.com/office/powerpoint/2010/main" val="8956403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E64D60-B909-19EB-8350-D696083FA37D}"/>
              </a:ext>
            </a:extLst>
          </p:cNvPr>
          <p:cNvSpPr>
            <a:spLocks noGrp="1"/>
          </p:cNvSpPr>
          <p:nvPr>
            <p:ph type="title"/>
          </p:nvPr>
        </p:nvSpPr>
        <p:spPr/>
        <p:txBody>
          <a:bodyPr/>
          <a:lstStyle/>
          <a:p>
            <a:r>
              <a:rPr kumimoji="1" lang="ja-GB" altLang="en-US" dirty="0"/>
              <a:t>アセンブリ言語</a:t>
            </a:r>
          </a:p>
        </p:txBody>
      </p:sp>
      <p:sp>
        <p:nvSpPr>
          <p:cNvPr id="3" name="コンテンツ プレースホルダー 2">
            <a:extLst>
              <a:ext uri="{FF2B5EF4-FFF2-40B4-BE49-F238E27FC236}">
                <a16:creationId xmlns:a16="http://schemas.microsoft.com/office/drawing/2014/main" id="{0749F6E3-54F5-F082-0FC2-B8C2E5C30598}"/>
              </a:ext>
            </a:extLst>
          </p:cNvPr>
          <p:cNvSpPr>
            <a:spLocks noGrp="1"/>
          </p:cNvSpPr>
          <p:nvPr>
            <p:ph idx="1"/>
          </p:nvPr>
        </p:nvSpPr>
        <p:spPr/>
        <p:txBody>
          <a:bodyPr/>
          <a:lstStyle/>
          <a:p>
            <a:pPr marL="0" indent="0">
              <a:buNone/>
            </a:pPr>
            <a:r>
              <a:rPr kumimoji="1" lang="ja-GB" altLang="en-US" dirty="0"/>
              <a:t>機械語を人間に分かりやすく直訳した表現</a:t>
            </a:r>
            <a:endParaRPr kumimoji="1" lang="en-US" altLang="ja-GB" dirty="0"/>
          </a:p>
          <a:p>
            <a:pPr marL="457200" lvl="1" indent="0">
              <a:buNone/>
            </a:pPr>
            <a:r>
              <a:rPr lang="en-US" altLang="ja-GB" dirty="0"/>
              <a:t>2</a:t>
            </a:r>
            <a:r>
              <a:rPr lang="ja-GB" altLang="en-US" dirty="0"/>
              <a:t>進数</a:t>
            </a:r>
            <a:r>
              <a:rPr kumimoji="1" lang="ja-GB" altLang="en-US" dirty="0"/>
              <a:t>の意味を</a:t>
            </a:r>
            <a:r>
              <a:rPr kumimoji="1" lang="ja-GB" altLang="en-US" dirty="0">
                <a:solidFill>
                  <a:srgbClr val="0070C0"/>
                </a:solidFill>
              </a:rPr>
              <a:t>命令</a:t>
            </a:r>
            <a:r>
              <a:rPr kumimoji="1" lang="ja-GB" altLang="en-US" dirty="0"/>
              <a:t>と</a:t>
            </a:r>
            <a:r>
              <a:rPr kumimoji="1" lang="ja-GB" altLang="en-US" dirty="0">
                <a:solidFill>
                  <a:srgbClr val="0070C0"/>
                </a:solidFill>
              </a:rPr>
              <a:t>記号</a:t>
            </a:r>
            <a:r>
              <a:rPr kumimoji="1" lang="ja-GB" altLang="en-US" dirty="0"/>
              <a:t>で記述</a:t>
            </a:r>
            <a:endParaRPr kumimoji="1" lang="en-US" altLang="ja-GB" dirty="0"/>
          </a:p>
          <a:p>
            <a:pPr marL="457200" lvl="1" indent="0">
              <a:buNone/>
            </a:pPr>
            <a:endParaRPr lang="en-US" altLang="ja-GB" dirty="0"/>
          </a:p>
          <a:p>
            <a:pPr marL="457200" lvl="1" indent="0">
              <a:buNone/>
            </a:pPr>
            <a:endParaRPr kumimoji="1" lang="en-US" altLang="ja-GB" dirty="0"/>
          </a:p>
          <a:p>
            <a:pPr marL="457200" lvl="1" indent="0">
              <a:buNone/>
            </a:pPr>
            <a:endParaRPr lang="en-US" altLang="ja-GB" dirty="0"/>
          </a:p>
          <a:p>
            <a:pPr marL="457200" lvl="1" indent="0">
              <a:buNone/>
            </a:pPr>
            <a:endParaRPr kumimoji="1" lang="en-US" altLang="ja-GB" dirty="0"/>
          </a:p>
          <a:p>
            <a:pPr marL="457200" lvl="1" indent="0">
              <a:buNone/>
            </a:pPr>
            <a:endParaRPr lang="en-US" altLang="ja-GB" dirty="0"/>
          </a:p>
          <a:p>
            <a:pPr marL="457200" lvl="1" indent="0">
              <a:buNone/>
            </a:pPr>
            <a:endParaRPr kumimoji="1" lang="en-US" altLang="ja-GB" dirty="0"/>
          </a:p>
          <a:p>
            <a:pPr marL="457200" lvl="1" indent="0">
              <a:buNone/>
            </a:pPr>
            <a:endParaRPr kumimoji="1" lang="en-US" altLang="ja-GB" dirty="0"/>
          </a:p>
          <a:p>
            <a:pPr marL="457200" lvl="1" indent="0">
              <a:buNone/>
            </a:pPr>
            <a:r>
              <a:rPr kumimoji="1" lang="ja-GB" altLang="en-US" dirty="0"/>
              <a:t>アセンブリ言語で書ける命令</a:t>
            </a:r>
            <a:r>
              <a:rPr kumimoji="1" lang="ja-GB" altLang="en-US" dirty="0">
                <a:solidFill>
                  <a:schemeClr val="accent2"/>
                </a:solidFill>
              </a:rPr>
              <a:t>（</a:t>
            </a:r>
            <a:r>
              <a:rPr kumimoji="1" lang="en-US" altLang="ja-GB" dirty="0">
                <a:solidFill>
                  <a:schemeClr val="accent2"/>
                </a:solidFill>
              </a:rPr>
              <a:t>=CPU</a:t>
            </a:r>
            <a:r>
              <a:rPr kumimoji="1" lang="ja-GB" altLang="en-US" dirty="0">
                <a:solidFill>
                  <a:schemeClr val="accent2"/>
                </a:solidFill>
              </a:rPr>
              <a:t>の動作）は大きく分けると</a:t>
            </a:r>
            <a:r>
              <a:rPr kumimoji="1" lang="en-US" altLang="ja-GB" dirty="0">
                <a:solidFill>
                  <a:schemeClr val="accent2"/>
                </a:solidFill>
              </a:rPr>
              <a:t>4</a:t>
            </a:r>
            <a:r>
              <a:rPr kumimoji="1" lang="ja-GB" altLang="en-US" dirty="0">
                <a:solidFill>
                  <a:schemeClr val="accent2"/>
                </a:solidFill>
              </a:rPr>
              <a:t>種類</a:t>
            </a:r>
            <a:endParaRPr kumimoji="1" lang="en-US" altLang="ja-GB" dirty="0">
              <a:solidFill>
                <a:schemeClr val="accent2"/>
              </a:solidFill>
            </a:endParaRPr>
          </a:p>
          <a:p>
            <a:pPr lvl="2"/>
            <a:endParaRPr kumimoji="1" lang="en-US" altLang="ja-GB" dirty="0"/>
          </a:p>
        </p:txBody>
      </p:sp>
      <p:sp>
        <p:nvSpPr>
          <p:cNvPr id="4" name="テキスト ボックス 3">
            <a:extLst>
              <a:ext uri="{FF2B5EF4-FFF2-40B4-BE49-F238E27FC236}">
                <a16:creationId xmlns:a16="http://schemas.microsoft.com/office/drawing/2014/main" id="{906ED73A-D76E-E72B-2C27-B0070FD6029A}"/>
              </a:ext>
            </a:extLst>
          </p:cNvPr>
          <p:cNvSpPr txBox="1"/>
          <p:nvPr/>
        </p:nvSpPr>
        <p:spPr>
          <a:xfrm>
            <a:off x="1161107" y="1639656"/>
            <a:ext cx="5971443" cy="830997"/>
          </a:xfrm>
          <a:prstGeom prst="rect">
            <a:avLst/>
          </a:prstGeom>
          <a:noFill/>
        </p:spPr>
        <p:txBody>
          <a:bodyPr wrap="none" rtlCol="0">
            <a:spAutoFit/>
          </a:bodyPr>
          <a:lstStyle/>
          <a:p>
            <a:r>
              <a:rPr lang="ja-GB" altLang="en-US" dirty="0">
                <a:solidFill>
                  <a:schemeClr val="tx1">
                    <a:lumMod val="65000"/>
                    <a:lumOff val="35000"/>
                  </a:schemeClr>
                </a:solidFill>
              </a:rPr>
              <a:t>例</a:t>
            </a:r>
            <a:r>
              <a:rPr lang="en-US" altLang="ja-GB" dirty="0">
                <a:solidFill>
                  <a:schemeClr val="tx1">
                    <a:lumMod val="65000"/>
                    <a:lumOff val="35000"/>
                  </a:schemeClr>
                </a:solidFill>
              </a:rPr>
              <a:t>1</a:t>
            </a:r>
            <a:r>
              <a:rPr lang="ja-GB" altLang="en-US" dirty="0">
                <a:solidFill>
                  <a:schemeClr val="tx1">
                    <a:lumMod val="65000"/>
                    <a:lumOff val="35000"/>
                  </a:schemeClr>
                </a:solidFill>
              </a:rPr>
              <a:t>）</a:t>
            </a:r>
            <a:r>
              <a:rPr lang="en-US" altLang="ja-GB" dirty="0">
                <a:solidFill>
                  <a:schemeClr val="tx1">
                    <a:lumMod val="65000"/>
                    <a:lumOff val="35000"/>
                  </a:schemeClr>
                </a:solidFill>
              </a:rPr>
              <a:t>10110000 10101011 </a:t>
            </a:r>
          </a:p>
          <a:p>
            <a:r>
              <a:rPr lang="en-US" altLang="ja-GB" sz="1200" dirty="0">
                <a:solidFill>
                  <a:schemeClr val="tx1">
                    <a:lumMod val="65000"/>
                    <a:lumOff val="35000"/>
                  </a:schemeClr>
                </a:solidFill>
              </a:rPr>
              <a:t>↓</a:t>
            </a:r>
          </a:p>
          <a:p>
            <a:r>
              <a:rPr lang="en-US" altLang="ja-GB" dirty="0">
                <a:solidFill>
                  <a:srgbClr val="0070C0"/>
                </a:solidFill>
              </a:rPr>
              <a:t>MOV AL, </a:t>
            </a:r>
            <a:r>
              <a:rPr lang="en-US" altLang="ja-GB" dirty="0" err="1">
                <a:solidFill>
                  <a:srgbClr val="0070C0"/>
                </a:solidFill>
              </a:rPr>
              <a:t>abh</a:t>
            </a:r>
            <a:r>
              <a:rPr lang="ja-GB" altLang="en-US" dirty="0">
                <a:solidFill>
                  <a:schemeClr val="tx1">
                    <a:lumMod val="65000"/>
                    <a:lumOff val="35000"/>
                  </a:schemeClr>
                </a:solidFill>
              </a:rPr>
              <a:t>：記憶装置</a:t>
            </a:r>
            <a:r>
              <a:rPr lang="en-US" altLang="ja-GB" dirty="0">
                <a:solidFill>
                  <a:schemeClr val="tx1">
                    <a:lumMod val="65000"/>
                    <a:lumOff val="35000"/>
                  </a:schemeClr>
                </a:solidFill>
              </a:rPr>
              <a:t>AL</a:t>
            </a:r>
            <a:r>
              <a:rPr lang="ja-GB" altLang="en-US" dirty="0">
                <a:solidFill>
                  <a:schemeClr val="tx1">
                    <a:lumMod val="65000"/>
                    <a:lumOff val="35000"/>
                  </a:schemeClr>
                </a:solidFill>
              </a:rPr>
              <a:t>に</a:t>
            </a:r>
            <a:r>
              <a:rPr lang="en-US" altLang="ja-GB" dirty="0">
                <a:solidFill>
                  <a:schemeClr val="tx1">
                    <a:lumMod val="65000"/>
                    <a:lumOff val="35000"/>
                  </a:schemeClr>
                </a:solidFill>
              </a:rPr>
              <a:t>”</a:t>
            </a:r>
            <a:r>
              <a:rPr lang="en-US" altLang="ja-GB" dirty="0" err="1">
                <a:solidFill>
                  <a:schemeClr val="tx1">
                    <a:lumMod val="65000"/>
                    <a:lumOff val="35000"/>
                  </a:schemeClr>
                </a:solidFill>
              </a:rPr>
              <a:t>abh</a:t>
            </a:r>
            <a:r>
              <a:rPr lang="en-US" altLang="ja-GB" dirty="0">
                <a:solidFill>
                  <a:schemeClr val="tx1">
                    <a:lumMod val="65000"/>
                    <a:lumOff val="35000"/>
                  </a:schemeClr>
                </a:solidFill>
              </a:rPr>
              <a:t>”</a:t>
            </a:r>
            <a:r>
              <a:rPr lang="ja-GB" altLang="en-US" dirty="0">
                <a:solidFill>
                  <a:schemeClr val="tx1">
                    <a:lumMod val="65000"/>
                    <a:lumOff val="35000"/>
                  </a:schemeClr>
                </a:solidFill>
              </a:rPr>
              <a:t>という情報を記録せよ</a:t>
            </a:r>
            <a:endParaRPr kumimoji="1" lang="ja-GB" altLang="en-US" dirty="0">
              <a:solidFill>
                <a:schemeClr val="tx1">
                  <a:lumMod val="65000"/>
                  <a:lumOff val="35000"/>
                </a:schemeClr>
              </a:solidFill>
            </a:endParaRPr>
          </a:p>
        </p:txBody>
      </p:sp>
      <p:sp>
        <p:nvSpPr>
          <p:cNvPr id="12" name="テキスト ボックス 11">
            <a:extLst>
              <a:ext uri="{FF2B5EF4-FFF2-40B4-BE49-F238E27FC236}">
                <a16:creationId xmlns:a16="http://schemas.microsoft.com/office/drawing/2014/main" id="{134FDA02-6310-E56F-99C5-978346322EF5}"/>
              </a:ext>
            </a:extLst>
          </p:cNvPr>
          <p:cNvSpPr txBox="1"/>
          <p:nvPr/>
        </p:nvSpPr>
        <p:spPr>
          <a:xfrm>
            <a:off x="1161107" y="2733072"/>
            <a:ext cx="7786940" cy="830997"/>
          </a:xfrm>
          <a:prstGeom prst="rect">
            <a:avLst/>
          </a:prstGeom>
          <a:noFill/>
        </p:spPr>
        <p:txBody>
          <a:bodyPr wrap="none" rtlCol="0">
            <a:spAutoFit/>
          </a:bodyPr>
          <a:lstStyle/>
          <a:p>
            <a:r>
              <a:rPr kumimoji="1" lang="ja-GB" altLang="en-US" dirty="0">
                <a:solidFill>
                  <a:schemeClr val="tx1">
                    <a:lumMod val="65000"/>
                    <a:lumOff val="35000"/>
                  </a:schemeClr>
                </a:solidFill>
              </a:rPr>
              <a:t>例</a:t>
            </a:r>
            <a:r>
              <a:rPr kumimoji="1" lang="en-US" altLang="ja-GB" dirty="0">
                <a:solidFill>
                  <a:schemeClr val="tx1">
                    <a:lumMod val="65000"/>
                    <a:lumOff val="35000"/>
                  </a:schemeClr>
                </a:solidFill>
              </a:rPr>
              <a:t>2</a:t>
            </a:r>
            <a:r>
              <a:rPr kumimoji="1" lang="ja-GB" altLang="en-US" dirty="0">
                <a:solidFill>
                  <a:schemeClr val="tx1">
                    <a:lumMod val="65000"/>
                    <a:lumOff val="35000"/>
                  </a:schemeClr>
                </a:solidFill>
              </a:rPr>
              <a:t>）</a:t>
            </a:r>
            <a:r>
              <a:rPr kumimoji="1" lang="en-US" altLang="ja-GB" dirty="0">
                <a:solidFill>
                  <a:schemeClr val="tx1">
                    <a:lumMod val="65000"/>
                    <a:lumOff val="35000"/>
                  </a:schemeClr>
                </a:solidFill>
              </a:rPr>
              <a:t>01001001 10000001 11000101 11101110 11111111 11000000 00000000</a:t>
            </a:r>
          </a:p>
          <a:p>
            <a:r>
              <a:rPr kumimoji="1" lang="en-US" altLang="ja-GB" sz="1200" dirty="0">
                <a:solidFill>
                  <a:schemeClr val="tx1">
                    <a:lumMod val="65000"/>
                    <a:lumOff val="35000"/>
                  </a:schemeClr>
                </a:solidFill>
              </a:rPr>
              <a:t>↓</a:t>
            </a:r>
          </a:p>
          <a:p>
            <a:r>
              <a:rPr lang="en-US" altLang="ja-GB" dirty="0">
                <a:solidFill>
                  <a:srgbClr val="0070C0"/>
                </a:solidFill>
              </a:rPr>
              <a:t>ADD r13, 0xc0ffee</a:t>
            </a:r>
            <a:r>
              <a:rPr lang="ja-GB" altLang="en-US" dirty="0">
                <a:solidFill>
                  <a:schemeClr val="tx1">
                    <a:lumMod val="65000"/>
                    <a:lumOff val="35000"/>
                  </a:schemeClr>
                </a:solidFill>
              </a:rPr>
              <a:t>：記憶装置</a:t>
            </a:r>
            <a:r>
              <a:rPr lang="en-US" altLang="ja-GB" dirty="0">
                <a:solidFill>
                  <a:schemeClr val="tx1">
                    <a:lumMod val="65000"/>
                    <a:lumOff val="35000"/>
                  </a:schemeClr>
                </a:solidFill>
              </a:rPr>
              <a:t>r13</a:t>
            </a:r>
            <a:r>
              <a:rPr lang="ja-GB" altLang="en-US" dirty="0">
                <a:solidFill>
                  <a:schemeClr val="tx1">
                    <a:lumMod val="65000"/>
                    <a:lumOff val="35000"/>
                  </a:schemeClr>
                </a:solidFill>
              </a:rPr>
              <a:t>の情報に</a:t>
            </a:r>
            <a:r>
              <a:rPr lang="en-GB" altLang="ja-GB" dirty="0">
                <a:solidFill>
                  <a:schemeClr val="tx1">
                    <a:lumMod val="65000"/>
                    <a:lumOff val="35000"/>
                  </a:schemeClr>
                </a:solidFill>
              </a:rPr>
              <a:t> 0xc0ffee</a:t>
            </a:r>
            <a:r>
              <a:rPr lang="ja-GB" altLang="en-US" dirty="0">
                <a:solidFill>
                  <a:schemeClr val="tx1">
                    <a:lumMod val="65000"/>
                    <a:lumOff val="35000"/>
                  </a:schemeClr>
                </a:solidFill>
              </a:rPr>
              <a:t>（</a:t>
            </a:r>
            <a:r>
              <a:rPr lang="en-US" altLang="ja-GB" dirty="0">
                <a:solidFill>
                  <a:schemeClr val="tx1">
                    <a:lumMod val="65000"/>
                    <a:lumOff val="35000"/>
                  </a:schemeClr>
                </a:solidFill>
              </a:rPr>
              <a:t>12648430</a:t>
            </a:r>
            <a:r>
              <a:rPr lang="ja-GB" altLang="en-US" dirty="0">
                <a:solidFill>
                  <a:schemeClr val="tx1">
                    <a:lumMod val="65000"/>
                    <a:lumOff val="35000"/>
                  </a:schemeClr>
                </a:solidFill>
              </a:rPr>
              <a:t>）を加算せよ</a:t>
            </a:r>
            <a:endParaRPr kumimoji="1" lang="en-US" altLang="ja-GB" dirty="0">
              <a:solidFill>
                <a:schemeClr val="tx1">
                  <a:lumMod val="65000"/>
                  <a:lumOff val="35000"/>
                </a:schemeClr>
              </a:solidFill>
            </a:endParaRPr>
          </a:p>
        </p:txBody>
      </p:sp>
      <p:sp>
        <p:nvSpPr>
          <p:cNvPr id="15" name="テキスト ボックス 14">
            <a:extLst>
              <a:ext uri="{FF2B5EF4-FFF2-40B4-BE49-F238E27FC236}">
                <a16:creationId xmlns:a16="http://schemas.microsoft.com/office/drawing/2014/main" id="{E84FAACB-0647-6B94-B63F-ADA8809E27FA}"/>
              </a:ext>
            </a:extLst>
          </p:cNvPr>
          <p:cNvSpPr txBox="1"/>
          <p:nvPr/>
        </p:nvSpPr>
        <p:spPr>
          <a:xfrm>
            <a:off x="1921274" y="5839952"/>
            <a:ext cx="5301451" cy="276999"/>
          </a:xfrm>
          <a:prstGeom prst="rect">
            <a:avLst/>
          </a:prstGeom>
          <a:noFill/>
        </p:spPr>
        <p:txBody>
          <a:bodyPr wrap="none" rtlCol="0">
            <a:spAutoFit/>
          </a:bodyPr>
          <a:lstStyle/>
          <a:p>
            <a:r>
              <a:rPr kumimoji="1" lang="ja-GB" altLang="en-US" sz="1200" b="1" dirty="0">
                <a:solidFill>
                  <a:schemeClr val="tx1">
                    <a:lumMod val="50000"/>
                    <a:lumOff val="50000"/>
                  </a:schemeClr>
                </a:solidFill>
              </a:rPr>
              <a:t>参考：</a:t>
            </a:r>
            <a:r>
              <a:rPr kumimoji="1" lang="ja-JP" altLang="en-US" sz="1200" b="1">
                <a:solidFill>
                  <a:schemeClr val="tx1">
                    <a:lumMod val="50000"/>
                    <a:lumOff val="50000"/>
                  </a:schemeClr>
                </a:solidFill>
              </a:rPr>
              <a:t>高校生だけじゃもったいない</a:t>
            </a:r>
            <a:r>
              <a:rPr kumimoji="1" lang="en-US" altLang="ja-JP" sz="1200" b="1" dirty="0">
                <a:solidFill>
                  <a:schemeClr val="tx1">
                    <a:lumMod val="50000"/>
                    <a:lumOff val="50000"/>
                  </a:schemeClr>
                </a:solidFill>
              </a:rPr>
              <a:t> </a:t>
            </a:r>
            <a:r>
              <a:rPr kumimoji="1" lang="ja-JP" altLang="en-US" sz="1200" b="1">
                <a:solidFill>
                  <a:schemeClr val="tx1">
                    <a:lumMod val="50000"/>
                    <a:lumOff val="50000"/>
                  </a:schemeClr>
                </a:solidFill>
              </a:rPr>
              <a:t>仕事に役立つ新・必修科目「情報</a:t>
            </a:r>
            <a:r>
              <a:rPr kumimoji="1" lang="en-US" altLang="ja-JP" sz="1200" b="1" dirty="0">
                <a:solidFill>
                  <a:schemeClr val="tx1">
                    <a:lumMod val="50000"/>
                    <a:lumOff val="50000"/>
                  </a:schemeClr>
                </a:solidFill>
              </a:rPr>
              <a:t>Ⅰ</a:t>
            </a:r>
            <a:r>
              <a:rPr kumimoji="1" lang="ja-JP" altLang="en-US" sz="1200" b="1">
                <a:solidFill>
                  <a:schemeClr val="tx1">
                    <a:lumMod val="50000"/>
                    <a:lumOff val="50000"/>
                  </a:schemeClr>
                </a:solidFill>
              </a:rPr>
              <a:t>」</a:t>
            </a:r>
            <a:endParaRPr kumimoji="1" lang="ja-GB" altLang="en-US" sz="1200" b="1" dirty="0">
              <a:solidFill>
                <a:schemeClr val="tx1">
                  <a:lumMod val="50000"/>
                  <a:lumOff val="50000"/>
                </a:schemeClr>
              </a:solidFill>
            </a:endParaRPr>
          </a:p>
        </p:txBody>
      </p:sp>
      <p:graphicFrame>
        <p:nvGraphicFramePr>
          <p:cNvPr id="16" name="表 15">
            <a:extLst>
              <a:ext uri="{FF2B5EF4-FFF2-40B4-BE49-F238E27FC236}">
                <a16:creationId xmlns:a16="http://schemas.microsoft.com/office/drawing/2014/main" id="{969A6EFD-54AD-36C4-927C-BCD04FCAA195}"/>
              </a:ext>
            </a:extLst>
          </p:cNvPr>
          <p:cNvGraphicFramePr>
            <a:graphicFrameLocks noGrp="1"/>
          </p:cNvGraphicFramePr>
          <p:nvPr/>
        </p:nvGraphicFramePr>
        <p:xfrm>
          <a:off x="1671241" y="4496602"/>
          <a:ext cx="6458893" cy="1286304"/>
        </p:xfrm>
        <a:graphic>
          <a:graphicData uri="http://schemas.openxmlformats.org/drawingml/2006/table">
            <a:tbl>
              <a:tblPr>
                <a:tableStyleId>{5C22544A-7EE6-4342-B048-85BDC9FD1C3A}</a:tableStyleId>
              </a:tblPr>
              <a:tblGrid>
                <a:gridCol w="1604212">
                  <a:extLst>
                    <a:ext uri="{9D8B030D-6E8A-4147-A177-3AD203B41FA5}">
                      <a16:colId xmlns:a16="http://schemas.microsoft.com/office/drawing/2014/main" val="1272656649"/>
                    </a:ext>
                  </a:extLst>
                </a:gridCol>
                <a:gridCol w="4854681">
                  <a:extLst>
                    <a:ext uri="{9D8B030D-6E8A-4147-A177-3AD203B41FA5}">
                      <a16:colId xmlns:a16="http://schemas.microsoft.com/office/drawing/2014/main" val="3037839640"/>
                    </a:ext>
                  </a:extLst>
                </a:gridCol>
              </a:tblGrid>
              <a:tr h="321576">
                <a:tc>
                  <a:txBody>
                    <a:bodyPr/>
                    <a:lstStyle/>
                    <a:p>
                      <a:r>
                        <a:rPr lang="ja-GB" altLang="en-US" sz="1500" b="1" dirty="0">
                          <a:solidFill>
                            <a:srgbClr val="2F2523"/>
                          </a:solidFill>
                        </a:rPr>
                        <a:t>演算</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GB" altLang="en-US" sz="1500" b="1" dirty="0">
                          <a:solidFill>
                            <a:srgbClr val="2F2523"/>
                          </a:solidFill>
                        </a:rPr>
                        <a:t>記憶した情報同士の操作（</a:t>
                      </a:r>
                      <a:r>
                        <a:rPr lang="ja-GB" altLang="en-US" sz="1500" b="1">
                          <a:solidFill>
                            <a:srgbClr val="2F2523"/>
                          </a:solidFill>
                        </a:rPr>
                        <a:t>加算，比較，</a:t>
                      </a:r>
                      <a:r>
                        <a:rPr lang="en-US" altLang="ja-GB" sz="1500" b="1" dirty="0">
                          <a:solidFill>
                            <a:srgbClr val="2F2523"/>
                          </a:solidFill>
                        </a:rPr>
                        <a:t>and</a:t>
                      </a:r>
                      <a:r>
                        <a:rPr lang="ja-GB" altLang="en-US" sz="1500" b="1" dirty="0">
                          <a:solidFill>
                            <a:srgbClr val="2F2523"/>
                          </a:solidFill>
                        </a:rPr>
                        <a:t>，</a:t>
                      </a:r>
                      <a:r>
                        <a:rPr lang="en-US" altLang="ja-GB" sz="1500" b="1" dirty="0">
                          <a:solidFill>
                            <a:srgbClr val="2F2523"/>
                          </a:solidFill>
                        </a:rPr>
                        <a:t>or</a:t>
                      </a:r>
                      <a:r>
                        <a:rPr lang="ja-GB" altLang="en-US" sz="1500" b="1" dirty="0">
                          <a:solidFill>
                            <a:srgbClr val="2F2523"/>
                          </a:solidFill>
                        </a:rPr>
                        <a:t>など）</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7287185"/>
                  </a:ext>
                </a:extLst>
              </a:tr>
              <a:tr h="321576">
                <a:tc>
                  <a:txBody>
                    <a:bodyPr/>
                    <a:lstStyle/>
                    <a:p>
                      <a:r>
                        <a:rPr lang="ja-GB" altLang="en-US" sz="1500" b="1" dirty="0">
                          <a:solidFill>
                            <a:srgbClr val="2F2523"/>
                          </a:solidFill>
                        </a:rPr>
                        <a:t>逐次実行</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GB" altLang="en-US" sz="1500" b="1" dirty="0">
                          <a:solidFill>
                            <a:srgbClr val="2F2523"/>
                          </a:solidFill>
                        </a:rPr>
                        <a:t>命令を上から順に実行</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925058"/>
                  </a:ext>
                </a:extLst>
              </a:tr>
              <a:tr h="321576">
                <a:tc>
                  <a:txBody>
                    <a:bodyPr/>
                    <a:lstStyle/>
                    <a:p>
                      <a:r>
                        <a:rPr lang="ja-GB" altLang="en-US" sz="1500" b="1" dirty="0">
                          <a:solidFill>
                            <a:srgbClr val="2F2523"/>
                          </a:solidFill>
                        </a:rPr>
                        <a:t>条件ジャンプ</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GB" altLang="en-US" sz="1500" b="1" dirty="0">
                          <a:solidFill>
                            <a:srgbClr val="2F2523"/>
                          </a:solidFill>
                        </a:rPr>
                        <a:t>命令の実行順序を変更（真下でない命令にジャンプ）</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148750"/>
                  </a:ext>
                </a:extLst>
              </a:tr>
              <a:tr h="321576">
                <a:tc>
                  <a:txBody>
                    <a:bodyPr/>
                    <a:lstStyle/>
                    <a:p>
                      <a:r>
                        <a:rPr lang="ja-GB" altLang="en-US" sz="1500" b="1" dirty="0">
                          <a:solidFill>
                            <a:srgbClr val="2F2523"/>
                          </a:solidFill>
                        </a:rPr>
                        <a:t>メモリ入出力</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GB" altLang="en-US" sz="1500" b="1" dirty="0">
                          <a:solidFill>
                            <a:srgbClr val="2F2523"/>
                          </a:solidFill>
                        </a:rPr>
                        <a:t>メモリの読み出し，書き込み</a:t>
                      </a:r>
                    </a:p>
                  </a:txBody>
                  <a:tcPr>
                    <a:lnL w="12700" cap="flat" cmpd="sng" algn="ctr">
                      <a:solidFill>
                        <a:srgbClr val="2F2523"/>
                      </a:solidFill>
                      <a:prstDash val="solid"/>
                      <a:round/>
                      <a:headEnd type="none" w="med" len="med"/>
                      <a:tailEnd type="none" w="med" len="med"/>
                    </a:lnL>
                    <a:lnR w="12700" cap="flat" cmpd="sng" algn="ctr">
                      <a:solidFill>
                        <a:srgbClr val="2F2523"/>
                      </a:solidFill>
                      <a:prstDash val="solid"/>
                      <a:round/>
                      <a:headEnd type="none" w="med" len="med"/>
                      <a:tailEnd type="none" w="med" len="med"/>
                    </a:lnR>
                    <a:lnT w="12700" cap="flat" cmpd="sng" algn="ctr">
                      <a:solidFill>
                        <a:srgbClr val="2F2523"/>
                      </a:solidFill>
                      <a:prstDash val="solid"/>
                      <a:round/>
                      <a:headEnd type="none" w="med" len="med"/>
                      <a:tailEnd type="none" w="med" len="med"/>
                    </a:lnT>
                    <a:lnB w="12700" cap="flat" cmpd="sng" algn="ctr">
                      <a:solidFill>
                        <a:srgbClr val="2F2523"/>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3543572"/>
                  </a:ext>
                </a:extLst>
              </a:tr>
            </a:tbl>
          </a:graphicData>
        </a:graphic>
      </p:graphicFrame>
    </p:spTree>
    <p:extLst>
      <p:ext uri="{BB962C8B-B14F-4D97-AF65-F5344CB8AC3E}">
        <p14:creationId xmlns:p14="http://schemas.microsoft.com/office/powerpoint/2010/main" val="197570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77935E-150A-AC78-798C-2D74D5298E47}"/>
              </a:ext>
            </a:extLst>
          </p:cNvPr>
          <p:cNvSpPr>
            <a:spLocks noGrp="1"/>
          </p:cNvSpPr>
          <p:nvPr>
            <p:ph type="title"/>
          </p:nvPr>
        </p:nvSpPr>
        <p:spPr/>
        <p:txBody>
          <a:bodyPr/>
          <a:lstStyle/>
          <a:p>
            <a:r>
              <a:rPr kumimoji="1" lang="ja-GB" altLang="en-US" dirty="0"/>
              <a:t>プログラミング言語</a:t>
            </a:r>
          </a:p>
        </p:txBody>
      </p:sp>
      <p:sp>
        <p:nvSpPr>
          <p:cNvPr id="3" name="コンテンツ プレースホルダー 2">
            <a:extLst>
              <a:ext uri="{FF2B5EF4-FFF2-40B4-BE49-F238E27FC236}">
                <a16:creationId xmlns:a16="http://schemas.microsoft.com/office/drawing/2014/main" id="{4B8CE4D9-E06D-C902-3D2F-5AC22011B5BC}"/>
              </a:ext>
            </a:extLst>
          </p:cNvPr>
          <p:cNvSpPr>
            <a:spLocks noGrp="1"/>
          </p:cNvSpPr>
          <p:nvPr>
            <p:ph idx="1"/>
          </p:nvPr>
        </p:nvSpPr>
        <p:spPr/>
        <p:txBody>
          <a:bodyPr/>
          <a:lstStyle/>
          <a:p>
            <a:pPr marL="0" indent="0">
              <a:buNone/>
            </a:pPr>
            <a:r>
              <a:rPr kumimoji="1" lang="ja-GB" altLang="en-US" dirty="0"/>
              <a:t>アセンブリ言語の命令を組み合わせて</a:t>
            </a:r>
            <a:r>
              <a:rPr lang="ja-GB" altLang="en-US" dirty="0"/>
              <a:t>「</a:t>
            </a:r>
            <a:r>
              <a:rPr kumimoji="1" lang="ja-GB" altLang="en-US" dirty="0"/>
              <a:t>人間に分かりやすい命令」を簡単に書けるようにした人工言語</a:t>
            </a:r>
            <a:endParaRPr kumimoji="1" lang="en-US" altLang="ja-GB" dirty="0"/>
          </a:p>
          <a:p>
            <a:pPr marL="457200" lvl="1" indent="0">
              <a:buNone/>
            </a:pPr>
            <a:r>
              <a:rPr lang="ja-GB" altLang="en-US" sz="1800" dirty="0"/>
              <a:t>例</a:t>
            </a:r>
            <a:r>
              <a:rPr lang="en-US" altLang="ja-GB" sz="1800" dirty="0"/>
              <a:t>1</a:t>
            </a:r>
            <a:r>
              <a:rPr lang="ja-GB" altLang="en-US" sz="1800" dirty="0"/>
              <a:t>）</a:t>
            </a:r>
            <a:r>
              <a:rPr lang="en-US" altLang="ja-GB" sz="1800" dirty="0">
                <a:solidFill>
                  <a:srgbClr val="002060"/>
                </a:solidFill>
              </a:rPr>
              <a:t>print(</a:t>
            </a:r>
            <a:r>
              <a:rPr lang="en-US" altLang="ja-GB" sz="1800" dirty="0"/>
              <a:t>“</a:t>
            </a:r>
            <a:r>
              <a:rPr lang="ja-GB" altLang="en-US" sz="1800" dirty="0">
                <a:solidFill>
                  <a:schemeClr val="accent6"/>
                </a:solidFill>
              </a:rPr>
              <a:t>こんにちは</a:t>
            </a:r>
            <a:r>
              <a:rPr lang="en-US" altLang="ja-GB" sz="1800" dirty="0"/>
              <a:t>”</a:t>
            </a:r>
            <a:r>
              <a:rPr lang="en-US" altLang="ja-GB" sz="1800" dirty="0">
                <a:solidFill>
                  <a:srgbClr val="002060"/>
                </a:solidFill>
              </a:rPr>
              <a:t>)</a:t>
            </a:r>
          </a:p>
          <a:p>
            <a:pPr marL="914400" lvl="2" indent="0">
              <a:buNone/>
            </a:pPr>
            <a:r>
              <a:rPr lang="ja-GB" altLang="en-US" dirty="0">
                <a:solidFill>
                  <a:schemeClr val="tx1">
                    <a:lumMod val="50000"/>
                    <a:lumOff val="50000"/>
                  </a:schemeClr>
                </a:solidFill>
              </a:rPr>
              <a:t>意味：</a:t>
            </a:r>
            <a:r>
              <a:rPr lang="en-US" altLang="ja-GB" dirty="0">
                <a:solidFill>
                  <a:schemeClr val="tx1">
                    <a:lumMod val="50000"/>
                    <a:lumOff val="50000"/>
                  </a:schemeClr>
                </a:solidFill>
              </a:rPr>
              <a:t>”</a:t>
            </a:r>
            <a:r>
              <a:rPr lang="ja-GB" altLang="en-US" dirty="0">
                <a:solidFill>
                  <a:schemeClr val="tx1">
                    <a:lumMod val="50000"/>
                    <a:lumOff val="50000"/>
                  </a:schemeClr>
                </a:solidFill>
              </a:rPr>
              <a:t>こんにちは</a:t>
            </a:r>
            <a:r>
              <a:rPr lang="en-US" altLang="ja-GB" dirty="0">
                <a:solidFill>
                  <a:schemeClr val="tx1">
                    <a:lumMod val="50000"/>
                    <a:lumOff val="50000"/>
                  </a:schemeClr>
                </a:solidFill>
              </a:rPr>
              <a:t>”</a:t>
            </a:r>
            <a:r>
              <a:rPr lang="ja-GB" altLang="en-US" dirty="0">
                <a:solidFill>
                  <a:schemeClr val="tx1">
                    <a:lumMod val="50000"/>
                    <a:lumOff val="50000"/>
                  </a:schemeClr>
                </a:solidFill>
              </a:rPr>
              <a:t>と出力する</a:t>
            </a:r>
            <a:endParaRPr lang="en-US" altLang="ja-GB" dirty="0">
              <a:solidFill>
                <a:schemeClr val="tx1">
                  <a:lumMod val="50000"/>
                  <a:lumOff val="50000"/>
                </a:schemeClr>
              </a:solidFill>
            </a:endParaRPr>
          </a:p>
          <a:p>
            <a:pPr lvl="4"/>
            <a:endParaRPr lang="en-US" altLang="ja-GB" dirty="0"/>
          </a:p>
          <a:p>
            <a:pPr marL="457200" lvl="1" indent="0">
              <a:buNone/>
            </a:pPr>
            <a:r>
              <a:rPr kumimoji="1" lang="ja-GB" altLang="en-US" sz="1800" dirty="0"/>
              <a:t>例</a:t>
            </a:r>
            <a:r>
              <a:rPr kumimoji="1" lang="en-US" altLang="ja-GB" sz="1800" dirty="0"/>
              <a:t>2</a:t>
            </a:r>
            <a:r>
              <a:rPr kumimoji="1" lang="ja-GB" altLang="en-US" sz="1800" dirty="0"/>
              <a:t>）</a:t>
            </a:r>
            <a:r>
              <a:rPr kumimoji="1" lang="en-US" altLang="ja-GB" sz="1800" dirty="0">
                <a:solidFill>
                  <a:schemeClr val="accent2"/>
                </a:solidFill>
              </a:rPr>
              <a:t>If </a:t>
            </a:r>
            <a:r>
              <a:rPr kumimoji="1" lang="en-US" altLang="ja-GB" sz="1800" dirty="0">
                <a:solidFill>
                  <a:srgbClr val="2F2523"/>
                </a:solidFill>
              </a:rPr>
              <a:t>(</a:t>
            </a:r>
            <a:r>
              <a:rPr kumimoji="1" lang="en-US" altLang="ja-GB" sz="1800" dirty="0"/>
              <a:t>number&gt;0</a:t>
            </a:r>
            <a:r>
              <a:rPr kumimoji="1" lang="en-US" altLang="ja-GB" sz="1800" dirty="0">
                <a:solidFill>
                  <a:srgbClr val="2F2523"/>
                </a:solidFill>
              </a:rPr>
              <a:t>)</a:t>
            </a:r>
            <a:r>
              <a:rPr kumimoji="1" lang="en-US" altLang="ja-GB" sz="1800" dirty="0">
                <a:solidFill>
                  <a:schemeClr val="accent2"/>
                </a:solidFill>
              </a:rPr>
              <a:t> then </a:t>
            </a:r>
            <a:r>
              <a:rPr kumimoji="1" lang="en-US" altLang="ja-GB" sz="1800" dirty="0">
                <a:solidFill>
                  <a:srgbClr val="002060"/>
                </a:solidFill>
              </a:rPr>
              <a:t>print(</a:t>
            </a:r>
            <a:r>
              <a:rPr kumimoji="1" lang="en-US" altLang="ja-GB" sz="1800" dirty="0"/>
              <a:t>“</a:t>
            </a:r>
            <a:r>
              <a:rPr kumimoji="1" lang="ja-GB" altLang="en-US" sz="1800" dirty="0">
                <a:solidFill>
                  <a:schemeClr val="accent6"/>
                </a:solidFill>
              </a:rPr>
              <a:t>自然数</a:t>
            </a:r>
            <a:r>
              <a:rPr kumimoji="1" lang="en-US" altLang="ja-GB" sz="1800" dirty="0"/>
              <a:t>”</a:t>
            </a:r>
            <a:r>
              <a:rPr kumimoji="1" lang="en-US" altLang="ja-GB" sz="1800" dirty="0">
                <a:solidFill>
                  <a:srgbClr val="002060"/>
                </a:solidFill>
              </a:rPr>
              <a:t>)</a:t>
            </a:r>
            <a:r>
              <a:rPr kumimoji="1" lang="en-US" altLang="ja-GB" sz="1800" dirty="0">
                <a:solidFill>
                  <a:schemeClr val="accent2"/>
                </a:solidFill>
              </a:rPr>
              <a:t>, else </a:t>
            </a:r>
            <a:r>
              <a:rPr kumimoji="1" lang="en-US" altLang="ja-GB" sz="1800" dirty="0">
                <a:solidFill>
                  <a:srgbClr val="002060"/>
                </a:solidFill>
              </a:rPr>
              <a:t>print(</a:t>
            </a:r>
            <a:r>
              <a:rPr kumimoji="1" lang="en-US" altLang="ja-GB" sz="1800" dirty="0"/>
              <a:t>”</a:t>
            </a:r>
            <a:r>
              <a:rPr kumimoji="1" lang="en-US" altLang="ja-GB" sz="1800" dirty="0">
                <a:solidFill>
                  <a:schemeClr val="accent6"/>
                </a:solidFill>
              </a:rPr>
              <a:t>0</a:t>
            </a:r>
            <a:r>
              <a:rPr lang="ja-GB" altLang="en-US" sz="1800" dirty="0">
                <a:solidFill>
                  <a:schemeClr val="accent6"/>
                </a:solidFill>
              </a:rPr>
              <a:t>以下</a:t>
            </a:r>
            <a:r>
              <a:rPr kumimoji="1" lang="en-US" altLang="ja-GB" sz="1800" dirty="0"/>
              <a:t>”</a:t>
            </a:r>
            <a:r>
              <a:rPr kumimoji="1" lang="en-US" altLang="ja-GB" sz="1800" dirty="0">
                <a:solidFill>
                  <a:srgbClr val="002060"/>
                </a:solidFill>
              </a:rPr>
              <a:t>)</a:t>
            </a:r>
          </a:p>
          <a:p>
            <a:pPr marL="914400" lvl="2" indent="0">
              <a:buNone/>
            </a:pPr>
            <a:r>
              <a:rPr lang="ja-GB" altLang="en-US" dirty="0">
                <a:solidFill>
                  <a:schemeClr val="tx1">
                    <a:lumMod val="50000"/>
                    <a:lumOff val="50000"/>
                  </a:schemeClr>
                </a:solidFill>
              </a:rPr>
              <a:t>意味：</a:t>
            </a:r>
            <a:r>
              <a:rPr lang="en-US" altLang="ja-GB" dirty="0">
                <a:solidFill>
                  <a:schemeClr val="tx1">
                    <a:lumMod val="50000"/>
                    <a:lumOff val="50000"/>
                  </a:schemeClr>
                </a:solidFill>
              </a:rPr>
              <a:t>number</a:t>
            </a:r>
            <a:r>
              <a:rPr lang="ja-GB" altLang="en-US" dirty="0">
                <a:solidFill>
                  <a:schemeClr val="tx1">
                    <a:lumMod val="50000"/>
                    <a:lumOff val="50000"/>
                  </a:schemeClr>
                </a:solidFill>
              </a:rPr>
              <a:t>が</a:t>
            </a:r>
            <a:r>
              <a:rPr lang="en-US" altLang="ja-GB" dirty="0">
                <a:solidFill>
                  <a:schemeClr val="tx1">
                    <a:lumMod val="50000"/>
                    <a:lumOff val="50000"/>
                  </a:schemeClr>
                </a:solidFill>
              </a:rPr>
              <a:t>1</a:t>
            </a:r>
            <a:r>
              <a:rPr lang="ja-GB" altLang="en-US" dirty="0">
                <a:solidFill>
                  <a:schemeClr val="tx1">
                    <a:lumMod val="50000"/>
                    <a:lumOff val="50000"/>
                  </a:schemeClr>
                </a:solidFill>
              </a:rPr>
              <a:t>以上なら</a:t>
            </a:r>
            <a:r>
              <a:rPr lang="en-US" altLang="ja-GB" dirty="0">
                <a:solidFill>
                  <a:schemeClr val="tx1">
                    <a:lumMod val="50000"/>
                    <a:lumOff val="50000"/>
                  </a:schemeClr>
                </a:solidFill>
              </a:rPr>
              <a:t>”</a:t>
            </a:r>
            <a:r>
              <a:rPr lang="ja-GB" altLang="en-US" dirty="0">
                <a:solidFill>
                  <a:schemeClr val="tx1">
                    <a:lumMod val="50000"/>
                    <a:lumOff val="50000"/>
                  </a:schemeClr>
                </a:solidFill>
              </a:rPr>
              <a:t>自然数</a:t>
            </a:r>
            <a:r>
              <a:rPr lang="en-US" altLang="ja-GB" dirty="0">
                <a:solidFill>
                  <a:schemeClr val="tx1">
                    <a:lumMod val="50000"/>
                    <a:lumOff val="50000"/>
                  </a:schemeClr>
                </a:solidFill>
              </a:rPr>
              <a:t>”</a:t>
            </a:r>
            <a:r>
              <a:rPr lang="ja-GB" altLang="en-US" dirty="0">
                <a:solidFill>
                  <a:schemeClr val="tx1">
                    <a:lumMod val="50000"/>
                    <a:lumOff val="50000"/>
                  </a:schemeClr>
                </a:solidFill>
              </a:rPr>
              <a:t>と出力，そうでないなら</a:t>
            </a:r>
            <a:r>
              <a:rPr lang="en-US" altLang="ja-GB" dirty="0">
                <a:solidFill>
                  <a:schemeClr val="tx1">
                    <a:lumMod val="50000"/>
                    <a:lumOff val="50000"/>
                  </a:schemeClr>
                </a:solidFill>
              </a:rPr>
              <a:t>”0</a:t>
            </a:r>
            <a:r>
              <a:rPr lang="ja-GB" altLang="en-US" dirty="0">
                <a:solidFill>
                  <a:schemeClr val="tx1">
                    <a:lumMod val="50000"/>
                    <a:lumOff val="50000"/>
                  </a:schemeClr>
                </a:solidFill>
              </a:rPr>
              <a:t>以下</a:t>
            </a:r>
            <a:r>
              <a:rPr lang="en-US" altLang="ja-GB" dirty="0">
                <a:solidFill>
                  <a:schemeClr val="tx1">
                    <a:lumMod val="50000"/>
                    <a:lumOff val="50000"/>
                  </a:schemeClr>
                </a:solidFill>
              </a:rPr>
              <a:t>”</a:t>
            </a:r>
            <a:r>
              <a:rPr lang="ja-GB" altLang="en-US" dirty="0">
                <a:solidFill>
                  <a:schemeClr val="tx1">
                    <a:lumMod val="50000"/>
                    <a:lumOff val="50000"/>
                  </a:schemeClr>
                </a:solidFill>
              </a:rPr>
              <a:t>と出力</a:t>
            </a:r>
            <a:endParaRPr kumimoji="1" lang="en-US" altLang="ja-GB" dirty="0">
              <a:solidFill>
                <a:schemeClr val="tx1">
                  <a:lumMod val="50000"/>
                  <a:lumOff val="50000"/>
                </a:schemeClr>
              </a:solidFill>
            </a:endParaRPr>
          </a:p>
          <a:p>
            <a:pPr lvl="2"/>
            <a:endParaRPr kumimoji="1" lang="en-US" altLang="ja-GB" dirty="0"/>
          </a:p>
          <a:p>
            <a:pPr lvl="1"/>
            <a:endParaRPr kumimoji="1" lang="ja-GB" altLang="en-US" dirty="0"/>
          </a:p>
        </p:txBody>
      </p:sp>
      <p:grpSp>
        <p:nvGrpSpPr>
          <p:cNvPr id="6" name="グループ化 5">
            <a:extLst>
              <a:ext uri="{FF2B5EF4-FFF2-40B4-BE49-F238E27FC236}">
                <a16:creationId xmlns:a16="http://schemas.microsoft.com/office/drawing/2014/main" id="{386EDE1C-0DB8-5B39-2ECA-BC4AF0993DCA}"/>
              </a:ext>
            </a:extLst>
          </p:cNvPr>
          <p:cNvGrpSpPr/>
          <p:nvPr/>
        </p:nvGrpSpPr>
        <p:grpSpPr>
          <a:xfrm>
            <a:off x="1010300" y="2983817"/>
            <a:ext cx="7123400" cy="2364776"/>
            <a:chOff x="986588" y="3429000"/>
            <a:chExt cx="7123400" cy="2364776"/>
          </a:xfrm>
          <a:solidFill>
            <a:schemeClr val="bg1">
              <a:lumMod val="75000"/>
            </a:schemeClr>
          </a:solidFill>
        </p:grpSpPr>
        <p:sp>
          <p:nvSpPr>
            <p:cNvPr id="5" name="角丸四角形 4">
              <a:extLst>
                <a:ext uri="{FF2B5EF4-FFF2-40B4-BE49-F238E27FC236}">
                  <a16:creationId xmlns:a16="http://schemas.microsoft.com/office/drawing/2014/main" id="{013052BC-4B53-7C15-F94E-4A375E7D9D4E}"/>
                </a:ext>
              </a:extLst>
            </p:cNvPr>
            <p:cNvSpPr/>
            <p:nvPr/>
          </p:nvSpPr>
          <p:spPr>
            <a:xfrm>
              <a:off x="986588" y="3429000"/>
              <a:ext cx="7123399" cy="2364776"/>
            </a:xfrm>
            <a:prstGeom prst="roundRect">
              <a:avLst>
                <a:gd name="adj" fmla="val 549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 name="テキスト ボックス 3">
              <a:extLst>
                <a:ext uri="{FF2B5EF4-FFF2-40B4-BE49-F238E27FC236}">
                  <a16:creationId xmlns:a16="http://schemas.microsoft.com/office/drawing/2014/main" id="{A5510C87-AC9F-6A60-6BB7-E05F71E3932E}"/>
                </a:ext>
              </a:extLst>
            </p:cNvPr>
            <p:cNvSpPr txBox="1"/>
            <p:nvPr/>
          </p:nvSpPr>
          <p:spPr>
            <a:xfrm>
              <a:off x="1034012" y="3429000"/>
              <a:ext cx="7075976" cy="2339102"/>
            </a:xfrm>
            <a:prstGeom prst="rect">
              <a:avLst/>
            </a:prstGeom>
            <a:solidFill>
              <a:schemeClr val="bg1">
                <a:lumMod val="85000"/>
              </a:schemeClr>
            </a:solidFill>
          </p:spPr>
          <p:txBody>
            <a:bodyPr wrap="none" rtlCol="0">
              <a:spAutoFit/>
            </a:bodyPr>
            <a:lstStyle/>
            <a:p>
              <a:pPr algn="ctr"/>
              <a:r>
                <a:rPr kumimoji="1" lang="ja-GB" altLang="en-US" b="1" dirty="0">
                  <a:solidFill>
                    <a:schemeClr val="tx1">
                      <a:lumMod val="75000"/>
                      <a:lumOff val="25000"/>
                    </a:schemeClr>
                  </a:solidFill>
                  <a:latin typeface="Yu Gothic UI" panose="020B0500000000000000" pitchFamily="34" charset="-128"/>
                  <a:ea typeface="Yu Gothic UI" panose="020B0500000000000000" pitchFamily="34" charset="-128"/>
                </a:rPr>
                <a:t>アセンブリ言語</a:t>
              </a:r>
              <a:endParaRPr kumimoji="1" lang="en-US" altLang="ja-GB" b="1"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1: </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変数</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number</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の値を</a:t>
              </a:r>
              <a:r>
                <a:rPr kumimoji="1" lang="ja-GB" altLang="en-US" sz="1600" b="1" dirty="0">
                  <a:solidFill>
                    <a:schemeClr val="tx1">
                      <a:lumMod val="50000"/>
                      <a:lumOff val="50000"/>
                    </a:schemeClr>
                  </a:solidFill>
                  <a:highlight>
                    <a:srgbClr val="FFFF00"/>
                  </a:highlight>
                  <a:latin typeface="Yu Gothic UI" panose="020B0500000000000000" pitchFamily="34" charset="-128"/>
                  <a:ea typeface="Yu Gothic UI" panose="020B0500000000000000" pitchFamily="34" charset="-128"/>
                </a:rPr>
                <a:t>メモリから得る</a:t>
              </a:r>
              <a:endParaRPr kumimoji="1" lang="en-US" altLang="ja-GB" sz="1600" b="1" dirty="0">
                <a:solidFill>
                  <a:schemeClr val="tx1">
                    <a:lumMod val="50000"/>
                    <a:lumOff val="50000"/>
                  </a:schemeClr>
                </a:solidFill>
                <a:highlight>
                  <a:srgbClr val="FFFF00"/>
                </a:highlight>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2: </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メモリから得た値と</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0</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を</a:t>
              </a:r>
              <a:r>
                <a:rPr kumimoji="1" lang="ja-GB" altLang="en-US" sz="1600" b="1" dirty="0">
                  <a:solidFill>
                    <a:schemeClr val="tx1">
                      <a:lumMod val="50000"/>
                      <a:lumOff val="50000"/>
                    </a:schemeClr>
                  </a:solidFill>
                  <a:highlight>
                    <a:srgbClr val="00FF00"/>
                  </a:highlight>
                  <a:latin typeface="Yu Gothic UI" panose="020B0500000000000000" pitchFamily="34" charset="-128"/>
                  <a:ea typeface="Yu Gothic UI" panose="020B0500000000000000" pitchFamily="34" charset="-128"/>
                </a:rPr>
                <a:t>比較</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する</a:t>
              </a:r>
              <a:endPar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3: 0</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以下であれば</a:t>
              </a:r>
              <a:r>
                <a:rPr kumimoji="1" lang="en-US" altLang="ja-GB"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rPr>
                <a:t>6</a:t>
              </a:r>
              <a:r>
                <a:rPr kumimoji="1" lang="ja-GB" altLang="en-US"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rPr>
                <a:t>行目にジャンプ</a:t>
              </a:r>
              <a:endParaRPr kumimoji="1" lang="en-US" altLang="ja-GB"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4: </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別の場所に書かれたプログラム「</a:t>
              </a:r>
              <a:r>
                <a:rPr kumimoji="1" lang="en-US" altLang="ja-GB" sz="1600" b="1" dirty="0">
                  <a:solidFill>
                    <a:srgbClr val="002060"/>
                  </a:solidFill>
                  <a:latin typeface="Yu Gothic UI" panose="020B0500000000000000" pitchFamily="34" charset="-128"/>
                  <a:ea typeface="Yu Gothic UI" panose="020B0500000000000000" pitchFamily="34" charset="-128"/>
                </a:rPr>
                <a:t>print</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」に情報</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a:t>
              </a:r>
              <a:r>
                <a:rPr kumimoji="1" lang="en-US" altLang="ja-GB" sz="1600" b="1" dirty="0">
                  <a:solidFill>
                    <a:schemeClr val="accent6"/>
                  </a:solidFill>
                  <a:latin typeface="Yu Gothic UI" panose="020B0500000000000000" pitchFamily="34" charset="-128"/>
                  <a:ea typeface="Yu Gothic UI" panose="020B0500000000000000" pitchFamily="34" charset="-128"/>
                </a:rPr>
                <a:t>0</a:t>
              </a:r>
              <a:r>
                <a:rPr kumimoji="1" lang="ja-GB" altLang="en-US" sz="1600" b="1" dirty="0">
                  <a:solidFill>
                    <a:schemeClr val="accent6"/>
                  </a:solidFill>
                  <a:latin typeface="Yu Gothic UI" panose="020B0500000000000000" pitchFamily="34" charset="-128"/>
                  <a:ea typeface="Yu Gothic UI" panose="020B0500000000000000" pitchFamily="34" charset="-128"/>
                </a:rPr>
                <a:t>以下</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を与えて実行して戻ってくる</a:t>
              </a:r>
              <a:endPar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5: </a:t>
              </a:r>
              <a:r>
                <a:rPr kumimoji="1" lang="en-US" altLang="ja-GB"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rPr>
                <a:t>7</a:t>
              </a:r>
              <a:r>
                <a:rPr kumimoji="1" lang="ja-GB" altLang="en-US"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rPr>
                <a:t>行目にジャンプ</a:t>
              </a:r>
              <a:endParaRPr kumimoji="1" lang="en-US" altLang="ja-GB" sz="1600" b="1" dirty="0">
                <a:solidFill>
                  <a:schemeClr val="tx1">
                    <a:lumMod val="50000"/>
                    <a:lumOff val="50000"/>
                  </a:schemeClr>
                </a:solidFill>
                <a:highlight>
                  <a:srgbClr val="00FFFF"/>
                </a:highlight>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6: </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別の場所に書かれたプログラム「</a:t>
              </a:r>
              <a:r>
                <a:rPr kumimoji="1" lang="en-US" altLang="ja-GB" sz="1600" b="1" dirty="0">
                  <a:solidFill>
                    <a:srgbClr val="002060"/>
                  </a:solidFill>
                  <a:latin typeface="Yu Gothic UI" panose="020B0500000000000000" pitchFamily="34" charset="-128"/>
                  <a:ea typeface="Yu Gothic UI" panose="020B0500000000000000" pitchFamily="34" charset="-128"/>
                </a:rPr>
                <a:t>print</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」に情報</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a:t>
              </a:r>
              <a:r>
                <a:rPr kumimoji="1" lang="ja-GB" altLang="en-US" sz="1600" b="1" dirty="0">
                  <a:solidFill>
                    <a:schemeClr val="accent6"/>
                  </a:solidFill>
                  <a:latin typeface="Yu Gothic UI" panose="020B0500000000000000" pitchFamily="34" charset="-128"/>
                  <a:ea typeface="Yu Gothic UI" panose="020B0500000000000000" pitchFamily="34" charset="-128"/>
                </a:rPr>
                <a:t>自然数</a:t>
              </a:r>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a:t>
              </a:r>
              <a:r>
                <a:rPr kumimoji="1" lang="ja-GB" altLang="en-US" sz="1600" b="1" dirty="0">
                  <a:solidFill>
                    <a:schemeClr val="tx1">
                      <a:lumMod val="50000"/>
                      <a:lumOff val="50000"/>
                    </a:schemeClr>
                  </a:solidFill>
                  <a:latin typeface="Yu Gothic UI" panose="020B0500000000000000" pitchFamily="34" charset="-128"/>
                  <a:ea typeface="Yu Gothic UI" panose="020B0500000000000000" pitchFamily="34" charset="-128"/>
                </a:rPr>
                <a:t>を与えて実行して戻ってくる</a:t>
              </a:r>
              <a:endPar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endParaRP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7: </a:t>
              </a:r>
            </a:p>
            <a:p>
              <a:r>
                <a:rPr kumimoji="1" lang="en-US" altLang="ja-GB" sz="1600" b="1" dirty="0">
                  <a:solidFill>
                    <a:schemeClr val="tx1">
                      <a:lumMod val="50000"/>
                      <a:lumOff val="50000"/>
                    </a:schemeClr>
                  </a:solidFill>
                  <a:latin typeface="Yu Gothic UI" panose="020B0500000000000000" pitchFamily="34" charset="-128"/>
                  <a:ea typeface="Yu Gothic UI" panose="020B0500000000000000" pitchFamily="34" charset="-128"/>
                </a:rPr>
                <a:t>…</a:t>
              </a:r>
            </a:p>
          </p:txBody>
        </p:sp>
      </p:grpSp>
      <p:sp>
        <p:nvSpPr>
          <p:cNvPr id="7" name="テキスト ボックス 6">
            <a:extLst>
              <a:ext uri="{FF2B5EF4-FFF2-40B4-BE49-F238E27FC236}">
                <a16:creationId xmlns:a16="http://schemas.microsoft.com/office/drawing/2014/main" id="{4F5AECE9-E89E-7E0D-1B65-B30E89C83C08}"/>
              </a:ext>
            </a:extLst>
          </p:cNvPr>
          <p:cNvSpPr txBox="1"/>
          <p:nvPr/>
        </p:nvSpPr>
        <p:spPr>
          <a:xfrm>
            <a:off x="96257" y="5607785"/>
            <a:ext cx="8951489" cy="353943"/>
          </a:xfrm>
          <a:prstGeom prst="rect">
            <a:avLst/>
          </a:prstGeom>
          <a:solidFill>
            <a:schemeClr val="bg1">
              <a:lumMod val="85000"/>
            </a:schemeClr>
          </a:solidFill>
        </p:spPr>
        <p:txBody>
          <a:bodyPr wrap="none" rtlCol="0">
            <a:spAutoFit/>
          </a:bodyPr>
          <a:lstStyle/>
          <a:p>
            <a:pPr algn="ctr"/>
            <a:r>
              <a:rPr kumimoji="1" lang="ja-GB" altLang="en-US" sz="1700" b="1" dirty="0">
                <a:solidFill>
                  <a:srgbClr val="2F2523"/>
                </a:solidFill>
                <a:highlight>
                  <a:srgbClr val="00FF00"/>
                </a:highlight>
              </a:rPr>
              <a:t>演算</a:t>
            </a:r>
            <a:r>
              <a:rPr kumimoji="1" lang="ja-GB" altLang="en-US" sz="1700" b="1" dirty="0">
                <a:solidFill>
                  <a:srgbClr val="2F2523"/>
                </a:solidFill>
              </a:rPr>
              <a:t>，</a:t>
            </a:r>
            <a:r>
              <a:rPr kumimoji="1" lang="ja-GB" altLang="en-US" sz="1700" b="1" dirty="0">
                <a:solidFill>
                  <a:srgbClr val="2F2523"/>
                </a:solidFill>
                <a:highlight>
                  <a:srgbClr val="CAA3AB"/>
                </a:highlight>
              </a:rPr>
              <a:t>逐次実行</a:t>
            </a:r>
            <a:r>
              <a:rPr kumimoji="1" lang="ja-GB" altLang="en-US" sz="1700" b="1" dirty="0">
                <a:solidFill>
                  <a:srgbClr val="2F2523"/>
                </a:solidFill>
              </a:rPr>
              <a:t>，</a:t>
            </a:r>
            <a:r>
              <a:rPr kumimoji="1" lang="ja-GB" altLang="en-US" sz="1700" b="1" dirty="0">
                <a:solidFill>
                  <a:srgbClr val="2F2523"/>
                </a:solidFill>
                <a:highlight>
                  <a:srgbClr val="00FFFF"/>
                </a:highlight>
              </a:rPr>
              <a:t>条件ジャンプ</a:t>
            </a:r>
            <a:r>
              <a:rPr kumimoji="1" lang="ja-GB" altLang="en-US" sz="1700" b="1" dirty="0">
                <a:solidFill>
                  <a:srgbClr val="2F2523"/>
                </a:solidFill>
              </a:rPr>
              <a:t>，</a:t>
            </a:r>
            <a:r>
              <a:rPr kumimoji="1" lang="ja-GB" altLang="en-US" sz="1700" b="1" dirty="0">
                <a:solidFill>
                  <a:srgbClr val="2F2523"/>
                </a:solidFill>
                <a:highlight>
                  <a:srgbClr val="FFFF00"/>
                </a:highlight>
              </a:rPr>
              <a:t>メモリ入出力</a:t>
            </a:r>
            <a:r>
              <a:rPr kumimoji="1" lang="ja-GB" altLang="en-US" sz="1700" b="1" dirty="0">
                <a:solidFill>
                  <a:srgbClr val="2F2523"/>
                </a:solidFill>
              </a:rPr>
              <a:t>（</a:t>
            </a:r>
            <a:r>
              <a:rPr kumimoji="1" lang="en-US" altLang="ja-GB" sz="1700" b="1" dirty="0">
                <a:solidFill>
                  <a:srgbClr val="2F2523"/>
                </a:solidFill>
              </a:rPr>
              <a:t>=CPU</a:t>
            </a:r>
            <a:r>
              <a:rPr kumimoji="1" lang="ja-GB" altLang="en-US" sz="1700" b="1" dirty="0">
                <a:solidFill>
                  <a:srgbClr val="2F2523"/>
                </a:solidFill>
              </a:rPr>
              <a:t>動作）の組み合わせを簡単に使える</a:t>
            </a:r>
          </a:p>
        </p:txBody>
      </p:sp>
      <p:cxnSp>
        <p:nvCxnSpPr>
          <p:cNvPr id="13" name="直線矢印コネクタ 12">
            <a:extLst>
              <a:ext uri="{FF2B5EF4-FFF2-40B4-BE49-F238E27FC236}">
                <a16:creationId xmlns:a16="http://schemas.microsoft.com/office/drawing/2014/main" id="{FB3A1A73-B3F7-1218-EA15-CF2B58203F45}"/>
              </a:ext>
            </a:extLst>
          </p:cNvPr>
          <p:cNvCxnSpPr>
            <a:cxnSpLocks/>
          </p:cNvCxnSpPr>
          <p:nvPr/>
        </p:nvCxnSpPr>
        <p:spPr>
          <a:xfrm>
            <a:off x="902368" y="3302916"/>
            <a:ext cx="0" cy="1930821"/>
          </a:xfrm>
          <a:prstGeom prst="straightConnector1">
            <a:avLst/>
          </a:prstGeom>
          <a:ln w="38100">
            <a:solidFill>
              <a:srgbClr val="A64155"/>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FD49C3E8-173A-96CF-9B45-0200E274CC9D}"/>
              </a:ext>
            </a:extLst>
          </p:cNvPr>
          <p:cNvSpPr txBox="1"/>
          <p:nvPr/>
        </p:nvSpPr>
        <p:spPr>
          <a:xfrm>
            <a:off x="1555788" y="6220920"/>
            <a:ext cx="6032422" cy="461665"/>
          </a:xfrm>
          <a:prstGeom prst="rect">
            <a:avLst/>
          </a:prstGeom>
          <a:noFill/>
        </p:spPr>
        <p:txBody>
          <a:bodyPr wrap="none" rtlCol="0">
            <a:spAutoFit/>
          </a:bodyPr>
          <a:lstStyle/>
          <a:p>
            <a:pPr algn="ctr"/>
            <a:r>
              <a:rPr kumimoji="1" lang="ja-GB" altLang="en-US" sz="2400" b="1" dirty="0">
                <a:solidFill>
                  <a:schemeClr val="accent2"/>
                </a:solidFill>
              </a:rPr>
              <a:t>命令をどのように組み立てたらいいのか？</a:t>
            </a:r>
          </a:p>
        </p:txBody>
      </p:sp>
    </p:spTree>
    <p:extLst>
      <p:ext uri="{BB962C8B-B14F-4D97-AF65-F5344CB8AC3E}">
        <p14:creationId xmlns:p14="http://schemas.microsoft.com/office/powerpoint/2010/main" val="204226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20D2D3-9562-3C8D-C559-AEBE87C6748D}"/>
              </a:ext>
            </a:extLst>
          </p:cNvPr>
          <p:cNvSpPr>
            <a:spLocks noGrp="1"/>
          </p:cNvSpPr>
          <p:nvPr>
            <p:ph type="title"/>
          </p:nvPr>
        </p:nvSpPr>
        <p:spPr/>
        <p:txBody>
          <a:bodyPr/>
          <a:lstStyle/>
          <a:p>
            <a:r>
              <a:rPr kumimoji="1" lang="ja-GB" altLang="en-US" dirty="0"/>
              <a:t>プログラミングの基本</a:t>
            </a:r>
          </a:p>
        </p:txBody>
      </p:sp>
      <p:sp>
        <p:nvSpPr>
          <p:cNvPr id="3" name="コンテンツ プレースホルダー 2">
            <a:extLst>
              <a:ext uri="{FF2B5EF4-FFF2-40B4-BE49-F238E27FC236}">
                <a16:creationId xmlns:a16="http://schemas.microsoft.com/office/drawing/2014/main" id="{B1F2EE59-89FD-669A-D65A-DB4063287E58}"/>
              </a:ext>
            </a:extLst>
          </p:cNvPr>
          <p:cNvSpPr>
            <a:spLocks noGrp="1"/>
          </p:cNvSpPr>
          <p:nvPr>
            <p:ph idx="1"/>
          </p:nvPr>
        </p:nvSpPr>
        <p:spPr/>
        <p:txBody>
          <a:bodyPr/>
          <a:lstStyle/>
          <a:p>
            <a:pPr marL="0" indent="0">
              <a:buNone/>
            </a:pPr>
            <a:r>
              <a:rPr kumimoji="1" lang="ja-GB" altLang="en-US" dirty="0"/>
              <a:t>命令を逐次実行，条件分岐，繰り返しで並べる</a:t>
            </a:r>
            <a:endParaRPr lang="en-US" altLang="ja-GB" dirty="0"/>
          </a:p>
          <a:p>
            <a:pPr lvl="1"/>
            <a:r>
              <a:rPr lang="ja-GB" altLang="en-US" dirty="0"/>
              <a:t>逐次実行：順番に処理を実施する</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lvl="1"/>
            <a:r>
              <a:rPr lang="ja-GB" altLang="en-US" dirty="0"/>
              <a:t>条件分岐：条件に応じて処理を分岐する</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lvl="1"/>
            <a:r>
              <a:rPr lang="ja-GB" altLang="en-US" dirty="0"/>
              <a:t>繰り返し：条件を満たすまで処理を繰り返す</a:t>
            </a:r>
            <a:r>
              <a:rPr lang="ja-GB" altLang="en-US" dirty="0">
                <a:solidFill>
                  <a:schemeClr val="tx1">
                    <a:lumMod val="50000"/>
                    <a:lumOff val="50000"/>
                  </a:schemeClr>
                </a:solidFill>
              </a:rPr>
              <a:t>（ ♦️で矢印をループさせる）</a:t>
            </a:r>
            <a:endParaRPr kumimoji="1" lang="ja-GB" altLang="en-US" dirty="0"/>
          </a:p>
        </p:txBody>
      </p:sp>
      <p:pic>
        <p:nvPicPr>
          <p:cNvPr id="4" name="図 3" descr="ダイアグラム&#10;&#10;AI によって生成されたコンテンツは間違っている可能性があります。">
            <a:extLst>
              <a:ext uri="{FF2B5EF4-FFF2-40B4-BE49-F238E27FC236}">
                <a16:creationId xmlns:a16="http://schemas.microsoft.com/office/drawing/2014/main" id="{3E3E7FFA-0C2A-3F83-7280-54892B0E642A}"/>
              </a:ext>
            </a:extLst>
          </p:cNvPr>
          <p:cNvPicPr>
            <a:picLocks noChangeAspect="1"/>
          </p:cNvPicPr>
          <p:nvPr/>
        </p:nvPicPr>
        <p:blipFill>
          <a:blip r:embed="rId2"/>
          <a:stretch>
            <a:fillRect/>
          </a:stretch>
        </p:blipFill>
        <p:spPr>
          <a:xfrm>
            <a:off x="308857" y="2816261"/>
            <a:ext cx="8520818" cy="2658978"/>
          </a:xfrm>
          <a:prstGeom prst="rect">
            <a:avLst/>
          </a:prstGeom>
        </p:spPr>
      </p:pic>
    </p:spTree>
    <p:extLst>
      <p:ext uri="{BB962C8B-B14F-4D97-AF65-F5344CB8AC3E}">
        <p14:creationId xmlns:p14="http://schemas.microsoft.com/office/powerpoint/2010/main" val="7116162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683A5-CE07-28C2-52C8-F0DB1A7D62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A04967-B1C0-E753-CCF4-F751B85EAF9E}"/>
              </a:ext>
            </a:extLst>
          </p:cNvPr>
          <p:cNvSpPr>
            <a:spLocks noGrp="1"/>
          </p:cNvSpPr>
          <p:nvPr>
            <p:ph type="title"/>
          </p:nvPr>
        </p:nvSpPr>
        <p:spPr/>
        <p:txBody>
          <a:bodyPr>
            <a:normAutofit/>
          </a:bodyPr>
          <a:lstStyle/>
          <a:p>
            <a:r>
              <a:rPr kumimoji="1" lang="ja-GB" altLang="en-US" dirty="0"/>
              <a:t>第</a:t>
            </a:r>
            <a:r>
              <a:rPr kumimoji="1" lang="en-US" altLang="ja-GB" dirty="0"/>
              <a:t>3</a:t>
            </a:r>
            <a:r>
              <a:rPr kumimoji="1" lang="ja-GB" altLang="en-US" dirty="0"/>
              <a:t>回：計算機の基本原理</a:t>
            </a:r>
          </a:p>
        </p:txBody>
      </p:sp>
      <p:sp>
        <p:nvSpPr>
          <p:cNvPr id="3" name="コンテンツ プレースホルダー 2">
            <a:extLst>
              <a:ext uri="{FF2B5EF4-FFF2-40B4-BE49-F238E27FC236}">
                <a16:creationId xmlns:a16="http://schemas.microsoft.com/office/drawing/2014/main" id="{33362B55-E1D7-269B-B754-97616DF66660}"/>
              </a:ext>
            </a:extLst>
          </p:cNvPr>
          <p:cNvSpPr>
            <a:spLocks noGrp="1"/>
          </p:cNvSpPr>
          <p:nvPr>
            <p:ph idx="1"/>
          </p:nvPr>
        </p:nvSpPr>
        <p:spPr/>
        <p:txBody>
          <a:bodyPr/>
          <a:lstStyle/>
          <a:p>
            <a:pPr marL="0" indent="0">
              <a:buNone/>
            </a:pPr>
            <a:r>
              <a:rPr lang="ja-GB" altLang="en-US" dirty="0">
                <a:solidFill>
                  <a:schemeClr val="tx1">
                    <a:lumMod val="50000"/>
                    <a:lumOff val="50000"/>
                  </a:schemeClr>
                </a:solidFill>
              </a:rPr>
              <a:t>計算機の持つ機能は少ないが，組み合わせて色々な機能を作れる</a:t>
            </a:r>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計算機の構造と自動計算の原理</a:t>
            </a:r>
            <a:endParaRPr lang="en-US" altLang="ja-GB" dirty="0">
              <a:solidFill>
                <a:schemeClr val="tx1">
                  <a:lumMod val="50000"/>
                  <a:lumOff val="50000"/>
                </a:schemeClr>
              </a:solidFill>
            </a:endParaRPr>
          </a:p>
          <a:p>
            <a:pPr lvl="2"/>
            <a:r>
              <a:rPr lang="en-US" altLang="ja-GB" dirty="0">
                <a:solidFill>
                  <a:schemeClr val="tx1">
                    <a:lumMod val="50000"/>
                    <a:lumOff val="50000"/>
                  </a:schemeClr>
                </a:solidFill>
              </a:rPr>
              <a:t>5</a:t>
            </a:r>
            <a:r>
              <a:rPr lang="ja-GB" altLang="en-US" dirty="0">
                <a:solidFill>
                  <a:schemeClr val="tx1">
                    <a:lumMod val="50000"/>
                    <a:lumOff val="50000"/>
                  </a:schemeClr>
                </a:solidFill>
              </a:rPr>
              <a:t>種類の装置で構成される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装置が連携して計算を行う</a:t>
            </a:r>
            <a:endParaRPr lang="en-US" altLang="ja-GB" dirty="0">
              <a:solidFill>
                <a:schemeClr val="tx1">
                  <a:lumMod val="50000"/>
                  <a:lumOff val="50000"/>
                </a:schemeClr>
              </a:solidFill>
            </a:endParaRPr>
          </a:p>
          <a:p>
            <a:pPr lvl="2"/>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ハードウェア実装される</a:t>
            </a:r>
            <a:r>
              <a:rPr kumimoji="1" lang="ja-GB" altLang="en-US" dirty="0">
                <a:solidFill>
                  <a:schemeClr val="tx1">
                    <a:lumMod val="50000"/>
                    <a:lumOff val="50000"/>
                  </a:schemeClr>
                </a:solidFill>
              </a:rPr>
              <a:t>演算は数種類</a:t>
            </a:r>
            <a:r>
              <a:rPr lang="ja-GB" altLang="en-US" dirty="0">
                <a:solidFill>
                  <a:schemeClr val="tx1">
                    <a:lumMod val="50000"/>
                    <a:lumOff val="50000"/>
                  </a:schemeClr>
                </a:solidFill>
              </a:rPr>
              <a:t>のみ</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機械語（</a:t>
            </a:r>
            <a:r>
              <a:rPr lang="en-US" altLang="ja-GB" dirty="0">
                <a:solidFill>
                  <a:schemeClr val="tx1">
                    <a:lumMod val="50000"/>
                    <a:lumOff val="50000"/>
                  </a:schemeClr>
                </a:solidFill>
              </a:rPr>
              <a:t>2</a:t>
            </a:r>
            <a:r>
              <a:rPr lang="ja-GB" altLang="en-US" dirty="0">
                <a:solidFill>
                  <a:schemeClr val="tx1">
                    <a:lumMod val="50000"/>
                    <a:lumOff val="50000"/>
                  </a:schemeClr>
                </a:solidFill>
              </a:rPr>
              <a:t>進数），アセンブリ言語（機械語直訳），プログラミング言語</a:t>
            </a:r>
            <a:endParaRPr lang="en-US" altLang="ja-GB" dirty="0">
              <a:solidFill>
                <a:schemeClr val="tx1">
                  <a:lumMod val="50000"/>
                  <a:lumOff val="50000"/>
                </a:schemeClr>
              </a:solidFill>
            </a:endParaRPr>
          </a:p>
          <a:p>
            <a:pPr lvl="2"/>
            <a:endParaRPr lang="en-US" altLang="ja-GB" dirty="0">
              <a:solidFill>
                <a:srgbClr val="2F2523"/>
              </a:solidFill>
            </a:endParaRPr>
          </a:p>
          <a:p>
            <a:pPr marL="914400" lvl="1" indent="-457200">
              <a:buFont typeface="+mj-lt"/>
              <a:buAutoNum type="arabicPeriod"/>
            </a:pPr>
            <a:r>
              <a:rPr lang="ja-GB" altLang="en-US" dirty="0">
                <a:solidFill>
                  <a:srgbClr val="002060"/>
                </a:solidFill>
              </a:rPr>
              <a:t>演算の組み合わせ（アルゴリズム）で多様な演算を実現</a:t>
            </a:r>
            <a:endParaRPr lang="en-US" altLang="ja-GB" dirty="0">
              <a:solidFill>
                <a:srgbClr val="002060"/>
              </a:solidFill>
            </a:endParaRPr>
          </a:p>
          <a:p>
            <a:pPr lvl="2"/>
            <a:r>
              <a:rPr kumimoji="1" lang="ja-GB" altLang="en-US" dirty="0">
                <a:solidFill>
                  <a:schemeClr val="tx1">
                    <a:lumMod val="65000"/>
                    <a:lumOff val="35000"/>
                  </a:schemeClr>
                </a:solidFill>
              </a:rPr>
              <a:t>命令を逐次処理，分岐，繰り返しに並べてアルゴリズムを作る</a:t>
            </a:r>
            <a:endParaRPr kumimoji="1" lang="en-US" altLang="ja-GB" dirty="0">
              <a:solidFill>
                <a:schemeClr val="tx1">
                  <a:lumMod val="65000"/>
                  <a:lumOff val="35000"/>
                </a:schemeClr>
              </a:solidFill>
            </a:endParaRPr>
          </a:p>
          <a:p>
            <a:pPr lvl="2"/>
            <a:r>
              <a:rPr kumimoji="1" lang="ja-GB" altLang="en-US" dirty="0">
                <a:solidFill>
                  <a:schemeClr val="tx1">
                    <a:lumMod val="65000"/>
                    <a:lumOff val="35000"/>
                  </a:schemeClr>
                </a:solidFill>
              </a:rPr>
              <a:t>アルゴリズムを組み合わせてアルゴリズムをつくる</a:t>
            </a:r>
            <a:endParaRPr kumimoji="1" lang="en-US" altLang="ja-GB" dirty="0">
              <a:solidFill>
                <a:schemeClr val="tx1">
                  <a:lumMod val="65000"/>
                  <a:lumOff val="35000"/>
                </a:schemeClr>
              </a:solidFill>
            </a:endParaRPr>
          </a:p>
        </p:txBody>
      </p:sp>
      <p:pic>
        <p:nvPicPr>
          <p:cNvPr id="25" name="図 24">
            <a:extLst>
              <a:ext uri="{FF2B5EF4-FFF2-40B4-BE49-F238E27FC236}">
                <a16:creationId xmlns:a16="http://schemas.microsoft.com/office/drawing/2014/main" id="{07D811F0-A3C8-1BAE-E939-D7EEB7FA0D10}"/>
              </a:ext>
            </a:extLst>
          </p:cNvPr>
          <p:cNvPicPr>
            <a:picLocks noChangeAspect="1"/>
          </p:cNvPicPr>
          <p:nvPr/>
        </p:nvPicPr>
        <p:blipFill>
          <a:blip r:embed="rId2">
            <a:clrChange>
              <a:clrFrom>
                <a:srgbClr val="000000">
                  <a:alpha val="0"/>
                </a:srgbClr>
              </a:clrFrom>
              <a:clrTo>
                <a:srgbClr val="000000">
                  <a:alpha val="0"/>
                </a:srgbClr>
              </a:clrTo>
            </a:clrChange>
          </a:blip>
          <a:stretch>
            <a:fillRect/>
          </a:stretch>
        </p:blipFill>
        <p:spPr>
          <a:xfrm>
            <a:off x="738412" y="4775143"/>
            <a:ext cx="7667176" cy="1692607"/>
          </a:xfrm>
          <a:prstGeom prst="rect">
            <a:avLst/>
          </a:prstGeom>
        </p:spPr>
      </p:pic>
      <p:pic>
        <p:nvPicPr>
          <p:cNvPr id="44" name="図 43">
            <a:extLst>
              <a:ext uri="{FF2B5EF4-FFF2-40B4-BE49-F238E27FC236}">
                <a16:creationId xmlns:a16="http://schemas.microsoft.com/office/drawing/2014/main" id="{6FB48133-DB93-2AE3-710D-51665B4FA63B}"/>
              </a:ext>
            </a:extLst>
          </p:cNvPr>
          <p:cNvPicPr>
            <a:picLocks noChangeAspect="1"/>
          </p:cNvPicPr>
          <p:nvPr/>
        </p:nvPicPr>
        <p:blipFill>
          <a:blip r:embed="rId3"/>
          <a:stretch>
            <a:fillRect/>
          </a:stretch>
        </p:blipFill>
        <p:spPr>
          <a:xfrm>
            <a:off x="5510463" y="1236553"/>
            <a:ext cx="3001754" cy="1097248"/>
          </a:xfrm>
          <a:prstGeom prst="rect">
            <a:avLst/>
          </a:prstGeom>
        </p:spPr>
      </p:pic>
    </p:spTree>
    <p:extLst>
      <p:ext uri="{BB962C8B-B14F-4D97-AF65-F5344CB8AC3E}">
        <p14:creationId xmlns:p14="http://schemas.microsoft.com/office/powerpoint/2010/main" val="2554021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20D2D3-9562-3C8D-C559-AEBE87C6748D}"/>
              </a:ext>
            </a:extLst>
          </p:cNvPr>
          <p:cNvSpPr>
            <a:spLocks noGrp="1"/>
          </p:cNvSpPr>
          <p:nvPr>
            <p:ph type="title"/>
          </p:nvPr>
        </p:nvSpPr>
        <p:spPr/>
        <p:txBody>
          <a:bodyPr/>
          <a:lstStyle/>
          <a:p>
            <a:r>
              <a:rPr kumimoji="1" lang="ja-GB" altLang="en-US" dirty="0"/>
              <a:t>アルゴリズム（</a:t>
            </a:r>
            <a:r>
              <a:rPr kumimoji="1" lang="en-US" altLang="ja-GB" dirty="0"/>
              <a:t>algorithm</a:t>
            </a:r>
            <a:r>
              <a:rPr kumimoji="1" lang="ja-GB" altLang="en-US" dirty="0"/>
              <a:t>）</a:t>
            </a:r>
          </a:p>
        </p:txBody>
      </p:sp>
      <p:sp>
        <p:nvSpPr>
          <p:cNvPr id="3" name="コンテンツ プレースホルダー 2">
            <a:extLst>
              <a:ext uri="{FF2B5EF4-FFF2-40B4-BE49-F238E27FC236}">
                <a16:creationId xmlns:a16="http://schemas.microsoft.com/office/drawing/2014/main" id="{B1F2EE59-89FD-669A-D65A-DB4063287E58}"/>
              </a:ext>
            </a:extLst>
          </p:cNvPr>
          <p:cNvSpPr>
            <a:spLocks noGrp="1"/>
          </p:cNvSpPr>
          <p:nvPr>
            <p:ph idx="1"/>
          </p:nvPr>
        </p:nvSpPr>
        <p:spPr/>
        <p:txBody>
          <a:bodyPr/>
          <a:lstStyle/>
          <a:p>
            <a:pPr marL="0" indent="0">
              <a:buNone/>
            </a:pPr>
            <a:r>
              <a:rPr kumimoji="1" lang="ja-GB" altLang="en-US" dirty="0"/>
              <a:t>問題を解決するための具体的な手順（計算方法）</a:t>
            </a:r>
            <a:endParaRPr kumimoji="1" lang="en-US" altLang="ja-GB" dirty="0"/>
          </a:p>
          <a:p>
            <a:pPr marL="457200" lvl="1" indent="0">
              <a:buNone/>
            </a:pPr>
            <a:r>
              <a:rPr kumimoji="1" lang="ja-GB" altLang="en-US" dirty="0">
                <a:solidFill>
                  <a:schemeClr val="tx1">
                    <a:lumMod val="50000"/>
                    <a:lumOff val="50000"/>
                  </a:schemeClr>
                </a:solidFill>
              </a:rPr>
              <a:t>語源：昔に計算方法に関する本を書いた数学者（</a:t>
            </a:r>
            <a:r>
              <a:rPr kumimoji="1" lang="en-US" altLang="ja-GB" dirty="0">
                <a:solidFill>
                  <a:schemeClr val="tx1">
                    <a:lumMod val="50000"/>
                    <a:lumOff val="50000"/>
                  </a:schemeClr>
                </a:solidFill>
              </a:rPr>
              <a:t>al-Khwarizmi</a:t>
            </a:r>
            <a:r>
              <a:rPr kumimoji="1" lang="ja-GB" altLang="en-US" dirty="0">
                <a:solidFill>
                  <a:schemeClr val="tx1">
                    <a:lumMod val="50000"/>
                    <a:lumOff val="50000"/>
                  </a:schemeClr>
                </a:solidFill>
              </a:rPr>
              <a:t>氏）</a:t>
            </a:r>
            <a:endParaRPr kumimoji="1" lang="en-US" altLang="ja-JP" dirty="0">
              <a:solidFill>
                <a:schemeClr val="tx1">
                  <a:lumMod val="50000"/>
                  <a:lumOff val="50000"/>
                </a:schemeClr>
              </a:solidFill>
            </a:endParaRPr>
          </a:p>
          <a:p>
            <a:pPr marL="457200" lvl="1" indent="0">
              <a:buNone/>
            </a:pPr>
            <a:r>
              <a:rPr kumimoji="1" lang="ja-GB" altLang="en-US" dirty="0">
                <a:solidFill>
                  <a:srgbClr val="0070C0"/>
                </a:solidFill>
              </a:rPr>
              <a:t>命令</a:t>
            </a:r>
            <a:r>
              <a:rPr kumimoji="1" lang="ja-GB" altLang="en-US" dirty="0"/>
              <a:t>を逐次実行，条件分岐，繰り返しで並べる</a:t>
            </a:r>
            <a:r>
              <a:rPr lang="ja-GB" altLang="en-US" dirty="0"/>
              <a:t>ことで作る</a:t>
            </a:r>
            <a:endParaRPr kumimoji="1" lang="ja-GB" altLang="en-US" dirty="0"/>
          </a:p>
        </p:txBody>
      </p:sp>
      <p:pic>
        <p:nvPicPr>
          <p:cNvPr id="4" name="図 3" descr="ダイアグラム&#10;&#10;AI によって生成されたコンテンツは間違っている可能性があります。">
            <a:extLst>
              <a:ext uri="{FF2B5EF4-FFF2-40B4-BE49-F238E27FC236}">
                <a16:creationId xmlns:a16="http://schemas.microsoft.com/office/drawing/2014/main" id="{3E3E7FFA-0C2A-3F83-7280-54892B0E642A}"/>
              </a:ext>
            </a:extLst>
          </p:cNvPr>
          <p:cNvPicPr>
            <a:picLocks noChangeAspect="1"/>
          </p:cNvPicPr>
          <p:nvPr/>
        </p:nvPicPr>
        <p:blipFill>
          <a:blip r:embed="rId2"/>
          <a:stretch>
            <a:fillRect/>
          </a:stretch>
        </p:blipFill>
        <p:spPr>
          <a:xfrm>
            <a:off x="314325" y="2526893"/>
            <a:ext cx="8520818" cy="2658978"/>
          </a:xfrm>
          <a:prstGeom prst="rect">
            <a:avLst/>
          </a:prstGeom>
        </p:spPr>
      </p:pic>
      <p:sp>
        <p:nvSpPr>
          <p:cNvPr id="5" name="テキスト ボックス 4">
            <a:extLst>
              <a:ext uri="{FF2B5EF4-FFF2-40B4-BE49-F238E27FC236}">
                <a16:creationId xmlns:a16="http://schemas.microsoft.com/office/drawing/2014/main" id="{35179419-6011-E5CC-533D-2AD64F6C50E0}"/>
              </a:ext>
            </a:extLst>
          </p:cNvPr>
          <p:cNvSpPr txBox="1"/>
          <p:nvPr/>
        </p:nvSpPr>
        <p:spPr>
          <a:xfrm>
            <a:off x="1480436" y="5652603"/>
            <a:ext cx="5262980" cy="646331"/>
          </a:xfrm>
          <a:prstGeom prst="rect">
            <a:avLst/>
          </a:prstGeom>
          <a:noFill/>
        </p:spPr>
        <p:txBody>
          <a:bodyPr wrap="none" rtlCol="0">
            <a:spAutoFit/>
          </a:bodyPr>
          <a:lstStyle/>
          <a:p>
            <a:pPr algn="ctr"/>
            <a:r>
              <a:rPr kumimoji="1" lang="en-US" altLang="ja-GB" b="1" dirty="0">
                <a:solidFill>
                  <a:schemeClr val="accent2"/>
                </a:solidFill>
              </a:rPr>
              <a:t>CPU</a:t>
            </a:r>
            <a:r>
              <a:rPr kumimoji="1" lang="ja-GB" altLang="en-US" b="1" dirty="0">
                <a:solidFill>
                  <a:schemeClr val="accent2"/>
                </a:solidFill>
              </a:rPr>
              <a:t>に用意されている命令は少ないが</a:t>
            </a:r>
            <a:br>
              <a:rPr kumimoji="1" lang="en-US" altLang="ja-GB" b="1" dirty="0">
                <a:solidFill>
                  <a:schemeClr val="accent2"/>
                </a:solidFill>
              </a:rPr>
            </a:br>
            <a:r>
              <a:rPr kumimoji="1" lang="ja-GB" altLang="en-US" b="1" dirty="0">
                <a:solidFill>
                  <a:schemeClr val="accent2"/>
                </a:solidFill>
              </a:rPr>
              <a:t>どのようにして複雑な問題解決を記述するのか？</a:t>
            </a:r>
            <a:endParaRPr kumimoji="1" lang="en-US" altLang="ja-GB" b="1" dirty="0">
              <a:solidFill>
                <a:schemeClr val="accent2"/>
              </a:solidFill>
            </a:endParaRPr>
          </a:p>
        </p:txBody>
      </p:sp>
    </p:spTree>
    <p:extLst>
      <p:ext uri="{BB962C8B-B14F-4D97-AF65-F5344CB8AC3E}">
        <p14:creationId xmlns:p14="http://schemas.microsoft.com/office/powerpoint/2010/main" val="32439926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EFC604-E159-908A-91EE-E8A2541338BE}"/>
              </a:ext>
            </a:extLst>
          </p:cNvPr>
          <p:cNvSpPr>
            <a:spLocks noGrp="1"/>
          </p:cNvSpPr>
          <p:nvPr>
            <p:ph type="title"/>
          </p:nvPr>
        </p:nvSpPr>
        <p:spPr/>
        <p:txBody>
          <a:bodyPr/>
          <a:lstStyle/>
          <a:p>
            <a:r>
              <a:rPr kumimoji="1" lang="ja-GB" altLang="en-US" dirty="0"/>
              <a:t>アルゴリズムを組み合わせてアルゴリズムを作る</a:t>
            </a:r>
          </a:p>
        </p:txBody>
      </p:sp>
      <p:sp>
        <p:nvSpPr>
          <p:cNvPr id="3" name="コンテンツ プレースホルダー 2">
            <a:extLst>
              <a:ext uri="{FF2B5EF4-FFF2-40B4-BE49-F238E27FC236}">
                <a16:creationId xmlns:a16="http://schemas.microsoft.com/office/drawing/2014/main" id="{DF6ABCEF-8AEA-D86A-2052-0FF22D7796EC}"/>
              </a:ext>
            </a:extLst>
          </p:cNvPr>
          <p:cNvSpPr>
            <a:spLocks noGrp="1"/>
          </p:cNvSpPr>
          <p:nvPr>
            <p:ph idx="1"/>
          </p:nvPr>
        </p:nvSpPr>
        <p:spPr/>
        <p:txBody>
          <a:bodyPr/>
          <a:lstStyle/>
          <a:p>
            <a:pPr lvl="1"/>
            <a:r>
              <a:rPr lang="ja-GB" altLang="en-US" dirty="0"/>
              <a:t>アルゴリズムは「命令」を組み合わせた計算手順</a:t>
            </a:r>
            <a:endParaRPr lang="en-US" altLang="ja-GB" dirty="0"/>
          </a:p>
          <a:p>
            <a:pPr lvl="1"/>
            <a:r>
              <a:rPr kumimoji="1" lang="ja-GB" altLang="en-US" dirty="0"/>
              <a:t>アルゴリズムの中で，別の</a:t>
            </a:r>
            <a:r>
              <a:rPr lang="ja-GB" altLang="en-US" dirty="0"/>
              <a:t>アルゴリズムを</a:t>
            </a:r>
            <a:r>
              <a:rPr lang="en-US" altLang="ja-GB" dirty="0"/>
              <a:t>1</a:t>
            </a:r>
            <a:r>
              <a:rPr lang="ja-GB" altLang="en-US" dirty="0"/>
              <a:t>つの「</a:t>
            </a:r>
            <a:r>
              <a:rPr kumimoji="1" lang="ja-GB" altLang="en-US" dirty="0"/>
              <a:t>命令」として使える</a:t>
            </a:r>
            <a:endParaRPr kumimoji="1" lang="en-US" altLang="ja-GB" dirty="0"/>
          </a:p>
          <a:p>
            <a:pPr lvl="1"/>
            <a:r>
              <a:rPr lang="ja-GB" altLang="en-US" dirty="0"/>
              <a:t>これを繰り返すと，欲しい機能を</a:t>
            </a:r>
            <a:r>
              <a:rPr lang="en-US" altLang="ja-GB" dirty="0"/>
              <a:t>CPU</a:t>
            </a:r>
            <a:r>
              <a:rPr lang="ja-GB" altLang="en-US" dirty="0"/>
              <a:t>の動作まで還元せずに記述できる</a:t>
            </a:r>
            <a:endParaRPr kumimoji="1" lang="en-US" altLang="ja-GB" dirty="0"/>
          </a:p>
        </p:txBody>
      </p:sp>
      <p:pic>
        <p:nvPicPr>
          <p:cNvPr id="5" name="図 4" descr="時計, メーター が含まれている画像&#10;&#10;AI によって生成されたコンテンツは間違っている可能性があります。">
            <a:extLst>
              <a:ext uri="{FF2B5EF4-FFF2-40B4-BE49-F238E27FC236}">
                <a16:creationId xmlns:a16="http://schemas.microsoft.com/office/drawing/2014/main" id="{844A7E97-1944-754E-32E4-F6FACAE2EEBB}"/>
              </a:ext>
            </a:extLst>
          </p:cNvPr>
          <p:cNvPicPr>
            <a:picLocks noChangeAspect="1"/>
          </p:cNvPicPr>
          <p:nvPr/>
        </p:nvPicPr>
        <p:blipFill>
          <a:blip r:embed="rId2"/>
          <a:stretch>
            <a:fillRect/>
          </a:stretch>
        </p:blipFill>
        <p:spPr>
          <a:xfrm>
            <a:off x="232423" y="2902947"/>
            <a:ext cx="8679153" cy="1906870"/>
          </a:xfrm>
          <a:prstGeom prst="rect">
            <a:avLst/>
          </a:prstGeom>
        </p:spPr>
      </p:pic>
      <p:cxnSp>
        <p:nvCxnSpPr>
          <p:cNvPr id="6" name="直線コネクタ 5">
            <a:extLst>
              <a:ext uri="{FF2B5EF4-FFF2-40B4-BE49-F238E27FC236}">
                <a16:creationId xmlns:a16="http://schemas.microsoft.com/office/drawing/2014/main" id="{693E41BE-CB7E-7562-3021-44B3BEC1ED83}"/>
              </a:ext>
            </a:extLst>
          </p:cNvPr>
          <p:cNvCxnSpPr>
            <a:cxnSpLocks/>
          </p:cNvCxnSpPr>
          <p:nvPr/>
        </p:nvCxnSpPr>
        <p:spPr>
          <a:xfrm flipH="1">
            <a:off x="358775" y="3357563"/>
            <a:ext cx="3341688" cy="982662"/>
          </a:xfrm>
          <a:prstGeom prst="line">
            <a:avLst/>
          </a:prstGeom>
          <a:ln>
            <a:solidFill>
              <a:schemeClr val="accent6">
                <a:lumMod val="50000"/>
              </a:schemeClr>
            </a:solidFill>
          </a:ln>
        </p:spPr>
        <p:style>
          <a:lnRef idx="1">
            <a:schemeClr val="accent6"/>
          </a:lnRef>
          <a:fillRef idx="0">
            <a:schemeClr val="accent6"/>
          </a:fillRef>
          <a:effectRef idx="0">
            <a:schemeClr val="accent6"/>
          </a:effectRef>
          <a:fontRef idx="minor">
            <a:schemeClr val="tx1"/>
          </a:fontRef>
        </p:style>
      </p:cxnSp>
      <p:cxnSp>
        <p:nvCxnSpPr>
          <p:cNvPr id="11" name="直線コネクタ 10">
            <a:extLst>
              <a:ext uri="{FF2B5EF4-FFF2-40B4-BE49-F238E27FC236}">
                <a16:creationId xmlns:a16="http://schemas.microsoft.com/office/drawing/2014/main" id="{7ABB1C30-619B-8F7A-D3F4-E58D0DBCFA35}"/>
              </a:ext>
            </a:extLst>
          </p:cNvPr>
          <p:cNvCxnSpPr>
            <a:cxnSpLocks/>
          </p:cNvCxnSpPr>
          <p:nvPr/>
        </p:nvCxnSpPr>
        <p:spPr>
          <a:xfrm>
            <a:off x="4470400" y="3357563"/>
            <a:ext cx="2743200" cy="982662"/>
          </a:xfrm>
          <a:prstGeom prst="line">
            <a:avLst/>
          </a:prstGeom>
          <a:ln>
            <a:solidFill>
              <a:schemeClr val="accent6">
                <a:lumMod val="50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5887785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15FA0-3A40-92FD-C113-512AD678DB2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3AA22BD2-8BF8-6FCC-03D2-C7A8B9BA9BE5}"/>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0EF836EB-0725-1328-F337-61F8E1CC846C}"/>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4</a:t>
            </a:r>
            <a:r>
              <a:rPr kumimoji="1" lang="ja-GB" altLang="en-US" sz="3200" dirty="0">
                <a:solidFill>
                  <a:schemeClr val="bg1"/>
                </a:solidFill>
              </a:rPr>
              <a:t>回：計算機と統計</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22465386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E0ED0-1BAB-92A0-61B7-E88DF35647AB}"/>
              </a:ext>
            </a:extLst>
          </p:cNvPr>
          <p:cNvSpPr>
            <a:spLocks noGrp="1"/>
          </p:cNvSpPr>
          <p:nvPr>
            <p:ph type="title"/>
          </p:nvPr>
        </p:nvSpPr>
        <p:spPr/>
        <p:txBody>
          <a:bodyPr/>
          <a:lstStyle/>
          <a:p>
            <a:r>
              <a:rPr kumimoji="1" lang="ja-GB" altLang="en-US" dirty="0"/>
              <a:t>前置き：コンピュータプログラミングの難しさ</a:t>
            </a:r>
          </a:p>
        </p:txBody>
      </p:sp>
      <p:sp>
        <p:nvSpPr>
          <p:cNvPr id="3" name="コンテンツ プレースホルダー 2">
            <a:extLst>
              <a:ext uri="{FF2B5EF4-FFF2-40B4-BE49-F238E27FC236}">
                <a16:creationId xmlns:a16="http://schemas.microsoft.com/office/drawing/2014/main" id="{7153E121-086C-FA43-9FEE-44ECF18AC99D}"/>
              </a:ext>
            </a:extLst>
          </p:cNvPr>
          <p:cNvSpPr>
            <a:spLocks noGrp="1"/>
          </p:cNvSpPr>
          <p:nvPr>
            <p:ph idx="1"/>
          </p:nvPr>
        </p:nvSpPr>
        <p:spPr/>
        <p:txBody>
          <a:bodyPr>
            <a:normAutofit/>
          </a:bodyPr>
          <a:lstStyle/>
          <a:p>
            <a:pPr marL="0" indent="0">
              <a:buNone/>
            </a:pPr>
            <a:r>
              <a:rPr kumimoji="1" lang="ja-GB" altLang="en-US" dirty="0"/>
              <a:t>限られた機能しかない</a:t>
            </a:r>
            <a:r>
              <a:rPr kumimoji="1" lang="en-US" altLang="ja-GB" dirty="0"/>
              <a:t>CPU</a:t>
            </a:r>
            <a:r>
              <a:rPr lang="ja-GB" altLang="en-US" dirty="0"/>
              <a:t>で</a:t>
            </a:r>
            <a:r>
              <a:rPr kumimoji="1" lang="ja-GB" altLang="en-US" dirty="0"/>
              <a:t>遂行可能な手順書を作ること</a:t>
            </a:r>
            <a:endParaRPr kumimoji="1" lang="en-US" altLang="ja-GB" dirty="0"/>
          </a:p>
          <a:p>
            <a:pPr marL="457200" lvl="1" indent="0">
              <a:buNone/>
            </a:pPr>
            <a:r>
              <a:rPr kumimoji="1" lang="en-US" altLang="ja-GB" dirty="0">
                <a:solidFill>
                  <a:srgbClr val="002060"/>
                </a:solidFill>
              </a:rPr>
              <a:t>CPU</a:t>
            </a:r>
            <a:r>
              <a:rPr lang="ja-GB" altLang="en-US" dirty="0">
                <a:solidFill>
                  <a:srgbClr val="002060"/>
                </a:solidFill>
              </a:rPr>
              <a:t>の</a:t>
            </a:r>
            <a:r>
              <a:rPr kumimoji="1" lang="ja-GB" altLang="en-US" dirty="0">
                <a:solidFill>
                  <a:srgbClr val="002060"/>
                </a:solidFill>
              </a:rPr>
              <a:t>演算は基本的に</a:t>
            </a:r>
            <a:r>
              <a:rPr kumimoji="1" lang="en-US" altLang="ja-GB" dirty="0">
                <a:solidFill>
                  <a:srgbClr val="002060"/>
                </a:solidFill>
              </a:rPr>
              <a:t>2</a:t>
            </a:r>
            <a:r>
              <a:rPr kumimoji="1" lang="ja-GB" altLang="en-US" dirty="0">
                <a:solidFill>
                  <a:srgbClr val="002060"/>
                </a:solidFill>
              </a:rPr>
              <a:t>つの入力情報のみが対象</a:t>
            </a:r>
            <a:r>
              <a:rPr lang="ja-GB" altLang="en-US" dirty="0">
                <a:solidFill>
                  <a:srgbClr val="002060"/>
                </a:solidFill>
              </a:rPr>
              <a:t>で，</a:t>
            </a:r>
            <a:r>
              <a:rPr kumimoji="1" lang="ja-GB" altLang="en-US" dirty="0">
                <a:solidFill>
                  <a:srgbClr val="002060"/>
                </a:solidFill>
              </a:rPr>
              <a:t>全体を見れない</a:t>
            </a:r>
            <a:endParaRPr kumimoji="1" lang="en-US" altLang="ja-GB" dirty="0">
              <a:solidFill>
                <a:srgbClr val="002060"/>
              </a:solidFill>
            </a:endParaRPr>
          </a:p>
          <a:p>
            <a:pPr marL="914400" lvl="2" indent="0">
              <a:buNone/>
            </a:pPr>
            <a:r>
              <a:rPr lang="ja-GB" altLang="en-US" dirty="0"/>
              <a:t>例）</a:t>
            </a:r>
            <a:r>
              <a:rPr lang="en-US" altLang="ja-GB" dirty="0"/>
              <a:t>+</a:t>
            </a:r>
            <a:r>
              <a:rPr lang="ja-GB" altLang="en-US" dirty="0"/>
              <a:t>，</a:t>
            </a:r>
            <a:r>
              <a:rPr lang="en-US" altLang="ja-GB" dirty="0"/>
              <a:t>-</a:t>
            </a:r>
            <a:r>
              <a:rPr lang="ja-GB" altLang="en-US" dirty="0"/>
              <a:t>，</a:t>
            </a:r>
            <a:r>
              <a:rPr lang="en-US" altLang="ja-GB" dirty="0"/>
              <a:t>=</a:t>
            </a:r>
            <a:r>
              <a:rPr lang="ja-GB" altLang="en-US" dirty="0"/>
              <a:t>，</a:t>
            </a:r>
            <a:r>
              <a:rPr lang="en-US" altLang="ja-GB" dirty="0"/>
              <a:t>&gt;</a:t>
            </a:r>
            <a:r>
              <a:rPr lang="ja-GB" altLang="en-US" dirty="0"/>
              <a:t>，</a:t>
            </a:r>
            <a:r>
              <a:rPr lang="en-US" altLang="ja-GB" dirty="0"/>
              <a:t>&lt;</a:t>
            </a:r>
            <a:r>
              <a:rPr lang="ja-GB" altLang="en-US" dirty="0"/>
              <a:t>，</a:t>
            </a:r>
            <a:r>
              <a:rPr lang="en-US" altLang="ja-GB" dirty="0"/>
              <a:t>and</a:t>
            </a:r>
            <a:r>
              <a:rPr lang="ja-GB" altLang="en-US" dirty="0"/>
              <a:t>，</a:t>
            </a:r>
            <a:r>
              <a:rPr lang="en-US" altLang="ja-GB" dirty="0"/>
              <a:t>or</a:t>
            </a:r>
            <a:r>
              <a:rPr lang="ja-GB" altLang="en-US" dirty="0"/>
              <a:t>，</a:t>
            </a:r>
            <a:r>
              <a:rPr lang="en-US" altLang="ja-GB" dirty="0"/>
              <a:t>…</a:t>
            </a:r>
          </a:p>
          <a:p>
            <a:pPr lvl="2"/>
            <a:endParaRPr lang="en-US" altLang="ja-GB" dirty="0"/>
          </a:p>
          <a:p>
            <a:pPr marL="457200" lvl="1" indent="0">
              <a:buNone/>
            </a:pPr>
            <a:r>
              <a:rPr kumimoji="1" lang="ja-GB" altLang="en-US" dirty="0">
                <a:solidFill>
                  <a:srgbClr val="002060"/>
                </a:solidFill>
              </a:rPr>
              <a:t>人間は全体をみて「なんとなく」問題が解けてしまう</a:t>
            </a:r>
            <a:endParaRPr kumimoji="1" lang="en-US" altLang="ja-GB" dirty="0">
              <a:solidFill>
                <a:srgbClr val="002060"/>
              </a:solidFill>
            </a:endParaRPr>
          </a:p>
          <a:p>
            <a:pPr marL="914400" lvl="2" indent="0">
              <a:buNone/>
            </a:pPr>
            <a:r>
              <a:rPr lang="ja-GB" altLang="en-US" dirty="0"/>
              <a:t>例）店長は「このくらいの気候なら牛乳が売れそうだ」と直感的に仕入れできる</a:t>
            </a:r>
            <a:endParaRPr lang="en-US" altLang="ja-GB" dirty="0"/>
          </a:p>
          <a:p>
            <a:pPr marL="914400" lvl="2" indent="0">
              <a:buNone/>
            </a:pPr>
            <a:r>
              <a:rPr kumimoji="1" lang="en-US" altLang="ja-GB" dirty="0"/>
              <a:t>→</a:t>
            </a:r>
            <a:r>
              <a:rPr kumimoji="1" lang="ja-GB" altLang="en-US" dirty="0">
                <a:solidFill>
                  <a:srgbClr val="0070C0"/>
                </a:solidFill>
              </a:rPr>
              <a:t>具体的な計算手順がわからない</a:t>
            </a:r>
            <a:endParaRPr lang="en-US" altLang="ja-GB" dirty="0">
              <a:solidFill>
                <a:srgbClr val="0070C0"/>
              </a:solidFill>
            </a:endParaRPr>
          </a:p>
          <a:p>
            <a:pPr marL="1714500" lvl="3" indent="-342900">
              <a:buFont typeface="+mj-lt"/>
              <a:buAutoNum type="arabicPeriod"/>
            </a:pPr>
            <a:r>
              <a:rPr lang="ja-GB" altLang="en-US" dirty="0">
                <a:solidFill>
                  <a:srgbClr val="2F2523"/>
                </a:solidFill>
              </a:rPr>
              <a:t>来週の天気を調べて影響しそうな情報を探す</a:t>
            </a:r>
            <a:endParaRPr lang="en-US" altLang="ja-GB" dirty="0">
              <a:solidFill>
                <a:srgbClr val="2F2523"/>
              </a:solidFill>
            </a:endParaRPr>
          </a:p>
          <a:p>
            <a:pPr marL="1714500" lvl="3" indent="-342900">
              <a:buFont typeface="+mj-lt"/>
              <a:buAutoNum type="arabicPeriod"/>
            </a:pPr>
            <a:r>
              <a:rPr lang="ja-GB" altLang="en-US" dirty="0">
                <a:solidFill>
                  <a:srgbClr val="2F2523"/>
                </a:solidFill>
              </a:rPr>
              <a:t>過去の似た天気のときの売り上げデータを調べる</a:t>
            </a:r>
            <a:endParaRPr lang="en-US" altLang="ja-GB" dirty="0">
              <a:solidFill>
                <a:srgbClr val="2F2523"/>
              </a:solidFill>
            </a:endParaRPr>
          </a:p>
          <a:p>
            <a:pPr marL="1714500" lvl="3" indent="-342900">
              <a:buFont typeface="+mj-lt"/>
              <a:buAutoNum type="arabicPeriod"/>
            </a:pPr>
            <a:r>
              <a:rPr lang="ja-GB" altLang="en-US" dirty="0">
                <a:solidFill>
                  <a:srgbClr val="2F2523"/>
                </a:solidFill>
              </a:rPr>
              <a:t>取り出した売り上げデータで特に売れている商品を見極める</a:t>
            </a:r>
            <a:endParaRPr lang="en-US" altLang="ja-GB" dirty="0">
              <a:solidFill>
                <a:srgbClr val="2F2523"/>
              </a:solidFill>
            </a:endParaRPr>
          </a:p>
          <a:p>
            <a:pPr marL="0" indent="0" algn="ctr">
              <a:buNone/>
            </a:pPr>
            <a:endParaRPr kumimoji="1" lang="en-US" altLang="ja-GB" dirty="0"/>
          </a:p>
          <a:p>
            <a:pPr marL="0" indent="0" algn="ctr">
              <a:buNone/>
            </a:pPr>
            <a:endParaRPr kumimoji="1" lang="en-US" altLang="ja-GB" dirty="0"/>
          </a:p>
          <a:p>
            <a:pPr marL="0" indent="0" algn="ctr">
              <a:buNone/>
            </a:pPr>
            <a:r>
              <a:rPr kumimoji="1" lang="ja-GB" altLang="en-US" dirty="0">
                <a:solidFill>
                  <a:srgbClr val="002060"/>
                </a:solidFill>
              </a:rPr>
              <a:t>小さい範囲の情報しか注目できない</a:t>
            </a:r>
            <a:r>
              <a:rPr kumimoji="1" lang="en-US" altLang="ja-GB" dirty="0">
                <a:solidFill>
                  <a:srgbClr val="002060"/>
                </a:solidFill>
              </a:rPr>
              <a:t>CPU</a:t>
            </a:r>
            <a:r>
              <a:rPr kumimoji="1" lang="ja-GB" altLang="en-US" dirty="0">
                <a:solidFill>
                  <a:srgbClr val="002060"/>
                </a:solidFill>
              </a:rPr>
              <a:t>を使って</a:t>
            </a:r>
            <a:endParaRPr kumimoji="1" lang="en-US" altLang="ja-GB" dirty="0">
              <a:solidFill>
                <a:srgbClr val="002060"/>
              </a:solidFill>
            </a:endParaRPr>
          </a:p>
          <a:p>
            <a:pPr marL="0" indent="0" algn="ctr">
              <a:buNone/>
            </a:pPr>
            <a:r>
              <a:rPr kumimoji="1" lang="ja-GB" altLang="en-US" dirty="0">
                <a:solidFill>
                  <a:srgbClr val="002060"/>
                </a:solidFill>
              </a:rPr>
              <a:t>全体を考慮した複雑な処理を行わせる方法を考えなければならない</a:t>
            </a:r>
          </a:p>
        </p:txBody>
      </p:sp>
    </p:spTree>
    <p:extLst>
      <p:ext uri="{BB962C8B-B14F-4D97-AF65-F5344CB8AC3E}">
        <p14:creationId xmlns:p14="http://schemas.microsoft.com/office/powerpoint/2010/main" val="13162640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5F2CCE-543E-B0D5-3EA6-E3B37AFB0E2A}"/>
              </a:ext>
            </a:extLst>
          </p:cNvPr>
          <p:cNvSpPr>
            <a:spLocks noGrp="1"/>
          </p:cNvSpPr>
          <p:nvPr>
            <p:ph type="title"/>
          </p:nvPr>
        </p:nvSpPr>
        <p:spPr/>
        <p:txBody>
          <a:bodyPr/>
          <a:lstStyle/>
          <a:p>
            <a:r>
              <a:rPr kumimoji="1" lang="ja-GB" altLang="en-US" dirty="0"/>
              <a:t>第</a:t>
            </a:r>
            <a:r>
              <a:rPr kumimoji="1" lang="en-US" altLang="ja-GB" dirty="0"/>
              <a:t>4</a:t>
            </a:r>
            <a:r>
              <a:rPr kumimoji="1" lang="ja-GB" altLang="en-US" dirty="0"/>
              <a:t>回：統計，データ，</a:t>
            </a:r>
            <a:r>
              <a:rPr kumimoji="1" lang="en-US" altLang="ja-GB" dirty="0"/>
              <a:t>AI</a:t>
            </a:r>
            <a:r>
              <a:rPr kumimoji="1" lang="ja-GB" altLang="en-US" dirty="0"/>
              <a:t>にできること</a:t>
            </a:r>
          </a:p>
        </p:txBody>
      </p:sp>
      <p:sp>
        <p:nvSpPr>
          <p:cNvPr id="3" name="コンテンツ プレースホルダー 2">
            <a:extLst>
              <a:ext uri="{FF2B5EF4-FFF2-40B4-BE49-F238E27FC236}">
                <a16:creationId xmlns:a16="http://schemas.microsoft.com/office/drawing/2014/main" id="{A72B0848-6DDF-334B-1600-175BFD450C15}"/>
              </a:ext>
            </a:extLst>
          </p:cNvPr>
          <p:cNvSpPr>
            <a:spLocks noGrp="1"/>
          </p:cNvSpPr>
          <p:nvPr>
            <p:ph idx="1"/>
          </p:nvPr>
        </p:nvSpPr>
        <p:spPr/>
        <p:txBody>
          <a:bodyPr/>
          <a:lstStyle/>
          <a:p>
            <a:pPr marL="0" indent="0">
              <a:buNone/>
            </a:pPr>
            <a:r>
              <a:rPr kumimoji="1" lang="ja-GB" altLang="en-US" dirty="0">
                <a:solidFill>
                  <a:srgbClr val="2F2523"/>
                </a:solidFill>
              </a:rPr>
              <a:t>人間が「なんとなく」行う思考を計算手順として書くのに役立つ技術</a:t>
            </a:r>
            <a:endParaRPr kumimoji="1" lang="en-US" altLang="ja-GB" dirty="0">
              <a:solidFill>
                <a:srgbClr val="2F2523"/>
              </a:solidFill>
            </a:endParaRPr>
          </a:p>
          <a:p>
            <a:pPr marL="457200" lvl="1" indent="0">
              <a:buNone/>
            </a:pPr>
            <a:r>
              <a:rPr kumimoji="1" lang="ja-GB" altLang="en-US" dirty="0">
                <a:solidFill>
                  <a:srgbClr val="002060"/>
                </a:solidFill>
              </a:rPr>
              <a:t>統計：人間の直感的な判断を再現するような数式</a:t>
            </a:r>
            <a:endParaRPr kumimoji="1" lang="en-US" altLang="ja-GB" dirty="0">
              <a:solidFill>
                <a:srgbClr val="002060"/>
              </a:solidFill>
            </a:endParaRPr>
          </a:p>
          <a:p>
            <a:pPr lvl="2"/>
            <a:r>
              <a:rPr lang="ja-GB" altLang="en-US" dirty="0"/>
              <a:t>データの傾向を要約する（統計量）</a:t>
            </a:r>
            <a:endParaRPr lang="en-US" altLang="ja-GB" dirty="0"/>
          </a:p>
          <a:p>
            <a:pPr lvl="2"/>
            <a:r>
              <a:rPr lang="ja-GB" altLang="en-US" dirty="0"/>
              <a:t>未来の結果を予測する（回帰分析）</a:t>
            </a:r>
            <a:endParaRPr lang="en-US" altLang="ja-GB" dirty="0"/>
          </a:p>
          <a:p>
            <a:pPr lvl="2"/>
            <a:r>
              <a:rPr kumimoji="1" lang="ja-GB" altLang="en-US" dirty="0"/>
              <a:t>仮説の妥当性を確認する（検定）</a:t>
            </a:r>
            <a:endParaRPr kumimoji="1" lang="en-US" altLang="ja-GB" dirty="0"/>
          </a:p>
          <a:p>
            <a:pPr lvl="2"/>
            <a:endParaRPr kumimoji="1" lang="en-US" altLang="ja-GB" dirty="0"/>
          </a:p>
          <a:p>
            <a:pPr marL="457200" lvl="1" indent="0">
              <a:buNone/>
            </a:pPr>
            <a:r>
              <a:rPr lang="ja-GB" altLang="en-US" dirty="0">
                <a:solidFill>
                  <a:srgbClr val="002060"/>
                </a:solidFill>
              </a:rPr>
              <a:t>機械学習：経験則的に良い行動を発見する計算</a:t>
            </a:r>
            <a:endParaRPr lang="en-US" altLang="ja-GB" dirty="0">
              <a:solidFill>
                <a:srgbClr val="002060"/>
              </a:solidFill>
            </a:endParaRPr>
          </a:p>
          <a:p>
            <a:pPr lvl="2"/>
            <a:r>
              <a:rPr lang="ja-GB" altLang="en-US" dirty="0"/>
              <a:t>人の作ったデータから計算手順を逆算する（教師あり学習）</a:t>
            </a:r>
            <a:endParaRPr lang="en-US" altLang="ja-GB" dirty="0"/>
          </a:p>
          <a:p>
            <a:pPr lvl="2"/>
            <a:r>
              <a:rPr lang="ja-GB" altLang="en-US" dirty="0"/>
              <a:t>データから未知のパターン・特徴を発見する（教師なし学習）</a:t>
            </a:r>
            <a:endParaRPr lang="en-US" altLang="ja-GB" dirty="0"/>
          </a:p>
          <a:p>
            <a:pPr lvl="2"/>
            <a:r>
              <a:rPr lang="ja-GB" altLang="en-US" dirty="0"/>
              <a:t>試行錯誤の中でうまい振る舞い方を発見する（強化学習）</a:t>
            </a:r>
            <a:endParaRPr lang="en-US" altLang="ja-GB" dirty="0"/>
          </a:p>
          <a:p>
            <a:pPr lvl="2"/>
            <a:endParaRPr kumimoji="1" lang="en-US" altLang="ja-GB" dirty="0"/>
          </a:p>
          <a:p>
            <a:pPr marL="457200" lvl="1" indent="0">
              <a:buNone/>
            </a:pPr>
            <a:r>
              <a:rPr lang="ja-GB" altLang="en-US" dirty="0">
                <a:solidFill>
                  <a:srgbClr val="002060"/>
                </a:solidFill>
              </a:rPr>
              <a:t>大規模言語モデル：言語を用いた思考を再現する計算</a:t>
            </a:r>
            <a:endParaRPr lang="en-US" altLang="ja-GB" dirty="0">
              <a:solidFill>
                <a:srgbClr val="002060"/>
              </a:solidFill>
            </a:endParaRPr>
          </a:p>
          <a:p>
            <a:pPr lvl="2"/>
            <a:r>
              <a:rPr lang="ja-GB" altLang="en-US" dirty="0"/>
              <a:t>言葉を自然に連ねることで情報を整理する（翻訳・対話・推論）</a:t>
            </a:r>
            <a:endParaRPr lang="en-US" altLang="ja-GB" dirty="0"/>
          </a:p>
          <a:p>
            <a:pPr lvl="2"/>
            <a:r>
              <a:rPr lang="ja-GB" altLang="en-US" dirty="0"/>
              <a:t>計算手順</a:t>
            </a:r>
            <a:r>
              <a:rPr kumimoji="1" lang="ja-GB" altLang="en-US" dirty="0"/>
              <a:t>の中に曖昧な言語処理を組み込む（ワークフロー）</a:t>
            </a:r>
            <a:endParaRPr kumimoji="1" lang="en-US" altLang="ja-GB" dirty="0"/>
          </a:p>
          <a:p>
            <a:pPr lvl="2"/>
            <a:r>
              <a:rPr lang="ja-GB" altLang="en-US" dirty="0"/>
              <a:t>検索や計算機を駆使して現実世界で行動する（エージェント）</a:t>
            </a:r>
            <a:endParaRPr kumimoji="1" lang="ja-GB" altLang="en-US" dirty="0"/>
          </a:p>
        </p:txBody>
      </p:sp>
    </p:spTree>
    <p:extLst>
      <p:ext uri="{BB962C8B-B14F-4D97-AF65-F5344CB8AC3E}">
        <p14:creationId xmlns:p14="http://schemas.microsoft.com/office/powerpoint/2010/main" val="14909580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886F6-750F-49D7-CDA9-58E895B676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97A578-7B71-D6A1-2671-77E618C7DA73}"/>
              </a:ext>
            </a:extLst>
          </p:cNvPr>
          <p:cNvSpPr>
            <a:spLocks noGrp="1"/>
          </p:cNvSpPr>
          <p:nvPr>
            <p:ph type="title"/>
          </p:nvPr>
        </p:nvSpPr>
        <p:spPr/>
        <p:txBody>
          <a:bodyPr/>
          <a:lstStyle/>
          <a:p>
            <a:r>
              <a:rPr kumimoji="1" lang="ja-GB" altLang="en-US" dirty="0"/>
              <a:t>第</a:t>
            </a:r>
            <a:r>
              <a:rPr kumimoji="1" lang="en-US" altLang="ja-GB" dirty="0"/>
              <a:t>4</a:t>
            </a:r>
            <a:r>
              <a:rPr kumimoji="1" lang="ja-GB" altLang="en-US" dirty="0"/>
              <a:t>回：統計，データ，</a:t>
            </a:r>
            <a:r>
              <a:rPr kumimoji="1" lang="en-US" altLang="ja-GB" dirty="0"/>
              <a:t>AI</a:t>
            </a:r>
            <a:r>
              <a:rPr kumimoji="1" lang="ja-GB" altLang="en-US" dirty="0"/>
              <a:t>にできること</a:t>
            </a:r>
          </a:p>
        </p:txBody>
      </p:sp>
      <p:sp>
        <p:nvSpPr>
          <p:cNvPr id="3" name="コンテンツ プレースホルダー 2">
            <a:extLst>
              <a:ext uri="{FF2B5EF4-FFF2-40B4-BE49-F238E27FC236}">
                <a16:creationId xmlns:a16="http://schemas.microsoft.com/office/drawing/2014/main" id="{5B3DE402-0D08-476C-5932-48B3A46D0E85}"/>
              </a:ext>
            </a:extLst>
          </p:cNvPr>
          <p:cNvSpPr>
            <a:spLocks noGrp="1"/>
          </p:cNvSpPr>
          <p:nvPr>
            <p:ph idx="1"/>
          </p:nvPr>
        </p:nvSpPr>
        <p:spPr/>
        <p:txBody>
          <a:bodyPr/>
          <a:lstStyle/>
          <a:p>
            <a:pPr marL="0" indent="0">
              <a:buNone/>
            </a:pPr>
            <a:r>
              <a:rPr kumimoji="1" lang="ja-GB" altLang="en-US" dirty="0">
                <a:solidFill>
                  <a:srgbClr val="2F2523"/>
                </a:solidFill>
              </a:rPr>
              <a:t>人間が「なんとなく」行う思考を計算手順として書くのに役立つ技術</a:t>
            </a:r>
            <a:endParaRPr kumimoji="1" lang="en-US" altLang="ja-GB" dirty="0">
              <a:solidFill>
                <a:srgbClr val="2F2523"/>
              </a:solidFill>
            </a:endParaRPr>
          </a:p>
          <a:p>
            <a:pPr marL="457200" lvl="1" indent="0">
              <a:buNone/>
            </a:pPr>
            <a:r>
              <a:rPr kumimoji="1" lang="ja-GB" altLang="en-US" dirty="0">
                <a:solidFill>
                  <a:srgbClr val="002060"/>
                </a:solidFill>
              </a:rPr>
              <a:t>統計：人間の直感的な判断を再現するような数式</a:t>
            </a:r>
            <a:endParaRPr kumimoji="1" lang="en-US" altLang="ja-GB" dirty="0">
              <a:solidFill>
                <a:srgbClr val="002060"/>
              </a:solidFill>
            </a:endParaRPr>
          </a:p>
          <a:p>
            <a:pPr lvl="2"/>
            <a:r>
              <a:rPr lang="ja-GB" altLang="en-US" dirty="0"/>
              <a:t>データの傾向を要約する（統計量）</a:t>
            </a:r>
            <a:endParaRPr lang="en-US" altLang="ja-GB" dirty="0"/>
          </a:p>
          <a:p>
            <a:pPr lvl="2"/>
            <a:r>
              <a:rPr lang="ja-GB" altLang="en-US" dirty="0"/>
              <a:t>未来の結果を予測する（回帰分析）</a:t>
            </a:r>
            <a:endParaRPr lang="en-US" altLang="ja-GB" dirty="0"/>
          </a:p>
          <a:p>
            <a:pPr lvl="2"/>
            <a:r>
              <a:rPr kumimoji="1" lang="ja-GB" altLang="en-US" dirty="0"/>
              <a:t>仮説の妥当性を確認する（検定）</a:t>
            </a:r>
            <a:endParaRPr kumimoji="1" lang="en-US" altLang="ja-GB" dirty="0"/>
          </a:p>
          <a:p>
            <a:pPr lvl="2"/>
            <a:endParaRPr kumimoji="1" lang="en-US" altLang="ja-GB" dirty="0"/>
          </a:p>
          <a:p>
            <a:pPr marL="457200" lvl="1" indent="0">
              <a:buNone/>
            </a:pPr>
            <a:r>
              <a:rPr lang="ja-GB" altLang="en-US" dirty="0">
                <a:solidFill>
                  <a:schemeClr val="tx1">
                    <a:lumMod val="50000"/>
                    <a:lumOff val="50000"/>
                  </a:schemeClr>
                </a:solidFill>
              </a:rPr>
              <a:t>機械学習：経験則的に良い行動を発見する計算</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人の作ったデータから計算手順を逆算する（教師あり学習）</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データから未知のパターン・特徴を発見する（教師なし学習）</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試行錯誤の中でうまい振る舞い方を発見する（強化学習）</a:t>
            </a:r>
            <a:endParaRPr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大規模言語モデル：言語を用いた思考を再現する計算</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言葉を自然に連ねることで情報を整理する（翻訳・対話・推論）</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計算手順</a:t>
            </a:r>
            <a:r>
              <a:rPr kumimoji="1" lang="ja-GB" altLang="en-US" dirty="0">
                <a:solidFill>
                  <a:schemeClr val="tx1">
                    <a:lumMod val="50000"/>
                    <a:lumOff val="50000"/>
                  </a:schemeClr>
                </a:solidFill>
              </a:rPr>
              <a:t>の中に曖昧な言語処理を組み込む（ワークフロー）</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検索や計算機を駆使して現実世界で行動する（エージェント）</a:t>
            </a:r>
            <a:endParaRPr kumimoji="1" lang="ja-GB" altLang="en-US" dirty="0">
              <a:solidFill>
                <a:schemeClr val="tx1">
                  <a:lumMod val="50000"/>
                  <a:lumOff val="50000"/>
                </a:schemeClr>
              </a:solidFill>
            </a:endParaRPr>
          </a:p>
        </p:txBody>
      </p:sp>
    </p:spTree>
    <p:extLst>
      <p:ext uri="{BB962C8B-B14F-4D97-AF65-F5344CB8AC3E}">
        <p14:creationId xmlns:p14="http://schemas.microsoft.com/office/powerpoint/2010/main" val="8621884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9703-D3A2-940D-EC31-1E93344D2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F98D52-D77A-09C9-09AE-47572D6E7EFB}"/>
              </a:ext>
            </a:extLst>
          </p:cNvPr>
          <p:cNvSpPr>
            <a:spLocks noGrp="1"/>
          </p:cNvSpPr>
          <p:nvPr>
            <p:ph type="title"/>
          </p:nvPr>
        </p:nvSpPr>
        <p:spPr/>
        <p:txBody>
          <a:bodyPr/>
          <a:lstStyle/>
          <a:p>
            <a:r>
              <a:rPr kumimoji="1" lang="ja-GB" altLang="en-US" dirty="0"/>
              <a:t>統計</a:t>
            </a:r>
          </a:p>
        </p:txBody>
      </p:sp>
      <p:sp>
        <p:nvSpPr>
          <p:cNvPr id="3" name="コンテンツ プレースホルダー 2">
            <a:extLst>
              <a:ext uri="{FF2B5EF4-FFF2-40B4-BE49-F238E27FC236}">
                <a16:creationId xmlns:a16="http://schemas.microsoft.com/office/drawing/2014/main" id="{7F947A0E-A2F5-F8BE-0482-F4114078284C}"/>
              </a:ext>
            </a:extLst>
          </p:cNvPr>
          <p:cNvSpPr>
            <a:spLocks noGrp="1"/>
          </p:cNvSpPr>
          <p:nvPr>
            <p:ph idx="1"/>
          </p:nvPr>
        </p:nvSpPr>
        <p:spPr/>
        <p:txBody>
          <a:bodyPr/>
          <a:lstStyle/>
          <a:p>
            <a:pPr marL="0" indent="0">
              <a:buNone/>
            </a:pPr>
            <a:r>
              <a:rPr kumimoji="1" lang="ja-GB" altLang="en-US" dirty="0"/>
              <a:t>人間の直感的な判断を再現するような数式</a:t>
            </a:r>
            <a:endParaRPr kumimoji="1" lang="en-US" altLang="ja-GB" dirty="0"/>
          </a:p>
          <a:p>
            <a:pPr marL="457200" lvl="1" indent="0">
              <a:buNone/>
            </a:pPr>
            <a:r>
              <a:rPr lang="ja-GB" altLang="en-US" dirty="0">
                <a:solidFill>
                  <a:srgbClr val="0070C0"/>
                </a:solidFill>
              </a:rPr>
              <a:t>統計量：データの傾向を要約した数値</a:t>
            </a:r>
            <a:endParaRPr lang="en-US" altLang="ja-GB" dirty="0">
              <a:solidFill>
                <a:srgbClr val="0070C0"/>
              </a:solidFill>
            </a:endParaRPr>
          </a:p>
          <a:p>
            <a:pPr marL="914400" lvl="2" indent="0">
              <a:buNone/>
            </a:pPr>
            <a:r>
              <a:rPr lang="ja-GB" altLang="en-US" dirty="0"/>
              <a:t>例）平均値，偏差値，画像特徴量</a:t>
            </a:r>
            <a:endParaRPr lang="en-US" altLang="ja-GB" dirty="0"/>
          </a:p>
          <a:p>
            <a:pPr marL="914400" lvl="2" indent="0">
              <a:buNone/>
            </a:pPr>
            <a:endParaRPr lang="en-US" altLang="ja-GB" dirty="0"/>
          </a:p>
          <a:p>
            <a:pPr marL="457200" lvl="1" indent="0">
              <a:buNone/>
            </a:pPr>
            <a:r>
              <a:rPr lang="ja-GB" altLang="en-US" dirty="0">
                <a:solidFill>
                  <a:srgbClr val="0070C0"/>
                </a:solidFill>
              </a:rPr>
              <a:t>回帰分析：</a:t>
            </a:r>
            <a:r>
              <a:rPr lang="ja-JP" altLang="en-US">
                <a:solidFill>
                  <a:srgbClr val="0070C0"/>
                </a:solidFill>
              </a:rPr>
              <a:t> データを近似する関数を作り，データのない箇所を予測する</a:t>
            </a:r>
            <a:r>
              <a:rPr lang="ja-GB" altLang="en-US" dirty="0">
                <a:solidFill>
                  <a:srgbClr val="0070C0"/>
                </a:solidFill>
              </a:rPr>
              <a:t>方法</a:t>
            </a:r>
            <a:endParaRPr lang="en-US" altLang="ja-GB" dirty="0">
              <a:solidFill>
                <a:srgbClr val="0070C0"/>
              </a:solidFill>
            </a:endParaRPr>
          </a:p>
          <a:p>
            <a:pPr marL="914400" lvl="2" indent="0">
              <a:buNone/>
            </a:pPr>
            <a:r>
              <a:rPr lang="ja-GB" altLang="en-US" dirty="0"/>
              <a:t>例）気温（</a:t>
            </a:r>
            <a:r>
              <a:rPr lang="en-US" altLang="ja-GB" dirty="0"/>
              <a:t>x</a:t>
            </a:r>
            <a:r>
              <a:rPr lang="ja-GB" altLang="en-US" dirty="0"/>
              <a:t>軸）とアイスの売れ行き（</a:t>
            </a:r>
            <a:r>
              <a:rPr lang="en-US" altLang="ja-GB" dirty="0"/>
              <a:t>y</a:t>
            </a:r>
            <a:r>
              <a:rPr lang="ja-GB" altLang="en-US" dirty="0"/>
              <a:t>軸）の関係を示す直線</a:t>
            </a:r>
            <a:endParaRPr lang="en-US" altLang="ja-GB" dirty="0"/>
          </a:p>
          <a:p>
            <a:pPr marL="914400" lvl="2" indent="0">
              <a:buNone/>
            </a:pPr>
            <a:endParaRPr lang="en-US" altLang="ja-GB" dirty="0"/>
          </a:p>
          <a:p>
            <a:pPr marL="457200" lvl="1" indent="0">
              <a:buNone/>
            </a:pPr>
            <a:r>
              <a:rPr kumimoji="1" lang="ja-GB" altLang="en-US" dirty="0">
                <a:solidFill>
                  <a:srgbClr val="0070C0"/>
                </a:solidFill>
              </a:rPr>
              <a:t>検定：</a:t>
            </a:r>
            <a:r>
              <a:rPr kumimoji="1" lang="ja-JP" altLang="en-US">
                <a:solidFill>
                  <a:srgbClr val="0070C0"/>
                </a:solidFill>
              </a:rPr>
              <a:t> 観測データをとって仮説の妥当性を確率的に判定する枠組み</a:t>
            </a:r>
            <a:endParaRPr kumimoji="1" lang="en-US" altLang="ja-GB" dirty="0">
              <a:solidFill>
                <a:srgbClr val="0070C0"/>
              </a:solidFill>
            </a:endParaRPr>
          </a:p>
          <a:p>
            <a:pPr marL="914400" lvl="2" indent="0">
              <a:buNone/>
            </a:pPr>
            <a:r>
              <a:rPr lang="ja-GB" altLang="en-US" dirty="0"/>
              <a:t>例）薬が病に有効かどうかの確認</a:t>
            </a:r>
            <a:endParaRPr kumimoji="1" lang="en-US" altLang="ja-GB" dirty="0"/>
          </a:p>
          <a:p>
            <a:pPr lvl="2"/>
            <a:endParaRPr kumimoji="1" lang="en-US" altLang="ja-GB" dirty="0"/>
          </a:p>
        </p:txBody>
      </p:sp>
    </p:spTree>
    <p:extLst>
      <p:ext uri="{BB962C8B-B14F-4D97-AF65-F5344CB8AC3E}">
        <p14:creationId xmlns:p14="http://schemas.microsoft.com/office/powerpoint/2010/main" val="14676930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4218393-C8AF-F4AD-917B-C71EA6A46DEF}"/>
              </a:ext>
            </a:extLst>
          </p:cNvPr>
          <p:cNvSpPr>
            <a:spLocks noGrp="1"/>
          </p:cNvSpPr>
          <p:nvPr>
            <p:ph type="title"/>
          </p:nvPr>
        </p:nvSpPr>
        <p:spPr/>
        <p:txBody>
          <a:bodyPr/>
          <a:lstStyle/>
          <a:p>
            <a:r>
              <a:rPr lang="ja-GB" altLang="en-US" dirty="0"/>
              <a:t>統計量</a:t>
            </a:r>
            <a:endParaRPr lang="ja-JP" altLang="en-US"/>
          </a:p>
        </p:txBody>
      </p:sp>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9EA7210F-50CD-3E10-FB4E-CC6FB9144BD9}"/>
                  </a:ext>
                </a:extLst>
              </p:cNvPr>
              <p:cNvSpPr>
                <a:spLocks noGrp="1"/>
              </p:cNvSpPr>
              <p:nvPr>
                <p:ph idx="1"/>
              </p:nvPr>
            </p:nvSpPr>
            <p:spPr/>
            <p:txBody>
              <a:bodyPr/>
              <a:lstStyle/>
              <a:p>
                <a:pPr marL="0" indent="0">
                  <a:buNone/>
                </a:pPr>
                <a:r>
                  <a:rPr lang="ja-GB" altLang="en-US" dirty="0"/>
                  <a:t>データの傾向を要約する</a:t>
                </a:r>
                <a:endParaRPr lang="en-US" altLang="ja-GB" dirty="0"/>
              </a:p>
              <a:p>
                <a:pPr marL="457200" lvl="1" indent="0">
                  <a:buNone/>
                </a:pPr>
                <a:r>
                  <a:rPr lang="ja-GB" altLang="en-US" dirty="0"/>
                  <a:t>例</a:t>
                </a:r>
                <a:r>
                  <a:rPr lang="en-US" altLang="ja-GB" dirty="0"/>
                  <a:t>1</a:t>
                </a:r>
                <a:r>
                  <a:rPr lang="ja-GB" altLang="en-US" dirty="0"/>
                  <a:t>）平均値：データの</a:t>
                </a:r>
                <a:r>
                  <a:rPr lang="ja-GB" altLang="en-US" dirty="0">
                    <a:solidFill>
                      <a:schemeClr val="accent2"/>
                    </a:solidFill>
                  </a:rPr>
                  <a:t>中間</a:t>
                </a:r>
                <a:r>
                  <a:rPr lang="ja-GB" altLang="en-US" dirty="0"/>
                  <a:t>的な値</a:t>
                </a:r>
                <a:endParaRPr lang="en-US" altLang="ja-GB" dirty="0"/>
              </a:p>
              <a:p>
                <a:pPr lvl="4"/>
                <a:endParaRPr lang="en-US" altLang="ja-GB" dirty="0"/>
              </a:p>
              <a:p>
                <a:pPr marL="914400" lvl="2" indent="0">
                  <a:buNone/>
                </a:pPr>
                <a14:m>
                  <m:oMathPara xmlns:m="http://schemas.openxmlformats.org/officeDocument/2006/math">
                    <m:oMathParaPr>
                      <m:jc m:val="centerGroup"/>
                    </m:oMathParaPr>
                    <m:oMath xmlns:m="http://schemas.openxmlformats.org/officeDocument/2006/math">
                      <m:acc>
                        <m:accPr>
                          <m:chr m:val="̅"/>
                          <m:ctrlPr>
                            <a:rPr lang="en-US" altLang="ja-GB" b="0" i="1" smtClean="0">
                              <a:solidFill>
                                <a:srgbClr val="0070C0"/>
                              </a:solidFill>
                              <a:latin typeface="Cambria Math" panose="02040503050406030204" pitchFamily="18" charset="0"/>
                            </a:rPr>
                          </m:ctrlPr>
                        </m:accPr>
                        <m:e>
                          <m:r>
                            <a:rPr lang="en-US" altLang="ja-GB" b="0" i="1" smtClean="0">
                              <a:solidFill>
                                <a:srgbClr val="0070C0"/>
                              </a:solidFill>
                              <a:latin typeface="Cambria Math" panose="02040503050406030204" pitchFamily="18" charset="0"/>
                            </a:rPr>
                            <m:t>𝑥</m:t>
                          </m:r>
                        </m:e>
                      </m:acc>
                      <m:r>
                        <a:rPr lang="en-US" altLang="ja-GB" b="0" i="1" smtClean="0">
                          <a:latin typeface="Cambria Math" panose="02040503050406030204" pitchFamily="18" charset="0"/>
                        </a:rPr>
                        <m:t>=</m:t>
                      </m:r>
                      <m:f>
                        <m:fPr>
                          <m:ctrlPr>
                            <a:rPr lang="en-US" altLang="ja-GB" b="0" i="1" smtClean="0">
                              <a:latin typeface="Cambria Math" panose="02040503050406030204" pitchFamily="18" charset="0"/>
                            </a:rPr>
                          </m:ctrlPr>
                        </m:fPr>
                        <m:num>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𝑥</m:t>
                              </m:r>
                            </m:e>
                            <m:sub>
                              <m:r>
                                <a:rPr lang="en-US" altLang="ja-GB" b="0" i="1" smtClean="0">
                                  <a:latin typeface="Cambria Math" panose="02040503050406030204" pitchFamily="18" charset="0"/>
                                </a:rPr>
                                <m:t>1</m:t>
                              </m:r>
                            </m:sub>
                          </m:sSub>
                          <m:r>
                            <a:rPr lang="en-US" altLang="ja-GB" b="0" i="1" smtClean="0">
                              <a:latin typeface="Cambria Math" panose="02040503050406030204" pitchFamily="18" charset="0"/>
                            </a:rPr>
                            <m:t>+</m:t>
                          </m:r>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𝑥</m:t>
                              </m:r>
                            </m:e>
                            <m:sub>
                              <m:r>
                                <a:rPr lang="en-US" altLang="ja-GB" b="0" i="1" smtClean="0">
                                  <a:latin typeface="Cambria Math" panose="02040503050406030204" pitchFamily="18" charset="0"/>
                                </a:rPr>
                                <m:t>2</m:t>
                              </m:r>
                            </m:sub>
                          </m:sSub>
                          <m:r>
                            <a:rPr lang="en-US" altLang="ja-GB" b="0" i="1" smtClean="0">
                              <a:latin typeface="Cambria Math" panose="02040503050406030204" pitchFamily="18" charset="0"/>
                            </a:rPr>
                            <m:t>+…+</m:t>
                          </m:r>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𝑥</m:t>
                              </m:r>
                            </m:e>
                            <m:sub>
                              <m:r>
                                <a:rPr lang="en-US" altLang="ja-GB" b="0" i="1" smtClean="0">
                                  <a:latin typeface="Cambria Math" panose="02040503050406030204" pitchFamily="18" charset="0"/>
                                </a:rPr>
                                <m:t>𝑛</m:t>
                              </m:r>
                            </m:sub>
                          </m:sSub>
                        </m:num>
                        <m:den>
                          <m:r>
                            <a:rPr lang="en-US" altLang="ja-GB" b="0" i="1" smtClean="0">
                              <a:latin typeface="Cambria Math" panose="02040503050406030204" pitchFamily="18" charset="0"/>
                            </a:rPr>
                            <m:t>𝑛</m:t>
                          </m:r>
                        </m:den>
                      </m:f>
                    </m:oMath>
                  </m:oMathPara>
                </a14:m>
                <a:endParaRPr lang="en-US" altLang="ja-GB" sz="1600" dirty="0"/>
              </a:p>
              <a:p>
                <a:pPr lvl="3"/>
                <a:endParaRPr lang="en-US" altLang="ja-GB" dirty="0"/>
              </a:p>
              <a:p>
                <a:pPr marL="457200" lvl="1" indent="0">
                  <a:buNone/>
                </a:pPr>
                <a:r>
                  <a:rPr lang="ja-GB" altLang="en-US" dirty="0"/>
                  <a:t>例</a:t>
                </a:r>
                <a:r>
                  <a:rPr lang="en-US" altLang="ja-GB" dirty="0"/>
                  <a:t>2</a:t>
                </a:r>
                <a:r>
                  <a:rPr lang="ja-GB" altLang="en-US" dirty="0"/>
                  <a:t>）分散：データの</a:t>
                </a:r>
                <a:r>
                  <a:rPr lang="ja-GB" altLang="en-US" dirty="0">
                    <a:solidFill>
                      <a:schemeClr val="accent2"/>
                    </a:solidFill>
                  </a:rPr>
                  <a:t>ばらつき</a:t>
                </a:r>
                <a:r>
                  <a:rPr lang="ja-GB" altLang="en-US" dirty="0"/>
                  <a:t>を表すための指標</a:t>
                </a:r>
                <a:endParaRPr lang="en-US" altLang="ja-GB" dirty="0"/>
              </a:p>
              <a:p>
                <a:pPr marL="914400" lvl="2" indent="0">
                  <a:buNone/>
                </a:pPr>
                <a:r>
                  <a:rPr lang="ja-GB" altLang="en-US" dirty="0"/>
                  <a:t>平均値から離れたデータが多いほど大きく，近いデータが多いほど小さくなる</a:t>
                </a:r>
                <a:endParaRPr lang="en-US" altLang="ja-GB" dirty="0"/>
              </a:p>
              <a:p>
                <a:pPr lvl="4"/>
                <a:endParaRPr lang="en-US" altLang="ja-GB" dirty="0"/>
              </a:p>
              <a:p>
                <a:pPr marL="914400" lvl="2" indent="0">
                  <a:buNone/>
                </a:pPr>
                <a14:m>
                  <m:oMathPara xmlns:m="http://schemas.openxmlformats.org/officeDocument/2006/math">
                    <m:oMathParaPr>
                      <m:jc m:val="centerGroup"/>
                    </m:oMathParaPr>
                    <m:oMath xmlns:m="http://schemas.openxmlformats.org/officeDocument/2006/math">
                      <m:sSubSup>
                        <m:sSubSupPr>
                          <m:ctrlPr>
                            <a:rPr lang="en-US" altLang="ja-GB" b="0" i="1" smtClean="0">
                              <a:solidFill>
                                <a:srgbClr val="0070C0"/>
                              </a:solidFill>
                              <a:latin typeface="Cambria Math" panose="02040503050406030204" pitchFamily="18" charset="0"/>
                            </a:rPr>
                          </m:ctrlPr>
                        </m:sSubSupPr>
                        <m:e>
                          <m:r>
                            <a:rPr lang="en-US" altLang="ja-GB" b="0" i="1" smtClean="0">
                              <a:solidFill>
                                <a:srgbClr val="0070C0"/>
                              </a:solidFill>
                              <a:latin typeface="Cambria Math" panose="02040503050406030204" pitchFamily="18" charset="0"/>
                            </a:rPr>
                            <m:t>𝑠</m:t>
                          </m:r>
                        </m:e>
                        <m:sub>
                          <m:r>
                            <a:rPr lang="en-US" altLang="ja-GB" b="0" i="1" smtClean="0">
                              <a:solidFill>
                                <a:srgbClr val="0070C0"/>
                              </a:solidFill>
                              <a:latin typeface="Cambria Math" panose="02040503050406030204" pitchFamily="18" charset="0"/>
                            </a:rPr>
                            <m:t>𝑥</m:t>
                          </m:r>
                        </m:sub>
                        <m:sup>
                          <m:r>
                            <a:rPr lang="en-US" altLang="ja-GB" b="0" i="1" smtClean="0">
                              <a:solidFill>
                                <a:srgbClr val="0070C0"/>
                              </a:solidFill>
                              <a:latin typeface="Cambria Math" panose="02040503050406030204" pitchFamily="18" charset="0"/>
                            </a:rPr>
                            <m:t>2</m:t>
                          </m:r>
                        </m:sup>
                      </m:sSubSup>
                      <m:r>
                        <a:rPr lang="en-US" altLang="ja-GB" b="0" i="1" smtClean="0">
                          <a:latin typeface="Cambria Math" panose="02040503050406030204" pitchFamily="18" charset="0"/>
                        </a:rPr>
                        <m:t>=</m:t>
                      </m:r>
                      <m:f>
                        <m:fPr>
                          <m:ctrlPr>
                            <a:rPr lang="en-US" altLang="ja-GB" b="0" i="1" smtClean="0">
                              <a:latin typeface="Cambria Math" panose="02040503050406030204" pitchFamily="18" charset="0"/>
                            </a:rPr>
                          </m:ctrlPr>
                        </m:fPr>
                        <m:num>
                          <m:r>
                            <a:rPr lang="en-US" altLang="ja-GB" b="0" i="1" smtClean="0">
                              <a:latin typeface="Cambria Math" panose="02040503050406030204" pitchFamily="18" charset="0"/>
                            </a:rPr>
                            <m:t>1</m:t>
                          </m:r>
                        </m:num>
                        <m:den>
                          <m:r>
                            <a:rPr lang="en-US" altLang="ja-GB" b="0" i="1" smtClean="0">
                              <a:latin typeface="Cambria Math" panose="02040503050406030204" pitchFamily="18" charset="0"/>
                            </a:rPr>
                            <m:t>𝑛</m:t>
                          </m:r>
                        </m:den>
                      </m:f>
                      <m:nary>
                        <m:naryPr>
                          <m:chr m:val="∑"/>
                          <m:ctrlPr>
                            <a:rPr lang="en-US" altLang="ja-GB" b="0" i="1" smtClean="0">
                              <a:latin typeface="Cambria Math" panose="02040503050406030204" pitchFamily="18" charset="0"/>
                            </a:rPr>
                          </m:ctrlPr>
                        </m:naryPr>
                        <m:sub>
                          <m:r>
                            <m:rPr>
                              <m:brk m:alnAt="23"/>
                            </m:rPr>
                            <a:rPr lang="en-US" altLang="ja-GB" b="0" i="1" smtClean="0">
                              <a:latin typeface="Cambria Math" panose="02040503050406030204" pitchFamily="18" charset="0"/>
                            </a:rPr>
                            <m:t>𝑖</m:t>
                          </m:r>
                          <m:r>
                            <a:rPr lang="en-US" altLang="ja-GB" b="0" i="1" smtClean="0">
                              <a:latin typeface="Cambria Math" panose="02040503050406030204" pitchFamily="18" charset="0"/>
                            </a:rPr>
                            <m:t>=1</m:t>
                          </m:r>
                        </m:sub>
                        <m:sup>
                          <m:r>
                            <a:rPr lang="en-US" altLang="ja-GB" b="0" i="1" smtClean="0">
                              <a:latin typeface="Cambria Math" panose="02040503050406030204" pitchFamily="18" charset="0"/>
                            </a:rPr>
                            <m:t>𝑛</m:t>
                          </m:r>
                        </m:sup>
                        <m:e>
                          <m:sSup>
                            <m:sSupPr>
                              <m:ctrlPr>
                                <a:rPr lang="en-US" altLang="ja-GB" b="0" i="1" smtClean="0">
                                  <a:latin typeface="Cambria Math" panose="02040503050406030204" pitchFamily="18" charset="0"/>
                                </a:rPr>
                              </m:ctrlPr>
                            </m:sSupPr>
                            <m:e>
                              <m:d>
                                <m:dPr>
                                  <m:ctrlPr>
                                    <a:rPr lang="en-US" altLang="ja-GB" b="0" i="1" smtClean="0">
                                      <a:latin typeface="Cambria Math" panose="02040503050406030204" pitchFamily="18" charset="0"/>
                                    </a:rPr>
                                  </m:ctrlPr>
                                </m:dPr>
                                <m:e>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𝑥</m:t>
                                      </m:r>
                                    </m:e>
                                    <m:sub>
                                      <m:r>
                                        <a:rPr lang="en-US" altLang="ja-GB" b="0" i="1" smtClean="0">
                                          <a:latin typeface="Cambria Math" panose="02040503050406030204" pitchFamily="18" charset="0"/>
                                        </a:rPr>
                                        <m:t>𝑖</m:t>
                                      </m:r>
                                    </m:sub>
                                  </m:sSub>
                                  <m:r>
                                    <a:rPr lang="en-US" altLang="ja-GB" b="0" i="1" smtClean="0">
                                      <a:latin typeface="Cambria Math" panose="02040503050406030204" pitchFamily="18" charset="0"/>
                                    </a:rPr>
                                    <m:t>−</m:t>
                                  </m:r>
                                  <m:acc>
                                    <m:accPr>
                                      <m:chr m:val="̅"/>
                                      <m:ctrlPr>
                                        <a:rPr lang="en-US" altLang="ja-GB" b="0" i="1" smtClean="0">
                                          <a:solidFill>
                                            <a:srgbClr val="0070C0"/>
                                          </a:solidFill>
                                          <a:latin typeface="Cambria Math" panose="02040503050406030204" pitchFamily="18" charset="0"/>
                                        </a:rPr>
                                      </m:ctrlPr>
                                    </m:accPr>
                                    <m:e>
                                      <m:r>
                                        <a:rPr lang="en-US" altLang="ja-GB" b="0" i="1">
                                          <a:solidFill>
                                            <a:srgbClr val="0070C0"/>
                                          </a:solidFill>
                                          <a:latin typeface="Cambria Math" panose="02040503050406030204" pitchFamily="18" charset="0"/>
                                        </a:rPr>
                                        <m:t>𝑥</m:t>
                                      </m:r>
                                    </m:e>
                                  </m:acc>
                                </m:e>
                              </m:d>
                            </m:e>
                            <m:sup>
                              <m:r>
                                <a:rPr lang="en-US" altLang="ja-GB" b="0" i="1" smtClean="0">
                                  <a:latin typeface="Cambria Math" panose="02040503050406030204" pitchFamily="18" charset="0"/>
                                </a:rPr>
                                <m:t>2</m:t>
                              </m:r>
                            </m:sup>
                          </m:sSup>
                        </m:e>
                      </m:nary>
                    </m:oMath>
                  </m:oMathPara>
                </a14:m>
                <a:endParaRPr lang="en-US" altLang="ja-GB" dirty="0"/>
              </a:p>
              <a:p>
                <a:pPr marL="457200" lvl="1" indent="0">
                  <a:buNone/>
                </a:pPr>
                <a:r>
                  <a:rPr lang="ja-GB" altLang="en-US" dirty="0"/>
                  <a:t>例</a:t>
                </a:r>
                <a:r>
                  <a:rPr lang="en-US" altLang="ja-GB" dirty="0"/>
                  <a:t>3</a:t>
                </a:r>
                <a:r>
                  <a:rPr lang="ja-GB" altLang="en-US" dirty="0"/>
                  <a:t>）標準偏差：分散の二乗を打ち消して直感的に把握しやすくした値</a:t>
                </a:r>
                <a:endParaRPr lang="en-US" altLang="ja-GB" dirty="0"/>
              </a:p>
              <a:p>
                <a:pPr lvl="4"/>
                <a:endParaRPr lang="en-US" altLang="ja-GB" dirty="0"/>
              </a:p>
              <a:p>
                <a:pPr marL="457200" lvl="1" indent="0">
                  <a:buNone/>
                </a:pPr>
                <a14:m>
                  <m:oMathPara xmlns:m="http://schemas.openxmlformats.org/officeDocument/2006/math">
                    <m:oMathParaPr>
                      <m:jc m:val="centerGroup"/>
                    </m:oMathParaPr>
                    <m:oMath xmlns:m="http://schemas.openxmlformats.org/officeDocument/2006/math">
                      <m:r>
                        <a:rPr lang="en-US" altLang="ja-GB" b="0" i="1" smtClean="0">
                          <a:solidFill>
                            <a:srgbClr val="0070C0"/>
                          </a:solidFill>
                          <a:latin typeface="Cambria Math" panose="02040503050406030204" pitchFamily="18" charset="0"/>
                        </a:rPr>
                        <m:t>𝑠</m:t>
                      </m:r>
                      <m:r>
                        <a:rPr lang="en-US" altLang="ja-GB" b="0" i="1" smtClean="0">
                          <a:latin typeface="Cambria Math" panose="02040503050406030204" pitchFamily="18" charset="0"/>
                        </a:rPr>
                        <m:t>=</m:t>
                      </m:r>
                      <m:rad>
                        <m:radPr>
                          <m:degHide m:val="on"/>
                          <m:ctrlPr>
                            <a:rPr lang="en-US" altLang="ja-GB" b="0" i="1" smtClean="0">
                              <a:latin typeface="Cambria Math" panose="02040503050406030204" pitchFamily="18" charset="0"/>
                            </a:rPr>
                          </m:ctrlPr>
                        </m:radPr>
                        <m:deg/>
                        <m:e>
                          <m:sSup>
                            <m:sSupPr>
                              <m:ctrlPr>
                                <a:rPr lang="en-US" altLang="ja-GB" b="0" i="1" smtClean="0">
                                  <a:solidFill>
                                    <a:srgbClr val="0070C0"/>
                                  </a:solidFill>
                                  <a:latin typeface="Cambria Math" panose="02040503050406030204" pitchFamily="18" charset="0"/>
                                </a:rPr>
                              </m:ctrlPr>
                            </m:sSupPr>
                            <m:e>
                              <m:r>
                                <a:rPr lang="en-US" altLang="ja-GB" b="0" i="1" smtClean="0">
                                  <a:solidFill>
                                    <a:srgbClr val="0070C0"/>
                                  </a:solidFill>
                                  <a:latin typeface="Cambria Math" panose="02040503050406030204" pitchFamily="18" charset="0"/>
                                </a:rPr>
                                <m:t>𝑠</m:t>
                              </m:r>
                            </m:e>
                            <m:sup>
                              <m:r>
                                <a:rPr lang="en-US" altLang="ja-GB" b="0" i="1" smtClean="0">
                                  <a:solidFill>
                                    <a:srgbClr val="0070C0"/>
                                  </a:solidFill>
                                  <a:latin typeface="Cambria Math" panose="02040503050406030204" pitchFamily="18" charset="0"/>
                                </a:rPr>
                                <m:t>2</m:t>
                              </m:r>
                            </m:sup>
                          </m:sSup>
                        </m:e>
                      </m:rad>
                    </m:oMath>
                  </m:oMathPara>
                </a14:m>
                <a:endParaRPr lang="en-US" altLang="ja-GB" dirty="0"/>
              </a:p>
              <a:p>
                <a:pPr lvl="1"/>
                <a:endParaRPr lang="en-US" altLang="ja-GB" dirty="0"/>
              </a:p>
              <a:p>
                <a:pPr marL="457200" lvl="1" indent="0">
                  <a:buNone/>
                </a:pPr>
                <a:r>
                  <a:rPr lang="ja-GB" altLang="en-US" dirty="0"/>
                  <a:t>例</a:t>
                </a:r>
                <a:r>
                  <a:rPr lang="en-US" altLang="ja-GB" dirty="0"/>
                  <a:t>4</a:t>
                </a:r>
                <a:r>
                  <a:rPr lang="ja-GB" altLang="en-US" dirty="0"/>
                  <a:t>）共分散・相関係数：</a:t>
                </a:r>
                <a:r>
                  <a:rPr lang="en-US" altLang="ja-GB" dirty="0"/>
                  <a:t>2</a:t>
                </a:r>
                <a:r>
                  <a:rPr lang="ja-GB" altLang="en-US" dirty="0"/>
                  <a:t>つの変数がどの程度連動しているかを表す値</a:t>
                </a:r>
                <a:endParaRPr lang="en-US" altLang="ja-GB" dirty="0"/>
              </a:p>
              <a:p>
                <a:pPr lvl="4"/>
                <a:endParaRPr lang="en-US" altLang="ja-GB"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ja-GB" b="0" i="1" smtClean="0">
                              <a:latin typeface="Cambria Math" panose="02040503050406030204" pitchFamily="18" charset="0"/>
                            </a:rPr>
                          </m:ctrlPr>
                        </m:sSubPr>
                        <m:e>
                          <m:r>
                            <a:rPr lang="en-US" altLang="ja-GB" b="0" i="1" smtClean="0">
                              <a:latin typeface="Cambria Math" panose="02040503050406030204" pitchFamily="18" charset="0"/>
                            </a:rPr>
                            <m:t>𝑠</m:t>
                          </m:r>
                        </m:e>
                        <m:sub>
                          <m:r>
                            <a:rPr lang="en-US" altLang="ja-GB" b="0" i="1" smtClean="0">
                              <a:latin typeface="Cambria Math" panose="02040503050406030204" pitchFamily="18" charset="0"/>
                            </a:rPr>
                            <m:t>𝑥𝑦</m:t>
                          </m:r>
                        </m:sub>
                      </m:sSub>
                      <m:r>
                        <a:rPr lang="en-US" altLang="ja-GB" b="0" i="1">
                          <a:latin typeface="Cambria Math" panose="02040503050406030204" pitchFamily="18" charset="0"/>
                        </a:rPr>
                        <m:t>=</m:t>
                      </m:r>
                      <m:f>
                        <m:fPr>
                          <m:ctrlPr>
                            <a:rPr lang="en-US" altLang="ja-GB" b="0" i="1">
                              <a:latin typeface="Cambria Math" panose="02040503050406030204" pitchFamily="18" charset="0"/>
                            </a:rPr>
                          </m:ctrlPr>
                        </m:fPr>
                        <m:num>
                          <m:r>
                            <a:rPr lang="en-US" altLang="ja-GB" b="0" i="1">
                              <a:latin typeface="Cambria Math" panose="02040503050406030204" pitchFamily="18" charset="0"/>
                            </a:rPr>
                            <m:t>1</m:t>
                          </m:r>
                        </m:num>
                        <m:den>
                          <m:r>
                            <a:rPr lang="en-US" altLang="ja-GB" b="0" i="1">
                              <a:latin typeface="Cambria Math" panose="02040503050406030204" pitchFamily="18" charset="0"/>
                            </a:rPr>
                            <m:t>𝑛</m:t>
                          </m:r>
                        </m:den>
                      </m:f>
                      <m:nary>
                        <m:naryPr>
                          <m:chr m:val="∑"/>
                          <m:ctrlPr>
                            <a:rPr lang="en-US" altLang="ja-GB" b="0" i="1">
                              <a:latin typeface="Cambria Math" panose="02040503050406030204" pitchFamily="18" charset="0"/>
                            </a:rPr>
                          </m:ctrlPr>
                        </m:naryPr>
                        <m:sub>
                          <m:r>
                            <m:rPr>
                              <m:brk m:alnAt="23"/>
                            </m:rPr>
                            <a:rPr lang="en-US" altLang="ja-GB" b="0" i="1">
                              <a:latin typeface="Cambria Math" panose="02040503050406030204" pitchFamily="18" charset="0"/>
                            </a:rPr>
                            <m:t>𝑖</m:t>
                          </m:r>
                          <m:r>
                            <a:rPr lang="en-US" altLang="ja-GB" b="0" i="1">
                              <a:latin typeface="Cambria Math" panose="02040503050406030204" pitchFamily="18" charset="0"/>
                            </a:rPr>
                            <m:t>=1</m:t>
                          </m:r>
                        </m:sub>
                        <m:sup>
                          <m:r>
                            <a:rPr lang="en-US" altLang="ja-GB" b="0" i="1">
                              <a:latin typeface="Cambria Math" panose="02040503050406030204" pitchFamily="18" charset="0"/>
                            </a:rPr>
                            <m:t>𝑛</m:t>
                          </m:r>
                        </m:sup>
                        <m:e>
                          <m:d>
                            <m:dPr>
                              <m:ctrlPr>
                                <a:rPr lang="en-US" altLang="ja-GB" b="0" i="1">
                                  <a:latin typeface="Cambria Math" panose="02040503050406030204" pitchFamily="18" charset="0"/>
                                </a:rPr>
                              </m:ctrlPr>
                            </m:dPr>
                            <m:e>
                              <m:sSub>
                                <m:sSubPr>
                                  <m:ctrlPr>
                                    <a:rPr lang="en-US" altLang="ja-GB" b="0" i="1">
                                      <a:latin typeface="Cambria Math" panose="02040503050406030204" pitchFamily="18" charset="0"/>
                                    </a:rPr>
                                  </m:ctrlPr>
                                </m:sSubPr>
                                <m:e>
                                  <m:r>
                                    <a:rPr lang="en-US" altLang="ja-GB" b="0" i="1">
                                      <a:latin typeface="Cambria Math" panose="02040503050406030204" pitchFamily="18" charset="0"/>
                                    </a:rPr>
                                    <m:t>𝑥</m:t>
                                  </m:r>
                                </m:e>
                                <m:sub>
                                  <m:r>
                                    <a:rPr lang="en-US" altLang="ja-GB" b="0" i="1">
                                      <a:latin typeface="Cambria Math" panose="02040503050406030204" pitchFamily="18" charset="0"/>
                                    </a:rPr>
                                    <m:t>𝑖</m:t>
                                  </m:r>
                                </m:sub>
                              </m:sSub>
                              <m:r>
                                <a:rPr lang="en-US" altLang="ja-GB" b="0" i="1">
                                  <a:latin typeface="Cambria Math" panose="02040503050406030204" pitchFamily="18" charset="0"/>
                                </a:rPr>
                                <m:t>−</m:t>
                              </m:r>
                              <m:acc>
                                <m:accPr>
                                  <m:chr m:val="̅"/>
                                  <m:ctrlPr>
                                    <a:rPr lang="en-US" altLang="ja-GB" b="0" i="1">
                                      <a:solidFill>
                                        <a:srgbClr val="0070C0"/>
                                      </a:solidFill>
                                      <a:latin typeface="Cambria Math" panose="02040503050406030204" pitchFamily="18" charset="0"/>
                                    </a:rPr>
                                  </m:ctrlPr>
                                </m:accPr>
                                <m:e>
                                  <m:r>
                                    <a:rPr lang="en-US" altLang="ja-GB" b="0" i="1">
                                      <a:solidFill>
                                        <a:srgbClr val="0070C0"/>
                                      </a:solidFill>
                                      <a:latin typeface="Cambria Math" panose="02040503050406030204" pitchFamily="18" charset="0"/>
                                    </a:rPr>
                                    <m:t>𝑥</m:t>
                                  </m:r>
                                </m:e>
                              </m:acc>
                            </m:e>
                          </m:d>
                          <m:d>
                            <m:dPr>
                              <m:ctrlPr>
                                <a:rPr lang="en-US" altLang="ja-GB" b="0" i="1">
                                  <a:latin typeface="Cambria Math" panose="02040503050406030204" pitchFamily="18" charset="0"/>
                                </a:rPr>
                              </m:ctrlPr>
                            </m:dPr>
                            <m:e>
                              <m:sSub>
                                <m:sSubPr>
                                  <m:ctrlPr>
                                    <a:rPr lang="en-US" altLang="ja-GB" b="0" i="1">
                                      <a:latin typeface="Cambria Math" panose="02040503050406030204" pitchFamily="18" charset="0"/>
                                    </a:rPr>
                                  </m:ctrlPr>
                                </m:sSubPr>
                                <m:e>
                                  <m:r>
                                    <a:rPr lang="en-US" altLang="ja-GB" b="0" i="1">
                                      <a:latin typeface="Cambria Math" panose="02040503050406030204" pitchFamily="18" charset="0"/>
                                    </a:rPr>
                                    <m:t>𝑦</m:t>
                                  </m:r>
                                </m:e>
                                <m:sub>
                                  <m:r>
                                    <a:rPr lang="en-US" altLang="ja-GB" b="0" i="1">
                                      <a:latin typeface="Cambria Math" panose="02040503050406030204" pitchFamily="18" charset="0"/>
                                    </a:rPr>
                                    <m:t>𝑖</m:t>
                                  </m:r>
                                </m:sub>
                              </m:sSub>
                              <m:r>
                                <a:rPr lang="en-US" altLang="ja-GB" b="0" i="1">
                                  <a:latin typeface="Cambria Math" panose="02040503050406030204" pitchFamily="18" charset="0"/>
                                </a:rPr>
                                <m:t>−</m:t>
                              </m:r>
                              <m:acc>
                                <m:accPr>
                                  <m:chr m:val="̅"/>
                                  <m:ctrlPr>
                                    <a:rPr lang="en-US" altLang="ja-GB" b="0" i="1">
                                      <a:solidFill>
                                        <a:srgbClr val="0070C0"/>
                                      </a:solidFill>
                                      <a:latin typeface="Cambria Math" panose="02040503050406030204" pitchFamily="18" charset="0"/>
                                    </a:rPr>
                                  </m:ctrlPr>
                                </m:accPr>
                                <m:e>
                                  <m:r>
                                    <a:rPr lang="en-US" altLang="ja-GB" b="0" i="1">
                                      <a:solidFill>
                                        <a:srgbClr val="0070C0"/>
                                      </a:solidFill>
                                      <a:latin typeface="Cambria Math" panose="02040503050406030204" pitchFamily="18" charset="0"/>
                                    </a:rPr>
                                    <m:t>𝑦</m:t>
                                  </m:r>
                                </m:e>
                              </m:acc>
                            </m:e>
                          </m:d>
                        </m:e>
                      </m:nary>
                      <m:r>
                        <a:rPr lang="en-US" altLang="ja-GB" b="0" i="0" smtClean="0">
                          <a:solidFill>
                            <a:srgbClr val="0070C0"/>
                          </a:solidFill>
                          <a:latin typeface="Cambria Math" panose="02040503050406030204" pitchFamily="18" charset="0"/>
                        </a:rPr>
                        <m:t>, </m:t>
                      </m:r>
                      <m:r>
                        <a:rPr lang="en-US" altLang="ja-GB" b="0" i="0" smtClean="0">
                          <a:solidFill>
                            <a:srgbClr val="2F2523"/>
                          </a:solidFill>
                          <a:latin typeface="Cambria Math" panose="02040503050406030204" pitchFamily="18" charset="0"/>
                        </a:rPr>
                        <m:t> </m:t>
                      </m:r>
                      <m:r>
                        <a:rPr lang="en-US" altLang="ja-GB" b="0" i="1" smtClean="0">
                          <a:latin typeface="Cambria Math" panose="02040503050406030204" pitchFamily="18" charset="0"/>
                        </a:rPr>
                        <m:t>𝑟</m:t>
                      </m:r>
                      <m:r>
                        <a:rPr lang="en-US" altLang="ja-GB" b="0" i="1" smtClean="0">
                          <a:latin typeface="Cambria Math" panose="02040503050406030204" pitchFamily="18" charset="0"/>
                        </a:rPr>
                        <m:t>=</m:t>
                      </m:r>
                      <m:f>
                        <m:fPr>
                          <m:ctrlPr>
                            <a:rPr lang="en-US" altLang="ja-GB" b="0" i="1" smtClean="0">
                              <a:latin typeface="Cambria Math" panose="02040503050406030204" pitchFamily="18" charset="0"/>
                            </a:rPr>
                          </m:ctrlPr>
                        </m:fPr>
                        <m:num>
                          <m:sSub>
                            <m:sSubPr>
                              <m:ctrlPr>
                                <a:rPr lang="en-US" altLang="ja-GB" b="0" i="1" smtClean="0">
                                  <a:solidFill>
                                    <a:srgbClr val="2F2523"/>
                                  </a:solidFill>
                                  <a:latin typeface="Cambria Math" panose="02040503050406030204" pitchFamily="18" charset="0"/>
                                </a:rPr>
                              </m:ctrlPr>
                            </m:sSubPr>
                            <m:e>
                              <m:r>
                                <a:rPr lang="en-US" altLang="ja-GB" b="0" i="1" smtClean="0">
                                  <a:solidFill>
                                    <a:srgbClr val="2F2523"/>
                                  </a:solidFill>
                                  <a:latin typeface="Cambria Math" panose="02040503050406030204" pitchFamily="18" charset="0"/>
                                </a:rPr>
                                <m:t>𝑠</m:t>
                              </m:r>
                            </m:e>
                            <m:sub>
                              <m:r>
                                <a:rPr lang="en-US" altLang="ja-GB" b="0" i="1" smtClean="0">
                                  <a:solidFill>
                                    <a:srgbClr val="2F2523"/>
                                  </a:solidFill>
                                  <a:latin typeface="Cambria Math" panose="02040503050406030204" pitchFamily="18" charset="0"/>
                                </a:rPr>
                                <m:t>𝑥𝑦</m:t>
                              </m:r>
                            </m:sub>
                          </m:sSub>
                        </m:num>
                        <m:den>
                          <m:sSub>
                            <m:sSubPr>
                              <m:ctrlPr>
                                <a:rPr lang="en-US" altLang="ja-GB" b="0" i="1" smtClean="0">
                                  <a:latin typeface="Cambria Math" panose="02040503050406030204" pitchFamily="18" charset="0"/>
                                </a:rPr>
                              </m:ctrlPr>
                            </m:sSubPr>
                            <m:e>
                              <m:r>
                                <a:rPr lang="en-US" altLang="ja-GB" b="0" i="1" smtClean="0">
                                  <a:solidFill>
                                    <a:srgbClr val="0070C0"/>
                                  </a:solidFill>
                                  <a:latin typeface="Cambria Math" panose="02040503050406030204" pitchFamily="18" charset="0"/>
                                </a:rPr>
                                <m:t>𝑠</m:t>
                              </m:r>
                            </m:e>
                            <m:sub>
                              <m:r>
                                <a:rPr lang="en-US" altLang="ja-GB" b="0" i="1" smtClean="0">
                                  <a:latin typeface="Cambria Math" panose="02040503050406030204" pitchFamily="18" charset="0"/>
                                </a:rPr>
                                <m:t>𝑥</m:t>
                              </m:r>
                            </m:sub>
                          </m:sSub>
                          <m:sSub>
                            <m:sSubPr>
                              <m:ctrlPr>
                                <a:rPr lang="en-US" altLang="ja-GB" b="0" i="1" smtClean="0">
                                  <a:latin typeface="Cambria Math" panose="02040503050406030204" pitchFamily="18" charset="0"/>
                                </a:rPr>
                              </m:ctrlPr>
                            </m:sSubPr>
                            <m:e>
                              <m:r>
                                <a:rPr lang="en-US" altLang="ja-GB" b="0" i="1" smtClean="0">
                                  <a:solidFill>
                                    <a:srgbClr val="0070C0"/>
                                  </a:solidFill>
                                  <a:latin typeface="Cambria Math" panose="02040503050406030204" pitchFamily="18" charset="0"/>
                                </a:rPr>
                                <m:t>𝑠</m:t>
                              </m:r>
                            </m:e>
                            <m:sub>
                              <m:r>
                                <a:rPr lang="en-US" altLang="ja-GB" b="0" i="1" smtClean="0">
                                  <a:latin typeface="Cambria Math" panose="02040503050406030204" pitchFamily="18" charset="0"/>
                                </a:rPr>
                                <m:t>𝑦</m:t>
                              </m:r>
                            </m:sub>
                          </m:sSub>
                        </m:den>
                      </m:f>
                    </m:oMath>
                  </m:oMathPara>
                </a14:m>
                <a:endParaRPr lang="en-US" altLang="ja-GB" b="0" dirty="0"/>
              </a:p>
            </p:txBody>
          </p:sp>
        </mc:Choice>
        <mc:Fallback xmlns="">
          <p:sp>
            <p:nvSpPr>
              <p:cNvPr id="2" name="コンテンツ プレースホルダー 1">
                <a:extLst>
                  <a:ext uri="{FF2B5EF4-FFF2-40B4-BE49-F238E27FC236}">
                    <a16:creationId xmlns:a16="http://schemas.microsoft.com/office/drawing/2014/main" id="{9EA7210F-50CD-3E10-FB4E-CC6FB9144BD9}"/>
                  </a:ext>
                </a:extLst>
              </p:cNvPr>
              <p:cNvSpPr>
                <a:spLocks noGrp="1" noRot="1" noChangeAspect="1" noMove="1" noResize="1" noEditPoints="1" noAdjustHandles="1" noChangeArrowheads="1" noChangeShapeType="1" noTextEdit="1"/>
              </p:cNvSpPr>
              <p:nvPr>
                <p:ph idx="1"/>
              </p:nvPr>
            </p:nvSpPr>
            <p:spPr>
              <a:blipFill>
                <a:blip r:embed="rId2"/>
                <a:stretch>
                  <a:fillRect l="-1042" t="-1480" b="-13953"/>
                </a:stretch>
              </a:blipFill>
            </p:spPr>
            <p:txBody>
              <a:bodyPr/>
              <a:lstStyle/>
              <a:p>
                <a:r>
                  <a:rPr lang="ja-GB" altLang="en-US">
                    <a:noFill/>
                  </a:rPr>
                  <a:t> </a:t>
                </a:r>
              </a:p>
            </p:txBody>
          </p:sp>
        </mc:Fallback>
      </mc:AlternateContent>
      <p:sp>
        <p:nvSpPr>
          <p:cNvPr id="3" name="テキスト ボックス 2">
            <a:extLst>
              <a:ext uri="{FF2B5EF4-FFF2-40B4-BE49-F238E27FC236}">
                <a16:creationId xmlns:a16="http://schemas.microsoft.com/office/drawing/2014/main" id="{525A50D2-459E-5EF0-F8F5-EA2B1F0C45AE}"/>
              </a:ext>
            </a:extLst>
          </p:cNvPr>
          <p:cNvSpPr txBox="1"/>
          <p:nvPr/>
        </p:nvSpPr>
        <p:spPr>
          <a:xfrm>
            <a:off x="5128181" y="1800519"/>
            <a:ext cx="1569660" cy="369332"/>
          </a:xfrm>
          <a:prstGeom prst="rect">
            <a:avLst/>
          </a:prstGeom>
          <a:noFill/>
        </p:spPr>
        <p:txBody>
          <a:bodyPr wrap="none" rtlCol="0">
            <a:spAutoFit/>
          </a:bodyPr>
          <a:lstStyle/>
          <a:p>
            <a:r>
              <a:rPr kumimoji="1" lang="ja-GB" altLang="en-US" dirty="0"/>
              <a:t>（算術平均）</a:t>
            </a:r>
          </a:p>
        </p:txBody>
      </p:sp>
    </p:spTree>
    <p:extLst>
      <p:ext uri="{BB962C8B-B14F-4D97-AF65-F5344CB8AC3E}">
        <p14:creationId xmlns:p14="http://schemas.microsoft.com/office/powerpoint/2010/main" val="39963554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2FD51E-E74E-88B4-3D51-7B35D071DDFB}"/>
              </a:ext>
            </a:extLst>
          </p:cNvPr>
          <p:cNvSpPr>
            <a:spLocks noGrp="1"/>
          </p:cNvSpPr>
          <p:nvPr>
            <p:ph type="title"/>
          </p:nvPr>
        </p:nvSpPr>
        <p:spPr/>
        <p:txBody>
          <a:bodyPr/>
          <a:lstStyle/>
          <a:p>
            <a:r>
              <a:rPr kumimoji="1" lang="ja-GB" altLang="en-US" dirty="0"/>
              <a:t>統計量の応用例</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616BA43-1F6E-06B7-7A59-2BEE74F2305F}"/>
                  </a:ext>
                </a:extLst>
              </p:cNvPr>
              <p:cNvSpPr>
                <a:spLocks noGrp="1"/>
              </p:cNvSpPr>
              <p:nvPr>
                <p:ph idx="1"/>
              </p:nvPr>
            </p:nvSpPr>
            <p:spPr/>
            <p:txBody>
              <a:bodyPr/>
              <a:lstStyle/>
              <a:p>
                <a:pPr marL="0" indent="0">
                  <a:buNone/>
                </a:pPr>
                <a:r>
                  <a:rPr kumimoji="1" lang="ja-GB" altLang="en-US" dirty="0"/>
                  <a:t>例</a:t>
                </a:r>
                <a:r>
                  <a:rPr kumimoji="1" lang="en-US" altLang="ja-GB" dirty="0"/>
                  <a:t>1</a:t>
                </a:r>
                <a:r>
                  <a:rPr kumimoji="1" lang="ja-GB" altLang="en-US" dirty="0"/>
                  <a:t>）偏差値</a:t>
                </a:r>
                <a:endParaRPr kumimoji="1" lang="en-US" altLang="ja-GB" dirty="0"/>
              </a:p>
              <a:p>
                <a:pPr lvl="1"/>
                <a:r>
                  <a:rPr lang="ja-GB" altLang="en-US" dirty="0"/>
                  <a:t>集団の中での位置を示すのに役立つ標準的な指標</a:t>
                </a:r>
                <a:endParaRPr lang="en-US" altLang="ja-GB" dirty="0"/>
              </a:p>
              <a:p>
                <a:pPr lvl="1"/>
                <a:r>
                  <a:rPr lang="ja-GB" altLang="en-US" dirty="0"/>
                  <a:t>平均点を中心に綺麗な山状の分布であることを前提として，</a:t>
                </a:r>
                <a:br>
                  <a:rPr lang="en-US" altLang="ja-GB" dirty="0"/>
                </a:br>
                <a:r>
                  <a:rPr lang="ja-GB" altLang="en-US" dirty="0"/>
                  <a:t>平均が</a:t>
                </a:r>
                <a:r>
                  <a:rPr lang="en-US" altLang="ja-GB" dirty="0"/>
                  <a:t>50</a:t>
                </a:r>
                <a:r>
                  <a:rPr lang="ja-GB" altLang="en-US" dirty="0"/>
                  <a:t>，標準偏差が</a:t>
                </a:r>
                <a:r>
                  <a:rPr lang="en-US" altLang="ja-GB" dirty="0"/>
                  <a:t>10</a:t>
                </a:r>
                <a:r>
                  <a:rPr lang="ja-GB" altLang="en-US" dirty="0"/>
                  <a:t>となるようにデータの分布を調整して導出される</a:t>
                </a:r>
                <a:endParaRPr lang="en-US" altLang="ja-GB" dirty="0"/>
              </a:p>
              <a:p>
                <a:pPr lvl="4"/>
                <a:endParaRPr lang="en-US" altLang="ja-GB" dirty="0"/>
              </a:p>
              <a:p>
                <a:pPr marL="457200" lvl="1" indent="0">
                  <a:buNone/>
                </a:pPr>
                <a14:m>
                  <m:oMathPara xmlns:m="http://schemas.openxmlformats.org/officeDocument/2006/math">
                    <m:oMathParaPr>
                      <m:jc m:val="centerGroup"/>
                    </m:oMathParaPr>
                    <m:oMath xmlns:m="http://schemas.openxmlformats.org/officeDocument/2006/math">
                      <m:r>
                        <a:rPr lang="ja-GB" altLang="en-US" b="0" i="1" dirty="0">
                          <a:latin typeface="Cambria Math" panose="02040503050406030204" pitchFamily="18" charset="0"/>
                        </a:rPr>
                        <m:t>偏差値</m:t>
                      </m:r>
                      <m:r>
                        <a:rPr lang="en-US" altLang="ja-GB" b="0" i="1" dirty="0" smtClean="0">
                          <a:latin typeface="Cambria Math" panose="02040503050406030204" pitchFamily="18" charset="0"/>
                        </a:rPr>
                        <m:t>=10×</m:t>
                      </m:r>
                      <m:f>
                        <m:fPr>
                          <m:ctrlPr>
                            <a:rPr lang="en-US" altLang="ja-GB" b="0" i="1" dirty="0" smtClean="0">
                              <a:latin typeface="Cambria Math" panose="02040503050406030204" pitchFamily="18" charset="0"/>
                            </a:rPr>
                          </m:ctrlPr>
                        </m:fPr>
                        <m:num>
                          <m:r>
                            <a:rPr lang="ja-GB" altLang="en-US" b="0" i="1" dirty="0">
                              <a:latin typeface="Cambria Math" panose="02040503050406030204" pitchFamily="18" charset="0"/>
                            </a:rPr>
                            <m:t>点数</m:t>
                          </m:r>
                          <m:r>
                            <a:rPr lang="en-US" altLang="ja-GB" b="0" i="1" dirty="0" smtClean="0">
                              <a:latin typeface="Cambria Math" panose="02040503050406030204" pitchFamily="18" charset="0"/>
                            </a:rPr>
                            <m:t>−</m:t>
                          </m:r>
                          <m:r>
                            <a:rPr lang="ja-GB" altLang="en-US" b="0" i="1" dirty="0">
                              <a:latin typeface="Cambria Math" panose="02040503050406030204" pitchFamily="18" charset="0"/>
                            </a:rPr>
                            <m:t>標準偏差</m:t>
                          </m:r>
                        </m:num>
                        <m:den>
                          <m:r>
                            <a:rPr lang="ja-GB" altLang="en-US" b="0" i="1" dirty="0">
                              <a:latin typeface="Cambria Math" panose="02040503050406030204" pitchFamily="18" charset="0"/>
                            </a:rPr>
                            <m:t>標準偏差</m:t>
                          </m:r>
                        </m:den>
                      </m:f>
                      <m:r>
                        <a:rPr lang="en-US" altLang="ja-GB" b="0" i="1" dirty="0" smtClean="0">
                          <a:latin typeface="Cambria Math" panose="02040503050406030204" pitchFamily="18" charset="0"/>
                        </a:rPr>
                        <m:t>+50</m:t>
                      </m:r>
                    </m:oMath>
                  </m:oMathPara>
                </a14:m>
                <a:endParaRPr lang="en-US" altLang="ja-GB" b="0" dirty="0"/>
              </a:p>
              <a:p>
                <a:pPr marL="0" indent="0">
                  <a:buNone/>
                </a:pPr>
                <a:r>
                  <a:rPr lang="ja-GB" altLang="en-US" dirty="0"/>
                  <a:t>例</a:t>
                </a:r>
                <a:r>
                  <a:rPr lang="en-US" altLang="ja-GB" dirty="0"/>
                  <a:t>2</a:t>
                </a:r>
                <a:r>
                  <a:rPr lang="ja-GB" altLang="en-US" dirty="0"/>
                  <a:t>）画像特徴量</a:t>
                </a:r>
                <a:endParaRPr lang="en-US" altLang="ja-GB" dirty="0"/>
              </a:p>
              <a:p>
                <a:pPr lvl="1"/>
                <a:r>
                  <a:rPr kumimoji="1" lang="ja-GB" altLang="en-US" dirty="0"/>
                  <a:t>画像から意味のある情報を数値として抽出したもの</a:t>
                </a:r>
                <a:endParaRPr kumimoji="1" lang="en-US" altLang="ja-GB" dirty="0"/>
              </a:p>
              <a:p>
                <a:pPr lvl="1"/>
                <a:r>
                  <a:rPr lang="ja-GB" altLang="en-US" dirty="0"/>
                  <a:t>明るさの分布形状，全体の乱雑さなど</a:t>
                </a:r>
                <a:endParaRPr kumimoji="1" lang="ja-GB" altLang="en-US" dirty="0"/>
              </a:p>
            </p:txBody>
          </p:sp>
        </mc:Choice>
        <mc:Fallback xmlns="">
          <p:sp>
            <p:nvSpPr>
              <p:cNvPr id="3" name="コンテンツ プレースホルダー 2">
                <a:extLst>
                  <a:ext uri="{FF2B5EF4-FFF2-40B4-BE49-F238E27FC236}">
                    <a16:creationId xmlns:a16="http://schemas.microsoft.com/office/drawing/2014/main" id="{C616BA43-1F6E-06B7-7A59-2BEE74F2305F}"/>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p:pic>
        <p:nvPicPr>
          <p:cNvPr id="6" name="図 5" descr="大きな窓のある建物&#10;&#10;AI によって生成されたコンテンツは間違っている可能性があります。">
            <a:extLst>
              <a:ext uri="{FF2B5EF4-FFF2-40B4-BE49-F238E27FC236}">
                <a16:creationId xmlns:a16="http://schemas.microsoft.com/office/drawing/2014/main" id="{EB83C688-47BA-67F9-C716-A244E962D28D}"/>
              </a:ext>
            </a:extLst>
          </p:cNvPr>
          <p:cNvPicPr>
            <a:picLocks noChangeAspect="1"/>
          </p:cNvPicPr>
          <p:nvPr/>
        </p:nvPicPr>
        <p:blipFill>
          <a:blip r:embed="rId3"/>
          <a:stretch>
            <a:fillRect/>
          </a:stretch>
        </p:blipFill>
        <p:spPr>
          <a:xfrm>
            <a:off x="1372466" y="4332030"/>
            <a:ext cx="2484005" cy="2484005"/>
          </a:xfrm>
          <a:prstGeom prst="rect">
            <a:avLst/>
          </a:prstGeom>
        </p:spPr>
      </p:pic>
      <p:pic>
        <p:nvPicPr>
          <p:cNvPr id="8" name="図 7" descr="グラフ, 折れ線グラフ&#10;&#10;AI によって生成されたコンテンツは間違っている可能性があります。">
            <a:extLst>
              <a:ext uri="{FF2B5EF4-FFF2-40B4-BE49-F238E27FC236}">
                <a16:creationId xmlns:a16="http://schemas.microsoft.com/office/drawing/2014/main" id="{CD23145E-74A2-7631-450E-6225E9E2312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72000" y="4232162"/>
            <a:ext cx="3542146" cy="1771073"/>
          </a:xfrm>
          <a:prstGeom prst="rect">
            <a:avLst/>
          </a:prstGeom>
        </p:spPr>
      </p:pic>
      <p:pic>
        <p:nvPicPr>
          <p:cNvPr id="10" name="図 9" descr="テーブル&#10;&#10;AI によって生成されたコンテンツは間違っている可能性があります。">
            <a:extLst>
              <a:ext uri="{FF2B5EF4-FFF2-40B4-BE49-F238E27FC236}">
                <a16:creationId xmlns:a16="http://schemas.microsoft.com/office/drawing/2014/main" id="{723B3681-E5B3-24D2-C1F1-FB9FA8965288}"/>
              </a:ext>
            </a:extLst>
          </p:cNvPr>
          <p:cNvPicPr>
            <a:picLocks noChangeAspect="1"/>
          </p:cNvPicPr>
          <p:nvPr/>
        </p:nvPicPr>
        <p:blipFill>
          <a:blip r:embed="rId5"/>
          <a:stretch>
            <a:fillRect/>
          </a:stretch>
        </p:blipFill>
        <p:spPr>
          <a:xfrm>
            <a:off x="4723246" y="6003235"/>
            <a:ext cx="3390900" cy="812800"/>
          </a:xfrm>
          <a:prstGeom prst="rect">
            <a:avLst/>
          </a:prstGeom>
        </p:spPr>
      </p:pic>
    </p:spTree>
    <p:extLst>
      <p:ext uri="{BB962C8B-B14F-4D97-AF65-F5344CB8AC3E}">
        <p14:creationId xmlns:p14="http://schemas.microsoft.com/office/powerpoint/2010/main" val="4147976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FC9F46-14FA-D2CF-F3A5-87E81296CC9A}"/>
              </a:ext>
            </a:extLst>
          </p:cNvPr>
          <p:cNvSpPr>
            <a:spLocks noGrp="1"/>
          </p:cNvSpPr>
          <p:nvPr>
            <p:ph type="title"/>
          </p:nvPr>
        </p:nvSpPr>
        <p:spPr/>
        <p:txBody>
          <a:bodyPr/>
          <a:lstStyle/>
          <a:p>
            <a:r>
              <a:rPr kumimoji="1" lang="ja-GB" altLang="en-US" dirty="0"/>
              <a:t>回帰分析</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824AC14-066B-F29D-AA10-5975C8CCB438}"/>
                  </a:ext>
                </a:extLst>
              </p:cNvPr>
              <p:cNvSpPr>
                <a:spLocks noGrp="1"/>
              </p:cNvSpPr>
              <p:nvPr>
                <p:ph idx="1"/>
              </p:nvPr>
            </p:nvSpPr>
            <p:spPr/>
            <p:txBody>
              <a:bodyPr/>
              <a:lstStyle/>
              <a:p>
                <a:pPr marL="0" indent="0">
                  <a:buNone/>
                </a:pPr>
                <a:r>
                  <a:rPr kumimoji="1" lang="ja-GB" altLang="en-US" dirty="0"/>
                  <a:t>データを近似する関数を作り，データのない箇所を予測する</a:t>
                </a:r>
                <a:endParaRPr kumimoji="1" lang="en-US" altLang="ja-GB" dirty="0"/>
              </a:p>
              <a:p>
                <a:pPr marL="457200" lvl="1" indent="0">
                  <a:buNone/>
                </a:pPr>
                <a:r>
                  <a:rPr lang="ja-GB" altLang="en-US" dirty="0"/>
                  <a:t>例</a:t>
                </a:r>
                <a:r>
                  <a:rPr lang="en-US" altLang="ja-GB" dirty="0"/>
                  <a:t>1</a:t>
                </a:r>
                <a:r>
                  <a:rPr lang="ja-GB" altLang="en-US" dirty="0"/>
                  <a:t>）線形</a:t>
                </a:r>
                <a:r>
                  <a:rPr kumimoji="1" lang="ja-GB" altLang="en-US" dirty="0"/>
                  <a:t>回帰：データの特性を直線で近似する</a:t>
                </a:r>
                <a:endParaRPr kumimoji="1" lang="en-US" altLang="ja-GB" dirty="0"/>
              </a:p>
              <a:p>
                <a:pPr lvl="2"/>
                <a14:m>
                  <m:oMath xmlns:m="http://schemas.openxmlformats.org/officeDocument/2006/math">
                    <m:r>
                      <a:rPr kumimoji="1" lang="en-US" altLang="ja-GB" b="0" i="1" smtClean="0">
                        <a:latin typeface="Cambria Math" panose="02040503050406030204" pitchFamily="18" charset="0"/>
                      </a:rPr>
                      <m:t>𝑦</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𝐴𝑥</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𝐵</m:t>
                    </m:r>
                    <m:r>
                      <a:rPr kumimoji="1" lang="en-US" altLang="ja-GB" b="0" i="1" smtClean="0">
                        <a:latin typeface="Cambria Math" panose="02040503050406030204" pitchFamily="18" charset="0"/>
                      </a:rPr>
                      <m:t> </m:t>
                    </m:r>
                  </m:oMath>
                </a14:m>
                <a:endParaRPr kumimoji="1" lang="en-US" altLang="ja-GB" b="0" dirty="0"/>
              </a:p>
              <a:p>
                <a:pPr lvl="4"/>
                <a:endParaRPr kumimoji="1" lang="en-US" altLang="ja-GB" b="0" dirty="0"/>
              </a:p>
              <a:p>
                <a:pPr marL="457200" lvl="1" indent="0">
                  <a:buNone/>
                </a:pPr>
                <a:r>
                  <a:rPr kumimoji="1" lang="ja-GB" altLang="en-US" dirty="0"/>
                  <a:t>例</a:t>
                </a:r>
                <a:r>
                  <a:rPr kumimoji="1" lang="en-US" altLang="ja-GB" dirty="0"/>
                  <a:t>2</a:t>
                </a:r>
                <a:r>
                  <a:rPr kumimoji="1" lang="ja-GB" altLang="en-US"/>
                  <a:t>）多項式回帰</a:t>
                </a:r>
                <a:r>
                  <a:rPr kumimoji="1" lang="ja-GB" altLang="en-US" dirty="0"/>
                  <a:t>：データの特性を多項式で近似する</a:t>
                </a:r>
                <a:endParaRPr kumimoji="1" lang="en-US" altLang="ja-GB" dirty="0"/>
              </a:p>
              <a:p>
                <a:pPr lvl="2"/>
                <a14:m>
                  <m:oMath xmlns:m="http://schemas.openxmlformats.org/officeDocument/2006/math">
                    <m:r>
                      <a:rPr kumimoji="1" lang="en-US" altLang="ja-GB" b="0" i="1" smtClean="0">
                        <a:latin typeface="Cambria Math" panose="02040503050406030204" pitchFamily="18" charset="0"/>
                      </a:rPr>
                      <m:t>𝑦</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𝑎</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𝑏𝑥</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𝑐</m:t>
                    </m:r>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𝑥</m:t>
                        </m:r>
                      </m:e>
                      <m:sup>
                        <m:r>
                          <a:rPr kumimoji="1" lang="en-US" altLang="ja-GB" b="0" i="1" smtClean="0">
                            <a:latin typeface="Cambria Math" panose="02040503050406030204" pitchFamily="18" charset="0"/>
                          </a:rPr>
                          <m:t>2</m:t>
                        </m:r>
                      </m:sup>
                    </m:sSup>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𝑘</m:t>
                    </m:r>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𝑥</m:t>
                        </m:r>
                      </m:e>
                      <m:sup>
                        <m:r>
                          <a:rPr kumimoji="1" lang="en-US" altLang="ja-GB" b="0" i="1" smtClean="0">
                            <a:latin typeface="Cambria Math" panose="02040503050406030204" pitchFamily="18" charset="0"/>
                          </a:rPr>
                          <m:t>𝑛</m:t>
                        </m:r>
                      </m:sup>
                    </m:sSup>
                  </m:oMath>
                </a14:m>
                <a:endParaRPr kumimoji="1" lang="ja-GB" altLang="en-US" b="0" dirty="0"/>
              </a:p>
            </p:txBody>
          </p:sp>
        </mc:Choice>
        <mc:Fallback xmlns="">
          <p:sp>
            <p:nvSpPr>
              <p:cNvPr id="3" name="コンテンツ プレースホルダー 2">
                <a:extLst>
                  <a:ext uri="{FF2B5EF4-FFF2-40B4-BE49-F238E27FC236}">
                    <a16:creationId xmlns:a16="http://schemas.microsoft.com/office/drawing/2014/main" id="{0824AC14-066B-F29D-AA10-5975C8CCB438}"/>
                  </a:ext>
                </a:extLst>
              </p:cNvPr>
              <p:cNvSpPr>
                <a:spLocks noGrp="1" noRot="1" noChangeAspect="1" noMove="1" noResize="1" noEditPoints="1" noAdjustHandles="1" noChangeArrowheads="1" noChangeShapeType="1" noTextEdit="1"/>
              </p:cNvSpPr>
              <p:nvPr>
                <p:ph idx="1"/>
              </p:nvPr>
            </p:nvSpPr>
            <p:spPr>
              <a:blipFill>
                <a:blip r:embed="rId3"/>
                <a:stretch>
                  <a:fillRect l="-1042" t="-1480"/>
                </a:stretch>
              </a:blipFill>
            </p:spPr>
            <p:txBody>
              <a:bodyPr/>
              <a:lstStyle/>
              <a:p>
                <a:r>
                  <a:rPr lang="ja-GB" altLang="en-US">
                    <a:noFill/>
                  </a:rPr>
                  <a:t> </a:t>
                </a:r>
              </a:p>
            </p:txBody>
          </p:sp>
        </mc:Fallback>
      </mc:AlternateContent>
      <p:pic>
        <p:nvPicPr>
          <p:cNvPr id="1026" name="Picture 2" descr="undefined">
            <a:extLst>
              <a:ext uri="{FF2B5EF4-FFF2-40B4-BE49-F238E27FC236}">
                <a16:creationId xmlns:a16="http://schemas.microsoft.com/office/drawing/2014/main" id="{7AA4303F-C8FE-AC65-6F57-FB918BEC591A}"/>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14325" y="3382682"/>
            <a:ext cx="4269725" cy="28190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5836EAA1-9978-A878-E9E9-108CE1F11725}"/>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4743592" y="3354515"/>
            <a:ext cx="4269725" cy="284722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B68FCE51-948B-E373-5EC6-B4170F617948}"/>
              </a:ext>
            </a:extLst>
          </p:cNvPr>
          <p:cNvSpPr txBox="1"/>
          <p:nvPr/>
        </p:nvSpPr>
        <p:spPr>
          <a:xfrm>
            <a:off x="4849501" y="6204893"/>
            <a:ext cx="4057906" cy="461665"/>
          </a:xfrm>
          <a:prstGeom prst="rect">
            <a:avLst/>
          </a:prstGeom>
          <a:noFill/>
        </p:spPr>
        <p:txBody>
          <a:bodyPr wrap="none" rtlCol="0">
            <a:spAutoFit/>
          </a:bodyPr>
          <a:lstStyle/>
          <a:p>
            <a:pPr algn="ctr"/>
            <a:r>
              <a:rPr kumimoji="1" lang="en-GB" altLang="ja-GB" sz="1200" dirty="0" err="1">
                <a:solidFill>
                  <a:schemeClr val="tx1">
                    <a:lumMod val="50000"/>
                    <a:lumOff val="50000"/>
                  </a:schemeClr>
                </a:solidFill>
              </a:rPr>
              <a:t>Skbkekas</a:t>
            </a:r>
            <a:r>
              <a:rPr kumimoji="1" lang="en-GB" altLang="ja-GB" sz="1200" dirty="0">
                <a:solidFill>
                  <a:schemeClr val="tx1">
                    <a:lumMod val="50000"/>
                    <a:lumOff val="50000"/>
                  </a:schemeClr>
                </a:solidFill>
              </a:rPr>
              <a:t> - </a:t>
            </a:r>
            <a:r>
              <a:rPr kumimoji="1" lang="ja-JP" altLang="en-US" sz="1200">
                <a:solidFill>
                  <a:schemeClr val="tx1">
                    <a:lumMod val="50000"/>
                    <a:lumOff val="50000"/>
                  </a:schemeClr>
                </a:solidFill>
              </a:rPr>
              <a:t>投稿者自身による著作物</a:t>
            </a:r>
            <a:r>
              <a:rPr kumimoji="1" lang="en-US" altLang="ja-JP" sz="1200" dirty="0">
                <a:solidFill>
                  <a:schemeClr val="tx1">
                    <a:lumMod val="50000"/>
                    <a:lumOff val="50000"/>
                  </a:schemeClr>
                </a:solidFill>
              </a:rPr>
              <a:t>, </a:t>
            </a:r>
            <a:r>
              <a:rPr kumimoji="1" lang="en-GB" altLang="ja-GB" sz="1200" dirty="0">
                <a:solidFill>
                  <a:schemeClr val="tx1">
                    <a:lumMod val="50000"/>
                    <a:lumOff val="50000"/>
                  </a:schemeClr>
                </a:solidFill>
              </a:rPr>
              <a:t>CC </a:t>
            </a:r>
            <a:r>
              <a:rPr kumimoji="1" lang="ja-JP" altLang="en-US" sz="1200">
                <a:solidFill>
                  <a:schemeClr val="tx1">
                    <a:lumMod val="50000"/>
                    <a:lumOff val="50000"/>
                  </a:schemeClr>
                </a:solidFill>
              </a:rPr>
              <a:t>表示 </a:t>
            </a:r>
            <a:r>
              <a:rPr kumimoji="1" lang="en-US" altLang="ja-JP" sz="1200" dirty="0">
                <a:solidFill>
                  <a:schemeClr val="tx1">
                    <a:lumMod val="50000"/>
                    <a:lumOff val="50000"/>
                  </a:schemeClr>
                </a:solidFill>
              </a:rPr>
              <a:t>3.0, </a:t>
            </a:r>
          </a:p>
          <a:p>
            <a:pPr algn="ctr"/>
            <a:r>
              <a:rPr kumimoji="1" lang="en-GB" altLang="ja-GB" sz="1200" dirty="0">
                <a:solidFill>
                  <a:schemeClr val="tx1">
                    <a:lumMod val="50000"/>
                    <a:lumOff val="50000"/>
                  </a:schemeClr>
                </a:solidFill>
                <a:hlinkClick r:id="rId6">
                  <a:extLst>
                    <a:ext uri="{A12FA001-AC4F-418D-AE19-62706E023703}">
                      <ahyp:hlinkClr xmlns:ahyp="http://schemas.microsoft.com/office/drawing/2018/hyperlinkcolor" val="tx"/>
                    </a:ext>
                  </a:extLst>
                </a:hlinkClick>
              </a:rPr>
              <a:t>https://commons.wikimedia.org/w/index.php?curid=6457163</a:t>
            </a:r>
            <a:endParaRPr kumimoji="1" lang="ja-GB" altLang="en-US" sz="1200" dirty="0">
              <a:solidFill>
                <a:schemeClr val="tx1">
                  <a:lumMod val="50000"/>
                  <a:lumOff val="50000"/>
                </a:schemeClr>
              </a:solidFill>
            </a:endParaRPr>
          </a:p>
        </p:txBody>
      </p:sp>
    </p:spTree>
    <p:extLst>
      <p:ext uri="{BB962C8B-B14F-4D97-AF65-F5344CB8AC3E}">
        <p14:creationId xmlns:p14="http://schemas.microsoft.com/office/powerpoint/2010/main" val="5921845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E8E406-65E6-873C-49E6-7E1D6765FC06}"/>
              </a:ext>
            </a:extLst>
          </p:cNvPr>
          <p:cNvSpPr>
            <a:spLocks noGrp="1"/>
          </p:cNvSpPr>
          <p:nvPr>
            <p:ph type="title"/>
          </p:nvPr>
        </p:nvSpPr>
        <p:spPr/>
        <p:txBody>
          <a:bodyPr/>
          <a:lstStyle/>
          <a:p>
            <a:r>
              <a:rPr kumimoji="1" lang="ja-GB" altLang="en-US" dirty="0"/>
              <a:t>検定</a:t>
            </a:r>
          </a:p>
        </p:txBody>
      </p:sp>
      <p:sp>
        <p:nvSpPr>
          <p:cNvPr id="4" name="コンテンツ プレースホルダー 3">
            <a:extLst>
              <a:ext uri="{FF2B5EF4-FFF2-40B4-BE49-F238E27FC236}">
                <a16:creationId xmlns:a16="http://schemas.microsoft.com/office/drawing/2014/main" id="{D1DCA034-9D88-D3F0-3083-E7C79CBF8A82}"/>
              </a:ext>
            </a:extLst>
          </p:cNvPr>
          <p:cNvSpPr>
            <a:spLocks noGrp="1"/>
          </p:cNvSpPr>
          <p:nvPr>
            <p:ph idx="1"/>
          </p:nvPr>
        </p:nvSpPr>
        <p:spPr/>
        <p:txBody>
          <a:bodyPr/>
          <a:lstStyle/>
          <a:p>
            <a:pPr marL="0" indent="0">
              <a:buNone/>
            </a:pPr>
            <a:r>
              <a:rPr lang="ja-GB" altLang="en-US" dirty="0"/>
              <a:t>観測データをとって仮説の妥当性を確率的に判定する枠組み</a:t>
            </a:r>
            <a:endParaRPr lang="en-US" altLang="ja-GB" dirty="0"/>
          </a:p>
          <a:p>
            <a:pPr marL="457200" lvl="1" indent="0">
              <a:buNone/>
            </a:pPr>
            <a:r>
              <a:rPr lang="ja-GB" altLang="en-US" dirty="0">
                <a:solidFill>
                  <a:schemeClr val="tx1">
                    <a:lumMod val="50000"/>
                    <a:lumOff val="50000"/>
                  </a:schemeClr>
                </a:solidFill>
              </a:rPr>
              <a:t>ある仮説が正しいと仮定した状態で観測データをとって，</a:t>
            </a:r>
            <a:br>
              <a:rPr lang="en-US" altLang="ja-GB" dirty="0">
                <a:solidFill>
                  <a:schemeClr val="tx1">
                    <a:lumMod val="50000"/>
                    <a:lumOff val="50000"/>
                  </a:schemeClr>
                </a:solidFill>
              </a:rPr>
            </a:br>
            <a:r>
              <a:rPr lang="ja-GB" altLang="en-US" dirty="0">
                <a:solidFill>
                  <a:schemeClr val="tx1">
                    <a:lumMod val="50000"/>
                    <a:lumOff val="50000"/>
                  </a:schemeClr>
                </a:solidFill>
              </a:rPr>
              <a:t>その結果が異常な外れ値を示したら，最初の仮説が疑わしいと判断する</a:t>
            </a:r>
            <a:endParaRPr lang="en-US" altLang="ja-GB" dirty="0">
              <a:solidFill>
                <a:schemeClr val="tx1">
                  <a:lumMod val="50000"/>
                  <a:lumOff val="50000"/>
                </a:schemeClr>
              </a:solidFill>
            </a:endParaRPr>
          </a:p>
          <a:p>
            <a:pPr marL="914400" lvl="2" indent="0">
              <a:buNone/>
            </a:pPr>
            <a:r>
              <a:rPr lang="en-US" altLang="ja-GB" dirty="0">
                <a:solidFill>
                  <a:schemeClr val="tx1">
                    <a:lumMod val="50000"/>
                    <a:lumOff val="50000"/>
                  </a:schemeClr>
                </a:solidFill>
              </a:rPr>
              <a:t>→</a:t>
            </a:r>
            <a:r>
              <a:rPr lang="ja-GB" altLang="en-US" dirty="0">
                <a:solidFill>
                  <a:schemeClr val="tx1">
                    <a:lumMod val="50000"/>
                    <a:lumOff val="50000"/>
                  </a:schemeClr>
                </a:solidFill>
              </a:rPr>
              <a:t>「薬が効かない」ことが疑わしいデータがあるなら，「薬は効く」と考えるのが妥当</a:t>
            </a:r>
            <a:endParaRPr lang="en-US" altLang="ja-GB" dirty="0">
              <a:solidFill>
                <a:schemeClr val="tx1">
                  <a:lumMod val="50000"/>
                  <a:lumOff val="50000"/>
                </a:schemeClr>
              </a:solidFill>
            </a:endParaRPr>
          </a:p>
          <a:p>
            <a:pPr lvl="2"/>
            <a:endParaRPr lang="en-US" altLang="ja-GB" dirty="0">
              <a:solidFill>
                <a:schemeClr val="tx1">
                  <a:lumMod val="50000"/>
                  <a:lumOff val="50000"/>
                </a:schemeClr>
              </a:solidFill>
            </a:endParaRPr>
          </a:p>
          <a:p>
            <a:pPr marL="457200" lvl="1" indent="0">
              <a:buNone/>
            </a:pPr>
            <a:r>
              <a:rPr lang="ja-GB" altLang="en-US" dirty="0">
                <a:solidFill>
                  <a:srgbClr val="2F2523"/>
                </a:solidFill>
              </a:rPr>
              <a:t>具体例）薬の有効性</a:t>
            </a:r>
            <a:endParaRPr lang="en-US" altLang="ja-GB" dirty="0">
              <a:solidFill>
                <a:srgbClr val="2F2523"/>
              </a:solidFill>
            </a:endParaRPr>
          </a:p>
          <a:p>
            <a:pPr marL="1371600" lvl="2" indent="-457200">
              <a:buFont typeface="+mj-lt"/>
              <a:buAutoNum type="arabicPeriod"/>
            </a:pPr>
            <a:r>
              <a:rPr lang="ja-GB" altLang="en-US" dirty="0">
                <a:solidFill>
                  <a:schemeClr val="tx1">
                    <a:lumMod val="50000"/>
                    <a:lumOff val="50000"/>
                  </a:schemeClr>
                </a:solidFill>
              </a:rPr>
              <a:t>示したい仮説（薬が病に効く）の否定（薬が病に効かない）を用意する</a:t>
            </a:r>
            <a:endParaRPr lang="en-US" altLang="ja-GB" dirty="0">
              <a:solidFill>
                <a:schemeClr val="tx1">
                  <a:lumMod val="50000"/>
                  <a:lumOff val="50000"/>
                </a:schemeClr>
              </a:solidFill>
            </a:endParaRPr>
          </a:p>
          <a:p>
            <a:pPr marL="1371600" lvl="2" indent="-457200">
              <a:buFont typeface="+mj-lt"/>
              <a:buAutoNum type="arabicPeriod"/>
            </a:pPr>
            <a:r>
              <a:rPr lang="ja-GB" altLang="en-US" dirty="0">
                <a:solidFill>
                  <a:schemeClr val="tx1">
                    <a:lumMod val="50000"/>
                    <a:lumOff val="50000"/>
                  </a:schemeClr>
                </a:solidFill>
              </a:rPr>
              <a:t>治験で薬を投与された群</a:t>
            </a:r>
            <a:r>
              <a:rPr lang="en-US" altLang="ja-GB" dirty="0">
                <a:solidFill>
                  <a:schemeClr val="tx1">
                    <a:lumMod val="50000"/>
                    <a:lumOff val="50000"/>
                  </a:schemeClr>
                </a:solidFill>
              </a:rPr>
              <a:t>/</a:t>
            </a:r>
            <a:r>
              <a:rPr lang="ja-GB" altLang="en-US" dirty="0">
                <a:solidFill>
                  <a:schemeClr val="tx1">
                    <a:lumMod val="50000"/>
                    <a:lumOff val="50000"/>
                  </a:schemeClr>
                </a:solidFill>
              </a:rPr>
              <a:t>されなかった群の症状変化をデータにとる</a:t>
            </a:r>
            <a:endParaRPr lang="en-US" altLang="ja-GB" dirty="0">
              <a:solidFill>
                <a:schemeClr val="tx1">
                  <a:lumMod val="50000"/>
                  <a:lumOff val="50000"/>
                </a:schemeClr>
              </a:solidFill>
            </a:endParaRPr>
          </a:p>
          <a:p>
            <a:pPr marL="1371600" lvl="2" indent="-457200">
              <a:buFont typeface="+mj-lt"/>
              <a:buAutoNum type="arabicPeriod"/>
            </a:pPr>
            <a:r>
              <a:rPr lang="ja-GB" altLang="en-US" dirty="0">
                <a:solidFill>
                  <a:schemeClr val="tx1">
                    <a:lumMod val="50000"/>
                    <a:lumOff val="50000"/>
                  </a:schemeClr>
                </a:solidFill>
              </a:rPr>
              <a:t>仮説の否定を前提とすると，めったに生じない違いが現れているならば，</a:t>
            </a:r>
            <a:br>
              <a:rPr lang="en-US" altLang="ja-GB" dirty="0">
                <a:solidFill>
                  <a:schemeClr val="tx1">
                    <a:lumMod val="50000"/>
                    <a:lumOff val="50000"/>
                  </a:schemeClr>
                </a:solidFill>
              </a:rPr>
            </a:br>
            <a:r>
              <a:rPr lang="ja-GB" altLang="en-US" dirty="0">
                <a:solidFill>
                  <a:schemeClr val="tx1">
                    <a:lumMod val="50000"/>
                    <a:lumOff val="50000"/>
                  </a:schemeClr>
                </a:solidFill>
              </a:rPr>
              <a:t>「仮説の否定は疑わしい」と判断する</a:t>
            </a:r>
            <a:endParaRPr lang="en-US" altLang="ja-GB" dirty="0">
              <a:solidFill>
                <a:schemeClr val="tx1">
                  <a:lumMod val="50000"/>
                  <a:lumOff val="50000"/>
                </a:schemeClr>
              </a:solidFill>
            </a:endParaRPr>
          </a:p>
          <a:p>
            <a:pPr marL="1371600" lvl="2" indent="-457200">
              <a:buFont typeface="+mj-lt"/>
              <a:buAutoNum type="arabicPeriod"/>
            </a:pPr>
            <a:r>
              <a:rPr lang="ja-GB" altLang="en-US" dirty="0">
                <a:solidFill>
                  <a:schemeClr val="tx1">
                    <a:lumMod val="50000"/>
                    <a:lumOff val="50000"/>
                  </a:schemeClr>
                </a:solidFill>
              </a:rPr>
              <a:t>仮説の否定が疑わしいので，仮説を支持するのが妥当と判断する</a:t>
            </a:r>
            <a:endParaRPr lang="en-US" altLang="ja-GB" dirty="0">
              <a:solidFill>
                <a:schemeClr val="tx1">
                  <a:lumMod val="50000"/>
                  <a:lumOff val="50000"/>
                </a:schemeClr>
              </a:solidFill>
            </a:endParaRPr>
          </a:p>
          <a:p>
            <a:pPr lvl="1"/>
            <a:endParaRPr lang="en-US" altLang="ja-GB" dirty="0"/>
          </a:p>
          <a:p>
            <a:pPr lvl="2"/>
            <a:endParaRPr lang="ja-GB" altLang="en-US" dirty="0"/>
          </a:p>
        </p:txBody>
      </p:sp>
    </p:spTree>
    <p:extLst>
      <p:ext uri="{BB962C8B-B14F-4D97-AF65-F5344CB8AC3E}">
        <p14:creationId xmlns:p14="http://schemas.microsoft.com/office/powerpoint/2010/main" val="11387612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856B-A6A6-BBA1-6B36-9BC7A8E815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20E13B-40CC-1871-C0EA-38BD31E4BAD1}"/>
              </a:ext>
            </a:extLst>
          </p:cNvPr>
          <p:cNvSpPr>
            <a:spLocks noGrp="1"/>
          </p:cNvSpPr>
          <p:nvPr>
            <p:ph type="title"/>
          </p:nvPr>
        </p:nvSpPr>
        <p:spPr/>
        <p:txBody>
          <a:bodyPr/>
          <a:lstStyle/>
          <a:p>
            <a:r>
              <a:rPr kumimoji="1" lang="ja-GB" altLang="en-US" dirty="0"/>
              <a:t>統計の使用例</a:t>
            </a:r>
          </a:p>
        </p:txBody>
      </p:sp>
      <p:sp>
        <p:nvSpPr>
          <p:cNvPr id="3" name="コンテンツ プレースホルダー 2">
            <a:extLst>
              <a:ext uri="{FF2B5EF4-FFF2-40B4-BE49-F238E27FC236}">
                <a16:creationId xmlns:a16="http://schemas.microsoft.com/office/drawing/2014/main" id="{C9DAC2F6-DF81-C82E-1D85-87B88098459B}"/>
              </a:ext>
            </a:extLst>
          </p:cNvPr>
          <p:cNvSpPr>
            <a:spLocks noGrp="1"/>
          </p:cNvSpPr>
          <p:nvPr>
            <p:ph idx="1"/>
          </p:nvPr>
        </p:nvSpPr>
        <p:spPr/>
        <p:txBody>
          <a:bodyPr>
            <a:normAutofit/>
          </a:bodyPr>
          <a:lstStyle/>
          <a:p>
            <a:pPr marL="0" indent="0">
              <a:buNone/>
            </a:pPr>
            <a:r>
              <a:rPr kumimoji="1" lang="ja-GB" altLang="en-US" dirty="0">
                <a:solidFill>
                  <a:schemeClr val="tx1">
                    <a:lumMod val="50000"/>
                    <a:lumOff val="50000"/>
                  </a:schemeClr>
                </a:solidFill>
              </a:rPr>
              <a:t>限られた機能しかない</a:t>
            </a:r>
            <a:r>
              <a:rPr kumimoji="1" lang="en-US" altLang="ja-GB" dirty="0">
                <a:solidFill>
                  <a:schemeClr val="tx1">
                    <a:lumMod val="50000"/>
                    <a:lumOff val="50000"/>
                  </a:schemeClr>
                </a:solidFill>
              </a:rPr>
              <a:t>CPU</a:t>
            </a:r>
            <a:r>
              <a:rPr lang="ja-GB" altLang="en-US" dirty="0">
                <a:solidFill>
                  <a:schemeClr val="tx1">
                    <a:lumMod val="50000"/>
                    <a:lumOff val="50000"/>
                  </a:schemeClr>
                </a:solidFill>
              </a:rPr>
              <a:t>で</a:t>
            </a:r>
            <a:r>
              <a:rPr kumimoji="1" lang="ja-GB" altLang="en-US" dirty="0">
                <a:solidFill>
                  <a:schemeClr val="tx1">
                    <a:lumMod val="50000"/>
                    <a:lumOff val="50000"/>
                  </a:schemeClr>
                </a:solidFill>
              </a:rPr>
              <a:t>遂行可能な手順書を作ることは難しい</a:t>
            </a:r>
            <a:endParaRPr kumimoji="1" lang="en-US" altLang="ja-GB" dirty="0">
              <a:solidFill>
                <a:schemeClr val="tx1">
                  <a:lumMod val="50000"/>
                  <a:lumOff val="50000"/>
                </a:schemeClr>
              </a:solidFill>
            </a:endParaRPr>
          </a:p>
          <a:p>
            <a:pPr marL="457200" lvl="1" indent="0">
              <a:buNone/>
            </a:pPr>
            <a:r>
              <a:rPr kumimoji="1" lang="en-US" altLang="ja-GB" dirty="0">
                <a:solidFill>
                  <a:schemeClr val="tx1">
                    <a:lumMod val="50000"/>
                    <a:lumOff val="50000"/>
                  </a:schemeClr>
                </a:solidFill>
              </a:rPr>
              <a:t>CPU</a:t>
            </a:r>
            <a:r>
              <a:rPr lang="ja-GB" altLang="en-US" dirty="0">
                <a:solidFill>
                  <a:schemeClr val="tx1">
                    <a:lumMod val="50000"/>
                    <a:lumOff val="50000"/>
                  </a:schemeClr>
                </a:solidFill>
              </a:rPr>
              <a:t>の</a:t>
            </a:r>
            <a:r>
              <a:rPr kumimoji="1" lang="ja-GB" altLang="en-US" dirty="0">
                <a:solidFill>
                  <a:schemeClr val="tx1">
                    <a:lumMod val="50000"/>
                    <a:lumOff val="50000"/>
                  </a:schemeClr>
                </a:solidFill>
              </a:rPr>
              <a:t>演算は基本的に</a:t>
            </a:r>
            <a:r>
              <a:rPr kumimoji="1" lang="en-US" altLang="ja-GB" dirty="0">
                <a:solidFill>
                  <a:schemeClr val="tx1">
                    <a:lumMod val="50000"/>
                    <a:lumOff val="50000"/>
                  </a:schemeClr>
                </a:solidFill>
              </a:rPr>
              <a:t>2</a:t>
            </a:r>
            <a:r>
              <a:rPr kumimoji="1" lang="ja-GB" altLang="en-US" dirty="0">
                <a:solidFill>
                  <a:schemeClr val="tx1">
                    <a:lumMod val="50000"/>
                    <a:lumOff val="50000"/>
                  </a:schemeClr>
                </a:solidFill>
              </a:rPr>
              <a:t>つの入力情報のみが対象</a:t>
            </a:r>
            <a:r>
              <a:rPr lang="ja-GB" altLang="en-US" dirty="0">
                <a:solidFill>
                  <a:schemeClr val="tx1">
                    <a:lumMod val="50000"/>
                    <a:lumOff val="50000"/>
                  </a:schemeClr>
                </a:solidFill>
              </a:rPr>
              <a:t>で，</a:t>
            </a:r>
            <a:r>
              <a:rPr kumimoji="1" lang="ja-GB" altLang="en-US" dirty="0">
                <a:solidFill>
                  <a:schemeClr val="tx1">
                    <a:lumMod val="50000"/>
                    <a:lumOff val="50000"/>
                  </a:schemeClr>
                </a:solidFill>
              </a:rPr>
              <a:t>全体を見れない</a:t>
            </a:r>
            <a:endParaRPr kumimoji="1" lang="en-US" altLang="ja-GB" dirty="0">
              <a:solidFill>
                <a:schemeClr val="tx1">
                  <a:lumMod val="50000"/>
                  <a:lumOff val="50000"/>
                </a:schemeClr>
              </a:solidFill>
            </a:endParaRPr>
          </a:p>
          <a:p>
            <a:pPr marL="914400" lvl="2"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&gt;</a:t>
            </a:r>
            <a:r>
              <a:rPr lang="ja-GB" altLang="en-US" dirty="0">
                <a:solidFill>
                  <a:schemeClr val="tx1">
                    <a:lumMod val="50000"/>
                    <a:lumOff val="50000"/>
                  </a:schemeClr>
                </a:solidFill>
              </a:rPr>
              <a:t>，</a:t>
            </a:r>
            <a:r>
              <a:rPr lang="en-US" altLang="ja-GB" dirty="0">
                <a:solidFill>
                  <a:schemeClr val="tx1">
                    <a:lumMod val="50000"/>
                    <a:lumOff val="50000"/>
                  </a:schemeClr>
                </a:solidFill>
              </a:rPr>
              <a:t>&lt;</a:t>
            </a:r>
            <a:r>
              <a:rPr lang="ja-GB" altLang="en-US" dirty="0">
                <a:solidFill>
                  <a:schemeClr val="tx1">
                    <a:lumMod val="50000"/>
                    <a:lumOff val="50000"/>
                  </a:schemeClr>
                </a:solidFill>
              </a:rPr>
              <a:t>，</a:t>
            </a:r>
            <a:r>
              <a:rPr lang="en-US" altLang="ja-GB" dirty="0">
                <a:solidFill>
                  <a:schemeClr val="tx1">
                    <a:lumMod val="50000"/>
                    <a:lumOff val="50000"/>
                  </a:schemeClr>
                </a:solidFill>
              </a:rPr>
              <a:t>and</a:t>
            </a:r>
            <a:r>
              <a:rPr lang="ja-GB" altLang="en-US" dirty="0">
                <a:solidFill>
                  <a:schemeClr val="tx1">
                    <a:lumMod val="50000"/>
                    <a:lumOff val="50000"/>
                  </a:schemeClr>
                </a:solidFill>
              </a:rPr>
              <a:t>，</a:t>
            </a:r>
            <a:r>
              <a:rPr lang="en-US" altLang="ja-GB" dirty="0">
                <a:solidFill>
                  <a:schemeClr val="tx1">
                    <a:lumMod val="50000"/>
                    <a:lumOff val="50000"/>
                  </a:schemeClr>
                </a:solidFill>
              </a:rPr>
              <a:t>or</a:t>
            </a:r>
            <a:r>
              <a:rPr lang="ja-GB" altLang="en-US" dirty="0">
                <a:solidFill>
                  <a:schemeClr val="tx1">
                    <a:lumMod val="50000"/>
                    <a:lumOff val="50000"/>
                  </a:schemeClr>
                </a:solidFill>
              </a:rPr>
              <a:t>，</a:t>
            </a:r>
            <a:r>
              <a:rPr lang="en-US" altLang="ja-GB" dirty="0">
                <a:solidFill>
                  <a:schemeClr val="tx1">
                    <a:lumMod val="50000"/>
                    <a:lumOff val="50000"/>
                  </a:schemeClr>
                </a:solidFill>
              </a:rPr>
              <a:t>…</a:t>
            </a:r>
          </a:p>
          <a:p>
            <a:pPr lvl="2"/>
            <a:endParaRPr lang="en-US" altLang="ja-GB" dirty="0"/>
          </a:p>
          <a:p>
            <a:pPr marL="457200" lvl="1" indent="0">
              <a:buNone/>
            </a:pPr>
            <a:r>
              <a:rPr kumimoji="1" lang="ja-GB" altLang="en-US" dirty="0">
                <a:solidFill>
                  <a:schemeClr val="tx1">
                    <a:lumMod val="50000"/>
                    <a:lumOff val="50000"/>
                  </a:schemeClr>
                </a:solidFill>
              </a:rPr>
              <a:t>人間は全体をみて「なんとなく」問題が解けてしまう</a:t>
            </a:r>
            <a:endParaRPr kumimoji="1" lang="en-US" altLang="ja-GB" dirty="0">
              <a:solidFill>
                <a:schemeClr val="tx1">
                  <a:lumMod val="50000"/>
                  <a:lumOff val="50000"/>
                </a:schemeClr>
              </a:solidFill>
            </a:endParaRPr>
          </a:p>
          <a:p>
            <a:pPr marL="914400" lvl="2" indent="0">
              <a:buNone/>
            </a:pPr>
            <a:r>
              <a:rPr lang="ja-GB" altLang="en-US" dirty="0">
                <a:solidFill>
                  <a:srgbClr val="002060"/>
                </a:solidFill>
              </a:rPr>
              <a:t>例）店長は「このくらいの気候なら牛乳が売れそうだ」と直感的に仕入れできる</a:t>
            </a:r>
            <a:endParaRPr lang="en-US" altLang="ja-GB" dirty="0">
              <a:solidFill>
                <a:srgbClr val="002060"/>
              </a:solidFill>
            </a:endParaRPr>
          </a:p>
          <a:p>
            <a:pPr marL="914400" lvl="2" indent="0">
              <a:buNone/>
            </a:pPr>
            <a:r>
              <a:rPr kumimoji="1" lang="en-US" altLang="ja-GB" dirty="0">
                <a:solidFill>
                  <a:srgbClr val="2F2523"/>
                </a:solidFill>
              </a:rPr>
              <a:t>→</a:t>
            </a:r>
            <a:r>
              <a:rPr kumimoji="1" lang="ja-GB" altLang="en-US" dirty="0">
                <a:solidFill>
                  <a:srgbClr val="2F2523"/>
                </a:solidFill>
              </a:rPr>
              <a:t>具体的な計算手順がわからない</a:t>
            </a:r>
            <a:endParaRPr lang="en-US" altLang="ja-GB" dirty="0">
              <a:solidFill>
                <a:srgbClr val="2F2523"/>
              </a:solidFill>
            </a:endParaRPr>
          </a:p>
          <a:p>
            <a:pPr marL="1714500" lvl="3" indent="-342900">
              <a:buFont typeface="+mj-lt"/>
              <a:buAutoNum type="arabicPeriod"/>
            </a:pPr>
            <a:r>
              <a:rPr lang="ja-GB" altLang="en-US" dirty="0"/>
              <a:t>来週の天気を調べて</a:t>
            </a:r>
            <a:r>
              <a:rPr lang="ja-GB" altLang="en-US" dirty="0">
                <a:solidFill>
                  <a:srgbClr val="002060"/>
                </a:solidFill>
              </a:rPr>
              <a:t>影響しそうな情報</a:t>
            </a:r>
            <a:r>
              <a:rPr lang="ja-GB" altLang="en-US" dirty="0"/>
              <a:t>を探す</a:t>
            </a:r>
            <a:r>
              <a:rPr lang="en-US" altLang="ja-GB" dirty="0"/>
              <a:t> →</a:t>
            </a:r>
            <a:r>
              <a:rPr lang="ja-JP" altLang="en-US">
                <a:solidFill>
                  <a:srgbClr val="0070C0"/>
                </a:solidFill>
              </a:rPr>
              <a:t>例：</a:t>
            </a:r>
            <a:r>
              <a:rPr lang="ja-GB" altLang="en-US" dirty="0">
                <a:solidFill>
                  <a:srgbClr val="0070C0"/>
                </a:solidFill>
              </a:rPr>
              <a:t>相関</a:t>
            </a:r>
            <a:endParaRPr lang="en-US" altLang="ja-GB" dirty="0">
              <a:solidFill>
                <a:srgbClr val="0070C0"/>
              </a:solidFill>
            </a:endParaRPr>
          </a:p>
          <a:p>
            <a:pPr marL="1714500" lvl="3" indent="-342900">
              <a:buFont typeface="+mj-lt"/>
              <a:buAutoNum type="arabicPeriod"/>
            </a:pPr>
            <a:r>
              <a:rPr lang="ja-GB" altLang="en-US" dirty="0"/>
              <a:t>過去の</a:t>
            </a:r>
            <a:r>
              <a:rPr lang="ja-GB" altLang="en-US" dirty="0">
                <a:solidFill>
                  <a:srgbClr val="002060"/>
                </a:solidFill>
              </a:rPr>
              <a:t>似た天気</a:t>
            </a:r>
            <a:r>
              <a:rPr lang="ja-GB" altLang="en-US" dirty="0"/>
              <a:t>のときの売り上げデータを調べる</a:t>
            </a:r>
            <a:r>
              <a:rPr lang="en-US" altLang="ja-GB" dirty="0"/>
              <a:t> →</a:t>
            </a:r>
            <a:r>
              <a:rPr lang="ja-JP" altLang="en-US">
                <a:solidFill>
                  <a:srgbClr val="0070C0"/>
                </a:solidFill>
              </a:rPr>
              <a:t>例：</a:t>
            </a:r>
            <a:r>
              <a:rPr lang="ja-GB" altLang="en-US" dirty="0">
                <a:solidFill>
                  <a:srgbClr val="0070C0"/>
                </a:solidFill>
              </a:rPr>
              <a:t>分散の大きい変数を抽出</a:t>
            </a:r>
            <a:endParaRPr lang="en-US" altLang="ja-GB" dirty="0">
              <a:solidFill>
                <a:srgbClr val="0070C0"/>
              </a:solidFill>
            </a:endParaRPr>
          </a:p>
          <a:p>
            <a:pPr marL="1714500" lvl="3" indent="-342900">
              <a:buFont typeface="+mj-lt"/>
              <a:buAutoNum type="arabicPeriod"/>
            </a:pPr>
            <a:r>
              <a:rPr lang="ja-GB" altLang="en-US" dirty="0"/>
              <a:t>取り出した売り上げデータで</a:t>
            </a:r>
            <a:r>
              <a:rPr lang="ja-GB" altLang="en-US" dirty="0">
                <a:solidFill>
                  <a:srgbClr val="002060"/>
                </a:solidFill>
              </a:rPr>
              <a:t>特に売れている商品</a:t>
            </a:r>
            <a:r>
              <a:rPr lang="ja-GB" altLang="en-US" dirty="0"/>
              <a:t>を見極める</a:t>
            </a:r>
            <a:r>
              <a:rPr lang="en-US" altLang="ja-GB" dirty="0"/>
              <a:t> </a:t>
            </a:r>
            <a:r>
              <a:rPr lang="en-US" altLang="ja-GB" dirty="0">
                <a:solidFill>
                  <a:srgbClr val="2F2523"/>
                </a:solidFill>
              </a:rPr>
              <a:t>→</a:t>
            </a:r>
            <a:r>
              <a:rPr lang="en-US" altLang="ja-GB" dirty="0">
                <a:solidFill>
                  <a:schemeClr val="accent2"/>
                </a:solidFill>
              </a:rPr>
              <a:t> </a:t>
            </a:r>
            <a:r>
              <a:rPr lang="ja-JP" altLang="en-US">
                <a:solidFill>
                  <a:srgbClr val="0070C0"/>
                </a:solidFill>
              </a:rPr>
              <a:t>例：</a:t>
            </a:r>
            <a:r>
              <a:rPr lang="ja-GB" altLang="en-US" dirty="0">
                <a:solidFill>
                  <a:srgbClr val="0070C0"/>
                </a:solidFill>
              </a:rPr>
              <a:t>回帰分析</a:t>
            </a:r>
            <a:endParaRPr lang="en-US" altLang="ja-GB" dirty="0">
              <a:solidFill>
                <a:srgbClr val="0070C0"/>
              </a:solidFill>
            </a:endParaRPr>
          </a:p>
          <a:p>
            <a:pPr marL="0" indent="0" algn="ctr">
              <a:buNone/>
            </a:pPr>
            <a:endParaRPr kumimoji="1" lang="en-US" altLang="ja-GB" dirty="0"/>
          </a:p>
          <a:p>
            <a:pPr marL="0" indent="0" algn="ctr">
              <a:buNone/>
            </a:pPr>
            <a:endParaRPr kumimoji="1" lang="en-US" altLang="ja-GB" dirty="0"/>
          </a:p>
        </p:txBody>
      </p:sp>
    </p:spTree>
    <p:extLst>
      <p:ext uri="{BB962C8B-B14F-4D97-AF65-F5344CB8AC3E}">
        <p14:creationId xmlns:p14="http://schemas.microsoft.com/office/powerpoint/2010/main" val="5789676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5B111D-3235-12AD-8B1C-35DD49F54DCA}"/>
              </a:ext>
            </a:extLst>
          </p:cNvPr>
          <p:cNvSpPr>
            <a:spLocks noGrp="1"/>
          </p:cNvSpPr>
          <p:nvPr>
            <p:ph type="title"/>
          </p:nvPr>
        </p:nvSpPr>
        <p:spPr/>
        <p:txBody>
          <a:bodyPr/>
          <a:lstStyle/>
          <a:p>
            <a:r>
              <a:rPr kumimoji="1" lang="ja-GB" altLang="en-US" dirty="0"/>
              <a:t>統計を用いるときの注意点</a:t>
            </a:r>
          </a:p>
        </p:txBody>
      </p:sp>
      <p:sp>
        <p:nvSpPr>
          <p:cNvPr id="3" name="コンテンツ プレースホルダー 2">
            <a:extLst>
              <a:ext uri="{FF2B5EF4-FFF2-40B4-BE49-F238E27FC236}">
                <a16:creationId xmlns:a16="http://schemas.microsoft.com/office/drawing/2014/main" id="{DF10AC53-E3BD-4BE1-C7E4-5D78543B4627}"/>
              </a:ext>
            </a:extLst>
          </p:cNvPr>
          <p:cNvSpPr>
            <a:spLocks noGrp="1"/>
          </p:cNvSpPr>
          <p:nvPr>
            <p:ph idx="1"/>
          </p:nvPr>
        </p:nvSpPr>
        <p:spPr/>
        <p:txBody>
          <a:bodyPr/>
          <a:lstStyle/>
          <a:p>
            <a:pPr marL="0" indent="0">
              <a:buNone/>
            </a:pPr>
            <a:r>
              <a:rPr kumimoji="1" lang="ja-GB" altLang="en-US" dirty="0"/>
              <a:t>統計だけを見て，データを見ないと誤った判断をすることがある</a:t>
            </a:r>
            <a:endParaRPr kumimoji="1" lang="en-US" altLang="ja-GB" dirty="0"/>
          </a:p>
          <a:p>
            <a:pPr lvl="1"/>
            <a:r>
              <a:rPr kumimoji="1" lang="ja-GB" altLang="en-US" dirty="0"/>
              <a:t>統計は全体の情報を小さな情報に変換して，計算をしやすくする</a:t>
            </a:r>
            <a:endParaRPr kumimoji="1" lang="en-US" altLang="ja-GB" dirty="0"/>
          </a:p>
          <a:p>
            <a:pPr lvl="1"/>
            <a:r>
              <a:rPr lang="ja-GB" altLang="en-US" dirty="0"/>
              <a:t>しかし，</a:t>
            </a:r>
            <a:r>
              <a:rPr kumimoji="1" lang="ja-GB" altLang="en-US" dirty="0"/>
              <a:t>数個の統計的特性のみを見ると，全体の特性を見誤ることがある</a:t>
            </a:r>
          </a:p>
        </p:txBody>
      </p:sp>
      <p:pic>
        <p:nvPicPr>
          <p:cNvPr id="8" name="図 7" descr="カレンダー&#10;&#10;AI によって生成されたコンテンツは間違っている可能性があります。">
            <a:extLst>
              <a:ext uri="{FF2B5EF4-FFF2-40B4-BE49-F238E27FC236}">
                <a16:creationId xmlns:a16="http://schemas.microsoft.com/office/drawing/2014/main" id="{1B03BFFF-5EF5-ACCE-5164-F0DFBEF71EB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429531" y="1991342"/>
            <a:ext cx="6284937" cy="4218656"/>
          </a:xfrm>
          <a:prstGeom prst="rect">
            <a:avLst/>
          </a:prstGeom>
        </p:spPr>
      </p:pic>
      <p:sp>
        <p:nvSpPr>
          <p:cNvPr id="9" name="テキスト ボックス 8">
            <a:extLst>
              <a:ext uri="{FF2B5EF4-FFF2-40B4-BE49-F238E27FC236}">
                <a16:creationId xmlns:a16="http://schemas.microsoft.com/office/drawing/2014/main" id="{B90BA9A3-A038-EE93-FCE4-8E7276414222}"/>
              </a:ext>
            </a:extLst>
          </p:cNvPr>
          <p:cNvSpPr txBox="1"/>
          <p:nvPr/>
        </p:nvSpPr>
        <p:spPr>
          <a:xfrm>
            <a:off x="1207488" y="6209998"/>
            <a:ext cx="6729022" cy="523220"/>
          </a:xfrm>
          <a:prstGeom prst="rect">
            <a:avLst/>
          </a:prstGeom>
          <a:noFill/>
        </p:spPr>
        <p:txBody>
          <a:bodyPr wrap="none" rtlCol="0">
            <a:spAutoFit/>
          </a:bodyPr>
          <a:lstStyle/>
          <a:p>
            <a:pPr algn="ctr"/>
            <a:r>
              <a:rPr kumimoji="1" lang="ja-GB" altLang="en-US" sz="1400" dirty="0">
                <a:solidFill>
                  <a:schemeClr val="tx1">
                    <a:lumMod val="50000"/>
                    <a:lumOff val="50000"/>
                  </a:schemeClr>
                </a:solidFill>
              </a:rPr>
              <a:t>平均値，分散，相関の等しい異なるグラフ</a:t>
            </a:r>
            <a:endParaRPr kumimoji="1" lang="en-US" altLang="ja-GB" sz="1400" dirty="0">
              <a:solidFill>
                <a:schemeClr val="tx1">
                  <a:lumMod val="50000"/>
                  <a:lumOff val="50000"/>
                </a:schemeClr>
              </a:solidFill>
              <a:hlinkClick r:id="rId3">
                <a:extLst>
                  <a:ext uri="{A12FA001-AC4F-418D-AE19-62706E023703}">
                    <ahyp:hlinkClr xmlns:ahyp="http://schemas.microsoft.com/office/drawing/2018/hyperlinkcolor" val="tx"/>
                  </a:ext>
                </a:extLst>
              </a:hlinkClick>
            </a:endParaRPr>
          </a:p>
          <a:p>
            <a:pPr algn="ctr"/>
            <a:r>
              <a:rPr kumimoji="1" lang="en-GB" altLang="ja-GB" sz="14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https://www.research.autodesk.com/publications/same-stats-different-graphs/</a:t>
            </a:r>
            <a:r>
              <a:rPr kumimoji="1" lang="en-GB" altLang="ja-GB" sz="1400" dirty="0">
                <a:solidFill>
                  <a:schemeClr val="tx1">
                    <a:lumMod val="50000"/>
                    <a:lumOff val="50000"/>
                  </a:schemeClr>
                </a:solidFill>
              </a:rPr>
              <a:t> </a:t>
            </a:r>
            <a:r>
              <a:rPr kumimoji="1" lang="ja-GB" altLang="en-US" sz="1400" dirty="0">
                <a:solidFill>
                  <a:schemeClr val="tx1">
                    <a:lumMod val="50000"/>
                    <a:lumOff val="50000"/>
                  </a:schemeClr>
                </a:solidFill>
              </a:rPr>
              <a:t>より引用</a:t>
            </a:r>
          </a:p>
        </p:txBody>
      </p:sp>
      <p:sp>
        <p:nvSpPr>
          <p:cNvPr id="4" name="テキスト ボックス 3">
            <a:extLst>
              <a:ext uri="{FF2B5EF4-FFF2-40B4-BE49-F238E27FC236}">
                <a16:creationId xmlns:a16="http://schemas.microsoft.com/office/drawing/2014/main" id="{1932505D-6003-D187-16A1-8F5769B2D11F}"/>
              </a:ext>
            </a:extLst>
          </p:cNvPr>
          <p:cNvSpPr txBox="1"/>
          <p:nvPr/>
        </p:nvSpPr>
        <p:spPr>
          <a:xfrm>
            <a:off x="7788229" y="5748333"/>
            <a:ext cx="1111202" cy="461665"/>
          </a:xfrm>
          <a:prstGeom prst="rect">
            <a:avLst/>
          </a:prstGeom>
          <a:noFill/>
        </p:spPr>
        <p:txBody>
          <a:bodyPr wrap="none" rtlCol="0">
            <a:spAutoFit/>
          </a:bodyPr>
          <a:lstStyle/>
          <a:p>
            <a:pPr algn="ctr"/>
            <a:r>
              <a:rPr kumimoji="1" lang="ja-JP" altLang="en-US" sz="1200"/>
              <a:t>著作権法</a:t>
            </a:r>
            <a:r>
              <a:rPr kumimoji="1" lang="en-US" altLang="ja-JP" sz="1200" dirty="0"/>
              <a:t>32</a:t>
            </a:r>
            <a:r>
              <a:rPr kumimoji="1" lang="ja-JP" altLang="en-US" sz="1200"/>
              <a:t>条</a:t>
            </a:r>
            <a:br>
              <a:rPr kumimoji="1" lang="en-US" altLang="ja-JP" sz="1200" dirty="0"/>
            </a:br>
            <a:r>
              <a:rPr kumimoji="1" lang="ja-JP" altLang="en-US" sz="1200"/>
              <a:t>に</a:t>
            </a:r>
            <a:r>
              <a:rPr kumimoji="1" lang="ja-GB" altLang="en-US" sz="1200" dirty="0"/>
              <a:t>基づく引用</a:t>
            </a:r>
          </a:p>
        </p:txBody>
      </p:sp>
    </p:spTree>
    <p:extLst>
      <p:ext uri="{BB962C8B-B14F-4D97-AF65-F5344CB8AC3E}">
        <p14:creationId xmlns:p14="http://schemas.microsoft.com/office/powerpoint/2010/main" val="4200735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C4461-8F23-E163-AEC4-DB82058D97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197CC4-3490-0732-DEC2-BDC7B7669CE1}"/>
              </a:ext>
            </a:extLst>
          </p:cNvPr>
          <p:cNvSpPr>
            <a:spLocks noGrp="1"/>
          </p:cNvSpPr>
          <p:nvPr>
            <p:ph type="title"/>
          </p:nvPr>
        </p:nvSpPr>
        <p:spPr/>
        <p:txBody>
          <a:bodyPr/>
          <a:lstStyle/>
          <a:p>
            <a:r>
              <a:rPr kumimoji="1" lang="ja-GB" altLang="en-US" dirty="0"/>
              <a:t>第</a:t>
            </a:r>
            <a:r>
              <a:rPr kumimoji="1" lang="en-US" altLang="ja-GB" dirty="0"/>
              <a:t>4</a:t>
            </a:r>
            <a:r>
              <a:rPr kumimoji="1" lang="ja-GB" altLang="en-US" dirty="0"/>
              <a:t>回：統計，データ，</a:t>
            </a:r>
            <a:r>
              <a:rPr kumimoji="1" lang="en-US" altLang="ja-GB" dirty="0"/>
              <a:t>AI</a:t>
            </a:r>
            <a:r>
              <a:rPr kumimoji="1" lang="ja-GB" altLang="en-US" dirty="0"/>
              <a:t>にできること</a:t>
            </a:r>
          </a:p>
        </p:txBody>
      </p:sp>
      <p:sp>
        <p:nvSpPr>
          <p:cNvPr id="3" name="コンテンツ プレースホルダー 2">
            <a:extLst>
              <a:ext uri="{FF2B5EF4-FFF2-40B4-BE49-F238E27FC236}">
                <a16:creationId xmlns:a16="http://schemas.microsoft.com/office/drawing/2014/main" id="{46CD14BB-5C43-4BC9-579A-14CE9DF10DC3}"/>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人間が「なんとなく」行う思考を計算手順として書くのに役立つ技術</a:t>
            </a:r>
            <a:endParaRPr kumimoji="1" lang="en-US" altLang="ja-GB" dirty="0">
              <a:solidFill>
                <a:schemeClr val="tx1">
                  <a:lumMod val="50000"/>
                  <a:lumOff val="50000"/>
                </a:schemeClr>
              </a:solidFill>
            </a:endParaRPr>
          </a:p>
          <a:p>
            <a:pPr marL="457200" lvl="1" indent="0">
              <a:buNone/>
            </a:pPr>
            <a:r>
              <a:rPr kumimoji="1" lang="ja-GB" altLang="en-US" dirty="0">
                <a:solidFill>
                  <a:schemeClr val="tx1">
                    <a:lumMod val="50000"/>
                    <a:lumOff val="50000"/>
                  </a:schemeClr>
                </a:solidFill>
              </a:rPr>
              <a:t>統計：人間の直感的な判断を再現するような数式</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データの傾向を要約する（統計量）</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未来の結果を予測する（回帰分析）</a:t>
            </a:r>
            <a:endParaRPr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仮説の妥当性を確認する（検定）</a:t>
            </a:r>
            <a:endParaRPr kumimoji="1" lang="en-US" altLang="ja-GB" dirty="0">
              <a:solidFill>
                <a:schemeClr val="tx1">
                  <a:lumMod val="50000"/>
                  <a:lumOff val="50000"/>
                </a:schemeClr>
              </a:solidFill>
            </a:endParaRPr>
          </a:p>
          <a:p>
            <a:pPr lvl="2"/>
            <a:endParaRPr kumimoji="1" lang="en-US" altLang="ja-GB" dirty="0"/>
          </a:p>
          <a:p>
            <a:pPr marL="457200" lvl="1" indent="0">
              <a:buNone/>
            </a:pPr>
            <a:r>
              <a:rPr lang="ja-GB" altLang="en-US" dirty="0">
                <a:solidFill>
                  <a:srgbClr val="002060"/>
                </a:solidFill>
              </a:rPr>
              <a:t>機械学習：経験則的に良い行動を発見する計算</a:t>
            </a:r>
            <a:endParaRPr lang="en-US" altLang="ja-GB" dirty="0">
              <a:solidFill>
                <a:srgbClr val="002060"/>
              </a:solidFill>
            </a:endParaRPr>
          </a:p>
          <a:p>
            <a:pPr lvl="2"/>
            <a:r>
              <a:rPr lang="ja-GB" altLang="en-US" dirty="0"/>
              <a:t>人の作ったデータから計算手順を逆算する（教師あり学習）</a:t>
            </a:r>
            <a:endParaRPr lang="en-US" altLang="ja-GB" dirty="0"/>
          </a:p>
          <a:p>
            <a:pPr lvl="2"/>
            <a:r>
              <a:rPr lang="ja-GB" altLang="en-US" dirty="0"/>
              <a:t>データから未知のパターン・特徴を発見する（教師なし学習）</a:t>
            </a:r>
            <a:endParaRPr lang="en-US" altLang="ja-GB" dirty="0"/>
          </a:p>
          <a:p>
            <a:pPr lvl="2"/>
            <a:r>
              <a:rPr lang="ja-GB" altLang="en-US" dirty="0"/>
              <a:t>試行錯誤の中でうまい振る舞い方を発見する（強化学習）</a:t>
            </a:r>
            <a:endParaRPr lang="en-US" altLang="ja-GB" dirty="0"/>
          </a:p>
          <a:p>
            <a:pPr lvl="2"/>
            <a:endParaRPr kumimoji="1" lang="en-US" altLang="ja-GB" dirty="0"/>
          </a:p>
          <a:p>
            <a:pPr marL="457200" lvl="1" indent="0">
              <a:buNone/>
            </a:pPr>
            <a:r>
              <a:rPr lang="ja-GB" altLang="en-US" dirty="0">
                <a:solidFill>
                  <a:schemeClr val="tx1">
                    <a:lumMod val="50000"/>
                    <a:lumOff val="50000"/>
                  </a:schemeClr>
                </a:solidFill>
              </a:rPr>
              <a:t>大規模言語モデル：言語を用いた思考を再現する計算</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言葉を自然に連ねることで情報を整理する（翻訳・対話・推論）</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計算手順</a:t>
            </a:r>
            <a:r>
              <a:rPr kumimoji="1" lang="ja-GB" altLang="en-US" dirty="0">
                <a:solidFill>
                  <a:schemeClr val="tx1">
                    <a:lumMod val="50000"/>
                    <a:lumOff val="50000"/>
                  </a:schemeClr>
                </a:solidFill>
              </a:rPr>
              <a:t>の中に曖昧な言語処理を組み込む（ワークフロー）</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検索や計算機を駆使して現実世界で行動する（エージェント）</a:t>
            </a:r>
            <a:endParaRPr kumimoji="1" lang="ja-GB" altLang="en-US" dirty="0">
              <a:solidFill>
                <a:schemeClr val="tx1">
                  <a:lumMod val="50000"/>
                  <a:lumOff val="50000"/>
                </a:schemeClr>
              </a:solidFill>
            </a:endParaRPr>
          </a:p>
        </p:txBody>
      </p:sp>
    </p:spTree>
    <p:extLst>
      <p:ext uri="{BB962C8B-B14F-4D97-AF65-F5344CB8AC3E}">
        <p14:creationId xmlns:p14="http://schemas.microsoft.com/office/powerpoint/2010/main" val="402486782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C7F5A-D068-0292-E071-CDF217AB8028}"/>
              </a:ext>
            </a:extLst>
          </p:cNvPr>
          <p:cNvSpPr>
            <a:spLocks noGrp="1"/>
          </p:cNvSpPr>
          <p:nvPr>
            <p:ph type="title"/>
          </p:nvPr>
        </p:nvSpPr>
        <p:spPr/>
        <p:txBody>
          <a:bodyPr/>
          <a:lstStyle/>
          <a:p>
            <a:r>
              <a:rPr kumimoji="1" lang="ja-GB" altLang="en-US" dirty="0"/>
              <a:t>機械学習の基本的な考え方</a:t>
            </a:r>
          </a:p>
        </p:txBody>
      </p:sp>
      <p:sp>
        <p:nvSpPr>
          <p:cNvPr id="3" name="コンテンツ プレースホルダー 2">
            <a:extLst>
              <a:ext uri="{FF2B5EF4-FFF2-40B4-BE49-F238E27FC236}">
                <a16:creationId xmlns:a16="http://schemas.microsoft.com/office/drawing/2014/main" id="{902F4943-AE59-70DA-88ED-9B1C8613519F}"/>
              </a:ext>
            </a:extLst>
          </p:cNvPr>
          <p:cNvSpPr>
            <a:spLocks noGrp="1"/>
          </p:cNvSpPr>
          <p:nvPr>
            <p:ph idx="1"/>
          </p:nvPr>
        </p:nvSpPr>
        <p:spPr/>
        <p:txBody>
          <a:bodyPr/>
          <a:lstStyle/>
          <a:p>
            <a:pPr marL="914400" lvl="1" indent="-457200">
              <a:buFont typeface="+mj-lt"/>
              <a:buAutoNum type="arabicPeriod"/>
            </a:pPr>
            <a:r>
              <a:rPr kumimoji="1" lang="ja-GB" altLang="en-US" dirty="0"/>
              <a:t>過去のデータに現れるパターンを自動抽出する</a:t>
            </a:r>
            <a:endParaRPr kumimoji="1" lang="en-US" altLang="ja-GB" dirty="0"/>
          </a:p>
          <a:p>
            <a:pPr marL="914400" lvl="1" indent="-457200">
              <a:buFont typeface="+mj-lt"/>
              <a:buAutoNum type="arabicPeriod"/>
            </a:pPr>
            <a:r>
              <a:rPr lang="ja-GB" altLang="en-US" dirty="0"/>
              <a:t>抽出したパターンが未知のデータにも有効か確認する</a:t>
            </a:r>
            <a:endParaRPr lang="en-US" altLang="ja-GB" dirty="0"/>
          </a:p>
          <a:p>
            <a:pPr marL="914400" lvl="1" indent="-457200">
              <a:buFont typeface="+mj-lt"/>
              <a:buAutoNum type="arabicPeriod"/>
            </a:pPr>
            <a:r>
              <a:rPr lang="ja-GB" altLang="en-US" dirty="0"/>
              <a:t>抽出したパターンを活用して，未知の事象を予測する</a:t>
            </a:r>
            <a:endParaRPr lang="en-US" altLang="ja-GB" dirty="0"/>
          </a:p>
        </p:txBody>
      </p:sp>
      <p:pic>
        <p:nvPicPr>
          <p:cNvPr id="124" name="図 123">
            <a:extLst>
              <a:ext uri="{FF2B5EF4-FFF2-40B4-BE49-F238E27FC236}">
                <a16:creationId xmlns:a16="http://schemas.microsoft.com/office/drawing/2014/main" id="{2AAEED16-25AC-81FF-705B-6A55378E6C97}"/>
              </a:ext>
            </a:extLst>
          </p:cNvPr>
          <p:cNvPicPr>
            <a:picLocks noChangeAspect="1"/>
          </p:cNvPicPr>
          <p:nvPr/>
        </p:nvPicPr>
        <p:blipFill>
          <a:blip r:embed="rId2"/>
          <a:stretch>
            <a:fillRect/>
          </a:stretch>
        </p:blipFill>
        <p:spPr>
          <a:xfrm>
            <a:off x="391106" y="2199290"/>
            <a:ext cx="8361787" cy="3685704"/>
          </a:xfrm>
          <a:prstGeom prst="rect">
            <a:avLst/>
          </a:prstGeom>
        </p:spPr>
      </p:pic>
    </p:spTree>
    <p:extLst>
      <p:ext uri="{BB962C8B-B14F-4D97-AF65-F5344CB8AC3E}">
        <p14:creationId xmlns:p14="http://schemas.microsoft.com/office/powerpoint/2010/main" val="42575078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FBFA-A5D5-941E-F32B-507FCFC08CF9}"/>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602B431-607E-0083-EFDC-0C99031BBA14}"/>
              </a:ext>
            </a:extLst>
          </p:cNvPr>
          <p:cNvSpPr>
            <a:spLocks noGrp="1"/>
          </p:cNvSpPr>
          <p:nvPr>
            <p:ph type="title"/>
          </p:nvPr>
        </p:nvSpPr>
        <p:spPr/>
        <p:txBody>
          <a:bodyPr/>
          <a:lstStyle/>
          <a:p>
            <a:r>
              <a:rPr lang="ja-GB" altLang="en-US" dirty="0"/>
              <a:t>機械学習の種類</a:t>
            </a:r>
            <a:endParaRPr lang="ja-JP" altLang="en-US"/>
          </a:p>
        </p:txBody>
      </p:sp>
      <p:sp>
        <p:nvSpPr>
          <p:cNvPr id="5" name="コンテンツ プレースホルダー 4">
            <a:extLst>
              <a:ext uri="{FF2B5EF4-FFF2-40B4-BE49-F238E27FC236}">
                <a16:creationId xmlns:a16="http://schemas.microsoft.com/office/drawing/2014/main" id="{AB96ECE2-84CD-0F24-0BD8-1909677FC43E}"/>
              </a:ext>
            </a:extLst>
          </p:cNvPr>
          <p:cNvSpPr>
            <a:spLocks noGrp="1"/>
          </p:cNvSpPr>
          <p:nvPr>
            <p:ph idx="1"/>
          </p:nvPr>
        </p:nvSpPr>
        <p:spPr/>
        <p:txBody>
          <a:bodyPr/>
          <a:lstStyle/>
          <a:p>
            <a:pPr marL="0" indent="0">
              <a:buNone/>
            </a:pPr>
            <a:r>
              <a:rPr lang="ja-GB" altLang="en-US" dirty="0"/>
              <a:t>経験則的な良い行動の発見を再現する計算手順</a:t>
            </a:r>
            <a:endParaRPr lang="en-US" altLang="ja-GB" dirty="0"/>
          </a:p>
          <a:p>
            <a:pPr lvl="1"/>
            <a:r>
              <a:rPr lang="ja-GB" altLang="en-US" dirty="0"/>
              <a:t>教師あり学習 ：人の作ったデータから計算手順を逆算する</a:t>
            </a:r>
            <a:endParaRPr lang="en-US" altLang="ja-GB" dirty="0"/>
          </a:p>
          <a:p>
            <a:pPr lvl="1"/>
            <a:r>
              <a:rPr lang="ja-GB" altLang="en-US" dirty="0"/>
              <a:t>教師なし学習 ：データから未知のパターン・特徴を発見する</a:t>
            </a:r>
            <a:endParaRPr lang="en-US" altLang="ja-GB" dirty="0"/>
          </a:p>
          <a:p>
            <a:pPr lvl="1"/>
            <a:r>
              <a:rPr lang="ja-GB" altLang="en-US" dirty="0"/>
              <a:t>強化学習　</a:t>
            </a:r>
            <a:r>
              <a:rPr lang="en-US" altLang="ja-GB" dirty="0"/>
              <a:t>   </a:t>
            </a:r>
            <a:r>
              <a:rPr lang="ja-GB" altLang="en-US" dirty="0"/>
              <a:t>：試行錯誤の中でうまい振る舞い方を発見する</a:t>
            </a:r>
            <a:endParaRPr lang="en-US" altLang="ja-GB" dirty="0"/>
          </a:p>
        </p:txBody>
      </p:sp>
    </p:spTree>
    <p:extLst>
      <p:ext uri="{BB962C8B-B14F-4D97-AF65-F5344CB8AC3E}">
        <p14:creationId xmlns:p14="http://schemas.microsoft.com/office/powerpoint/2010/main" val="30604138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C7F5A-D068-0292-E071-CDF217AB8028}"/>
              </a:ext>
            </a:extLst>
          </p:cNvPr>
          <p:cNvSpPr>
            <a:spLocks noGrp="1"/>
          </p:cNvSpPr>
          <p:nvPr>
            <p:ph type="title"/>
          </p:nvPr>
        </p:nvSpPr>
        <p:spPr/>
        <p:txBody>
          <a:bodyPr/>
          <a:lstStyle/>
          <a:p>
            <a:r>
              <a:rPr kumimoji="1" lang="ja-GB" altLang="en-US" dirty="0"/>
              <a:t>教師あり学習</a:t>
            </a:r>
          </a:p>
        </p:txBody>
      </p:sp>
      <p:sp>
        <p:nvSpPr>
          <p:cNvPr id="3" name="コンテンツ プレースホルダー 2">
            <a:extLst>
              <a:ext uri="{FF2B5EF4-FFF2-40B4-BE49-F238E27FC236}">
                <a16:creationId xmlns:a16="http://schemas.microsoft.com/office/drawing/2014/main" id="{902F4943-AE59-70DA-88ED-9B1C8613519F}"/>
              </a:ext>
            </a:extLst>
          </p:cNvPr>
          <p:cNvSpPr>
            <a:spLocks noGrp="1"/>
          </p:cNvSpPr>
          <p:nvPr>
            <p:ph idx="1"/>
          </p:nvPr>
        </p:nvSpPr>
        <p:spPr/>
        <p:txBody>
          <a:bodyPr/>
          <a:lstStyle/>
          <a:p>
            <a:pPr marL="0" indent="0">
              <a:buNone/>
            </a:pPr>
            <a:r>
              <a:rPr kumimoji="1" lang="ja-GB" altLang="en-US" dirty="0"/>
              <a:t>人の作ったデータから計算手順を逆算する</a:t>
            </a:r>
            <a:endParaRPr kumimoji="1" lang="en-US" altLang="ja-GB" dirty="0"/>
          </a:p>
          <a:p>
            <a:pPr marL="457200" lvl="1" indent="0">
              <a:buNone/>
            </a:pPr>
            <a:r>
              <a:rPr kumimoji="1" lang="ja-GB" altLang="en-US" dirty="0">
                <a:solidFill>
                  <a:srgbClr val="0070C0"/>
                </a:solidFill>
              </a:rPr>
              <a:t>入力データと正解データの対応パターンを抽出して，未知の入力に適用</a:t>
            </a:r>
            <a:endParaRPr kumimoji="1" lang="en-US" altLang="ja-GB" dirty="0">
              <a:solidFill>
                <a:srgbClr val="0070C0"/>
              </a:solidFill>
            </a:endParaRPr>
          </a:p>
          <a:p>
            <a:pPr lvl="2"/>
            <a:endParaRPr lang="en-US" altLang="ja-GB" dirty="0"/>
          </a:p>
          <a:p>
            <a:pPr lvl="2"/>
            <a:endParaRPr kumimoji="1" lang="en-US" altLang="ja-GB" dirty="0"/>
          </a:p>
          <a:p>
            <a:pPr lvl="2"/>
            <a:endParaRPr lang="en-US" altLang="ja-GB" dirty="0"/>
          </a:p>
          <a:p>
            <a:pPr lvl="2"/>
            <a:endParaRPr kumimoji="1" lang="en-US" altLang="ja-GB" dirty="0"/>
          </a:p>
          <a:p>
            <a:pPr lvl="2"/>
            <a:endParaRPr lang="en-US" altLang="ja-GB" dirty="0"/>
          </a:p>
          <a:p>
            <a:pPr lvl="2"/>
            <a:endParaRPr kumimoji="1" lang="en-US" altLang="ja-GB" dirty="0"/>
          </a:p>
          <a:p>
            <a:pPr lvl="2"/>
            <a:endParaRPr lang="en-US" altLang="ja-GB" dirty="0"/>
          </a:p>
          <a:p>
            <a:pPr lvl="2"/>
            <a:endParaRPr kumimoji="1" lang="en-US" altLang="ja-GB" dirty="0"/>
          </a:p>
          <a:p>
            <a:pPr lvl="3"/>
            <a:endParaRPr kumimoji="1" lang="en-US" altLang="ja-GB" dirty="0"/>
          </a:p>
          <a:p>
            <a:pPr lvl="3"/>
            <a:endParaRPr kumimoji="1" lang="en-US" altLang="ja-GB" dirty="0"/>
          </a:p>
          <a:p>
            <a:pPr marL="457200" lvl="1" indent="0">
              <a:buNone/>
            </a:pPr>
            <a:r>
              <a:rPr kumimoji="1" lang="ja-GB" altLang="en-US" dirty="0"/>
              <a:t>例</a:t>
            </a:r>
            <a:r>
              <a:rPr kumimoji="1" lang="en-US" altLang="ja-GB" dirty="0"/>
              <a:t>1</a:t>
            </a:r>
            <a:r>
              <a:rPr kumimoji="1" lang="ja-GB" altLang="en-US" dirty="0"/>
              <a:t>）画像分類</a:t>
            </a:r>
            <a:endParaRPr kumimoji="1" lang="en-US" altLang="ja-GB" dirty="0"/>
          </a:p>
          <a:p>
            <a:pPr lvl="2"/>
            <a:r>
              <a:rPr lang="ja-GB" altLang="en-US" dirty="0"/>
              <a:t>猫と犬の画像を大量に学習して，それらを区別できるような関数を求める</a:t>
            </a:r>
            <a:endParaRPr kumimoji="1" lang="en-US" altLang="ja-GB" dirty="0"/>
          </a:p>
          <a:p>
            <a:pPr marL="457200" lvl="1" indent="0">
              <a:buNone/>
            </a:pPr>
            <a:r>
              <a:rPr kumimoji="1" lang="ja-GB" altLang="en-US" dirty="0"/>
              <a:t>例</a:t>
            </a:r>
            <a:r>
              <a:rPr lang="en-US" altLang="ja-GB" dirty="0"/>
              <a:t>2</a:t>
            </a:r>
            <a:r>
              <a:rPr lang="ja-GB" altLang="en-US" dirty="0"/>
              <a:t>）株価予測</a:t>
            </a:r>
            <a:endParaRPr lang="en-US" altLang="ja-GB" dirty="0"/>
          </a:p>
          <a:p>
            <a:pPr lvl="2"/>
            <a:r>
              <a:rPr kumimoji="1" lang="ja-GB" altLang="en-US" dirty="0"/>
              <a:t>過去一年間の株価変動から，一時間後の株価を予測する数式を求める</a:t>
            </a:r>
            <a:endParaRPr kumimoji="1" lang="en-US" altLang="ja-GB" dirty="0"/>
          </a:p>
          <a:p>
            <a:pPr marL="457200" lvl="1" indent="0">
              <a:buNone/>
            </a:pPr>
            <a:r>
              <a:rPr lang="ja-GB" altLang="en-US" dirty="0"/>
              <a:t>例</a:t>
            </a:r>
            <a:r>
              <a:rPr lang="en-US" altLang="ja-GB" dirty="0"/>
              <a:t>3</a:t>
            </a:r>
            <a:r>
              <a:rPr lang="ja-GB" altLang="en-US" dirty="0"/>
              <a:t>）画像のノイズ除去</a:t>
            </a:r>
            <a:endParaRPr lang="en-US" altLang="ja-GB" dirty="0"/>
          </a:p>
          <a:p>
            <a:pPr lvl="2"/>
            <a:r>
              <a:rPr lang="ja-GB" altLang="en-US" dirty="0"/>
              <a:t>ノイズ付き</a:t>
            </a:r>
            <a:r>
              <a:rPr lang="en-US" altLang="ja-GB" dirty="0"/>
              <a:t>/</a:t>
            </a:r>
            <a:r>
              <a:rPr lang="ja-GB" altLang="en-US" dirty="0"/>
              <a:t>無しの画像から，画像のノイズを除去するアルゴリズムを求める</a:t>
            </a:r>
            <a:endParaRPr lang="en-US" altLang="ja-GB" dirty="0"/>
          </a:p>
        </p:txBody>
      </p:sp>
      <p:pic>
        <p:nvPicPr>
          <p:cNvPr id="124" name="図 123">
            <a:extLst>
              <a:ext uri="{FF2B5EF4-FFF2-40B4-BE49-F238E27FC236}">
                <a16:creationId xmlns:a16="http://schemas.microsoft.com/office/drawing/2014/main" id="{2AAEED16-25AC-81FF-705B-6A55378E6C97}"/>
              </a:ext>
            </a:extLst>
          </p:cNvPr>
          <p:cNvPicPr>
            <a:picLocks noChangeAspect="1"/>
          </p:cNvPicPr>
          <p:nvPr/>
        </p:nvPicPr>
        <p:blipFill>
          <a:blip r:embed="rId2"/>
          <a:stretch>
            <a:fillRect/>
          </a:stretch>
        </p:blipFill>
        <p:spPr>
          <a:xfrm>
            <a:off x="1312252" y="1665962"/>
            <a:ext cx="6519496" cy="2873660"/>
          </a:xfrm>
          <a:prstGeom prst="rect">
            <a:avLst/>
          </a:prstGeom>
        </p:spPr>
      </p:pic>
    </p:spTree>
    <p:extLst>
      <p:ext uri="{BB962C8B-B14F-4D97-AF65-F5344CB8AC3E}">
        <p14:creationId xmlns:p14="http://schemas.microsoft.com/office/powerpoint/2010/main" val="30634778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DDE1-D02D-BB2B-2E7D-2D27D6E5E5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B5DC64-C810-1B4D-E412-940D9F2F3709}"/>
              </a:ext>
            </a:extLst>
          </p:cNvPr>
          <p:cNvSpPr>
            <a:spLocks noGrp="1"/>
          </p:cNvSpPr>
          <p:nvPr>
            <p:ph type="title"/>
          </p:nvPr>
        </p:nvSpPr>
        <p:spPr/>
        <p:txBody>
          <a:bodyPr/>
          <a:lstStyle/>
          <a:p>
            <a:r>
              <a:rPr kumimoji="1" lang="ja-GB" altLang="en-US" dirty="0"/>
              <a:t>回帰分析</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E2D6C0D-3327-1036-4702-5CCC1E0764E1}"/>
                  </a:ext>
                </a:extLst>
              </p:cNvPr>
              <p:cNvSpPr>
                <a:spLocks noGrp="1"/>
              </p:cNvSpPr>
              <p:nvPr>
                <p:ph idx="1"/>
              </p:nvPr>
            </p:nvSpPr>
            <p:spPr/>
            <p:txBody>
              <a:bodyPr/>
              <a:lstStyle/>
              <a:p>
                <a:pPr marL="0" indent="0">
                  <a:buNone/>
                </a:pPr>
                <a:r>
                  <a:rPr kumimoji="1" lang="ja-GB" altLang="en-US" dirty="0"/>
                  <a:t>データを近似する関数を作り，データのない箇所を予測する</a:t>
                </a:r>
                <a:endParaRPr kumimoji="1" lang="en-US" altLang="ja-GB" dirty="0"/>
              </a:p>
              <a:p>
                <a:pPr marL="457200" lvl="1" indent="0">
                  <a:buNone/>
                </a:pPr>
                <a:r>
                  <a:rPr lang="ja-GB" altLang="en-US" dirty="0"/>
                  <a:t>例</a:t>
                </a:r>
                <a:r>
                  <a:rPr lang="en-US" altLang="ja-GB" dirty="0"/>
                  <a:t>1</a:t>
                </a:r>
                <a:r>
                  <a:rPr lang="ja-GB" altLang="en-US" dirty="0"/>
                  <a:t>）線形</a:t>
                </a:r>
                <a:r>
                  <a:rPr kumimoji="1" lang="ja-GB" altLang="en-US" dirty="0"/>
                  <a:t>回帰：データの特性を直線で近似する</a:t>
                </a:r>
                <a:endParaRPr kumimoji="1" lang="en-US" altLang="ja-GB" dirty="0"/>
              </a:p>
              <a:p>
                <a:pPr lvl="2"/>
                <a14:m>
                  <m:oMath xmlns:m="http://schemas.openxmlformats.org/officeDocument/2006/math">
                    <m:r>
                      <a:rPr kumimoji="1" lang="en-US" altLang="ja-GB" b="0" i="1" smtClean="0">
                        <a:latin typeface="Cambria Math" panose="02040503050406030204" pitchFamily="18" charset="0"/>
                      </a:rPr>
                      <m:t>𝑦</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𝐴𝑥</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𝐵</m:t>
                    </m:r>
                    <m:r>
                      <a:rPr kumimoji="1" lang="en-US" altLang="ja-GB" b="0" i="1" smtClean="0">
                        <a:latin typeface="Cambria Math" panose="02040503050406030204" pitchFamily="18" charset="0"/>
                      </a:rPr>
                      <m:t> </m:t>
                    </m:r>
                  </m:oMath>
                </a14:m>
                <a:endParaRPr kumimoji="1" lang="en-US" altLang="ja-GB" b="0" dirty="0"/>
              </a:p>
              <a:p>
                <a:pPr lvl="4"/>
                <a:endParaRPr kumimoji="1" lang="en-US" altLang="ja-GB" b="0" dirty="0"/>
              </a:p>
              <a:p>
                <a:pPr marL="457200" lvl="1" indent="0">
                  <a:buNone/>
                </a:pPr>
                <a:r>
                  <a:rPr kumimoji="1" lang="ja-GB" altLang="en-US" dirty="0"/>
                  <a:t>例</a:t>
                </a:r>
                <a:r>
                  <a:rPr kumimoji="1" lang="en-US" altLang="ja-GB" dirty="0"/>
                  <a:t>2</a:t>
                </a:r>
                <a:r>
                  <a:rPr kumimoji="1" lang="ja-GB" altLang="en-US"/>
                  <a:t>）多項式回帰</a:t>
                </a:r>
                <a:r>
                  <a:rPr kumimoji="1" lang="ja-GB" altLang="en-US" dirty="0"/>
                  <a:t>：データの特性を多項式で近似する</a:t>
                </a:r>
                <a:endParaRPr kumimoji="1" lang="en-US" altLang="ja-GB" dirty="0"/>
              </a:p>
              <a:p>
                <a:pPr lvl="2"/>
                <a14:m>
                  <m:oMath xmlns:m="http://schemas.openxmlformats.org/officeDocument/2006/math">
                    <m:r>
                      <a:rPr kumimoji="1" lang="en-US" altLang="ja-GB" b="0" i="1" smtClean="0">
                        <a:latin typeface="Cambria Math" panose="02040503050406030204" pitchFamily="18" charset="0"/>
                      </a:rPr>
                      <m:t>𝑦</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𝑎</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𝑏𝑥</m:t>
                    </m:r>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𝑐</m:t>
                    </m:r>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𝑥</m:t>
                        </m:r>
                      </m:e>
                      <m:sup>
                        <m:r>
                          <a:rPr kumimoji="1" lang="en-US" altLang="ja-GB" b="0" i="1" smtClean="0">
                            <a:latin typeface="Cambria Math" panose="02040503050406030204" pitchFamily="18" charset="0"/>
                          </a:rPr>
                          <m:t>2</m:t>
                        </m:r>
                      </m:sup>
                    </m:sSup>
                    <m:r>
                      <a:rPr kumimoji="1" lang="en-US" altLang="ja-GB" b="0" i="1" smtClean="0">
                        <a:latin typeface="Cambria Math" panose="02040503050406030204" pitchFamily="18" charset="0"/>
                      </a:rPr>
                      <m:t>+…+</m:t>
                    </m:r>
                    <m:r>
                      <a:rPr kumimoji="1" lang="en-US" altLang="ja-GB" b="0" i="1" smtClean="0">
                        <a:latin typeface="Cambria Math" panose="02040503050406030204" pitchFamily="18" charset="0"/>
                      </a:rPr>
                      <m:t>𝑘</m:t>
                    </m:r>
                    <m:sSup>
                      <m:sSupPr>
                        <m:ctrlPr>
                          <a:rPr kumimoji="1" lang="en-US" altLang="ja-GB" b="0" i="1" smtClean="0">
                            <a:latin typeface="Cambria Math" panose="02040503050406030204" pitchFamily="18" charset="0"/>
                          </a:rPr>
                        </m:ctrlPr>
                      </m:sSupPr>
                      <m:e>
                        <m:r>
                          <a:rPr kumimoji="1" lang="en-US" altLang="ja-GB" b="0" i="1" smtClean="0">
                            <a:latin typeface="Cambria Math" panose="02040503050406030204" pitchFamily="18" charset="0"/>
                          </a:rPr>
                          <m:t>𝑥</m:t>
                        </m:r>
                      </m:e>
                      <m:sup>
                        <m:r>
                          <a:rPr kumimoji="1" lang="en-US" altLang="ja-GB" b="0" i="1" smtClean="0">
                            <a:latin typeface="Cambria Math" panose="02040503050406030204" pitchFamily="18" charset="0"/>
                          </a:rPr>
                          <m:t>𝑛</m:t>
                        </m:r>
                      </m:sup>
                    </m:sSup>
                  </m:oMath>
                </a14:m>
                <a:endParaRPr kumimoji="1" lang="ja-GB" altLang="en-US" b="0" dirty="0"/>
              </a:p>
            </p:txBody>
          </p:sp>
        </mc:Choice>
        <mc:Fallback xmlns="">
          <p:sp>
            <p:nvSpPr>
              <p:cNvPr id="3" name="コンテンツ プレースホルダー 2">
                <a:extLst>
                  <a:ext uri="{FF2B5EF4-FFF2-40B4-BE49-F238E27FC236}">
                    <a16:creationId xmlns:a16="http://schemas.microsoft.com/office/drawing/2014/main" id="{BE2D6C0D-3327-1036-4702-5CCC1E0764E1}"/>
                  </a:ext>
                </a:extLst>
              </p:cNvPr>
              <p:cNvSpPr>
                <a:spLocks noGrp="1" noRot="1" noChangeAspect="1" noMove="1" noResize="1" noEditPoints="1" noAdjustHandles="1" noChangeArrowheads="1" noChangeShapeType="1" noTextEdit="1"/>
              </p:cNvSpPr>
              <p:nvPr>
                <p:ph idx="1"/>
              </p:nvPr>
            </p:nvSpPr>
            <p:spPr>
              <a:blipFill>
                <a:blip r:embed="rId3"/>
                <a:stretch>
                  <a:fillRect l="-1042" t="-1480"/>
                </a:stretch>
              </a:blipFill>
            </p:spPr>
            <p:txBody>
              <a:bodyPr/>
              <a:lstStyle/>
              <a:p>
                <a:r>
                  <a:rPr lang="ja-GB" altLang="en-US">
                    <a:noFill/>
                  </a:rPr>
                  <a:t> </a:t>
                </a:r>
              </a:p>
            </p:txBody>
          </p:sp>
        </mc:Fallback>
      </mc:AlternateContent>
      <p:pic>
        <p:nvPicPr>
          <p:cNvPr id="1026" name="Picture 2" descr="undefined">
            <a:extLst>
              <a:ext uri="{FF2B5EF4-FFF2-40B4-BE49-F238E27FC236}">
                <a16:creationId xmlns:a16="http://schemas.microsoft.com/office/drawing/2014/main" id="{E835CA93-B2EF-F3E7-E2E8-8D30EE01A059}"/>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14325" y="3382682"/>
            <a:ext cx="4269725" cy="28190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DDC1A286-1BBA-9A38-FFC8-03265C47C7B6}"/>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4743592" y="3354515"/>
            <a:ext cx="4269725" cy="284722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FD690B6A-5180-A899-EF26-17DEDA3CE949}"/>
              </a:ext>
            </a:extLst>
          </p:cNvPr>
          <p:cNvSpPr txBox="1"/>
          <p:nvPr/>
        </p:nvSpPr>
        <p:spPr>
          <a:xfrm>
            <a:off x="4849501" y="6204893"/>
            <a:ext cx="4057906" cy="461665"/>
          </a:xfrm>
          <a:prstGeom prst="rect">
            <a:avLst/>
          </a:prstGeom>
          <a:noFill/>
        </p:spPr>
        <p:txBody>
          <a:bodyPr wrap="none" rtlCol="0">
            <a:spAutoFit/>
          </a:bodyPr>
          <a:lstStyle/>
          <a:p>
            <a:pPr algn="ctr"/>
            <a:r>
              <a:rPr kumimoji="1" lang="en-GB" altLang="ja-GB" sz="1200" dirty="0" err="1">
                <a:solidFill>
                  <a:schemeClr val="tx1">
                    <a:lumMod val="50000"/>
                    <a:lumOff val="50000"/>
                  </a:schemeClr>
                </a:solidFill>
              </a:rPr>
              <a:t>Skbkekas</a:t>
            </a:r>
            <a:r>
              <a:rPr kumimoji="1" lang="en-GB" altLang="ja-GB" sz="1200" dirty="0">
                <a:solidFill>
                  <a:schemeClr val="tx1">
                    <a:lumMod val="50000"/>
                    <a:lumOff val="50000"/>
                  </a:schemeClr>
                </a:solidFill>
              </a:rPr>
              <a:t> - </a:t>
            </a:r>
            <a:r>
              <a:rPr kumimoji="1" lang="ja-JP" altLang="en-US" sz="1200">
                <a:solidFill>
                  <a:schemeClr val="tx1">
                    <a:lumMod val="50000"/>
                    <a:lumOff val="50000"/>
                  </a:schemeClr>
                </a:solidFill>
              </a:rPr>
              <a:t>投稿者自身による著作物</a:t>
            </a:r>
            <a:r>
              <a:rPr kumimoji="1" lang="en-US" altLang="ja-JP" sz="1200" dirty="0">
                <a:solidFill>
                  <a:schemeClr val="tx1">
                    <a:lumMod val="50000"/>
                    <a:lumOff val="50000"/>
                  </a:schemeClr>
                </a:solidFill>
              </a:rPr>
              <a:t>, </a:t>
            </a:r>
            <a:r>
              <a:rPr kumimoji="1" lang="en-GB" altLang="ja-GB" sz="1200" dirty="0">
                <a:solidFill>
                  <a:schemeClr val="tx1">
                    <a:lumMod val="50000"/>
                    <a:lumOff val="50000"/>
                  </a:schemeClr>
                </a:solidFill>
              </a:rPr>
              <a:t>CC </a:t>
            </a:r>
            <a:r>
              <a:rPr kumimoji="1" lang="ja-JP" altLang="en-US" sz="1200">
                <a:solidFill>
                  <a:schemeClr val="tx1">
                    <a:lumMod val="50000"/>
                    <a:lumOff val="50000"/>
                  </a:schemeClr>
                </a:solidFill>
              </a:rPr>
              <a:t>表示 </a:t>
            </a:r>
            <a:r>
              <a:rPr kumimoji="1" lang="en-US" altLang="ja-JP" sz="1200" dirty="0">
                <a:solidFill>
                  <a:schemeClr val="tx1">
                    <a:lumMod val="50000"/>
                    <a:lumOff val="50000"/>
                  </a:schemeClr>
                </a:solidFill>
              </a:rPr>
              <a:t>3.0, </a:t>
            </a:r>
          </a:p>
          <a:p>
            <a:pPr algn="ctr"/>
            <a:r>
              <a:rPr kumimoji="1" lang="en-GB" altLang="ja-GB" sz="1200" dirty="0">
                <a:solidFill>
                  <a:schemeClr val="tx1">
                    <a:lumMod val="50000"/>
                    <a:lumOff val="50000"/>
                  </a:schemeClr>
                </a:solidFill>
                <a:hlinkClick r:id="rId6">
                  <a:extLst>
                    <a:ext uri="{A12FA001-AC4F-418D-AE19-62706E023703}">
                      <ahyp:hlinkClr xmlns:ahyp="http://schemas.microsoft.com/office/drawing/2018/hyperlinkcolor" val="tx"/>
                    </a:ext>
                  </a:extLst>
                </a:hlinkClick>
              </a:rPr>
              <a:t>https://commons.wikimedia.org/w/index.php?curid=6457163</a:t>
            </a:r>
            <a:endParaRPr kumimoji="1" lang="ja-GB" altLang="en-US" sz="1200" dirty="0">
              <a:solidFill>
                <a:schemeClr val="tx1">
                  <a:lumMod val="50000"/>
                  <a:lumOff val="50000"/>
                </a:schemeClr>
              </a:solidFill>
            </a:endParaRPr>
          </a:p>
        </p:txBody>
      </p:sp>
    </p:spTree>
    <p:extLst>
      <p:ext uri="{BB962C8B-B14F-4D97-AF65-F5344CB8AC3E}">
        <p14:creationId xmlns:p14="http://schemas.microsoft.com/office/powerpoint/2010/main" val="35670918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90D77F-0457-4404-8189-24E6C7135AA8}"/>
              </a:ext>
            </a:extLst>
          </p:cNvPr>
          <p:cNvSpPr>
            <a:spLocks noGrp="1"/>
          </p:cNvSpPr>
          <p:nvPr>
            <p:ph type="title"/>
          </p:nvPr>
        </p:nvSpPr>
        <p:spPr/>
        <p:txBody>
          <a:bodyPr/>
          <a:lstStyle/>
          <a:p>
            <a:r>
              <a:rPr kumimoji="1" lang="ja-GB" altLang="en-US" dirty="0"/>
              <a:t>教師あり学習の仕組み</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9DB53EE-A7A6-6C5B-CB2D-D49C612CDC36}"/>
                  </a:ext>
                </a:extLst>
              </p:cNvPr>
              <p:cNvSpPr>
                <a:spLocks noGrp="1"/>
              </p:cNvSpPr>
              <p:nvPr>
                <p:ph idx="1"/>
              </p:nvPr>
            </p:nvSpPr>
            <p:spPr/>
            <p:txBody>
              <a:bodyPr/>
              <a:lstStyle/>
              <a:p>
                <a:pPr marL="0" indent="0">
                  <a:buNone/>
                </a:pPr>
                <a:r>
                  <a:rPr kumimoji="1" lang="en-US" altLang="ja-GB" dirty="0"/>
                  <a:t>AI</a:t>
                </a:r>
                <a:r>
                  <a:rPr kumimoji="1" lang="ja-GB" altLang="en-US" dirty="0"/>
                  <a:t>の予測と正解データの差が小さくなるように学習する</a:t>
                </a:r>
                <a:endParaRPr kumimoji="1" lang="en-US" altLang="ja-GB" dirty="0"/>
              </a:p>
              <a:p>
                <a:pPr marL="457200" lvl="1" indent="0">
                  <a:buNone/>
                </a:pPr>
                <a:r>
                  <a:rPr kumimoji="1" lang="ja-GB" altLang="en-US" dirty="0">
                    <a:solidFill>
                      <a:srgbClr val="0070C0"/>
                    </a:solidFill>
                  </a:rPr>
                  <a:t>モデル：模型，</a:t>
                </a:r>
                <a:r>
                  <a:rPr kumimoji="1" lang="en-US" altLang="ja-GB" dirty="0">
                    <a:solidFill>
                      <a:srgbClr val="0070C0"/>
                    </a:solidFill>
                  </a:rPr>
                  <a:t>AI</a:t>
                </a:r>
                <a:r>
                  <a:rPr kumimoji="1" lang="ja-GB" altLang="en-US" dirty="0">
                    <a:solidFill>
                      <a:srgbClr val="0070C0"/>
                    </a:solidFill>
                  </a:rPr>
                  <a:t>の動作を模した数式のこと</a:t>
                </a:r>
                <a:endParaRPr kumimoji="1" lang="en-US" altLang="ja-GB" dirty="0">
                  <a:solidFill>
                    <a:srgbClr val="0070C0"/>
                  </a:solidFill>
                </a:endParaRPr>
              </a:p>
              <a:p>
                <a:pPr lvl="2"/>
                <a:r>
                  <a:rPr lang="ja-GB" altLang="en-US" dirty="0"/>
                  <a:t>調整次第で様々な関数の動作を再現できる数式</a:t>
                </a:r>
                <a:endParaRPr lang="en-US" altLang="ja-GB" dirty="0"/>
              </a:p>
              <a:p>
                <a:pPr lvl="2"/>
                <a:r>
                  <a:rPr kumimoji="1" lang="ja-GB" altLang="en-US" dirty="0"/>
                  <a:t>具体的には，内部に調整可能な変数を大量にもつ関数が用いられる</a:t>
                </a:r>
                <a:endParaRPr kumimoji="1" lang="en-US" altLang="ja-GB" dirty="0"/>
              </a:p>
              <a:p>
                <a:pPr lvl="4"/>
                <a:endParaRPr kumimoji="1" lang="en-US" altLang="ja-GB" dirty="0"/>
              </a:p>
              <a:p>
                <a:pPr marL="1371600" lvl="3" indent="0">
                  <a:buNone/>
                </a:pPr>
                <a14:m>
                  <m:oMathPara xmlns:m="http://schemas.openxmlformats.org/officeDocument/2006/math">
                    <m:oMathParaPr>
                      <m:jc m:val="centerGroup"/>
                    </m:oMathParaPr>
                    <m:oMath xmlns:m="http://schemas.openxmlformats.org/officeDocument/2006/math">
                      <m:d>
                        <m:dPr>
                          <m:ctrlPr>
                            <a:rPr kumimoji="1" lang="en-US" altLang="ja-GB" b="1" i="1" smtClean="0">
                              <a:latin typeface="Cambria Math" panose="02040503050406030204" pitchFamily="18" charset="0"/>
                            </a:rPr>
                          </m:ctrlPr>
                        </m:dPr>
                        <m:e>
                          <m:m>
                            <m:mPr>
                              <m:mcs>
                                <m:mc>
                                  <m:mcPr>
                                    <m:count m:val="1"/>
                                    <m:mcJc m:val="center"/>
                                  </m:mcPr>
                                </m:mc>
                              </m:mcs>
                              <m:ctrlPr>
                                <a:rPr kumimoji="1" lang="en-US" altLang="ja-GB" b="1" i="1" smtClean="0">
                                  <a:latin typeface="Cambria Math" panose="02040503050406030204" pitchFamily="18" charset="0"/>
                                </a:rPr>
                              </m:ctrlPr>
                            </m:mPr>
                            <m:mr>
                              <m:e>
                                <m:sSub>
                                  <m:sSubPr>
                                    <m:ctrlPr>
                                      <a:rPr kumimoji="1" lang="en-US" altLang="ja-GB" b="1" i="1" smtClean="0">
                                        <a:latin typeface="Cambria Math" panose="02040503050406030204" pitchFamily="18" charset="0"/>
                                      </a:rPr>
                                    </m:ctrlPr>
                                  </m:sSubPr>
                                  <m:e>
                                    <m:r>
                                      <m:rPr>
                                        <m:brk m:alnAt="7"/>
                                      </m:rPr>
                                      <a:rPr kumimoji="1" lang="en-US" altLang="ja-GB" b="1" i="1" smtClean="0">
                                        <a:latin typeface="Cambria Math" panose="02040503050406030204" pitchFamily="18" charset="0"/>
                                      </a:rPr>
                                      <m:t>𝒚</m:t>
                                    </m:r>
                                  </m:e>
                                  <m:sub>
                                    <m:r>
                                      <m:rPr>
                                        <m:brk m:alnAt="7"/>
                                      </m:rPr>
                                      <a:rPr kumimoji="1" lang="en-US" altLang="ja-GB" b="1" i="1" smtClean="0">
                                        <a:latin typeface="Cambria Math" panose="02040503050406030204" pitchFamily="18" charset="0"/>
                                      </a:rPr>
                                      <m:t>𝟏</m:t>
                                    </m:r>
                                  </m:sub>
                                </m:sSub>
                              </m:e>
                            </m:mr>
                            <m:mr>
                              <m:e>
                                <m:r>
                                  <a:rPr kumimoji="1" lang="en-US" altLang="ja-GB" b="1" i="1" smtClean="0">
                                    <a:latin typeface="Cambria Math" panose="02040503050406030204" pitchFamily="18" charset="0"/>
                                  </a:rPr>
                                  <m:t>⋮</m:t>
                                </m:r>
                              </m:e>
                            </m:mr>
                            <m:mr>
                              <m:e>
                                <m:sSub>
                                  <m:sSubPr>
                                    <m:ctrlPr>
                                      <a:rPr kumimoji="1" lang="en-US" altLang="ja-GB" b="1" i="1" smtClean="0">
                                        <a:latin typeface="Cambria Math" panose="02040503050406030204" pitchFamily="18" charset="0"/>
                                      </a:rPr>
                                    </m:ctrlPr>
                                  </m:sSubPr>
                                  <m:e>
                                    <m:r>
                                      <a:rPr kumimoji="1" lang="en-US" altLang="ja-GB" b="1" i="1" smtClean="0">
                                        <a:latin typeface="Cambria Math" panose="02040503050406030204" pitchFamily="18" charset="0"/>
                                      </a:rPr>
                                      <m:t>𝒚</m:t>
                                    </m:r>
                                  </m:e>
                                  <m:sub>
                                    <m:r>
                                      <a:rPr kumimoji="1" lang="en-US" altLang="ja-GB" b="1" i="1" smtClean="0">
                                        <a:latin typeface="Cambria Math" panose="02040503050406030204" pitchFamily="18" charset="0"/>
                                      </a:rPr>
                                      <m:t>𝒏</m:t>
                                    </m:r>
                                  </m:sub>
                                </m:sSub>
                              </m:e>
                            </m:mr>
                          </m:m>
                        </m:e>
                      </m:d>
                      <m:r>
                        <a:rPr kumimoji="1" lang="en-US" altLang="ja-GB" b="1" i="1" smtClean="0">
                          <a:latin typeface="Cambria Math" panose="02040503050406030204" pitchFamily="18" charset="0"/>
                        </a:rPr>
                        <m:t>=</m:t>
                      </m:r>
                      <m:d>
                        <m:dPr>
                          <m:ctrlPr>
                            <a:rPr kumimoji="1" lang="en-US" altLang="ja-GB" b="1" i="1" smtClean="0">
                              <a:latin typeface="Cambria Math" panose="02040503050406030204" pitchFamily="18" charset="0"/>
                            </a:rPr>
                          </m:ctrlPr>
                        </m:dPr>
                        <m:e>
                          <m:m>
                            <m:mPr>
                              <m:mcs>
                                <m:mc>
                                  <m:mcPr>
                                    <m:count m:val="3"/>
                                    <m:mcJc m:val="center"/>
                                  </m:mcPr>
                                </m:mc>
                              </m:mcs>
                              <m:ctrlPr>
                                <a:rPr kumimoji="1" lang="en-US" altLang="ja-GB" b="1" i="1" smtClean="0">
                                  <a:solidFill>
                                    <a:schemeClr val="accent2"/>
                                  </a:solidFill>
                                  <a:latin typeface="Cambria Math" panose="02040503050406030204" pitchFamily="18" charset="0"/>
                                </a:rPr>
                              </m:ctrlPr>
                            </m:mPr>
                            <m:mr>
                              <m:e>
                                <m:sSub>
                                  <m:sSubPr>
                                    <m:ctrlPr>
                                      <a:rPr kumimoji="1" lang="en-US" altLang="ja-GB" b="1" i="1" smtClean="0">
                                        <a:solidFill>
                                          <a:schemeClr val="accent2"/>
                                        </a:solidFill>
                                        <a:latin typeface="Cambria Math" panose="02040503050406030204" pitchFamily="18" charset="0"/>
                                      </a:rPr>
                                    </m:ctrlPr>
                                  </m:sSubPr>
                                  <m:e>
                                    <m:r>
                                      <m:rPr>
                                        <m:brk m:alnAt="7"/>
                                      </m:rPr>
                                      <a:rPr kumimoji="1" lang="en-US" altLang="ja-GB" b="1" i="1" smtClean="0">
                                        <a:solidFill>
                                          <a:schemeClr val="accent2"/>
                                        </a:solidFill>
                                        <a:latin typeface="Cambria Math" panose="02040503050406030204" pitchFamily="18" charset="0"/>
                                      </a:rPr>
                                      <m:t>𝒘</m:t>
                                    </m:r>
                                  </m:e>
                                  <m:sub>
                                    <m:r>
                                      <m:rPr>
                                        <m:brk m:alnAt="7"/>
                                      </m:rPr>
                                      <a:rPr kumimoji="1" lang="en-US" altLang="ja-GB" b="1" i="1" smtClean="0">
                                        <a:solidFill>
                                          <a:schemeClr val="accent2"/>
                                        </a:solidFill>
                                        <a:latin typeface="Cambria Math" panose="02040503050406030204" pitchFamily="18" charset="0"/>
                                      </a:rPr>
                                      <m:t>𝟏</m:t>
                                    </m:r>
                                    <m:r>
                                      <a:rPr kumimoji="1" lang="en-US" altLang="ja-GB" b="1" i="1" smtClean="0">
                                        <a:solidFill>
                                          <a:schemeClr val="accent2"/>
                                        </a:solidFill>
                                        <a:latin typeface="Cambria Math" panose="02040503050406030204" pitchFamily="18" charset="0"/>
                                      </a:rPr>
                                      <m:t>𝟏</m:t>
                                    </m:r>
                                  </m:sub>
                                </m:sSub>
                              </m:e>
                              <m:e>
                                <m:r>
                                  <a:rPr kumimoji="1" lang="en-US" altLang="ja-GB" b="1" i="1" smtClean="0">
                                    <a:solidFill>
                                      <a:schemeClr val="accent2"/>
                                    </a:solidFill>
                                    <a:latin typeface="Cambria Math" panose="02040503050406030204" pitchFamily="18" charset="0"/>
                                  </a:rPr>
                                  <m:t>⋯</m:t>
                                </m:r>
                              </m:e>
                              <m:e>
                                <m:sSub>
                                  <m:sSubPr>
                                    <m:ctrlPr>
                                      <a:rPr kumimoji="1" lang="en-US" altLang="ja-GB" b="1" i="1" smtClean="0">
                                        <a:solidFill>
                                          <a:schemeClr val="accent2"/>
                                        </a:solidFill>
                                        <a:latin typeface="Cambria Math" panose="02040503050406030204" pitchFamily="18" charset="0"/>
                                      </a:rPr>
                                    </m:ctrlPr>
                                  </m:sSubPr>
                                  <m:e>
                                    <m:r>
                                      <a:rPr kumimoji="1" lang="en-US" altLang="ja-GB" b="1" i="1" smtClean="0">
                                        <a:solidFill>
                                          <a:schemeClr val="accent2"/>
                                        </a:solidFill>
                                        <a:latin typeface="Cambria Math" panose="02040503050406030204" pitchFamily="18" charset="0"/>
                                      </a:rPr>
                                      <m:t>𝒘</m:t>
                                    </m:r>
                                  </m:e>
                                  <m:sub>
                                    <m:r>
                                      <a:rPr kumimoji="1" lang="en-US" altLang="ja-GB" b="1" i="1" smtClean="0">
                                        <a:solidFill>
                                          <a:schemeClr val="accent2"/>
                                        </a:solidFill>
                                        <a:latin typeface="Cambria Math" panose="02040503050406030204" pitchFamily="18" charset="0"/>
                                      </a:rPr>
                                      <m:t>𝟏</m:t>
                                    </m:r>
                                    <m:r>
                                      <a:rPr kumimoji="1" lang="en-US" altLang="ja-GB" b="1" i="1" smtClean="0">
                                        <a:solidFill>
                                          <a:schemeClr val="accent2"/>
                                        </a:solidFill>
                                        <a:latin typeface="Cambria Math" panose="02040503050406030204" pitchFamily="18" charset="0"/>
                                      </a:rPr>
                                      <m:t>𝒏</m:t>
                                    </m:r>
                                  </m:sub>
                                </m:sSub>
                              </m:e>
                            </m:mr>
                            <m:mr>
                              <m:e>
                                <m:r>
                                  <a:rPr kumimoji="1" lang="en-US" altLang="ja-GB" b="1" i="1" smtClean="0">
                                    <a:solidFill>
                                      <a:schemeClr val="accent2"/>
                                    </a:solidFill>
                                    <a:latin typeface="Cambria Math" panose="02040503050406030204" pitchFamily="18" charset="0"/>
                                  </a:rPr>
                                  <m:t>⋮</m:t>
                                </m:r>
                              </m:e>
                              <m:e>
                                <m:r>
                                  <a:rPr kumimoji="1" lang="en-US" altLang="ja-GB" b="1" i="1" smtClean="0">
                                    <a:solidFill>
                                      <a:schemeClr val="accent2"/>
                                    </a:solidFill>
                                    <a:latin typeface="Cambria Math" panose="02040503050406030204" pitchFamily="18" charset="0"/>
                                  </a:rPr>
                                  <m:t>⋱</m:t>
                                </m:r>
                              </m:e>
                              <m:e>
                                <m:r>
                                  <a:rPr kumimoji="1" lang="en-US" altLang="ja-GB" b="1" i="1" smtClean="0">
                                    <a:solidFill>
                                      <a:schemeClr val="accent2"/>
                                    </a:solidFill>
                                    <a:latin typeface="Cambria Math" panose="02040503050406030204" pitchFamily="18" charset="0"/>
                                  </a:rPr>
                                  <m:t>⋮</m:t>
                                </m:r>
                              </m:e>
                            </m:mr>
                            <m:mr>
                              <m:e>
                                <m:sSub>
                                  <m:sSubPr>
                                    <m:ctrlPr>
                                      <a:rPr kumimoji="1" lang="en-US" altLang="ja-GB" b="1" i="1" smtClean="0">
                                        <a:solidFill>
                                          <a:schemeClr val="accent2"/>
                                        </a:solidFill>
                                        <a:latin typeface="Cambria Math" panose="02040503050406030204" pitchFamily="18" charset="0"/>
                                      </a:rPr>
                                    </m:ctrlPr>
                                  </m:sSubPr>
                                  <m:e>
                                    <m:r>
                                      <a:rPr kumimoji="1" lang="en-US" altLang="ja-GB" b="1" i="1" smtClean="0">
                                        <a:solidFill>
                                          <a:schemeClr val="accent2"/>
                                        </a:solidFill>
                                        <a:latin typeface="Cambria Math" panose="02040503050406030204" pitchFamily="18" charset="0"/>
                                      </a:rPr>
                                      <m:t>𝒘</m:t>
                                    </m:r>
                                  </m:e>
                                  <m:sub>
                                    <m:r>
                                      <a:rPr kumimoji="1" lang="en-US" altLang="ja-GB" b="1" i="1" smtClean="0">
                                        <a:solidFill>
                                          <a:schemeClr val="accent2"/>
                                        </a:solidFill>
                                        <a:latin typeface="Cambria Math" panose="02040503050406030204" pitchFamily="18" charset="0"/>
                                      </a:rPr>
                                      <m:t>𝒏</m:t>
                                    </m:r>
                                    <m:r>
                                      <a:rPr kumimoji="1" lang="en-US" altLang="ja-GB" b="1" i="1" smtClean="0">
                                        <a:solidFill>
                                          <a:schemeClr val="accent2"/>
                                        </a:solidFill>
                                        <a:latin typeface="Cambria Math" panose="02040503050406030204" pitchFamily="18" charset="0"/>
                                      </a:rPr>
                                      <m:t>𝟏</m:t>
                                    </m:r>
                                  </m:sub>
                                </m:sSub>
                              </m:e>
                              <m:e>
                                <m:r>
                                  <a:rPr kumimoji="1" lang="en-US" altLang="ja-GB" b="1" i="1" smtClean="0">
                                    <a:solidFill>
                                      <a:schemeClr val="accent2"/>
                                    </a:solidFill>
                                    <a:latin typeface="Cambria Math" panose="02040503050406030204" pitchFamily="18" charset="0"/>
                                  </a:rPr>
                                  <m:t>⋯</m:t>
                                </m:r>
                              </m:e>
                              <m:e>
                                <m:sSub>
                                  <m:sSubPr>
                                    <m:ctrlPr>
                                      <a:rPr kumimoji="1" lang="en-US" altLang="ja-GB" b="1" i="1" smtClean="0">
                                        <a:solidFill>
                                          <a:schemeClr val="accent2"/>
                                        </a:solidFill>
                                        <a:latin typeface="Cambria Math" panose="02040503050406030204" pitchFamily="18" charset="0"/>
                                      </a:rPr>
                                    </m:ctrlPr>
                                  </m:sSubPr>
                                  <m:e>
                                    <m:r>
                                      <a:rPr kumimoji="1" lang="en-US" altLang="ja-GB" b="1" i="1" smtClean="0">
                                        <a:solidFill>
                                          <a:schemeClr val="accent2"/>
                                        </a:solidFill>
                                        <a:latin typeface="Cambria Math" panose="02040503050406030204" pitchFamily="18" charset="0"/>
                                      </a:rPr>
                                      <m:t>𝒘</m:t>
                                    </m:r>
                                  </m:e>
                                  <m:sub>
                                    <m:r>
                                      <a:rPr kumimoji="1" lang="en-US" altLang="ja-GB" b="1" i="1" smtClean="0">
                                        <a:solidFill>
                                          <a:schemeClr val="accent2"/>
                                        </a:solidFill>
                                        <a:latin typeface="Cambria Math" panose="02040503050406030204" pitchFamily="18" charset="0"/>
                                      </a:rPr>
                                      <m:t>𝒏𝒏</m:t>
                                    </m:r>
                                  </m:sub>
                                </m:sSub>
                              </m:e>
                            </m:mr>
                          </m:m>
                        </m:e>
                      </m:d>
                      <m:d>
                        <m:dPr>
                          <m:ctrlPr>
                            <a:rPr kumimoji="1" lang="en-US" altLang="ja-GB" b="1" i="1" smtClean="0">
                              <a:latin typeface="Cambria Math" panose="02040503050406030204" pitchFamily="18" charset="0"/>
                            </a:rPr>
                          </m:ctrlPr>
                        </m:dPr>
                        <m:e>
                          <m:m>
                            <m:mPr>
                              <m:mcs>
                                <m:mc>
                                  <m:mcPr>
                                    <m:count m:val="1"/>
                                    <m:mcJc m:val="center"/>
                                  </m:mcPr>
                                </m:mc>
                              </m:mcs>
                              <m:ctrlPr>
                                <a:rPr kumimoji="1" lang="en-US" altLang="ja-GB" b="1" i="1" smtClean="0">
                                  <a:latin typeface="Cambria Math" panose="02040503050406030204" pitchFamily="18" charset="0"/>
                                </a:rPr>
                              </m:ctrlPr>
                            </m:mPr>
                            <m:mr>
                              <m:e>
                                <m:sSub>
                                  <m:sSubPr>
                                    <m:ctrlPr>
                                      <a:rPr kumimoji="1" lang="en-US" altLang="ja-GB" b="1" i="1" smtClean="0">
                                        <a:latin typeface="Cambria Math" panose="02040503050406030204" pitchFamily="18" charset="0"/>
                                      </a:rPr>
                                    </m:ctrlPr>
                                  </m:sSubPr>
                                  <m:e>
                                    <m:r>
                                      <m:rPr>
                                        <m:brk m:alnAt="7"/>
                                      </m:rPr>
                                      <a:rPr kumimoji="1" lang="en-US" altLang="ja-GB" b="1" i="1" smtClean="0">
                                        <a:latin typeface="Cambria Math" panose="02040503050406030204" pitchFamily="18" charset="0"/>
                                      </a:rPr>
                                      <m:t>𝒙</m:t>
                                    </m:r>
                                  </m:e>
                                  <m:sub>
                                    <m:r>
                                      <m:rPr>
                                        <m:brk m:alnAt="7"/>
                                      </m:rPr>
                                      <a:rPr kumimoji="1" lang="en-US" altLang="ja-GB" b="1" i="1" smtClean="0">
                                        <a:latin typeface="Cambria Math" panose="02040503050406030204" pitchFamily="18" charset="0"/>
                                      </a:rPr>
                                      <m:t>𝟏</m:t>
                                    </m:r>
                                  </m:sub>
                                </m:sSub>
                              </m:e>
                            </m:mr>
                            <m:mr>
                              <m:e>
                                <m:r>
                                  <a:rPr kumimoji="1" lang="en-US" altLang="ja-GB" b="1" i="1" smtClean="0">
                                    <a:latin typeface="Cambria Math" panose="02040503050406030204" pitchFamily="18" charset="0"/>
                                  </a:rPr>
                                  <m:t>⋮</m:t>
                                </m:r>
                              </m:e>
                            </m:mr>
                            <m:mr>
                              <m:e>
                                <m:sSub>
                                  <m:sSubPr>
                                    <m:ctrlPr>
                                      <a:rPr kumimoji="1" lang="en-US" altLang="ja-GB" b="1" i="1" smtClean="0">
                                        <a:latin typeface="Cambria Math" panose="02040503050406030204" pitchFamily="18" charset="0"/>
                                      </a:rPr>
                                    </m:ctrlPr>
                                  </m:sSubPr>
                                  <m:e>
                                    <m:r>
                                      <a:rPr kumimoji="1" lang="en-US" altLang="ja-GB" b="1" i="1" smtClean="0">
                                        <a:latin typeface="Cambria Math" panose="02040503050406030204" pitchFamily="18" charset="0"/>
                                      </a:rPr>
                                      <m:t>𝒙</m:t>
                                    </m:r>
                                  </m:e>
                                  <m:sub>
                                    <m:r>
                                      <a:rPr kumimoji="1" lang="en-US" altLang="ja-GB" b="1" i="1" smtClean="0">
                                        <a:latin typeface="Cambria Math" panose="02040503050406030204" pitchFamily="18" charset="0"/>
                                      </a:rPr>
                                      <m:t>𝒏</m:t>
                                    </m:r>
                                  </m:sub>
                                </m:sSub>
                              </m:e>
                            </m:mr>
                          </m:m>
                        </m:e>
                      </m:d>
                    </m:oMath>
                  </m:oMathPara>
                </a14:m>
                <a:endParaRPr kumimoji="1" lang="en-US" altLang="ja-GB" b="1" dirty="0"/>
              </a:p>
              <a:p>
                <a:pPr lvl="2"/>
                <a:endParaRPr kumimoji="1" lang="en-US" altLang="ja-GB" dirty="0"/>
              </a:p>
              <a:p>
                <a:pPr marL="457200" lvl="1" indent="0">
                  <a:buNone/>
                </a:pPr>
                <a:r>
                  <a:rPr kumimoji="1" lang="ja-GB" altLang="en-US" dirty="0">
                    <a:solidFill>
                      <a:srgbClr val="0070C0"/>
                    </a:solidFill>
                  </a:rPr>
                  <a:t>損失関数：モデルの内部変数を調整するために用いられる指標</a:t>
                </a:r>
                <a:endParaRPr kumimoji="1" lang="en-US" altLang="ja-GB" dirty="0">
                  <a:solidFill>
                    <a:srgbClr val="0070C0"/>
                  </a:solidFill>
                </a:endParaRPr>
              </a:p>
              <a:p>
                <a:pPr lvl="2"/>
                <a:r>
                  <a:rPr kumimoji="1" lang="ja-GB" altLang="en-US" dirty="0"/>
                  <a:t>現在のモデルの応答と正解データの距離を表す式</a:t>
                </a:r>
                <a:endParaRPr kumimoji="1" lang="en-US" altLang="ja-GB" dirty="0"/>
              </a:p>
              <a:p>
                <a:pPr marL="1371600" lvl="3" indent="0">
                  <a:buNone/>
                </a:pPr>
                <a:r>
                  <a:rPr lang="ja-GB" altLang="en-US" dirty="0"/>
                  <a:t>例</a:t>
                </a:r>
                <a:r>
                  <a:rPr lang="en-US" altLang="ja-GB" dirty="0"/>
                  <a:t>1</a:t>
                </a:r>
                <a:r>
                  <a:rPr lang="ja-GB" altLang="en-US" dirty="0"/>
                  <a:t>）最小二乗誤差　　</a:t>
                </a:r>
                <a:r>
                  <a:rPr lang="en-US" altLang="ja-GB" dirty="0"/>
                  <a:t>   </a:t>
                </a:r>
                <a:r>
                  <a:rPr lang="ja-GB" altLang="en-US" dirty="0"/>
                  <a:t>：出力値と正解値の距離（絶対値の二乗）の平均</a:t>
                </a:r>
                <a:endParaRPr lang="en-US" altLang="ja-GB" baseline="30000" dirty="0"/>
              </a:p>
              <a:p>
                <a:pPr marL="1371600" lvl="3" indent="0">
                  <a:buNone/>
                </a:pPr>
                <a:r>
                  <a:rPr kumimoji="1" lang="ja-GB" altLang="en-US" dirty="0"/>
                  <a:t>例</a:t>
                </a:r>
                <a:r>
                  <a:rPr kumimoji="1" lang="en-US" altLang="ja-GB" dirty="0"/>
                  <a:t>2</a:t>
                </a:r>
                <a:r>
                  <a:rPr kumimoji="1" lang="ja-GB" altLang="en-US" dirty="0"/>
                  <a:t>）クロスエントロピー誤差：画像分類などで，予測確率と正解のずれ量を表す値</a:t>
                </a:r>
                <a:endParaRPr kumimoji="1" lang="en-US" altLang="ja-GB" dirty="0"/>
              </a:p>
              <a:p>
                <a:pPr marL="1371600" lvl="3" indent="0">
                  <a:buNone/>
                </a:pPr>
                <a:endParaRPr kumimoji="1" lang="ja-GB" altLang="en-US" dirty="0"/>
              </a:p>
            </p:txBody>
          </p:sp>
        </mc:Choice>
        <mc:Fallback xmlns="">
          <p:sp>
            <p:nvSpPr>
              <p:cNvPr id="3" name="コンテンツ プレースホルダー 2">
                <a:extLst>
                  <a:ext uri="{FF2B5EF4-FFF2-40B4-BE49-F238E27FC236}">
                    <a16:creationId xmlns:a16="http://schemas.microsoft.com/office/drawing/2014/main" id="{49DB53EE-A7A6-6C5B-CB2D-D49C612CDC36}"/>
                  </a:ext>
                </a:extLst>
              </p:cNvPr>
              <p:cNvSpPr>
                <a:spLocks noGrp="1" noRot="1" noChangeAspect="1" noMove="1" noResize="1" noEditPoints="1" noAdjustHandles="1" noChangeArrowheads="1" noChangeShapeType="1" noTextEdit="1"/>
              </p:cNvSpPr>
              <p:nvPr>
                <p:ph idx="1"/>
              </p:nvPr>
            </p:nvSpPr>
            <p:spPr>
              <a:blipFill>
                <a:blip r:embed="rId2"/>
                <a:stretch>
                  <a:fillRect l="-1042" t="-1480"/>
                </a:stretch>
              </a:blipFill>
            </p:spPr>
            <p:txBody>
              <a:bodyPr/>
              <a:lstStyle/>
              <a:p>
                <a:r>
                  <a:rPr lang="ja-GB" altLang="en-US">
                    <a:noFill/>
                  </a:rPr>
                  <a:t> </a:t>
                </a:r>
              </a:p>
            </p:txBody>
          </p:sp>
        </mc:Fallback>
      </mc:AlternateContent>
    </p:spTree>
    <p:extLst>
      <p:ext uri="{BB962C8B-B14F-4D97-AF65-F5344CB8AC3E}">
        <p14:creationId xmlns:p14="http://schemas.microsoft.com/office/powerpoint/2010/main" val="37893196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1AB6BB-ADFE-BEE8-DA67-CE97D614205D}"/>
              </a:ext>
            </a:extLst>
          </p:cNvPr>
          <p:cNvSpPr>
            <a:spLocks noGrp="1"/>
          </p:cNvSpPr>
          <p:nvPr>
            <p:ph type="title"/>
          </p:nvPr>
        </p:nvSpPr>
        <p:spPr/>
        <p:txBody>
          <a:bodyPr/>
          <a:lstStyle/>
          <a:p>
            <a:r>
              <a:rPr kumimoji="1" lang="ja-GB" altLang="en-US" dirty="0"/>
              <a:t>具体例：画像識別課題</a:t>
            </a:r>
          </a:p>
        </p:txBody>
      </p:sp>
      <p:sp>
        <p:nvSpPr>
          <p:cNvPr id="3" name="コンテンツ プレースホルダー 2">
            <a:extLst>
              <a:ext uri="{FF2B5EF4-FFF2-40B4-BE49-F238E27FC236}">
                <a16:creationId xmlns:a16="http://schemas.microsoft.com/office/drawing/2014/main" id="{C6FF2580-D93B-A772-B26E-F1DD4614EE89}"/>
              </a:ext>
            </a:extLst>
          </p:cNvPr>
          <p:cNvSpPr>
            <a:spLocks noGrp="1"/>
          </p:cNvSpPr>
          <p:nvPr>
            <p:ph idx="1"/>
          </p:nvPr>
        </p:nvSpPr>
        <p:spPr/>
        <p:txBody>
          <a:bodyPr/>
          <a:lstStyle/>
          <a:p>
            <a:pPr marL="0" indent="0">
              <a:buNone/>
            </a:pPr>
            <a:r>
              <a:rPr kumimoji="1" lang="ja-GB" altLang="en-US" dirty="0"/>
              <a:t>ラベル付きの大量の画像を用意して学習</a:t>
            </a:r>
            <a:endParaRPr kumimoji="1" lang="en-US" altLang="ja-GB" dirty="0"/>
          </a:p>
          <a:p>
            <a:pPr marL="914400" lvl="1" indent="-457200">
              <a:buFont typeface="+mj-lt"/>
              <a:buAutoNum type="arabicPeriod"/>
            </a:pPr>
            <a:r>
              <a:rPr lang="ja-GB" altLang="en-US" dirty="0"/>
              <a:t>正解のわかる画像を大量に用意</a:t>
            </a:r>
            <a:endParaRPr lang="en-US" altLang="ja-GB" dirty="0"/>
          </a:p>
          <a:p>
            <a:pPr marL="914400" lvl="1" indent="-457200">
              <a:buFont typeface="+mj-lt"/>
              <a:buAutoNum type="arabicPeriod"/>
            </a:pPr>
            <a:r>
              <a:rPr kumimoji="1" lang="ja-GB" altLang="en-US" dirty="0"/>
              <a:t>画像を入力して</a:t>
            </a:r>
            <a:r>
              <a:rPr kumimoji="1" lang="en-US" altLang="ja-GB" dirty="0"/>
              <a:t>AI</a:t>
            </a:r>
            <a:r>
              <a:rPr kumimoji="1" lang="ja-GB" altLang="en-US" dirty="0"/>
              <a:t>の予測を確認</a:t>
            </a:r>
            <a:endParaRPr kumimoji="1" lang="en-US" altLang="ja-GB" dirty="0"/>
          </a:p>
          <a:p>
            <a:pPr marL="914400" lvl="1" indent="-457200">
              <a:buFont typeface="+mj-lt"/>
              <a:buAutoNum type="arabicPeriod"/>
            </a:pPr>
            <a:r>
              <a:rPr lang="ja-GB" altLang="en-US" dirty="0"/>
              <a:t>予測が正解に近づくように（</a:t>
            </a:r>
            <a:r>
              <a:rPr lang="en-US" altLang="ja-GB" dirty="0"/>
              <a:t>=</a:t>
            </a:r>
            <a:r>
              <a:rPr lang="ja-GB" altLang="en-US" dirty="0"/>
              <a:t>誤差が小さくなるように）</a:t>
            </a:r>
            <a:r>
              <a:rPr lang="en-US" altLang="ja-GB" dirty="0"/>
              <a:t>AI</a:t>
            </a:r>
            <a:r>
              <a:rPr lang="ja-GB" altLang="en-US" dirty="0"/>
              <a:t>モデルの内部変数を調整</a:t>
            </a:r>
            <a:endParaRPr lang="en-US" altLang="ja-GB" dirty="0"/>
          </a:p>
          <a:p>
            <a:pPr marL="2286000" lvl="4" indent="-457200">
              <a:buFont typeface="+mj-lt"/>
              <a:buAutoNum type="arabicPeriod"/>
            </a:pPr>
            <a:endParaRPr lang="en-US" altLang="ja-GB" dirty="0"/>
          </a:p>
          <a:p>
            <a:pPr marL="457200" lvl="1" indent="0">
              <a:buNone/>
            </a:pPr>
            <a:r>
              <a:rPr lang="en-US" altLang="ja-GB" dirty="0"/>
              <a:t>→</a:t>
            </a:r>
            <a:r>
              <a:rPr lang="ja-GB" altLang="en-US" dirty="0">
                <a:solidFill>
                  <a:schemeClr val="accent2"/>
                </a:solidFill>
              </a:rPr>
              <a:t>学習データに含まれているパターンを持つ未知の画像も識別可能になる</a:t>
            </a:r>
            <a:br>
              <a:rPr lang="en-US" altLang="ja-GB" dirty="0"/>
            </a:br>
            <a:r>
              <a:rPr lang="ja-JP" altLang="en-US"/>
              <a:t>　（例：</a:t>
            </a:r>
            <a:r>
              <a:rPr lang="ja-GB" altLang="en-US" dirty="0"/>
              <a:t>学習画像の熊に似た色・形の動物は，熊の確率が高いと判定</a:t>
            </a:r>
            <a:r>
              <a:rPr lang="ja-JP" altLang="en-US"/>
              <a:t>）</a:t>
            </a:r>
            <a:endParaRPr lang="en-US" altLang="ja-GB" dirty="0"/>
          </a:p>
          <a:p>
            <a:pPr marL="914400" lvl="1" indent="-457200">
              <a:buFont typeface="+mj-lt"/>
              <a:buAutoNum type="arabicPeriod"/>
            </a:pPr>
            <a:endParaRPr kumimoji="1" lang="en-US" altLang="ja-GB" dirty="0"/>
          </a:p>
          <a:p>
            <a:pPr lvl="1"/>
            <a:endParaRPr kumimoji="1" lang="ja-GB" altLang="en-US" dirty="0"/>
          </a:p>
        </p:txBody>
      </p:sp>
      <p:graphicFrame>
        <p:nvGraphicFramePr>
          <p:cNvPr id="7" name="表 6">
            <a:extLst>
              <a:ext uri="{FF2B5EF4-FFF2-40B4-BE49-F238E27FC236}">
                <a16:creationId xmlns:a16="http://schemas.microsoft.com/office/drawing/2014/main" id="{5DE3B805-5746-4CE1-7CC1-3C5D29C09F2A}"/>
              </a:ext>
            </a:extLst>
          </p:cNvPr>
          <p:cNvGraphicFramePr>
            <a:graphicFrameLocks noGrp="1"/>
          </p:cNvGraphicFramePr>
          <p:nvPr/>
        </p:nvGraphicFramePr>
        <p:xfrm>
          <a:off x="4937760" y="4589674"/>
          <a:ext cx="1572768" cy="741680"/>
        </p:xfrm>
        <a:graphic>
          <a:graphicData uri="http://schemas.openxmlformats.org/drawingml/2006/table">
            <a:tbl>
              <a:tblPr bandRow="1">
                <a:tableStyleId>{5C22544A-7EE6-4342-B048-85BDC9FD1C3A}</a:tableStyleId>
              </a:tblPr>
              <a:tblGrid>
                <a:gridCol w="890016">
                  <a:extLst>
                    <a:ext uri="{9D8B030D-6E8A-4147-A177-3AD203B41FA5}">
                      <a16:colId xmlns:a16="http://schemas.microsoft.com/office/drawing/2014/main" val="800005508"/>
                    </a:ext>
                  </a:extLst>
                </a:gridCol>
                <a:gridCol w="682752">
                  <a:extLst>
                    <a:ext uri="{9D8B030D-6E8A-4147-A177-3AD203B41FA5}">
                      <a16:colId xmlns:a16="http://schemas.microsoft.com/office/drawing/2014/main" val="745398485"/>
                    </a:ext>
                  </a:extLst>
                </a:gridCol>
              </a:tblGrid>
              <a:tr h="370840">
                <a:tc>
                  <a:txBody>
                    <a:bodyPr/>
                    <a:lstStyle/>
                    <a:p>
                      <a:r>
                        <a:rPr lang="ja-GB" altLang="en-US" sz="1600" dirty="0"/>
                        <a:t>熊</a:t>
                      </a:r>
                    </a:p>
                  </a:txBody>
                  <a:tcPr/>
                </a:tc>
                <a:tc>
                  <a:txBody>
                    <a:bodyPr/>
                    <a:lstStyle/>
                    <a:p>
                      <a:r>
                        <a:rPr lang="en-US" altLang="ja-GB" sz="1600" dirty="0"/>
                        <a:t>80%</a:t>
                      </a:r>
                      <a:endParaRPr lang="ja-GB" altLang="en-US" sz="1600" dirty="0"/>
                    </a:p>
                  </a:txBody>
                  <a:tcPr/>
                </a:tc>
                <a:extLst>
                  <a:ext uri="{0D108BD9-81ED-4DB2-BD59-A6C34878D82A}">
                    <a16:rowId xmlns:a16="http://schemas.microsoft.com/office/drawing/2014/main" val="505235239"/>
                  </a:ext>
                </a:extLst>
              </a:tr>
              <a:tr h="370840">
                <a:tc>
                  <a:txBody>
                    <a:bodyPr/>
                    <a:lstStyle/>
                    <a:p>
                      <a:r>
                        <a:rPr lang="ja-GB" altLang="en-US" sz="1600" dirty="0"/>
                        <a:t>ラクダ</a:t>
                      </a:r>
                    </a:p>
                  </a:txBody>
                  <a:tcPr/>
                </a:tc>
                <a:tc>
                  <a:txBody>
                    <a:bodyPr/>
                    <a:lstStyle/>
                    <a:p>
                      <a:r>
                        <a:rPr lang="en-US" altLang="ja-GB" sz="1600" dirty="0"/>
                        <a:t>20%</a:t>
                      </a:r>
                      <a:endParaRPr lang="ja-GB" altLang="en-US" sz="1600" dirty="0"/>
                    </a:p>
                  </a:txBody>
                  <a:tcPr/>
                </a:tc>
                <a:extLst>
                  <a:ext uri="{0D108BD9-81ED-4DB2-BD59-A6C34878D82A}">
                    <a16:rowId xmlns:a16="http://schemas.microsoft.com/office/drawing/2014/main" val="1643737569"/>
                  </a:ext>
                </a:extLst>
              </a:tr>
            </a:tbl>
          </a:graphicData>
        </a:graphic>
      </p:graphicFrame>
      <p:graphicFrame>
        <p:nvGraphicFramePr>
          <p:cNvPr id="9" name="表 8">
            <a:extLst>
              <a:ext uri="{FF2B5EF4-FFF2-40B4-BE49-F238E27FC236}">
                <a16:creationId xmlns:a16="http://schemas.microsoft.com/office/drawing/2014/main" id="{9955E9C7-4197-19FA-4BEA-C8A03258D1F4}"/>
              </a:ext>
            </a:extLst>
          </p:cNvPr>
          <p:cNvGraphicFramePr>
            <a:graphicFrameLocks noGrp="1"/>
          </p:cNvGraphicFramePr>
          <p:nvPr/>
        </p:nvGraphicFramePr>
        <p:xfrm>
          <a:off x="7281717" y="4589674"/>
          <a:ext cx="1491166" cy="741680"/>
        </p:xfrm>
        <a:graphic>
          <a:graphicData uri="http://schemas.openxmlformats.org/drawingml/2006/table">
            <a:tbl>
              <a:tblPr bandRow="1">
                <a:tableStyleId>{5C22544A-7EE6-4342-B048-85BDC9FD1C3A}</a:tableStyleId>
              </a:tblPr>
              <a:tblGrid>
                <a:gridCol w="801579">
                  <a:extLst>
                    <a:ext uri="{9D8B030D-6E8A-4147-A177-3AD203B41FA5}">
                      <a16:colId xmlns:a16="http://schemas.microsoft.com/office/drawing/2014/main" val="800005508"/>
                    </a:ext>
                  </a:extLst>
                </a:gridCol>
                <a:gridCol w="689587">
                  <a:extLst>
                    <a:ext uri="{9D8B030D-6E8A-4147-A177-3AD203B41FA5}">
                      <a16:colId xmlns:a16="http://schemas.microsoft.com/office/drawing/2014/main" val="745398485"/>
                    </a:ext>
                  </a:extLst>
                </a:gridCol>
              </a:tblGrid>
              <a:tr h="370840">
                <a:tc>
                  <a:txBody>
                    <a:bodyPr/>
                    <a:lstStyle/>
                    <a:p>
                      <a:r>
                        <a:rPr lang="ja-GB" altLang="en-US" sz="1600" dirty="0"/>
                        <a:t>熊</a:t>
                      </a:r>
                    </a:p>
                  </a:txBody>
                  <a:tcPr/>
                </a:tc>
                <a:tc>
                  <a:txBody>
                    <a:bodyPr/>
                    <a:lstStyle/>
                    <a:p>
                      <a:r>
                        <a:rPr lang="en-US" altLang="ja-GB" sz="1600" dirty="0"/>
                        <a:t>100%</a:t>
                      </a:r>
                      <a:endParaRPr lang="ja-GB" altLang="en-US" sz="1600" dirty="0"/>
                    </a:p>
                  </a:txBody>
                  <a:tcPr/>
                </a:tc>
                <a:extLst>
                  <a:ext uri="{0D108BD9-81ED-4DB2-BD59-A6C34878D82A}">
                    <a16:rowId xmlns:a16="http://schemas.microsoft.com/office/drawing/2014/main" val="505235239"/>
                  </a:ext>
                </a:extLst>
              </a:tr>
              <a:tr h="370840">
                <a:tc>
                  <a:txBody>
                    <a:bodyPr/>
                    <a:lstStyle/>
                    <a:p>
                      <a:r>
                        <a:rPr lang="ja-GB" altLang="en-US" sz="1600" dirty="0"/>
                        <a:t>ラクダ</a:t>
                      </a:r>
                    </a:p>
                  </a:txBody>
                  <a:tcPr/>
                </a:tc>
                <a:tc>
                  <a:txBody>
                    <a:bodyPr/>
                    <a:lstStyle/>
                    <a:p>
                      <a:r>
                        <a:rPr lang="en-US" altLang="ja-GB" sz="1600" dirty="0"/>
                        <a:t>0%</a:t>
                      </a:r>
                      <a:endParaRPr lang="ja-GB" altLang="en-US" sz="1600" dirty="0"/>
                    </a:p>
                  </a:txBody>
                  <a:tcPr/>
                </a:tc>
                <a:extLst>
                  <a:ext uri="{0D108BD9-81ED-4DB2-BD59-A6C34878D82A}">
                    <a16:rowId xmlns:a16="http://schemas.microsoft.com/office/drawing/2014/main" val="1643737569"/>
                  </a:ext>
                </a:extLst>
              </a:tr>
            </a:tbl>
          </a:graphicData>
        </a:graphic>
      </p:graphicFrame>
      <p:grpSp>
        <p:nvGrpSpPr>
          <p:cNvPr id="56" name="グループ化 55">
            <a:extLst>
              <a:ext uri="{FF2B5EF4-FFF2-40B4-BE49-F238E27FC236}">
                <a16:creationId xmlns:a16="http://schemas.microsoft.com/office/drawing/2014/main" id="{77DB7007-4030-63F2-95E3-69B0D06E6B2C}"/>
              </a:ext>
            </a:extLst>
          </p:cNvPr>
          <p:cNvGrpSpPr/>
          <p:nvPr/>
        </p:nvGrpSpPr>
        <p:grpSpPr>
          <a:xfrm>
            <a:off x="560243" y="3562405"/>
            <a:ext cx="7790222" cy="2519785"/>
            <a:chOff x="560243" y="2916229"/>
            <a:chExt cx="7790222" cy="2519785"/>
          </a:xfrm>
        </p:grpSpPr>
        <p:sp>
          <p:nvSpPr>
            <p:cNvPr id="28" name="正方形/長方形 27">
              <a:extLst>
                <a:ext uri="{FF2B5EF4-FFF2-40B4-BE49-F238E27FC236}">
                  <a16:creationId xmlns:a16="http://schemas.microsoft.com/office/drawing/2014/main" id="{ADC05ED2-FABF-A382-68EA-82BADA6750DA}"/>
                </a:ext>
              </a:extLst>
            </p:cNvPr>
            <p:cNvSpPr>
              <a:spLocks noChangeAspect="1"/>
            </p:cNvSpPr>
            <p:nvPr/>
          </p:nvSpPr>
          <p:spPr>
            <a:xfrm>
              <a:off x="666488" y="4520263"/>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正方形/長方形 26">
              <a:extLst>
                <a:ext uri="{FF2B5EF4-FFF2-40B4-BE49-F238E27FC236}">
                  <a16:creationId xmlns:a16="http://schemas.microsoft.com/office/drawing/2014/main" id="{C834E1AC-2DB9-18D2-99C3-2EB7455A3494}"/>
                </a:ext>
              </a:extLst>
            </p:cNvPr>
            <p:cNvSpPr>
              <a:spLocks noChangeAspect="1"/>
            </p:cNvSpPr>
            <p:nvPr/>
          </p:nvSpPr>
          <p:spPr>
            <a:xfrm>
              <a:off x="615786" y="4578059"/>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6" name="正方形/長方形 25">
              <a:extLst>
                <a:ext uri="{FF2B5EF4-FFF2-40B4-BE49-F238E27FC236}">
                  <a16:creationId xmlns:a16="http://schemas.microsoft.com/office/drawing/2014/main" id="{34C41584-AFD2-FCEE-3EF1-02A586142E5B}"/>
                </a:ext>
              </a:extLst>
            </p:cNvPr>
            <p:cNvSpPr>
              <a:spLocks noChangeAspect="1"/>
            </p:cNvSpPr>
            <p:nvPr/>
          </p:nvSpPr>
          <p:spPr>
            <a:xfrm>
              <a:off x="711562" y="3407711"/>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5" name="正方形/長方形 24">
              <a:extLst>
                <a:ext uri="{FF2B5EF4-FFF2-40B4-BE49-F238E27FC236}">
                  <a16:creationId xmlns:a16="http://schemas.microsoft.com/office/drawing/2014/main" id="{3E0CF936-C646-225B-AE32-D7C6D0252DDE}"/>
                </a:ext>
              </a:extLst>
            </p:cNvPr>
            <p:cNvSpPr>
              <a:spLocks noChangeAspect="1"/>
            </p:cNvSpPr>
            <p:nvPr/>
          </p:nvSpPr>
          <p:spPr>
            <a:xfrm>
              <a:off x="626633" y="3474867"/>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3" name="正方形/長方形 22">
              <a:extLst>
                <a:ext uri="{FF2B5EF4-FFF2-40B4-BE49-F238E27FC236}">
                  <a16:creationId xmlns:a16="http://schemas.microsoft.com/office/drawing/2014/main" id="{274AC356-5FF9-9456-51E5-396ACD10D46F}"/>
                </a:ext>
              </a:extLst>
            </p:cNvPr>
            <p:cNvSpPr>
              <a:spLocks noChangeAspect="1"/>
            </p:cNvSpPr>
            <p:nvPr/>
          </p:nvSpPr>
          <p:spPr>
            <a:xfrm>
              <a:off x="571090" y="3551017"/>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 name="正方形/長方形 3">
              <a:extLst>
                <a:ext uri="{FF2B5EF4-FFF2-40B4-BE49-F238E27FC236}">
                  <a16:creationId xmlns:a16="http://schemas.microsoft.com/office/drawing/2014/main" id="{85BF21ED-E616-20E8-3C96-030A8CDFE7D1}"/>
                </a:ext>
              </a:extLst>
            </p:cNvPr>
            <p:cNvSpPr/>
            <p:nvPr/>
          </p:nvSpPr>
          <p:spPr>
            <a:xfrm>
              <a:off x="3298674" y="3979058"/>
              <a:ext cx="1107996" cy="67056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t>AI</a:t>
              </a:r>
              <a:r>
                <a:rPr kumimoji="1" lang="ja-GB" altLang="en-US" dirty="0"/>
                <a:t>モデル</a:t>
              </a:r>
            </a:p>
          </p:txBody>
        </p:sp>
        <p:sp>
          <p:nvSpPr>
            <p:cNvPr id="6" name="テキスト ボックス 5">
              <a:extLst>
                <a:ext uri="{FF2B5EF4-FFF2-40B4-BE49-F238E27FC236}">
                  <a16:creationId xmlns:a16="http://schemas.microsoft.com/office/drawing/2014/main" id="{CF37730A-1A20-3D96-7273-2C54BEBD6E75}"/>
                </a:ext>
              </a:extLst>
            </p:cNvPr>
            <p:cNvSpPr txBox="1"/>
            <p:nvPr/>
          </p:nvSpPr>
          <p:spPr>
            <a:xfrm>
              <a:off x="5400978" y="4887114"/>
              <a:ext cx="646331" cy="369332"/>
            </a:xfrm>
            <a:prstGeom prst="rect">
              <a:avLst/>
            </a:prstGeom>
            <a:noFill/>
          </p:spPr>
          <p:txBody>
            <a:bodyPr wrap="none" rtlCol="0">
              <a:spAutoFit/>
            </a:bodyPr>
            <a:lstStyle/>
            <a:p>
              <a:pPr algn="ctr"/>
              <a:r>
                <a:rPr kumimoji="1" lang="ja-GB" altLang="en-US" dirty="0"/>
                <a:t>予測</a:t>
              </a:r>
            </a:p>
          </p:txBody>
        </p:sp>
        <p:sp>
          <p:nvSpPr>
            <p:cNvPr id="8" name="テキスト ボックス 7">
              <a:extLst>
                <a:ext uri="{FF2B5EF4-FFF2-40B4-BE49-F238E27FC236}">
                  <a16:creationId xmlns:a16="http://schemas.microsoft.com/office/drawing/2014/main" id="{F03742E7-BB20-1043-3E89-14F096542D5F}"/>
                </a:ext>
              </a:extLst>
            </p:cNvPr>
            <p:cNvSpPr txBox="1"/>
            <p:nvPr/>
          </p:nvSpPr>
          <p:spPr>
            <a:xfrm>
              <a:off x="7704134" y="4902245"/>
              <a:ext cx="646331" cy="369332"/>
            </a:xfrm>
            <a:prstGeom prst="rect">
              <a:avLst/>
            </a:prstGeom>
            <a:noFill/>
          </p:spPr>
          <p:txBody>
            <a:bodyPr wrap="none" rtlCol="0">
              <a:spAutoFit/>
            </a:bodyPr>
            <a:lstStyle/>
            <a:p>
              <a:pPr algn="ctr"/>
              <a:r>
                <a:rPr kumimoji="1" lang="ja-GB" altLang="en-US" dirty="0"/>
                <a:t>正解</a:t>
              </a:r>
            </a:p>
          </p:txBody>
        </p:sp>
        <p:cxnSp>
          <p:nvCxnSpPr>
            <p:cNvPr id="11" name="直線矢印コネクタ 10">
              <a:extLst>
                <a:ext uri="{FF2B5EF4-FFF2-40B4-BE49-F238E27FC236}">
                  <a16:creationId xmlns:a16="http://schemas.microsoft.com/office/drawing/2014/main" id="{27108583-41F0-C8EE-5BF5-3F5FC90F3B76}"/>
                </a:ext>
              </a:extLst>
            </p:cNvPr>
            <p:cNvCxnSpPr>
              <a:cxnSpLocks/>
              <a:stCxn id="7" idx="3"/>
              <a:endCxn id="9" idx="1"/>
            </p:cNvCxnSpPr>
            <p:nvPr/>
          </p:nvCxnSpPr>
          <p:spPr>
            <a:xfrm>
              <a:off x="6510528" y="4326530"/>
              <a:ext cx="771189" cy="0"/>
            </a:xfrm>
            <a:prstGeom prst="straightConnector1">
              <a:avLst/>
            </a:prstGeom>
            <a:ln w="28575">
              <a:solidFill>
                <a:srgbClr val="2F2523"/>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D7E8BF6-9771-6611-B79C-9F7FEBBA4B53}"/>
                </a:ext>
              </a:extLst>
            </p:cNvPr>
            <p:cNvCxnSpPr>
              <a:cxnSpLocks/>
              <a:stCxn id="4" idx="3"/>
              <a:endCxn id="7" idx="1"/>
            </p:cNvCxnSpPr>
            <p:nvPr/>
          </p:nvCxnSpPr>
          <p:spPr>
            <a:xfrm>
              <a:off x="4406670" y="4314338"/>
              <a:ext cx="531090" cy="12192"/>
            </a:xfrm>
            <a:prstGeom prst="straightConnector1">
              <a:avLst/>
            </a:prstGeom>
            <a:ln w="28575">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2A6FC5C4-5164-F2CF-1710-33A62BF43730}"/>
                </a:ext>
              </a:extLst>
            </p:cNvPr>
            <p:cNvSpPr txBox="1"/>
            <p:nvPr/>
          </p:nvSpPr>
          <p:spPr>
            <a:xfrm>
              <a:off x="6572956" y="4320241"/>
              <a:ext cx="646331" cy="369332"/>
            </a:xfrm>
            <a:prstGeom prst="rect">
              <a:avLst/>
            </a:prstGeom>
            <a:noFill/>
          </p:spPr>
          <p:txBody>
            <a:bodyPr wrap="none" rtlCol="0">
              <a:spAutoFit/>
            </a:bodyPr>
            <a:lstStyle/>
            <a:p>
              <a:r>
                <a:rPr kumimoji="1" lang="ja-GB" altLang="en-US" b="1" dirty="0"/>
                <a:t>誤差</a:t>
              </a:r>
            </a:p>
          </p:txBody>
        </p:sp>
        <p:pic>
          <p:nvPicPr>
            <p:cNvPr id="22" name="グラフィックス 21" descr="熊 単色塗りつぶし">
              <a:extLst>
                <a:ext uri="{FF2B5EF4-FFF2-40B4-BE49-F238E27FC236}">
                  <a16:creationId xmlns:a16="http://schemas.microsoft.com/office/drawing/2014/main" id="{7D39E809-4508-FA86-0E54-5383742579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723" y="3610326"/>
              <a:ext cx="670561" cy="670561"/>
            </a:xfrm>
            <a:prstGeom prst="rect">
              <a:avLst/>
            </a:prstGeom>
          </p:spPr>
        </p:pic>
        <p:sp>
          <p:nvSpPr>
            <p:cNvPr id="24" name="正方形/長方形 23">
              <a:extLst>
                <a:ext uri="{FF2B5EF4-FFF2-40B4-BE49-F238E27FC236}">
                  <a16:creationId xmlns:a16="http://schemas.microsoft.com/office/drawing/2014/main" id="{F72C7066-5C96-49F9-104C-B9E1B4794C93}"/>
                </a:ext>
              </a:extLst>
            </p:cNvPr>
            <p:cNvSpPr>
              <a:spLocks noChangeAspect="1"/>
            </p:cNvSpPr>
            <p:nvPr/>
          </p:nvSpPr>
          <p:spPr>
            <a:xfrm>
              <a:off x="560243" y="4646587"/>
              <a:ext cx="784961" cy="784961"/>
            </a:xfrm>
            <a:prstGeom prst="rect">
              <a:avLst/>
            </a:prstGeom>
            <a:solidFill>
              <a:schemeClr val="bg1"/>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pic>
          <p:nvPicPr>
            <p:cNvPr id="20" name="グラフィックス 19" descr="ラクダ 単色塗りつぶし">
              <a:extLst>
                <a:ext uri="{FF2B5EF4-FFF2-40B4-BE49-F238E27FC236}">
                  <a16:creationId xmlns:a16="http://schemas.microsoft.com/office/drawing/2014/main" id="{BCC909D7-B9F6-4B81-9EDA-0634359773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5084" y="4651053"/>
              <a:ext cx="784961" cy="784961"/>
            </a:xfrm>
            <a:prstGeom prst="rect">
              <a:avLst/>
            </a:prstGeom>
          </p:spPr>
        </p:pic>
        <p:pic>
          <p:nvPicPr>
            <p:cNvPr id="44" name="図 43">
              <a:extLst>
                <a:ext uri="{FF2B5EF4-FFF2-40B4-BE49-F238E27FC236}">
                  <a16:creationId xmlns:a16="http://schemas.microsoft.com/office/drawing/2014/main" id="{4D14099D-FF31-6708-896D-E308CA35B113}"/>
                </a:ext>
              </a:extLst>
            </p:cNvPr>
            <p:cNvPicPr>
              <a:picLocks noChangeAspect="1"/>
            </p:cNvPicPr>
            <p:nvPr/>
          </p:nvPicPr>
          <p:blipFill>
            <a:blip r:embed="rId6"/>
            <a:stretch>
              <a:fillRect/>
            </a:stretch>
          </p:blipFill>
          <p:spPr>
            <a:xfrm>
              <a:off x="1881135" y="3914288"/>
              <a:ext cx="812800" cy="800100"/>
            </a:xfrm>
            <a:prstGeom prst="rect">
              <a:avLst/>
            </a:prstGeom>
          </p:spPr>
        </p:pic>
        <p:cxnSp>
          <p:nvCxnSpPr>
            <p:cNvPr id="45" name="直線矢印コネクタ 44">
              <a:extLst>
                <a:ext uri="{FF2B5EF4-FFF2-40B4-BE49-F238E27FC236}">
                  <a16:creationId xmlns:a16="http://schemas.microsoft.com/office/drawing/2014/main" id="{80B20225-708D-3FBD-F1FA-219F7EC12994}"/>
                </a:ext>
              </a:extLst>
            </p:cNvPr>
            <p:cNvCxnSpPr>
              <a:cxnSpLocks/>
              <a:stCxn id="44" idx="3"/>
              <a:endCxn id="4" idx="1"/>
            </p:cNvCxnSpPr>
            <p:nvPr/>
          </p:nvCxnSpPr>
          <p:spPr>
            <a:xfrm>
              <a:off x="2693935" y="4314338"/>
              <a:ext cx="604739" cy="0"/>
            </a:xfrm>
            <a:prstGeom prst="straightConnector1">
              <a:avLst/>
            </a:prstGeom>
            <a:ln w="28575">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カギ線コネクタ 48">
              <a:extLst>
                <a:ext uri="{FF2B5EF4-FFF2-40B4-BE49-F238E27FC236}">
                  <a16:creationId xmlns:a16="http://schemas.microsoft.com/office/drawing/2014/main" id="{8CEA0FDA-3AE6-E069-694A-3C94E95DE57D}"/>
                </a:ext>
              </a:extLst>
            </p:cNvPr>
            <p:cNvCxnSpPr>
              <a:cxnSpLocks/>
              <a:stCxn id="18" idx="0"/>
              <a:endCxn id="4" idx="0"/>
            </p:cNvCxnSpPr>
            <p:nvPr/>
          </p:nvCxnSpPr>
          <p:spPr>
            <a:xfrm rot="16200000" flipV="1">
              <a:off x="5203806" y="2627925"/>
              <a:ext cx="341183" cy="3043450"/>
            </a:xfrm>
            <a:prstGeom prst="bentConnector3">
              <a:avLst>
                <a:gd name="adj1" fmla="val 267058"/>
              </a:avLst>
            </a:prstGeom>
            <a:ln w="28575">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26EC87D2-D9BC-6913-0BED-0AAEDACF5695}"/>
                </a:ext>
              </a:extLst>
            </p:cNvPr>
            <p:cNvSpPr txBox="1"/>
            <p:nvPr/>
          </p:nvSpPr>
          <p:spPr>
            <a:xfrm>
              <a:off x="3781653" y="2916229"/>
              <a:ext cx="3185487" cy="369332"/>
            </a:xfrm>
            <a:prstGeom prst="rect">
              <a:avLst/>
            </a:prstGeom>
            <a:noFill/>
          </p:spPr>
          <p:txBody>
            <a:bodyPr wrap="none" rtlCol="0">
              <a:spAutoFit/>
            </a:bodyPr>
            <a:lstStyle/>
            <a:p>
              <a:pPr algn="ctr"/>
              <a:r>
                <a:rPr kumimoji="1" lang="ja-GB" altLang="en-US" dirty="0"/>
                <a:t>誤差を小さくするように調整</a:t>
              </a:r>
            </a:p>
          </p:txBody>
        </p:sp>
      </p:grpSp>
    </p:spTree>
    <p:extLst>
      <p:ext uri="{BB962C8B-B14F-4D97-AF65-F5344CB8AC3E}">
        <p14:creationId xmlns:p14="http://schemas.microsoft.com/office/powerpoint/2010/main" val="17146782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943719-BF2C-91D1-150E-117018A97866}"/>
              </a:ext>
            </a:extLst>
          </p:cNvPr>
          <p:cNvSpPr>
            <a:spLocks noGrp="1"/>
          </p:cNvSpPr>
          <p:nvPr>
            <p:ph type="title"/>
          </p:nvPr>
        </p:nvSpPr>
        <p:spPr/>
        <p:txBody>
          <a:bodyPr/>
          <a:lstStyle/>
          <a:p>
            <a:r>
              <a:rPr kumimoji="1" lang="ja-GB" altLang="en-US" dirty="0"/>
              <a:t>具体例：株価予測</a:t>
            </a:r>
          </a:p>
        </p:txBody>
      </p:sp>
      <p:sp>
        <p:nvSpPr>
          <p:cNvPr id="3" name="コンテンツ プレースホルダー 2">
            <a:extLst>
              <a:ext uri="{FF2B5EF4-FFF2-40B4-BE49-F238E27FC236}">
                <a16:creationId xmlns:a16="http://schemas.microsoft.com/office/drawing/2014/main" id="{2CAC601E-507F-C4BD-C19C-EC912419CE35}"/>
              </a:ext>
            </a:extLst>
          </p:cNvPr>
          <p:cNvSpPr>
            <a:spLocks noGrp="1"/>
          </p:cNvSpPr>
          <p:nvPr>
            <p:ph idx="1"/>
          </p:nvPr>
        </p:nvSpPr>
        <p:spPr/>
        <p:txBody>
          <a:bodyPr/>
          <a:lstStyle/>
          <a:p>
            <a:pPr marL="0" indent="0">
              <a:buNone/>
            </a:pPr>
            <a:r>
              <a:rPr lang="ja-GB" altLang="en-US" dirty="0"/>
              <a:t>株価推移の記録から，変化の仕方のパターンを学習</a:t>
            </a:r>
            <a:endParaRPr lang="en-US" altLang="ja-GB" dirty="0"/>
          </a:p>
          <a:p>
            <a:pPr marL="914400" lvl="1" indent="-457200">
              <a:buFont typeface="+mj-lt"/>
              <a:buAutoNum type="arabicPeriod"/>
            </a:pPr>
            <a:r>
              <a:rPr kumimoji="1" lang="ja-GB" altLang="en-US" dirty="0"/>
              <a:t>過去の株価情報を用意して，前半部を</a:t>
            </a:r>
            <a:r>
              <a:rPr kumimoji="1" lang="en-US" altLang="ja-GB" dirty="0"/>
              <a:t>AI</a:t>
            </a:r>
            <a:r>
              <a:rPr kumimoji="1" lang="ja-GB" altLang="en-US" dirty="0"/>
              <a:t>入力し，その先を予測させる</a:t>
            </a:r>
            <a:endParaRPr kumimoji="1" lang="en-US" altLang="ja-GB" dirty="0"/>
          </a:p>
          <a:p>
            <a:pPr marL="914400" lvl="1" indent="-457200">
              <a:buFont typeface="+mj-lt"/>
              <a:buAutoNum type="arabicPeriod"/>
            </a:pPr>
            <a:r>
              <a:rPr kumimoji="1" lang="en-US" altLang="ja-GB" dirty="0"/>
              <a:t>AI</a:t>
            </a:r>
            <a:r>
              <a:rPr kumimoji="1" lang="ja-GB" altLang="en-US" dirty="0"/>
              <a:t>の予測と後半部の誤差を計算して，それを縮小するように調整する</a:t>
            </a:r>
            <a:endParaRPr lang="en-US" altLang="ja-GB" dirty="0"/>
          </a:p>
          <a:p>
            <a:pPr marL="2286000" lvl="4" indent="-457200">
              <a:buFont typeface="+mj-lt"/>
              <a:buAutoNum type="arabicPeriod"/>
            </a:pPr>
            <a:endParaRPr lang="en-US" altLang="ja-GB" dirty="0"/>
          </a:p>
          <a:p>
            <a:pPr marL="457200" lvl="1" indent="0">
              <a:buNone/>
            </a:pPr>
            <a:r>
              <a:rPr lang="en-US" altLang="ja-GB" dirty="0"/>
              <a:t>→</a:t>
            </a:r>
            <a:r>
              <a:rPr lang="ja-GB" altLang="en-US" dirty="0">
                <a:solidFill>
                  <a:schemeClr val="accent2"/>
                </a:solidFill>
              </a:rPr>
              <a:t>過去の株価情報と類似した変化をするならば，</a:t>
            </a:r>
            <a:br>
              <a:rPr lang="en-US" altLang="ja-GB" dirty="0">
                <a:solidFill>
                  <a:schemeClr val="accent2"/>
                </a:solidFill>
              </a:rPr>
            </a:br>
            <a:r>
              <a:rPr lang="ja-JP" altLang="en-US">
                <a:solidFill>
                  <a:schemeClr val="accent2"/>
                </a:solidFill>
              </a:rPr>
              <a:t>　</a:t>
            </a:r>
            <a:r>
              <a:rPr lang="ja-GB" altLang="en-US" dirty="0">
                <a:solidFill>
                  <a:schemeClr val="accent2"/>
                </a:solidFill>
              </a:rPr>
              <a:t>現在の株価推移を入れると高精度で未来の株価を予測できる</a:t>
            </a:r>
            <a:endParaRPr kumimoji="1" lang="ja-GB" altLang="en-US" dirty="0">
              <a:solidFill>
                <a:schemeClr val="accent2"/>
              </a:solidFill>
            </a:endParaRPr>
          </a:p>
        </p:txBody>
      </p:sp>
      <p:pic>
        <p:nvPicPr>
          <p:cNvPr id="62" name="図 61">
            <a:extLst>
              <a:ext uri="{FF2B5EF4-FFF2-40B4-BE49-F238E27FC236}">
                <a16:creationId xmlns:a16="http://schemas.microsoft.com/office/drawing/2014/main" id="{9496E14F-8100-D517-1966-BC53ED7991C7}"/>
              </a:ext>
            </a:extLst>
          </p:cNvPr>
          <p:cNvPicPr>
            <a:picLocks noChangeAspect="1"/>
          </p:cNvPicPr>
          <p:nvPr/>
        </p:nvPicPr>
        <p:blipFill>
          <a:blip r:embed="rId2"/>
          <a:stretch>
            <a:fillRect/>
          </a:stretch>
        </p:blipFill>
        <p:spPr>
          <a:xfrm>
            <a:off x="1974621" y="3181176"/>
            <a:ext cx="5194757" cy="3659145"/>
          </a:xfrm>
          <a:prstGeom prst="rect">
            <a:avLst/>
          </a:prstGeom>
        </p:spPr>
      </p:pic>
    </p:spTree>
    <p:extLst>
      <p:ext uri="{BB962C8B-B14F-4D97-AF65-F5344CB8AC3E}">
        <p14:creationId xmlns:p14="http://schemas.microsoft.com/office/powerpoint/2010/main" val="26818734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830ABF-DE55-8874-5B72-41B4792F876D}"/>
              </a:ext>
            </a:extLst>
          </p:cNvPr>
          <p:cNvSpPr>
            <a:spLocks noGrp="1"/>
          </p:cNvSpPr>
          <p:nvPr>
            <p:ph type="title"/>
          </p:nvPr>
        </p:nvSpPr>
        <p:spPr/>
        <p:txBody>
          <a:bodyPr/>
          <a:lstStyle/>
          <a:p>
            <a:r>
              <a:rPr kumimoji="1" lang="ja-GB" altLang="en-US" dirty="0"/>
              <a:t>具体例：超解像課題</a:t>
            </a:r>
          </a:p>
        </p:txBody>
      </p:sp>
      <p:sp>
        <p:nvSpPr>
          <p:cNvPr id="3" name="コンテンツ プレースホルダー 2">
            <a:extLst>
              <a:ext uri="{FF2B5EF4-FFF2-40B4-BE49-F238E27FC236}">
                <a16:creationId xmlns:a16="http://schemas.microsoft.com/office/drawing/2014/main" id="{E0C6BF1F-D468-DB6B-94B8-392D4CA594DB}"/>
              </a:ext>
            </a:extLst>
          </p:cNvPr>
          <p:cNvSpPr>
            <a:spLocks noGrp="1"/>
          </p:cNvSpPr>
          <p:nvPr>
            <p:ph idx="1"/>
          </p:nvPr>
        </p:nvSpPr>
        <p:spPr/>
        <p:txBody>
          <a:bodyPr/>
          <a:lstStyle/>
          <a:p>
            <a:pPr marL="0" indent="0">
              <a:buNone/>
            </a:pPr>
            <a:r>
              <a:rPr lang="ja-GB" altLang="en-US" dirty="0"/>
              <a:t>粗い画像を入れたとき綺麗な画像に近い画像を出力するように学習</a:t>
            </a:r>
            <a:endParaRPr lang="en-US" altLang="ja-GB" dirty="0"/>
          </a:p>
          <a:p>
            <a:pPr marL="914400" lvl="1" indent="-457200">
              <a:buFont typeface="+mj-lt"/>
              <a:buAutoNum type="arabicPeriod"/>
            </a:pPr>
            <a:r>
              <a:rPr kumimoji="1" lang="ja-GB" altLang="en-US" dirty="0"/>
              <a:t>同じ被写体の画像ペアを大量に用意</a:t>
            </a:r>
            <a:endParaRPr kumimoji="1" lang="en-US" altLang="ja-GB" dirty="0"/>
          </a:p>
          <a:p>
            <a:pPr marL="914400" lvl="1" indent="-457200">
              <a:buFont typeface="+mj-lt"/>
              <a:buAutoNum type="arabicPeriod"/>
            </a:pPr>
            <a:r>
              <a:rPr lang="ja-GB" altLang="en-US" dirty="0"/>
              <a:t>粗い画像を入力したときの</a:t>
            </a:r>
            <a:r>
              <a:rPr lang="en-US" altLang="ja-GB" dirty="0"/>
              <a:t>AI</a:t>
            </a:r>
            <a:r>
              <a:rPr lang="ja-GB" altLang="en-US" dirty="0"/>
              <a:t>の出力を確認</a:t>
            </a:r>
            <a:endParaRPr lang="en-US" altLang="ja-GB" dirty="0"/>
          </a:p>
          <a:p>
            <a:pPr marL="914400" lvl="1" indent="-457200">
              <a:buFont typeface="+mj-lt"/>
              <a:buAutoNum type="arabicPeriod"/>
            </a:pPr>
            <a:r>
              <a:rPr kumimoji="1" lang="ja-GB" altLang="en-US" dirty="0"/>
              <a:t>出力画像と高解像度画像の誤差が小さくなるように</a:t>
            </a:r>
            <a:r>
              <a:rPr kumimoji="1" lang="en-US" altLang="ja-GB" dirty="0"/>
              <a:t>AI</a:t>
            </a:r>
            <a:r>
              <a:rPr kumimoji="1" lang="ja-GB" altLang="en-US" dirty="0"/>
              <a:t>モデルを調整</a:t>
            </a:r>
            <a:endParaRPr kumimoji="1" lang="en-US" altLang="ja-GB" dirty="0"/>
          </a:p>
          <a:p>
            <a:pPr marL="2286000" lvl="4" indent="-457200">
              <a:buFont typeface="+mj-lt"/>
              <a:buAutoNum type="arabicPeriod"/>
            </a:pPr>
            <a:endParaRPr lang="en-US" altLang="ja-GB" dirty="0"/>
          </a:p>
          <a:p>
            <a:pPr marL="457200" lvl="1" indent="0">
              <a:buNone/>
            </a:pPr>
            <a:r>
              <a:rPr kumimoji="1" lang="en-US" altLang="ja-GB" dirty="0"/>
              <a:t>→</a:t>
            </a:r>
            <a:r>
              <a:rPr kumimoji="1" lang="ja-GB" altLang="en-US" dirty="0">
                <a:solidFill>
                  <a:schemeClr val="accent2"/>
                </a:solidFill>
              </a:rPr>
              <a:t>学習した高解像化のパターンで対応できる「粗い画像」ならば</a:t>
            </a:r>
            <a:br>
              <a:rPr kumimoji="1" lang="en-US" altLang="ja-GB" dirty="0">
                <a:solidFill>
                  <a:schemeClr val="accent2"/>
                </a:solidFill>
              </a:rPr>
            </a:br>
            <a:r>
              <a:rPr kumimoji="1" lang="ja-JP" altLang="en-US">
                <a:solidFill>
                  <a:schemeClr val="accent2"/>
                </a:solidFill>
              </a:rPr>
              <a:t>　</a:t>
            </a:r>
            <a:r>
              <a:rPr kumimoji="1" lang="en-US" altLang="ja-JP" dirty="0">
                <a:solidFill>
                  <a:schemeClr val="accent2"/>
                </a:solidFill>
              </a:rPr>
              <a:t>AI</a:t>
            </a:r>
            <a:r>
              <a:rPr kumimoji="1" lang="ja-GB" altLang="en-US" dirty="0">
                <a:solidFill>
                  <a:schemeClr val="accent2"/>
                </a:solidFill>
              </a:rPr>
              <a:t>モデルを通すことで綺麗な画像に変換することができる</a:t>
            </a:r>
          </a:p>
        </p:txBody>
      </p:sp>
      <p:grpSp>
        <p:nvGrpSpPr>
          <p:cNvPr id="30" name="グループ化 29">
            <a:extLst>
              <a:ext uri="{FF2B5EF4-FFF2-40B4-BE49-F238E27FC236}">
                <a16:creationId xmlns:a16="http://schemas.microsoft.com/office/drawing/2014/main" id="{3E735BF1-9843-EDCB-E9E4-C73C57CFB981}"/>
              </a:ext>
            </a:extLst>
          </p:cNvPr>
          <p:cNvGrpSpPr/>
          <p:nvPr/>
        </p:nvGrpSpPr>
        <p:grpSpPr>
          <a:xfrm>
            <a:off x="1041918" y="4769916"/>
            <a:ext cx="7060163" cy="1233319"/>
            <a:chOff x="1016992" y="4769916"/>
            <a:chExt cx="7060163" cy="1233319"/>
          </a:xfrm>
        </p:grpSpPr>
        <p:sp>
          <p:nvSpPr>
            <p:cNvPr id="7" name="テキスト ボックス 6">
              <a:extLst>
                <a:ext uri="{FF2B5EF4-FFF2-40B4-BE49-F238E27FC236}">
                  <a16:creationId xmlns:a16="http://schemas.microsoft.com/office/drawing/2014/main" id="{46A9E604-4F3E-A367-980E-35D1F8EFB486}"/>
                </a:ext>
              </a:extLst>
            </p:cNvPr>
            <p:cNvSpPr txBox="1"/>
            <p:nvPr/>
          </p:nvSpPr>
          <p:spPr>
            <a:xfrm>
              <a:off x="1016992" y="5695458"/>
              <a:ext cx="902811" cy="307777"/>
            </a:xfrm>
            <a:prstGeom prst="rect">
              <a:avLst/>
            </a:prstGeom>
            <a:noFill/>
          </p:spPr>
          <p:txBody>
            <a:bodyPr wrap="none" rtlCol="0">
              <a:spAutoFit/>
            </a:bodyPr>
            <a:lstStyle/>
            <a:p>
              <a:pPr algn="ctr"/>
              <a:r>
                <a:rPr kumimoji="1" lang="ja-GB" altLang="en-US" sz="1400" b="1" dirty="0">
                  <a:solidFill>
                    <a:srgbClr val="2F2523"/>
                  </a:solidFill>
                </a:rPr>
                <a:t>粗い画像</a:t>
              </a:r>
            </a:p>
          </p:txBody>
        </p:sp>
        <p:sp>
          <p:nvSpPr>
            <p:cNvPr id="8" name="テキスト ボックス 7">
              <a:extLst>
                <a:ext uri="{FF2B5EF4-FFF2-40B4-BE49-F238E27FC236}">
                  <a16:creationId xmlns:a16="http://schemas.microsoft.com/office/drawing/2014/main" id="{ADAACC3F-AD00-53DA-4199-C022434ABB89}"/>
                </a:ext>
              </a:extLst>
            </p:cNvPr>
            <p:cNvSpPr txBox="1"/>
            <p:nvPr/>
          </p:nvSpPr>
          <p:spPr>
            <a:xfrm>
              <a:off x="6815271" y="5695458"/>
              <a:ext cx="1261884" cy="307777"/>
            </a:xfrm>
            <a:prstGeom prst="rect">
              <a:avLst/>
            </a:prstGeom>
            <a:noFill/>
          </p:spPr>
          <p:txBody>
            <a:bodyPr wrap="none" rtlCol="0">
              <a:spAutoFit/>
            </a:bodyPr>
            <a:lstStyle/>
            <a:p>
              <a:pPr algn="ctr"/>
              <a:r>
                <a:rPr kumimoji="1" lang="ja-GB" altLang="en-US" sz="1400" b="1" dirty="0">
                  <a:solidFill>
                    <a:srgbClr val="2F2523"/>
                  </a:solidFill>
                </a:rPr>
                <a:t>高解像度画像</a:t>
              </a:r>
            </a:p>
          </p:txBody>
        </p:sp>
        <p:sp>
          <p:nvSpPr>
            <p:cNvPr id="9" name="正方形/長方形 8">
              <a:extLst>
                <a:ext uri="{FF2B5EF4-FFF2-40B4-BE49-F238E27FC236}">
                  <a16:creationId xmlns:a16="http://schemas.microsoft.com/office/drawing/2014/main" id="{E44B8EF8-369C-2C5E-BD36-E0D87CEEE2D7}"/>
                </a:ext>
              </a:extLst>
            </p:cNvPr>
            <p:cNvSpPr/>
            <p:nvPr/>
          </p:nvSpPr>
          <p:spPr>
            <a:xfrm>
              <a:off x="2884146" y="4834686"/>
              <a:ext cx="1107996" cy="67056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GB" dirty="0"/>
                <a:t>AI</a:t>
              </a:r>
              <a:r>
                <a:rPr kumimoji="1" lang="ja-GB" altLang="en-US" dirty="0"/>
                <a:t>モデル</a:t>
              </a:r>
            </a:p>
          </p:txBody>
        </p:sp>
        <p:sp>
          <p:nvSpPr>
            <p:cNvPr id="10" name="テキスト ボックス 9">
              <a:extLst>
                <a:ext uri="{FF2B5EF4-FFF2-40B4-BE49-F238E27FC236}">
                  <a16:creationId xmlns:a16="http://schemas.microsoft.com/office/drawing/2014/main" id="{94C22D30-4B8E-E78E-EC03-08ECE316AAB7}"/>
                </a:ext>
              </a:extLst>
            </p:cNvPr>
            <p:cNvSpPr txBox="1"/>
            <p:nvPr/>
          </p:nvSpPr>
          <p:spPr>
            <a:xfrm>
              <a:off x="4563319" y="5695458"/>
              <a:ext cx="902811" cy="307777"/>
            </a:xfrm>
            <a:prstGeom prst="rect">
              <a:avLst/>
            </a:prstGeom>
            <a:noFill/>
          </p:spPr>
          <p:txBody>
            <a:bodyPr wrap="none" rtlCol="0">
              <a:spAutoFit/>
            </a:bodyPr>
            <a:lstStyle/>
            <a:p>
              <a:pPr algn="ctr"/>
              <a:r>
                <a:rPr kumimoji="1" lang="ja-GB" altLang="en-US" sz="1400" b="1" dirty="0">
                  <a:solidFill>
                    <a:srgbClr val="2F2523"/>
                  </a:solidFill>
                </a:rPr>
                <a:t>出力画像</a:t>
              </a:r>
            </a:p>
          </p:txBody>
        </p:sp>
        <p:pic>
          <p:nvPicPr>
            <p:cNvPr id="16" name="図 15" descr="アイコン&#10;&#10;AI によって生成されたコンテンツは間違っている可能性があります。">
              <a:extLst>
                <a:ext uri="{FF2B5EF4-FFF2-40B4-BE49-F238E27FC236}">
                  <a16:creationId xmlns:a16="http://schemas.microsoft.com/office/drawing/2014/main" id="{C99B7821-0458-1CA3-7A31-63828BC82F1E}"/>
                </a:ext>
              </a:extLst>
            </p:cNvPr>
            <p:cNvPicPr>
              <a:picLocks noChangeAspect="1"/>
            </p:cNvPicPr>
            <p:nvPr/>
          </p:nvPicPr>
          <p:blipFill>
            <a:blip r:embed="rId2">
              <a:extLst>
                <a:ext uri="{BEBA8EAE-BF5A-486C-A8C5-ECC9F3942E4B}">
                  <a14:imgProps xmlns:a14="http://schemas.microsoft.com/office/drawing/2010/main">
                    <a14:imgLayer r:embed="rId3">
                      <a14:imgEffect>
                        <a14:artisticCrisscrossEtching/>
                      </a14:imgEffect>
                    </a14:imgLayer>
                  </a14:imgProps>
                </a:ext>
              </a:extLst>
            </a:blip>
            <a:stretch>
              <a:fillRect/>
            </a:stretch>
          </p:blipFill>
          <p:spPr>
            <a:xfrm>
              <a:off x="1061998" y="4769916"/>
              <a:ext cx="812800" cy="800100"/>
            </a:xfrm>
            <a:prstGeom prst="rect">
              <a:avLst/>
            </a:prstGeom>
          </p:spPr>
        </p:pic>
        <p:pic>
          <p:nvPicPr>
            <p:cNvPr id="17" name="図 16">
              <a:extLst>
                <a:ext uri="{FF2B5EF4-FFF2-40B4-BE49-F238E27FC236}">
                  <a16:creationId xmlns:a16="http://schemas.microsoft.com/office/drawing/2014/main" id="{48AE156A-8989-3C4C-4047-34476F7A9DC5}"/>
                </a:ext>
              </a:extLst>
            </p:cNvPr>
            <p:cNvPicPr>
              <a:picLocks noChangeAspect="1"/>
            </p:cNvPicPr>
            <p:nvPr/>
          </p:nvPicPr>
          <p:blipFill>
            <a:blip r:embed="rId4"/>
            <a:stretch>
              <a:fillRect/>
            </a:stretch>
          </p:blipFill>
          <p:spPr>
            <a:xfrm>
              <a:off x="7039813" y="4769916"/>
              <a:ext cx="812800" cy="800100"/>
            </a:xfrm>
            <a:prstGeom prst="rect">
              <a:avLst/>
            </a:prstGeom>
          </p:spPr>
        </p:pic>
        <p:pic>
          <p:nvPicPr>
            <p:cNvPr id="19" name="図 18" descr="アイコン&#10;&#10;AI によって生成されたコンテンツは間違っている可能性があります。">
              <a:extLst>
                <a:ext uri="{FF2B5EF4-FFF2-40B4-BE49-F238E27FC236}">
                  <a16:creationId xmlns:a16="http://schemas.microsoft.com/office/drawing/2014/main" id="{5C6CBA1D-7463-87FA-18E2-0296073DC92A}"/>
                </a:ext>
              </a:extLst>
            </p:cNvPr>
            <p:cNvPicPr>
              <a:picLocks noChangeAspect="1"/>
            </p:cNvPicPr>
            <p:nvPr/>
          </p:nvPicPr>
          <p:blipFill>
            <a:blip r:embed="rId5"/>
            <a:stretch>
              <a:fillRect/>
            </a:stretch>
          </p:blipFill>
          <p:spPr>
            <a:xfrm>
              <a:off x="4608325" y="4769916"/>
              <a:ext cx="812800" cy="800100"/>
            </a:xfrm>
            <a:prstGeom prst="rect">
              <a:avLst/>
            </a:prstGeom>
          </p:spPr>
        </p:pic>
        <p:cxnSp>
          <p:nvCxnSpPr>
            <p:cNvPr id="21" name="直線矢印コネクタ 20">
              <a:extLst>
                <a:ext uri="{FF2B5EF4-FFF2-40B4-BE49-F238E27FC236}">
                  <a16:creationId xmlns:a16="http://schemas.microsoft.com/office/drawing/2014/main" id="{2EE5A0CB-3511-6C08-97F4-4C7ECC7075B0}"/>
                </a:ext>
              </a:extLst>
            </p:cNvPr>
            <p:cNvCxnSpPr>
              <a:cxnSpLocks/>
              <a:stCxn id="16" idx="3"/>
              <a:endCxn id="9" idx="1"/>
            </p:cNvCxnSpPr>
            <p:nvPr/>
          </p:nvCxnSpPr>
          <p:spPr>
            <a:xfrm>
              <a:off x="1874798" y="5169966"/>
              <a:ext cx="1009348" cy="0"/>
            </a:xfrm>
            <a:prstGeom prst="straightConnector1">
              <a:avLst/>
            </a:prstGeom>
            <a:ln w="28575">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244F0C61-1450-A443-7564-EBDECC3C8D1D}"/>
                </a:ext>
              </a:extLst>
            </p:cNvPr>
            <p:cNvCxnSpPr>
              <a:cxnSpLocks/>
              <a:stCxn id="9" idx="3"/>
              <a:endCxn id="19" idx="1"/>
            </p:cNvCxnSpPr>
            <p:nvPr/>
          </p:nvCxnSpPr>
          <p:spPr>
            <a:xfrm>
              <a:off x="3992142" y="5169966"/>
              <a:ext cx="616183" cy="0"/>
            </a:xfrm>
            <a:prstGeom prst="straightConnector1">
              <a:avLst/>
            </a:prstGeom>
            <a:ln w="28575">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A9306597-7EC0-D6D8-4CC7-DA10D7AB877F}"/>
                </a:ext>
              </a:extLst>
            </p:cNvPr>
            <p:cNvCxnSpPr>
              <a:cxnSpLocks/>
              <a:stCxn id="19" idx="3"/>
              <a:endCxn id="17" idx="1"/>
            </p:cNvCxnSpPr>
            <p:nvPr/>
          </p:nvCxnSpPr>
          <p:spPr>
            <a:xfrm>
              <a:off x="5421125" y="5169966"/>
              <a:ext cx="1618688" cy="0"/>
            </a:xfrm>
            <a:prstGeom prst="straightConnector1">
              <a:avLst/>
            </a:prstGeom>
            <a:ln w="28575">
              <a:solidFill>
                <a:srgbClr val="2F252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D37E60B0-BF09-6128-ADEE-E53CB6C6AEA2}"/>
                </a:ext>
              </a:extLst>
            </p:cNvPr>
            <p:cNvSpPr txBox="1"/>
            <p:nvPr/>
          </p:nvSpPr>
          <p:spPr>
            <a:xfrm>
              <a:off x="5958599" y="5262239"/>
              <a:ext cx="543739" cy="307777"/>
            </a:xfrm>
            <a:prstGeom prst="rect">
              <a:avLst/>
            </a:prstGeom>
            <a:noFill/>
          </p:spPr>
          <p:txBody>
            <a:bodyPr wrap="none" rtlCol="0">
              <a:spAutoFit/>
            </a:bodyPr>
            <a:lstStyle/>
            <a:p>
              <a:pPr algn="ctr"/>
              <a:r>
                <a:rPr kumimoji="1" lang="ja-GB" altLang="en-US" sz="1400" b="1" dirty="0">
                  <a:solidFill>
                    <a:srgbClr val="2F2523"/>
                  </a:solidFill>
                </a:rPr>
                <a:t>誤差</a:t>
              </a:r>
            </a:p>
          </p:txBody>
        </p:sp>
      </p:grpSp>
    </p:spTree>
    <p:extLst>
      <p:ext uri="{BB962C8B-B14F-4D97-AF65-F5344CB8AC3E}">
        <p14:creationId xmlns:p14="http://schemas.microsoft.com/office/powerpoint/2010/main" val="37034166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BCF35-A005-EB4B-11E9-874D047D39A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F51513F-7385-3197-1922-7031EE5FCA06}"/>
              </a:ext>
            </a:extLst>
          </p:cNvPr>
          <p:cNvSpPr>
            <a:spLocks noGrp="1"/>
          </p:cNvSpPr>
          <p:nvPr>
            <p:ph type="title"/>
          </p:nvPr>
        </p:nvSpPr>
        <p:spPr/>
        <p:txBody>
          <a:bodyPr/>
          <a:lstStyle/>
          <a:p>
            <a:r>
              <a:rPr lang="ja-GB" altLang="en-US" dirty="0"/>
              <a:t>機械学習</a:t>
            </a:r>
            <a:endParaRPr lang="ja-JP" altLang="en-US"/>
          </a:p>
        </p:txBody>
      </p:sp>
      <p:sp>
        <p:nvSpPr>
          <p:cNvPr id="5" name="コンテンツ プレースホルダー 4">
            <a:extLst>
              <a:ext uri="{FF2B5EF4-FFF2-40B4-BE49-F238E27FC236}">
                <a16:creationId xmlns:a16="http://schemas.microsoft.com/office/drawing/2014/main" id="{03F67104-CE9E-B7C0-0340-EB12A450CDD1}"/>
              </a:ext>
            </a:extLst>
          </p:cNvPr>
          <p:cNvSpPr>
            <a:spLocks noGrp="1"/>
          </p:cNvSpPr>
          <p:nvPr>
            <p:ph idx="1"/>
          </p:nvPr>
        </p:nvSpPr>
        <p:spPr/>
        <p:txBody>
          <a:bodyPr/>
          <a:lstStyle/>
          <a:p>
            <a:pPr marL="0" indent="0">
              <a:buNone/>
            </a:pPr>
            <a:r>
              <a:rPr lang="ja-GB" altLang="en-US" dirty="0"/>
              <a:t>経験則的な良い行動の発見を再現する計算手順</a:t>
            </a:r>
            <a:endParaRPr lang="en-US" altLang="ja-GB" dirty="0"/>
          </a:p>
          <a:p>
            <a:pPr lvl="1"/>
            <a:r>
              <a:rPr lang="ja-GB" altLang="en-US" dirty="0">
                <a:solidFill>
                  <a:schemeClr val="tx1">
                    <a:lumMod val="50000"/>
                    <a:lumOff val="50000"/>
                  </a:schemeClr>
                </a:solidFill>
              </a:rPr>
              <a:t>教師あり学習 ：人の作ったデータから計算手順を逆算する</a:t>
            </a:r>
            <a:endParaRPr lang="en-US" altLang="ja-GB" dirty="0">
              <a:solidFill>
                <a:schemeClr val="tx1">
                  <a:lumMod val="50000"/>
                  <a:lumOff val="50000"/>
                </a:schemeClr>
              </a:solidFill>
            </a:endParaRPr>
          </a:p>
          <a:p>
            <a:pPr lvl="1"/>
            <a:r>
              <a:rPr lang="ja-GB" altLang="en-US" dirty="0">
                <a:solidFill>
                  <a:srgbClr val="0070C0"/>
                </a:solidFill>
              </a:rPr>
              <a:t>教師なし学習 ：データから未知のパターン・特徴を発見する</a:t>
            </a:r>
            <a:endParaRPr lang="en-US" altLang="ja-GB" dirty="0">
              <a:solidFill>
                <a:srgbClr val="0070C0"/>
              </a:solidFill>
            </a:endParaRPr>
          </a:p>
          <a:p>
            <a:pPr lvl="1"/>
            <a:r>
              <a:rPr lang="ja-GB" altLang="en-US" dirty="0">
                <a:solidFill>
                  <a:schemeClr val="tx1">
                    <a:lumMod val="50000"/>
                    <a:lumOff val="50000"/>
                  </a:schemeClr>
                </a:solidFill>
              </a:rPr>
              <a:t>強化学習　</a:t>
            </a:r>
            <a:r>
              <a:rPr lang="en-US" altLang="ja-GB" dirty="0">
                <a:solidFill>
                  <a:schemeClr val="tx1">
                    <a:lumMod val="50000"/>
                    <a:lumOff val="50000"/>
                  </a:schemeClr>
                </a:solidFill>
              </a:rPr>
              <a:t>   </a:t>
            </a:r>
            <a:r>
              <a:rPr lang="ja-GB" altLang="en-US" dirty="0">
                <a:solidFill>
                  <a:schemeClr val="tx1">
                    <a:lumMod val="50000"/>
                    <a:lumOff val="50000"/>
                  </a:schemeClr>
                </a:solidFill>
              </a:rPr>
              <a:t>：試行錯誤の中でうまい振る舞い方を発見する</a:t>
            </a:r>
            <a:endParaRPr lang="en-US" altLang="ja-GB" dirty="0">
              <a:solidFill>
                <a:schemeClr val="tx1">
                  <a:lumMod val="50000"/>
                  <a:lumOff val="50000"/>
                </a:schemeClr>
              </a:solidFill>
            </a:endParaRPr>
          </a:p>
        </p:txBody>
      </p:sp>
    </p:spTree>
    <p:extLst>
      <p:ext uri="{BB962C8B-B14F-4D97-AF65-F5344CB8AC3E}">
        <p14:creationId xmlns:p14="http://schemas.microsoft.com/office/powerpoint/2010/main" val="15933627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6BA6A4-E85A-9FB4-FBAB-815C480E5B91}"/>
              </a:ext>
            </a:extLst>
          </p:cNvPr>
          <p:cNvSpPr>
            <a:spLocks noGrp="1"/>
          </p:cNvSpPr>
          <p:nvPr>
            <p:ph type="title"/>
          </p:nvPr>
        </p:nvSpPr>
        <p:spPr/>
        <p:txBody>
          <a:bodyPr/>
          <a:lstStyle/>
          <a:p>
            <a:r>
              <a:rPr kumimoji="1" lang="ja-GB" altLang="en-US" dirty="0"/>
              <a:t>教師なし学習</a:t>
            </a:r>
          </a:p>
        </p:txBody>
      </p:sp>
      <p:sp>
        <p:nvSpPr>
          <p:cNvPr id="3" name="コンテンツ プレースホルダー 2">
            <a:extLst>
              <a:ext uri="{FF2B5EF4-FFF2-40B4-BE49-F238E27FC236}">
                <a16:creationId xmlns:a16="http://schemas.microsoft.com/office/drawing/2014/main" id="{2CD10196-33BC-FC7D-00F3-BDC34D162752}"/>
              </a:ext>
            </a:extLst>
          </p:cNvPr>
          <p:cNvSpPr>
            <a:spLocks noGrp="1"/>
          </p:cNvSpPr>
          <p:nvPr>
            <p:ph idx="1"/>
          </p:nvPr>
        </p:nvSpPr>
        <p:spPr/>
        <p:txBody>
          <a:bodyPr/>
          <a:lstStyle/>
          <a:p>
            <a:pPr marL="0" indent="0">
              <a:buNone/>
            </a:pPr>
            <a:r>
              <a:rPr lang="ja-GB" altLang="en-US" dirty="0"/>
              <a:t>データから未知のパターン・特徴を発見する</a:t>
            </a:r>
            <a:endParaRPr lang="en-US" altLang="ja-GB" dirty="0"/>
          </a:p>
          <a:p>
            <a:pPr marL="457200" lvl="1" indent="0">
              <a:buNone/>
            </a:pPr>
            <a:r>
              <a:rPr kumimoji="1" lang="ja-GB" altLang="en-US" dirty="0"/>
              <a:t>例</a:t>
            </a:r>
            <a:r>
              <a:rPr kumimoji="1" lang="en-US" altLang="ja-GB" dirty="0"/>
              <a:t>1</a:t>
            </a:r>
            <a:r>
              <a:rPr kumimoji="1" lang="ja-GB" altLang="en-US" dirty="0"/>
              <a:t>）学習データと同じようなデータを生み出せる仕組みの構築</a:t>
            </a:r>
            <a:endParaRPr lang="en-US" altLang="ja-GB" dirty="0"/>
          </a:p>
          <a:p>
            <a:pPr lvl="3"/>
            <a:endParaRPr lang="en-US" altLang="ja-GB" dirty="0"/>
          </a:p>
          <a:p>
            <a:pPr lvl="4"/>
            <a:endParaRPr kumimoji="1" lang="en-US" altLang="ja-GB" dirty="0"/>
          </a:p>
          <a:p>
            <a:pPr lvl="4"/>
            <a:endParaRPr kumimoji="1" lang="en-US" altLang="ja-GB" dirty="0"/>
          </a:p>
          <a:p>
            <a:pPr lvl="3"/>
            <a:endParaRPr lang="en-US" altLang="ja-GB" dirty="0"/>
          </a:p>
          <a:p>
            <a:pPr lvl="3"/>
            <a:endParaRPr kumimoji="1" lang="en-US" altLang="ja-GB" dirty="0"/>
          </a:p>
          <a:p>
            <a:pPr lvl="3"/>
            <a:endParaRPr lang="en-US" altLang="ja-GB" dirty="0"/>
          </a:p>
          <a:p>
            <a:pPr lvl="2"/>
            <a:endParaRPr lang="en-US" altLang="ja-GB" dirty="0"/>
          </a:p>
          <a:p>
            <a:pPr marL="914400" lvl="2" indent="0">
              <a:buNone/>
            </a:pPr>
            <a:endParaRPr lang="en-US" altLang="ja-GB" dirty="0"/>
          </a:p>
          <a:p>
            <a:pPr marL="914400" lvl="2" indent="0">
              <a:buNone/>
            </a:pPr>
            <a:endParaRPr lang="en-US" altLang="ja-GB" dirty="0"/>
          </a:p>
          <a:p>
            <a:pPr marL="457200" lvl="1" indent="0">
              <a:buNone/>
            </a:pPr>
            <a:endParaRPr lang="en-US" altLang="ja-GB" dirty="0"/>
          </a:p>
          <a:p>
            <a:pPr marL="457200" lvl="1" indent="0">
              <a:buNone/>
            </a:pPr>
            <a:r>
              <a:rPr kumimoji="1" lang="ja-GB" altLang="en-US" dirty="0"/>
              <a:t>例</a:t>
            </a:r>
            <a:r>
              <a:rPr lang="en-US" altLang="ja-GB" dirty="0"/>
              <a:t>2</a:t>
            </a:r>
            <a:r>
              <a:rPr lang="ja-GB" altLang="en-US" dirty="0"/>
              <a:t>）学習データの構造を抽出</a:t>
            </a:r>
            <a:endParaRPr kumimoji="1" lang="en-US" altLang="ja-GB" dirty="0"/>
          </a:p>
          <a:p>
            <a:pPr lvl="2"/>
            <a:endParaRPr lang="en-US" altLang="ja-GB" dirty="0"/>
          </a:p>
          <a:p>
            <a:pPr lvl="1"/>
            <a:endParaRPr kumimoji="1" lang="en-US" altLang="ja-GB" dirty="0"/>
          </a:p>
          <a:p>
            <a:pPr lvl="1"/>
            <a:endParaRPr lang="en-US" altLang="ja-GB" dirty="0"/>
          </a:p>
          <a:p>
            <a:pPr lvl="1"/>
            <a:endParaRPr kumimoji="1" lang="en-US" altLang="ja-GB" dirty="0"/>
          </a:p>
          <a:p>
            <a:pPr lvl="1"/>
            <a:endParaRPr kumimoji="1" lang="en-US" altLang="ja-GB" dirty="0"/>
          </a:p>
        </p:txBody>
      </p:sp>
      <p:pic>
        <p:nvPicPr>
          <p:cNvPr id="26" name="図 25">
            <a:extLst>
              <a:ext uri="{FF2B5EF4-FFF2-40B4-BE49-F238E27FC236}">
                <a16:creationId xmlns:a16="http://schemas.microsoft.com/office/drawing/2014/main" id="{389BCB5A-2BEB-6687-F638-99EA76F8B200}"/>
              </a:ext>
            </a:extLst>
          </p:cNvPr>
          <p:cNvPicPr>
            <a:picLocks noChangeAspect="1"/>
          </p:cNvPicPr>
          <p:nvPr/>
        </p:nvPicPr>
        <p:blipFill>
          <a:blip r:embed="rId2"/>
          <a:stretch>
            <a:fillRect/>
          </a:stretch>
        </p:blipFill>
        <p:spPr>
          <a:xfrm>
            <a:off x="1568475" y="1830641"/>
            <a:ext cx="6007050" cy="2110585"/>
          </a:xfrm>
          <a:prstGeom prst="rect">
            <a:avLst/>
          </a:prstGeom>
        </p:spPr>
      </p:pic>
      <p:grpSp>
        <p:nvGrpSpPr>
          <p:cNvPr id="85" name="グループ化 84">
            <a:extLst>
              <a:ext uri="{FF2B5EF4-FFF2-40B4-BE49-F238E27FC236}">
                <a16:creationId xmlns:a16="http://schemas.microsoft.com/office/drawing/2014/main" id="{4BE2411C-03B1-681E-C43C-2758F66AF3A2}"/>
              </a:ext>
            </a:extLst>
          </p:cNvPr>
          <p:cNvGrpSpPr/>
          <p:nvPr/>
        </p:nvGrpSpPr>
        <p:grpSpPr>
          <a:xfrm>
            <a:off x="932286" y="4783522"/>
            <a:ext cx="8147618" cy="1980772"/>
            <a:chOff x="932286" y="4783522"/>
            <a:chExt cx="8147618" cy="1980772"/>
          </a:xfrm>
        </p:grpSpPr>
        <p:grpSp>
          <p:nvGrpSpPr>
            <p:cNvPr id="66" name="グループ化 65">
              <a:extLst>
                <a:ext uri="{FF2B5EF4-FFF2-40B4-BE49-F238E27FC236}">
                  <a16:creationId xmlns:a16="http://schemas.microsoft.com/office/drawing/2014/main" id="{32FBB42B-504B-8886-98CB-4620E03A36A3}"/>
                </a:ext>
              </a:extLst>
            </p:cNvPr>
            <p:cNvGrpSpPr/>
            <p:nvPr/>
          </p:nvGrpSpPr>
          <p:grpSpPr>
            <a:xfrm>
              <a:off x="932286" y="4891244"/>
              <a:ext cx="7279428" cy="1449324"/>
              <a:chOff x="910739" y="5011450"/>
              <a:chExt cx="7279428" cy="1449324"/>
            </a:xfrm>
          </p:grpSpPr>
          <p:grpSp>
            <p:nvGrpSpPr>
              <p:cNvPr id="42" name="グループ化 41">
                <a:extLst>
                  <a:ext uri="{FF2B5EF4-FFF2-40B4-BE49-F238E27FC236}">
                    <a16:creationId xmlns:a16="http://schemas.microsoft.com/office/drawing/2014/main" id="{6178F535-BF3C-AFE2-8C11-CA78C11AC73D}"/>
                  </a:ext>
                </a:extLst>
              </p:cNvPr>
              <p:cNvGrpSpPr/>
              <p:nvPr/>
            </p:nvGrpSpPr>
            <p:grpSpPr>
              <a:xfrm>
                <a:off x="3835951" y="5011450"/>
                <a:ext cx="1559052" cy="1449324"/>
                <a:chOff x="1330452" y="4503420"/>
                <a:chExt cx="1559052" cy="1449324"/>
              </a:xfrm>
              <a:solidFill>
                <a:srgbClr val="2F2523"/>
              </a:solidFill>
            </p:grpSpPr>
            <p:sp>
              <p:nvSpPr>
                <p:cNvPr id="27" name="円/楕円 26">
                  <a:extLst>
                    <a:ext uri="{FF2B5EF4-FFF2-40B4-BE49-F238E27FC236}">
                      <a16:creationId xmlns:a16="http://schemas.microsoft.com/office/drawing/2014/main" id="{DDE4F90E-E889-EBB9-9566-FA46AB677A32}"/>
                    </a:ext>
                  </a:extLst>
                </p:cNvPr>
                <p:cNvSpPr>
                  <a:spLocks noChangeAspect="1"/>
                </p:cNvSpPr>
                <p:nvPr/>
              </p:nvSpPr>
              <p:spPr>
                <a:xfrm>
                  <a:off x="1408176" y="458114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8" name="円/楕円 27">
                  <a:extLst>
                    <a:ext uri="{FF2B5EF4-FFF2-40B4-BE49-F238E27FC236}">
                      <a16:creationId xmlns:a16="http://schemas.microsoft.com/office/drawing/2014/main" id="{3C95AD60-93F0-93FB-2086-F32909FE13BF}"/>
                    </a:ext>
                  </a:extLst>
                </p:cNvPr>
                <p:cNvSpPr>
                  <a:spLocks noChangeAspect="1"/>
                </p:cNvSpPr>
                <p:nvPr/>
              </p:nvSpPr>
              <p:spPr>
                <a:xfrm>
                  <a:off x="1655064" y="450342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9" name="円/楕円 28">
                  <a:extLst>
                    <a:ext uri="{FF2B5EF4-FFF2-40B4-BE49-F238E27FC236}">
                      <a16:creationId xmlns:a16="http://schemas.microsoft.com/office/drawing/2014/main" id="{3A97E192-9655-95F0-6B10-BBD317C8BCBB}"/>
                    </a:ext>
                  </a:extLst>
                </p:cNvPr>
                <p:cNvSpPr>
                  <a:spLocks noChangeAspect="1"/>
                </p:cNvSpPr>
                <p:nvPr/>
              </p:nvSpPr>
              <p:spPr>
                <a:xfrm>
                  <a:off x="1330452" y="489051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0" name="円/楕円 29">
                  <a:extLst>
                    <a:ext uri="{FF2B5EF4-FFF2-40B4-BE49-F238E27FC236}">
                      <a16:creationId xmlns:a16="http://schemas.microsoft.com/office/drawing/2014/main" id="{DC27F027-EB42-A394-8CB1-F0137B9151FF}"/>
                    </a:ext>
                  </a:extLst>
                </p:cNvPr>
                <p:cNvSpPr>
                  <a:spLocks noChangeAspect="1"/>
                </p:cNvSpPr>
                <p:nvPr/>
              </p:nvSpPr>
              <p:spPr>
                <a:xfrm>
                  <a:off x="1655064" y="564794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1" name="円/楕円 30">
                  <a:extLst>
                    <a:ext uri="{FF2B5EF4-FFF2-40B4-BE49-F238E27FC236}">
                      <a16:creationId xmlns:a16="http://schemas.microsoft.com/office/drawing/2014/main" id="{A2296AC5-EAD7-6897-4B25-55463EAA6865}"/>
                    </a:ext>
                  </a:extLst>
                </p:cNvPr>
                <p:cNvSpPr>
                  <a:spLocks noChangeAspect="1"/>
                </p:cNvSpPr>
                <p:nvPr/>
              </p:nvSpPr>
              <p:spPr>
                <a:xfrm>
                  <a:off x="1956244" y="579729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2" name="円/楕円 31">
                  <a:extLst>
                    <a:ext uri="{FF2B5EF4-FFF2-40B4-BE49-F238E27FC236}">
                      <a16:creationId xmlns:a16="http://schemas.microsoft.com/office/drawing/2014/main" id="{B483BC7D-90C8-9CAA-618E-67CBB63A6D25}"/>
                    </a:ext>
                  </a:extLst>
                </p:cNvPr>
                <p:cNvSpPr>
                  <a:spLocks noChangeAspect="1"/>
                </p:cNvSpPr>
                <p:nvPr/>
              </p:nvSpPr>
              <p:spPr>
                <a:xfrm>
                  <a:off x="1833372" y="5527548"/>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3" name="円/楕円 32">
                  <a:extLst>
                    <a:ext uri="{FF2B5EF4-FFF2-40B4-BE49-F238E27FC236}">
                      <a16:creationId xmlns:a16="http://schemas.microsoft.com/office/drawing/2014/main" id="{85A8B565-9F3D-4386-DD4F-ACF79EB420D9}"/>
                    </a:ext>
                  </a:extLst>
                </p:cNvPr>
                <p:cNvSpPr>
                  <a:spLocks noChangeAspect="1"/>
                </p:cNvSpPr>
                <p:nvPr/>
              </p:nvSpPr>
              <p:spPr>
                <a:xfrm>
                  <a:off x="1911096" y="523265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4" name="円/楕円 33">
                  <a:extLst>
                    <a:ext uri="{FF2B5EF4-FFF2-40B4-BE49-F238E27FC236}">
                      <a16:creationId xmlns:a16="http://schemas.microsoft.com/office/drawing/2014/main" id="{62A44F42-8270-B318-0763-A6AF7E9A6D65}"/>
                    </a:ext>
                  </a:extLst>
                </p:cNvPr>
                <p:cNvSpPr>
                  <a:spLocks noChangeAspect="1"/>
                </p:cNvSpPr>
                <p:nvPr/>
              </p:nvSpPr>
              <p:spPr>
                <a:xfrm>
                  <a:off x="2066544" y="513349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5" name="円/楕円 34">
                  <a:extLst>
                    <a:ext uri="{FF2B5EF4-FFF2-40B4-BE49-F238E27FC236}">
                      <a16:creationId xmlns:a16="http://schemas.microsoft.com/office/drawing/2014/main" id="{77B10328-BE3B-10DA-616C-0F23BD51438D}"/>
                    </a:ext>
                  </a:extLst>
                </p:cNvPr>
                <p:cNvSpPr>
                  <a:spLocks noChangeAspect="1"/>
                </p:cNvSpPr>
                <p:nvPr/>
              </p:nvSpPr>
              <p:spPr>
                <a:xfrm>
                  <a:off x="1988820" y="4802545"/>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6" name="円/楕円 35">
                  <a:extLst>
                    <a:ext uri="{FF2B5EF4-FFF2-40B4-BE49-F238E27FC236}">
                      <a16:creationId xmlns:a16="http://schemas.microsoft.com/office/drawing/2014/main" id="{8617735D-242C-73C8-20B0-9643513A5BC8}"/>
                    </a:ext>
                  </a:extLst>
                </p:cNvPr>
                <p:cNvSpPr>
                  <a:spLocks noChangeAspect="1"/>
                </p:cNvSpPr>
                <p:nvPr/>
              </p:nvSpPr>
              <p:spPr>
                <a:xfrm>
                  <a:off x="2424303" y="496824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7" name="円/楕円 36">
                  <a:extLst>
                    <a:ext uri="{FF2B5EF4-FFF2-40B4-BE49-F238E27FC236}">
                      <a16:creationId xmlns:a16="http://schemas.microsoft.com/office/drawing/2014/main" id="{115D4F3A-32CC-E20B-CE09-A118E782211D}"/>
                    </a:ext>
                  </a:extLst>
                </p:cNvPr>
                <p:cNvSpPr>
                  <a:spLocks noChangeAspect="1"/>
                </p:cNvSpPr>
                <p:nvPr/>
              </p:nvSpPr>
              <p:spPr>
                <a:xfrm>
                  <a:off x="2502027" y="521121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8" name="円/楕円 37">
                  <a:extLst>
                    <a:ext uri="{FF2B5EF4-FFF2-40B4-BE49-F238E27FC236}">
                      <a16:creationId xmlns:a16="http://schemas.microsoft.com/office/drawing/2014/main" id="{ACEFE23A-792C-F147-9E6D-9FE0D5438278}"/>
                    </a:ext>
                  </a:extLst>
                </p:cNvPr>
                <p:cNvSpPr>
                  <a:spLocks noChangeAspect="1"/>
                </p:cNvSpPr>
                <p:nvPr/>
              </p:nvSpPr>
              <p:spPr>
                <a:xfrm>
                  <a:off x="2346579" y="535599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9" name="円/楕円 38">
                  <a:extLst>
                    <a:ext uri="{FF2B5EF4-FFF2-40B4-BE49-F238E27FC236}">
                      <a16:creationId xmlns:a16="http://schemas.microsoft.com/office/drawing/2014/main" id="{4CFD4892-C5D8-482A-7BB2-BAB913E68BEA}"/>
                    </a:ext>
                  </a:extLst>
                </p:cNvPr>
                <p:cNvSpPr>
                  <a:spLocks noChangeAspect="1"/>
                </p:cNvSpPr>
                <p:nvPr/>
              </p:nvSpPr>
              <p:spPr>
                <a:xfrm>
                  <a:off x="2734056" y="5000902"/>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0" name="円/楕円 39">
                  <a:extLst>
                    <a:ext uri="{FF2B5EF4-FFF2-40B4-BE49-F238E27FC236}">
                      <a16:creationId xmlns:a16="http://schemas.microsoft.com/office/drawing/2014/main" id="{EA43EC24-CB89-D1E9-4343-C5736377A4AE}"/>
                    </a:ext>
                  </a:extLst>
                </p:cNvPr>
                <p:cNvSpPr>
                  <a:spLocks noChangeAspect="1"/>
                </p:cNvSpPr>
                <p:nvPr/>
              </p:nvSpPr>
              <p:spPr>
                <a:xfrm>
                  <a:off x="2734056" y="534427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1" name="円/楕円 40">
                  <a:extLst>
                    <a:ext uri="{FF2B5EF4-FFF2-40B4-BE49-F238E27FC236}">
                      <a16:creationId xmlns:a16="http://schemas.microsoft.com/office/drawing/2014/main" id="{E4CDBADC-81EF-C316-C09D-F322C9BE2ED1}"/>
                    </a:ext>
                  </a:extLst>
                </p:cNvPr>
                <p:cNvSpPr>
                  <a:spLocks noChangeAspect="1"/>
                </p:cNvSpPr>
                <p:nvPr/>
              </p:nvSpPr>
              <p:spPr>
                <a:xfrm>
                  <a:off x="2540508" y="557022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grpSp>
            <p:nvGrpSpPr>
              <p:cNvPr id="43" name="グループ化 42">
                <a:extLst>
                  <a:ext uri="{FF2B5EF4-FFF2-40B4-BE49-F238E27FC236}">
                    <a16:creationId xmlns:a16="http://schemas.microsoft.com/office/drawing/2014/main" id="{54BE5657-690B-6436-63B2-B8B438402F34}"/>
                  </a:ext>
                </a:extLst>
              </p:cNvPr>
              <p:cNvGrpSpPr/>
              <p:nvPr/>
            </p:nvGrpSpPr>
            <p:grpSpPr>
              <a:xfrm>
                <a:off x="6631115" y="5011450"/>
                <a:ext cx="1559052" cy="1449324"/>
                <a:chOff x="1330452" y="4503420"/>
                <a:chExt cx="1559052" cy="1449324"/>
              </a:xfrm>
            </p:grpSpPr>
            <p:sp>
              <p:nvSpPr>
                <p:cNvPr id="44" name="円/楕円 43">
                  <a:extLst>
                    <a:ext uri="{FF2B5EF4-FFF2-40B4-BE49-F238E27FC236}">
                      <a16:creationId xmlns:a16="http://schemas.microsoft.com/office/drawing/2014/main" id="{205BDF7C-D25E-0004-C055-6EC49C5459E8}"/>
                    </a:ext>
                  </a:extLst>
                </p:cNvPr>
                <p:cNvSpPr>
                  <a:spLocks noChangeAspect="1"/>
                </p:cNvSpPr>
                <p:nvPr/>
              </p:nvSpPr>
              <p:spPr>
                <a:xfrm>
                  <a:off x="1408176" y="4581144"/>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5" name="円/楕円 44">
                  <a:extLst>
                    <a:ext uri="{FF2B5EF4-FFF2-40B4-BE49-F238E27FC236}">
                      <a16:creationId xmlns:a16="http://schemas.microsoft.com/office/drawing/2014/main" id="{0441FFEE-B045-15DC-BA1F-BC589CDA08AB}"/>
                    </a:ext>
                  </a:extLst>
                </p:cNvPr>
                <p:cNvSpPr>
                  <a:spLocks noChangeAspect="1"/>
                </p:cNvSpPr>
                <p:nvPr/>
              </p:nvSpPr>
              <p:spPr>
                <a:xfrm>
                  <a:off x="1655064" y="4503420"/>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6" name="円/楕円 45">
                  <a:extLst>
                    <a:ext uri="{FF2B5EF4-FFF2-40B4-BE49-F238E27FC236}">
                      <a16:creationId xmlns:a16="http://schemas.microsoft.com/office/drawing/2014/main" id="{BA73B3B1-3477-5C3F-771D-29BF2F4FE9CE}"/>
                    </a:ext>
                  </a:extLst>
                </p:cNvPr>
                <p:cNvSpPr>
                  <a:spLocks noChangeAspect="1"/>
                </p:cNvSpPr>
                <p:nvPr/>
              </p:nvSpPr>
              <p:spPr>
                <a:xfrm>
                  <a:off x="1330452" y="4890516"/>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7" name="円/楕円 46">
                  <a:extLst>
                    <a:ext uri="{FF2B5EF4-FFF2-40B4-BE49-F238E27FC236}">
                      <a16:creationId xmlns:a16="http://schemas.microsoft.com/office/drawing/2014/main" id="{D51DF1D5-377E-FF4B-41E5-EFF68C781D3B}"/>
                    </a:ext>
                  </a:extLst>
                </p:cNvPr>
                <p:cNvSpPr>
                  <a:spLocks noChangeAspect="1"/>
                </p:cNvSpPr>
                <p:nvPr/>
              </p:nvSpPr>
              <p:spPr>
                <a:xfrm>
                  <a:off x="1655064" y="5647944"/>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8" name="円/楕円 47">
                  <a:extLst>
                    <a:ext uri="{FF2B5EF4-FFF2-40B4-BE49-F238E27FC236}">
                      <a16:creationId xmlns:a16="http://schemas.microsoft.com/office/drawing/2014/main" id="{56849D6C-B7AB-9C54-9FD9-549DA65A8F99}"/>
                    </a:ext>
                  </a:extLst>
                </p:cNvPr>
                <p:cNvSpPr>
                  <a:spLocks noChangeAspect="1"/>
                </p:cNvSpPr>
                <p:nvPr/>
              </p:nvSpPr>
              <p:spPr>
                <a:xfrm>
                  <a:off x="1956244" y="5797296"/>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9" name="円/楕円 48">
                  <a:extLst>
                    <a:ext uri="{FF2B5EF4-FFF2-40B4-BE49-F238E27FC236}">
                      <a16:creationId xmlns:a16="http://schemas.microsoft.com/office/drawing/2014/main" id="{89FFF863-42E2-FA96-E584-B66F98B77685}"/>
                    </a:ext>
                  </a:extLst>
                </p:cNvPr>
                <p:cNvSpPr>
                  <a:spLocks noChangeAspect="1"/>
                </p:cNvSpPr>
                <p:nvPr/>
              </p:nvSpPr>
              <p:spPr>
                <a:xfrm>
                  <a:off x="1833372" y="5527548"/>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0" name="円/楕円 49">
                  <a:extLst>
                    <a:ext uri="{FF2B5EF4-FFF2-40B4-BE49-F238E27FC236}">
                      <a16:creationId xmlns:a16="http://schemas.microsoft.com/office/drawing/2014/main" id="{3F0C40E3-6E23-CE23-CDCA-B7FE14CF4A01}"/>
                    </a:ext>
                  </a:extLst>
                </p:cNvPr>
                <p:cNvSpPr>
                  <a:spLocks noChangeAspect="1"/>
                </p:cNvSpPr>
                <p:nvPr/>
              </p:nvSpPr>
              <p:spPr>
                <a:xfrm>
                  <a:off x="1911096" y="5232654"/>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1" name="円/楕円 50">
                  <a:extLst>
                    <a:ext uri="{FF2B5EF4-FFF2-40B4-BE49-F238E27FC236}">
                      <a16:creationId xmlns:a16="http://schemas.microsoft.com/office/drawing/2014/main" id="{E8C7BEF1-05DC-DEC8-42F8-9B76F64DD8CC}"/>
                    </a:ext>
                  </a:extLst>
                </p:cNvPr>
                <p:cNvSpPr>
                  <a:spLocks noChangeAspect="1"/>
                </p:cNvSpPr>
                <p:nvPr/>
              </p:nvSpPr>
              <p:spPr>
                <a:xfrm>
                  <a:off x="2066544" y="5133490"/>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2" name="円/楕円 51">
                  <a:extLst>
                    <a:ext uri="{FF2B5EF4-FFF2-40B4-BE49-F238E27FC236}">
                      <a16:creationId xmlns:a16="http://schemas.microsoft.com/office/drawing/2014/main" id="{C667DCB5-3AAC-AA0E-390E-FC6D728ECF18}"/>
                    </a:ext>
                  </a:extLst>
                </p:cNvPr>
                <p:cNvSpPr>
                  <a:spLocks noChangeAspect="1"/>
                </p:cNvSpPr>
                <p:nvPr/>
              </p:nvSpPr>
              <p:spPr>
                <a:xfrm>
                  <a:off x="1988820" y="4802545"/>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3" name="円/楕円 52">
                  <a:extLst>
                    <a:ext uri="{FF2B5EF4-FFF2-40B4-BE49-F238E27FC236}">
                      <a16:creationId xmlns:a16="http://schemas.microsoft.com/office/drawing/2014/main" id="{059167C0-2243-3CF3-176E-5F51D8C37B0E}"/>
                    </a:ext>
                  </a:extLst>
                </p:cNvPr>
                <p:cNvSpPr>
                  <a:spLocks noChangeAspect="1"/>
                </p:cNvSpPr>
                <p:nvPr/>
              </p:nvSpPr>
              <p:spPr>
                <a:xfrm>
                  <a:off x="2424303" y="4968240"/>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4" name="円/楕円 53">
                  <a:extLst>
                    <a:ext uri="{FF2B5EF4-FFF2-40B4-BE49-F238E27FC236}">
                      <a16:creationId xmlns:a16="http://schemas.microsoft.com/office/drawing/2014/main" id="{CE8ADDEA-2F96-A643-6604-92276C0EFBFF}"/>
                    </a:ext>
                  </a:extLst>
                </p:cNvPr>
                <p:cNvSpPr>
                  <a:spLocks noChangeAspect="1"/>
                </p:cNvSpPr>
                <p:nvPr/>
              </p:nvSpPr>
              <p:spPr>
                <a:xfrm>
                  <a:off x="2502027" y="5211214"/>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5" name="円/楕円 54">
                  <a:extLst>
                    <a:ext uri="{FF2B5EF4-FFF2-40B4-BE49-F238E27FC236}">
                      <a16:creationId xmlns:a16="http://schemas.microsoft.com/office/drawing/2014/main" id="{DE25890C-DFA8-C4EB-EBA6-A620AE9EE4CA}"/>
                    </a:ext>
                  </a:extLst>
                </p:cNvPr>
                <p:cNvSpPr>
                  <a:spLocks noChangeAspect="1"/>
                </p:cNvSpPr>
                <p:nvPr/>
              </p:nvSpPr>
              <p:spPr>
                <a:xfrm>
                  <a:off x="2346579" y="5355994"/>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6" name="円/楕円 55">
                  <a:extLst>
                    <a:ext uri="{FF2B5EF4-FFF2-40B4-BE49-F238E27FC236}">
                      <a16:creationId xmlns:a16="http://schemas.microsoft.com/office/drawing/2014/main" id="{E20CA607-55AD-B5EC-CDA9-6D7ABB3E960B}"/>
                    </a:ext>
                  </a:extLst>
                </p:cNvPr>
                <p:cNvSpPr>
                  <a:spLocks noChangeAspect="1"/>
                </p:cNvSpPr>
                <p:nvPr/>
              </p:nvSpPr>
              <p:spPr>
                <a:xfrm>
                  <a:off x="2734056" y="5000902"/>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7" name="円/楕円 56">
                  <a:extLst>
                    <a:ext uri="{FF2B5EF4-FFF2-40B4-BE49-F238E27FC236}">
                      <a16:creationId xmlns:a16="http://schemas.microsoft.com/office/drawing/2014/main" id="{5AC1AE13-5AB6-5D71-5E48-73B3AB77F8DA}"/>
                    </a:ext>
                  </a:extLst>
                </p:cNvPr>
                <p:cNvSpPr>
                  <a:spLocks noChangeAspect="1"/>
                </p:cNvSpPr>
                <p:nvPr/>
              </p:nvSpPr>
              <p:spPr>
                <a:xfrm>
                  <a:off x="2734056" y="5344276"/>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8" name="円/楕円 57">
                  <a:extLst>
                    <a:ext uri="{FF2B5EF4-FFF2-40B4-BE49-F238E27FC236}">
                      <a16:creationId xmlns:a16="http://schemas.microsoft.com/office/drawing/2014/main" id="{096467F1-869C-9414-2515-F5790B8F02D8}"/>
                    </a:ext>
                  </a:extLst>
                </p:cNvPr>
                <p:cNvSpPr>
                  <a:spLocks noChangeAspect="1"/>
                </p:cNvSpPr>
                <p:nvPr/>
              </p:nvSpPr>
              <p:spPr>
                <a:xfrm>
                  <a:off x="2540508" y="5570220"/>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59" name="右矢印 58">
                <a:extLst>
                  <a:ext uri="{FF2B5EF4-FFF2-40B4-BE49-F238E27FC236}">
                    <a16:creationId xmlns:a16="http://schemas.microsoft.com/office/drawing/2014/main" id="{63619DD3-3730-FC26-01F2-CFC675414834}"/>
                  </a:ext>
                </a:extLst>
              </p:cNvPr>
              <p:cNvSpPr/>
              <p:nvPr/>
            </p:nvSpPr>
            <p:spPr>
              <a:xfrm>
                <a:off x="5752761" y="5493796"/>
                <a:ext cx="520596" cy="484632"/>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61" name="右矢印 60">
                <a:extLst>
                  <a:ext uri="{FF2B5EF4-FFF2-40B4-BE49-F238E27FC236}">
                    <a16:creationId xmlns:a16="http://schemas.microsoft.com/office/drawing/2014/main" id="{7ABFB257-D8C1-0D04-1054-72A35023D6E0}"/>
                  </a:ext>
                </a:extLst>
              </p:cNvPr>
              <p:cNvSpPr/>
              <p:nvPr/>
            </p:nvSpPr>
            <p:spPr>
              <a:xfrm>
                <a:off x="2957598" y="5493796"/>
                <a:ext cx="520596" cy="484632"/>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pic>
            <p:nvPicPr>
              <p:cNvPr id="64" name="図 63">
                <a:extLst>
                  <a:ext uri="{FF2B5EF4-FFF2-40B4-BE49-F238E27FC236}">
                    <a16:creationId xmlns:a16="http://schemas.microsoft.com/office/drawing/2014/main" id="{2139E5C8-AA23-A96E-D07B-6E03156397BA}"/>
                  </a:ext>
                </a:extLst>
              </p:cNvPr>
              <p:cNvPicPr>
                <a:picLocks noChangeAspect="1"/>
              </p:cNvPicPr>
              <p:nvPr/>
            </p:nvPicPr>
            <p:blipFill>
              <a:blip r:embed="rId3"/>
              <a:stretch>
                <a:fillRect/>
              </a:stretch>
            </p:blipFill>
            <p:spPr>
              <a:xfrm>
                <a:off x="910739" y="5082062"/>
                <a:ext cx="1689100" cy="1308100"/>
              </a:xfrm>
              <a:prstGeom prst="rect">
                <a:avLst/>
              </a:prstGeom>
            </p:spPr>
          </p:pic>
        </p:grpSp>
        <p:sp>
          <p:nvSpPr>
            <p:cNvPr id="67" name="テキスト ボックス 66">
              <a:extLst>
                <a:ext uri="{FF2B5EF4-FFF2-40B4-BE49-F238E27FC236}">
                  <a16:creationId xmlns:a16="http://schemas.microsoft.com/office/drawing/2014/main" id="{6CD2E57E-B29C-F03A-108A-267E8A7C7876}"/>
                </a:ext>
              </a:extLst>
            </p:cNvPr>
            <p:cNvSpPr txBox="1"/>
            <p:nvPr/>
          </p:nvSpPr>
          <p:spPr>
            <a:xfrm>
              <a:off x="1299782" y="6487295"/>
              <a:ext cx="954107" cy="276999"/>
            </a:xfrm>
            <a:prstGeom prst="rect">
              <a:avLst/>
            </a:prstGeom>
            <a:noFill/>
          </p:spPr>
          <p:txBody>
            <a:bodyPr wrap="none" rtlCol="0">
              <a:spAutoFit/>
            </a:bodyPr>
            <a:lstStyle/>
            <a:p>
              <a:pPr algn="ctr"/>
              <a:r>
                <a:rPr kumimoji="1" lang="ja-GB" altLang="en-US" sz="1200" b="1" dirty="0">
                  <a:solidFill>
                    <a:srgbClr val="2F2523"/>
                  </a:solidFill>
                </a:rPr>
                <a:t>購買データ</a:t>
              </a:r>
            </a:p>
          </p:txBody>
        </p:sp>
        <p:sp>
          <p:nvSpPr>
            <p:cNvPr id="68" name="テキスト ボックス 67">
              <a:extLst>
                <a:ext uri="{FF2B5EF4-FFF2-40B4-BE49-F238E27FC236}">
                  <a16:creationId xmlns:a16="http://schemas.microsoft.com/office/drawing/2014/main" id="{5DE660BE-90E6-4D19-6840-3BDE3A17263B}"/>
                </a:ext>
              </a:extLst>
            </p:cNvPr>
            <p:cNvSpPr txBox="1"/>
            <p:nvPr/>
          </p:nvSpPr>
          <p:spPr>
            <a:xfrm>
              <a:off x="3887267" y="6483315"/>
              <a:ext cx="1723549" cy="276999"/>
            </a:xfrm>
            <a:prstGeom prst="rect">
              <a:avLst/>
            </a:prstGeom>
            <a:noFill/>
          </p:spPr>
          <p:txBody>
            <a:bodyPr wrap="none" rtlCol="0">
              <a:spAutoFit/>
            </a:bodyPr>
            <a:lstStyle/>
            <a:p>
              <a:pPr algn="ctr"/>
              <a:r>
                <a:rPr kumimoji="1" lang="ja-GB" altLang="en-US" sz="1200" b="1" dirty="0">
                  <a:solidFill>
                    <a:srgbClr val="2F2523"/>
                  </a:solidFill>
                </a:rPr>
                <a:t>特徴がよく現れる表現</a:t>
              </a:r>
            </a:p>
          </p:txBody>
        </p:sp>
        <p:sp>
          <p:nvSpPr>
            <p:cNvPr id="69" name="テキスト ボックス 68">
              <a:extLst>
                <a:ext uri="{FF2B5EF4-FFF2-40B4-BE49-F238E27FC236}">
                  <a16:creationId xmlns:a16="http://schemas.microsoft.com/office/drawing/2014/main" id="{E7CC7C6E-0876-9BF5-BA69-C59AE2F46BE5}"/>
                </a:ext>
              </a:extLst>
            </p:cNvPr>
            <p:cNvSpPr txBox="1"/>
            <p:nvPr/>
          </p:nvSpPr>
          <p:spPr>
            <a:xfrm>
              <a:off x="7422569" y="6483315"/>
              <a:ext cx="492443" cy="276999"/>
            </a:xfrm>
            <a:prstGeom prst="rect">
              <a:avLst/>
            </a:prstGeom>
            <a:noFill/>
          </p:spPr>
          <p:txBody>
            <a:bodyPr wrap="none" rtlCol="0">
              <a:spAutoFit/>
            </a:bodyPr>
            <a:lstStyle/>
            <a:p>
              <a:pPr algn="ctr"/>
              <a:r>
                <a:rPr kumimoji="1" lang="ja-GB" altLang="en-US" sz="1200" b="1" dirty="0">
                  <a:solidFill>
                    <a:srgbClr val="2F2523"/>
                  </a:solidFill>
                </a:rPr>
                <a:t>分類</a:t>
              </a:r>
            </a:p>
          </p:txBody>
        </p:sp>
        <p:cxnSp>
          <p:nvCxnSpPr>
            <p:cNvPr id="71" name="直線矢印コネクタ 70">
              <a:extLst>
                <a:ext uri="{FF2B5EF4-FFF2-40B4-BE49-F238E27FC236}">
                  <a16:creationId xmlns:a16="http://schemas.microsoft.com/office/drawing/2014/main" id="{3B355608-EEE2-1B6C-C9B2-2C702ABC2A0F}"/>
                </a:ext>
              </a:extLst>
            </p:cNvPr>
            <p:cNvCxnSpPr>
              <a:cxnSpLocks/>
            </p:cNvCxnSpPr>
            <p:nvPr/>
          </p:nvCxnSpPr>
          <p:spPr>
            <a:xfrm flipV="1">
              <a:off x="3715235" y="4824555"/>
              <a:ext cx="0" cy="1566219"/>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94F1557F-2190-6EFE-1607-F22B42C2C7D4}"/>
                </a:ext>
              </a:extLst>
            </p:cNvPr>
            <p:cNvCxnSpPr>
              <a:cxnSpLocks/>
            </p:cNvCxnSpPr>
            <p:nvPr/>
          </p:nvCxnSpPr>
          <p:spPr>
            <a:xfrm>
              <a:off x="3715235" y="6390774"/>
              <a:ext cx="1893108" cy="0"/>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25DA03C-E802-6253-3691-2D1776164A32}"/>
                </a:ext>
              </a:extLst>
            </p:cNvPr>
            <p:cNvCxnSpPr>
              <a:cxnSpLocks/>
            </p:cNvCxnSpPr>
            <p:nvPr/>
          </p:nvCxnSpPr>
          <p:spPr>
            <a:xfrm flipV="1">
              <a:off x="6545961" y="4829634"/>
              <a:ext cx="0" cy="1566219"/>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C84B2972-1578-4A17-5DDD-917BB6B3D870}"/>
                </a:ext>
              </a:extLst>
            </p:cNvPr>
            <p:cNvCxnSpPr>
              <a:cxnSpLocks/>
            </p:cNvCxnSpPr>
            <p:nvPr/>
          </p:nvCxnSpPr>
          <p:spPr>
            <a:xfrm>
              <a:off x="6545961" y="6395853"/>
              <a:ext cx="1893108" cy="0"/>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7813D596-A8BD-5DDE-A136-9D9054799CDA}"/>
                </a:ext>
              </a:extLst>
            </p:cNvPr>
            <p:cNvSpPr txBox="1"/>
            <p:nvPr/>
          </p:nvSpPr>
          <p:spPr>
            <a:xfrm>
              <a:off x="5551962" y="6283052"/>
              <a:ext cx="697627" cy="215444"/>
            </a:xfrm>
            <a:prstGeom prst="rect">
              <a:avLst/>
            </a:prstGeom>
            <a:noFill/>
          </p:spPr>
          <p:txBody>
            <a:bodyPr wrap="none" rtlCol="0">
              <a:spAutoFit/>
            </a:bodyPr>
            <a:lstStyle/>
            <a:p>
              <a:r>
                <a:rPr kumimoji="1" lang="ja-GB" altLang="en-US" sz="800" b="1" dirty="0">
                  <a:solidFill>
                    <a:srgbClr val="2F2523"/>
                  </a:solidFill>
                </a:rPr>
                <a:t>年齢</a:t>
              </a:r>
              <a:r>
                <a:rPr kumimoji="1" lang="en-US" altLang="ja-GB" sz="800" b="1" dirty="0">
                  <a:solidFill>
                    <a:srgbClr val="2F2523"/>
                  </a:solidFill>
                </a:rPr>
                <a:t>×</a:t>
              </a:r>
              <a:r>
                <a:rPr kumimoji="1" lang="ja-GB" altLang="en-US" sz="800" b="1" dirty="0">
                  <a:solidFill>
                    <a:srgbClr val="2F2523"/>
                  </a:solidFill>
                </a:rPr>
                <a:t>気温</a:t>
              </a:r>
            </a:p>
          </p:txBody>
        </p:sp>
        <p:sp>
          <p:nvSpPr>
            <p:cNvPr id="82" name="テキスト ボックス 81">
              <a:extLst>
                <a:ext uri="{FF2B5EF4-FFF2-40B4-BE49-F238E27FC236}">
                  <a16:creationId xmlns:a16="http://schemas.microsoft.com/office/drawing/2014/main" id="{C7C6D6AA-0455-6257-4AD1-22E2E2063BBF}"/>
                </a:ext>
              </a:extLst>
            </p:cNvPr>
            <p:cNvSpPr txBox="1"/>
            <p:nvPr/>
          </p:nvSpPr>
          <p:spPr>
            <a:xfrm>
              <a:off x="3329716" y="4783522"/>
              <a:ext cx="389850" cy="215444"/>
            </a:xfrm>
            <a:prstGeom prst="rect">
              <a:avLst/>
            </a:prstGeom>
            <a:noFill/>
          </p:spPr>
          <p:txBody>
            <a:bodyPr wrap="none" rtlCol="0">
              <a:spAutoFit/>
            </a:bodyPr>
            <a:lstStyle/>
            <a:p>
              <a:r>
                <a:rPr kumimoji="1" lang="ja-GB" altLang="en-US" sz="800" b="1" dirty="0">
                  <a:solidFill>
                    <a:srgbClr val="2F2523"/>
                  </a:solidFill>
                </a:rPr>
                <a:t>価格</a:t>
              </a:r>
            </a:p>
          </p:txBody>
        </p:sp>
        <p:sp>
          <p:nvSpPr>
            <p:cNvPr id="83" name="テキスト ボックス 82">
              <a:extLst>
                <a:ext uri="{FF2B5EF4-FFF2-40B4-BE49-F238E27FC236}">
                  <a16:creationId xmlns:a16="http://schemas.microsoft.com/office/drawing/2014/main" id="{B7D37E0E-CED7-87E7-58AA-03ED0ADDC069}"/>
                </a:ext>
              </a:extLst>
            </p:cNvPr>
            <p:cNvSpPr txBox="1"/>
            <p:nvPr/>
          </p:nvSpPr>
          <p:spPr>
            <a:xfrm>
              <a:off x="8382277" y="6287540"/>
              <a:ext cx="697627" cy="215444"/>
            </a:xfrm>
            <a:prstGeom prst="rect">
              <a:avLst/>
            </a:prstGeom>
            <a:noFill/>
          </p:spPr>
          <p:txBody>
            <a:bodyPr wrap="none" rtlCol="0">
              <a:spAutoFit/>
            </a:bodyPr>
            <a:lstStyle/>
            <a:p>
              <a:r>
                <a:rPr kumimoji="1" lang="ja-GB" altLang="en-US" sz="800" b="1" dirty="0">
                  <a:solidFill>
                    <a:srgbClr val="2F2523"/>
                  </a:solidFill>
                </a:rPr>
                <a:t>年齢</a:t>
              </a:r>
              <a:r>
                <a:rPr kumimoji="1" lang="en-US" altLang="ja-GB" sz="800" b="1" dirty="0">
                  <a:solidFill>
                    <a:srgbClr val="2F2523"/>
                  </a:solidFill>
                </a:rPr>
                <a:t>×</a:t>
              </a:r>
              <a:r>
                <a:rPr kumimoji="1" lang="ja-GB" altLang="en-US" sz="800" b="1" dirty="0">
                  <a:solidFill>
                    <a:srgbClr val="2F2523"/>
                  </a:solidFill>
                </a:rPr>
                <a:t>気温</a:t>
              </a:r>
            </a:p>
          </p:txBody>
        </p:sp>
        <p:sp>
          <p:nvSpPr>
            <p:cNvPr id="84" name="テキスト ボックス 83">
              <a:extLst>
                <a:ext uri="{FF2B5EF4-FFF2-40B4-BE49-F238E27FC236}">
                  <a16:creationId xmlns:a16="http://schemas.microsoft.com/office/drawing/2014/main" id="{6C41DAB2-47B6-3D7B-B45B-66FD360ECB44}"/>
                </a:ext>
              </a:extLst>
            </p:cNvPr>
            <p:cNvSpPr txBox="1"/>
            <p:nvPr/>
          </p:nvSpPr>
          <p:spPr>
            <a:xfrm>
              <a:off x="6160031" y="4788010"/>
              <a:ext cx="389850" cy="215444"/>
            </a:xfrm>
            <a:prstGeom prst="rect">
              <a:avLst/>
            </a:prstGeom>
            <a:noFill/>
          </p:spPr>
          <p:txBody>
            <a:bodyPr wrap="none" rtlCol="0">
              <a:spAutoFit/>
            </a:bodyPr>
            <a:lstStyle/>
            <a:p>
              <a:r>
                <a:rPr kumimoji="1" lang="ja-GB" altLang="en-US" sz="800" b="1" dirty="0">
                  <a:solidFill>
                    <a:srgbClr val="2F2523"/>
                  </a:solidFill>
                </a:rPr>
                <a:t>価格</a:t>
              </a:r>
            </a:p>
          </p:txBody>
        </p:sp>
      </p:grpSp>
    </p:spTree>
    <p:extLst>
      <p:ext uri="{BB962C8B-B14F-4D97-AF65-F5344CB8AC3E}">
        <p14:creationId xmlns:p14="http://schemas.microsoft.com/office/powerpoint/2010/main" val="38811428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B5B52C-8DBB-FC1F-F194-2D1403AAA284}"/>
              </a:ext>
            </a:extLst>
          </p:cNvPr>
          <p:cNvSpPr>
            <a:spLocks noGrp="1"/>
          </p:cNvSpPr>
          <p:nvPr>
            <p:ph type="title"/>
          </p:nvPr>
        </p:nvSpPr>
        <p:spPr/>
        <p:txBody>
          <a:bodyPr/>
          <a:lstStyle/>
          <a:p>
            <a:r>
              <a:rPr kumimoji="1" lang="ja-GB" altLang="en-US" dirty="0"/>
              <a:t>応用例</a:t>
            </a:r>
            <a:r>
              <a:rPr kumimoji="1" lang="en-US" altLang="ja-GB" dirty="0"/>
              <a:t>1</a:t>
            </a:r>
            <a:r>
              <a:rPr kumimoji="1" lang="ja-GB" altLang="en-US" dirty="0"/>
              <a:t>：画像を絵画風に変換するフィルタ</a:t>
            </a:r>
          </a:p>
        </p:txBody>
      </p:sp>
      <p:sp>
        <p:nvSpPr>
          <p:cNvPr id="4" name="コンテンツ プレースホルダー 3">
            <a:extLst>
              <a:ext uri="{FF2B5EF4-FFF2-40B4-BE49-F238E27FC236}">
                <a16:creationId xmlns:a16="http://schemas.microsoft.com/office/drawing/2014/main" id="{8028D980-D174-0AAC-E53A-07F47A64B00A}"/>
              </a:ext>
            </a:extLst>
          </p:cNvPr>
          <p:cNvSpPr>
            <a:spLocks noGrp="1"/>
          </p:cNvSpPr>
          <p:nvPr>
            <p:ph idx="1"/>
          </p:nvPr>
        </p:nvSpPr>
        <p:spPr/>
        <p:txBody>
          <a:bodyPr/>
          <a:lstStyle/>
          <a:p>
            <a:pPr marL="0" indent="0">
              <a:buNone/>
            </a:pPr>
            <a:r>
              <a:rPr lang="ja-GB" altLang="en-US" dirty="0"/>
              <a:t>敵対的生成ネットワーク（</a:t>
            </a:r>
            <a:r>
              <a:rPr lang="en-US" altLang="ja-GB" dirty="0"/>
              <a:t>GAN</a:t>
            </a:r>
            <a:r>
              <a:rPr lang="ja-GB" altLang="en-US" dirty="0"/>
              <a:t>）</a:t>
            </a:r>
            <a:endParaRPr lang="en-US" altLang="ja-GB" dirty="0"/>
          </a:p>
          <a:p>
            <a:pPr marL="457200" lvl="1" indent="0">
              <a:buNone/>
            </a:pPr>
            <a:r>
              <a:rPr lang="ja-GB" altLang="en-US" dirty="0"/>
              <a:t>生成器（比喩：偽札犯）と識別器（比喩：警察）を競わせるように学習</a:t>
            </a:r>
            <a:endParaRPr lang="en-US" altLang="ja-GB" dirty="0"/>
          </a:p>
          <a:p>
            <a:pPr lvl="2"/>
            <a:r>
              <a:rPr lang="ja-GB" altLang="en-US" dirty="0"/>
              <a:t>生成器：画像を絵画風に変換して出力</a:t>
            </a:r>
            <a:endParaRPr lang="en-US" altLang="ja-GB" dirty="0"/>
          </a:p>
          <a:p>
            <a:pPr lvl="2"/>
            <a:r>
              <a:rPr lang="ja-GB" altLang="en-US" dirty="0"/>
              <a:t>識別器：本物の絵画と生成器が写真から作った画像を識別</a:t>
            </a:r>
            <a:endParaRPr lang="en-US" altLang="ja-GB" dirty="0"/>
          </a:p>
          <a:p>
            <a:pPr lvl="4"/>
            <a:endParaRPr lang="en-US" altLang="ja-GB" dirty="0"/>
          </a:p>
          <a:p>
            <a:pPr marL="457200" lvl="1" indent="0">
              <a:buNone/>
            </a:pPr>
            <a:r>
              <a:rPr lang="ja-GB" altLang="en-US" dirty="0"/>
              <a:t>基本的な考え方</a:t>
            </a:r>
            <a:endParaRPr lang="en-US" altLang="ja-GB" dirty="0"/>
          </a:p>
          <a:p>
            <a:pPr lvl="2"/>
            <a:r>
              <a:rPr lang="ja-GB" altLang="en-US" dirty="0"/>
              <a:t>識別器が見破れたら，識別器を騙せるように生成器を修正</a:t>
            </a:r>
            <a:endParaRPr lang="en-US" altLang="ja-GB" dirty="0"/>
          </a:p>
          <a:p>
            <a:pPr lvl="2"/>
            <a:r>
              <a:rPr lang="ja-GB" altLang="en-US" dirty="0"/>
              <a:t>識別器が騙されたら，次から騙されないように識別器を修正</a:t>
            </a:r>
          </a:p>
        </p:txBody>
      </p:sp>
      <p:sp>
        <p:nvSpPr>
          <p:cNvPr id="3" name="正方形/長方形 2">
            <a:extLst>
              <a:ext uri="{FF2B5EF4-FFF2-40B4-BE49-F238E27FC236}">
                <a16:creationId xmlns:a16="http://schemas.microsoft.com/office/drawing/2014/main" id="{C10AFE0B-CDD0-613D-265F-76B609E91A2D}"/>
              </a:ext>
            </a:extLst>
          </p:cNvPr>
          <p:cNvSpPr/>
          <p:nvPr/>
        </p:nvSpPr>
        <p:spPr>
          <a:xfrm>
            <a:off x="697832" y="5582131"/>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dirty="0"/>
              <a:t>写真</a:t>
            </a:r>
          </a:p>
        </p:txBody>
      </p:sp>
      <p:sp>
        <p:nvSpPr>
          <p:cNvPr id="6" name="正方形/長方形 5">
            <a:extLst>
              <a:ext uri="{FF2B5EF4-FFF2-40B4-BE49-F238E27FC236}">
                <a16:creationId xmlns:a16="http://schemas.microsoft.com/office/drawing/2014/main" id="{B2AAAF0C-CD4F-F1C1-30F5-F3E9B486EE14}"/>
              </a:ext>
            </a:extLst>
          </p:cNvPr>
          <p:cNvSpPr/>
          <p:nvPr/>
        </p:nvSpPr>
        <p:spPr>
          <a:xfrm>
            <a:off x="697832" y="4053076"/>
            <a:ext cx="914400" cy="9144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GB" altLang="en-US" dirty="0"/>
              <a:t>絵画</a:t>
            </a:r>
          </a:p>
        </p:txBody>
      </p:sp>
      <p:sp>
        <p:nvSpPr>
          <p:cNvPr id="8" name="正方形/長方形 7">
            <a:extLst>
              <a:ext uri="{FF2B5EF4-FFF2-40B4-BE49-F238E27FC236}">
                <a16:creationId xmlns:a16="http://schemas.microsoft.com/office/drawing/2014/main" id="{FB9B28D2-0793-E96E-8ABB-6413FE4DE52F}"/>
              </a:ext>
            </a:extLst>
          </p:cNvPr>
          <p:cNvSpPr/>
          <p:nvPr/>
        </p:nvSpPr>
        <p:spPr>
          <a:xfrm>
            <a:off x="5614744" y="4727367"/>
            <a:ext cx="1832810" cy="9144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dirty="0"/>
              <a:t>識別器</a:t>
            </a:r>
          </a:p>
        </p:txBody>
      </p:sp>
      <p:cxnSp>
        <p:nvCxnSpPr>
          <p:cNvPr id="13" name="カギ線コネクタ 12">
            <a:extLst>
              <a:ext uri="{FF2B5EF4-FFF2-40B4-BE49-F238E27FC236}">
                <a16:creationId xmlns:a16="http://schemas.microsoft.com/office/drawing/2014/main" id="{A310C21F-D6C4-B70C-BE3D-3E831C3E6C16}"/>
              </a:ext>
            </a:extLst>
          </p:cNvPr>
          <p:cNvCxnSpPr>
            <a:cxnSpLocks/>
            <a:stCxn id="3" idx="3"/>
            <a:endCxn id="8" idx="1"/>
          </p:cNvCxnSpPr>
          <p:nvPr/>
        </p:nvCxnSpPr>
        <p:spPr>
          <a:xfrm flipV="1">
            <a:off x="1612232" y="5184567"/>
            <a:ext cx="4002512" cy="854764"/>
          </a:xfrm>
          <a:prstGeom prst="bentConnector3">
            <a:avLst>
              <a:gd name="adj1" fmla="val 84870"/>
            </a:avLst>
          </a:prstGeom>
          <a:ln w="127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カギ線コネクタ 15">
            <a:extLst>
              <a:ext uri="{FF2B5EF4-FFF2-40B4-BE49-F238E27FC236}">
                <a16:creationId xmlns:a16="http://schemas.microsoft.com/office/drawing/2014/main" id="{81678604-29DE-7DE8-4C6B-EEEB07802C71}"/>
              </a:ext>
            </a:extLst>
          </p:cNvPr>
          <p:cNvCxnSpPr>
            <a:cxnSpLocks/>
            <a:stCxn id="6" idx="3"/>
            <a:endCxn id="8" idx="1"/>
          </p:cNvCxnSpPr>
          <p:nvPr/>
        </p:nvCxnSpPr>
        <p:spPr>
          <a:xfrm>
            <a:off x="1612232" y="4510276"/>
            <a:ext cx="4002512" cy="674291"/>
          </a:xfrm>
          <a:prstGeom prst="bentConnector3">
            <a:avLst>
              <a:gd name="adj1" fmla="val 84870"/>
            </a:avLst>
          </a:prstGeom>
          <a:ln w="127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DAED9E80-1D6D-B83C-72A9-65A86D0D399B}"/>
              </a:ext>
            </a:extLst>
          </p:cNvPr>
          <p:cNvCxnSpPr>
            <a:cxnSpLocks/>
            <a:stCxn id="8" idx="3"/>
          </p:cNvCxnSpPr>
          <p:nvPr/>
        </p:nvCxnSpPr>
        <p:spPr>
          <a:xfrm>
            <a:off x="7447554" y="5184567"/>
            <a:ext cx="642435" cy="0"/>
          </a:xfrm>
          <a:prstGeom prst="straightConnector1">
            <a:avLst/>
          </a:prstGeom>
          <a:ln w="12700">
            <a:solidFill>
              <a:srgbClr val="2F2523"/>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76CBDFF9-0C71-F9AA-92CF-43D9DFC96040}"/>
              </a:ext>
            </a:extLst>
          </p:cNvPr>
          <p:cNvSpPr txBox="1"/>
          <p:nvPr/>
        </p:nvSpPr>
        <p:spPr>
          <a:xfrm>
            <a:off x="8046426" y="4727367"/>
            <a:ext cx="646331" cy="923330"/>
          </a:xfrm>
          <a:prstGeom prst="rect">
            <a:avLst/>
          </a:prstGeom>
          <a:noFill/>
        </p:spPr>
        <p:txBody>
          <a:bodyPr wrap="none" rtlCol="0">
            <a:spAutoFit/>
          </a:bodyPr>
          <a:lstStyle/>
          <a:p>
            <a:pPr algn="ctr"/>
            <a:r>
              <a:rPr kumimoji="1" lang="ja-GB" altLang="en-US" dirty="0"/>
              <a:t>本物</a:t>
            </a:r>
            <a:endParaRPr kumimoji="1" lang="en-US" altLang="ja-GB" dirty="0"/>
          </a:p>
          <a:p>
            <a:pPr algn="ctr"/>
            <a:r>
              <a:rPr kumimoji="1" lang="en-US" altLang="ja-GB" dirty="0"/>
              <a:t>or</a:t>
            </a:r>
          </a:p>
          <a:p>
            <a:pPr algn="ctr"/>
            <a:r>
              <a:rPr kumimoji="1" lang="ja-GB" altLang="en-US" dirty="0"/>
              <a:t>偽物</a:t>
            </a:r>
          </a:p>
        </p:txBody>
      </p:sp>
      <p:sp>
        <p:nvSpPr>
          <p:cNvPr id="11" name="正方形/長方形 10">
            <a:extLst>
              <a:ext uri="{FF2B5EF4-FFF2-40B4-BE49-F238E27FC236}">
                <a16:creationId xmlns:a16="http://schemas.microsoft.com/office/drawing/2014/main" id="{7BA5EA05-CB0F-33A6-1648-7F898FB26E63}"/>
              </a:ext>
            </a:extLst>
          </p:cNvPr>
          <p:cNvSpPr/>
          <p:nvPr/>
        </p:nvSpPr>
        <p:spPr>
          <a:xfrm>
            <a:off x="3877429" y="5582131"/>
            <a:ext cx="914400" cy="914400"/>
          </a:xfrm>
          <a:prstGeom prst="rect">
            <a:avLst/>
          </a:prstGeom>
          <a:solidFill>
            <a:schemeClr val="accent6">
              <a:lumMod val="7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GB" altLang="en-US" dirty="0"/>
              <a:t>絵画風写真</a:t>
            </a:r>
          </a:p>
        </p:txBody>
      </p:sp>
      <p:sp>
        <p:nvSpPr>
          <p:cNvPr id="7" name="正方形/長方形 6">
            <a:extLst>
              <a:ext uri="{FF2B5EF4-FFF2-40B4-BE49-F238E27FC236}">
                <a16:creationId xmlns:a16="http://schemas.microsoft.com/office/drawing/2014/main" id="{F49E9796-BE2A-645F-65B0-B35E281487CC}"/>
              </a:ext>
            </a:extLst>
          </p:cNvPr>
          <p:cNvSpPr/>
          <p:nvPr/>
        </p:nvSpPr>
        <p:spPr>
          <a:xfrm>
            <a:off x="1836809" y="5582131"/>
            <a:ext cx="1832810" cy="9144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dirty="0"/>
              <a:t>生成器</a:t>
            </a:r>
          </a:p>
        </p:txBody>
      </p:sp>
    </p:spTree>
    <p:extLst>
      <p:ext uri="{BB962C8B-B14F-4D97-AF65-F5344CB8AC3E}">
        <p14:creationId xmlns:p14="http://schemas.microsoft.com/office/powerpoint/2010/main" val="21608670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740298-135E-BC8A-F24C-E8AEC4DED31D}"/>
              </a:ext>
            </a:extLst>
          </p:cNvPr>
          <p:cNvSpPr>
            <a:spLocks noGrp="1"/>
          </p:cNvSpPr>
          <p:nvPr>
            <p:ph type="title"/>
          </p:nvPr>
        </p:nvSpPr>
        <p:spPr/>
        <p:txBody>
          <a:bodyPr/>
          <a:lstStyle/>
          <a:p>
            <a:r>
              <a:rPr kumimoji="1" lang="en-US" altLang="ja-GB" dirty="0"/>
              <a:t> </a:t>
            </a:r>
            <a:r>
              <a:rPr kumimoji="1" lang="ja-GB" altLang="en-US" dirty="0"/>
              <a:t>応用例</a:t>
            </a:r>
            <a:r>
              <a:rPr kumimoji="1" lang="en-US" altLang="ja-GB" dirty="0"/>
              <a:t>2</a:t>
            </a:r>
            <a:r>
              <a:rPr kumimoji="1" lang="ja-GB" altLang="en-US" dirty="0"/>
              <a:t>：膨大な意見を</a:t>
            </a:r>
            <a:r>
              <a:rPr kumimoji="1" lang="en-US" altLang="ja-GB" dirty="0"/>
              <a:t>AI</a:t>
            </a:r>
            <a:r>
              <a:rPr kumimoji="1" lang="ja-GB" altLang="en-US" dirty="0"/>
              <a:t>で分類・可視化</a:t>
            </a:r>
          </a:p>
        </p:txBody>
      </p:sp>
      <p:sp>
        <p:nvSpPr>
          <p:cNvPr id="3" name="コンテンツ プレースホルダー 2">
            <a:extLst>
              <a:ext uri="{FF2B5EF4-FFF2-40B4-BE49-F238E27FC236}">
                <a16:creationId xmlns:a16="http://schemas.microsoft.com/office/drawing/2014/main" id="{10E49C8C-D9A4-A3C7-961F-D11173835180}"/>
              </a:ext>
            </a:extLst>
          </p:cNvPr>
          <p:cNvSpPr>
            <a:spLocks noGrp="1"/>
          </p:cNvSpPr>
          <p:nvPr>
            <p:ph idx="1"/>
          </p:nvPr>
        </p:nvSpPr>
        <p:spPr/>
        <p:txBody>
          <a:bodyPr/>
          <a:lstStyle/>
          <a:p>
            <a:pPr marL="457200" lvl="1" indent="0">
              <a:buNone/>
            </a:pPr>
            <a:r>
              <a:rPr kumimoji="1" lang="ja-GB" altLang="en-US" dirty="0"/>
              <a:t>顧客の声や市民の声など，膨大なテキストデータの把握や活用を補助</a:t>
            </a:r>
            <a:endParaRPr kumimoji="1" lang="en-US" altLang="ja-GB" dirty="0"/>
          </a:p>
          <a:p>
            <a:pPr marL="1257300" lvl="2" indent="-342900">
              <a:buFont typeface="+mj-lt"/>
              <a:buAutoNum type="arabicPeriod"/>
            </a:pPr>
            <a:r>
              <a:rPr lang="ja-GB" altLang="en-US" dirty="0"/>
              <a:t>膨大な意見を似た</a:t>
            </a:r>
            <a:r>
              <a:rPr kumimoji="1" lang="ja-GB" altLang="en-US" dirty="0"/>
              <a:t>特性を持つ複数のグループに分類</a:t>
            </a:r>
            <a:endParaRPr kumimoji="1" lang="en-US" altLang="ja-GB" dirty="0"/>
          </a:p>
          <a:p>
            <a:pPr marL="1257300" lvl="2" indent="-342900">
              <a:buFont typeface="+mj-lt"/>
              <a:buAutoNum type="arabicPeriod"/>
            </a:pPr>
            <a:r>
              <a:rPr lang="ja-GB" altLang="en-US" dirty="0"/>
              <a:t>各グループの意見を言語処理</a:t>
            </a:r>
            <a:r>
              <a:rPr lang="en-US" altLang="ja-GB" dirty="0"/>
              <a:t>AI</a:t>
            </a:r>
            <a:r>
              <a:rPr lang="ja-GB" altLang="en-US" dirty="0"/>
              <a:t>で要約</a:t>
            </a:r>
            <a:endParaRPr lang="en-US" altLang="ja-GB" dirty="0"/>
          </a:p>
          <a:p>
            <a:pPr marL="1257300" lvl="2" indent="-342900">
              <a:buFont typeface="+mj-lt"/>
              <a:buAutoNum type="arabicPeriod"/>
            </a:pPr>
            <a:r>
              <a:rPr kumimoji="1" lang="ja-GB" altLang="en-US" dirty="0"/>
              <a:t>似たグループが近くに来るように</a:t>
            </a:r>
            <a:r>
              <a:rPr kumimoji="1" lang="en-US" altLang="ja-GB" dirty="0"/>
              <a:t>2</a:t>
            </a:r>
            <a:r>
              <a:rPr kumimoji="1" lang="ja-GB" altLang="en-US" dirty="0"/>
              <a:t>次元平面にプロット</a:t>
            </a:r>
            <a:endParaRPr kumimoji="1" lang="en-US" altLang="ja-GB" dirty="0"/>
          </a:p>
          <a:p>
            <a:pPr marL="1257300" lvl="2" indent="-342900">
              <a:buFont typeface="+mj-lt"/>
              <a:buAutoNum type="arabicPeriod"/>
            </a:pPr>
            <a:r>
              <a:rPr lang="ja-GB" altLang="en-US" dirty="0"/>
              <a:t>人間は，要約されたデータで概形を理解しながら，個別の意見も閲覧できる</a:t>
            </a:r>
            <a:endParaRPr kumimoji="1" lang="ja-GB" altLang="en-US" dirty="0"/>
          </a:p>
        </p:txBody>
      </p:sp>
      <p:grpSp>
        <p:nvGrpSpPr>
          <p:cNvPr id="57" name="グループ化 56">
            <a:extLst>
              <a:ext uri="{FF2B5EF4-FFF2-40B4-BE49-F238E27FC236}">
                <a16:creationId xmlns:a16="http://schemas.microsoft.com/office/drawing/2014/main" id="{0227310F-D1E7-362A-A2E6-DE57E09B3574}"/>
              </a:ext>
            </a:extLst>
          </p:cNvPr>
          <p:cNvGrpSpPr/>
          <p:nvPr/>
        </p:nvGrpSpPr>
        <p:grpSpPr>
          <a:xfrm>
            <a:off x="334752" y="3429000"/>
            <a:ext cx="8303385" cy="2324125"/>
            <a:chOff x="510946" y="3270313"/>
            <a:chExt cx="8303385" cy="2324125"/>
          </a:xfrm>
        </p:grpSpPr>
        <p:grpSp>
          <p:nvGrpSpPr>
            <p:cNvPr id="5" name="グループ化 4">
              <a:extLst>
                <a:ext uri="{FF2B5EF4-FFF2-40B4-BE49-F238E27FC236}">
                  <a16:creationId xmlns:a16="http://schemas.microsoft.com/office/drawing/2014/main" id="{9D5D8272-CA3F-5DB4-A6CB-39AB9A94834D}"/>
                </a:ext>
              </a:extLst>
            </p:cNvPr>
            <p:cNvGrpSpPr/>
            <p:nvPr/>
          </p:nvGrpSpPr>
          <p:grpSpPr>
            <a:xfrm>
              <a:off x="510946" y="3470033"/>
              <a:ext cx="7677894" cy="2124405"/>
              <a:chOff x="761175" y="4824555"/>
              <a:chExt cx="7677894" cy="2124405"/>
            </a:xfrm>
          </p:grpSpPr>
          <p:grpSp>
            <p:nvGrpSpPr>
              <p:cNvPr id="6" name="グループ化 5">
                <a:extLst>
                  <a:ext uri="{FF2B5EF4-FFF2-40B4-BE49-F238E27FC236}">
                    <a16:creationId xmlns:a16="http://schemas.microsoft.com/office/drawing/2014/main" id="{8CB1F42A-9EA2-547B-9166-E3085F0D48CB}"/>
                  </a:ext>
                </a:extLst>
              </p:cNvPr>
              <p:cNvGrpSpPr/>
              <p:nvPr/>
            </p:nvGrpSpPr>
            <p:grpSpPr>
              <a:xfrm>
                <a:off x="2979145" y="4891244"/>
                <a:ext cx="5232569" cy="1449324"/>
                <a:chOff x="2957598" y="5011450"/>
                <a:chExt cx="5232569" cy="1449324"/>
              </a:xfrm>
            </p:grpSpPr>
            <p:grpSp>
              <p:nvGrpSpPr>
                <p:cNvPr id="18" name="グループ化 17">
                  <a:extLst>
                    <a:ext uri="{FF2B5EF4-FFF2-40B4-BE49-F238E27FC236}">
                      <a16:creationId xmlns:a16="http://schemas.microsoft.com/office/drawing/2014/main" id="{28251CB5-A581-86A3-1CFC-73C47B53A10E}"/>
                    </a:ext>
                  </a:extLst>
                </p:cNvPr>
                <p:cNvGrpSpPr/>
                <p:nvPr/>
              </p:nvGrpSpPr>
              <p:grpSpPr>
                <a:xfrm>
                  <a:off x="3835951" y="5011450"/>
                  <a:ext cx="1559052" cy="1449324"/>
                  <a:chOff x="1330452" y="4503420"/>
                  <a:chExt cx="1559052" cy="1449324"/>
                </a:xfrm>
                <a:solidFill>
                  <a:srgbClr val="2F2523"/>
                </a:solidFill>
              </p:grpSpPr>
              <p:sp>
                <p:nvSpPr>
                  <p:cNvPr id="38" name="円/楕円 37">
                    <a:extLst>
                      <a:ext uri="{FF2B5EF4-FFF2-40B4-BE49-F238E27FC236}">
                        <a16:creationId xmlns:a16="http://schemas.microsoft.com/office/drawing/2014/main" id="{C7C0A8AA-2D08-9918-7A49-4E623F7A3683}"/>
                      </a:ext>
                    </a:extLst>
                  </p:cNvPr>
                  <p:cNvSpPr>
                    <a:spLocks noChangeAspect="1"/>
                  </p:cNvSpPr>
                  <p:nvPr/>
                </p:nvSpPr>
                <p:spPr>
                  <a:xfrm>
                    <a:off x="1408176" y="458114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9" name="円/楕円 38">
                    <a:extLst>
                      <a:ext uri="{FF2B5EF4-FFF2-40B4-BE49-F238E27FC236}">
                        <a16:creationId xmlns:a16="http://schemas.microsoft.com/office/drawing/2014/main" id="{BD46F7BB-1D08-E02B-DC33-5C1C6A45F104}"/>
                      </a:ext>
                    </a:extLst>
                  </p:cNvPr>
                  <p:cNvSpPr>
                    <a:spLocks noChangeAspect="1"/>
                  </p:cNvSpPr>
                  <p:nvPr/>
                </p:nvSpPr>
                <p:spPr>
                  <a:xfrm>
                    <a:off x="1655064" y="450342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0" name="円/楕円 39">
                    <a:extLst>
                      <a:ext uri="{FF2B5EF4-FFF2-40B4-BE49-F238E27FC236}">
                        <a16:creationId xmlns:a16="http://schemas.microsoft.com/office/drawing/2014/main" id="{9F65B8C4-225E-00C7-BFF2-727AEE82E0B2}"/>
                      </a:ext>
                    </a:extLst>
                  </p:cNvPr>
                  <p:cNvSpPr>
                    <a:spLocks noChangeAspect="1"/>
                  </p:cNvSpPr>
                  <p:nvPr/>
                </p:nvSpPr>
                <p:spPr>
                  <a:xfrm>
                    <a:off x="1330452" y="489051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1" name="円/楕円 40">
                    <a:extLst>
                      <a:ext uri="{FF2B5EF4-FFF2-40B4-BE49-F238E27FC236}">
                        <a16:creationId xmlns:a16="http://schemas.microsoft.com/office/drawing/2014/main" id="{834BD8BC-65F5-ADD0-DB60-5FC98D39B799}"/>
                      </a:ext>
                    </a:extLst>
                  </p:cNvPr>
                  <p:cNvSpPr>
                    <a:spLocks noChangeAspect="1"/>
                  </p:cNvSpPr>
                  <p:nvPr/>
                </p:nvSpPr>
                <p:spPr>
                  <a:xfrm>
                    <a:off x="1655064" y="564794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2" name="円/楕円 41">
                    <a:extLst>
                      <a:ext uri="{FF2B5EF4-FFF2-40B4-BE49-F238E27FC236}">
                        <a16:creationId xmlns:a16="http://schemas.microsoft.com/office/drawing/2014/main" id="{90740036-0F1D-E343-7B45-4F1D5B7111DF}"/>
                      </a:ext>
                    </a:extLst>
                  </p:cNvPr>
                  <p:cNvSpPr>
                    <a:spLocks noChangeAspect="1"/>
                  </p:cNvSpPr>
                  <p:nvPr/>
                </p:nvSpPr>
                <p:spPr>
                  <a:xfrm>
                    <a:off x="1956244" y="579729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3" name="円/楕円 42">
                    <a:extLst>
                      <a:ext uri="{FF2B5EF4-FFF2-40B4-BE49-F238E27FC236}">
                        <a16:creationId xmlns:a16="http://schemas.microsoft.com/office/drawing/2014/main" id="{FB9F711E-66C7-A533-41E7-0353BB891545}"/>
                      </a:ext>
                    </a:extLst>
                  </p:cNvPr>
                  <p:cNvSpPr>
                    <a:spLocks noChangeAspect="1"/>
                  </p:cNvSpPr>
                  <p:nvPr/>
                </p:nvSpPr>
                <p:spPr>
                  <a:xfrm>
                    <a:off x="1833372" y="5527548"/>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4" name="円/楕円 43">
                    <a:extLst>
                      <a:ext uri="{FF2B5EF4-FFF2-40B4-BE49-F238E27FC236}">
                        <a16:creationId xmlns:a16="http://schemas.microsoft.com/office/drawing/2014/main" id="{4ACA8249-5D0E-3164-AD96-B4A3CD6DF807}"/>
                      </a:ext>
                    </a:extLst>
                  </p:cNvPr>
                  <p:cNvSpPr>
                    <a:spLocks noChangeAspect="1"/>
                  </p:cNvSpPr>
                  <p:nvPr/>
                </p:nvSpPr>
                <p:spPr>
                  <a:xfrm>
                    <a:off x="1911096" y="523265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5" name="円/楕円 44">
                    <a:extLst>
                      <a:ext uri="{FF2B5EF4-FFF2-40B4-BE49-F238E27FC236}">
                        <a16:creationId xmlns:a16="http://schemas.microsoft.com/office/drawing/2014/main" id="{A5A5A17F-B693-4361-36F6-913B0263CE26}"/>
                      </a:ext>
                    </a:extLst>
                  </p:cNvPr>
                  <p:cNvSpPr>
                    <a:spLocks noChangeAspect="1"/>
                  </p:cNvSpPr>
                  <p:nvPr/>
                </p:nvSpPr>
                <p:spPr>
                  <a:xfrm>
                    <a:off x="2066544" y="513349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6" name="円/楕円 45">
                    <a:extLst>
                      <a:ext uri="{FF2B5EF4-FFF2-40B4-BE49-F238E27FC236}">
                        <a16:creationId xmlns:a16="http://schemas.microsoft.com/office/drawing/2014/main" id="{54F503F4-5576-DAE8-5CAF-8FACDBE7C71F}"/>
                      </a:ext>
                    </a:extLst>
                  </p:cNvPr>
                  <p:cNvSpPr>
                    <a:spLocks noChangeAspect="1"/>
                  </p:cNvSpPr>
                  <p:nvPr/>
                </p:nvSpPr>
                <p:spPr>
                  <a:xfrm>
                    <a:off x="1988820" y="4802545"/>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7" name="円/楕円 46">
                    <a:extLst>
                      <a:ext uri="{FF2B5EF4-FFF2-40B4-BE49-F238E27FC236}">
                        <a16:creationId xmlns:a16="http://schemas.microsoft.com/office/drawing/2014/main" id="{7FD6A6B7-358C-355A-443E-4C4A5E085896}"/>
                      </a:ext>
                    </a:extLst>
                  </p:cNvPr>
                  <p:cNvSpPr>
                    <a:spLocks noChangeAspect="1"/>
                  </p:cNvSpPr>
                  <p:nvPr/>
                </p:nvSpPr>
                <p:spPr>
                  <a:xfrm>
                    <a:off x="2424303" y="496824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8" name="円/楕円 47">
                    <a:extLst>
                      <a:ext uri="{FF2B5EF4-FFF2-40B4-BE49-F238E27FC236}">
                        <a16:creationId xmlns:a16="http://schemas.microsoft.com/office/drawing/2014/main" id="{6759C292-5BBD-12EF-6941-C2346E4BBB56}"/>
                      </a:ext>
                    </a:extLst>
                  </p:cNvPr>
                  <p:cNvSpPr>
                    <a:spLocks noChangeAspect="1"/>
                  </p:cNvSpPr>
                  <p:nvPr/>
                </p:nvSpPr>
                <p:spPr>
                  <a:xfrm>
                    <a:off x="2502027" y="521121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49" name="円/楕円 48">
                    <a:extLst>
                      <a:ext uri="{FF2B5EF4-FFF2-40B4-BE49-F238E27FC236}">
                        <a16:creationId xmlns:a16="http://schemas.microsoft.com/office/drawing/2014/main" id="{E07EACD2-2C29-F289-C768-028556152E0A}"/>
                      </a:ext>
                    </a:extLst>
                  </p:cNvPr>
                  <p:cNvSpPr>
                    <a:spLocks noChangeAspect="1"/>
                  </p:cNvSpPr>
                  <p:nvPr/>
                </p:nvSpPr>
                <p:spPr>
                  <a:xfrm>
                    <a:off x="2346579" y="5355994"/>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0" name="円/楕円 49">
                    <a:extLst>
                      <a:ext uri="{FF2B5EF4-FFF2-40B4-BE49-F238E27FC236}">
                        <a16:creationId xmlns:a16="http://schemas.microsoft.com/office/drawing/2014/main" id="{A6F8C974-3AC0-2B37-25D2-E03CAE4C2CD6}"/>
                      </a:ext>
                    </a:extLst>
                  </p:cNvPr>
                  <p:cNvSpPr>
                    <a:spLocks noChangeAspect="1"/>
                  </p:cNvSpPr>
                  <p:nvPr/>
                </p:nvSpPr>
                <p:spPr>
                  <a:xfrm>
                    <a:off x="2734056" y="5000902"/>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1" name="円/楕円 50">
                    <a:extLst>
                      <a:ext uri="{FF2B5EF4-FFF2-40B4-BE49-F238E27FC236}">
                        <a16:creationId xmlns:a16="http://schemas.microsoft.com/office/drawing/2014/main" id="{CD2389FD-53CC-BF31-4A23-72C3163F6AA2}"/>
                      </a:ext>
                    </a:extLst>
                  </p:cNvPr>
                  <p:cNvSpPr>
                    <a:spLocks noChangeAspect="1"/>
                  </p:cNvSpPr>
                  <p:nvPr/>
                </p:nvSpPr>
                <p:spPr>
                  <a:xfrm>
                    <a:off x="2734056" y="5344276"/>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2" name="円/楕円 51">
                    <a:extLst>
                      <a:ext uri="{FF2B5EF4-FFF2-40B4-BE49-F238E27FC236}">
                        <a16:creationId xmlns:a16="http://schemas.microsoft.com/office/drawing/2014/main" id="{F969B656-FEA0-3DA6-C2F6-E426E252C3C1}"/>
                      </a:ext>
                    </a:extLst>
                  </p:cNvPr>
                  <p:cNvSpPr>
                    <a:spLocks noChangeAspect="1"/>
                  </p:cNvSpPr>
                  <p:nvPr/>
                </p:nvSpPr>
                <p:spPr>
                  <a:xfrm>
                    <a:off x="2540508" y="5570220"/>
                    <a:ext cx="155448" cy="155448"/>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grpSp>
              <p:nvGrpSpPr>
                <p:cNvPr id="19" name="グループ化 18">
                  <a:extLst>
                    <a:ext uri="{FF2B5EF4-FFF2-40B4-BE49-F238E27FC236}">
                      <a16:creationId xmlns:a16="http://schemas.microsoft.com/office/drawing/2014/main" id="{29595F2F-004D-4D82-23C5-CED1CBA56C3A}"/>
                    </a:ext>
                  </a:extLst>
                </p:cNvPr>
                <p:cNvGrpSpPr/>
                <p:nvPr/>
              </p:nvGrpSpPr>
              <p:grpSpPr>
                <a:xfrm>
                  <a:off x="6631115" y="5011450"/>
                  <a:ext cx="1559052" cy="1449324"/>
                  <a:chOff x="1330452" y="4503420"/>
                  <a:chExt cx="1559052" cy="1449324"/>
                </a:xfrm>
              </p:grpSpPr>
              <p:sp>
                <p:nvSpPr>
                  <p:cNvPr id="23" name="円/楕円 22">
                    <a:extLst>
                      <a:ext uri="{FF2B5EF4-FFF2-40B4-BE49-F238E27FC236}">
                        <a16:creationId xmlns:a16="http://schemas.microsoft.com/office/drawing/2014/main" id="{86B90EA3-C272-5712-CD45-B2BC2C35B3FE}"/>
                      </a:ext>
                    </a:extLst>
                  </p:cNvPr>
                  <p:cNvSpPr>
                    <a:spLocks noChangeAspect="1"/>
                  </p:cNvSpPr>
                  <p:nvPr/>
                </p:nvSpPr>
                <p:spPr>
                  <a:xfrm>
                    <a:off x="1408176" y="4581144"/>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4" name="円/楕円 23">
                    <a:extLst>
                      <a:ext uri="{FF2B5EF4-FFF2-40B4-BE49-F238E27FC236}">
                        <a16:creationId xmlns:a16="http://schemas.microsoft.com/office/drawing/2014/main" id="{D3C10C5F-F84A-FEDA-59D9-FB3AACC5D7BB}"/>
                      </a:ext>
                    </a:extLst>
                  </p:cNvPr>
                  <p:cNvSpPr>
                    <a:spLocks noChangeAspect="1"/>
                  </p:cNvSpPr>
                  <p:nvPr/>
                </p:nvSpPr>
                <p:spPr>
                  <a:xfrm>
                    <a:off x="1655064" y="4503420"/>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5" name="円/楕円 24">
                    <a:extLst>
                      <a:ext uri="{FF2B5EF4-FFF2-40B4-BE49-F238E27FC236}">
                        <a16:creationId xmlns:a16="http://schemas.microsoft.com/office/drawing/2014/main" id="{81878F7F-A539-42F5-B418-566455222851}"/>
                      </a:ext>
                    </a:extLst>
                  </p:cNvPr>
                  <p:cNvSpPr>
                    <a:spLocks noChangeAspect="1"/>
                  </p:cNvSpPr>
                  <p:nvPr/>
                </p:nvSpPr>
                <p:spPr>
                  <a:xfrm>
                    <a:off x="1330452" y="4890516"/>
                    <a:ext cx="155448" cy="155448"/>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6" name="円/楕円 25">
                    <a:extLst>
                      <a:ext uri="{FF2B5EF4-FFF2-40B4-BE49-F238E27FC236}">
                        <a16:creationId xmlns:a16="http://schemas.microsoft.com/office/drawing/2014/main" id="{90D186F4-0AB6-8E0F-F294-89997C1EA8BC}"/>
                      </a:ext>
                    </a:extLst>
                  </p:cNvPr>
                  <p:cNvSpPr>
                    <a:spLocks noChangeAspect="1"/>
                  </p:cNvSpPr>
                  <p:nvPr/>
                </p:nvSpPr>
                <p:spPr>
                  <a:xfrm>
                    <a:off x="1655064" y="5647944"/>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7" name="円/楕円 26">
                    <a:extLst>
                      <a:ext uri="{FF2B5EF4-FFF2-40B4-BE49-F238E27FC236}">
                        <a16:creationId xmlns:a16="http://schemas.microsoft.com/office/drawing/2014/main" id="{5556E13A-5948-BA7B-5EC0-A294A1EF359B}"/>
                      </a:ext>
                    </a:extLst>
                  </p:cNvPr>
                  <p:cNvSpPr>
                    <a:spLocks noChangeAspect="1"/>
                  </p:cNvSpPr>
                  <p:nvPr/>
                </p:nvSpPr>
                <p:spPr>
                  <a:xfrm>
                    <a:off x="1956244" y="5797296"/>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8" name="円/楕円 27">
                    <a:extLst>
                      <a:ext uri="{FF2B5EF4-FFF2-40B4-BE49-F238E27FC236}">
                        <a16:creationId xmlns:a16="http://schemas.microsoft.com/office/drawing/2014/main" id="{FB948D4E-FE8D-6841-E143-B67FFD933B84}"/>
                      </a:ext>
                    </a:extLst>
                  </p:cNvPr>
                  <p:cNvSpPr>
                    <a:spLocks noChangeAspect="1"/>
                  </p:cNvSpPr>
                  <p:nvPr/>
                </p:nvSpPr>
                <p:spPr>
                  <a:xfrm>
                    <a:off x="1833372" y="5527548"/>
                    <a:ext cx="155448" cy="155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9" name="円/楕円 28">
                    <a:extLst>
                      <a:ext uri="{FF2B5EF4-FFF2-40B4-BE49-F238E27FC236}">
                        <a16:creationId xmlns:a16="http://schemas.microsoft.com/office/drawing/2014/main" id="{A6983B1C-8442-18CA-80A7-027C067354DD}"/>
                      </a:ext>
                    </a:extLst>
                  </p:cNvPr>
                  <p:cNvSpPr>
                    <a:spLocks noChangeAspect="1"/>
                  </p:cNvSpPr>
                  <p:nvPr/>
                </p:nvSpPr>
                <p:spPr>
                  <a:xfrm>
                    <a:off x="1911096" y="5232654"/>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0" name="円/楕円 29">
                    <a:extLst>
                      <a:ext uri="{FF2B5EF4-FFF2-40B4-BE49-F238E27FC236}">
                        <a16:creationId xmlns:a16="http://schemas.microsoft.com/office/drawing/2014/main" id="{64E8AF28-78C8-6058-718C-40768EB2285E}"/>
                      </a:ext>
                    </a:extLst>
                  </p:cNvPr>
                  <p:cNvSpPr>
                    <a:spLocks noChangeAspect="1"/>
                  </p:cNvSpPr>
                  <p:nvPr/>
                </p:nvSpPr>
                <p:spPr>
                  <a:xfrm>
                    <a:off x="2066544" y="5133490"/>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1" name="円/楕円 30">
                    <a:extLst>
                      <a:ext uri="{FF2B5EF4-FFF2-40B4-BE49-F238E27FC236}">
                        <a16:creationId xmlns:a16="http://schemas.microsoft.com/office/drawing/2014/main" id="{2D7760EF-E7DB-4877-DFA6-612F3952AD0E}"/>
                      </a:ext>
                    </a:extLst>
                  </p:cNvPr>
                  <p:cNvSpPr>
                    <a:spLocks noChangeAspect="1"/>
                  </p:cNvSpPr>
                  <p:nvPr/>
                </p:nvSpPr>
                <p:spPr>
                  <a:xfrm>
                    <a:off x="1988820" y="4802545"/>
                    <a:ext cx="155448" cy="1554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2" name="円/楕円 31">
                    <a:extLst>
                      <a:ext uri="{FF2B5EF4-FFF2-40B4-BE49-F238E27FC236}">
                        <a16:creationId xmlns:a16="http://schemas.microsoft.com/office/drawing/2014/main" id="{4D696BED-128B-D98C-E79A-163F9B3055DD}"/>
                      </a:ext>
                    </a:extLst>
                  </p:cNvPr>
                  <p:cNvSpPr>
                    <a:spLocks noChangeAspect="1"/>
                  </p:cNvSpPr>
                  <p:nvPr/>
                </p:nvSpPr>
                <p:spPr>
                  <a:xfrm>
                    <a:off x="2424303" y="4968240"/>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3" name="円/楕円 32">
                    <a:extLst>
                      <a:ext uri="{FF2B5EF4-FFF2-40B4-BE49-F238E27FC236}">
                        <a16:creationId xmlns:a16="http://schemas.microsoft.com/office/drawing/2014/main" id="{32413CE2-E896-5353-C789-AA8A82E3DCB4}"/>
                      </a:ext>
                    </a:extLst>
                  </p:cNvPr>
                  <p:cNvSpPr>
                    <a:spLocks noChangeAspect="1"/>
                  </p:cNvSpPr>
                  <p:nvPr/>
                </p:nvSpPr>
                <p:spPr>
                  <a:xfrm>
                    <a:off x="2502027" y="5211214"/>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4" name="円/楕円 33">
                    <a:extLst>
                      <a:ext uri="{FF2B5EF4-FFF2-40B4-BE49-F238E27FC236}">
                        <a16:creationId xmlns:a16="http://schemas.microsoft.com/office/drawing/2014/main" id="{FAF12B68-374C-F0C4-6AA0-165848759468}"/>
                      </a:ext>
                    </a:extLst>
                  </p:cNvPr>
                  <p:cNvSpPr>
                    <a:spLocks noChangeAspect="1"/>
                  </p:cNvSpPr>
                  <p:nvPr/>
                </p:nvSpPr>
                <p:spPr>
                  <a:xfrm>
                    <a:off x="2346579" y="5355994"/>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5" name="円/楕円 34">
                    <a:extLst>
                      <a:ext uri="{FF2B5EF4-FFF2-40B4-BE49-F238E27FC236}">
                        <a16:creationId xmlns:a16="http://schemas.microsoft.com/office/drawing/2014/main" id="{A3578EDE-ED2B-D804-B12D-FB6DBD5B8453}"/>
                      </a:ext>
                    </a:extLst>
                  </p:cNvPr>
                  <p:cNvSpPr>
                    <a:spLocks noChangeAspect="1"/>
                  </p:cNvSpPr>
                  <p:nvPr/>
                </p:nvSpPr>
                <p:spPr>
                  <a:xfrm>
                    <a:off x="2734056" y="5000902"/>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6" name="円/楕円 35">
                    <a:extLst>
                      <a:ext uri="{FF2B5EF4-FFF2-40B4-BE49-F238E27FC236}">
                        <a16:creationId xmlns:a16="http://schemas.microsoft.com/office/drawing/2014/main" id="{4B349477-8EC4-63F1-2BE9-3F7CB3613F1B}"/>
                      </a:ext>
                    </a:extLst>
                  </p:cNvPr>
                  <p:cNvSpPr>
                    <a:spLocks noChangeAspect="1"/>
                  </p:cNvSpPr>
                  <p:nvPr/>
                </p:nvSpPr>
                <p:spPr>
                  <a:xfrm>
                    <a:off x="2734056" y="5344276"/>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7" name="円/楕円 36">
                    <a:extLst>
                      <a:ext uri="{FF2B5EF4-FFF2-40B4-BE49-F238E27FC236}">
                        <a16:creationId xmlns:a16="http://schemas.microsoft.com/office/drawing/2014/main" id="{7F84AD19-C2C0-F18F-7C8A-BF8DF378E01D}"/>
                      </a:ext>
                    </a:extLst>
                  </p:cNvPr>
                  <p:cNvSpPr>
                    <a:spLocks noChangeAspect="1"/>
                  </p:cNvSpPr>
                  <p:nvPr/>
                </p:nvSpPr>
                <p:spPr>
                  <a:xfrm>
                    <a:off x="2540508" y="5570220"/>
                    <a:ext cx="155448" cy="15544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20" name="右矢印 19">
                  <a:extLst>
                    <a:ext uri="{FF2B5EF4-FFF2-40B4-BE49-F238E27FC236}">
                      <a16:creationId xmlns:a16="http://schemas.microsoft.com/office/drawing/2014/main" id="{90F15B0D-DCDB-CE51-771B-B46A1A3D15B4}"/>
                    </a:ext>
                  </a:extLst>
                </p:cNvPr>
                <p:cNvSpPr/>
                <p:nvPr/>
              </p:nvSpPr>
              <p:spPr>
                <a:xfrm>
                  <a:off x="5752761" y="5493796"/>
                  <a:ext cx="520596" cy="484632"/>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1" name="右矢印 20">
                  <a:extLst>
                    <a:ext uri="{FF2B5EF4-FFF2-40B4-BE49-F238E27FC236}">
                      <a16:creationId xmlns:a16="http://schemas.microsoft.com/office/drawing/2014/main" id="{E720081F-4C06-260D-D43E-D73811281F33}"/>
                    </a:ext>
                  </a:extLst>
                </p:cNvPr>
                <p:cNvSpPr/>
                <p:nvPr/>
              </p:nvSpPr>
              <p:spPr>
                <a:xfrm>
                  <a:off x="2957598" y="5493796"/>
                  <a:ext cx="520596" cy="484632"/>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sp>
            <p:nvSpPr>
              <p:cNvPr id="7" name="テキスト ボックス 6">
                <a:extLst>
                  <a:ext uri="{FF2B5EF4-FFF2-40B4-BE49-F238E27FC236}">
                    <a16:creationId xmlns:a16="http://schemas.microsoft.com/office/drawing/2014/main" id="{F7CB8E39-B3DB-6238-4530-0B6ADDB7EBE3}"/>
                  </a:ext>
                </a:extLst>
              </p:cNvPr>
              <p:cNvSpPr txBox="1"/>
              <p:nvPr/>
            </p:nvSpPr>
            <p:spPr>
              <a:xfrm>
                <a:off x="761175" y="6487295"/>
                <a:ext cx="2031325" cy="461665"/>
              </a:xfrm>
              <a:prstGeom prst="rect">
                <a:avLst/>
              </a:prstGeom>
              <a:noFill/>
            </p:spPr>
            <p:txBody>
              <a:bodyPr wrap="none" rtlCol="0">
                <a:spAutoFit/>
              </a:bodyPr>
              <a:lstStyle/>
              <a:p>
                <a:pPr algn="ctr"/>
                <a:r>
                  <a:rPr kumimoji="1" lang="ja-GB" altLang="en-US" sz="1200" b="1" dirty="0">
                    <a:solidFill>
                      <a:srgbClr val="2F2523"/>
                    </a:solidFill>
                  </a:rPr>
                  <a:t>収集した意見</a:t>
                </a:r>
                <a:endParaRPr kumimoji="1" lang="en-US" altLang="ja-GB" sz="1200" b="1" dirty="0">
                  <a:solidFill>
                    <a:srgbClr val="2F2523"/>
                  </a:solidFill>
                </a:endParaRPr>
              </a:p>
              <a:p>
                <a:pPr algn="ctr"/>
                <a:r>
                  <a:rPr kumimoji="1" lang="ja-GB" altLang="en-US" sz="1200" b="1" dirty="0">
                    <a:solidFill>
                      <a:srgbClr val="2F2523"/>
                    </a:solidFill>
                  </a:rPr>
                  <a:t>（大量のテキストデータ）</a:t>
                </a:r>
              </a:p>
            </p:txBody>
          </p:sp>
          <p:sp>
            <p:nvSpPr>
              <p:cNvPr id="8" name="テキスト ボックス 7">
                <a:extLst>
                  <a:ext uri="{FF2B5EF4-FFF2-40B4-BE49-F238E27FC236}">
                    <a16:creationId xmlns:a16="http://schemas.microsoft.com/office/drawing/2014/main" id="{97D1FF49-2598-BFE3-E630-586379C0523B}"/>
                  </a:ext>
                </a:extLst>
              </p:cNvPr>
              <p:cNvSpPr txBox="1"/>
              <p:nvPr/>
            </p:nvSpPr>
            <p:spPr>
              <a:xfrm>
                <a:off x="3829567" y="6483315"/>
                <a:ext cx="1838966" cy="461665"/>
              </a:xfrm>
              <a:prstGeom prst="rect">
                <a:avLst/>
              </a:prstGeom>
              <a:noFill/>
            </p:spPr>
            <p:txBody>
              <a:bodyPr wrap="none" rtlCol="0">
                <a:spAutoFit/>
              </a:bodyPr>
              <a:lstStyle/>
              <a:p>
                <a:pPr algn="ctr"/>
                <a:r>
                  <a:rPr kumimoji="1" lang="ja-GB" altLang="en-US" sz="1200" b="1" dirty="0">
                    <a:solidFill>
                      <a:srgbClr val="2F2523"/>
                    </a:solidFill>
                  </a:rPr>
                  <a:t>意見の</a:t>
                </a:r>
                <a:r>
                  <a:rPr kumimoji="1" lang="en-US" altLang="ja-GB" sz="1200" b="1" dirty="0">
                    <a:solidFill>
                      <a:srgbClr val="2F2523"/>
                    </a:solidFill>
                  </a:rPr>
                  <a:t>”</a:t>
                </a:r>
                <a:r>
                  <a:rPr kumimoji="1" lang="ja-GB" altLang="en-US" sz="1200" b="1" dirty="0">
                    <a:solidFill>
                      <a:srgbClr val="2F2523"/>
                    </a:solidFill>
                  </a:rPr>
                  <a:t>距離</a:t>
                </a:r>
                <a:r>
                  <a:rPr kumimoji="1" lang="en-US" altLang="ja-GB" sz="1200" b="1" dirty="0">
                    <a:solidFill>
                      <a:srgbClr val="2F2523"/>
                    </a:solidFill>
                  </a:rPr>
                  <a:t>”</a:t>
                </a:r>
                <a:r>
                  <a:rPr kumimoji="1" lang="ja-GB" altLang="en-US" sz="1200" b="1" dirty="0">
                    <a:solidFill>
                      <a:srgbClr val="2F2523"/>
                    </a:solidFill>
                  </a:rPr>
                  <a:t>や</a:t>
                </a:r>
                <a:r>
                  <a:rPr kumimoji="1" lang="en-US" altLang="ja-GB" sz="1200" b="1" dirty="0">
                    <a:solidFill>
                      <a:srgbClr val="2F2523"/>
                    </a:solidFill>
                  </a:rPr>
                  <a:t>”</a:t>
                </a:r>
                <a:r>
                  <a:rPr kumimoji="1" lang="ja-GB" altLang="en-US" sz="1200" b="1" dirty="0">
                    <a:solidFill>
                      <a:srgbClr val="2F2523"/>
                    </a:solidFill>
                  </a:rPr>
                  <a:t>方向</a:t>
                </a:r>
                <a:r>
                  <a:rPr kumimoji="1" lang="en-US" altLang="ja-GB" sz="1200" b="1" dirty="0">
                    <a:solidFill>
                      <a:srgbClr val="2F2523"/>
                    </a:solidFill>
                  </a:rPr>
                  <a:t>”</a:t>
                </a:r>
                <a:r>
                  <a:rPr kumimoji="1" lang="ja-GB" altLang="en-US" sz="1200" b="1" dirty="0">
                    <a:solidFill>
                      <a:srgbClr val="2F2523"/>
                    </a:solidFill>
                  </a:rPr>
                  <a:t>を</a:t>
                </a:r>
                <a:br>
                  <a:rPr kumimoji="1" lang="en-US" altLang="ja-GB" sz="1200" b="1" dirty="0">
                    <a:solidFill>
                      <a:srgbClr val="2F2523"/>
                    </a:solidFill>
                  </a:rPr>
                </a:br>
                <a:r>
                  <a:rPr kumimoji="1" lang="ja-GB" altLang="en-US" sz="1200" b="1" dirty="0">
                    <a:solidFill>
                      <a:srgbClr val="2F2523"/>
                    </a:solidFill>
                  </a:rPr>
                  <a:t>空間上に表現</a:t>
                </a:r>
              </a:p>
            </p:txBody>
          </p:sp>
          <p:sp>
            <p:nvSpPr>
              <p:cNvPr id="9" name="テキスト ボックス 8">
                <a:extLst>
                  <a:ext uri="{FF2B5EF4-FFF2-40B4-BE49-F238E27FC236}">
                    <a16:creationId xmlns:a16="http://schemas.microsoft.com/office/drawing/2014/main" id="{F318F9EF-A20C-86D5-59CA-24E81D6D86A6}"/>
                  </a:ext>
                </a:extLst>
              </p:cNvPr>
              <p:cNvSpPr txBox="1"/>
              <p:nvPr/>
            </p:nvSpPr>
            <p:spPr>
              <a:xfrm>
                <a:off x="6960907" y="6483315"/>
                <a:ext cx="1415772" cy="276999"/>
              </a:xfrm>
              <a:prstGeom prst="rect">
                <a:avLst/>
              </a:prstGeom>
              <a:noFill/>
            </p:spPr>
            <p:txBody>
              <a:bodyPr wrap="none" rtlCol="0">
                <a:spAutoFit/>
              </a:bodyPr>
              <a:lstStyle/>
              <a:p>
                <a:pPr algn="ctr"/>
                <a:r>
                  <a:rPr kumimoji="1" lang="ja-GB" altLang="en-US" sz="1200" b="1" dirty="0">
                    <a:solidFill>
                      <a:srgbClr val="2F2523"/>
                    </a:solidFill>
                  </a:rPr>
                  <a:t>グループ化と要約</a:t>
                </a:r>
              </a:p>
            </p:txBody>
          </p:sp>
          <p:cxnSp>
            <p:nvCxnSpPr>
              <p:cNvPr id="10" name="直線矢印コネクタ 9">
                <a:extLst>
                  <a:ext uri="{FF2B5EF4-FFF2-40B4-BE49-F238E27FC236}">
                    <a16:creationId xmlns:a16="http://schemas.microsoft.com/office/drawing/2014/main" id="{2833D428-9AA0-95F3-301A-D6EDF0B04D19}"/>
                  </a:ext>
                </a:extLst>
              </p:cNvPr>
              <p:cNvCxnSpPr>
                <a:cxnSpLocks/>
              </p:cNvCxnSpPr>
              <p:nvPr/>
            </p:nvCxnSpPr>
            <p:spPr>
              <a:xfrm flipV="1">
                <a:off x="3715235" y="4824555"/>
                <a:ext cx="0" cy="1566219"/>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5E203CDA-D555-A311-375B-EDDF1B3456B4}"/>
                  </a:ext>
                </a:extLst>
              </p:cNvPr>
              <p:cNvCxnSpPr>
                <a:cxnSpLocks/>
              </p:cNvCxnSpPr>
              <p:nvPr/>
            </p:nvCxnSpPr>
            <p:spPr>
              <a:xfrm>
                <a:off x="3715235" y="6390774"/>
                <a:ext cx="1893108" cy="0"/>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FCB15AE3-D822-0A06-AB6A-7CB1C38C53F0}"/>
                  </a:ext>
                </a:extLst>
              </p:cNvPr>
              <p:cNvCxnSpPr>
                <a:cxnSpLocks/>
              </p:cNvCxnSpPr>
              <p:nvPr/>
            </p:nvCxnSpPr>
            <p:spPr>
              <a:xfrm flipV="1">
                <a:off x="6545961" y="4829634"/>
                <a:ext cx="0" cy="1566219"/>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D7F1626B-9892-6E08-DAD9-F0E3B7873D6E}"/>
                  </a:ext>
                </a:extLst>
              </p:cNvPr>
              <p:cNvCxnSpPr>
                <a:cxnSpLocks/>
              </p:cNvCxnSpPr>
              <p:nvPr/>
            </p:nvCxnSpPr>
            <p:spPr>
              <a:xfrm>
                <a:off x="6545961" y="6395853"/>
                <a:ext cx="1893108" cy="0"/>
              </a:xfrm>
              <a:prstGeom prst="straightConnector1">
                <a:avLst/>
              </a:prstGeom>
              <a:ln>
                <a:solidFill>
                  <a:srgbClr val="2F2523"/>
                </a:solidFill>
                <a:tailEnd type="arrow"/>
              </a:ln>
            </p:spPr>
            <p:style>
              <a:lnRef idx="1">
                <a:schemeClr val="accent1"/>
              </a:lnRef>
              <a:fillRef idx="0">
                <a:schemeClr val="accent1"/>
              </a:fillRef>
              <a:effectRef idx="0">
                <a:schemeClr val="accent1"/>
              </a:effectRef>
              <a:fontRef idx="minor">
                <a:schemeClr val="tx1"/>
              </a:fontRef>
            </p:style>
          </p:cxnSp>
        </p:grpSp>
        <p:sp>
          <p:nvSpPr>
            <p:cNvPr id="53" name="テキスト ボックス 52">
              <a:extLst>
                <a:ext uri="{FF2B5EF4-FFF2-40B4-BE49-F238E27FC236}">
                  <a16:creationId xmlns:a16="http://schemas.microsoft.com/office/drawing/2014/main" id="{71650232-9292-C13E-644E-0B193C25D998}"/>
                </a:ext>
              </a:extLst>
            </p:cNvPr>
            <p:cNvSpPr txBox="1"/>
            <p:nvPr/>
          </p:nvSpPr>
          <p:spPr>
            <a:xfrm>
              <a:off x="6378204" y="3270313"/>
              <a:ext cx="466794" cy="261610"/>
            </a:xfrm>
            <a:prstGeom prst="rect">
              <a:avLst/>
            </a:prstGeom>
            <a:noFill/>
          </p:spPr>
          <p:txBody>
            <a:bodyPr wrap="none" rtlCol="0">
              <a:spAutoFit/>
            </a:bodyPr>
            <a:lstStyle/>
            <a:p>
              <a:r>
                <a:rPr kumimoji="1" lang="ja-GB" altLang="en-US" sz="1100" b="1" dirty="0">
                  <a:solidFill>
                    <a:srgbClr val="0070C0"/>
                  </a:solidFill>
                </a:rPr>
                <a:t>物価</a:t>
              </a:r>
            </a:p>
          </p:txBody>
        </p:sp>
        <p:sp>
          <p:nvSpPr>
            <p:cNvPr id="54" name="テキスト ボックス 53">
              <a:extLst>
                <a:ext uri="{FF2B5EF4-FFF2-40B4-BE49-F238E27FC236}">
                  <a16:creationId xmlns:a16="http://schemas.microsoft.com/office/drawing/2014/main" id="{D335E3BA-FC06-74F0-AA4E-7561B6D5ED74}"/>
                </a:ext>
              </a:extLst>
            </p:cNvPr>
            <p:cNvSpPr txBox="1"/>
            <p:nvPr/>
          </p:nvSpPr>
          <p:spPr>
            <a:xfrm>
              <a:off x="6213261" y="4445048"/>
              <a:ext cx="748923" cy="261610"/>
            </a:xfrm>
            <a:prstGeom prst="rect">
              <a:avLst/>
            </a:prstGeom>
            <a:noFill/>
          </p:spPr>
          <p:txBody>
            <a:bodyPr wrap="none" rtlCol="0">
              <a:spAutoFit/>
            </a:bodyPr>
            <a:lstStyle/>
            <a:p>
              <a:r>
                <a:rPr kumimoji="1" lang="ja-GB" altLang="en-US" sz="1100" b="1" dirty="0">
                  <a:solidFill>
                    <a:schemeClr val="accent2"/>
                  </a:solidFill>
                </a:rPr>
                <a:t>労働環境</a:t>
              </a:r>
            </a:p>
          </p:txBody>
        </p:sp>
        <p:sp>
          <p:nvSpPr>
            <p:cNvPr id="55" name="テキスト ボックス 54">
              <a:extLst>
                <a:ext uri="{FF2B5EF4-FFF2-40B4-BE49-F238E27FC236}">
                  <a16:creationId xmlns:a16="http://schemas.microsoft.com/office/drawing/2014/main" id="{0D6C42FC-6FD0-5D29-7DC3-3A0ED237D6A2}"/>
                </a:ext>
              </a:extLst>
            </p:cNvPr>
            <p:cNvSpPr txBox="1"/>
            <p:nvPr/>
          </p:nvSpPr>
          <p:spPr>
            <a:xfrm>
              <a:off x="7081346" y="3633197"/>
              <a:ext cx="607859" cy="261610"/>
            </a:xfrm>
            <a:prstGeom prst="rect">
              <a:avLst/>
            </a:prstGeom>
            <a:noFill/>
          </p:spPr>
          <p:txBody>
            <a:bodyPr wrap="none" rtlCol="0">
              <a:spAutoFit/>
            </a:bodyPr>
            <a:lstStyle/>
            <a:p>
              <a:r>
                <a:rPr kumimoji="1" lang="ja-GB" altLang="en-US" sz="1100" b="1" dirty="0">
                  <a:solidFill>
                    <a:schemeClr val="accent6"/>
                  </a:solidFill>
                </a:rPr>
                <a:t>子育て</a:t>
              </a:r>
            </a:p>
          </p:txBody>
        </p:sp>
        <p:sp>
          <p:nvSpPr>
            <p:cNvPr id="56" name="テキスト ボックス 55">
              <a:extLst>
                <a:ext uri="{FF2B5EF4-FFF2-40B4-BE49-F238E27FC236}">
                  <a16:creationId xmlns:a16="http://schemas.microsoft.com/office/drawing/2014/main" id="{E429CA3B-A9D5-5B2F-5E7F-134B58E008FC}"/>
                </a:ext>
              </a:extLst>
            </p:cNvPr>
            <p:cNvSpPr txBox="1"/>
            <p:nvPr/>
          </p:nvSpPr>
          <p:spPr>
            <a:xfrm>
              <a:off x="7783280" y="4567152"/>
              <a:ext cx="1031051" cy="261610"/>
            </a:xfrm>
            <a:prstGeom prst="rect">
              <a:avLst/>
            </a:prstGeom>
            <a:noFill/>
          </p:spPr>
          <p:txBody>
            <a:bodyPr wrap="none" rtlCol="0">
              <a:spAutoFit/>
            </a:bodyPr>
            <a:lstStyle/>
            <a:p>
              <a:r>
                <a:rPr kumimoji="1" lang="ja-GB" altLang="en-US" sz="1100" b="1" dirty="0">
                  <a:solidFill>
                    <a:srgbClr val="002060"/>
                  </a:solidFill>
                </a:rPr>
                <a:t>シャッター街</a:t>
              </a:r>
            </a:p>
          </p:txBody>
        </p:sp>
      </p:grpSp>
      <p:grpSp>
        <p:nvGrpSpPr>
          <p:cNvPr id="17" name="グループ化 16">
            <a:extLst>
              <a:ext uri="{FF2B5EF4-FFF2-40B4-BE49-F238E27FC236}">
                <a16:creationId xmlns:a16="http://schemas.microsoft.com/office/drawing/2014/main" id="{541DAAC2-6633-C018-462C-65D2CAE8B1AA}"/>
              </a:ext>
            </a:extLst>
          </p:cNvPr>
          <p:cNvGrpSpPr/>
          <p:nvPr/>
        </p:nvGrpSpPr>
        <p:grpSpPr>
          <a:xfrm>
            <a:off x="475928" y="3559805"/>
            <a:ext cx="1736708" cy="1662625"/>
            <a:chOff x="571540" y="3559805"/>
            <a:chExt cx="1736708" cy="1662625"/>
          </a:xfrm>
        </p:grpSpPr>
        <p:pic>
          <p:nvPicPr>
            <p:cNvPr id="15" name="図 14">
              <a:extLst>
                <a:ext uri="{FF2B5EF4-FFF2-40B4-BE49-F238E27FC236}">
                  <a16:creationId xmlns:a16="http://schemas.microsoft.com/office/drawing/2014/main" id="{338ECD8C-89A6-86D8-62D3-3696F6FA7A59}"/>
                </a:ext>
              </a:extLst>
            </p:cNvPr>
            <p:cNvPicPr>
              <a:picLocks noChangeAspect="1"/>
            </p:cNvPicPr>
            <p:nvPr/>
          </p:nvPicPr>
          <p:blipFill>
            <a:blip r:embed="rId2"/>
            <a:stretch>
              <a:fillRect/>
            </a:stretch>
          </p:blipFill>
          <p:spPr>
            <a:xfrm>
              <a:off x="571540" y="3559805"/>
              <a:ext cx="1736708" cy="850338"/>
            </a:xfrm>
            <a:prstGeom prst="rect">
              <a:avLst/>
            </a:prstGeom>
          </p:spPr>
        </p:pic>
        <p:pic>
          <p:nvPicPr>
            <p:cNvPr id="16" name="図 15">
              <a:extLst>
                <a:ext uri="{FF2B5EF4-FFF2-40B4-BE49-F238E27FC236}">
                  <a16:creationId xmlns:a16="http://schemas.microsoft.com/office/drawing/2014/main" id="{BDB93CEB-DF2D-F4AA-E1DF-5DDED7578947}"/>
                </a:ext>
              </a:extLst>
            </p:cNvPr>
            <p:cNvPicPr>
              <a:picLocks noChangeAspect="1"/>
            </p:cNvPicPr>
            <p:nvPr/>
          </p:nvPicPr>
          <p:blipFill>
            <a:blip r:embed="rId2"/>
            <a:stretch>
              <a:fillRect/>
            </a:stretch>
          </p:blipFill>
          <p:spPr>
            <a:xfrm>
              <a:off x="571540" y="4372092"/>
              <a:ext cx="1736708" cy="850338"/>
            </a:xfrm>
            <a:prstGeom prst="rect">
              <a:avLst/>
            </a:prstGeom>
          </p:spPr>
        </p:pic>
      </p:grpSp>
    </p:spTree>
    <p:extLst>
      <p:ext uri="{BB962C8B-B14F-4D97-AF65-F5344CB8AC3E}">
        <p14:creationId xmlns:p14="http://schemas.microsoft.com/office/powerpoint/2010/main" val="117996335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FBCF1-A181-4B8F-D125-10B788AE39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646E8A-6B7C-BDC1-1E6E-ACECFCD2138D}"/>
              </a:ext>
            </a:extLst>
          </p:cNvPr>
          <p:cNvSpPr>
            <a:spLocks noGrp="1"/>
          </p:cNvSpPr>
          <p:nvPr>
            <p:ph type="title"/>
          </p:nvPr>
        </p:nvSpPr>
        <p:spPr/>
        <p:txBody>
          <a:bodyPr/>
          <a:lstStyle/>
          <a:p>
            <a:r>
              <a:rPr kumimoji="1" lang="en-US" altLang="ja-GB" dirty="0"/>
              <a:t> </a:t>
            </a:r>
            <a:r>
              <a:rPr kumimoji="1" lang="ja-GB" altLang="en-US" dirty="0"/>
              <a:t>応用例</a:t>
            </a:r>
            <a:r>
              <a:rPr kumimoji="1" lang="en-US" altLang="ja-GB" dirty="0"/>
              <a:t>2</a:t>
            </a:r>
            <a:r>
              <a:rPr kumimoji="1" lang="ja-GB" altLang="en-US" dirty="0"/>
              <a:t>：膨大な意見を</a:t>
            </a:r>
            <a:r>
              <a:rPr kumimoji="1" lang="en-US" altLang="ja-GB" dirty="0"/>
              <a:t>AI</a:t>
            </a:r>
            <a:r>
              <a:rPr kumimoji="1" lang="ja-GB" altLang="en-US" dirty="0"/>
              <a:t>で分類・可視化</a:t>
            </a:r>
          </a:p>
        </p:txBody>
      </p:sp>
      <p:sp>
        <p:nvSpPr>
          <p:cNvPr id="3" name="コンテンツ プレースホルダー 2">
            <a:extLst>
              <a:ext uri="{FF2B5EF4-FFF2-40B4-BE49-F238E27FC236}">
                <a16:creationId xmlns:a16="http://schemas.microsoft.com/office/drawing/2014/main" id="{940CDC95-A1D0-0343-AB93-E957A55EDCD0}"/>
              </a:ext>
            </a:extLst>
          </p:cNvPr>
          <p:cNvSpPr>
            <a:spLocks noGrp="1"/>
          </p:cNvSpPr>
          <p:nvPr>
            <p:ph idx="1"/>
          </p:nvPr>
        </p:nvSpPr>
        <p:spPr/>
        <p:txBody>
          <a:bodyPr/>
          <a:lstStyle/>
          <a:p>
            <a:pPr marL="457200" lvl="1" indent="0">
              <a:buNone/>
            </a:pPr>
            <a:r>
              <a:rPr kumimoji="1" lang="ja-GB" altLang="en-US" dirty="0"/>
              <a:t>顧客の声や市民の声など，膨大なテキストデータの把握や活用を補助</a:t>
            </a:r>
            <a:endParaRPr kumimoji="1" lang="en-US" altLang="ja-GB" dirty="0"/>
          </a:p>
          <a:p>
            <a:pPr marL="1257300" lvl="2" indent="-342900">
              <a:buFont typeface="+mj-lt"/>
              <a:buAutoNum type="arabicPeriod"/>
            </a:pPr>
            <a:r>
              <a:rPr lang="ja-GB" altLang="en-US" dirty="0"/>
              <a:t>膨大な意見を似た</a:t>
            </a:r>
            <a:r>
              <a:rPr kumimoji="1" lang="ja-GB" altLang="en-US" dirty="0"/>
              <a:t>特性を持つ複数のグループに分類</a:t>
            </a:r>
            <a:endParaRPr kumimoji="1" lang="en-US" altLang="ja-GB" dirty="0"/>
          </a:p>
          <a:p>
            <a:pPr marL="1257300" lvl="2" indent="-342900">
              <a:buFont typeface="+mj-lt"/>
              <a:buAutoNum type="arabicPeriod"/>
            </a:pPr>
            <a:r>
              <a:rPr lang="ja-GB" altLang="en-US" dirty="0"/>
              <a:t>各グループの意見を言語処理</a:t>
            </a:r>
            <a:r>
              <a:rPr lang="en-US" altLang="ja-GB" dirty="0"/>
              <a:t>AI</a:t>
            </a:r>
            <a:r>
              <a:rPr lang="ja-GB" altLang="en-US" dirty="0"/>
              <a:t>で要約</a:t>
            </a:r>
            <a:endParaRPr lang="en-US" altLang="ja-GB" dirty="0"/>
          </a:p>
          <a:p>
            <a:pPr marL="1257300" lvl="2" indent="-342900">
              <a:buFont typeface="+mj-lt"/>
              <a:buAutoNum type="arabicPeriod"/>
            </a:pPr>
            <a:r>
              <a:rPr kumimoji="1" lang="ja-GB" altLang="en-US" dirty="0"/>
              <a:t>似たグループが近くに来るように</a:t>
            </a:r>
            <a:r>
              <a:rPr kumimoji="1" lang="en-US" altLang="ja-GB" dirty="0"/>
              <a:t>2</a:t>
            </a:r>
            <a:r>
              <a:rPr kumimoji="1" lang="ja-GB" altLang="en-US" dirty="0"/>
              <a:t>次元平面にプロット</a:t>
            </a:r>
            <a:endParaRPr kumimoji="1" lang="en-US" altLang="ja-GB" dirty="0"/>
          </a:p>
          <a:p>
            <a:pPr marL="1257300" lvl="2" indent="-342900">
              <a:buFont typeface="+mj-lt"/>
              <a:buAutoNum type="arabicPeriod"/>
            </a:pPr>
            <a:r>
              <a:rPr lang="ja-GB" altLang="en-US" dirty="0"/>
              <a:t>人間は，要約されたデータで概形を理解しながら，個別の意見も閲覧できる</a:t>
            </a:r>
            <a:endParaRPr kumimoji="1" lang="ja-GB" altLang="en-US" dirty="0"/>
          </a:p>
        </p:txBody>
      </p:sp>
      <p:pic>
        <p:nvPicPr>
          <p:cNvPr id="3074" name="Picture 2">
            <a:extLst>
              <a:ext uri="{FF2B5EF4-FFF2-40B4-BE49-F238E27FC236}">
                <a16:creationId xmlns:a16="http://schemas.microsoft.com/office/drawing/2014/main" id="{B561A4A2-FBC5-0CD0-48B0-205301B0C836}"/>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954693" y="2542666"/>
            <a:ext cx="7514750" cy="408223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12106621-6017-A4C9-9988-63D479016D10}"/>
              </a:ext>
            </a:extLst>
          </p:cNvPr>
          <p:cNvSpPr txBox="1"/>
          <p:nvPr/>
        </p:nvSpPr>
        <p:spPr>
          <a:xfrm>
            <a:off x="0" y="6349770"/>
            <a:ext cx="9018110" cy="523220"/>
          </a:xfrm>
          <a:prstGeom prst="rect">
            <a:avLst/>
          </a:prstGeom>
          <a:noFill/>
        </p:spPr>
        <p:txBody>
          <a:bodyPr wrap="none" rtlCol="0">
            <a:spAutoFit/>
          </a:bodyPr>
          <a:lstStyle/>
          <a:p>
            <a:r>
              <a:rPr lang="en-GB" altLang="ja-GB" sz="1400" b="1" dirty="0">
                <a:solidFill>
                  <a:schemeClr val="tx1">
                    <a:lumMod val="50000"/>
                    <a:lumOff val="50000"/>
                  </a:schemeClr>
                </a:solidFill>
              </a:rPr>
              <a:t>image</a:t>
            </a:r>
            <a:r>
              <a:rPr lang="en-GB" altLang="ja-GB" sz="1400" dirty="0">
                <a:solidFill>
                  <a:schemeClr val="tx1">
                    <a:lumMod val="50000"/>
                    <a:lumOff val="50000"/>
                  </a:schemeClr>
                </a:solidFill>
              </a:rPr>
              <a:t>: CC BY 4.0</a:t>
            </a:r>
            <a:endParaRPr kumimoji="1" lang="en-US" altLang="ja-GB" sz="1400" dirty="0">
              <a:solidFill>
                <a:schemeClr val="tx1">
                  <a:lumMod val="50000"/>
                  <a:lumOff val="50000"/>
                </a:schemeClr>
              </a:solidFill>
            </a:endParaRPr>
          </a:p>
          <a:p>
            <a:r>
              <a:rPr lang="en-GB" altLang="ja-GB" sz="1400" dirty="0" err="1">
                <a:solidFill>
                  <a:schemeClr val="tx1">
                    <a:lumMod val="50000"/>
                    <a:lumOff val="50000"/>
                  </a:schemeClr>
                </a:solidFill>
              </a:rPr>
              <a:t>mielka</a:t>
            </a:r>
            <a:r>
              <a:rPr lang="en-GB" altLang="ja-GB" sz="1400" dirty="0">
                <a:solidFill>
                  <a:schemeClr val="tx1">
                    <a:lumMod val="50000"/>
                    <a:lumOff val="50000"/>
                  </a:schemeClr>
                </a:solidFill>
              </a:rPr>
              <a:t>/yoronchizu2024: </a:t>
            </a:r>
            <a:r>
              <a:rPr lang="en-GB" altLang="ja-GB" sz="1400" dirty="0" err="1">
                <a:solidFill>
                  <a:schemeClr val="tx1">
                    <a:lumMod val="50000"/>
                    <a:lumOff val="50000"/>
                  </a:schemeClr>
                </a:solidFill>
              </a:rPr>
              <a:t>YoronChizu</a:t>
            </a:r>
            <a:r>
              <a:rPr lang="en-GB" altLang="ja-GB" sz="1400" dirty="0">
                <a:solidFill>
                  <a:schemeClr val="tx1">
                    <a:lumMod val="50000"/>
                    <a:lumOff val="50000"/>
                  </a:schemeClr>
                </a:solidFill>
              </a:rPr>
              <a:t>(</a:t>
            </a:r>
            <a:r>
              <a:rPr lang="ja-JP" altLang="en-US" sz="1400">
                <a:solidFill>
                  <a:schemeClr val="tx1">
                    <a:lumMod val="50000"/>
                    <a:lumOff val="50000"/>
                  </a:schemeClr>
                </a:solidFill>
              </a:rPr>
              <a:t>世論地図</a:t>
            </a:r>
            <a:r>
              <a:rPr lang="en-US" altLang="ja-JP" sz="1400" dirty="0">
                <a:solidFill>
                  <a:schemeClr val="tx1">
                    <a:lumMod val="50000"/>
                    <a:lumOff val="50000"/>
                  </a:schemeClr>
                </a:solidFill>
              </a:rPr>
              <a:t>) 2024 </a:t>
            </a:r>
            <a:r>
              <a:rPr lang="en-GB" altLang="ja-GB" sz="1400" dirty="0">
                <a:solidFill>
                  <a:schemeClr val="tx1">
                    <a:lumMod val="50000"/>
                    <a:lumOff val="50000"/>
                  </a:schemeClr>
                </a:solidFill>
              </a:rPr>
              <a:t>version </a:t>
            </a:r>
            <a:r>
              <a:rPr lang="en-GB" altLang="ja-GB" sz="14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https://github.com/mielka/yoronchizu2024/tree/main</a:t>
            </a:r>
            <a:r>
              <a:rPr lang="en-GB" altLang="ja-GB" sz="1400" dirty="0">
                <a:solidFill>
                  <a:schemeClr val="tx1">
                    <a:lumMod val="50000"/>
                    <a:lumOff val="50000"/>
                  </a:schemeClr>
                </a:solidFill>
              </a:rPr>
              <a:t> </a:t>
            </a:r>
            <a:r>
              <a:rPr lang="ja-GB" altLang="en-US" sz="1400" dirty="0">
                <a:solidFill>
                  <a:schemeClr val="tx1">
                    <a:lumMod val="50000"/>
                    <a:lumOff val="50000"/>
                  </a:schemeClr>
                </a:solidFill>
              </a:rPr>
              <a:t>より</a:t>
            </a:r>
            <a:endParaRPr lang="en-GB" altLang="ja-GB" sz="1400" dirty="0">
              <a:solidFill>
                <a:schemeClr val="tx1">
                  <a:lumMod val="50000"/>
                  <a:lumOff val="50000"/>
                </a:schemeClr>
              </a:solidFill>
            </a:endParaRPr>
          </a:p>
        </p:txBody>
      </p:sp>
    </p:spTree>
    <p:extLst>
      <p:ext uri="{BB962C8B-B14F-4D97-AF65-F5344CB8AC3E}">
        <p14:creationId xmlns:p14="http://schemas.microsoft.com/office/powerpoint/2010/main" val="368336510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DA3D-89B0-096C-6F00-433599A9F4D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0CE3115-8945-EA03-12FF-CF81544E1F4A}"/>
              </a:ext>
            </a:extLst>
          </p:cNvPr>
          <p:cNvSpPr>
            <a:spLocks noGrp="1"/>
          </p:cNvSpPr>
          <p:nvPr>
            <p:ph type="title"/>
          </p:nvPr>
        </p:nvSpPr>
        <p:spPr/>
        <p:txBody>
          <a:bodyPr/>
          <a:lstStyle/>
          <a:p>
            <a:r>
              <a:rPr lang="ja-GB" altLang="en-US" dirty="0"/>
              <a:t>機械学習</a:t>
            </a:r>
            <a:endParaRPr lang="ja-JP" altLang="en-US"/>
          </a:p>
        </p:txBody>
      </p:sp>
      <p:sp>
        <p:nvSpPr>
          <p:cNvPr id="5" name="コンテンツ プレースホルダー 4">
            <a:extLst>
              <a:ext uri="{FF2B5EF4-FFF2-40B4-BE49-F238E27FC236}">
                <a16:creationId xmlns:a16="http://schemas.microsoft.com/office/drawing/2014/main" id="{E3D7A4C3-B9E5-5E0F-D8B4-53A6B6C895FB}"/>
              </a:ext>
            </a:extLst>
          </p:cNvPr>
          <p:cNvSpPr>
            <a:spLocks noGrp="1"/>
          </p:cNvSpPr>
          <p:nvPr>
            <p:ph idx="1"/>
          </p:nvPr>
        </p:nvSpPr>
        <p:spPr/>
        <p:txBody>
          <a:bodyPr/>
          <a:lstStyle/>
          <a:p>
            <a:pPr marL="0" indent="0">
              <a:buNone/>
            </a:pPr>
            <a:r>
              <a:rPr lang="ja-GB" altLang="en-US" dirty="0"/>
              <a:t>経験則的な良い行動の発見を再現する計算手順</a:t>
            </a:r>
            <a:endParaRPr lang="en-US" altLang="ja-GB" dirty="0"/>
          </a:p>
          <a:p>
            <a:pPr lvl="1"/>
            <a:r>
              <a:rPr lang="ja-GB" altLang="en-US" dirty="0">
                <a:solidFill>
                  <a:schemeClr val="tx1">
                    <a:lumMod val="50000"/>
                    <a:lumOff val="50000"/>
                  </a:schemeClr>
                </a:solidFill>
              </a:rPr>
              <a:t>教師あり学習 ：人の作ったデータから計算手順を逆算する</a:t>
            </a:r>
            <a:endParaRPr lang="en-US" altLang="ja-GB" dirty="0">
              <a:solidFill>
                <a:schemeClr val="tx1">
                  <a:lumMod val="50000"/>
                  <a:lumOff val="50000"/>
                </a:schemeClr>
              </a:solidFill>
            </a:endParaRPr>
          </a:p>
          <a:p>
            <a:pPr lvl="1"/>
            <a:r>
              <a:rPr lang="ja-GB" altLang="en-US" dirty="0">
                <a:solidFill>
                  <a:schemeClr val="tx1">
                    <a:lumMod val="50000"/>
                    <a:lumOff val="50000"/>
                  </a:schemeClr>
                </a:solidFill>
              </a:rPr>
              <a:t>教師なし学習 ：データから未知のパターン・特徴を発見する</a:t>
            </a:r>
            <a:endParaRPr lang="en-US" altLang="ja-GB" dirty="0">
              <a:solidFill>
                <a:schemeClr val="tx1">
                  <a:lumMod val="50000"/>
                  <a:lumOff val="50000"/>
                </a:schemeClr>
              </a:solidFill>
            </a:endParaRPr>
          </a:p>
          <a:p>
            <a:pPr lvl="1"/>
            <a:r>
              <a:rPr lang="ja-GB" altLang="en-US" dirty="0">
                <a:solidFill>
                  <a:srgbClr val="0070C0"/>
                </a:solidFill>
              </a:rPr>
              <a:t>強化学習　</a:t>
            </a:r>
            <a:r>
              <a:rPr lang="en-US" altLang="ja-GB" dirty="0">
                <a:solidFill>
                  <a:srgbClr val="0070C0"/>
                </a:solidFill>
              </a:rPr>
              <a:t>   </a:t>
            </a:r>
            <a:r>
              <a:rPr lang="ja-GB" altLang="en-US" dirty="0">
                <a:solidFill>
                  <a:srgbClr val="0070C0"/>
                </a:solidFill>
              </a:rPr>
              <a:t>：試行錯誤の中でうまい振る舞い方を発見する</a:t>
            </a:r>
            <a:endParaRPr lang="en-US" altLang="ja-GB" dirty="0">
              <a:solidFill>
                <a:srgbClr val="0070C0"/>
              </a:solidFill>
            </a:endParaRPr>
          </a:p>
        </p:txBody>
      </p:sp>
    </p:spTree>
    <p:extLst>
      <p:ext uri="{BB962C8B-B14F-4D97-AF65-F5344CB8AC3E}">
        <p14:creationId xmlns:p14="http://schemas.microsoft.com/office/powerpoint/2010/main" val="35029265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80C74A-00E5-A674-1D62-D9D09E7E2E75}"/>
              </a:ext>
            </a:extLst>
          </p:cNvPr>
          <p:cNvSpPr>
            <a:spLocks noGrp="1"/>
          </p:cNvSpPr>
          <p:nvPr>
            <p:ph type="title"/>
          </p:nvPr>
        </p:nvSpPr>
        <p:spPr/>
        <p:txBody>
          <a:bodyPr/>
          <a:lstStyle/>
          <a:p>
            <a:r>
              <a:rPr kumimoji="1" lang="ja-GB" altLang="en-US" dirty="0"/>
              <a:t>強化学習</a:t>
            </a:r>
          </a:p>
        </p:txBody>
      </p:sp>
      <p:sp>
        <p:nvSpPr>
          <p:cNvPr id="3" name="コンテンツ プレースホルダー 2">
            <a:extLst>
              <a:ext uri="{FF2B5EF4-FFF2-40B4-BE49-F238E27FC236}">
                <a16:creationId xmlns:a16="http://schemas.microsoft.com/office/drawing/2014/main" id="{93180254-46BE-BED1-44DA-BC48B71719AD}"/>
              </a:ext>
            </a:extLst>
          </p:cNvPr>
          <p:cNvSpPr>
            <a:spLocks noGrp="1"/>
          </p:cNvSpPr>
          <p:nvPr>
            <p:ph idx="1"/>
          </p:nvPr>
        </p:nvSpPr>
        <p:spPr/>
        <p:txBody>
          <a:bodyPr/>
          <a:lstStyle/>
          <a:p>
            <a:pPr marL="0" indent="0">
              <a:buNone/>
            </a:pPr>
            <a:r>
              <a:rPr lang="ja-GB" altLang="en-US" dirty="0"/>
              <a:t>試行錯誤の中でうまい振る舞い方を発見する</a:t>
            </a:r>
            <a:endParaRPr lang="en-US" altLang="ja-GB" dirty="0"/>
          </a:p>
          <a:p>
            <a:pPr marL="457200" lvl="1" indent="0">
              <a:buNone/>
            </a:pPr>
            <a:r>
              <a:rPr kumimoji="1" lang="ja-GB" altLang="en-US" dirty="0">
                <a:solidFill>
                  <a:srgbClr val="0070C0"/>
                </a:solidFill>
              </a:rPr>
              <a:t>例</a:t>
            </a:r>
            <a:r>
              <a:rPr kumimoji="1" lang="en-US" altLang="ja-GB" dirty="0">
                <a:solidFill>
                  <a:srgbClr val="0070C0"/>
                </a:solidFill>
              </a:rPr>
              <a:t>1</a:t>
            </a:r>
            <a:r>
              <a:rPr kumimoji="1" lang="ja-GB" altLang="en-US" dirty="0">
                <a:solidFill>
                  <a:srgbClr val="0070C0"/>
                </a:solidFill>
              </a:rPr>
              <a:t>）当たるスロットマシンの探索，空いている電波チャンネルの探索</a:t>
            </a:r>
            <a:endParaRPr kumimoji="1" lang="en-US" altLang="ja-GB" dirty="0">
              <a:solidFill>
                <a:srgbClr val="0070C0"/>
              </a:solidFill>
            </a:endParaRPr>
          </a:p>
          <a:p>
            <a:pPr marL="1257300" lvl="2" indent="-342900">
              <a:buFont typeface="+mj-lt"/>
              <a:buAutoNum type="arabicPeriod"/>
            </a:pPr>
            <a:r>
              <a:rPr kumimoji="1" lang="ja-GB" altLang="en-US" dirty="0"/>
              <a:t>ランダムな確率に候補（マシンやチャンネル）を選ぶ</a:t>
            </a:r>
            <a:endParaRPr kumimoji="1" lang="en-US" altLang="ja-GB" dirty="0"/>
          </a:p>
          <a:p>
            <a:pPr marL="1257300" lvl="2" indent="-342900">
              <a:buFont typeface="+mj-lt"/>
              <a:buAutoNum type="arabicPeriod"/>
            </a:pPr>
            <a:r>
              <a:rPr lang="ja-GB" altLang="en-US" dirty="0"/>
              <a:t>結果が良ければその候補を選ぶ確率を次回以降は上げる，悪ければ下げる</a:t>
            </a:r>
            <a:endParaRPr lang="en-US" altLang="ja-GB" dirty="0"/>
          </a:p>
          <a:p>
            <a:pPr marL="1257300" lvl="2" indent="-342900">
              <a:buFont typeface="+mj-lt"/>
              <a:buAutoNum type="arabicPeriod"/>
            </a:pPr>
            <a:r>
              <a:rPr lang="ja-GB" altLang="en-US" dirty="0"/>
              <a:t>この方法で，より候補を見つけられて，状況変化にも対応できる</a:t>
            </a:r>
            <a:endParaRPr lang="en-US" altLang="ja-GB" dirty="0"/>
          </a:p>
          <a:p>
            <a:pPr marL="1257300" lvl="2" indent="-342900">
              <a:buFont typeface="+mj-lt"/>
              <a:buAutoNum type="arabicPeriod"/>
            </a:pPr>
            <a:endParaRPr lang="en-US" altLang="ja-GB" dirty="0"/>
          </a:p>
          <a:p>
            <a:pPr marL="457200" lvl="1" indent="0">
              <a:buNone/>
            </a:pPr>
            <a:endParaRPr lang="en-US" altLang="ja-GB" dirty="0"/>
          </a:p>
        </p:txBody>
      </p:sp>
    </p:spTree>
    <p:extLst>
      <p:ext uri="{BB962C8B-B14F-4D97-AF65-F5344CB8AC3E}">
        <p14:creationId xmlns:p14="http://schemas.microsoft.com/office/powerpoint/2010/main" val="19347088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D047F-DE96-D5B9-6642-B28C1092B9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42F46C-2DE9-27D4-8019-A98A77449019}"/>
              </a:ext>
            </a:extLst>
          </p:cNvPr>
          <p:cNvSpPr>
            <a:spLocks noGrp="1"/>
          </p:cNvSpPr>
          <p:nvPr>
            <p:ph type="title"/>
          </p:nvPr>
        </p:nvSpPr>
        <p:spPr/>
        <p:txBody>
          <a:bodyPr/>
          <a:lstStyle/>
          <a:p>
            <a:r>
              <a:rPr kumimoji="1" lang="ja-GB" altLang="en-US" dirty="0"/>
              <a:t>強化学習</a:t>
            </a:r>
          </a:p>
        </p:txBody>
      </p:sp>
      <p:sp>
        <p:nvSpPr>
          <p:cNvPr id="3" name="コンテンツ プレースホルダー 2">
            <a:extLst>
              <a:ext uri="{FF2B5EF4-FFF2-40B4-BE49-F238E27FC236}">
                <a16:creationId xmlns:a16="http://schemas.microsoft.com/office/drawing/2014/main" id="{C05E79E8-1755-304A-23C6-2729B6B910AD}"/>
              </a:ext>
            </a:extLst>
          </p:cNvPr>
          <p:cNvSpPr>
            <a:spLocks noGrp="1"/>
          </p:cNvSpPr>
          <p:nvPr>
            <p:ph idx="1"/>
          </p:nvPr>
        </p:nvSpPr>
        <p:spPr/>
        <p:txBody>
          <a:bodyPr/>
          <a:lstStyle/>
          <a:p>
            <a:pPr marL="0" indent="0">
              <a:buNone/>
            </a:pPr>
            <a:r>
              <a:rPr lang="ja-GB" altLang="en-US" dirty="0"/>
              <a:t>試行錯誤の中でうまい振る舞い方を発見する</a:t>
            </a:r>
            <a:endParaRPr lang="en-US" altLang="ja-GB" dirty="0"/>
          </a:p>
          <a:p>
            <a:pPr marL="457200" lvl="1" indent="0">
              <a:buNone/>
            </a:pPr>
            <a:r>
              <a:rPr kumimoji="1" lang="ja-GB" altLang="en-US" dirty="0">
                <a:solidFill>
                  <a:srgbClr val="002060"/>
                </a:solidFill>
              </a:rPr>
              <a:t>例</a:t>
            </a:r>
            <a:r>
              <a:rPr kumimoji="1" lang="en-US" altLang="ja-GB" dirty="0">
                <a:solidFill>
                  <a:srgbClr val="002060"/>
                </a:solidFill>
              </a:rPr>
              <a:t>1</a:t>
            </a:r>
            <a:r>
              <a:rPr kumimoji="1" lang="ja-GB" altLang="en-US" dirty="0">
                <a:solidFill>
                  <a:srgbClr val="002060"/>
                </a:solidFill>
              </a:rPr>
              <a:t>）当たるスロットマシンの探索，空いている電波チャンネルの探索</a:t>
            </a:r>
            <a:endParaRPr kumimoji="1" lang="en-US" altLang="ja-GB" dirty="0">
              <a:solidFill>
                <a:srgbClr val="002060"/>
              </a:solidFill>
            </a:endParaRPr>
          </a:p>
          <a:p>
            <a:pPr marL="1257300" lvl="2" indent="-342900">
              <a:buFont typeface="+mj-lt"/>
              <a:buAutoNum type="arabicPeriod"/>
            </a:pPr>
            <a:r>
              <a:rPr kumimoji="1" lang="ja-GB" altLang="en-US" dirty="0"/>
              <a:t>ランダムな確率に候補（マシンやチャンネル）を選ぶ</a:t>
            </a:r>
            <a:endParaRPr kumimoji="1" lang="en-US" altLang="ja-GB" dirty="0"/>
          </a:p>
          <a:p>
            <a:pPr marL="1257300" lvl="2" indent="-342900">
              <a:buFont typeface="+mj-lt"/>
              <a:buAutoNum type="arabicPeriod"/>
            </a:pPr>
            <a:r>
              <a:rPr lang="ja-GB" altLang="en-US" dirty="0"/>
              <a:t>結果が良ければその候補を選ぶ確率を次回以降は上げる，悪ければ下げる</a:t>
            </a:r>
            <a:endParaRPr lang="en-US" altLang="ja-GB" dirty="0"/>
          </a:p>
          <a:p>
            <a:pPr marL="1257300" lvl="2" indent="-342900">
              <a:buFont typeface="+mj-lt"/>
              <a:buAutoNum type="arabicPeriod"/>
            </a:pPr>
            <a:r>
              <a:rPr lang="ja-GB" altLang="en-US" dirty="0"/>
              <a:t>この方法で，より候補を見つけられて，状況変化にも対応できる</a:t>
            </a:r>
            <a:endParaRPr lang="en-US" altLang="ja-GB" dirty="0"/>
          </a:p>
          <a:p>
            <a:pPr marL="1257300" lvl="2" indent="-342900">
              <a:buFont typeface="+mj-lt"/>
              <a:buAutoNum type="arabicPeriod"/>
            </a:pPr>
            <a:endParaRPr lang="en-US" altLang="ja-GB" dirty="0"/>
          </a:p>
          <a:p>
            <a:pPr marL="457200" lvl="1" indent="0">
              <a:buNone/>
            </a:pPr>
            <a:r>
              <a:rPr kumimoji="1" lang="ja-GB" altLang="en-US" dirty="0">
                <a:solidFill>
                  <a:srgbClr val="002060"/>
                </a:solidFill>
              </a:rPr>
              <a:t>例</a:t>
            </a:r>
            <a:r>
              <a:rPr kumimoji="1" lang="en-US" altLang="ja-GB" dirty="0">
                <a:solidFill>
                  <a:srgbClr val="002060"/>
                </a:solidFill>
              </a:rPr>
              <a:t>2</a:t>
            </a:r>
            <a:r>
              <a:rPr kumimoji="1" lang="ja-GB" altLang="en-US" dirty="0">
                <a:solidFill>
                  <a:srgbClr val="002060"/>
                </a:solidFill>
              </a:rPr>
              <a:t>）ゲームをクリアする</a:t>
            </a:r>
            <a:endParaRPr kumimoji="1" lang="en-US" altLang="ja-GB" dirty="0">
              <a:solidFill>
                <a:srgbClr val="002060"/>
              </a:solidFill>
            </a:endParaRPr>
          </a:p>
          <a:p>
            <a:pPr marL="1257300" lvl="2" indent="-342900">
              <a:buFont typeface="+mj-lt"/>
              <a:buAutoNum type="arabicPeriod"/>
            </a:pPr>
            <a:r>
              <a:rPr kumimoji="1" lang="ja-GB" altLang="en-US" dirty="0"/>
              <a:t>生存時間や勝敗など，基準となる報酬を設定する</a:t>
            </a:r>
            <a:endParaRPr kumimoji="1" lang="en-US" altLang="ja-GB" dirty="0"/>
          </a:p>
          <a:p>
            <a:pPr marL="1257300" lvl="2" indent="-342900">
              <a:buFont typeface="+mj-lt"/>
              <a:buAutoNum type="arabicPeriod"/>
            </a:pPr>
            <a:r>
              <a:rPr lang="ja-GB" altLang="en-US" dirty="0"/>
              <a:t>各場面でランダムな行動をして，その履歴と結果を記録する</a:t>
            </a:r>
            <a:endParaRPr lang="en-US" altLang="ja-GB" dirty="0"/>
          </a:p>
          <a:p>
            <a:pPr marL="1257300" lvl="2" indent="-342900">
              <a:buFont typeface="+mj-lt"/>
              <a:buAutoNum type="arabicPeriod"/>
            </a:pPr>
            <a:r>
              <a:rPr lang="ja-GB" altLang="en-US" dirty="0"/>
              <a:t>結果に応じて，各場面での行動に点数をつける</a:t>
            </a:r>
            <a:endParaRPr lang="en-US" altLang="ja-GB" dirty="0"/>
          </a:p>
          <a:p>
            <a:pPr marL="1257300" lvl="2" indent="-342900">
              <a:buFont typeface="+mj-lt"/>
              <a:buAutoNum type="arabicPeriod"/>
            </a:pPr>
            <a:r>
              <a:rPr lang="ja-GB" altLang="en-US" dirty="0"/>
              <a:t>点数の高い行動を多く取りながら，より高い報酬が得られる行動を探索する</a:t>
            </a:r>
            <a:endParaRPr lang="en-US" altLang="ja-GB" dirty="0"/>
          </a:p>
          <a:p>
            <a:pPr marL="1257300" lvl="2" indent="-342900">
              <a:buFont typeface="+mj-lt"/>
              <a:buAutoNum type="arabicPeriod"/>
            </a:pPr>
            <a:endParaRPr lang="en-US" altLang="ja-GB" dirty="0"/>
          </a:p>
          <a:p>
            <a:pPr marL="457200" lvl="1" indent="0">
              <a:buNone/>
            </a:pPr>
            <a:r>
              <a:rPr lang="ja-GB" altLang="en-US" dirty="0">
                <a:solidFill>
                  <a:srgbClr val="002060"/>
                </a:solidFill>
              </a:rPr>
              <a:t>例</a:t>
            </a:r>
            <a:r>
              <a:rPr lang="en-US" altLang="ja-GB" dirty="0">
                <a:solidFill>
                  <a:srgbClr val="002060"/>
                </a:solidFill>
              </a:rPr>
              <a:t>3</a:t>
            </a:r>
            <a:r>
              <a:rPr lang="ja-GB" altLang="en-US" dirty="0">
                <a:solidFill>
                  <a:srgbClr val="002060"/>
                </a:solidFill>
              </a:rPr>
              <a:t>）数学の問題を解く，人間を満足させる会話をする</a:t>
            </a:r>
            <a:endParaRPr lang="en-US" altLang="ja-GB" dirty="0">
              <a:solidFill>
                <a:srgbClr val="002060"/>
              </a:solidFill>
            </a:endParaRPr>
          </a:p>
          <a:p>
            <a:pPr marL="1257300" lvl="2" indent="-342900">
              <a:buFont typeface="+mj-lt"/>
              <a:buAutoNum type="arabicPeriod"/>
            </a:pPr>
            <a:r>
              <a:rPr lang="ja-GB" altLang="en-US" dirty="0"/>
              <a:t>正解率や人間の評価（👍</a:t>
            </a:r>
            <a:r>
              <a:rPr lang="en-US" altLang="ja-GB" dirty="0"/>
              <a:t>/</a:t>
            </a:r>
            <a:r>
              <a:rPr lang="ja-GB" altLang="en-US" dirty="0"/>
              <a:t>👎）など，指標を決める</a:t>
            </a:r>
            <a:endParaRPr lang="en-US" altLang="ja-GB" dirty="0"/>
          </a:p>
          <a:p>
            <a:pPr marL="1257300" lvl="2" indent="-342900">
              <a:buFont typeface="+mj-lt"/>
              <a:buAutoNum type="arabicPeriod"/>
            </a:pPr>
            <a:r>
              <a:rPr lang="ja-GB" altLang="en-US" dirty="0"/>
              <a:t>訓練した</a:t>
            </a:r>
            <a:r>
              <a:rPr lang="en-US" altLang="ja-GB" dirty="0"/>
              <a:t>AI</a:t>
            </a:r>
            <a:r>
              <a:rPr lang="ja-GB" altLang="en-US" dirty="0"/>
              <a:t>モデルを動かす（対話を進める，数学の次の操作を推測）</a:t>
            </a:r>
            <a:endParaRPr lang="en-US" altLang="ja-GB" dirty="0"/>
          </a:p>
          <a:p>
            <a:pPr marL="1257300" lvl="2" indent="-342900">
              <a:buFont typeface="+mj-lt"/>
              <a:buAutoNum type="arabicPeriod"/>
            </a:pPr>
            <a:r>
              <a:rPr lang="ja-GB" altLang="en-US" dirty="0"/>
              <a:t>結果に応じて，各場面での行動に点数をつける</a:t>
            </a:r>
            <a:endParaRPr lang="en-US" altLang="ja-GB" dirty="0"/>
          </a:p>
          <a:p>
            <a:pPr marL="1257300" lvl="2" indent="-342900">
              <a:buFont typeface="+mj-lt"/>
              <a:buAutoNum type="arabicPeriod"/>
            </a:pPr>
            <a:r>
              <a:rPr lang="ja-GB" altLang="en-US" dirty="0"/>
              <a:t>より高い点数の行動を取れるように，</a:t>
            </a:r>
            <a:r>
              <a:rPr lang="en-US" altLang="ja-GB" dirty="0"/>
              <a:t>AI</a:t>
            </a:r>
            <a:r>
              <a:rPr lang="ja-GB" altLang="en-US" dirty="0"/>
              <a:t>の内部変数を更新する</a:t>
            </a:r>
            <a:endParaRPr lang="en-US" altLang="ja-GB" dirty="0"/>
          </a:p>
        </p:txBody>
      </p:sp>
    </p:spTree>
    <p:extLst>
      <p:ext uri="{BB962C8B-B14F-4D97-AF65-F5344CB8AC3E}">
        <p14:creationId xmlns:p14="http://schemas.microsoft.com/office/powerpoint/2010/main" val="114318863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209BB-006C-33BE-F726-1A76699E4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6BAC77-1D60-A412-9C55-240F263E7F4B}"/>
              </a:ext>
            </a:extLst>
          </p:cNvPr>
          <p:cNvSpPr>
            <a:spLocks noGrp="1"/>
          </p:cNvSpPr>
          <p:nvPr>
            <p:ph type="title"/>
          </p:nvPr>
        </p:nvSpPr>
        <p:spPr/>
        <p:txBody>
          <a:bodyPr/>
          <a:lstStyle/>
          <a:p>
            <a:r>
              <a:rPr kumimoji="1" lang="ja-GB" altLang="en-US" dirty="0"/>
              <a:t>第</a:t>
            </a:r>
            <a:r>
              <a:rPr kumimoji="1" lang="en-US" altLang="ja-GB" dirty="0"/>
              <a:t>4</a:t>
            </a:r>
            <a:r>
              <a:rPr kumimoji="1" lang="ja-GB" altLang="en-US" dirty="0"/>
              <a:t>回：統計，データ，</a:t>
            </a:r>
            <a:r>
              <a:rPr kumimoji="1" lang="en-US" altLang="ja-GB" dirty="0"/>
              <a:t>AI</a:t>
            </a:r>
            <a:r>
              <a:rPr kumimoji="1" lang="ja-GB" altLang="en-US" dirty="0"/>
              <a:t>にできること</a:t>
            </a:r>
          </a:p>
        </p:txBody>
      </p:sp>
      <p:sp>
        <p:nvSpPr>
          <p:cNvPr id="3" name="コンテンツ プレースホルダー 2">
            <a:extLst>
              <a:ext uri="{FF2B5EF4-FFF2-40B4-BE49-F238E27FC236}">
                <a16:creationId xmlns:a16="http://schemas.microsoft.com/office/drawing/2014/main" id="{386812DF-716D-CE87-5241-40C3458E4A0B}"/>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人間が「なんとなく」行う思考を計算手順として書くのに役立つ技術</a:t>
            </a:r>
            <a:endParaRPr kumimoji="1" lang="en-US" altLang="ja-GB" dirty="0">
              <a:solidFill>
                <a:schemeClr val="tx1">
                  <a:lumMod val="50000"/>
                  <a:lumOff val="50000"/>
                </a:schemeClr>
              </a:solidFill>
            </a:endParaRPr>
          </a:p>
          <a:p>
            <a:pPr marL="457200" lvl="1" indent="0">
              <a:buNone/>
            </a:pPr>
            <a:r>
              <a:rPr kumimoji="1" lang="ja-GB" altLang="en-US" dirty="0">
                <a:solidFill>
                  <a:schemeClr val="tx1">
                    <a:lumMod val="50000"/>
                    <a:lumOff val="50000"/>
                  </a:schemeClr>
                </a:solidFill>
              </a:rPr>
              <a:t>統計：人間の直感的な判断を再現するような数式</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データの傾向を要約する（統計量）</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未来の結果を予測する（回帰分析）</a:t>
            </a:r>
            <a:endParaRPr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仮説の妥当性を確認する（検定）</a:t>
            </a:r>
            <a:endParaRPr kumimoji="1"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機械学習：経験則的に良い行動を発見する計算</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人の作ったデータから計算手順を逆算する（教師あり学習）</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データから未知のパターン・特徴を発見する（教師なし学習）</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試行錯誤の中でうまい振る舞い方を発見する（強化学習）</a:t>
            </a:r>
            <a:endParaRPr lang="en-US" altLang="ja-GB" dirty="0">
              <a:solidFill>
                <a:schemeClr val="tx1">
                  <a:lumMod val="50000"/>
                  <a:lumOff val="50000"/>
                </a:schemeClr>
              </a:solidFill>
            </a:endParaRPr>
          </a:p>
          <a:p>
            <a:pPr lvl="2"/>
            <a:endParaRPr kumimoji="1" lang="en-US" altLang="ja-GB" dirty="0"/>
          </a:p>
          <a:p>
            <a:pPr marL="457200" lvl="1" indent="0">
              <a:buNone/>
            </a:pPr>
            <a:r>
              <a:rPr lang="ja-GB" altLang="en-US" dirty="0">
                <a:solidFill>
                  <a:srgbClr val="002060"/>
                </a:solidFill>
              </a:rPr>
              <a:t>大規模言語モデル：言語を用いた思考を再現する計算</a:t>
            </a:r>
            <a:endParaRPr lang="en-US" altLang="ja-GB" dirty="0">
              <a:solidFill>
                <a:srgbClr val="002060"/>
              </a:solidFill>
            </a:endParaRPr>
          </a:p>
          <a:p>
            <a:pPr lvl="2"/>
            <a:r>
              <a:rPr lang="ja-GB" altLang="en-US" dirty="0"/>
              <a:t>言葉を自然に連ねることで情報を整理する（翻訳・対話・推論）</a:t>
            </a:r>
            <a:endParaRPr lang="en-US" altLang="ja-GB" dirty="0"/>
          </a:p>
          <a:p>
            <a:pPr lvl="2"/>
            <a:r>
              <a:rPr lang="ja-GB" altLang="en-US" dirty="0"/>
              <a:t>計算手順</a:t>
            </a:r>
            <a:r>
              <a:rPr kumimoji="1" lang="ja-GB" altLang="en-US" dirty="0"/>
              <a:t>の中に曖昧な言語処理を組み込む（ワークフロー）</a:t>
            </a:r>
            <a:endParaRPr kumimoji="1" lang="en-US" altLang="ja-GB" dirty="0"/>
          </a:p>
          <a:p>
            <a:pPr lvl="2"/>
            <a:r>
              <a:rPr lang="ja-GB" altLang="en-US" dirty="0"/>
              <a:t>検索や計算機を駆使して現実世界で行動する（エージェント）</a:t>
            </a:r>
            <a:endParaRPr kumimoji="1" lang="ja-GB" altLang="en-US" dirty="0"/>
          </a:p>
        </p:txBody>
      </p:sp>
    </p:spTree>
    <p:extLst>
      <p:ext uri="{BB962C8B-B14F-4D97-AF65-F5344CB8AC3E}">
        <p14:creationId xmlns:p14="http://schemas.microsoft.com/office/powerpoint/2010/main" val="8144578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B4E05-AEDC-84D0-AA44-092FB58307F8}"/>
              </a:ext>
            </a:extLst>
          </p:cNvPr>
          <p:cNvSpPr>
            <a:spLocks noGrp="1"/>
          </p:cNvSpPr>
          <p:nvPr>
            <p:ph type="title"/>
          </p:nvPr>
        </p:nvSpPr>
        <p:spPr/>
        <p:txBody>
          <a:bodyPr/>
          <a:lstStyle/>
          <a:p>
            <a:r>
              <a:rPr kumimoji="1" lang="ja-GB" altLang="en-US" dirty="0"/>
              <a:t>大規模言語モデル（</a:t>
            </a:r>
            <a:r>
              <a:rPr kumimoji="1" lang="en-US" altLang="ja-GB" dirty="0"/>
              <a:t>LLM</a:t>
            </a:r>
            <a:r>
              <a:rPr kumimoji="1" lang="ja-GB" altLang="en-US" dirty="0"/>
              <a:t>）の基本動作</a:t>
            </a:r>
          </a:p>
        </p:txBody>
      </p:sp>
      <p:sp>
        <p:nvSpPr>
          <p:cNvPr id="3" name="コンテンツ プレースホルダー 2">
            <a:extLst>
              <a:ext uri="{FF2B5EF4-FFF2-40B4-BE49-F238E27FC236}">
                <a16:creationId xmlns:a16="http://schemas.microsoft.com/office/drawing/2014/main" id="{6782FD9C-328C-65CB-735A-2BA2B27B09F7}"/>
              </a:ext>
            </a:extLst>
          </p:cNvPr>
          <p:cNvSpPr>
            <a:spLocks noGrp="1"/>
          </p:cNvSpPr>
          <p:nvPr>
            <p:ph idx="1"/>
          </p:nvPr>
        </p:nvSpPr>
        <p:spPr/>
        <p:txBody>
          <a:bodyPr>
            <a:normAutofit/>
          </a:bodyPr>
          <a:lstStyle/>
          <a:p>
            <a:pPr marL="0" indent="0">
              <a:buNone/>
            </a:pPr>
            <a:r>
              <a:rPr lang="ja-GB" altLang="en-US" dirty="0"/>
              <a:t>言葉の自然な連なりを作って情報を整理する</a:t>
            </a:r>
            <a:r>
              <a:rPr lang="en-US" altLang="ja-GB" dirty="0"/>
              <a:t>AI	</a:t>
            </a:r>
          </a:p>
          <a:p>
            <a:pPr marL="457200" lvl="1" indent="0">
              <a:buNone/>
            </a:pPr>
            <a:r>
              <a:rPr kumimoji="1" lang="ja-GB" altLang="en-US" dirty="0">
                <a:solidFill>
                  <a:srgbClr val="0070C0"/>
                </a:solidFill>
              </a:rPr>
              <a:t>次単語予測を繰り返して文章を完成させる</a:t>
            </a:r>
            <a:endParaRPr kumimoji="1" lang="en-US" altLang="ja-GB" dirty="0">
              <a:solidFill>
                <a:srgbClr val="0070C0"/>
              </a:solidFill>
            </a:endParaRPr>
          </a:p>
          <a:p>
            <a:pPr marL="914400" lvl="2" indent="0">
              <a:buNone/>
            </a:pPr>
            <a:r>
              <a:rPr kumimoji="1" lang="ja-GB" altLang="en-US" dirty="0"/>
              <a:t>例</a:t>
            </a:r>
            <a:r>
              <a:rPr lang="ja-GB" altLang="en-US" dirty="0"/>
              <a:t>）</a:t>
            </a:r>
            <a:r>
              <a:rPr lang="en-US" altLang="ja-GB" dirty="0"/>
              <a:t>”The color of the apple”    → is (92%)</a:t>
            </a:r>
            <a:r>
              <a:rPr lang="ja-GB" altLang="en-US" dirty="0"/>
              <a:t>，</a:t>
            </a:r>
            <a:r>
              <a:rPr lang="en-US" altLang="ja-GB" dirty="0"/>
              <a:t>of (3%)</a:t>
            </a:r>
            <a:r>
              <a:rPr lang="ja-GB" altLang="en-US" dirty="0"/>
              <a:t>，</a:t>
            </a:r>
            <a:r>
              <a:rPr lang="en-US" altLang="ja-GB" dirty="0"/>
              <a:t>which (2%)…</a:t>
            </a:r>
            <a:br>
              <a:rPr lang="en-US" altLang="ja-GB" dirty="0"/>
            </a:br>
            <a:r>
              <a:rPr lang="ja-JP" altLang="en-US"/>
              <a:t>　　</a:t>
            </a:r>
            <a:r>
              <a:rPr lang="en-US" altLang="ja-GB" dirty="0"/>
              <a:t>”The color of the apple is” → red (70%)</a:t>
            </a:r>
            <a:r>
              <a:rPr lang="ja-GB" altLang="en-US" dirty="0"/>
              <a:t>，</a:t>
            </a:r>
            <a:r>
              <a:rPr lang="en-US" altLang="ja-GB" dirty="0"/>
              <a:t>green (20%)</a:t>
            </a:r>
            <a:r>
              <a:rPr lang="ja-GB" altLang="en-US" dirty="0"/>
              <a:t>，</a:t>
            </a:r>
            <a:r>
              <a:rPr lang="en-US" altLang="ja-GB" dirty="0"/>
              <a:t>not (5%)…</a:t>
            </a:r>
          </a:p>
          <a:p>
            <a:pPr lvl="4"/>
            <a:endParaRPr lang="en-US" altLang="ja-GB" dirty="0"/>
          </a:p>
        </p:txBody>
      </p:sp>
    </p:spTree>
    <p:extLst>
      <p:ext uri="{BB962C8B-B14F-4D97-AF65-F5344CB8AC3E}">
        <p14:creationId xmlns:p14="http://schemas.microsoft.com/office/powerpoint/2010/main" val="147768917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18812-B43C-B08F-036B-99327923D4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996630-D041-F1B5-63E1-EEB315674282}"/>
              </a:ext>
            </a:extLst>
          </p:cNvPr>
          <p:cNvSpPr>
            <a:spLocks noGrp="1"/>
          </p:cNvSpPr>
          <p:nvPr>
            <p:ph type="title"/>
          </p:nvPr>
        </p:nvSpPr>
        <p:spPr/>
        <p:txBody>
          <a:bodyPr/>
          <a:lstStyle/>
          <a:p>
            <a:r>
              <a:rPr kumimoji="1" lang="ja-GB" altLang="en-US" dirty="0"/>
              <a:t>大規模言語モデル（</a:t>
            </a:r>
            <a:r>
              <a:rPr kumimoji="1" lang="en-US" altLang="ja-GB" dirty="0"/>
              <a:t>LLM</a:t>
            </a:r>
            <a:r>
              <a:rPr kumimoji="1" lang="ja-GB" altLang="en-US" dirty="0"/>
              <a:t>）の基本動作</a:t>
            </a:r>
          </a:p>
        </p:txBody>
      </p:sp>
      <p:sp>
        <p:nvSpPr>
          <p:cNvPr id="3" name="コンテンツ プレースホルダー 2">
            <a:extLst>
              <a:ext uri="{FF2B5EF4-FFF2-40B4-BE49-F238E27FC236}">
                <a16:creationId xmlns:a16="http://schemas.microsoft.com/office/drawing/2014/main" id="{52A09A21-B549-8CFB-5B87-7ABD561D6FAF}"/>
              </a:ext>
            </a:extLst>
          </p:cNvPr>
          <p:cNvSpPr>
            <a:spLocks noGrp="1"/>
          </p:cNvSpPr>
          <p:nvPr>
            <p:ph idx="1"/>
          </p:nvPr>
        </p:nvSpPr>
        <p:spPr/>
        <p:txBody>
          <a:bodyPr>
            <a:normAutofit/>
          </a:bodyPr>
          <a:lstStyle/>
          <a:p>
            <a:pPr marL="0" indent="0">
              <a:buNone/>
            </a:pPr>
            <a:r>
              <a:rPr lang="ja-GB" altLang="en-US" dirty="0"/>
              <a:t>言葉の自然な連なりを作って情報を整理する</a:t>
            </a:r>
            <a:r>
              <a:rPr lang="en-US" altLang="ja-GB" dirty="0"/>
              <a:t>AI	</a:t>
            </a:r>
          </a:p>
          <a:p>
            <a:pPr marL="457200" lvl="1" indent="0">
              <a:buNone/>
            </a:pPr>
            <a:r>
              <a:rPr kumimoji="1" lang="ja-GB" altLang="en-US" dirty="0">
                <a:solidFill>
                  <a:srgbClr val="2F2523"/>
                </a:solidFill>
              </a:rPr>
              <a:t>次単語予測を繰り返して文章を完成させる</a:t>
            </a:r>
            <a:endParaRPr kumimoji="1" lang="en-US" altLang="ja-GB" dirty="0">
              <a:solidFill>
                <a:srgbClr val="2F2523"/>
              </a:solidFill>
            </a:endParaRPr>
          </a:p>
          <a:p>
            <a:pPr marL="914400" lvl="2" indent="0">
              <a:buNone/>
            </a:pPr>
            <a:r>
              <a:rPr kumimoji="1" lang="ja-GB" altLang="en-US" dirty="0">
                <a:solidFill>
                  <a:schemeClr val="tx1">
                    <a:lumMod val="50000"/>
                    <a:lumOff val="50000"/>
                  </a:schemeClr>
                </a:solidFill>
              </a:rPr>
              <a:t>例</a:t>
            </a:r>
            <a:r>
              <a:rPr lang="ja-GB" altLang="en-US" dirty="0">
                <a:solidFill>
                  <a:schemeClr val="tx1">
                    <a:lumMod val="50000"/>
                    <a:lumOff val="50000"/>
                  </a:schemeClr>
                </a:solidFill>
              </a:rPr>
              <a:t>）</a:t>
            </a:r>
            <a:r>
              <a:rPr lang="en-US" altLang="ja-GB" dirty="0">
                <a:solidFill>
                  <a:schemeClr val="tx1">
                    <a:lumMod val="50000"/>
                    <a:lumOff val="50000"/>
                  </a:schemeClr>
                </a:solidFill>
              </a:rPr>
              <a:t>”The color of the apple”    → is (92%)</a:t>
            </a:r>
            <a:r>
              <a:rPr lang="ja-GB" altLang="en-US" dirty="0">
                <a:solidFill>
                  <a:schemeClr val="tx1">
                    <a:lumMod val="50000"/>
                    <a:lumOff val="50000"/>
                  </a:schemeClr>
                </a:solidFill>
              </a:rPr>
              <a:t>，</a:t>
            </a:r>
            <a:r>
              <a:rPr lang="en-US" altLang="ja-GB" dirty="0">
                <a:solidFill>
                  <a:schemeClr val="tx1">
                    <a:lumMod val="50000"/>
                    <a:lumOff val="50000"/>
                  </a:schemeClr>
                </a:solidFill>
              </a:rPr>
              <a:t>of (3%)</a:t>
            </a:r>
            <a:r>
              <a:rPr lang="ja-GB" altLang="en-US" dirty="0">
                <a:solidFill>
                  <a:schemeClr val="tx1">
                    <a:lumMod val="50000"/>
                    <a:lumOff val="50000"/>
                  </a:schemeClr>
                </a:solidFill>
              </a:rPr>
              <a:t>，</a:t>
            </a:r>
            <a:r>
              <a:rPr lang="en-US" altLang="ja-GB" dirty="0">
                <a:solidFill>
                  <a:schemeClr val="tx1">
                    <a:lumMod val="50000"/>
                    <a:lumOff val="50000"/>
                  </a:schemeClr>
                </a:solidFill>
              </a:rPr>
              <a:t>which (2%)…</a:t>
            </a:r>
            <a:br>
              <a:rPr lang="en-US" altLang="ja-GB" dirty="0">
                <a:solidFill>
                  <a:schemeClr val="tx1">
                    <a:lumMod val="50000"/>
                    <a:lumOff val="50000"/>
                  </a:schemeClr>
                </a:solidFill>
              </a:rPr>
            </a:br>
            <a:r>
              <a:rPr lang="ja-JP" altLang="en-US">
                <a:solidFill>
                  <a:schemeClr val="tx1">
                    <a:lumMod val="50000"/>
                    <a:lumOff val="50000"/>
                  </a:schemeClr>
                </a:solidFill>
              </a:rPr>
              <a:t>　　</a:t>
            </a:r>
            <a:r>
              <a:rPr lang="en-US" altLang="ja-GB" dirty="0">
                <a:solidFill>
                  <a:schemeClr val="tx1">
                    <a:lumMod val="50000"/>
                    <a:lumOff val="50000"/>
                  </a:schemeClr>
                </a:solidFill>
              </a:rPr>
              <a:t>”The color of the apple is” → red (70%)</a:t>
            </a:r>
            <a:r>
              <a:rPr lang="ja-GB" altLang="en-US" dirty="0">
                <a:solidFill>
                  <a:schemeClr val="tx1">
                    <a:lumMod val="50000"/>
                    <a:lumOff val="50000"/>
                  </a:schemeClr>
                </a:solidFill>
              </a:rPr>
              <a:t>，</a:t>
            </a:r>
            <a:r>
              <a:rPr lang="en-US" altLang="ja-GB" dirty="0">
                <a:solidFill>
                  <a:schemeClr val="tx1">
                    <a:lumMod val="50000"/>
                    <a:lumOff val="50000"/>
                  </a:schemeClr>
                </a:solidFill>
              </a:rPr>
              <a:t>green (20%)</a:t>
            </a:r>
            <a:r>
              <a:rPr lang="ja-GB" altLang="en-US" dirty="0">
                <a:solidFill>
                  <a:schemeClr val="tx1">
                    <a:lumMod val="50000"/>
                    <a:lumOff val="50000"/>
                  </a:schemeClr>
                </a:solidFill>
              </a:rPr>
              <a:t>，</a:t>
            </a:r>
            <a:r>
              <a:rPr lang="en-US" altLang="ja-GB" dirty="0">
                <a:solidFill>
                  <a:schemeClr val="tx1">
                    <a:lumMod val="50000"/>
                    <a:lumOff val="50000"/>
                  </a:schemeClr>
                </a:solidFill>
              </a:rPr>
              <a:t>not (5%)…</a:t>
            </a:r>
          </a:p>
          <a:p>
            <a:pPr lvl="4"/>
            <a:endParaRPr lang="en-US" altLang="ja-GB" dirty="0">
              <a:solidFill>
                <a:schemeClr val="tx1">
                  <a:lumMod val="50000"/>
                  <a:lumOff val="50000"/>
                </a:schemeClr>
              </a:solidFill>
            </a:endParaRPr>
          </a:p>
          <a:p>
            <a:pPr marL="457200" lvl="1" indent="0">
              <a:buNone/>
            </a:pPr>
            <a:r>
              <a:rPr lang="ja-GB" altLang="en-US" dirty="0">
                <a:solidFill>
                  <a:srgbClr val="2F2523"/>
                </a:solidFill>
              </a:rPr>
              <a:t>応用例</a:t>
            </a:r>
            <a:r>
              <a:rPr lang="en-US" altLang="ja-GB" dirty="0">
                <a:solidFill>
                  <a:srgbClr val="2F2523"/>
                </a:solidFill>
              </a:rPr>
              <a:t>1</a:t>
            </a:r>
            <a:r>
              <a:rPr lang="ja-GB" altLang="en-US" dirty="0">
                <a:solidFill>
                  <a:srgbClr val="2F2523"/>
                </a:solidFill>
              </a:rPr>
              <a:t>）翻訳</a:t>
            </a:r>
            <a:endParaRPr lang="en-US" altLang="ja-GB" dirty="0">
              <a:solidFill>
                <a:srgbClr val="2F2523"/>
              </a:solidFill>
            </a:endParaRPr>
          </a:p>
          <a:p>
            <a:pPr marL="914400" lvl="2" indent="0">
              <a:buNone/>
            </a:pPr>
            <a:r>
              <a:rPr lang="ja-GB" altLang="en-US" dirty="0">
                <a:solidFill>
                  <a:srgbClr val="2F2523"/>
                </a:solidFill>
              </a:rPr>
              <a:t>対応する英語と日本語の文章を並べたデータを学習</a:t>
            </a:r>
            <a:endParaRPr lang="en-US" altLang="ja-GB" dirty="0">
              <a:solidFill>
                <a:srgbClr val="2F2523"/>
              </a:solidFill>
            </a:endParaRPr>
          </a:p>
          <a:p>
            <a:pPr marL="1371600" lvl="3" indent="0">
              <a:buNone/>
            </a:pPr>
            <a:r>
              <a:rPr lang="en-US" altLang="ja-GB" dirty="0">
                <a:solidFill>
                  <a:schemeClr val="tx1">
                    <a:lumMod val="50000"/>
                    <a:lumOff val="50000"/>
                  </a:schemeClr>
                </a:solidFill>
              </a:rPr>
              <a:t>“&lt;EN&gt;The color of apple is red. &lt;JP&gt;</a:t>
            </a:r>
            <a:r>
              <a:rPr lang="ja-GB" altLang="en-US" dirty="0">
                <a:solidFill>
                  <a:schemeClr val="tx1">
                    <a:lumMod val="50000"/>
                    <a:lumOff val="50000"/>
                  </a:schemeClr>
                </a:solidFill>
              </a:rPr>
              <a:t>りんごの色は赤色です</a:t>
            </a:r>
            <a:r>
              <a:rPr kumimoji="1" lang="en-US" altLang="ja-GB" dirty="0">
                <a:solidFill>
                  <a:schemeClr val="tx1">
                    <a:lumMod val="50000"/>
                    <a:lumOff val="50000"/>
                  </a:schemeClr>
                </a:solidFill>
              </a:rPr>
              <a:t>”</a:t>
            </a:r>
          </a:p>
          <a:p>
            <a:pPr marL="1371600" lvl="3" indent="0">
              <a:buNone/>
            </a:pPr>
            <a:r>
              <a:rPr lang="en-US" altLang="ja-GB" dirty="0">
                <a:solidFill>
                  <a:schemeClr val="tx1">
                    <a:lumMod val="50000"/>
                    <a:lumOff val="50000"/>
                  </a:schemeClr>
                </a:solidFill>
              </a:rPr>
              <a:t>“&lt;EN&gt;This is a black pencil&lt;JP&gt;</a:t>
            </a:r>
            <a:r>
              <a:rPr kumimoji="1" lang="en-US" altLang="ja-GB" dirty="0">
                <a:solidFill>
                  <a:schemeClr val="tx1">
                    <a:lumMod val="50000"/>
                    <a:lumOff val="50000"/>
                  </a:schemeClr>
                </a:solidFill>
              </a:rPr>
              <a:t>”</a:t>
            </a:r>
            <a:br>
              <a:rPr kumimoji="1" lang="en-US" altLang="ja-GB" dirty="0">
                <a:solidFill>
                  <a:schemeClr val="tx1">
                    <a:lumMod val="50000"/>
                    <a:lumOff val="50000"/>
                  </a:schemeClr>
                </a:solidFill>
              </a:rPr>
            </a:br>
            <a:r>
              <a:rPr kumimoji="1" lang="ja-JP" altLang="en-US">
                <a:solidFill>
                  <a:schemeClr val="tx1">
                    <a:lumMod val="50000"/>
                    <a:lumOff val="50000"/>
                  </a:schemeClr>
                </a:solidFill>
              </a:rPr>
              <a:t>　　　</a:t>
            </a:r>
            <a:r>
              <a:rPr kumimoji="1" lang="en-US" altLang="ja-GB" dirty="0">
                <a:solidFill>
                  <a:schemeClr val="tx1">
                    <a:lumMod val="50000"/>
                    <a:lumOff val="50000"/>
                  </a:schemeClr>
                </a:solidFill>
              </a:rPr>
              <a:t>→AI</a:t>
            </a:r>
            <a:r>
              <a:rPr kumimoji="1" lang="ja-GB" altLang="en-US" dirty="0">
                <a:solidFill>
                  <a:schemeClr val="tx1">
                    <a:lumMod val="50000"/>
                    <a:lumOff val="50000"/>
                  </a:schemeClr>
                </a:solidFill>
              </a:rPr>
              <a:t>の予測：</a:t>
            </a:r>
            <a:r>
              <a:rPr kumimoji="1" lang="en-US" altLang="ja-GB" dirty="0">
                <a:solidFill>
                  <a:schemeClr val="tx1">
                    <a:lumMod val="50000"/>
                    <a:lumOff val="50000"/>
                  </a:schemeClr>
                </a:solidFill>
              </a:rPr>
              <a:t>”</a:t>
            </a:r>
            <a:r>
              <a:rPr kumimoji="1" lang="ja-GB" altLang="en-US" dirty="0">
                <a:solidFill>
                  <a:schemeClr val="tx1">
                    <a:lumMod val="50000"/>
                    <a:lumOff val="50000"/>
                  </a:schemeClr>
                </a:solidFill>
              </a:rPr>
              <a:t>これは黒い</a:t>
            </a:r>
            <a:r>
              <a:rPr kumimoji="1" lang="en-US" altLang="ja-GB" dirty="0">
                <a:solidFill>
                  <a:schemeClr val="tx1">
                    <a:lumMod val="50000"/>
                    <a:lumOff val="50000"/>
                  </a:schemeClr>
                </a:solidFill>
              </a:rPr>
              <a:t>…”</a:t>
            </a:r>
          </a:p>
          <a:p>
            <a:pPr lvl="4"/>
            <a:endParaRPr lang="en-US" altLang="ja-GB" dirty="0">
              <a:solidFill>
                <a:schemeClr val="tx1">
                  <a:lumMod val="50000"/>
                  <a:lumOff val="50000"/>
                </a:schemeClr>
              </a:solidFill>
            </a:endParaRPr>
          </a:p>
          <a:p>
            <a:pPr marL="457200" lvl="1" indent="0">
              <a:buNone/>
            </a:pPr>
            <a:r>
              <a:rPr kumimoji="1" lang="ja-GB" altLang="en-US" dirty="0">
                <a:solidFill>
                  <a:srgbClr val="2F2523"/>
                </a:solidFill>
              </a:rPr>
              <a:t>応用例</a:t>
            </a:r>
            <a:r>
              <a:rPr kumimoji="1" lang="en-US" altLang="ja-GB" dirty="0">
                <a:solidFill>
                  <a:srgbClr val="2F2523"/>
                </a:solidFill>
              </a:rPr>
              <a:t>2</a:t>
            </a:r>
            <a:r>
              <a:rPr kumimoji="1" lang="ja-GB" altLang="en-US" dirty="0">
                <a:solidFill>
                  <a:srgbClr val="2F2523"/>
                </a:solidFill>
              </a:rPr>
              <a:t>）対話</a:t>
            </a:r>
            <a:endParaRPr kumimoji="1" lang="en-US" altLang="ja-GB" dirty="0">
              <a:solidFill>
                <a:srgbClr val="2F2523"/>
              </a:solidFill>
            </a:endParaRPr>
          </a:p>
          <a:p>
            <a:pPr marL="914400" lvl="2" indent="0">
              <a:buNone/>
            </a:pPr>
            <a:r>
              <a:rPr lang="ja-GB" altLang="en-US" dirty="0">
                <a:solidFill>
                  <a:srgbClr val="2F2523"/>
                </a:solidFill>
              </a:rPr>
              <a:t>ユーザー入力と理想的な応答の繰り返し文を学習</a:t>
            </a:r>
            <a:endParaRPr lang="en-US" altLang="ja-GB" dirty="0">
              <a:solidFill>
                <a:srgbClr val="2F2523"/>
              </a:solidFill>
            </a:endParaRPr>
          </a:p>
          <a:p>
            <a:pPr marL="1371600" lvl="3" indent="0">
              <a:buNone/>
            </a:pPr>
            <a:r>
              <a:rPr lang="en-US" altLang="ja-GB" dirty="0">
                <a:solidFill>
                  <a:schemeClr val="tx1">
                    <a:lumMod val="50000"/>
                    <a:lumOff val="50000"/>
                  </a:schemeClr>
                </a:solidFill>
              </a:rPr>
              <a:t>&lt;User&gt;</a:t>
            </a:r>
            <a:r>
              <a:rPr lang="ja-GB" altLang="en-US" dirty="0">
                <a:solidFill>
                  <a:schemeClr val="tx1">
                    <a:lumMod val="50000"/>
                    <a:lumOff val="50000"/>
                  </a:schemeClr>
                </a:solidFill>
              </a:rPr>
              <a:t>こんにちは</a:t>
            </a:r>
            <a:r>
              <a:rPr lang="en-US" altLang="ja-GB" dirty="0">
                <a:solidFill>
                  <a:schemeClr val="tx1">
                    <a:lumMod val="50000"/>
                    <a:lumOff val="50000"/>
                  </a:schemeClr>
                </a:solidFill>
              </a:rPr>
              <a:t>&lt;AI&gt;</a:t>
            </a:r>
            <a:r>
              <a:rPr lang="ja-GB" altLang="en-US" dirty="0">
                <a:solidFill>
                  <a:schemeClr val="tx1">
                    <a:lumMod val="50000"/>
                    <a:lumOff val="50000"/>
                  </a:schemeClr>
                </a:solidFill>
              </a:rPr>
              <a:t>こんにちは！</a:t>
            </a:r>
            <a:br>
              <a:rPr lang="en-US" altLang="ja-GB" dirty="0">
                <a:solidFill>
                  <a:schemeClr val="tx1">
                    <a:lumMod val="50000"/>
                    <a:lumOff val="50000"/>
                  </a:schemeClr>
                </a:solidFill>
              </a:rPr>
            </a:br>
            <a:r>
              <a:rPr lang="en-US" altLang="ja-GB" dirty="0">
                <a:solidFill>
                  <a:schemeClr val="tx1">
                    <a:lumMod val="50000"/>
                    <a:lumOff val="50000"/>
                  </a:schemeClr>
                </a:solidFill>
              </a:rPr>
              <a:t>&lt;User&gt;</a:t>
            </a:r>
            <a:r>
              <a:rPr lang="ja-GB" altLang="en-US" dirty="0">
                <a:solidFill>
                  <a:schemeClr val="tx1">
                    <a:lumMod val="50000"/>
                    <a:lumOff val="50000"/>
                  </a:schemeClr>
                </a:solidFill>
              </a:rPr>
              <a:t>りんごの色は何色ですか？</a:t>
            </a:r>
            <a:r>
              <a:rPr lang="en-US" altLang="ja-GB" dirty="0">
                <a:solidFill>
                  <a:schemeClr val="tx1">
                    <a:lumMod val="50000"/>
                    <a:lumOff val="50000"/>
                  </a:schemeClr>
                </a:solidFill>
              </a:rPr>
              <a:t>&lt;AI&gt;</a:t>
            </a:r>
            <a:r>
              <a:rPr lang="ja-GB" altLang="en-US" dirty="0">
                <a:solidFill>
                  <a:schemeClr val="tx1">
                    <a:lumMod val="50000"/>
                    <a:lumOff val="50000"/>
                  </a:schemeClr>
                </a:solidFill>
              </a:rPr>
              <a:t>赤色です</a:t>
            </a:r>
            <a:br>
              <a:rPr lang="en-US" altLang="ja-GB" dirty="0">
                <a:solidFill>
                  <a:schemeClr val="tx1">
                    <a:lumMod val="50000"/>
                    <a:lumOff val="50000"/>
                  </a:schemeClr>
                </a:solidFill>
              </a:rPr>
            </a:br>
            <a:r>
              <a:rPr lang="en-US" altLang="ja-GB" dirty="0">
                <a:solidFill>
                  <a:schemeClr val="tx1">
                    <a:lumMod val="50000"/>
                    <a:lumOff val="50000"/>
                  </a:schemeClr>
                </a:solidFill>
              </a:rPr>
              <a:t>&lt;User&gt;</a:t>
            </a:r>
            <a:r>
              <a:rPr lang="ja-GB" altLang="en-US" dirty="0">
                <a:solidFill>
                  <a:schemeClr val="tx1">
                    <a:lumMod val="50000"/>
                    <a:lumOff val="50000"/>
                  </a:schemeClr>
                </a:solidFill>
              </a:rPr>
              <a:t>全て赤色ですか？</a:t>
            </a:r>
            <a:r>
              <a:rPr kumimoji="1" lang="en-US" altLang="ja-GB" dirty="0">
                <a:solidFill>
                  <a:schemeClr val="tx1">
                    <a:lumMod val="50000"/>
                    <a:lumOff val="50000"/>
                  </a:schemeClr>
                </a:solidFill>
              </a:rPr>
              <a:t>&lt;AI&gt;</a:t>
            </a:r>
            <a:r>
              <a:rPr kumimoji="1" lang="ja-GB" altLang="en-US" dirty="0">
                <a:solidFill>
                  <a:schemeClr val="tx1">
                    <a:lumMod val="50000"/>
                    <a:lumOff val="50000"/>
                  </a:schemeClr>
                </a:solidFill>
              </a:rPr>
              <a:t>いいえ</a:t>
            </a:r>
            <a:r>
              <a:rPr kumimoji="1" lang="en-US" altLang="ja-GB" dirty="0">
                <a:solidFill>
                  <a:schemeClr val="tx1">
                    <a:lumMod val="50000"/>
                    <a:lumOff val="50000"/>
                  </a:schemeClr>
                </a:solidFill>
              </a:rPr>
              <a:t>…”</a:t>
            </a:r>
          </a:p>
          <a:p>
            <a:pPr lvl="4"/>
            <a:endParaRPr kumimoji="1" lang="en-US" altLang="ja-GB" dirty="0"/>
          </a:p>
          <a:p>
            <a:pPr marL="457200" lvl="1" indent="0">
              <a:buNone/>
            </a:pPr>
            <a:r>
              <a:rPr lang="ja-GB" altLang="en-US" dirty="0"/>
              <a:t>応用例</a:t>
            </a:r>
            <a:r>
              <a:rPr lang="en-US" altLang="ja-GB" dirty="0"/>
              <a:t>3</a:t>
            </a:r>
            <a:r>
              <a:rPr lang="ja-GB" altLang="en-US" dirty="0"/>
              <a:t>）推論</a:t>
            </a:r>
            <a:endParaRPr kumimoji="1" lang="en-US" altLang="ja-GB" dirty="0"/>
          </a:p>
          <a:p>
            <a:pPr marL="914400" lvl="2" indent="0">
              <a:buNone/>
            </a:pPr>
            <a:r>
              <a:rPr kumimoji="1" lang="ja-GB" altLang="en-US" dirty="0">
                <a:solidFill>
                  <a:srgbClr val="2F2523"/>
                </a:solidFill>
              </a:rPr>
              <a:t>ユーザーの入力，良い答えのために思考する文章，応答の繰り返し文を学習</a:t>
            </a:r>
            <a:endParaRPr kumimoji="1" lang="en-US" altLang="ja-GB" dirty="0">
              <a:solidFill>
                <a:srgbClr val="2F2523"/>
              </a:solidFill>
            </a:endParaRPr>
          </a:p>
          <a:p>
            <a:pPr marL="1371600" lvl="3" indent="0">
              <a:buNone/>
            </a:pPr>
            <a:r>
              <a:rPr kumimoji="1" lang="en-US" altLang="ja-GB" dirty="0">
                <a:solidFill>
                  <a:schemeClr val="tx1">
                    <a:lumMod val="50000"/>
                    <a:lumOff val="50000"/>
                  </a:schemeClr>
                </a:solidFill>
              </a:rPr>
              <a:t>&lt;User&gt;</a:t>
            </a:r>
            <a:r>
              <a:rPr kumimoji="1" lang="ja-GB" altLang="en-US" dirty="0">
                <a:solidFill>
                  <a:schemeClr val="tx1">
                    <a:lumMod val="50000"/>
                    <a:lumOff val="50000"/>
                  </a:schemeClr>
                </a:solidFill>
              </a:rPr>
              <a:t>りんごの色は何色ですか？</a:t>
            </a:r>
            <a:br>
              <a:rPr kumimoji="1" lang="en-US" altLang="ja-GB" dirty="0">
                <a:solidFill>
                  <a:schemeClr val="tx1">
                    <a:lumMod val="50000"/>
                    <a:lumOff val="50000"/>
                  </a:schemeClr>
                </a:solidFill>
              </a:rPr>
            </a:br>
            <a:r>
              <a:rPr kumimoji="1" lang="en-US" altLang="ja-GB" dirty="0">
                <a:solidFill>
                  <a:schemeClr val="tx1">
                    <a:lumMod val="50000"/>
                    <a:lumOff val="50000"/>
                  </a:schemeClr>
                </a:solidFill>
              </a:rPr>
              <a:t>&lt;Think&gt;</a:t>
            </a:r>
            <a:r>
              <a:rPr lang="ja-GB" altLang="en-US" dirty="0">
                <a:solidFill>
                  <a:schemeClr val="tx1">
                    <a:lumMod val="50000"/>
                    <a:lumOff val="50000"/>
                  </a:schemeClr>
                </a:solidFill>
              </a:rPr>
              <a:t>ユーザーはりんごの色を尋ねている．りんごの色は品種により異なるが</a:t>
            </a:r>
            <a:r>
              <a:rPr lang="en-US" altLang="ja-GB" dirty="0">
                <a:solidFill>
                  <a:schemeClr val="tx1">
                    <a:lumMod val="50000"/>
                    <a:lumOff val="50000"/>
                  </a:schemeClr>
                </a:solidFill>
              </a:rPr>
              <a:t>…</a:t>
            </a:r>
            <a:br>
              <a:rPr kumimoji="1" lang="en-US" altLang="ja-GB" dirty="0">
                <a:solidFill>
                  <a:schemeClr val="tx1">
                    <a:lumMod val="50000"/>
                    <a:lumOff val="50000"/>
                  </a:schemeClr>
                </a:solidFill>
              </a:rPr>
            </a:br>
            <a:r>
              <a:rPr kumimoji="1" lang="en-US" altLang="ja-GB" dirty="0">
                <a:solidFill>
                  <a:schemeClr val="tx1">
                    <a:lumMod val="50000"/>
                    <a:lumOff val="50000"/>
                  </a:schemeClr>
                </a:solidFill>
              </a:rPr>
              <a:t>&lt;Response&gt;</a:t>
            </a:r>
            <a:r>
              <a:rPr lang="ja-GB" altLang="en-US" dirty="0">
                <a:solidFill>
                  <a:schemeClr val="tx1">
                    <a:lumMod val="50000"/>
                    <a:lumOff val="50000"/>
                  </a:schemeClr>
                </a:solidFill>
              </a:rPr>
              <a:t>一般的には赤色です．しかし，品種により</a:t>
            </a:r>
            <a:r>
              <a:rPr lang="en-US" altLang="ja-GB" dirty="0">
                <a:solidFill>
                  <a:schemeClr val="tx1">
                    <a:lumMod val="50000"/>
                    <a:lumOff val="50000"/>
                  </a:schemeClr>
                </a:solidFill>
              </a:rPr>
              <a:t>…</a:t>
            </a:r>
            <a:endParaRPr kumimoji="1"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p:txBody>
      </p:sp>
    </p:spTree>
    <p:extLst>
      <p:ext uri="{BB962C8B-B14F-4D97-AF65-F5344CB8AC3E}">
        <p14:creationId xmlns:p14="http://schemas.microsoft.com/office/powerpoint/2010/main" val="251530429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2225C5-AEAA-19CF-1F58-F07F4F3ABAEE}"/>
              </a:ext>
            </a:extLst>
          </p:cNvPr>
          <p:cNvSpPr>
            <a:spLocks noGrp="1"/>
          </p:cNvSpPr>
          <p:nvPr>
            <p:ph type="title"/>
          </p:nvPr>
        </p:nvSpPr>
        <p:spPr/>
        <p:txBody>
          <a:bodyPr/>
          <a:lstStyle/>
          <a:p>
            <a:r>
              <a:rPr kumimoji="1" lang="en-US" altLang="ja-GB" dirty="0"/>
              <a:t>LLM</a:t>
            </a:r>
            <a:r>
              <a:rPr lang="ja-GB" altLang="en-US" dirty="0"/>
              <a:t>アプリケーションのアプローチ</a:t>
            </a:r>
            <a:r>
              <a:rPr lang="en-US" altLang="ja-GB" dirty="0"/>
              <a:t>1</a:t>
            </a:r>
            <a:endParaRPr kumimoji="1" lang="ja-GB" altLang="en-US" dirty="0"/>
          </a:p>
        </p:txBody>
      </p:sp>
      <p:sp>
        <p:nvSpPr>
          <p:cNvPr id="3" name="コンテンツ プレースホルダー 2">
            <a:extLst>
              <a:ext uri="{FF2B5EF4-FFF2-40B4-BE49-F238E27FC236}">
                <a16:creationId xmlns:a16="http://schemas.microsoft.com/office/drawing/2014/main" id="{FEC90921-EB51-4BCD-6B36-AEFD624A9622}"/>
              </a:ext>
            </a:extLst>
          </p:cNvPr>
          <p:cNvSpPr>
            <a:spLocks noGrp="1"/>
          </p:cNvSpPr>
          <p:nvPr>
            <p:ph idx="1"/>
          </p:nvPr>
        </p:nvSpPr>
        <p:spPr/>
        <p:txBody>
          <a:bodyPr>
            <a:normAutofit/>
          </a:bodyPr>
          <a:lstStyle/>
          <a:p>
            <a:pPr marL="0" indent="0">
              <a:buNone/>
            </a:pPr>
            <a:r>
              <a:rPr kumimoji="1" lang="ja-GB" altLang="en-US" dirty="0"/>
              <a:t>ワークフロー</a:t>
            </a:r>
            <a:endParaRPr kumimoji="1" lang="en-US" altLang="ja-GB" dirty="0"/>
          </a:p>
          <a:p>
            <a:pPr marL="457200" lvl="1" indent="0">
              <a:buNone/>
            </a:pPr>
            <a:r>
              <a:rPr kumimoji="1" lang="ja-GB" altLang="en-US" dirty="0"/>
              <a:t>プログラムの中に</a:t>
            </a:r>
            <a:r>
              <a:rPr kumimoji="1" lang="en-US" altLang="ja-GB" dirty="0"/>
              <a:t>LLM</a:t>
            </a:r>
            <a:r>
              <a:rPr kumimoji="1" lang="ja-GB" altLang="en-US" dirty="0"/>
              <a:t>を組み込む応用手法</a:t>
            </a:r>
            <a:endParaRPr kumimoji="1" lang="en-US" altLang="ja-GB" dirty="0"/>
          </a:p>
          <a:p>
            <a:pPr marL="457200" lvl="1" indent="0">
              <a:buNone/>
            </a:pPr>
            <a:r>
              <a:rPr lang="ja-GB" altLang="en-US" dirty="0"/>
              <a:t>例）マニュアルに基づく顧客サポート自動化</a:t>
            </a:r>
            <a:r>
              <a:rPr lang="ja-GB" altLang="en-US" dirty="0">
                <a:solidFill>
                  <a:schemeClr val="tx1">
                    <a:lumMod val="50000"/>
                    <a:lumOff val="50000"/>
                  </a:schemeClr>
                </a:solidFill>
              </a:rPr>
              <a:t>（</a:t>
            </a:r>
            <a:r>
              <a:rPr lang="en-US" altLang="ja-GB" dirty="0">
                <a:solidFill>
                  <a:schemeClr val="tx1">
                    <a:lumMod val="50000"/>
                    <a:lumOff val="50000"/>
                  </a:schemeClr>
                </a:solidFill>
              </a:rPr>
              <a:t>RAG</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marL="1257300" lvl="2" indent="-342900">
              <a:buFont typeface="+mj-lt"/>
              <a:buAutoNum type="arabicPeriod"/>
            </a:pPr>
            <a:r>
              <a:rPr kumimoji="1" lang="ja-GB" altLang="en-US" dirty="0"/>
              <a:t>チャットシステムで顧客が質問を入力</a:t>
            </a:r>
            <a:endParaRPr kumimoji="1" lang="en-US" altLang="ja-GB" dirty="0"/>
          </a:p>
          <a:p>
            <a:pPr marL="1257300" lvl="2" indent="-342900">
              <a:buFont typeface="+mj-lt"/>
              <a:buAutoNum type="arabicPeriod"/>
            </a:pPr>
            <a:r>
              <a:rPr lang="ja-GB" altLang="en-US" dirty="0"/>
              <a:t>検索システムが社内文書からマニュアルや類似事例を抽出</a:t>
            </a:r>
            <a:endParaRPr lang="en-US" altLang="ja-GB" dirty="0"/>
          </a:p>
          <a:p>
            <a:pPr marL="1257300" lvl="2" indent="-342900">
              <a:buFont typeface="+mj-lt"/>
              <a:buAutoNum type="arabicPeriod"/>
            </a:pPr>
            <a:r>
              <a:rPr kumimoji="1" lang="en-US" altLang="ja-GB" dirty="0">
                <a:solidFill>
                  <a:srgbClr val="2F2523"/>
                </a:solidFill>
              </a:rPr>
              <a:t>LLM</a:t>
            </a:r>
            <a:r>
              <a:rPr kumimoji="1" lang="ja-GB" altLang="en-US" dirty="0">
                <a:solidFill>
                  <a:srgbClr val="2F2523"/>
                </a:solidFill>
              </a:rPr>
              <a:t>が検索された情報に従って</a:t>
            </a:r>
            <a:r>
              <a:rPr kumimoji="1" lang="ja-GB" altLang="en-US" dirty="0">
                <a:solidFill>
                  <a:srgbClr val="0070C0"/>
                </a:solidFill>
              </a:rPr>
              <a:t>応答を作成</a:t>
            </a:r>
            <a:endParaRPr kumimoji="1" lang="en-US" altLang="ja-GB" dirty="0">
              <a:solidFill>
                <a:srgbClr val="0070C0"/>
              </a:solidFill>
            </a:endParaRPr>
          </a:p>
          <a:p>
            <a:pPr marL="1257300" lvl="2" indent="-342900">
              <a:buFont typeface="+mj-lt"/>
              <a:buAutoNum type="arabicPeriod"/>
            </a:pPr>
            <a:r>
              <a:rPr lang="ja-GB" altLang="en-US" dirty="0"/>
              <a:t>チャットシステムが顧客に回答を表示</a:t>
            </a:r>
            <a:endParaRPr lang="en-US" altLang="ja-GB" dirty="0"/>
          </a:p>
          <a:p>
            <a:pPr marL="1257300" lvl="2" indent="-342900">
              <a:buFont typeface="+mj-lt"/>
              <a:buAutoNum type="arabicPeriod"/>
            </a:pPr>
            <a:endParaRPr lang="en-US" altLang="ja-GB" dirty="0"/>
          </a:p>
          <a:p>
            <a:pPr marL="457200" lvl="1" indent="0">
              <a:buNone/>
            </a:pPr>
            <a:r>
              <a:rPr lang="ja-GB" altLang="en-US" dirty="0"/>
              <a:t>別の例）カレンダーを閲覧して日程調整の答えを提案する</a:t>
            </a:r>
            <a:endParaRPr lang="en-US" altLang="ja-GB" dirty="0"/>
          </a:p>
          <a:p>
            <a:pPr marL="1257300" lvl="2" indent="-342900">
              <a:buFont typeface="+mj-lt"/>
              <a:buAutoNum type="arabicPeriod"/>
            </a:pPr>
            <a:r>
              <a:rPr lang="ja-GB" altLang="en-US" dirty="0"/>
              <a:t>メールを受信</a:t>
            </a:r>
            <a:endParaRPr lang="en-US" altLang="ja-GB" dirty="0"/>
          </a:p>
          <a:p>
            <a:pPr marL="1257300" lvl="2" indent="-342900">
              <a:buFont typeface="+mj-lt"/>
              <a:buAutoNum type="arabicPeriod"/>
            </a:pPr>
            <a:r>
              <a:rPr lang="ja-GB" altLang="en-US" dirty="0"/>
              <a:t>受信メールが日程調整に関するものなら，カレンダー情報を取得する</a:t>
            </a:r>
            <a:endParaRPr lang="en-US" altLang="ja-GB" dirty="0"/>
          </a:p>
          <a:p>
            <a:pPr marL="1257300" lvl="2" indent="-342900">
              <a:buFont typeface="+mj-lt"/>
              <a:buAutoNum type="arabicPeriod"/>
            </a:pPr>
            <a:r>
              <a:rPr lang="ja-GB" altLang="en-US" dirty="0"/>
              <a:t>受信メールに書かれた日程とカレンダー情報から</a:t>
            </a:r>
            <a:r>
              <a:rPr lang="ja-GB" altLang="en-US" dirty="0">
                <a:solidFill>
                  <a:srgbClr val="0070C0"/>
                </a:solidFill>
              </a:rPr>
              <a:t>調整可能な日程を推論</a:t>
            </a:r>
            <a:r>
              <a:rPr lang="ja-GB" altLang="en-US" dirty="0"/>
              <a:t>する</a:t>
            </a:r>
            <a:endParaRPr lang="en-US" altLang="ja-GB" dirty="0"/>
          </a:p>
          <a:p>
            <a:pPr marL="1257300" lvl="2" indent="-342900">
              <a:buFont typeface="+mj-lt"/>
              <a:buAutoNum type="arabicPeriod"/>
            </a:pPr>
            <a:r>
              <a:rPr kumimoji="1" lang="ja-GB" altLang="en-US" dirty="0">
                <a:solidFill>
                  <a:srgbClr val="0070C0"/>
                </a:solidFill>
              </a:rPr>
              <a:t>返信案を作成</a:t>
            </a:r>
            <a:r>
              <a:rPr kumimoji="1" lang="ja-GB" altLang="en-US" dirty="0"/>
              <a:t>してユーザーに通知する</a:t>
            </a:r>
            <a:endParaRPr kumimoji="1" lang="en-US" altLang="ja-GB" dirty="0"/>
          </a:p>
          <a:p>
            <a:pPr marL="0" indent="0">
              <a:buNone/>
            </a:pPr>
            <a:endParaRPr kumimoji="1" lang="ja-GB" altLang="en-US" dirty="0">
              <a:solidFill>
                <a:srgbClr val="2F2523"/>
              </a:solidFill>
            </a:endParaRPr>
          </a:p>
        </p:txBody>
      </p:sp>
      <p:pic>
        <p:nvPicPr>
          <p:cNvPr id="7" name="図 6" descr="ダイアグラム&#10;&#10;AI によって生成されたコンテンツは間違っている可能性があります。">
            <a:extLst>
              <a:ext uri="{FF2B5EF4-FFF2-40B4-BE49-F238E27FC236}">
                <a16:creationId xmlns:a16="http://schemas.microsoft.com/office/drawing/2014/main" id="{9C01EFC2-107F-1B1F-F469-86535B42D88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431483" y="743928"/>
            <a:ext cx="1498328" cy="2959854"/>
          </a:xfrm>
          <a:prstGeom prst="rect">
            <a:avLst/>
          </a:prstGeom>
        </p:spPr>
      </p:pic>
      <p:sp>
        <p:nvSpPr>
          <p:cNvPr id="10" name="テキスト ボックス 9">
            <a:extLst>
              <a:ext uri="{FF2B5EF4-FFF2-40B4-BE49-F238E27FC236}">
                <a16:creationId xmlns:a16="http://schemas.microsoft.com/office/drawing/2014/main" id="{1E7ACF96-C913-02E5-3923-E446AC1C2A59}"/>
              </a:ext>
            </a:extLst>
          </p:cNvPr>
          <p:cNvSpPr txBox="1"/>
          <p:nvPr/>
        </p:nvSpPr>
        <p:spPr>
          <a:xfrm>
            <a:off x="816004" y="6634596"/>
            <a:ext cx="7511993" cy="261610"/>
          </a:xfrm>
          <a:prstGeom prst="rect">
            <a:avLst/>
          </a:prstGeom>
          <a:noFill/>
        </p:spPr>
        <p:txBody>
          <a:bodyPr wrap="none" rtlCol="0">
            <a:spAutoFit/>
          </a:bodyPr>
          <a:lstStyle/>
          <a:p>
            <a:pPr algn="ctr"/>
            <a:r>
              <a:rPr kumimoji="1" lang="ja-GB" altLang="en-US" sz="1100" dirty="0">
                <a:solidFill>
                  <a:schemeClr val="tx1">
                    <a:lumMod val="50000"/>
                    <a:lumOff val="50000"/>
                  </a:schemeClr>
                </a:solidFill>
              </a:rPr>
              <a:t>参考：</a:t>
            </a:r>
            <a:r>
              <a:rPr kumimoji="1" lang="en-GB" altLang="ja-GB" sz="1100" dirty="0">
                <a:solidFill>
                  <a:schemeClr val="tx1">
                    <a:lumMod val="50000"/>
                    <a:lumOff val="50000"/>
                  </a:schemeClr>
                </a:solidFill>
              </a:rPr>
              <a:t>Building Effective AI Agents Anthropic </a:t>
            </a:r>
            <a:r>
              <a:rPr kumimoji="1" lang="en-GB" altLang="ja-GB" sz="11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https://www.anthropic.com/engineering/building-effective-agents</a:t>
            </a:r>
            <a:r>
              <a:rPr kumimoji="1" lang="en-GB" altLang="ja-GB" sz="1100" dirty="0">
                <a:solidFill>
                  <a:schemeClr val="tx1">
                    <a:lumMod val="50000"/>
                    <a:lumOff val="50000"/>
                  </a:schemeClr>
                </a:solidFill>
              </a:rPr>
              <a:t>  </a:t>
            </a:r>
            <a:r>
              <a:rPr kumimoji="1" lang="en-US" altLang="ja-GB" sz="1100" dirty="0">
                <a:solidFill>
                  <a:schemeClr val="tx1">
                    <a:lumMod val="50000"/>
                    <a:lumOff val="50000"/>
                  </a:schemeClr>
                </a:solidFill>
              </a:rPr>
              <a:t>2025/05/07</a:t>
            </a:r>
            <a:endParaRPr kumimoji="1" lang="ja-GB" altLang="en-US" sz="1100" dirty="0">
              <a:solidFill>
                <a:schemeClr val="tx1">
                  <a:lumMod val="50000"/>
                  <a:lumOff val="50000"/>
                </a:schemeClr>
              </a:solidFill>
            </a:endParaRPr>
          </a:p>
        </p:txBody>
      </p:sp>
    </p:spTree>
    <p:extLst>
      <p:ext uri="{BB962C8B-B14F-4D97-AF65-F5344CB8AC3E}">
        <p14:creationId xmlns:p14="http://schemas.microsoft.com/office/powerpoint/2010/main" val="3732016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0CCA-9099-F586-EDBD-DB943D0C5E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E7158D-6073-38DC-B606-FDB135A76C79}"/>
              </a:ext>
            </a:extLst>
          </p:cNvPr>
          <p:cNvSpPr>
            <a:spLocks noGrp="1"/>
          </p:cNvSpPr>
          <p:nvPr>
            <p:ph type="title"/>
          </p:nvPr>
        </p:nvSpPr>
        <p:spPr/>
        <p:txBody>
          <a:bodyPr/>
          <a:lstStyle/>
          <a:p>
            <a:r>
              <a:rPr kumimoji="1" lang="en-US" altLang="ja-GB" dirty="0"/>
              <a:t>LLM</a:t>
            </a:r>
            <a:r>
              <a:rPr lang="ja-GB" altLang="en-US" dirty="0"/>
              <a:t>アプリケーションのアプローチ</a:t>
            </a:r>
            <a:endParaRPr kumimoji="1" lang="ja-GB" altLang="en-US" dirty="0"/>
          </a:p>
        </p:txBody>
      </p:sp>
      <p:sp>
        <p:nvSpPr>
          <p:cNvPr id="3" name="コンテンツ プレースホルダー 2">
            <a:extLst>
              <a:ext uri="{FF2B5EF4-FFF2-40B4-BE49-F238E27FC236}">
                <a16:creationId xmlns:a16="http://schemas.microsoft.com/office/drawing/2014/main" id="{6161B022-05CF-5970-C70B-63449AE70E55}"/>
              </a:ext>
            </a:extLst>
          </p:cNvPr>
          <p:cNvSpPr>
            <a:spLocks noGrp="1"/>
          </p:cNvSpPr>
          <p:nvPr>
            <p:ph idx="1"/>
          </p:nvPr>
        </p:nvSpPr>
        <p:spPr/>
        <p:txBody>
          <a:bodyPr>
            <a:normAutofit/>
          </a:bodyPr>
          <a:lstStyle/>
          <a:p>
            <a:pPr marL="0" indent="0">
              <a:buNone/>
            </a:pPr>
            <a:r>
              <a:rPr kumimoji="1" lang="ja-GB" altLang="en-US" dirty="0">
                <a:solidFill>
                  <a:schemeClr val="tx1">
                    <a:lumMod val="50000"/>
                    <a:lumOff val="50000"/>
                  </a:schemeClr>
                </a:solidFill>
              </a:rPr>
              <a:t>ワークフロー</a:t>
            </a:r>
            <a:endParaRPr lang="en-US" altLang="ja-GB" dirty="0">
              <a:solidFill>
                <a:schemeClr val="tx1">
                  <a:lumMod val="50000"/>
                  <a:lumOff val="50000"/>
                </a:schemeClr>
              </a:solidFill>
            </a:endParaRPr>
          </a:p>
          <a:p>
            <a:pPr marL="457200" lvl="1" indent="0">
              <a:buNone/>
            </a:pPr>
            <a:r>
              <a:rPr kumimoji="1" lang="ja-GB" altLang="en-US" dirty="0">
                <a:solidFill>
                  <a:schemeClr val="tx1">
                    <a:lumMod val="50000"/>
                    <a:lumOff val="50000"/>
                  </a:schemeClr>
                </a:solidFill>
              </a:rPr>
              <a:t>プログラムの中に</a:t>
            </a:r>
            <a:r>
              <a:rPr kumimoji="1" lang="en-US" altLang="ja-GB" dirty="0">
                <a:solidFill>
                  <a:schemeClr val="tx1">
                    <a:lumMod val="50000"/>
                    <a:lumOff val="50000"/>
                  </a:schemeClr>
                </a:solidFill>
              </a:rPr>
              <a:t>LLM</a:t>
            </a:r>
            <a:r>
              <a:rPr kumimoji="1" lang="ja-GB" altLang="en-US" dirty="0">
                <a:solidFill>
                  <a:schemeClr val="tx1">
                    <a:lumMod val="50000"/>
                    <a:lumOff val="50000"/>
                  </a:schemeClr>
                </a:solidFill>
              </a:rPr>
              <a:t>を組み込む応用手法</a:t>
            </a:r>
            <a:endParaRPr kumimoji="1"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例）マニュアルに基づく顧客サポート自動化（</a:t>
            </a:r>
            <a:r>
              <a:rPr lang="en-US" altLang="ja-GB" dirty="0">
                <a:solidFill>
                  <a:schemeClr val="tx1">
                    <a:lumMod val="50000"/>
                    <a:lumOff val="50000"/>
                  </a:schemeClr>
                </a:solidFill>
              </a:rPr>
              <a:t>RAG</a:t>
            </a:r>
            <a:r>
              <a:rPr lang="ja-GB" altLang="en-US" dirty="0">
                <a:solidFill>
                  <a:schemeClr val="tx1">
                    <a:lumMod val="50000"/>
                    <a:lumOff val="50000"/>
                  </a:schemeClr>
                </a:solidFill>
              </a:rPr>
              <a:t>）</a:t>
            </a:r>
            <a:endParaRPr lang="en-US" altLang="ja-GB" dirty="0">
              <a:solidFill>
                <a:schemeClr val="tx1">
                  <a:lumMod val="50000"/>
                  <a:lumOff val="50000"/>
                </a:schemeClr>
              </a:solidFill>
            </a:endParaRPr>
          </a:p>
          <a:p>
            <a:pPr marL="1257300" lvl="2" indent="-342900">
              <a:buFont typeface="+mj-lt"/>
              <a:buAutoNum type="arabicPeriod"/>
            </a:pPr>
            <a:r>
              <a:rPr kumimoji="1" lang="ja-GB" altLang="en-US" dirty="0">
                <a:solidFill>
                  <a:schemeClr val="tx1">
                    <a:lumMod val="50000"/>
                    <a:lumOff val="50000"/>
                  </a:schemeClr>
                </a:solidFill>
              </a:rPr>
              <a:t>チャットシステムで顧客が質問を入力</a:t>
            </a:r>
            <a:endParaRPr kumimoji="1" lang="en-US" altLang="ja-GB" dirty="0">
              <a:solidFill>
                <a:schemeClr val="tx1">
                  <a:lumMod val="50000"/>
                  <a:lumOff val="50000"/>
                </a:schemeClr>
              </a:solidFill>
            </a:endParaRPr>
          </a:p>
          <a:p>
            <a:pPr marL="1257300" lvl="2" indent="-342900">
              <a:buFont typeface="+mj-lt"/>
              <a:buAutoNum type="arabicPeriod"/>
            </a:pPr>
            <a:r>
              <a:rPr lang="ja-GB" altLang="en-US" dirty="0">
                <a:solidFill>
                  <a:schemeClr val="tx1">
                    <a:lumMod val="50000"/>
                    <a:lumOff val="50000"/>
                  </a:schemeClr>
                </a:solidFill>
              </a:rPr>
              <a:t>検索システムが社内文書からマニュアルや類似事例を抽出</a:t>
            </a:r>
            <a:endParaRPr lang="en-US" altLang="ja-GB" dirty="0">
              <a:solidFill>
                <a:schemeClr val="tx1">
                  <a:lumMod val="50000"/>
                  <a:lumOff val="50000"/>
                </a:schemeClr>
              </a:solidFill>
            </a:endParaRPr>
          </a:p>
          <a:p>
            <a:pPr marL="1257300" lvl="2" indent="-342900">
              <a:buFont typeface="+mj-lt"/>
              <a:buAutoNum type="arabicPeriod"/>
            </a:pPr>
            <a:r>
              <a:rPr kumimoji="1" lang="en-US" altLang="ja-GB" dirty="0">
                <a:solidFill>
                  <a:schemeClr val="tx1">
                    <a:lumMod val="50000"/>
                    <a:lumOff val="50000"/>
                  </a:schemeClr>
                </a:solidFill>
              </a:rPr>
              <a:t>LLM</a:t>
            </a:r>
            <a:r>
              <a:rPr kumimoji="1" lang="ja-GB" altLang="en-US" dirty="0">
                <a:solidFill>
                  <a:schemeClr val="tx1">
                    <a:lumMod val="50000"/>
                    <a:lumOff val="50000"/>
                  </a:schemeClr>
                </a:solidFill>
              </a:rPr>
              <a:t>が検索された情報に従って応答を作成</a:t>
            </a:r>
            <a:endParaRPr kumimoji="1" lang="en-US" altLang="ja-GB" dirty="0">
              <a:solidFill>
                <a:schemeClr val="tx1">
                  <a:lumMod val="50000"/>
                  <a:lumOff val="50000"/>
                </a:schemeClr>
              </a:solidFill>
            </a:endParaRPr>
          </a:p>
          <a:p>
            <a:pPr marL="1257300" lvl="2" indent="-342900">
              <a:buFont typeface="+mj-lt"/>
              <a:buAutoNum type="arabicPeriod"/>
            </a:pPr>
            <a:r>
              <a:rPr lang="ja-GB" altLang="en-US" dirty="0">
                <a:solidFill>
                  <a:schemeClr val="tx1">
                    <a:lumMod val="50000"/>
                    <a:lumOff val="50000"/>
                  </a:schemeClr>
                </a:solidFill>
              </a:rPr>
              <a:t>チャットシステムが顧客に回答を表示</a:t>
            </a:r>
            <a:endParaRPr kumimoji="1" lang="en-US" altLang="ja-GB" dirty="0"/>
          </a:p>
          <a:p>
            <a:pPr lvl="2"/>
            <a:endParaRPr kumimoji="1" lang="en-US" altLang="ja-GB" dirty="0"/>
          </a:p>
          <a:p>
            <a:pPr marL="0" indent="0">
              <a:buNone/>
            </a:pPr>
            <a:r>
              <a:rPr kumimoji="1" lang="ja-GB" altLang="en-US" dirty="0"/>
              <a:t>エージェント</a:t>
            </a:r>
            <a:endParaRPr kumimoji="1" lang="en-US" altLang="ja-GB" dirty="0"/>
          </a:p>
          <a:p>
            <a:pPr marL="457200" lvl="1" indent="0">
              <a:buNone/>
            </a:pPr>
            <a:r>
              <a:rPr kumimoji="1" lang="en-US" altLang="ja-GB" dirty="0">
                <a:solidFill>
                  <a:schemeClr val="accent2"/>
                </a:solidFill>
              </a:rPr>
              <a:t>LLM</a:t>
            </a:r>
            <a:r>
              <a:rPr kumimoji="1" lang="ja-GB" altLang="en-US" dirty="0">
                <a:solidFill>
                  <a:schemeClr val="accent2"/>
                </a:solidFill>
              </a:rPr>
              <a:t>に思考とプログラム実行を交互に行わせて自律的に行動させる手法</a:t>
            </a:r>
            <a:endParaRPr kumimoji="1" lang="en-US" altLang="ja-GB" dirty="0">
              <a:solidFill>
                <a:schemeClr val="accent2"/>
              </a:solidFill>
            </a:endParaRPr>
          </a:p>
          <a:p>
            <a:pPr marL="457200" lvl="1" indent="0">
              <a:buNone/>
            </a:pPr>
            <a:r>
              <a:rPr lang="ja-GB" altLang="en-US" dirty="0"/>
              <a:t>例）検索エージェント</a:t>
            </a:r>
            <a:r>
              <a:rPr lang="ja-GB" altLang="en-US" dirty="0">
                <a:solidFill>
                  <a:schemeClr val="tx1">
                    <a:lumMod val="50000"/>
                    <a:lumOff val="50000"/>
                  </a:schemeClr>
                </a:solidFill>
              </a:rPr>
              <a:t>（</a:t>
            </a:r>
            <a:r>
              <a:rPr lang="en-US" altLang="ja-GB" dirty="0">
                <a:solidFill>
                  <a:schemeClr val="tx1">
                    <a:lumMod val="50000"/>
                    <a:lumOff val="50000"/>
                  </a:schemeClr>
                </a:solidFill>
              </a:rPr>
              <a:t>Deep Research</a:t>
            </a:r>
            <a:r>
              <a:rPr lang="ja-GB" altLang="en-US" dirty="0">
                <a:solidFill>
                  <a:schemeClr val="tx1">
                    <a:lumMod val="50000"/>
                    <a:lumOff val="50000"/>
                  </a:schemeClr>
                </a:solidFill>
              </a:rPr>
              <a:t>など）</a:t>
            </a:r>
            <a:endParaRPr lang="en-US" altLang="ja-GB" dirty="0">
              <a:solidFill>
                <a:schemeClr val="tx1">
                  <a:lumMod val="50000"/>
                  <a:lumOff val="50000"/>
                </a:schemeClr>
              </a:solidFill>
            </a:endParaRPr>
          </a:p>
          <a:p>
            <a:pPr marL="1257300" lvl="2" indent="-342900">
              <a:buFont typeface="+mj-lt"/>
              <a:buAutoNum type="arabicPeriod"/>
            </a:pPr>
            <a:r>
              <a:rPr lang="ja-GB" altLang="en-US" dirty="0"/>
              <a:t>ユーザーが質問を入力</a:t>
            </a:r>
            <a:endParaRPr lang="en-US" altLang="ja-GB" dirty="0"/>
          </a:p>
          <a:p>
            <a:pPr marL="1257300" lvl="2" indent="-342900">
              <a:buFont typeface="+mj-lt"/>
              <a:buAutoNum type="arabicPeriod"/>
            </a:pPr>
            <a:r>
              <a:rPr lang="en-US" altLang="ja-GB" dirty="0">
                <a:solidFill>
                  <a:srgbClr val="2F2523"/>
                </a:solidFill>
              </a:rPr>
              <a:t>LLM</a:t>
            </a:r>
            <a:r>
              <a:rPr lang="ja-GB" altLang="en-US" dirty="0">
                <a:solidFill>
                  <a:srgbClr val="2F2523"/>
                </a:solidFill>
              </a:rPr>
              <a:t>が</a:t>
            </a:r>
            <a:r>
              <a:rPr lang="ja-GB" altLang="en-US" dirty="0">
                <a:solidFill>
                  <a:srgbClr val="0070C0"/>
                </a:solidFill>
              </a:rPr>
              <a:t>検索・思考を繰り返して適切な情報を探索</a:t>
            </a:r>
            <a:endParaRPr lang="en-US" altLang="ja-GB" dirty="0">
              <a:solidFill>
                <a:srgbClr val="0070C0"/>
              </a:solidFill>
            </a:endParaRPr>
          </a:p>
          <a:p>
            <a:pPr marL="1257300" lvl="2" indent="-342900">
              <a:buFont typeface="+mj-lt"/>
              <a:buAutoNum type="arabicPeriod"/>
            </a:pPr>
            <a:r>
              <a:rPr lang="en-US" altLang="ja-GB" dirty="0">
                <a:solidFill>
                  <a:srgbClr val="2F2523"/>
                </a:solidFill>
              </a:rPr>
              <a:t>LLM</a:t>
            </a:r>
            <a:r>
              <a:rPr lang="ja-GB" altLang="en-US" dirty="0">
                <a:solidFill>
                  <a:srgbClr val="2F2523"/>
                </a:solidFill>
              </a:rPr>
              <a:t>が情報を元に回答を作成</a:t>
            </a:r>
            <a:endParaRPr lang="en-US" altLang="ja-GB" dirty="0">
              <a:solidFill>
                <a:srgbClr val="2F2523"/>
              </a:solidFill>
            </a:endParaRPr>
          </a:p>
        </p:txBody>
      </p:sp>
      <p:pic>
        <p:nvPicPr>
          <p:cNvPr id="7" name="図 6" descr="ダイアグラム&#10;&#10;AI によって生成されたコンテンツは間違っている可能性があります。">
            <a:extLst>
              <a:ext uri="{FF2B5EF4-FFF2-40B4-BE49-F238E27FC236}">
                <a16:creationId xmlns:a16="http://schemas.microsoft.com/office/drawing/2014/main" id="{9538CE85-376C-63E0-61FA-EC92E076D5A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431483" y="743928"/>
            <a:ext cx="1498328" cy="2959854"/>
          </a:xfrm>
          <a:prstGeom prst="rect">
            <a:avLst/>
          </a:prstGeom>
        </p:spPr>
      </p:pic>
      <p:pic>
        <p:nvPicPr>
          <p:cNvPr id="9" name="図 8" descr="ダイアグラム&#10;&#10;AI によって生成されたコンテンツは間違っている可能性があります。">
            <a:extLst>
              <a:ext uri="{FF2B5EF4-FFF2-40B4-BE49-F238E27FC236}">
                <a16:creationId xmlns:a16="http://schemas.microsoft.com/office/drawing/2014/main" id="{D30D409E-CD0F-9D9E-27A3-7E2028B0001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67166" y="4255849"/>
            <a:ext cx="2462645" cy="2280974"/>
          </a:xfrm>
          <a:prstGeom prst="rect">
            <a:avLst/>
          </a:prstGeom>
        </p:spPr>
      </p:pic>
      <p:sp>
        <p:nvSpPr>
          <p:cNvPr id="10" name="テキスト ボックス 9">
            <a:extLst>
              <a:ext uri="{FF2B5EF4-FFF2-40B4-BE49-F238E27FC236}">
                <a16:creationId xmlns:a16="http://schemas.microsoft.com/office/drawing/2014/main" id="{AFFD3632-B310-227D-AB60-A105E778EDB0}"/>
              </a:ext>
            </a:extLst>
          </p:cNvPr>
          <p:cNvSpPr txBox="1"/>
          <p:nvPr/>
        </p:nvSpPr>
        <p:spPr>
          <a:xfrm>
            <a:off x="816004" y="6634596"/>
            <a:ext cx="7511993" cy="261610"/>
          </a:xfrm>
          <a:prstGeom prst="rect">
            <a:avLst/>
          </a:prstGeom>
          <a:noFill/>
        </p:spPr>
        <p:txBody>
          <a:bodyPr wrap="none" rtlCol="0">
            <a:spAutoFit/>
          </a:bodyPr>
          <a:lstStyle/>
          <a:p>
            <a:pPr algn="ctr"/>
            <a:r>
              <a:rPr kumimoji="1" lang="ja-GB" altLang="en-US" sz="1100" dirty="0">
                <a:solidFill>
                  <a:schemeClr val="tx1">
                    <a:lumMod val="50000"/>
                    <a:lumOff val="50000"/>
                  </a:schemeClr>
                </a:solidFill>
              </a:rPr>
              <a:t>参考：</a:t>
            </a:r>
            <a:r>
              <a:rPr kumimoji="1" lang="en-GB" altLang="ja-GB" sz="1100" dirty="0">
                <a:solidFill>
                  <a:schemeClr val="tx1">
                    <a:lumMod val="50000"/>
                    <a:lumOff val="50000"/>
                  </a:schemeClr>
                </a:solidFill>
              </a:rPr>
              <a:t>Building Effective AI Agents Anthropic </a:t>
            </a:r>
            <a:r>
              <a:rPr kumimoji="1" lang="en-GB" altLang="ja-GB" sz="1100" dirty="0">
                <a:solidFill>
                  <a:schemeClr val="tx1">
                    <a:lumMod val="50000"/>
                    <a:lumOff val="50000"/>
                  </a:schemeClr>
                </a:solidFill>
                <a:hlinkClick r:id="rId4">
                  <a:extLst>
                    <a:ext uri="{A12FA001-AC4F-418D-AE19-62706E023703}">
                      <ahyp:hlinkClr xmlns:ahyp="http://schemas.microsoft.com/office/drawing/2018/hyperlinkcolor" val="tx"/>
                    </a:ext>
                  </a:extLst>
                </a:hlinkClick>
              </a:rPr>
              <a:t>https://www.anthropic.com/engineering/building-effective-agents</a:t>
            </a:r>
            <a:r>
              <a:rPr kumimoji="1" lang="en-GB" altLang="ja-GB" sz="1100" dirty="0">
                <a:solidFill>
                  <a:schemeClr val="tx1">
                    <a:lumMod val="50000"/>
                    <a:lumOff val="50000"/>
                  </a:schemeClr>
                </a:solidFill>
              </a:rPr>
              <a:t>  </a:t>
            </a:r>
            <a:r>
              <a:rPr kumimoji="1" lang="en-US" altLang="ja-GB" sz="1100" dirty="0">
                <a:solidFill>
                  <a:schemeClr val="tx1">
                    <a:lumMod val="50000"/>
                    <a:lumOff val="50000"/>
                  </a:schemeClr>
                </a:solidFill>
              </a:rPr>
              <a:t>2025/05/07</a:t>
            </a:r>
            <a:endParaRPr kumimoji="1" lang="ja-GB" altLang="en-US" sz="1100" dirty="0">
              <a:solidFill>
                <a:schemeClr val="tx1">
                  <a:lumMod val="50000"/>
                  <a:lumOff val="50000"/>
                </a:schemeClr>
              </a:solidFill>
            </a:endParaRPr>
          </a:p>
        </p:txBody>
      </p:sp>
    </p:spTree>
    <p:extLst>
      <p:ext uri="{BB962C8B-B14F-4D97-AF65-F5344CB8AC3E}">
        <p14:creationId xmlns:p14="http://schemas.microsoft.com/office/powerpoint/2010/main" val="122200262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01E1D-D347-5DB0-4AFC-E4896AE98B62}"/>
              </a:ext>
            </a:extLst>
          </p:cNvPr>
          <p:cNvSpPr>
            <a:spLocks noGrp="1"/>
          </p:cNvSpPr>
          <p:nvPr>
            <p:ph type="title"/>
          </p:nvPr>
        </p:nvSpPr>
        <p:spPr/>
        <p:txBody>
          <a:bodyPr/>
          <a:lstStyle/>
          <a:p>
            <a:r>
              <a:rPr kumimoji="1" lang="ja-GB" altLang="en-US" dirty="0"/>
              <a:t>エージェントの具体例</a:t>
            </a:r>
          </a:p>
        </p:txBody>
      </p:sp>
      <p:sp>
        <p:nvSpPr>
          <p:cNvPr id="3" name="コンテンツ プレースホルダー 2">
            <a:extLst>
              <a:ext uri="{FF2B5EF4-FFF2-40B4-BE49-F238E27FC236}">
                <a16:creationId xmlns:a16="http://schemas.microsoft.com/office/drawing/2014/main" id="{110EBEE0-0004-0853-99ED-BE32EE91FBCC}"/>
              </a:ext>
            </a:extLst>
          </p:cNvPr>
          <p:cNvSpPr>
            <a:spLocks noGrp="1"/>
          </p:cNvSpPr>
          <p:nvPr>
            <p:ph idx="1"/>
          </p:nvPr>
        </p:nvSpPr>
        <p:spPr/>
        <p:txBody>
          <a:bodyPr/>
          <a:lstStyle/>
          <a:p>
            <a:pPr marL="0" indent="0">
              <a:buNone/>
            </a:pPr>
            <a:r>
              <a:rPr kumimoji="1" lang="ja-GB" altLang="en-US" dirty="0"/>
              <a:t>コーディングエージェント</a:t>
            </a:r>
            <a:endParaRPr kumimoji="1" lang="en-US" altLang="ja-GB" dirty="0"/>
          </a:p>
          <a:p>
            <a:pPr marL="457200" lvl="1" indent="0">
              <a:buNone/>
            </a:pPr>
            <a:r>
              <a:rPr lang="en-US" altLang="ja-GB" dirty="0"/>
              <a:t>LLM</a:t>
            </a:r>
            <a:r>
              <a:rPr lang="ja-GB" altLang="en-US" dirty="0"/>
              <a:t>がツールを扱えるようになる仕組み</a:t>
            </a:r>
            <a:endParaRPr lang="en-US" altLang="ja-GB" dirty="0"/>
          </a:p>
          <a:p>
            <a:pPr lvl="2"/>
            <a:r>
              <a:rPr lang="ja-GB" altLang="en-US" dirty="0"/>
              <a:t>ツールは決まった形の構造化データとして用途や使い方を書くことにしておく</a:t>
            </a:r>
            <a:endParaRPr lang="en-US" altLang="ja-GB" dirty="0"/>
          </a:p>
          <a:p>
            <a:pPr lvl="2"/>
            <a:r>
              <a:rPr lang="en-US" altLang="ja-GB" dirty="0"/>
              <a:t>LLM</a:t>
            </a:r>
            <a:r>
              <a:rPr lang="ja-GB" altLang="en-US" dirty="0"/>
              <a:t>は構造化データの形式で情報を埋めることで，目的の情報を得られる</a:t>
            </a:r>
            <a:endParaRPr lang="en-US" altLang="ja-GB" dirty="0"/>
          </a:p>
          <a:p>
            <a:pPr marL="457200" lvl="1" indent="0">
              <a:buNone/>
            </a:pPr>
            <a:r>
              <a:rPr lang="en-US" altLang="ja-GB" dirty="0"/>
              <a:t>LLM</a:t>
            </a:r>
            <a:r>
              <a:rPr lang="ja-GB" altLang="en-US" dirty="0"/>
              <a:t>に渡されるツール例</a:t>
            </a:r>
            <a:endParaRPr kumimoji="1" lang="en-US" altLang="ja-GB" dirty="0"/>
          </a:p>
          <a:p>
            <a:pPr lvl="2"/>
            <a:r>
              <a:rPr lang="ja-GB" altLang="en-US" dirty="0"/>
              <a:t>ファイルを読み書きするツール</a:t>
            </a:r>
            <a:endParaRPr lang="en-US" altLang="ja-GB" dirty="0"/>
          </a:p>
          <a:p>
            <a:pPr lvl="2"/>
            <a:r>
              <a:rPr kumimoji="1" lang="ja-GB" altLang="en-US" dirty="0"/>
              <a:t>コマンドを実行するツール</a:t>
            </a:r>
            <a:endParaRPr kumimoji="1" lang="en-US" altLang="ja-GB" dirty="0"/>
          </a:p>
          <a:p>
            <a:pPr lvl="2"/>
            <a:r>
              <a:rPr lang="ja-GB" altLang="en-US" dirty="0"/>
              <a:t>ブラウザを操作するツール</a:t>
            </a:r>
            <a:endParaRPr lang="en-US" altLang="ja-GB" dirty="0"/>
          </a:p>
          <a:p>
            <a:pPr marL="457200" lvl="1" indent="0">
              <a:buNone/>
            </a:pPr>
            <a:r>
              <a:rPr kumimoji="1" lang="ja-GB" altLang="en-US" dirty="0"/>
              <a:t>動作の流れ</a:t>
            </a:r>
            <a:endParaRPr kumimoji="1" lang="en-US" altLang="ja-GB" dirty="0"/>
          </a:p>
          <a:p>
            <a:pPr marL="1257300" lvl="2" indent="-342900">
              <a:buFont typeface="+mj-lt"/>
              <a:buAutoNum type="arabicPeriod"/>
            </a:pPr>
            <a:r>
              <a:rPr lang="ja-GB" altLang="en-US" dirty="0"/>
              <a:t>ユーザーからの支持を受け取る</a:t>
            </a:r>
            <a:endParaRPr lang="en-US" altLang="ja-GB" dirty="0"/>
          </a:p>
          <a:p>
            <a:pPr marL="1257300" lvl="2" indent="-342900">
              <a:buFont typeface="+mj-lt"/>
              <a:buAutoNum type="arabicPeriod"/>
            </a:pPr>
            <a:r>
              <a:rPr kumimoji="1" lang="ja-GB" altLang="en-US" dirty="0"/>
              <a:t>指示を達成するための</a:t>
            </a:r>
            <a:r>
              <a:rPr kumimoji="1" lang="en-US" altLang="ja-GB" dirty="0" err="1"/>
              <a:t>ToDo</a:t>
            </a:r>
            <a:r>
              <a:rPr kumimoji="1" lang="ja-GB" altLang="en-US" dirty="0"/>
              <a:t>リストを作る</a:t>
            </a:r>
            <a:endParaRPr kumimoji="1" lang="en-US" altLang="ja-GB" dirty="0"/>
          </a:p>
          <a:p>
            <a:pPr marL="1257300" lvl="2" indent="-342900">
              <a:buFont typeface="+mj-lt"/>
              <a:buAutoNum type="arabicPeriod"/>
            </a:pPr>
            <a:r>
              <a:rPr kumimoji="1" lang="ja-GB" altLang="en-US" dirty="0"/>
              <a:t>各タスクを実行するためにツールを呼び出す</a:t>
            </a:r>
            <a:endParaRPr kumimoji="1" lang="en-US" altLang="ja-GB" dirty="0"/>
          </a:p>
          <a:p>
            <a:pPr lvl="3"/>
            <a:r>
              <a:rPr lang="ja-GB" altLang="en-US" dirty="0"/>
              <a:t>ファイルの読み書きやコマンド実行をして目的達成を目指す</a:t>
            </a:r>
            <a:endParaRPr lang="en-US" altLang="ja-GB" dirty="0"/>
          </a:p>
          <a:p>
            <a:pPr lvl="3"/>
            <a:r>
              <a:rPr lang="ja-GB" altLang="en-US" dirty="0"/>
              <a:t>コマンド実行などの結果から成功</a:t>
            </a:r>
            <a:r>
              <a:rPr lang="en-US" altLang="ja-GB" dirty="0"/>
              <a:t>/</a:t>
            </a:r>
            <a:r>
              <a:rPr lang="ja-GB" altLang="en-US" dirty="0"/>
              <a:t>失敗を検証する</a:t>
            </a:r>
            <a:endParaRPr lang="en-US" altLang="ja-GB" dirty="0"/>
          </a:p>
          <a:p>
            <a:pPr lvl="3"/>
            <a:r>
              <a:rPr lang="ja-GB" altLang="en-US" dirty="0"/>
              <a:t>成功なら次に進む，失敗であれば別のアプローチを試す</a:t>
            </a:r>
            <a:endParaRPr lang="en-US" altLang="ja-GB" dirty="0"/>
          </a:p>
          <a:p>
            <a:pPr marL="1257300" lvl="2" indent="-342900">
              <a:buFont typeface="+mj-lt"/>
              <a:buAutoNum type="arabicPeriod"/>
            </a:pPr>
            <a:r>
              <a:rPr lang="ja-GB" altLang="en-US" dirty="0"/>
              <a:t>目標を達成したらレポートを書いて終了する</a:t>
            </a:r>
            <a:endParaRPr lang="en-US" altLang="ja-GB" dirty="0"/>
          </a:p>
          <a:p>
            <a:pPr marL="1257300" lvl="2" indent="-342900">
              <a:buFont typeface="+mj-lt"/>
              <a:buAutoNum type="arabicPeriod"/>
            </a:pPr>
            <a:endParaRPr kumimoji="1" lang="ja-GB" altLang="en-US" dirty="0"/>
          </a:p>
        </p:txBody>
      </p:sp>
      <p:pic>
        <p:nvPicPr>
          <p:cNvPr id="4" name="図 3" descr="ダイアグラム&#10;&#10;AI によって生成されたコンテンツは間違っている可能性があります。">
            <a:extLst>
              <a:ext uri="{FF2B5EF4-FFF2-40B4-BE49-F238E27FC236}">
                <a16:creationId xmlns:a16="http://schemas.microsoft.com/office/drawing/2014/main" id="{F186A006-450D-633C-B2DA-B3146D5F35D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217597" y="2219308"/>
            <a:ext cx="2612078" cy="2419383"/>
          </a:xfrm>
          <a:prstGeom prst="rect">
            <a:avLst/>
          </a:prstGeom>
        </p:spPr>
      </p:pic>
    </p:spTree>
    <p:extLst>
      <p:ext uri="{BB962C8B-B14F-4D97-AF65-F5344CB8AC3E}">
        <p14:creationId xmlns:p14="http://schemas.microsoft.com/office/powerpoint/2010/main" val="31410270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20A2-EE0E-892F-55D5-69F864A4AC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126D87-C1D1-79A6-469B-9BA9F86CF3D2}"/>
              </a:ext>
            </a:extLst>
          </p:cNvPr>
          <p:cNvSpPr>
            <a:spLocks noGrp="1"/>
          </p:cNvSpPr>
          <p:nvPr>
            <p:ph type="title"/>
          </p:nvPr>
        </p:nvSpPr>
        <p:spPr/>
        <p:txBody>
          <a:bodyPr/>
          <a:lstStyle/>
          <a:p>
            <a:r>
              <a:rPr kumimoji="1" lang="ja-GB" altLang="en-US" dirty="0"/>
              <a:t>第</a:t>
            </a:r>
            <a:r>
              <a:rPr kumimoji="1" lang="en-US" altLang="ja-GB" dirty="0"/>
              <a:t>4</a:t>
            </a:r>
            <a:r>
              <a:rPr kumimoji="1" lang="ja-GB" altLang="en-US" dirty="0"/>
              <a:t>回：統計，データ，</a:t>
            </a:r>
            <a:r>
              <a:rPr kumimoji="1" lang="en-US" altLang="ja-GB" dirty="0"/>
              <a:t>AI</a:t>
            </a:r>
            <a:r>
              <a:rPr kumimoji="1" lang="ja-GB" altLang="en-US" dirty="0"/>
              <a:t>にできること</a:t>
            </a:r>
          </a:p>
        </p:txBody>
      </p:sp>
      <p:sp>
        <p:nvSpPr>
          <p:cNvPr id="3" name="コンテンツ プレースホルダー 2">
            <a:extLst>
              <a:ext uri="{FF2B5EF4-FFF2-40B4-BE49-F238E27FC236}">
                <a16:creationId xmlns:a16="http://schemas.microsoft.com/office/drawing/2014/main" id="{390CA1A6-6E37-ED76-FFB7-DF72D75F4A7B}"/>
              </a:ext>
            </a:extLst>
          </p:cNvPr>
          <p:cNvSpPr>
            <a:spLocks noGrp="1"/>
          </p:cNvSpPr>
          <p:nvPr>
            <p:ph idx="1"/>
          </p:nvPr>
        </p:nvSpPr>
        <p:spPr/>
        <p:txBody>
          <a:bodyPr/>
          <a:lstStyle/>
          <a:p>
            <a:pPr marL="0" indent="0">
              <a:buNone/>
            </a:pPr>
            <a:r>
              <a:rPr kumimoji="1" lang="ja-GB" altLang="en-US" dirty="0">
                <a:solidFill>
                  <a:srgbClr val="2F2523"/>
                </a:solidFill>
              </a:rPr>
              <a:t>人間が「なんとなく」行う思考を計算手順として書くのに役立つ技術</a:t>
            </a:r>
            <a:endParaRPr kumimoji="1" lang="en-US" altLang="ja-GB" dirty="0">
              <a:solidFill>
                <a:srgbClr val="2F2523"/>
              </a:solidFill>
            </a:endParaRPr>
          </a:p>
          <a:p>
            <a:pPr marL="457200" lvl="1" indent="0">
              <a:buNone/>
            </a:pPr>
            <a:r>
              <a:rPr kumimoji="1" lang="ja-GB" altLang="en-US" dirty="0">
                <a:solidFill>
                  <a:srgbClr val="002060"/>
                </a:solidFill>
              </a:rPr>
              <a:t>統計：人間の直感的な判断を再現するような数式</a:t>
            </a:r>
            <a:endParaRPr kumimoji="1" lang="en-US" altLang="ja-GB" dirty="0">
              <a:solidFill>
                <a:srgbClr val="002060"/>
              </a:solidFill>
            </a:endParaRPr>
          </a:p>
          <a:p>
            <a:pPr lvl="2"/>
            <a:r>
              <a:rPr lang="ja-GB" altLang="en-US" dirty="0"/>
              <a:t>データの傾向を要約する（統計量）</a:t>
            </a:r>
            <a:endParaRPr lang="en-US" altLang="ja-GB" dirty="0"/>
          </a:p>
          <a:p>
            <a:pPr lvl="2"/>
            <a:r>
              <a:rPr lang="ja-GB" altLang="en-US" dirty="0"/>
              <a:t>未来の結果を予測する（回帰分析）</a:t>
            </a:r>
            <a:endParaRPr lang="en-US" altLang="ja-GB" dirty="0"/>
          </a:p>
          <a:p>
            <a:pPr lvl="2"/>
            <a:r>
              <a:rPr kumimoji="1" lang="ja-GB" altLang="en-US" dirty="0"/>
              <a:t>仮説の妥当性を確認する（検定）</a:t>
            </a:r>
            <a:endParaRPr kumimoji="1" lang="en-US" altLang="ja-GB" dirty="0"/>
          </a:p>
          <a:p>
            <a:pPr lvl="2"/>
            <a:endParaRPr kumimoji="1" lang="en-US" altLang="ja-GB" dirty="0"/>
          </a:p>
          <a:p>
            <a:pPr marL="457200" lvl="1" indent="0">
              <a:buNone/>
            </a:pPr>
            <a:r>
              <a:rPr lang="ja-GB" altLang="en-US" dirty="0">
                <a:solidFill>
                  <a:srgbClr val="002060"/>
                </a:solidFill>
              </a:rPr>
              <a:t>機械学習：経験則的に良い行動を発見する計算</a:t>
            </a:r>
            <a:endParaRPr lang="en-US" altLang="ja-GB" dirty="0">
              <a:solidFill>
                <a:srgbClr val="002060"/>
              </a:solidFill>
            </a:endParaRPr>
          </a:p>
          <a:p>
            <a:pPr lvl="2"/>
            <a:r>
              <a:rPr lang="ja-GB" altLang="en-US" dirty="0"/>
              <a:t>人の作ったデータから計算手順を逆算する（教師あり学習）</a:t>
            </a:r>
            <a:endParaRPr lang="en-US" altLang="ja-GB" dirty="0"/>
          </a:p>
          <a:p>
            <a:pPr lvl="2"/>
            <a:r>
              <a:rPr lang="ja-GB" altLang="en-US" dirty="0"/>
              <a:t>データから未知のパターン・特徴を発見する（教師なし学習）</a:t>
            </a:r>
            <a:endParaRPr lang="en-US" altLang="ja-GB" dirty="0"/>
          </a:p>
          <a:p>
            <a:pPr lvl="2"/>
            <a:r>
              <a:rPr lang="ja-GB" altLang="en-US" dirty="0"/>
              <a:t>試行錯誤の中でうまい振る舞い方を発見する（強化学習）</a:t>
            </a:r>
            <a:endParaRPr lang="en-US" altLang="ja-GB" dirty="0"/>
          </a:p>
          <a:p>
            <a:pPr lvl="2"/>
            <a:endParaRPr kumimoji="1" lang="en-US" altLang="ja-GB" dirty="0"/>
          </a:p>
          <a:p>
            <a:pPr marL="457200" lvl="1" indent="0">
              <a:buNone/>
            </a:pPr>
            <a:r>
              <a:rPr lang="ja-GB" altLang="en-US" dirty="0">
                <a:solidFill>
                  <a:srgbClr val="002060"/>
                </a:solidFill>
              </a:rPr>
              <a:t>大規模言語モデル：言語を用いた思考を再現する計算</a:t>
            </a:r>
            <a:endParaRPr lang="en-US" altLang="ja-GB" dirty="0">
              <a:solidFill>
                <a:srgbClr val="002060"/>
              </a:solidFill>
            </a:endParaRPr>
          </a:p>
          <a:p>
            <a:pPr lvl="2"/>
            <a:r>
              <a:rPr lang="ja-GB" altLang="en-US" dirty="0"/>
              <a:t>言葉を自然に連ねることで情報を整理する（翻訳・対話・推論）</a:t>
            </a:r>
            <a:endParaRPr lang="en-US" altLang="ja-GB" dirty="0"/>
          </a:p>
          <a:p>
            <a:pPr lvl="2"/>
            <a:r>
              <a:rPr lang="ja-GB" altLang="en-US" dirty="0"/>
              <a:t>計算手順</a:t>
            </a:r>
            <a:r>
              <a:rPr kumimoji="1" lang="ja-GB" altLang="en-US" dirty="0"/>
              <a:t>の中に曖昧な言語処理を組み込む（ワークフロー）</a:t>
            </a:r>
            <a:endParaRPr kumimoji="1" lang="en-US" altLang="ja-GB" dirty="0"/>
          </a:p>
          <a:p>
            <a:pPr lvl="2"/>
            <a:r>
              <a:rPr lang="ja-GB" altLang="en-US" dirty="0"/>
              <a:t>検索や計算機を駆使して現実世界で行動する（エージェント）</a:t>
            </a:r>
            <a:endParaRPr kumimoji="1" lang="ja-GB" altLang="en-US" dirty="0"/>
          </a:p>
        </p:txBody>
      </p:sp>
    </p:spTree>
    <p:extLst>
      <p:ext uri="{BB962C8B-B14F-4D97-AF65-F5344CB8AC3E}">
        <p14:creationId xmlns:p14="http://schemas.microsoft.com/office/powerpoint/2010/main" val="416170712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D22614-997C-960D-D0D5-BB28580FC4C8}"/>
              </a:ext>
            </a:extLst>
          </p:cNvPr>
          <p:cNvSpPr>
            <a:spLocks noGrp="1"/>
          </p:cNvSpPr>
          <p:nvPr>
            <p:ph type="ctrTitle"/>
          </p:nvPr>
        </p:nvSpPr>
        <p:spPr/>
        <p:txBody>
          <a:bodyPr/>
          <a:lstStyle/>
          <a:p>
            <a:r>
              <a:rPr kumimoji="1" lang="en-US" altLang="ja-GB" dirty="0">
                <a:solidFill>
                  <a:schemeClr val="bg1"/>
                </a:solidFill>
              </a:rPr>
              <a:t>III. </a:t>
            </a:r>
            <a:r>
              <a:rPr kumimoji="1" lang="ja-GB" altLang="en-US" dirty="0">
                <a:solidFill>
                  <a:schemeClr val="bg1"/>
                </a:solidFill>
              </a:rPr>
              <a:t>問題を計算機の使える形に整理する</a:t>
            </a:r>
          </a:p>
        </p:txBody>
      </p:sp>
      <p:sp>
        <p:nvSpPr>
          <p:cNvPr id="3" name="字幕 2">
            <a:extLst>
              <a:ext uri="{FF2B5EF4-FFF2-40B4-BE49-F238E27FC236}">
                <a16:creationId xmlns:a16="http://schemas.microsoft.com/office/drawing/2014/main" id="{6FF2AE66-F582-0E94-C8A5-057B4825D4CA}"/>
              </a:ext>
            </a:extLst>
          </p:cNvPr>
          <p:cNvSpPr>
            <a:spLocks noGrp="1"/>
          </p:cNvSpPr>
          <p:nvPr>
            <p:ph type="subTitle" idx="1"/>
          </p:nvPr>
        </p:nvSpPr>
        <p:spPr/>
        <p:txBody>
          <a:bodyPr/>
          <a:lstStyle/>
          <a:p>
            <a:r>
              <a:rPr kumimoji="1" lang="en-US" altLang="ja-GB" dirty="0">
                <a:solidFill>
                  <a:schemeClr val="bg1"/>
                </a:solidFill>
              </a:rPr>
              <a:t>5. </a:t>
            </a:r>
            <a:r>
              <a:rPr kumimoji="1" lang="ja-GB" altLang="en-US" dirty="0">
                <a:solidFill>
                  <a:schemeClr val="bg1"/>
                </a:solidFill>
              </a:rPr>
              <a:t>情報システムのデザイン</a:t>
            </a:r>
          </a:p>
        </p:txBody>
      </p:sp>
    </p:spTree>
    <p:extLst>
      <p:ext uri="{BB962C8B-B14F-4D97-AF65-F5344CB8AC3E}">
        <p14:creationId xmlns:p14="http://schemas.microsoft.com/office/powerpoint/2010/main" val="33923522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6EB5-F7A1-49D5-03DF-EF08C32D0D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04C091-5FEF-C803-9AE4-DBF804FC2142}"/>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F66DB77F-E8A8-9BC0-3F26-4043A6972F8D}"/>
              </a:ext>
            </a:extLst>
          </p:cNvPr>
          <p:cNvSpPr>
            <a:spLocks noGrp="1"/>
          </p:cNvSpPr>
          <p:nvPr>
            <p:ph idx="1"/>
          </p:nvPr>
        </p:nvSpPr>
        <p:spPr>
          <a:xfrm>
            <a:off x="314325" y="854765"/>
            <a:ext cx="4257675" cy="6003234"/>
          </a:xfrm>
        </p:spPr>
        <p:txBody>
          <a:bodyPr>
            <a:normAutofit/>
          </a:bodyPr>
          <a:lstStyle/>
          <a:p>
            <a:pPr marL="0" indent="0">
              <a:buNone/>
            </a:pPr>
            <a:r>
              <a:rPr lang="en-GB" sz="1800" dirty="0">
                <a:solidFill>
                  <a:schemeClr val="bg1">
                    <a:lumMod val="75000"/>
                  </a:schemeClr>
                </a:solidFill>
              </a:rPr>
              <a:t>I. </a:t>
            </a:r>
            <a:r>
              <a:rPr lang="ja-JP" altLang="en-US" sz="1800">
                <a:solidFill>
                  <a:schemeClr val="bg1">
                    <a:lumMod val="75000"/>
                  </a:schemeClr>
                </a:solidFill>
              </a:rPr>
              <a:t>計算機システムを学ぶ意味を見つける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1. </a:t>
            </a:r>
            <a:r>
              <a:rPr lang="ja-GB" altLang="en-US" sz="1800" dirty="0">
                <a:solidFill>
                  <a:schemeClr val="bg1">
                    <a:lumMod val="75000"/>
                  </a:schemeClr>
                </a:solidFill>
              </a:rPr>
              <a:t>計算機とプログラムによる自動化</a:t>
            </a:r>
            <a:endParaRPr lang="ja-JP" altLang="en-US" sz="1800">
              <a:solidFill>
                <a:schemeClr val="bg1">
                  <a:lumMod val="75000"/>
                </a:schemeClr>
              </a:solidFill>
            </a:endParaRPr>
          </a:p>
          <a:p>
            <a:pPr marL="0" indent="0">
              <a:buNone/>
            </a:pPr>
            <a:r>
              <a:rPr lang="ja-JP" altLang="en-US" sz="1800">
                <a:solidFill>
                  <a:schemeClr val="bg1">
                    <a:lumMod val="75000"/>
                  </a:schemeClr>
                </a:solidFill>
              </a:rPr>
              <a:t>　</a:t>
            </a:r>
            <a:r>
              <a:rPr lang="en-US" altLang="ja-JP" sz="1800" dirty="0">
                <a:solidFill>
                  <a:schemeClr val="bg1">
                    <a:lumMod val="75000"/>
                  </a:schemeClr>
                </a:solidFill>
              </a:rPr>
              <a:t>2. </a:t>
            </a:r>
            <a:r>
              <a:rPr lang="ja-GB" altLang="en-US" sz="1800" dirty="0">
                <a:solidFill>
                  <a:schemeClr val="bg1">
                    <a:lumMod val="75000"/>
                  </a:schemeClr>
                </a:solidFill>
              </a:rPr>
              <a:t>計算機，インターネット，情報システム</a:t>
            </a:r>
            <a:endParaRPr lang="en-US" altLang="ja-JP" sz="1800" dirty="0">
              <a:solidFill>
                <a:schemeClr val="bg1">
                  <a:lumMod val="75000"/>
                </a:schemeClr>
              </a:solidFill>
            </a:endParaRPr>
          </a:p>
          <a:p>
            <a:pPr marL="0" indent="0">
              <a:buNone/>
            </a:pPr>
            <a:endParaRPr lang="ja-JP" altLang="en-US" sz="800">
              <a:solidFill>
                <a:schemeClr val="bg1">
                  <a:lumMod val="75000"/>
                </a:schemeClr>
              </a:solidFill>
            </a:endParaRPr>
          </a:p>
          <a:p>
            <a:pPr marL="0" indent="0">
              <a:buNone/>
            </a:pPr>
            <a:r>
              <a:rPr lang="en-GB" sz="1800" dirty="0">
                <a:solidFill>
                  <a:schemeClr val="bg1">
                    <a:lumMod val="75000"/>
                  </a:schemeClr>
                </a:solidFill>
              </a:rPr>
              <a:t>II. </a:t>
            </a:r>
            <a:r>
              <a:rPr lang="ja-JP" altLang="en-US" sz="1800">
                <a:solidFill>
                  <a:schemeClr val="bg1">
                    <a:lumMod val="75000"/>
                  </a:schemeClr>
                </a:solidFill>
              </a:rPr>
              <a:t>計算機やデータ，</a:t>
            </a:r>
            <a:r>
              <a:rPr lang="en-GB" sz="1800" dirty="0">
                <a:solidFill>
                  <a:schemeClr val="bg1">
                    <a:lumMod val="75000"/>
                  </a:schemeClr>
                </a:solidFill>
              </a:rPr>
              <a:t>AI</a:t>
            </a:r>
            <a:r>
              <a:rPr lang="ja-JP" altLang="en-US" sz="1800">
                <a:solidFill>
                  <a:schemeClr val="bg1">
                    <a:lumMod val="75000"/>
                  </a:schemeClr>
                </a:solidFill>
              </a:rPr>
              <a:t>にできることを知る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3. </a:t>
            </a:r>
            <a:r>
              <a:rPr lang="ja-JP" altLang="en-US" sz="1800">
                <a:solidFill>
                  <a:schemeClr val="bg1">
                    <a:lumMod val="75000"/>
                  </a:schemeClr>
                </a:solidFill>
              </a:rPr>
              <a:t>計算機の基本原理</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4. </a:t>
            </a:r>
            <a:r>
              <a:rPr lang="ja-JP" altLang="en-US" sz="1800">
                <a:solidFill>
                  <a:schemeClr val="bg1">
                    <a:lumMod val="75000"/>
                  </a:schemeClr>
                </a:solidFill>
              </a:rPr>
              <a:t>計算機と統計</a:t>
            </a:r>
            <a:endParaRPr lang="en-US" altLang="ja-JP" sz="1800" dirty="0">
              <a:solidFill>
                <a:schemeClr val="bg1">
                  <a:lumMod val="75000"/>
                </a:schemeClr>
              </a:solidFill>
            </a:endParaRPr>
          </a:p>
          <a:p>
            <a:pPr marL="0" indent="0">
              <a:buNone/>
            </a:pPr>
            <a:endParaRPr lang="ja-JP" altLang="en-US" sz="800">
              <a:solidFill>
                <a:srgbClr val="2F2523"/>
              </a:solidFill>
            </a:endParaRPr>
          </a:p>
          <a:p>
            <a:pPr marL="0" indent="0">
              <a:buNone/>
            </a:pPr>
            <a:r>
              <a:rPr lang="en-GB" sz="1800" dirty="0"/>
              <a:t>III. </a:t>
            </a:r>
            <a:r>
              <a:rPr lang="ja-JP" altLang="en-US" sz="1800"/>
              <a:t>問題を「計算機の使える形」に整理する</a:t>
            </a:r>
          </a:p>
          <a:p>
            <a:pPr marL="0" indent="0">
              <a:buNone/>
            </a:pPr>
            <a:r>
              <a:rPr lang="ja-JP" altLang="en-US" sz="1800">
                <a:solidFill>
                  <a:srgbClr val="2F2523"/>
                </a:solidFill>
              </a:rPr>
              <a:t>　</a:t>
            </a:r>
            <a:r>
              <a:rPr lang="en-US" altLang="ja-JP" sz="1800" dirty="0">
                <a:solidFill>
                  <a:srgbClr val="2F2523"/>
                </a:solidFill>
              </a:rPr>
              <a:t>5. </a:t>
            </a:r>
            <a:r>
              <a:rPr lang="ja-JP" altLang="en-US" sz="1800">
                <a:solidFill>
                  <a:srgbClr val="2F2523"/>
                </a:solidFill>
              </a:rPr>
              <a:t>情報システムのデザイン</a:t>
            </a:r>
            <a:endParaRPr lang="en-US" altLang="ja-JP" sz="1800" dirty="0">
              <a:solidFill>
                <a:srgbClr val="2F2523"/>
              </a:solidFill>
            </a:endParaRPr>
          </a:p>
          <a:p>
            <a:pPr marL="0" indent="0">
              <a:buNone/>
            </a:pPr>
            <a:endParaRPr lang="ja-JP" altLang="en-US" sz="800">
              <a:solidFill>
                <a:srgbClr val="2F2523"/>
              </a:solidFill>
            </a:endParaRPr>
          </a:p>
          <a:p>
            <a:pPr marL="0" indent="0">
              <a:buNone/>
            </a:pPr>
            <a:r>
              <a:rPr lang="en-GB" sz="1800" dirty="0">
                <a:solidFill>
                  <a:schemeClr val="bg1">
                    <a:lumMod val="75000"/>
                  </a:schemeClr>
                </a:solidFill>
              </a:rPr>
              <a:t>IV. </a:t>
            </a:r>
            <a:r>
              <a:rPr lang="ja-JP" altLang="en-US" sz="1800">
                <a:solidFill>
                  <a:schemeClr val="bg1">
                    <a:lumMod val="75000"/>
                  </a:schemeClr>
                </a:solidFill>
              </a:rPr>
              <a:t>計算機の考え方を体感する</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6. </a:t>
            </a:r>
            <a:r>
              <a:rPr lang="ja-JP" altLang="en-US" sz="1800">
                <a:solidFill>
                  <a:schemeClr val="bg1">
                    <a:lumMod val="75000"/>
                  </a:schemeClr>
                </a:solidFill>
              </a:rPr>
              <a:t>プログラムの基本</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7. </a:t>
            </a:r>
            <a:r>
              <a:rPr lang="ja-JP" altLang="en-US" sz="1800">
                <a:solidFill>
                  <a:schemeClr val="bg1">
                    <a:lumMod val="75000"/>
                  </a:schemeClr>
                </a:solidFill>
              </a:rPr>
              <a:t>データ構造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8. </a:t>
            </a:r>
            <a:r>
              <a:rPr lang="ja-JP" altLang="en-US" sz="1800">
                <a:solidFill>
                  <a:schemeClr val="bg1">
                    <a:lumMod val="75000"/>
                  </a:schemeClr>
                </a:solidFill>
              </a:rPr>
              <a:t>アルゴリズム</a:t>
            </a:r>
          </a:p>
          <a:p>
            <a:pPr marL="0" indent="0">
              <a:buNone/>
            </a:pPr>
            <a:r>
              <a:rPr lang="ja-JP" altLang="en-US" sz="1800">
                <a:solidFill>
                  <a:schemeClr val="bg1">
                    <a:lumMod val="75000"/>
                  </a:schemeClr>
                </a:solidFill>
              </a:rPr>
              <a:t>　</a:t>
            </a:r>
            <a:r>
              <a:rPr lang="en-US" altLang="ja-JP" sz="1800" dirty="0">
                <a:solidFill>
                  <a:schemeClr val="bg1">
                    <a:lumMod val="75000"/>
                  </a:schemeClr>
                </a:solidFill>
              </a:rPr>
              <a:t>9. </a:t>
            </a:r>
            <a:r>
              <a:rPr lang="ja-JP" altLang="en-US" sz="1800">
                <a:solidFill>
                  <a:schemeClr val="bg1">
                    <a:lumMod val="75000"/>
                  </a:schemeClr>
                </a:solidFill>
              </a:rPr>
              <a:t>演習（データ構造とアルゴリズム）</a:t>
            </a:r>
          </a:p>
        </p:txBody>
      </p:sp>
      <p:sp>
        <p:nvSpPr>
          <p:cNvPr id="4" name="コンテンツ プレースホルダー 2">
            <a:extLst>
              <a:ext uri="{FF2B5EF4-FFF2-40B4-BE49-F238E27FC236}">
                <a16:creationId xmlns:a16="http://schemas.microsoft.com/office/drawing/2014/main" id="{ACF7D460-1D21-5768-3E5C-3946BBBF3CE0}"/>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bg1">
                    <a:lumMod val="75000"/>
                  </a:schemeClr>
                </a:solidFill>
              </a:rPr>
              <a:t>V. </a:t>
            </a:r>
            <a:r>
              <a:rPr lang="ja-JP" altLang="en-US" sz="1800">
                <a:solidFill>
                  <a:schemeClr val="bg1">
                    <a:lumMod val="75000"/>
                  </a:schemeClr>
                </a:solidFill>
              </a:rPr>
              <a:t>計算機のハードウェア構成を知る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10. </a:t>
            </a:r>
            <a:r>
              <a:rPr lang="ja-JP" altLang="en-US" sz="1800">
                <a:solidFill>
                  <a:schemeClr val="bg1">
                    <a:lumMod val="75000"/>
                  </a:schemeClr>
                </a:solidFill>
              </a:rPr>
              <a:t>計算機の中の情報表現</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11. </a:t>
            </a:r>
            <a:r>
              <a:rPr lang="ja-GB" altLang="en-US" sz="1800" dirty="0">
                <a:solidFill>
                  <a:schemeClr val="bg1">
                    <a:lumMod val="75000"/>
                  </a:schemeClr>
                </a:solidFill>
              </a:rPr>
              <a:t>演算とハードウェア構成</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 </a:t>
            </a:r>
            <a:r>
              <a:rPr lang="ja-JP" altLang="en-US" sz="1800">
                <a:solidFill>
                  <a:schemeClr val="bg1">
                    <a:lumMod val="75000"/>
                  </a:schemeClr>
                </a:solidFill>
              </a:rPr>
              <a:t>計算機特有の数値表現に慣れる</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12. </a:t>
            </a:r>
            <a:r>
              <a:rPr lang="ja-JP" altLang="en-US" sz="1800">
                <a:solidFill>
                  <a:schemeClr val="bg1">
                    <a:lumMod val="75000"/>
                  </a:schemeClr>
                </a:solidFill>
              </a:rPr>
              <a:t>演習（基数と論理演算）</a:t>
            </a:r>
            <a:endParaRPr lang="en-US" altLang="ja-JP" sz="1800" dirty="0">
              <a:solidFill>
                <a:schemeClr val="bg1">
                  <a:lumMod val="75000"/>
                </a:schemeClr>
              </a:solidFill>
            </a:endParaRPr>
          </a:p>
          <a:p>
            <a:pPr marL="0" indent="0">
              <a:buFont typeface="Arial" panose="020B0604020202020204" pitchFamily="34" charset="0"/>
              <a:buNone/>
            </a:pPr>
            <a:endParaRPr lang="ja-JP" altLang="en-US" sz="800">
              <a:solidFill>
                <a:schemeClr val="bg1">
                  <a:lumMod val="75000"/>
                </a:schemeClr>
              </a:solidFill>
            </a:endParaRPr>
          </a:p>
          <a:p>
            <a:pPr marL="0" indent="0">
              <a:buFont typeface="Arial" panose="020B0604020202020204" pitchFamily="34" charset="0"/>
              <a:buNone/>
            </a:pPr>
            <a:r>
              <a:rPr lang="en-GB" sz="1800" dirty="0">
                <a:solidFill>
                  <a:schemeClr val="bg1">
                    <a:lumMod val="75000"/>
                  </a:schemeClr>
                </a:solidFill>
              </a:rPr>
              <a:t>VII. </a:t>
            </a:r>
            <a:r>
              <a:rPr lang="ja-JP" altLang="en-US" sz="1800">
                <a:solidFill>
                  <a:schemeClr val="bg1">
                    <a:lumMod val="75000"/>
                  </a:schemeClr>
                </a:solidFill>
              </a:rPr>
              <a:t>計算論的思考</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13. </a:t>
            </a:r>
            <a:r>
              <a:rPr lang="ja-JP" altLang="en-US" sz="1800">
                <a:solidFill>
                  <a:schemeClr val="bg1">
                    <a:lumMod val="75000"/>
                  </a:schemeClr>
                </a:solidFill>
              </a:rPr>
              <a:t>問題解決のためのモデル：</a:t>
            </a:r>
            <a:r>
              <a:rPr lang="en-GB" sz="1800" dirty="0">
                <a:solidFill>
                  <a:schemeClr val="bg1">
                    <a:lumMod val="75000"/>
                  </a:schemeClr>
                </a:solidFill>
              </a:rPr>
              <a:t>PERT</a:t>
            </a:r>
            <a:r>
              <a:rPr lang="ja-JP" altLang="en-US" sz="1800">
                <a:solidFill>
                  <a:schemeClr val="bg1">
                    <a:lumMod val="75000"/>
                  </a:schemeClr>
                </a:solidFill>
              </a:rPr>
              <a:t>図</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14. </a:t>
            </a:r>
            <a:r>
              <a:rPr lang="ja-JP" altLang="en-US" sz="1800">
                <a:solidFill>
                  <a:schemeClr val="bg1">
                    <a:lumMod val="75000"/>
                  </a:schemeClr>
                </a:solidFill>
              </a:rPr>
              <a:t>問題解決のためのモデル：決定表</a:t>
            </a:r>
          </a:p>
          <a:p>
            <a:pPr marL="0" indent="0">
              <a:buFont typeface="Arial" panose="020B0604020202020204" pitchFamily="34" charset="0"/>
              <a:buNone/>
            </a:pPr>
            <a:r>
              <a:rPr lang="ja-JP" altLang="en-US" sz="1800">
                <a:solidFill>
                  <a:schemeClr val="bg1">
                    <a:lumMod val="75000"/>
                  </a:schemeClr>
                </a:solidFill>
              </a:rPr>
              <a:t>　</a:t>
            </a:r>
            <a:r>
              <a:rPr lang="en-US" altLang="ja-JP" sz="1800" dirty="0">
                <a:solidFill>
                  <a:schemeClr val="bg1">
                    <a:lumMod val="75000"/>
                  </a:schemeClr>
                </a:solidFill>
              </a:rPr>
              <a:t>15. </a:t>
            </a:r>
            <a:r>
              <a:rPr lang="ja-JP" altLang="en-US" sz="1800">
                <a:solidFill>
                  <a:schemeClr val="bg1">
                    <a:lumMod val="75000"/>
                  </a:schemeClr>
                </a:solidFill>
              </a:rPr>
              <a:t>まとめ </a:t>
            </a:r>
            <a:r>
              <a:rPr lang="en-US" altLang="ja-JP" sz="1800" dirty="0">
                <a:solidFill>
                  <a:schemeClr val="bg1">
                    <a:lumMod val="75000"/>
                  </a:schemeClr>
                </a:solidFill>
              </a:rPr>
              <a:t>+ </a:t>
            </a:r>
            <a:r>
              <a:rPr lang="ja-JP" altLang="en-US" sz="1800">
                <a:solidFill>
                  <a:schemeClr val="bg1">
                    <a:lumMod val="75000"/>
                  </a:schemeClr>
                </a:solidFill>
              </a:rPr>
              <a:t>演習（</a:t>
            </a:r>
            <a:r>
              <a:rPr lang="en-US" altLang="ja-JP" sz="1800" dirty="0">
                <a:solidFill>
                  <a:schemeClr val="bg1">
                    <a:lumMod val="75000"/>
                  </a:schemeClr>
                </a:solidFill>
              </a:rPr>
              <a:t>PERT</a:t>
            </a:r>
            <a:r>
              <a:rPr lang="ja-JP" altLang="en-US" sz="1800">
                <a:solidFill>
                  <a:schemeClr val="bg1">
                    <a:lumMod val="75000"/>
                  </a:schemeClr>
                </a:solidFill>
              </a:rPr>
              <a:t>図，決定表）</a:t>
            </a:r>
            <a:endParaRPr lang="ja-GB" sz="1800" dirty="0">
              <a:solidFill>
                <a:schemeClr val="bg1">
                  <a:lumMod val="75000"/>
                </a:schemeClr>
              </a:solidFill>
            </a:endParaRPr>
          </a:p>
        </p:txBody>
      </p:sp>
    </p:spTree>
    <p:extLst>
      <p:ext uri="{BB962C8B-B14F-4D97-AF65-F5344CB8AC3E}">
        <p14:creationId xmlns:p14="http://schemas.microsoft.com/office/powerpoint/2010/main" val="317198173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92E5-22CB-80A7-AFA4-9287A11B51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04D4CB-758B-2930-5B42-CC9F5FDD42BC}"/>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686929AC-BD31-E18B-DC6E-FDDC5396C0F5}"/>
              </a:ext>
            </a:extLst>
          </p:cNvPr>
          <p:cNvSpPr>
            <a:spLocks noGrp="1"/>
          </p:cNvSpPr>
          <p:nvPr>
            <p:ph idx="1"/>
          </p:nvPr>
        </p:nvSpPr>
        <p:spPr/>
        <p:txBody>
          <a:bodyPr>
            <a:normAutofit/>
          </a:bodyPr>
          <a:lstStyle/>
          <a:p>
            <a:pPr marL="457200" indent="-457200">
              <a:buFont typeface="+mj-lt"/>
              <a:buAutoNum type="arabicPeriod"/>
            </a:pPr>
            <a:r>
              <a:rPr lang="ja-GB" sz="2000" dirty="0">
                <a:solidFill>
                  <a:schemeClr val="bg1">
                    <a:lumMod val="75000"/>
                  </a:schemeClr>
                </a:solidFill>
              </a:rPr>
              <a:t>日本政府や学科の教育方針を知り，現状や将来像に基づいて</a:t>
            </a:r>
            <a:br>
              <a:rPr lang="ja-GB" sz="2000" dirty="0">
                <a:solidFill>
                  <a:schemeClr val="bg1">
                    <a:lumMod val="75000"/>
                  </a:schemeClr>
                </a:solidFill>
              </a:rPr>
            </a:br>
            <a:r>
              <a:rPr lang="ja-GB" sz="2000" dirty="0">
                <a:solidFill>
                  <a:schemeClr val="bg1">
                    <a:lumMod val="75000"/>
                  </a:schemeClr>
                </a:solidFill>
              </a:rPr>
              <a:t>自分が計算機を学ぶ意味を見つける</a:t>
            </a:r>
          </a:p>
          <a:p>
            <a:pPr marL="1828800" lvl="3" indent="-457200">
              <a:buFont typeface="+mj-lt"/>
              <a:buAutoNum type="arabicPeriod"/>
            </a:pPr>
            <a:endParaRPr lang="ja-GB" sz="1200" dirty="0">
              <a:solidFill>
                <a:schemeClr val="bg1">
                  <a:lumMod val="75000"/>
                </a:schemeClr>
              </a:solidFill>
            </a:endParaRPr>
          </a:p>
          <a:p>
            <a:pPr marL="457200" indent="-457200">
              <a:buFont typeface="+mj-lt"/>
              <a:buAutoNum type="arabicPeriod"/>
            </a:pPr>
            <a:r>
              <a:rPr lang="ja-JP" altLang="en-US" sz="2000">
                <a:solidFill>
                  <a:schemeClr val="bg1">
                    <a:lumMod val="75000"/>
                  </a:schemeClr>
                </a:solidFill>
              </a:rPr>
              <a:t>計算機やデータ・</a:t>
            </a:r>
            <a:r>
              <a:rPr lang="en-GB" sz="2000" dirty="0">
                <a:solidFill>
                  <a:schemeClr val="bg1">
                    <a:lumMod val="75000"/>
                  </a:schemeClr>
                </a:solidFill>
              </a:rPr>
              <a:t>AI</a:t>
            </a:r>
            <a:r>
              <a:rPr lang="ja-JP" altLang="en-US" sz="2000">
                <a:solidFill>
                  <a:schemeClr val="bg1">
                    <a:lumMod val="75000"/>
                  </a:schemeClr>
                </a:solidFill>
              </a:rPr>
              <a:t>にできることを</a:t>
            </a:r>
            <a:r>
              <a:rPr lang="ja-GB" altLang="en-US" sz="2000" dirty="0">
                <a:solidFill>
                  <a:schemeClr val="bg1">
                    <a:lumMod val="75000"/>
                  </a:schemeClr>
                </a:solidFill>
              </a:rPr>
              <a:t>知り</a:t>
            </a:r>
            <a:r>
              <a:rPr lang="ja-JP" altLang="en-US" sz="2000">
                <a:solidFill>
                  <a:schemeClr val="bg1">
                    <a:lumMod val="75000"/>
                  </a:schemeClr>
                </a:solidFill>
              </a:rPr>
              <a:t>，</a:t>
            </a:r>
            <a:br>
              <a:rPr lang="en-US" altLang="ja-JP" sz="2000" dirty="0">
                <a:solidFill>
                  <a:schemeClr val="bg1">
                    <a:lumMod val="75000"/>
                  </a:schemeClr>
                </a:solidFill>
              </a:rPr>
            </a:br>
            <a:r>
              <a:rPr lang="ja-JP" altLang="en-US" sz="2000">
                <a:solidFill>
                  <a:schemeClr val="bg1">
                    <a:lumMod val="75000"/>
                  </a:schemeClr>
                </a:solidFill>
              </a:rPr>
              <a:t>目的達成に</a:t>
            </a:r>
            <a:r>
              <a:rPr lang="ja-GB" altLang="en-US" sz="2000" dirty="0">
                <a:solidFill>
                  <a:schemeClr val="bg1">
                    <a:lumMod val="75000"/>
                  </a:schemeClr>
                </a:solidFill>
              </a:rPr>
              <a:t>向けた人間と</a:t>
            </a:r>
            <a:r>
              <a:rPr lang="ja-JP" altLang="en-US" sz="2000">
                <a:solidFill>
                  <a:schemeClr val="bg1">
                    <a:lumMod val="75000"/>
                  </a:schemeClr>
                </a:solidFill>
              </a:rPr>
              <a:t>計算機，</a:t>
            </a:r>
            <a:r>
              <a:rPr lang="en-GB" sz="2000" dirty="0">
                <a:solidFill>
                  <a:schemeClr val="bg1">
                    <a:lumMod val="75000"/>
                  </a:schemeClr>
                </a:solidFill>
              </a:rPr>
              <a:t>AI</a:t>
            </a:r>
            <a:r>
              <a:rPr lang="ja-JP" altLang="en-US" sz="2000">
                <a:solidFill>
                  <a:schemeClr val="bg1">
                    <a:lumMod val="75000"/>
                  </a:schemeClr>
                </a:solidFill>
              </a:rPr>
              <a:t>の効果的な分業を想像できるようになる</a:t>
            </a:r>
            <a:endParaRPr lang="en-US" altLang="ja-JP" sz="2000" dirty="0">
              <a:solidFill>
                <a:schemeClr val="bg1">
                  <a:lumMod val="75000"/>
                </a:schemeClr>
              </a:solidFill>
            </a:endParaRP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ITシステムの構造や仕組みを学び，</a:t>
            </a:r>
            <a:br>
              <a:rPr lang="ja-GB" sz="2000" dirty="0">
                <a:solidFill>
                  <a:srgbClr val="2F2523"/>
                </a:solidFill>
              </a:rPr>
            </a:br>
            <a:r>
              <a:rPr lang="ja-GB" sz="2000" dirty="0"/>
              <a:t>問題を計算機が使える形に整理したり，エンジニアに伝えたり</a:t>
            </a:r>
            <a:r>
              <a:rPr lang="ja-GB" sz="2000" dirty="0">
                <a:solidFill>
                  <a:srgbClr val="2F2523"/>
                </a:solidFill>
              </a:rPr>
              <a:t>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chemeClr val="bg1">
                    <a:lumMod val="75000"/>
                  </a:schemeClr>
                </a:solidFill>
              </a:rPr>
              <a:t>計算機のハードウェア構成を</a:t>
            </a:r>
            <a:r>
              <a:rPr lang="ja-GB" altLang="en-US" sz="2000" dirty="0">
                <a:solidFill>
                  <a:schemeClr val="bg1">
                    <a:lumMod val="75000"/>
                  </a:schemeClr>
                </a:solidFill>
              </a:rPr>
              <a:t>知り</a:t>
            </a:r>
            <a:r>
              <a:rPr lang="ja-GB" sz="2000" dirty="0">
                <a:solidFill>
                  <a:schemeClr val="bg1">
                    <a:lumMod val="75000"/>
                  </a:schemeClr>
                </a:solidFill>
              </a:rPr>
              <a:t>，</a:t>
            </a:r>
            <a:br>
              <a:rPr lang="ja-GB" sz="2000" dirty="0">
                <a:solidFill>
                  <a:schemeClr val="bg1">
                    <a:lumMod val="75000"/>
                  </a:schemeClr>
                </a:solidFill>
              </a:rPr>
            </a:br>
            <a:r>
              <a:rPr lang="ja-GB" sz="2000" dirty="0">
                <a:solidFill>
                  <a:schemeClr val="bg1">
                    <a:lumMod val="75000"/>
                  </a:schemeClr>
                </a:solidFill>
              </a:rPr>
              <a:t>目的達成に必要な装置の見積もりや購入ができるようになる</a:t>
            </a:r>
          </a:p>
          <a:p>
            <a:pPr marL="1828800" lvl="3" indent="-457200">
              <a:buFont typeface="+mj-lt"/>
              <a:buAutoNum type="arabicPeriod"/>
            </a:pPr>
            <a:endParaRPr lang="ja-GB" sz="1200" dirty="0">
              <a:solidFill>
                <a:schemeClr val="bg1">
                  <a:lumMod val="75000"/>
                </a:schemeClr>
              </a:solidFill>
            </a:endParaRPr>
          </a:p>
          <a:p>
            <a:pPr marL="457200" indent="-457200">
              <a:buFont typeface="+mj-lt"/>
              <a:buAutoNum type="arabicPeriod"/>
            </a:pPr>
            <a:r>
              <a:rPr lang="ja-JP" altLang="en-US" sz="2000">
                <a:solidFill>
                  <a:schemeClr val="bg1">
                    <a:lumMod val="75000"/>
                  </a:schemeClr>
                </a:solidFill>
              </a:rPr>
              <a:t>計算機に特有のデータ表現を学び，</a:t>
            </a:r>
            <a:br>
              <a:rPr lang="en-US" altLang="ja-JP" sz="2000" dirty="0">
                <a:solidFill>
                  <a:schemeClr val="bg1">
                    <a:lumMod val="75000"/>
                  </a:schemeClr>
                </a:solidFill>
              </a:rPr>
            </a:br>
            <a:r>
              <a:rPr lang="ja-JP" altLang="en-US" sz="2000">
                <a:solidFill>
                  <a:schemeClr val="bg1">
                    <a:lumMod val="75000"/>
                  </a:schemeClr>
                </a:solidFill>
              </a:rPr>
              <a:t>機器設定や開発でしばしば遭遇する数値・記号の意味を理解できるようになる</a:t>
            </a:r>
            <a:endParaRPr lang="en-US" altLang="ja-JP" sz="2000" dirty="0">
              <a:solidFill>
                <a:schemeClr val="bg1">
                  <a:lumMod val="75000"/>
                </a:schemeClr>
              </a:solidFill>
            </a:endParaRPr>
          </a:p>
          <a:p>
            <a:pPr marL="1828800" lvl="3" indent="-457200">
              <a:buFont typeface="+mj-lt"/>
              <a:buAutoNum type="arabicPeriod"/>
            </a:pPr>
            <a:endParaRPr lang="en-US" altLang="ja-JP" sz="1200" dirty="0">
              <a:solidFill>
                <a:schemeClr val="bg1">
                  <a:lumMod val="75000"/>
                </a:schemeClr>
              </a:solidFill>
            </a:endParaRPr>
          </a:p>
          <a:p>
            <a:pPr marL="457200" indent="-457200">
              <a:buFont typeface="+mj-lt"/>
              <a:buAutoNum type="arabicPeriod"/>
            </a:pPr>
            <a:r>
              <a:rPr lang="ja-JP" altLang="en-US" sz="2000">
                <a:solidFill>
                  <a:schemeClr val="bg1">
                    <a:lumMod val="75000"/>
                  </a:schemeClr>
                </a:solidFill>
              </a:rPr>
              <a:t>計算機を使うための思考を計算機と無関係な場面で役立てる計算論的思考を体験する</a:t>
            </a:r>
            <a:endParaRPr lang="ja-GB" sz="2000" dirty="0">
              <a:solidFill>
                <a:schemeClr val="bg1">
                  <a:lumMod val="75000"/>
                </a:schemeClr>
              </a:solidFill>
            </a:endParaRPr>
          </a:p>
        </p:txBody>
      </p:sp>
    </p:spTree>
    <p:extLst>
      <p:ext uri="{BB962C8B-B14F-4D97-AF65-F5344CB8AC3E}">
        <p14:creationId xmlns:p14="http://schemas.microsoft.com/office/powerpoint/2010/main" val="17516576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F3C8-0E4F-40E8-15EF-2AD3B709E76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2F80C977-8DDF-35DD-D446-C49B76C403CB}"/>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824BDCCC-228B-43B1-E6D6-A77082F911C1}"/>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lang="en-US" altLang="ja-GB" sz="3200" dirty="0"/>
              <a:t>5</a:t>
            </a:r>
            <a:r>
              <a:rPr kumimoji="1" lang="ja-GB" altLang="en-US" sz="3200" dirty="0">
                <a:solidFill>
                  <a:schemeClr val="bg1"/>
                </a:solidFill>
              </a:rPr>
              <a:t>回：</a:t>
            </a:r>
            <a:r>
              <a:rPr lang="ja-GB" altLang="en-US" sz="3200" dirty="0"/>
              <a:t>情報システムのデザイン</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211119577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A278BD-7949-81A6-84AA-B65A0D7A0D70}"/>
              </a:ext>
            </a:extLst>
          </p:cNvPr>
          <p:cNvSpPr>
            <a:spLocks noGrp="1"/>
          </p:cNvSpPr>
          <p:nvPr>
            <p:ph type="title"/>
          </p:nvPr>
        </p:nvSpPr>
        <p:spPr/>
        <p:txBody>
          <a:bodyPr/>
          <a:lstStyle/>
          <a:p>
            <a:r>
              <a:rPr lang="ja-GB" altLang="en-US" dirty="0"/>
              <a:t>第</a:t>
            </a:r>
            <a:r>
              <a:rPr lang="en-US" altLang="ja-GB" dirty="0"/>
              <a:t>5</a:t>
            </a:r>
            <a:r>
              <a:rPr lang="ja-GB" altLang="en-US" dirty="0"/>
              <a:t>回：問題を「計算機」に解ける形に整理する</a:t>
            </a:r>
            <a:endParaRPr kumimoji="1" lang="ja-GB" altLang="en-US" dirty="0"/>
          </a:p>
        </p:txBody>
      </p:sp>
      <p:sp>
        <p:nvSpPr>
          <p:cNvPr id="3" name="コンテンツ プレースホルダー 2">
            <a:extLst>
              <a:ext uri="{FF2B5EF4-FFF2-40B4-BE49-F238E27FC236}">
                <a16:creationId xmlns:a16="http://schemas.microsoft.com/office/drawing/2014/main" id="{CDB7FFDF-80A6-A288-1812-33F588456939}"/>
              </a:ext>
            </a:extLst>
          </p:cNvPr>
          <p:cNvSpPr>
            <a:spLocks noGrp="1"/>
          </p:cNvSpPr>
          <p:nvPr>
            <p:ph idx="1"/>
          </p:nvPr>
        </p:nvSpPr>
        <p:spPr/>
        <p:txBody>
          <a:bodyPr/>
          <a:lstStyle/>
          <a:p>
            <a:pPr marL="0" indent="0">
              <a:buNone/>
            </a:pPr>
            <a:r>
              <a:rPr lang="ja-GB" altLang="en-US" dirty="0"/>
              <a:t>本当の課題を見極め，役立つ</a:t>
            </a:r>
            <a:r>
              <a:rPr lang="en-US" altLang="ja-GB" dirty="0"/>
              <a:t>IT</a:t>
            </a:r>
            <a:r>
              <a:rPr lang="ja-GB" altLang="en-US" dirty="0"/>
              <a:t>システムを定義し，実装・検証する</a:t>
            </a:r>
            <a:endParaRPr lang="en-US" altLang="ja-GB" dirty="0"/>
          </a:p>
          <a:p>
            <a:pPr marL="914400" lvl="1" indent="-457200">
              <a:buFont typeface="+mj-lt"/>
              <a:buAutoNum type="arabicPeriod"/>
            </a:pPr>
            <a:r>
              <a:rPr lang="ja-GB" altLang="en-US" dirty="0">
                <a:solidFill>
                  <a:srgbClr val="002060"/>
                </a:solidFill>
              </a:rPr>
              <a:t>企業がソフトウェアを発注・開発する流れ</a:t>
            </a:r>
            <a:endParaRPr kumimoji="1" lang="en-US" altLang="ja-GB" dirty="0">
              <a:solidFill>
                <a:srgbClr val="002060"/>
              </a:solidFill>
            </a:endParaRPr>
          </a:p>
          <a:p>
            <a:pPr lvl="2"/>
            <a:r>
              <a:rPr kumimoji="1" lang="ja-GB" altLang="en-US" dirty="0"/>
              <a:t>利用者がやりたいことを整理する</a:t>
            </a:r>
            <a:endParaRPr kumimoji="1" lang="en-US" altLang="ja-GB" dirty="0"/>
          </a:p>
          <a:p>
            <a:pPr lvl="2"/>
            <a:r>
              <a:rPr lang="ja-GB" altLang="en-US" dirty="0"/>
              <a:t>発注者が</a:t>
            </a:r>
            <a:r>
              <a:rPr kumimoji="1" lang="ja-GB" altLang="en-US" dirty="0"/>
              <a:t>欲しいシステムを定義する</a:t>
            </a:r>
            <a:endParaRPr kumimoji="1" lang="en-US" altLang="ja-GB" dirty="0"/>
          </a:p>
          <a:p>
            <a:pPr lvl="2"/>
            <a:r>
              <a:rPr kumimoji="1" lang="ja-GB" altLang="en-US" dirty="0"/>
              <a:t>開発者が定義通りに動くシステムを作って納入する</a:t>
            </a:r>
            <a:endParaRPr kumimoji="1" lang="en-US" altLang="ja-GB" dirty="0"/>
          </a:p>
          <a:p>
            <a:pPr lvl="2"/>
            <a:endParaRPr kumimoji="1" lang="en-US" altLang="ja-GB" dirty="0"/>
          </a:p>
          <a:p>
            <a:pPr marL="914400" lvl="1" indent="-457200">
              <a:buFont typeface="+mj-lt"/>
              <a:buAutoNum type="arabicPeriod"/>
            </a:pPr>
            <a:r>
              <a:rPr kumimoji="1" lang="ja-GB" altLang="en-US" dirty="0">
                <a:solidFill>
                  <a:srgbClr val="002060"/>
                </a:solidFill>
              </a:rPr>
              <a:t>要件定義の仕方</a:t>
            </a:r>
            <a:endParaRPr kumimoji="1" lang="en-US" altLang="ja-GB" dirty="0">
              <a:solidFill>
                <a:srgbClr val="002060"/>
              </a:solidFill>
            </a:endParaRPr>
          </a:p>
          <a:p>
            <a:pPr lvl="2"/>
            <a:r>
              <a:rPr lang="ja-GB" altLang="en-US" dirty="0"/>
              <a:t>利用者の想像できるシステムが最善の解決策でない可能性に注意する</a:t>
            </a:r>
            <a:endParaRPr lang="en-US" altLang="ja-GB" dirty="0"/>
          </a:p>
          <a:p>
            <a:pPr lvl="2"/>
            <a:r>
              <a:rPr lang="ja-GB" altLang="en-US" dirty="0"/>
              <a:t>利用者のやりたいことを整理して，それを実現するには何が必要か考える</a:t>
            </a:r>
            <a:endParaRPr lang="en-US" altLang="ja-GB" dirty="0"/>
          </a:p>
          <a:p>
            <a:pPr lvl="2"/>
            <a:r>
              <a:rPr lang="ja-GB" altLang="en-US" dirty="0"/>
              <a:t>機能を細かく分割して，計算機にできることとすり合わせる</a:t>
            </a:r>
            <a:endParaRPr lang="en-US" altLang="ja-GB" dirty="0"/>
          </a:p>
          <a:p>
            <a:pPr lvl="2"/>
            <a:endParaRPr kumimoji="1" lang="en-US" altLang="ja-GB" dirty="0"/>
          </a:p>
          <a:p>
            <a:pPr marL="914400" lvl="1" indent="-457200">
              <a:buFont typeface="+mj-lt"/>
              <a:buAutoNum type="arabicPeriod"/>
            </a:pPr>
            <a:r>
              <a:rPr kumimoji="1" lang="ja-GB" altLang="en-US" dirty="0">
                <a:solidFill>
                  <a:srgbClr val="002060"/>
                </a:solidFill>
              </a:rPr>
              <a:t>ソフトウェア開発モデル</a:t>
            </a:r>
            <a:endParaRPr kumimoji="1" lang="en-US" altLang="ja-GB" dirty="0">
              <a:solidFill>
                <a:srgbClr val="002060"/>
              </a:solidFill>
            </a:endParaRPr>
          </a:p>
          <a:p>
            <a:pPr lvl="2"/>
            <a:r>
              <a:rPr lang="ja-GB" altLang="en-US" dirty="0"/>
              <a:t>計画に沿って安全に開発する方法論（ウォーターフォール，</a:t>
            </a:r>
            <a:r>
              <a:rPr lang="en-US" altLang="ja-GB" dirty="0"/>
              <a:t>V</a:t>
            </a:r>
            <a:r>
              <a:rPr lang="ja-GB" altLang="en-US" dirty="0"/>
              <a:t>字モデルなど）</a:t>
            </a:r>
            <a:endParaRPr kumimoji="1" lang="en-US" altLang="ja-GB" dirty="0"/>
          </a:p>
          <a:p>
            <a:pPr lvl="2"/>
            <a:r>
              <a:rPr lang="ja-GB" altLang="en-US" dirty="0"/>
              <a:t>開発しながら価値を見極める方法論（アジャイル，リーンスタートアップなど）</a:t>
            </a:r>
            <a:endParaRPr kumimoji="1" lang="en-US" altLang="ja-GB" dirty="0"/>
          </a:p>
        </p:txBody>
      </p:sp>
    </p:spTree>
    <p:extLst>
      <p:ext uri="{BB962C8B-B14F-4D97-AF65-F5344CB8AC3E}">
        <p14:creationId xmlns:p14="http://schemas.microsoft.com/office/powerpoint/2010/main" val="41106251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3634F-A372-A689-447D-E38FA6ED51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BEE06F-9AC9-7B12-C947-9732559114DC}"/>
              </a:ext>
            </a:extLst>
          </p:cNvPr>
          <p:cNvSpPr>
            <a:spLocks noGrp="1"/>
          </p:cNvSpPr>
          <p:nvPr>
            <p:ph type="title"/>
          </p:nvPr>
        </p:nvSpPr>
        <p:spPr/>
        <p:txBody>
          <a:bodyPr/>
          <a:lstStyle/>
          <a:p>
            <a:r>
              <a:rPr lang="ja-GB" altLang="en-US" dirty="0"/>
              <a:t>第</a:t>
            </a:r>
            <a:r>
              <a:rPr lang="en-US" altLang="ja-GB" dirty="0"/>
              <a:t>5</a:t>
            </a:r>
            <a:r>
              <a:rPr lang="ja-GB" altLang="en-US" dirty="0"/>
              <a:t>回：問題を「計算機」に解ける形に整理する</a:t>
            </a:r>
            <a:endParaRPr kumimoji="1" lang="ja-GB" altLang="en-US" dirty="0"/>
          </a:p>
        </p:txBody>
      </p:sp>
      <p:sp>
        <p:nvSpPr>
          <p:cNvPr id="3" name="コンテンツ プレースホルダー 2">
            <a:extLst>
              <a:ext uri="{FF2B5EF4-FFF2-40B4-BE49-F238E27FC236}">
                <a16:creationId xmlns:a16="http://schemas.microsoft.com/office/drawing/2014/main" id="{AD686F25-5407-4E2D-8315-277D7446E87B}"/>
              </a:ext>
            </a:extLst>
          </p:cNvPr>
          <p:cNvSpPr>
            <a:spLocks noGrp="1"/>
          </p:cNvSpPr>
          <p:nvPr>
            <p:ph idx="1"/>
          </p:nvPr>
        </p:nvSpPr>
        <p:spPr/>
        <p:txBody>
          <a:bodyPr/>
          <a:lstStyle/>
          <a:p>
            <a:pPr marL="0" indent="0">
              <a:buNone/>
            </a:pPr>
            <a:r>
              <a:rPr lang="ja-GB" altLang="en-US" dirty="0"/>
              <a:t>本当の課題を見極め，役立つ</a:t>
            </a:r>
            <a:r>
              <a:rPr lang="en-US" altLang="ja-GB" dirty="0"/>
              <a:t>IT</a:t>
            </a:r>
            <a:r>
              <a:rPr lang="ja-GB" altLang="en-US" dirty="0"/>
              <a:t>システムを定義し，実装・検証する</a:t>
            </a:r>
            <a:endParaRPr lang="en-US" altLang="ja-GB" dirty="0"/>
          </a:p>
          <a:p>
            <a:pPr marL="914400" lvl="1" indent="-457200">
              <a:buFont typeface="+mj-lt"/>
              <a:buAutoNum type="arabicPeriod"/>
            </a:pPr>
            <a:r>
              <a:rPr lang="ja-GB" altLang="en-US" dirty="0">
                <a:solidFill>
                  <a:srgbClr val="002060"/>
                </a:solidFill>
              </a:rPr>
              <a:t>企業がソフトウェアを発注・開発する流れ</a:t>
            </a:r>
            <a:endParaRPr kumimoji="1" lang="en-US" altLang="ja-GB" dirty="0">
              <a:solidFill>
                <a:srgbClr val="002060"/>
              </a:solidFill>
            </a:endParaRPr>
          </a:p>
          <a:p>
            <a:pPr lvl="2"/>
            <a:r>
              <a:rPr kumimoji="1" lang="ja-GB" altLang="en-US" dirty="0"/>
              <a:t>利用者がやりたいことを整理する</a:t>
            </a:r>
            <a:endParaRPr kumimoji="1" lang="en-US" altLang="ja-GB" dirty="0"/>
          </a:p>
          <a:p>
            <a:pPr lvl="2"/>
            <a:r>
              <a:rPr lang="ja-GB" altLang="en-US" dirty="0"/>
              <a:t>発注者が</a:t>
            </a:r>
            <a:r>
              <a:rPr kumimoji="1" lang="ja-GB" altLang="en-US" dirty="0"/>
              <a:t>欲しいシステムを定義する</a:t>
            </a:r>
            <a:endParaRPr kumimoji="1" lang="en-US" altLang="ja-GB" dirty="0"/>
          </a:p>
          <a:p>
            <a:pPr lvl="2"/>
            <a:r>
              <a:rPr kumimoji="1" lang="ja-GB" altLang="en-US" dirty="0"/>
              <a:t>開発者が定義通りに動くシステムを作って納入する</a:t>
            </a:r>
            <a:endParaRPr kumimoji="1" lang="en-US" altLang="ja-GB" dirty="0"/>
          </a:p>
          <a:p>
            <a:pPr lvl="2"/>
            <a:endParaRPr kumimoji="1" lang="en-US" altLang="ja-GB" dirty="0"/>
          </a:p>
          <a:p>
            <a:pPr marL="914400" lvl="1" indent="-457200">
              <a:buFont typeface="+mj-lt"/>
              <a:buAutoNum type="arabicPeriod"/>
            </a:pPr>
            <a:r>
              <a:rPr kumimoji="1" lang="ja-GB" altLang="en-US" dirty="0">
                <a:solidFill>
                  <a:schemeClr val="tx1">
                    <a:lumMod val="50000"/>
                    <a:lumOff val="50000"/>
                  </a:schemeClr>
                </a:solidFill>
              </a:rPr>
              <a:t>要件定義の仕方</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利用者の想像できるシステムが最善の解決策でない可能性に注意する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利用者のやりたいことを整理して，それを実現するには何が必要か考える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機能を細かく分割して，計算機にできることとすり合わせる</a:t>
            </a:r>
            <a:endParaRPr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solidFill>
                  <a:schemeClr val="tx1">
                    <a:lumMod val="50000"/>
                    <a:lumOff val="50000"/>
                  </a:schemeClr>
                </a:solidFill>
              </a:rPr>
              <a:t>ソフトウェア開発モデル</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計画に沿って安全に開発する方法論（ウォーターフォール，</a:t>
            </a:r>
            <a:r>
              <a:rPr lang="en-US" altLang="ja-GB" dirty="0">
                <a:solidFill>
                  <a:schemeClr val="tx1">
                    <a:lumMod val="50000"/>
                    <a:lumOff val="50000"/>
                  </a:schemeClr>
                </a:solidFill>
              </a:rPr>
              <a:t>V</a:t>
            </a:r>
            <a:r>
              <a:rPr lang="ja-GB" altLang="en-US" dirty="0">
                <a:solidFill>
                  <a:schemeClr val="tx1">
                    <a:lumMod val="50000"/>
                    <a:lumOff val="50000"/>
                  </a:schemeClr>
                </a:solidFill>
              </a:rPr>
              <a:t>字モデルなど）</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開発しながら価値を見極める方法論（アジャイル，リーンスタートアップなど）</a:t>
            </a:r>
            <a:endParaRPr kumimoji="1" lang="en-US" altLang="ja-GB" dirty="0">
              <a:solidFill>
                <a:schemeClr val="tx1">
                  <a:lumMod val="50000"/>
                  <a:lumOff val="50000"/>
                </a:schemeClr>
              </a:solidFill>
            </a:endParaRPr>
          </a:p>
        </p:txBody>
      </p:sp>
    </p:spTree>
    <p:extLst>
      <p:ext uri="{BB962C8B-B14F-4D97-AF65-F5344CB8AC3E}">
        <p14:creationId xmlns:p14="http://schemas.microsoft.com/office/powerpoint/2010/main" val="13209015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A81A66-1C99-ED57-22E3-EAA7F6F78005}"/>
              </a:ext>
            </a:extLst>
          </p:cNvPr>
          <p:cNvSpPr>
            <a:spLocks noGrp="1"/>
          </p:cNvSpPr>
          <p:nvPr>
            <p:ph type="title"/>
          </p:nvPr>
        </p:nvSpPr>
        <p:spPr/>
        <p:txBody>
          <a:bodyPr/>
          <a:lstStyle/>
          <a:p>
            <a:r>
              <a:rPr kumimoji="1" lang="en-US" altLang="ja-GB" dirty="0"/>
              <a:t>V</a:t>
            </a:r>
            <a:r>
              <a:rPr kumimoji="1" lang="ja-GB" altLang="en-US" dirty="0"/>
              <a:t>字モデル</a:t>
            </a:r>
          </a:p>
        </p:txBody>
      </p:sp>
      <p:sp>
        <p:nvSpPr>
          <p:cNvPr id="3" name="コンテンツ プレースホルダー 2">
            <a:extLst>
              <a:ext uri="{FF2B5EF4-FFF2-40B4-BE49-F238E27FC236}">
                <a16:creationId xmlns:a16="http://schemas.microsoft.com/office/drawing/2014/main" id="{C66CFF43-C7B5-9F2B-A35E-DBE4747C2F81}"/>
              </a:ext>
            </a:extLst>
          </p:cNvPr>
          <p:cNvSpPr>
            <a:spLocks noGrp="1"/>
          </p:cNvSpPr>
          <p:nvPr>
            <p:ph idx="1"/>
          </p:nvPr>
        </p:nvSpPr>
        <p:spPr/>
        <p:txBody>
          <a:bodyPr/>
          <a:lstStyle/>
          <a:p>
            <a:pPr marL="0" indent="0">
              <a:buNone/>
            </a:pPr>
            <a:r>
              <a:rPr kumimoji="1" lang="ja-GB" altLang="en-US" dirty="0"/>
              <a:t>情報システム開発に用いられる手法の一つ</a:t>
            </a:r>
            <a:endParaRPr kumimoji="1" lang="en-US" altLang="ja-GB" dirty="0"/>
          </a:p>
          <a:p>
            <a:pPr marL="457200" lvl="1" indent="0">
              <a:buNone/>
            </a:pPr>
            <a:r>
              <a:rPr kumimoji="1" lang="ja-GB" altLang="en-US" dirty="0"/>
              <a:t>「</a:t>
            </a:r>
            <a:r>
              <a:rPr kumimoji="1" lang="ja-GB" altLang="en-US" dirty="0">
                <a:solidFill>
                  <a:srgbClr val="0070C0"/>
                </a:solidFill>
              </a:rPr>
              <a:t>開発</a:t>
            </a:r>
            <a:r>
              <a:rPr kumimoji="1" lang="en-US" altLang="ja-GB" dirty="0"/>
              <a:t>→</a:t>
            </a:r>
            <a:r>
              <a:rPr kumimoji="1" lang="ja-GB" altLang="en-US" dirty="0"/>
              <a:t>実装</a:t>
            </a:r>
            <a:r>
              <a:rPr kumimoji="1" lang="en-US" altLang="ja-GB" dirty="0"/>
              <a:t>→</a:t>
            </a:r>
            <a:r>
              <a:rPr kumimoji="1" lang="ja-GB" altLang="en-US" dirty="0">
                <a:solidFill>
                  <a:schemeClr val="accent2"/>
                </a:solidFill>
              </a:rPr>
              <a:t>テスト</a:t>
            </a:r>
            <a:r>
              <a:rPr kumimoji="1" lang="ja-GB" altLang="en-US" dirty="0"/>
              <a:t>」と段階を踏んで進行していく</a:t>
            </a:r>
            <a:endParaRPr kumimoji="1" lang="en-US" altLang="ja-GB" dirty="0"/>
          </a:p>
          <a:p>
            <a:pPr lvl="2"/>
            <a:r>
              <a:rPr kumimoji="1" lang="ja-GB" altLang="en-US" dirty="0"/>
              <a:t>同じ高さにある段階は「</a:t>
            </a:r>
            <a:r>
              <a:rPr kumimoji="1" lang="ja-GB" altLang="en-US" dirty="0">
                <a:solidFill>
                  <a:srgbClr val="0070C0"/>
                </a:solidFill>
              </a:rPr>
              <a:t>設計</a:t>
            </a:r>
            <a:r>
              <a:rPr kumimoji="1" lang="ja-GB" altLang="en-US" dirty="0"/>
              <a:t>」と「</a:t>
            </a:r>
            <a:r>
              <a:rPr kumimoji="1" lang="ja-GB" altLang="en-US" dirty="0">
                <a:solidFill>
                  <a:schemeClr val="accent2"/>
                </a:solidFill>
              </a:rPr>
              <a:t>確認</a:t>
            </a:r>
            <a:r>
              <a:rPr kumimoji="1" lang="ja-GB" altLang="en-US" dirty="0"/>
              <a:t>」の対応関係にある</a:t>
            </a:r>
            <a:endParaRPr kumimoji="1" lang="en-US" altLang="ja-GB" dirty="0"/>
          </a:p>
          <a:p>
            <a:pPr lvl="2"/>
            <a:r>
              <a:rPr lang="ja-GB" altLang="en-US" dirty="0"/>
              <a:t>プログラミングをするのは「実装」にあたるごく一部分のみ</a:t>
            </a:r>
            <a:endParaRPr kumimoji="1" lang="en-US" altLang="ja-GB" dirty="0"/>
          </a:p>
          <a:p>
            <a:pPr lvl="1"/>
            <a:endParaRPr kumimoji="1" lang="ja-GB" altLang="en-US" dirty="0"/>
          </a:p>
        </p:txBody>
      </p:sp>
      <p:grpSp>
        <p:nvGrpSpPr>
          <p:cNvPr id="5" name="グループ化 4">
            <a:extLst>
              <a:ext uri="{FF2B5EF4-FFF2-40B4-BE49-F238E27FC236}">
                <a16:creationId xmlns:a16="http://schemas.microsoft.com/office/drawing/2014/main" id="{2A5AD3F1-BC6A-2BFD-654B-82FE28303812}"/>
              </a:ext>
            </a:extLst>
          </p:cNvPr>
          <p:cNvGrpSpPr/>
          <p:nvPr/>
        </p:nvGrpSpPr>
        <p:grpSpPr>
          <a:xfrm>
            <a:off x="399355" y="2995864"/>
            <a:ext cx="8345289" cy="3007371"/>
            <a:chOff x="399355" y="2995864"/>
            <a:chExt cx="8345289" cy="3007371"/>
          </a:xfrm>
        </p:grpSpPr>
        <p:grpSp>
          <p:nvGrpSpPr>
            <p:cNvPr id="10" name="グループ化 9">
              <a:extLst>
                <a:ext uri="{FF2B5EF4-FFF2-40B4-BE49-F238E27FC236}">
                  <a16:creationId xmlns:a16="http://schemas.microsoft.com/office/drawing/2014/main" id="{565A79F4-7DC7-DD1C-C6A4-1944B893B579}"/>
                </a:ext>
              </a:extLst>
            </p:cNvPr>
            <p:cNvGrpSpPr/>
            <p:nvPr/>
          </p:nvGrpSpPr>
          <p:grpSpPr>
            <a:xfrm>
              <a:off x="399355" y="2995864"/>
              <a:ext cx="8345289" cy="3007371"/>
              <a:chOff x="353754" y="2995864"/>
              <a:chExt cx="8345289" cy="3007371"/>
            </a:xfrm>
          </p:grpSpPr>
          <p:cxnSp>
            <p:nvCxnSpPr>
              <p:cNvPr id="15" name="直線コネクタ 14">
                <a:extLst>
                  <a:ext uri="{FF2B5EF4-FFF2-40B4-BE49-F238E27FC236}">
                    <a16:creationId xmlns:a16="http://schemas.microsoft.com/office/drawing/2014/main" id="{9229C8C8-815B-03D0-F9AD-4A03EF7ABA9F}"/>
                  </a:ext>
                </a:extLst>
              </p:cNvPr>
              <p:cNvCxnSpPr>
                <a:cxnSpLocks/>
                <a:stCxn id="25" idx="2"/>
                <a:endCxn id="21"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E693023E-E630-2532-7C74-A4854BAC5ED0}"/>
                  </a:ext>
                </a:extLst>
              </p:cNvPr>
              <p:cNvCxnSpPr>
                <a:cxnSpLocks/>
                <a:stCxn id="17" idx="2"/>
                <a:endCxn id="21"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7" name="角丸四角形 16">
                <a:extLst>
                  <a:ext uri="{FF2B5EF4-FFF2-40B4-BE49-F238E27FC236}">
                    <a16:creationId xmlns:a16="http://schemas.microsoft.com/office/drawing/2014/main" id="{51104D87-835F-11B6-6AD3-6A7961B858B3}"/>
                  </a:ext>
                </a:extLst>
              </p:cNvPr>
              <p:cNvSpPr/>
              <p:nvPr/>
            </p:nvSpPr>
            <p:spPr>
              <a:xfrm>
                <a:off x="353754" y="2995864"/>
                <a:ext cx="1656000" cy="43313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18" name="角丸四角形 17">
                <a:extLst>
                  <a:ext uri="{FF2B5EF4-FFF2-40B4-BE49-F238E27FC236}">
                    <a16:creationId xmlns:a16="http://schemas.microsoft.com/office/drawing/2014/main" id="{E7DCFCB4-D257-8592-7AD7-379EB449EB39}"/>
                  </a:ext>
                </a:extLst>
              </p:cNvPr>
              <p:cNvSpPr/>
              <p:nvPr/>
            </p:nvSpPr>
            <p:spPr>
              <a:xfrm>
                <a:off x="980652" y="3672244"/>
                <a:ext cx="1656000" cy="43313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19" name="角丸四角形 18">
                <a:extLst>
                  <a:ext uri="{FF2B5EF4-FFF2-40B4-BE49-F238E27FC236}">
                    <a16:creationId xmlns:a16="http://schemas.microsoft.com/office/drawing/2014/main" id="{E15A4571-AE68-672D-EA6A-34C4ACB0075D}"/>
                  </a:ext>
                </a:extLst>
              </p:cNvPr>
              <p:cNvSpPr/>
              <p:nvPr/>
            </p:nvSpPr>
            <p:spPr>
              <a:xfrm>
                <a:off x="1917514" y="4251224"/>
                <a:ext cx="1656000" cy="433136"/>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20" name="角丸四角形 19">
                <a:extLst>
                  <a:ext uri="{FF2B5EF4-FFF2-40B4-BE49-F238E27FC236}">
                    <a16:creationId xmlns:a16="http://schemas.microsoft.com/office/drawing/2014/main" id="{00CF7C62-3D9C-68E3-9B4A-7E6B901ED4D3}"/>
                  </a:ext>
                </a:extLst>
              </p:cNvPr>
              <p:cNvSpPr/>
              <p:nvPr/>
            </p:nvSpPr>
            <p:spPr>
              <a:xfrm>
                <a:off x="2732583" y="4892788"/>
                <a:ext cx="1656000" cy="433136"/>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21" name="角丸四角形 20">
                <a:extLst>
                  <a:ext uri="{FF2B5EF4-FFF2-40B4-BE49-F238E27FC236}">
                    <a16:creationId xmlns:a16="http://schemas.microsoft.com/office/drawing/2014/main" id="{4198F2F5-4C64-C305-4CD3-1AEE0BB12454}"/>
                  </a:ext>
                </a:extLst>
              </p:cNvPr>
              <p:cNvSpPr/>
              <p:nvPr/>
            </p:nvSpPr>
            <p:spPr>
              <a:xfrm>
                <a:off x="3792530" y="5570099"/>
                <a:ext cx="1656000" cy="43313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22" name="角丸四角形 21">
                <a:extLst>
                  <a:ext uri="{FF2B5EF4-FFF2-40B4-BE49-F238E27FC236}">
                    <a16:creationId xmlns:a16="http://schemas.microsoft.com/office/drawing/2014/main" id="{AFBD4468-3C87-DA0B-DECB-D137AD1971F6}"/>
                  </a:ext>
                </a:extLst>
              </p:cNvPr>
              <p:cNvSpPr/>
              <p:nvPr/>
            </p:nvSpPr>
            <p:spPr>
              <a:xfrm>
                <a:off x="4852661" y="4892788"/>
                <a:ext cx="1656000" cy="43313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23" name="角丸四角形 22">
                <a:extLst>
                  <a:ext uri="{FF2B5EF4-FFF2-40B4-BE49-F238E27FC236}">
                    <a16:creationId xmlns:a16="http://schemas.microsoft.com/office/drawing/2014/main" id="{E3DB5542-3D1C-E38D-BFC0-60CB5E08F6DB}"/>
                  </a:ext>
                </a:extLst>
              </p:cNvPr>
              <p:cNvSpPr/>
              <p:nvPr/>
            </p:nvSpPr>
            <p:spPr>
              <a:xfrm>
                <a:off x="5531604" y="4249659"/>
                <a:ext cx="1656000" cy="43313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24" name="角丸四角形 23">
                <a:extLst>
                  <a:ext uri="{FF2B5EF4-FFF2-40B4-BE49-F238E27FC236}">
                    <a16:creationId xmlns:a16="http://schemas.microsoft.com/office/drawing/2014/main" id="{050857A0-56EF-7FEC-C855-F16C8375FD91}"/>
                  </a:ext>
                </a:extLst>
              </p:cNvPr>
              <p:cNvSpPr/>
              <p:nvPr/>
            </p:nvSpPr>
            <p:spPr>
              <a:xfrm>
                <a:off x="6433604" y="3669897"/>
                <a:ext cx="1656000" cy="4331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25" name="角丸四角形 24">
                <a:extLst>
                  <a:ext uri="{FF2B5EF4-FFF2-40B4-BE49-F238E27FC236}">
                    <a16:creationId xmlns:a16="http://schemas.microsoft.com/office/drawing/2014/main" id="{88D1A078-D397-35EF-CABB-83AA5C1CA1B0}"/>
                  </a:ext>
                </a:extLst>
              </p:cNvPr>
              <p:cNvSpPr/>
              <p:nvPr/>
            </p:nvSpPr>
            <p:spPr>
              <a:xfrm>
                <a:off x="7043043" y="2995864"/>
                <a:ext cx="1656000" cy="433136"/>
              </a:xfrm>
              <a:prstGeom prst="roundRect">
                <a:avLst/>
              </a:prstGeom>
              <a:solidFill>
                <a:schemeClr val="accent2">
                  <a:alpha val="88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11" name="直線コネクタ 10">
              <a:extLst>
                <a:ext uri="{FF2B5EF4-FFF2-40B4-BE49-F238E27FC236}">
                  <a16:creationId xmlns:a16="http://schemas.microsoft.com/office/drawing/2014/main" id="{603E18FC-2FD7-E325-5901-2B7E642A403F}"/>
                </a:ext>
              </a:extLst>
            </p:cNvPr>
            <p:cNvCxnSpPr>
              <a:cxnSpLocks/>
              <a:stCxn id="17" idx="3"/>
              <a:endCxn id="25" idx="1"/>
            </p:cNvCxnSpPr>
            <p:nvPr/>
          </p:nvCxnSpPr>
          <p:spPr>
            <a:xfrm>
              <a:off x="2055355" y="3212432"/>
              <a:ext cx="5033289"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1BF74883-4F17-C5B9-EB32-672B506634EE}"/>
                </a:ext>
              </a:extLst>
            </p:cNvPr>
            <p:cNvCxnSpPr>
              <a:cxnSpLocks/>
              <a:stCxn id="18" idx="3"/>
              <a:endCxn id="24" idx="1"/>
            </p:cNvCxnSpPr>
            <p:nvPr/>
          </p:nvCxnSpPr>
          <p:spPr>
            <a:xfrm flipV="1">
              <a:off x="2682253" y="3886465"/>
              <a:ext cx="3796952" cy="2347"/>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076C240D-A076-BC77-A471-9B54217B2B95}"/>
                </a:ext>
              </a:extLst>
            </p:cNvPr>
            <p:cNvCxnSpPr>
              <a:cxnSpLocks/>
              <a:stCxn id="19" idx="3"/>
              <a:endCxn id="23" idx="1"/>
            </p:cNvCxnSpPr>
            <p:nvPr/>
          </p:nvCxnSpPr>
          <p:spPr>
            <a:xfrm flipV="1">
              <a:off x="3619115" y="4466227"/>
              <a:ext cx="1958090" cy="1565"/>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6A4A442-F8FE-7EBD-41C3-19E4067AFB7F}"/>
                </a:ext>
              </a:extLst>
            </p:cNvPr>
            <p:cNvCxnSpPr>
              <a:cxnSpLocks/>
              <a:stCxn id="20" idx="3"/>
              <a:endCxn id="22" idx="1"/>
            </p:cNvCxnSpPr>
            <p:nvPr/>
          </p:nvCxnSpPr>
          <p:spPr>
            <a:xfrm>
              <a:off x="4434184" y="5109356"/>
              <a:ext cx="464078"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477381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ED18B-CE3E-CD51-402E-8961F14ADE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4AEE9E-12FC-4AD4-27DA-FD75B6C888AC}"/>
              </a:ext>
            </a:extLst>
          </p:cNvPr>
          <p:cNvSpPr>
            <a:spLocks noGrp="1"/>
          </p:cNvSpPr>
          <p:nvPr>
            <p:ph type="title"/>
          </p:nvPr>
        </p:nvSpPr>
        <p:spPr/>
        <p:txBody>
          <a:bodyPr/>
          <a:lstStyle/>
          <a:p>
            <a:r>
              <a:rPr kumimoji="1" lang="ja-GB" altLang="en-US" dirty="0"/>
              <a:t>企業が</a:t>
            </a:r>
            <a:r>
              <a:rPr lang="ja-GB" altLang="en-US" dirty="0"/>
              <a:t>ソフトウェア</a:t>
            </a:r>
            <a:r>
              <a:rPr kumimoji="1" lang="ja-GB" altLang="en-US" dirty="0"/>
              <a:t>を発注するときの役割分担</a:t>
            </a:r>
          </a:p>
        </p:txBody>
      </p:sp>
      <p:grpSp>
        <p:nvGrpSpPr>
          <p:cNvPr id="4" name="グループ化 3">
            <a:extLst>
              <a:ext uri="{FF2B5EF4-FFF2-40B4-BE49-F238E27FC236}">
                <a16:creationId xmlns:a16="http://schemas.microsoft.com/office/drawing/2014/main" id="{99C28558-3B0C-C8E7-20C1-B3B8C766ED58}"/>
              </a:ext>
            </a:extLst>
          </p:cNvPr>
          <p:cNvGrpSpPr/>
          <p:nvPr/>
        </p:nvGrpSpPr>
        <p:grpSpPr>
          <a:xfrm>
            <a:off x="158750" y="2889830"/>
            <a:ext cx="8826500" cy="3618339"/>
            <a:chOff x="158750" y="1944261"/>
            <a:chExt cx="8826500" cy="3618339"/>
          </a:xfrm>
        </p:grpSpPr>
        <p:sp>
          <p:nvSpPr>
            <p:cNvPr id="6" name="角丸四角形 5">
              <a:extLst>
                <a:ext uri="{FF2B5EF4-FFF2-40B4-BE49-F238E27FC236}">
                  <a16:creationId xmlns:a16="http://schemas.microsoft.com/office/drawing/2014/main" id="{53F6453F-3A97-335D-3011-49CBEF9B1A18}"/>
                </a:ext>
              </a:extLst>
            </p:cNvPr>
            <p:cNvSpPr/>
            <p:nvPr/>
          </p:nvSpPr>
          <p:spPr>
            <a:xfrm>
              <a:off x="158750" y="1944261"/>
              <a:ext cx="8826500" cy="64154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7" name="角丸四角形 6">
              <a:extLst>
                <a:ext uri="{FF2B5EF4-FFF2-40B4-BE49-F238E27FC236}">
                  <a16:creationId xmlns:a16="http://schemas.microsoft.com/office/drawing/2014/main" id="{5E707D67-F6AD-0764-F130-29A5468C6425}"/>
                </a:ext>
              </a:extLst>
            </p:cNvPr>
            <p:cNvSpPr/>
            <p:nvPr/>
          </p:nvSpPr>
          <p:spPr>
            <a:xfrm>
              <a:off x="158750" y="2577593"/>
              <a:ext cx="8826500" cy="635507"/>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8" name="角丸四角形 7">
              <a:extLst>
                <a:ext uri="{FF2B5EF4-FFF2-40B4-BE49-F238E27FC236}">
                  <a16:creationId xmlns:a16="http://schemas.microsoft.com/office/drawing/2014/main" id="{FD79BF71-E348-5D93-B4D8-27022EA4F72F}"/>
                </a:ext>
              </a:extLst>
            </p:cNvPr>
            <p:cNvSpPr/>
            <p:nvPr/>
          </p:nvSpPr>
          <p:spPr>
            <a:xfrm>
              <a:off x="158750" y="3213100"/>
              <a:ext cx="8826500" cy="2349500"/>
            </a:xfrm>
            <a:prstGeom prst="roundRect">
              <a:avLst>
                <a:gd name="adj" fmla="val 5219"/>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grpSp>
          <p:nvGrpSpPr>
            <p:cNvPr id="9" name="グループ化 8">
              <a:extLst>
                <a:ext uri="{FF2B5EF4-FFF2-40B4-BE49-F238E27FC236}">
                  <a16:creationId xmlns:a16="http://schemas.microsoft.com/office/drawing/2014/main" id="{6A88902C-C712-CEE3-A063-42642FA47C5E}"/>
                </a:ext>
              </a:extLst>
            </p:cNvPr>
            <p:cNvGrpSpPr/>
            <p:nvPr/>
          </p:nvGrpSpPr>
          <p:grpSpPr>
            <a:xfrm>
              <a:off x="405706" y="2045694"/>
              <a:ext cx="8345289" cy="3007371"/>
              <a:chOff x="353754" y="2995864"/>
              <a:chExt cx="8345289" cy="3007371"/>
            </a:xfrm>
          </p:grpSpPr>
          <p:cxnSp>
            <p:nvCxnSpPr>
              <p:cNvPr id="29" name="直線コネクタ 28">
                <a:extLst>
                  <a:ext uri="{FF2B5EF4-FFF2-40B4-BE49-F238E27FC236}">
                    <a16:creationId xmlns:a16="http://schemas.microsoft.com/office/drawing/2014/main" id="{3576AB8F-F0FA-2497-4919-F462676C14E3}"/>
                  </a:ext>
                </a:extLst>
              </p:cNvPr>
              <p:cNvCxnSpPr>
                <a:cxnSpLocks/>
                <a:stCxn id="39" idx="2"/>
                <a:endCxn id="35"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8B6319B2-F096-F191-ED8E-E21363651983}"/>
                  </a:ext>
                </a:extLst>
              </p:cNvPr>
              <p:cNvCxnSpPr>
                <a:cxnSpLocks/>
                <a:stCxn id="31" idx="2"/>
                <a:endCxn id="35"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31" name="角丸四角形 30">
                <a:extLst>
                  <a:ext uri="{FF2B5EF4-FFF2-40B4-BE49-F238E27FC236}">
                    <a16:creationId xmlns:a16="http://schemas.microsoft.com/office/drawing/2014/main" id="{3C5C3FCE-C97E-9007-C47D-0351194C2E66}"/>
                  </a:ext>
                </a:extLst>
              </p:cNvPr>
              <p:cNvSpPr/>
              <p:nvPr/>
            </p:nvSpPr>
            <p:spPr>
              <a:xfrm>
                <a:off x="353754" y="2995864"/>
                <a:ext cx="1656000" cy="43313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32" name="角丸四角形 31">
                <a:extLst>
                  <a:ext uri="{FF2B5EF4-FFF2-40B4-BE49-F238E27FC236}">
                    <a16:creationId xmlns:a16="http://schemas.microsoft.com/office/drawing/2014/main" id="{24655C17-D56E-04A1-570D-EC8D2E5D5706}"/>
                  </a:ext>
                </a:extLst>
              </p:cNvPr>
              <p:cNvSpPr/>
              <p:nvPr/>
            </p:nvSpPr>
            <p:spPr>
              <a:xfrm>
                <a:off x="980652" y="3672244"/>
                <a:ext cx="1656000" cy="43313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33" name="角丸四角形 32">
                <a:extLst>
                  <a:ext uri="{FF2B5EF4-FFF2-40B4-BE49-F238E27FC236}">
                    <a16:creationId xmlns:a16="http://schemas.microsoft.com/office/drawing/2014/main" id="{1584F012-02F2-C2C9-BBE6-F99D992EA356}"/>
                  </a:ext>
                </a:extLst>
              </p:cNvPr>
              <p:cNvSpPr/>
              <p:nvPr/>
            </p:nvSpPr>
            <p:spPr>
              <a:xfrm>
                <a:off x="1917514" y="4251224"/>
                <a:ext cx="1656000" cy="433136"/>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34" name="角丸四角形 33">
                <a:extLst>
                  <a:ext uri="{FF2B5EF4-FFF2-40B4-BE49-F238E27FC236}">
                    <a16:creationId xmlns:a16="http://schemas.microsoft.com/office/drawing/2014/main" id="{AF6991EE-B0DA-AD44-066A-86759287F1E8}"/>
                  </a:ext>
                </a:extLst>
              </p:cNvPr>
              <p:cNvSpPr/>
              <p:nvPr/>
            </p:nvSpPr>
            <p:spPr>
              <a:xfrm>
                <a:off x="2732583" y="4892788"/>
                <a:ext cx="1656000" cy="433136"/>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35" name="角丸四角形 34">
                <a:extLst>
                  <a:ext uri="{FF2B5EF4-FFF2-40B4-BE49-F238E27FC236}">
                    <a16:creationId xmlns:a16="http://schemas.microsoft.com/office/drawing/2014/main" id="{C95BB218-B7A1-24AF-E01C-1D6459A66B6B}"/>
                  </a:ext>
                </a:extLst>
              </p:cNvPr>
              <p:cNvSpPr/>
              <p:nvPr/>
            </p:nvSpPr>
            <p:spPr>
              <a:xfrm>
                <a:off x="3792530" y="5570099"/>
                <a:ext cx="1656000" cy="43313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36" name="角丸四角形 35">
                <a:extLst>
                  <a:ext uri="{FF2B5EF4-FFF2-40B4-BE49-F238E27FC236}">
                    <a16:creationId xmlns:a16="http://schemas.microsoft.com/office/drawing/2014/main" id="{0078DDBD-A12E-09DE-C253-3D18C12A20E7}"/>
                  </a:ext>
                </a:extLst>
              </p:cNvPr>
              <p:cNvSpPr/>
              <p:nvPr/>
            </p:nvSpPr>
            <p:spPr>
              <a:xfrm>
                <a:off x="4852661" y="4892788"/>
                <a:ext cx="1656000" cy="43313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37" name="角丸四角形 36">
                <a:extLst>
                  <a:ext uri="{FF2B5EF4-FFF2-40B4-BE49-F238E27FC236}">
                    <a16:creationId xmlns:a16="http://schemas.microsoft.com/office/drawing/2014/main" id="{7F4D242B-E62B-1B1D-C7FB-5567779B5605}"/>
                  </a:ext>
                </a:extLst>
              </p:cNvPr>
              <p:cNvSpPr/>
              <p:nvPr/>
            </p:nvSpPr>
            <p:spPr>
              <a:xfrm>
                <a:off x="5531604" y="4249659"/>
                <a:ext cx="1656000" cy="43313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38" name="角丸四角形 37">
                <a:extLst>
                  <a:ext uri="{FF2B5EF4-FFF2-40B4-BE49-F238E27FC236}">
                    <a16:creationId xmlns:a16="http://schemas.microsoft.com/office/drawing/2014/main" id="{AF9FD4B5-C2A0-6FE5-314D-B71BA2E4C7E1}"/>
                  </a:ext>
                </a:extLst>
              </p:cNvPr>
              <p:cNvSpPr/>
              <p:nvPr/>
            </p:nvSpPr>
            <p:spPr>
              <a:xfrm>
                <a:off x="6433604" y="3669897"/>
                <a:ext cx="1656000" cy="4331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39" name="角丸四角形 38">
                <a:extLst>
                  <a:ext uri="{FF2B5EF4-FFF2-40B4-BE49-F238E27FC236}">
                    <a16:creationId xmlns:a16="http://schemas.microsoft.com/office/drawing/2014/main" id="{5CECB3B7-FFFF-A39F-47B7-777EE86CC65B}"/>
                  </a:ext>
                </a:extLst>
              </p:cNvPr>
              <p:cNvSpPr/>
              <p:nvPr/>
            </p:nvSpPr>
            <p:spPr>
              <a:xfrm>
                <a:off x="7043043" y="2995864"/>
                <a:ext cx="1656000" cy="433136"/>
              </a:xfrm>
              <a:prstGeom prst="roundRect">
                <a:avLst/>
              </a:prstGeom>
              <a:solidFill>
                <a:schemeClr val="accent2">
                  <a:alpha val="88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sp>
          <p:nvSpPr>
            <p:cNvPr id="26" name="テキスト ボックス 25">
              <a:extLst>
                <a:ext uri="{FF2B5EF4-FFF2-40B4-BE49-F238E27FC236}">
                  <a16:creationId xmlns:a16="http://schemas.microsoft.com/office/drawing/2014/main" id="{8B8AFC83-5571-9C76-A9DC-EE7343D5EA24}"/>
                </a:ext>
              </a:extLst>
            </p:cNvPr>
            <p:cNvSpPr txBox="1"/>
            <p:nvPr/>
          </p:nvSpPr>
          <p:spPr>
            <a:xfrm>
              <a:off x="3026837" y="2084171"/>
              <a:ext cx="3291286" cy="369332"/>
            </a:xfrm>
            <a:prstGeom prst="rect">
              <a:avLst/>
            </a:prstGeom>
            <a:noFill/>
            <a:ln>
              <a:noFill/>
            </a:ln>
          </p:spPr>
          <p:txBody>
            <a:bodyPr wrap="none" rtlCol="0">
              <a:spAutoFit/>
            </a:bodyPr>
            <a:lstStyle/>
            <a:p>
              <a:pPr algn="ctr"/>
              <a:r>
                <a:rPr kumimoji="1" lang="ja-GB" altLang="en-US" b="1" dirty="0">
                  <a:solidFill>
                    <a:schemeClr val="bg1"/>
                  </a:solidFill>
                </a:rPr>
                <a:t>依頼者（ 例：ユーザー部門 ）</a:t>
              </a:r>
            </a:p>
          </p:txBody>
        </p:sp>
        <p:sp>
          <p:nvSpPr>
            <p:cNvPr id="27" name="テキスト ボックス 26">
              <a:extLst>
                <a:ext uri="{FF2B5EF4-FFF2-40B4-BE49-F238E27FC236}">
                  <a16:creationId xmlns:a16="http://schemas.microsoft.com/office/drawing/2014/main" id="{DCA6116A-7882-2F69-ADFC-DFC6D954AB5A}"/>
                </a:ext>
              </a:extLst>
            </p:cNvPr>
            <p:cNvSpPr txBox="1"/>
            <p:nvPr/>
          </p:nvSpPr>
          <p:spPr>
            <a:xfrm>
              <a:off x="3170305" y="2750064"/>
              <a:ext cx="3004348" cy="369332"/>
            </a:xfrm>
            <a:prstGeom prst="rect">
              <a:avLst/>
            </a:prstGeom>
            <a:noFill/>
            <a:ln>
              <a:noFill/>
            </a:ln>
          </p:spPr>
          <p:txBody>
            <a:bodyPr wrap="none" rtlCol="0">
              <a:spAutoFit/>
            </a:bodyPr>
            <a:lstStyle/>
            <a:p>
              <a:pPr algn="ctr"/>
              <a:r>
                <a:rPr kumimoji="1" lang="ja-GB" altLang="en-US" b="1" dirty="0">
                  <a:solidFill>
                    <a:schemeClr val="bg1"/>
                  </a:solidFill>
                </a:rPr>
                <a:t>発注者（例： 社内</a:t>
              </a:r>
              <a:r>
                <a:rPr kumimoji="1" lang="en-US" altLang="ja-GB" b="1" dirty="0">
                  <a:solidFill>
                    <a:schemeClr val="bg1"/>
                  </a:solidFill>
                </a:rPr>
                <a:t>IT</a:t>
              </a:r>
              <a:r>
                <a:rPr kumimoji="1" lang="ja-GB" altLang="en-US" b="1" dirty="0">
                  <a:solidFill>
                    <a:schemeClr val="bg1"/>
                  </a:solidFill>
                </a:rPr>
                <a:t>部門 ）</a:t>
              </a:r>
            </a:p>
          </p:txBody>
        </p:sp>
        <p:sp>
          <p:nvSpPr>
            <p:cNvPr id="28" name="テキスト ボックス 27">
              <a:extLst>
                <a:ext uri="{FF2B5EF4-FFF2-40B4-BE49-F238E27FC236}">
                  <a16:creationId xmlns:a16="http://schemas.microsoft.com/office/drawing/2014/main" id="{9B972F8A-FC8C-5EF2-2EB1-6F929E02E74A}"/>
                </a:ext>
              </a:extLst>
            </p:cNvPr>
            <p:cNvSpPr txBox="1"/>
            <p:nvPr/>
          </p:nvSpPr>
          <p:spPr>
            <a:xfrm>
              <a:off x="2622077" y="5130690"/>
              <a:ext cx="4100803" cy="369332"/>
            </a:xfrm>
            <a:prstGeom prst="rect">
              <a:avLst/>
            </a:prstGeom>
            <a:noFill/>
            <a:ln>
              <a:noFill/>
            </a:ln>
          </p:spPr>
          <p:txBody>
            <a:bodyPr wrap="none" rtlCol="0">
              <a:spAutoFit/>
            </a:bodyPr>
            <a:lstStyle/>
            <a:p>
              <a:pPr algn="ctr"/>
              <a:r>
                <a:rPr kumimoji="1" lang="ja-GB" altLang="en-US" b="1" dirty="0">
                  <a:solidFill>
                    <a:schemeClr val="bg1"/>
                  </a:solidFill>
                </a:rPr>
                <a:t>開発者（例：開発部門，外部</a:t>
              </a:r>
              <a:r>
                <a:rPr kumimoji="1" lang="en-US" altLang="ja-GB" b="1" dirty="0">
                  <a:solidFill>
                    <a:schemeClr val="bg1"/>
                  </a:solidFill>
                </a:rPr>
                <a:t>SI</a:t>
              </a:r>
              <a:r>
                <a:rPr kumimoji="1" lang="ja-GB" altLang="en-US" b="1" dirty="0">
                  <a:solidFill>
                    <a:schemeClr val="bg1"/>
                  </a:solidFill>
                </a:rPr>
                <a:t>企業 ）</a:t>
              </a:r>
            </a:p>
          </p:txBody>
        </p:sp>
      </p:grpSp>
      <p:sp>
        <p:nvSpPr>
          <p:cNvPr id="10" name="コンテンツ プレースホルダー 2">
            <a:extLst>
              <a:ext uri="{FF2B5EF4-FFF2-40B4-BE49-F238E27FC236}">
                <a16:creationId xmlns:a16="http://schemas.microsoft.com/office/drawing/2014/main" id="{E3FF10AC-AF0A-F013-D5B2-79BB80B83984}"/>
              </a:ext>
            </a:extLst>
          </p:cNvPr>
          <p:cNvSpPr txBox="1">
            <a:spLocks/>
          </p:cNvSpPr>
          <p:nvPr/>
        </p:nvSpPr>
        <p:spPr>
          <a:xfrm>
            <a:off x="1432625" y="1130689"/>
            <a:ext cx="6015820" cy="12876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2F2523"/>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buFont typeface="+mj-lt"/>
              <a:buAutoNum type="arabicPeriod"/>
            </a:pPr>
            <a:r>
              <a:rPr lang="ja-GB" altLang="en-US" sz="2000"/>
              <a:t>依頼者は</a:t>
            </a:r>
            <a:r>
              <a:rPr lang="ja-GB" altLang="en-US" sz="2000">
                <a:solidFill>
                  <a:srgbClr val="0070C0"/>
                </a:solidFill>
              </a:rPr>
              <a:t>ソフトウェアを使って価値を生む</a:t>
            </a:r>
            <a:r>
              <a:rPr lang="ja-GB" altLang="en-US" sz="2000"/>
              <a:t>責任を負う</a:t>
            </a:r>
            <a:endParaRPr lang="en-US" altLang="ja-GB" sz="2000"/>
          </a:p>
          <a:p>
            <a:pPr marL="457200" indent="-457200">
              <a:buFont typeface="+mj-lt"/>
              <a:buAutoNum type="arabicPeriod"/>
            </a:pPr>
            <a:r>
              <a:rPr lang="ja-GB" altLang="en-US" sz="2000"/>
              <a:t>発注者は</a:t>
            </a:r>
            <a:r>
              <a:rPr lang="en-US" altLang="ja-GB" sz="2000">
                <a:solidFill>
                  <a:srgbClr val="0070C0"/>
                </a:solidFill>
              </a:rPr>
              <a:t>IT</a:t>
            </a:r>
            <a:r>
              <a:rPr lang="ja-GB" altLang="en-US" sz="2000">
                <a:solidFill>
                  <a:srgbClr val="0070C0"/>
                </a:solidFill>
              </a:rPr>
              <a:t>システムとしての定義</a:t>
            </a:r>
            <a:r>
              <a:rPr lang="ja-GB" altLang="en-US" sz="2000"/>
              <a:t>に責任を負う</a:t>
            </a:r>
            <a:endParaRPr lang="en-US" altLang="ja-GB" sz="2000"/>
          </a:p>
          <a:p>
            <a:pPr marL="457200" indent="-457200">
              <a:buFont typeface="+mj-lt"/>
              <a:buAutoNum type="arabicPeriod"/>
            </a:pPr>
            <a:r>
              <a:rPr lang="ja-GB" altLang="en-US" sz="2000"/>
              <a:t>開発者は</a:t>
            </a:r>
            <a:r>
              <a:rPr lang="ja-GB" altLang="en-US" sz="2000">
                <a:solidFill>
                  <a:srgbClr val="0070C0"/>
                </a:solidFill>
              </a:rPr>
              <a:t>定義通りに動くシステム</a:t>
            </a:r>
            <a:r>
              <a:rPr lang="ja-GB" altLang="en-US" sz="2000"/>
              <a:t>を作る責任を負う</a:t>
            </a:r>
            <a:endParaRPr lang="ja-GB" altLang="en-US" sz="2000" dirty="0"/>
          </a:p>
        </p:txBody>
      </p:sp>
    </p:spTree>
    <p:extLst>
      <p:ext uri="{BB962C8B-B14F-4D97-AF65-F5344CB8AC3E}">
        <p14:creationId xmlns:p14="http://schemas.microsoft.com/office/powerpoint/2010/main" val="374205652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角丸四角形 39">
            <a:extLst>
              <a:ext uri="{FF2B5EF4-FFF2-40B4-BE49-F238E27FC236}">
                <a16:creationId xmlns:a16="http://schemas.microsoft.com/office/drawing/2014/main" id="{B4F1D545-292C-3549-B9FD-0BEC3DFCFCA0}"/>
              </a:ext>
            </a:extLst>
          </p:cNvPr>
          <p:cNvSpPr/>
          <p:nvPr/>
        </p:nvSpPr>
        <p:spPr>
          <a:xfrm>
            <a:off x="158750" y="3270830"/>
            <a:ext cx="8826500" cy="64154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48E5299B-5723-6279-03E2-E09871161583}"/>
              </a:ext>
            </a:extLst>
          </p:cNvPr>
          <p:cNvSpPr>
            <a:spLocks noGrp="1"/>
          </p:cNvSpPr>
          <p:nvPr>
            <p:ph type="title"/>
          </p:nvPr>
        </p:nvSpPr>
        <p:spPr/>
        <p:txBody>
          <a:bodyPr/>
          <a:lstStyle/>
          <a:p>
            <a:r>
              <a:rPr lang="ja-GB" altLang="en-US" dirty="0"/>
              <a:t>ユーザー部門</a:t>
            </a:r>
            <a:r>
              <a:rPr kumimoji="1" lang="ja-GB" altLang="en-US" dirty="0"/>
              <a:t>の仕事</a:t>
            </a:r>
          </a:p>
        </p:txBody>
      </p:sp>
      <p:sp>
        <p:nvSpPr>
          <p:cNvPr id="3" name="コンテンツ プレースホルダー 2">
            <a:extLst>
              <a:ext uri="{FF2B5EF4-FFF2-40B4-BE49-F238E27FC236}">
                <a16:creationId xmlns:a16="http://schemas.microsoft.com/office/drawing/2014/main" id="{CF2A254D-A35B-3BFC-5655-4C3D52ECF65A}"/>
              </a:ext>
            </a:extLst>
          </p:cNvPr>
          <p:cNvSpPr>
            <a:spLocks noGrp="1"/>
          </p:cNvSpPr>
          <p:nvPr>
            <p:ph idx="1"/>
          </p:nvPr>
        </p:nvSpPr>
        <p:spPr/>
        <p:txBody>
          <a:bodyPr/>
          <a:lstStyle/>
          <a:p>
            <a:pPr marL="0" indent="0">
              <a:buNone/>
            </a:pPr>
            <a:r>
              <a:rPr lang="ja-GB" altLang="en-US" dirty="0"/>
              <a:t>ソフトウェアを使って価値を生む部分に責任を負う</a:t>
            </a:r>
            <a:endParaRPr lang="en-US" altLang="ja-GB" dirty="0"/>
          </a:p>
          <a:p>
            <a:pPr marL="457200" lvl="1" indent="0">
              <a:buNone/>
            </a:pPr>
            <a:r>
              <a:rPr kumimoji="1" lang="ja-GB" altLang="en-US" dirty="0"/>
              <a:t>要求分析</a:t>
            </a:r>
            <a:endParaRPr kumimoji="1" lang="en-US" altLang="ja-GB" dirty="0"/>
          </a:p>
          <a:p>
            <a:pPr lvl="2"/>
            <a:r>
              <a:rPr lang="ja-GB" altLang="en-US" dirty="0"/>
              <a:t>業務のために何が必要なのかを明確化</a:t>
            </a:r>
            <a:endParaRPr lang="en-US" altLang="ja-GB" dirty="0"/>
          </a:p>
          <a:p>
            <a:pPr lvl="2"/>
            <a:r>
              <a:rPr kumimoji="1" lang="ja-GB" altLang="en-US" dirty="0"/>
              <a:t>潜在的な課題の洗い出し</a:t>
            </a:r>
            <a:endParaRPr kumimoji="1" lang="en-US" altLang="ja-GB" dirty="0"/>
          </a:p>
          <a:p>
            <a:pPr marL="457200" lvl="1" indent="0">
              <a:buNone/>
            </a:pPr>
            <a:r>
              <a:rPr lang="ja-GB" altLang="en-US" dirty="0"/>
              <a:t>受け入れテスト</a:t>
            </a:r>
            <a:endParaRPr lang="en-US" altLang="ja-GB" dirty="0"/>
          </a:p>
          <a:p>
            <a:pPr lvl="2"/>
            <a:r>
              <a:rPr kumimoji="1" lang="ja-GB" altLang="en-US" dirty="0"/>
              <a:t>納品されたソフトウェアが自分たちの要求していた通りの仕事をするか確認</a:t>
            </a:r>
          </a:p>
        </p:txBody>
      </p:sp>
      <p:grpSp>
        <p:nvGrpSpPr>
          <p:cNvPr id="23" name="グループ化 22">
            <a:extLst>
              <a:ext uri="{FF2B5EF4-FFF2-40B4-BE49-F238E27FC236}">
                <a16:creationId xmlns:a16="http://schemas.microsoft.com/office/drawing/2014/main" id="{E0CB242D-9E83-9B6D-2D5A-EE25E0FAE5CD}"/>
              </a:ext>
            </a:extLst>
          </p:cNvPr>
          <p:cNvGrpSpPr/>
          <p:nvPr/>
        </p:nvGrpSpPr>
        <p:grpSpPr>
          <a:xfrm>
            <a:off x="399355" y="3389564"/>
            <a:ext cx="8345289" cy="3007371"/>
            <a:chOff x="399355" y="2995864"/>
            <a:chExt cx="8345289" cy="3007371"/>
          </a:xfrm>
        </p:grpSpPr>
        <p:grpSp>
          <p:nvGrpSpPr>
            <p:cNvPr id="24" name="グループ化 23">
              <a:extLst>
                <a:ext uri="{FF2B5EF4-FFF2-40B4-BE49-F238E27FC236}">
                  <a16:creationId xmlns:a16="http://schemas.microsoft.com/office/drawing/2014/main" id="{4E1A2619-BCE6-B157-7329-21EC58B101C3}"/>
                </a:ext>
              </a:extLst>
            </p:cNvPr>
            <p:cNvGrpSpPr/>
            <p:nvPr/>
          </p:nvGrpSpPr>
          <p:grpSpPr>
            <a:xfrm>
              <a:off x="399355" y="2995864"/>
              <a:ext cx="8345289" cy="3007371"/>
              <a:chOff x="353754" y="2995864"/>
              <a:chExt cx="8345289" cy="3007371"/>
            </a:xfrm>
          </p:grpSpPr>
          <p:cxnSp>
            <p:nvCxnSpPr>
              <p:cNvPr id="29" name="直線コネクタ 28">
                <a:extLst>
                  <a:ext uri="{FF2B5EF4-FFF2-40B4-BE49-F238E27FC236}">
                    <a16:creationId xmlns:a16="http://schemas.microsoft.com/office/drawing/2014/main" id="{7F92C74B-E45A-1730-1617-79DC26BB4B9D}"/>
                  </a:ext>
                </a:extLst>
              </p:cNvPr>
              <p:cNvCxnSpPr>
                <a:cxnSpLocks/>
                <a:stCxn id="39" idx="2"/>
                <a:endCxn id="35"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0A907A8-3E47-A8AE-BB9D-6E63B06DAA9C}"/>
                  </a:ext>
                </a:extLst>
              </p:cNvPr>
              <p:cNvCxnSpPr>
                <a:cxnSpLocks/>
                <a:stCxn id="31" idx="2"/>
                <a:endCxn id="35"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31" name="角丸四角形 30">
                <a:extLst>
                  <a:ext uri="{FF2B5EF4-FFF2-40B4-BE49-F238E27FC236}">
                    <a16:creationId xmlns:a16="http://schemas.microsoft.com/office/drawing/2014/main" id="{771FF79B-283D-F1E1-E1CB-41942FC8463C}"/>
                  </a:ext>
                </a:extLst>
              </p:cNvPr>
              <p:cNvSpPr/>
              <p:nvPr/>
            </p:nvSpPr>
            <p:spPr>
              <a:xfrm>
                <a:off x="353754" y="2995864"/>
                <a:ext cx="1656000" cy="43313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32" name="角丸四角形 31">
                <a:extLst>
                  <a:ext uri="{FF2B5EF4-FFF2-40B4-BE49-F238E27FC236}">
                    <a16:creationId xmlns:a16="http://schemas.microsoft.com/office/drawing/2014/main" id="{E8E8342C-C9B3-AA01-29C2-CE3A9EE79FD1}"/>
                  </a:ext>
                </a:extLst>
              </p:cNvPr>
              <p:cNvSpPr/>
              <p:nvPr/>
            </p:nvSpPr>
            <p:spPr>
              <a:xfrm>
                <a:off x="980652" y="367224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33" name="角丸四角形 32">
                <a:extLst>
                  <a:ext uri="{FF2B5EF4-FFF2-40B4-BE49-F238E27FC236}">
                    <a16:creationId xmlns:a16="http://schemas.microsoft.com/office/drawing/2014/main" id="{0D09FB99-2DAA-CCD7-E582-15A1201A66FC}"/>
                  </a:ext>
                </a:extLst>
              </p:cNvPr>
              <p:cNvSpPr/>
              <p:nvPr/>
            </p:nvSpPr>
            <p:spPr>
              <a:xfrm>
                <a:off x="1917514" y="425122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34" name="角丸四角形 33">
                <a:extLst>
                  <a:ext uri="{FF2B5EF4-FFF2-40B4-BE49-F238E27FC236}">
                    <a16:creationId xmlns:a16="http://schemas.microsoft.com/office/drawing/2014/main" id="{4F9F5AD6-DF4D-6489-CF39-0A1262177704}"/>
                  </a:ext>
                </a:extLst>
              </p:cNvPr>
              <p:cNvSpPr/>
              <p:nvPr/>
            </p:nvSpPr>
            <p:spPr>
              <a:xfrm>
                <a:off x="2732583" y="4892788"/>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35" name="角丸四角形 34">
                <a:extLst>
                  <a:ext uri="{FF2B5EF4-FFF2-40B4-BE49-F238E27FC236}">
                    <a16:creationId xmlns:a16="http://schemas.microsoft.com/office/drawing/2014/main" id="{EE6E2B2B-A106-0737-9D00-2C7B71C4D00D}"/>
                  </a:ext>
                </a:extLst>
              </p:cNvPr>
              <p:cNvSpPr/>
              <p:nvPr/>
            </p:nvSpPr>
            <p:spPr>
              <a:xfrm>
                <a:off x="3792530" y="5570099"/>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36" name="角丸四角形 35">
                <a:extLst>
                  <a:ext uri="{FF2B5EF4-FFF2-40B4-BE49-F238E27FC236}">
                    <a16:creationId xmlns:a16="http://schemas.microsoft.com/office/drawing/2014/main" id="{9053CAE2-D4EB-A46C-E2E8-AA349040EF2B}"/>
                  </a:ext>
                </a:extLst>
              </p:cNvPr>
              <p:cNvSpPr/>
              <p:nvPr/>
            </p:nvSpPr>
            <p:spPr>
              <a:xfrm>
                <a:off x="4852661" y="4892788"/>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37" name="角丸四角形 36">
                <a:extLst>
                  <a:ext uri="{FF2B5EF4-FFF2-40B4-BE49-F238E27FC236}">
                    <a16:creationId xmlns:a16="http://schemas.microsoft.com/office/drawing/2014/main" id="{AE8EB7AF-456F-7174-E9F2-F02918CD9635}"/>
                  </a:ext>
                </a:extLst>
              </p:cNvPr>
              <p:cNvSpPr/>
              <p:nvPr/>
            </p:nvSpPr>
            <p:spPr>
              <a:xfrm>
                <a:off x="5531604" y="4249659"/>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38" name="角丸四角形 37">
                <a:extLst>
                  <a:ext uri="{FF2B5EF4-FFF2-40B4-BE49-F238E27FC236}">
                    <a16:creationId xmlns:a16="http://schemas.microsoft.com/office/drawing/2014/main" id="{37912160-2768-04A6-CB09-A7F3369EC5BC}"/>
                  </a:ext>
                </a:extLst>
              </p:cNvPr>
              <p:cNvSpPr/>
              <p:nvPr/>
            </p:nvSpPr>
            <p:spPr>
              <a:xfrm>
                <a:off x="6433604" y="3669897"/>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39" name="角丸四角形 38">
                <a:extLst>
                  <a:ext uri="{FF2B5EF4-FFF2-40B4-BE49-F238E27FC236}">
                    <a16:creationId xmlns:a16="http://schemas.microsoft.com/office/drawing/2014/main" id="{288F7579-47D9-5110-CD29-F7BAAE63BF19}"/>
                  </a:ext>
                </a:extLst>
              </p:cNvPr>
              <p:cNvSpPr/>
              <p:nvPr/>
            </p:nvSpPr>
            <p:spPr>
              <a:xfrm>
                <a:off x="7043043" y="2995864"/>
                <a:ext cx="1656000" cy="433136"/>
              </a:xfrm>
              <a:prstGeom prst="roundRect">
                <a:avLst/>
              </a:prstGeom>
              <a:solidFill>
                <a:schemeClr val="accent2">
                  <a:alpha val="88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25" name="直線コネクタ 24">
              <a:extLst>
                <a:ext uri="{FF2B5EF4-FFF2-40B4-BE49-F238E27FC236}">
                  <a16:creationId xmlns:a16="http://schemas.microsoft.com/office/drawing/2014/main" id="{67344657-7006-7D6E-626E-9F10897E9343}"/>
                </a:ext>
              </a:extLst>
            </p:cNvPr>
            <p:cNvCxnSpPr>
              <a:cxnSpLocks/>
              <a:stCxn id="31" idx="3"/>
              <a:endCxn id="39" idx="1"/>
            </p:cNvCxnSpPr>
            <p:nvPr/>
          </p:nvCxnSpPr>
          <p:spPr>
            <a:xfrm>
              <a:off x="2055355" y="3212432"/>
              <a:ext cx="5033289"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50636C10-146D-C09D-ED8C-031115611002}"/>
                </a:ext>
              </a:extLst>
            </p:cNvPr>
            <p:cNvCxnSpPr>
              <a:cxnSpLocks/>
              <a:stCxn id="32" idx="3"/>
              <a:endCxn id="38" idx="1"/>
            </p:cNvCxnSpPr>
            <p:nvPr/>
          </p:nvCxnSpPr>
          <p:spPr>
            <a:xfrm flipV="1">
              <a:off x="2682253" y="3886465"/>
              <a:ext cx="3796952" cy="2347"/>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73757BE8-9009-DF59-4E36-A9953EF4736F}"/>
                </a:ext>
              </a:extLst>
            </p:cNvPr>
            <p:cNvCxnSpPr>
              <a:cxnSpLocks/>
              <a:stCxn id="33" idx="3"/>
              <a:endCxn id="37" idx="1"/>
            </p:cNvCxnSpPr>
            <p:nvPr/>
          </p:nvCxnSpPr>
          <p:spPr>
            <a:xfrm flipV="1">
              <a:off x="3619115" y="4466227"/>
              <a:ext cx="1958090" cy="1565"/>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8C2D04F7-6428-798C-3545-880D54FB28B6}"/>
                </a:ext>
              </a:extLst>
            </p:cNvPr>
            <p:cNvCxnSpPr>
              <a:cxnSpLocks/>
              <a:stCxn id="34" idx="3"/>
              <a:endCxn id="36" idx="1"/>
            </p:cNvCxnSpPr>
            <p:nvPr/>
          </p:nvCxnSpPr>
          <p:spPr>
            <a:xfrm>
              <a:off x="4434184" y="5109356"/>
              <a:ext cx="464078"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863300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角丸四角形 20">
            <a:extLst>
              <a:ext uri="{FF2B5EF4-FFF2-40B4-BE49-F238E27FC236}">
                <a16:creationId xmlns:a16="http://schemas.microsoft.com/office/drawing/2014/main" id="{8CBA45EB-6DD2-A195-60C2-CA5851480F8F}"/>
              </a:ext>
            </a:extLst>
          </p:cNvPr>
          <p:cNvSpPr/>
          <p:nvPr/>
        </p:nvSpPr>
        <p:spPr>
          <a:xfrm>
            <a:off x="158749" y="3947816"/>
            <a:ext cx="8826500" cy="635507"/>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D7F9200E-0C55-C178-752D-FC571DF93D5C}"/>
              </a:ext>
            </a:extLst>
          </p:cNvPr>
          <p:cNvSpPr>
            <a:spLocks noGrp="1"/>
          </p:cNvSpPr>
          <p:nvPr>
            <p:ph type="title"/>
          </p:nvPr>
        </p:nvSpPr>
        <p:spPr/>
        <p:txBody>
          <a:bodyPr/>
          <a:lstStyle/>
          <a:p>
            <a:r>
              <a:rPr kumimoji="1" lang="ja-GB" altLang="en-US" dirty="0"/>
              <a:t>社内</a:t>
            </a:r>
            <a:r>
              <a:rPr kumimoji="1" lang="en-US" altLang="ja-GB" dirty="0"/>
              <a:t>IT</a:t>
            </a:r>
            <a:r>
              <a:rPr kumimoji="1" lang="ja-GB" altLang="en-US" dirty="0"/>
              <a:t>部門の仕事</a:t>
            </a:r>
          </a:p>
        </p:txBody>
      </p:sp>
      <p:sp>
        <p:nvSpPr>
          <p:cNvPr id="3" name="コンテンツ プレースホルダー 2">
            <a:extLst>
              <a:ext uri="{FF2B5EF4-FFF2-40B4-BE49-F238E27FC236}">
                <a16:creationId xmlns:a16="http://schemas.microsoft.com/office/drawing/2014/main" id="{6732FAFF-2F84-02B2-A143-26D82A957277}"/>
              </a:ext>
            </a:extLst>
          </p:cNvPr>
          <p:cNvSpPr>
            <a:spLocks noGrp="1"/>
          </p:cNvSpPr>
          <p:nvPr>
            <p:ph idx="1"/>
          </p:nvPr>
        </p:nvSpPr>
        <p:spPr/>
        <p:txBody>
          <a:bodyPr/>
          <a:lstStyle/>
          <a:p>
            <a:pPr marL="0" indent="0">
              <a:buNone/>
            </a:pPr>
            <a:r>
              <a:rPr kumimoji="1" lang="ja-GB" altLang="en-US" dirty="0"/>
              <a:t>要求を満たすソフトウェアの定義に責任を負う</a:t>
            </a:r>
            <a:endParaRPr kumimoji="1" lang="en-US" altLang="ja-GB" dirty="0"/>
          </a:p>
          <a:p>
            <a:pPr lvl="1"/>
            <a:r>
              <a:rPr lang="ja-GB" altLang="en-US" dirty="0"/>
              <a:t>要件定義：要求に対して</a:t>
            </a:r>
            <a:r>
              <a:rPr lang="en-US" altLang="ja-GB" dirty="0"/>
              <a:t>IT</a:t>
            </a:r>
            <a:r>
              <a:rPr lang="ja-GB" altLang="en-US" dirty="0"/>
              <a:t>システムとして何が実現可能か取捨選択</a:t>
            </a:r>
            <a:endParaRPr kumimoji="1" lang="en-US" altLang="ja-GB" dirty="0"/>
          </a:p>
          <a:p>
            <a:pPr lvl="1"/>
            <a:r>
              <a:rPr kumimoji="1" lang="ja-GB" altLang="en-US" dirty="0"/>
              <a:t>システムテスト：何をすれば要求を満たす</a:t>
            </a:r>
            <a:r>
              <a:rPr lang="ja-GB" altLang="en-US" dirty="0"/>
              <a:t>システムを作れたことになるか検討</a:t>
            </a:r>
            <a:endParaRPr kumimoji="1" lang="en-US" altLang="ja-GB" dirty="0"/>
          </a:p>
          <a:p>
            <a:pPr lvl="1"/>
            <a:r>
              <a:rPr lang="ja-GB" altLang="en-US" dirty="0"/>
              <a:t>その他：予算，スケジュール，人員見積もり，コミュニケーション方法の確立</a:t>
            </a:r>
            <a:endParaRPr kumimoji="1" lang="ja-GB" altLang="en-US" dirty="0"/>
          </a:p>
        </p:txBody>
      </p:sp>
      <p:grpSp>
        <p:nvGrpSpPr>
          <p:cNvPr id="4" name="グループ化 3">
            <a:extLst>
              <a:ext uri="{FF2B5EF4-FFF2-40B4-BE49-F238E27FC236}">
                <a16:creationId xmlns:a16="http://schemas.microsoft.com/office/drawing/2014/main" id="{D3F796FD-18CA-736F-C8DF-F7EDBA9DEA0E}"/>
              </a:ext>
            </a:extLst>
          </p:cNvPr>
          <p:cNvGrpSpPr/>
          <p:nvPr/>
        </p:nvGrpSpPr>
        <p:grpSpPr>
          <a:xfrm>
            <a:off x="399355" y="3389564"/>
            <a:ext cx="8345289" cy="3007371"/>
            <a:chOff x="399355" y="2995864"/>
            <a:chExt cx="8345289" cy="3007371"/>
          </a:xfrm>
        </p:grpSpPr>
        <p:grpSp>
          <p:nvGrpSpPr>
            <p:cNvPr id="5" name="グループ化 4">
              <a:extLst>
                <a:ext uri="{FF2B5EF4-FFF2-40B4-BE49-F238E27FC236}">
                  <a16:creationId xmlns:a16="http://schemas.microsoft.com/office/drawing/2014/main" id="{E1C8088A-06DC-51B4-C305-E2DFEE023D16}"/>
                </a:ext>
              </a:extLst>
            </p:cNvPr>
            <p:cNvGrpSpPr/>
            <p:nvPr/>
          </p:nvGrpSpPr>
          <p:grpSpPr>
            <a:xfrm>
              <a:off x="399355" y="2995864"/>
              <a:ext cx="8345289" cy="3007371"/>
              <a:chOff x="353754" y="2995864"/>
              <a:chExt cx="8345289" cy="3007371"/>
            </a:xfrm>
          </p:grpSpPr>
          <p:cxnSp>
            <p:nvCxnSpPr>
              <p:cNvPr id="10" name="直線コネクタ 9">
                <a:extLst>
                  <a:ext uri="{FF2B5EF4-FFF2-40B4-BE49-F238E27FC236}">
                    <a16:creationId xmlns:a16="http://schemas.microsoft.com/office/drawing/2014/main" id="{B1FA7A46-D39E-8877-8D9C-65EEBE887AFC}"/>
                  </a:ext>
                </a:extLst>
              </p:cNvPr>
              <p:cNvCxnSpPr>
                <a:cxnSpLocks/>
                <a:stCxn id="20" idx="2"/>
                <a:endCxn id="16"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AEE66E50-7AFF-7829-2812-7A7A441A8A41}"/>
                  </a:ext>
                </a:extLst>
              </p:cNvPr>
              <p:cNvCxnSpPr>
                <a:cxnSpLocks/>
                <a:stCxn id="12" idx="2"/>
                <a:endCxn id="16"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2" name="角丸四角形 11">
                <a:extLst>
                  <a:ext uri="{FF2B5EF4-FFF2-40B4-BE49-F238E27FC236}">
                    <a16:creationId xmlns:a16="http://schemas.microsoft.com/office/drawing/2014/main" id="{572C7B60-F0D4-7D84-C4F4-D21AFEED315F}"/>
                  </a:ext>
                </a:extLst>
              </p:cNvPr>
              <p:cNvSpPr/>
              <p:nvPr/>
            </p:nvSpPr>
            <p:spPr>
              <a:xfrm>
                <a:off x="353754" y="299586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13" name="角丸四角形 12">
                <a:extLst>
                  <a:ext uri="{FF2B5EF4-FFF2-40B4-BE49-F238E27FC236}">
                    <a16:creationId xmlns:a16="http://schemas.microsoft.com/office/drawing/2014/main" id="{37C88CAA-89BA-F059-682F-E8C5A77161C5}"/>
                  </a:ext>
                </a:extLst>
              </p:cNvPr>
              <p:cNvSpPr/>
              <p:nvPr/>
            </p:nvSpPr>
            <p:spPr>
              <a:xfrm>
                <a:off x="980652" y="3672244"/>
                <a:ext cx="1656000" cy="43313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14" name="角丸四角形 13">
                <a:extLst>
                  <a:ext uri="{FF2B5EF4-FFF2-40B4-BE49-F238E27FC236}">
                    <a16:creationId xmlns:a16="http://schemas.microsoft.com/office/drawing/2014/main" id="{0F4B9A04-CBFF-ED7C-D008-75223B244BF2}"/>
                  </a:ext>
                </a:extLst>
              </p:cNvPr>
              <p:cNvSpPr/>
              <p:nvPr/>
            </p:nvSpPr>
            <p:spPr>
              <a:xfrm>
                <a:off x="1917514" y="425122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15" name="角丸四角形 14">
                <a:extLst>
                  <a:ext uri="{FF2B5EF4-FFF2-40B4-BE49-F238E27FC236}">
                    <a16:creationId xmlns:a16="http://schemas.microsoft.com/office/drawing/2014/main" id="{1C166DD9-AAB6-8EE3-F306-828396661352}"/>
                  </a:ext>
                </a:extLst>
              </p:cNvPr>
              <p:cNvSpPr/>
              <p:nvPr/>
            </p:nvSpPr>
            <p:spPr>
              <a:xfrm>
                <a:off x="2732583" y="4892788"/>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16" name="角丸四角形 15">
                <a:extLst>
                  <a:ext uri="{FF2B5EF4-FFF2-40B4-BE49-F238E27FC236}">
                    <a16:creationId xmlns:a16="http://schemas.microsoft.com/office/drawing/2014/main" id="{AF665993-52AB-5B82-924C-AF668C3B3B9D}"/>
                  </a:ext>
                </a:extLst>
              </p:cNvPr>
              <p:cNvSpPr/>
              <p:nvPr/>
            </p:nvSpPr>
            <p:spPr>
              <a:xfrm>
                <a:off x="3792530" y="5570099"/>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17" name="角丸四角形 16">
                <a:extLst>
                  <a:ext uri="{FF2B5EF4-FFF2-40B4-BE49-F238E27FC236}">
                    <a16:creationId xmlns:a16="http://schemas.microsoft.com/office/drawing/2014/main" id="{D5A0B9B1-45E6-7A4F-52DE-1C28CE630B0D}"/>
                  </a:ext>
                </a:extLst>
              </p:cNvPr>
              <p:cNvSpPr/>
              <p:nvPr/>
            </p:nvSpPr>
            <p:spPr>
              <a:xfrm>
                <a:off x="4852661" y="4892788"/>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18" name="角丸四角形 17">
                <a:extLst>
                  <a:ext uri="{FF2B5EF4-FFF2-40B4-BE49-F238E27FC236}">
                    <a16:creationId xmlns:a16="http://schemas.microsoft.com/office/drawing/2014/main" id="{F9CB2C89-EE66-785B-4152-3B67D3C10D3D}"/>
                  </a:ext>
                </a:extLst>
              </p:cNvPr>
              <p:cNvSpPr/>
              <p:nvPr/>
            </p:nvSpPr>
            <p:spPr>
              <a:xfrm>
                <a:off x="5531604" y="4249659"/>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19" name="角丸四角形 18">
                <a:extLst>
                  <a:ext uri="{FF2B5EF4-FFF2-40B4-BE49-F238E27FC236}">
                    <a16:creationId xmlns:a16="http://schemas.microsoft.com/office/drawing/2014/main" id="{BCFA1CAE-9119-707F-8A68-1CCA0D452DDE}"/>
                  </a:ext>
                </a:extLst>
              </p:cNvPr>
              <p:cNvSpPr/>
              <p:nvPr/>
            </p:nvSpPr>
            <p:spPr>
              <a:xfrm>
                <a:off x="6433604" y="3669897"/>
                <a:ext cx="1656000" cy="4331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20" name="角丸四角形 19">
                <a:extLst>
                  <a:ext uri="{FF2B5EF4-FFF2-40B4-BE49-F238E27FC236}">
                    <a16:creationId xmlns:a16="http://schemas.microsoft.com/office/drawing/2014/main" id="{CBDF789A-8EF4-B90B-F859-EAA2EF7506B6}"/>
                  </a:ext>
                </a:extLst>
              </p:cNvPr>
              <p:cNvSpPr/>
              <p:nvPr/>
            </p:nvSpPr>
            <p:spPr>
              <a:xfrm>
                <a:off x="7043043" y="299586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6" name="直線コネクタ 5">
              <a:extLst>
                <a:ext uri="{FF2B5EF4-FFF2-40B4-BE49-F238E27FC236}">
                  <a16:creationId xmlns:a16="http://schemas.microsoft.com/office/drawing/2014/main" id="{9552B58C-9BDD-427A-299F-A440125A03FC}"/>
                </a:ext>
              </a:extLst>
            </p:cNvPr>
            <p:cNvCxnSpPr>
              <a:cxnSpLocks/>
              <a:stCxn id="12" idx="3"/>
              <a:endCxn id="20" idx="1"/>
            </p:cNvCxnSpPr>
            <p:nvPr/>
          </p:nvCxnSpPr>
          <p:spPr>
            <a:xfrm>
              <a:off x="2055355" y="3212432"/>
              <a:ext cx="5033289"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438381E0-61F6-BD7D-A0E2-1135ED415E40}"/>
                </a:ext>
              </a:extLst>
            </p:cNvPr>
            <p:cNvCxnSpPr>
              <a:cxnSpLocks/>
              <a:stCxn id="13" idx="3"/>
              <a:endCxn id="19" idx="1"/>
            </p:cNvCxnSpPr>
            <p:nvPr/>
          </p:nvCxnSpPr>
          <p:spPr>
            <a:xfrm flipV="1">
              <a:off x="2682253" y="3886465"/>
              <a:ext cx="3796952" cy="2347"/>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D2BACB3-D539-CDA9-4056-DAA231AEC0AD}"/>
                </a:ext>
              </a:extLst>
            </p:cNvPr>
            <p:cNvCxnSpPr>
              <a:cxnSpLocks/>
              <a:stCxn id="14" idx="3"/>
              <a:endCxn id="18" idx="1"/>
            </p:cNvCxnSpPr>
            <p:nvPr/>
          </p:nvCxnSpPr>
          <p:spPr>
            <a:xfrm flipV="1">
              <a:off x="3619115" y="4466227"/>
              <a:ext cx="1958090" cy="1565"/>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58DAD1B-2A43-CF19-E056-BD85AAE3E31A}"/>
                </a:ext>
              </a:extLst>
            </p:cNvPr>
            <p:cNvCxnSpPr>
              <a:cxnSpLocks/>
              <a:stCxn id="15" idx="3"/>
              <a:endCxn id="17" idx="1"/>
            </p:cNvCxnSpPr>
            <p:nvPr/>
          </p:nvCxnSpPr>
          <p:spPr>
            <a:xfrm>
              <a:off x="4434184" y="5109356"/>
              <a:ext cx="464078"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939493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角丸四角形 20">
            <a:extLst>
              <a:ext uri="{FF2B5EF4-FFF2-40B4-BE49-F238E27FC236}">
                <a16:creationId xmlns:a16="http://schemas.microsoft.com/office/drawing/2014/main" id="{BECC6F2E-78AE-62A1-A530-43B18327C368}"/>
              </a:ext>
            </a:extLst>
          </p:cNvPr>
          <p:cNvSpPr/>
          <p:nvPr/>
        </p:nvSpPr>
        <p:spPr>
          <a:xfrm>
            <a:off x="158750" y="4584699"/>
            <a:ext cx="8826500" cy="1923469"/>
          </a:xfrm>
          <a:prstGeom prst="roundRect">
            <a:avLst>
              <a:gd name="adj" fmla="val 5219"/>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A72E2ED2-B847-3C5D-9B1A-96FB8CCD7606}"/>
              </a:ext>
            </a:extLst>
          </p:cNvPr>
          <p:cNvSpPr>
            <a:spLocks noGrp="1"/>
          </p:cNvSpPr>
          <p:nvPr>
            <p:ph type="title"/>
          </p:nvPr>
        </p:nvSpPr>
        <p:spPr/>
        <p:txBody>
          <a:bodyPr/>
          <a:lstStyle/>
          <a:p>
            <a:r>
              <a:rPr kumimoji="1" lang="ja-GB" altLang="en-US" dirty="0"/>
              <a:t>開発部門・</a:t>
            </a:r>
            <a:r>
              <a:rPr kumimoji="1" lang="en-US" altLang="ja-GB" dirty="0"/>
              <a:t>SI</a:t>
            </a:r>
            <a:r>
              <a:rPr kumimoji="1" lang="ja-GB" altLang="en-US" dirty="0"/>
              <a:t>企業の仕事</a:t>
            </a:r>
          </a:p>
        </p:txBody>
      </p:sp>
      <p:sp>
        <p:nvSpPr>
          <p:cNvPr id="3" name="コンテンツ プレースホルダー 2">
            <a:extLst>
              <a:ext uri="{FF2B5EF4-FFF2-40B4-BE49-F238E27FC236}">
                <a16:creationId xmlns:a16="http://schemas.microsoft.com/office/drawing/2014/main" id="{76E1F0EE-29DE-03C3-BE28-9E30E5633698}"/>
              </a:ext>
            </a:extLst>
          </p:cNvPr>
          <p:cNvSpPr>
            <a:spLocks noGrp="1"/>
          </p:cNvSpPr>
          <p:nvPr>
            <p:ph idx="1"/>
          </p:nvPr>
        </p:nvSpPr>
        <p:spPr/>
        <p:txBody>
          <a:bodyPr/>
          <a:lstStyle/>
          <a:p>
            <a:pPr marL="0" indent="0">
              <a:buNone/>
            </a:pPr>
            <a:r>
              <a:rPr kumimoji="1" lang="ja-GB" altLang="en-US" dirty="0"/>
              <a:t>定義通りに動くシステムを作る責任を負う</a:t>
            </a:r>
            <a:endParaRPr kumimoji="1" lang="en-US" altLang="ja-GB" dirty="0"/>
          </a:p>
          <a:p>
            <a:pPr lvl="1"/>
            <a:r>
              <a:rPr kumimoji="1" lang="ja-GB" altLang="en-US" dirty="0"/>
              <a:t>基本設計</a:t>
            </a:r>
            <a:r>
              <a:rPr lang="ja-GB" altLang="en-US" dirty="0"/>
              <a:t>，詳細設計：要件を計算機に実現可能な形に落とし込む</a:t>
            </a:r>
            <a:endParaRPr lang="en-US" altLang="ja-GB" dirty="0"/>
          </a:p>
          <a:p>
            <a:pPr lvl="1"/>
            <a:r>
              <a:rPr kumimoji="1" lang="ja-GB" altLang="en-US" dirty="0"/>
              <a:t>実装：プログラミングなど</a:t>
            </a:r>
            <a:endParaRPr kumimoji="1" lang="en-US" altLang="ja-GB" dirty="0"/>
          </a:p>
          <a:p>
            <a:pPr lvl="1"/>
            <a:r>
              <a:rPr lang="ja-GB" altLang="en-US" dirty="0"/>
              <a:t>単体テスト，連結テスト：実装が要件を満たしていることを確認する</a:t>
            </a:r>
            <a:endParaRPr kumimoji="1" lang="en-US" altLang="ja-GB" dirty="0"/>
          </a:p>
          <a:p>
            <a:pPr lvl="1"/>
            <a:endParaRPr kumimoji="1" lang="ja-GB" altLang="en-US" dirty="0"/>
          </a:p>
        </p:txBody>
      </p:sp>
      <p:grpSp>
        <p:nvGrpSpPr>
          <p:cNvPr id="4" name="グループ化 3">
            <a:extLst>
              <a:ext uri="{FF2B5EF4-FFF2-40B4-BE49-F238E27FC236}">
                <a16:creationId xmlns:a16="http://schemas.microsoft.com/office/drawing/2014/main" id="{4FF15710-1471-909B-0098-16F25E3F2BC6}"/>
              </a:ext>
            </a:extLst>
          </p:cNvPr>
          <p:cNvGrpSpPr/>
          <p:nvPr/>
        </p:nvGrpSpPr>
        <p:grpSpPr>
          <a:xfrm>
            <a:off x="399354" y="3389564"/>
            <a:ext cx="8345289" cy="3007371"/>
            <a:chOff x="399355" y="2995864"/>
            <a:chExt cx="8345289" cy="3007371"/>
          </a:xfrm>
        </p:grpSpPr>
        <p:grpSp>
          <p:nvGrpSpPr>
            <p:cNvPr id="5" name="グループ化 4">
              <a:extLst>
                <a:ext uri="{FF2B5EF4-FFF2-40B4-BE49-F238E27FC236}">
                  <a16:creationId xmlns:a16="http://schemas.microsoft.com/office/drawing/2014/main" id="{2E3F2222-D6E0-B814-B152-BEDF1747DC50}"/>
                </a:ext>
              </a:extLst>
            </p:cNvPr>
            <p:cNvGrpSpPr/>
            <p:nvPr/>
          </p:nvGrpSpPr>
          <p:grpSpPr>
            <a:xfrm>
              <a:off x="399355" y="2995864"/>
              <a:ext cx="8345289" cy="3007371"/>
              <a:chOff x="353754" y="2995864"/>
              <a:chExt cx="8345289" cy="3007371"/>
            </a:xfrm>
          </p:grpSpPr>
          <p:cxnSp>
            <p:nvCxnSpPr>
              <p:cNvPr id="10" name="直線コネクタ 9">
                <a:extLst>
                  <a:ext uri="{FF2B5EF4-FFF2-40B4-BE49-F238E27FC236}">
                    <a16:creationId xmlns:a16="http://schemas.microsoft.com/office/drawing/2014/main" id="{D61710CC-F555-0F89-D008-DC9D77F4B2B4}"/>
                  </a:ext>
                </a:extLst>
              </p:cNvPr>
              <p:cNvCxnSpPr>
                <a:cxnSpLocks/>
                <a:stCxn id="20" idx="2"/>
                <a:endCxn id="16"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43031ACD-C8C0-49B2-85FB-A9DD70961EE6}"/>
                  </a:ext>
                </a:extLst>
              </p:cNvPr>
              <p:cNvCxnSpPr>
                <a:cxnSpLocks/>
                <a:stCxn id="12" idx="2"/>
                <a:endCxn id="16"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2" name="角丸四角形 11">
                <a:extLst>
                  <a:ext uri="{FF2B5EF4-FFF2-40B4-BE49-F238E27FC236}">
                    <a16:creationId xmlns:a16="http://schemas.microsoft.com/office/drawing/2014/main" id="{6E0C2BDB-1B6E-6F19-EE62-539F8C279BB3}"/>
                  </a:ext>
                </a:extLst>
              </p:cNvPr>
              <p:cNvSpPr/>
              <p:nvPr/>
            </p:nvSpPr>
            <p:spPr>
              <a:xfrm>
                <a:off x="353754" y="299586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13" name="角丸四角形 12">
                <a:extLst>
                  <a:ext uri="{FF2B5EF4-FFF2-40B4-BE49-F238E27FC236}">
                    <a16:creationId xmlns:a16="http://schemas.microsoft.com/office/drawing/2014/main" id="{95D3012C-0022-39F5-358B-75917151237C}"/>
                  </a:ext>
                </a:extLst>
              </p:cNvPr>
              <p:cNvSpPr/>
              <p:nvPr/>
            </p:nvSpPr>
            <p:spPr>
              <a:xfrm>
                <a:off x="980652" y="367224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14" name="角丸四角形 13">
                <a:extLst>
                  <a:ext uri="{FF2B5EF4-FFF2-40B4-BE49-F238E27FC236}">
                    <a16:creationId xmlns:a16="http://schemas.microsoft.com/office/drawing/2014/main" id="{5A9E7B57-CD22-9971-D4D0-F0B556EE7BAC}"/>
                  </a:ext>
                </a:extLst>
              </p:cNvPr>
              <p:cNvSpPr/>
              <p:nvPr/>
            </p:nvSpPr>
            <p:spPr>
              <a:xfrm>
                <a:off x="1917514" y="4251224"/>
                <a:ext cx="1656000" cy="433136"/>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15" name="角丸四角形 14">
                <a:extLst>
                  <a:ext uri="{FF2B5EF4-FFF2-40B4-BE49-F238E27FC236}">
                    <a16:creationId xmlns:a16="http://schemas.microsoft.com/office/drawing/2014/main" id="{276F34A6-48C2-5B55-2E42-D5E74C40255A}"/>
                  </a:ext>
                </a:extLst>
              </p:cNvPr>
              <p:cNvSpPr/>
              <p:nvPr/>
            </p:nvSpPr>
            <p:spPr>
              <a:xfrm>
                <a:off x="2732583" y="4892788"/>
                <a:ext cx="1656000" cy="433136"/>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16" name="角丸四角形 15">
                <a:extLst>
                  <a:ext uri="{FF2B5EF4-FFF2-40B4-BE49-F238E27FC236}">
                    <a16:creationId xmlns:a16="http://schemas.microsoft.com/office/drawing/2014/main" id="{CFD91BF1-CB11-290F-10F4-B075408E2016}"/>
                  </a:ext>
                </a:extLst>
              </p:cNvPr>
              <p:cNvSpPr/>
              <p:nvPr/>
            </p:nvSpPr>
            <p:spPr>
              <a:xfrm>
                <a:off x="3792530" y="5570099"/>
                <a:ext cx="1656000" cy="43313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17" name="角丸四角形 16">
                <a:extLst>
                  <a:ext uri="{FF2B5EF4-FFF2-40B4-BE49-F238E27FC236}">
                    <a16:creationId xmlns:a16="http://schemas.microsoft.com/office/drawing/2014/main" id="{F53432CE-4067-AD25-E287-A980CA7A696A}"/>
                  </a:ext>
                </a:extLst>
              </p:cNvPr>
              <p:cNvSpPr/>
              <p:nvPr/>
            </p:nvSpPr>
            <p:spPr>
              <a:xfrm>
                <a:off x="4852661" y="4892788"/>
                <a:ext cx="1656000" cy="43313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18" name="角丸四角形 17">
                <a:extLst>
                  <a:ext uri="{FF2B5EF4-FFF2-40B4-BE49-F238E27FC236}">
                    <a16:creationId xmlns:a16="http://schemas.microsoft.com/office/drawing/2014/main" id="{63ECD8BC-2632-8B61-9716-10CE3D9E1EFE}"/>
                  </a:ext>
                </a:extLst>
              </p:cNvPr>
              <p:cNvSpPr/>
              <p:nvPr/>
            </p:nvSpPr>
            <p:spPr>
              <a:xfrm>
                <a:off x="5531604" y="4249659"/>
                <a:ext cx="1656000" cy="43313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19" name="角丸四角形 18">
                <a:extLst>
                  <a:ext uri="{FF2B5EF4-FFF2-40B4-BE49-F238E27FC236}">
                    <a16:creationId xmlns:a16="http://schemas.microsoft.com/office/drawing/2014/main" id="{9503CFCA-C4D9-4A22-C596-552E1576D3A7}"/>
                  </a:ext>
                </a:extLst>
              </p:cNvPr>
              <p:cNvSpPr/>
              <p:nvPr/>
            </p:nvSpPr>
            <p:spPr>
              <a:xfrm>
                <a:off x="6433604" y="3669897"/>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20" name="角丸四角形 19">
                <a:extLst>
                  <a:ext uri="{FF2B5EF4-FFF2-40B4-BE49-F238E27FC236}">
                    <a16:creationId xmlns:a16="http://schemas.microsoft.com/office/drawing/2014/main" id="{1556AE0D-4782-1F4E-20A1-1C44E8187D1B}"/>
                  </a:ext>
                </a:extLst>
              </p:cNvPr>
              <p:cNvSpPr/>
              <p:nvPr/>
            </p:nvSpPr>
            <p:spPr>
              <a:xfrm>
                <a:off x="7043043" y="2995864"/>
                <a:ext cx="1656000" cy="433136"/>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6" name="直線コネクタ 5">
              <a:extLst>
                <a:ext uri="{FF2B5EF4-FFF2-40B4-BE49-F238E27FC236}">
                  <a16:creationId xmlns:a16="http://schemas.microsoft.com/office/drawing/2014/main" id="{0E26A4B4-79E0-C6CD-5569-AD1BA2C1425B}"/>
                </a:ext>
              </a:extLst>
            </p:cNvPr>
            <p:cNvCxnSpPr>
              <a:cxnSpLocks/>
              <a:stCxn id="12" idx="3"/>
              <a:endCxn id="20" idx="1"/>
            </p:cNvCxnSpPr>
            <p:nvPr/>
          </p:nvCxnSpPr>
          <p:spPr>
            <a:xfrm>
              <a:off x="2055355" y="3212432"/>
              <a:ext cx="5033289"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1D65D0FD-F226-C56F-4A57-16A48C45F38D}"/>
                </a:ext>
              </a:extLst>
            </p:cNvPr>
            <p:cNvCxnSpPr>
              <a:cxnSpLocks/>
              <a:stCxn id="13" idx="3"/>
              <a:endCxn id="19" idx="1"/>
            </p:cNvCxnSpPr>
            <p:nvPr/>
          </p:nvCxnSpPr>
          <p:spPr>
            <a:xfrm flipV="1">
              <a:off x="2682253" y="3886465"/>
              <a:ext cx="3796952" cy="2347"/>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57BF4273-CC8A-9073-7508-8A853E67426A}"/>
                </a:ext>
              </a:extLst>
            </p:cNvPr>
            <p:cNvCxnSpPr>
              <a:cxnSpLocks/>
              <a:stCxn id="14" idx="3"/>
              <a:endCxn id="18" idx="1"/>
            </p:cNvCxnSpPr>
            <p:nvPr/>
          </p:nvCxnSpPr>
          <p:spPr>
            <a:xfrm flipV="1">
              <a:off x="3619115" y="4466227"/>
              <a:ext cx="1958090" cy="1565"/>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800805F-9399-12E6-1BA4-467BD0702ACF}"/>
                </a:ext>
              </a:extLst>
            </p:cNvPr>
            <p:cNvCxnSpPr>
              <a:cxnSpLocks/>
              <a:stCxn id="15" idx="3"/>
              <a:endCxn id="17" idx="1"/>
            </p:cNvCxnSpPr>
            <p:nvPr/>
          </p:nvCxnSpPr>
          <p:spPr>
            <a:xfrm>
              <a:off x="4434184" y="5109356"/>
              <a:ext cx="464078" cy="0"/>
            </a:xfrm>
            <a:prstGeom prst="line">
              <a:avLst/>
            </a:prstGeom>
            <a:ln w="28575">
              <a:solidFill>
                <a:schemeClr val="tx1">
                  <a:lumMod val="50000"/>
                  <a:lumOff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89730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3E7398-D730-2957-FC79-E5299C888556}"/>
              </a:ext>
            </a:extLst>
          </p:cNvPr>
          <p:cNvSpPr>
            <a:spLocks noGrp="1"/>
          </p:cNvSpPr>
          <p:nvPr>
            <p:ph type="title"/>
          </p:nvPr>
        </p:nvSpPr>
        <p:spPr/>
        <p:txBody>
          <a:bodyPr/>
          <a:lstStyle/>
          <a:p>
            <a:r>
              <a:rPr kumimoji="1" lang="ja-GB" altLang="en-US" dirty="0"/>
              <a:t>要件定義の重要性</a:t>
            </a:r>
          </a:p>
        </p:txBody>
      </p:sp>
      <p:sp>
        <p:nvSpPr>
          <p:cNvPr id="3" name="コンテンツ プレースホルダー 2">
            <a:extLst>
              <a:ext uri="{FF2B5EF4-FFF2-40B4-BE49-F238E27FC236}">
                <a16:creationId xmlns:a16="http://schemas.microsoft.com/office/drawing/2014/main" id="{01BF3A80-1485-F8FE-5B57-899336F6AAB4}"/>
              </a:ext>
            </a:extLst>
          </p:cNvPr>
          <p:cNvSpPr>
            <a:spLocks noGrp="1"/>
          </p:cNvSpPr>
          <p:nvPr>
            <p:ph idx="1"/>
          </p:nvPr>
        </p:nvSpPr>
        <p:spPr/>
        <p:txBody>
          <a:bodyPr/>
          <a:lstStyle/>
          <a:p>
            <a:pPr marL="0" indent="0">
              <a:buNone/>
            </a:pPr>
            <a:r>
              <a:rPr lang="ja-GB" altLang="en-US" dirty="0"/>
              <a:t>開発企業と発注企業では，仕事の目標</a:t>
            </a:r>
            <a:r>
              <a:rPr kumimoji="1" lang="ja-GB" altLang="en-US" dirty="0"/>
              <a:t>が異なる</a:t>
            </a:r>
            <a:endParaRPr kumimoji="1" lang="en-US" altLang="ja-GB" dirty="0"/>
          </a:p>
          <a:p>
            <a:pPr marL="457200" lvl="1" indent="0">
              <a:buNone/>
            </a:pPr>
            <a:r>
              <a:rPr kumimoji="1" lang="ja-GB" altLang="en-US" dirty="0"/>
              <a:t>発注企業の成功：</a:t>
            </a:r>
            <a:r>
              <a:rPr lang="ja-GB" altLang="en-US" dirty="0"/>
              <a:t>導入されたシステムによる課題解決</a:t>
            </a:r>
            <a:endParaRPr lang="en-US" altLang="ja-GB" dirty="0"/>
          </a:p>
          <a:p>
            <a:pPr marL="914400" lvl="2" indent="0">
              <a:buNone/>
            </a:pPr>
            <a:r>
              <a:rPr kumimoji="1" lang="en-US" altLang="ja-GB" dirty="0"/>
              <a:t>→</a:t>
            </a:r>
            <a:r>
              <a:rPr kumimoji="1" lang="ja-GB" altLang="en-US" dirty="0"/>
              <a:t>受け入れテストの先にある</a:t>
            </a:r>
            <a:r>
              <a:rPr kumimoji="1" lang="ja-GB" altLang="en-US" dirty="0">
                <a:solidFill>
                  <a:srgbClr val="0070C0"/>
                </a:solidFill>
              </a:rPr>
              <a:t>利用者への価値提供</a:t>
            </a:r>
            <a:r>
              <a:rPr kumimoji="1" lang="ja-GB" altLang="en-US" dirty="0"/>
              <a:t>がゴール</a:t>
            </a:r>
            <a:endParaRPr kumimoji="1" lang="en-US" altLang="ja-GB" dirty="0"/>
          </a:p>
          <a:p>
            <a:pPr marL="457200" lvl="1" indent="0">
              <a:buNone/>
            </a:pPr>
            <a:r>
              <a:rPr lang="ja-GB" altLang="en-US" dirty="0"/>
              <a:t>開発企業の成功：要件定義に沿ったシステムの納入</a:t>
            </a:r>
            <a:endParaRPr lang="en-US" altLang="ja-GB" dirty="0"/>
          </a:p>
          <a:p>
            <a:pPr marL="914400" lvl="2" indent="0">
              <a:buNone/>
            </a:pPr>
            <a:r>
              <a:rPr lang="en-US" altLang="ja-GB" dirty="0">
                <a:solidFill>
                  <a:srgbClr val="2F2523"/>
                </a:solidFill>
              </a:rPr>
              <a:t>→</a:t>
            </a:r>
            <a:r>
              <a:rPr lang="ja-GB" altLang="en-US" dirty="0">
                <a:solidFill>
                  <a:srgbClr val="2F2523"/>
                </a:solidFill>
              </a:rPr>
              <a:t>システムテストの突破（</a:t>
            </a:r>
            <a:r>
              <a:rPr lang="ja-GB" altLang="en-US" dirty="0">
                <a:solidFill>
                  <a:srgbClr val="0070C0"/>
                </a:solidFill>
              </a:rPr>
              <a:t>発注企業の受け入れ</a:t>
            </a:r>
            <a:r>
              <a:rPr lang="ja-GB" altLang="en-US" dirty="0">
                <a:solidFill>
                  <a:srgbClr val="2F2523"/>
                </a:solidFill>
              </a:rPr>
              <a:t>）</a:t>
            </a:r>
            <a:r>
              <a:rPr lang="ja-GB" altLang="en-US" dirty="0"/>
              <a:t>がゴール</a:t>
            </a:r>
            <a:endParaRPr lang="en-US" altLang="ja-GB" dirty="0"/>
          </a:p>
          <a:p>
            <a:pPr lvl="1"/>
            <a:endParaRPr lang="en-US" altLang="ja-GB" dirty="0"/>
          </a:p>
          <a:p>
            <a:pPr lvl="1"/>
            <a:endParaRPr kumimoji="1" lang="en-US" altLang="ja-GB" dirty="0"/>
          </a:p>
        </p:txBody>
      </p:sp>
      <p:grpSp>
        <p:nvGrpSpPr>
          <p:cNvPr id="8" name="グループ化 7">
            <a:extLst>
              <a:ext uri="{FF2B5EF4-FFF2-40B4-BE49-F238E27FC236}">
                <a16:creationId xmlns:a16="http://schemas.microsoft.com/office/drawing/2014/main" id="{AD6C088D-ADD1-3C86-6DCF-B30F5A2B8281}"/>
              </a:ext>
            </a:extLst>
          </p:cNvPr>
          <p:cNvGrpSpPr/>
          <p:nvPr/>
        </p:nvGrpSpPr>
        <p:grpSpPr>
          <a:xfrm>
            <a:off x="484386" y="2711863"/>
            <a:ext cx="8345289" cy="3007371"/>
            <a:chOff x="353754" y="2995864"/>
            <a:chExt cx="8345289" cy="3007371"/>
          </a:xfrm>
          <a:solidFill>
            <a:schemeClr val="tx1">
              <a:lumMod val="65000"/>
              <a:lumOff val="35000"/>
            </a:schemeClr>
          </a:solidFill>
        </p:grpSpPr>
        <p:cxnSp>
          <p:nvCxnSpPr>
            <p:cNvPr id="12" name="直線コネクタ 11">
              <a:extLst>
                <a:ext uri="{FF2B5EF4-FFF2-40B4-BE49-F238E27FC236}">
                  <a16:creationId xmlns:a16="http://schemas.microsoft.com/office/drawing/2014/main" id="{812104EB-35D9-A528-895E-AD36DA5ACD31}"/>
                </a:ext>
              </a:extLst>
            </p:cNvPr>
            <p:cNvCxnSpPr>
              <a:cxnSpLocks/>
              <a:stCxn id="22" idx="2"/>
              <a:endCxn id="18" idx="0"/>
            </p:cNvCxnSpPr>
            <p:nvPr/>
          </p:nvCxnSpPr>
          <p:spPr>
            <a:xfrm flipH="1">
              <a:off x="4620530" y="3429000"/>
              <a:ext cx="3250513" cy="2141099"/>
            </a:xfrm>
            <a:prstGeom prst="line">
              <a:avLst/>
            </a:prstGeom>
            <a:grpFill/>
            <a:ln w="88900" cap="rnd">
              <a:solidFill>
                <a:srgbClr val="2F2523"/>
              </a:solidFill>
              <a:headEnd type="triangle"/>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B0E8488-AA76-8AEB-8B1D-B9075EE481A8}"/>
                </a:ext>
              </a:extLst>
            </p:cNvPr>
            <p:cNvCxnSpPr>
              <a:cxnSpLocks/>
              <a:stCxn id="14" idx="2"/>
              <a:endCxn id="18" idx="0"/>
            </p:cNvCxnSpPr>
            <p:nvPr/>
          </p:nvCxnSpPr>
          <p:spPr>
            <a:xfrm>
              <a:off x="1181754" y="3429000"/>
              <a:ext cx="3438776" cy="2141099"/>
            </a:xfrm>
            <a:prstGeom prst="line">
              <a:avLst/>
            </a:prstGeom>
            <a:grpFill/>
            <a:ln w="88900" cap="rnd">
              <a:solidFill>
                <a:srgbClr val="2F2523"/>
              </a:solidFill>
            </a:ln>
          </p:spPr>
          <p:style>
            <a:lnRef idx="1">
              <a:schemeClr val="accent1"/>
            </a:lnRef>
            <a:fillRef idx="0">
              <a:schemeClr val="accent1"/>
            </a:fillRef>
            <a:effectRef idx="0">
              <a:schemeClr val="accent1"/>
            </a:effectRef>
            <a:fontRef idx="minor">
              <a:schemeClr val="tx1"/>
            </a:fontRef>
          </p:style>
        </p:cxnSp>
        <p:sp>
          <p:nvSpPr>
            <p:cNvPr id="14" name="角丸四角形 13">
              <a:extLst>
                <a:ext uri="{FF2B5EF4-FFF2-40B4-BE49-F238E27FC236}">
                  <a16:creationId xmlns:a16="http://schemas.microsoft.com/office/drawing/2014/main" id="{6DDD7FF5-9BD1-5CF5-F18A-A083A46AD195}"/>
                </a:ext>
              </a:extLst>
            </p:cNvPr>
            <p:cNvSpPr/>
            <p:nvPr/>
          </p:nvSpPr>
          <p:spPr>
            <a:xfrm>
              <a:off x="353754" y="2995864"/>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15" name="角丸四角形 14">
              <a:extLst>
                <a:ext uri="{FF2B5EF4-FFF2-40B4-BE49-F238E27FC236}">
                  <a16:creationId xmlns:a16="http://schemas.microsoft.com/office/drawing/2014/main" id="{1D160E26-16E1-ADAB-1846-936EC212C98B}"/>
                </a:ext>
              </a:extLst>
            </p:cNvPr>
            <p:cNvSpPr/>
            <p:nvPr/>
          </p:nvSpPr>
          <p:spPr>
            <a:xfrm>
              <a:off x="980652" y="3672244"/>
              <a:ext cx="1656000" cy="433136"/>
            </a:xfrm>
            <a:prstGeom prst="roundRect">
              <a:avLst/>
            </a:prstGeom>
            <a:solidFill>
              <a:srgbClr val="0070C0"/>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16" name="角丸四角形 15">
              <a:extLst>
                <a:ext uri="{FF2B5EF4-FFF2-40B4-BE49-F238E27FC236}">
                  <a16:creationId xmlns:a16="http://schemas.microsoft.com/office/drawing/2014/main" id="{3B6F0EEB-F84E-C6D4-144A-9850E16E42D8}"/>
                </a:ext>
              </a:extLst>
            </p:cNvPr>
            <p:cNvSpPr/>
            <p:nvPr/>
          </p:nvSpPr>
          <p:spPr>
            <a:xfrm>
              <a:off x="1917514" y="4251224"/>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17" name="角丸四角形 16">
              <a:extLst>
                <a:ext uri="{FF2B5EF4-FFF2-40B4-BE49-F238E27FC236}">
                  <a16:creationId xmlns:a16="http://schemas.microsoft.com/office/drawing/2014/main" id="{FA74C610-5756-5FDE-A5F6-9489150BEB1A}"/>
                </a:ext>
              </a:extLst>
            </p:cNvPr>
            <p:cNvSpPr/>
            <p:nvPr/>
          </p:nvSpPr>
          <p:spPr>
            <a:xfrm>
              <a:off x="2732583" y="4892788"/>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18" name="角丸四角形 17">
              <a:extLst>
                <a:ext uri="{FF2B5EF4-FFF2-40B4-BE49-F238E27FC236}">
                  <a16:creationId xmlns:a16="http://schemas.microsoft.com/office/drawing/2014/main" id="{0B95CDA5-CCBA-6BAC-5D4C-7EEA0318D1F4}"/>
                </a:ext>
              </a:extLst>
            </p:cNvPr>
            <p:cNvSpPr/>
            <p:nvPr/>
          </p:nvSpPr>
          <p:spPr>
            <a:xfrm>
              <a:off x="3792530" y="5570099"/>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19" name="角丸四角形 18">
              <a:extLst>
                <a:ext uri="{FF2B5EF4-FFF2-40B4-BE49-F238E27FC236}">
                  <a16:creationId xmlns:a16="http://schemas.microsoft.com/office/drawing/2014/main" id="{3DC7F0C9-7E76-55D5-0CF5-87A2D60D9413}"/>
                </a:ext>
              </a:extLst>
            </p:cNvPr>
            <p:cNvSpPr/>
            <p:nvPr/>
          </p:nvSpPr>
          <p:spPr>
            <a:xfrm>
              <a:off x="4852661" y="4892788"/>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20" name="角丸四角形 19">
              <a:extLst>
                <a:ext uri="{FF2B5EF4-FFF2-40B4-BE49-F238E27FC236}">
                  <a16:creationId xmlns:a16="http://schemas.microsoft.com/office/drawing/2014/main" id="{E1841F12-2FCE-96A4-AC1D-DACCC4AE6C06}"/>
                </a:ext>
              </a:extLst>
            </p:cNvPr>
            <p:cNvSpPr/>
            <p:nvPr/>
          </p:nvSpPr>
          <p:spPr>
            <a:xfrm>
              <a:off x="5531604" y="4249659"/>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21" name="角丸四角形 20">
              <a:extLst>
                <a:ext uri="{FF2B5EF4-FFF2-40B4-BE49-F238E27FC236}">
                  <a16:creationId xmlns:a16="http://schemas.microsoft.com/office/drawing/2014/main" id="{1689CFE4-260A-63E4-1523-4C94CD9618D6}"/>
                </a:ext>
              </a:extLst>
            </p:cNvPr>
            <p:cNvSpPr/>
            <p:nvPr/>
          </p:nvSpPr>
          <p:spPr>
            <a:xfrm>
              <a:off x="6433604" y="3669897"/>
              <a:ext cx="1656000" cy="433136"/>
            </a:xfrm>
            <a:prstGeom prst="roundRect">
              <a:avLst/>
            </a:prstGeom>
            <a:solidFill>
              <a:schemeClr val="accent2"/>
            </a:solid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22" name="角丸四角形 21">
              <a:extLst>
                <a:ext uri="{FF2B5EF4-FFF2-40B4-BE49-F238E27FC236}">
                  <a16:creationId xmlns:a16="http://schemas.microsoft.com/office/drawing/2014/main" id="{DF47F3CD-650B-1190-1263-5B52046AF5B2}"/>
                </a:ext>
              </a:extLst>
            </p:cNvPr>
            <p:cNvSpPr/>
            <p:nvPr/>
          </p:nvSpPr>
          <p:spPr>
            <a:xfrm>
              <a:off x="7043043" y="2995864"/>
              <a:ext cx="1656000" cy="433136"/>
            </a:xfrm>
            <a:prstGeom prst="roundRect">
              <a:avLst/>
            </a:prstGeom>
            <a:grpFill/>
            <a:ln>
              <a:solidFill>
                <a:srgbClr val="2F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24" name="直線コネクタ 23">
            <a:extLst>
              <a:ext uri="{FF2B5EF4-FFF2-40B4-BE49-F238E27FC236}">
                <a16:creationId xmlns:a16="http://schemas.microsoft.com/office/drawing/2014/main" id="{8C535F96-63F0-CA6E-39BA-97EF8926101B}"/>
              </a:ext>
            </a:extLst>
          </p:cNvPr>
          <p:cNvCxnSpPr>
            <a:cxnSpLocks/>
          </p:cNvCxnSpPr>
          <p:nvPr/>
        </p:nvCxnSpPr>
        <p:spPr>
          <a:xfrm>
            <a:off x="393005" y="3911190"/>
            <a:ext cx="8436670" cy="0"/>
          </a:xfrm>
          <a:prstGeom prst="line">
            <a:avLst/>
          </a:prstGeom>
          <a:ln w="57150">
            <a:solidFill>
              <a:srgbClr val="2F2523"/>
            </a:solidFill>
            <a:prstDash val="sysDot"/>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46D2990F-D490-8310-C485-82720B2D25A2}"/>
              </a:ext>
            </a:extLst>
          </p:cNvPr>
          <p:cNvSpPr txBox="1"/>
          <p:nvPr/>
        </p:nvSpPr>
        <p:spPr>
          <a:xfrm>
            <a:off x="25789" y="6014189"/>
            <a:ext cx="9171101" cy="646331"/>
          </a:xfrm>
          <a:prstGeom prst="rect">
            <a:avLst/>
          </a:prstGeom>
          <a:noFill/>
        </p:spPr>
        <p:txBody>
          <a:bodyPr wrap="none" rtlCol="0">
            <a:spAutoFit/>
          </a:bodyPr>
          <a:lstStyle/>
          <a:p>
            <a:pPr algn="ctr"/>
            <a:r>
              <a:rPr kumimoji="1" lang="ja-GB" altLang="en-US" b="1" dirty="0">
                <a:solidFill>
                  <a:srgbClr val="002060"/>
                </a:solidFill>
              </a:rPr>
              <a:t>開発者の仕事は指示されたものを作ることが主であり，それは顧客の成功と同じでない</a:t>
            </a:r>
            <a:endParaRPr kumimoji="1" lang="en-US" altLang="ja-GB" b="1" dirty="0">
              <a:solidFill>
                <a:srgbClr val="002060"/>
              </a:solidFill>
            </a:endParaRPr>
          </a:p>
          <a:p>
            <a:pPr algn="ctr"/>
            <a:r>
              <a:rPr kumimoji="1" lang="en-US" altLang="ja-GB" b="1" dirty="0">
                <a:solidFill>
                  <a:srgbClr val="002060"/>
                </a:solidFill>
              </a:rPr>
              <a:t>→</a:t>
            </a:r>
            <a:r>
              <a:rPr kumimoji="1" lang="ja-GB" altLang="en-US" b="1" dirty="0">
                <a:solidFill>
                  <a:schemeClr val="accent2"/>
                </a:solidFill>
              </a:rPr>
              <a:t>正しく要件定義を行わない限り，正しいものは納入されない</a:t>
            </a:r>
          </a:p>
        </p:txBody>
      </p:sp>
    </p:spTree>
    <p:extLst>
      <p:ext uri="{BB962C8B-B14F-4D97-AF65-F5344CB8AC3E}">
        <p14:creationId xmlns:p14="http://schemas.microsoft.com/office/powerpoint/2010/main" val="270489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97DC4-0DB4-C80E-57A3-4CE708AFA0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D175E-3426-4F22-196A-4A9503F8F994}"/>
              </a:ext>
            </a:extLst>
          </p:cNvPr>
          <p:cNvSpPr>
            <a:spLocks noGrp="1"/>
          </p:cNvSpPr>
          <p:nvPr>
            <p:ph type="title"/>
          </p:nvPr>
        </p:nvSpPr>
        <p:spPr/>
        <p:txBody>
          <a:bodyPr/>
          <a:lstStyle/>
          <a:p>
            <a:r>
              <a:rPr lang="ja-GB" altLang="en-US" dirty="0"/>
              <a:t>第</a:t>
            </a:r>
            <a:r>
              <a:rPr lang="en-US" altLang="ja-GB" dirty="0"/>
              <a:t>5</a:t>
            </a:r>
            <a:r>
              <a:rPr lang="ja-GB" altLang="en-US" dirty="0"/>
              <a:t>回：問題を「計算機」に解ける形に整理する</a:t>
            </a:r>
            <a:endParaRPr kumimoji="1" lang="ja-GB" altLang="en-US" dirty="0"/>
          </a:p>
        </p:txBody>
      </p:sp>
      <p:sp>
        <p:nvSpPr>
          <p:cNvPr id="3" name="コンテンツ プレースホルダー 2">
            <a:extLst>
              <a:ext uri="{FF2B5EF4-FFF2-40B4-BE49-F238E27FC236}">
                <a16:creationId xmlns:a16="http://schemas.microsoft.com/office/drawing/2014/main" id="{DF432692-93E7-4171-C789-BA7B3DF59E4D}"/>
              </a:ext>
            </a:extLst>
          </p:cNvPr>
          <p:cNvSpPr>
            <a:spLocks noGrp="1"/>
          </p:cNvSpPr>
          <p:nvPr>
            <p:ph idx="1"/>
          </p:nvPr>
        </p:nvSpPr>
        <p:spPr/>
        <p:txBody>
          <a:bodyPr/>
          <a:lstStyle/>
          <a:p>
            <a:pPr marL="0" indent="0">
              <a:buNone/>
            </a:pPr>
            <a:r>
              <a:rPr lang="ja-GB" altLang="en-US" dirty="0">
                <a:solidFill>
                  <a:schemeClr val="tx1">
                    <a:lumMod val="50000"/>
                    <a:lumOff val="50000"/>
                  </a:schemeClr>
                </a:solidFill>
              </a:rPr>
              <a:t>本当の課題を見極め，役立つ</a:t>
            </a:r>
            <a:r>
              <a:rPr lang="en-US" altLang="ja-GB" dirty="0">
                <a:solidFill>
                  <a:schemeClr val="tx1">
                    <a:lumMod val="50000"/>
                    <a:lumOff val="50000"/>
                  </a:schemeClr>
                </a:solidFill>
              </a:rPr>
              <a:t>IT</a:t>
            </a:r>
            <a:r>
              <a:rPr lang="ja-GB" altLang="en-US" dirty="0">
                <a:solidFill>
                  <a:schemeClr val="tx1">
                    <a:lumMod val="50000"/>
                    <a:lumOff val="50000"/>
                  </a:schemeClr>
                </a:solidFill>
              </a:rPr>
              <a:t>システムを定義し，実装・検証する</a:t>
            </a:r>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企業がソフトウェアを発注・開発する流れ</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利用者がやりたいことを整理する</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発注者が</a:t>
            </a:r>
            <a:r>
              <a:rPr kumimoji="1" lang="ja-GB" altLang="en-US" dirty="0">
                <a:solidFill>
                  <a:schemeClr val="tx1">
                    <a:lumMod val="50000"/>
                    <a:lumOff val="50000"/>
                  </a:schemeClr>
                </a:solidFill>
              </a:rPr>
              <a:t>欲しいシステムを定義する</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開発者が定義通りに動くシステムを作って納入する</a:t>
            </a:r>
            <a:endParaRPr kumimoji="1" lang="en-US" altLang="ja-GB" dirty="0">
              <a:solidFill>
                <a:schemeClr val="tx1">
                  <a:lumMod val="50000"/>
                  <a:lumOff val="50000"/>
                </a:schemeClr>
              </a:solidFill>
            </a:endParaRPr>
          </a:p>
          <a:p>
            <a:pPr lvl="2"/>
            <a:endParaRPr kumimoji="1" lang="en-US" altLang="ja-GB" dirty="0"/>
          </a:p>
          <a:p>
            <a:pPr marL="914400" lvl="1" indent="-457200">
              <a:buFont typeface="+mj-lt"/>
              <a:buAutoNum type="arabicPeriod"/>
            </a:pPr>
            <a:r>
              <a:rPr kumimoji="1" lang="ja-GB" altLang="en-US" dirty="0">
                <a:solidFill>
                  <a:srgbClr val="002060"/>
                </a:solidFill>
              </a:rPr>
              <a:t>要件定義の仕方</a:t>
            </a:r>
            <a:endParaRPr kumimoji="1" lang="en-US" altLang="ja-GB" dirty="0">
              <a:solidFill>
                <a:srgbClr val="002060"/>
              </a:solidFill>
            </a:endParaRPr>
          </a:p>
          <a:p>
            <a:pPr lvl="2"/>
            <a:r>
              <a:rPr lang="ja-GB" altLang="en-US" dirty="0"/>
              <a:t>利用者の想像できるシステムが最善の解決策でない可能性に注意する</a:t>
            </a:r>
            <a:endParaRPr lang="en-US" altLang="ja-GB" dirty="0"/>
          </a:p>
          <a:p>
            <a:pPr lvl="2"/>
            <a:r>
              <a:rPr lang="ja-GB" altLang="en-US" dirty="0"/>
              <a:t>利用者のやりたいことを整理して，それを実現するには何が必要か考える</a:t>
            </a:r>
            <a:endParaRPr lang="en-US" altLang="ja-GB" dirty="0"/>
          </a:p>
          <a:p>
            <a:pPr lvl="2"/>
            <a:r>
              <a:rPr lang="ja-GB" altLang="en-US" dirty="0"/>
              <a:t>機能を細かく分割して，計算機にできることとすり合わせる</a:t>
            </a:r>
            <a:endParaRPr lang="en-US" altLang="ja-GB" dirty="0"/>
          </a:p>
          <a:p>
            <a:pPr lvl="2"/>
            <a:endParaRPr kumimoji="1" lang="en-US" altLang="ja-GB" dirty="0"/>
          </a:p>
          <a:p>
            <a:pPr marL="914400" lvl="1" indent="-457200">
              <a:buFont typeface="+mj-lt"/>
              <a:buAutoNum type="arabicPeriod"/>
            </a:pPr>
            <a:r>
              <a:rPr kumimoji="1" lang="ja-GB" altLang="en-US" dirty="0">
                <a:solidFill>
                  <a:schemeClr val="tx1">
                    <a:lumMod val="50000"/>
                    <a:lumOff val="50000"/>
                  </a:schemeClr>
                </a:solidFill>
              </a:rPr>
              <a:t>ソフトウェア開発モデル</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計画に沿って安全に開発する方法論（ウォーターフォール，</a:t>
            </a:r>
            <a:r>
              <a:rPr lang="en-US" altLang="ja-GB" dirty="0">
                <a:solidFill>
                  <a:schemeClr val="tx1">
                    <a:lumMod val="50000"/>
                    <a:lumOff val="50000"/>
                  </a:schemeClr>
                </a:solidFill>
              </a:rPr>
              <a:t>V</a:t>
            </a:r>
            <a:r>
              <a:rPr lang="ja-GB" altLang="en-US" dirty="0">
                <a:solidFill>
                  <a:schemeClr val="tx1">
                    <a:lumMod val="50000"/>
                    <a:lumOff val="50000"/>
                  </a:schemeClr>
                </a:solidFill>
              </a:rPr>
              <a:t>字モデルなど）</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開発しながら価値を見極める方法論（アジャイル，リーンスタートアップなど）</a:t>
            </a:r>
            <a:endParaRPr kumimoji="1" lang="en-US" altLang="ja-GB" dirty="0">
              <a:solidFill>
                <a:schemeClr val="tx1">
                  <a:lumMod val="50000"/>
                  <a:lumOff val="50000"/>
                </a:schemeClr>
              </a:solidFill>
            </a:endParaRPr>
          </a:p>
        </p:txBody>
      </p:sp>
    </p:spTree>
    <p:extLst>
      <p:ext uri="{BB962C8B-B14F-4D97-AF65-F5344CB8AC3E}">
        <p14:creationId xmlns:p14="http://schemas.microsoft.com/office/powerpoint/2010/main" val="30371250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1B3B82-5264-BC44-97A9-E5256BE180CD}"/>
              </a:ext>
            </a:extLst>
          </p:cNvPr>
          <p:cNvSpPr>
            <a:spLocks noGrp="1"/>
          </p:cNvSpPr>
          <p:nvPr>
            <p:ph type="title"/>
          </p:nvPr>
        </p:nvSpPr>
        <p:spPr/>
        <p:txBody>
          <a:bodyPr/>
          <a:lstStyle/>
          <a:p>
            <a:r>
              <a:rPr kumimoji="1" lang="ja-GB" altLang="en-US" dirty="0"/>
              <a:t>要件定義とは何か</a:t>
            </a:r>
          </a:p>
        </p:txBody>
      </p:sp>
      <p:sp>
        <p:nvSpPr>
          <p:cNvPr id="3" name="コンテンツ プレースホルダー 2">
            <a:extLst>
              <a:ext uri="{FF2B5EF4-FFF2-40B4-BE49-F238E27FC236}">
                <a16:creationId xmlns:a16="http://schemas.microsoft.com/office/drawing/2014/main" id="{AEEB2CF8-ABF6-5DBB-5677-F67C5DC06FE2}"/>
              </a:ext>
            </a:extLst>
          </p:cNvPr>
          <p:cNvSpPr>
            <a:spLocks noGrp="1"/>
          </p:cNvSpPr>
          <p:nvPr>
            <p:ph idx="1"/>
          </p:nvPr>
        </p:nvSpPr>
        <p:spPr/>
        <p:txBody>
          <a:bodyPr/>
          <a:lstStyle/>
          <a:p>
            <a:pPr marL="0" indent="0">
              <a:buNone/>
            </a:pPr>
            <a:r>
              <a:rPr kumimoji="1" lang="ja-GB" altLang="en-US" dirty="0"/>
              <a:t>やりたいことを整理して，それを実現するには何が必要か考える</a:t>
            </a:r>
            <a:endParaRPr kumimoji="1" lang="en-US" altLang="ja-GB" dirty="0"/>
          </a:p>
          <a:p>
            <a:pPr lvl="1"/>
            <a:r>
              <a:rPr lang="ja-GB" altLang="en-US" dirty="0"/>
              <a:t>小規模な案件や柔軟に顧客にニーズに対応する現代的な開発方式の場合，</a:t>
            </a:r>
            <a:br>
              <a:rPr lang="en-US" altLang="ja-GB" dirty="0"/>
            </a:br>
            <a:r>
              <a:rPr lang="ja-GB" altLang="en-US" dirty="0"/>
              <a:t>開発企業と発注企業は</a:t>
            </a:r>
            <a:r>
              <a:rPr lang="en-US" altLang="ja-GB" dirty="0"/>
              <a:t>V</a:t>
            </a:r>
            <a:r>
              <a:rPr lang="ja-GB" altLang="en-US" dirty="0"/>
              <a:t>字モデルよりも密に連携する</a:t>
            </a:r>
            <a:endParaRPr lang="en-US" altLang="ja-GB" dirty="0"/>
          </a:p>
          <a:p>
            <a:pPr lvl="1"/>
            <a:r>
              <a:rPr lang="ja-GB" altLang="en-US" dirty="0"/>
              <a:t>実際</a:t>
            </a:r>
            <a:r>
              <a:rPr kumimoji="1" lang="ja-GB" altLang="en-US" dirty="0"/>
              <a:t>には，要求分析と要件定義をまとめて「要件定義」とすることが多い</a:t>
            </a:r>
            <a:endParaRPr kumimoji="1" lang="en-US" altLang="ja-GB" dirty="0"/>
          </a:p>
          <a:p>
            <a:pPr lvl="1"/>
            <a:endParaRPr kumimoji="1" lang="en-US" altLang="ja-GB" dirty="0"/>
          </a:p>
          <a:p>
            <a:pPr lvl="1"/>
            <a:endParaRPr kumimoji="1" lang="ja-GB" altLang="en-US" dirty="0"/>
          </a:p>
        </p:txBody>
      </p:sp>
      <p:cxnSp>
        <p:nvCxnSpPr>
          <p:cNvPr id="24" name="直線コネクタ 23">
            <a:extLst>
              <a:ext uri="{FF2B5EF4-FFF2-40B4-BE49-F238E27FC236}">
                <a16:creationId xmlns:a16="http://schemas.microsoft.com/office/drawing/2014/main" id="{822D351D-F007-56D8-0AEB-CAE3C5A72C32}"/>
              </a:ext>
            </a:extLst>
          </p:cNvPr>
          <p:cNvCxnSpPr>
            <a:cxnSpLocks/>
            <a:stCxn id="6" idx="1"/>
            <a:endCxn id="4" idx="3"/>
          </p:cNvCxnSpPr>
          <p:nvPr/>
        </p:nvCxnSpPr>
        <p:spPr>
          <a:xfrm flipH="1">
            <a:off x="3700462" y="3776318"/>
            <a:ext cx="1743076" cy="1"/>
          </a:xfrm>
          <a:prstGeom prst="line">
            <a:avLst/>
          </a:prstGeom>
          <a:ln w="88900" cap="rnd">
            <a:gradFill flip="none" rotWithShape="1">
              <a:gsLst>
                <a:gs pos="0">
                  <a:schemeClr val="accent2">
                    <a:lumMod val="60000"/>
                    <a:lumOff val="40000"/>
                  </a:schemeClr>
                </a:gs>
                <a:gs pos="0">
                  <a:schemeClr val="accent2"/>
                </a:gs>
                <a:gs pos="100000">
                  <a:srgbClr val="0070C0"/>
                </a:gs>
                <a:gs pos="0">
                  <a:schemeClr val="accent2">
                    <a:lumMod val="50000"/>
                  </a:schemeClr>
                </a:gs>
              </a:gsLst>
              <a:lin ang="0" scaled="0"/>
              <a:tileRect/>
            </a:gra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1" name="グループ化 20">
            <a:extLst>
              <a:ext uri="{FF2B5EF4-FFF2-40B4-BE49-F238E27FC236}">
                <a16:creationId xmlns:a16="http://schemas.microsoft.com/office/drawing/2014/main" id="{8B2CB9F9-1CE0-87CA-EB36-A153F420AE69}"/>
              </a:ext>
            </a:extLst>
          </p:cNvPr>
          <p:cNvGrpSpPr/>
          <p:nvPr/>
        </p:nvGrpSpPr>
        <p:grpSpPr>
          <a:xfrm>
            <a:off x="1874665" y="3429000"/>
            <a:ext cx="5394670" cy="2408929"/>
            <a:chOff x="1874665" y="4047088"/>
            <a:chExt cx="5394670" cy="2408929"/>
          </a:xfrm>
        </p:grpSpPr>
        <p:sp>
          <p:nvSpPr>
            <p:cNvPr id="5" name="角丸四角形 4">
              <a:extLst>
                <a:ext uri="{FF2B5EF4-FFF2-40B4-BE49-F238E27FC236}">
                  <a16:creationId xmlns:a16="http://schemas.microsoft.com/office/drawing/2014/main" id="{2B4E473F-181C-9972-D715-342721A05D6E}"/>
                </a:ext>
              </a:extLst>
            </p:cNvPr>
            <p:cNvSpPr/>
            <p:nvPr/>
          </p:nvSpPr>
          <p:spPr>
            <a:xfrm>
              <a:off x="3659101" y="5761382"/>
              <a:ext cx="1825797" cy="694635"/>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6" name="角丸四角形 5">
              <a:extLst>
                <a:ext uri="{FF2B5EF4-FFF2-40B4-BE49-F238E27FC236}">
                  <a16:creationId xmlns:a16="http://schemas.microsoft.com/office/drawing/2014/main" id="{DA326C7C-A199-8C49-44EC-E139BE64E000}"/>
                </a:ext>
              </a:extLst>
            </p:cNvPr>
            <p:cNvSpPr/>
            <p:nvPr/>
          </p:nvSpPr>
          <p:spPr>
            <a:xfrm>
              <a:off x="5443538" y="4047088"/>
              <a:ext cx="1825797" cy="69463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br>
                <a:rPr kumimoji="1" lang="en-US" altLang="ja-GB" sz="1600" b="1" dirty="0"/>
              </a:br>
              <a:r>
                <a:rPr kumimoji="1" lang="ja-GB" altLang="en-US" sz="1600" b="1" dirty="0"/>
                <a:t>（検収）</a:t>
              </a:r>
            </a:p>
          </p:txBody>
        </p:sp>
        <p:cxnSp>
          <p:nvCxnSpPr>
            <p:cNvPr id="7" name="直線コネクタ 6">
              <a:extLst>
                <a:ext uri="{FF2B5EF4-FFF2-40B4-BE49-F238E27FC236}">
                  <a16:creationId xmlns:a16="http://schemas.microsoft.com/office/drawing/2014/main" id="{65E363CE-99DD-EFA2-FAB3-CF3E2B6FA2C6}"/>
                </a:ext>
              </a:extLst>
            </p:cNvPr>
            <p:cNvCxnSpPr>
              <a:cxnSpLocks/>
              <a:stCxn id="6" idx="2"/>
              <a:endCxn id="5" idx="0"/>
            </p:cNvCxnSpPr>
            <p:nvPr/>
          </p:nvCxnSpPr>
          <p:spPr>
            <a:xfrm flipH="1">
              <a:off x="4572000" y="4741723"/>
              <a:ext cx="1784437" cy="101965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A5727222-6598-719A-B3E1-FED9D1EDD4AB}"/>
                </a:ext>
              </a:extLst>
            </p:cNvPr>
            <p:cNvCxnSpPr>
              <a:cxnSpLocks/>
              <a:stCxn id="4" idx="2"/>
              <a:endCxn id="5" idx="0"/>
            </p:cNvCxnSpPr>
            <p:nvPr/>
          </p:nvCxnSpPr>
          <p:spPr>
            <a:xfrm>
              <a:off x="2787564" y="4741724"/>
              <a:ext cx="1784436" cy="1019658"/>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4" name="角丸四角形 3">
              <a:extLst>
                <a:ext uri="{FF2B5EF4-FFF2-40B4-BE49-F238E27FC236}">
                  <a16:creationId xmlns:a16="http://schemas.microsoft.com/office/drawing/2014/main" id="{10BC7E92-179F-7840-E2A5-9C63ECA6B9BD}"/>
                </a:ext>
              </a:extLst>
            </p:cNvPr>
            <p:cNvSpPr/>
            <p:nvPr/>
          </p:nvSpPr>
          <p:spPr>
            <a:xfrm>
              <a:off x="1874665" y="4047089"/>
              <a:ext cx="1825797" cy="694635"/>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grpSp>
    </p:spTree>
    <p:extLst>
      <p:ext uri="{BB962C8B-B14F-4D97-AF65-F5344CB8AC3E}">
        <p14:creationId xmlns:p14="http://schemas.microsoft.com/office/powerpoint/2010/main" val="1664518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E607B8-F125-0A54-5B50-9F1B63A79E71}"/>
              </a:ext>
            </a:extLst>
          </p:cNvPr>
          <p:cNvSpPr>
            <a:spLocks noGrp="1"/>
          </p:cNvSpPr>
          <p:nvPr>
            <p:ph type="title"/>
          </p:nvPr>
        </p:nvSpPr>
        <p:spPr/>
        <p:txBody>
          <a:bodyPr/>
          <a:lstStyle/>
          <a:p>
            <a:r>
              <a:rPr kumimoji="1" lang="ja-GB" altLang="en-US" dirty="0"/>
              <a:t>やりたいことを整理するのは難しい</a:t>
            </a:r>
          </a:p>
        </p:txBody>
      </p:sp>
      <p:sp>
        <p:nvSpPr>
          <p:cNvPr id="3" name="コンテンツ プレースホルダー 2">
            <a:extLst>
              <a:ext uri="{FF2B5EF4-FFF2-40B4-BE49-F238E27FC236}">
                <a16:creationId xmlns:a16="http://schemas.microsoft.com/office/drawing/2014/main" id="{50805609-98AD-65BD-EA42-FB3A42790B6E}"/>
              </a:ext>
            </a:extLst>
          </p:cNvPr>
          <p:cNvSpPr>
            <a:spLocks noGrp="1"/>
          </p:cNvSpPr>
          <p:nvPr>
            <p:ph idx="1"/>
          </p:nvPr>
        </p:nvSpPr>
        <p:spPr/>
        <p:txBody>
          <a:bodyPr/>
          <a:lstStyle/>
          <a:p>
            <a:pPr marL="0" indent="0">
              <a:buNone/>
            </a:pPr>
            <a:r>
              <a:rPr kumimoji="1" lang="ja-GB" altLang="en-US" dirty="0"/>
              <a:t>顧客にヒアリングして整理することの難しさ</a:t>
            </a:r>
            <a:endParaRPr kumimoji="1" lang="en-US" altLang="ja-GB" dirty="0"/>
          </a:p>
          <a:p>
            <a:pPr marL="457200" lvl="1" indent="0">
              <a:buNone/>
            </a:pPr>
            <a:r>
              <a:rPr kumimoji="1" lang="ja-GB" altLang="en-US" dirty="0">
                <a:solidFill>
                  <a:srgbClr val="0070C0"/>
                </a:solidFill>
              </a:rPr>
              <a:t>格言：ドリルを買いに来た人が欲しいのは，ドリルではなく穴である</a:t>
            </a:r>
            <a:endParaRPr kumimoji="1" lang="en-US" altLang="ja-GB" dirty="0">
              <a:solidFill>
                <a:srgbClr val="0070C0"/>
              </a:solidFill>
            </a:endParaRPr>
          </a:p>
          <a:p>
            <a:pPr marL="914400" lvl="2" indent="0">
              <a:buNone/>
            </a:pPr>
            <a:r>
              <a:rPr kumimoji="1" lang="ja-GB" altLang="en-US" dirty="0"/>
              <a:t>製品を提供するときは，顧客の真の目的を考えてサポートすることが重要</a:t>
            </a:r>
            <a:endParaRPr kumimoji="1" lang="en-US" altLang="ja-GB" dirty="0"/>
          </a:p>
          <a:p>
            <a:pPr marL="1371600" lvl="3"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1/4</a:t>
            </a:r>
            <a:r>
              <a:rPr kumimoji="1" lang="ja-GB" altLang="en-US" dirty="0">
                <a:solidFill>
                  <a:schemeClr val="tx1">
                    <a:lumMod val="50000"/>
                    <a:lumOff val="50000"/>
                  </a:schemeClr>
                </a:solidFill>
              </a:rPr>
              <a:t>インチのドリルが欲しいと言われたとき，顧客は</a:t>
            </a:r>
            <a:r>
              <a:rPr kumimoji="1" lang="en-US" altLang="ja-GB" dirty="0">
                <a:solidFill>
                  <a:schemeClr val="tx1">
                    <a:lumMod val="50000"/>
                    <a:lumOff val="50000"/>
                  </a:schemeClr>
                </a:solidFill>
              </a:rPr>
              <a:t>1/4</a:t>
            </a:r>
            <a:r>
              <a:rPr kumimoji="1" lang="ja-GB" altLang="en-US" dirty="0">
                <a:solidFill>
                  <a:schemeClr val="tx1">
                    <a:lumMod val="50000"/>
                    <a:lumOff val="50000"/>
                  </a:schemeClr>
                </a:solidFill>
              </a:rPr>
              <a:t>インチの穴を開けたい．</a:t>
            </a:r>
            <a:br>
              <a:rPr kumimoji="1" lang="en-US" altLang="ja-GB" dirty="0">
                <a:solidFill>
                  <a:schemeClr val="tx1">
                    <a:lumMod val="50000"/>
                    <a:lumOff val="50000"/>
                  </a:schemeClr>
                </a:solidFill>
              </a:rPr>
            </a:br>
            <a:r>
              <a:rPr kumimoji="1" lang="ja-JP" altLang="en-US">
                <a:solidFill>
                  <a:schemeClr val="tx1">
                    <a:lumMod val="50000"/>
                    <a:lumOff val="50000"/>
                  </a:schemeClr>
                </a:solidFill>
              </a:rPr>
              <a:t>　　</a:t>
            </a:r>
            <a:r>
              <a:rPr kumimoji="1" lang="ja-GB" altLang="en-US" dirty="0">
                <a:solidFill>
                  <a:schemeClr val="tx1">
                    <a:lumMod val="50000"/>
                    <a:lumOff val="50000"/>
                  </a:schemeClr>
                </a:solidFill>
              </a:rPr>
              <a:t>その目的は絵を掛けるためかもしれない．そしてその目的は，部屋を美しく飾り</a:t>
            </a:r>
            <a:br>
              <a:rPr kumimoji="1" lang="en-US" altLang="ja-GB" dirty="0">
                <a:solidFill>
                  <a:schemeClr val="tx1">
                    <a:lumMod val="50000"/>
                    <a:lumOff val="50000"/>
                  </a:schemeClr>
                </a:solidFill>
              </a:rPr>
            </a:br>
            <a:r>
              <a:rPr kumimoji="1" lang="ja-JP" altLang="en-US">
                <a:solidFill>
                  <a:schemeClr val="tx1">
                    <a:lumMod val="50000"/>
                    <a:lumOff val="50000"/>
                  </a:schemeClr>
                </a:solidFill>
              </a:rPr>
              <a:t>　　</a:t>
            </a:r>
            <a:r>
              <a:rPr kumimoji="1" lang="ja-GB" altLang="en-US" dirty="0">
                <a:solidFill>
                  <a:schemeClr val="tx1">
                    <a:lumMod val="50000"/>
                    <a:lumOff val="50000"/>
                  </a:schemeClr>
                </a:solidFill>
              </a:rPr>
              <a:t>たいのかもしれないし，本を置く棚が欲しいのかもしれない</a:t>
            </a:r>
            <a:endParaRPr kumimoji="1" lang="en-US" altLang="ja-GB" dirty="0">
              <a:solidFill>
                <a:schemeClr val="tx1">
                  <a:lumMod val="50000"/>
                  <a:lumOff val="50000"/>
                </a:schemeClr>
              </a:solidFill>
            </a:endParaRPr>
          </a:p>
          <a:p>
            <a:pPr marL="914400" lvl="2" indent="0">
              <a:buNone/>
            </a:pPr>
            <a:r>
              <a:rPr lang="ja-GB" altLang="en-US" dirty="0"/>
              <a:t>本当の目的を知るためには，顧客にきちんとヒアリングをすることが重要</a:t>
            </a:r>
            <a:endParaRPr lang="en-US" altLang="ja-GB" dirty="0"/>
          </a:p>
          <a:p>
            <a:pPr lvl="2"/>
            <a:endParaRPr kumimoji="1" lang="en-US" altLang="ja-GB" dirty="0"/>
          </a:p>
          <a:p>
            <a:pPr marL="457200" lvl="1" indent="0">
              <a:buNone/>
            </a:pPr>
            <a:endParaRPr kumimoji="1" lang="ja-GB" altLang="en-US" dirty="0"/>
          </a:p>
        </p:txBody>
      </p:sp>
      <p:grpSp>
        <p:nvGrpSpPr>
          <p:cNvPr id="21" name="グループ化 20">
            <a:extLst>
              <a:ext uri="{FF2B5EF4-FFF2-40B4-BE49-F238E27FC236}">
                <a16:creationId xmlns:a16="http://schemas.microsoft.com/office/drawing/2014/main" id="{6D5F681B-E53D-83B4-7B90-1B8CD146B497}"/>
              </a:ext>
            </a:extLst>
          </p:cNvPr>
          <p:cNvGrpSpPr/>
          <p:nvPr/>
        </p:nvGrpSpPr>
        <p:grpSpPr>
          <a:xfrm>
            <a:off x="177329" y="3142858"/>
            <a:ext cx="7869175" cy="3374928"/>
            <a:chOff x="40334" y="3071607"/>
            <a:chExt cx="7869175" cy="3374928"/>
          </a:xfrm>
        </p:grpSpPr>
        <p:sp>
          <p:nvSpPr>
            <p:cNvPr id="4" name="正方形/長方形 3">
              <a:extLst>
                <a:ext uri="{FF2B5EF4-FFF2-40B4-BE49-F238E27FC236}">
                  <a16:creationId xmlns:a16="http://schemas.microsoft.com/office/drawing/2014/main" id="{87B4E8F3-2E4A-D234-2CD3-8BF5F392F344}"/>
                </a:ext>
              </a:extLst>
            </p:cNvPr>
            <p:cNvSpPr/>
            <p:nvPr/>
          </p:nvSpPr>
          <p:spPr>
            <a:xfrm>
              <a:off x="4572000" y="3071607"/>
              <a:ext cx="3337509"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883973C3-5459-E710-30E0-B027329A1240}"/>
                </a:ext>
              </a:extLst>
            </p:cNvPr>
            <p:cNvSpPr/>
            <p:nvPr/>
          </p:nvSpPr>
          <p:spPr>
            <a:xfrm>
              <a:off x="2362482" y="3071607"/>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0EF43250-666B-12FD-9D40-0CC00431EF3C}"/>
                </a:ext>
              </a:extLst>
            </p:cNvPr>
            <p:cNvSpPr txBox="1"/>
            <p:nvPr/>
          </p:nvSpPr>
          <p:spPr>
            <a:xfrm>
              <a:off x="2555751" y="3373959"/>
              <a:ext cx="1338828" cy="369332"/>
            </a:xfrm>
            <a:prstGeom prst="rect">
              <a:avLst/>
            </a:prstGeom>
            <a:noFill/>
          </p:spPr>
          <p:txBody>
            <a:bodyPr wrap="none" rtlCol="0">
              <a:spAutoFit/>
            </a:bodyPr>
            <a:lstStyle/>
            <a:p>
              <a:pPr algn="ctr"/>
              <a:r>
                <a:rPr kumimoji="1" lang="ja-GB" altLang="en-US" dirty="0"/>
                <a:t>顧客の現状</a:t>
              </a:r>
            </a:p>
          </p:txBody>
        </p:sp>
        <p:sp>
          <p:nvSpPr>
            <p:cNvPr id="7" name="テキスト ボックス 6">
              <a:extLst>
                <a:ext uri="{FF2B5EF4-FFF2-40B4-BE49-F238E27FC236}">
                  <a16:creationId xmlns:a16="http://schemas.microsoft.com/office/drawing/2014/main" id="{411336A7-6CE6-E448-504C-50A6A7FE3D62}"/>
                </a:ext>
              </a:extLst>
            </p:cNvPr>
            <p:cNvSpPr txBox="1"/>
            <p:nvPr/>
          </p:nvSpPr>
          <p:spPr>
            <a:xfrm>
              <a:off x="2555748" y="5556495"/>
              <a:ext cx="1338828" cy="369332"/>
            </a:xfrm>
            <a:prstGeom prst="rect">
              <a:avLst/>
            </a:prstGeom>
            <a:noFill/>
          </p:spPr>
          <p:txBody>
            <a:bodyPr wrap="none" rtlCol="0">
              <a:spAutoFit/>
            </a:bodyPr>
            <a:lstStyle/>
            <a:p>
              <a:pPr algn="ctr"/>
              <a:r>
                <a:rPr kumimoji="1" lang="ja-GB" altLang="en-US" dirty="0"/>
                <a:t>顧客の目的</a:t>
              </a:r>
            </a:p>
          </p:txBody>
        </p:sp>
        <p:sp>
          <p:nvSpPr>
            <p:cNvPr id="8" name="テキスト ボックス 7">
              <a:extLst>
                <a:ext uri="{FF2B5EF4-FFF2-40B4-BE49-F238E27FC236}">
                  <a16:creationId xmlns:a16="http://schemas.microsoft.com/office/drawing/2014/main" id="{6C352E10-FBC2-B12D-FE90-5CA3D4EBCDAA}"/>
                </a:ext>
              </a:extLst>
            </p:cNvPr>
            <p:cNvSpPr txBox="1"/>
            <p:nvPr/>
          </p:nvSpPr>
          <p:spPr>
            <a:xfrm>
              <a:off x="5555359" y="3373959"/>
              <a:ext cx="646331" cy="369332"/>
            </a:xfrm>
            <a:prstGeom prst="rect">
              <a:avLst/>
            </a:prstGeom>
            <a:noFill/>
          </p:spPr>
          <p:txBody>
            <a:bodyPr wrap="none" rtlCol="0">
              <a:spAutoFit/>
            </a:bodyPr>
            <a:lstStyle/>
            <a:p>
              <a:pPr algn="ctr"/>
              <a:r>
                <a:rPr kumimoji="1" lang="ja-GB" altLang="en-US" b="1" dirty="0"/>
                <a:t>問題</a:t>
              </a:r>
            </a:p>
          </p:txBody>
        </p:sp>
        <p:sp>
          <p:nvSpPr>
            <p:cNvPr id="9" name="テキスト ボックス 8">
              <a:extLst>
                <a:ext uri="{FF2B5EF4-FFF2-40B4-BE49-F238E27FC236}">
                  <a16:creationId xmlns:a16="http://schemas.microsoft.com/office/drawing/2014/main" id="{9C58F546-9D03-98FB-9A7C-47AD062CEE6F}"/>
                </a:ext>
              </a:extLst>
            </p:cNvPr>
            <p:cNvSpPr txBox="1"/>
            <p:nvPr/>
          </p:nvSpPr>
          <p:spPr>
            <a:xfrm>
              <a:off x="5555356" y="5556495"/>
              <a:ext cx="646331" cy="369332"/>
            </a:xfrm>
            <a:prstGeom prst="rect">
              <a:avLst/>
            </a:prstGeom>
            <a:noFill/>
          </p:spPr>
          <p:txBody>
            <a:bodyPr wrap="none" rtlCol="0">
              <a:spAutoFit/>
            </a:bodyPr>
            <a:lstStyle/>
            <a:p>
              <a:pPr algn="ctr"/>
              <a:r>
                <a:rPr kumimoji="1" lang="ja-GB" altLang="en-US" b="1" dirty="0"/>
                <a:t>解決</a:t>
              </a:r>
            </a:p>
          </p:txBody>
        </p:sp>
        <p:cxnSp>
          <p:nvCxnSpPr>
            <p:cNvPr id="10" name="直線矢印コネクタ 9">
              <a:extLst>
                <a:ext uri="{FF2B5EF4-FFF2-40B4-BE49-F238E27FC236}">
                  <a16:creationId xmlns:a16="http://schemas.microsoft.com/office/drawing/2014/main" id="{897D5B64-1D43-4205-4470-1F49CAC5D165}"/>
                </a:ext>
              </a:extLst>
            </p:cNvPr>
            <p:cNvCxnSpPr>
              <a:cxnSpLocks/>
              <a:stCxn id="6" idx="3"/>
              <a:endCxn id="8" idx="1"/>
            </p:cNvCxnSpPr>
            <p:nvPr/>
          </p:nvCxnSpPr>
          <p:spPr>
            <a:xfrm>
              <a:off x="3894579" y="3558625"/>
              <a:ext cx="1660780"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D13AA004-DC92-1BEA-DB0D-917BE20EB938}"/>
                </a:ext>
              </a:extLst>
            </p:cNvPr>
            <p:cNvCxnSpPr>
              <a:cxnSpLocks/>
              <a:stCxn id="8" idx="2"/>
              <a:endCxn id="9" idx="0"/>
            </p:cNvCxnSpPr>
            <p:nvPr/>
          </p:nvCxnSpPr>
          <p:spPr>
            <a:xfrm flipH="1">
              <a:off x="5878522" y="3743291"/>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97C3184-AAC9-38F0-0FFE-1C46EFB5AF7E}"/>
                </a:ext>
              </a:extLst>
            </p:cNvPr>
            <p:cNvCxnSpPr>
              <a:cxnSpLocks/>
              <a:stCxn id="9" idx="1"/>
              <a:endCxn id="7" idx="3"/>
            </p:cNvCxnSpPr>
            <p:nvPr/>
          </p:nvCxnSpPr>
          <p:spPr>
            <a:xfrm flipH="1">
              <a:off x="3894576" y="5741161"/>
              <a:ext cx="1660780"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26CEC20-D6E5-1D67-9143-0928C7201B25}"/>
                </a:ext>
              </a:extLst>
            </p:cNvPr>
            <p:cNvCxnSpPr>
              <a:cxnSpLocks/>
              <a:stCxn id="6" idx="2"/>
              <a:endCxn id="7" idx="0"/>
            </p:cNvCxnSpPr>
            <p:nvPr/>
          </p:nvCxnSpPr>
          <p:spPr>
            <a:xfrm flipH="1">
              <a:off x="3225162" y="3743291"/>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80F6986D-B5F7-24FA-3550-2675EC5F8DAC}"/>
                </a:ext>
              </a:extLst>
            </p:cNvPr>
            <p:cNvSpPr txBox="1"/>
            <p:nvPr/>
          </p:nvSpPr>
          <p:spPr>
            <a:xfrm>
              <a:off x="40334" y="3404737"/>
              <a:ext cx="2331086" cy="584775"/>
            </a:xfrm>
            <a:prstGeom prst="rect">
              <a:avLst/>
            </a:prstGeom>
            <a:noFill/>
          </p:spPr>
          <p:txBody>
            <a:bodyPr wrap="none" rtlCol="0">
              <a:spAutoFit/>
            </a:bodyPr>
            <a:lstStyle/>
            <a:p>
              <a:pPr algn="ctr"/>
              <a:r>
                <a:rPr kumimoji="1" lang="ja-GB" altLang="en-US" sz="1600" b="1" dirty="0">
                  <a:solidFill>
                    <a:schemeClr val="tx1">
                      <a:lumMod val="50000"/>
                      <a:lumOff val="50000"/>
                    </a:schemeClr>
                  </a:solidFill>
                </a:rPr>
                <a:t>本が部屋に溢れている</a:t>
              </a:r>
              <a:r>
                <a:rPr kumimoji="1" lang="en-US" altLang="ja-GB" sz="1600" b="1" dirty="0">
                  <a:solidFill>
                    <a:schemeClr val="tx1">
                      <a:lumMod val="50000"/>
                      <a:lumOff val="50000"/>
                    </a:schemeClr>
                  </a:solidFill>
                </a:rPr>
                <a:t>?</a:t>
              </a:r>
            </a:p>
            <a:p>
              <a:pPr algn="ctr"/>
              <a:r>
                <a:rPr kumimoji="1" lang="ja-GB" altLang="en-US" sz="1600" b="1" dirty="0">
                  <a:solidFill>
                    <a:schemeClr val="tx1">
                      <a:lumMod val="50000"/>
                      <a:lumOff val="50000"/>
                    </a:schemeClr>
                  </a:solidFill>
                </a:rPr>
                <a:t>部屋が味気ない</a:t>
              </a:r>
              <a:r>
                <a:rPr kumimoji="1" lang="en-US" altLang="ja-GB" sz="1600" b="1" dirty="0">
                  <a:solidFill>
                    <a:schemeClr val="tx1">
                      <a:lumMod val="50000"/>
                      <a:lumOff val="50000"/>
                    </a:schemeClr>
                  </a:solidFill>
                </a:rPr>
                <a:t>?</a:t>
              </a:r>
              <a:endParaRPr kumimoji="1" lang="ja-GB" altLang="en-US" sz="1600" b="1" dirty="0">
                <a:solidFill>
                  <a:schemeClr val="tx1">
                    <a:lumMod val="50000"/>
                    <a:lumOff val="50000"/>
                  </a:schemeClr>
                </a:solidFill>
              </a:endParaRPr>
            </a:p>
          </p:txBody>
        </p:sp>
        <p:sp>
          <p:nvSpPr>
            <p:cNvPr id="17" name="テキスト ボックス 16">
              <a:extLst>
                <a:ext uri="{FF2B5EF4-FFF2-40B4-BE49-F238E27FC236}">
                  <a16:creationId xmlns:a16="http://schemas.microsoft.com/office/drawing/2014/main" id="{040FD96A-421C-F505-48EB-C645F9E4CC71}"/>
                </a:ext>
              </a:extLst>
            </p:cNvPr>
            <p:cNvSpPr txBox="1"/>
            <p:nvPr/>
          </p:nvSpPr>
          <p:spPr>
            <a:xfrm>
              <a:off x="141078" y="5587273"/>
              <a:ext cx="2125903" cy="584775"/>
            </a:xfrm>
            <a:prstGeom prst="rect">
              <a:avLst/>
            </a:prstGeom>
            <a:noFill/>
          </p:spPr>
          <p:txBody>
            <a:bodyPr wrap="none" rtlCol="0">
              <a:spAutoFit/>
            </a:bodyPr>
            <a:lstStyle/>
            <a:p>
              <a:pPr algn="ctr"/>
              <a:r>
                <a:rPr kumimoji="1" lang="ja-GB" altLang="en-US" sz="1600" b="1" dirty="0">
                  <a:solidFill>
                    <a:schemeClr val="tx1">
                      <a:lumMod val="50000"/>
                      <a:lumOff val="50000"/>
                    </a:schemeClr>
                  </a:solidFill>
                </a:rPr>
                <a:t>壁に本を置きたい</a:t>
              </a:r>
              <a:r>
                <a:rPr kumimoji="1" lang="en-US" altLang="ja-GB" sz="1600" b="1" dirty="0">
                  <a:solidFill>
                    <a:schemeClr val="tx1">
                      <a:lumMod val="50000"/>
                      <a:lumOff val="50000"/>
                    </a:schemeClr>
                  </a:solidFill>
                </a:rPr>
                <a:t>?</a:t>
              </a:r>
            </a:p>
            <a:p>
              <a:pPr algn="ctr"/>
              <a:r>
                <a:rPr kumimoji="1" lang="ja-GB" altLang="en-US" sz="1600" b="1" dirty="0">
                  <a:solidFill>
                    <a:schemeClr val="tx1">
                      <a:lumMod val="50000"/>
                      <a:lumOff val="50000"/>
                    </a:schemeClr>
                  </a:solidFill>
                </a:rPr>
                <a:t>部屋に絵を飾りたい</a:t>
              </a:r>
              <a:r>
                <a:rPr kumimoji="1" lang="en-US" altLang="ja-GB" sz="1600" b="1" dirty="0">
                  <a:solidFill>
                    <a:schemeClr val="tx1">
                      <a:lumMod val="50000"/>
                      <a:lumOff val="50000"/>
                    </a:schemeClr>
                  </a:solidFill>
                </a:rPr>
                <a:t>?</a:t>
              </a:r>
              <a:endParaRPr kumimoji="1" lang="ja-GB" altLang="en-US" sz="1600" b="1" dirty="0">
                <a:solidFill>
                  <a:schemeClr val="tx1">
                    <a:lumMod val="50000"/>
                    <a:lumOff val="50000"/>
                  </a:schemeClr>
                </a:solidFill>
              </a:endParaRPr>
            </a:p>
          </p:txBody>
        </p:sp>
        <p:sp>
          <p:nvSpPr>
            <p:cNvPr id="18" name="テキスト ボックス 17">
              <a:extLst>
                <a:ext uri="{FF2B5EF4-FFF2-40B4-BE49-F238E27FC236}">
                  <a16:creationId xmlns:a16="http://schemas.microsoft.com/office/drawing/2014/main" id="{79CFA9C6-2D85-AB8C-E327-3E3295CB7BA6}"/>
                </a:ext>
              </a:extLst>
            </p:cNvPr>
            <p:cNvSpPr txBox="1"/>
            <p:nvPr/>
          </p:nvSpPr>
          <p:spPr>
            <a:xfrm>
              <a:off x="6185960" y="3862328"/>
              <a:ext cx="1415772" cy="338554"/>
            </a:xfrm>
            <a:prstGeom prst="rect">
              <a:avLst/>
            </a:prstGeom>
            <a:noFill/>
          </p:spPr>
          <p:txBody>
            <a:bodyPr wrap="none" rtlCol="0">
              <a:spAutoFit/>
            </a:bodyPr>
            <a:lstStyle/>
            <a:p>
              <a:pPr algn="ctr"/>
              <a:r>
                <a:rPr kumimoji="1" lang="ja-GB" altLang="en-US" sz="1600" b="1" dirty="0">
                  <a:solidFill>
                    <a:srgbClr val="0070C0"/>
                  </a:solidFill>
                </a:rPr>
                <a:t>ドリルが必要</a:t>
              </a:r>
            </a:p>
          </p:txBody>
        </p:sp>
        <p:sp>
          <p:nvSpPr>
            <p:cNvPr id="19" name="テキスト ボックス 18">
              <a:extLst>
                <a:ext uri="{FF2B5EF4-FFF2-40B4-BE49-F238E27FC236}">
                  <a16:creationId xmlns:a16="http://schemas.microsoft.com/office/drawing/2014/main" id="{16EFEE8C-1219-2F1D-4655-90176ECB65E4}"/>
                </a:ext>
              </a:extLst>
            </p:cNvPr>
            <p:cNvSpPr txBox="1"/>
            <p:nvPr/>
          </p:nvSpPr>
          <p:spPr>
            <a:xfrm>
              <a:off x="5878183" y="4432180"/>
              <a:ext cx="2031326" cy="338554"/>
            </a:xfrm>
            <a:prstGeom prst="rect">
              <a:avLst/>
            </a:prstGeom>
            <a:noFill/>
          </p:spPr>
          <p:txBody>
            <a:bodyPr wrap="none" rtlCol="0">
              <a:spAutoFit/>
            </a:bodyPr>
            <a:lstStyle/>
            <a:p>
              <a:pPr algn="ctr"/>
              <a:r>
                <a:rPr kumimoji="1" lang="ja-GB" altLang="en-US" sz="1600" b="1" dirty="0">
                  <a:solidFill>
                    <a:srgbClr val="0070C0"/>
                  </a:solidFill>
                </a:rPr>
                <a:t>ドリルで穴を開ける</a:t>
              </a:r>
            </a:p>
          </p:txBody>
        </p:sp>
        <p:sp>
          <p:nvSpPr>
            <p:cNvPr id="20" name="テキスト ボックス 19">
              <a:extLst>
                <a:ext uri="{FF2B5EF4-FFF2-40B4-BE49-F238E27FC236}">
                  <a16:creationId xmlns:a16="http://schemas.microsoft.com/office/drawing/2014/main" id="{26D37D04-7AE3-1833-2C05-9DC2D2B30B4E}"/>
                </a:ext>
              </a:extLst>
            </p:cNvPr>
            <p:cNvSpPr txBox="1"/>
            <p:nvPr/>
          </p:nvSpPr>
          <p:spPr>
            <a:xfrm>
              <a:off x="6185960" y="5002032"/>
              <a:ext cx="1415772" cy="338554"/>
            </a:xfrm>
            <a:prstGeom prst="rect">
              <a:avLst/>
            </a:prstGeom>
            <a:noFill/>
          </p:spPr>
          <p:txBody>
            <a:bodyPr wrap="none" rtlCol="0">
              <a:spAutoFit/>
            </a:bodyPr>
            <a:lstStyle/>
            <a:p>
              <a:pPr algn="ctr"/>
              <a:r>
                <a:rPr kumimoji="1" lang="ja-GB" altLang="en-US" sz="1600" b="1" dirty="0">
                  <a:solidFill>
                    <a:srgbClr val="0070C0"/>
                  </a:solidFill>
                </a:rPr>
                <a:t>壁に穴が開く</a:t>
              </a:r>
            </a:p>
          </p:txBody>
        </p:sp>
      </p:grpSp>
    </p:spTree>
    <p:extLst>
      <p:ext uri="{BB962C8B-B14F-4D97-AF65-F5344CB8AC3E}">
        <p14:creationId xmlns:p14="http://schemas.microsoft.com/office/powerpoint/2010/main" val="170682869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52799A-9289-8CEF-DDEF-4F2D3E2EF84E}"/>
              </a:ext>
            </a:extLst>
          </p:cNvPr>
          <p:cNvSpPr>
            <a:spLocks noGrp="1"/>
          </p:cNvSpPr>
          <p:nvPr>
            <p:ph type="title"/>
          </p:nvPr>
        </p:nvSpPr>
        <p:spPr/>
        <p:txBody>
          <a:bodyPr/>
          <a:lstStyle/>
          <a:p>
            <a:r>
              <a:rPr kumimoji="1" lang="en-US" altLang="ja-GB" dirty="0"/>
              <a:t>IT</a:t>
            </a:r>
            <a:r>
              <a:rPr kumimoji="1" lang="ja-GB" altLang="en-US" dirty="0"/>
              <a:t>システムのヒアリング</a:t>
            </a:r>
          </a:p>
        </p:txBody>
      </p:sp>
      <p:sp>
        <p:nvSpPr>
          <p:cNvPr id="3" name="コンテンツ プレースホルダー 2">
            <a:extLst>
              <a:ext uri="{FF2B5EF4-FFF2-40B4-BE49-F238E27FC236}">
                <a16:creationId xmlns:a16="http://schemas.microsoft.com/office/drawing/2014/main" id="{3632304B-E2F4-D9B3-4672-A3A75AF15698}"/>
              </a:ext>
            </a:extLst>
          </p:cNvPr>
          <p:cNvSpPr>
            <a:spLocks noGrp="1"/>
          </p:cNvSpPr>
          <p:nvPr>
            <p:ph idx="1"/>
          </p:nvPr>
        </p:nvSpPr>
        <p:spPr/>
        <p:txBody>
          <a:bodyPr/>
          <a:lstStyle/>
          <a:p>
            <a:pPr marL="0" indent="0">
              <a:buNone/>
            </a:pPr>
            <a:r>
              <a:rPr kumimoji="1" lang="en-US" altLang="ja-GB" dirty="0"/>
              <a:t>IT</a:t>
            </a:r>
            <a:r>
              <a:rPr kumimoji="1" lang="ja-GB" altLang="en-US" dirty="0"/>
              <a:t>システムは現場の問題解決のために作られる</a:t>
            </a:r>
            <a:endParaRPr kumimoji="1" lang="en-US" altLang="ja-GB" dirty="0"/>
          </a:p>
          <a:p>
            <a:pPr lvl="1"/>
            <a:r>
              <a:rPr lang="en-US" altLang="ja-GB" dirty="0"/>
              <a:t>IT</a:t>
            </a:r>
            <a:r>
              <a:rPr lang="ja-GB" altLang="en-US" dirty="0"/>
              <a:t>システムがどのような目的で必要とされているのかを知ることが重要</a:t>
            </a:r>
            <a:endParaRPr lang="en-US" altLang="ja-GB" dirty="0"/>
          </a:p>
          <a:p>
            <a:pPr lvl="1"/>
            <a:r>
              <a:rPr kumimoji="1" lang="ja-GB" altLang="en-US" dirty="0"/>
              <a:t>本当の問題を知るために各現場の様々な立場の視点を集める必要がある</a:t>
            </a:r>
            <a:endParaRPr kumimoji="1" lang="en-US" altLang="ja-GB" dirty="0"/>
          </a:p>
          <a:p>
            <a:pPr lvl="2"/>
            <a:r>
              <a:rPr lang="ja-GB" altLang="en-US" dirty="0"/>
              <a:t>要件定義や現場への導入に失敗すると，現実世界と情報世界が紐づかない</a:t>
            </a:r>
            <a:endParaRPr lang="en-US" altLang="ja-GB" dirty="0"/>
          </a:p>
          <a:p>
            <a:pPr marL="914400" lvl="2" indent="0">
              <a:buNone/>
            </a:pPr>
            <a:r>
              <a:rPr kumimoji="1" lang="ja-JP" altLang="en-US"/>
              <a:t>　</a:t>
            </a:r>
            <a:r>
              <a:rPr kumimoji="1" lang="en-US" altLang="ja-GB" dirty="0"/>
              <a:t>→IT</a:t>
            </a:r>
            <a:r>
              <a:rPr kumimoji="1" lang="ja-GB" altLang="en-US" dirty="0"/>
              <a:t>システムを作っても現場の問題は解決されない</a:t>
            </a:r>
          </a:p>
        </p:txBody>
      </p:sp>
      <p:grpSp>
        <p:nvGrpSpPr>
          <p:cNvPr id="20" name="グループ化 19">
            <a:extLst>
              <a:ext uri="{FF2B5EF4-FFF2-40B4-BE49-F238E27FC236}">
                <a16:creationId xmlns:a16="http://schemas.microsoft.com/office/drawing/2014/main" id="{AEAC4D4E-68D8-E668-A058-7313022F4A2C}"/>
              </a:ext>
            </a:extLst>
          </p:cNvPr>
          <p:cNvGrpSpPr/>
          <p:nvPr/>
        </p:nvGrpSpPr>
        <p:grpSpPr>
          <a:xfrm>
            <a:off x="1921528" y="2916582"/>
            <a:ext cx="5300943" cy="3786392"/>
            <a:chOff x="1928482" y="2941982"/>
            <a:chExt cx="5300943" cy="3786392"/>
          </a:xfrm>
        </p:grpSpPr>
        <p:sp>
          <p:nvSpPr>
            <p:cNvPr id="4" name="正方形/長方形 3">
              <a:extLst>
                <a:ext uri="{FF2B5EF4-FFF2-40B4-BE49-F238E27FC236}">
                  <a16:creationId xmlns:a16="http://schemas.microsoft.com/office/drawing/2014/main" id="{7AD45F56-3BDD-145E-1F9F-63EB9400732A}"/>
                </a:ext>
              </a:extLst>
            </p:cNvPr>
            <p:cNvSpPr/>
            <p:nvPr/>
          </p:nvSpPr>
          <p:spPr>
            <a:xfrm>
              <a:off x="4138000" y="2941982"/>
              <a:ext cx="3091425" cy="33749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C95FE1DF-7DB3-D3FB-58EF-C3EFEA866837}"/>
                </a:ext>
              </a:extLst>
            </p:cNvPr>
            <p:cNvSpPr/>
            <p:nvPr/>
          </p:nvSpPr>
          <p:spPr>
            <a:xfrm>
              <a:off x="1928482" y="2941982"/>
              <a:ext cx="2203201" cy="337492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9DEAC7BA-1445-849D-FB4A-BEF49F769A4E}"/>
                </a:ext>
              </a:extLst>
            </p:cNvPr>
            <p:cNvSpPr txBox="1"/>
            <p:nvPr/>
          </p:nvSpPr>
          <p:spPr>
            <a:xfrm>
              <a:off x="2290197" y="3244334"/>
              <a:ext cx="646331" cy="369332"/>
            </a:xfrm>
            <a:prstGeom prst="rect">
              <a:avLst/>
            </a:prstGeom>
            <a:noFill/>
          </p:spPr>
          <p:txBody>
            <a:bodyPr wrap="none" rtlCol="0">
              <a:spAutoFit/>
            </a:bodyPr>
            <a:lstStyle/>
            <a:p>
              <a:pPr algn="ctr"/>
              <a:r>
                <a:rPr kumimoji="1" lang="ja-GB" altLang="en-US" b="1" dirty="0"/>
                <a:t>現状</a:t>
              </a:r>
            </a:p>
          </p:txBody>
        </p:sp>
        <p:sp>
          <p:nvSpPr>
            <p:cNvPr id="7" name="テキスト ボックス 6">
              <a:extLst>
                <a:ext uri="{FF2B5EF4-FFF2-40B4-BE49-F238E27FC236}">
                  <a16:creationId xmlns:a16="http://schemas.microsoft.com/office/drawing/2014/main" id="{070795FF-A6A5-7259-BCD2-513881A5ACB6}"/>
                </a:ext>
              </a:extLst>
            </p:cNvPr>
            <p:cNvSpPr txBox="1"/>
            <p:nvPr/>
          </p:nvSpPr>
          <p:spPr>
            <a:xfrm>
              <a:off x="2174778" y="5426870"/>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AB33C502-9AB3-5592-EF29-1D42D9D427ED}"/>
                </a:ext>
              </a:extLst>
            </p:cNvPr>
            <p:cNvSpPr txBox="1"/>
            <p:nvPr/>
          </p:nvSpPr>
          <p:spPr>
            <a:xfrm>
              <a:off x="5121359" y="3244334"/>
              <a:ext cx="646331" cy="369332"/>
            </a:xfrm>
            <a:prstGeom prst="rect">
              <a:avLst/>
            </a:prstGeom>
            <a:noFill/>
          </p:spPr>
          <p:txBody>
            <a:bodyPr wrap="none" rtlCol="0">
              <a:spAutoFit/>
            </a:bodyPr>
            <a:lstStyle/>
            <a:p>
              <a:pPr algn="ctr"/>
              <a:r>
                <a:rPr kumimoji="1" lang="ja-GB" altLang="en-US" b="1" dirty="0"/>
                <a:t>問題</a:t>
              </a:r>
            </a:p>
          </p:txBody>
        </p:sp>
        <p:sp>
          <p:nvSpPr>
            <p:cNvPr id="9" name="テキスト ボックス 8">
              <a:extLst>
                <a:ext uri="{FF2B5EF4-FFF2-40B4-BE49-F238E27FC236}">
                  <a16:creationId xmlns:a16="http://schemas.microsoft.com/office/drawing/2014/main" id="{A53DEA32-75D2-AC4F-1722-A7894471F8E7}"/>
                </a:ext>
              </a:extLst>
            </p:cNvPr>
            <p:cNvSpPr txBox="1"/>
            <p:nvPr/>
          </p:nvSpPr>
          <p:spPr>
            <a:xfrm>
              <a:off x="5121356" y="5426870"/>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781401E3-99D1-0C4D-E990-404E2E6F6278}"/>
                </a:ext>
              </a:extLst>
            </p:cNvPr>
            <p:cNvCxnSpPr>
              <a:cxnSpLocks/>
              <a:stCxn id="6" idx="3"/>
              <a:endCxn id="8" idx="1"/>
            </p:cNvCxnSpPr>
            <p:nvPr/>
          </p:nvCxnSpPr>
          <p:spPr>
            <a:xfrm>
              <a:off x="2936528" y="3429000"/>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D4047450-E263-38A2-4DB1-3A122193F309}"/>
                </a:ext>
              </a:extLst>
            </p:cNvPr>
            <p:cNvCxnSpPr>
              <a:cxnSpLocks/>
              <a:stCxn id="8" idx="2"/>
              <a:endCxn id="9" idx="0"/>
            </p:cNvCxnSpPr>
            <p:nvPr/>
          </p:nvCxnSpPr>
          <p:spPr>
            <a:xfrm flipH="1">
              <a:off x="5444522" y="3613666"/>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09CA030-E940-B23E-548A-6E588F74F776}"/>
                </a:ext>
              </a:extLst>
            </p:cNvPr>
            <p:cNvCxnSpPr>
              <a:cxnSpLocks/>
              <a:stCxn id="9" idx="1"/>
              <a:endCxn id="7" idx="3"/>
            </p:cNvCxnSpPr>
            <p:nvPr/>
          </p:nvCxnSpPr>
          <p:spPr>
            <a:xfrm flipH="1">
              <a:off x="3051942" y="5611536"/>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B61CD10C-A54A-4D13-BB50-0B1FF6CEA5D6}"/>
                </a:ext>
              </a:extLst>
            </p:cNvPr>
            <p:cNvCxnSpPr>
              <a:cxnSpLocks/>
              <a:stCxn id="6" idx="2"/>
              <a:endCxn id="7" idx="0"/>
            </p:cNvCxnSpPr>
            <p:nvPr/>
          </p:nvCxnSpPr>
          <p:spPr>
            <a:xfrm flipH="1">
              <a:off x="2613360" y="3613666"/>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69D8F582-E3D1-86B2-58C7-659E6A9261C0}"/>
                </a:ext>
              </a:extLst>
            </p:cNvPr>
            <p:cNvSpPr txBox="1"/>
            <p:nvPr/>
          </p:nvSpPr>
          <p:spPr>
            <a:xfrm>
              <a:off x="2476084" y="6359042"/>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現実世界</a:t>
              </a:r>
            </a:p>
          </p:txBody>
        </p:sp>
        <p:sp>
          <p:nvSpPr>
            <p:cNvPr id="15" name="テキスト ボックス 14">
              <a:extLst>
                <a:ext uri="{FF2B5EF4-FFF2-40B4-BE49-F238E27FC236}">
                  <a16:creationId xmlns:a16="http://schemas.microsoft.com/office/drawing/2014/main" id="{96DD61D2-2EAA-1C7D-FEC9-AD2FA85CA6B8}"/>
                </a:ext>
              </a:extLst>
            </p:cNvPr>
            <p:cNvSpPr txBox="1"/>
            <p:nvPr/>
          </p:nvSpPr>
          <p:spPr>
            <a:xfrm>
              <a:off x="4570188" y="6359042"/>
              <a:ext cx="1338828"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情報の世界</a:t>
              </a:r>
            </a:p>
          </p:txBody>
        </p:sp>
        <p:sp>
          <p:nvSpPr>
            <p:cNvPr id="19" name="テキスト ボックス 18">
              <a:extLst>
                <a:ext uri="{FF2B5EF4-FFF2-40B4-BE49-F238E27FC236}">
                  <a16:creationId xmlns:a16="http://schemas.microsoft.com/office/drawing/2014/main" id="{6681DC25-461D-35DE-F6AA-BB4B14D1DD75}"/>
                </a:ext>
              </a:extLst>
            </p:cNvPr>
            <p:cNvSpPr txBox="1"/>
            <p:nvPr/>
          </p:nvSpPr>
          <p:spPr>
            <a:xfrm>
              <a:off x="5746850" y="4266352"/>
              <a:ext cx="1160895" cy="338554"/>
            </a:xfrm>
            <a:prstGeom prst="rect">
              <a:avLst/>
            </a:prstGeom>
            <a:noFill/>
          </p:spPr>
          <p:txBody>
            <a:bodyPr wrap="none" rtlCol="0">
              <a:spAutoFit/>
            </a:bodyPr>
            <a:lstStyle/>
            <a:p>
              <a:pPr algn="ctr"/>
              <a:r>
                <a:rPr kumimoji="1" lang="en-US" altLang="ja-GB" sz="1600" b="1" dirty="0">
                  <a:solidFill>
                    <a:srgbClr val="0070C0"/>
                  </a:solidFill>
                </a:rPr>
                <a:t>IT</a:t>
              </a:r>
              <a:r>
                <a:rPr kumimoji="1" lang="ja-GB" altLang="en-US" sz="1600" b="1" dirty="0">
                  <a:solidFill>
                    <a:srgbClr val="0070C0"/>
                  </a:solidFill>
                </a:rPr>
                <a:t>システム</a:t>
              </a:r>
            </a:p>
          </p:txBody>
        </p:sp>
      </p:grpSp>
      <p:sp>
        <p:nvSpPr>
          <p:cNvPr id="22" name="テキスト ボックス 21">
            <a:extLst>
              <a:ext uri="{FF2B5EF4-FFF2-40B4-BE49-F238E27FC236}">
                <a16:creationId xmlns:a16="http://schemas.microsoft.com/office/drawing/2014/main" id="{8EB2AC96-AE5C-19C8-C48B-126E0DC661B9}"/>
              </a:ext>
            </a:extLst>
          </p:cNvPr>
          <p:cNvSpPr txBox="1"/>
          <p:nvPr/>
        </p:nvSpPr>
        <p:spPr>
          <a:xfrm>
            <a:off x="401843" y="3213740"/>
            <a:ext cx="1338828"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現場の問題</a:t>
            </a:r>
          </a:p>
        </p:txBody>
      </p:sp>
      <p:sp>
        <p:nvSpPr>
          <p:cNvPr id="23" name="テキスト ボックス 22">
            <a:extLst>
              <a:ext uri="{FF2B5EF4-FFF2-40B4-BE49-F238E27FC236}">
                <a16:creationId xmlns:a16="http://schemas.microsoft.com/office/drawing/2014/main" id="{13D4A0E7-CB30-2792-D0D0-C868FDD8DE07}"/>
              </a:ext>
            </a:extLst>
          </p:cNvPr>
          <p:cNvSpPr txBox="1"/>
          <p:nvPr/>
        </p:nvSpPr>
        <p:spPr>
          <a:xfrm>
            <a:off x="286428" y="5401470"/>
            <a:ext cx="1569660" cy="369332"/>
          </a:xfrm>
          <a:prstGeom prst="rect">
            <a:avLst/>
          </a:prstGeom>
          <a:noFill/>
        </p:spPr>
        <p:txBody>
          <a:bodyPr wrap="none" rtlCol="0">
            <a:spAutoFit/>
          </a:bodyPr>
          <a:lstStyle/>
          <a:p>
            <a:pPr algn="ctr"/>
            <a:r>
              <a:rPr kumimoji="1" lang="ja-GB" altLang="en-US" b="1" dirty="0">
                <a:solidFill>
                  <a:schemeClr val="tx1">
                    <a:lumMod val="50000"/>
                    <a:lumOff val="50000"/>
                  </a:schemeClr>
                </a:solidFill>
              </a:rPr>
              <a:t>現場での価値</a:t>
            </a:r>
          </a:p>
        </p:txBody>
      </p:sp>
    </p:spTree>
    <p:extLst>
      <p:ext uri="{BB962C8B-B14F-4D97-AF65-F5344CB8AC3E}">
        <p14:creationId xmlns:p14="http://schemas.microsoft.com/office/powerpoint/2010/main" val="188753957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D1F9C8-C021-B902-6C18-F354096A2907}"/>
              </a:ext>
            </a:extLst>
          </p:cNvPr>
          <p:cNvSpPr>
            <a:spLocks noGrp="1"/>
          </p:cNvSpPr>
          <p:nvPr>
            <p:ph type="title"/>
          </p:nvPr>
        </p:nvSpPr>
        <p:spPr/>
        <p:txBody>
          <a:bodyPr>
            <a:normAutofit/>
          </a:bodyPr>
          <a:lstStyle/>
          <a:p>
            <a:r>
              <a:rPr kumimoji="1" lang="ja-GB" altLang="en-US" dirty="0"/>
              <a:t>要望を聞いて本当の課題を見極める</a:t>
            </a:r>
          </a:p>
        </p:txBody>
      </p:sp>
      <p:sp>
        <p:nvSpPr>
          <p:cNvPr id="3" name="コンテンツ プレースホルダー 2">
            <a:extLst>
              <a:ext uri="{FF2B5EF4-FFF2-40B4-BE49-F238E27FC236}">
                <a16:creationId xmlns:a16="http://schemas.microsoft.com/office/drawing/2014/main" id="{46D4EA8A-EB13-BBB8-BCFD-CEDFDB133D46}"/>
              </a:ext>
            </a:extLst>
          </p:cNvPr>
          <p:cNvSpPr>
            <a:spLocks noGrp="1"/>
          </p:cNvSpPr>
          <p:nvPr>
            <p:ph idx="1"/>
          </p:nvPr>
        </p:nvSpPr>
        <p:spPr/>
        <p:txBody>
          <a:bodyPr/>
          <a:lstStyle/>
          <a:p>
            <a:pPr marL="0" indent="0">
              <a:buNone/>
            </a:pPr>
            <a:r>
              <a:rPr kumimoji="1" lang="ja-GB" altLang="en-US" dirty="0"/>
              <a:t>ヒアリングを受けた人は本当に欲しいものを答えられないことがある</a:t>
            </a:r>
            <a:endParaRPr kumimoji="1" lang="en-US" altLang="ja-GB" dirty="0"/>
          </a:p>
          <a:p>
            <a:pPr marL="457200" lvl="1" indent="0">
              <a:buNone/>
            </a:pPr>
            <a:r>
              <a:rPr kumimoji="1" lang="ja-GB" altLang="en-US" dirty="0">
                <a:solidFill>
                  <a:srgbClr val="0070C0"/>
                </a:solidFill>
              </a:rPr>
              <a:t>格言：人々に望むものを聞いたら，もっと早い馬が欲しいと答えただろう</a:t>
            </a:r>
            <a:endParaRPr kumimoji="1" lang="en-US" altLang="ja-GB" dirty="0">
              <a:solidFill>
                <a:srgbClr val="0070C0"/>
              </a:solidFill>
            </a:endParaRPr>
          </a:p>
          <a:p>
            <a:pPr lvl="2"/>
            <a:r>
              <a:rPr kumimoji="1" lang="ja-GB" altLang="en-US" dirty="0"/>
              <a:t>自動車王ヘンリーフォードの格言</a:t>
            </a:r>
            <a:endParaRPr kumimoji="1" lang="en-US" altLang="ja-GB" dirty="0"/>
          </a:p>
          <a:p>
            <a:pPr lvl="2"/>
            <a:r>
              <a:rPr lang="ja-GB" altLang="en-US" dirty="0"/>
              <a:t>自動車を知らなければ，自動車が欲しいとは答えられない</a:t>
            </a:r>
            <a:endParaRPr lang="en-US" altLang="ja-GB" dirty="0"/>
          </a:p>
          <a:p>
            <a:pPr lvl="2"/>
            <a:endParaRPr lang="en-US" altLang="ja-GB" dirty="0"/>
          </a:p>
        </p:txBody>
      </p:sp>
    </p:spTree>
    <p:extLst>
      <p:ext uri="{BB962C8B-B14F-4D97-AF65-F5344CB8AC3E}">
        <p14:creationId xmlns:p14="http://schemas.microsoft.com/office/powerpoint/2010/main" val="103771503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8EC76-5691-E55A-4CEC-897769D2C8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515246-72DF-6F48-5023-7412F8EEA802}"/>
              </a:ext>
            </a:extLst>
          </p:cNvPr>
          <p:cNvSpPr>
            <a:spLocks noGrp="1"/>
          </p:cNvSpPr>
          <p:nvPr>
            <p:ph type="title"/>
          </p:nvPr>
        </p:nvSpPr>
        <p:spPr/>
        <p:txBody>
          <a:bodyPr>
            <a:normAutofit/>
          </a:bodyPr>
          <a:lstStyle/>
          <a:p>
            <a:r>
              <a:rPr kumimoji="1" lang="ja-GB" altLang="en-US" dirty="0"/>
              <a:t>要望を聞いて本当の課題を見極める</a:t>
            </a:r>
          </a:p>
        </p:txBody>
      </p:sp>
      <p:sp>
        <p:nvSpPr>
          <p:cNvPr id="3" name="コンテンツ プレースホルダー 2">
            <a:extLst>
              <a:ext uri="{FF2B5EF4-FFF2-40B4-BE49-F238E27FC236}">
                <a16:creationId xmlns:a16="http://schemas.microsoft.com/office/drawing/2014/main" id="{4484F08A-B9D3-2759-7C13-4D68B855EA21}"/>
              </a:ext>
            </a:extLst>
          </p:cNvPr>
          <p:cNvSpPr>
            <a:spLocks noGrp="1"/>
          </p:cNvSpPr>
          <p:nvPr>
            <p:ph idx="1"/>
          </p:nvPr>
        </p:nvSpPr>
        <p:spPr/>
        <p:txBody>
          <a:bodyPr/>
          <a:lstStyle/>
          <a:p>
            <a:pPr marL="0" indent="0">
              <a:buNone/>
            </a:pPr>
            <a:r>
              <a:rPr kumimoji="1" lang="ja-GB" altLang="en-US" dirty="0"/>
              <a:t>ヒアリングを受けた人は本当に欲しいものを答えられないことがある</a:t>
            </a:r>
            <a:endParaRPr kumimoji="1" lang="en-US" altLang="ja-GB" dirty="0"/>
          </a:p>
          <a:p>
            <a:pPr marL="457200" lvl="1" indent="0">
              <a:buNone/>
            </a:pPr>
            <a:r>
              <a:rPr kumimoji="1" lang="ja-GB" altLang="en-US" dirty="0"/>
              <a:t>格言：人々に望むものを聞いたら，もっと早い馬が欲しいと答えただろう</a:t>
            </a:r>
            <a:endParaRPr kumimoji="1" lang="en-US" altLang="ja-GB" dirty="0"/>
          </a:p>
          <a:p>
            <a:pPr lvl="2"/>
            <a:r>
              <a:rPr kumimoji="1" lang="ja-GB" altLang="en-US" dirty="0"/>
              <a:t>自動車王ヘンリーフォードの格言</a:t>
            </a:r>
            <a:endParaRPr kumimoji="1" lang="en-US" altLang="ja-GB" dirty="0"/>
          </a:p>
          <a:p>
            <a:pPr lvl="2"/>
            <a:r>
              <a:rPr lang="ja-GB" altLang="en-US" dirty="0"/>
              <a:t>自動車を知らなければ，自動車が欲しいとは答えられない</a:t>
            </a:r>
            <a:endParaRPr lang="en-US" altLang="ja-GB" dirty="0"/>
          </a:p>
          <a:p>
            <a:pPr lvl="2"/>
            <a:endParaRPr lang="en-US" altLang="ja-GB" dirty="0"/>
          </a:p>
          <a:p>
            <a:pPr marL="457200" lvl="1" indent="0">
              <a:buNone/>
            </a:pPr>
            <a:r>
              <a:rPr kumimoji="1" lang="ja-GB" altLang="en-US" dirty="0">
                <a:solidFill>
                  <a:srgbClr val="0070C0"/>
                </a:solidFill>
              </a:rPr>
              <a:t>情報技術を知らなければ，こういう</a:t>
            </a:r>
            <a:r>
              <a:rPr kumimoji="1" lang="en-US" altLang="ja-GB" dirty="0">
                <a:solidFill>
                  <a:srgbClr val="0070C0"/>
                </a:solidFill>
              </a:rPr>
              <a:t>IT</a:t>
            </a:r>
            <a:r>
              <a:rPr kumimoji="1" lang="ja-GB" altLang="en-US" dirty="0">
                <a:solidFill>
                  <a:srgbClr val="0070C0"/>
                </a:solidFill>
              </a:rPr>
              <a:t>システムが欲しいとは答えられない</a:t>
            </a:r>
            <a:endParaRPr kumimoji="1" lang="en-US" altLang="ja-GB" dirty="0">
              <a:solidFill>
                <a:srgbClr val="0070C0"/>
              </a:solidFill>
            </a:endParaRPr>
          </a:p>
          <a:p>
            <a:pPr marL="914400" lvl="2" indent="0">
              <a:buNone/>
            </a:pPr>
            <a:r>
              <a:rPr kumimoji="1" lang="ja-GB" altLang="en-US" dirty="0"/>
              <a:t>例）「納税申請書類を再現したエクセルシートが欲しい」</a:t>
            </a:r>
          </a:p>
          <a:p>
            <a:pPr marL="1371600" lvl="3" indent="0">
              <a:buNone/>
            </a:pPr>
            <a:r>
              <a:rPr lang="ja-GB" altLang="en-US" dirty="0"/>
              <a:t>素朴な発想：納税申請業務デジタル化のために用紙をエクセルで再現できたらいい</a:t>
            </a:r>
            <a:endParaRPr lang="en-US" altLang="ja-GB" dirty="0"/>
          </a:p>
          <a:p>
            <a:pPr marL="1371600" lvl="3" indent="0">
              <a:buNone/>
            </a:pPr>
            <a:r>
              <a:rPr kumimoji="1" lang="ja-JP" altLang="en-US"/>
              <a:t>　　</a:t>
            </a:r>
            <a:r>
              <a:rPr kumimoji="1" lang="en-US" altLang="ja-GB" dirty="0"/>
              <a:t>→</a:t>
            </a:r>
            <a:r>
              <a:rPr kumimoji="1" lang="ja-GB" altLang="en-US" dirty="0"/>
              <a:t>情報が記入しずらい，</a:t>
            </a:r>
            <a:r>
              <a:rPr kumimoji="1" lang="en-US" altLang="ja-GB" dirty="0"/>
              <a:t>Office</a:t>
            </a:r>
            <a:r>
              <a:rPr kumimoji="1" lang="ja-GB" altLang="en-US" dirty="0"/>
              <a:t>を買ってない</a:t>
            </a:r>
            <a:r>
              <a:rPr lang="ja-GB" altLang="en-US" dirty="0"/>
              <a:t>市民が手続きできない</a:t>
            </a:r>
            <a:endParaRPr lang="en-US" altLang="ja-GB" dirty="0"/>
          </a:p>
          <a:p>
            <a:pPr marL="1371600" lvl="3" indent="0">
              <a:buNone/>
            </a:pPr>
            <a:r>
              <a:rPr kumimoji="1" lang="ja-GB" altLang="en-US" dirty="0"/>
              <a:t>本当の課題</a:t>
            </a:r>
            <a:r>
              <a:rPr lang="ja-GB" altLang="en-US" dirty="0"/>
              <a:t>：</a:t>
            </a:r>
            <a:endParaRPr lang="en-US" altLang="ja-GB" dirty="0"/>
          </a:p>
          <a:p>
            <a:pPr lvl="4"/>
            <a:r>
              <a:rPr kumimoji="1" lang="ja-GB" altLang="en-US" sz="1600" dirty="0"/>
              <a:t>行政情報をデータベース化して，必要に応じて</a:t>
            </a:r>
            <a:r>
              <a:rPr kumimoji="1" lang="en-US" altLang="ja-GB" sz="1600" dirty="0"/>
              <a:t>PC</a:t>
            </a:r>
            <a:r>
              <a:rPr kumimoji="1" lang="ja-GB" altLang="en-US" sz="1600" dirty="0"/>
              <a:t>から取り出したい</a:t>
            </a:r>
            <a:endParaRPr kumimoji="1" lang="en-US" altLang="ja-GB" sz="1600" dirty="0"/>
          </a:p>
          <a:p>
            <a:pPr lvl="4"/>
            <a:r>
              <a:rPr lang="ja-GB" altLang="en-US" sz="1600" dirty="0"/>
              <a:t>また，申請に基づいて行政手続きを円滑に行えるようにしたい</a:t>
            </a:r>
            <a:endParaRPr lang="en-US" altLang="ja-GB" sz="1600" dirty="0"/>
          </a:p>
          <a:p>
            <a:pPr marL="1371600" lvl="3" indent="0">
              <a:buNone/>
            </a:pPr>
            <a:r>
              <a:rPr kumimoji="1" lang="ja-GB" altLang="en-US" dirty="0"/>
              <a:t>より適切な解決策</a:t>
            </a:r>
            <a:r>
              <a:rPr lang="ja-GB" altLang="en-US" dirty="0"/>
              <a:t>：</a:t>
            </a:r>
            <a:endParaRPr lang="en-US" altLang="ja-GB" dirty="0"/>
          </a:p>
          <a:p>
            <a:pPr lvl="4"/>
            <a:r>
              <a:rPr kumimoji="1" lang="ja-GB" altLang="en-US" sz="1600" dirty="0"/>
              <a:t>データベースに何が格納されるのかを定義して，</a:t>
            </a:r>
            <a:r>
              <a:rPr kumimoji="1" lang="en-US" altLang="ja-GB" sz="1600" dirty="0"/>
              <a:t>web</a:t>
            </a:r>
            <a:r>
              <a:rPr kumimoji="1" lang="ja-GB" altLang="en-US" sz="1600" dirty="0"/>
              <a:t>フォームを作成する</a:t>
            </a:r>
            <a:endParaRPr kumimoji="1" lang="en-US" altLang="ja-GB" sz="1600" dirty="0"/>
          </a:p>
        </p:txBody>
      </p:sp>
      <p:sp>
        <p:nvSpPr>
          <p:cNvPr id="4" name="テキスト ボックス 3">
            <a:extLst>
              <a:ext uri="{FF2B5EF4-FFF2-40B4-BE49-F238E27FC236}">
                <a16:creationId xmlns:a16="http://schemas.microsoft.com/office/drawing/2014/main" id="{07884BBE-EF94-8E73-CFF9-80D17388FBD5}"/>
              </a:ext>
            </a:extLst>
          </p:cNvPr>
          <p:cNvSpPr txBox="1"/>
          <p:nvPr/>
        </p:nvSpPr>
        <p:spPr>
          <a:xfrm>
            <a:off x="555516" y="6003235"/>
            <a:ext cx="8032968" cy="369332"/>
          </a:xfrm>
          <a:prstGeom prst="rect">
            <a:avLst/>
          </a:prstGeom>
          <a:noFill/>
        </p:spPr>
        <p:txBody>
          <a:bodyPr wrap="none" rtlCol="0">
            <a:spAutoFit/>
          </a:bodyPr>
          <a:lstStyle/>
          <a:p>
            <a:pPr algn="ctr"/>
            <a:r>
              <a:rPr kumimoji="1" lang="ja-GB" altLang="en-US" b="1" dirty="0">
                <a:solidFill>
                  <a:srgbClr val="002060"/>
                </a:solidFill>
              </a:rPr>
              <a:t>（非エンジニアの社会人にもコンピュータの学習が求められる理由の一つ）</a:t>
            </a:r>
          </a:p>
        </p:txBody>
      </p:sp>
    </p:spTree>
    <p:extLst>
      <p:ext uri="{BB962C8B-B14F-4D97-AF65-F5344CB8AC3E}">
        <p14:creationId xmlns:p14="http://schemas.microsoft.com/office/powerpoint/2010/main" val="102766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EF807-C324-7B98-C98A-F6A70B0301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7CBDF8-0041-794E-7927-0FAE483985CC}"/>
              </a:ext>
            </a:extLst>
          </p:cNvPr>
          <p:cNvSpPr>
            <a:spLocks noGrp="1"/>
          </p:cNvSpPr>
          <p:nvPr>
            <p:ph type="title"/>
          </p:nvPr>
        </p:nvSpPr>
        <p:spPr/>
        <p:txBody>
          <a:bodyPr/>
          <a:lstStyle/>
          <a:p>
            <a:r>
              <a:rPr kumimoji="1" lang="ja-GB" altLang="en-US" dirty="0"/>
              <a:t>要件定義とは何か</a:t>
            </a:r>
          </a:p>
        </p:txBody>
      </p:sp>
      <p:sp>
        <p:nvSpPr>
          <p:cNvPr id="3" name="コンテンツ プレースホルダー 2">
            <a:extLst>
              <a:ext uri="{FF2B5EF4-FFF2-40B4-BE49-F238E27FC236}">
                <a16:creationId xmlns:a16="http://schemas.microsoft.com/office/drawing/2014/main" id="{F20A8F71-1AE5-763C-1F50-69832191B99F}"/>
              </a:ext>
            </a:extLst>
          </p:cNvPr>
          <p:cNvSpPr>
            <a:spLocks noGrp="1"/>
          </p:cNvSpPr>
          <p:nvPr>
            <p:ph idx="1"/>
          </p:nvPr>
        </p:nvSpPr>
        <p:spPr/>
        <p:txBody>
          <a:bodyPr>
            <a:normAutofit/>
          </a:bodyPr>
          <a:lstStyle/>
          <a:p>
            <a:pPr marL="0" indent="0">
              <a:buNone/>
            </a:pPr>
            <a:r>
              <a:rPr kumimoji="1" lang="en-US" altLang="ja-GB" dirty="0">
                <a:solidFill>
                  <a:srgbClr val="002060"/>
                </a:solidFill>
              </a:rPr>
              <a:t>(1)</a:t>
            </a:r>
            <a:r>
              <a:rPr kumimoji="1" lang="ja-GB" altLang="en-US" dirty="0">
                <a:solidFill>
                  <a:srgbClr val="002060"/>
                </a:solidFill>
              </a:rPr>
              <a:t>やりたいことを整理して，</a:t>
            </a:r>
            <a:r>
              <a:rPr kumimoji="1" lang="en-US" altLang="ja-GB" dirty="0">
                <a:solidFill>
                  <a:srgbClr val="002060"/>
                </a:solidFill>
              </a:rPr>
              <a:t>(2)</a:t>
            </a:r>
            <a:r>
              <a:rPr kumimoji="1" lang="ja-GB" altLang="en-US" dirty="0">
                <a:solidFill>
                  <a:srgbClr val="002060"/>
                </a:solidFill>
              </a:rPr>
              <a:t>それを実現するには何が必要か考える</a:t>
            </a:r>
            <a:endParaRPr kumimoji="1" lang="en-US" altLang="ja-GB" dirty="0">
              <a:solidFill>
                <a:srgbClr val="002060"/>
              </a:solidFill>
            </a:endParaRPr>
          </a:p>
          <a:p>
            <a:pPr lvl="1"/>
            <a:r>
              <a:rPr lang="ja-GB" altLang="en-US" dirty="0"/>
              <a:t>小規模な案件や柔軟に顧客にニーズに対応する現代的な開発方式の場合，</a:t>
            </a:r>
            <a:br>
              <a:rPr lang="en-US" altLang="ja-GB" dirty="0"/>
            </a:br>
            <a:r>
              <a:rPr lang="ja-GB" altLang="en-US" dirty="0"/>
              <a:t>開発企業と発注企業は</a:t>
            </a:r>
            <a:r>
              <a:rPr lang="en-US" altLang="ja-GB" dirty="0"/>
              <a:t>V</a:t>
            </a:r>
            <a:r>
              <a:rPr lang="ja-GB" altLang="en-US" dirty="0"/>
              <a:t>字モデルよりも密に連携する</a:t>
            </a:r>
            <a:endParaRPr lang="en-US" altLang="ja-GB" dirty="0"/>
          </a:p>
          <a:p>
            <a:pPr lvl="1"/>
            <a:r>
              <a:rPr kumimoji="1" lang="ja-GB" altLang="en-US" dirty="0"/>
              <a:t>現実的には要求分析と要件定義をまとめて「要件定義」とすることが多い</a:t>
            </a:r>
            <a:endParaRPr kumimoji="1" lang="en-US" altLang="ja-GB" dirty="0"/>
          </a:p>
          <a:p>
            <a:pPr lvl="1"/>
            <a:endParaRPr lang="en-US" altLang="ja-GB" dirty="0"/>
          </a:p>
          <a:p>
            <a:pPr lvl="1"/>
            <a:endParaRPr kumimoji="1" lang="en-US" altLang="ja-GB" dirty="0"/>
          </a:p>
          <a:p>
            <a:pPr lvl="1"/>
            <a:endParaRPr lang="en-US" altLang="ja-GB" dirty="0"/>
          </a:p>
          <a:p>
            <a:pPr lvl="1"/>
            <a:endParaRPr kumimoji="1" lang="en-US" altLang="ja-GB" dirty="0"/>
          </a:p>
          <a:p>
            <a:pPr lvl="1"/>
            <a:endParaRPr lang="en-US" altLang="ja-GB" dirty="0"/>
          </a:p>
          <a:p>
            <a:pPr lvl="1"/>
            <a:endParaRPr kumimoji="1" lang="en-US" altLang="ja-GB" dirty="0"/>
          </a:p>
          <a:p>
            <a:pPr lvl="1"/>
            <a:endParaRPr lang="en-US" altLang="ja-GB" dirty="0"/>
          </a:p>
          <a:p>
            <a:pPr lvl="1"/>
            <a:endParaRPr kumimoji="1" lang="en-US" altLang="ja-GB" dirty="0"/>
          </a:p>
          <a:p>
            <a:pPr lvl="1"/>
            <a:endParaRPr lang="en-US" altLang="ja-GB" dirty="0"/>
          </a:p>
          <a:p>
            <a:pPr lvl="1"/>
            <a:endParaRPr kumimoji="1" lang="en-US" altLang="ja-GB" dirty="0"/>
          </a:p>
          <a:p>
            <a:pPr marL="0" indent="0" algn="ctr">
              <a:buNone/>
            </a:pPr>
            <a:r>
              <a:rPr lang="ja-GB" altLang="en-US" dirty="0">
                <a:solidFill>
                  <a:schemeClr val="accent2"/>
                </a:solidFill>
              </a:rPr>
              <a:t>「やりたいことの整理」（要求分析）ができたら</a:t>
            </a:r>
            <a:endParaRPr lang="en-US" altLang="ja-GB" dirty="0">
              <a:solidFill>
                <a:schemeClr val="accent2"/>
              </a:solidFill>
            </a:endParaRPr>
          </a:p>
          <a:p>
            <a:pPr marL="0" indent="0" algn="ctr">
              <a:buNone/>
            </a:pPr>
            <a:r>
              <a:rPr lang="ja-GB" altLang="en-US" dirty="0">
                <a:solidFill>
                  <a:schemeClr val="accent2"/>
                </a:solidFill>
              </a:rPr>
              <a:t>「実現するには何が必要なのか」を考える段階 （要件定義） に進む</a:t>
            </a:r>
            <a:endParaRPr kumimoji="1" lang="en-US" altLang="ja-GB" dirty="0">
              <a:solidFill>
                <a:schemeClr val="accent2"/>
              </a:solidFill>
            </a:endParaRPr>
          </a:p>
          <a:p>
            <a:pPr lvl="1"/>
            <a:endParaRPr kumimoji="1" lang="en-US" altLang="ja-GB" dirty="0">
              <a:solidFill>
                <a:schemeClr val="accent2"/>
              </a:solidFill>
            </a:endParaRPr>
          </a:p>
          <a:p>
            <a:pPr lvl="1"/>
            <a:endParaRPr kumimoji="1" lang="ja-GB" altLang="en-US" dirty="0"/>
          </a:p>
        </p:txBody>
      </p:sp>
      <p:cxnSp>
        <p:nvCxnSpPr>
          <p:cNvPr id="24" name="直線コネクタ 23">
            <a:extLst>
              <a:ext uri="{FF2B5EF4-FFF2-40B4-BE49-F238E27FC236}">
                <a16:creationId xmlns:a16="http://schemas.microsoft.com/office/drawing/2014/main" id="{71FD085A-1F45-FA4F-4EFC-46693DC6902C}"/>
              </a:ext>
            </a:extLst>
          </p:cNvPr>
          <p:cNvCxnSpPr>
            <a:cxnSpLocks/>
            <a:stCxn id="6" idx="1"/>
            <a:endCxn id="4" idx="3"/>
          </p:cNvCxnSpPr>
          <p:nvPr/>
        </p:nvCxnSpPr>
        <p:spPr>
          <a:xfrm flipH="1">
            <a:off x="3752762" y="2999235"/>
            <a:ext cx="1638475" cy="1"/>
          </a:xfrm>
          <a:prstGeom prst="line">
            <a:avLst/>
          </a:prstGeom>
          <a:ln w="88900" cap="rnd">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1" name="グループ化 20">
            <a:extLst>
              <a:ext uri="{FF2B5EF4-FFF2-40B4-BE49-F238E27FC236}">
                <a16:creationId xmlns:a16="http://schemas.microsoft.com/office/drawing/2014/main" id="{6E45CEFC-5F6C-F771-D234-F1CD9228CBBB}"/>
              </a:ext>
            </a:extLst>
          </p:cNvPr>
          <p:cNvGrpSpPr/>
          <p:nvPr/>
        </p:nvGrpSpPr>
        <p:grpSpPr>
          <a:xfrm>
            <a:off x="1822364" y="2769340"/>
            <a:ext cx="5499271" cy="2174083"/>
            <a:chOff x="1822365" y="4047088"/>
            <a:chExt cx="5499271" cy="2174083"/>
          </a:xfrm>
          <a:solidFill>
            <a:schemeClr val="tx1">
              <a:lumMod val="50000"/>
              <a:lumOff val="50000"/>
            </a:schemeClr>
          </a:solidFill>
        </p:grpSpPr>
        <p:cxnSp>
          <p:nvCxnSpPr>
            <p:cNvPr id="7" name="直線コネクタ 6">
              <a:extLst>
                <a:ext uri="{FF2B5EF4-FFF2-40B4-BE49-F238E27FC236}">
                  <a16:creationId xmlns:a16="http://schemas.microsoft.com/office/drawing/2014/main" id="{6D2C6517-9941-04C0-3344-4CA669C222C8}"/>
                </a:ext>
              </a:extLst>
            </p:cNvPr>
            <p:cNvCxnSpPr>
              <a:cxnSpLocks/>
              <a:stCxn id="6" idx="2"/>
              <a:endCxn id="5" idx="0"/>
            </p:cNvCxnSpPr>
            <p:nvPr/>
          </p:nvCxnSpPr>
          <p:spPr>
            <a:xfrm flipH="1">
              <a:off x="4572000" y="4506877"/>
              <a:ext cx="1784437" cy="1254505"/>
            </a:xfrm>
            <a:prstGeom prst="line">
              <a:avLst/>
            </a:prstGeom>
            <a:grpFill/>
            <a:ln w="88900" cap="rnd">
              <a:solidFill>
                <a:schemeClr val="tx1">
                  <a:lumMod val="65000"/>
                  <a:lumOff val="35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33CB5219-AA1D-5E35-6622-AF056C14E53E}"/>
                </a:ext>
              </a:extLst>
            </p:cNvPr>
            <p:cNvCxnSpPr>
              <a:cxnSpLocks/>
              <a:stCxn id="4" idx="2"/>
              <a:endCxn id="5" idx="0"/>
            </p:cNvCxnSpPr>
            <p:nvPr/>
          </p:nvCxnSpPr>
          <p:spPr>
            <a:xfrm>
              <a:off x="2787564" y="4506878"/>
              <a:ext cx="1784436" cy="1254504"/>
            </a:xfrm>
            <a:prstGeom prst="line">
              <a:avLst/>
            </a:prstGeom>
            <a:grpFill/>
            <a:ln w="889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角丸四角形 4">
              <a:extLst>
                <a:ext uri="{FF2B5EF4-FFF2-40B4-BE49-F238E27FC236}">
                  <a16:creationId xmlns:a16="http://schemas.microsoft.com/office/drawing/2014/main" id="{7AC44FFC-EA2B-6BCC-C2D0-D259184BA4A6}"/>
                </a:ext>
              </a:extLst>
            </p:cNvPr>
            <p:cNvSpPr/>
            <p:nvPr/>
          </p:nvSpPr>
          <p:spPr>
            <a:xfrm>
              <a:off x="3606801" y="5761382"/>
              <a:ext cx="1930398" cy="459789"/>
            </a:xfrm>
            <a:prstGeom prst="roundRect">
              <a:avLst/>
            </a:prstGeom>
            <a:grp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200" b="1" dirty="0"/>
                <a:t>実装</a:t>
              </a:r>
            </a:p>
          </p:txBody>
        </p:sp>
        <p:sp>
          <p:nvSpPr>
            <p:cNvPr id="6" name="角丸四角形 5">
              <a:extLst>
                <a:ext uri="{FF2B5EF4-FFF2-40B4-BE49-F238E27FC236}">
                  <a16:creationId xmlns:a16="http://schemas.microsoft.com/office/drawing/2014/main" id="{A2BABB2B-3F0E-4B07-3AD7-815EB96B1506}"/>
                </a:ext>
              </a:extLst>
            </p:cNvPr>
            <p:cNvSpPr/>
            <p:nvPr/>
          </p:nvSpPr>
          <p:spPr>
            <a:xfrm>
              <a:off x="5391238" y="4047088"/>
              <a:ext cx="1930398" cy="459789"/>
            </a:xfrm>
            <a:prstGeom prst="roundRect">
              <a:avLst/>
            </a:prstGeom>
            <a:grp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200" b="1" dirty="0"/>
                <a:t>受け入れテスト</a:t>
              </a:r>
              <a:br>
                <a:rPr kumimoji="1" lang="en-US" altLang="ja-GB" sz="1200" b="1" dirty="0"/>
              </a:br>
              <a:r>
                <a:rPr kumimoji="1" lang="ja-GB" altLang="en-US" sz="1200" b="1" dirty="0"/>
                <a:t>（検収）</a:t>
              </a:r>
            </a:p>
          </p:txBody>
        </p:sp>
        <p:sp>
          <p:nvSpPr>
            <p:cNvPr id="4" name="角丸四角形 3">
              <a:extLst>
                <a:ext uri="{FF2B5EF4-FFF2-40B4-BE49-F238E27FC236}">
                  <a16:creationId xmlns:a16="http://schemas.microsoft.com/office/drawing/2014/main" id="{6C5B9A8C-3139-B833-A527-9FF1BC159CF3}"/>
                </a:ext>
              </a:extLst>
            </p:cNvPr>
            <p:cNvSpPr/>
            <p:nvPr/>
          </p:nvSpPr>
          <p:spPr>
            <a:xfrm>
              <a:off x="1822365" y="4047089"/>
              <a:ext cx="1930398" cy="459789"/>
            </a:xfrm>
            <a:prstGeom prst="roundRect">
              <a:avLst/>
            </a:prstGeom>
            <a:grp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200" b="1" dirty="0"/>
                <a:t>要件定義</a:t>
              </a:r>
              <a:endParaRPr kumimoji="1" lang="en-US" altLang="ja-GB" sz="1200" b="1" dirty="0"/>
            </a:p>
            <a:p>
              <a:pPr algn="ctr"/>
              <a:r>
                <a:rPr kumimoji="1" lang="ja-GB" altLang="en-US" sz="1200" b="1" dirty="0"/>
                <a:t>（要求分析</a:t>
              </a:r>
              <a:r>
                <a:rPr kumimoji="1" lang="en-US" altLang="ja-GB" sz="1200" b="1" dirty="0"/>
                <a:t> + </a:t>
              </a:r>
              <a:r>
                <a:rPr kumimoji="1" lang="ja-GB" altLang="en-US" sz="1200" b="1" dirty="0"/>
                <a:t>要件定義）</a:t>
              </a:r>
            </a:p>
          </p:txBody>
        </p:sp>
      </p:grpSp>
    </p:spTree>
    <p:extLst>
      <p:ext uri="{BB962C8B-B14F-4D97-AF65-F5344CB8AC3E}">
        <p14:creationId xmlns:p14="http://schemas.microsoft.com/office/powerpoint/2010/main" val="393644271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91B699-9F5D-2A57-3C8F-723B93578061}"/>
              </a:ext>
            </a:extLst>
          </p:cNvPr>
          <p:cNvSpPr>
            <a:spLocks noGrp="1"/>
          </p:cNvSpPr>
          <p:nvPr>
            <p:ph type="title"/>
          </p:nvPr>
        </p:nvSpPr>
        <p:spPr/>
        <p:txBody>
          <a:bodyPr/>
          <a:lstStyle/>
          <a:p>
            <a:r>
              <a:rPr kumimoji="1" lang="ja-GB" altLang="en-US" dirty="0"/>
              <a:t>要件定義の手順</a:t>
            </a:r>
          </a:p>
        </p:txBody>
      </p:sp>
      <p:sp>
        <p:nvSpPr>
          <p:cNvPr id="3" name="コンテンツ プレースホルダー 2">
            <a:extLst>
              <a:ext uri="{FF2B5EF4-FFF2-40B4-BE49-F238E27FC236}">
                <a16:creationId xmlns:a16="http://schemas.microsoft.com/office/drawing/2014/main" id="{7E130289-3F34-4138-BF11-C9C0777D2518}"/>
              </a:ext>
            </a:extLst>
          </p:cNvPr>
          <p:cNvSpPr>
            <a:spLocks noGrp="1"/>
          </p:cNvSpPr>
          <p:nvPr>
            <p:ph idx="1"/>
          </p:nvPr>
        </p:nvSpPr>
        <p:spPr/>
        <p:txBody>
          <a:bodyPr/>
          <a:lstStyle/>
          <a:p>
            <a:pPr marL="0" indent="0">
              <a:buNone/>
            </a:pPr>
            <a:r>
              <a:rPr kumimoji="1" lang="ja-GB" altLang="en-US" dirty="0"/>
              <a:t>やりたいことを小課題に分割して，計算機にできることと擦り合わせる</a:t>
            </a:r>
            <a:endParaRPr kumimoji="1" lang="en-US" altLang="ja-GB" dirty="0"/>
          </a:p>
          <a:p>
            <a:pPr marL="457200" lvl="1" indent="0">
              <a:buNone/>
            </a:pPr>
            <a:r>
              <a:rPr kumimoji="1" lang="ja-GB" altLang="en-US" dirty="0">
                <a:solidFill>
                  <a:srgbClr val="002060"/>
                </a:solidFill>
              </a:rPr>
              <a:t>比喩）大学二次試験の数学文章問題</a:t>
            </a:r>
            <a:endParaRPr kumimoji="1" lang="en-US" altLang="ja-GB" dirty="0">
              <a:solidFill>
                <a:srgbClr val="002060"/>
              </a:solidFill>
            </a:endParaRPr>
          </a:p>
          <a:p>
            <a:pPr lvl="2"/>
            <a:r>
              <a:rPr lang="ja-GB" altLang="en-US" dirty="0"/>
              <a:t>複雑な状況をそのまま数学問題として解釈して，解法を思いつくのは難しい</a:t>
            </a:r>
            <a:endParaRPr lang="en-US" altLang="ja-GB" dirty="0"/>
          </a:p>
          <a:p>
            <a:pPr lvl="2"/>
            <a:r>
              <a:rPr kumimoji="1" lang="ja-GB" altLang="en-US" dirty="0"/>
              <a:t>状況を「</a:t>
            </a:r>
            <a:r>
              <a:rPr kumimoji="1" lang="ja-GB" altLang="en-US" dirty="0">
                <a:solidFill>
                  <a:srgbClr val="0070C0"/>
                </a:solidFill>
              </a:rPr>
              <a:t>分解</a:t>
            </a:r>
            <a:r>
              <a:rPr kumimoji="1" lang="ja-GB" altLang="en-US" dirty="0"/>
              <a:t>」すれば考えやすくなる</a:t>
            </a:r>
            <a:endParaRPr kumimoji="1" lang="en-US" altLang="ja-GB" dirty="0"/>
          </a:p>
          <a:p>
            <a:pPr lvl="3"/>
            <a:r>
              <a:rPr kumimoji="1" lang="ja-GB" altLang="en-US" dirty="0"/>
              <a:t>「総和を展開する」「数列的なパターンを探す」「同じ変数をまとめる」</a:t>
            </a:r>
            <a:endParaRPr kumimoji="1" lang="en-US" altLang="ja-GB" dirty="0"/>
          </a:p>
          <a:p>
            <a:pPr lvl="2"/>
            <a:r>
              <a:rPr kumimoji="1" lang="ja-GB" altLang="en-US" dirty="0"/>
              <a:t>数学にできることと「</a:t>
            </a:r>
            <a:r>
              <a:rPr kumimoji="1" lang="ja-GB" altLang="en-US" dirty="0">
                <a:solidFill>
                  <a:srgbClr val="0070C0"/>
                </a:solidFill>
              </a:rPr>
              <a:t>すり合わせる</a:t>
            </a:r>
            <a:r>
              <a:rPr kumimoji="1" lang="ja-GB" altLang="en-US" dirty="0"/>
              <a:t>」ことで具体的な解決策に近づける</a:t>
            </a:r>
            <a:endParaRPr kumimoji="1" lang="en-US" altLang="ja-GB" dirty="0"/>
          </a:p>
          <a:p>
            <a:pPr lvl="3"/>
            <a:r>
              <a:rPr kumimoji="1" lang="ja-GB" altLang="en-US" dirty="0"/>
              <a:t>「</a:t>
            </a:r>
            <a:r>
              <a:rPr kumimoji="1" lang="en-US" altLang="ja-GB" dirty="0" err="1"/>
              <a:t>Σ</a:t>
            </a:r>
            <a:r>
              <a:rPr kumimoji="1" lang="ja-GB" altLang="en-US" dirty="0"/>
              <a:t>の展開式」「数列漸化式の公式」「式展開の公式・方法論」</a:t>
            </a:r>
            <a:endParaRPr kumimoji="1" lang="en-US" altLang="ja-GB" dirty="0"/>
          </a:p>
          <a:p>
            <a:pPr lvl="3"/>
            <a:endParaRPr kumimoji="1" lang="en-US" altLang="ja-GB" dirty="0"/>
          </a:p>
        </p:txBody>
      </p:sp>
      <p:sp>
        <p:nvSpPr>
          <p:cNvPr id="4" name="正方形/長方形 3">
            <a:extLst>
              <a:ext uri="{FF2B5EF4-FFF2-40B4-BE49-F238E27FC236}">
                <a16:creationId xmlns:a16="http://schemas.microsoft.com/office/drawing/2014/main" id="{DADA89FE-953B-640A-5B4F-DDA519C293B3}"/>
              </a:ext>
            </a:extLst>
          </p:cNvPr>
          <p:cNvSpPr/>
          <p:nvPr/>
        </p:nvSpPr>
        <p:spPr>
          <a:xfrm>
            <a:off x="4572000" y="3414508"/>
            <a:ext cx="2203201" cy="302439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5" name="正方形/長方形 4">
            <a:extLst>
              <a:ext uri="{FF2B5EF4-FFF2-40B4-BE49-F238E27FC236}">
                <a16:creationId xmlns:a16="http://schemas.microsoft.com/office/drawing/2014/main" id="{5C1AF416-6C48-5E47-4123-8A23A3E5FF80}"/>
              </a:ext>
            </a:extLst>
          </p:cNvPr>
          <p:cNvSpPr/>
          <p:nvPr/>
        </p:nvSpPr>
        <p:spPr>
          <a:xfrm>
            <a:off x="2362482" y="3414508"/>
            <a:ext cx="2203201" cy="302439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dirty="0"/>
          </a:p>
        </p:txBody>
      </p:sp>
      <p:sp>
        <p:nvSpPr>
          <p:cNvPr id="6" name="テキスト ボックス 5">
            <a:extLst>
              <a:ext uri="{FF2B5EF4-FFF2-40B4-BE49-F238E27FC236}">
                <a16:creationId xmlns:a16="http://schemas.microsoft.com/office/drawing/2014/main" id="{8F127A36-B301-2ADE-2128-3CA03290A12E}"/>
              </a:ext>
            </a:extLst>
          </p:cNvPr>
          <p:cNvSpPr txBox="1"/>
          <p:nvPr/>
        </p:nvSpPr>
        <p:spPr>
          <a:xfrm>
            <a:off x="2724197" y="3716860"/>
            <a:ext cx="646331" cy="369332"/>
          </a:xfrm>
          <a:prstGeom prst="rect">
            <a:avLst/>
          </a:prstGeom>
          <a:noFill/>
        </p:spPr>
        <p:txBody>
          <a:bodyPr wrap="none" rtlCol="0">
            <a:spAutoFit/>
          </a:bodyPr>
          <a:lstStyle/>
          <a:p>
            <a:pPr algn="ctr"/>
            <a:r>
              <a:rPr kumimoji="1" lang="ja-GB" altLang="en-US" dirty="0"/>
              <a:t>現状</a:t>
            </a:r>
          </a:p>
        </p:txBody>
      </p:sp>
      <p:sp>
        <p:nvSpPr>
          <p:cNvPr id="7" name="テキスト ボックス 6">
            <a:extLst>
              <a:ext uri="{FF2B5EF4-FFF2-40B4-BE49-F238E27FC236}">
                <a16:creationId xmlns:a16="http://schemas.microsoft.com/office/drawing/2014/main" id="{DB964127-7E11-81B5-0530-7163BA9AB186}"/>
              </a:ext>
            </a:extLst>
          </p:cNvPr>
          <p:cNvSpPr txBox="1"/>
          <p:nvPr/>
        </p:nvSpPr>
        <p:spPr>
          <a:xfrm>
            <a:off x="2608778" y="5899396"/>
            <a:ext cx="877164" cy="369332"/>
          </a:xfrm>
          <a:prstGeom prst="rect">
            <a:avLst/>
          </a:prstGeom>
          <a:noFill/>
        </p:spPr>
        <p:txBody>
          <a:bodyPr wrap="none" rtlCol="0">
            <a:spAutoFit/>
          </a:bodyPr>
          <a:lstStyle/>
          <a:p>
            <a:pPr algn="ctr"/>
            <a:r>
              <a:rPr kumimoji="1" lang="ja-GB" altLang="en-US" dirty="0"/>
              <a:t>ゴール</a:t>
            </a:r>
          </a:p>
        </p:txBody>
      </p:sp>
      <p:sp>
        <p:nvSpPr>
          <p:cNvPr id="8" name="テキスト ボックス 7">
            <a:extLst>
              <a:ext uri="{FF2B5EF4-FFF2-40B4-BE49-F238E27FC236}">
                <a16:creationId xmlns:a16="http://schemas.microsoft.com/office/drawing/2014/main" id="{F4C8BD33-A179-5A76-F417-D36FD1263895}"/>
              </a:ext>
            </a:extLst>
          </p:cNvPr>
          <p:cNvSpPr txBox="1"/>
          <p:nvPr/>
        </p:nvSpPr>
        <p:spPr>
          <a:xfrm>
            <a:off x="5555359" y="3716860"/>
            <a:ext cx="646331" cy="369332"/>
          </a:xfrm>
          <a:prstGeom prst="rect">
            <a:avLst/>
          </a:prstGeom>
          <a:noFill/>
        </p:spPr>
        <p:txBody>
          <a:bodyPr wrap="none" rtlCol="0">
            <a:spAutoFit/>
          </a:bodyPr>
          <a:lstStyle/>
          <a:p>
            <a:pPr algn="ctr"/>
            <a:r>
              <a:rPr kumimoji="1" lang="ja-GB" altLang="en-US" dirty="0"/>
              <a:t>問題</a:t>
            </a:r>
          </a:p>
        </p:txBody>
      </p:sp>
      <p:sp>
        <p:nvSpPr>
          <p:cNvPr id="9" name="テキスト ボックス 8">
            <a:extLst>
              <a:ext uri="{FF2B5EF4-FFF2-40B4-BE49-F238E27FC236}">
                <a16:creationId xmlns:a16="http://schemas.microsoft.com/office/drawing/2014/main" id="{DEB1D43B-5AF1-AA87-2740-2AB9C3E30E5B}"/>
              </a:ext>
            </a:extLst>
          </p:cNvPr>
          <p:cNvSpPr txBox="1"/>
          <p:nvPr/>
        </p:nvSpPr>
        <p:spPr>
          <a:xfrm>
            <a:off x="5555356" y="5899396"/>
            <a:ext cx="646331" cy="369332"/>
          </a:xfrm>
          <a:prstGeom prst="rect">
            <a:avLst/>
          </a:prstGeom>
          <a:noFill/>
        </p:spPr>
        <p:txBody>
          <a:bodyPr wrap="none" rtlCol="0">
            <a:spAutoFit/>
          </a:bodyPr>
          <a:lstStyle/>
          <a:p>
            <a:pPr algn="ctr"/>
            <a:r>
              <a:rPr kumimoji="1" lang="ja-GB" altLang="en-US" dirty="0"/>
              <a:t>解決</a:t>
            </a:r>
          </a:p>
        </p:txBody>
      </p:sp>
      <p:cxnSp>
        <p:nvCxnSpPr>
          <p:cNvPr id="10" name="直線矢印コネクタ 9">
            <a:extLst>
              <a:ext uri="{FF2B5EF4-FFF2-40B4-BE49-F238E27FC236}">
                <a16:creationId xmlns:a16="http://schemas.microsoft.com/office/drawing/2014/main" id="{9016C375-95B4-0F69-E5DD-9780ECB871C6}"/>
              </a:ext>
            </a:extLst>
          </p:cNvPr>
          <p:cNvCxnSpPr>
            <a:cxnSpLocks/>
            <a:stCxn id="6" idx="3"/>
            <a:endCxn id="8" idx="1"/>
          </p:cNvCxnSpPr>
          <p:nvPr/>
        </p:nvCxnSpPr>
        <p:spPr>
          <a:xfrm>
            <a:off x="3370528" y="3901526"/>
            <a:ext cx="2184831"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2DED689-7B73-976A-AC08-016BC6B9E5DD}"/>
              </a:ext>
            </a:extLst>
          </p:cNvPr>
          <p:cNvCxnSpPr>
            <a:cxnSpLocks/>
            <a:stCxn id="8" idx="2"/>
            <a:endCxn id="9" idx="0"/>
          </p:cNvCxnSpPr>
          <p:nvPr/>
        </p:nvCxnSpPr>
        <p:spPr>
          <a:xfrm flipH="1">
            <a:off x="5878522" y="4086192"/>
            <a:ext cx="3" cy="18132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F66CD64B-FF7F-E3E6-1507-E1DBAC9F4269}"/>
              </a:ext>
            </a:extLst>
          </p:cNvPr>
          <p:cNvCxnSpPr>
            <a:cxnSpLocks/>
            <a:stCxn id="9" idx="1"/>
            <a:endCxn id="7" idx="3"/>
          </p:cNvCxnSpPr>
          <p:nvPr/>
        </p:nvCxnSpPr>
        <p:spPr>
          <a:xfrm flipH="1">
            <a:off x="3485942" y="6084062"/>
            <a:ext cx="2069414" cy="0"/>
          </a:xfrm>
          <a:prstGeom prst="straightConnector1">
            <a:avLst/>
          </a:prstGeom>
          <a:ln w="38100">
            <a:solidFill>
              <a:srgbClr val="2F252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86831CE8-F9D5-F862-A10F-D2C464F08C39}"/>
              </a:ext>
            </a:extLst>
          </p:cNvPr>
          <p:cNvCxnSpPr>
            <a:cxnSpLocks/>
            <a:stCxn id="6" idx="2"/>
            <a:endCxn id="7" idx="0"/>
          </p:cNvCxnSpPr>
          <p:nvPr/>
        </p:nvCxnSpPr>
        <p:spPr>
          <a:xfrm flipH="1">
            <a:off x="3047360" y="4086192"/>
            <a:ext cx="3" cy="1813204"/>
          </a:xfrm>
          <a:prstGeom prst="straightConnector1">
            <a:avLst/>
          </a:prstGeom>
          <a:ln w="38100">
            <a:solidFill>
              <a:schemeClr val="accent2">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F7D255D3-24DD-5420-742E-EFCA773EDE9F}"/>
              </a:ext>
            </a:extLst>
          </p:cNvPr>
          <p:cNvSpPr txBox="1"/>
          <p:nvPr/>
        </p:nvSpPr>
        <p:spPr>
          <a:xfrm>
            <a:off x="2679264" y="6488668"/>
            <a:ext cx="1569660"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難しい文章題</a:t>
            </a:r>
          </a:p>
        </p:txBody>
      </p:sp>
      <p:sp>
        <p:nvSpPr>
          <p:cNvPr id="15" name="テキスト ボックス 14">
            <a:extLst>
              <a:ext uri="{FF2B5EF4-FFF2-40B4-BE49-F238E27FC236}">
                <a16:creationId xmlns:a16="http://schemas.microsoft.com/office/drawing/2014/main" id="{80E2E88E-3973-B4BE-55C7-D7B0BED8FA19}"/>
              </a:ext>
            </a:extLst>
          </p:cNvPr>
          <p:cNvSpPr txBox="1"/>
          <p:nvPr/>
        </p:nvSpPr>
        <p:spPr>
          <a:xfrm>
            <a:off x="5119605" y="6488668"/>
            <a:ext cx="1107996" cy="369332"/>
          </a:xfrm>
          <a:prstGeom prst="rect">
            <a:avLst/>
          </a:prstGeom>
          <a:noFill/>
        </p:spPr>
        <p:txBody>
          <a:bodyPr wrap="none" rtlCol="0">
            <a:spAutoFit/>
          </a:bodyPr>
          <a:lstStyle/>
          <a:p>
            <a:pPr algn="ctr"/>
            <a:r>
              <a:rPr kumimoji="1" lang="ja-GB" altLang="en-US" b="1" dirty="0">
                <a:solidFill>
                  <a:schemeClr val="tx1">
                    <a:lumMod val="65000"/>
                    <a:lumOff val="35000"/>
                  </a:schemeClr>
                </a:solidFill>
              </a:rPr>
              <a:t>数学世界</a:t>
            </a:r>
          </a:p>
        </p:txBody>
      </p:sp>
    </p:spTree>
    <p:extLst>
      <p:ext uri="{BB962C8B-B14F-4D97-AF65-F5344CB8AC3E}">
        <p14:creationId xmlns:p14="http://schemas.microsoft.com/office/powerpoint/2010/main" val="302156781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DCBD-E51C-2479-A298-8A0E3BDF5E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FA2BF7-D3F3-1073-6351-E29C6CC13C6A}"/>
              </a:ext>
            </a:extLst>
          </p:cNvPr>
          <p:cNvSpPr>
            <a:spLocks noGrp="1"/>
          </p:cNvSpPr>
          <p:nvPr>
            <p:ph type="title"/>
          </p:nvPr>
        </p:nvSpPr>
        <p:spPr/>
        <p:txBody>
          <a:bodyPr/>
          <a:lstStyle/>
          <a:p>
            <a:r>
              <a:rPr kumimoji="1" lang="ja-GB" altLang="en-US" dirty="0"/>
              <a:t>要件定義の手順</a:t>
            </a:r>
          </a:p>
        </p:txBody>
      </p:sp>
      <p:sp>
        <p:nvSpPr>
          <p:cNvPr id="3" name="コンテンツ プレースホルダー 2">
            <a:extLst>
              <a:ext uri="{FF2B5EF4-FFF2-40B4-BE49-F238E27FC236}">
                <a16:creationId xmlns:a16="http://schemas.microsoft.com/office/drawing/2014/main" id="{07E67093-D7A0-2B2F-82EF-B4F94F317DFF}"/>
              </a:ext>
            </a:extLst>
          </p:cNvPr>
          <p:cNvSpPr>
            <a:spLocks noGrp="1"/>
          </p:cNvSpPr>
          <p:nvPr>
            <p:ph idx="1"/>
          </p:nvPr>
        </p:nvSpPr>
        <p:spPr/>
        <p:txBody>
          <a:bodyPr/>
          <a:lstStyle/>
          <a:p>
            <a:pPr marL="0" indent="0">
              <a:buNone/>
            </a:pPr>
            <a:r>
              <a:rPr kumimoji="1" lang="ja-GB" altLang="en-US" dirty="0">
                <a:solidFill>
                  <a:schemeClr val="tx1">
                    <a:lumMod val="50000"/>
                    <a:lumOff val="50000"/>
                  </a:schemeClr>
                </a:solidFill>
              </a:rPr>
              <a:t>やりたいことを小課題に分割して，計算機にできることと擦り合わせる</a:t>
            </a:r>
            <a:endParaRPr kumimoji="1" lang="en-US" altLang="ja-GB" dirty="0">
              <a:solidFill>
                <a:schemeClr val="tx1">
                  <a:lumMod val="50000"/>
                  <a:lumOff val="50000"/>
                </a:schemeClr>
              </a:solidFill>
            </a:endParaRPr>
          </a:p>
          <a:p>
            <a:pPr marL="457200" lvl="1" indent="0">
              <a:buNone/>
            </a:pPr>
            <a:r>
              <a:rPr kumimoji="1" lang="ja-GB" altLang="en-US" dirty="0">
                <a:solidFill>
                  <a:schemeClr val="tx1">
                    <a:lumMod val="50000"/>
                    <a:lumOff val="50000"/>
                  </a:schemeClr>
                </a:solidFill>
              </a:rPr>
              <a:t>比喩）大学二次試験の数学文章問題</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複雑な状況をそのまま数学問題として解釈して，解法を思いつくのは難しい</a:t>
            </a:r>
            <a:endParaRPr lang="en-US" altLang="ja-GB" dirty="0">
              <a:solidFill>
                <a:schemeClr val="tx1">
                  <a:lumMod val="50000"/>
                  <a:lumOff val="50000"/>
                </a:schemeClr>
              </a:solidFill>
            </a:endParaRPr>
          </a:p>
          <a:p>
            <a:pPr lvl="2"/>
            <a:r>
              <a:rPr kumimoji="1" lang="ja-GB" altLang="en-US" dirty="0">
                <a:solidFill>
                  <a:srgbClr val="002060"/>
                </a:solidFill>
              </a:rPr>
              <a:t>状況を「分解」すれば考えやすくなる</a:t>
            </a:r>
            <a:endParaRPr kumimoji="1" lang="en-US" altLang="ja-GB" dirty="0">
              <a:solidFill>
                <a:srgbClr val="002060"/>
              </a:solidFill>
            </a:endParaRPr>
          </a:p>
          <a:p>
            <a:pPr lvl="3"/>
            <a:r>
              <a:rPr kumimoji="1" lang="ja-GB" altLang="en-US" dirty="0">
                <a:solidFill>
                  <a:schemeClr val="tx1">
                    <a:lumMod val="50000"/>
                    <a:lumOff val="50000"/>
                  </a:schemeClr>
                </a:solidFill>
              </a:rPr>
              <a:t>「総和を展開する」「数列的なパターンを探す」「同じ変数をまとめる」</a:t>
            </a:r>
            <a:endParaRPr kumimoji="1" lang="en-US" altLang="ja-GB" dirty="0">
              <a:solidFill>
                <a:schemeClr val="tx1">
                  <a:lumMod val="50000"/>
                  <a:lumOff val="50000"/>
                </a:schemeClr>
              </a:solidFill>
            </a:endParaRPr>
          </a:p>
          <a:p>
            <a:pPr lvl="2"/>
            <a:r>
              <a:rPr kumimoji="1" lang="ja-GB" altLang="en-US" dirty="0">
                <a:solidFill>
                  <a:srgbClr val="002060"/>
                </a:solidFill>
              </a:rPr>
              <a:t>数学にできることと「すり合わせる」ことで具体的な解決策に近づける</a:t>
            </a:r>
            <a:endParaRPr kumimoji="1" lang="en-US" altLang="ja-GB" dirty="0">
              <a:solidFill>
                <a:srgbClr val="002060"/>
              </a:solidFill>
            </a:endParaRPr>
          </a:p>
          <a:p>
            <a:pPr lvl="3"/>
            <a:r>
              <a:rPr kumimoji="1" lang="ja-GB" altLang="en-US" dirty="0">
                <a:solidFill>
                  <a:schemeClr val="tx1">
                    <a:lumMod val="50000"/>
                    <a:lumOff val="50000"/>
                  </a:schemeClr>
                </a:solidFill>
              </a:rPr>
              <a:t>「</a:t>
            </a:r>
            <a:r>
              <a:rPr kumimoji="1" lang="en-US" altLang="ja-GB" dirty="0" err="1">
                <a:solidFill>
                  <a:schemeClr val="tx1">
                    <a:lumMod val="50000"/>
                    <a:lumOff val="50000"/>
                  </a:schemeClr>
                </a:solidFill>
              </a:rPr>
              <a:t>Σ</a:t>
            </a:r>
            <a:r>
              <a:rPr kumimoji="1" lang="ja-GB" altLang="en-US" dirty="0">
                <a:solidFill>
                  <a:schemeClr val="tx1">
                    <a:lumMod val="50000"/>
                    <a:lumOff val="50000"/>
                  </a:schemeClr>
                </a:solidFill>
              </a:rPr>
              <a:t>の展開式」「数列漸化式の公式」「式展開の公式・方法論」</a:t>
            </a:r>
            <a:endParaRPr kumimoji="1" lang="en-US" altLang="ja-GB" dirty="0">
              <a:solidFill>
                <a:schemeClr val="tx1">
                  <a:lumMod val="50000"/>
                  <a:lumOff val="50000"/>
                </a:schemeClr>
              </a:solidFill>
            </a:endParaRPr>
          </a:p>
          <a:p>
            <a:pPr lvl="2"/>
            <a:endParaRPr kumimoji="1" lang="en-US" altLang="ja-GB" dirty="0"/>
          </a:p>
          <a:p>
            <a:pPr marL="457200" lvl="1" indent="0">
              <a:buNone/>
            </a:pPr>
            <a:r>
              <a:rPr kumimoji="1" lang="ja-GB" altLang="en-US" dirty="0">
                <a:solidFill>
                  <a:srgbClr val="0070C0"/>
                </a:solidFill>
              </a:rPr>
              <a:t>例）納税申請業務をデジタル化する</a:t>
            </a:r>
            <a:endParaRPr kumimoji="1" lang="en-US" altLang="ja-GB" dirty="0">
              <a:solidFill>
                <a:srgbClr val="0070C0"/>
              </a:solidFill>
            </a:endParaRPr>
          </a:p>
          <a:p>
            <a:pPr lvl="2"/>
            <a:r>
              <a:rPr kumimoji="1" lang="ja-GB" altLang="en-US" dirty="0"/>
              <a:t>やりたいことをいきなり「情報世界の問題」と解釈して解法を思いつくのは難しい</a:t>
            </a:r>
            <a:endParaRPr kumimoji="1" lang="en-US" altLang="ja-GB" dirty="0"/>
          </a:p>
          <a:p>
            <a:pPr lvl="2"/>
            <a:r>
              <a:rPr lang="ja-GB" altLang="en-US" dirty="0"/>
              <a:t>状況を「</a:t>
            </a:r>
            <a:r>
              <a:rPr lang="ja-GB" altLang="en-US" dirty="0">
                <a:solidFill>
                  <a:schemeClr val="accent2"/>
                </a:solidFill>
              </a:rPr>
              <a:t>分解</a:t>
            </a:r>
            <a:r>
              <a:rPr lang="ja-GB" altLang="en-US" dirty="0"/>
              <a:t>」すれば考えやすくなる</a:t>
            </a:r>
            <a:endParaRPr lang="en-US" altLang="ja-GB" dirty="0"/>
          </a:p>
          <a:p>
            <a:pPr lvl="3"/>
            <a:r>
              <a:rPr kumimoji="1" lang="ja-GB" altLang="en-US" dirty="0"/>
              <a:t>「住民が納税申請を提出する」「申請内容を記録する」「職員がデータを探す」</a:t>
            </a:r>
            <a:endParaRPr kumimoji="1" lang="en-US" altLang="ja-GB" dirty="0"/>
          </a:p>
          <a:p>
            <a:pPr lvl="2"/>
            <a:r>
              <a:rPr lang="en-US" altLang="ja-GB" dirty="0"/>
              <a:t>IT</a:t>
            </a:r>
            <a:r>
              <a:rPr lang="ja-GB" altLang="en-US" dirty="0"/>
              <a:t>にできることと「</a:t>
            </a:r>
            <a:r>
              <a:rPr lang="ja-GB" altLang="en-US" dirty="0">
                <a:solidFill>
                  <a:schemeClr val="accent2"/>
                </a:solidFill>
              </a:rPr>
              <a:t>すり合わせる</a:t>
            </a:r>
            <a:r>
              <a:rPr lang="ja-GB" altLang="en-US" dirty="0"/>
              <a:t>」ことで具体的な解決策に近づける</a:t>
            </a:r>
            <a:endParaRPr lang="en-US" altLang="ja-GB" dirty="0"/>
          </a:p>
          <a:p>
            <a:pPr lvl="3"/>
            <a:r>
              <a:rPr kumimoji="1" lang="ja-GB" altLang="en-US" dirty="0"/>
              <a:t>「</a:t>
            </a:r>
            <a:r>
              <a:rPr kumimoji="1" lang="en-US" altLang="ja-GB" dirty="0"/>
              <a:t>web</a:t>
            </a:r>
            <a:r>
              <a:rPr kumimoji="1" lang="ja-GB" altLang="en-US" dirty="0"/>
              <a:t>フォーム」「データベース」「検索」「データの絞り込み」</a:t>
            </a:r>
          </a:p>
        </p:txBody>
      </p:sp>
    </p:spTree>
    <p:extLst>
      <p:ext uri="{BB962C8B-B14F-4D97-AF65-F5344CB8AC3E}">
        <p14:creationId xmlns:p14="http://schemas.microsoft.com/office/powerpoint/2010/main" val="28982315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CC529-B89B-5547-B5E0-A6C5759AC408}"/>
              </a:ext>
            </a:extLst>
          </p:cNvPr>
          <p:cNvSpPr>
            <a:spLocks noGrp="1"/>
          </p:cNvSpPr>
          <p:nvPr>
            <p:ph type="title"/>
          </p:nvPr>
        </p:nvSpPr>
        <p:spPr/>
        <p:txBody>
          <a:bodyPr/>
          <a:lstStyle/>
          <a:p>
            <a:r>
              <a:rPr kumimoji="1" lang="ja-GB" altLang="en-US" dirty="0"/>
              <a:t>要件定義</a:t>
            </a:r>
            <a:r>
              <a:rPr kumimoji="1" lang="en-US" altLang="ja-GB" dirty="0"/>
              <a:t>1</a:t>
            </a:r>
            <a:r>
              <a:rPr kumimoji="1" lang="ja-GB" altLang="en-US" dirty="0"/>
              <a:t>：やりたいことを小さい課題に分解する</a:t>
            </a:r>
          </a:p>
        </p:txBody>
      </p:sp>
      <p:sp>
        <p:nvSpPr>
          <p:cNvPr id="3" name="コンテンツ プレースホルダー 2">
            <a:extLst>
              <a:ext uri="{FF2B5EF4-FFF2-40B4-BE49-F238E27FC236}">
                <a16:creationId xmlns:a16="http://schemas.microsoft.com/office/drawing/2014/main" id="{3F1B777B-DDD7-DC51-C232-B60765C8F849}"/>
              </a:ext>
            </a:extLst>
          </p:cNvPr>
          <p:cNvSpPr>
            <a:spLocks noGrp="1"/>
          </p:cNvSpPr>
          <p:nvPr>
            <p:ph idx="1"/>
          </p:nvPr>
        </p:nvSpPr>
        <p:spPr/>
        <p:txBody>
          <a:bodyPr/>
          <a:lstStyle/>
          <a:p>
            <a:endParaRPr lang="ja-GB" altLang="en-US"/>
          </a:p>
        </p:txBody>
      </p:sp>
      <p:pic>
        <p:nvPicPr>
          <p:cNvPr id="7" name="図 6" descr="ダイアグラム&#10;&#10;AI 生成コンテンツは誤りを含む可能性があります。">
            <a:extLst>
              <a:ext uri="{FF2B5EF4-FFF2-40B4-BE49-F238E27FC236}">
                <a16:creationId xmlns:a16="http://schemas.microsoft.com/office/drawing/2014/main" id="{E16EBE57-2AC8-269F-5456-C1D1230FB19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420325" y="676601"/>
            <a:ext cx="6303350" cy="6181399"/>
          </a:xfrm>
          <a:prstGeom prst="rect">
            <a:avLst/>
          </a:prstGeom>
        </p:spPr>
      </p:pic>
    </p:spTree>
    <p:extLst>
      <p:ext uri="{BB962C8B-B14F-4D97-AF65-F5344CB8AC3E}">
        <p14:creationId xmlns:p14="http://schemas.microsoft.com/office/powerpoint/2010/main" val="386399806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1C5C58-6AD1-C86F-ABBF-08225540A884}"/>
              </a:ext>
            </a:extLst>
          </p:cNvPr>
          <p:cNvSpPr>
            <a:spLocks noGrp="1"/>
          </p:cNvSpPr>
          <p:nvPr>
            <p:ph type="title"/>
          </p:nvPr>
        </p:nvSpPr>
        <p:spPr/>
        <p:txBody>
          <a:bodyPr/>
          <a:lstStyle/>
          <a:p>
            <a:r>
              <a:rPr kumimoji="1" lang="ja-GB" altLang="en-US" dirty="0"/>
              <a:t>要件定義</a:t>
            </a:r>
            <a:r>
              <a:rPr kumimoji="1" lang="en-US" altLang="ja-GB" dirty="0"/>
              <a:t>2</a:t>
            </a:r>
            <a:r>
              <a:rPr kumimoji="1" lang="ja-GB" altLang="en-US" dirty="0"/>
              <a:t>：計算機にできることとすり合わせる</a:t>
            </a:r>
          </a:p>
        </p:txBody>
      </p:sp>
      <p:sp>
        <p:nvSpPr>
          <p:cNvPr id="3" name="コンテンツ プレースホルダー 2">
            <a:extLst>
              <a:ext uri="{FF2B5EF4-FFF2-40B4-BE49-F238E27FC236}">
                <a16:creationId xmlns:a16="http://schemas.microsoft.com/office/drawing/2014/main" id="{328868E9-C1FB-1D2C-B603-4A4F3986E889}"/>
              </a:ext>
            </a:extLst>
          </p:cNvPr>
          <p:cNvSpPr>
            <a:spLocks noGrp="1"/>
          </p:cNvSpPr>
          <p:nvPr>
            <p:ph idx="1"/>
          </p:nvPr>
        </p:nvSpPr>
        <p:spPr/>
        <p:txBody>
          <a:bodyPr/>
          <a:lstStyle/>
          <a:p>
            <a:pPr marL="0" indent="0">
              <a:buNone/>
            </a:pPr>
            <a:r>
              <a:rPr kumimoji="1" lang="ja-GB" altLang="en-US" dirty="0"/>
              <a:t>小さく分解された課題なら，計算世界の解き方を見つけやすい</a:t>
            </a:r>
            <a:endParaRPr kumimoji="1" lang="en-US" altLang="ja-GB" dirty="0"/>
          </a:p>
          <a:p>
            <a:pPr marL="457200" lvl="1" indent="0">
              <a:buNone/>
            </a:pPr>
            <a:r>
              <a:rPr lang="ja-GB" altLang="en-US" dirty="0"/>
              <a:t>🔍</a:t>
            </a:r>
            <a:r>
              <a:rPr lang="ja-JP" altLang="en-US"/>
              <a:t>ブラウザのフォームから入力したデータを保存したい→「</a:t>
            </a:r>
            <a:r>
              <a:rPr lang="en-GB" altLang="ja-GB" dirty="0"/>
              <a:t>web</a:t>
            </a:r>
            <a:r>
              <a:rPr lang="ja-JP" altLang="en-US"/>
              <a:t>データベース」</a:t>
            </a:r>
            <a:endParaRPr lang="en-US" altLang="ja-JP" dirty="0"/>
          </a:p>
          <a:p>
            <a:pPr marL="457200" lvl="1" indent="0">
              <a:buNone/>
            </a:pPr>
            <a:r>
              <a:rPr lang="ja-GB" altLang="en-US" dirty="0"/>
              <a:t>🔍</a:t>
            </a:r>
            <a:r>
              <a:rPr lang="ja-JP" altLang="en-US"/>
              <a:t>データを入力順に並び替えたい→「ソートアルゴリズム」</a:t>
            </a:r>
            <a:endParaRPr lang="en-US" altLang="ja-JP" dirty="0"/>
          </a:p>
          <a:p>
            <a:pPr marL="457200" lvl="1" indent="0">
              <a:buNone/>
            </a:pPr>
            <a:r>
              <a:rPr lang="ja-GB" altLang="en-US" dirty="0"/>
              <a:t>🔍入力項目が不完全なら</a:t>
            </a:r>
            <a:r>
              <a:rPr lang="ja-JP" altLang="en-US"/>
              <a:t>エラー通知したい→「バリデーションフレームワーク」</a:t>
            </a:r>
            <a:endParaRPr lang="en-US" altLang="ja-JP" dirty="0"/>
          </a:p>
          <a:p>
            <a:pPr marL="457200" lvl="1" indent="0">
              <a:buNone/>
            </a:pPr>
            <a:r>
              <a:rPr kumimoji="1" lang="ja-JP" altLang="en-US"/>
              <a:t>・・・</a:t>
            </a:r>
            <a:endParaRPr kumimoji="1" lang="en-US" altLang="ja-JP" dirty="0"/>
          </a:p>
          <a:p>
            <a:pPr marL="457200" lvl="1" indent="0">
              <a:buNone/>
            </a:pPr>
            <a:endParaRPr kumimoji="1" lang="en-US" altLang="ja-GB" dirty="0"/>
          </a:p>
          <a:p>
            <a:pPr marL="457200" lvl="1" indent="0">
              <a:buNone/>
            </a:pPr>
            <a:r>
              <a:rPr kumimoji="1" lang="en-US" altLang="ja-GB" dirty="0"/>
              <a:t>→</a:t>
            </a:r>
            <a:r>
              <a:rPr kumimoji="1" lang="ja-GB" altLang="en-US" dirty="0">
                <a:solidFill>
                  <a:srgbClr val="0070C0"/>
                </a:solidFill>
              </a:rPr>
              <a:t>計算機にできること（アルゴリズム）とすり合わせながら分解の仕方を調整</a:t>
            </a:r>
            <a:br>
              <a:rPr kumimoji="1" lang="en-US" altLang="ja-GB" dirty="0">
                <a:solidFill>
                  <a:srgbClr val="0070C0"/>
                </a:solidFill>
              </a:rPr>
            </a:br>
            <a:r>
              <a:rPr kumimoji="1" lang="ja-JP" altLang="en-US">
                <a:solidFill>
                  <a:srgbClr val="0070C0"/>
                </a:solidFill>
              </a:rPr>
              <a:t>　</a:t>
            </a:r>
            <a:r>
              <a:rPr kumimoji="1" lang="ja-GB" altLang="en-US" dirty="0">
                <a:solidFill>
                  <a:srgbClr val="0070C0"/>
                </a:solidFill>
              </a:rPr>
              <a:t>して，実装の筋道をたてていく</a:t>
            </a:r>
            <a:endParaRPr kumimoji="1" lang="en-US" altLang="ja-GB" dirty="0">
              <a:solidFill>
                <a:srgbClr val="0070C0"/>
              </a:solidFill>
            </a:endParaRPr>
          </a:p>
          <a:p>
            <a:endParaRPr lang="en-US" altLang="ja-GB" dirty="0"/>
          </a:p>
          <a:p>
            <a:endParaRPr kumimoji="1" lang="en-US" altLang="ja-GB" dirty="0"/>
          </a:p>
          <a:p>
            <a:endParaRPr lang="en-US" altLang="ja-GB" dirty="0"/>
          </a:p>
          <a:p>
            <a:endParaRPr kumimoji="1" lang="en-US" altLang="ja-GB" dirty="0"/>
          </a:p>
          <a:p>
            <a:endParaRPr kumimoji="1" lang="ja-GB" altLang="en-US" dirty="0"/>
          </a:p>
        </p:txBody>
      </p:sp>
      <p:pic>
        <p:nvPicPr>
          <p:cNvPr id="7" name="図 6" descr="ダイアグラム&#10;&#10;AI 生成コンテンツは誤りを含む可能性があります。">
            <a:extLst>
              <a:ext uri="{FF2B5EF4-FFF2-40B4-BE49-F238E27FC236}">
                <a16:creationId xmlns:a16="http://schemas.microsoft.com/office/drawing/2014/main" id="{0F885C0A-7E86-3AED-4563-2B8D42930009}"/>
              </a:ext>
            </a:extLst>
          </p:cNvPr>
          <p:cNvPicPr>
            <a:picLocks noChangeAspect="1"/>
          </p:cNvPicPr>
          <p:nvPr/>
        </p:nvPicPr>
        <p:blipFill>
          <a:blip r:embed="rId2">
            <a:clrChange>
              <a:clrFrom>
                <a:srgbClr val="F7F6F3"/>
              </a:clrFrom>
              <a:clrTo>
                <a:srgbClr val="F7F6F3">
                  <a:alpha val="0"/>
                </a:srgbClr>
              </a:clrTo>
            </a:clrChange>
          </a:blip>
          <a:stretch>
            <a:fillRect/>
          </a:stretch>
        </p:blipFill>
        <p:spPr>
          <a:xfrm>
            <a:off x="-17733" y="3966551"/>
            <a:ext cx="9179465" cy="2224930"/>
          </a:xfrm>
          <a:prstGeom prst="rect">
            <a:avLst/>
          </a:prstGeom>
        </p:spPr>
      </p:pic>
    </p:spTree>
    <p:extLst>
      <p:ext uri="{BB962C8B-B14F-4D97-AF65-F5344CB8AC3E}">
        <p14:creationId xmlns:p14="http://schemas.microsoft.com/office/powerpoint/2010/main" val="27520730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525F03-0781-B051-3185-6EB137D7E0C2}"/>
              </a:ext>
            </a:extLst>
          </p:cNvPr>
          <p:cNvSpPr>
            <a:spLocks noGrp="1"/>
          </p:cNvSpPr>
          <p:nvPr>
            <p:ph type="title"/>
          </p:nvPr>
        </p:nvSpPr>
        <p:spPr/>
        <p:txBody>
          <a:bodyPr/>
          <a:lstStyle/>
          <a:p>
            <a:r>
              <a:rPr kumimoji="1" lang="ja-GB" altLang="en-US" dirty="0"/>
              <a:t>要件定義の全体像</a:t>
            </a:r>
          </a:p>
        </p:txBody>
      </p:sp>
      <p:sp>
        <p:nvSpPr>
          <p:cNvPr id="3" name="コンテンツ プレースホルダー 2">
            <a:extLst>
              <a:ext uri="{FF2B5EF4-FFF2-40B4-BE49-F238E27FC236}">
                <a16:creationId xmlns:a16="http://schemas.microsoft.com/office/drawing/2014/main" id="{BE7B85EE-A6DE-4673-97F0-DB1D917A9449}"/>
              </a:ext>
            </a:extLst>
          </p:cNvPr>
          <p:cNvSpPr>
            <a:spLocks noGrp="1"/>
          </p:cNvSpPr>
          <p:nvPr>
            <p:ph idx="1"/>
          </p:nvPr>
        </p:nvSpPr>
        <p:spPr/>
        <p:txBody>
          <a:bodyPr>
            <a:normAutofit/>
          </a:bodyPr>
          <a:lstStyle/>
          <a:p>
            <a:pPr marL="0" indent="0">
              <a:buNone/>
            </a:pPr>
            <a:r>
              <a:rPr kumimoji="1" lang="ja-GB" altLang="en-US" sz="2000" dirty="0"/>
              <a:t>「物事を</a:t>
            </a:r>
            <a:r>
              <a:rPr kumimoji="1" lang="en-US" altLang="ja-GB" sz="2000" dirty="0"/>
              <a:t>MECE</a:t>
            </a:r>
            <a:r>
              <a:rPr kumimoji="1" lang="ja-GB" altLang="en-US" sz="2000" dirty="0"/>
              <a:t>に分解する力」と</a:t>
            </a:r>
            <a:r>
              <a:rPr lang="ja-GB" altLang="en-US" sz="2000" dirty="0"/>
              <a:t> 「計算機にできることの知識」 </a:t>
            </a:r>
            <a:r>
              <a:rPr kumimoji="1" lang="ja-GB" altLang="en-US" sz="2000" dirty="0"/>
              <a:t>が必要</a:t>
            </a:r>
            <a:endParaRPr kumimoji="1" lang="en-US" altLang="ja-GB" sz="2000" dirty="0"/>
          </a:p>
          <a:p>
            <a:pPr marL="457200" lvl="1" indent="0">
              <a:buNone/>
            </a:pPr>
            <a:r>
              <a:rPr kumimoji="1" lang="en-US" altLang="ja-GB" sz="1800" dirty="0"/>
              <a:t>MECE</a:t>
            </a:r>
            <a:r>
              <a:rPr kumimoji="1" lang="ja-GB" altLang="en-US" sz="1800" dirty="0"/>
              <a:t>：</a:t>
            </a:r>
            <a:r>
              <a:rPr lang="en-GB" altLang="ja-GB" sz="1800" dirty="0"/>
              <a:t>Mutually Exclusive and Collectively Exhaustive</a:t>
            </a:r>
            <a:r>
              <a:rPr lang="ja-GB" altLang="en-GB" sz="1800" dirty="0"/>
              <a:t>，</a:t>
            </a:r>
            <a:r>
              <a:rPr lang="ja-JP" altLang="en-US" sz="1800"/>
              <a:t>漏れなくダブりなく</a:t>
            </a:r>
            <a:endParaRPr lang="en-US" altLang="ja-JP" sz="1800" dirty="0"/>
          </a:p>
          <a:p>
            <a:pPr lvl="2"/>
            <a:r>
              <a:rPr lang="ja-JP" altLang="en-US" sz="1600">
                <a:solidFill>
                  <a:srgbClr val="0070C0"/>
                </a:solidFill>
              </a:rPr>
              <a:t>元の問題を厳密に維持したまま，解きやすい形に細かく分解する必要がある</a:t>
            </a:r>
            <a:endParaRPr lang="en-US" altLang="ja-JP" sz="1600" dirty="0">
              <a:solidFill>
                <a:srgbClr val="0070C0"/>
              </a:solidFill>
            </a:endParaRPr>
          </a:p>
          <a:p>
            <a:pPr marL="457200" lvl="1" indent="0">
              <a:buNone/>
            </a:pPr>
            <a:r>
              <a:rPr lang="ja-JP" altLang="en-US" sz="1800"/>
              <a:t>計算機が実行できることに還元するための知識</a:t>
            </a:r>
            <a:endParaRPr lang="en-US" altLang="ja-JP" sz="1800" dirty="0"/>
          </a:p>
          <a:p>
            <a:pPr lvl="2"/>
            <a:r>
              <a:rPr lang="ja-JP" altLang="en-US" sz="1600"/>
              <a:t>目的の機能（図上側）を機能の組み合わせ（図下側）に分解するとき，</a:t>
            </a:r>
            <a:br>
              <a:rPr lang="en-US" altLang="ja-JP" sz="1600" dirty="0"/>
            </a:br>
            <a:r>
              <a:rPr lang="ja-JP" altLang="en-US" sz="1600">
                <a:solidFill>
                  <a:srgbClr val="0070C0"/>
                </a:solidFill>
              </a:rPr>
              <a:t>計算機が実現できる形に近づけなければならない</a:t>
            </a:r>
            <a:endParaRPr kumimoji="1" lang="ja-GB" altLang="en-US" sz="1600" dirty="0">
              <a:solidFill>
                <a:srgbClr val="0070C0"/>
              </a:solidFill>
            </a:endParaRPr>
          </a:p>
        </p:txBody>
      </p:sp>
      <p:pic>
        <p:nvPicPr>
          <p:cNvPr id="4" name="図 3" descr="ダイアグラム&#10;&#10;AI 生成コンテンツは誤りを含む可能性があります。">
            <a:extLst>
              <a:ext uri="{FF2B5EF4-FFF2-40B4-BE49-F238E27FC236}">
                <a16:creationId xmlns:a16="http://schemas.microsoft.com/office/drawing/2014/main" id="{9D8161E4-02E2-7C8F-25E8-DB0BDFB32F4A}"/>
              </a:ext>
            </a:extLst>
          </p:cNvPr>
          <p:cNvPicPr>
            <a:picLocks noChangeAspect="1"/>
          </p:cNvPicPr>
          <p:nvPr/>
        </p:nvPicPr>
        <p:blipFill>
          <a:blip r:embed="rId2">
            <a:clrChange>
              <a:clrFrom>
                <a:srgbClr val="F7F6F3"/>
              </a:clrFrom>
              <a:clrTo>
                <a:srgbClr val="F7F6F3">
                  <a:alpha val="0"/>
                </a:srgbClr>
              </a:clrTo>
            </a:clrChange>
          </a:blip>
          <a:stretch>
            <a:fillRect/>
          </a:stretch>
        </p:blipFill>
        <p:spPr>
          <a:xfrm>
            <a:off x="-17733" y="3966551"/>
            <a:ext cx="9179465" cy="2224930"/>
          </a:xfrm>
          <a:prstGeom prst="rect">
            <a:avLst/>
          </a:prstGeom>
        </p:spPr>
      </p:pic>
    </p:spTree>
    <p:extLst>
      <p:ext uri="{BB962C8B-B14F-4D97-AF65-F5344CB8AC3E}">
        <p14:creationId xmlns:p14="http://schemas.microsoft.com/office/powerpoint/2010/main" val="210440894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D0742-B191-7535-0C2F-4E0076E42D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86A022-29E2-9407-E3BA-D439851B9B56}"/>
              </a:ext>
            </a:extLst>
          </p:cNvPr>
          <p:cNvSpPr>
            <a:spLocks noGrp="1"/>
          </p:cNvSpPr>
          <p:nvPr>
            <p:ph type="title"/>
          </p:nvPr>
        </p:nvSpPr>
        <p:spPr/>
        <p:txBody>
          <a:bodyPr/>
          <a:lstStyle/>
          <a:p>
            <a:r>
              <a:rPr lang="ja-GB" altLang="en-US" dirty="0"/>
              <a:t>第</a:t>
            </a:r>
            <a:r>
              <a:rPr lang="en-US" altLang="ja-GB" dirty="0"/>
              <a:t>5</a:t>
            </a:r>
            <a:r>
              <a:rPr lang="ja-GB" altLang="en-US" dirty="0"/>
              <a:t>回：問題を「計算機」に解ける形に整理する</a:t>
            </a:r>
            <a:endParaRPr kumimoji="1" lang="ja-GB" altLang="en-US" dirty="0"/>
          </a:p>
        </p:txBody>
      </p:sp>
      <p:sp>
        <p:nvSpPr>
          <p:cNvPr id="3" name="コンテンツ プレースホルダー 2">
            <a:extLst>
              <a:ext uri="{FF2B5EF4-FFF2-40B4-BE49-F238E27FC236}">
                <a16:creationId xmlns:a16="http://schemas.microsoft.com/office/drawing/2014/main" id="{77CFF987-27B2-2523-132B-3684FCECF579}"/>
              </a:ext>
            </a:extLst>
          </p:cNvPr>
          <p:cNvSpPr>
            <a:spLocks noGrp="1"/>
          </p:cNvSpPr>
          <p:nvPr>
            <p:ph idx="1"/>
          </p:nvPr>
        </p:nvSpPr>
        <p:spPr/>
        <p:txBody>
          <a:bodyPr/>
          <a:lstStyle/>
          <a:p>
            <a:pPr marL="0" indent="0">
              <a:buNone/>
            </a:pPr>
            <a:r>
              <a:rPr lang="ja-GB" altLang="en-US" dirty="0">
                <a:solidFill>
                  <a:schemeClr val="tx1">
                    <a:lumMod val="50000"/>
                    <a:lumOff val="50000"/>
                  </a:schemeClr>
                </a:solidFill>
              </a:rPr>
              <a:t>本当の課題を見極め，役立つ</a:t>
            </a:r>
            <a:r>
              <a:rPr lang="en-US" altLang="ja-GB" dirty="0">
                <a:solidFill>
                  <a:schemeClr val="tx1">
                    <a:lumMod val="50000"/>
                    <a:lumOff val="50000"/>
                  </a:schemeClr>
                </a:solidFill>
              </a:rPr>
              <a:t>IT</a:t>
            </a:r>
            <a:r>
              <a:rPr lang="ja-GB" altLang="en-US" dirty="0">
                <a:solidFill>
                  <a:schemeClr val="tx1">
                    <a:lumMod val="50000"/>
                    <a:lumOff val="50000"/>
                  </a:schemeClr>
                </a:solidFill>
              </a:rPr>
              <a:t>システムを定義し，実装・検証する</a:t>
            </a:r>
            <a:endParaRPr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企業がソフトウェアを発注・開発する流れ</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利用者がやりたいことを整理する</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発注者が</a:t>
            </a:r>
            <a:r>
              <a:rPr kumimoji="1" lang="ja-GB" altLang="en-US" dirty="0">
                <a:solidFill>
                  <a:schemeClr val="tx1">
                    <a:lumMod val="50000"/>
                    <a:lumOff val="50000"/>
                  </a:schemeClr>
                </a:solidFill>
              </a:rPr>
              <a:t>欲しいシステムを定義する</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開発者が定義通りに動くシステムを作って納入する</a:t>
            </a:r>
            <a:endParaRPr kumimoji="1"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solidFill>
                  <a:schemeClr val="tx1">
                    <a:lumMod val="50000"/>
                    <a:lumOff val="50000"/>
                  </a:schemeClr>
                </a:solidFill>
              </a:rPr>
              <a:t>要件定義の仕方</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利用者の想像できるシステムが最善の解決策でない可能性に注意する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利用者のやりたいことを整理して，それを実現するには何が必要か考える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機能を細かく分割して，計算機にできることとすり合わせる</a:t>
            </a:r>
            <a:endParaRPr lang="en-US" altLang="ja-GB" dirty="0">
              <a:solidFill>
                <a:schemeClr val="tx1">
                  <a:lumMod val="50000"/>
                  <a:lumOff val="50000"/>
                </a:schemeClr>
              </a:solidFill>
            </a:endParaRPr>
          </a:p>
          <a:p>
            <a:pPr lvl="2"/>
            <a:endParaRPr kumimoji="1" lang="en-US" altLang="ja-GB" dirty="0"/>
          </a:p>
          <a:p>
            <a:pPr marL="914400" lvl="1" indent="-457200">
              <a:buFont typeface="+mj-lt"/>
              <a:buAutoNum type="arabicPeriod"/>
            </a:pPr>
            <a:r>
              <a:rPr kumimoji="1" lang="ja-GB" altLang="en-US" dirty="0">
                <a:solidFill>
                  <a:srgbClr val="002060"/>
                </a:solidFill>
              </a:rPr>
              <a:t>ソフトウェア開発モデル</a:t>
            </a:r>
            <a:endParaRPr kumimoji="1" lang="en-US" altLang="ja-GB" dirty="0">
              <a:solidFill>
                <a:srgbClr val="002060"/>
              </a:solidFill>
            </a:endParaRPr>
          </a:p>
          <a:p>
            <a:pPr lvl="2"/>
            <a:r>
              <a:rPr lang="ja-GB" altLang="en-US" dirty="0"/>
              <a:t>計画に沿って安全に開発する方法論（ウォーターフォール，</a:t>
            </a:r>
            <a:r>
              <a:rPr lang="en-US" altLang="ja-GB" dirty="0"/>
              <a:t>V</a:t>
            </a:r>
            <a:r>
              <a:rPr lang="ja-GB" altLang="en-US" dirty="0"/>
              <a:t>字モデルなど）</a:t>
            </a:r>
            <a:endParaRPr kumimoji="1" lang="en-US" altLang="ja-GB" dirty="0"/>
          </a:p>
          <a:p>
            <a:pPr lvl="2"/>
            <a:r>
              <a:rPr lang="ja-GB" altLang="en-US" dirty="0"/>
              <a:t>開発しながら価値を見極める方法論（アジャイル，リーンスタートアップなど）</a:t>
            </a:r>
            <a:endParaRPr kumimoji="1" lang="en-US" altLang="ja-GB" dirty="0"/>
          </a:p>
        </p:txBody>
      </p:sp>
    </p:spTree>
    <p:extLst>
      <p:ext uri="{BB962C8B-B14F-4D97-AF65-F5344CB8AC3E}">
        <p14:creationId xmlns:p14="http://schemas.microsoft.com/office/powerpoint/2010/main" val="44033424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6FDE6-649F-4378-0FE9-7802EB031D78}"/>
              </a:ext>
            </a:extLst>
          </p:cNvPr>
          <p:cNvSpPr>
            <a:spLocks noGrp="1"/>
          </p:cNvSpPr>
          <p:nvPr>
            <p:ph type="title"/>
          </p:nvPr>
        </p:nvSpPr>
        <p:spPr/>
        <p:txBody>
          <a:bodyPr/>
          <a:lstStyle/>
          <a:p>
            <a:r>
              <a:rPr kumimoji="1" lang="ja-GB" altLang="en-US" dirty="0"/>
              <a:t>様々な開発モデル</a:t>
            </a:r>
          </a:p>
        </p:txBody>
      </p:sp>
      <p:sp>
        <p:nvSpPr>
          <p:cNvPr id="3" name="コンテンツ プレースホルダー 2">
            <a:extLst>
              <a:ext uri="{FF2B5EF4-FFF2-40B4-BE49-F238E27FC236}">
                <a16:creationId xmlns:a16="http://schemas.microsoft.com/office/drawing/2014/main" id="{598CA294-2A55-8493-5FC9-60F0BA84E4C4}"/>
              </a:ext>
            </a:extLst>
          </p:cNvPr>
          <p:cNvSpPr>
            <a:spLocks noGrp="1"/>
          </p:cNvSpPr>
          <p:nvPr>
            <p:ph idx="1"/>
          </p:nvPr>
        </p:nvSpPr>
        <p:spPr/>
        <p:txBody>
          <a:bodyPr/>
          <a:lstStyle/>
          <a:p>
            <a:pPr marL="0" indent="0">
              <a:buNone/>
            </a:pPr>
            <a:r>
              <a:rPr lang="ja-JP" altLang="en-US"/>
              <a:t>情報システム開発の型は</a:t>
            </a:r>
            <a:r>
              <a:rPr lang="en-GB" altLang="ja-GB" dirty="0"/>
              <a:t>V</a:t>
            </a:r>
            <a:r>
              <a:rPr lang="ja-JP" altLang="en-US"/>
              <a:t>字モデルだけでない</a:t>
            </a:r>
            <a:endParaRPr lang="en-US" altLang="ja-JP" dirty="0"/>
          </a:p>
          <a:p>
            <a:pPr marL="457200" lvl="1" indent="0">
              <a:buNone/>
            </a:pPr>
            <a:r>
              <a:rPr lang="ja-JP" altLang="en-US"/>
              <a:t>計画からの逸脱を抑制</a:t>
            </a:r>
            <a:r>
              <a:rPr lang="ja-GB" altLang="en-US" dirty="0"/>
              <a:t>しやすい</a:t>
            </a:r>
            <a:r>
              <a:rPr lang="ja-JP" altLang="en-US"/>
              <a:t>ものから，方針変更に対応しやすいものまで様々あり，</a:t>
            </a:r>
            <a:r>
              <a:rPr lang="ja-GB" altLang="en-US" dirty="0"/>
              <a:t>場面に応じて使い分けられる</a:t>
            </a:r>
            <a:endParaRPr kumimoji="1" lang="en-US" altLang="ja-GB" dirty="0"/>
          </a:p>
          <a:p>
            <a:pPr lvl="4"/>
            <a:endParaRPr lang="en-US" altLang="ja-JP" dirty="0"/>
          </a:p>
          <a:p>
            <a:pPr marL="914400" lvl="2" indent="0">
              <a:buNone/>
            </a:pPr>
            <a:r>
              <a:rPr lang="ja-JP" altLang="en-US"/>
              <a:t>例</a:t>
            </a:r>
            <a:r>
              <a:rPr lang="en-US" altLang="ja-JP" dirty="0"/>
              <a:t>1</a:t>
            </a:r>
            <a:r>
              <a:rPr lang="ja-JP" altLang="en-US"/>
              <a:t>）医療・金融システム，大企業の巨大な収益基盤の</a:t>
            </a:r>
            <a:r>
              <a:rPr lang="en-GB" altLang="ja-GB" dirty="0"/>
              <a:t>DX </a:t>
            </a:r>
          </a:p>
          <a:p>
            <a:pPr marL="1371600" lvl="3" indent="0">
              <a:buNone/>
            </a:pPr>
            <a:r>
              <a:rPr lang="ja-JP" altLang="en-US"/>
              <a:t>実現したい価値は比較的明確だが，失敗は致命的</a:t>
            </a:r>
            <a:endParaRPr lang="en-US" altLang="ja-JP" dirty="0"/>
          </a:p>
          <a:p>
            <a:pPr marL="1371600" lvl="3" indent="0">
              <a:buNone/>
            </a:pPr>
            <a:r>
              <a:rPr kumimoji="1" lang="en-US" altLang="ja-GB" dirty="0"/>
              <a:t>→</a:t>
            </a:r>
            <a:r>
              <a:rPr kumimoji="1" lang="ja-GB" altLang="en-US" dirty="0"/>
              <a:t>事前計画からの逸脱を最小限に留めたい</a:t>
            </a:r>
            <a:endParaRPr kumimoji="1" lang="en-US" altLang="ja-GB" dirty="0"/>
          </a:p>
          <a:p>
            <a:pPr marL="1371600" lvl="3" indent="0">
              <a:buNone/>
            </a:pPr>
            <a:r>
              <a:rPr lang="en-US" altLang="ja-GB" dirty="0"/>
              <a:t>→</a:t>
            </a:r>
            <a:r>
              <a:rPr lang="ja-GB" altLang="en-US" dirty="0">
                <a:solidFill>
                  <a:srgbClr val="0070C0"/>
                </a:solidFill>
              </a:rPr>
              <a:t>事前に定めた計画から逸脱しにくい開発工程</a:t>
            </a:r>
            <a:endParaRPr lang="en-US" altLang="ja-GB" dirty="0">
              <a:solidFill>
                <a:srgbClr val="0070C0"/>
              </a:solidFill>
            </a:endParaRPr>
          </a:p>
          <a:p>
            <a:pPr lvl="4"/>
            <a:endParaRPr kumimoji="1" lang="en-US" altLang="ja-GB" dirty="0"/>
          </a:p>
          <a:p>
            <a:pPr marL="914400" lvl="2" indent="0">
              <a:buNone/>
            </a:pPr>
            <a:r>
              <a:rPr kumimoji="1" lang="ja-GB" altLang="en-US" dirty="0"/>
              <a:t>例</a:t>
            </a:r>
            <a:r>
              <a:rPr kumimoji="1" lang="en-US" altLang="ja-GB" dirty="0"/>
              <a:t>2</a:t>
            </a:r>
            <a:r>
              <a:rPr kumimoji="1" lang="ja-GB" altLang="en-US" dirty="0"/>
              <a:t>）</a:t>
            </a:r>
            <a:r>
              <a:rPr kumimoji="1" lang="en-US" altLang="ja-GB" dirty="0"/>
              <a:t>web</a:t>
            </a:r>
            <a:r>
              <a:rPr kumimoji="1" lang="ja-GB" altLang="en-US" dirty="0"/>
              <a:t>サービス，スタートアップ企業の製品開発</a:t>
            </a:r>
            <a:endParaRPr kumimoji="1" lang="en-US" altLang="ja-GB" dirty="0"/>
          </a:p>
          <a:p>
            <a:pPr marL="1371600" lvl="3" indent="0">
              <a:buNone/>
            </a:pPr>
            <a:r>
              <a:rPr lang="ja-GB" altLang="en-US" dirty="0"/>
              <a:t>正解が明確に分かっていないが，ある程度の失敗は許容可能</a:t>
            </a:r>
            <a:endParaRPr lang="en-US" altLang="ja-GB" dirty="0"/>
          </a:p>
          <a:p>
            <a:pPr marL="1371600" lvl="3" indent="0">
              <a:buNone/>
            </a:pPr>
            <a:r>
              <a:rPr lang="en-US" altLang="ja-GB" dirty="0"/>
              <a:t>→</a:t>
            </a:r>
            <a:r>
              <a:rPr kumimoji="1" lang="ja-GB" altLang="en-US" dirty="0"/>
              <a:t>開発やサービス運営を進めつつ，より良い形を模索したい</a:t>
            </a:r>
            <a:endParaRPr kumimoji="1" lang="en-US" altLang="ja-GB" dirty="0"/>
          </a:p>
          <a:p>
            <a:pPr marL="1371600" lvl="3" indent="0">
              <a:buNone/>
            </a:pPr>
            <a:r>
              <a:rPr lang="en-US" altLang="ja-GB" dirty="0"/>
              <a:t>→</a:t>
            </a:r>
            <a:r>
              <a:rPr lang="ja-GB" altLang="en-US" dirty="0">
                <a:solidFill>
                  <a:srgbClr val="0070C0"/>
                </a:solidFill>
              </a:rPr>
              <a:t>方針変更への柔軟な対応のしやすい開発工程</a:t>
            </a:r>
            <a:endParaRPr kumimoji="1" lang="ja-GB" altLang="en-US" dirty="0">
              <a:solidFill>
                <a:srgbClr val="0070C0"/>
              </a:solidFill>
            </a:endParaRPr>
          </a:p>
        </p:txBody>
      </p:sp>
    </p:spTree>
    <p:extLst>
      <p:ext uri="{BB962C8B-B14F-4D97-AF65-F5344CB8AC3E}">
        <p14:creationId xmlns:p14="http://schemas.microsoft.com/office/powerpoint/2010/main" val="7620456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角丸四角形 13">
            <a:extLst>
              <a:ext uri="{FF2B5EF4-FFF2-40B4-BE49-F238E27FC236}">
                <a16:creationId xmlns:a16="http://schemas.microsoft.com/office/drawing/2014/main" id="{C3890962-03AE-1B27-605A-876DABD9FD83}"/>
              </a:ext>
            </a:extLst>
          </p:cNvPr>
          <p:cNvSpPr/>
          <p:nvPr/>
        </p:nvSpPr>
        <p:spPr>
          <a:xfrm>
            <a:off x="620765" y="3183875"/>
            <a:ext cx="7902466" cy="2522862"/>
          </a:xfrm>
          <a:prstGeom prst="roundRect">
            <a:avLst>
              <a:gd name="adj" fmla="val 4831"/>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9356C3B6-541C-984B-9C0D-207B1AE52363}"/>
              </a:ext>
            </a:extLst>
          </p:cNvPr>
          <p:cNvSpPr>
            <a:spLocks noGrp="1"/>
          </p:cNvSpPr>
          <p:nvPr>
            <p:ph type="title"/>
          </p:nvPr>
        </p:nvSpPr>
        <p:spPr/>
        <p:txBody>
          <a:bodyPr/>
          <a:lstStyle/>
          <a:p>
            <a:r>
              <a:rPr kumimoji="1" lang="ja-GB" altLang="en-US" dirty="0"/>
              <a:t>開発モデルの具体例</a:t>
            </a:r>
          </a:p>
        </p:txBody>
      </p:sp>
      <p:sp>
        <p:nvSpPr>
          <p:cNvPr id="3" name="コンテンツ プレースホルダー 2">
            <a:extLst>
              <a:ext uri="{FF2B5EF4-FFF2-40B4-BE49-F238E27FC236}">
                <a16:creationId xmlns:a16="http://schemas.microsoft.com/office/drawing/2014/main" id="{D8FDB167-3C90-64C5-BEF9-1893B89A36B9}"/>
              </a:ext>
            </a:extLst>
          </p:cNvPr>
          <p:cNvSpPr>
            <a:spLocks noGrp="1"/>
          </p:cNvSpPr>
          <p:nvPr>
            <p:ph idx="1"/>
          </p:nvPr>
        </p:nvSpPr>
        <p:spPr/>
        <p:txBody>
          <a:bodyPr/>
          <a:lstStyle/>
          <a:p>
            <a:pPr marL="457200" lvl="1" indent="0">
              <a:buNone/>
            </a:pPr>
            <a:r>
              <a:rPr kumimoji="1" lang="ja-GB" altLang="en-US" dirty="0"/>
              <a:t>例</a:t>
            </a:r>
            <a:r>
              <a:rPr kumimoji="1" lang="en-US" altLang="ja-GB" dirty="0"/>
              <a:t>1</a:t>
            </a:r>
            <a:r>
              <a:rPr kumimoji="1" lang="ja-GB" altLang="en-US" dirty="0"/>
              <a:t>）医療・金融システム，大企業の巨大な収益基盤の</a:t>
            </a:r>
            <a:r>
              <a:rPr kumimoji="1" lang="en-US" altLang="ja-GB" dirty="0"/>
              <a:t>DX</a:t>
            </a:r>
          </a:p>
          <a:p>
            <a:pPr marL="914400" lvl="2" indent="0">
              <a:buNone/>
            </a:pPr>
            <a:r>
              <a:rPr lang="en-US" altLang="ja-GB" dirty="0"/>
              <a:t>→</a:t>
            </a:r>
            <a:r>
              <a:rPr lang="ja-GB" altLang="en-US" dirty="0"/>
              <a:t>ウォーターフォール開発</a:t>
            </a:r>
            <a:endParaRPr lang="en-US" altLang="ja-GB" dirty="0"/>
          </a:p>
          <a:p>
            <a:pPr marL="457200" lvl="1" indent="0">
              <a:buNone/>
            </a:pPr>
            <a:r>
              <a:rPr kumimoji="1" lang="ja-GB" altLang="en-US" dirty="0"/>
              <a:t>例</a:t>
            </a:r>
            <a:r>
              <a:rPr kumimoji="1" lang="en-US" altLang="ja-GB" dirty="0"/>
              <a:t>2</a:t>
            </a:r>
            <a:r>
              <a:rPr kumimoji="1" lang="ja-GB" altLang="en-US" dirty="0"/>
              <a:t>）</a:t>
            </a:r>
            <a:r>
              <a:rPr kumimoji="1" lang="en-US" altLang="ja-GB" dirty="0"/>
              <a:t>web</a:t>
            </a:r>
            <a:r>
              <a:rPr kumimoji="1" lang="ja-GB" altLang="en-US" dirty="0"/>
              <a:t>サービス，スタートアップ企業の製品開発</a:t>
            </a:r>
            <a:endParaRPr kumimoji="1" lang="en-US" altLang="ja-GB" dirty="0"/>
          </a:p>
          <a:p>
            <a:pPr marL="914400" lvl="2" indent="0">
              <a:buNone/>
            </a:pPr>
            <a:r>
              <a:rPr kumimoji="1" lang="en-US" altLang="ja-GB" dirty="0"/>
              <a:t>→</a:t>
            </a:r>
            <a:r>
              <a:rPr kumimoji="1" lang="ja-GB" altLang="en-US" dirty="0"/>
              <a:t>アジャイル開発</a:t>
            </a:r>
          </a:p>
        </p:txBody>
      </p:sp>
      <p:sp>
        <p:nvSpPr>
          <p:cNvPr id="4" name="テキスト ボックス 3">
            <a:extLst>
              <a:ext uri="{FF2B5EF4-FFF2-40B4-BE49-F238E27FC236}">
                <a16:creationId xmlns:a16="http://schemas.microsoft.com/office/drawing/2014/main" id="{C9EAB4E0-3E07-B0D6-686C-910C39E9E007}"/>
              </a:ext>
            </a:extLst>
          </p:cNvPr>
          <p:cNvSpPr txBox="1"/>
          <p:nvPr/>
        </p:nvSpPr>
        <p:spPr>
          <a:xfrm>
            <a:off x="3351143" y="3429000"/>
            <a:ext cx="2441694" cy="338554"/>
          </a:xfrm>
          <a:prstGeom prst="rect">
            <a:avLst/>
          </a:prstGeom>
          <a:noFill/>
        </p:spPr>
        <p:txBody>
          <a:bodyPr wrap="none" rtlCol="0">
            <a:spAutoFit/>
          </a:bodyPr>
          <a:lstStyle/>
          <a:p>
            <a:pPr algn="ctr"/>
            <a:r>
              <a:rPr kumimoji="1" lang="ja-GB" altLang="en-US" sz="1600" b="1" dirty="0"/>
              <a:t>ウォーターフォール開発</a:t>
            </a:r>
          </a:p>
        </p:txBody>
      </p:sp>
      <p:sp>
        <p:nvSpPr>
          <p:cNvPr id="5" name="テキスト ボックス 4">
            <a:extLst>
              <a:ext uri="{FF2B5EF4-FFF2-40B4-BE49-F238E27FC236}">
                <a16:creationId xmlns:a16="http://schemas.microsoft.com/office/drawing/2014/main" id="{A251C614-B029-E322-4CA1-7DA2D3D571C2}"/>
              </a:ext>
            </a:extLst>
          </p:cNvPr>
          <p:cNvSpPr txBox="1"/>
          <p:nvPr/>
        </p:nvSpPr>
        <p:spPr>
          <a:xfrm>
            <a:off x="3966700" y="3993878"/>
            <a:ext cx="1210588" cy="338554"/>
          </a:xfrm>
          <a:prstGeom prst="rect">
            <a:avLst/>
          </a:prstGeom>
          <a:noFill/>
        </p:spPr>
        <p:txBody>
          <a:bodyPr wrap="none" rtlCol="0">
            <a:spAutoFit/>
          </a:bodyPr>
          <a:lstStyle/>
          <a:p>
            <a:pPr algn="ctr"/>
            <a:r>
              <a:rPr kumimoji="1" lang="ja-GB" altLang="en-US" sz="1600" b="1" dirty="0"/>
              <a:t>反復型開発</a:t>
            </a:r>
          </a:p>
        </p:txBody>
      </p:sp>
      <p:sp>
        <p:nvSpPr>
          <p:cNvPr id="6" name="テキスト ボックス 5">
            <a:extLst>
              <a:ext uri="{FF2B5EF4-FFF2-40B4-BE49-F238E27FC236}">
                <a16:creationId xmlns:a16="http://schemas.microsoft.com/office/drawing/2014/main" id="{B0CFDA49-1F68-418A-E17F-540435188813}"/>
              </a:ext>
            </a:extLst>
          </p:cNvPr>
          <p:cNvSpPr txBox="1"/>
          <p:nvPr/>
        </p:nvSpPr>
        <p:spPr>
          <a:xfrm>
            <a:off x="3761516" y="4558756"/>
            <a:ext cx="1620957" cy="338554"/>
          </a:xfrm>
          <a:prstGeom prst="rect">
            <a:avLst/>
          </a:prstGeom>
          <a:noFill/>
        </p:spPr>
        <p:txBody>
          <a:bodyPr wrap="none" rtlCol="0">
            <a:spAutoFit/>
          </a:bodyPr>
          <a:lstStyle/>
          <a:p>
            <a:pPr algn="ctr"/>
            <a:r>
              <a:rPr kumimoji="1" lang="ja-GB" altLang="en-US" sz="1600" b="1" dirty="0"/>
              <a:t>アジャイル開発</a:t>
            </a:r>
          </a:p>
        </p:txBody>
      </p:sp>
      <p:sp>
        <p:nvSpPr>
          <p:cNvPr id="7" name="テキスト ボックス 6">
            <a:extLst>
              <a:ext uri="{FF2B5EF4-FFF2-40B4-BE49-F238E27FC236}">
                <a16:creationId xmlns:a16="http://schemas.microsoft.com/office/drawing/2014/main" id="{5B2BB91B-8A14-C32A-8923-AD898D364E4C}"/>
              </a:ext>
            </a:extLst>
          </p:cNvPr>
          <p:cNvSpPr txBox="1"/>
          <p:nvPr/>
        </p:nvSpPr>
        <p:spPr>
          <a:xfrm>
            <a:off x="2838192" y="5123634"/>
            <a:ext cx="3467616" cy="338554"/>
          </a:xfrm>
          <a:prstGeom prst="rect">
            <a:avLst/>
          </a:prstGeom>
          <a:noFill/>
        </p:spPr>
        <p:txBody>
          <a:bodyPr wrap="none" rtlCol="0">
            <a:spAutoFit/>
          </a:bodyPr>
          <a:lstStyle/>
          <a:p>
            <a:pPr algn="ctr"/>
            <a:r>
              <a:rPr kumimoji="1" lang="ja-GB" altLang="en-US" sz="1600" b="1" dirty="0"/>
              <a:t>リーンスタートアップ（</a:t>
            </a:r>
            <a:r>
              <a:rPr kumimoji="1" lang="en-US" altLang="ja-GB" sz="1600" b="1" dirty="0"/>
              <a:t>MVP</a:t>
            </a:r>
            <a:r>
              <a:rPr kumimoji="1" lang="ja-GB" altLang="en-US" sz="1600" b="1" dirty="0"/>
              <a:t>開発）</a:t>
            </a:r>
          </a:p>
        </p:txBody>
      </p:sp>
      <p:cxnSp>
        <p:nvCxnSpPr>
          <p:cNvPr id="9" name="直線矢印コネクタ 8">
            <a:extLst>
              <a:ext uri="{FF2B5EF4-FFF2-40B4-BE49-F238E27FC236}">
                <a16:creationId xmlns:a16="http://schemas.microsoft.com/office/drawing/2014/main" id="{F62FD445-6730-6673-DD43-165B02B3EC0D}"/>
              </a:ext>
            </a:extLst>
          </p:cNvPr>
          <p:cNvCxnSpPr>
            <a:cxnSpLocks/>
          </p:cNvCxnSpPr>
          <p:nvPr/>
        </p:nvCxnSpPr>
        <p:spPr>
          <a:xfrm flipV="1">
            <a:off x="2368626" y="3429000"/>
            <a:ext cx="0" cy="2063966"/>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395D9B38-79CA-5F36-A66E-0A98BECA65F7}"/>
              </a:ext>
            </a:extLst>
          </p:cNvPr>
          <p:cNvSpPr txBox="1"/>
          <p:nvPr/>
        </p:nvSpPr>
        <p:spPr>
          <a:xfrm>
            <a:off x="620766" y="3487050"/>
            <a:ext cx="1441420" cy="523220"/>
          </a:xfrm>
          <a:prstGeom prst="rect">
            <a:avLst/>
          </a:prstGeom>
          <a:noFill/>
        </p:spPr>
        <p:txBody>
          <a:bodyPr wrap="none" rtlCol="0">
            <a:spAutoFit/>
          </a:bodyPr>
          <a:lstStyle/>
          <a:p>
            <a:pPr algn="ctr"/>
            <a:r>
              <a:rPr kumimoji="1" lang="ja-GB" altLang="en-US" sz="1400" b="1" dirty="0"/>
              <a:t>確実性・安全性</a:t>
            </a:r>
            <a:endParaRPr kumimoji="1" lang="en-US" altLang="ja-GB" sz="1400" b="1" dirty="0"/>
          </a:p>
          <a:p>
            <a:pPr algn="ctr"/>
            <a:r>
              <a:rPr kumimoji="1" lang="ja-GB" altLang="en-US" sz="1400" b="1" dirty="0"/>
              <a:t>（計画重視）</a:t>
            </a:r>
          </a:p>
        </p:txBody>
      </p:sp>
      <p:sp>
        <p:nvSpPr>
          <p:cNvPr id="13" name="テキスト ボックス 12">
            <a:extLst>
              <a:ext uri="{FF2B5EF4-FFF2-40B4-BE49-F238E27FC236}">
                <a16:creationId xmlns:a16="http://schemas.microsoft.com/office/drawing/2014/main" id="{7705247C-092F-E55C-5506-A1CB38786738}"/>
              </a:ext>
            </a:extLst>
          </p:cNvPr>
          <p:cNvSpPr txBox="1"/>
          <p:nvPr/>
        </p:nvSpPr>
        <p:spPr>
          <a:xfrm>
            <a:off x="530997" y="5046690"/>
            <a:ext cx="1620957" cy="523220"/>
          </a:xfrm>
          <a:prstGeom prst="rect">
            <a:avLst/>
          </a:prstGeom>
          <a:noFill/>
        </p:spPr>
        <p:txBody>
          <a:bodyPr wrap="none" rtlCol="0">
            <a:spAutoFit/>
          </a:bodyPr>
          <a:lstStyle/>
          <a:p>
            <a:pPr algn="ctr"/>
            <a:r>
              <a:rPr kumimoji="1" lang="ja-GB" altLang="en-US" sz="1400" b="1" dirty="0"/>
              <a:t>仕様変更への対応</a:t>
            </a:r>
            <a:endParaRPr kumimoji="1" lang="en-US" altLang="ja-GB" sz="1400" b="1" dirty="0"/>
          </a:p>
          <a:p>
            <a:pPr algn="ctr"/>
            <a:r>
              <a:rPr kumimoji="1" lang="ja-GB" altLang="en-US" sz="1400" b="1" dirty="0"/>
              <a:t>（柔軟性重視）</a:t>
            </a:r>
          </a:p>
        </p:txBody>
      </p:sp>
    </p:spTree>
    <p:extLst>
      <p:ext uri="{BB962C8B-B14F-4D97-AF65-F5344CB8AC3E}">
        <p14:creationId xmlns:p14="http://schemas.microsoft.com/office/powerpoint/2010/main" val="32861602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000FC-00CF-381C-B9EA-F0A5292EA065}"/>
              </a:ext>
            </a:extLst>
          </p:cNvPr>
          <p:cNvSpPr>
            <a:spLocks noGrp="1"/>
          </p:cNvSpPr>
          <p:nvPr>
            <p:ph type="title"/>
          </p:nvPr>
        </p:nvSpPr>
        <p:spPr/>
        <p:txBody>
          <a:bodyPr/>
          <a:lstStyle/>
          <a:p>
            <a:r>
              <a:rPr kumimoji="1" lang="ja-GB" altLang="en-US" dirty="0"/>
              <a:t>ウォーターフォール開発</a:t>
            </a:r>
          </a:p>
        </p:txBody>
      </p:sp>
      <p:sp>
        <p:nvSpPr>
          <p:cNvPr id="3" name="コンテンツ プレースホルダー 2">
            <a:extLst>
              <a:ext uri="{FF2B5EF4-FFF2-40B4-BE49-F238E27FC236}">
                <a16:creationId xmlns:a16="http://schemas.microsoft.com/office/drawing/2014/main" id="{D046906D-5FDE-EF63-E1AA-8C434CA935FC}"/>
              </a:ext>
            </a:extLst>
          </p:cNvPr>
          <p:cNvSpPr>
            <a:spLocks noGrp="1"/>
          </p:cNvSpPr>
          <p:nvPr>
            <p:ph idx="1"/>
          </p:nvPr>
        </p:nvSpPr>
        <p:spPr/>
        <p:txBody>
          <a:bodyPr/>
          <a:lstStyle/>
          <a:p>
            <a:pPr marL="0" indent="0">
              <a:buNone/>
            </a:pPr>
            <a:r>
              <a:rPr kumimoji="1" lang="ja-GB" altLang="en-US" dirty="0"/>
              <a:t>事前に十分に計画を練り，逸脱や失敗なく完遂を目指すモデル</a:t>
            </a:r>
            <a:endParaRPr kumimoji="1" lang="en-US" altLang="ja-GB" dirty="0"/>
          </a:p>
          <a:p>
            <a:pPr lvl="1"/>
            <a:r>
              <a:rPr lang="ja-GB" altLang="en-US" dirty="0"/>
              <a:t>要件定義，設計，実装，テスト，リリースまで一方向的に進める</a:t>
            </a:r>
            <a:endParaRPr lang="en-US" altLang="ja-GB" dirty="0"/>
          </a:p>
        </p:txBody>
      </p:sp>
      <p:grpSp>
        <p:nvGrpSpPr>
          <p:cNvPr id="23" name="グループ化 22">
            <a:extLst>
              <a:ext uri="{FF2B5EF4-FFF2-40B4-BE49-F238E27FC236}">
                <a16:creationId xmlns:a16="http://schemas.microsoft.com/office/drawing/2014/main" id="{C76CEFE1-F08E-049D-D1F7-F2DD4FA98AC3}"/>
              </a:ext>
            </a:extLst>
          </p:cNvPr>
          <p:cNvGrpSpPr/>
          <p:nvPr/>
        </p:nvGrpSpPr>
        <p:grpSpPr>
          <a:xfrm>
            <a:off x="425058" y="2300819"/>
            <a:ext cx="8718942" cy="4220013"/>
            <a:chOff x="399355" y="2620308"/>
            <a:chExt cx="8718942" cy="4220013"/>
          </a:xfrm>
        </p:grpSpPr>
        <p:grpSp>
          <p:nvGrpSpPr>
            <p:cNvPr id="4" name="グループ化 3">
              <a:extLst>
                <a:ext uri="{FF2B5EF4-FFF2-40B4-BE49-F238E27FC236}">
                  <a16:creationId xmlns:a16="http://schemas.microsoft.com/office/drawing/2014/main" id="{9B51A2F1-90E2-5E66-B208-72DAA23BC9A9}"/>
                </a:ext>
              </a:extLst>
            </p:cNvPr>
            <p:cNvGrpSpPr/>
            <p:nvPr/>
          </p:nvGrpSpPr>
          <p:grpSpPr>
            <a:xfrm>
              <a:off x="399355" y="2620308"/>
              <a:ext cx="5922776" cy="3786877"/>
              <a:chOff x="353754" y="2995864"/>
              <a:chExt cx="5922776" cy="3786877"/>
            </a:xfrm>
          </p:grpSpPr>
          <p:cxnSp>
            <p:nvCxnSpPr>
              <p:cNvPr id="5" name="直線コネクタ 4">
                <a:extLst>
                  <a:ext uri="{FF2B5EF4-FFF2-40B4-BE49-F238E27FC236}">
                    <a16:creationId xmlns:a16="http://schemas.microsoft.com/office/drawing/2014/main" id="{3BE7FEAC-F8D8-ED02-7089-33457AED5061}"/>
                  </a:ext>
                </a:extLst>
              </p:cNvPr>
              <p:cNvCxnSpPr>
                <a:cxnSpLocks/>
                <a:stCxn id="6" idx="2"/>
                <a:endCxn id="16" idx="0"/>
              </p:cNvCxnSpPr>
              <p:nvPr/>
            </p:nvCxnSpPr>
            <p:spPr>
              <a:xfrm>
                <a:off x="1181754" y="3429000"/>
                <a:ext cx="5094776" cy="3353741"/>
              </a:xfrm>
              <a:prstGeom prst="line">
                <a:avLst/>
              </a:prstGeom>
              <a:ln w="88900" cap="rnd">
                <a:gradFill flip="none" rotWithShape="1">
                  <a:gsLst>
                    <a:gs pos="50000">
                      <a:srgbClr val="012355"/>
                    </a:gs>
                    <a:gs pos="100000">
                      <a:schemeClr val="accent2"/>
                    </a:gs>
                    <a:gs pos="0">
                      <a:schemeClr val="accent1">
                        <a:lumMod val="60000"/>
                        <a:lumOff val="40000"/>
                      </a:schemeClr>
                    </a:gs>
                    <a:gs pos="14000">
                      <a:schemeClr val="accent1">
                        <a:lumMod val="60000"/>
                        <a:lumOff val="40000"/>
                      </a:schemeClr>
                    </a:gs>
                    <a:gs pos="31000">
                      <a:schemeClr val="accent1">
                        <a:lumMod val="50000"/>
                      </a:schemeClr>
                    </a:gs>
                    <a:gs pos="80000">
                      <a:schemeClr val="accent2">
                        <a:lumMod val="5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 name="角丸四角形 5">
                <a:extLst>
                  <a:ext uri="{FF2B5EF4-FFF2-40B4-BE49-F238E27FC236}">
                    <a16:creationId xmlns:a16="http://schemas.microsoft.com/office/drawing/2014/main" id="{CC4202FC-21F5-0456-F9E9-0FD4725CF250}"/>
                  </a:ext>
                </a:extLst>
              </p:cNvPr>
              <p:cNvSpPr/>
              <p:nvPr/>
            </p:nvSpPr>
            <p:spPr>
              <a:xfrm>
                <a:off x="353754" y="2995864"/>
                <a:ext cx="1656000" cy="43313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7" name="角丸四角形 6">
                <a:extLst>
                  <a:ext uri="{FF2B5EF4-FFF2-40B4-BE49-F238E27FC236}">
                    <a16:creationId xmlns:a16="http://schemas.microsoft.com/office/drawing/2014/main" id="{CDCE5400-7002-5A8D-126D-8FA3CBCD878A}"/>
                  </a:ext>
                </a:extLst>
              </p:cNvPr>
              <p:cNvSpPr/>
              <p:nvPr/>
            </p:nvSpPr>
            <p:spPr>
              <a:xfrm>
                <a:off x="1044820" y="3705130"/>
                <a:ext cx="1656000" cy="43313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8" name="角丸四角形 7">
                <a:extLst>
                  <a:ext uri="{FF2B5EF4-FFF2-40B4-BE49-F238E27FC236}">
                    <a16:creationId xmlns:a16="http://schemas.microsoft.com/office/drawing/2014/main" id="{C42FF28B-6F36-1433-5C5E-275DAB817937}"/>
                  </a:ext>
                </a:extLst>
              </p:cNvPr>
              <p:cNvSpPr/>
              <p:nvPr/>
            </p:nvSpPr>
            <p:spPr>
              <a:xfrm>
                <a:off x="2029808" y="4349080"/>
                <a:ext cx="1656000" cy="433136"/>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9" name="角丸四角形 8">
                <a:extLst>
                  <a:ext uri="{FF2B5EF4-FFF2-40B4-BE49-F238E27FC236}">
                    <a16:creationId xmlns:a16="http://schemas.microsoft.com/office/drawing/2014/main" id="{2C2FDFB0-78F9-2A7F-D14D-944CCC0661FB}"/>
                  </a:ext>
                </a:extLst>
              </p:cNvPr>
              <p:cNvSpPr/>
              <p:nvPr/>
            </p:nvSpPr>
            <p:spPr>
              <a:xfrm>
                <a:off x="2900493" y="4975918"/>
                <a:ext cx="1656000" cy="433136"/>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10" name="角丸四角形 9">
                <a:extLst>
                  <a:ext uri="{FF2B5EF4-FFF2-40B4-BE49-F238E27FC236}">
                    <a16:creationId xmlns:a16="http://schemas.microsoft.com/office/drawing/2014/main" id="{C9012E17-53B8-4E83-8FE9-AEC34526D98A}"/>
                  </a:ext>
                </a:extLst>
              </p:cNvPr>
              <p:cNvSpPr/>
              <p:nvPr/>
            </p:nvSpPr>
            <p:spPr>
              <a:xfrm>
                <a:off x="3792530" y="5570099"/>
                <a:ext cx="1656000" cy="43313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grpSp>
        <p:sp>
          <p:nvSpPr>
            <p:cNvPr id="11" name="テキスト ボックス 10">
              <a:extLst>
                <a:ext uri="{FF2B5EF4-FFF2-40B4-BE49-F238E27FC236}">
                  <a16:creationId xmlns:a16="http://schemas.microsoft.com/office/drawing/2014/main" id="{B9ECC516-D923-4635-C38E-7310F3469571}"/>
                </a:ext>
              </a:extLst>
            </p:cNvPr>
            <p:cNvSpPr txBox="1"/>
            <p:nvPr/>
          </p:nvSpPr>
          <p:spPr>
            <a:xfrm>
              <a:off x="2066544" y="2643833"/>
              <a:ext cx="4570482" cy="369332"/>
            </a:xfrm>
            <a:prstGeom prst="rect">
              <a:avLst/>
            </a:prstGeom>
            <a:noFill/>
          </p:spPr>
          <p:txBody>
            <a:bodyPr wrap="none" rtlCol="0">
              <a:spAutoFit/>
            </a:bodyPr>
            <a:lstStyle/>
            <a:p>
              <a:r>
                <a:rPr kumimoji="1" lang="ja-JP" altLang="en-US" b="1">
                  <a:solidFill>
                    <a:srgbClr val="0070C0"/>
                  </a:solidFill>
                </a:rPr>
                <a:t>システムに求め</a:t>
              </a:r>
              <a:r>
                <a:rPr kumimoji="1" lang="ja-GB" altLang="en-US" b="1" dirty="0">
                  <a:solidFill>
                    <a:srgbClr val="0070C0"/>
                  </a:solidFill>
                </a:rPr>
                <a:t>られ</a:t>
              </a:r>
              <a:r>
                <a:rPr kumimoji="1" lang="ja-JP" altLang="en-US" b="1">
                  <a:solidFill>
                    <a:srgbClr val="0070C0"/>
                  </a:solidFill>
                </a:rPr>
                <a:t>ること（要求）を</a:t>
              </a:r>
              <a:r>
                <a:rPr kumimoji="1" lang="ja-GB" altLang="en-US" b="1" dirty="0">
                  <a:solidFill>
                    <a:srgbClr val="0070C0"/>
                  </a:solidFill>
                </a:rPr>
                <a:t>分析</a:t>
              </a:r>
              <a:endParaRPr kumimoji="1" lang="ja-JP" altLang="en-US" b="1">
                <a:solidFill>
                  <a:srgbClr val="0070C0"/>
                </a:solidFill>
              </a:endParaRPr>
            </a:p>
          </p:txBody>
        </p:sp>
        <p:sp>
          <p:nvSpPr>
            <p:cNvPr id="12" name="テキスト ボックス 11">
              <a:extLst>
                <a:ext uri="{FF2B5EF4-FFF2-40B4-BE49-F238E27FC236}">
                  <a16:creationId xmlns:a16="http://schemas.microsoft.com/office/drawing/2014/main" id="{1CDE17EA-1C9D-3684-D6C4-A6C60DD72961}"/>
                </a:ext>
              </a:extLst>
            </p:cNvPr>
            <p:cNvSpPr txBox="1"/>
            <p:nvPr/>
          </p:nvSpPr>
          <p:spPr>
            <a:xfrm>
              <a:off x="2759031" y="3354157"/>
              <a:ext cx="5262979" cy="369332"/>
            </a:xfrm>
            <a:prstGeom prst="rect">
              <a:avLst/>
            </a:prstGeom>
            <a:noFill/>
          </p:spPr>
          <p:txBody>
            <a:bodyPr wrap="none" rtlCol="0">
              <a:spAutoFit/>
            </a:bodyPr>
            <a:lstStyle/>
            <a:p>
              <a:r>
                <a:rPr kumimoji="1" lang="ja-JP" altLang="en-US" b="1">
                  <a:solidFill>
                    <a:srgbClr val="0070C0"/>
                  </a:solidFill>
                </a:rPr>
                <a:t>要求実現</a:t>
              </a:r>
              <a:r>
                <a:rPr kumimoji="1" lang="ja-GB" altLang="en-US" b="1" dirty="0">
                  <a:solidFill>
                    <a:srgbClr val="0070C0"/>
                  </a:solidFill>
                </a:rPr>
                <a:t>の</a:t>
              </a:r>
              <a:r>
                <a:rPr kumimoji="1" lang="ja-JP" altLang="en-US" b="1">
                  <a:solidFill>
                    <a:srgbClr val="0070C0"/>
                  </a:solidFill>
                </a:rPr>
                <a:t>ためにシステムが持つべき機能を定義</a:t>
              </a:r>
            </a:p>
          </p:txBody>
        </p:sp>
        <p:sp>
          <p:nvSpPr>
            <p:cNvPr id="13" name="テキスト ボックス 12">
              <a:extLst>
                <a:ext uri="{FF2B5EF4-FFF2-40B4-BE49-F238E27FC236}">
                  <a16:creationId xmlns:a16="http://schemas.microsoft.com/office/drawing/2014/main" id="{54C6BFB0-1D35-1F55-0CD4-5E478E00CAD7}"/>
                </a:ext>
              </a:extLst>
            </p:cNvPr>
            <p:cNvSpPr txBox="1"/>
            <p:nvPr/>
          </p:nvSpPr>
          <p:spPr>
            <a:xfrm>
              <a:off x="3774094" y="3858627"/>
              <a:ext cx="5344203" cy="646331"/>
            </a:xfrm>
            <a:prstGeom prst="rect">
              <a:avLst/>
            </a:prstGeom>
            <a:noFill/>
          </p:spPr>
          <p:txBody>
            <a:bodyPr wrap="square" rtlCol="0">
              <a:spAutoFit/>
            </a:bodyPr>
            <a:lstStyle/>
            <a:p>
              <a:r>
                <a:rPr kumimoji="1" lang="ja-JP" altLang="en-US" b="1">
                  <a:solidFill>
                    <a:srgbClr val="0070C0"/>
                  </a:solidFill>
                </a:rPr>
                <a:t>実装可能な</a:t>
              </a:r>
              <a:r>
                <a:rPr kumimoji="1" lang="ja-GB" altLang="en-US" b="1" dirty="0">
                  <a:solidFill>
                    <a:srgbClr val="0070C0"/>
                  </a:solidFill>
                </a:rPr>
                <a:t>姿として捉えるために</a:t>
              </a:r>
              <a:br>
                <a:rPr kumimoji="1" lang="en-US" altLang="ja-JP" b="1" dirty="0">
                  <a:solidFill>
                    <a:srgbClr val="0070C0"/>
                  </a:solidFill>
                </a:rPr>
              </a:br>
              <a:r>
                <a:rPr kumimoji="1" lang="ja-GB" altLang="en-US" b="1" dirty="0">
                  <a:solidFill>
                    <a:srgbClr val="0070C0"/>
                  </a:solidFill>
                </a:rPr>
                <a:t>システムを小さな要素同士の連携として表現</a:t>
              </a:r>
              <a:endParaRPr kumimoji="1" lang="ja-JP" altLang="en-US" b="1">
                <a:solidFill>
                  <a:srgbClr val="0070C0"/>
                </a:solidFill>
              </a:endParaRPr>
            </a:p>
          </p:txBody>
        </p:sp>
        <p:sp>
          <p:nvSpPr>
            <p:cNvPr id="14" name="テキスト ボックス 13">
              <a:extLst>
                <a:ext uri="{FF2B5EF4-FFF2-40B4-BE49-F238E27FC236}">
                  <a16:creationId xmlns:a16="http://schemas.microsoft.com/office/drawing/2014/main" id="{DD03C9AF-A00D-3953-C89C-FA3054D8550D}"/>
                </a:ext>
              </a:extLst>
            </p:cNvPr>
            <p:cNvSpPr txBox="1"/>
            <p:nvPr/>
          </p:nvSpPr>
          <p:spPr>
            <a:xfrm>
              <a:off x="4666131" y="4632264"/>
              <a:ext cx="4340936" cy="369332"/>
            </a:xfrm>
            <a:prstGeom prst="rect">
              <a:avLst/>
            </a:prstGeom>
            <a:noFill/>
          </p:spPr>
          <p:txBody>
            <a:bodyPr wrap="square" rtlCol="0">
              <a:spAutoFit/>
            </a:bodyPr>
            <a:lstStyle/>
            <a:p>
              <a:r>
                <a:rPr kumimoji="1" lang="ja-JP" altLang="en-US" b="1">
                  <a:solidFill>
                    <a:srgbClr val="0070C0"/>
                  </a:solidFill>
                </a:rPr>
                <a:t>各</a:t>
              </a:r>
              <a:r>
                <a:rPr kumimoji="1" lang="ja-GB" altLang="en-US" b="1" dirty="0">
                  <a:solidFill>
                    <a:srgbClr val="0070C0"/>
                  </a:solidFill>
                </a:rPr>
                <a:t>構成</a:t>
              </a:r>
              <a:r>
                <a:rPr kumimoji="1" lang="ja-JP" altLang="en-US" b="1">
                  <a:solidFill>
                    <a:srgbClr val="0070C0"/>
                  </a:solidFill>
                </a:rPr>
                <a:t>要素の具体的な実装を</a:t>
              </a:r>
              <a:r>
                <a:rPr kumimoji="1" lang="ja-GB" altLang="en-US" b="1" dirty="0">
                  <a:solidFill>
                    <a:srgbClr val="0070C0"/>
                  </a:solidFill>
                </a:rPr>
                <a:t>設計</a:t>
              </a:r>
            </a:p>
          </p:txBody>
        </p:sp>
        <p:sp>
          <p:nvSpPr>
            <p:cNvPr id="15" name="角丸四角形 14">
              <a:extLst>
                <a:ext uri="{FF2B5EF4-FFF2-40B4-BE49-F238E27FC236}">
                  <a16:creationId xmlns:a16="http://schemas.microsoft.com/office/drawing/2014/main" id="{67743604-D03F-D77E-1D44-5D0F33FE7579}"/>
                </a:ext>
              </a:extLst>
            </p:cNvPr>
            <p:cNvSpPr/>
            <p:nvPr/>
          </p:nvSpPr>
          <p:spPr>
            <a:xfrm>
              <a:off x="4661673" y="5820626"/>
              <a:ext cx="1656000" cy="43313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テスト</a:t>
              </a:r>
            </a:p>
          </p:txBody>
        </p:sp>
        <p:sp>
          <p:nvSpPr>
            <p:cNvPr id="16" name="角丸四角形 15">
              <a:extLst>
                <a:ext uri="{FF2B5EF4-FFF2-40B4-BE49-F238E27FC236}">
                  <a16:creationId xmlns:a16="http://schemas.microsoft.com/office/drawing/2014/main" id="{6CBE0869-4193-4B94-E3C3-53E62082F63B}"/>
                </a:ext>
              </a:extLst>
            </p:cNvPr>
            <p:cNvSpPr/>
            <p:nvPr/>
          </p:nvSpPr>
          <p:spPr>
            <a:xfrm>
              <a:off x="5494131" y="6407185"/>
              <a:ext cx="1656000" cy="4331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リリース</a:t>
              </a:r>
            </a:p>
          </p:txBody>
        </p:sp>
      </p:grpSp>
      <p:sp>
        <p:nvSpPr>
          <p:cNvPr id="24" name="テキスト ボックス 23">
            <a:extLst>
              <a:ext uri="{FF2B5EF4-FFF2-40B4-BE49-F238E27FC236}">
                <a16:creationId xmlns:a16="http://schemas.microsoft.com/office/drawing/2014/main" id="{51766A9A-85A5-E954-8BEE-68955754B013}"/>
              </a:ext>
            </a:extLst>
          </p:cNvPr>
          <p:cNvSpPr txBox="1"/>
          <p:nvPr/>
        </p:nvSpPr>
        <p:spPr>
          <a:xfrm>
            <a:off x="938733" y="5556660"/>
            <a:ext cx="4340936" cy="369332"/>
          </a:xfrm>
          <a:prstGeom prst="rect">
            <a:avLst/>
          </a:prstGeom>
          <a:noFill/>
        </p:spPr>
        <p:txBody>
          <a:bodyPr wrap="square" rtlCol="0">
            <a:spAutoFit/>
          </a:bodyPr>
          <a:lstStyle/>
          <a:p>
            <a:r>
              <a:rPr kumimoji="1" lang="ja-GB" altLang="en-US" b="1" dirty="0">
                <a:solidFill>
                  <a:schemeClr val="accent2"/>
                </a:solidFill>
              </a:rPr>
              <a:t>実装が要件を満たしているか確認</a:t>
            </a:r>
          </a:p>
        </p:txBody>
      </p:sp>
      <p:sp>
        <p:nvSpPr>
          <p:cNvPr id="25" name="テキスト ボックス 24">
            <a:extLst>
              <a:ext uri="{FF2B5EF4-FFF2-40B4-BE49-F238E27FC236}">
                <a16:creationId xmlns:a16="http://schemas.microsoft.com/office/drawing/2014/main" id="{AA582D65-587B-E5BA-6250-D42647B9DFF5}"/>
              </a:ext>
            </a:extLst>
          </p:cNvPr>
          <p:cNvSpPr txBox="1"/>
          <p:nvPr/>
        </p:nvSpPr>
        <p:spPr>
          <a:xfrm>
            <a:off x="2401532" y="6151500"/>
            <a:ext cx="4340936" cy="369332"/>
          </a:xfrm>
          <a:prstGeom prst="rect">
            <a:avLst/>
          </a:prstGeom>
          <a:noFill/>
        </p:spPr>
        <p:txBody>
          <a:bodyPr wrap="square" rtlCol="0">
            <a:spAutoFit/>
          </a:bodyPr>
          <a:lstStyle/>
          <a:p>
            <a:r>
              <a:rPr kumimoji="1" lang="ja-GB" altLang="en-US" b="1" dirty="0">
                <a:solidFill>
                  <a:schemeClr val="accent2"/>
                </a:solidFill>
              </a:rPr>
              <a:t>サービスを公開して利用開始</a:t>
            </a:r>
          </a:p>
        </p:txBody>
      </p:sp>
    </p:spTree>
    <p:extLst>
      <p:ext uri="{BB962C8B-B14F-4D97-AF65-F5344CB8AC3E}">
        <p14:creationId xmlns:p14="http://schemas.microsoft.com/office/powerpoint/2010/main" val="317581503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76E47-2653-9AE8-639E-5802EC819E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8F7E4A-053E-3EB5-66CA-5E0BE4926F87}"/>
              </a:ext>
            </a:extLst>
          </p:cNvPr>
          <p:cNvSpPr>
            <a:spLocks noGrp="1"/>
          </p:cNvSpPr>
          <p:nvPr>
            <p:ph type="title"/>
          </p:nvPr>
        </p:nvSpPr>
        <p:spPr/>
        <p:txBody>
          <a:bodyPr/>
          <a:lstStyle/>
          <a:p>
            <a:r>
              <a:rPr kumimoji="1" lang="en-US" altLang="ja-GB" dirty="0"/>
              <a:t>V</a:t>
            </a:r>
            <a:r>
              <a:rPr kumimoji="1" lang="ja-GB" altLang="en-US" dirty="0"/>
              <a:t>字モデル</a:t>
            </a:r>
          </a:p>
        </p:txBody>
      </p:sp>
      <p:sp>
        <p:nvSpPr>
          <p:cNvPr id="3" name="コンテンツ プレースホルダー 2">
            <a:extLst>
              <a:ext uri="{FF2B5EF4-FFF2-40B4-BE49-F238E27FC236}">
                <a16:creationId xmlns:a16="http://schemas.microsoft.com/office/drawing/2014/main" id="{6209BFBB-5E6F-94B4-6221-7A68503B6FB8}"/>
              </a:ext>
            </a:extLst>
          </p:cNvPr>
          <p:cNvSpPr>
            <a:spLocks noGrp="1"/>
          </p:cNvSpPr>
          <p:nvPr>
            <p:ph idx="1"/>
          </p:nvPr>
        </p:nvSpPr>
        <p:spPr/>
        <p:txBody>
          <a:bodyPr/>
          <a:lstStyle/>
          <a:p>
            <a:pPr marL="0" indent="0">
              <a:buNone/>
            </a:pPr>
            <a:r>
              <a:rPr lang="ja-GB" altLang="en-US" dirty="0"/>
              <a:t>前半に設計・実装を行い，後半に各段階に対応したテストを実施</a:t>
            </a:r>
            <a:endParaRPr kumimoji="1" lang="en-US" altLang="ja-JP" dirty="0"/>
          </a:p>
          <a:p>
            <a:pPr lvl="2"/>
            <a:endParaRPr kumimoji="1" lang="ja-GB" altLang="en-US" dirty="0"/>
          </a:p>
        </p:txBody>
      </p:sp>
      <p:grpSp>
        <p:nvGrpSpPr>
          <p:cNvPr id="13" name="グループ化 12">
            <a:extLst>
              <a:ext uri="{FF2B5EF4-FFF2-40B4-BE49-F238E27FC236}">
                <a16:creationId xmlns:a16="http://schemas.microsoft.com/office/drawing/2014/main" id="{3D07FC69-D438-544B-AE11-D491F2735D0D}"/>
              </a:ext>
            </a:extLst>
          </p:cNvPr>
          <p:cNvGrpSpPr/>
          <p:nvPr/>
        </p:nvGrpSpPr>
        <p:grpSpPr>
          <a:xfrm>
            <a:off x="351084" y="3429000"/>
            <a:ext cx="8345289" cy="3146611"/>
            <a:chOff x="399355" y="545904"/>
            <a:chExt cx="8345289" cy="3146611"/>
          </a:xfrm>
        </p:grpSpPr>
        <p:grpSp>
          <p:nvGrpSpPr>
            <p:cNvPr id="14" name="グループ化 13">
              <a:extLst>
                <a:ext uri="{FF2B5EF4-FFF2-40B4-BE49-F238E27FC236}">
                  <a16:creationId xmlns:a16="http://schemas.microsoft.com/office/drawing/2014/main" id="{A6F528E3-4709-11BE-58E3-D1161955C00A}"/>
                </a:ext>
              </a:extLst>
            </p:cNvPr>
            <p:cNvGrpSpPr/>
            <p:nvPr/>
          </p:nvGrpSpPr>
          <p:grpSpPr>
            <a:xfrm>
              <a:off x="399355" y="685144"/>
              <a:ext cx="8345289" cy="3007371"/>
              <a:chOff x="399355" y="2995864"/>
              <a:chExt cx="8345289" cy="3007371"/>
            </a:xfrm>
          </p:grpSpPr>
          <p:grpSp>
            <p:nvGrpSpPr>
              <p:cNvPr id="21" name="グループ化 20">
                <a:extLst>
                  <a:ext uri="{FF2B5EF4-FFF2-40B4-BE49-F238E27FC236}">
                    <a16:creationId xmlns:a16="http://schemas.microsoft.com/office/drawing/2014/main" id="{1524C9C5-BE45-AA92-1B17-D713B0259BC9}"/>
                  </a:ext>
                </a:extLst>
              </p:cNvPr>
              <p:cNvGrpSpPr/>
              <p:nvPr/>
            </p:nvGrpSpPr>
            <p:grpSpPr>
              <a:xfrm>
                <a:off x="399355" y="2995864"/>
                <a:ext cx="8345289" cy="3007371"/>
                <a:chOff x="353754" y="2995864"/>
                <a:chExt cx="8345289" cy="3007371"/>
              </a:xfrm>
            </p:grpSpPr>
            <p:cxnSp>
              <p:nvCxnSpPr>
                <p:cNvPr id="26" name="直線コネクタ 25">
                  <a:extLst>
                    <a:ext uri="{FF2B5EF4-FFF2-40B4-BE49-F238E27FC236}">
                      <a16:creationId xmlns:a16="http://schemas.microsoft.com/office/drawing/2014/main" id="{EF76DFDD-E260-85FB-D8D0-2C62D5FD03E8}"/>
                    </a:ext>
                  </a:extLst>
                </p:cNvPr>
                <p:cNvCxnSpPr>
                  <a:cxnSpLocks/>
                  <a:stCxn id="42" idx="2"/>
                  <a:endCxn id="36" idx="0"/>
                </p:cNvCxnSpPr>
                <p:nvPr/>
              </p:nvCxnSpPr>
              <p:spPr>
                <a:xfrm flipH="1">
                  <a:off x="4620530" y="3429000"/>
                  <a:ext cx="3250513" cy="2141099"/>
                </a:xfrm>
                <a:prstGeom prst="line">
                  <a:avLst/>
                </a:prstGeom>
                <a:ln w="88900" cap="rnd">
                  <a:gradFill flip="none" rotWithShape="1">
                    <a:gsLst>
                      <a:gs pos="0">
                        <a:schemeClr val="accent2">
                          <a:lumMod val="60000"/>
                          <a:lumOff val="40000"/>
                        </a:schemeClr>
                      </a:gs>
                      <a:gs pos="21000">
                        <a:schemeClr val="accent2"/>
                      </a:gs>
                      <a:gs pos="67000">
                        <a:schemeClr val="accent2">
                          <a:lumMod val="75000"/>
                        </a:schemeClr>
                      </a:gs>
                      <a:gs pos="100000">
                        <a:schemeClr val="tx1"/>
                      </a:gs>
                      <a:gs pos="85000">
                        <a:schemeClr val="accent2">
                          <a:lumMod val="50000"/>
                        </a:schemeClr>
                      </a:gs>
                    </a:gsLst>
                    <a:lin ang="0" scaled="0"/>
                    <a:tileRect/>
                  </a:gradFill>
                  <a:head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1554D3A7-A5BD-6D3C-562E-2604848C190D}"/>
                    </a:ext>
                  </a:extLst>
                </p:cNvPr>
                <p:cNvCxnSpPr>
                  <a:cxnSpLocks/>
                  <a:stCxn id="30" idx="2"/>
                  <a:endCxn id="36" idx="0"/>
                </p:cNvCxnSpPr>
                <p:nvPr/>
              </p:nvCxnSpPr>
              <p:spPr>
                <a:xfrm>
                  <a:off x="1181754" y="3429000"/>
                  <a:ext cx="3438776" cy="2141099"/>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30" name="角丸四角形 29">
                  <a:extLst>
                    <a:ext uri="{FF2B5EF4-FFF2-40B4-BE49-F238E27FC236}">
                      <a16:creationId xmlns:a16="http://schemas.microsoft.com/office/drawing/2014/main" id="{3425D896-546F-462F-2C58-7533484B03B5}"/>
                    </a:ext>
                  </a:extLst>
                </p:cNvPr>
                <p:cNvSpPr/>
                <p:nvPr/>
              </p:nvSpPr>
              <p:spPr>
                <a:xfrm>
                  <a:off x="353754" y="2995864"/>
                  <a:ext cx="1656000" cy="43313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要求分析</a:t>
                  </a:r>
                </a:p>
              </p:txBody>
            </p:sp>
            <p:sp>
              <p:nvSpPr>
                <p:cNvPr id="32" name="角丸四角形 31">
                  <a:extLst>
                    <a:ext uri="{FF2B5EF4-FFF2-40B4-BE49-F238E27FC236}">
                      <a16:creationId xmlns:a16="http://schemas.microsoft.com/office/drawing/2014/main" id="{C5999A45-DCEC-AD01-10A7-FD1B1DBFFFAC}"/>
                    </a:ext>
                  </a:extLst>
                </p:cNvPr>
                <p:cNvSpPr/>
                <p:nvPr/>
              </p:nvSpPr>
              <p:spPr>
                <a:xfrm>
                  <a:off x="980652" y="3672244"/>
                  <a:ext cx="1656000" cy="433136"/>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要件定義</a:t>
                  </a:r>
                </a:p>
              </p:txBody>
            </p:sp>
            <p:sp>
              <p:nvSpPr>
                <p:cNvPr id="33" name="角丸四角形 32">
                  <a:extLst>
                    <a:ext uri="{FF2B5EF4-FFF2-40B4-BE49-F238E27FC236}">
                      <a16:creationId xmlns:a16="http://schemas.microsoft.com/office/drawing/2014/main" id="{8AE14E13-BCB9-E53F-1158-02D3948384F4}"/>
                    </a:ext>
                  </a:extLst>
                </p:cNvPr>
                <p:cNvSpPr/>
                <p:nvPr/>
              </p:nvSpPr>
              <p:spPr>
                <a:xfrm>
                  <a:off x="1917514" y="4251224"/>
                  <a:ext cx="1656000" cy="433136"/>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基本設計</a:t>
                  </a:r>
                </a:p>
              </p:txBody>
            </p:sp>
            <p:sp>
              <p:nvSpPr>
                <p:cNvPr id="35" name="角丸四角形 34">
                  <a:extLst>
                    <a:ext uri="{FF2B5EF4-FFF2-40B4-BE49-F238E27FC236}">
                      <a16:creationId xmlns:a16="http://schemas.microsoft.com/office/drawing/2014/main" id="{82524C61-11BC-13CC-E608-1D10E69AD711}"/>
                    </a:ext>
                  </a:extLst>
                </p:cNvPr>
                <p:cNvSpPr/>
                <p:nvPr/>
              </p:nvSpPr>
              <p:spPr>
                <a:xfrm>
                  <a:off x="2732583" y="4892788"/>
                  <a:ext cx="1656000" cy="433136"/>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詳細設計</a:t>
                  </a:r>
                </a:p>
              </p:txBody>
            </p:sp>
            <p:sp>
              <p:nvSpPr>
                <p:cNvPr id="36" name="角丸四角形 35">
                  <a:extLst>
                    <a:ext uri="{FF2B5EF4-FFF2-40B4-BE49-F238E27FC236}">
                      <a16:creationId xmlns:a16="http://schemas.microsoft.com/office/drawing/2014/main" id="{74DA3CC0-EF93-B6D7-E2DB-F2E36135651B}"/>
                    </a:ext>
                  </a:extLst>
                </p:cNvPr>
                <p:cNvSpPr/>
                <p:nvPr/>
              </p:nvSpPr>
              <p:spPr>
                <a:xfrm>
                  <a:off x="3792530" y="5570099"/>
                  <a:ext cx="1656000" cy="43313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実装</a:t>
                  </a:r>
                </a:p>
              </p:txBody>
            </p:sp>
            <p:sp>
              <p:nvSpPr>
                <p:cNvPr id="37" name="角丸四角形 36">
                  <a:extLst>
                    <a:ext uri="{FF2B5EF4-FFF2-40B4-BE49-F238E27FC236}">
                      <a16:creationId xmlns:a16="http://schemas.microsoft.com/office/drawing/2014/main" id="{A9C86CDE-1B13-9C5D-4C37-0FB214DDEBE5}"/>
                    </a:ext>
                  </a:extLst>
                </p:cNvPr>
                <p:cNvSpPr/>
                <p:nvPr/>
              </p:nvSpPr>
              <p:spPr>
                <a:xfrm>
                  <a:off x="4852661" y="4892788"/>
                  <a:ext cx="1656000" cy="43313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単体テスト</a:t>
                  </a:r>
                </a:p>
              </p:txBody>
            </p:sp>
            <p:sp>
              <p:nvSpPr>
                <p:cNvPr id="39" name="角丸四角形 38">
                  <a:extLst>
                    <a:ext uri="{FF2B5EF4-FFF2-40B4-BE49-F238E27FC236}">
                      <a16:creationId xmlns:a16="http://schemas.microsoft.com/office/drawing/2014/main" id="{82DA2BC4-2C82-65EF-0097-8F86BB3F9B20}"/>
                    </a:ext>
                  </a:extLst>
                </p:cNvPr>
                <p:cNvSpPr/>
                <p:nvPr/>
              </p:nvSpPr>
              <p:spPr>
                <a:xfrm>
                  <a:off x="5531604" y="4249659"/>
                  <a:ext cx="1656000" cy="43313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連結テスト</a:t>
                  </a:r>
                </a:p>
              </p:txBody>
            </p:sp>
            <p:sp>
              <p:nvSpPr>
                <p:cNvPr id="40" name="角丸四角形 39">
                  <a:extLst>
                    <a:ext uri="{FF2B5EF4-FFF2-40B4-BE49-F238E27FC236}">
                      <a16:creationId xmlns:a16="http://schemas.microsoft.com/office/drawing/2014/main" id="{9D91D869-898F-5D5A-767C-0976F8BEBA9F}"/>
                    </a:ext>
                  </a:extLst>
                </p:cNvPr>
                <p:cNvSpPr/>
                <p:nvPr/>
              </p:nvSpPr>
              <p:spPr>
                <a:xfrm>
                  <a:off x="6433604" y="3669897"/>
                  <a:ext cx="1656000" cy="4331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システムテスト</a:t>
                  </a:r>
                </a:p>
              </p:txBody>
            </p:sp>
            <p:sp>
              <p:nvSpPr>
                <p:cNvPr id="42" name="角丸四角形 41">
                  <a:extLst>
                    <a:ext uri="{FF2B5EF4-FFF2-40B4-BE49-F238E27FC236}">
                      <a16:creationId xmlns:a16="http://schemas.microsoft.com/office/drawing/2014/main" id="{F9273D46-5CF9-5372-3BD9-F6B2F49FBBC2}"/>
                    </a:ext>
                  </a:extLst>
                </p:cNvPr>
                <p:cNvSpPr/>
                <p:nvPr/>
              </p:nvSpPr>
              <p:spPr>
                <a:xfrm>
                  <a:off x="7043043" y="2995864"/>
                  <a:ext cx="1656000" cy="433136"/>
                </a:xfrm>
                <a:prstGeom prst="roundRect">
                  <a:avLst/>
                </a:prstGeom>
                <a:solidFill>
                  <a:schemeClr val="accent2">
                    <a:alpha val="88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GB" altLang="en-US" sz="1600" b="1" dirty="0"/>
                    <a:t>受け入れテスト</a:t>
                  </a:r>
                </a:p>
              </p:txBody>
            </p:sp>
          </p:grpSp>
          <p:cxnSp>
            <p:nvCxnSpPr>
              <p:cNvPr id="22" name="直線コネクタ 21">
                <a:extLst>
                  <a:ext uri="{FF2B5EF4-FFF2-40B4-BE49-F238E27FC236}">
                    <a16:creationId xmlns:a16="http://schemas.microsoft.com/office/drawing/2014/main" id="{A47F0599-B2FC-A67D-A08F-548806584451}"/>
                  </a:ext>
                </a:extLst>
              </p:cNvPr>
              <p:cNvCxnSpPr>
                <a:cxnSpLocks/>
                <a:stCxn id="30" idx="3"/>
                <a:endCxn id="42" idx="1"/>
              </p:cNvCxnSpPr>
              <p:nvPr/>
            </p:nvCxnSpPr>
            <p:spPr>
              <a:xfrm>
                <a:off x="2055355" y="3212432"/>
                <a:ext cx="5033289" cy="0"/>
              </a:xfrm>
              <a:prstGeom prst="line">
                <a:avLst/>
              </a:prstGeom>
              <a:ln w="28575">
                <a:solidFill>
                  <a:schemeClr val="tx1">
                    <a:lumMod val="50000"/>
                    <a:lumOff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D5F3BB75-5A8D-D1EB-EFFE-C1B0B0060ACF}"/>
                  </a:ext>
                </a:extLst>
              </p:cNvPr>
              <p:cNvCxnSpPr>
                <a:cxnSpLocks/>
                <a:stCxn id="32" idx="3"/>
                <a:endCxn id="40" idx="1"/>
              </p:cNvCxnSpPr>
              <p:nvPr/>
            </p:nvCxnSpPr>
            <p:spPr>
              <a:xfrm flipV="1">
                <a:off x="2682253" y="3886465"/>
                <a:ext cx="3796952" cy="2347"/>
              </a:xfrm>
              <a:prstGeom prst="line">
                <a:avLst/>
              </a:prstGeom>
              <a:ln w="28575">
                <a:solidFill>
                  <a:schemeClr val="tx1">
                    <a:lumMod val="50000"/>
                    <a:lumOff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25B40CA6-E809-17D2-0791-F394E07F3BD4}"/>
                  </a:ext>
                </a:extLst>
              </p:cNvPr>
              <p:cNvCxnSpPr>
                <a:cxnSpLocks/>
                <a:stCxn id="33" idx="3"/>
                <a:endCxn id="39" idx="1"/>
              </p:cNvCxnSpPr>
              <p:nvPr/>
            </p:nvCxnSpPr>
            <p:spPr>
              <a:xfrm flipV="1">
                <a:off x="3619115" y="4466227"/>
                <a:ext cx="1958090" cy="1565"/>
              </a:xfrm>
              <a:prstGeom prst="line">
                <a:avLst/>
              </a:prstGeom>
              <a:ln w="28575">
                <a:solidFill>
                  <a:schemeClr val="tx1">
                    <a:lumMod val="50000"/>
                    <a:lumOff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90E3C8BE-C693-0EE8-FF22-16C80010A48E}"/>
                  </a:ext>
                </a:extLst>
              </p:cNvPr>
              <p:cNvCxnSpPr>
                <a:cxnSpLocks/>
                <a:stCxn id="35" idx="3"/>
                <a:endCxn id="37" idx="1"/>
              </p:cNvCxnSpPr>
              <p:nvPr/>
            </p:nvCxnSpPr>
            <p:spPr>
              <a:xfrm>
                <a:off x="4434184" y="5109356"/>
                <a:ext cx="464078" cy="0"/>
              </a:xfrm>
              <a:prstGeom prst="line">
                <a:avLst/>
              </a:prstGeom>
              <a:ln w="28575">
                <a:solidFill>
                  <a:schemeClr val="tx1">
                    <a:lumMod val="50000"/>
                    <a:lumOff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grpSp>
        <p:sp>
          <p:nvSpPr>
            <p:cNvPr id="15" name="テキスト ボックス 14">
              <a:extLst>
                <a:ext uri="{FF2B5EF4-FFF2-40B4-BE49-F238E27FC236}">
                  <a16:creationId xmlns:a16="http://schemas.microsoft.com/office/drawing/2014/main" id="{E7C1D883-CBBE-598D-E334-961A6528E6ED}"/>
                </a:ext>
              </a:extLst>
            </p:cNvPr>
            <p:cNvSpPr txBox="1"/>
            <p:nvPr/>
          </p:nvSpPr>
          <p:spPr>
            <a:xfrm>
              <a:off x="4064034" y="545904"/>
              <a:ext cx="1210588" cy="338554"/>
            </a:xfrm>
            <a:prstGeom prst="rect">
              <a:avLst/>
            </a:prstGeom>
            <a:noFill/>
          </p:spPr>
          <p:txBody>
            <a:bodyPr wrap="none" rtlCol="0">
              <a:spAutoFit/>
            </a:bodyPr>
            <a:lstStyle/>
            <a:p>
              <a:pPr algn="ctr"/>
              <a:r>
                <a:rPr kumimoji="1" lang="ja-GB" altLang="en-US" sz="1600" b="1" dirty="0">
                  <a:solidFill>
                    <a:schemeClr val="tx1">
                      <a:lumMod val="65000"/>
                      <a:lumOff val="35000"/>
                    </a:schemeClr>
                  </a:solidFill>
                </a:rPr>
                <a:t>顧客の要求</a:t>
              </a:r>
            </a:p>
          </p:txBody>
        </p:sp>
        <p:sp>
          <p:nvSpPr>
            <p:cNvPr id="16" name="テキスト ボックス 15">
              <a:extLst>
                <a:ext uri="{FF2B5EF4-FFF2-40B4-BE49-F238E27FC236}">
                  <a16:creationId xmlns:a16="http://schemas.microsoft.com/office/drawing/2014/main" id="{CA648470-77F7-6012-FA3F-6EFDD19C023E}"/>
                </a:ext>
              </a:extLst>
            </p:cNvPr>
            <p:cNvSpPr txBox="1"/>
            <p:nvPr/>
          </p:nvSpPr>
          <p:spPr>
            <a:xfrm>
              <a:off x="3653662" y="1236483"/>
              <a:ext cx="2031325" cy="338554"/>
            </a:xfrm>
            <a:prstGeom prst="rect">
              <a:avLst/>
            </a:prstGeom>
            <a:noFill/>
          </p:spPr>
          <p:txBody>
            <a:bodyPr wrap="none" rtlCol="0">
              <a:spAutoFit/>
            </a:bodyPr>
            <a:lstStyle/>
            <a:p>
              <a:pPr algn="ctr"/>
              <a:r>
                <a:rPr kumimoji="1" lang="ja-GB" altLang="en-US" sz="1600" b="1" dirty="0">
                  <a:solidFill>
                    <a:schemeClr val="tx1">
                      <a:lumMod val="65000"/>
                      <a:lumOff val="35000"/>
                    </a:schemeClr>
                  </a:solidFill>
                </a:rPr>
                <a:t>システム全体の動作</a:t>
              </a:r>
            </a:p>
          </p:txBody>
        </p:sp>
        <p:sp>
          <p:nvSpPr>
            <p:cNvPr id="17" name="テキスト ボックス 16">
              <a:extLst>
                <a:ext uri="{FF2B5EF4-FFF2-40B4-BE49-F238E27FC236}">
                  <a16:creationId xmlns:a16="http://schemas.microsoft.com/office/drawing/2014/main" id="{537C225D-43F7-7595-D2BF-BA77651D35FF}"/>
                </a:ext>
              </a:extLst>
            </p:cNvPr>
            <p:cNvSpPr txBox="1"/>
            <p:nvPr/>
          </p:nvSpPr>
          <p:spPr>
            <a:xfrm>
              <a:off x="4064030" y="1820382"/>
              <a:ext cx="1210588" cy="338554"/>
            </a:xfrm>
            <a:prstGeom prst="rect">
              <a:avLst/>
            </a:prstGeom>
            <a:noFill/>
          </p:spPr>
          <p:txBody>
            <a:bodyPr wrap="none" rtlCol="0">
              <a:spAutoFit/>
            </a:bodyPr>
            <a:lstStyle/>
            <a:p>
              <a:pPr algn="ctr"/>
              <a:r>
                <a:rPr kumimoji="1" lang="ja-GB" altLang="en-US" sz="1600" b="1" dirty="0">
                  <a:solidFill>
                    <a:schemeClr val="tx1">
                      <a:lumMod val="65000"/>
                      <a:lumOff val="35000"/>
                    </a:schemeClr>
                  </a:solidFill>
                </a:rPr>
                <a:t>部品の連携</a:t>
              </a:r>
            </a:p>
          </p:txBody>
        </p:sp>
        <p:sp>
          <p:nvSpPr>
            <p:cNvPr id="19" name="テキスト ボックス 18">
              <a:extLst>
                <a:ext uri="{FF2B5EF4-FFF2-40B4-BE49-F238E27FC236}">
                  <a16:creationId xmlns:a16="http://schemas.microsoft.com/office/drawing/2014/main" id="{DA1A1871-BD22-C05B-4BCF-5BAC52401C0D}"/>
                </a:ext>
              </a:extLst>
            </p:cNvPr>
            <p:cNvSpPr txBox="1"/>
            <p:nvPr/>
          </p:nvSpPr>
          <p:spPr>
            <a:xfrm>
              <a:off x="4371806" y="2434760"/>
              <a:ext cx="595035" cy="338554"/>
            </a:xfrm>
            <a:prstGeom prst="rect">
              <a:avLst/>
            </a:prstGeom>
            <a:noFill/>
          </p:spPr>
          <p:txBody>
            <a:bodyPr wrap="none" rtlCol="0">
              <a:spAutoFit/>
            </a:bodyPr>
            <a:lstStyle/>
            <a:p>
              <a:pPr algn="ctr"/>
              <a:r>
                <a:rPr kumimoji="1" lang="ja-GB" altLang="en-US" sz="1600" b="1" dirty="0">
                  <a:solidFill>
                    <a:schemeClr val="tx1">
                      <a:lumMod val="65000"/>
                      <a:lumOff val="35000"/>
                    </a:schemeClr>
                  </a:solidFill>
                </a:rPr>
                <a:t>動作</a:t>
              </a:r>
            </a:p>
          </p:txBody>
        </p:sp>
      </p:grpSp>
      <p:grpSp>
        <p:nvGrpSpPr>
          <p:cNvPr id="47" name="グループ化 46">
            <a:extLst>
              <a:ext uri="{FF2B5EF4-FFF2-40B4-BE49-F238E27FC236}">
                <a16:creationId xmlns:a16="http://schemas.microsoft.com/office/drawing/2014/main" id="{BC5C4246-9906-40AB-0FC1-A8AA2E0D3EC2}"/>
              </a:ext>
            </a:extLst>
          </p:cNvPr>
          <p:cNvGrpSpPr/>
          <p:nvPr/>
        </p:nvGrpSpPr>
        <p:grpSpPr>
          <a:xfrm>
            <a:off x="424831" y="1490092"/>
            <a:ext cx="8294338" cy="1513912"/>
            <a:chOff x="510647" y="5070179"/>
            <a:chExt cx="8294338" cy="1513912"/>
          </a:xfrm>
        </p:grpSpPr>
        <p:sp>
          <p:nvSpPr>
            <p:cNvPr id="43" name="テキスト ボックス 42">
              <a:extLst>
                <a:ext uri="{FF2B5EF4-FFF2-40B4-BE49-F238E27FC236}">
                  <a16:creationId xmlns:a16="http://schemas.microsoft.com/office/drawing/2014/main" id="{C0EC0778-BCB0-109A-97EB-C830883E5844}"/>
                </a:ext>
              </a:extLst>
            </p:cNvPr>
            <p:cNvSpPr txBox="1"/>
            <p:nvPr/>
          </p:nvSpPr>
          <p:spPr>
            <a:xfrm>
              <a:off x="510647" y="5070179"/>
              <a:ext cx="4801314" cy="1508105"/>
            </a:xfrm>
            <a:prstGeom prst="rect">
              <a:avLst/>
            </a:prstGeom>
            <a:noFill/>
          </p:spPr>
          <p:txBody>
            <a:bodyPr wrap="none" rtlCol="0" anchor="b">
              <a:spAutoFit/>
            </a:bodyPr>
            <a:lstStyle/>
            <a:p>
              <a:pPr algn="ctr"/>
              <a:r>
                <a:rPr kumimoji="1" lang="ja-GB" altLang="en-US" sz="2000" b="1" dirty="0">
                  <a:solidFill>
                    <a:srgbClr val="0070C0"/>
                  </a:solidFill>
                </a:rPr>
                <a:t>開発工程</a:t>
              </a:r>
              <a:endParaRPr kumimoji="1" lang="en-US" altLang="ja-JP" sz="2000" b="1" dirty="0">
                <a:solidFill>
                  <a:srgbClr val="0070C0"/>
                </a:solidFill>
              </a:endParaRPr>
            </a:p>
            <a:p>
              <a:r>
                <a:rPr kumimoji="1" lang="ja-JP" altLang="en-US" b="1"/>
                <a:t>　</a:t>
              </a:r>
              <a:r>
                <a:rPr kumimoji="1" lang="en-US" altLang="ja-JP" b="1" dirty="0"/>
                <a:t>1. </a:t>
              </a:r>
              <a:r>
                <a:rPr kumimoji="1" lang="ja-GB" altLang="en-US" b="1" dirty="0">
                  <a:solidFill>
                    <a:srgbClr val="002060"/>
                  </a:solidFill>
                </a:rPr>
                <a:t>顧客が求めているもの</a:t>
              </a:r>
              <a:r>
                <a:rPr kumimoji="1" lang="ja-GB" altLang="en-US" b="1" dirty="0"/>
                <a:t>を分析</a:t>
              </a:r>
              <a:endParaRPr kumimoji="1" lang="ja-JP" altLang="en-US" b="1"/>
            </a:p>
            <a:p>
              <a:r>
                <a:rPr kumimoji="1" lang="ja-JP" altLang="en-US" b="1"/>
                <a:t>　</a:t>
              </a:r>
              <a:r>
                <a:rPr kumimoji="1" lang="en-US" altLang="ja-JP" b="1" dirty="0"/>
                <a:t>2. </a:t>
              </a:r>
              <a:r>
                <a:rPr kumimoji="1" lang="ja-JP" altLang="en-US" b="1"/>
                <a:t>システムが持つべき</a:t>
              </a:r>
              <a:r>
                <a:rPr kumimoji="1" lang="ja-JP" altLang="en-US" b="1">
                  <a:solidFill>
                    <a:srgbClr val="002060"/>
                  </a:solidFill>
                </a:rPr>
                <a:t>機能</a:t>
              </a:r>
              <a:r>
                <a:rPr kumimoji="1" lang="ja-JP" altLang="en-US" b="1"/>
                <a:t>を定義</a:t>
              </a:r>
            </a:p>
            <a:p>
              <a:r>
                <a:rPr kumimoji="1" lang="ja-JP" altLang="en-US" b="1"/>
                <a:t>　</a:t>
              </a:r>
              <a:r>
                <a:rPr kumimoji="1" lang="en-US" altLang="ja-JP" b="1" dirty="0"/>
                <a:t>3. </a:t>
              </a:r>
              <a:r>
                <a:rPr kumimoji="1" lang="ja-GB" altLang="en-US" b="1" dirty="0"/>
                <a:t>システム</a:t>
              </a:r>
              <a:r>
                <a:rPr kumimoji="1" lang="ja-JP" altLang="en-US" b="1"/>
                <a:t>を</a:t>
              </a:r>
              <a:r>
                <a:rPr kumimoji="1" lang="ja-GB" altLang="en-US" b="1" dirty="0"/>
                <a:t>細かな部品同士の</a:t>
              </a:r>
              <a:r>
                <a:rPr kumimoji="1" lang="ja-GB" altLang="en-US" b="1" dirty="0">
                  <a:solidFill>
                    <a:srgbClr val="002060"/>
                  </a:solidFill>
                </a:rPr>
                <a:t>連携</a:t>
              </a:r>
              <a:r>
                <a:rPr kumimoji="1" lang="ja-GB" altLang="en-US" b="1" dirty="0"/>
                <a:t>で表現</a:t>
              </a:r>
              <a:endParaRPr kumimoji="1" lang="ja-JP" altLang="en-US" b="1"/>
            </a:p>
            <a:p>
              <a:r>
                <a:rPr kumimoji="1" lang="ja-JP" altLang="en-US" b="1"/>
                <a:t>　</a:t>
              </a:r>
              <a:r>
                <a:rPr kumimoji="1" lang="en-US" altLang="ja-JP" b="1" dirty="0"/>
                <a:t>4. </a:t>
              </a:r>
              <a:r>
                <a:rPr kumimoji="1" lang="ja-GB" altLang="en-US" b="1" dirty="0"/>
                <a:t>具体的な</a:t>
              </a:r>
              <a:r>
                <a:rPr kumimoji="1" lang="ja-GB" altLang="en-US" b="1" dirty="0">
                  <a:solidFill>
                    <a:srgbClr val="002060"/>
                  </a:solidFill>
                </a:rPr>
                <a:t>各部品</a:t>
              </a:r>
              <a:r>
                <a:rPr kumimoji="1" lang="ja-JP" altLang="en-US" b="1">
                  <a:solidFill>
                    <a:srgbClr val="002060"/>
                  </a:solidFill>
                </a:rPr>
                <a:t>の</a:t>
              </a:r>
              <a:r>
                <a:rPr kumimoji="1" lang="ja-GB" altLang="en-US" b="1" dirty="0">
                  <a:solidFill>
                    <a:srgbClr val="002060"/>
                  </a:solidFill>
                </a:rPr>
                <a:t>仕組み</a:t>
              </a:r>
              <a:r>
                <a:rPr kumimoji="1" lang="ja-JP" altLang="en-US" b="1"/>
                <a:t>を記述</a:t>
              </a:r>
              <a:endParaRPr kumimoji="1" lang="ja-GB" altLang="en-US" b="1" dirty="0"/>
            </a:p>
          </p:txBody>
        </p:sp>
        <p:sp>
          <p:nvSpPr>
            <p:cNvPr id="44" name="テキスト ボックス 43">
              <a:extLst>
                <a:ext uri="{FF2B5EF4-FFF2-40B4-BE49-F238E27FC236}">
                  <a16:creationId xmlns:a16="http://schemas.microsoft.com/office/drawing/2014/main" id="{AC33F64A-4F51-15EA-18B2-2D424ED6F9F2}"/>
                </a:ext>
              </a:extLst>
            </p:cNvPr>
            <p:cNvSpPr txBox="1"/>
            <p:nvPr/>
          </p:nvSpPr>
          <p:spPr>
            <a:xfrm>
              <a:off x="5388665" y="5075986"/>
              <a:ext cx="3416320" cy="1508105"/>
            </a:xfrm>
            <a:prstGeom prst="rect">
              <a:avLst/>
            </a:prstGeom>
            <a:noFill/>
          </p:spPr>
          <p:txBody>
            <a:bodyPr wrap="none" rtlCol="0" anchor="b">
              <a:spAutoFit/>
            </a:bodyPr>
            <a:lstStyle/>
            <a:p>
              <a:pPr algn="ctr"/>
              <a:r>
                <a:rPr kumimoji="1" lang="ja-GB" altLang="en-US" sz="2000" b="1" dirty="0">
                  <a:solidFill>
                    <a:schemeClr val="accent2"/>
                  </a:solidFill>
                </a:rPr>
                <a:t>テスト工程</a:t>
              </a:r>
              <a:endParaRPr kumimoji="1" lang="en-US" altLang="ja-JP" sz="2000" b="1" dirty="0">
                <a:solidFill>
                  <a:schemeClr val="accent2"/>
                </a:solidFill>
              </a:endParaRPr>
            </a:p>
            <a:p>
              <a:r>
                <a:rPr kumimoji="1" lang="ja-JP" altLang="en-US" b="1"/>
                <a:t>　</a:t>
              </a:r>
              <a:r>
                <a:rPr kumimoji="1" lang="en-US" altLang="ja-JP" b="1" dirty="0"/>
                <a:t>9. </a:t>
              </a:r>
              <a:r>
                <a:rPr kumimoji="1" lang="ja-GB" altLang="en-US" b="1" dirty="0"/>
                <a:t>顧客の</a:t>
              </a:r>
              <a:r>
                <a:rPr kumimoji="1" lang="ja-JP" altLang="en-US" b="1">
                  <a:solidFill>
                    <a:schemeClr val="accent2">
                      <a:lumMod val="50000"/>
                    </a:schemeClr>
                  </a:solidFill>
                </a:rPr>
                <a:t>要求</a:t>
              </a:r>
              <a:r>
                <a:rPr kumimoji="1" lang="ja-JP" altLang="en-US" b="1"/>
                <a:t>を満た</a:t>
              </a:r>
              <a:r>
                <a:rPr kumimoji="1" lang="ja-GB" altLang="en-US" b="1" dirty="0"/>
                <a:t>すか</a:t>
              </a:r>
              <a:r>
                <a:rPr kumimoji="1" lang="ja-JP" altLang="en-US" b="1"/>
                <a:t>確認</a:t>
              </a:r>
              <a:endParaRPr kumimoji="1" lang="ja-GB" altLang="en-US" b="1" dirty="0"/>
            </a:p>
            <a:p>
              <a:r>
                <a:rPr kumimoji="1" lang="ja-JP" altLang="en-US" b="1"/>
                <a:t>　</a:t>
              </a:r>
              <a:r>
                <a:rPr kumimoji="1" lang="en-US" altLang="ja-JP" b="1" dirty="0"/>
                <a:t>8. </a:t>
              </a:r>
              <a:r>
                <a:rPr kumimoji="1" lang="ja-JP" altLang="en-US" b="1"/>
                <a:t>システム</a:t>
              </a:r>
              <a:r>
                <a:rPr kumimoji="1" lang="ja-GB" altLang="en-US" b="1" dirty="0">
                  <a:solidFill>
                    <a:schemeClr val="accent2">
                      <a:lumMod val="50000"/>
                    </a:schemeClr>
                  </a:solidFill>
                </a:rPr>
                <a:t>全体</a:t>
              </a:r>
              <a:r>
                <a:rPr kumimoji="1" lang="ja-JP" altLang="en-US" b="1">
                  <a:solidFill>
                    <a:schemeClr val="accent2">
                      <a:lumMod val="50000"/>
                    </a:schemeClr>
                  </a:solidFill>
                </a:rPr>
                <a:t>の</a:t>
              </a:r>
              <a:r>
                <a:rPr kumimoji="1" lang="ja-GB" altLang="en-US" b="1" dirty="0">
                  <a:solidFill>
                    <a:schemeClr val="accent2">
                      <a:lumMod val="50000"/>
                    </a:schemeClr>
                  </a:solidFill>
                </a:rPr>
                <a:t>動作</a:t>
              </a:r>
              <a:r>
                <a:rPr kumimoji="1" lang="ja-JP" altLang="en-US" b="1"/>
                <a:t>を確認</a:t>
              </a:r>
            </a:p>
            <a:p>
              <a:r>
                <a:rPr kumimoji="1" lang="ja-JP" altLang="en-US" b="1"/>
                <a:t>　</a:t>
              </a:r>
              <a:r>
                <a:rPr kumimoji="1" lang="en-US" altLang="ja-JP" b="1" dirty="0"/>
                <a:t>7. </a:t>
              </a:r>
              <a:r>
                <a:rPr kumimoji="1" lang="ja-JP" altLang="en-US" b="1"/>
                <a:t>部品同士の</a:t>
              </a:r>
              <a:r>
                <a:rPr kumimoji="1" lang="ja-JP" altLang="en-US" b="1">
                  <a:solidFill>
                    <a:schemeClr val="accent2">
                      <a:lumMod val="50000"/>
                    </a:schemeClr>
                  </a:solidFill>
                </a:rPr>
                <a:t>連携</a:t>
              </a:r>
              <a:r>
                <a:rPr kumimoji="1" lang="ja-JP" altLang="en-US" b="1"/>
                <a:t>を確認</a:t>
              </a:r>
              <a:endParaRPr kumimoji="1" lang="en-US" altLang="ja-GB" b="1" dirty="0"/>
            </a:p>
            <a:p>
              <a:r>
                <a:rPr kumimoji="1" lang="ja-JP" altLang="en-US" b="1"/>
                <a:t>　</a:t>
              </a:r>
              <a:r>
                <a:rPr kumimoji="1" lang="en-US" altLang="ja-GB" b="1" dirty="0"/>
                <a:t>6. </a:t>
              </a:r>
              <a:r>
                <a:rPr kumimoji="1" lang="ja-GB" altLang="en-US" b="1" dirty="0">
                  <a:solidFill>
                    <a:schemeClr val="accent2">
                      <a:lumMod val="50000"/>
                    </a:schemeClr>
                  </a:solidFill>
                </a:rPr>
                <a:t>各</a:t>
              </a:r>
              <a:r>
                <a:rPr kumimoji="1" lang="ja-JP" altLang="en-US" b="1">
                  <a:solidFill>
                    <a:schemeClr val="accent2">
                      <a:lumMod val="50000"/>
                    </a:schemeClr>
                  </a:solidFill>
                </a:rPr>
                <a:t>部品の動作</a:t>
              </a:r>
              <a:r>
                <a:rPr kumimoji="1" lang="ja-JP" altLang="en-US" b="1"/>
                <a:t>を確認</a:t>
              </a:r>
            </a:p>
          </p:txBody>
        </p:sp>
        <p:cxnSp>
          <p:nvCxnSpPr>
            <p:cNvPr id="45" name="直線コネクタ 44">
              <a:extLst>
                <a:ext uri="{FF2B5EF4-FFF2-40B4-BE49-F238E27FC236}">
                  <a16:creationId xmlns:a16="http://schemas.microsoft.com/office/drawing/2014/main" id="{AC2D6BCF-C6BA-9916-8EF5-20BC8A104C61}"/>
                </a:ext>
              </a:extLst>
            </p:cNvPr>
            <p:cNvCxnSpPr>
              <a:cxnSpLocks/>
            </p:cNvCxnSpPr>
            <p:nvPr/>
          </p:nvCxnSpPr>
          <p:spPr>
            <a:xfrm>
              <a:off x="648432" y="5507653"/>
              <a:ext cx="0" cy="981382"/>
            </a:xfrm>
            <a:prstGeom prst="line">
              <a:avLst/>
            </a:prstGeom>
            <a:ln w="88900" cap="rnd">
              <a:gradFill flip="none" rotWithShape="1">
                <a:gsLst>
                  <a:gs pos="82000">
                    <a:srgbClr val="012355"/>
                  </a:gs>
                  <a:gs pos="100000">
                    <a:schemeClr val="tx1"/>
                  </a:gs>
                  <a:gs pos="0">
                    <a:schemeClr val="accent1">
                      <a:lumMod val="60000"/>
                      <a:lumOff val="40000"/>
                    </a:schemeClr>
                  </a:gs>
                  <a:gs pos="14000">
                    <a:schemeClr val="accent1">
                      <a:lumMod val="60000"/>
                      <a:lumOff val="40000"/>
                    </a:schemeClr>
                  </a:gs>
                  <a:gs pos="58000">
                    <a:schemeClr val="accent1">
                      <a:lumMod val="50000"/>
                    </a:schemeClr>
                  </a:gs>
                  <a:gs pos="100000">
                    <a:srgbClr val="002060"/>
                  </a:gs>
                </a:gsLst>
                <a:lin ang="5400000" scaled="1"/>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2404D666-9496-35A1-ACDC-B7F74B37A525}"/>
                </a:ext>
              </a:extLst>
            </p:cNvPr>
            <p:cNvCxnSpPr>
              <a:cxnSpLocks/>
            </p:cNvCxnSpPr>
            <p:nvPr/>
          </p:nvCxnSpPr>
          <p:spPr>
            <a:xfrm>
              <a:off x="5512742" y="5452287"/>
              <a:ext cx="0" cy="1036748"/>
            </a:xfrm>
            <a:prstGeom prst="line">
              <a:avLst/>
            </a:prstGeom>
            <a:ln w="88900" cap="rnd">
              <a:gradFill flip="none" rotWithShape="1">
                <a:gsLst>
                  <a:gs pos="0">
                    <a:schemeClr val="accent2">
                      <a:lumMod val="60000"/>
                      <a:lumOff val="40000"/>
                    </a:schemeClr>
                  </a:gs>
                  <a:gs pos="21000">
                    <a:schemeClr val="accent2"/>
                  </a:gs>
                  <a:gs pos="47000">
                    <a:schemeClr val="accent2">
                      <a:lumMod val="75000"/>
                    </a:schemeClr>
                  </a:gs>
                  <a:gs pos="100000">
                    <a:schemeClr val="tx1"/>
                  </a:gs>
                  <a:gs pos="64000">
                    <a:schemeClr val="accent2">
                      <a:lumMod val="50000"/>
                    </a:schemeClr>
                  </a:gs>
                </a:gsLst>
                <a:lin ang="5400000" scaled="0"/>
                <a:tileRect/>
              </a:gradFill>
              <a:head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3629998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角丸四角形 30">
            <a:extLst>
              <a:ext uri="{FF2B5EF4-FFF2-40B4-BE49-F238E27FC236}">
                <a16:creationId xmlns:a16="http://schemas.microsoft.com/office/drawing/2014/main" id="{6CF00D96-0322-C768-5070-673C67AB075E}"/>
              </a:ext>
            </a:extLst>
          </p:cNvPr>
          <p:cNvSpPr/>
          <p:nvPr/>
        </p:nvSpPr>
        <p:spPr>
          <a:xfrm>
            <a:off x="283504" y="3467401"/>
            <a:ext cx="4084247" cy="2550679"/>
          </a:xfrm>
          <a:prstGeom prst="roundRect">
            <a:avLst>
              <a:gd name="adj" fmla="val 340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32" name="角丸四角形 31">
            <a:extLst>
              <a:ext uri="{FF2B5EF4-FFF2-40B4-BE49-F238E27FC236}">
                <a16:creationId xmlns:a16="http://schemas.microsoft.com/office/drawing/2014/main" id="{2017CF0E-8D9A-C2F2-68CA-FC824B88D5AB}"/>
              </a:ext>
            </a:extLst>
          </p:cNvPr>
          <p:cNvSpPr/>
          <p:nvPr/>
        </p:nvSpPr>
        <p:spPr>
          <a:xfrm>
            <a:off x="4710060" y="3467401"/>
            <a:ext cx="4119615" cy="2550679"/>
          </a:xfrm>
          <a:prstGeom prst="roundRect">
            <a:avLst>
              <a:gd name="adj" fmla="val 340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2" name="タイトル 1">
            <a:extLst>
              <a:ext uri="{FF2B5EF4-FFF2-40B4-BE49-F238E27FC236}">
                <a16:creationId xmlns:a16="http://schemas.microsoft.com/office/drawing/2014/main" id="{5575FB37-3F64-8493-93F7-E836B2B0868F}"/>
              </a:ext>
            </a:extLst>
          </p:cNvPr>
          <p:cNvSpPr>
            <a:spLocks noGrp="1"/>
          </p:cNvSpPr>
          <p:nvPr>
            <p:ph type="title"/>
          </p:nvPr>
        </p:nvSpPr>
        <p:spPr/>
        <p:txBody>
          <a:bodyPr/>
          <a:lstStyle/>
          <a:p>
            <a:r>
              <a:rPr kumimoji="1" lang="ja-GB" altLang="en-US" dirty="0"/>
              <a:t>反復型開発</a:t>
            </a:r>
          </a:p>
        </p:txBody>
      </p:sp>
      <p:sp>
        <p:nvSpPr>
          <p:cNvPr id="3" name="コンテンツ プレースホルダー 2">
            <a:extLst>
              <a:ext uri="{FF2B5EF4-FFF2-40B4-BE49-F238E27FC236}">
                <a16:creationId xmlns:a16="http://schemas.microsoft.com/office/drawing/2014/main" id="{B67286D2-327E-C642-C0B0-22050562983E}"/>
              </a:ext>
            </a:extLst>
          </p:cNvPr>
          <p:cNvSpPr>
            <a:spLocks noGrp="1"/>
          </p:cNvSpPr>
          <p:nvPr>
            <p:ph idx="1"/>
          </p:nvPr>
        </p:nvSpPr>
        <p:spPr/>
        <p:txBody>
          <a:bodyPr/>
          <a:lstStyle/>
          <a:p>
            <a:pPr marL="0" indent="0">
              <a:buNone/>
            </a:pPr>
            <a:r>
              <a:rPr kumimoji="1" lang="ja-GB" altLang="en-US" dirty="0"/>
              <a:t>開発の過程で学び，要件を固めていく開発体制</a:t>
            </a:r>
            <a:endParaRPr kumimoji="1" lang="en-US" altLang="ja-GB" dirty="0"/>
          </a:p>
          <a:p>
            <a:pPr marL="457200" lvl="1" indent="0">
              <a:buNone/>
            </a:pPr>
            <a:r>
              <a:rPr lang="ja-GB" altLang="en-US" dirty="0"/>
              <a:t>最初から</a:t>
            </a:r>
            <a:r>
              <a:rPr kumimoji="1" lang="ja-GB" altLang="en-US" dirty="0"/>
              <a:t>厳密に計画を詰めるのではなく，開発・試用を重ねて修正していく</a:t>
            </a:r>
            <a:endParaRPr kumimoji="1" lang="en-US" altLang="ja-GB" dirty="0"/>
          </a:p>
          <a:p>
            <a:pPr lvl="2"/>
            <a:r>
              <a:rPr lang="ja-GB" altLang="en-US" dirty="0"/>
              <a:t>要件定義からテストまでの流れを何度も反復する</a:t>
            </a:r>
            <a:endParaRPr lang="en-US" altLang="ja-GB" dirty="0"/>
          </a:p>
          <a:p>
            <a:pPr lvl="2"/>
            <a:r>
              <a:rPr kumimoji="1" lang="ja-GB" altLang="en-US" dirty="0"/>
              <a:t>開発者は前段階までに得た経験から学び，計画を調整しながら完成を目指す</a:t>
            </a:r>
            <a:endParaRPr kumimoji="1" lang="en-US" altLang="ja-GB" dirty="0"/>
          </a:p>
          <a:p>
            <a:pPr lvl="1"/>
            <a:endParaRPr kumimoji="1" lang="ja-GB" altLang="en-US" dirty="0"/>
          </a:p>
        </p:txBody>
      </p:sp>
      <p:sp>
        <p:nvSpPr>
          <p:cNvPr id="8" name="テキスト ボックス 7">
            <a:extLst>
              <a:ext uri="{FF2B5EF4-FFF2-40B4-BE49-F238E27FC236}">
                <a16:creationId xmlns:a16="http://schemas.microsoft.com/office/drawing/2014/main" id="{0190AFFB-BD59-AB54-701E-8A2F222BD67D}"/>
              </a:ext>
            </a:extLst>
          </p:cNvPr>
          <p:cNvSpPr txBox="1"/>
          <p:nvPr/>
        </p:nvSpPr>
        <p:spPr>
          <a:xfrm>
            <a:off x="454770" y="3131124"/>
            <a:ext cx="3776996" cy="338554"/>
          </a:xfrm>
          <a:prstGeom prst="rect">
            <a:avLst/>
          </a:prstGeom>
          <a:noFill/>
        </p:spPr>
        <p:txBody>
          <a:bodyPr wrap="none" rtlCol="0">
            <a:spAutoFit/>
          </a:bodyPr>
          <a:lstStyle/>
          <a:p>
            <a:pPr algn="ctr"/>
            <a:r>
              <a:rPr kumimoji="1" lang="ja-GB" altLang="en-US" sz="1600" b="1" dirty="0">
                <a:solidFill>
                  <a:srgbClr val="2F2523"/>
                </a:solidFill>
              </a:rPr>
              <a:t>例</a:t>
            </a:r>
            <a:r>
              <a:rPr kumimoji="1" lang="en-US" altLang="ja-GB" sz="1600" b="1" dirty="0">
                <a:solidFill>
                  <a:srgbClr val="2F2523"/>
                </a:solidFill>
              </a:rPr>
              <a:t>1</a:t>
            </a:r>
            <a:r>
              <a:rPr kumimoji="1" lang="ja-GB" altLang="en-US" sz="1600" b="1" dirty="0">
                <a:solidFill>
                  <a:srgbClr val="2F2523"/>
                </a:solidFill>
              </a:rPr>
              <a:t>：インクリメンタル開発（漸進的）</a:t>
            </a:r>
            <a:endParaRPr kumimoji="1" lang="en-US" altLang="ja-GB" sz="1600" b="1" dirty="0">
              <a:solidFill>
                <a:srgbClr val="2F2523"/>
              </a:solidFill>
            </a:endParaRPr>
          </a:p>
        </p:txBody>
      </p:sp>
      <p:sp>
        <p:nvSpPr>
          <p:cNvPr id="9" name="テキスト ボックス 8">
            <a:extLst>
              <a:ext uri="{FF2B5EF4-FFF2-40B4-BE49-F238E27FC236}">
                <a16:creationId xmlns:a16="http://schemas.microsoft.com/office/drawing/2014/main" id="{F9445EC8-CE7A-C4B4-D99D-CAA1F4487DE6}"/>
              </a:ext>
            </a:extLst>
          </p:cNvPr>
          <p:cNvSpPr txBox="1"/>
          <p:nvPr/>
        </p:nvSpPr>
        <p:spPr>
          <a:xfrm>
            <a:off x="5086553" y="3131124"/>
            <a:ext cx="3366627" cy="338554"/>
          </a:xfrm>
          <a:prstGeom prst="rect">
            <a:avLst/>
          </a:prstGeom>
          <a:noFill/>
        </p:spPr>
        <p:txBody>
          <a:bodyPr wrap="none" rtlCol="0">
            <a:spAutoFit/>
          </a:bodyPr>
          <a:lstStyle/>
          <a:p>
            <a:pPr algn="ctr"/>
            <a:r>
              <a:rPr kumimoji="1" lang="ja-GB" altLang="en-US" sz="1600" b="1" dirty="0">
                <a:solidFill>
                  <a:srgbClr val="2F2523"/>
                </a:solidFill>
              </a:rPr>
              <a:t>例</a:t>
            </a:r>
            <a:r>
              <a:rPr kumimoji="1" lang="en-US" altLang="ja-GB" sz="1600" b="1" dirty="0">
                <a:solidFill>
                  <a:srgbClr val="2F2523"/>
                </a:solidFill>
              </a:rPr>
              <a:t>2</a:t>
            </a:r>
            <a:r>
              <a:rPr kumimoji="1" lang="ja-GB" altLang="en-US" sz="1600" b="1" dirty="0">
                <a:solidFill>
                  <a:srgbClr val="2F2523"/>
                </a:solidFill>
              </a:rPr>
              <a:t>：イテラティブ開発（反復的）</a:t>
            </a:r>
            <a:endParaRPr kumimoji="1" lang="en-US" altLang="ja-GB" sz="1600" b="1" dirty="0">
              <a:solidFill>
                <a:srgbClr val="2F2523"/>
              </a:solidFill>
            </a:endParaRPr>
          </a:p>
        </p:txBody>
      </p:sp>
      <p:sp>
        <p:nvSpPr>
          <p:cNvPr id="10" name="テキスト ボックス 9">
            <a:extLst>
              <a:ext uri="{FF2B5EF4-FFF2-40B4-BE49-F238E27FC236}">
                <a16:creationId xmlns:a16="http://schemas.microsoft.com/office/drawing/2014/main" id="{937868DB-6210-4898-3ACA-0C51CE0ECC02}"/>
              </a:ext>
            </a:extLst>
          </p:cNvPr>
          <p:cNvSpPr txBox="1"/>
          <p:nvPr/>
        </p:nvSpPr>
        <p:spPr>
          <a:xfrm>
            <a:off x="307397" y="5253032"/>
            <a:ext cx="646331" cy="646331"/>
          </a:xfrm>
          <a:prstGeom prst="rect">
            <a:avLst/>
          </a:prstGeom>
          <a:noFill/>
        </p:spPr>
        <p:txBody>
          <a:bodyPr wrap="none" rtlCol="0">
            <a:spAutoFit/>
          </a:bodyPr>
          <a:lstStyle/>
          <a:p>
            <a:pPr algn="ctr"/>
            <a:r>
              <a:rPr kumimoji="1" lang="en-US" altLang="ja-GB" sz="1200" b="1" dirty="0"/>
              <a:t>Step1</a:t>
            </a:r>
          </a:p>
          <a:p>
            <a:pPr algn="ctr"/>
            <a:r>
              <a:rPr kumimoji="1" lang="ja-GB" altLang="en-US" sz="1200" dirty="0"/>
              <a:t>黒豆</a:t>
            </a:r>
            <a:endParaRPr kumimoji="1" lang="en-US" altLang="ja-GB" sz="1200" dirty="0"/>
          </a:p>
          <a:p>
            <a:pPr algn="ctr"/>
            <a:r>
              <a:rPr kumimoji="1" lang="ja-GB" altLang="en-US" sz="1200" dirty="0"/>
              <a:t>伊達巻</a:t>
            </a:r>
          </a:p>
        </p:txBody>
      </p:sp>
      <p:sp>
        <p:nvSpPr>
          <p:cNvPr id="11" name="テキスト ボックス 10">
            <a:extLst>
              <a:ext uri="{FF2B5EF4-FFF2-40B4-BE49-F238E27FC236}">
                <a16:creationId xmlns:a16="http://schemas.microsoft.com/office/drawing/2014/main" id="{B000CFF6-E1C9-9C98-96CB-E59197CE4932}"/>
              </a:ext>
            </a:extLst>
          </p:cNvPr>
          <p:cNvSpPr txBox="1"/>
          <p:nvPr/>
        </p:nvSpPr>
        <p:spPr>
          <a:xfrm>
            <a:off x="1113171" y="5253032"/>
            <a:ext cx="800219" cy="646331"/>
          </a:xfrm>
          <a:prstGeom prst="rect">
            <a:avLst/>
          </a:prstGeom>
          <a:noFill/>
        </p:spPr>
        <p:txBody>
          <a:bodyPr wrap="none" rtlCol="0">
            <a:spAutoFit/>
          </a:bodyPr>
          <a:lstStyle/>
          <a:p>
            <a:pPr algn="ctr"/>
            <a:r>
              <a:rPr kumimoji="1" lang="en-US" altLang="ja-GB" sz="1200" b="1" dirty="0"/>
              <a:t>Step2</a:t>
            </a:r>
          </a:p>
          <a:p>
            <a:pPr algn="ctr"/>
            <a:r>
              <a:rPr kumimoji="1" lang="ja-GB" altLang="en-US" sz="1200" dirty="0"/>
              <a:t>昆布巻き</a:t>
            </a:r>
            <a:endParaRPr kumimoji="1" lang="en-US" altLang="ja-GB" sz="1200" dirty="0"/>
          </a:p>
          <a:p>
            <a:pPr algn="ctr"/>
            <a:r>
              <a:rPr kumimoji="1" lang="ja-GB" altLang="en-US" sz="1200" dirty="0"/>
              <a:t>かまぼこ</a:t>
            </a:r>
            <a:endParaRPr kumimoji="1" lang="en-US" altLang="ja-GB" sz="1200" dirty="0"/>
          </a:p>
        </p:txBody>
      </p:sp>
      <p:sp>
        <p:nvSpPr>
          <p:cNvPr id="12" name="テキスト ボックス 11">
            <a:extLst>
              <a:ext uri="{FF2B5EF4-FFF2-40B4-BE49-F238E27FC236}">
                <a16:creationId xmlns:a16="http://schemas.microsoft.com/office/drawing/2014/main" id="{0CF3F27B-9A33-7D51-4884-59F10DBC3488}"/>
              </a:ext>
            </a:extLst>
          </p:cNvPr>
          <p:cNvSpPr txBox="1"/>
          <p:nvPr/>
        </p:nvSpPr>
        <p:spPr>
          <a:xfrm>
            <a:off x="1995890" y="5253032"/>
            <a:ext cx="954107" cy="646331"/>
          </a:xfrm>
          <a:prstGeom prst="rect">
            <a:avLst/>
          </a:prstGeom>
          <a:noFill/>
        </p:spPr>
        <p:txBody>
          <a:bodyPr wrap="none" rtlCol="0">
            <a:spAutoFit/>
          </a:bodyPr>
          <a:lstStyle/>
          <a:p>
            <a:pPr algn="ctr"/>
            <a:r>
              <a:rPr kumimoji="1" lang="en-US" altLang="ja-GB" sz="1200" b="1" dirty="0"/>
              <a:t>Step3</a:t>
            </a:r>
          </a:p>
          <a:p>
            <a:pPr algn="ctr"/>
            <a:r>
              <a:rPr kumimoji="1" lang="ja-GB" altLang="en-US" sz="1200" dirty="0"/>
              <a:t>唐揚げ</a:t>
            </a:r>
            <a:endParaRPr kumimoji="1" lang="en-US" altLang="ja-GB" sz="1200" dirty="0"/>
          </a:p>
          <a:p>
            <a:pPr algn="ctr"/>
            <a:r>
              <a:rPr kumimoji="1" lang="ja-GB" altLang="en-US" sz="1200" dirty="0"/>
              <a:t>栗きんとん</a:t>
            </a:r>
            <a:endParaRPr kumimoji="1" lang="en-US" altLang="ja-GB" sz="1200" dirty="0"/>
          </a:p>
        </p:txBody>
      </p:sp>
      <p:sp>
        <p:nvSpPr>
          <p:cNvPr id="13" name="テキスト ボックス 12">
            <a:extLst>
              <a:ext uri="{FF2B5EF4-FFF2-40B4-BE49-F238E27FC236}">
                <a16:creationId xmlns:a16="http://schemas.microsoft.com/office/drawing/2014/main" id="{8EDAE569-9805-07F1-4179-2047FA108FE5}"/>
              </a:ext>
            </a:extLst>
          </p:cNvPr>
          <p:cNvSpPr txBox="1"/>
          <p:nvPr/>
        </p:nvSpPr>
        <p:spPr>
          <a:xfrm>
            <a:off x="2961729" y="5253032"/>
            <a:ext cx="1415772" cy="461665"/>
          </a:xfrm>
          <a:prstGeom prst="rect">
            <a:avLst/>
          </a:prstGeom>
          <a:noFill/>
        </p:spPr>
        <p:txBody>
          <a:bodyPr wrap="none" rtlCol="0">
            <a:spAutoFit/>
          </a:bodyPr>
          <a:lstStyle/>
          <a:p>
            <a:pPr algn="ctr"/>
            <a:r>
              <a:rPr kumimoji="1" lang="en-US" altLang="ja-GB" sz="1200" b="1" dirty="0"/>
              <a:t>Step4</a:t>
            </a:r>
          </a:p>
          <a:p>
            <a:pPr algn="ctr"/>
            <a:r>
              <a:rPr kumimoji="1" lang="ja-GB" altLang="en-US" sz="1200" dirty="0"/>
              <a:t>組み合わせて完成</a:t>
            </a:r>
            <a:endParaRPr kumimoji="1" lang="en-US" altLang="ja-GB" sz="1200" dirty="0"/>
          </a:p>
        </p:txBody>
      </p:sp>
      <p:sp>
        <p:nvSpPr>
          <p:cNvPr id="17" name="テキスト ボックス 16">
            <a:extLst>
              <a:ext uri="{FF2B5EF4-FFF2-40B4-BE49-F238E27FC236}">
                <a16:creationId xmlns:a16="http://schemas.microsoft.com/office/drawing/2014/main" id="{8A6DEBCF-C467-8693-C134-3F699DF1F2A0}"/>
              </a:ext>
            </a:extLst>
          </p:cNvPr>
          <p:cNvSpPr txBox="1"/>
          <p:nvPr/>
        </p:nvSpPr>
        <p:spPr>
          <a:xfrm>
            <a:off x="4712748" y="5253032"/>
            <a:ext cx="800219" cy="461665"/>
          </a:xfrm>
          <a:prstGeom prst="rect">
            <a:avLst/>
          </a:prstGeom>
          <a:noFill/>
        </p:spPr>
        <p:txBody>
          <a:bodyPr wrap="none" rtlCol="0">
            <a:spAutoFit/>
          </a:bodyPr>
          <a:lstStyle/>
          <a:p>
            <a:pPr algn="ctr"/>
            <a:r>
              <a:rPr kumimoji="1" lang="en-US" altLang="ja-GB" sz="1200" b="1" dirty="0"/>
              <a:t>Step1</a:t>
            </a:r>
          </a:p>
          <a:p>
            <a:pPr algn="ctr"/>
            <a:r>
              <a:rPr kumimoji="1" lang="ja-GB" altLang="en-US" sz="1200" dirty="0"/>
              <a:t>スケッチ</a:t>
            </a:r>
          </a:p>
        </p:txBody>
      </p:sp>
      <p:sp>
        <p:nvSpPr>
          <p:cNvPr id="18" name="テキスト ボックス 17">
            <a:extLst>
              <a:ext uri="{FF2B5EF4-FFF2-40B4-BE49-F238E27FC236}">
                <a16:creationId xmlns:a16="http://schemas.microsoft.com/office/drawing/2014/main" id="{B26648B0-18D7-7030-EABE-3C13CB1A529C}"/>
              </a:ext>
            </a:extLst>
          </p:cNvPr>
          <p:cNvSpPr txBox="1"/>
          <p:nvPr/>
        </p:nvSpPr>
        <p:spPr>
          <a:xfrm>
            <a:off x="5879913" y="5253032"/>
            <a:ext cx="546688" cy="461665"/>
          </a:xfrm>
          <a:prstGeom prst="rect">
            <a:avLst/>
          </a:prstGeom>
          <a:noFill/>
        </p:spPr>
        <p:txBody>
          <a:bodyPr wrap="none" rtlCol="0">
            <a:spAutoFit/>
          </a:bodyPr>
          <a:lstStyle/>
          <a:p>
            <a:pPr algn="ctr"/>
            <a:r>
              <a:rPr kumimoji="1" lang="en-US" altLang="ja-GB" sz="1200" b="1" dirty="0"/>
              <a:t>Step2</a:t>
            </a:r>
          </a:p>
          <a:p>
            <a:pPr algn="ctr"/>
            <a:r>
              <a:rPr kumimoji="1" lang="ja-GB" altLang="en-US" sz="1200" dirty="0"/>
              <a:t>試作</a:t>
            </a:r>
            <a:endParaRPr kumimoji="1" lang="en-US" altLang="ja-GB" sz="1200" dirty="0"/>
          </a:p>
        </p:txBody>
      </p:sp>
      <p:sp>
        <p:nvSpPr>
          <p:cNvPr id="19" name="テキスト ボックス 18">
            <a:extLst>
              <a:ext uri="{FF2B5EF4-FFF2-40B4-BE49-F238E27FC236}">
                <a16:creationId xmlns:a16="http://schemas.microsoft.com/office/drawing/2014/main" id="{5693E600-365B-41D1-90FE-BD21A09D7F16}"/>
              </a:ext>
            </a:extLst>
          </p:cNvPr>
          <p:cNvSpPr txBox="1"/>
          <p:nvPr/>
        </p:nvSpPr>
        <p:spPr>
          <a:xfrm>
            <a:off x="6620894" y="5253032"/>
            <a:ext cx="1107996" cy="646331"/>
          </a:xfrm>
          <a:prstGeom prst="rect">
            <a:avLst/>
          </a:prstGeom>
          <a:noFill/>
        </p:spPr>
        <p:txBody>
          <a:bodyPr wrap="none" rtlCol="0">
            <a:spAutoFit/>
          </a:bodyPr>
          <a:lstStyle/>
          <a:p>
            <a:pPr algn="ctr"/>
            <a:r>
              <a:rPr kumimoji="1" lang="en-US" altLang="ja-GB" sz="1200" b="1" dirty="0"/>
              <a:t>Step3</a:t>
            </a:r>
          </a:p>
          <a:p>
            <a:pPr algn="ctr"/>
            <a:r>
              <a:rPr kumimoji="1" lang="ja-GB" altLang="en-US" sz="1200" dirty="0"/>
              <a:t>修正版</a:t>
            </a:r>
            <a:endParaRPr kumimoji="1" lang="en-US" altLang="ja-GB" sz="1200" dirty="0"/>
          </a:p>
          <a:p>
            <a:pPr algn="ctr"/>
            <a:r>
              <a:rPr kumimoji="1" lang="ja-GB" altLang="en-US" sz="1200" dirty="0"/>
              <a:t>（彩り調整）</a:t>
            </a:r>
            <a:endParaRPr kumimoji="1" lang="en-US" altLang="ja-GB" sz="1200" dirty="0"/>
          </a:p>
        </p:txBody>
      </p:sp>
      <p:sp>
        <p:nvSpPr>
          <p:cNvPr id="20" name="テキスト ボックス 19">
            <a:extLst>
              <a:ext uri="{FF2B5EF4-FFF2-40B4-BE49-F238E27FC236}">
                <a16:creationId xmlns:a16="http://schemas.microsoft.com/office/drawing/2014/main" id="{FBE4E961-BE08-C3EE-6055-2844730BCA3C}"/>
              </a:ext>
            </a:extLst>
          </p:cNvPr>
          <p:cNvSpPr txBox="1"/>
          <p:nvPr/>
        </p:nvSpPr>
        <p:spPr>
          <a:xfrm>
            <a:off x="7688247" y="5253032"/>
            <a:ext cx="1107996" cy="646331"/>
          </a:xfrm>
          <a:prstGeom prst="rect">
            <a:avLst/>
          </a:prstGeom>
          <a:noFill/>
        </p:spPr>
        <p:txBody>
          <a:bodyPr wrap="none" rtlCol="0">
            <a:spAutoFit/>
          </a:bodyPr>
          <a:lstStyle/>
          <a:p>
            <a:pPr algn="ctr"/>
            <a:r>
              <a:rPr kumimoji="1" lang="en-US" altLang="ja-GB" sz="1200" b="1" dirty="0"/>
              <a:t>Step4</a:t>
            </a:r>
          </a:p>
          <a:p>
            <a:pPr algn="ctr"/>
            <a:r>
              <a:rPr kumimoji="1" lang="ja-GB" altLang="en-US" sz="1200" dirty="0"/>
              <a:t>修正版</a:t>
            </a:r>
            <a:endParaRPr kumimoji="1" lang="en-US" altLang="ja-GB" sz="1200" dirty="0"/>
          </a:p>
          <a:p>
            <a:pPr algn="ctr"/>
            <a:r>
              <a:rPr kumimoji="1" lang="ja-GB" altLang="en-US" sz="1200" dirty="0"/>
              <a:t>（分量増加）</a:t>
            </a:r>
            <a:endParaRPr kumimoji="1" lang="en-US" altLang="ja-GB" sz="1200" dirty="0"/>
          </a:p>
        </p:txBody>
      </p:sp>
      <p:pic>
        <p:nvPicPr>
          <p:cNvPr id="25" name="図 24" descr="ダイアグラム&#10;&#10;AI 生成コンテンツは誤りを含む可能性があります。">
            <a:extLst>
              <a:ext uri="{FF2B5EF4-FFF2-40B4-BE49-F238E27FC236}">
                <a16:creationId xmlns:a16="http://schemas.microsoft.com/office/drawing/2014/main" id="{557769E2-A758-CDDD-3683-39DBC6C2F4F5}"/>
              </a:ext>
            </a:extLst>
          </p:cNvPr>
          <p:cNvPicPr>
            <a:picLocks noChangeAspect="1"/>
          </p:cNvPicPr>
          <p:nvPr/>
        </p:nvPicPr>
        <p:blipFill>
          <a:blip r:embed="rId2">
            <a:clrChange>
              <a:clrFrom>
                <a:srgbClr val="F8F5F3"/>
              </a:clrFrom>
              <a:clrTo>
                <a:srgbClr val="F8F5F3">
                  <a:alpha val="0"/>
                </a:srgbClr>
              </a:clrTo>
            </a:clrChange>
          </a:blip>
          <a:srcRect l="68044" t="27742" b="33127"/>
          <a:stretch>
            <a:fillRect/>
          </a:stretch>
        </p:blipFill>
        <p:spPr>
          <a:xfrm>
            <a:off x="7534656" y="3711188"/>
            <a:ext cx="1297517" cy="1588836"/>
          </a:xfrm>
          <a:prstGeom prst="rect">
            <a:avLst/>
          </a:prstGeom>
        </p:spPr>
      </p:pic>
      <p:pic>
        <p:nvPicPr>
          <p:cNvPr id="27" name="図 26" descr="ダイアグラム&#10;&#10;AI 生成コンテンツは誤りを含む可能性があります。">
            <a:extLst>
              <a:ext uri="{FF2B5EF4-FFF2-40B4-BE49-F238E27FC236}">
                <a16:creationId xmlns:a16="http://schemas.microsoft.com/office/drawing/2014/main" id="{BB962DE6-85DF-E35A-9DBA-61C7E50D79EA}"/>
              </a:ext>
            </a:extLst>
          </p:cNvPr>
          <p:cNvPicPr>
            <a:picLocks noChangeAspect="1"/>
          </p:cNvPicPr>
          <p:nvPr/>
        </p:nvPicPr>
        <p:blipFill>
          <a:blip r:embed="rId3">
            <a:clrChange>
              <a:clrFrom>
                <a:srgbClr val="F7F4F1"/>
              </a:clrFrom>
              <a:clrTo>
                <a:srgbClr val="F7F4F1">
                  <a:alpha val="0"/>
                </a:srgbClr>
              </a:clrTo>
            </a:clrChange>
          </a:blip>
          <a:srcRect t="26728" b="34142"/>
          <a:stretch>
            <a:fillRect/>
          </a:stretch>
        </p:blipFill>
        <p:spPr>
          <a:xfrm>
            <a:off x="307397" y="3711188"/>
            <a:ext cx="4060355" cy="1588836"/>
          </a:xfrm>
          <a:prstGeom prst="rect">
            <a:avLst/>
          </a:prstGeom>
        </p:spPr>
      </p:pic>
      <p:pic>
        <p:nvPicPr>
          <p:cNvPr id="28" name="図 27" descr="ダイアグラム&#10;&#10;AI 生成コンテンツは誤りを含む可能性があります。">
            <a:extLst>
              <a:ext uri="{FF2B5EF4-FFF2-40B4-BE49-F238E27FC236}">
                <a16:creationId xmlns:a16="http://schemas.microsoft.com/office/drawing/2014/main" id="{7FC897FE-4764-E867-8DEB-B7AB46E82F3E}"/>
              </a:ext>
            </a:extLst>
          </p:cNvPr>
          <p:cNvPicPr>
            <a:picLocks noChangeAspect="1"/>
          </p:cNvPicPr>
          <p:nvPr/>
        </p:nvPicPr>
        <p:blipFill>
          <a:blip r:embed="rId2">
            <a:clrChange>
              <a:clrFrom>
                <a:srgbClr val="F8F5F3"/>
              </a:clrFrom>
              <a:clrTo>
                <a:srgbClr val="F8F5F3">
                  <a:alpha val="0"/>
                </a:srgbClr>
              </a:clrTo>
            </a:clrChange>
          </a:blip>
          <a:srcRect l="45214" t="27742" r="32778" b="33127"/>
          <a:stretch>
            <a:fillRect/>
          </a:stretch>
        </p:blipFill>
        <p:spPr>
          <a:xfrm>
            <a:off x="6615047" y="3711188"/>
            <a:ext cx="893614" cy="1588836"/>
          </a:xfrm>
          <a:prstGeom prst="rect">
            <a:avLst/>
          </a:prstGeom>
        </p:spPr>
      </p:pic>
      <p:pic>
        <p:nvPicPr>
          <p:cNvPr id="30" name="図 29" descr="ダイアグラム&#10;&#10;AI 生成コンテンツは誤りを含む可能性があります。">
            <a:extLst>
              <a:ext uri="{FF2B5EF4-FFF2-40B4-BE49-F238E27FC236}">
                <a16:creationId xmlns:a16="http://schemas.microsoft.com/office/drawing/2014/main" id="{4FE9B7FE-DE69-9CCD-789A-811164E1BC97}"/>
              </a:ext>
            </a:extLst>
          </p:cNvPr>
          <p:cNvPicPr>
            <a:picLocks noChangeAspect="1"/>
          </p:cNvPicPr>
          <p:nvPr/>
        </p:nvPicPr>
        <p:blipFill>
          <a:blip r:embed="rId2">
            <a:clrChange>
              <a:clrFrom>
                <a:srgbClr val="F8F5F3"/>
              </a:clrFrom>
              <a:clrTo>
                <a:srgbClr val="F8F5F3">
                  <a:alpha val="0"/>
                </a:srgbClr>
              </a:clrTo>
            </a:clrChange>
          </a:blip>
          <a:srcRect t="27742" r="76502" b="33127"/>
          <a:stretch>
            <a:fillRect/>
          </a:stretch>
        </p:blipFill>
        <p:spPr>
          <a:xfrm>
            <a:off x="4710060" y="3724760"/>
            <a:ext cx="954107" cy="1588836"/>
          </a:xfrm>
          <a:prstGeom prst="rect">
            <a:avLst/>
          </a:prstGeom>
        </p:spPr>
      </p:pic>
      <p:pic>
        <p:nvPicPr>
          <p:cNvPr id="29" name="図 28" descr="ダイアグラム&#10;&#10;AI 生成コンテンツは誤りを含む可能性があります。">
            <a:extLst>
              <a:ext uri="{FF2B5EF4-FFF2-40B4-BE49-F238E27FC236}">
                <a16:creationId xmlns:a16="http://schemas.microsoft.com/office/drawing/2014/main" id="{C8177826-96A5-260B-887F-F0F57A76937D}"/>
              </a:ext>
            </a:extLst>
          </p:cNvPr>
          <p:cNvPicPr>
            <a:picLocks noChangeAspect="1"/>
          </p:cNvPicPr>
          <p:nvPr/>
        </p:nvPicPr>
        <p:blipFill>
          <a:blip r:embed="rId2">
            <a:clrChange>
              <a:clrFrom>
                <a:srgbClr val="F8F5F3"/>
              </a:clrFrom>
              <a:clrTo>
                <a:srgbClr val="F8F5F3">
                  <a:alpha val="0"/>
                </a:srgbClr>
              </a:clrTo>
            </a:clrChange>
          </a:blip>
          <a:srcRect l="23933" t="27742" r="54058" b="33127"/>
          <a:stretch>
            <a:fillRect/>
          </a:stretch>
        </p:blipFill>
        <p:spPr>
          <a:xfrm>
            <a:off x="5712781" y="3724760"/>
            <a:ext cx="893638" cy="1588836"/>
          </a:xfrm>
          <a:prstGeom prst="rect">
            <a:avLst/>
          </a:prstGeom>
        </p:spPr>
      </p:pic>
      <p:sp>
        <p:nvSpPr>
          <p:cNvPr id="33" name="テキスト ボックス 32">
            <a:extLst>
              <a:ext uri="{FF2B5EF4-FFF2-40B4-BE49-F238E27FC236}">
                <a16:creationId xmlns:a16="http://schemas.microsoft.com/office/drawing/2014/main" id="{082CC349-0DFC-5077-E5AF-6D32F604C64A}"/>
              </a:ext>
            </a:extLst>
          </p:cNvPr>
          <p:cNvSpPr txBox="1"/>
          <p:nvPr/>
        </p:nvSpPr>
        <p:spPr>
          <a:xfrm>
            <a:off x="193295" y="6563256"/>
            <a:ext cx="3213637" cy="276999"/>
          </a:xfrm>
          <a:prstGeom prst="rect">
            <a:avLst/>
          </a:prstGeom>
          <a:noFill/>
        </p:spPr>
        <p:txBody>
          <a:bodyPr wrap="none" rtlCol="0">
            <a:spAutoFit/>
          </a:bodyPr>
          <a:lstStyle/>
          <a:p>
            <a:r>
              <a:rPr kumimoji="1" lang="en-US" altLang="ja-GB" sz="1200" dirty="0">
                <a:solidFill>
                  <a:schemeClr val="tx1">
                    <a:lumMod val="50000"/>
                    <a:lumOff val="50000"/>
                  </a:schemeClr>
                </a:solidFill>
              </a:rPr>
              <a:t>※</a:t>
            </a:r>
            <a:r>
              <a:rPr kumimoji="1" lang="ja-GB" altLang="en-US" sz="1200" dirty="0">
                <a:solidFill>
                  <a:schemeClr val="tx1">
                    <a:lumMod val="50000"/>
                    <a:lumOff val="50000"/>
                  </a:schemeClr>
                </a:solidFill>
              </a:rPr>
              <a:t>図は</a:t>
            </a:r>
            <a:r>
              <a:rPr kumimoji="1" lang="en-US" altLang="ja-GB" sz="1200" dirty="0">
                <a:solidFill>
                  <a:schemeClr val="tx1">
                    <a:lumMod val="50000"/>
                    <a:lumOff val="50000"/>
                  </a:schemeClr>
                </a:solidFill>
              </a:rPr>
              <a:t>GPT4o</a:t>
            </a:r>
            <a:r>
              <a:rPr kumimoji="1" lang="ja-GB" altLang="en-US" sz="1200" dirty="0">
                <a:solidFill>
                  <a:schemeClr val="tx1">
                    <a:lumMod val="50000"/>
                    <a:lumOff val="50000"/>
                  </a:schemeClr>
                </a:solidFill>
              </a:rPr>
              <a:t>で生成したものを編集して使用</a:t>
            </a:r>
          </a:p>
        </p:txBody>
      </p:sp>
    </p:spTree>
    <p:extLst>
      <p:ext uri="{BB962C8B-B14F-4D97-AF65-F5344CB8AC3E}">
        <p14:creationId xmlns:p14="http://schemas.microsoft.com/office/powerpoint/2010/main" val="24096688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1CAF38-BF60-C3D9-34DA-B4FEF64C4400}"/>
              </a:ext>
            </a:extLst>
          </p:cNvPr>
          <p:cNvSpPr>
            <a:spLocks noGrp="1"/>
          </p:cNvSpPr>
          <p:nvPr>
            <p:ph type="title"/>
          </p:nvPr>
        </p:nvSpPr>
        <p:spPr/>
        <p:txBody>
          <a:bodyPr/>
          <a:lstStyle/>
          <a:p>
            <a:r>
              <a:rPr kumimoji="1" lang="ja-GB" altLang="en-US" dirty="0"/>
              <a:t>アジャイル開発</a:t>
            </a:r>
          </a:p>
        </p:txBody>
      </p:sp>
      <p:sp>
        <p:nvSpPr>
          <p:cNvPr id="3" name="コンテンツ プレースホルダー 2">
            <a:extLst>
              <a:ext uri="{FF2B5EF4-FFF2-40B4-BE49-F238E27FC236}">
                <a16:creationId xmlns:a16="http://schemas.microsoft.com/office/drawing/2014/main" id="{95D5202C-D960-F445-FC4D-9C38A5CFEBB7}"/>
              </a:ext>
            </a:extLst>
          </p:cNvPr>
          <p:cNvSpPr>
            <a:spLocks noGrp="1"/>
          </p:cNvSpPr>
          <p:nvPr>
            <p:ph idx="1"/>
          </p:nvPr>
        </p:nvSpPr>
        <p:spPr/>
        <p:txBody>
          <a:bodyPr/>
          <a:lstStyle/>
          <a:p>
            <a:pPr marL="0" indent="0">
              <a:buNone/>
            </a:pPr>
            <a:r>
              <a:rPr kumimoji="1" lang="ja-GB" altLang="en-US" dirty="0"/>
              <a:t>開発過程での柔軟な要件の変化に対応するための考え方</a:t>
            </a:r>
            <a:endParaRPr kumimoji="1" lang="en-US" altLang="ja-GB" dirty="0"/>
          </a:p>
          <a:p>
            <a:pPr marL="457200" lvl="1" indent="0">
              <a:buNone/>
            </a:pPr>
            <a:r>
              <a:rPr lang="ja-GB" altLang="en-US" dirty="0"/>
              <a:t>計画を守る枠組みより状況の変化に対応できる開発体制を重視する価値観</a:t>
            </a:r>
            <a:endParaRPr lang="en-US" altLang="ja-GB" dirty="0"/>
          </a:p>
          <a:p>
            <a:pPr lvl="2"/>
            <a:r>
              <a:rPr lang="ja-GB" altLang="en-US" dirty="0"/>
              <a:t>計画，設計，実装，テストを小さいサイクルで何度も繰り返す</a:t>
            </a:r>
            <a:endParaRPr lang="en-US" altLang="ja-GB" dirty="0"/>
          </a:p>
          <a:p>
            <a:pPr lvl="2"/>
            <a:r>
              <a:rPr lang="ja-GB" altLang="en-US" dirty="0"/>
              <a:t>リリースを繰り返しながら，他の開発者や顧客と密に対話してより良い形を探る</a:t>
            </a:r>
            <a:endParaRPr lang="en-US" altLang="ja-GB" dirty="0"/>
          </a:p>
          <a:p>
            <a:pPr lvl="2"/>
            <a:r>
              <a:rPr lang="ja-GB" altLang="en-US" dirty="0"/>
              <a:t>スクラム，エクストリームプログラミングなど，色々な方法論が提案されている</a:t>
            </a:r>
            <a:endParaRPr lang="en-US" altLang="ja-GB" dirty="0"/>
          </a:p>
        </p:txBody>
      </p:sp>
    </p:spTree>
    <p:extLst>
      <p:ext uri="{BB962C8B-B14F-4D97-AF65-F5344CB8AC3E}">
        <p14:creationId xmlns:p14="http://schemas.microsoft.com/office/powerpoint/2010/main" val="154848463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51D73E-942E-D6ED-ADA1-D9E227C86549}"/>
              </a:ext>
            </a:extLst>
          </p:cNvPr>
          <p:cNvSpPr>
            <a:spLocks noGrp="1"/>
          </p:cNvSpPr>
          <p:nvPr>
            <p:ph type="title"/>
          </p:nvPr>
        </p:nvSpPr>
        <p:spPr/>
        <p:txBody>
          <a:bodyPr/>
          <a:lstStyle/>
          <a:p>
            <a:r>
              <a:rPr kumimoji="1" lang="ja-GB" altLang="en-US" dirty="0"/>
              <a:t>リーンスタートアップ（</a:t>
            </a:r>
            <a:r>
              <a:rPr kumimoji="1" lang="en-US" altLang="ja-GB" dirty="0"/>
              <a:t>MVP</a:t>
            </a:r>
            <a:r>
              <a:rPr kumimoji="1" lang="ja-GB" altLang="en-US" dirty="0"/>
              <a:t>開発）</a:t>
            </a:r>
          </a:p>
        </p:txBody>
      </p:sp>
      <p:sp>
        <p:nvSpPr>
          <p:cNvPr id="3" name="コンテンツ プレースホルダー 2">
            <a:extLst>
              <a:ext uri="{FF2B5EF4-FFF2-40B4-BE49-F238E27FC236}">
                <a16:creationId xmlns:a16="http://schemas.microsoft.com/office/drawing/2014/main" id="{961EDFEC-7942-B2A5-90CA-4FB0E174A9B5}"/>
              </a:ext>
            </a:extLst>
          </p:cNvPr>
          <p:cNvSpPr>
            <a:spLocks noGrp="1"/>
          </p:cNvSpPr>
          <p:nvPr>
            <p:ph idx="1"/>
          </p:nvPr>
        </p:nvSpPr>
        <p:spPr/>
        <p:txBody>
          <a:bodyPr>
            <a:normAutofit/>
          </a:bodyPr>
          <a:lstStyle/>
          <a:p>
            <a:pPr marL="0" indent="0">
              <a:buNone/>
            </a:pPr>
            <a:r>
              <a:rPr kumimoji="1" lang="ja-GB" altLang="en-US" sz="2000" dirty="0"/>
              <a:t>早期に市場投入して，利用者の反応を見つつ迅速に改善を行うという考え方</a:t>
            </a:r>
            <a:endParaRPr kumimoji="1" lang="en-US" altLang="ja-GB" sz="2000" dirty="0"/>
          </a:p>
          <a:p>
            <a:pPr lvl="1"/>
            <a:r>
              <a:rPr kumimoji="1" lang="en-US" altLang="ja-GB" sz="1800" dirty="0"/>
              <a:t>MVP</a:t>
            </a:r>
            <a:r>
              <a:rPr kumimoji="1" lang="ja-GB" altLang="en-US" sz="1800" dirty="0"/>
              <a:t>：</a:t>
            </a:r>
            <a:r>
              <a:rPr kumimoji="1" lang="en-US" altLang="ja-GB" sz="1800" dirty="0"/>
              <a:t>Minimum Viable Product</a:t>
            </a:r>
            <a:r>
              <a:rPr kumimoji="1" lang="ja-GB" altLang="en-US" sz="1800" dirty="0"/>
              <a:t>，実用最小限の製品</a:t>
            </a:r>
            <a:endParaRPr kumimoji="1" lang="en-US" altLang="ja-GB" sz="1800" dirty="0"/>
          </a:p>
          <a:p>
            <a:pPr lvl="1"/>
            <a:r>
              <a:rPr lang="ja-JP" altLang="en-US" sz="1800"/>
              <a:t>製品を実際に使いながら改善版を開発していく方式</a:t>
            </a:r>
            <a:endParaRPr lang="en-US" altLang="ja-JP" sz="1800" dirty="0"/>
          </a:p>
          <a:p>
            <a:pPr lvl="2"/>
            <a:r>
              <a:rPr lang="ja-JP" altLang="en-US" sz="1600"/>
              <a:t>利用者の反応を検証しながら，製品を段階的に改善する</a:t>
            </a:r>
            <a:endParaRPr kumimoji="1" lang="ja-GB" altLang="en-US" sz="1600" dirty="0"/>
          </a:p>
        </p:txBody>
      </p:sp>
      <p:grpSp>
        <p:nvGrpSpPr>
          <p:cNvPr id="13" name="グループ化 12">
            <a:extLst>
              <a:ext uri="{FF2B5EF4-FFF2-40B4-BE49-F238E27FC236}">
                <a16:creationId xmlns:a16="http://schemas.microsoft.com/office/drawing/2014/main" id="{FF406621-CF7F-220E-89A0-82104AC0800D}"/>
              </a:ext>
            </a:extLst>
          </p:cNvPr>
          <p:cNvGrpSpPr/>
          <p:nvPr/>
        </p:nvGrpSpPr>
        <p:grpSpPr>
          <a:xfrm>
            <a:off x="2510943" y="2956762"/>
            <a:ext cx="4122113" cy="2550679"/>
            <a:chOff x="2406247" y="3075515"/>
            <a:chExt cx="4122113" cy="2550679"/>
          </a:xfrm>
        </p:grpSpPr>
        <p:sp>
          <p:nvSpPr>
            <p:cNvPr id="4" name="角丸四角形 3">
              <a:extLst>
                <a:ext uri="{FF2B5EF4-FFF2-40B4-BE49-F238E27FC236}">
                  <a16:creationId xmlns:a16="http://schemas.microsoft.com/office/drawing/2014/main" id="{FFF18B6B-F4FB-7A03-57FA-1F718BBCF3A6}"/>
                </a:ext>
              </a:extLst>
            </p:cNvPr>
            <p:cNvSpPr/>
            <p:nvPr/>
          </p:nvSpPr>
          <p:spPr>
            <a:xfrm>
              <a:off x="2406247" y="3075515"/>
              <a:ext cx="4119615" cy="2550679"/>
            </a:xfrm>
            <a:prstGeom prst="roundRect">
              <a:avLst>
                <a:gd name="adj" fmla="val 340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GB" altLang="en-US"/>
            </a:p>
          </p:txBody>
        </p:sp>
        <p:sp>
          <p:nvSpPr>
            <p:cNvPr id="5" name="テキスト ボックス 4">
              <a:extLst>
                <a:ext uri="{FF2B5EF4-FFF2-40B4-BE49-F238E27FC236}">
                  <a16:creationId xmlns:a16="http://schemas.microsoft.com/office/drawing/2014/main" id="{9E338A3C-E4BE-36D8-AB3A-4AA9E30E1786}"/>
                </a:ext>
              </a:extLst>
            </p:cNvPr>
            <p:cNvSpPr txBox="1"/>
            <p:nvPr/>
          </p:nvSpPr>
          <p:spPr>
            <a:xfrm>
              <a:off x="2408935" y="4861146"/>
              <a:ext cx="800219" cy="461665"/>
            </a:xfrm>
            <a:prstGeom prst="rect">
              <a:avLst/>
            </a:prstGeom>
            <a:noFill/>
          </p:spPr>
          <p:txBody>
            <a:bodyPr wrap="none" rtlCol="0">
              <a:spAutoFit/>
            </a:bodyPr>
            <a:lstStyle/>
            <a:p>
              <a:pPr algn="ctr"/>
              <a:r>
                <a:rPr kumimoji="1" lang="en-US" altLang="ja-GB" sz="1200" b="1" dirty="0"/>
                <a:t>Step1</a:t>
              </a:r>
            </a:p>
            <a:p>
              <a:pPr algn="ctr"/>
              <a:r>
                <a:rPr kumimoji="1" lang="ja-GB" altLang="en-US" sz="1200" dirty="0"/>
                <a:t>スケッチ</a:t>
              </a:r>
            </a:p>
          </p:txBody>
        </p:sp>
        <p:sp>
          <p:nvSpPr>
            <p:cNvPr id="6" name="テキスト ボックス 5">
              <a:extLst>
                <a:ext uri="{FF2B5EF4-FFF2-40B4-BE49-F238E27FC236}">
                  <a16:creationId xmlns:a16="http://schemas.microsoft.com/office/drawing/2014/main" id="{F13079DB-0D9D-7CED-DAEE-22EA134290A3}"/>
                </a:ext>
              </a:extLst>
            </p:cNvPr>
            <p:cNvSpPr txBox="1"/>
            <p:nvPr/>
          </p:nvSpPr>
          <p:spPr>
            <a:xfrm>
              <a:off x="3576100" y="4861146"/>
              <a:ext cx="546688" cy="461665"/>
            </a:xfrm>
            <a:prstGeom prst="rect">
              <a:avLst/>
            </a:prstGeom>
            <a:noFill/>
          </p:spPr>
          <p:txBody>
            <a:bodyPr wrap="none" rtlCol="0">
              <a:spAutoFit/>
            </a:bodyPr>
            <a:lstStyle/>
            <a:p>
              <a:pPr algn="ctr"/>
              <a:r>
                <a:rPr kumimoji="1" lang="en-US" altLang="ja-GB" sz="1200" b="1" dirty="0"/>
                <a:t>Step2</a:t>
              </a:r>
            </a:p>
            <a:p>
              <a:pPr algn="ctr"/>
              <a:r>
                <a:rPr kumimoji="1" lang="ja-GB" altLang="en-US" sz="1200" dirty="0"/>
                <a:t>試作</a:t>
              </a:r>
              <a:endParaRPr kumimoji="1" lang="en-US" altLang="ja-GB" sz="1200" dirty="0"/>
            </a:p>
          </p:txBody>
        </p:sp>
        <p:sp>
          <p:nvSpPr>
            <p:cNvPr id="7" name="テキスト ボックス 6">
              <a:extLst>
                <a:ext uri="{FF2B5EF4-FFF2-40B4-BE49-F238E27FC236}">
                  <a16:creationId xmlns:a16="http://schemas.microsoft.com/office/drawing/2014/main" id="{02E7255F-A360-EA1E-B1F6-30D7E2AC6716}"/>
                </a:ext>
              </a:extLst>
            </p:cNvPr>
            <p:cNvSpPr txBox="1"/>
            <p:nvPr/>
          </p:nvSpPr>
          <p:spPr>
            <a:xfrm>
              <a:off x="4317081" y="4861146"/>
              <a:ext cx="1107996" cy="646331"/>
            </a:xfrm>
            <a:prstGeom prst="rect">
              <a:avLst/>
            </a:prstGeom>
            <a:noFill/>
          </p:spPr>
          <p:txBody>
            <a:bodyPr wrap="none" rtlCol="0">
              <a:spAutoFit/>
            </a:bodyPr>
            <a:lstStyle/>
            <a:p>
              <a:pPr algn="ctr"/>
              <a:r>
                <a:rPr kumimoji="1" lang="en-US" altLang="ja-GB" sz="1200" b="1" dirty="0"/>
                <a:t>Step3</a:t>
              </a:r>
            </a:p>
            <a:p>
              <a:pPr algn="ctr"/>
              <a:r>
                <a:rPr kumimoji="1" lang="ja-GB" altLang="en-US" sz="1200" dirty="0"/>
                <a:t>修正版</a:t>
              </a:r>
              <a:endParaRPr kumimoji="1" lang="en-US" altLang="ja-GB" sz="1200" dirty="0"/>
            </a:p>
            <a:p>
              <a:pPr algn="ctr"/>
              <a:r>
                <a:rPr kumimoji="1" lang="ja-GB" altLang="en-US" sz="1200" dirty="0"/>
                <a:t>（彩り調整）</a:t>
              </a:r>
              <a:endParaRPr kumimoji="1" lang="en-US" altLang="ja-GB" sz="1200" dirty="0"/>
            </a:p>
          </p:txBody>
        </p:sp>
        <p:sp>
          <p:nvSpPr>
            <p:cNvPr id="8" name="テキスト ボックス 7">
              <a:extLst>
                <a:ext uri="{FF2B5EF4-FFF2-40B4-BE49-F238E27FC236}">
                  <a16:creationId xmlns:a16="http://schemas.microsoft.com/office/drawing/2014/main" id="{DC92FC43-02AB-D5D4-37D6-852D45774ECC}"/>
                </a:ext>
              </a:extLst>
            </p:cNvPr>
            <p:cNvSpPr txBox="1"/>
            <p:nvPr/>
          </p:nvSpPr>
          <p:spPr>
            <a:xfrm>
              <a:off x="5384434" y="4861146"/>
              <a:ext cx="1107996" cy="646331"/>
            </a:xfrm>
            <a:prstGeom prst="rect">
              <a:avLst/>
            </a:prstGeom>
            <a:noFill/>
          </p:spPr>
          <p:txBody>
            <a:bodyPr wrap="none" rtlCol="0">
              <a:spAutoFit/>
            </a:bodyPr>
            <a:lstStyle/>
            <a:p>
              <a:pPr algn="ctr"/>
              <a:r>
                <a:rPr kumimoji="1" lang="en-US" altLang="ja-GB" sz="1200" b="1" dirty="0"/>
                <a:t>Step4</a:t>
              </a:r>
            </a:p>
            <a:p>
              <a:pPr algn="ctr"/>
              <a:r>
                <a:rPr kumimoji="1" lang="ja-GB" altLang="en-US" sz="1200" dirty="0"/>
                <a:t>修正版</a:t>
              </a:r>
              <a:endParaRPr kumimoji="1" lang="en-US" altLang="ja-GB" sz="1200" dirty="0"/>
            </a:p>
            <a:p>
              <a:pPr algn="ctr"/>
              <a:r>
                <a:rPr kumimoji="1" lang="ja-GB" altLang="en-US" sz="1200" dirty="0"/>
                <a:t>（分量増加）</a:t>
              </a:r>
              <a:endParaRPr kumimoji="1" lang="en-US" altLang="ja-GB" sz="1200" dirty="0"/>
            </a:p>
          </p:txBody>
        </p:sp>
        <p:pic>
          <p:nvPicPr>
            <p:cNvPr id="9" name="図 8" descr="ダイアグラム&#10;&#10;AI 生成コンテンツは誤りを含む可能性があります。">
              <a:extLst>
                <a:ext uri="{FF2B5EF4-FFF2-40B4-BE49-F238E27FC236}">
                  <a16:creationId xmlns:a16="http://schemas.microsoft.com/office/drawing/2014/main" id="{28CED525-F871-72C3-8B35-58DBF7EE749E}"/>
                </a:ext>
              </a:extLst>
            </p:cNvPr>
            <p:cNvPicPr>
              <a:picLocks noChangeAspect="1"/>
            </p:cNvPicPr>
            <p:nvPr/>
          </p:nvPicPr>
          <p:blipFill>
            <a:blip r:embed="rId2">
              <a:clrChange>
                <a:clrFrom>
                  <a:srgbClr val="F8F5F3"/>
                </a:clrFrom>
                <a:clrTo>
                  <a:srgbClr val="F8F5F3">
                    <a:alpha val="0"/>
                  </a:srgbClr>
                </a:clrTo>
              </a:clrChange>
            </a:blip>
            <a:srcRect l="68044" t="27742" b="33127"/>
            <a:stretch>
              <a:fillRect/>
            </a:stretch>
          </p:blipFill>
          <p:spPr>
            <a:xfrm>
              <a:off x="5230843" y="3319302"/>
              <a:ext cx="1297517" cy="1588836"/>
            </a:xfrm>
            <a:prstGeom prst="rect">
              <a:avLst/>
            </a:prstGeom>
          </p:spPr>
        </p:pic>
        <p:pic>
          <p:nvPicPr>
            <p:cNvPr id="10" name="図 9" descr="ダイアグラム&#10;&#10;AI 生成コンテンツは誤りを含む可能性があります。">
              <a:extLst>
                <a:ext uri="{FF2B5EF4-FFF2-40B4-BE49-F238E27FC236}">
                  <a16:creationId xmlns:a16="http://schemas.microsoft.com/office/drawing/2014/main" id="{9FFDC6A6-70A4-FC8F-E706-FA392D225FBF}"/>
                </a:ext>
              </a:extLst>
            </p:cNvPr>
            <p:cNvPicPr>
              <a:picLocks noChangeAspect="1"/>
            </p:cNvPicPr>
            <p:nvPr/>
          </p:nvPicPr>
          <p:blipFill>
            <a:blip r:embed="rId2">
              <a:clrChange>
                <a:clrFrom>
                  <a:srgbClr val="F8F5F3"/>
                </a:clrFrom>
                <a:clrTo>
                  <a:srgbClr val="F8F5F3">
                    <a:alpha val="0"/>
                  </a:srgbClr>
                </a:clrTo>
              </a:clrChange>
            </a:blip>
            <a:srcRect l="45214" t="27742" r="32778" b="33127"/>
            <a:stretch>
              <a:fillRect/>
            </a:stretch>
          </p:blipFill>
          <p:spPr>
            <a:xfrm>
              <a:off x="4311234" y="3319302"/>
              <a:ext cx="893614" cy="1588836"/>
            </a:xfrm>
            <a:prstGeom prst="rect">
              <a:avLst/>
            </a:prstGeom>
          </p:spPr>
        </p:pic>
        <p:pic>
          <p:nvPicPr>
            <p:cNvPr id="11" name="図 10" descr="ダイアグラム&#10;&#10;AI 生成コンテンツは誤りを含む可能性があります。">
              <a:extLst>
                <a:ext uri="{FF2B5EF4-FFF2-40B4-BE49-F238E27FC236}">
                  <a16:creationId xmlns:a16="http://schemas.microsoft.com/office/drawing/2014/main" id="{A1095992-4925-58C2-32B9-AC8DD15520A8}"/>
                </a:ext>
              </a:extLst>
            </p:cNvPr>
            <p:cNvPicPr>
              <a:picLocks noChangeAspect="1"/>
            </p:cNvPicPr>
            <p:nvPr/>
          </p:nvPicPr>
          <p:blipFill>
            <a:blip r:embed="rId2">
              <a:clrChange>
                <a:clrFrom>
                  <a:srgbClr val="F8F5F3"/>
                </a:clrFrom>
                <a:clrTo>
                  <a:srgbClr val="F8F5F3">
                    <a:alpha val="0"/>
                  </a:srgbClr>
                </a:clrTo>
              </a:clrChange>
            </a:blip>
            <a:srcRect t="27742" r="76502" b="33127"/>
            <a:stretch>
              <a:fillRect/>
            </a:stretch>
          </p:blipFill>
          <p:spPr>
            <a:xfrm>
              <a:off x="2406247" y="3332874"/>
              <a:ext cx="954107" cy="1588836"/>
            </a:xfrm>
            <a:prstGeom prst="rect">
              <a:avLst/>
            </a:prstGeom>
          </p:spPr>
        </p:pic>
        <p:pic>
          <p:nvPicPr>
            <p:cNvPr id="12" name="図 11" descr="ダイアグラム&#10;&#10;AI 生成コンテンツは誤りを含む可能性があります。">
              <a:extLst>
                <a:ext uri="{FF2B5EF4-FFF2-40B4-BE49-F238E27FC236}">
                  <a16:creationId xmlns:a16="http://schemas.microsoft.com/office/drawing/2014/main" id="{77835EE7-CEA8-06F2-BC02-2E93A283BC05}"/>
                </a:ext>
              </a:extLst>
            </p:cNvPr>
            <p:cNvPicPr>
              <a:picLocks noChangeAspect="1"/>
            </p:cNvPicPr>
            <p:nvPr/>
          </p:nvPicPr>
          <p:blipFill>
            <a:blip r:embed="rId2">
              <a:clrChange>
                <a:clrFrom>
                  <a:srgbClr val="F8F5F3"/>
                </a:clrFrom>
                <a:clrTo>
                  <a:srgbClr val="F8F5F3">
                    <a:alpha val="0"/>
                  </a:srgbClr>
                </a:clrTo>
              </a:clrChange>
            </a:blip>
            <a:srcRect l="23933" t="27742" r="54058" b="33127"/>
            <a:stretch>
              <a:fillRect/>
            </a:stretch>
          </p:blipFill>
          <p:spPr>
            <a:xfrm>
              <a:off x="3408968" y="3332874"/>
              <a:ext cx="893638" cy="1588836"/>
            </a:xfrm>
            <a:prstGeom prst="rect">
              <a:avLst/>
            </a:prstGeom>
          </p:spPr>
        </p:pic>
      </p:grpSp>
      <p:sp>
        <p:nvSpPr>
          <p:cNvPr id="14" name="テキスト ボックス 13">
            <a:extLst>
              <a:ext uri="{FF2B5EF4-FFF2-40B4-BE49-F238E27FC236}">
                <a16:creationId xmlns:a16="http://schemas.microsoft.com/office/drawing/2014/main" id="{B9011FC7-F7F8-1B46-733C-D32F2752FC11}"/>
              </a:ext>
            </a:extLst>
          </p:cNvPr>
          <p:cNvSpPr txBox="1"/>
          <p:nvPr/>
        </p:nvSpPr>
        <p:spPr>
          <a:xfrm>
            <a:off x="193295" y="6563256"/>
            <a:ext cx="3213637" cy="276999"/>
          </a:xfrm>
          <a:prstGeom prst="rect">
            <a:avLst/>
          </a:prstGeom>
          <a:noFill/>
        </p:spPr>
        <p:txBody>
          <a:bodyPr wrap="none" rtlCol="0">
            <a:spAutoFit/>
          </a:bodyPr>
          <a:lstStyle/>
          <a:p>
            <a:r>
              <a:rPr kumimoji="1" lang="en-US" altLang="ja-GB" sz="1200" dirty="0">
                <a:solidFill>
                  <a:schemeClr val="tx1">
                    <a:lumMod val="50000"/>
                    <a:lumOff val="50000"/>
                  </a:schemeClr>
                </a:solidFill>
              </a:rPr>
              <a:t>※</a:t>
            </a:r>
            <a:r>
              <a:rPr kumimoji="1" lang="ja-GB" altLang="en-US" sz="1200" dirty="0">
                <a:solidFill>
                  <a:schemeClr val="tx1">
                    <a:lumMod val="50000"/>
                    <a:lumOff val="50000"/>
                  </a:schemeClr>
                </a:solidFill>
              </a:rPr>
              <a:t>図は</a:t>
            </a:r>
            <a:r>
              <a:rPr kumimoji="1" lang="en-US" altLang="ja-GB" sz="1200" dirty="0">
                <a:solidFill>
                  <a:schemeClr val="tx1">
                    <a:lumMod val="50000"/>
                    <a:lumOff val="50000"/>
                  </a:schemeClr>
                </a:solidFill>
              </a:rPr>
              <a:t>GPT4o</a:t>
            </a:r>
            <a:r>
              <a:rPr kumimoji="1" lang="ja-GB" altLang="en-US" sz="1200" dirty="0">
                <a:solidFill>
                  <a:schemeClr val="tx1">
                    <a:lumMod val="50000"/>
                    <a:lumOff val="50000"/>
                  </a:schemeClr>
                </a:solidFill>
              </a:rPr>
              <a:t>で生成したものを編集して使用</a:t>
            </a:r>
          </a:p>
        </p:txBody>
      </p:sp>
    </p:spTree>
    <p:extLst>
      <p:ext uri="{BB962C8B-B14F-4D97-AF65-F5344CB8AC3E}">
        <p14:creationId xmlns:p14="http://schemas.microsoft.com/office/powerpoint/2010/main" val="113760494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20D6-674C-F371-4858-D98B4E2FC8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A808D6-7C65-3FB5-F0DB-5FB34C2A9B1D}"/>
              </a:ext>
            </a:extLst>
          </p:cNvPr>
          <p:cNvSpPr>
            <a:spLocks noGrp="1"/>
          </p:cNvSpPr>
          <p:nvPr>
            <p:ph type="title"/>
          </p:nvPr>
        </p:nvSpPr>
        <p:spPr/>
        <p:txBody>
          <a:bodyPr/>
          <a:lstStyle/>
          <a:p>
            <a:r>
              <a:rPr kumimoji="1" lang="ja-GB" altLang="en-US" dirty="0"/>
              <a:t>開発モデルの具体例</a:t>
            </a:r>
          </a:p>
        </p:txBody>
      </p:sp>
      <p:sp>
        <p:nvSpPr>
          <p:cNvPr id="3" name="コンテンツ プレースホルダー 2">
            <a:extLst>
              <a:ext uri="{FF2B5EF4-FFF2-40B4-BE49-F238E27FC236}">
                <a16:creationId xmlns:a16="http://schemas.microsoft.com/office/drawing/2014/main" id="{E6C954ED-51CF-5908-7DCA-29C5879F8072}"/>
              </a:ext>
            </a:extLst>
          </p:cNvPr>
          <p:cNvSpPr>
            <a:spLocks noGrp="1"/>
          </p:cNvSpPr>
          <p:nvPr>
            <p:ph idx="1"/>
          </p:nvPr>
        </p:nvSpPr>
        <p:spPr/>
        <p:txBody>
          <a:bodyPr/>
          <a:lstStyle/>
          <a:p>
            <a:pPr marL="0" indent="0">
              <a:buNone/>
            </a:pPr>
            <a:r>
              <a:rPr lang="ja-JP" altLang="en-US"/>
              <a:t>情報システム開発の型は</a:t>
            </a:r>
            <a:r>
              <a:rPr lang="en-GB" altLang="ja-GB" dirty="0"/>
              <a:t>V</a:t>
            </a:r>
            <a:r>
              <a:rPr lang="ja-JP" altLang="en-US"/>
              <a:t>字モデルだけでない</a:t>
            </a:r>
            <a:endParaRPr lang="en-US" altLang="ja-JP" dirty="0"/>
          </a:p>
          <a:p>
            <a:pPr marL="457200" lvl="1" indent="0">
              <a:buNone/>
            </a:pPr>
            <a:r>
              <a:rPr lang="ja-JP" altLang="en-US"/>
              <a:t>計画からの逸脱を抑制</a:t>
            </a:r>
            <a:r>
              <a:rPr lang="ja-GB" altLang="en-US" dirty="0"/>
              <a:t>しやすい</a:t>
            </a:r>
            <a:r>
              <a:rPr lang="ja-JP" altLang="en-US"/>
              <a:t>ものから，方針変更に対応しやすいものまで様々あり，</a:t>
            </a:r>
            <a:r>
              <a:rPr lang="ja-GB" altLang="en-US" dirty="0"/>
              <a:t>場面に応じて使い分けられる</a:t>
            </a:r>
            <a:endParaRPr kumimoji="1" lang="en-US" altLang="ja-GB" dirty="0"/>
          </a:p>
          <a:p>
            <a:pPr lvl="4"/>
            <a:endParaRPr lang="en-US" altLang="ja-JP" dirty="0"/>
          </a:p>
          <a:p>
            <a:pPr marL="914400" lvl="2" indent="0">
              <a:buNone/>
            </a:pPr>
            <a:r>
              <a:rPr lang="ja-JP" altLang="en-US"/>
              <a:t>例</a:t>
            </a:r>
            <a:r>
              <a:rPr lang="en-US" altLang="ja-JP" dirty="0"/>
              <a:t>1</a:t>
            </a:r>
            <a:r>
              <a:rPr lang="ja-JP" altLang="en-US"/>
              <a:t>）医療・金融システム，大企業の巨大な収益基盤の</a:t>
            </a:r>
            <a:r>
              <a:rPr lang="en-GB" altLang="ja-GB" dirty="0"/>
              <a:t>DX </a:t>
            </a:r>
          </a:p>
          <a:p>
            <a:pPr marL="1371600" lvl="3" indent="0">
              <a:buNone/>
            </a:pPr>
            <a:r>
              <a:rPr lang="ja-JP" altLang="en-US"/>
              <a:t>実現したい価値は比較的明確だが，失敗は致命的</a:t>
            </a:r>
            <a:endParaRPr lang="en-US" altLang="ja-JP" dirty="0"/>
          </a:p>
          <a:p>
            <a:pPr marL="1371600" lvl="3" indent="0">
              <a:buNone/>
            </a:pPr>
            <a:r>
              <a:rPr kumimoji="1" lang="en-US" altLang="ja-GB" dirty="0"/>
              <a:t>→</a:t>
            </a:r>
            <a:r>
              <a:rPr kumimoji="1" lang="ja-GB" altLang="en-US" dirty="0"/>
              <a:t>事前計画からの逸脱を最小限に留めたい</a:t>
            </a:r>
            <a:endParaRPr kumimoji="1" lang="en-US" altLang="ja-GB" dirty="0"/>
          </a:p>
          <a:p>
            <a:pPr marL="1371600" lvl="3" indent="0">
              <a:buNone/>
            </a:pPr>
            <a:r>
              <a:rPr lang="en-US" altLang="ja-GB" dirty="0"/>
              <a:t>→</a:t>
            </a:r>
            <a:r>
              <a:rPr lang="ja-GB" altLang="en-US" dirty="0">
                <a:solidFill>
                  <a:srgbClr val="0070C0"/>
                </a:solidFill>
              </a:rPr>
              <a:t>事前に定めた計画から逸脱しにくい開発工程</a:t>
            </a:r>
            <a:endParaRPr lang="en-US" altLang="ja-GB" dirty="0">
              <a:solidFill>
                <a:srgbClr val="0070C0"/>
              </a:solidFill>
            </a:endParaRPr>
          </a:p>
          <a:p>
            <a:pPr lvl="4"/>
            <a:endParaRPr kumimoji="1" lang="en-US" altLang="ja-GB" dirty="0"/>
          </a:p>
          <a:p>
            <a:pPr marL="914400" lvl="2" indent="0">
              <a:buNone/>
            </a:pPr>
            <a:r>
              <a:rPr kumimoji="1" lang="ja-GB" altLang="en-US" dirty="0"/>
              <a:t>例</a:t>
            </a:r>
            <a:r>
              <a:rPr kumimoji="1" lang="en-US" altLang="ja-GB" dirty="0"/>
              <a:t>2</a:t>
            </a:r>
            <a:r>
              <a:rPr kumimoji="1" lang="ja-GB" altLang="en-US" dirty="0"/>
              <a:t>）</a:t>
            </a:r>
            <a:r>
              <a:rPr kumimoji="1" lang="en-US" altLang="ja-GB" dirty="0"/>
              <a:t>web</a:t>
            </a:r>
            <a:r>
              <a:rPr kumimoji="1" lang="ja-GB" altLang="en-US" dirty="0"/>
              <a:t>サービス，スタートアップ企業の製品開発</a:t>
            </a:r>
            <a:endParaRPr kumimoji="1" lang="en-US" altLang="ja-GB" dirty="0"/>
          </a:p>
          <a:p>
            <a:pPr marL="1371600" lvl="3" indent="0">
              <a:buNone/>
            </a:pPr>
            <a:r>
              <a:rPr lang="ja-GB" altLang="en-US" dirty="0"/>
              <a:t>正解が明確に分かっていないが，ある程度の失敗は許容可能</a:t>
            </a:r>
            <a:endParaRPr lang="en-US" altLang="ja-GB" dirty="0"/>
          </a:p>
          <a:p>
            <a:pPr marL="1371600" lvl="3" indent="0">
              <a:buNone/>
            </a:pPr>
            <a:r>
              <a:rPr lang="en-US" altLang="ja-GB" dirty="0"/>
              <a:t>→</a:t>
            </a:r>
            <a:r>
              <a:rPr kumimoji="1" lang="ja-GB" altLang="en-US" dirty="0"/>
              <a:t>開発やサービス運営を進めつつ，より良い形を模索したい</a:t>
            </a:r>
            <a:endParaRPr kumimoji="1" lang="en-US" altLang="ja-GB" dirty="0"/>
          </a:p>
          <a:p>
            <a:pPr marL="1371600" lvl="3" indent="0">
              <a:buNone/>
            </a:pPr>
            <a:r>
              <a:rPr lang="en-US" altLang="ja-GB" dirty="0"/>
              <a:t>→</a:t>
            </a:r>
            <a:r>
              <a:rPr lang="ja-GB" altLang="en-US" dirty="0">
                <a:solidFill>
                  <a:srgbClr val="0070C0"/>
                </a:solidFill>
              </a:rPr>
              <a:t>方針変更への柔軟な対応のしやすい開発工程</a:t>
            </a:r>
            <a:endParaRPr kumimoji="1" lang="ja-GB" altLang="en-US" dirty="0">
              <a:solidFill>
                <a:srgbClr val="0070C0"/>
              </a:solidFill>
            </a:endParaRPr>
          </a:p>
        </p:txBody>
      </p:sp>
      <p:pic>
        <p:nvPicPr>
          <p:cNvPr id="20" name="図 19">
            <a:extLst>
              <a:ext uri="{FF2B5EF4-FFF2-40B4-BE49-F238E27FC236}">
                <a16:creationId xmlns:a16="http://schemas.microsoft.com/office/drawing/2014/main" id="{071005D9-EAF9-32AB-486F-4C02341FB036}"/>
              </a:ext>
            </a:extLst>
          </p:cNvPr>
          <p:cNvPicPr>
            <a:picLocks noChangeAspect="1"/>
          </p:cNvPicPr>
          <p:nvPr/>
        </p:nvPicPr>
        <p:blipFill>
          <a:blip r:embed="rId2"/>
          <a:stretch>
            <a:fillRect/>
          </a:stretch>
        </p:blipFill>
        <p:spPr>
          <a:xfrm>
            <a:off x="1417617" y="4686766"/>
            <a:ext cx="6308766" cy="2012796"/>
          </a:xfrm>
          <a:prstGeom prst="rect">
            <a:avLst/>
          </a:prstGeom>
        </p:spPr>
      </p:pic>
    </p:spTree>
    <p:extLst>
      <p:ext uri="{BB962C8B-B14F-4D97-AF65-F5344CB8AC3E}">
        <p14:creationId xmlns:p14="http://schemas.microsoft.com/office/powerpoint/2010/main" val="35220265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94BFF3-80CC-D219-370B-5969464DC432}"/>
              </a:ext>
            </a:extLst>
          </p:cNvPr>
          <p:cNvSpPr>
            <a:spLocks noGrp="1"/>
          </p:cNvSpPr>
          <p:nvPr>
            <p:ph type="title"/>
          </p:nvPr>
        </p:nvSpPr>
        <p:spPr/>
        <p:txBody>
          <a:bodyPr/>
          <a:lstStyle/>
          <a:p>
            <a:r>
              <a:rPr kumimoji="1" lang="ja-GB" altLang="en-US" dirty="0"/>
              <a:t>多くの人々が情報技術を学ぶ意義</a:t>
            </a:r>
          </a:p>
        </p:txBody>
      </p:sp>
      <p:sp>
        <p:nvSpPr>
          <p:cNvPr id="3" name="コンテンツ プレースホルダー 2">
            <a:extLst>
              <a:ext uri="{FF2B5EF4-FFF2-40B4-BE49-F238E27FC236}">
                <a16:creationId xmlns:a16="http://schemas.microsoft.com/office/drawing/2014/main" id="{83B60AE4-B306-8E65-F6E2-FB5BF972A6BE}"/>
              </a:ext>
            </a:extLst>
          </p:cNvPr>
          <p:cNvSpPr>
            <a:spLocks noGrp="1"/>
          </p:cNvSpPr>
          <p:nvPr>
            <p:ph idx="1"/>
          </p:nvPr>
        </p:nvSpPr>
        <p:spPr/>
        <p:txBody>
          <a:bodyPr/>
          <a:lstStyle/>
          <a:p>
            <a:pPr marL="0" indent="0">
              <a:buNone/>
            </a:pPr>
            <a:r>
              <a:rPr kumimoji="1" lang="ja-GB" altLang="en-US" dirty="0"/>
              <a:t>計画や開発の過程で，現場担当と開発担当の連携がしやすくなる</a:t>
            </a:r>
            <a:endParaRPr kumimoji="1" lang="en-US" altLang="ja-GB" dirty="0"/>
          </a:p>
          <a:p>
            <a:pPr marL="457200" lvl="1" indent="0">
              <a:buNone/>
            </a:pPr>
            <a:r>
              <a:rPr kumimoji="1" lang="ja-GB" altLang="en-US" dirty="0"/>
              <a:t>例</a:t>
            </a:r>
            <a:r>
              <a:rPr kumimoji="1" lang="en-US" altLang="ja-GB" dirty="0"/>
              <a:t>1</a:t>
            </a:r>
            <a:r>
              <a:rPr kumimoji="1" lang="ja-GB" altLang="en-US" dirty="0"/>
              <a:t>）現場と実装の事情が計画に織り込まれて，安全性・確実性が向上</a:t>
            </a:r>
            <a:endParaRPr kumimoji="1" lang="en-US" altLang="ja-GB" dirty="0"/>
          </a:p>
          <a:p>
            <a:pPr lvl="2"/>
            <a:r>
              <a:rPr lang="ja-GB" altLang="en-US" dirty="0"/>
              <a:t>要件定義や設計の過程で，現場の知識に基づく綿密な計画が可能になる</a:t>
            </a:r>
            <a:endParaRPr lang="en-US" altLang="ja-GB" dirty="0"/>
          </a:p>
          <a:p>
            <a:pPr lvl="2"/>
            <a:r>
              <a:rPr kumimoji="1" lang="ja-GB" altLang="en-US" dirty="0"/>
              <a:t>リスクを抑制しやすくなる．また，それにより大掛かりな開発も着手可能になる</a:t>
            </a:r>
            <a:endParaRPr kumimoji="1" lang="en-US" altLang="ja-GB" dirty="0"/>
          </a:p>
          <a:p>
            <a:pPr lvl="4"/>
            <a:endParaRPr kumimoji="1" lang="en-US" altLang="ja-GB" dirty="0"/>
          </a:p>
          <a:p>
            <a:pPr marL="457200" lvl="1" indent="0">
              <a:buNone/>
            </a:pPr>
            <a:r>
              <a:rPr lang="ja-GB" altLang="en-US" dirty="0"/>
              <a:t>例</a:t>
            </a:r>
            <a:r>
              <a:rPr lang="en-US" altLang="ja-GB" dirty="0"/>
              <a:t>2</a:t>
            </a:r>
            <a:r>
              <a:rPr lang="ja-GB" altLang="en-US" dirty="0"/>
              <a:t>）開発過程の試行錯誤に参加できて，要求の明確化がしやすい</a:t>
            </a:r>
            <a:endParaRPr lang="en-US" altLang="ja-GB" dirty="0"/>
          </a:p>
          <a:p>
            <a:pPr lvl="2"/>
            <a:r>
              <a:rPr kumimoji="1" lang="ja-GB" altLang="en-US" dirty="0"/>
              <a:t>開発会議に現場の知識を持つ人が参加できると，アジャイル開発などの</a:t>
            </a:r>
            <a:br>
              <a:rPr kumimoji="1" lang="en-US" altLang="ja-GB" dirty="0"/>
            </a:br>
            <a:r>
              <a:rPr kumimoji="1" lang="ja-GB" altLang="en-US" dirty="0"/>
              <a:t>柔軟な開発工程が採用しやすくなる</a:t>
            </a:r>
            <a:endParaRPr kumimoji="1" lang="en-US" altLang="ja-GB" dirty="0"/>
          </a:p>
          <a:p>
            <a:pPr lvl="2"/>
            <a:r>
              <a:rPr lang="ja-GB" altLang="en-US" dirty="0"/>
              <a:t>開発や試作を通じた具体的な体験に基づく価値の明確化がしやすくなる</a:t>
            </a:r>
            <a:endParaRPr kumimoji="1" lang="ja-GB" altLang="en-US" dirty="0"/>
          </a:p>
        </p:txBody>
      </p:sp>
    </p:spTree>
    <p:extLst>
      <p:ext uri="{BB962C8B-B14F-4D97-AF65-F5344CB8AC3E}">
        <p14:creationId xmlns:p14="http://schemas.microsoft.com/office/powerpoint/2010/main" val="190594384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9409-0DF4-4CE6-8CB1-21368B6B39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FC2F8C-8DE6-BC4F-70A7-C37C532DC277}"/>
              </a:ext>
            </a:extLst>
          </p:cNvPr>
          <p:cNvSpPr>
            <a:spLocks noGrp="1"/>
          </p:cNvSpPr>
          <p:nvPr>
            <p:ph type="title"/>
          </p:nvPr>
        </p:nvSpPr>
        <p:spPr/>
        <p:txBody>
          <a:bodyPr/>
          <a:lstStyle/>
          <a:p>
            <a:r>
              <a:rPr lang="ja-GB" altLang="en-US" dirty="0"/>
              <a:t>第</a:t>
            </a:r>
            <a:r>
              <a:rPr lang="en-US" altLang="ja-GB" dirty="0"/>
              <a:t>5</a:t>
            </a:r>
            <a:r>
              <a:rPr lang="ja-GB" altLang="en-US" dirty="0"/>
              <a:t>回：問題を「計算機」に解ける形に整理する</a:t>
            </a:r>
            <a:endParaRPr kumimoji="1" lang="ja-GB" altLang="en-US" dirty="0"/>
          </a:p>
        </p:txBody>
      </p:sp>
      <p:sp>
        <p:nvSpPr>
          <p:cNvPr id="3" name="コンテンツ プレースホルダー 2">
            <a:extLst>
              <a:ext uri="{FF2B5EF4-FFF2-40B4-BE49-F238E27FC236}">
                <a16:creationId xmlns:a16="http://schemas.microsoft.com/office/drawing/2014/main" id="{DCC1E816-636A-5957-795B-5A592D704184}"/>
              </a:ext>
            </a:extLst>
          </p:cNvPr>
          <p:cNvSpPr>
            <a:spLocks noGrp="1"/>
          </p:cNvSpPr>
          <p:nvPr>
            <p:ph idx="1"/>
          </p:nvPr>
        </p:nvSpPr>
        <p:spPr/>
        <p:txBody>
          <a:bodyPr/>
          <a:lstStyle/>
          <a:p>
            <a:pPr marL="0" indent="0">
              <a:buNone/>
            </a:pPr>
            <a:r>
              <a:rPr lang="ja-GB" altLang="en-US" dirty="0"/>
              <a:t>本当の課題を見極め，役立つ</a:t>
            </a:r>
            <a:r>
              <a:rPr lang="en-US" altLang="ja-GB" dirty="0"/>
              <a:t>IT</a:t>
            </a:r>
            <a:r>
              <a:rPr lang="ja-GB" altLang="en-US" dirty="0"/>
              <a:t>システムを定義し，実装・検証する</a:t>
            </a:r>
            <a:endParaRPr lang="en-US" altLang="ja-GB" dirty="0"/>
          </a:p>
          <a:p>
            <a:pPr marL="914400" lvl="1" indent="-457200">
              <a:buFont typeface="+mj-lt"/>
              <a:buAutoNum type="arabicPeriod"/>
            </a:pPr>
            <a:r>
              <a:rPr lang="ja-GB" altLang="en-US" dirty="0">
                <a:solidFill>
                  <a:srgbClr val="002060"/>
                </a:solidFill>
              </a:rPr>
              <a:t>企業がソフトウェアを発注・開発する流れ</a:t>
            </a:r>
            <a:endParaRPr kumimoji="1" lang="en-US" altLang="ja-GB" dirty="0">
              <a:solidFill>
                <a:srgbClr val="002060"/>
              </a:solidFill>
            </a:endParaRPr>
          </a:p>
          <a:p>
            <a:pPr lvl="2"/>
            <a:r>
              <a:rPr kumimoji="1" lang="ja-GB" altLang="en-US" dirty="0"/>
              <a:t>利用者がやりたいことを整理する</a:t>
            </a:r>
            <a:endParaRPr kumimoji="1" lang="en-US" altLang="ja-GB" dirty="0"/>
          </a:p>
          <a:p>
            <a:pPr lvl="2"/>
            <a:r>
              <a:rPr lang="ja-GB" altLang="en-US" dirty="0"/>
              <a:t>発注者が</a:t>
            </a:r>
            <a:r>
              <a:rPr kumimoji="1" lang="ja-GB" altLang="en-US" dirty="0"/>
              <a:t>欲しいシステムを定義する</a:t>
            </a:r>
            <a:endParaRPr kumimoji="1" lang="en-US" altLang="ja-GB" dirty="0"/>
          </a:p>
          <a:p>
            <a:pPr lvl="2"/>
            <a:r>
              <a:rPr kumimoji="1" lang="ja-GB" altLang="en-US" dirty="0"/>
              <a:t>開発者が定義通りに動くシステムを作って納入する</a:t>
            </a:r>
            <a:endParaRPr kumimoji="1" lang="en-US" altLang="ja-GB" dirty="0"/>
          </a:p>
          <a:p>
            <a:pPr lvl="2"/>
            <a:endParaRPr kumimoji="1" lang="en-US" altLang="ja-GB" dirty="0"/>
          </a:p>
          <a:p>
            <a:pPr marL="914400" lvl="1" indent="-457200">
              <a:buFont typeface="+mj-lt"/>
              <a:buAutoNum type="arabicPeriod"/>
            </a:pPr>
            <a:r>
              <a:rPr kumimoji="1" lang="ja-GB" altLang="en-US" dirty="0">
                <a:solidFill>
                  <a:srgbClr val="002060"/>
                </a:solidFill>
              </a:rPr>
              <a:t>要件定義の仕方</a:t>
            </a:r>
            <a:endParaRPr kumimoji="1" lang="en-US" altLang="ja-GB" dirty="0">
              <a:solidFill>
                <a:srgbClr val="002060"/>
              </a:solidFill>
            </a:endParaRPr>
          </a:p>
          <a:p>
            <a:pPr lvl="2"/>
            <a:r>
              <a:rPr lang="ja-GB" altLang="en-US" dirty="0"/>
              <a:t>利用者の想像できるシステムが最善の解決策でない可能性に注意する</a:t>
            </a:r>
            <a:endParaRPr lang="en-US" altLang="ja-GB" dirty="0"/>
          </a:p>
          <a:p>
            <a:pPr lvl="2"/>
            <a:r>
              <a:rPr lang="ja-GB" altLang="en-US" dirty="0"/>
              <a:t>利用者のやりたいことを整理して，それを実現するには何が必要か考える</a:t>
            </a:r>
            <a:endParaRPr lang="en-US" altLang="ja-GB" dirty="0"/>
          </a:p>
          <a:p>
            <a:pPr lvl="2"/>
            <a:r>
              <a:rPr lang="ja-GB" altLang="en-US" dirty="0"/>
              <a:t>機能を細かく分割して，計算機にできることとすり合わせる</a:t>
            </a:r>
            <a:endParaRPr lang="en-US" altLang="ja-GB" dirty="0"/>
          </a:p>
          <a:p>
            <a:pPr lvl="2"/>
            <a:endParaRPr kumimoji="1" lang="en-US" altLang="ja-GB" dirty="0"/>
          </a:p>
          <a:p>
            <a:pPr marL="914400" lvl="1" indent="-457200">
              <a:buFont typeface="+mj-lt"/>
              <a:buAutoNum type="arabicPeriod"/>
            </a:pPr>
            <a:r>
              <a:rPr kumimoji="1" lang="ja-GB" altLang="en-US" dirty="0">
                <a:solidFill>
                  <a:srgbClr val="002060"/>
                </a:solidFill>
              </a:rPr>
              <a:t>ソフトウェア開発モデル</a:t>
            </a:r>
            <a:endParaRPr kumimoji="1" lang="en-US" altLang="ja-GB" dirty="0">
              <a:solidFill>
                <a:srgbClr val="002060"/>
              </a:solidFill>
            </a:endParaRPr>
          </a:p>
          <a:p>
            <a:pPr lvl="2"/>
            <a:r>
              <a:rPr lang="ja-GB" altLang="en-US" dirty="0"/>
              <a:t>計画に沿って安全に開発する方法論（ウォーターフォール，</a:t>
            </a:r>
            <a:r>
              <a:rPr lang="en-US" altLang="ja-GB" dirty="0"/>
              <a:t>V</a:t>
            </a:r>
            <a:r>
              <a:rPr lang="ja-GB" altLang="en-US" dirty="0"/>
              <a:t>字モデルなど）</a:t>
            </a:r>
            <a:endParaRPr kumimoji="1" lang="en-US" altLang="ja-GB" dirty="0"/>
          </a:p>
          <a:p>
            <a:pPr lvl="2"/>
            <a:r>
              <a:rPr lang="ja-GB" altLang="en-US" dirty="0"/>
              <a:t>開発しながら価値を見極める方法論（アジャイル，リーンスタートアップなど）</a:t>
            </a:r>
            <a:endParaRPr kumimoji="1" lang="en-US" altLang="ja-GB" dirty="0"/>
          </a:p>
        </p:txBody>
      </p:sp>
    </p:spTree>
    <p:extLst>
      <p:ext uri="{BB962C8B-B14F-4D97-AF65-F5344CB8AC3E}">
        <p14:creationId xmlns:p14="http://schemas.microsoft.com/office/powerpoint/2010/main" val="178989855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DCB5F2-2A51-4272-2D79-1B66795C0B49}"/>
              </a:ext>
            </a:extLst>
          </p:cNvPr>
          <p:cNvSpPr>
            <a:spLocks noGrp="1"/>
          </p:cNvSpPr>
          <p:nvPr>
            <p:ph type="ctrTitle"/>
          </p:nvPr>
        </p:nvSpPr>
        <p:spPr/>
        <p:txBody>
          <a:bodyPr/>
          <a:lstStyle/>
          <a:p>
            <a:r>
              <a:rPr kumimoji="1" lang="en-US" altLang="ja-GB" dirty="0">
                <a:solidFill>
                  <a:schemeClr val="bg1"/>
                </a:solidFill>
              </a:rPr>
              <a:t>IV. </a:t>
            </a:r>
            <a:r>
              <a:rPr kumimoji="1" lang="ja-GB" altLang="en-US" dirty="0">
                <a:solidFill>
                  <a:schemeClr val="bg1"/>
                </a:solidFill>
              </a:rPr>
              <a:t>計算機の考え方を体感する</a:t>
            </a:r>
          </a:p>
        </p:txBody>
      </p:sp>
      <p:sp>
        <p:nvSpPr>
          <p:cNvPr id="3" name="字幕 2">
            <a:extLst>
              <a:ext uri="{FF2B5EF4-FFF2-40B4-BE49-F238E27FC236}">
                <a16:creationId xmlns:a16="http://schemas.microsoft.com/office/drawing/2014/main" id="{80F9B934-B17E-32BE-598B-94F15BDABCB5}"/>
              </a:ext>
            </a:extLst>
          </p:cNvPr>
          <p:cNvSpPr>
            <a:spLocks noGrp="1"/>
          </p:cNvSpPr>
          <p:nvPr>
            <p:ph type="subTitle" idx="1"/>
          </p:nvPr>
        </p:nvSpPr>
        <p:spPr/>
        <p:txBody>
          <a:bodyPr>
            <a:normAutofit lnSpcReduction="10000"/>
          </a:bodyPr>
          <a:lstStyle/>
          <a:p>
            <a:r>
              <a:rPr kumimoji="1" lang="en-US" altLang="ja-GB" dirty="0">
                <a:solidFill>
                  <a:schemeClr val="bg1"/>
                </a:solidFill>
              </a:rPr>
              <a:t>6. </a:t>
            </a:r>
            <a:r>
              <a:rPr kumimoji="1" lang="ja-GB" altLang="en-US" dirty="0">
                <a:solidFill>
                  <a:schemeClr val="bg1"/>
                </a:solidFill>
              </a:rPr>
              <a:t>プログラムの基本</a:t>
            </a:r>
            <a:endParaRPr kumimoji="1" lang="en-US" altLang="ja-GB" dirty="0">
              <a:solidFill>
                <a:schemeClr val="bg1"/>
              </a:solidFill>
            </a:endParaRPr>
          </a:p>
          <a:p>
            <a:r>
              <a:rPr lang="en-US" altLang="ja-GB" dirty="0">
                <a:solidFill>
                  <a:schemeClr val="bg1"/>
                </a:solidFill>
              </a:rPr>
              <a:t>7. </a:t>
            </a:r>
            <a:r>
              <a:rPr lang="ja-GB" altLang="en-US" dirty="0">
                <a:solidFill>
                  <a:schemeClr val="bg1"/>
                </a:solidFill>
              </a:rPr>
              <a:t>データ構造</a:t>
            </a:r>
            <a:endParaRPr lang="en-US" altLang="ja-GB" dirty="0">
              <a:solidFill>
                <a:schemeClr val="bg1"/>
              </a:solidFill>
            </a:endParaRPr>
          </a:p>
          <a:p>
            <a:r>
              <a:rPr kumimoji="1" lang="en-US" altLang="ja-GB" dirty="0">
                <a:solidFill>
                  <a:schemeClr val="bg1"/>
                </a:solidFill>
              </a:rPr>
              <a:t>8. </a:t>
            </a:r>
            <a:r>
              <a:rPr kumimoji="1" lang="ja-GB" altLang="en-US" dirty="0">
                <a:solidFill>
                  <a:schemeClr val="bg1"/>
                </a:solidFill>
              </a:rPr>
              <a:t>アルゴリズム</a:t>
            </a:r>
            <a:endParaRPr kumimoji="1" lang="en-US" altLang="ja-GB" dirty="0">
              <a:solidFill>
                <a:schemeClr val="bg1"/>
              </a:solidFill>
            </a:endParaRPr>
          </a:p>
          <a:p>
            <a:r>
              <a:rPr lang="en-US" altLang="ja-GB" dirty="0">
                <a:solidFill>
                  <a:schemeClr val="bg1"/>
                </a:solidFill>
              </a:rPr>
              <a:t>9. </a:t>
            </a:r>
            <a:r>
              <a:rPr lang="ja-GB" altLang="en-US" dirty="0">
                <a:solidFill>
                  <a:schemeClr val="bg1"/>
                </a:solidFill>
              </a:rPr>
              <a:t>演習</a:t>
            </a:r>
            <a:endParaRPr kumimoji="1" lang="ja-GB" altLang="en-US" dirty="0">
              <a:solidFill>
                <a:schemeClr val="bg1"/>
              </a:solidFill>
            </a:endParaRPr>
          </a:p>
        </p:txBody>
      </p:sp>
    </p:spTree>
    <p:extLst>
      <p:ext uri="{BB962C8B-B14F-4D97-AF65-F5344CB8AC3E}">
        <p14:creationId xmlns:p14="http://schemas.microsoft.com/office/powerpoint/2010/main" val="328331299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DC764-FBFB-AE74-061B-E420FFBC7C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095375-94A0-F05A-7B1D-98A21EF87A78}"/>
              </a:ext>
            </a:extLst>
          </p:cNvPr>
          <p:cNvSpPr>
            <a:spLocks noGrp="1"/>
          </p:cNvSpPr>
          <p:nvPr>
            <p:ph type="title"/>
          </p:nvPr>
        </p:nvSpPr>
        <p:spPr/>
        <p:txBody>
          <a:bodyPr/>
          <a:lstStyle/>
          <a:p>
            <a:r>
              <a:rPr lang="ja-GB" dirty="0"/>
              <a:t>授業内容</a:t>
            </a:r>
          </a:p>
        </p:txBody>
      </p:sp>
      <p:sp>
        <p:nvSpPr>
          <p:cNvPr id="3" name="コンテンツ プレースホルダー 2">
            <a:extLst>
              <a:ext uri="{FF2B5EF4-FFF2-40B4-BE49-F238E27FC236}">
                <a16:creationId xmlns:a16="http://schemas.microsoft.com/office/drawing/2014/main" id="{64AB8D18-86F8-0A46-4D20-75F33F791C0E}"/>
              </a:ext>
            </a:extLst>
          </p:cNvPr>
          <p:cNvSpPr>
            <a:spLocks noGrp="1"/>
          </p:cNvSpPr>
          <p:nvPr>
            <p:ph idx="1"/>
          </p:nvPr>
        </p:nvSpPr>
        <p:spPr>
          <a:xfrm>
            <a:off x="314325" y="854765"/>
            <a:ext cx="4257675" cy="6003234"/>
          </a:xfrm>
        </p:spPr>
        <p:txBody>
          <a:bodyPr>
            <a:normAutofit/>
          </a:bodyPr>
          <a:lstStyle/>
          <a:p>
            <a:pPr marL="0" indent="0">
              <a:buNone/>
            </a:pPr>
            <a:r>
              <a:rPr lang="en-GB" sz="1800" dirty="0">
                <a:solidFill>
                  <a:schemeClr val="tx1">
                    <a:lumMod val="50000"/>
                    <a:lumOff val="50000"/>
                  </a:schemeClr>
                </a:solidFill>
              </a:rPr>
              <a:t>I. </a:t>
            </a:r>
            <a:r>
              <a:rPr lang="ja-JP" altLang="en-US" sz="1800">
                <a:solidFill>
                  <a:schemeClr val="tx1">
                    <a:lumMod val="50000"/>
                    <a:lumOff val="50000"/>
                  </a:schemeClr>
                </a:solidFill>
              </a:rPr>
              <a:t>計算機システムを学ぶ意味を見つける</a:t>
            </a:r>
          </a:p>
          <a:p>
            <a:pPr marL="0" inden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 </a:t>
            </a:r>
            <a:r>
              <a:rPr lang="ja-GB" altLang="en-US" sz="1800" dirty="0">
                <a:solidFill>
                  <a:schemeClr val="tx1">
                    <a:lumMod val="50000"/>
                    <a:lumOff val="50000"/>
                  </a:schemeClr>
                </a:solidFill>
              </a:rPr>
              <a:t>計算機とプログラムによる自動化</a:t>
            </a:r>
            <a:endParaRPr lang="ja-JP" altLang="en-US" sz="1800">
              <a:solidFill>
                <a:schemeClr val="tx1">
                  <a:lumMod val="50000"/>
                  <a:lumOff val="50000"/>
                </a:schemeClr>
              </a:solidFill>
            </a:endParaRPr>
          </a:p>
          <a:p>
            <a:pPr marL="0" inden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2. </a:t>
            </a:r>
            <a:r>
              <a:rPr lang="ja-GB" altLang="en-US" sz="1800" dirty="0">
                <a:solidFill>
                  <a:schemeClr val="tx1">
                    <a:lumMod val="50000"/>
                    <a:lumOff val="50000"/>
                  </a:schemeClr>
                </a:solidFill>
              </a:rPr>
              <a:t>計算機，インターネット，情報システム</a:t>
            </a:r>
            <a:endParaRPr lang="en-US" altLang="ja-JP" sz="1800" dirty="0">
              <a:solidFill>
                <a:schemeClr val="tx1">
                  <a:lumMod val="50000"/>
                  <a:lumOff val="50000"/>
                </a:schemeClr>
              </a:solidFill>
            </a:endParaRPr>
          </a:p>
          <a:p>
            <a:pPr marL="0" indent="0">
              <a:buNone/>
            </a:pPr>
            <a:endParaRPr lang="ja-JP" altLang="en-US" sz="800">
              <a:solidFill>
                <a:schemeClr val="tx1">
                  <a:lumMod val="50000"/>
                  <a:lumOff val="50000"/>
                </a:schemeClr>
              </a:solidFill>
            </a:endParaRPr>
          </a:p>
          <a:p>
            <a:pPr marL="0" indent="0">
              <a:buNone/>
            </a:pPr>
            <a:r>
              <a:rPr lang="en-GB" sz="1800" dirty="0">
                <a:solidFill>
                  <a:schemeClr val="tx1">
                    <a:lumMod val="50000"/>
                    <a:lumOff val="50000"/>
                  </a:schemeClr>
                </a:solidFill>
              </a:rPr>
              <a:t>II. </a:t>
            </a:r>
            <a:r>
              <a:rPr lang="ja-JP" altLang="en-US" sz="1800">
                <a:solidFill>
                  <a:schemeClr val="tx1">
                    <a:lumMod val="50000"/>
                    <a:lumOff val="50000"/>
                  </a:schemeClr>
                </a:solidFill>
              </a:rPr>
              <a:t>計算機やデータ，</a:t>
            </a:r>
            <a:r>
              <a:rPr lang="en-GB" sz="1800" dirty="0">
                <a:solidFill>
                  <a:schemeClr val="tx1">
                    <a:lumMod val="50000"/>
                    <a:lumOff val="50000"/>
                  </a:schemeClr>
                </a:solidFill>
              </a:rPr>
              <a:t>AI</a:t>
            </a:r>
            <a:r>
              <a:rPr lang="ja-JP" altLang="en-US" sz="1800">
                <a:solidFill>
                  <a:schemeClr val="tx1">
                    <a:lumMod val="50000"/>
                    <a:lumOff val="50000"/>
                  </a:schemeClr>
                </a:solidFill>
              </a:rPr>
              <a:t>にできることを知る</a:t>
            </a:r>
          </a:p>
          <a:p>
            <a:pPr marL="0" inden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3. </a:t>
            </a:r>
            <a:r>
              <a:rPr lang="ja-JP" altLang="en-US" sz="1800">
                <a:solidFill>
                  <a:schemeClr val="tx1">
                    <a:lumMod val="50000"/>
                    <a:lumOff val="50000"/>
                  </a:schemeClr>
                </a:solidFill>
              </a:rPr>
              <a:t>計算機の基本原理</a:t>
            </a:r>
          </a:p>
          <a:p>
            <a:pPr marL="0" inden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4. </a:t>
            </a:r>
            <a:r>
              <a:rPr lang="ja-JP" altLang="en-US" sz="1800">
                <a:solidFill>
                  <a:schemeClr val="tx1">
                    <a:lumMod val="50000"/>
                    <a:lumOff val="50000"/>
                  </a:schemeClr>
                </a:solidFill>
              </a:rPr>
              <a:t>計算機と統計</a:t>
            </a:r>
            <a:endParaRPr lang="en-US" altLang="ja-JP" sz="1800" dirty="0">
              <a:solidFill>
                <a:schemeClr val="tx1">
                  <a:lumMod val="50000"/>
                  <a:lumOff val="50000"/>
                </a:schemeClr>
              </a:solidFill>
            </a:endParaRPr>
          </a:p>
          <a:p>
            <a:pPr marL="0" indent="0">
              <a:buNone/>
            </a:pPr>
            <a:endParaRPr lang="ja-JP" altLang="en-US" sz="800">
              <a:solidFill>
                <a:schemeClr val="tx1">
                  <a:lumMod val="50000"/>
                  <a:lumOff val="50000"/>
                </a:schemeClr>
              </a:solidFill>
            </a:endParaRPr>
          </a:p>
          <a:p>
            <a:pPr marL="0" indent="0">
              <a:buNone/>
            </a:pPr>
            <a:r>
              <a:rPr lang="en-GB" sz="1800" dirty="0">
                <a:solidFill>
                  <a:schemeClr val="tx1">
                    <a:lumMod val="50000"/>
                    <a:lumOff val="50000"/>
                  </a:schemeClr>
                </a:solidFill>
              </a:rPr>
              <a:t>III. </a:t>
            </a:r>
            <a:r>
              <a:rPr lang="ja-JP" altLang="en-US" sz="1800">
                <a:solidFill>
                  <a:schemeClr val="tx1">
                    <a:lumMod val="50000"/>
                    <a:lumOff val="50000"/>
                  </a:schemeClr>
                </a:solidFill>
              </a:rPr>
              <a:t>問題を「計算機の使える形」に整理する</a:t>
            </a:r>
          </a:p>
          <a:p>
            <a:pPr marL="0" inden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5. </a:t>
            </a:r>
            <a:r>
              <a:rPr lang="ja-JP" altLang="en-US" sz="1800">
                <a:solidFill>
                  <a:schemeClr val="tx1">
                    <a:lumMod val="50000"/>
                    <a:lumOff val="50000"/>
                  </a:schemeClr>
                </a:solidFill>
              </a:rPr>
              <a:t>情報システムのデザイン</a:t>
            </a:r>
            <a:endParaRPr lang="en-US" altLang="ja-JP" sz="1800" dirty="0">
              <a:solidFill>
                <a:schemeClr val="tx1">
                  <a:lumMod val="50000"/>
                  <a:lumOff val="50000"/>
                </a:schemeClr>
              </a:solidFill>
            </a:endParaRPr>
          </a:p>
          <a:p>
            <a:pPr marL="0" indent="0">
              <a:buNone/>
            </a:pPr>
            <a:endParaRPr lang="ja-JP" altLang="en-US" sz="800">
              <a:solidFill>
                <a:srgbClr val="2F2523"/>
              </a:solidFill>
            </a:endParaRPr>
          </a:p>
          <a:p>
            <a:pPr marL="0" indent="0">
              <a:buNone/>
            </a:pPr>
            <a:r>
              <a:rPr lang="en-GB" sz="1800" dirty="0"/>
              <a:t>IV. </a:t>
            </a:r>
            <a:r>
              <a:rPr lang="ja-JP" altLang="en-US" sz="1800"/>
              <a:t>計算機の考え方を体感する</a:t>
            </a:r>
          </a:p>
          <a:p>
            <a:pPr marL="0" indent="0">
              <a:buNone/>
            </a:pPr>
            <a:r>
              <a:rPr lang="ja-JP" altLang="en-US" sz="1800">
                <a:solidFill>
                  <a:srgbClr val="2F2523"/>
                </a:solidFill>
              </a:rPr>
              <a:t>　</a:t>
            </a:r>
            <a:r>
              <a:rPr lang="en-US" altLang="ja-JP" sz="1800" dirty="0">
                <a:solidFill>
                  <a:srgbClr val="2F2523"/>
                </a:solidFill>
              </a:rPr>
              <a:t>6. </a:t>
            </a:r>
            <a:r>
              <a:rPr lang="ja-JP" altLang="en-US" sz="1800">
                <a:solidFill>
                  <a:srgbClr val="2F2523"/>
                </a:solidFill>
              </a:rPr>
              <a:t>プログラムの基本</a:t>
            </a:r>
          </a:p>
          <a:p>
            <a:pPr marL="0" indent="0">
              <a:buNone/>
            </a:pPr>
            <a:r>
              <a:rPr lang="ja-JP" altLang="en-US" sz="1800">
                <a:solidFill>
                  <a:srgbClr val="2F2523"/>
                </a:solidFill>
              </a:rPr>
              <a:t>　</a:t>
            </a:r>
            <a:r>
              <a:rPr lang="en-US" altLang="ja-JP" sz="1800" dirty="0">
                <a:solidFill>
                  <a:srgbClr val="2F2523"/>
                </a:solidFill>
              </a:rPr>
              <a:t>7. </a:t>
            </a:r>
            <a:r>
              <a:rPr lang="ja-JP" altLang="en-US" sz="1800">
                <a:solidFill>
                  <a:srgbClr val="2F2523"/>
                </a:solidFill>
              </a:rPr>
              <a:t>データ構造</a:t>
            </a:r>
          </a:p>
          <a:p>
            <a:pPr marL="0" indent="0">
              <a:buNone/>
            </a:pPr>
            <a:r>
              <a:rPr lang="ja-JP" altLang="en-US" sz="1800">
                <a:solidFill>
                  <a:srgbClr val="2F2523"/>
                </a:solidFill>
              </a:rPr>
              <a:t>　</a:t>
            </a:r>
            <a:r>
              <a:rPr lang="en-US" altLang="ja-JP" sz="1800" dirty="0">
                <a:solidFill>
                  <a:srgbClr val="2F2523"/>
                </a:solidFill>
              </a:rPr>
              <a:t>8. </a:t>
            </a:r>
            <a:r>
              <a:rPr lang="ja-JP" altLang="en-US" sz="1800">
                <a:solidFill>
                  <a:srgbClr val="2F2523"/>
                </a:solidFill>
              </a:rPr>
              <a:t>アルゴリズム</a:t>
            </a:r>
          </a:p>
          <a:p>
            <a:pPr marL="0" indent="0">
              <a:buNone/>
            </a:pPr>
            <a:r>
              <a:rPr lang="ja-JP" altLang="en-US" sz="1800">
                <a:solidFill>
                  <a:srgbClr val="2F2523"/>
                </a:solidFill>
              </a:rPr>
              <a:t>　</a:t>
            </a:r>
            <a:r>
              <a:rPr lang="en-US" altLang="ja-JP" sz="1800" dirty="0">
                <a:solidFill>
                  <a:srgbClr val="2F2523"/>
                </a:solidFill>
              </a:rPr>
              <a:t>9. </a:t>
            </a:r>
            <a:r>
              <a:rPr lang="ja-JP" altLang="en-US" sz="1800">
                <a:solidFill>
                  <a:srgbClr val="2F2523"/>
                </a:solidFill>
              </a:rPr>
              <a:t>演習（データ構造とアルゴリズム）</a:t>
            </a:r>
          </a:p>
        </p:txBody>
      </p:sp>
      <p:sp>
        <p:nvSpPr>
          <p:cNvPr id="4" name="コンテンツ プレースホルダー 2">
            <a:extLst>
              <a:ext uri="{FF2B5EF4-FFF2-40B4-BE49-F238E27FC236}">
                <a16:creationId xmlns:a16="http://schemas.microsoft.com/office/drawing/2014/main" id="{EDE16A80-7763-69CC-772F-54D4B171DE89}"/>
              </a:ext>
            </a:extLst>
          </p:cNvPr>
          <p:cNvSpPr txBox="1">
            <a:spLocks/>
          </p:cNvSpPr>
          <p:nvPr/>
        </p:nvSpPr>
        <p:spPr>
          <a:xfrm>
            <a:off x="4572000" y="854766"/>
            <a:ext cx="4257675" cy="6003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400" b="1" kern="1200">
                <a:solidFill>
                  <a:srgbClr val="002060"/>
                </a:solidFill>
                <a:latin typeface="Yu Gothic UI" panose="020B0500000000000000" pitchFamily="34" charset="-128"/>
                <a:ea typeface="Yu Gothic UI" panose="020B05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b="1" kern="1200">
                <a:solidFill>
                  <a:srgbClr val="2F2624"/>
                </a:solidFill>
                <a:latin typeface="Yu Gothic UI" panose="020B0500000000000000" pitchFamily="34" charset="-128"/>
                <a:ea typeface="Yu Gothic UI" panose="020B05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b="1" kern="1200">
                <a:solidFill>
                  <a:srgbClr val="2F2624"/>
                </a:solidFill>
                <a:latin typeface="Yu Gothic UI" panose="020B0500000000000000" pitchFamily="34" charset="-128"/>
                <a:ea typeface="Yu Gothic UI" panose="020B05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b="1" kern="1200">
                <a:solidFill>
                  <a:srgbClr val="2F2624"/>
                </a:solidFill>
                <a:latin typeface="Yu Gothic UI" panose="020B0500000000000000" pitchFamily="34" charset="-128"/>
                <a:ea typeface="Yu Gothic UI" panose="020B05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700" b="1" kern="1200">
                <a:solidFill>
                  <a:srgbClr val="2F2624"/>
                </a:solidFill>
                <a:latin typeface="Yu Gothic UI" panose="020B0500000000000000" pitchFamily="34" charset="-128"/>
                <a:ea typeface="Yu Gothic UI"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GB" sz="1800" dirty="0">
                <a:solidFill>
                  <a:schemeClr val="tx1">
                    <a:lumMod val="50000"/>
                    <a:lumOff val="50000"/>
                  </a:schemeClr>
                </a:solidFill>
              </a:rPr>
              <a:t>V. </a:t>
            </a:r>
            <a:r>
              <a:rPr lang="ja-JP" altLang="en-US" sz="1800">
                <a:solidFill>
                  <a:schemeClr val="tx1">
                    <a:lumMod val="50000"/>
                    <a:lumOff val="50000"/>
                  </a:schemeClr>
                </a:solidFill>
              </a:rPr>
              <a:t>計算機のハードウェア構成を知る</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10. </a:t>
            </a:r>
            <a:r>
              <a:rPr lang="ja-JP" altLang="en-US" sz="1800">
                <a:solidFill>
                  <a:schemeClr val="tx1">
                    <a:lumMod val="50000"/>
                    <a:lumOff val="50000"/>
                  </a:schemeClr>
                </a:solidFill>
              </a:rPr>
              <a:t>計算機の中の情報表現</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11. </a:t>
            </a:r>
            <a:r>
              <a:rPr lang="ja-GB" altLang="en-US" sz="1800" dirty="0">
                <a:solidFill>
                  <a:schemeClr val="tx1">
                    <a:lumMod val="50000"/>
                    <a:lumOff val="50000"/>
                  </a:schemeClr>
                </a:solidFill>
              </a:rPr>
              <a:t>演算とハードウェア構成</a:t>
            </a:r>
            <a:endParaRPr lang="en-US" altLang="ja-JP" sz="1800" dirty="0">
              <a:solidFill>
                <a:schemeClr val="tx1">
                  <a:lumMod val="50000"/>
                  <a:lumOff val="50000"/>
                </a:schemeClr>
              </a:solidFill>
            </a:endParaRPr>
          </a:p>
          <a:p>
            <a:pPr marL="0" indent="0">
              <a:buFont typeface="Arial" panose="020B0604020202020204" pitchFamily="34" charset="0"/>
              <a:buNone/>
            </a:pPr>
            <a:endParaRPr lang="ja-JP" altLang="en-US" sz="800">
              <a:solidFill>
                <a:schemeClr val="tx1">
                  <a:lumMod val="50000"/>
                  <a:lumOff val="50000"/>
                </a:schemeClr>
              </a:solidFill>
            </a:endParaRPr>
          </a:p>
          <a:p>
            <a:pPr marL="0" indent="0">
              <a:buFont typeface="Arial" panose="020B0604020202020204" pitchFamily="34" charset="0"/>
              <a:buNone/>
            </a:pPr>
            <a:r>
              <a:rPr lang="en-GB" sz="1800" dirty="0">
                <a:solidFill>
                  <a:schemeClr val="tx1">
                    <a:lumMod val="50000"/>
                    <a:lumOff val="50000"/>
                  </a:schemeClr>
                </a:solidFill>
              </a:rPr>
              <a:t>VI. </a:t>
            </a:r>
            <a:r>
              <a:rPr lang="ja-JP" altLang="en-US" sz="1800">
                <a:solidFill>
                  <a:schemeClr val="tx1">
                    <a:lumMod val="50000"/>
                    <a:lumOff val="50000"/>
                  </a:schemeClr>
                </a:solidFill>
              </a:rPr>
              <a:t>計算機特有の数値表現に慣れる</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12. </a:t>
            </a:r>
            <a:r>
              <a:rPr lang="ja-JP" altLang="en-US" sz="1800">
                <a:solidFill>
                  <a:schemeClr val="tx1">
                    <a:lumMod val="50000"/>
                    <a:lumOff val="50000"/>
                  </a:schemeClr>
                </a:solidFill>
              </a:rPr>
              <a:t>演習（基数と論理演算）</a:t>
            </a:r>
            <a:endParaRPr lang="en-US" altLang="ja-JP" sz="1800" dirty="0">
              <a:solidFill>
                <a:schemeClr val="tx1">
                  <a:lumMod val="50000"/>
                  <a:lumOff val="50000"/>
                </a:schemeClr>
              </a:solidFill>
            </a:endParaRPr>
          </a:p>
          <a:p>
            <a:pPr marL="0" indent="0">
              <a:buFont typeface="Arial" panose="020B0604020202020204" pitchFamily="34" charset="0"/>
              <a:buNone/>
            </a:pPr>
            <a:endParaRPr lang="ja-JP" altLang="en-US" sz="800">
              <a:solidFill>
                <a:schemeClr val="tx1">
                  <a:lumMod val="50000"/>
                  <a:lumOff val="50000"/>
                </a:schemeClr>
              </a:solidFill>
            </a:endParaRPr>
          </a:p>
          <a:p>
            <a:pPr marL="0" indent="0">
              <a:buFont typeface="Arial" panose="020B0604020202020204" pitchFamily="34" charset="0"/>
              <a:buNone/>
            </a:pPr>
            <a:r>
              <a:rPr lang="en-GB" sz="1800" dirty="0">
                <a:solidFill>
                  <a:schemeClr val="tx1">
                    <a:lumMod val="50000"/>
                    <a:lumOff val="50000"/>
                  </a:schemeClr>
                </a:solidFill>
              </a:rPr>
              <a:t>VII. </a:t>
            </a:r>
            <a:r>
              <a:rPr lang="ja-JP" altLang="en-US" sz="1800">
                <a:solidFill>
                  <a:schemeClr val="tx1">
                    <a:lumMod val="50000"/>
                    <a:lumOff val="50000"/>
                  </a:schemeClr>
                </a:solidFill>
              </a:rPr>
              <a:t>計算論的思考</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13. </a:t>
            </a:r>
            <a:r>
              <a:rPr lang="ja-JP" altLang="en-US" sz="1800">
                <a:solidFill>
                  <a:schemeClr val="tx1">
                    <a:lumMod val="50000"/>
                    <a:lumOff val="50000"/>
                  </a:schemeClr>
                </a:solidFill>
              </a:rPr>
              <a:t>問題解決のためのモデル：</a:t>
            </a:r>
            <a:r>
              <a:rPr lang="en-GB" sz="1800" dirty="0">
                <a:solidFill>
                  <a:schemeClr val="tx1">
                    <a:lumMod val="50000"/>
                    <a:lumOff val="50000"/>
                  </a:schemeClr>
                </a:solidFill>
              </a:rPr>
              <a:t>PERT</a:t>
            </a:r>
            <a:r>
              <a:rPr lang="ja-JP" altLang="en-US" sz="1800">
                <a:solidFill>
                  <a:schemeClr val="tx1">
                    <a:lumMod val="50000"/>
                    <a:lumOff val="50000"/>
                  </a:schemeClr>
                </a:solidFill>
              </a:rPr>
              <a:t>図</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14. </a:t>
            </a:r>
            <a:r>
              <a:rPr lang="ja-JP" altLang="en-US" sz="1800">
                <a:solidFill>
                  <a:schemeClr val="tx1">
                    <a:lumMod val="50000"/>
                    <a:lumOff val="50000"/>
                  </a:schemeClr>
                </a:solidFill>
              </a:rPr>
              <a:t>問題解決のためのモデル：決定表</a:t>
            </a:r>
          </a:p>
          <a:p>
            <a:pPr marL="0" indent="0">
              <a:buFont typeface="Arial" panose="020B0604020202020204" pitchFamily="34" charset="0"/>
              <a:buNone/>
            </a:pPr>
            <a:r>
              <a:rPr lang="ja-JP" altLang="en-US" sz="1800">
                <a:solidFill>
                  <a:schemeClr val="tx1">
                    <a:lumMod val="50000"/>
                    <a:lumOff val="50000"/>
                  </a:schemeClr>
                </a:solidFill>
              </a:rPr>
              <a:t>　</a:t>
            </a:r>
            <a:r>
              <a:rPr lang="en-US" altLang="ja-JP" sz="1800" dirty="0">
                <a:solidFill>
                  <a:schemeClr val="tx1">
                    <a:lumMod val="50000"/>
                    <a:lumOff val="50000"/>
                  </a:schemeClr>
                </a:solidFill>
              </a:rPr>
              <a:t>15. </a:t>
            </a:r>
            <a:r>
              <a:rPr lang="ja-JP" altLang="en-US" sz="1800">
                <a:solidFill>
                  <a:schemeClr val="tx1">
                    <a:lumMod val="50000"/>
                    <a:lumOff val="50000"/>
                  </a:schemeClr>
                </a:solidFill>
              </a:rPr>
              <a:t>まとめ </a:t>
            </a:r>
            <a:r>
              <a:rPr lang="en-US" altLang="ja-JP" sz="1800" dirty="0">
                <a:solidFill>
                  <a:schemeClr val="tx1">
                    <a:lumMod val="50000"/>
                    <a:lumOff val="50000"/>
                  </a:schemeClr>
                </a:solidFill>
              </a:rPr>
              <a:t>+ </a:t>
            </a:r>
            <a:r>
              <a:rPr lang="ja-JP" altLang="en-US" sz="1800">
                <a:solidFill>
                  <a:schemeClr val="tx1">
                    <a:lumMod val="50000"/>
                    <a:lumOff val="50000"/>
                  </a:schemeClr>
                </a:solidFill>
              </a:rPr>
              <a:t>演習（</a:t>
            </a:r>
            <a:r>
              <a:rPr lang="en-US" altLang="ja-JP" sz="1800" dirty="0">
                <a:solidFill>
                  <a:schemeClr val="tx1">
                    <a:lumMod val="50000"/>
                    <a:lumOff val="50000"/>
                  </a:schemeClr>
                </a:solidFill>
              </a:rPr>
              <a:t>PERT</a:t>
            </a:r>
            <a:r>
              <a:rPr lang="ja-JP" altLang="en-US" sz="1800">
                <a:solidFill>
                  <a:schemeClr val="tx1">
                    <a:lumMod val="50000"/>
                    <a:lumOff val="50000"/>
                  </a:schemeClr>
                </a:solidFill>
              </a:rPr>
              <a:t>図，決定表）</a:t>
            </a:r>
            <a:endParaRPr lang="ja-GB" sz="1800" dirty="0">
              <a:solidFill>
                <a:schemeClr val="tx1">
                  <a:lumMod val="50000"/>
                  <a:lumOff val="50000"/>
                </a:schemeClr>
              </a:solidFill>
            </a:endParaRPr>
          </a:p>
        </p:txBody>
      </p:sp>
    </p:spTree>
    <p:extLst>
      <p:ext uri="{BB962C8B-B14F-4D97-AF65-F5344CB8AC3E}">
        <p14:creationId xmlns:p14="http://schemas.microsoft.com/office/powerpoint/2010/main" val="16972437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CFCA-A471-2149-8370-02AC0BE280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73C3D-605E-AAA4-4D80-EAF0203B9D58}"/>
              </a:ext>
            </a:extLst>
          </p:cNvPr>
          <p:cNvSpPr>
            <a:spLocks noGrp="1"/>
          </p:cNvSpPr>
          <p:nvPr>
            <p:ph type="title"/>
          </p:nvPr>
        </p:nvSpPr>
        <p:spPr/>
        <p:txBody>
          <a:bodyPr/>
          <a:lstStyle/>
          <a:p>
            <a:r>
              <a:rPr lang="ja-GB" dirty="0"/>
              <a:t>授業の流れ</a:t>
            </a:r>
          </a:p>
        </p:txBody>
      </p:sp>
      <p:sp>
        <p:nvSpPr>
          <p:cNvPr id="3" name="コンテンツ プレースホルダー 2">
            <a:extLst>
              <a:ext uri="{FF2B5EF4-FFF2-40B4-BE49-F238E27FC236}">
                <a16:creationId xmlns:a16="http://schemas.microsoft.com/office/drawing/2014/main" id="{4E130108-CF10-E328-5420-D8939B844138}"/>
              </a:ext>
            </a:extLst>
          </p:cNvPr>
          <p:cNvSpPr>
            <a:spLocks noGrp="1"/>
          </p:cNvSpPr>
          <p:nvPr>
            <p:ph idx="1"/>
          </p:nvPr>
        </p:nvSpPr>
        <p:spPr/>
        <p:txBody>
          <a:bodyPr>
            <a:normAutofit/>
          </a:bodyPr>
          <a:lstStyle/>
          <a:p>
            <a:pPr marL="457200" indent="-457200">
              <a:buFont typeface="+mj-lt"/>
              <a:buAutoNum type="arabicPeriod"/>
            </a:pPr>
            <a:r>
              <a:rPr lang="ja-GB" sz="2000" dirty="0">
                <a:solidFill>
                  <a:schemeClr val="tx1">
                    <a:lumMod val="50000"/>
                    <a:lumOff val="50000"/>
                  </a:schemeClr>
                </a:solidFill>
              </a:rPr>
              <a:t>日本政府や学科の教育方針を知り，現状や将来像に基づいて</a:t>
            </a:r>
            <a:br>
              <a:rPr lang="ja-GB" sz="2000" dirty="0">
                <a:solidFill>
                  <a:schemeClr val="tx1">
                    <a:lumMod val="50000"/>
                    <a:lumOff val="50000"/>
                  </a:schemeClr>
                </a:solidFill>
              </a:rPr>
            </a:br>
            <a:r>
              <a:rPr lang="ja-GB" sz="2000" dirty="0">
                <a:solidFill>
                  <a:schemeClr val="tx1">
                    <a:lumMod val="50000"/>
                    <a:lumOff val="50000"/>
                  </a:schemeClr>
                </a:solidFill>
              </a:rPr>
              <a:t>自分が計算機を学ぶ意味を見つける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rgbClr val="2F2523"/>
                </a:solidFill>
              </a:rPr>
              <a:t>計算機やデータ・</a:t>
            </a:r>
            <a:r>
              <a:rPr lang="en-GB" sz="2000" dirty="0">
                <a:solidFill>
                  <a:srgbClr val="2F2523"/>
                </a:solidFill>
              </a:rPr>
              <a:t>AI</a:t>
            </a:r>
            <a:r>
              <a:rPr lang="ja-JP" altLang="en-US" sz="2000">
                <a:solidFill>
                  <a:srgbClr val="2F2523"/>
                </a:solidFill>
              </a:rPr>
              <a:t>にできることを</a:t>
            </a:r>
            <a:r>
              <a:rPr lang="ja-GB" altLang="en-US" sz="2000" dirty="0">
                <a:solidFill>
                  <a:srgbClr val="2F2523"/>
                </a:solidFill>
              </a:rPr>
              <a:t>知り</a:t>
            </a:r>
            <a:r>
              <a:rPr lang="ja-JP" altLang="en-US" sz="2000">
                <a:solidFill>
                  <a:srgbClr val="2F2523"/>
                </a:solidFill>
              </a:rPr>
              <a:t>，</a:t>
            </a:r>
            <a:br>
              <a:rPr lang="en-US" altLang="ja-JP" sz="2000" dirty="0">
                <a:solidFill>
                  <a:srgbClr val="2F2523"/>
                </a:solidFill>
              </a:rPr>
            </a:br>
            <a:r>
              <a:rPr lang="ja-JP" altLang="en-US" sz="2000"/>
              <a:t>目的達成に</a:t>
            </a:r>
            <a:r>
              <a:rPr lang="ja-GB" altLang="en-US" sz="2000" dirty="0"/>
              <a:t>向けた人間と</a:t>
            </a:r>
            <a:r>
              <a:rPr lang="ja-JP" altLang="en-US" sz="2000"/>
              <a:t>計算機，</a:t>
            </a:r>
            <a:r>
              <a:rPr lang="en-GB" sz="2000" dirty="0"/>
              <a:t>AI</a:t>
            </a:r>
            <a:r>
              <a:rPr lang="ja-JP" altLang="en-US" sz="2000"/>
              <a:t>の効果的な分業</a:t>
            </a:r>
            <a:r>
              <a:rPr lang="ja-JP" altLang="en-US" sz="2000">
                <a:solidFill>
                  <a:srgbClr val="2F2523"/>
                </a:solidFill>
              </a:rPr>
              <a:t>を想像できるようになる</a:t>
            </a:r>
            <a:endParaRPr lang="en-US" altLang="ja-JP" sz="2000" dirty="0">
              <a:solidFill>
                <a:srgbClr val="2F2523"/>
              </a:solidFill>
            </a:endParaRP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ITシステムの構造や仕組みを学び，</a:t>
            </a:r>
            <a:br>
              <a:rPr lang="ja-GB" sz="2000" dirty="0">
                <a:solidFill>
                  <a:srgbClr val="2F2523"/>
                </a:solidFill>
              </a:rPr>
            </a:br>
            <a:r>
              <a:rPr lang="ja-GB" sz="2000" dirty="0"/>
              <a:t>問題を計算機が使える形に整理したり，エンジニアに伝えたり</a:t>
            </a:r>
            <a:r>
              <a:rPr lang="ja-GB" sz="2000" dirty="0">
                <a:solidFill>
                  <a:srgbClr val="2F2523"/>
                </a:solidFill>
              </a:rPr>
              <a:t>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GB" sz="2000" dirty="0">
                <a:solidFill>
                  <a:srgbClr val="2F2523"/>
                </a:solidFill>
              </a:rPr>
              <a:t>計算機のハードウェア構成を</a:t>
            </a:r>
            <a:r>
              <a:rPr lang="ja-GB" altLang="en-US" sz="2000" dirty="0">
                <a:solidFill>
                  <a:srgbClr val="2F2523"/>
                </a:solidFill>
              </a:rPr>
              <a:t>知り</a:t>
            </a:r>
            <a:r>
              <a:rPr lang="ja-GB" sz="2000" dirty="0">
                <a:solidFill>
                  <a:srgbClr val="2F2523"/>
                </a:solidFill>
              </a:rPr>
              <a:t>，</a:t>
            </a:r>
            <a:br>
              <a:rPr lang="ja-GB" sz="2000" dirty="0">
                <a:solidFill>
                  <a:srgbClr val="2F2523"/>
                </a:solidFill>
              </a:rPr>
            </a:br>
            <a:r>
              <a:rPr lang="ja-GB" sz="2000" dirty="0"/>
              <a:t>目的達成に必要な装置の見積もりや購入</a:t>
            </a:r>
            <a:r>
              <a:rPr lang="ja-GB" sz="2000" dirty="0">
                <a:solidFill>
                  <a:srgbClr val="2F2523"/>
                </a:solidFill>
              </a:rPr>
              <a:t>ができるようになる</a:t>
            </a:r>
          </a:p>
          <a:p>
            <a:pPr marL="1828800" lvl="3" indent="-457200">
              <a:buFont typeface="+mj-lt"/>
              <a:buAutoNum type="arabicPeriod"/>
            </a:pPr>
            <a:endParaRPr lang="ja-GB" sz="1200" dirty="0">
              <a:solidFill>
                <a:srgbClr val="2F2523"/>
              </a:solidFill>
            </a:endParaRPr>
          </a:p>
          <a:p>
            <a:pPr marL="457200" indent="-457200">
              <a:buFont typeface="+mj-lt"/>
              <a:buAutoNum type="arabicPeriod"/>
            </a:pPr>
            <a:r>
              <a:rPr lang="ja-JP" altLang="en-US" sz="2000">
                <a:solidFill>
                  <a:schemeClr val="tx1">
                    <a:lumMod val="50000"/>
                    <a:lumOff val="50000"/>
                  </a:schemeClr>
                </a:solidFill>
              </a:rPr>
              <a:t>計算機に特有のデータ表現を学び，</a:t>
            </a:r>
            <a:br>
              <a:rPr lang="en-US" altLang="ja-JP" sz="2000" dirty="0">
                <a:solidFill>
                  <a:schemeClr val="tx1">
                    <a:lumMod val="50000"/>
                    <a:lumOff val="50000"/>
                  </a:schemeClr>
                </a:solidFill>
              </a:rPr>
            </a:br>
            <a:r>
              <a:rPr lang="ja-JP" altLang="en-US" sz="2000">
                <a:solidFill>
                  <a:schemeClr val="tx1">
                    <a:lumMod val="50000"/>
                    <a:lumOff val="50000"/>
                  </a:schemeClr>
                </a:solidFill>
              </a:rPr>
              <a:t>機器設定や開発でしばしば遭遇する数値・記号の意味を理解できるようになる</a:t>
            </a:r>
            <a:endParaRPr lang="en-US" altLang="ja-JP" sz="2000" dirty="0">
              <a:solidFill>
                <a:schemeClr val="tx1">
                  <a:lumMod val="50000"/>
                  <a:lumOff val="50000"/>
                </a:schemeClr>
              </a:solidFill>
            </a:endParaRPr>
          </a:p>
          <a:p>
            <a:pPr marL="1828800" lvl="3" indent="-457200">
              <a:buFont typeface="+mj-lt"/>
              <a:buAutoNum type="arabicPeriod"/>
            </a:pPr>
            <a:endParaRPr lang="en-US" altLang="ja-JP" sz="1200" dirty="0">
              <a:solidFill>
                <a:schemeClr val="tx1">
                  <a:lumMod val="50000"/>
                  <a:lumOff val="50000"/>
                </a:schemeClr>
              </a:solidFill>
            </a:endParaRPr>
          </a:p>
          <a:p>
            <a:pPr marL="457200" indent="-457200">
              <a:buFont typeface="+mj-lt"/>
              <a:buAutoNum type="arabicPeriod"/>
            </a:pPr>
            <a:r>
              <a:rPr lang="ja-JP" altLang="en-US" sz="2000">
                <a:solidFill>
                  <a:schemeClr val="tx1">
                    <a:lumMod val="50000"/>
                    <a:lumOff val="50000"/>
                  </a:schemeClr>
                </a:solidFill>
              </a:rPr>
              <a:t>計算機を使うための思考を計算機と無関係な場面で役立てる計算論的思考を体験する</a:t>
            </a:r>
            <a:endParaRPr lang="ja-GB" sz="2000" dirty="0">
              <a:solidFill>
                <a:schemeClr val="tx1">
                  <a:lumMod val="50000"/>
                  <a:lumOff val="50000"/>
                </a:schemeClr>
              </a:solidFill>
            </a:endParaRPr>
          </a:p>
        </p:txBody>
      </p:sp>
    </p:spTree>
    <p:extLst>
      <p:ext uri="{BB962C8B-B14F-4D97-AF65-F5344CB8AC3E}">
        <p14:creationId xmlns:p14="http://schemas.microsoft.com/office/powerpoint/2010/main" val="293146610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524C8-FAF6-1342-CFFE-E211EA24898A}"/>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AEBED52B-F791-1CD1-7A29-110BC151E6CB}"/>
              </a:ext>
            </a:extLst>
          </p:cNvPr>
          <p:cNvSpPr/>
          <p:nvPr/>
        </p:nvSpPr>
        <p:spPr>
          <a:xfrm>
            <a:off x="0" y="1"/>
            <a:ext cx="9144000" cy="440463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 name="タイトル 1">
            <a:extLst>
              <a:ext uri="{FF2B5EF4-FFF2-40B4-BE49-F238E27FC236}">
                <a16:creationId xmlns:a16="http://schemas.microsoft.com/office/drawing/2014/main" id="{02BE7F58-CD35-AFCB-B2F9-46F0AD887239}"/>
              </a:ext>
            </a:extLst>
          </p:cNvPr>
          <p:cNvSpPr>
            <a:spLocks noGrp="1"/>
          </p:cNvSpPr>
          <p:nvPr>
            <p:ph type="ctrTitle"/>
          </p:nvPr>
        </p:nvSpPr>
        <p:spPr>
          <a:xfrm>
            <a:off x="342901" y="1666380"/>
            <a:ext cx="8458198" cy="2738260"/>
          </a:xfrm>
        </p:spPr>
        <p:txBody>
          <a:bodyPr anchor="b">
            <a:normAutofit/>
          </a:bodyPr>
          <a:lstStyle/>
          <a:p>
            <a:pPr algn="l">
              <a:lnSpc>
                <a:spcPct val="100000"/>
              </a:lnSpc>
            </a:pPr>
            <a:r>
              <a:rPr kumimoji="1" lang="en-US" altLang="ja-JP" sz="3200" dirty="0">
                <a:solidFill>
                  <a:schemeClr val="bg1"/>
                </a:solidFill>
              </a:rPr>
              <a:t>2025</a:t>
            </a:r>
            <a:r>
              <a:rPr kumimoji="1" lang="ja-JP" altLang="en-US" sz="3200">
                <a:solidFill>
                  <a:schemeClr val="bg1"/>
                </a:solidFill>
              </a:rPr>
              <a:t>年度</a:t>
            </a:r>
            <a:r>
              <a:rPr lang="en-US" altLang="ja-JP" sz="3200" dirty="0">
                <a:solidFill>
                  <a:schemeClr val="bg1"/>
                </a:solidFill>
              </a:rPr>
              <a:t> </a:t>
            </a:r>
            <a:r>
              <a:rPr kumimoji="1" lang="ja-JP" altLang="en-US" sz="3200">
                <a:solidFill>
                  <a:schemeClr val="bg1"/>
                </a:solidFill>
              </a:rPr>
              <a:t>コンピュータシステム</a:t>
            </a:r>
            <a:br>
              <a:rPr lang="en-US" altLang="ja-JP" sz="3200" dirty="0">
                <a:solidFill>
                  <a:schemeClr val="bg1"/>
                </a:solidFill>
              </a:rPr>
            </a:br>
            <a:r>
              <a:rPr kumimoji="1" lang="ja-GB" altLang="en-US" sz="3200" dirty="0">
                <a:solidFill>
                  <a:schemeClr val="bg1"/>
                </a:solidFill>
              </a:rPr>
              <a:t>第</a:t>
            </a:r>
            <a:r>
              <a:rPr kumimoji="1" lang="en-US" altLang="ja-GB" sz="3200" dirty="0">
                <a:solidFill>
                  <a:schemeClr val="bg1"/>
                </a:solidFill>
              </a:rPr>
              <a:t>6</a:t>
            </a:r>
            <a:r>
              <a:rPr kumimoji="1" lang="ja-GB" altLang="en-US" sz="3200" dirty="0">
                <a:solidFill>
                  <a:schemeClr val="bg1"/>
                </a:solidFill>
              </a:rPr>
              <a:t>回：プログラムの基本</a:t>
            </a:r>
            <a:br>
              <a:rPr kumimoji="1" lang="en-US" altLang="ja-JP" sz="2400" dirty="0">
                <a:solidFill>
                  <a:schemeClr val="bg1"/>
                </a:solidFill>
              </a:rPr>
            </a:br>
            <a:endParaRPr kumimoji="1" lang="ja-JP" altLang="en-US" sz="2400">
              <a:solidFill>
                <a:schemeClr val="bg1"/>
              </a:solidFill>
            </a:endParaRPr>
          </a:p>
        </p:txBody>
      </p:sp>
    </p:spTree>
    <p:extLst>
      <p:ext uri="{BB962C8B-B14F-4D97-AF65-F5344CB8AC3E}">
        <p14:creationId xmlns:p14="http://schemas.microsoft.com/office/powerpoint/2010/main" val="377010231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AFC172-A5AE-C776-A4ED-E7E32DC41691}"/>
              </a:ext>
            </a:extLst>
          </p:cNvPr>
          <p:cNvSpPr>
            <a:spLocks noGrp="1"/>
          </p:cNvSpPr>
          <p:nvPr>
            <p:ph type="title"/>
          </p:nvPr>
        </p:nvSpPr>
        <p:spPr/>
        <p:txBody>
          <a:bodyPr/>
          <a:lstStyle/>
          <a:p>
            <a:r>
              <a:rPr lang="ja-GB" altLang="en-US" dirty="0"/>
              <a:t>前置き</a:t>
            </a:r>
            <a:r>
              <a:rPr kumimoji="1" lang="ja-GB" altLang="en-US" dirty="0"/>
              <a:t>：アルゴリズムの実行方法の種類</a:t>
            </a:r>
          </a:p>
        </p:txBody>
      </p:sp>
      <p:sp>
        <p:nvSpPr>
          <p:cNvPr id="3" name="コンテンツ プレースホルダー 2">
            <a:extLst>
              <a:ext uri="{FF2B5EF4-FFF2-40B4-BE49-F238E27FC236}">
                <a16:creationId xmlns:a16="http://schemas.microsoft.com/office/drawing/2014/main" id="{7CC3113F-4A77-7F77-CC3E-57A04E22A3B3}"/>
              </a:ext>
            </a:extLst>
          </p:cNvPr>
          <p:cNvSpPr>
            <a:spLocks noGrp="1"/>
          </p:cNvSpPr>
          <p:nvPr>
            <p:ph idx="1"/>
          </p:nvPr>
        </p:nvSpPr>
        <p:spPr/>
        <p:txBody>
          <a:bodyPr/>
          <a:lstStyle/>
          <a:p>
            <a:pPr marL="457200" indent="-457200">
              <a:buFont typeface="+mj-lt"/>
              <a:buAutoNum type="arabicPeriod"/>
            </a:pPr>
            <a:r>
              <a:rPr kumimoji="1" lang="ja-GB" altLang="en-US" dirty="0"/>
              <a:t>アルゴリズムの実行方法の種類</a:t>
            </a:r>
            <a:endParaRPr kumimoji="1" lang="en-US" altLang="ja-GB" dirty="0"/>
          </a:p>
          <a:p>
            <a:pPr lvl="1"/>
            <a:r>
              <a:rPr lang="ja-GB" altLang="en-US" dirty="0"/>
              <a:t>手続き型プログラム</a:t>
            </a:r>
            <a:endParaRPr lang="en-US" altLang="ja-GB" dirty="0"/>
          </a:p>
          <a:p>
            <a:pPr lvl="1"/>
            <a:r>
              <a:rPr kumimoji="1" lang="ja-GB" altLang="en-US" dirty="0"/>
              <a:t>イベント駆動型プログラム</a:t>
            </a:r>
          </a:p>
        </p:txBody>
      </p:sp>
    </p:spTree>
    <p:extLst>
      <p:ext uri="{BB962C8B-B14F-4D97-AF65-F5344CB8AC3E}">
        <p14:creationId xmlns:p14="http://schemas.microsoft.com/office/powerpoint/2010/main" val="86888505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205453-2B86-5B3B-255A-8DFE21CD7F03}"/>
              </a:ext>
            </a:extLst>
          </p:cNvPr>
          <p:cNvSpPr>
            <a:spLocks noGrp="1"/>
          </p:cNvSpPr>
          <p:nvPr>
            <p:ph type="title"/>
          </p:nvPr>
        </p:nvSpPr>
        <p:spPr/>
        <p:txBody>
          <a:bodyPr/>
          <a:lstStyle/>
          <a:p>
            <a:r>
              <a:rPr kumimoji="1" lang="ja-GB" altLang="en-US" dirty="0"/>
              <a:t>手続き型プログラム</a:t>
            </a:r>
          </a:p>
        </p:txBody>
      </p:sp>
      <p:sp>
        <p:nvSpPr>
          <p:cNvPr id="3" name="コンテンツ プレースホルダー 2">
            <a:extLst>
              <a:ext uri="{FF2B5EF4-FFF2-40B4-BE49-F238E27FC236}">
                <a16:creationId xmlns:a16="http://schemas.microsoft.com/office/drawing/2014/main" id="{4D58222B-FC0D-EAE0-0DD1-3A468E17DD90}"/>
              </a:ext>
            </a:extLst>
          </p:cNvPr>
          <p:cNvSpPr>
            <a:spLocks noGrp="1"/>
          </p:cNvSpPr>
          <p:nvPr>
            <p:ph idx="1"/>
          </p:nvPr>
        </p:nvSpPr>
        <p:spPr/>
        <p:txBody>
          <a:bodyPr/>
          <a:lstStyle/>
          <a:p>
            <a:pPr marL="0" indent="0">
              <a:buNone/>
            </a:pPr>
            <a:r>
              <a:rPr kumimoji="1" lang="ja-GB" altLang="en-US" dirty="0"/>
              <a:t>開始</a:t>
            </a:r>
            <a:r>
              <a:rPr lang="ja-GB" altLang="en-US" dirty="0"/>
              <a:t>後に，</a:t>
            </a:r>
            <a:r>
              <a:rPr kumimoji="1" lang="ja-GB" altLang="en-US" dirty="0"/>
              <a:t>計算手順</a:t>
            </a:r>
            <a:r>
              <a:rPr lang="ja-GB" altLang="en-US" dirty="0"/>
              <a:t>が順番に実行されて，</a:t>
            </a:r>
            <a:r>
              <a:rPr kumimoji="1" lang="ja-GB" altLang="en-US" dirty="0"/>
              <a:t>終了するプログラム</a:t>
            </a:r>
            <a:endParaRPr kumimoji="1" lang="en-US" altLang="ja-GB" dirty="0"/>
          </a:p>
        </p:txBody>
      </p:sp>
      <p:pic>
        <p:nvPicPr>
          <p:cNvPr id="6" name="図 5" descr="時計, メーター が含まれている画像&#10;&#10;AI によって生成されたコンテンツは間違っている可能性があります。">
            <a:extLst>
              <a:ext uri="{FF2B5EF4-FFF2-40B4-BE49-F238E27FC236}">
                <a16:creationId xmlns:a16="http://schemas.microsoft.com/office/drawing/2014/main" id="{884542F9-BAB8-0722-0563-6411F6B37A96}"/>
              </a:ext>
            </a:extLst>
          </p:cNvPr>
          <p:cNvPicPr>
            <a:picLocks noChangeAspect="1"/>
          </p:cNvPicPr>
          <p:nvPr/>
        </p:nvPicPr>
        <p:blipFill>
          <a:blip r:embed="rId2"/>
          <a:stretch>
            <a:fillRect/>
          </a:stretch>
        </p:blipFill>
        <p:spPr>
          <a:xfrm>
            <a:off x="314325" y="2984851"/>
            <a:ext cx="8679153" cy="1906870"/>
          </a:xfrm>
          <a:prstGeom prst="rect">
            <a:avLst/>
          </a:prstGeom>
        </p:spPr>
      </p:pic>
      <p:cxnSp>
        <p:nvCxnSpPr>
          <p:cNvPr id="7" name="直線コネクタ 6">
            <a:extLst>
              <a:ext uri="{FF2B5EF4-FFF2-40B4-BE49-F238E27FC236}">
                <a16:creationId xmlns:a16="http://schemas.microsoft.com/office/drawing/2014/main" id="{B41CC07C-02F2-40DA-9128-D451505A50C7}"/>
              </a:ext>
            </a:extLst>
          </p:cNvPr>
          <p:cNvCxnSpPr>
            <a:cxnSpLocks/>
          </p:cNvCxnSpPr>
          <p:nvPr/>
        </p:nvCxnSpPr>
        <p:spPr>
          <a:xfrm flipH="1">
            <a:off x="440677" y="3439467"/>
            <a:ext cx="3341688" cy="982662"/>
          </a:xfrm>
          <a:prstGeom prst="line">
            <a:avLst/>
          </a:prstGeom>
          <a:ln>
            <a:solidFill>
              <a:schemeClr val="accent6">
                <a:lumMod val="50000"/>
              </a:schemeClr>
            </a:solidFill>
          </a:ln>
        </p:spPr>
        <p:style>
          <a:lnRef idx="1">
            <a:schemeClr val="accent6"/>
          </a:lnRef>
          <a:fillRef idx="0">
            <a:schemeClr val="accent6"/>
          </a:fillRef>
          <a:effectRef idx="0">
            <a:schemeClr val="accent6"/>
          </a:effectRef>
          <a:fontRef idx="minor">
            <a:schemeClr val="tx1"/>
          </a:fontRef>
        </p:style>
      </p:cxnSp>
      <p:cxnSp>
        <p:nvCxnSpPr>
          <p:cNvPr id="8" name="直線コネクタ 7">
            <a:extLst>
              <a:ext uri="{FF2B5EF4-FFF2-40B4-BE49-F238E27FC236}">
                <a16:creationId xmlns:a16="http://schemas.microsoft.com/office/drawing/2014/main" id="{F00557FF-4134-4508-37C1-42DDE412B427}"/>
              </a:ext>
            </a:extLst>
          </p:cNvPr>
          <p:cNvCxnSpPr>
            <a:cxnSpLocks/>
          </p:cNvCxnSpPr>
          <p:nvPr/>
        </p:nvCxnSpPr>
        <p:spPr>
          <a:xfrm>
            <a:off x="4552302" y="3439467"/>
            <a:ext cx="2743200" cy="982662"/>
          </a:xfrm>
          <a:prstGeom prst="line">
            <a:avLst/>
          </a:prstGeom>
          <a:ln>
            <a:solidFill>
              <a:schemeClr val="accent6">
                <a:lumMod val="50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15752907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A24D76-5057-E89C-EF8C-5054CCCE3139}"/>
              </a:ext>
            </a:extLst>
          </p:cNvPr>
          <p:cNvSpPr>
            <a:spLocks noGrp="1"/>
          </p:cNvSpPr>
          <p:nvPr>
            <p:ph type="title"/>
          </p:nvPr>
        </p:nvSpPr>
        <p:spPr/>
        <p:txBody>
          <a:bodyPr/>
          <a:lstStyle/>
          <a:p>
            <a:r>
              <a:rPr kumimoji="1" lang="ja-GB" altLang="en-US" dirty="0"/>
              <a:t>イベント駆動型プログラム</a:t>
            </a:r>
          </a:p>
        </p:txBody>
      </p:sp>
      <p:sp>
        <p:nvSpPr>
          <p:cNvPr id="3" name="コンテンツ プレースホルダー 2">
            <a:extLst>
              <a:ext uri="{FF2B5EF4-FFF2-40B4-BE49-F238E27FC236}">
                <a16:creationId xmlns:a16="http://schemas.microsoft.com/office/drawing/2014/main" id="{BB605017-C025-5E70-688C-F2156AA36D30}"/>
              </a:ext>
            </a:extLst>
          </p:cNvPr>
          <p:cNvSpPr>
            <a:spLocks noGrp="1"/>
          </p:cNvSpPr>
          <p:nvPr>
            <p:ph idx="1"/>
          </p:nvPr>
        </p:nvSpPr>
        <p:spPr/>
        <p:txBody>
          <a:bodyPr/>
          <a:lstStyle/>
          <a:p>
            <a:pPr marL="0" indent="0">
              <a:buNone/>
            </a:pPr>
            <a:r>
              <a:rPr lang="ja-GB" altLang="en-US" dirty="0"/>
              <a:t>常に待機していて，刺激に応じて手続きを行うプログラム</a:t>
            </a:r>
            <a:endParaRPr kumimoji="1" lang="en-US" altLang="ja-GB" dirty="0"/>
          </a:p>
          <a:p>
            <a:pPr marL="457200" lvl="1" indent="0">
              <a:buNone/>
            </a:pPr>
            <a:r>
              <a:rPr lang="ja-GB" altLang="en-US" dirty="0"/>
              <a:t>例）ゲーム</a:t>
            </a:r>
            <a:endParaRPr lang="en-US" altLang="ja-GB" dirty="0"/>
          </a:p>
          <a:p>
            <a:pPr lvl="2"/>
            <a:r>
              <a:rPr lang="ja-GB" altLang="en-US" dirty="0"/>
              <a:t>マウスでクリックしながら移動されたら，視点を動かす</a:t>
            </a:r>
            <a:endParaRPr lang="en-US" altLang="ja-GB" dirty="0"/>
          </a:p>
          <a:p>
            <a:pPr lvl="2"/>
            <a:r>
              <a:rPr lang="ja-GB" altLang="en-US" dirty="0"/>
              <a:t>方向キーが押されたら，キャラクターを動かす</a:t>
            </a:r>
            <a:endParaRPr lang="en-US" altLang="ja-GB" dirty="0"/>
          </a:p>
          <a:p>
            <a:pPr lvl="2"/>
            <a:r>
              <a:rPr lang="ja-GB" altLang="en-US" dirty="0"/>
              <a:t>ジャンプボタンが押されたら，キャラクターをジャンプさせる</a:t>
            </a:r>
            <a:endParaRPr lang="en-US" altLang="ja-GB" dirty="0"/>
          </a:p>
          <a:p>
            <a:pPr lvl="2"/>
            <a:r>
              <a:rPr lang="ja-GB" altLang="en-US" dirty="0"/>
              <a:t>攻撃ボタンが押されたら，攻撃を発動する</a:t>
            </a:r>
            <a:endParaRPr lang="en-US" altLang="ja-GB" dirty="0"/>
          </a:p>
          <a:p>
            <a:pPr lvl="2"/>
            <a:r>
              <a:rPr lang="ja-GB" altLang="en-US" dirty="0"/>
              <a:t>防御ボタンが押されたら，防御を発動する</a:t>
            </a:r>
            <a:endParaRPr lang="en-US" altLang="ja-GB" dirty="0"/>
          </a:p>
          <a:p>
            <a:pPr lvl="2"/>
            <a:r>
              <a:rPr lang="en-US" altLang="ja-GB" dirty="0"/>
              <a:t>…</a:t>
            </a:r>
          </a:p>
          <a:p>
            <a:pPr lvl="1"/>
            <a:endParaRPr kumimoji="1" lang="ja-GB" altLang="en-US" dirty="0"/>
          </a:p>
        </p:txBody>
      </p:sp>
    </p:spTree>
    <p:extLst>
      <p:ext uri="{BB962C8B-B14F-4D97-AF65-F5344CB8AC3E}">
        <p14:creationId xmlns:p14="http://schemas.microsoft.com/office/powerpoint/2010/main" val="208974959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A278BD-7949-81A6-84AA-B65A0D7A0D70}"/>
              </a:ext>
            </a:extLst>
          </p:cNvPr>
          <p:cNvSpPr>
            <a:spLocks noGrp="1"/>
          </p:cNvSpPr>
          <p:nvPr>
            <p:ph type="title"/>
          </p:nvPr>
        </p:nvSpPr>
        <p:spPr/>
        <p:txBody>
          <a:bodyPr/>
          <a:lstStyle/>
          <a:p>
            <a:r>
              <a:rPr kumimoji="1" lang="ja-GB" altLang="en-US" dirty="0"/>
              <a:t>第</a:t>
            </a:r>
            <a:r>
              <a:rPr kumimoji="1" lang="en-US" altLang="ja-GB" dirty="0"/>
              <a:t>6</a:t>
            </a:r>
            <a:r>
              <a:rPr kumimoji="1" lang="ja-GB" altLang="en-US" dirty="0"/>
              <a:t>回：プログラムの基本</a:t>
            </a:r>
          </a:p>
        </p:txBody>
      </p:sp>
      <p:sp>
        <p:nvSpPr>
          <p:cNvPr id="3" name="コンテンツ プレースホルダー 2">
            <a:extLst>
              <a:ext uri="{FF2B5EF4-FFF2-40B4-BE49-F238E27FC236}">
                <a16:creationId xmlns:a16="http://schemas.microsoft.com/office/drawing/2014/main" id="{CDB7FFDF-80A6-A288-1812-33F588456939}"/>
              </a:ext>
            </a:extLst>
          </p:cNvPr>
          <p:cNvSpPr>
            <a:spLocks noGrp="1"/>
          </p:cNvSpPr>
          <p:nvPr>
            <p:ph idx="1"/>
          </p:nvPr>
        </p:nvSpPr>
        <p:spPr/>
        <p:txBody>
          <a:bodyPr/>
          <a:lstStyle/>
          <a:p>
            <a:pPr marL="0" indent="0">
              <a:buNone/>
            </a:pPr>
            <a:r>
              <a:rPr kumimoji="1" lang="ja-GB" altLang="en-US" dirty="0"/>
              <a:t>アルゴリズムをどう計算機に実装するか？</a:t>
            </a:r>
            <a:endParaRPr kumimoji="1" lang="en-US" altLang="ja-GB" dirty="0"/>
          </a:p>
          <a:p>
            <a:pPr marL="914400" lvl="1" indent="-457200">
              <a:buFont typeface="+mj-lt"/>
              <a:buAutoNum type="arabicPeriod"/>
            </a:pPr>
            <a:r>
              <a:rPr kumimoji="1" lang="ja-GB" altLang="en-US" dirty="0">
                <a:solidFill>
                  <a:srgbClr val="0070C0"/>
                </a:solidFill>
              </a:rPr>
              <a:t>プログラミングの記述方法</a:t>
            </a:r>
            <a:endParaRPr kumimoji="1" lang="en-US" altLang="ja-GB" dirty="0">
              <a:solidFill>
                <a:srgbClr val="0070C0"/>
              </a:solidFill>
            </a:endParaRPr>
          </a:p>
          <a:p>
            <a:pPr lvl="2"/>
            <a:r>
              <a:rPr kumimoji="1" lang="ja-GB" altLang="en-US" dirty="0"/>
              <a:t>命令を言葉で記述する（プログラミング言語）</a:t>
            </a:r>
            <a:endParaRPr kumimoji="1" lang="en-US" altLang="ja-GB" dirty="0"/>
          </a:p>
          <a:p>
            <a:pPr lvl="2"/>
            <a:r>
              <a:rPr lang="ja-GB" altLang="en-US" dirty="0"/>
              <a:t>処理の流れを図示する（ビジュアルプログラミング言語）</a:t>
            </a:r>
            <a:endParaRPr lang="en-US" altLang="ja-GB" dirty="0"/>
          </a:p>
          <a:p>
            <a:pPr lvl="2"/>
            <a:r>
              <a:rPr kumimoji="1" lang="ja-GB" altLang="en-US" dirty="0"/>
              <a:t>画面操作でアプリを作る（ノーコード，ローコード）</a:t>
            </a:r>
            <a:endParaRPr kumimoji="1" lang="en-US" altLang="ja-GB" dirty="0"/>
          </a:p>
          <a:p>
            <a:pPr lvl="2"/>
            <a:endParaRPr kumimoji="1" lang="en-US" altLang="ja-GB" dirty="0"/>
          </a:p>
          <a:p>
            <a:pPr marL="914400" lvl="1" indent="-457200">
              <a:buFont typeface="+mj-lt"/>
              <a:buAutoNum type="arabicPeriod"/>
            </a:pPr>
            <a:r>
              <a:rPr lang="ja-GB" altLang="en-US" dirty="0">
                <a:solidFill>
                  <a:srgbClr val="0070C0"/>
                </a:solidFill>
              </a:rPr>
              <a:t>プログラミング言語の基本</a:t>
            </a:r>
            <a:endParaRPr lang="en-US" altLang="ja-GB" dirty="0">
              <a:solidFill>
                <a:srgbClr val="0070C0"/>
              </a:solidFill>
            </a:endParaRPr>
          </a:p>
          <a:p>
            <a:pPr lvl="2"/>
            <a:r>
              <a:rPr lang="ja-GB" altLang="en-US" dirty="0"/>
              <a:t>情報を保持する（変数，型）</a:t>
            </a:r>
            <a:endParaRPr lang="en-US" altLang="ja-GB" dirty="0"/>
          </a:p>
          <a:p>
            <a:pPr lvl="2"/>
            <a:r>
              <a:rPr lang="ja-GB" altLang="en-US" dirty="0"/>
              <a:t>情報を処理する（演算子）</a:t>
            </a:r>
            <a:endParaRPr lang="en-US" altLang="ja-GB" dirty="0"/>
          </a:p>
          <a:p>
            <a:pPr lvl="2"/>
            <a:r>
              <a:rPr lang="ja-GB" altLang="en-US" dirty="0"/>
              <a:t>繰り返し使う手順を一つの命令にまとめる（関数）</a:t>
            </a:r>
            <a:endParaRPr lang="en-US" altLang="ja-GB" dirty="0"/>
          </a:p>
          <a:p>
            <a:pPr lvl="2"/>
            <a:endParaRPr lang="en-US" altLang="ja-GB" dirty="0"/>
          </a:p>
          <a:p>
            <a:pPr marL="914400" lvl="1" indent="-457200">
              <a:buFont typeface="+mj-lt"/>
              <a:buAutoNum type="arabicPeriod"/>
            </a:pPr>
            <a:r>
              <a:rPr kumimoji="1" lang="ja-GB" altLang="en-US" dirty="0">
                <a:solidFill>
                  <a:srgbClr val="0070C0"/>
                </a:solidFill>
              </a:rPr>
              <a:t>プログラミングの実際</a:t>
            </a:r>
            <a:endParaRPr kumimoji="1" lang="en-US" altLang="ja-GB" dirty="0">
              <a:solidFill>
                <a:srgbClr val="0070C0"/>
              </a:solidFill>
            </a:endParaRPr>
          </a:p>
          <a:p>
            <a:pPr lvl="2"/>
            <a:r>
              <a:rPr kumimoji="1" lang="ja-GB" altLang="en-US" dirty="0"/>
              <a:t>便利な関数を利用する（標準関数，ライブラリ，</a:t>
            </a:r>
            <a:r>
              <a:rPr kumimoji="1" lang="en-US" altLang="ja-GB" dirty="0"/>
              <a:t>API</a:t>
            </a:r>
            <a:r>
              <a:rPr kumimoji="1" lang="ja-GB" altLang="en-US" dirty="0"/>
              <a:t>）</a:t>
            </a:r>
            <a:endParaRPr kumimoji="1" lang="en-US" altLang="ja-GB" dirty="0"/>
          </a:p>
        </p:txBody>
      </p:sp>
    </p:spTree>
    <p:extLst>
      <p:ext uri="{BB962C8B-B14F-4D97-AF65-F5344CB8AC3E}">
        <p14:creationId xmlns:p14="http://schemas.microsoft.com/office/powerpoint/2010/main" val="34638814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31B4E-344B-25D4-B953-701860ABFE87}"/>
              </a:ext>
            </a:extLst>
          </p:cNvPr>
          <p:cNvSpPr>
            <a:spLocks noGrp="1"/>
          </p:cNvSpPr>
          <p:nvPr>
            <p:ph type="title"/>
          </p:nvPr>
        </p:nvSpPr>
        <p:spPr/>
        <p:txBody>
          <a:bodyPr/>
          <a:lstStyle/>
          <a:p>
            <a:r>
              <a:rPr kumimoji="1" lang="ja-GB" altLang="en-US" dirty="0"/>
              <a:t>プログラミング言語</a:t>
            </a:r>
          </a:p>
        </p:txBody>
      </p:sp>
      <p:sp>
        <p:nvSpPr>
          <p:cNvPr id="3" name="コンテンツ プレースホルダー 2">
            <a:extLst>
              <a:ext uri="{FF2B5EF4-FFF2-40B4-BE49-F238E27FC236}">
                <a16:creationId xmlns:a16="http://schemas.microsoft.com/office/drawing/2014/main" id="{7FC707DC-97E2-F06B-A3AF-70B5A3AEAD8C}"/>
              </a:ext>
            </a:extLst>
          </p:cNvPr>
          <p:cNvSpPr>
            <a:spLocks noGrp="1"/>
          </p:cNvSpPr>
          <p:nvPr>
            <p:ph idx="1"/>
          </p:nvPr>
        </p:nvSpPr>
        <p:spPr/>
        <p:txBody>
          <a:bodyPr/>
          <a:lstStyle/>
          <a:p>
            <a:pPr marL="0" indent="0">
              <a:buNone/>
            </a:pPr>
            <a:r>
              <a:rPr kumimoji="1" lang="ja-GB" altLang="en-US" dirty="0"/>
              <a:t>計算機への命令を言葉として記述でき</a:t>
            </a:r>
            <a:r>
              <a:rPr lang="ja-GB" altLang="en-US" dirty="0"/>
              <a:t>る</a:t>
            </a:r>
            <a:r>
              <a:rPr kumimoji="1" lang="ja-GB" altLang="en-US" dirty="0"/>
              <a:t>仕組み</a:t>
            </a:r>
            <a:endParaRPr kumimoji="1" lang="en-US" altLang="ja-GB" dirty="0"/>
          </a:p>
          <a:p>
            <a:pPr marL="457200" lvl="1" indent="0">
              <a:buNone/>
            </a:pPr>
            <a:r>
              <a:rPr lang="en-US" altLang="ja-GB" dirty="0"/>
              <a:t>C</a:t>
            </a:r>
            <a:r>
              <a:rPr lang="ja-GB" altLang="en-US" dirty="0"/>
              <a:t>，</a:t>
            </a:r>
            <a:r>
              <a:rPr lang="en-US" altLang="ja-GB" dirty="0"/>
              <a:t>Java</a:t>
            </a:r>
            <a:r>
              <a:rPr lang="ja-GB" altLang="en-US" dirty="0"/>
              <a:t>，</a:t>
            </a:r>
            <a:r>
              <a:rPr lang="en-US" altLang="ja-GB" dirty="0"/>
              <a:t>Python</a:t>
            </a:r>
            <a:r>
              <a:rPr lang="ja-GB" altLang="en-US" dirty="0"/>
              <a:t>，</a:t>
            </a:r>
            <a:r>
              <a:rPr lang="en-US" altLang="ja-GB" dirty="0"/>
              <a:t>JavaScript</a:t>
            </a:r>
            <a:r>
              <a:rPr lang="ja-GB" altLang="en-US" dirty="0"/>
              <a:t>など色々な種類がある</a:t>
            </a:r>
            <a:endParaRPr kumimoji="1" lang="en-US" altLang="ja-GB" dirty="0"/>
          </a:p>
          <a:p>
            <a:pPr lvl="1"/>
            <a:endParaRPr kumimoji="1" lang="en-US" altLang="ja-GB" dirty="0"/>
          </a:p>
          <a:p>
            <a:pPr marL="457200" lvl="1" indent="0">
              <a:buNone/>
            </a:pPr>
            <a:r>
              <a:rPr kumimoji="1" lang="ja-GB" altLang="en-US" dirty="0"/>
              <a:t>例）数字当てゲームのプログラム</a:t>
            </a:r>
          </a:p>
        </p:txBody>
      </p:sp>
      <p:sp>
        <p:nvSpPr>
          <p:cNvPr id="4" name="テキスト ボックス 3">
            <a:extLst>
              <a:ext uri="{FF2B5EF4-FFF2-40B4-BE49-F238E27FC236}">
                <a16:creationId xmlns:a16="http://schemas.microsoft.com/office/drawing/2014/main" id="{BB647DE5-E970-7ABC-3278-FBEC29EE33CB}"/>
              </a:ext>
            </a:extLst>
          </p:cNvPr>
          <p:cNvSpPr txBox="1"/>
          <p:nvPr/>
        </p:nvSpPr>
        <p:spPr>
          <a:xfrm>
            <a:off x="958164" y="2433026"/>
            <a:ext cx="2816797" cy="3416320"/>
          </a:xfrm>
          <a:prstGeom prst="rect">
            <a:avLst/>
          </a:prstGeom>
          <a:noFill/>
        </p:spPr>
        <p:txBody>
          <a:bodyPr wrap="none" rtlCol="0">
            <a:spAutoFit/>
          </a:bodyPr>
          <a:lstStyle/>
          <a:p>
            <a:r>
              <a:rPr kumimoji="1" lang="ja-GB" altLang="en-US" sz="1200" b="1" dirty="0">
                <a:solidFill>
                  <a:srgbClr val="2F2523"/>
                </a:solidFill>
              </a:rPr>
              <a:t>正解</a:t>
            </a:r>
            <a:r>
              <a:rPr kumimoji="1" lang="en-US" altLang="ja-GB" sz="1200" b="1" dirty="0">
                <a:solidFill>
                  <a:srgbClr val="2F2523"/>
                </a:solidFill>
              </a:rPr>
              <a:t> = 7</a:t>
            </a:r>
          </a:p>
          <a:p>
            <a:r>
              <a:rPr kumimoji="1" lang="ja-GB" altLang="en-US" sz="1200" b="1" dirty="0">
                <a:solidFill>
                  <a:srgbClr val="2F2523"/>
                </a:solidFill>
              </a:rPr>
              <a:t>予想</a:t>
            </a:r>
            <a:r>
              <a:rPr kumimoji="1" lang="en-US" altLang="ja-GB" sz="1200" b="1" dirty="0">
                <a:solidFill>
                  <a:srgbClr val="2F2523"/>
                </a:solidFill>
              </a:rPr>
              <a:t> = </a:t>
            </a:r>
            <a:r>
              <a:rPr kumimoji="1" lang="ja-GB" altLang="en-US" sz="1200" b="1" dirty="0">
                <a:solidFill>
                  <a:srgbClr val="2F2523"/>
                </a:solidFill>
              </a:rPr>
              <a:t>入力受付</a:t>
            </a:r>
            <a:r>
              <a:rPr kumimoji="1" lang="en-US" altLang="ja-GB" sz="1200" b="1" dirty="0">
                <a:solidFill>
                  <a:srgbClr val="2F2523"/>
                </a:solidFill>
              </a:rPr>
              <a:t>()</a:t>
            </a:r>
          </a:p>
          <a:p>
            <a:r>
              <a:rPr kumimoji="1" lang="ja-GB" altLang="en-US" sz="1200" b="1" dirty="0">
                <a:solidFill>
                  <a:srgbClr val="2F2523"/>
                </a:solidFill>
              </a:rPr>
              <a:t>正解済み</a:t>
            </a:r>
            <a:r>
              <a:rPr kumimoji="1" lang="en-US" altLang="ja-GB" sz="1200" b="1" dirty="0">
                <a:solidFill>
                  <a:srgbClr val="2F2523"/>
                </a:solidFill>
              </a:rPr>
              <a:t> = </a:t>
            </a:r>
            <a:r>
              <a:rPr kumimoji="1" lang="ja-GB" altLang="en-US" sz="1200" b="1" dirty="0">
                <a:solidFill>
                  <a:srgbClr val="2F2523"/>
                </a:solidFill>
              </a:rPr>
              <a:t>偽</a:t>
            </a:r>
            <a:endParaRPr kumimoji="1" lang="en-US" altLang="ja-GB" sz="1200" b="1" dirty="0">
              <a:solidFill>
                <a:srgbClr val="2F2523"/>
              </a:solidFill>
            </a:endParaRPr>
          </a:p>
          <a:p>
            <a:endParaRPr kumimoji="1" lang="en-US" altLang="ja-GB" sz="1200" b="1" dirty="0">
              <a:solidFill>
                <a:srgbClr val="2F2523"/>
              </a:solidFill>
            </a:endParaRPr>
          </a:p>
          <a:p>
            <a:r>
              <a:rPr kumimoji="1" lang="en-US" altLang="ja-GB" sz="1200" b="1" dirty="0">
                <a:solidFill>
                  <a:srgbClr val="2F2523"/>
                </a:solidFill>
              </a:rPr>
              <a:t>(</a:t>
            </a:r>
            <a:r>
              <a:rPr kumimoji="1" lang="ja-GB" altLang="en-US" sz="1200" b="1" dirty="0">
                <a:solidFill>
                  <a:srgbClr val="2F2523"/>
                </a:solidFill>
              </a:rPr>
              <a:t>正解済み</a:t>
            </a:r>
            <a:r>
              <a:rPr kumimoji="1" lang="en-US" altLang="ja-GB" sz="1200" b="1" dirty="0">
                <a:solidFill>
                  <a:srgbClr val="2F2523"/>
                </a:solidFill>
              </a:rPr>
              <a:t> </a:t>
            </a:r>
            <a:r>
              <a:rPr kumimoji="1" lang="ja-GB" altLang="en-US" sz="1200" b="1" dirty="0">
                <a:solidFill>
                  <a:srgbClr val="2F2523"/>
                </a:solidFill>
              </a:rPr>
              <a:t>でない</a:t>
            </a:r>
            <a:r>
              <a:rPr kumimoji="1" lang="en-US" altLang="ja-GB" sz="1200" b="1" dirty="0">
                <a:solidFill>
                  <a:srgbClr val="2F2523"/>
                </a:solidFill>
              </a:rPr>
              <a:t>) </a:t>
            </a:r>
            <a:r>
              <a:rPr kumimoji="1" lang="ja-GB" altLang="en-US" sz="1200" b="1" dirty="0">
                <a:solidFill>
                  <a:srgbClr val="2F2523"/>
                </a:solidFill>
              </a:rPr>
              <a:t>間は次を繰り返す</a:t>
            </a:r>
            <a:r>
              <a:rPr kumimoji="1" lang="en-US" altLang="ja-GB" sz="1200" b="1" dirty="0">
                <a:solidFill>
                  <a:srgbClr val="2F2523"/>
                </a:solidFill>
              </a:rPr>
              <a:t>{</a:t>
            </a:r>
          </a:p>
          <a:p>
            <a:r>
              <a:rPr kumimoji="1" lang="ja-GB" altLang="en-US" sz="1200" b="1" dirty="0">
                <a:solidFill>
                  <a:srgbClr val="2F2523"/>
                </a:solidFill>
              </a:rPr>
              <a:t>　もし</a:t>
            </a:r>
            <a:r>
              <a:rPr kumimoji="1" lang="en-US" altLang="ja-GB" sz="1200" b="1" dirty="0">
                <a:solidFill>
                  <a:srgbClr val="2F2523"/>
                </a:solidFill>
              </a:rPr>
              <a:t> (</a:t>
            </a:r>
            <a:r>
              <a:rPr kumimoji="1" lang="ja-GB" altLang="en-US" sz="1200" b="1" dirty="0">
                <a:solidFill>
                  <a:srgbClr val="2F2523"/>
                </a:solidFill>
              </a:rPr>
              <a:t>予想</a:t>
            </a:r>
            <a:r>
              <a:rPr kumimoji="1" lang="en-US" altLang="ja-GB" sz="1200" b="1" dirty="0">
                <a:solidFill>
                  <a:srgbClr val="2F2523"/>
                </a:solidFill>
              </a:rPr>
              <a:t> == </a:t>
            </a:r>
            <a:r>
              <a:rPr kumimoji="1" lang="ja-GB" altLang="en-US" sz="1200" b="1" dirty="0">
                <a:solidFill>
                  <a:srgbClr val="2F2523"/>
                </a:solidFill>
              </a:rPr>
              <a:t>正解</a:t>
            </a:r>
            <a:r>
              <a:rPr kumimoji="1" lang="en-US" altLang="ja-GB" sz="1200" b="1" dirty="0">
                <a:solidFill>
                  <a:srgbClr val="2F2523"/>
                </a:solidFill>
              </a:rPr>
              <a:t>)</a:t>
            </a:r>
            <a:r>
              <a:rPr kumimoji="1" lang="ja-GB" altLang="en-US" sz="1200" b="1" dirty="0">
                <a:solidFill>
                  <a:srgbClr val="2F2523"/>
                </a:solidFill>
              </a:rPr>
              <a:t>なら</a:t>
            </a:r>
            <a:r>
              <a:rPr kumimoji="1" lang="en-US" altLang="ja-GB" sz="1200" b="1" dirty="0">
                <a:solidFill>
                  <a:srgbClr val="2F2523"/>
                </a:solidFill>
              </a:rPr>
              <a:t>{</a:t>
            </a:r>
          </a:p>
          <a:p>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画面出力</a:t>
            </a:r>
            <a:r>
              <a:rPr kumimoji="1" lang="en-US" altLang="ja-GB" sz="1200" b="1" dirty="0">
                <a:solidFill>
                  <a:schemeClr val="tx1">
                    <a:lumMod val="50000"/>
                    <a:lumOff val="50000"/>
                  </a:schemeClr>
                </a:solidFill>
              </a:rPr>
              <a:t>(“</a:t>
            </a:r>
            <a:r>
              <a:rPr kumimoji="1" lang="ja-GB" altLang="en-US" sz="1200" b="1" dirty="0">
                <a:solidFill>
                  <a:schemeClr val="tx1">
                    <a:lumMod val="50000"/>
                    <a:lumOff val="50000"/>
                  </a:schemeClr>
                </a:solidFill>
              </a:rPr>
              <a:t>正解！</a:t>
            </a:r>
            <a:r>
              <a:rPr kumimoji="1" lang="en-US" altLang="ja-GB" sz="1200" b="1" dirty="0">
                <a:solidFill>
                  <a:schemeClr val="tx1">
                    <a:lumMod val="50000"/>
                    <a:lumOff val="50000"/>
                  </a:schemeClr>
                </a:solidFill>
              </a:rPr>
              <a:t>”)</a:t>
            </a:r>
          </a:p>
          <a:p>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正解済み</a:t>
            </a:r>
            <a:r>
              <a:rPr kumimoji="1" lang="en-US" altLang="ja-GB" sz="1200" b="1" dirty="0">
                <a:solidFill>
                  <a:schemeClr val="tx1">
                    <a:lumMod val="50000"/>
                    <a:lumOff val="50000"/>
                  </a:schemeClr>
                </a:solidFill>
              </a:rPr>
              <a:t> = </a:t>
            </a:r>
            <a:r>
              <a:rPr kumimoji="1" lang="ja-GB" altLang="en-US" sz="1200" b="1" dirty="0">
                <a:solidFill>
                  <a:schemeClr val="tx1">
                    <a:lumMod val="50000"/>
                    <a:lumOff val="50000"/>
                  </a:schemeClr>
                </a:solidFill>
              </a:rPr>
              <a:t>真</a:t>
            </a:r>
            <a:endParaRPr kumimoji="1" lang="en-US" altLang="ja-GB" sz="1200" b="1" dirty="0">
              <a:solidFill>
                <a:schemeClr val="tx1">
                  <a:lumMod val="50000"/>
                  <a:lumOff val="50000"/>
                </a:schemeClr>
              </a:solidFill>
            </a:endParaRPr>
          </a:p>
          <a:p>
            <a:r>
              <a:rPr kumimoji="1" lang="ja-JP" altLang="en-US" sz="1200" b="1">
                <a:solidFill>
                  <a:srgbClr val="2F2523"/>
                </a:solidFill>
              </a:rPr>
              <a:t>　</a:t>
            </a:r>
            <a:r>
              <a:rPr kumimoji="1" lang="en-US" altLang="ja-GB" sz="1200" b="1" dirty="0">
                <a:solidFill>
                  <a:srgbClr val="2F2523"/>
                </a:solidFill>
              </a:rPr>
              <a:t>}</a:t>
            </a:r>
          </a:p>
          <a:p>
            <a:r>
              <a:rPr kumimoji="1" lang="ja-GB" altLang="en-US" sz="1200" b="1" dirty="0">
                <a:solidFill>
                  <a:srgbClr val="2F2523"/>
                </a:solidFill>
              </a:rPr>
              <a:t>　もし</a:t>
            </a:r>
            <a:r>
              <a:rPr kumimoji="1" lang="en-US" altLang="ja-GB" sz="1200" b="1" dirty="0">
                <a:solidFill>
                  <a:srgbClr val="2F2523"/>
                </a:solidFill>
              </a:rPr>
              <a:t>(</a:t>
            </a:r>
            <a:r>
              <a:rPr kumimoji="1" lang="ja-GB" altLang="en-US" sz="1200" b="1" dirty="0">
                <a:solidFill>
                  <a:srgbClr val="2F2523"/>
                </a:solidFill>
              </a:rPr>
              <a:t>予想</a:t>
            </a:r>
            <a:r>
              <a:rPr kumimoji="1" lang="en-US" altLang="ja-GB" sz="1200" b="1" dirty="0">
                <a:solidFill>
                  <a:srgbClr val="2F2523"/>
                </a:solidFill>
              </a:rPr>
              <a:t> &gt; </a:t>
            </a:r>
            <a:r>
              <a:rPr kumimoji="1" lang="ja-GB" altLang="en-US" sz="1200" b="1" dirty="0">
                <a:solidFill>
                  <a:srgbClr val="2F2523"/>
                </a:solidFill>
              </a:rPr>
              <a:t>正解</a:t>
            </a:r>
            <a:r>
              <a:rPr kumimoji="1" lang="en-US" altLang="ja-GB" sz="1200" b="1" dirty="0">
                <a:solidFill>
                  <a:srgbClr val="2F2523"/>
                </a:solidFill>
              </a:rPr>
              <a:t>)</a:t>
            </a:r>
            <a:r>
              <a:rPr kumimoji="1" lang="ja-GB" altLang="en-US" sz="1200" b="1" dirty="0">
                <a:solidFill>
                  <a:srgbClr val="2F2523"/>
                </a:solidFill>
              </a:rPr>
              <a:t>なら </a:t>
            </a:r>
            <a:r>
              <a:rPr kumimoji="1" lang="en-US" altLang="ja-GB" sz="1200" b="1" dirty="0">
                <a:solidFill>
                  <a:srgbClr val="2F2523"/>
                </a:solidFill>
              </a:rPr>
              <a:t>{</a:t>
            </a:r>
            <a:br>
              <a:rPr kumimoji="1" lang="en-US" altLang="ja-GB" sz="1200" b="1" dirty="0">
                <a:solidFill>
                  <a:srgbClr val="2F2523"/>
                </a:solidFill>
              </a:rPr>
            </a:br>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画面出力</a:t>
            </a:r>
            <a:r>
              <a:rPr kumimoji="1" lang="en-US" altLang="ja-GB" sz="1200" b="1" dirty="0">
                <a:solidFill>
                  <a:schemeClr val="tx1">
                    <a:lumMod val="50000"/>
                    <a:lumOff val="50000"/>
                  </a:schemeClr>
                </a:solidFill>
              </a:rPr>
              <a:t>(“</a:t>
            </a:r>
            <a:r>
              <a:rPr kumimoji="1" lang="ja-GB" altLang="en-US" sz="1200" b="1" dirty="0">
                <a:solidFill>
                  <a:schemeClr val="tx1">
                    <a:lumMod val="50000"/>
                    <a:lumOff val="50000"/>
                  </a:schemeClr>
                </a:solidFill>
              </a:rPr>
              <a:t>もっと小さいです！</a:t>
            </a:r>
            <a:r>
              <a:rPr kumimoji="1" lang="en-US" altLang="ja-GB" sz="1200" b="1" dirty="0">
                <a:solidFill>
                  <a:schemeClr val="tx1">
                    <a:lumMod val="50000"/>
                    <a:lumOff val="50000"/>
                  </a:schemeClr>
                </a:solidFill>
              </a:rPr>
              <a:t>”)</a:t>
            </a:r>
          </a:p>
          <a:p>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予想</a:t>
            </a:r>
            <a:r>
              <a:rPr kumimoji="1" lang="en-US" altLang="ja-GB" sz="1200" b="1" dirty="0">
                <a:solidFill>
                  <a:schemeClr val="tx1">
                    <a:lumMod val="50000"/>
                    <a:lumOff val="50000"/>
                  </a:schemeClr>
                </a:solidFill>
              </a:rPr>
              <a:t> = </a:t>
            </a:r>
            <a:r>
              <a:rPr kumimoji="1" lang="ja-GB" altLang="en-US" sz="1200" b="1" dirty="0">
                <a:solidFill>
                  <a:schemeClr val="tx1">
                    <a:lumMod val="50000"/>
                    <a:lumOff val="50000"/>
                  </a:schemeClr>
                </a:solidFill>
              </a:rPr>
              <a:t>入力受付</a:t>
            </a:r>
            <a:r>
              <a:rPr kumimoji="1" lang="en-US" altLang="ja-GB" sz="1200" b="1" dirty="0">
                <a:solidFill>
                  <a:schemeClr val="tx1">
                    <a:lumMod val="50000"/>
                    <a:lumOff val="50000"/>
                  </a:schemeClr>
                </a:solidFill>
              </a:rPr>
              <a:t>()</a:t>
            </a:r>
          </a:p>
          <a:p>
            <a:r>
              <a:rPr kumimoji="1" lang="ja-JP" altLang="en-US" sz="1200" b="1">
                <a:solidFill>
                  <a:srgbClr val="2F2523"/>
                </a:solidFill>
              </a:rPr>
              <a:t>　</a:t>
            </a:r>
            <a:r>
              <a:rPr kumimoji="1" lang="en-US" altLang="ja-GB" sz="1200" b="1" dirty="0">
                <a:solidFill>
                  <a:srgbClr val="2F2523"/>
                </a:solidFill>
              </a:rPr>
              <a:t>}</a:t>
            </a:r>
          </a:p>
          <a:p>
            <a:r>
              <a:rPr kumimoji="1" lang="ja-GB" altLang="en-US" sz="1200" b="1" dirty="0">
                <a:solidFill>
                  <a:srgbClr val="2F2523"/>
                </a:solidFill>
              </a:rPr>
              <a:t>　もし</a:t>
            </a:r>
            <a:r>
              <a:rPr kumimoji="1" lang="en-US" altLang="ja-GB" sz="1200" b="1" dirty="0">
                <a:solidFill>
                  <a:srgbClr val="2F2523"/>
                </a:solidFill>
              </a:rPr>
              <a:t>(</a:t>
            </a:r>
            <a:r>
              <a:rPr kumimoji="1" lang="ja-GB" altLang="en-US" sz="1200" b="1" dirty="0">
                <a:solidFill>
                  <a:srgbClr val="2F2523"/>
                </a:solidFill>
              </a:rPr>
              <a:t>予想</a:t>
            </a:r>
            <a:r>
              <a:rPr kumimoji="1" lang="en-US" altLang="ja-GB" sz="1200" b="1" dirty="0">
                <a:solidFill>
                  <a:srgbClr val="2F2523"/>
                </a:solidFill>
              </a:rPr>
              <a:t> &lt; </a:t>
            </a:r>
            <a:r>
              <a:rPr kumimoji="1" lang="ja-GB" altLang="en-US" sz="1200" b="1" dirty="0">
                <a:solidFill>
                  <a:srgbClr val="2F2523"/>
                </a:solidFill>
              </a:rPr>
              <a:t>正解</a:t>
            </a:r>
            <a:r>
              <a:rPr kumimoji="1" lang="en-US" altLang="ja-GB" sz="1200" b="1" dirty="0">
                <a:solidFill>
                  <a:srgbClr val="2F2523"/>
                </a:solidFill>
              </a:rPr>
              <a:t>)</a:t>
            </a:r>
            <a:r>
              <a:rPr kumimoji="1" lang="ja-GB" altLang="en-US" sz="1200" b="1" dirty="0">
                <a:solidFill>
                  <a:srgbClr val="2F2523"/>
                </a:solidFill>
              </a:rPr>
              <a:t>なら </a:t>
            </a:r>
            <a:r>
              <a:rPr kumimoji="1" lang="en-US" altLang="ja-GB" sz="1200" b="1" dirty="0">
                <a:solidFill>
                  <a:srgbClr val="2F2523"/>
                </a:solidFill>
              </a:rPr>
              <a:t>{</a:t>
            </a:r>
          </a:p>
          <a:p>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画面出力</a:t>
            </a:r>
            <a:r>
              <a:rPr kumimoji="1" lang="en-US" altLang="ja-GB" sz="1200" b="1" dirty="0">
                <a:solidFill>
                  <a:schemeClr val="tx1">
                    <a:lumMod val="50000"/>
                    <a:lumOff val="50000"/>
                  </a:schemeClr>
                </a:solidFill>
              </a:rPr>
              <a:t>(“</a:t>
            </a:r>
            <a:r>
              <a:rPr kumimoji="1" lang="ja-GB" altLang="en-US" sz="1200" b="1" dirty="0">
                <a:solidFill>
                  <a:schemeClr val="tx1">
                    <a:lumMod val="50000"/>
                    <a:lumOff val="50000"/>
                  </a:schemeClr>
                </a:solidFill>
              </a:rPr>
              <a:t>もっと大きいです！</a:t>
            </a:r>
            <a:r>
              <a:rPr kumimoji="1" lang="en-US" altLang="ja-GB" sz="1200" b="1" dirty="0">
                <a:solidFill>
                  <a:schemeClr val="tx1">
                    <a:lumMod val="50000"/>
                    <a:lumOff val="50000"/>
                  </a:schemeClr>
                </a:solidFill>
              </a:rPr>
              <a:t>”)</a:t>
            </a:r>
          </a:p>
          <a:p>
            <a:r>
              <a:rPr kumimoji="1" lang="ja-JP" altLang="en-US" sz="1200" b="1">
                <a:solidFill>
                  <a:schemeClr val="tx1">
                    <a:lumMod val="50000"/>
                    <a:lumOff val="50000"/>
                  </a:schemeClr>
                </a:solidFill>
              </a:rPr>
              <a:t>　　</a:t>
            </a:r>
            <a:r>
              <a:rPr kumimoji="1" lang="ja-GB" altLang="en-US" sz="1200" b="1" dirty="0">
                <a:solidFill>
                  <a:schemeClr val="tx1">
                    <a:lumMod val="50000"/>
                    <a:lumOff val="50000"/>
                  </a:schemeClr>
                </a:solidFill>
              </a:rPr>
              <a:t>予想</a:t>
            </a:r>
            <a:r>
              <a:rPr kumimoji="1" lang="en-US" altLang="ja-GB" sz="1200" b="1" dirty="0">
                <a:solidFill>
                  <a:schemeClr val="tx1">
                    <a:lumMod val="50000"/>
                    <a:lumOff val="50000"/>
                  </a:schemeClr>
                </a:solidFill>
              </a:rPr>
              <a:t> = </a:t>
            </a:r>
            <a:r>
              <a:rPr kumimoji="1" lang="ja-GB" altLang="en-US" sz="1200" b="1" dirty="0">
                <a:solidFill>
                  <a:schemeClr val="tx1">
                    <a:lumMod val="50000"/>
                    <a:lumOff val="50000"/>
                  </a:schemeClr>
                </a:solidFill>
              </a:rPr>
              <a:t>入力受付</a:t>
            </a:r>
            <a:r>
              <a:rPr kumimoji="1" lang="en-US" altLang="ja-GB" sz="1200" b="1" dirty="0">
                <a:solidFill>
                  <a:schemeClr val="tx1">
                    <a:lumMod val="50000"/>
                    <a:lumOff val="50000"/>
                  </a:schemeClr>
                </a:solidFill>
              </a:rPr>
              <a:t>()</a:t>
            </a:r>
          </a:p>
          <a:p>
            <a:r>
              <a:rPr kumimoji="1" lang="ja-JP" altLang="en-US" sz="1200" b="1">
                <a:solidFill>
                  <a:srgbClr val="2F2523"/>
                </a:solidFill>
              </a:rPr>
              <a:t>　</a:t>
            </a:r>
            <a:r>
              <a:rPr kumimoji="1" lang="en-US" altLang="ja-GB" sz="1200" b="1" dirty="0">
                <a:solidFill>
                  <a:srgbClr val="2F2523"/>
                </a:solidFill>
              </a:rPr>
              <a:t>}</a:t>
            </a:r>
          </a:p>
          <a:p>
            <a:r>
              <a:rPr kumimoji="1" lang="en-US" altLang="ja-GB" sz="1200" b="1" dirty="0">
                <a:solidFill>
                  <a:srgbClr val="2F2523"/>
                </a:solidFill>
              </a:rPr>
              <a:t>}</a:t>
            </a:r>
            <a:endParaRPr kumimoji="1" lang="ja-GB" altLang="en-US" sz="1200" b="1" dirty="0">
              <a:solidFill>
                <a:srgbClr val="2F2523"/>
              </a:solidFill>
            </a:endParaRPr>
          </a:p>
        </p:txBody>
      </p:sp>
      <p:sp>
        <p:nvSpPr>
          <p:cNvPr id="5" name="テキスト ボックス 4">
            <a:extLst>
              <a:ext uri="{FF2B5EF4-FFF2-40B4-BE49-F238E27FC236}">
                <a16:creationId xmlns:a16="http://schemas.microsoft.com/office/drawing/2014/main" id="{E60327CA-DF6C-393C-9123-3039017FD443}"/>
              </a:ext>
            </a:extLst>
          </p:cNvPr>
          <p:cNvSpPr txBox="1"/>
          <p:nvPr/>
        </p:nvSpPr>
        <p:spPr>
          <a:xfrm>
            <a:off x="4456038" y="2433026"/>
            <a:ext cx="3581622" cy="3046988"/>
          </a:xfrm>
          <a:prstGeom prst="rect">
            <a:avLst/>
          </a:prstGeom>
          <a:noFill/>
        </p:spPr>
        <p:txBody>
          <a:bodyPr wrap="none" rtlCol="0">
            <a:spAutoFit/>
          </a:bodyPr>
          <a:lstStyle/>
          <a:p>
            <a:r>
              <a:rPr kumimoji="1" lang="en-US" altLang="ja-GB" sz="1200" b="1" dirty="0" err="1"/>
              <a:t>correct_answer</a:t>
            </a:r>
            <a:r>
              <a:rPr kumimoji="1" lang="en-US" altLang="ja-GB" sz="1200" b="1" dirty="0"/>
              <a:t> = 7</a:t>
            </a:r>
          </a:p>
          <a:p>
            <a:r>
              <a:rPr kumimoji="1" lang="en-US" altLang="ja-GB" sz="1200" b="1" dirty="0"/>
              <a:t>guess = int(input("</a:t>
            </a:r>
            <a:r>
              <a:rPr kumimoji="1" lang="ja-JP" altLang="en-US" sz="1200" b="1"/>
              <a:t>数字を予想してください</a:t>
            </a:r>
            <a:r>
              <a:rPr kumimoji="1" lang="en-US" altLang="ja-JP" sz="1200" b="1" dirty="0"/>
              <a:t>: "))</a:t>
            </a:r>
          </a:p>
          <a:p>
            <a:r>
              <a:rPr kumimoji="1" lang="en-US" altLang="ja-GB" sz="1200" b="1" dirty="0" err="1"/>
              <a:t>is_correct</a:t>
            </a:r>
            <a:r>
              <a:rPr kumimoji="1" lang="en-US" altLang="ja-GB" sz="1200" b="1" dirty="0"/>
              <a:t> = False</a:t>
            </a:r>
          </a:p>
          <a:p>
            <a:endParaRPr kumimoji="1" lang="en-US" altLang="ja-GB" sz="1200" b="1" dirty="0"/>
          </a:p>
          <a:p>
            <a:r>
              <a:rPr kumimoji="1" lang="en-US" altLang="ja-GB" sz="1200" b="1" dirty="0"/>
              <a:t>while not </a:t>
            </a:r>
            <a:r>
              <a:rPr kumimoji="1" lang="en-US" altLang="ja-GB" sz="1200" b="1" dirty="0" err="1"/>
              <a:t>is_correct</a:t>
            </a:r>
            <a:r>
              <a:rPr kumimoji="1" lang="en-US" altLang="ja-GB" sz="1200" b="1" dirty="0"/>
              <a:t>:</a:t>
            </a:r>
          </a:p>
          <a:p>
            <a:r>
              <a:rPr kumimoji="1" lang="en-US" altLang="ja-GB" sz="1200" b="1" dirty="0"/>
              <a:t>    if guess == </a:t>
            </a:r>
            <a:r>
              <a:rPr kumimoji="1" lang="en-US" altLang="ja-GB" sz="1200" b="1" dirty="0" err="1"/>
              <a:t>correct_answer</a:t>
            </a:r>
            <a:r>
              <a:rPr kumimoji="1" lang="en-US" altLang="ja-GB" sz="1200" b="1" dirty="0"/>
              <a:t>:</a:t>
            </a:r>
          </a:p>
          <a:p>
            <a:r>
              <a:rPr kumimoji="1" lang="en-US" altLang="ja-GB" sz="1200" b="1" dirty="0"/>
              <a:t>        print("</a:t>
            </a:r>
            <a:r>
              <a:rPr kumimoji="1" lang="ja-JP" altLang="en-US" sz="1200" b="1"/>
              <a:t>正解！</a:t>
            </a:r>
            <a:r>
              <a:rPr kumimoji="1" lang="en-US" altLang="ja-JP" sz="1200" b="1" dirty="0"/>
              <a:t>")</a:t>
            </a:r>
          </a:p>
          <a:p>
            <a:r>
              <a:rPr kumimoji="1" lang="en-US" altLang="ja-JP" sz="1200" b="1" dirty="0"/>
              <a:t>        </a:t>
            </a:r>
            <a:r>
              <a:rPr kumimoji="1" lang="en-US" altLang="ja-GB" sz="1200" b="1" dirty="0" err="1"/>
              <a:t>is_correct</a:t>
            </a:r>
            <a:r>
              <a:rPr kumimoji="1" lang="en-US" altLang="ja-GB" sz="1200" b="1" dirty="0"/>
              <a:t> = True</a:t>
            </a:r>
          </a:p>
          <a:p>
            <a:endParaRPr kumimoji="1" lang="en-US" altLang="ja-GB" sz="1200" b="1" dirty="0"/>
          </a:p>
          <a:p>
            <a:r>
              <a:rPr kumimoji="1" lang="en-US" altLang="ja-GB" sz="1200" b="1" dirty="0"/>
              <a:t>    if guess &gt; </a:t>
            </a:r>
            <a:r>
              <a:rPr kumimoji="1" lang="en-US" altLang="ja-GB" sz="1200" b="1" dirty="0" err="1"/>
              <a:t>correct_answer</a:t>
            </a:r>
            <a:r>
              <a:rPr kumimoji="1" lang="en-US" altLang="ja-GB" sz="1200" b="1" dirty="0"/>
              <a:t>:</a:t>
            </a:r>
          </a:p>
          <a:p>
            <a:r>
              <a:rPr kumimoji="1" lang="en-US" altLang="ja-GB" sz="1200" b="1" dirty="0"/>
              <a:t>        print("</a:t>
            </a:r>
            <a:r>
              <a:rPr kumimoji="1" lang="ja-JP" altLang="en-US" sz="1200" b="1"/>
              <a:t>もっと小さいです！</a:t>
            </a:r>
            <a:r>
              <a:rPr kumimoji="1" lang="en-US" altLang="ja-JP" sz="1200" b="1" dirty="0"/>
              <a:t>")</a:t>
            </a:r>
          </a:p>
          <a:p>
            <a:r>
              <a:rPr kumimoji="1" lang="en-US" altLang="ja-JP" sz="1200" b="1" dirty="0"/>
              <a:t>        </a:t>
            </a:r>
            <a:r>
              <a:rPr kumimoji="1" lang="en-US" altLang="ja-GB" sz="1200" b="1" dirty="0"/>
              <a:t>guess = int(input("</a:t>
            </a:r>
            <a:r>
              <a:rPr kumimoji="1" lang="ja-JP" altLang="en-US" sz="1200" b="1"/>
              <a:t>数字を予想してください</a:t>
            </a:r>
            <a:r>
              <a:rPr kumimoji="1" lang="en-US" altLang="ja-JP" sz="1200" b="1" dirty="0"/>
              <a:t>: "))</a:t>
            </a:r>
          </a:p>
          <a:p>
            <a:endParaRPr kumimoji="1" lang="en-US" altLang="ja-JP" sz="1200" b="1" dirty="0"/>
          </a:p>
          <a:p>
            <a:r>
              <a:rPr kumimoji="1" lang="en-US" altLang="ja-JP" sz="1200" b="1" dirty="0"/>
              <a:t>    </a:t>
            </a:r>
            <a:r>
              <a:rPr kumimoji="1" lang="en-US" altLang="ja-GB" sz="1200" b="1" dirty="0"/>
              <a:t>if guess &lt; </a:t>
            </a:r>
            <a:r>
              <a:rPr kumimoji="1" lang="en-US" altLang="ja-GB" sz="1200" b="1" dirty="0" err="1"/>
              <a:t>correct_answer</a:t>
            </a:r>
            <a:r>
              <a:rPr kumimoji="1" lang="en-US" altLang="ja-GB" sz="1200" b="1" dirty="0"/>
              <a:t>:</a:t>
            </a:r>
          </a:p>
          <a:p>
            <a:r>
              <a:rPr kumimoji="1" lang="en-US" altLang="ja-GB" sz="1200" b="1" dirty="0"/>
              <a:t>        print("</a:t>
            </a:r>
            <a:r>
              <a:rPr kumimoji="1" lang="ja-JP" altLang="en-US" sz="1200" b="1"/>
              <a:t>もっと大きいです！</a:t>
            </a:r>
            <a:r>
              <a:rPr kumimoji="1" lang="en-US" altLang="ja-JP" sz="1200" b="1" dirty="0"/>
              <a:t>")</a:t>
            </a:r>
          </a:p>
          <a:p>
            <a:r>
              <a:rPr kumimoji="1" lang="en-US" altLang="ja-JP" sz="1200" b="1" dirty="0"/>
              <a:t>        </a:t>
            </a:r>
            <a:r>
              <a:rPr kumimoji="1" lang="en-US" altLang="ja-GB" sz="1200" b="1" dirty="0"/>
              <a:t>guess = int(input("</a:t>
            </a:r>
            <a:r>
              <a:rPr kumimoji="1" lang="ja-JP" altLang="en-US" sz="1200" b="1"/>
              <a:t>数字を予想してください</a:t>
            </a:r>
            <a:r>
              <a:rPr kumimoji="1" lang="en-US" altLang="ja-JP" sz="1200" b="1" dirty="0"/>
              <a:t>: "))</a:t>
            </a:r>
            <a:endParaRPr kumimoji="1" lang="ja-GB" altLang="en-US" sz="1200" b="1" dirty="0"/>
          </a:p>
        </p:txBody>
      </p:sp>
      <p:sp>
        <p:nvSpPr>
          <p:cNvPr id="6" name="テキスト ボックス 5">
            <a:extLst>
              <a:ext uri="{FF2B5EF4-FFF2-40B4-BE49-F238E27FC236}">
                <a16:creationId xmlns:a16="http://schemas.microsoft.com/office/drawing/2014/main" id="{25E7C6EE-B7CE-D1E9-6038-645758559735}"/>
              </a:ext>
            </a:extLst>
          </p:cNvPr>
          <p:cNvSpPr txBox="1"/>
          <p:nvPr/>
        </p:nvSpPr>
        <p:spPr>
          <a:xfrm>
            <a:off x="1299604" y="5849346"/>
            <a:ext cx="2518639" cy="307777"/>
          </a:xfrm>
          <a:prstGeom prst="rect">
            <a:avLst/>
          </a:prstGeom>
          <a:noFill/>
        </p:spPr>
        <p:txBody>
          <a:bodyPr wrap="none" rtlCol="0">
            <a:spAutoFit/>
          </a:bodyPr>
          <a:lstStyle/>
          <a:p>
            <a:pPr algn="ctr"/>
            <a:r>
              <a:rPr kumimoji="1" lang="ja-GB" altLang="en-US" sz="1400" b="1" dirty="0">
                <a:solidFill>
                  <a:schemeClr val="tx1">
                    <a:lumMod val="50000"/>
                    <a:lumOff val="50000"/>
                  </a:schemeClr>
                </a:solidFill>
              </a:rPr>
              <a:t>日本語の疑似プログラムの例</a:t>
            </a:r>
          </a:p>
        </p:txBody>
      </p:sp>
      <p:sp>
        <p:nvSpPr>
          <p:cNvPr id="7" name="テキスト ボックス 6">
            <a:extLst>
              <a:ext uri="{FF2B5EF4-FFF2-40B4-BE49-F238E27FC236}">
                <a16:creationId xmlns:a16="http://schemas.microsoft.com/office/drawing/2014/main" id="{FEC31EAB-0655-334F-D0F2-8239E9F9F6E3}"/>
              </a:ext>
            </a:extLst>
          </p:cNvPr>
          <p:cNvSpPr txBox="1"/>
          <p:nvPr/>
        </p:nvSpPr>
        <p:spPr>
          <a:xfrm>
            <a:off x="5259239" y="5849346"/>
            <a:ext cx="2698175" cy="523220"/>
          </a:xfrm>
          <a:prstGeom prst="rect">
            <a:avLst/>
          </a:prstGeom>
          <a:noFill/>
        </p:spPr>
        <p:txBody>
          <a:bodyPr wrap="none" rtlCol="0">
            <a:spAutoFit/>
          </a:bodyPr>
          <a:lstStyle/>
          <a:p>
            <a:pPr algn="ctr"/>
            <a:r>
              <a:rPr kumimoji="1" lang="ja-GB" altLang="en-US" sz="1400" b="1" dirty="0">
                <a:solidFill>
                  <a:schemeClr val="tx1">
                    <a:lumMod val="50000"/>
                    <a:lumOff val="50000"/>
                  </a:schemeClr>
                </a:solidFill>
              </a:rPr>
              <a:t>実際に動作するプログラムの例</a:t>
            </a:r>
            <a:endParaRPr kumimoji="1" lang="en-US" altLang="ja-GB" sz="1400" b="1" dirty="0">
              <a:solidFill>
                <a:schemeClr val="tx1">
                  <a:lumMod val="50000"/>
                  <a:lumOff val="50000"/>
                </a:schemeClr>
              </a:solidFill>
            </a:endParaRPr>
          </a:p>
          <a:p>
            <a:pPr algn="ctr"/>
            <a:r>
              <a:rPr kumimoji="1" lang="en-US" altLang="ja-GB" sz="1400" b="1" dirty="0">
                <a:solidFill>
                  <a:schemeClr val="tx1">
                    <a:lumMod val="50000"/>
                    <a:lumOff val="50000"/>
                  </a:schemeClr>
                </a:solidFill>
              </a:rPr>
              <a:t>(Python)</a:t>
            </a:r>
            <a:endParaRPr kumimoji="1" lang="ja-GB" altLang="en-US" sz="1400" b="1" dirty="0">
              <a:solidFill>
                <a:schemeClr val="tx1">
                  <a:lumMod val="50000"/>
                  <a:lumOff val="50000"/>
                </a:schemeClr>
              </a:solidFill>
            </a:endParaRPr>
          </a:p>
        </p:txBody>
      </p:sp>
    </p:spTree>
    <p:extLst>
      <p:ext uri="{BB962C8B-B14F-4D97-AF65-F5344CB8AC3E}">
        <p14:creationId xmlns:p14="http://schemas.microsoft.com/office/powerpoint/2010/main" val="308619140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C5AC2E-EA91-E3C5-FE7F-ED3FFFFBC81B}"/>
              </a:ext>
            </a:extLst>
          </p:cNvPr>
          <p:cNvSpPr>
            <a:spLocks noGrp="1"/>
          </p:cNvSpPr>
          <p:nvPr>
            <p:ph type="title"/>
          </p:nvPr>
        </p:nvSpPr>
        <p:spPr/>
        <p:txBody>
          <a:bodyPr/>
          <a:lstStyle/>
          <a:p>
            <a:r>
              <a:rPr lang="ja-GB" altLang="en-US" dirty="0"/>
              <a:t>ビジュアルプログラミング言語</a:t>
            </a:r>
            <a:r>
              <a:rPr lang="en-US" altLang="ja-GB" dirty="0"/>
              <a:t>1</a:t>
            </a:r>
            <a:r>
              <a:rPr lang="ja-GB" altLang="en-US" dirty="0"/>
              <a:t>：ブロック型</a:t>
            </a:r>
            <a:endParaRPr kumimoji="1" lang="ja-GB" altLang="en-US" dirty="0"/>
          </a:p>
        </p:txBody>
      </p:sp>
      <p:sp>
        <p:nvSpPr>
          <p:cNvPr id="3" name="コンテンツ プレースホルダー 2">
            <a:extLst>
              <a:ext uri="{FF2B5EF4-FFF2-40B4-BE49-F238E27FC236}">
                <a16:creationId xmlns:a16="http://schemas.microsoft.com/office/drawing/2014/main" id="{821B2292-C9D5-EAF0-3D63-0DBB6D9014BB}"/>
              </a:ext>
            </a:extLst>
          </p:cNvPr>
          <p:cNvSpPr>
            <a:spLocks noGrp="1"/>
          </p:cNvSpPr>
          <p:nvPr>
            <p:ph idx="1"/>
          </p:nvPr>
        </p:nvSpPr>
        <p:spPr/>
        <p:txBody>
          <a:bodyPr/>
          <a:lstStyle/>
          <a:p>
            <a:pPr marL="0" indent="0">
              <a:buNone/>
            </a:pPr>
            <a:r>
              <a:rPr lang="ja-GB" altLang="en-US" dirty="0"/>
              <a:t>命令のブロックを並べて処理を記述する方法</a:t>
            </a:r>
            <a:endParaRPr lang="en-US" altLang="ja-GB" dirty="0"/>
          </a:p>
          <a:p>
            <a:pPr marL="457200" lvl="1" indent="0">
              <a:buNone/>
            </a:pPr>
            <a:r>
              <a:rPr kumimoji="1" lang="ja-GB" altLang="en-US" dirty="0"/>
              <a:t>例）</a:t>
            </a:r>
            <a:r>
              <a:rPr lang="en-US" altLang="ja-GB" dirty="0"/>
              <a:t>S</a:t>
            </a:r>
            <a:r>
              <a:rPr kumimoji="1" lang="en-US" altLang="ja-GB" dirty="0"/>
              <a:t>cratch</a:t>
            </a:r>
            <a:endParaRPr kumimoji="1" lang="ja-GB" altLang="en-US" dirty="0"/>
          </a:p>
        </p:txBody>
      </p:sp>
      <p:pic>
        <p:nvPicPr>
          <p:cNvPr id="8194" name="Picture 2">
            <a:extLst>
              <a:ext uri="{FF2B5EF4-FFF2-40B4-BE49-F238E27FC236}">
                <a16:creationId xmlns:a16="http://schemas.microsoft.com/office/drawing/2014/main" id="{F2557F45-17D2-5886-2A46-1993C8EB9C8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74407" y="2028321"/>
            <a:ext cx="7595184" cy="3626173"/>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1EB4E930-2247-E62A-C35D-9614B92BF7CB}"/>
              </a:ext>
            </a:extLst>
          </p:cNvPr>
          <p:cNvSpPr txBox="1"/>
          <p:nvPr/>
        </p:nvSpPr>
        <p:spPr>
          <a:xfrm>
            <a:off x="1329766" y="5850040"/>
            <a:ext cx="6484467" cy="523220"/>
          </a:xfrm>
          <a:prstGeom prst="rect">
            <a:avLst/>
          </a:prstGeom>
          <a:noFill/>
        </p:spPr>
        <p:txBody>
          <a:bodyPr wrap="none" rtlCol="0">
            <a:spAutoFit/>
          </a:bodyPr>
          <a:lstStyle/>
          <a:p>
            <a:pPr algn="ctr"/>
            <a:r>
              <a:rPr kumimoji="1" lang="ja-JP" altLang="en-US" sz="1400">
                <a:solidFill>
                  <a:schemeClr val="tx1">
                    <a:lumMod val="50000"/>
                    <a:lumOff val="50000"/>
                  </a:schemeClr>
                </a:solidFill>
              </a:rPr>
              <a:t>出典：「</a:t>
            </a:r>
            <a:r>
              <a:rPr kumimoji="1" lang="en-GB" altLang="ja-GB" sz="1400" dirty="0">
                <a:solidFill>
                  <a:schemeClr val="tx1">
                    <a:lumMod val="50000"/>
                    <a:lumOff val="50000"/>
                  </a:schemeClr>
                </a:solidFill>
              </a:rPr>
              <a:t>Scratch</a:t>
            </a:r>
            <a:r>
              <a:rPr kumimoji="1" lang="ja-GB" altLang="en-GB" sz="1400" dirty="0">
                <a:solidFill>
                  <a:schemeClr val="tx1">
                    <a:lumMod val="50000"/>
                    <a:lumOff val="50000"/>
                  </a:schemeClr>
                </a:solidFill>
              </a:rPr>
              <a:t>」（</a:t>
            </a:r>
            <a:r>
              <a:rPr kumimoji="1" lang="ja-JP" altLang="en-US" sz="1400">
                <a:solidFill>
                  <a:schemeClr val="tx1">
                    <a:lumMod val="50000"/>
                    <a:lumOff val="50000"/>
                  </a:schemeClr>
                </a:solidFill>
              </a:rPr>
              <a:t>小学校を中心としたプログラミング教育ポータル），</a:t>
            </a:r>
            <a:br>
              <a:rPr kumimoji="1" lang="en-US" altLang="ja-JP" sz="1400" dirty="0">
                <a:solidFill>
                  <a:schemeClr val="tx1">
                    <a:lumMod val="50000"/>
                    <a:lumOff val="50000"/>
                  </a:schemeClr>
                </a:solidFill>
              </a:rPr>
            </a:br>
            <a:r>
              <a:rPr kumimoji="1" lang="ja-JP" altLang="en-US" sz="1400">
                <a:solidFill>
                  <a:schemeClr val="tx1">
                    <a:lumMod val="50000"/>
                    <a:lumOff val="50000"/>
                  </a:schemeClr>
                </a:solidFill>
              </a:rPr>
              <a:t> </a:t>
            </a:r>
            <a:r>
              <a:rPr kumimoji="1" lang="en-GB" altLang="ja-GB" sz="14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https://www.mext.go.jp/miraino_manabi/content/285.html</a:t>
            </a:r>
            <a:r>
              <a:rPr kumimoji="1" lang="en-GB" altLang="ja-GB" sz="1400" dirty="0">
                <a:solidFill>
                  <a:schemeClr val="tx1">
                    <a:lumMod val="50000"/>
                    <a:lumOff val="50000"/>
                  </a:schemeClr>
                </a:solidFill>
              </a:rPr>
              <a:t>  </a:t>
            </a:r>
            <a:r>
              <a:rPr kumimoji="1" lang="ja-GB" altLang="en-GB" sz="1400" dirty="0">
                <a:solidFill>
                  <a:schemeClr val="tx1">
                    <a:lumMod val="50000"/>
                    <a:lumOff val="50000"/>
                  </a:schemeClr>
                </a:solidFill>
              </a:rPr>
              <a:t>（</a:t>
            </a:r>
            <a:r>
              <a:rPr kumimoji="1" lang="en-GB" altLang="ja-GB" sz="1400" dirty="0">
                <a:solidFill>
                  <a:schemeClr val="tx1">
                    <a:lumMod val="50000"/>
                    <a:lumOff val="50000"/>
                  </a:schemeClr>
                </a:solidFill>
              </a:rPr>
              <a:t>2025/05/22 </a:t>
            </a:r>
            <a:r>
              <a:rPr kumimoji="1" lang="ja-JP" altLang="en-US" sz="1400">
                <a:solidFill>
                  <a:schemeClr val="tx1">
                    <a:lumMod val="50000"/>
                    <a:lumOff val="50000"/>
                  </a:schemeClr>
                </a:solidFill>
              </a:rPr>
              <a:t>に利用）</a:t>
            </a:r>
            <a:endParaRPr kumimoji="1" lang="ja-GB" altLang="en-US" sz="1400" dirty="0">
              <a:solidFill>
                <a:schemeClr val="tx1">
                  <a:lumMod val="50000"/>
                  <a:lumOff val="50000"/>
                </a:schemeClr>
              </a:solidFill>
            </a:endParaRPr>
          </a:p>
        </p:txBody>
      </p:sp>
    </p:spTree>
    <p:extLst>
      <p:ext uri="{BB962C8B-B14F-4D97-AF65-F5344CB8AC3E}">
        <p14:creationId xmlns:p14="http://schemas.microsoft.com/office/powerpoint/2010/main" val="422134101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EC5C-290D-A39C-D156-006D5DF0B0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0BD708-86CD-E9B5-CD79-D7D55F7EF17E}"/>
              </a:ext>
            </a:extLst>
          </p:cNvPr>
          <p:cNvSpPr>
            <a:spLocks noGrp="1"/>
          </p:cNvSpPr>
          <p:nvPr>
            <p:ph type="title"/>
          </p:nvPr>
        </p:nvSpPr>
        <p:spPr/>
        <p:txBody>
          <a:bodyPr/>
          <a:lstStyle/>
          <a:p>
            <a:r>
              <a:rPr kumimoji="1" lang="ja-GB" altLang="en-US" dirty="0"/>
              <a:t>ビジュアルプログラミング言語</a:t>
            </a:r>
            <a:r>
              <a:rPr kumimoji="1" lang="en-US" altLang="ja-GB" dirty="0"/>
              <a:t>2</a:t>
            </a:r>
            <a:r>
              <a:rPr kumimoji="1" lang="ja-GB" altLang="en-US" dirty="0"/>
              <a:t>：フロー型</a:t>
            </a:r>
          </a:p>
        </p:txBody>
      </p:sp>
      <p:sp>
        <p:nvSpPr>
          <p:cNvPr id="3" name="コンテンツ プレースホルダー 2">
            <a:extLst>
              <a:ext uri="{FF2B5EF4-FFF2-40B4-BE49-F238E27FC236}">
                <a16:creationId xmlns:a16="http://schemas.microsoft.com/office/drawing/2014/main" id="{B687DD80-1DA9-4B9F-70AB-CD0272287B72}"/>
              </a:ext>
            </a:extLst>
          </p:cNvPr>
          <p:cNvSpPr>
            <a:spLocks noGrp="1"/>
          </p:cNvSpPr>
          <p:nvPr>
            <p:ph idx="1"/>
          </p:nvPr>
        </p:nvSpPr>
        <p:spPr/>
        <p:txBody>
          <a:bodyPr/>
          <a:lstStyle/>
          <a:p>
            <a:pPr marL="0" indent="0">
              <a:buNone/>
            </a:pPr>
            <a:r>
              <a:rPr lang="ja-GB" altLang="en-US" dirty="0"/>
              <a:t>装置や数式を矢印でつなげて情報処理の流れを記述する方法</a:t>
            </a:r>
            <a:endParaRPr lang="en-US" altLang="ja-GB" dirty="0"/>
          </a:p>
          <a:p>
            <a:pPr marL="457200" lvl="1" indent="0">
              <a:buNone/>
            </a:pPr>
            <a:r>
              <a:rPr lang="ja-GB" altLang="en-US" dirty="0"/>
              <a:t>例</a:t>
            </a:r>
            <a:r>
              <a:rPr lang="en-US" altLang="ja-GB" dirty="0"/>
              <a:t>1</a:t>
            </a:r>
            <a:r>
              <a:rPr lang="ja-GB" altLang="en-US" dirty="0"/>
              <a:t>）ラダー図</a:t>
            </a:r>
            <a:endParaRPr lang="en-US" altLang="ja-GB" dirty="0"/>
          </a:p>
          <a:p>
            <a:pPr marL="914400" lvl="2" indent="0">
              <a:buNone/>
            </a:pPr>
            <a:r>
              <a:rPr lang="ja-GB" altLang="en-US" dirty="0"/>
              <a:t>ロボット，自動倉庫，自動ドア，遊園地のアトラクションなど，</a:t>
            </a:r>
            <a:br>
              <a:rPr lang="en-US" altLang="ja-GB" dirty="0"/>
            </a:br>
            <a:r>
              <a:rPr lang="ja-GB" altLang="en-US" dirty="0"/>
              <a:t>電気・制御の専門家が機械の動作を制御する場面で利用される</a:t>
            </a:r>
            <a:endParaRPr lang="en-US" altLang="ja-GB" dirty="0"/>
          </a:p>
          <a:p>
            <a:pPr lvl="4"/>
            <a:endParaRPr lang="en-US" altLang="ja-GB" dirty="0"/>
          </a:p>
          <a:p>
            <a:pPr marL="457200" lvl="1" indent="0">
              <a:buNone/>
            </a:pPr>
            <a:r>
              <a:rPr lang="ja-GB" altLang="en-US" dirty="0"/>
              <a:t>例</a:t>
            </a:r>
            <a:r>
              <a:rPr lang="en-US" altLang="ja-GB" dirty="0"/>
              <a:t>2</a:t>
            </a:r>
            <a:r>
              <a:rPr lang="ja-GB" altLang="en-US" dirty="0"/>
              <a:t>）</a:t>
            </a:r>
            <a:r>
              <a:rPr lang="en-US" altLang="ja-GB" dirty="0"/>
              <a:t>Simulink</a:t>
            </a:r>
          </a:p>
          <a:p>
            <a:pPr marL="914400" lvl="2" indent="0">
              <a:buNone/>
            </a:pPr>
            <a:r>
              <a:rPr lang="ja-GB" altLang="en-US" dirty="0"/>
              <a:t>ハードウェアシステムの設計・シミュレーション（動作確認）に使われるソフトウェア</a:t>
            </a:r>
            <a:endParaRPr lang="en-US" altLang="ja-GB" dirty="0"/>
          </a:p>
          <a:p>
            <a:pPr lvl="2"/>
            <a:endParaRPr lang="en-US" altLang="ja-GB" dirty="0"/>
          </a:p>
          <a:p>
            <a:pPr marL="457200" lvl="1" indent="0">
              <a:buNone/>
            </a:pPr>
            <a:r>
              <a:rPr lang="ja-GB" altLang="en-US" dirty="0"/>
              <a:t>例</a:t>
            </a:r>
            <a:r>
              <a:rPr lang="en-US" altLang="ja-GB" dirty="0"/>
              <a:t>3</a:t>
            </a:r>
            <a:r>
              <a:rPr lang="ja-GB" altLang="en-US" dirty="0"/>
              <a:t>）</a:t>
            </a:r>
            <a:r>
              <a:rPr lang="en-US" altLang="ja-GB" dirty="0"/>
              <a:t>3DCG</a:t>
            </a:r>
            <a:r>
              <a:rPr lang="ja-GB" altLang="en-US" dirty="0"/>
              <a:t>，画像・映像，音楽を扱うソフトウェア</a:t>
            </a:r>
            <a:endParaRPr lang="en-US" altLang="ja-GB" dirty="0"/>
          </a:p>
          <a:p>
            <a:pPr lvl="2"/>
            <a:r>
              <a:rPr lang="en-US" altLang="ja-GB" dirty="0"/>
              <a:t>Blender</a:t>
            </a:r>
            <a:r>
              <a:rPr lang="ja-GB" altLang="en-US" dirty="0"/>
              <a:t>，</a:t>
            </a:r>
            <a:r>
              <a:rPr lang="en-GB" altLang="ja-GB" dirty="0"/>
              <a:t>DaVinci Resolve</a:t>
            </a:r>
            <a:r>
              <a:rPr lang="ja-GB" altLang="en-US" dirty="0"/>
              <a:t> ，</a:t>
            </a:r>
            <a:r>
              <a:rPr lang="en-US" altLang="ja-GB" dirty="0"/>
              <a:t>DAW</a:t>
            </a:r>
            <a:r>
              <a:rPr lang="ja-GB" altLang="en-US" dirty="0"/>
              <a:t>の</a:t>
            </a:r>
            <a:r>
              <a:rPr lang="en-US" altLang="ja-GB" dirty="0"/>
              <a:t>VST</a:t>
            </a:r>
            <a:r>
              <a:rPr lang="ja-GB" altLang="en-US" dirty="0"/>
              <a:t>プラグイン</a:t>
            </a:r>
            <a:r>
              <a:rPr lang="en-GB" altLang="ja-GB" dirty="0"/>
              <a:t> </a:t>
            </a:r>
            <a:r>
              <a:rPr lang="ja-GB" altLang="en-US" dirty="0"/>
              <a:t>など</a:t>
            </a:r>
            <a:endParaRPr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D0B7BAD0-587C-07B5-C4CF-A3ABA82D8811}"/>
              </a:ext>
            </a:extLst>
          </p:cNvPr>
          <p:cNvSpPr txBox="1"/>
          <p:nvPr/>
        </p:nvSpPr>
        <p:spPr>
          <a:xfrm>
            <a:off x="4864067" y="6440211"/>
            <a:ext cx="3930883" cy="400110"/>
          </a:xfrm>
          <a:prstGeom prst="rect">
            <a:avLst/>
          </a:prstGeom>
          <a:noFill/>
        </p:spPr>
        <p:txBody>
          <a:bodyPr wrap="none" rtlCol="0">
            <a:spAutoFit/>
          </a:bodyPr>
          <a:lstStyle/>
          <a:p>
            <a:pPr algn="ctr"/>
            <a:r>
              <a:rPr kumimoji="1" lang="en-GB" altLang="ja-GB" sz="1000" dirty="0">
                <a:solidFill>
                  <a:schemeClr val="tx1">
                    <a:lumMod val="50000"/>
                    <a:lumOff val="50000"/>
                  </a:schemeClr>
                </a:solidFill>
              </a:rPr>
              <a:t>Mcarone1 - </a:t>
            </a:r>
            <a:r>
              <a:rPr kumimoji="1" lang="ja-JP" altLang="en-US" sz="1000">
                <a:solidFill>
                  <a:schemeClr val="tx1">
                    <a:lumMod val="50000"/>
                    <a:lumOff val="50000"/>
                  </a:schemeClr>
                </a:solidFill>
              </a:rPr>
              <a:t>投稿者自身による著作物</a:t>
            </a:r>
            <a:r>
              <a:rPr kumimoji="1" lang="en-US" altLang="ja-JP" sz="1000" dirty="0">
                <a:solidFill>
                  <a:schemeClr val="tx1">
                    <a:lumMod val="50000"/>
                    <a:lumOff val="50000"/>
                  </a:schemeClr>
                </a:solidFill>
              </a:rPr>
              <a:t>, </a:t>
            </a:r>
            <a:r>
              <a:rPr kumimoji="1" lang="en-GB" altLang="ja-GB" sz="1000" dirty="0">
                <a:solidFill>
                  <a:schemeClr val="tx1">
                    <a:lumMod val="50000"/>
                    <a:lumOff val="50000"/>
                  </a:schemeClr>
                </a:solidFill>
              </a:rPr>
              <a:t>CC </a:t>
            </a:r>
            <a:r>
              <a:rPr kumimoji="1" lang="ja-JP" altLang="en-US" sz="1000">
                <a:solidFill>
                  <a:schemeClr val="tx1">
                    <a:lumMod val="50000"/>
                    <a:lumOff val="50000"/>
                  </a:schemeClr>
                </a:solidFill>
              </a:rPr>
              <a:t>表示</a:t>
            </a:r>
            <a:r>
              <a:rPr kumimoji="1" lang="en-US" altLang="ja-JP" sz="1000" dirty="0">
                <a:solidFill>
                  <a:schemeClr val="tx1">
                    <a:lumMod val="50000"/>
                    <a:lumOff val="50000"/>
                  </a:schemeClr>
                </a:solidFill>
              </a:rPr>
              <a:t>-</a:t>
            </a:r>
            <a:r>
              <a:rPr kumimoji="1" lang="ja-JP" altLang="en-US" sz="1000">
                <a:solidFill>
                  <a:schemeClr val="tx1">
                    <a:lumMod val="50000"/>
                    <a:lumOff val="50000"/>
                  </a:schemeClr>
                </a:solidFill>
              </a:rPr>
              <a:t>継承 </a:t>
            </a:r>
            <a:r>
              <a:rPr kumimoji="1" lang="en-US" altLang="ja-JP" sz="1000" dirty="0">
                <a:solidFill>
                  <a:schemeClr val="tx1">
                    <a:lumMod val="50000"/>
                    <a:lumOff val="50000"/>
                  </a:schemeClr>
                </a:solidFill>
              </a:rPr>
              <a:t>3.0,</a:t>
            </a:r>
          </a:p>
          <a:p>
            <a:pPr algn="ctr"/>
            <a:r>
              <a:rPr kumimoji="1" lang="en-US" altLang="ja-JP" sz="1000" dirty="0">
                <a:solidFill>
                  <a:schemeClr val="tx1">
                    <a:lumMod val="50000"/>
                    <a:lumOff val="50000"/>
                  </a:schemeClr>
                </a:solidFill>
              </a:rPr>
              <a:t> </a:t>
            </a:r>
            <a:r>
              <a:rPr kumimoji="1" lang="en-GB" altLang="ja-GB" sz="10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https://commons.wikimedia.org/w/index.php?curid=22194413</a:t>
            </a:r>
            <a:r>
              <a:rPr kumimoji="1" lang="en-GB" altLang="ja-GB" sz="1000" dirty="0">
                <a:solidFill>
                  <a:schemeClr val="tx1">
                    <a:lumMod val="50000"/>
                    <a:lumOff val="50000"/>
                  </a:schemeClr>
                </a:solidFill>
              </a:rPr>
              <a:t> </a:t>
            </a:r>
            <a:r>
              <a:rPr kumimoji="1" lang="ja-JP" altLang="en-US" sz="1000">
                <a:solidFill>
                  <a:schemeClr val="tx1">
                    <a:lumMod val="50000"/>
                    <a:lumOff val="50000"/>
                  </a:schemeClr>
                </a:solidFill>
              </a:rPr>
              <a:t>による</a:t>
            </a:r>
            <a:endParaRPr kumimoji="1" lang="ja-GB" altLang="en-US" sz="1000" dirty="0">
              <a:solidFill>
                <a:schemeClr val="tx1">
                  <a:lumMod val="50000"/>
                  <a:lumOff val="50000"/>
                </a:schemeClr>
              </a:solidFill>
            </a:endParaRPr>
          </a:p>
        </p:txBody>
      </p:sp>
      <p:pic>
        <p:nvPicPr>
          <p:cNvPr id="5" name="Picture 2" descr="Simulink model of a wind turbine">
            <a:extLst>
              <a:ext uri="{FF2B5EF4-FFF2-40B4-BE49-F238E27FC236}">
                <a16:creationId xmlns:a16="http://schemas.microsoft.com/office/drawing/2014/main" id="{F5BDF94B-5E64-5796-277A-865A552FC0BD}"/>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057954" y="3786571"/>
            <a:ext cx="3543107" cy="265364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EDFD33FC-A3F1-BB03-985C-4EEF508000BD}"/>
              </a:ext>
            </a:extLst>
          </p:cNvPr>
          <p:cNvSpPr txBox="1"/>
          <p:nvPr/>
        </p:nvSpPr>
        <p:spPr>
          <a:xfrm>
            <a:off x="547660" y="6440210"/>
            <a:ext cx="3967753" cy="400110"/>
          </a:xfrm>
          <a:prstGeom prst="rect">
            <a:avLst/>
          </a:prstGeom>
          <a:noFill/>
        </p:spPr>
        <p:txBody>
          <a:bodyPr wrap="none" rtlCol="0">
            <a:spAutoFit/>
          </a:bodyPr>
          <a:lstStyle/>
          <a:p>
            <a:pPr algn="ctr"/>
            <a:r>
              <a:rPr kumimoji="1" lang="en-GB" altLang="ja-GB" sz="1000" dirty="0" err="1">
                <a:solidFill>
                  <a:schemeClr val="tx1">
                    <a:lumMod val="50000"/>
                    <a:lumOff val="50000"/>
                  </a:schemeClr>
                </a:solidFill>
              </a:rPr>
              <a:t>Snp</a:t>
            </a:r>
            <a:r>
              <a:rPr kumimoji="1" lang="en-GB" altLang="ja-GB" sz="1000" dirty="0">
                <a:solidFill>
                  <a:schemeClr val="tx1">
                    <a:lumMod val="50000"/>
                    <a:lumOff val="50000"/>
                  </a:schemeClr>
                </a:solidFill>
              </a:rPr>
              <a:t> - </a:t>
            </a:r>
            <a:r>
              <a:rPr kumimoji="1" lang="ja-JP" altLang="en-US" sz="1000">
                <a:solidFill>
                  <a:schemeClr val="tx1">
                    <a:lumMod val="50000"/>
                    <a:lumOff val="50000"/>
                  </a:schemeClr>
                </a:solidFill>
              </a:rPr>
              <a:t>投稿者作成</a:t>
            </a:r>
            <a:r>
              <a:rPr kumimoji="1" lang="en-US" altLang="ja-JP" sz="1000" dirty="0">
                <a:solidFill>
                  <a:schemeClr val="tx1">
                    <a:lumMod val="50000"/>
                    <a:lumOff val="50000"/>
                  </a:schemeClr>
                </a:solidFill>
              </a:rPr>
              <a:t>, </a:t>
            </a:r>
            <a:r>
              <a:rPr kumimoji="1" lang="en-GB" altLang="ja-GB" sz="1000" dirty="0">
                <a:solidFill>
                  <a:schemeClr val="tx1">
                    <a:lumMod val="50000"/>
                    <a:lumOff val="50000"/>
                  </a:schemeClr>
                </a:solidFill>
              </a:rPr>
              <a:t>CC </a:t>
            </a:r>
            <a:r>
              <a:rPr kumimoji="1" lang="ja-JP" altLang="en-US" sz="1000">
                <a:solidFill>
                  <a:schemeClr val="tx1">
                    <a:lumMod val="50000"/>
                    <a:lumOff val="50000"/>
                  </a:schemeClr>
                </a:solidFill>
              </a:rPr>
              <a:t>表示</a:t>
            </a:r>
            <a:r>
              <a:rPr kumimoji="1" lang="en-US" altLang="ja-JP" sz="1000" dirty="0">
                <a:solidFill>
                  <a:schemeClr val="tx1">
                    <a:lumMod val="50000"/>
                    <a:lumOff val="50000"/>
                  </a:schemeClr>
                </a:solidFill>
              </a:rPr>
              <a:t>-</a:t>
            </a:r>
            <a:r>
              <a:rPr kumimoji="1" lang="ja-JP" altLang="en-US" sz="1000">
                <a:solidFill>
                  <a:schemeClr val="tx1">
                    <a:lumMod val="50000"/>
                    <a:lumOff val="50000"/>
                  </a:schemeClr>
                </a:solidFill>
              </a:rPr>
              <a:t>継承 </a:t>
            </a:r>
            <a:r>
              <a:rPr kumimoji="1" lang="en-US" altLang="ja-JP" sz="1000" dirty="0">
                <a:solidFill>
                  <a:schemeClr val="tx1">
                    <a:lumMod val="50000"/>
                    <a:lumOff val="50000"/>
                  </a:schemeClr>
                </a:solidFill>
              </a:rPr>
              <a:t>3.0, </a:t>
            </a:r>
            <a:br>
              <a:rPr kumimoji="1" lang="en-US" altLang="ja-JP" sz="1000" dirty="0">
                <a:solidFill>
                  <a:schemeClr val="tx1">
                    <a:lumMod val="50000"/>
                    <a:lumOff val="50000"/>
                  </a:schemeClr>
                </a:solidFill>
              </a:rPr>
            </a:br>
            <a:r>
              <a:rPr kumimoji="1" lang="en-GB" altLang="ja-GB" sz="1000" dirty="0">
                <a:solidFill>
                  <a:schemeClr val="tx1">
                    <a:lumMod val="50000"/>
                    <a:lumOff val="50000"/>
                  </a:schemeClr>
                </a:solidFill>
                <a:hlinkClick r:id="rId4">
                  <a:extLst>
                    <a:ext uri="{A12FA001-AC4F-418D-AE19-62706E023703}">
                      <ahyp:hlinkClr xmlns:ahyp="http://schemas.microsoft.com/office/drawing/2018/hyperlinkcolor" val="tx"/>
                    </a:ext>
                  </a:extLst>
                </a:hlinkClick>
              </a:rPr>
              <a:t>https://commons.wikimedia.org/w/index.php?curid=120932135</a:t>
            </a:r>
            <a:r>
              <a:rPr kumimoji="1" lang="en-GB" altLang="ja-GB" sz="1000" dirty="0">
                <a:solidFill>
                  <a:schemeClr val="tx1">
                    <a:lumMod val="50000"/>
                    <a:lumOff val="50000"/>
                  </a:schemeClr>
                </a:solidFill>
              </a:rPr>
              <a:t> </a:t>
            </a:r>
            <a:r>
              <a:rPr kumimoji="1" lang="ja-JP" altLang="en-US" sz="1000">
                <a:solidFill>
                  <a:schemeClr val="tx1">
                    <a:lumMod val="50000"/>
                    <a:lumOff val="50000"/>
                  </a:schemeClr>
                </a:solidFill>
              </a:rPr>
              <a:t>による</a:t>
            </a:r>
            <a:endParaRPr kumimoji="1" lang="ja-GB" altLang="en-US" sz="1000" dirty="0">
              <a:solidFill>
                <a:schemeClr val="tx1">
                  <a:lumMod val="50000"/>
                  <a:lumOff val="50000"/>
                </a:schemeClr>
              </a:solidFill>
            </a:endParaRPr>
          </a:p>
        </p:txBody>
      </p:sp>
      <p:pic>
        <p:nvPicPr>
          <p:cNvPr id="7" name="Picture 6" descr="undefined">
            <a:extLst>
              <a:ext uri="{FF2B5EF4-FFF2-40B4-BE49-F238E27FC236}">
                <a16:creationId xmlns:a16="http://schemas.microsoft.com/office/drawing/2014/main" id="{59D31B41-19E7-8ABF-7AF6-CDEB1FE22639}"/>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33832" y="4910568"/>
            <a:ext cx="3195407" cy="1154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02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95A1C-0B2D-72CD-D7EF-79A15E06B8D1}"/>
              </a:ext>
            </a:extLst>
          </p:cNvPr>
          <p:cNvSpPr>
            <a:spLocks noGrp="1"/>
          </p:cNvSpPr>
          <p:nvPr>
            <p:ph type="title"/>
          </p:nvPr>
        </p:nvSpPr>
        <p:spPr/>
        <p:txBody>
          <a:bodyPr/>
          <a:lstStyle/>
          <a:p>
            <a:r>
              <a:rPr kumimoji="1" lang="ja-GB" altLang="en-US" dirty="0"/>
              <a:t>ノーコード，ローコード</a:t>
            </a:r>
          </a:p>
        </p:txBody>
      </p:sp>
      <p:sp>
        <p:nvSpPr>
          <p:cNvPr id="3" name="コンテンツ プレースホルダー 2">
            <a:extLst>
              <a:ext uri="{FF2B5EF4-FFF2-40B4-BE49-F238E27FC236}">
                <a16:creationId xmlns:a16="http://schemas.microsoft.com/office/drawing/2014/main" id="{D6001A84-7A80-AEB9-A20B-8C7ADB36EF83}"/>
              </a:ext>
            </a:extLst>
          </p:cNvPr>
          <p:cNvSpPr>
            <a:spLocks noGrp="1"/>
          </p:cNvSpPr>
          <p:nvPr>
            <p:ph idx="1"/>
          </p:nvPr>
        </p:nvSpPr>
        <p:spPr/>
        <p:txBody>
          <a:bodyPr/>
          <a:lstStyle/>
          <a:p>
            <a:pPr marL="0" indent="0">
              <a:buNone/>
            </a:pPr>
            <a:r>
              <a:rPr kumimoji="1" lang="ja-GB" altLang="en-US" dirty="0"/>
              <a:t>画面操作でアプリを作ることのできる仕組み</a:t>
            </a:r>
            <a:endParaRPr kumimoji="1" lang="en-US" altLang="ja-GB" dirty="0"/>
          </a:p>
          <a:p>
            <a:pPr lvl="1"/>
            <a:r>
              <a:rPr lang="ja-GB" altLang="en-US" dirty="0"/>
              <a:t>ノーコード：画面操作のみでアプリを作る</a:t>
            </a:r>
            <a:endParaRPr lang="en-US" altLang="ja-GB" dirty="0"/>
          </a:p>
          <a:p>
            <a:pPr lvl="1"/>
            <a:r>
              <a:rPr kumimoji="1" lang="ja-GB" altLang="en-US" dirty="0"/>
              <a:t>ローコード：必要最小限のプログラムのみ記述して，他は画面操作で作る</a:t>
            </a:r>
          </a:p>
        </p:txBody>
      </p:sp>
    </p:spTree>
    <p:extLst>
      <p:ext uri="{BB962C8B-B14F-4D97-AF65-F5344CB8AC3E}">
        <p14:creationId xmlns:p14="http://schemas.microsoft.com/office/powerpoint/2010/main" val="265945039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DB4ADA-292D-660D-217B-66D76F3E32D6}"/>
              </a:ext>
            </a:extLst>
          </p:cNvPr>
          <p:cNvSpPr>
            <a:spLocks noGrp="1"/>
          </p:cNvSpPr>
          <p:nvPr>
            <p:ph type="title"/>
          </p:nvPr>
        </p:nvSpPr>
        <p:spPr/>
        <p:txBody>
          <a:bodyPr/>
          <a:lstStyle/>
          <a:p>
            <a:r>
              <a:rPr kumimoji="1" lang="ja-GB" altLang="en-US" dirty="0"/>
              <a:t>例</a:t>
            </a:r>
            <a:r>
              <a:rPr kumimoji="1" lang="en-US" altLang="ja-GB" dirty="0"/>
              <a:t>1</a:t>
            </a:r>
            <a:r>
              <a:rPr lang="ja-GB" altLang="en-US" dirty="0"/>
              <a:t>：</a:t>
            </a:r>
            <a:r>
              <a:rPr lang="en-US" altLang="ja-GB" dirty="0"/>
              <a:t>Microsoft </a:t>
            </a:r>
            <a:r>
              <a:rPr kumimoji="1" lang="en-US" altLang="ja-GB" dirty="0"/>
              <a:t>Office</a:t>
            </a:r>
            <a:endParaRPr kumimoji="1" lang="ja-GB" altLang="en-US" dirty="0"/>
          </a:p>
        </p:txBody>
      </p:sp>
      <p:sp>
        <p:nvSpPr>
          <p:cNvPr id="3" name="コンテンツ プレースホルダー 2">
            <a:extLst>
              <a:ext uri="{FF2B5EF4-FFF2-40B4-BE49-F238E27FC236}">
                <a16:creationId xmlns:a16="http://schemas.microsoft.com/office/drawing/2014/main" id="{1CEABF2E-AD7C-E789-EEB7-DC611A4A28B2}"/>
              </a:ext>
            </a:extLst>
          </p:cNvPr>
          <p:cNvSpPr>
            <a:spLocks noGrp="1"/>
          </p:cNvSpPr>
          <p:nvPr>
            <p:ph idx="1"/>
          </p:nvPr>
        </p:nvSpPr>
        <p:spPr/>
        <p:txBody>
          <a:bodyPr/>
          <a:lstStyle/>
          <a:p>
            <a:pPr marL="0" indent="0">
              <a:buNone/>
            </a:pPr>
            <a:r>
              <a:rPr lang="ja-GB" altLang="en-US" dirty="0"/>
              <a:t>計算や情報整理をノーコード，ローコードで実行できるソフトウェア</a:t>
            </a:r>
            <a:endParaRPr kumimoji="1" lang="en-US" altLang="ja-GB" dirty="0"/>
          </a:p>
          <a:p>
            <a:pPr marL="457200" lvl="1" indent="0">
              <a:buNone/>
            </a:pPr>
            <a:r>
              <a:rPr kumimoji="1" lang="ja-GB" altLang="en-US" dirty="0"/>
              <a:t>例</a:t>
            </a:r>
            <a:r>
              <a:rPr kumimoji="1" lang="en-US" altLang="ja-GB" dirty="0"/>
              <a:t>1</a:t>
            </a:r>
            <a:r>
              <a:rPr kumimoji="1" lang="ja-GB" altLang="en-US" dirty="0"/>
              <a:t>）</a:t>
            </a:r>
            <a:r>
              <a:rPr kumimoji="1" lang="en-US" altLang="ja-GB" dirty="0"/>
              <a:t>Excel</a:t>
            </a:r>
            <a:r>
              <a:rPr lang="ja-GB" altLang="en-US" dirty="0"/>
              <a:t>を用いたデータ分析</a:t>
            </a:r>
            <a:endParaRPr lang="en-US" altLang="ja-GB" dirty="0"/>
          </a:p>
          <a:p>
            <a:pPr lvl="2"/>
            <a:r>
              <a:rPr kumimoji="1" lang="en-US" altLang="ja-GB" dirty="0"/>
              <a:t>=SUM(A1:A3) </a:t>
            </a:r>
            <a:r>
              <a:rPr kumimoji="1" lang="ja-GB" altLang="en-US" dirty="0"/>
              <a:t>のように，セルの値を計算する</a:t>
            </a:r>
            <a:endParaRPr kumimoji="1" lang="en-US" altLang="ja-GB" dirty="0"/>
          </a:p>
          <a:p>
            <a:pPr lvl="2"/>
            <a:r>
              <a:rPr lang="ja-GB" altLang="en-US" dirty="0"/>
              <a:t>統計分析をしたり，グラフを作成したりする機能もある</a:t>
            </a:r>
            <a:endParaRPr kumimoji="1" lang="en-US" altLang="ja-GB" dirty="0"/>
          </a:p>
          <a:p>
            <a:pPr lvl="2"/>
            <a:endParaRPr kumimoji="1" lang="en-US" altLang="ja-GB" dirty="0"/>
          </a:p>
          <a:p>
            <a:pPr marL="457200" lvl="1" indent="0">
              <a:buNone/>
            </a:pPr>
            <a:r>
              <a:rPr kumimoji="1" lang="ja-GB" altLang="en-US" dirty="0"/>
              <a:t>例</a:t>
            </a:r>
            <a:r>
              <a:rPr lang="en-US" altLang="ja-GB" dirty="0"/>
              <a:t>2</a:t>
            </a:r>
            <a:r>
              <a:rPr kumimoji="1" lang="ja-GB" altLang="en-US" dirty="0"/>
              <a:t>）マクロを用いた定型文章の記入項目の再利用</a:t>
            </a:r>
            <a:endParaRPr kumimoji="1" lang="en-US" altLang="ja-GB" dirty="0"/>
          </a:p>
          <a:p>
            <a:pPr lvl="2"/>
            <a:r>
              <a:rPr lang="ja-GB" altLang="en-US" dirty="0"/>
              <a:t>一箇所に個人情報を入れたら，テンプレートの対応項目に自動挿入される</a:t>
            </a:r>
            <a:endParaRPr lang="en-US" altLang="ja-GB" dirty="0"/>
          </a:p>
          <a:p>
            <a:pPr lvl="2"/>
            <a:endParaRPr kumimoji="1" lang="en-US" altLang="ja-GB" dirty="0"/>
          </a:p>
          <a:p>
            <a:pPr marL="457200" lvl="1" indent="0">
              <a:buNone/>
            </a:pPr>
            <a:r>
              <a:rPr lang="ja-GB" altLang="en-US" dirty="0"/>
              <a:t>例</a:t>
            </a:r>
            <a:r>
              <a:rPr lang="en-US" altLang="ja-GB" dirty="0"/>
              <a:t>3</a:t>
            </a:r>
            <a:r>
              <a:rPr lang="ja-GB" altLang="en-US" dirty="0"/>
              <a:t>）マクロを用いたデータの自動計算</a:t>
            </a:r>
            <a:endParaRPr lang="en-US" altLang="ja-GB" dirty="0"/>
          </a:p>
          <a:p>
            <a:pPr lvl="2"/>
            <a:r>
              <a:rPr kumimoji="1" lang="ja-GB" altLang="en-US" dirty="0"/>
              <a:t>毎月各部署から届く売り上げデータを自動で合算して定型レポート化する</a:t>
            </a:r>
            <a:endParaRPr kumimoji="1" lang="en-US" altLang="ja-GB" dirty="0"/>
          </a:p>
          <a:p>
            <a:pPr lvl="2"/>
            <a:endParaRPr lang="en-US" altLang="ja-GB" dirty="0"/>
          </a:p>
          <a:p>
            <a:pPr lvl="2"/>
            <a:endParaRPr kumimoji="1" lang="ja-GB" altLang="en-US" dirty="0"/>
          </a:p>
        </p:txBody>
      </p:sp>
    </p:spTree>
    <p:extLst>
      <p:ext uri="{BB962C8B-B14F-4D97-AF65-F5344CB8AC3E}">
        <p14:creationId xmlns:p14="http://schemas.microsoft.com/office/powerpoint/2010/main" val="288878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E8B071-E67F-CA19-77E4-32CF0110CA08}"/>
              </a:ext>
            </a:extLst>
          </p:cNvPr>
          <p:cNvSpPr>
            <a:spLocks noGrp="1"/>
          </p:cNvSpPr>
          <p:nvPr>
            <p:ph type="title"/>
          </p:nvPr>
        </p:nvSpPr>
        <p:spPr/>
        <p:txBody>
          <a:bodyPr/>
          <a:lstStyle/>
          <a:p>
            <a:r>
              <a:rPr kumimoji="1" lang="ja-GB" altLang="en-US" dirty="0"/>
              <a:t>例</a:t>
            </a:r>
            <a:r>
              <a:rPr kumimoji="1" lang="en-US" altLang="ja-GB" dirty="0"/>
              <a:t>2</a:t>
            </a:r>
            <a:r>
              <a:rPr kumimoji="1" lang="ja-GB" altLang="en-US" dirty="0"/>
              <a:t>：</a:t>
            </a:r>
            <a:r>
              <a:rPr kumimoji="1" lang="en-US" altLang="ja-GB" dirty="0"/>
              <a:t>Google Workspace</a:t>
            </a:r>
            <a:r>
              <a:rPr kumimoji="1" lang="ja-GB" altLang="en-US" dirty="0"/>
              <a:t>のツール連携</a:t>
            </a:r>
          </a:p>
        </p:txBody>
      </p:sp>
      <p:sp>
        <p:nvSpPr>
          <p:cNvPr id="3" name="コンテンツ プレースホルダー 2">
            <a:extLst>
              <a:ext uri="{FF2B5EF4-FFF2-40B4-BE49-F238E27FC236}">
                <a16:creationId xmlns:a16="http://schemas.microsoft.com/office/drawing/2014/main" id="{93FDC82F-7FAC-AB45-6139-F3B34636BB5C}"/>
              </a:ext>
            </a:extLst>
          </p:cNvPr>
          <p:cNvSpPr>
            <a:spLocks noGrp="1"/>
          </p:cNvSpPr>
          <p:nvPr>
            <p:ph idx="1"/>
          </p:nvPr>
        </p:nvSpPr>
        <p:spPr/>
        <p:txBody>
          <a:bodyPr/>
          <a:lstStyle/>
          <a:p>
            <a:pPr marL="0" indent="0">
              <a:buNone/>
            </a:pPr>
            <a:r>
              <a:rPr kumimoji="1" lang="ja-GB" altLang="en-US" dirty="0"/>
              <a:t>例）</a:t>
            </a:r>
            <a:r>
              <a:rPr kumimoji="1" lang="en-US" altLang="ja-GB" dirty="0"/>
              <a:t>Google Form</a:t>
            </a:r>
            <a:r>
              <a:rPr kumimoji="1" lang="ja-GB" altLang="en-US" dirty="0"/>
              <a:t>とスプレッドシートによる簡易的な物品管理</a:t>
            </a:r>
            <a:endParaRPr kumimoji="1" lang="en-US" altLang="ja-GB" dirty="0"/>
          </a:p>
          <a:p>
            <a:pPr marL="914400" lvl="1" indent="-457200">
              <a:buFont typeface="+mj-lt"/>
              <a:buAutoNum type="arabicPeriod"/>
            </a:pPr>
            <a:r>
              <a:rPr kumimoji="1" lang="en-US" altLang="ja-GB" dirty="0"/>
              <a:t>Google Form</a:t>
            </a:r>
            <a:r>
              <a:rPr lang="ja-GB" altLang="en-US" dirty="0"/>
              <a:t>から</a:t>
            </a:r>
            <a:r>
              <a:rPr kumimoji="1" lang="ja-GB" altLang="en-US" dirty="0"/>
              <a:t>物品の</a:t>
            </a:r>
            <a:r>
              <a:rPr lang="ja-GB" altLang="en-US" dirty="0"/>
              <a:t>購入</a:t>
            </a:r>
            <a:r>
              <a:rPr lang="en-US" altLang="ja-GB" dirty="0"/>
              <a:t>/</a:t>
            </a:r>
            <a:r>
              <a:rPr lang="ja-GB" altLang="en-US" dirty="0"/>
              <a:t>廃棄に関する情報を送信</a:t>
            </a:r>
            <a:endParaRPr lang="en-US" altLang="ja-GB" dirty="0"/>
          </a:p>
          <a:p>
            <a:pPr marL="914400" lvl="2" indent="0">
              <a:buNone/>
            </a:pPr>
            <a:r>
              <a:rPr kumimoji="1" lang="ja-GB" altLang="en-US" dirty="0">
                <a:solidFill>
                  <a:schemeClr val="tx1">
                    <a:lumMod val="50000"/>
                    <a:lumOff val="50000"/>
                  </a:schemeClr>
                </a:solidFill>
              </a:rPr>
              <a:t>項目例）</a:t>
            </a:r>
            <a:endParaRPr kumimoji="1" lang="en-US" altLang="ja-GB" dirty="0">
              <a:solidFill>
                <a:schemeClr val="tx1">
                  <a:lumMod val="50000"/>
                  <a:lumOff val="50000"/>
                </a:schemeClr>
              </a:solidFill>
            </a:endParaRPr>
          </a:p>
          <a:p>
            <a:pPr lvl="3"/>
            <a:r>
              <a:rPr kumimoji="1" lang="ja-GB" altLang="en-US" dirty="0">
                <a:solidFill>
                  <a:schemeClr val="tx1">
                    <a:lumMod val="50000"/>
                    <a:lumOff val="50000"/>
                  </a:schemeClr>
                </a:solidFill>
              </a:rPr>
              <a:t>購入時：記入者，日時，個数，</a:t>
            </a:r>
            <a:r>
              <a:rPr lang="ja-GB" altLang="en-US" dirty="0">
                <a:solidFill>
                  <a:schemeClr val="tx1">
                    <a:lumMod val="50000"/>
                    <a:lumOff val="50000"/>
                  </a:schemeClr>
                </a:solidFill>
              </a:rPr>
              <a:t>購入金額</a:t>
            </a:r>
            <a:endParaRPr lang="en-US" altLang="ja-GB" dirty="0">
              <a:solidFill>
                <a:schemeClr val="tx1">
                  <a:lumMod val="50000"/>
                  <a:lumOff val="50000"/>
                </a:schemeClr>
              </a:solidFill>
            </a:endParaRPr>
          </a:p>
          <a:p>
            <a:pPr lvl="3"/>
            <a:r>
              <a:rPr kumimoji="1" lang="ja-GB" altLang="en-US" dirty="0">
                <a:solidFill>
                  <a:schemeClr val="tx1">
                    <a:lumMod val="50000"/>
                    <a:lumOff val="50000"/>
                  </a:schemeClr>
                </a:solidFill>
              </a:rPr>
              <a:t>廃棄時：記入者，日時，個数</a:t>
            </a:r>
            <a:endParaRPr kumimoji="1" lang="en-US" altLang="ja-GB" dirty="0">
              <a:solidFill>
                <a:schemeClr val="tx1">
                  <a:lumMod val="50000"/>
                  <a:lumOff val="50000"/>
                </a:schemeClr>
              </a:solidFill>
            </a:endParaRPr>
          </a:p>
          <a:p>
            <a:pPr lvl="3"/>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t>記入内容をスプレッドシートの最終行に自動入力</a:t>
            </a:r>
            <a:endParaRPr kumimoji="1" lang="en-US" altLang="ja-GB" dirty="0"/>
          </a:p>
          <a:p>
            <a:pPr marL="914400" lvl="2" indent="0">
              <a:buNone/>
            </a:pPr>
            <a:r>
              <a:rPr kumimoji="1" lang="ja-GB" altLang="en-US" dirty="0">
                <a:solidFill>
                  <a:schemeClr val="tx1">
                    <a:lumMod val="50000"/>
                    <a:lumOff val="50000"/>
                  </a:schemeClr>
                </a:solidFill>
              </a:rPr>
              <a:t>入力例）</a:t>
            </a:r>
            <a:endParaRPr kumimoji="1" lang="en-US" altLang="ja-GB" dirty="0">
              <a:solidFill>
                <a:schemeClr val="tx1">
                  <a:lumMod val="50000"/>
                  <a:lumOff val="50000"/>
                </a:schemeClr>
              </a:solidFill>
            </a:endParaRPr>
          </a:p>
          <a:p>
            <a:pPr marL="1371600" lvl="3" indent="0">
              <a:buNone/>
            </a:pPr>
            <a:r>
              <a:rPr kumimoji="1" lang="ja-GB" altLang="en-US" dirty="0">
                <a:solidFill>
                  <a:schemeClr val="tx1">
                    <a:lumMod val="50000"/>
                    <a:lumOff val="50000"/>
                  </a:schemeClr>
                </a:solidFill>
              </a:rPr>
              <a:t>購入</a:t>
            </a:r>
            <a:r>
              <a:rPr kumimoji="1" lang="en-US" altLang="ja-GB" dirty="0">
                <a:solidFill>
                  <a:schemeClr val="tx1">
                    <a:lumMod val="50000"/>
                    <a:lumOff val="50000"/>
                  </a:schemeClr>
                </a:solidFill>
              </a:rPr>
              <a:t>or</a:t>
            </a:r>
            <a:r>
              <a:rPr kumimoji="1" lang="ja-GB" altLang="en-US" dirty="0">
                <a:solidFill>
                  <a:schemeClr val="tx1">
                    <a:lumMod val="50000"/>
                    <a:lumOff val="50000"/>
                  </a:schemeClr>
                </a:solidFill>
              </a:rPr>
              <a:t>廃棄，記入者，日時，個数，購入金額</a:t>
            </a:r>
            <a:endParaRPr kumimoji="1" lang="en-US" altLang="ja-GB" dirty="0">
              <a:solidFill>
                <a:schemeClr val="tx1">
                  <a:lumMod val="50000"/>
                  <a:lumOff val="50000"/>
                </a:schemeClr>
              </a:solidFill>
            </a:endParaRPr>
          </a:p>
          <a:p>
            <a:pPr marL="1371600" lvl="3" indent="0">
              <a:buNone/>
            </a:pPr>
            <a:r>
              <a:rPr lang="ja-GB" altLang="en-US" dirty="0">
                <a:solidFill>
                  <a:schemeClr val="tx1">
                    <a:lumMod val="50000"/>
                    <a:lumOff val="50000"/>
                  </a:schemeClr>
                </a:solidFill>
              </a:rPr>
              <a:t>購入　　　，</a:t>
            </a:r>
            <a:r>
              <a:rPr lang="en-US" altLang="ja-GB" dirty="0">
                <a:solidFill>
                  <a:schemeClr val="tx1">
                    <a:lumMod val="50000"/>
                    <a:lumOff val="50000"/>
                  </a:schemeClr>
                </a:solidFill>
              </a:rPr>
              <a:t>John</a:t>
            </a:r>
            <a:r>
              <a:rPr lang="ja-JP" altLang="en-US">
                <a:solidFill>
                  <a:schemeClr val="tx1">
                    <a:lumMod val="50000"/>
                    <a:lumOff val="50000"/>
                  </a:schemeClr>
                </a:solidFill>
              </a:rPr>
              <a:t>　，</a:t>
            </a:r>
            <a:r>
              <a:rPr lang="en-US" altLang="ja-JP" dirty="0">
                <a:solidFill>
                  <a:schemeClr val="tx1">
                    <a:lumMod val="50000"/>
                    <a:lumOff val="50000"/>
                  </a:schemeClr>
                </a:solidFill>
              </a:rPr>
              <a:t>5/1</a:t>
            </a:r>
            <a:r>
              <a:rPr lang="ja-JP" altLang="en-US">
                <a:solidFill>
                  <a:schemeClr val="tx1">
                    <a:lumMod val="50000"/>
                    <a:lumOff val="50000"/>
                  </a:schemeClr>
                </a:solidFill>
              </a:rPr>
              <a:t>，</a:t>
            </a:r>
            <a:r>
              <a:rPr lang="en-US" altLang="ja-JP" dirty="0">
                <a:solidFill>
                  <a:schemeClr val="tx1">
                    <a:lumMod val="50000"/>
                    <a:lumOff val="50000"/>
                  </a:schemeClr>
                </a:solidFill>
              </a:rPr>
              <a:t>3</a:t>
            </a:r>
            <a:r>
              <a:rPr lang="ja-JP" altLang="en-US">
                <a:solidFill>
                  <a:schemeClr val="tx1">
                    <a:lumMod val="50000"/>
                    <a:lumOff val="50000"/>
                  </a:schemeClr>
                </a:solidFill>
              </a:rPr>
              <a:t>　　，</a:t>
            </a:r>
            <a:r>
              <a:rPr lang="en-US" altLang="ja-JP" dirty="0">
                <a:solidFill>
                  <a:schemeClr val="tx1">
                    <a:lumMod val="50000"/>
                    <a:lumOff val="50000"/>
                  </a:schemeClr>
                </a:solidFill>
              </a:rPr>
              <a:t>300</a:t>
            </a:r>
          </a:p>
          <a:p>
            <a:pPr marL="1371600" lvl="3" indent="0">
              <a:buNone/>
            </a:pPr>
            <a:r>
              <a:rPr kumimoji="1" lang="ja-GB" altLang="en-US" dirty="0">
                <a:solidFill>
                  <a:schemeClr val="tx1">
                    <a:lumMod val="50000"/>
                    <a:lumOff val="50000"/>
                  </a:schemeClr>
                </a:solidFill>
              </a:rPr>
              <a:t>廃棄　　　，佐藤　，</a:t>
            </a:r>
            <a:r>
              <a:rPr kumimoji="1" lang="en-US" altLang="ja-GB" dirty="0">
                <a:solidFill>
                  <a:schemeClr val="tx1">
                    <a:lumMod val="50000"/>
                    <a:lumOff val="50000"/>
                  </a:schemeClr>
                </a:solidFill>
              </a:rPr>
              <a:t>5/10</a:t>
            </a:r>
            <a:r>
              <a:rPr kumimoji="1" lang="ja-GB" altLang="en-US" dirty="0">
                <a:solidFill>
                  <a:schemeClr val="tx1">
                    <a:lumMod val="50000"/>
                    <a:lumOff val="50000"/>
                  </a:schemeClr>
                </a:solidFill>
              </a:rPr>
              <a:t>，</a:t>
            </a:r>
            <a:r>
              <a:rPr kumimoji="1" lang="en-US" altLang="ja-GB" dirty="0">
                <a:solidFill>
                  <a:schemeClr val="tx1">
                    <a:lumMod val="50000"/>
                    <a:lumOff val="50000"/>
                  </a:schemeClr>
                </a:solidFill>
              </a:rPr>
              <a:t>1</a:t>
            </a:r>
            <a:r>
              <a:rPr kumimoji="1" lang="ja-JP" altLang="en-US">
                <a:solidFill>
                  <a:schemeClr val="tx1">
                    <a:lumMod val="50000"/>
                    <a:lumOff val="50000"/>
                  </a:schemeClr>
                </a:solidFill>
              </a:rPr>
              <a:t>      ，</a:t>
            </a:r>
            <a:endParaRPr kumimoji="1" lang="en-US" altLang="ja-JP" dirty="0">
              <a:solidFill>
                <a:schemeClr val="tx1">
                  <a:lumMod val="50000"/>
                  <a:lumOff val="50000"/>
                </a:schemeClr>
              </a:solidFill>
            </a:endParaRPr>
          </a:p>
          <a:p>
            <a:pPr lvl="3"/>
            <a:endParaRPr kumimoji="1" lang="en-US" altLang="ja-GB" dirty="0">
              <a:solidFill>
                <a:schemeClr val="tx1">
                  <a:lumMod val="50000"/>
                  <a:lumOff val="50000"/>
                </a:schemeClr>
              </a:solidFill>
            </a:endParaRPr>
          </a:p>
          <a:p>
            <a:pPr marL="914400" lvl="1" indent="-457200">
              <a:buFont typeface="+mj-lt"/>
              <a:buAutoNum type="arabicPeriod"/>
            </a:pPr>
            <a:r>
              <a:rPr kumimoji="1" lang="ja-GB" altLang="en-US" dirty="0"/>
              <a:t>スプレッドシートの関数を使って色々な情報を管理・分析</a:t>
            </a:r>
            <a:endParaRPr kumimoji="1" lang="en-US" altLang="ja-GB" dirty="0"/>
          </a:p>
          <a:p>
            <a:pPr marL="914400" lvl="2" indent="0">
              <a:buNone/>
            </a:pPr>
            <a:r>
              <a:rPr lang="ja-GB" altLang="en-US" dirty="0">
                <a:solidFill>
                  <a:schemeClr val="tx1">
                    <a:lumMod val="50000"/>
                    <a:lumOff val="50000"/>
                  </a:schemeClr>
                </a:solidFill>
              </a:rPr>
              <a:t>管理例）現在の個数</a:t>
            </a:r>
            <a:endParaRPr lang="en-US" altLang="ja-GB" dirty="0">
              <a:solidFill>
                <a:schemeClr val="tx1">
                  <a:lumMod val="50000"/>
                  <a:lumOff val="50000"/>
                </a:schemeClr>
              </a:solidFill>
            </a:endParaRPr>
          </a:p>
          <a:p>
            <a:pPr marL="914400" lvl="2" indent="0">
              <a:buNone/>
            </a:pPr>
            <a:r>
              <a:rPr lang="ja-GB" altLang="en-US" dirty="0">
                <a:solidFill>
                  <a:schemeClr val="tx1">
                    <a:lumMod val="50000"/>
                    <a:lumOff val="50000"/>
                  </a:schemeClr>
                </a:solidFill>
              </a:rPr>
              <a:t>分析例）月ごとの購入金額，平均消費量，人ごとの買い出し回数</a:t>
            </a:r>
            <a:endParaRPr lang="en-US" altLang="ja-GB" dirty="0">
              <a:solidFill>
                <a:schemeClr val="tx1">
                  <a:lumMod val="50000"/>
                  <a:lumOff val="50000"/>
                </a:schemeClr>
              </a:solidFill>
            </a:endParaRPr>
          </a:p>
        </p:txBody>
      </p:sp>
    </p:spTree>
    <p:extLst>
      <p:ext uri="{BB962C8B-B14F-4D97-AF65-F5344CB8AC3E}">
        <p14:creationId xmlns:p14="http://schemas.microsoft.com/office/powerpoint/2010/main" val="112946294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4E6DF7-4055-551E-1F83-05BDEC2AD330}"/>
              </a:ext>
            </a:extLst>
          </p:cNvPr>
          <p:cNvSpPr>
            <a:spLocks noGrp="1"/>
          </p:cNvSpPr>
          <p:nvPr>
            <p:ph type="title"/>
          </p:nvPr>
        </p:nvSpPr>
        <p:spPr/>
        <p:txBody>
          <a:bodyPr/>
          <a:lstStyle/>
          <a:p>
            <a:r>
              <a:rPr kumimoji="1" lang="ja-GB" altLang="en-US" dirty="0"/>
              <a:t>例</a:t>
            </a:r>
            <a:r>
              <a:rPr kumimoji="1" lang="en-US" altLang="ja-GB" dirty="0"/>
              <a:t>3</a:t>
            </a:r>
            <a:r>
              <a:rPr kumimoji="1" lang="ja-GB" altLang="en-US" dirty="0"/>
              <a:t>：</a:t>
            </a:r>
            <a:r>
              <a:rPr kumimoji="1" lang="en-US" altLang="ja-GB" dirty="0"/>
              <a:t>Google Sites</a:t>
            </a:r>
            <a:endParaRPr kumimoji="1" lang="ja-GB" altLang="en-US" dirty="0"/>
          </a:p>
        </p:txBody>
      </p:sp>
      <p:sp>
        <p:nvSpPr>
          <p:cNvPr id="3" name="コンテンツ プレースホルダー 2">
            <a:extLst>
              <a:ext uri="{FF2B5EF4-FFF2-40B4-BE49-F238E27FC236}">
                <a16:creationId xmlns:a16="http://schemas.microsoft.com/office/drawing/2014/main" id="{D57AB16C-4CD7-8488-10FB-0AB806FAD047}"/>
              </a:ext>
            </a:extLst>
          </p:cNvPr>
          <p:cNvSpPr>
            <a:spLocks noGrp="1"/>
          </p:cNvSpPr>
          <p:nvPr>
            <p:ph idx="1"/>
          </p:nvPr>
        </p:nvSpPr>
        <p:spPr/>
        <p:txBody>
          <a:bodyPr/>
          <a:lstStyle/>
          <a:p>
            <a:pPr marL="0" indent="0">
              <a:buNone/>
            </a:pPr>
            <a:r>
              <a:rPr lang="ja-GB" altLang="en-US" dirty="0"/>
              <a:t>画面を操作して</a:t>
            </a:r>
            <a:r>
              <a:rPr lang="en-US" altLang="ja-GB" dirty="0"/>
              <a:t>web</a:t>
            </a:r>
            <a:r>
              <a:rPr lang="ja-GB" altLang="en-US" dirty="0"/>
              <a:t>サイトを作れるサービス</a:t>
            </a:r>
            <a:endParaRPr kumimoji="1" lang="ja-GB" altLang="en-US" dirty="0"/>
          </a:p>
        </p:txBody>
      </p:sp>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7C23275C-6796-C2B7-E4C4-36CE41F506F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17361" y="1306762"/>
            <a:ext cx="8309273" cy="5284313"/>
          </a:xfrm>
          <a:prstGeom prst="rect">
            <a:avLst/>
          </a:prstGeom>
        </p:spPr>
      </p:pic>
      <p:sp>
        <p:nvSpPr>
          <p:cNvPr id="6" name="テキスト ボックス 5">
            <a:extLst>
              <a:ext uri="{FF2B5EF4-FFF2-40B4-BE49-F238E27FC236}">
                <a16:creationId xmlns:a16="http://schemas.microsoft.com/office/drawing/2014/main" id="{F17764F1-5168-6EDF-202E-28643DD5DC37}"/>
              </a:ext>
            </a:extLst>
          </p:cNvPr>
          <p:cNvSpPr txBox="1"/>
          <p:nvPr/>
        </p:nvSpPr>
        <p:spPr>
          <a:xfrm>
            <a:off x="740757" y="6421798"/>
            <a:ext cx="7662482" cy="338554"/>
          </a:xfrm>
          <a:prstGeom prst="rect">
            <a:avLst/>
          </a:prstGeom>
          <a:noFill/>
        </p:spPr>
        <p:txBody>
          <a:bodyPr wrap="none" rtlCol="0">
            <a:spAutoFit/>
          </a:bodyPr>
          <a:lstStyle/>
          <a:p>
            <a:pPr algn="ctr"/>
            <a:r>
              <a:rPr kumimoji="1" lang="en-US" altLang="ja-GB" sz="1600" dirty="0"/>
              <a:t>※</a:t>
            </a:r>
            <a:r>
              <a:rPr kumimoji="1" lang="en-GB" altLang="ja-GB" sz="1600" dirty="0">
                <a:hlinkClick r:id="rId3"/>
              </a:rPr>
              <a:t> https://sites.google.com/view/tomiokario</a:t>
            </a:r>
            <a:r>
              <a:rPr kumimoji="1" lang="en-GB" altLang="ja-GB" sz="1600" dirty="0"/>
              <a:t> </a:t>
            </a:r>
            <a:r>
              <a:rPr kumimoji="1" lang="ja-GB" altLang="en-US" sz="1600" dirty="0"/>
              <a:t>で実際に動作している様子を見れます</a:t>
            </a:r>
          </a:p>
        </p:txBody>
      </p:sp>
    </p:spTree>
    <p:extLst>
      <p:ext uri="{BB962C8B-B14F-4D97-AF65-F5344CB8AC3E}">
        <p14:creationId xmlns:p14="http://schemas.microsoft.com/office/powerpoint/2010/main" val="373607227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96BDD-8017-0AA8-3EE9-00D6E45B51C9}"/>
              </a:ext>
            </a:extLst>
          </p:cNvPr>
          <p:cNvSpPr>
            <a:spLocks noGrp="1"/>
          </p:cNvSpPr>
          <p:nvPr>
            <p:ph type="title"/>
          </p:nvPr>
        </p:nvSpPr>
        <p:spPr/>
        <p:txBody>
          <a:bodyPr/>
          <a:lstStyle/>
          <a:p>
            <a:r>
              <a:rPr kumimoji="1" lang="ja-GB" altLang="en-US" dirty="0"/>
              <a:t>例</a:t>
            </a:r>
            <a:r>
              <a:rPr kumimoji="1" lang="en-US" altLang="ja-GB" dirty="0"/>
              <a:t>4</a:t>
            </a:r>
            <a:r>
              <a:rPr kumimoji="1" lang="ja-GB" altLang="en-US" dirty="0"/>
              <a:t>）</a:t>
            </a:r>
            <a:r>
              <a:rPr kumimoji="1" lang="en-US" altLang="ja-GB" dirty="0"/>
              <a:t>Notion</a:t>
            </a:r>
            <a:endParaRPr kumimoji="1" lang="ja-GB" altLang="en-US" dirty="0"/>
          </a:p>
        </p:txBody>
      </p:sp>
      <p:sp>
        <p:nvSpPr>
          <p:cNvPr id="3" name="コンテンツ プレースホルダー 2">
            <a:extLst>
              <a:ext uri="{FF2B5EF4-FFF2-40B4-BE49-F238E27FC236}">
                <a16:creationId xmlns:a16="http://schemas.microsoft.com/office/drawing/2014/main" id="{51580956-BF1A-F7DF-5D41-93F4DBC1F759}"/>
              </a:ext>
            </a:extLst>
          </p:cNvPr>
          <p:cNvSpPr>
            <a:spLocks noGrp="1"/>
          </p:cNvSpPr>
          <p:nvPr>
            <p:ph idx="1"/>
          </p:nvPr>
        </p:nvSpPr>
        <p:spPr/>
        <p:txBody>
          <a:bodyPr/>
          <a:lstStyle/>
          <a:p>
            <a:pPr marL="0" indent="0">
              <a:buNone/>
            </a:pPr>
            <a:r>
              <a:rPr kumimoji="1" lang="ja-GB" altLang="en-US" dirty="0"/>
              <a:t>オンラインで情報を管理</a:t>
            </a:r>
            <a:r>
              <a:rPr lang="ja-GB" altLang="en-US" dirty="0"/>
              <a:t>したり，それを</a:t>
            </a:r>
            <a:r>
              <a:rPr kumimoji="1" lang="ja-GB" altLang="en-US" dirty="0"/>
              <a:t>公開したりできるツール</a:t>
            </a:r>
            <a:endParaRPr kumimoji="1" lang="en-US" altLang="ja-GB" dirty="0"/>
          </a:p>
          <a:p>
            <a:pPr lvl="1"/>
            <a:r>
              <a:rPr kumimoji="1" lang="ja-GB" altLang="en-US" dirty="0"/>
              <a:t>いくつものメモをページやデータベースとして作成し，管理</a:t>
            </a:r>
            <a:r>
              <a:rPr lang="en-US" altLang="ja-GB" dirty="0"/>
              <a:t>/</a:t>
            </a:r>
            <a:r>
              <a:rPr kumimoji="1" lang="ja-GB" altLang="en-US" dirty="0"/>
              <a:t>公開できるサービス</a:t>
            </a:r>
            <a:endParaRPr kumimoji="1" lang="en-US" altLang="ja-GB" dirty="0"/>
          </a:p>
          <a:p>
            <a:pPr lvl="1"/>
            <a:r>
              <a:rPr kumimoji="1" lang="ja-GB" altLang="en-US" dirty="0"/>
              <a:t>画面操作で並べ替え，絞り込み，検索などができる</a:t>
            </a:r>
            <a:endParaRPr kumimoji="1" lang="en-US" altLang="ja-GB" dirty="0"/>
          </a:p>
          <a:p>
            <a:pPr lvl="1"/>
            <a:r>
              <a:rPr lang="ja-GB" altLang="en-US" dirty="0"/>
              <a:t>カレンダーやタイルなど様々な形式で表示できる</a:t>
            </a:r>
            <a:endParaRPr kumimoji="1" lang="en-US" altLang="ja-GB" dirty="0"/>
          </a:p>
          <a:p>
            <a:pPr lvl="1"/>
            <a:r>
              <a:rPr lang="ja-GB" altLang="en-US" dirty="0"/>
              <a:t>外部データベースの参照やフォーマット作成により内容を自動作成できる</a:t>
            </a:r>
            <a:endParaRPr lang="en-US" altLang="ja-GB" dirty="0"/>
          </a:p>
        </p:txBody>
      </p:sp>
      <p:sp>
        <p:nvSpPr>
          <p:cNvPr id="4" name="テキスト ボックス 3">
            <a:extLst>
              <a:ext uri="{FF2B5EF4-FFF2-40B4-BE49-F238E27FC236}">
                <a16:creationId xmlns:a16="http://schemas.microsoft.com/office/drawing/2014/main" id="{C4C43A93-C225-44CC-BAA0-640D9D5F1614}"/>
              </a:ext>
            </a:extLst>
          </p:cNvPr>
          <p:cNvSpPr txBox="1"/>
          <p:nvPr/>
        </p:nvSpPr>
        <p:spPr>
          <a:xfrm>
            <a:off x="157162" y="6506874"/>
            <a:ext cx="8829676" cy="276999"/>
          </a:xfrm>
          <a:prstGeom prst="rect">
            <a:avLst/>
          </a:prstGeom>
          <a:noFill/>
        </p:spPr>
        <p:txBody>
          <a:bodyPr wrap="square" rtlCol="0">
            <a:spAutoFit/>
          </a:bodyPr>
          <a:lstStyle/>
          <a:p>
            <a:pPr algn="ctr"/>
            <a:r>
              <a:rPr kumimoji="1" lang="en-US" altLang="ja-GB" sz="1200" dirty="0"/>
              <a:t>※</a:t>
            </a:r>
            <a:r>
              <a:rPr kumimoji="1" lang="ja-GB" altLang="en-US" sz="1200" dirty="0"/>
              <a:t>このページは</a:t>
            </a:r>
            <a:r>
              <a:rPr kumimoji="1" lang="en-US" altLang="ja-GB" sz="1200" dirty="0"/>
              <a:t> </a:t>
            </a:r>
            <a:r>
              <a:rPr kumimoji="1" lang="en-US" altLang="ja-GB" sz="1200" dirty="0">
                <a:hlinkClick r:id="rId2"/>
              </a:rPr>
              <a:t>https://tomiokario.notion.site/Publication-list-1a6532283c7a802a97edca590300b9f6?pvs=4</a:t>
            </a:r>
            <a:r>
              <a:rPr kumimoji="1" lang="en-US" altLang="ja-GB" sz="1200" dirty="0"/>
              <a:t>  </a:t>
            </a:r>
            <a:r>
              <a:rPr kumimoji="1" lang="ja-GB" altLang="en-US" sz="1200" dirty="0"/>
              <a:t>で試せます</a:t>
            </a:r>
          </a:p>
        </p:txBody>
      </p:sp>
      <p:pic>
        <p:nvPicPr>
          <p:cNvPr id="6" name="図 5" descr="テキスト&#10;&#10;AI 生成コンテンツは誤りを含む可能性があります。">
            <a:extLst>
              <a:ext uri="{FF2B5EF4-FFF2-40B4-BE49-F238E27FC236}">
                <a16:creationId xmlns:a16="http://schemas.microsoft.com/office/drawing/2014/main" id="{598445A1-D449-3BEB-3194-249165E750C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4582" y="2732957"/>
            <a:ext cx="3255370" cy="3861839"/>
          </a:xfrm>
          <a:prstGeom prst="rect">
            <a:avLst/>
          </a:prstGeom>
        </p:spPr>
      </p:pic>
      <p:pic>
        <p:nvPicPr>
          <p:cNvPr id="10" name="図 9" descr="モニター画面に映る文字のスクリーンショット&#10;&#10;AI 生成コンテンツは誤りを含む可能性があります。">
            <a:extLst>
              <a:ext uri="{FF2B5EF4-FFF2-40B4-BE49-F238E27FC236}">
                <a16:creationId xmlns:a16="http://schemas.microsoft.com/office/drawing/2014/main" id="{58A2909C-CC49-4BB5-9670-9139E92D5B0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750209" y="2968918"/>
            <a:ext cx="5289618" cy="3389919"/>
          </a:xfrm>
          <a:prstGeom prst="rect">
            <a:avLst/>
          </a:prstGeom>
        </p:spPr>
      </p:pic>
    </p:spTree>
    <p:extLst>
      <p:ext uri="{BB962C8B-B14F-4D97-AF65-F5344CB8AC3E}">
        <p14:creationId xmlns:p14="http://schemas.microsoft.com/office/powerpoint/2010/main" val="92566336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53B8EB-010B-3183-E491-800B7E773BD4}"/>
              </a:ext>
            </a:extLst>
          </p:cNvPr>
          <p:cNvSpPr>
            <a:spLocks noGrp="1"/>
          </p:cNvSpPr>
          <p:nvPr>
            <p:ph type="title"/>
          </p:nvPr>
        </p:nvSpPr>
        <p:spPr/>
        <p:txBody>
          <a:bodyPr/>
          <a:lstStyle/>
          <a:p>
            <a:r>
              <a:rPr kumimoji="1" lang="ja-GB" altLang="en-US" dirty="0"/>
              <a:t>例</a:t>
            </a:r>
            <a:r>
              <a:rPr kumimoji="1" lang="en-US" altLang="ja-GB" dirty="0"/>
              <a:t>5</a:t>
            </a:r>
            <a:r>
              <a:rPr kumimoji="1" lang="ja-GB" altLang="en-US" dirty="0"/>
              <a:t>）</a:t>
            </a:r>
            <a:r>
              <a:rPr kumimoji="1" lang="en-US" altLang="ja-GB" dirty="0"/>
              <a:t>Unity</a:t>
            </a:r>
            <a:endParaRPr kumimoji="1" lang="ja-GB" altLang="en-US" dirty="0"/>
          </a:p>
        </p:txBody>
      </p:sp>
      <p:sp>
        <p:nvSpPr>
          <p:cNvPr id="3" name="コンテンツ プレースホルダー 2">
            <a:extLst>
              <a:ext uri="{FF2B5EF4-FFF2-40B4-BE49-F238E27FC236}">
                <a16:creationId xmlns:a16="http://schemas.microsoft.com/office/drawing/2014/main" id="{69C392B5-1A4E-DCEB-E5B4-D5BC9F7020CB}"/>
              </a:ext>
            </a:extLst>
          </p:cNvPr>
          <p:cNvSpPr>
            <a:spLocks noGrp="1"/>
          </p:cNvSpPr>
          <p:nvPr>
            <p:ph idx="1"/>
          </p:nvPr>
        </p:nvSpPr>
        <p:spPr/>
        <p:txBody>
          <a:bodyPr/>
          <a:lstStyle/>
          <a:p>
            <a:pPr marL="0" indent="0">
              <a:buNone/>
            </a:pPr>
            <a:r>
              <a:rPr lang="ja-GB" altLang="en-US" dirty="0"/>
              <a:t>画面操作とプログラミングを組み合わせてゲームを作れるソフトウェア</a:t>
            </a:r>
            <a:endParaRPr lang="en-US" altLang="ja-GB" dirty="0"/>
          </a:p>
          <a:p>
            <a:pPr lvl="1"/>
            <a:r>
              <a:rPr kumimoji="1" lang="en-US" altLang="ja-GB" dirty="0"/>
              <a:t>3D</a:t>
            </a:r>
            <a:r>
              <a:rPr kumimoji="1" lang="ja-GB" altLang="en-US" dirty="0"/>
              <a:t>空間にオブジェクトを配置して空間を作ることができる</a:t>
            </a:r>
            <a:endParaRPr kumimoji="1" lang="en-US" altLang="ja-GB" dirty="0"/>
          </a:p>
          <a:p>
            <a:pPr lvl="1"/>
            <a:r>
              <a:rPr kumimoji="1" lang="ja-GB" altLang="en-US" dirty="0"/>
              <a:t>オブジェクトのパラメータを操作して，特性を設定できる</a:t>
            </a:r>
            <a:endParaRPr kumimoji="1" lang="en-US" altLang="ja-GB" dirty="0"/>
          </a:p>
          <a:p>
            <a:pPr lvl="1"/>
            <a:r>
              <a:rPr lang="ja-GB" altLang="en-US" dirty="0"/>
              <a:t>移動や衝突判定などの基本的な動作は「機能」として付与できる</a:t>
            </a:r>
            <a:endParaRPr lang="en-US" altLang="ja-GB" dirty="0"/>
          </a:p>
          <a:p>
            <a:pPr lvl="1"/>
            <a:r>
              <a:rPr kumimoji="1" lang="ja-GB" altLang="en-US" dirty="0"/>
              <a:t>用意されていない機能はプログラミングして実装できる</a:t>
            </a:r>
          </a:p>
        </p:txBody>
      </p:sp>
      <p:pic>
        <p:nvPicPr>
          <p:cNvPr id="11266" name="Picture 2">
            <a:extLst>
              <a:ext uri="{FF2B5EF4-FFF2-40B4-BE49-F238E27FC236}">
                <a16:creationId xmlns:a16="http://schemas.microsoft.com/office/drawing/2014/main" id="{BF6DF835-FF22-FE4A-DEC3-4C8A322F66F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99931" y="2979989"/>
            <a:ext cx="7344137" cy="362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49615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88360-DDB1-5BC0-492F-016BCCC9D1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35ACD2-3C00-D84A-83E6-5B00F2E7FD69}"/>
              </a:ext>
            </a:extLst>
          </p:cNvPr>
          <p:cNvSpPr>
            <a:spLocks noGrp="1"/>
          </p:cNvSpPr>
          <p:nvPr>
            <p:ph type="title"/>
          </p:nvPr>
        </p:nvSpPr>
        <p:spPr/>
        <p:txBody>
          <a:bodyPr/>
          <a:lstStyle/>
          <a:p>
            <a:r>
              <a:rPr lang="ja-GB" altLang="en-US" dirty="0"/>
              <a:t>第</a:t>
            </a:r>
            <a:r>
              <a:rPr lang="en-US" altLang="ja-GB" dirty="0"/>
              <a:t>6</a:t>
            </a:r>
            <a:r>
              <a:rPr lang="ja-GB" altLang="en-US" dirty="0"/>
              <a:t>回：プログラムの基本</a:t>
            </a:r>
            <a:endParaRPr kumimoji="1" lang="ja-GB" altLang="en-US" dirty="0"/>
          </a:p>
        </p:txBody>
      </p:sp>
      <p:sp>
        <p:nvSpPr>
          <p:cNvPr id="3" name="コンテンツ プレースホルダー 2">
            <a:extLst>
              <a:ext uri="{FF2B5EF4-FFF2-40B4-BE49-F238E27FC236}">
                <a16:creationId xmlns:a16="http://schemas.microsoft.com/office/drawing/2014/main" id="{DD6A0B34-816C-328D-D2FF-4C549F32049B}"/>
              </a:ext>
            </a:extLst>
          </p:cNvPr>
          <p:cNvSpPr>
            <a:spLocks noGrp="1"/>
          </p:cNvSpPr>
          <p:nvPr>
            <p:ph idx="1"/>
          </p:nvPr>
        </p:nvSpPr>
        <p:spPr/>
        <p:txBody>
          <a:bodyPr/>
          <a:lstStyle/>
          <a:p>
            <a:pPr marL="0" indent="0">
              <a:buNone/>
            </a:pPr>
            <a:r>
              <a:rPr kumimoji="1" lang="ja-GB" altLang="en-US" dirty="0"/>
              <a:t>アルゴリズムをどう計算機に実装するか？</a:t>
            </a:r>
            <a:endParaRPr kumimoji="1" lang="en-US" altLang="ja-GB" dirty="0"/>
          </a:p>
          <a:p>
            <a:pPr marL="914400" lvl="1" indent="-457200">
              <a:buFont typeface="+mj-lt"/>
              <a:buAutoNum type="arabicPeriod"/>
            </a:pPr>
            <a:r>
              <a:rPr kumimoji="1" lang="ja-GB" altLang="en-US" dirty="0">
                <a:solidFill>
                  <a:schemeClr val="tx1">
                    <a:lumMod val="50000"/>
                    <a:lumOff val="50000"/>
                  </a:schemeClr>
                </a:solidFill>
              </a:rPr>
              <a:t>プログラミングの記述方法</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命令を言葉で記述する（プログラミング言語）</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処理の流れを図示する（ビジュアルプログラミング言語）</a:t>
            </a:r>
            <a:endParaRPr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画面操作でアプリを作る（ノーコード，ローコード）</a:t>
            </a:r>
            <a:endParaRPr kumimoji="1" lang="en-US" altLang="ja-GB" dirty="0">
              <a:solidFill>
                <a:schemeClr val="tx1">
                  <a:lumMod val="50000"/>
                  <a:lumOff val="50000"/>
                </a:schemeClr>
              </a:solidFill>
            </a:endParaRPr>
          </a:p>
          <a:p>
            <a:pPr lvl="2"/>
            <a:endParaRPr kumimoji="1" lang="en-US" altLang="ja-GB" dirty="0"/>
          </a:p>
          <a:p>
            <a:pPr marL="914400" lvl="1" indent="-457200">
              <a:buFont typeface="+mj-lt"/>
              <a:buAutoNum type="arabicPeriod"/>
            </a:pPr>
            <a:r>
              <a:rPr lang="ja-GB" altLang="en-US" dirty="0">
                <a:solidFill>
                  <a:srgbClr val="002060"/>
                </a:solidFill>
              </a:rPr>
              <a:t>プログラミング言語の基本</a:t>
            </a:r>
            <a:endParaRPr lang="en-US" altLang="ja-GB" dirty="0">
              <a:solidFill>
                <a:srgbClr val="002060"/>
              </a:solidFill>
            </a:endParaRPr>
          </a:p>
          <a:p>
            <a:pPr lvl="2"/>
            <a:r>
              <a:rPr lang="ja-GB" altLang="en-US" dirty="0"/>
              <a:t>情報を保持する（変数，型）</a:t>
            </a:r>
            <a:endParaRPr lang="en-US" altLang="ja-GB" dirty="0"/>
          </a:p>
          <a:p>
            <a:pPr lvl="2"/>
            <a:r>
              <a:rPr lang="ja-GB" altLang="en-US" dirty="0"/>
              <a:t>情報を処理する（演算子）</a:t>
            </a:r>
            <a:endParaRPr lang="en-US" altLang="ja-GB" dirty="0"/>
          </a:p>
          <a:p>
            <a:pPr lvl="2"/>
            <a:r>
              <a:rPr lang="ja-GB" altLang="en-US" dirty="0"/>
              <a:t>繰り返し使う手順を一つの命令にまとめる（関数）</a:t>
            </a:r>
            <a:endParaRPr lang="en-US" altLang="ja-GB" dirty="0"/>
          </a:p>
          <a:p>
            <a:pPr lvl="2"/>
            <a:endParaRPr lang="en-US" altLang="ja-GB" dirty="0"/>
          </a:p>
          <a:p>
            <a:pPr marL="914400" lvl="1" indent="-457200">
              <a:buFont typeface="+mj-lt"/>
              <a:buAutoNum type="arabicPeriod"/>
            </a:pPr>
            <a:r>
              <a:rPr kumimoji="1" lang="ja-GB" altLang="en-US" dirty="0">
                <a:solidFill>
                  <a:schemeClr val="tx1">
                    <a:lumMod val="50000"/>
                    <a:lumOff val="50000"/>
                  </a:schemeClr>
                </a:solidFill>
              </a:rPr>
              <a:t>プログラミングの実際</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便利な関数を利用する（標準関数，ライブラリ，</a:t>
            </a:r>
            <a:r>
              <a:rPr kumimoji="1" lang="en-US" altLang="ja-GB" dirty="0">
                <a:solidFill>
                  <a:schemeClr val="tx1">
                    <a:lumMod val="50000"/>
                    <a:lumOff val="50000"/>
                  </a:schemeClr>
                </a:solidFill>
              </a:rPr>
              <a:t>API</a:t>
            </a:r>
            <a:r>
              <a:rPr kumimoji="1" lang="ja-GB" altLang="en-US" dirty="0">
                <a:solidFill>
                  <a:schemeClr val="tx1">
                    <a:lumMod val="50000"/>
                    <a:lumOff val="50000"/>
                  </a:schemeClr>
                </a:solidFill>
              </a:rPr>
              <a:t>）</a:t>
            </a:r>
            <a:endParaRPr kumimoji="1" lang="en-US" altLang="ja-GB" dirty="0">
              <a:solidFill>
                <a:schemeClr val="tx1">
                  <a:lumMod val="50000"/>
                  <a:lumOff val="50000"/>
                </a:schemeClr>
              </a:solidFill>
            </a:endParaRPr>
          </a:p>
        </p:txBody>
      </p:sp>
    </p:spTree>
    <p:extLst>
      <p:ext uri="{BB962C8B-B14F-4D97-AF65-F5344CB8AC3E}">
        <p14:creationId xmlns:p14="http://schemas.microsoft.com/office/powerpoint/2010/main" val="78653283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A3A167-B1A3-BAF9-5FB2-2E653AE7CD8D}"/>
              </a:ext>
            </a:extLst>
          </p:cNvPr>
          <p:cNvSpPr>
            <a:spLocks noGrp="1"/>
          </p:cNvSpPr>
          <p:nvPr>
            <p:ph type="title"/>
          </p:nvPr>
        </p:nvSpPr>
        <p:spPr/>
        <p:txBody>
          <a:bodyPr/>
          <a:lstStyle/>
          <a:p>
            <a:r>
              <a:rPr kumimoji="1" lang="ja-GB" altLang="en-US" dirty="0"/>
              <a:t>変数，型</a:t>
            </a:r>
          </a:p>
        </p:txBody>
      </p:sp>
      <p:sp>
        <p:nvSpPr>
          <p:cNvPr id="3" name="コンテンツ プレースホルダー 2">
            <a:extLst>
              <a:ext uri="{FF2B5EF4-FFF2-40B4-BE49-F238E27FC236}">
                <a16:creationId xmlns:a16="http://schemas.microsoft.com/office/drawing/2014/main" id="{8B6E77F1-71AA-9222-C4DD-367F3CD5DCDC}"/>
              </a:ext>
            </a:extLst>
          </p:cNvPr>
          <p:cNvSpPr>
            <a:spLocks noGrp="1"/>
          </p:cNvSpPr>
          <p:nvPr>
            <p:ph idx="1"/>
          </p:nvPr>
        </p:nvSpPr>
        <p:spPr/>
        <p:txBody>
          <a:bodyPr/>
          <a:lstStyle/>
          <a:p>
            <a:pPr marL="0" indent="0">
              <a:buNone/>
            </a:pPr>
            <a:r>
              <a:rPr lang="ja-GB" altLang="en-US" dirty="0"/>
              <a:t>情報を保持するための記述</a:t>
            </a:r>
            <a:endParaRPr lang="en-US" altLang="ja-GB" dirty="0"/>
          </a:p>
          <a:p>
            <a:pPr marL="457200" lvl="1" indent="0">
              <a:buNone/>
            </a:pPr>
            <a:r>
              <a:rPr lang="ja-GB" altLang="en-US" dirty="0"/>
              <a:t>例</a:t>
            </a:r>
            <a:r>
              <a:rPr lang="en-US" altLang="ja-GB" dirty="0"/>
              <a:t>1</a:t>
            </a:r>
            <a:r>
              <a:rPr lang="ja-GB" altLang="en-US" dirty="0"/>
              <a:t>）文字列型の変数</a:t>
            </a:r>
            <a:endParaRPr lang="en-US" altLang="ja-GB" dirty="0"/>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a = ”Hello, ”</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b = “John”</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c = a + b       →     c</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a</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b</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a:t>
            </a:r>
            <a:r>
              <a:rPr lang="ja-GB" altLang="en-US" sz="1600" dirty="0">
                <a:solidFill>
                  <a:schemeClr val="tx1">
                    <a:lumMod val="50000"/>
                    <a:lumOff val="50000"/>
                  </a:schemeClr>
                </a:solidFill>
              </a:rPr>
              <a:t>」</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d = “5”</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e = c + d       →     e</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c</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d</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John5”</a:t>
            </a:r>
            <a:r>
              <a:rPr lang="ja-GB" altLang="en-US" sz="1600" dirty="0">
                <a:solidFill>
                  <a:schemeClr val="tx1">
                    <a:lumMod val="50000"/>
                    <a:lumOff val="50000"/>
                  </a:schemeClr>
                </a:solidFill>
              </a:rPr>
              <a:t>」</a:t>
            </a:r>
            <a:endParaRPr lang="en-US" altLang="ja-GB" dirty="0">
              <a:solidFill>
                <a:schemeClr val="tx1">
                  <a:lumMod val="50000"/>
                  <a:lumOff val="50000"/>
                </a:schemeClr>
              </a:solidFill>
            </a:endParaRPr>
          </a:p>
          <a:p>
            <a:pPr lvl="4"/>
            <a:endParaRPr lang="en-US" altLang="ja-GB" dirty="0"/>
          </a:p>
        </p:txBody>
      </p:sp>
    </p:spTree>
    <p:extLst>
      <p:ext uri="{BB962C8B-B14F-4D97-AF65-F5344CB8AC3E}">
        <p14:creationId xmlns:p14="http://schemas.microsoft.com/office/powerpoint/2010/main" val="223784132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ED033-579D-B247-52F1-E9DCC63A8F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EDE652-97F7-857A-1447-9C891D45FECA}"/>
              </a:ext>
            </a:extLst>
          </p:cNvPr>
          <p:cNvSpPr>
            <a:spLocks noGrp="1"/>
          </p:cNvSpPr>
          <p:nvPr>
            <p:ph type="title"/>
          </p:nvPr>
        </p:nvSpPr>
        <p:spPr/>
        <p:txBody>
          <a:bodyPr/>
          <a:lstStyle/>
          <a:p>
            <a:r>
              <a:rPr kumimoji="1" lang="ja-GB" altLang="en-US" dirty="0"/>
              <a:t>変数，型</a:t>
            </a:r>
          </a:p>
        </p:txBody>
      </p:sp>
      <p:sp>
        <p:nvSpPr>
          <p:cNvPr id="3" name="コンテンツ プレースホルダー 2">
            <a:extLst>
              <a:ext uri="{FF2B5EF4-FFF2-40B4-BE49-F238E27FC236}">
                <a16:creationId xmlns:a16="http://schemas.microsoft.com/office/drawing/2014/main" id="{11D7743A-3BF1-20F8-C9EE-C6BD05BE2B54}"/>
              </a:ext>
            </a:extLst>
          </p:cNvPr>
          <p:cNvSpPr>
            <a:spLocks noGrp="1"/>
          </p:cNvSpPr>
          <p:nvPr>
            <p:ph idx="1"/>
          </p:nvPr>
        </p:nvSpPr>
        <p:spPr/>
        <p:txBody>
          <a:bodyPr/>
          <a:lstStyle/>
          <a:p>
            <a:pPr marL="0" indent="0">
              <a:buNone/>
            </a:pPr>
            <a:r>
              <a:rPr lang="ja-GB" altLang="en-US" dirty="0"/>
              <a:t>情報を保持するための記述</a:t>
            </a:r>
            <a:endParaRPr lang="en-US" altLang="ja-GB" dirty="0"/>
          </a:p>
          <a:p>
            <a:pPr marL="457200" lvl="1"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1</a:t>
            </a:r>
            <a:r>
              <a:rPr lang="ja-GB" altLang="en-US" dirty="0">
                <a:solidFill>
                  <a:schemeClr val="tx1">
                    <a:lumMod val="50000"/>
                    <a:lumOff val="50000"/>
                  </a:schemeClr>
                </a:solidFill>
              </a:rPr>
              <a:t>）文字列型の変数</a:t>
            </a:r>
            <a:endParaRPr lang="en-US" altLang="ja-GB"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a = ”Hello, ”</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b = “John”</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c = a + b       →     c</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a</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b</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a:t>
            </a:r>
            <a:r>
              <a:rPr lang="ja-GB" altLang="en-US" sz="1600" dirty="0">
                <a:solidFill>
                  <a:schemeClr val="tx1">
                    <a:lumMod val="50000"/>
                    <a:lumOff val="50000"/>
                  </a:schemeClr>
                </a:solidFill>
              </a:rPr>
              <a:t>」</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d = “5”</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e = c + d       →     e</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c</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d</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John5”</a:t>
            </a:r>
            <a:r>
              <a:rPr lang="ja-GB" altLang="en-US" sz="1600" dirty="0">
                <a:solidFill>
                  <a:schemeClr val="tx1">
                    <a:lumMod val="50000"/>
                    <a:lumOff val="50000"/>
                  </a:schemeClr>
                </a:solidFill>
              </a:rPr>
              <a:t>」</a:t>
            </a:r>
            <a:endParaRPr lang="en-US" altLang="ja-GB" dirty="0">
              <a:solidFill>
                <a:schemeClr val="tx1">
                  <a:lumMod val="50000"/>
                  <a:lumOff val="50000"/>
                </a:schemeClr>
              </a:solidFill>
            </a:endParaRPr>
          </a:p>
          <a:p>
            <a:pPr lvl="4"/>
            <a:endParaRPr lang="en-US" altLang="ja-GB" dirty="0"/>
          </a:p>
          <a:p>
            <a:pPr marL="457200" lvl="1" indent="0">
              <a:buNone/>
            </a:pPr>
            <a:r>
              <a:rPr lang="ja-GB" altLang="en-US" dirty="0"/>
              <a:t>例</a:t>
            </a:r>
            <a:r>
              <a:rPr lang="en-US" altLang="ja-GB" dirty="0"/>
              <a:t>2</a:t>
            </a:r>
            <a:r>
              <a:rPr lang="ja-GB" altLang="en-US" dirty="0"/>
              <a:t>）数値型の変数</a:t>
            </a:r>
            <a:endParaRPr lang="en-US" altLang="ja-GB" dirty="0"/>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a = 1</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b =2</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c = a + b       →     c</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1+2</a:t>
            </a:r>
            <a:r>
              <a:rPr lang="ja-GB" altLang="en-US" sz="1600" dirty="0">
                <a:solidFill>
                  <a:schemeClr val="tx1">
                    <a:lumMod val="50000"/>
                    <a:lumOff val="50000"/>
                  </a:schemeClr>
                </a:solidFill>
              </a:rPr>
              <a:t>」の結果の「</a:t>
            </a:r>
            <a:r>
              <a:rPr lang="en-US" altLang="ja-GB" sz="1600" dirty="0">
                <a:solidFill>
                  <a:schemeClr val="tx1">
                    <a:lumMod val="50000"/>
                    <a:lumOff val="50000"/>
                  </a:schemeClr>
                </a:solidFill>
              </a:rPr>
              <a:t>3</a:t>
            </a:r>
            <a:r>
              <a:rPr lang="ja-GB" altLang="en-US" sz="1600" dirty="0">
                <a:solidFill>
                  <a:schemeClr val="tx1">
                    <a:lumMod val="50000"/>
                    <a:lumOff val="50000"/>
                  </a:schemeClr>
                </a:solidFill>
              </a:rPr>
              <a:t>」</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d = 4</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e = c ÷ d       →     e</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3÷4</a:t>
            </a:r>
            <a:r>
              <a:rPr lang="ja-GB" altLang="en-US" sz="1600" dirty="0">
                <a:solidFill>
                  <a:schemeClr val="tx1">
                    <a:lumMod val="50000"/>
                    <a:lumOff val="50000"/>
                  </a:schemeClr>
                </a:solidFill>
              </a:rPr>
              <a:t>」の結果の「</a:t>
            </a:r>
            <a:r>
              <a:rPr lang="en-US" altLang="ja-GB" sz="1600" dirty="0">
                <a:solidFill>
                  <a:schemeClr val="tx1">
                    <a:lumMod val="50000"/>
                    <a:lumOff val="50000"/>
                  </a:schemeClr>
                </a:solidFill>
              </a:rPr>
              <a:t>0.75</a:t>
            </a:r>
            <a:r>
              <a:rPr lang="ja-GB" altLang="en-US" sz="1600" dirty="0">
                <a:solidFill>
                  <a:schemeClr val="tx1">
                    <a:lumMod val="50000"/>
                    <a:lumOff val="50000"/>
                  </a:schemeClr>
                </a:solidFill>
              </a:rPr>
              <a:t>」</a:t>
            </a:r>
            <a:endParaRPr lang="en-US" altLang="ja-GB" dirty="0">
              <a:solidFill>
                <a:schemeClr val="tx1">
                  <a:lumMod val="50000"/>
                  <a:lumOff val="50000"/>
                </a:schemeClr>
              </a:solidFill>
            </a:endParaRPr>
          </a:p>
          <a:p>
            <a:pPr lvl="4"/>
            <a:endParaRPr lang="en-US" altLang="ja-GB" dirty="0"/>
          </a:p>
        </p:txBody>
      </p:sp>
    </p:spTree>
    <p:extLst>
      <p:ext uri="{BB962C8B-B14F-4D97-AF65-F5344CB8AC3E}">
        <p14:creationId xmlns:p14="http://schemas.microsoft.com/office/powerpoint/2010/main" val="330661188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7B34E-B3D1-E5D6-0CB1-C8F43A03FC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187867-C095-CF5D-DD29-EEDC4471BE31}"/>
              </a:ext>
            </a:extLst>
          </p:cNvPr>
          <p:cNvSpPr>
            <a:spLocks noGrp="1"/>
          </p:cNvSpPr>
          <p:nvPr>
            <p:ph type="title"/>
          </p:nvPr>
        </p:nvSpPr>
        <p:spPr/>
        <p:txBody>
          <a:bodyPr/>
          <a:lstStyle/>
          <a:p>
            <a:r>
              <a:rPr kumimoji="1" lang="ja-GB" altLang="en-US" dirty="0"/>
              <a:t>変数，型</a:t>
            </a:r>
          </a:p>
        </p:txBody>
      </p:sp>
      <p:sp>
        <p:nvSpPr>
          <p:cNvPr id="3" name="コンテンツ プレースホルダー 2">
            <a:extLst>
              <a:ext uri="{FF2B5EF4-FFF2-40B4-BE49-F238E27FC236}">
                <a16:creationId xmlns:a16="http://schemas.microsoft.com/office/drawing/2014/main" id="{CA294112-CD19-73A4-001D-B8AA8C5FC746}"/>
              </a:ext>
            </a:extLst>
          </p:cNvPr>
          <p:cNvSpPr>
            <a:spLocks noGrp="1"/>
          </p:cNvSpPr>
          <p:nvPr>
            <p:ph idx="1"/>
          </p:nvPr>
        </p:nvSpPr>
        <p:spPr/>
        <p:txBody>
          <a:bodyPr/>
          <a:lstStyle/>
          <a:p>
            <a:pPr marL="0" indent="0">
              <a:buNone/>
            </a:pPr>
            <a:r>
              <a:rPr lang="ja-GB" altLang="en-US" dirty="0"/>
              <a:t>情報を保持するための記述</a:t>
            </a:r>
            <a:endParaRPr lang="en-US" altLang="ja-GB" dirty="0"/>
          </a:p>
          <a:p>
            <a:pPr marL="457200" lvl="1"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1</a:t>
            </a:r>
            <a:r>
              <a:rPr lang="ja-GB" altLang="en-US" dirty="0">
                <a:solidFill>
                  <a:schemeClr val="tx1">
                    <a:lumMod val="50000"/>
                    <a:lumOff val="50000"/>
                  </a:schemeClr>
                </a:solidFill>
              </a:rPr>
              <a:t>）文字列型の変数</a:t>
            </a:r>
            <a:endParaRPr lang="en-US" altLang="ja-GB"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a = ”Hello, ”</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b = “John”</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c = a + b       →     c</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a</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b</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a:t>
            </a:r>
            <a:r>
              <a:rPr lang="ja-GB" altLang="en-US" sz="1600" dirty="0">
                <a:solidFill>
                  <a:schemeClr val="tx1">
                    <a:lumMod val="50000"/>
                    <a:lumOff val="50000"/>
                  </a:schemeClr>
                </a:solidFill>
              </a:rPr>
              <a:t>」</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d = “5”</a:t>
            </a:r>
          </a:p>
          <a:p>
            <a:pPr marL="1257300" lvl="2" indent="-342900">
              <a:buFont typeface="+mj-lt"/>
              <a:buAutoNum type="arabicPeriod"/>
            </a:pPr>
            <a:r>
              <a:rPr lang="ja-GB" altLang="en-US" sz="1600" dirty="0">
                <a:solidFill>
                  <a:schemeClr val="tx1">
                    <a:lumMod val="50000"/>
                    <a:lumOff val="50000"/>
                  </a:schemeClr>
                </a:solidFill>
              </a:rPr>
              <a:t>文字列</a:t>
            </a:r>
            <a:r>
              <a:rPr lang="en-US" altLang="ja-GB" sz="1600" dirty="0">
                <a:solidFill>
                  <a:schemeClr val="tx1">
                    <a:lumMod val="50000"/>
                    <a:lumOff val="50000"/>
                  </a:schemeClr>
                </a:solidFill>
              </a:rPr>
              <a:t> e = c + d       →     e</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c</a:t>
            </a:r>
            <a:r>
              <a:rPr lang="ja-GB" altLang="en-US" sz="1600" dirty="0">
                <a:solidFill>
                  <a:schemeClr val="tx1">
                    <a:lumMod val="50000"/>
                    <a:lumOff val="50000"/>
                  </a:schemeClr>
                </a:solidFill>
              </a:rPr>
              <a:t>と</a:t>
            </a:r>
            <a:r>
              <a:rPr lang="en-US" altLang="ja-GB" sz="1600" dirty="0">
                <a:solidFill>
                  <a:schemeClr val="tx1">
                    <a:lumMod val="50000"/>
                    <a:lumOff val="50000"/>
                  </a:schemeClr>
                </a:solidFill>
              </a:rPr>
              <a:t>d</a:t>
            </a:r>
            <a:r>
              <a:rPr lang="ja-GB" altLang="en-US" sz="1600" dirty="0">
                <a:solidFill>
                  <a:schemeClr val="tx1">
                    <a:lumMod val="50000"/>
                    <a:lumOff val="50000"/>
                  </a:schemeClr>
                </a:solidFill>
              </a:rPr>
              <a:t>を並べた「</a:t>
            </a:r>
            <a:r>
              <a:rPr lang="en-US" altLang="ja-GB" sz="1600" dirty="0">
                <a:solidFill>
                  <a:schemeClr val="tx1">
                    <a:lumMod val="50000"/>
                    <a:lumOff val="50000"/>
                  </a:schemeClr>
                </a:solidFill>
              </a:rPr>
              <a:t>”Hello, John5”</a:t>
            </a:r>
            <a:r>
              <a:rPr lang="ja-GB" altLang="en-US" sz="1600" dirty="0">
                <a:solidFill>
                  <a:schemeClr val="tx1">
                    <a:lumMod val="50000"/>
                    <a:lumOff val="50000"/>
                  </a:schemeClr>
                </a:solidFill>
              </a:rPr>
              <a:t>」</a:t>
            </a:r>
            <a:endParaRPr lang="en-US" altLang="ja-GB" dirty="0">
              <a:solidFill>
                <a:schemeClr val="tx1">
                  <a:lumMod val="50000"/>
                  <a:lumOff val="50000"/>
                </a:schemeClr>
              </a:solidFill>
            </a:endParaRPr>
          </a:p>
          <a:p>
            <a:pPr lvl="4"/>
            <a:endParaRPr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2</a:t>
            </a:r>
            <a:r>
              <a:rPr lang="ja-GB" altLang="en-US" dirty="0">
                <a:solidFill>
                  <a:schemeClr val="tx1">
                    <a:lumMod val="50000"/>
                    <a:lumOff val="50000"/>
                  </a:schemeClr>
                </a:solidFill>
              </a:rPr>
              <a:t>）数値型の変数</a:t>
            </a:r>
            <a:endParaRPr lang="en-US" altLang="ja-GB"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a = 1</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b =2</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c = a + b       →     c</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1+2</a:t>
            </a:r>
            <a:r>
              <a:rPr lang="ja-GB" altLang="en-US" sz="1600" dirty="0">
                <a:solidFill>
                  <a:schemeClr val="tx1">
                    <a:lumMod val="50000"/>
                    <a:lumOff val="50000"/>
                  </a:schemeClr>
                </a:solidFill>
              </a:rPr>
              <a:t>」の結果の「</a:t>
            </a:r>
            <a:r>
              <a:rPr lang="en-US" altLang="ja-GB" sz="1600" dirty="0">
                <a:solidFill>
                  <a:schemeClr val="tx1">
                    <a:lumMod val="50000"/>
                    <a:lumOff val="50000"/>
                  </a:schemeClr>
                </a:solidFill>
              </a:rPr>
              <a:t>3</a:t>
            </a:r>
            <a:r>
              <a:rPr lang="ja-GB" altLang="en-US" sz="1600" dirty="0">
                <a:solidFill>
                  <a:schemeClr val="tx1">
                    <a:lumMod val="50000"/>
                    <a:lumOff val="50000"/>
                  </a:schemeClr>
                </a:solidFill>
              </a:rPr>
              <a:t>」</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d = 4</a:t>
            </a:r>
          </a:p>
          <a:p>
            <a:pPr marL="1257300" lvl="2" indent="-342900">
              <a:buFont typeface="+mj-lt"/>
              <a:buAutoNum type="arabicPeriod"/>
            </a:pPr>
            <a:r>
              <a:rPr lang="ja-GB" altLang="en-US" sz="1600" dirty="0">
                <a:solidFill>
                  <a:schemeClr val="tx1">
                    <a:lumMod val="50000"/>
                    <a:lumOff val="50000"/>
                  </a:schemeClr>
                </a:solidFill>
              </a:rPr>
              <a:t>数値</a:t>
            </a:r>
            <a:r>
              <a:rPr lang="en-US" altLang="ja-GB" sz="1600" dirty="0">
                <a:solidFill>
                  <a:schemeClr val="tx1">
                    <a:lumMod val="50000"/>
                    <a:lumOff val="50000"/>
                  </a:schemeClr>
                </a:solidFill>
              </a:rPr>
              <a:t> e = c ÷ d       →     e</a:t>
            </a:r>
            <a:r>
              <a:rPr lang="ja-GB" altLang="en-US" sz="1600" dirty="0">
                <a:solidFill>
                  <a:schemeClr val="tx1">
                    <a:lumMod val="50000"/>
                    <a:lumOff val="50000"/>
                  </a:schemeClr>
                </a:solidFill>
              </a:rPr>
              <a:t>は「</a:t>
            </a:r>
            <a:r>
              <a:rPr lang="en-US" altLang="ja-GB" sz="1600" dirty="0">
                <a:solidFill>
                  <a:schemeClr val="tx1">
                    <a:lumMod val="50000"/>
                    <a:lumOff val="50000"/>
                  </a:schemeClr>
                </a:solidFill>
              </a:rPr>
              <a:t>3÷4</a:t>
            </a:r>
            <a:r>
              <a:rPr lang="ja-GB" altLang="en-US" sz="1600" dirty="0">
                <a:solidFill>
                  <a:schemeClr val="tx1">
                    <a:lumMod val="50000"/>
                    <a:lumOff val="50000"/>
                  </a:schemeClr>
                </a:solidFill>
              </a:rPr>
              <a:t>」の結果の「</a:t>
            </a:r>
            <a:r>
              <a:rPr lang="en-US" altLang="ja-GB" sz="1600" dirty="0">
                <a:solidFill>
                  <a:schemeClr val="tx1">
                    <a:lumMod val="50000"/>
                    <a:lumOff val="50000"/>
                  </a:schemeClr>
                </a:solidFill>
              </a:rPr>
              <a:t>0.75</a:t>
            </a:r>
            <a:r>
              <a:rPr lang="ja-GB" altLang="en-US" sz="1600" dirty="0">
                <a:solidFill>
                  <a:schemeClr val="tx1">
                    <a:lumMod val="50000"/>
                    <a:lumOff val="50000"/>
                  </a:schemeClr>
                </a:solidFill>
              </a:rPr>
              <a:t>」</a:t>
            </a:r>
            <a:endParaRPr lang="en-US" altLang="ja-GB" dirty="0">
              <a:solidFill>
                <a:schemeClr val="tx1">
                  <a:lumMod val="50000"/>
                  <a:lumOff val="50000"/>
                </a:schemeClr>
              </a:solidFill>
            </a:endParaRPr>
          </a:p>
          <a:p>
            <a:pPr lvl="4"/>
            <a:endParaRPr lang="en-US" altLang="ja-GB" dirty="0"/>
          </a:p>
          <a:p>
            <a:pPr marL="457200" lvl="1" indent="0">
              <a:buNone/>
            </a:pPr>
            <a:r>
              <a:rPr lang="ja-GB" altLang="en-US" dirty="0"/>
              <a:t>例</a:t>
            </a:r>
            <a:r>
              <a:rPr lang="en-US" altLang="ja-GB" dirty="0"/>
              <a:t>3</a:t>
            </a:r>
            <a:r>
              <a:rPr lang="ja-GB" altLang="en-US" dirty="0"/>
              <a:t>）論理型（真偽値型）の変数</a:t>
            </a:r>
            <a:endParaRPr lang="en-US" altLang="ja-GB" dirty="0"/>
          </a:p>
          <a:p>
            <a:pPr marL="1257300" lvl="2" indent="-342900">
              <a:buFont typeface="+mj-lt"/>
              <a:buAutoNum type="arabicPeriod"/>
            </a:pPr>
            <a:r>
              <a:rPr lang="ja-GB" altLang="en-US" sz="1600" dirty="0">
                <a:solidFill>
                  <a:schemeClr val="tx1">
                    <a:lumMod val="50000"/>
                    <a:lumOff val="50000"/>
                  </a:schemeClr>
                </a:solidFill>
              </a:rPr>
              <a:t>論理</a:t>
            </a:r>
            <a:r>
              <a:rPr lang="en-US" altLang="ja-GB" sz="1600" dirty="0">
                <a:solidFill>
                  <a:schemeClr val="tx1">
                    <a:lumMod val="50000"/>
                    <a:lumOff val="50000"/>
                  </a:schemeClr>
                </a:solidFill>
              </a:rPr>
              <a:t> a = </a:t>
            </a:r>
            <a:r>
              <a:rPr lang="ja-GB" altLang="en-US" sz="1600" dirty="0">
                <a:solidFill>
                  <a:schemeClr val="tx1">
                    <a:lumMod val="50000"/>
                    <a:lumOff val="50000"/>
                  </a:schemeClr>
                </a:solidFill>
              </a:rPr>
              <a:t>真</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論理</a:t>
            </a:r>
            <a:r>
              <a:rPr lang="en-US" altLang="ja-GB" sz="1600" dirty="0">
                <a:solidFill>
                  <a:schemeClr val="tx1">
                    <a:lumMod val="50000"/>
                    <a:lumOff val="50000"/>
                  </a:schemeClr>
                </a:solidFill>
              </a:rPr>
              <a:t> b = a</a:t>
            </a:r>
            <a:r>
              <a:rPr lang="ja-GB" altLang="en-US" sz="1600" dirty="0">
                <a:solidFill>
                  <a:schemeClr val="tx1">
                    <a:lumMod val="50000"/>
                    <a:lumOff val="50000"/>
                  </a:schemeClr>
                </a:solidFill>
              </a:rPr>
              <a:t>でない</a:t>
            </a:r>
            <a:r>
              <a:rPr lang="en-US" altLang="ja-GB" sz="1600" dirty="0">
                <a:solidFill>
                  <a:schemeClr val="tx1">
                    <a:lumMod val="50000"/>
                    <a:lumOff val="50000"/>
                  </a:schemeClr>
                </a:solidFill>
              </a:rPr>
              <a:t>        →    b</a:t>
            </a:r>
            <a:r>
              <a:rPr lang="ja-GB" altLang="en-US" sz="1600" dirty="0">
                <a:solidFill>
                  <a:schemeClr val="tx1">
                    <a:lumMod val="50000"/>
                    <a:lumOff val="50000"/>
                  </a:schemeClr>
                </a:solidFill>
              </a:rPr>
              <a:t>は「真でない」ので「偽」</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論理</a:t>
            </a:r>
            <a:r>
              <a:rPr lang="en-US" altLang="ja-GB" sz="1600" dirty="0">
                <a:solidFill>
                  <a:schemeClr val="tx1">
                    <a:lumMod val="50000"/>
                    <a:lumOff val="50000"/>
                  </a:schemeClr>
                </a:solidFill>
              </a:rPr>
              <a:t> c =  a </a:t>
            </a:r>
            <a:r>
              <a:rPr lang="ja-GB" altLang="en-US" sz="1600" dirty="0">
                <a:solidFill>
                  <a:schemeClr val="tx1">
                    <a:lumMod val="50000"/>
                    <a:lumOff val="50000"/>
                  </a:schemeClr>
                </a:solidFill>
              </a:rPr>
              <a:t>または</a:t>
            </a:r>
            <a:r>
              <a:rPr lang="en-US" altLang="ja-GB" sz="1600" dirty="0">
                <a:solidFill>
                  <a:schemeClr val="tx1">
                    <a:lumMod val="50000"/>
                    <a:lumOff val="50000"/>
                  </a:schemeClr>
                </a:solidFill>
              </a:rPr>
              <a:t> b    →    c</a:t>
            </a:r>
            <a:r>
              <a:rPr lang="ja-GB" altLang="en-US" sz="1600" dirty="0">
                <a:solidFill>
                  <a:schemeClr val="tx1">
                    <a:lumMod val="50000"/>
                    <a:lumOff val="50000"/>
                  </a:schemeClr>
                </a:solidFill>
              </a:rPr>
              <a:t>は「真または偽（真</a:t>
            </a:r>
            <a:r>
              <a:rPr lang="en-US" altLang="ja-GB" sz="1600" dirty="0">
                <a:solidFill>
                  <a:schemeClr val="tx1">
                    <a:lumMod val="50000"/>
                    <a:lumOff val="50000"/>
                  </a:schemeClr>
                </a:solidFill>
              </a:rPr>
              <a:t> or </a:t>
            </a:r>
            <a:r>
              <a:rPr lang="ja-GB" altLang="en-US" sz="1600" dirty="0">
                <a:solidFill>
                  <a:schemeClr val="tx1">
                    <a:lumMod val="50000"/>
                    <a:lumOff val="50000"/>
                  </a:schemeClr>
                </a:solidFill>
              </a:rPr>
              <a:t>偽）」なので「真」</a:t>
            </a:r>
            <a:endParaRPr lang="en-US" altLang="ja-GB" sz="1600" dirty="0">
              <a:solidFill>
                <a:schemeClr val="tx1">
                  <a:lumMod val="50000"/>
                  <a:lumOff val="50000"/>
                </a:schemeClr>
              </a:solidFill>
            </a:endParaRPr>
          </a:p>
          <a:p>
            <a:pPr marL="1257300" lvl="2" indent="-342900">
              <a:buFont typeface="+mj-lt"/>
              <a:buAutoNum type="arabicPeriod"/>
            </a:pPr>
            <a:r>
              <a:rPr lang="ja-GB" altLang="en-US" sz="1600" dirty="0">
                <a:solidFill>
                  <a:schemeClr val="tx1">
                    <a:lumMod val="50000"/>
                    <a:lumOff val="50000"/>
                  </a:schemeClr>
                </a:solidFill>
              </a:rPr>
              <a:t>論理</a:t>
            </a:r>
            <a:r>
              <a:rPr lang="en-US" altLang="ja-GB" sz="1600" dirty="0">
                <a:solidFill>
                  <a:schemeClr val="tx1">
                    <a:lumMod val="50000"/>
                    <a:lumOff val="50000"/>
                  </a:schemeClr>
                </a:solidFill>
              </a:rPr>
              <a:t> d = a </a:t>
            </a:r>
            <a:r>
              <a:rPr lang="ja-GB" altLang="en-US" sz="1600" dirty="0">
                <a:solidFill>
                  <a:schemeClr val="tx1">
                    <a:lumMod val="50000"/>
                    <a:lumOff val="50000"/>
                  </a:schemeClr>
                </a:solidFill>
              </a:rPr>
              <a:t>かつ</a:t>
            </a:r>
            <a:r>
              <a:rPr lang="en-US" altLang="ja-GB" sz="1600" dirty="0">
                <a:solidFill>
                  <a:schemeClr val="tx1">
                    <a:lumMod val="50000"/>
                    <a:lumOff val="50000"/>
                  </a:schemeClr>
                </a:solidFill>
              </a:rPr>
              <a:t> b        →    d</a:t>
            </a:r>
            <a:r>
              <a:rPr lang="ja-GB" altLang="en-US" sz="1600" dirty="0">
                <a:solidFill>
                  <a:schemeClr val="tx1">
                    <a:lumMod val="50000"/>
                    <a:lumOff val="50000"/>
                  </a:schemeClr>
                </a:solidFill>
              </a:rPr>
              <a:t>は「真かつ偽（真</a:t>
            </a:r>
            <a:r>
              <a:rPr lang="en-US" altLang="ja-GB" sz="1600" dirty="0">
                <a:solidFill>
                  <a:schemeClr val="tx1">
                    <a:lumMod val="50000"/>
                    <a:lumOff val="50000"/>
                  </a:schemeClr>
                </a:solidFill>
              </a:rPr>
              <a:t> and </a:t>
            </a:r>
            <a:r>
              <a:rPr lang="ja-GB" altLang="en-US" sz="1600" dirty="0">
                <a:solidFill>
                  <a:schemeClr val="tx1">
                    <a:lumMod val="50000"/>
                    <a:lumOff val="50000"/>
                  </a:schemeClr>
                </a:solidFill>
              </a:rPr>
              <a:t>偽）」なので「偽」</a:t>
            </a:r>
            <a:endParaRPr lang="en-US" altLang="ja-GB" sz="1600" dirty="0">
              <a:solidFill>
                <a:schemeClr val="tx1">
                  <a:lumMod val="50000"/>
                  <a:lumOff val="50000"/>
                </a:schemeClr>
              </a:solidFill>
            </a:endParaRPr>
          </a:p>
          <a:p>
            <a:pPr lvl="4"/>
            <a:endParaRPr lang="en-US" altLang="ja-GB" dirty="0">
              <a:solidFill>
                <a:schemeClr val="tx1">
                  <a:lumMod val="50000"/>
                  <a:lumOff val="50000"/>
                </a:schemeClr>
              </a:solidFill>
            </a:endParaRPr>
          </a:p>
          <a:p>
            <a:pPr lvl="2"/>
            <a:endParaRPr lang="en-US" altLang="ja-GB" dirty="0"/>
          </a:p>
          <a:p>
            <a:pPr lvl="2"/>
            <a:endParaRPr lang="en-US" altLang="ja-GB" dirty="0"/>
          </a:p>
          <a:p>
            <a:pPr lvl="1"/>
            <a:endParaRPr kumimoji="1" lang="ja-GB" altLang="en-US" dirty="0"/>
          </a:p>
        </p:txBody>
      </p:sp>
    </p:spTree>
    <p:extLst>
      <p:ext uri="{BB962C8B-B14F-4D97-AF65-F5344CB8AC3E}">
        <p14:creationId xmlns:p14="http://schemas.microsoft.com/office/powerpoint/2010/main" val="315057831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BDDABF-5949-35E1-7340-AF50A030400A}"/>
              </a:ext>
            </a:extLst>
          </p:cNvPr>
          <p:cNvSpPr>
            <a:spLocks noGrp="1"/>
          </p:cNvSpPr>
          <p:nvPr>
            <p:ph type="title"/>
          </p:nvPr>
        </p:nvSpPr>
        <p:spPr/>
        <p:txBody>
          <a:bodyPr/>
          <a:lstStyle/>
          <a:p>
            <a:r>
              <a:rPr kumimoji="1" lang="ja-GB" altLang="en-US" dirty="0"/>
              <a:t>演算子</a:t>
            </a:r>
          </a:p>
        </p:txBody>
      </p:sp>
      <p:sp>
        <p:nvSpPr>
          <p:cNvPr id="3" name="コンテンツ プレースホルダー 2">
            <a:extLst>
              <a:ext uri="{FF2B5EF4-FFF2-40B4-BE49-F238E27FC236}">
                <a16:creationId xmlns:a16="http://schemas.microsoft.com/office/drawing/2014/main" id="{FBEAEC6C-9D60-0E8B-E1E7-00CB87D82807}"/>
              </a:ext>
            </a:extLst>
          </p:cNvPr>
          <p:cNvSpPr>
            <a:spLocks noGrp="1"/>
          </p:cNvSpPr>
          <p:nvPr>
            <p:ph idx="1"/>
          </p:nvPr>
        </p:nvSpPr>
        <p:spPr/>
        <p:txBody>
          <a:bodyPr/>
          <a:lstStyle/>
          <a:p>
            <a:pPr marL="0" indent="0">
              <a:buNone/>
            </a:pPr>
            <a:r>
              <a:rPr lang="ja-GB" altLang="en-US" dirty="0"/>
              <a:t>情報を処理する「演算命令」を示すための記述</a:t>
            </a:r>
            <a:endParaRPr lang="en-US" altLang="ja-GB" dirty="0"/>
          </a:p>
          <a:p>
            <a:pPr marL="457200" lvl="1" indent="0">
              <a:buNone/>
            </a:pPr>
            <a:r>
              <a:rPr kumimoji="1" lang="ja-GB" altLang="en-US" dirty="0">
                <a:solidFill>
                  <a:srgbClr val="2F2523"/>
                </a:solidFill>
              </a:rPr>
              <a:t>例</a:t>
            </a:r>
            <a:r>
              <a:rPr kumimoji="1" lang="en-US" altLang="ja-GB" dirty="0">
                <a:solidFill>
                  <a:srgbClr val="2F2523"/>
                </a:solidFill>
              </a:rPr>
              <a:t>1</a:t>
            </a:r>
            <a:r>
              <a:rPr kumimoji="1" lang="ja-GB" altLang="en-US" dirty="0">
                <a:solidFill>
                  <a:srgbClr val="2F2523"/>
                </a:solidFill>
              </a:rPr>
              <a:t>）代入演算子：</a:t>
            </a:r>
            <a:r>
              <a:rPr lang="en-US" altLang="ja-GB" dirty="0">
                <a:solidFill>
                  <a:srgbClr val="2F2523"/>
                </a:solidFill>
              </a:rPr>
              <a:t>=</a:t>
            </a:r>
          </a:p>
          <a:p>
            <a:pPr marL="914400" lvl="2" indent="0">
              <a:buNone/>
            </a:pPr>
            <a:r>
              <a:rPr kumimoji="1" lang="ja-GB" altLang="en-US" dirty="0"/>
              <a:t>変数に情報を格納する命令（数学的な</a:t>
            </a:r>
            <a:r>
              <a:rPr kumimoji="1" lang="ja-GB" altLang="en-US" dirty="0">
                <a:solidFill>
                  <a:schemeClr val="accent2"/>
                </a:solidFill>
              </a:rPr>
              <a:t>イコールではない</a:t>
            </a:r>
            <a:r>
              <a:rPr kumimoji="1" lang="ja-GB" altLang="en-US" dirty="0"/>
              <a:t>）</a:t>
            </a:r>
            <a:endParaRPr kumimoji="1" lang="en-US" altLang="ja-GB" dirty="0"/>
          </a:p>
          <a:p>
            <a:pPr lvl="4"/>
            <a:endParaRPr kumimoji="1" lang="en-US" altLang="ja-GB" dirty="0"/>
          </a:p>
        </p:txBody>
      </p:sp>
    </p:spTree>
    <p:extLst>
      <p:ext uri="{BB962C8B-B14F-4D97-AF65-F5344CB8AC3E}">
        <p14:creationId xmlns:p14="http://schemas.microsoft.com/office/powerpoint/2010/main" val="187466871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D465-8682-0AD9-C25D-E7FB8B46E6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BCB9B3-18C1-DF49-BE4B-6F71F44E135C}"/>
              </a:ext>
            </a:extLst>
          </p:cNvPr>
          <p:cNvSpPr>
            <a:spLocks noGrp="1"/>
          </p:cNvSpPr>
          <p:nvPr>
            <p:ph type="title"/>
          </p:nvPr>
        </p:nvSpPr>
        <p:spPr/>
        <p:txBody>
          <a:bodyPr/>
          <a:lstStyle/>
          <a:p>
            <a:r>
              <a:rPr kumimoji="1" lang="ja-GB" altLang="en-US" dirty="0"/>
              <a:t>演算子</a:t>
            </a:r>
          </a:p>
        </p:txBody>
      </p:sp>
      <p:sp>
        <p:nvSpPr>
          <p:cNvPr id="3" name="コンテンツ プレースホルダー 2">
            <a:extLst>
              <a:ext uri="{FF2B5EF4-FFF2-40B4-BE49-F238E27FC236}">
                <a16:creationId xmlns:a16="http://schemas.microsoft.com/office/drawing/2014/main" id="{2A034AAF-201E-E3CF-BEB5-87D37E234168}"/>
              </a:ext>
            </a:extLst>
          </p:cNvPr>
          <p:cNvSpPr>
            <a:spLocks noGrp="1"/>
          </p:cNvSpPr>
          <p:nvPr>
            <p:ph idx="1"/>
          </p:nvPr>
        </p:nvSpPr>
        <p:spPr/>
        <p:txBody>
          <a:bodyPr/>
          <a:lstStyle/>
          <a:p>
            <a:pPr marL="0" indent="0">
              <a:buNone/>
            </a:pPr>
            <a:r>
              <a:rPr lang="ja-GB" altLang="en-US" dirty="0"/>
              <a:t>情報を処理する「演算命令」を示すための記述</a:t>
            </a:r>
            <a:endParaRPr lang="en-US" altLang="ja-GB" dirty="0"/>
          </a:p>
          <a:p>
            <a:pPr marL="457200" lvl="1"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）代入演算子：</a:t>
            </a:r>
            <a:r>
              <a:rPr lang="en-US" altLang="ja-GB" dirty="0">
                <a:solidFill>
                  <a:schemeClr val="tx1">
                    <a:lumMod val="50000"/>
                    <a:lumOff val="50000"/>
                  </a:schemeClr>
                </a:solidFill>
              </a:rPr>
              <a:t>=</a:t>
            </a:r>
          </a:p>
          <a:p>
            <a:pPr marL="914400" lvl="2" indent="0">
              <a:buNone/>
            </a:pPr>
            <a:r>
              <a:rPr kumimoji="1" lang="ja-GB" altLang="en-US" dirty="0">
                <a:solidFill>
                  <a:schemeClr val="tx1">
                    <a:lumMod val="50000"/>
                    <a:lumOff val="50000"/>
                  </a:schemeClr>
                </a:solidFill>
              </a:rPr>
              <a:t>変数に情報を格納する命令（数学的なイコールではない）</a:t>
            </a:r>
            <a:endParaRPr kumimoji="1" lang="en-US" altLang="ja-GB" dirty="0">
              <a:solidFill>
                <a:schemeClr val="tx1">
                  <a:lumMod val="50000"/>
                  <a:lumOff val="50000"/>
                </a:schemeClr>
              </a:solidFill>
            </a:endParaRPr>
          </a:p>
          <a:p>
            <a:pPr lvl="4"/>
            <a:endParaRPr kumimoji="1" lang="en-US" altLang="ja-GB" dirty="0"/>
          </a:p>
          <a:p>
            <a:pPr marL="457200" lvl="1" indent="0">
              <a:buNone/>
            </a:pPr>
            <a:r>
              <a:rPr lang="ja-GB" altLang="en-US" dirty="0">
                <a:solidFill>
                  <a:srgbClr val="2F2523"/>
                </a:solidFill>
              </a:rPr>
              <a:t>例</a:t>
            </a:r>
            <a:r>
              <a:rPr lang="en-US" altLang="ja-GB" dirty="0">
                <a:solidFill>
                  <a:srgbClr val="2F2523"/>
                </a:solidFill>
              </a:rPr>
              <a:t>2</a:t>
            </a:r>
            <a:r>
              <a:rPr lang="ja-GB" altLang="en-US" dirty="0">
                <a:solidFill>
                  <a:srgbClr val="2F2523"/>
                </a:solidFill>
              </a:rPr>
              <a:t>）四則演算</a:t>
            </a:r>
            <a:r>
              <a:rPr lang="ja-JP" altLang="en-US">
                <a:solidFill>
                  <a:srgbClr val="2F2523"/>
                </a:solidFill>
              </a:rPr>
              <a:t>子</a:t>
            </a:r>
            <a:r>
              <a:rPr lang="ja-GB" altLang="en-US" dirty="0">
                <a:solidFill>
                  <a:srgbClr val="2F2523"/>
                </a:solidFill>
              </a:rPr>
              <a:t>：</a:t>
            </a:r>
            <a:r>
              <a:rPr lang="en-US" altLang="ja-GB" dirty="0">
                <a:solidFill>
                  <a:srgbClr val="2F2523"/>
                </a:solidFill>
              </a:rPr>
              <a:t>+</a:t>
            </a:r>
            <a:r>
              <a:rPr lang="ja-GB" altLang="en-US" dirty="0">
                <a:solidFill>
                  <a:srgbClr val="2F2523"/>
                </a:solidFill>
              </a:rPr>
              <a:t>，</a:t>
            </a:r>
            <a:r>
              <a:rPr lang="en-US" altLang="ja-GB" dirty="0">
                <a:solidFill>
                  <a:srgbClr val="2F2523"/>
                </a:solidFill>
              </a:rPr>
              <a:t>-</a:t>
            </a:r>
            <a:r>
              <a:rPr lang="ja-GB" altLang="en-US" dirty="0">
                <a:solidFill>
                  <a:srgbClr val="2F2523"/>
                </a:solidFill>
              </a:rPr>
              <a:t>，</a:t>
            </a:r>
            <a:r>
              <a:rPr lang="en-US" altLang="ja-GB" dirty="0">
                <a:solidFill>
                  <a:srgbClr val="2F2523"/>
                </a:solidFill>
              </a:rPr>
              <a:t>×</a:t>
            </a:r>
            <a:r>
              <a:rPr lang="ja-GB" altLang="en-US" dirty="0">
                <a:solidFill>
                  <a:srgbClr val="2F2523"/>
                </a:solidFill>
              </a:rPr>
              <a:t>，</a:t>
            </a:r>
            <a:r>
              <a:rPr lang="en-US" altLang="ja-GB" dirty="0">
                <a:solidFill>
                  <a:srgbClr val="2F2523"/>
                </a:solidFill>
              </a:rPr>
              <a:t>÷</a:t>
            </a:r>
          </a:p>
          <a:p>
            <a:pPr marL="914400" lvl="2" indent="0">
              <a:buNone/>
            </a:pPr>
            <a:r>
              <a:rPr lang="ja-GB" altLang="en-US" dirty="0"/>
              <a:t>同じ演算子で「型」ごとに異なる挙動が定義される場合がある</a:t>
            </a:r>
            <a:endParaRPr lang="en-US" altLang="ja-GB" dirty="0"/>
          </a:p>
          <a:p>
            <a:pPr lvl="2"/>
            <a:endParaRPr lang="en-US" altLang="ja-GB" dirty="0"/>
          </a:p>
          <a:p>
            <a:pPr lvl="2"/>
            <a:endParaRPr lang="en-US" altLang="ja-GB" dirty="0"/>
          </a:p>
          <a:p>
            <a:pPr lvl="2"/>
            <a:endParaRPr lang="en-US" altLang="ja-GB" dirty="0"/>
          </a:p>
        </p:txBody>
      </p:sp>
      <p:grpSp>
        <p:nvGrpSpPr>
          <p:cNvPr id="8" name="グループ化 7">
            <a:extLst>
              <a:ext uri="{FF2B5EF4-FFF2-40B4-BE49-F238E27FC236}">
                <a16:creationId xmlns:a16="http://schemas.microsoft.com/office/drawing/2014/main" id="{00A366CA-DDA7-D669-30EC-4460C3A6D247}"/>
              </a:ext>
            </a:extLst>
          </p:cNvPr>
          <p:cNvGrpSpPr/>
          <p:nvPr/>
        </p:nvGrpSpPr>
        <p:grpSpPr>
          <a:xfrm>
            <a:off x="1845192" y="2753799"/>
            <a:ext cx="5453615" cy="830999"/>
            <a:chOff x="1976797" y="3307078"/>
            <a:chExt cx="5453615" cy="830999"/>
          </a:xfrm>
        </p:grpSpPr>
        <p:sp>
          <p:nvSpPr>
            <p:cNvPr id="5" name="テキスト ボックス 4">
              <a:extLst>
                <a:ext uri="{FF2B5EF4-FFF2-40B4-BE49-F238E27FC236}">
                  <a16:creationId xmlns:a16="http://schemas.microsoft.com/office/drawing/2014/main" id="{7BAD1C27-62E5-AF26-4D65-179DE616573F}"/>
                </a:ext>
              </a:extLst>
            </p:cNvPr>
            <p:cNvSpPr txBox="1"/>
            <p:nvPr/>
          </p:nvSpPr>
          <p:spPr>
            <a:xfrm>
              <a:off x="1976797" y="3307079"/>
              <a:ext cx="1925279" cy="830997"/>
            </a:xfrm>
            <a:prstGeom prst="rect">
              <a:avLst/>
            </a:prstGeom>
            <a:noFill/>
          </p:spPr>
          <p:txBody>
            <a:bodyPr wrap="square" rtlCol="0">
              <a:spAutoFit/>
            </a:bodyPr>
            <a:lstStyle/>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a = “I am ”</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b = “John”</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GB" altLang="ja-GB" sz="1200" b="1" dirty="0">
                  <a:solidFill>
                    <a:schemeClr val="tx1">
                      <a:lumMod val="50000"/>
                      <a:lumOff val="50000"/>
                    </a:schemeClr>
                  </a:solidFill>
                </a:rPr>
                <a:t>I am John</a:t>
              </a:r>
              <a:r>
                <a:rPr kumimoji="1" lang="ja-GB" altLang="en-GB" sz="1200" b="1" dirty="0">
                  <a:solidFill>
                    <a:schemeClr val="tx1">
                      <a:lumMod val="50000"/>
                      <a:lumOff val="50000"/>
                    </a:schemeClr>
                  </a:solidFill>
                </a:rPr>
                <a:t>」</a:t>
              </a:r>
              <a:endParaRPr kumimoji="1" lang="ja-JP" altLang="en-US" sz="1200" b="1">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290A818A-96C3-2739-C3EA-B0D73A844BAC}"/>
                </a:ext>
              </a:extLst>
            </p:cNvPr>
            <p:cNvSpPr txBox="1"/>
            <p:nvPr/>
          </p:nvSpPr>
          <p:spPr>
            <a:xfrm>
              <a:off x="3902076" y="3307080"/>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1</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2</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US" altLang="ja-JP" sz="1200" b="1" dirty="0">
                  <a:solidFill>
                    <a:schemeClr val="tx1">
                      <a:lumMod val="50000"/>
                      <a:lumOff val="50000"/>
                    </a:schemeClr>
                  </a:solidFill>
                </a:rPr>
                <a:t>3</a:t>
              </a:r>
              <a:r>
                <a:rPr kumimoji="1" lang="ja-JP" altLang="en-US" sz="1200" b="1">
                  <a:solidFill>
                    <a:schemeClr val="tx1">
                      <a:lumMod val="50000"/>
                      <a:lumOff val="50000"/>
                    </a:schemeClr>
                  </a:solidFill>
                </a:rPr>
                <a:t>」</a:t>
              </a:r>
            </a:p>
          </p:txBody>
        </p:sp>
        <p:sp>
          <p:nvSpPr>
            <p:cNvPr id="7" name="テキスト ボックス 6">
              <a:extLst>
                <a:ext uri="{FF2B5EF4-FFF2-40B4-BE49-F238E27FC236}">
                  <a16:creationId xmlns:a16="http://schemas.microsoft.com/office/drawing/2014/main" id="{2AF08696-992B-EBA2-0834-2251B06F1176}"/>
                </a:ext>
              </a:extLst>
            </p:cNvPr>
            <p:cNvSpPr txBox="1"/>
            <p:nvPr/>
          </p:nvSpPr>
          <p:spPr>
            <a:xfrm>
              <a:off x="5505133" y="3307078"/>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a:t>
              </a:r>
              <a:r>
                <a:rPr kumimoji="1" lang="en-US" altLang="ja-GB" sz="1200" b="1" dirty="0">
                  <a:solidFill>
                    <a:schemeClr val="tx1">
                      <a:lumMod val="50000"/>
                      <a:lumOff val="50000"/>
                    </a:schemeClr>
                  </a:solidFill>
                </a:rPr>
                <a:t>version </a:t>
              </a:r>
              <a:r>
                <a:rPr kumimoji="1" lang="en-GB" altLang="ja-GB" sz="1200" b="1" dirty="0">
                  <a:solidFill>
                    <a:schemeClr val="tx1">
                      <a:lumMod val="50000"/>
                      <a:lumOff val="50000"/>
                    </a:schemeClr>
                  </a:solidFill>
                </a:rPr>
                <a:t>”</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“3”</a:t>
              </a:r>
            </a:p>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 </a:t>
              </a:r>
              <a:r>
                <a:rPr kumimoji="1" lang="ja-GB" altLang="en-US" sz="1200" b="1" dirty="0">
                  <a:solidFill>
                    <a:schemeClr val="tx1">
                      <a:lumMod val="50000"/>
                      <a:lumOff val="50000"/>
                    </a:schemeClr>
                  </a:solidFill>
                </a:rPr>
                <a:t>エラー</a:t>
              </a:r>
              <a:endParaRPr kumimoji="1" lang="ja-JP" altLang="en-US" sz="1200" b="1">
                <a:solidFill>
                  <a:schemeClr val="tx1">
                    <a:lumMod val="50000"/>
                    <a:lumOff val="50000"/>
                  </a:schemeClr>
                </a:solidFill>
              </a:endParaRPr>
            </a:p>
          </p:txBody>
        </p:sp>
      </p:grpSp>
    </p:spTree>
    <p:extLst>
      <p:ext uri="{BB962C8B-B14F-4D97-AF65-F5344CB8AC3E}">
        <p14:creationId xmlns:p14="http://schemas.microsoft.com/office/powerpoint/2010/main" val="423605343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61EFF-1E61-2B85-6470-0397885C3C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522223-E6A9-DD87-6750-FEBEDDB59A4F}"/>
              </a:ext>
            </a:extLst>
          </p:cNvPr>
          <p:cNvSpPr>
            <a:spLocks noGrp="1"/>
          </p:cNvSpPr>
          <p:nvPr>
            <p:ph type="title"/>
          </p:nvPr>
        </p:nvSpPr>
        <p:spPr/>
        <p:txBody>
          <a:bodyPr/>
          <a:lstStyle/>
          <a:p>
            <a:r>
              <a:rPr kumimoji="1" lang="ja-GB" altLang="en-US" dirty="0"/>
              <a:t>演算子</a:t>
            </a:r>
          </a:p>
        </p:txBody>
      </p:sp>
      <p:sp>
        <p:nvSpPr>
          <p:cNvPr id="3" name="コンテンツ プレースホルダー 2">
            <a:extLst>
              <a:ext uri="{FF2B5EF4-FFF2-40B4-BE49-F238E27FC236}">
                <a16:creationId xmlns:a16="http://schemas.microsoft.com/office/drawing/2014/main" id="{35E6FEA0-9CD6-2DC2-2783-E852A4BAC718}"/>
              </a:ext>
            </a:extLst>
          </p:cNvPr>
          <p:cNvSpPr>
            <a:spLocks noGrp="1"/>
          </p:cNvSpPr>
          <p:nvPr>
            <p:ph idx="1"/>
          </p:nvPr>
        </p:nvSpPr>
        <p:spPr/>
        <p:txBody>
          <a:bodyPr/>
          <a:lstStyle/>
          <a:p>
            <a:pPr marL="0" indent="0">
              <a:buNone/>
            </a:pPr>
            <a:r>
              <a:rPr lang="ja-GB" altLang="en-US" dirty="0"/>
              <a:t>情報を処理する「演算命令」を示すための記述</a:t>
            </a:r>
            <a:endParaRPr lang="en-US" altLang="ja-GB" dirty="0"/>
          </a:p>
          <a:p>
            <a:pPr marL="457200" lvl="1"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）代入演算子：</a:t>
            </a:r>
            <a:r>
              <a:rPr lang="en-US" altLang="ja-GB" dirty="0">
                <a:solidFill>
                  <a:schemeClr val="accent2"/>
                </a:solidFill>
              </a:rPr>
              <a:t>=</a:t>
            </a:r>
          </a:p>
          <a:p>
            <a:pPr marL="914400" lvl="2" indent="0">
              <a:buNone/>
            </a:pPr>
            <a:r>
              <a:rPr kumimoji="1" lang="ja-GB" altLang="en-US" dirty="0">
                <a:solidFill>
                  <a:schemeClr val="tx1">
                    <a:lumMod val="50000"/>
                    <a:lumOff val="50000"/>
                  </a:schemeClr>
                </a:solidFill>
              </a:rPr>
              <a:t>変数に情報を格納する命令（数学的な</a:t>
            </a:r>
            <a:r>
              <a:rPr kumimoji="1" lang="ja-GB" altLang="en-US" dirty="0">
                <a:solidFill>
                  <a:schemeClr val="accent2"/>
                </a:solidFill>
              </a:rPr>
              <a:t>イコールではない</a:t>
            </a:r>
            <a:r>
              <a:rPr kumimoji="1" lang="ja-GB" altLang="en-US" dirty="0">
                <a:solidFill>
                  <a:schemeClr val="tx1">
                    <a:lumMod val="50000"/>
                    <a:lumOff val="50000"/>
                  </a:schemeClr>
                </a:solidFill>
              </a:rPr>
              <a:t>）</a:t>
            </a:r>
            <a:endParaRPr kumimoji="1" lang="en-US" altLang="ja-GB" dirty="0">
              <a:solidFill>
                <a:schemeClr val="tx1">
                  <a:lumMod val="50000"/>
                  <a:lumOff val="50000"/>
                </a:schemeClr>
              </a:solidFill>
            </a:endParaRPr>
          </a:p>
          <a:p>
            <a:pPr lvl="4"/>
            <a:endParaRPr kumimoji="1"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2</a:t>
            </a:r>
            <a:r>
              <a:rPr lang="ja-GB" altLang="en-US" dirty="0">
                <a:solidFill>
                  <a:schemeClr val="tx1">
                    <a:lumMod val="50000"/>
                    <a:lumOff val="50000"/>
                  </a:schemeClr>
                </a:solidFill>
              </a:rPr>
              <a:t>）四則演算</a:t>
            </a:r>
            <a:r>
              <a:rPr lang="ja-JP" altLang="en-US">
                <a:solidFill>
                  <a:schemeClr val="tx1">
                    <a:lumMod val="50000"/>
                    <a:lumOff val="50000"/>
                  </a:schemeClr>
                </a:solidFill>
              </a:rPr>
              <a:t>子</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p>
          <a:p>
            <a:pPr marL="914400" lvl="2" indent="0">
              <a:buNone/>
            </a:pPr>
            <a:r>
              <a:rPr lang="ja-GB" altLang="en-US" dirty="0">
                <a:solidFill>
                  <a:schemeClr val="tx1">
                    <a:lumMod val="50000"/>
                    <a:lumOff val="50000"/>
                  </a:schemeClr>
                </a:solidFill>
              </a:rPr>
              <a:t>同じ演算子で「型」ごとに異なる挙動が定義される場合がある</a:t>
            </a:r>
            <a:endParaRPr lang="en-US" altLang="ja-GB" dirty="0">
              <a:solidFill>
                <a:schemeClr val="tx1">
                  <a:lumMod val="50000"/>
                  <a:lumOff val="50000"/>
                </a:schemeClr>
              </a:solidFill>
            </a:endParaRPr>
          </a:p>
          <a:p>
            <a:pPr lvl="2"/>
            <a:endParaRPr lang="en-US" altLang="ja-GB" dirty="0"/>
          </a:p>
          <a:p>
            <a:pPr lvl="2"/>
            <a:endParaRPr lang="en-US" altLang="ja-GB" dirty="0"/>
          </a:p>
          <a:p>
            <a:pPr lvl="2"/>
            <a:endParaRPr lang="en-US" altLang="ja-GB" dirty="0"/>
          </a:p>
          <a:p>
            <a:pPr marL="457200" lvl="1" indent="0">
              <a:buNone/>
            </a:pPr>
            <a:r>
              <a:rPr kumimoji="1" lang="ja-GB" altLang="en-US" dirty="0">
                <a:solidFill>
                  <a:srgbClr val="2F2523"/>
                </a:solidFill>
              </a:rPr>
              <a:t>例</a:t>
            </a:r>
            <a:r>
              <a:rPr kumimoji="1" lang="en-US" altLang="ja-GB" dirty="0">
                <a:solidFill>
                  <a:srgbClr val="2F2523"/>
                </a:solidFill>
              </a:rPr>
              <a:t>3</a:t>
            </a:r>
            <a:r>
              <a:rPr kumimoji="1" lang="ja-GB" altLang="en-US" dirty="0">
                <a:solidFill>
                  <a:srgbClr val="2F2523"/>
                </a:solidFill>
              </a:rPr>
              <a:t>）</a:t>
            </a:r>
            <a:r>
              <a:rPr lang="ja-GB" altLang="en-US" dirty="0">
                <a:solidFill>
                  <a:srgbClr val="2F2523"/>
                </a:solidFill>
              </a:rPr>
              <a:t> 比較演算子：</a:t>
            </a:r>
            <a:r>
              <a:rPr lang="en-US" altLang="ja-GB" dirty="0">
                <a:solidFill>
                  <a:srgbClr val="2F2523"/>
                </a:solidFill>
              </a:rPr>
              <a:t>&lt;</a:t>
            </a:r>
            <a:r>
              <a:rPr lang="ja-GB" altLang="en-US" dirty="0">
                <a:solidFill>
                  <a:srgbClr val="2F2523"/>
                </a:solidFill>
              </a:rPr>
              <a:t>，</a:t>
            </a:r>
            <a:r>
              <a:rPr lang="en-US" altLang="ja-GB" dirty="0">
                <a:solidFill>
                  <a:srgbClr val="2F2523"/>
                </a:solidFill>
              </a:rPr>
              <a:t>&gt;</a:t>
            </a:r>
            <a:r>
              <a:rPr lang="ja-GB" altLang="en-US" dirty="0">
                <a:solidFill>
                  <a:srgbClr val="2F2523"/>
                </a:solidFill>
              </a:rPr>
              <a:t>，≠，</a:t>
            </a:r>
            <a:r>
              <a:rPr lang="en-US" altLang="ja-GB" dirty="0">
                <a:solidFill>
                  <a:srgbClr val="2F2523"/>
                </a:solidFill>
              </a:rPr>
              <a:t> </a:t>
            </a:r>
            <a:r>
              <a:rPr lang="en-US" altLang="ja-GB" dirty="0">
                <a:solidFill>
                  <a:schemeClr val="accent2"/>
                </a:solidFill>
              </a:rPr>
              <a:t>==</a:t>
            </a:r>
            <a:r>
              <a:rPr lang="ja-GB" altLang="en-US" dirty="0">
                <a:solidFill>
                  <a:srgbClr val="2F2523"/>
                </a:solidFill>
              </a:rPr>
              <a:t>（</a:t>
            </a:r>
            <a:r>
              <a:rPr lang="ja-GB" altLang="en-US" dirty="0">
                <a:solidFill>
                  <a:schemeClr val="accent2"/>
                </a:solidFill>
              </a:rPr>
              <a:t>イコール</a:t>
            </a:r>
            <a:r>
              <a:rPr lang="ja-GB" altLang="en-US" dirty="0">
                <a:solidFill>
                  <a:srgbClr val="2F2523"/>
                </a:solidFill>
              </a:rPr>
              <a:t>）</a:t>
            </a:r>
            <a:endParaRPr lang="en-US" altLang="ja-GB" dirty="0">
              <a:solidFill>
                <a:srgbClr val="2F2523"/>
              </a:solidFill>
            </a:endParaRPr>
          </a:p>
          <a:p>
            <a:pPr marL="914400" lvl="2" indent="0">
              <a:buNone/>
            </a:pPr>
            <a:r>
              <a:rPr lang="ja-GB" altLang="en-US" dirty="0"/>
              <a:t>変数同士を比較して論理値（真か偽か）を計算する命令</a:t>
            </a:r>
            <a:endParaRPr kumimoji="1" lang="en-US" altLang="ja-GB" dirty="0"/>
          </a:p>
          <a:p>
            <a:pPr marL="1371600" lvl="3" indent="0">
              <a:buNone/>
            </a:pPr>
            <a:r>
              <a:rPr lang="en-US" altLang="ja-GB" sz="1200" dirty="0">
                <a:solidFill>
                  <a:schemeClr val="tx1">
                    <a:lumMod val="50000"/>
                    <a:lumOff val="50000"/>
                  </a:schemeClr>
                </a:solidFill>
              </a:rPr>
              <a:t>1 ==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1 </a:t>
            </a:r>
            <a:r>
              <a:rPr lang="ja-GB" altLang="en-US" sz="1200" dirty="0">
                <a:solidFill>
                  <a:schemeClr val="tx1">
                    <a:lumMod val="50000"/>
                    <a:lumOff val="50000"/>
                  </a:schemeClr>
                </a:solidFill>
              </a:rPr>
              <a:t>≠</a:t>
            </a:r>
            <a:r>
              <a:rPr lang="en-US" altLang="ja-GB" sz="1200" dirty="0">
                <a:solidFill>
                  <a:schemeClr val="tx1">
                    <a:lumMod val="50000"/>
                    <a:lumOff val="50000"/>
                  </a:schemeClr>
                </a:solidFill>
              </a:rPr>
              <a:t> 1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1 == 2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“hello” == “hello” → </a:t>
            </a:r>
            <a:r>
              <a:rPr lang="ja-GB" altLang="en-US" sz="1200" dirty="0">
                <a:solidFill>
                  <a:schemeClr val="tx1">
                    <a:lumMod val="50000"/>
                    <a:lumOff val="50000"/>
                  </a:schemeClr>
                </a:solidFill>
              </a:rPr>
              <a:t>真</a:t>
            </a:r>
            <a:endParaRPr lang="en-US" altLang="ja-GB" sz="1200" dirty="0">
              <a:solidFill>
                <a:schemeClr val="tx1">
                  <a:lumMod val="50000"/>
                  <a:lumOff val="50000"/>
                </a:schemeClr>
              </a:solidFill>
            </a:endParaRPr>
          </a:p>
          <a:p>
            <a:pPr marL="1371600" lvl="3" indent="0">
              <a:buNone/>
            </a:pPr>
            <a:r>
              <a:rPr lang="en-US" altLang="ja-GB" sz="1200" dirty="0">
                <a:solidFill>
                  <a:schemeClr val="tx1">
                    <a:lumMod val="50000"/>
                    <a:lumOff val="50000"/>
                  </a:schemeClr>
                </a:solidFill>
              </a:rPr>
              <a:t>2 &gt;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1 ≧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3 &lt; 1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-2 ≦ 0 →</a:t>
            </a:r>
            <a:r>
              <a:rPr lang="ja-GB" altLang="en-US" sz="1200" dirty="0">
                <a:solidFill>
                  <a:schemeClr val="tx1">
                    <a:lumMod val="50000"/>
                    <a:lumOff val="50000"/>
                  </a:schemeClr>
                </a:solidFill>
              </a:rPr>
              <a:t>真</a:t>
            </a:r>
            <a:endParaRPr lang="en-US" altLang="ja-GB" sz="1200" dirty="0">
              <a:solidFill>
                <a:schemeClr val="tx1">
                  <a:lumMod val="50000"/>
                  <a:lumOff val="50000"/>
                </a:schemeClr>
              </a:solidFill>
            </a:endParaRPr>
          </a:p>
          <a:p>
            <a:pPr lvl="4"/>
            <a:endParaRPr lang="en-US" altLang="ja-GB" sz="500" dirty="0"/>
          </a:p>
        </p:txBody>
      </p:sp>
      <p:grpSp>
        <p:nvGrpSpPr>
          <p:cNvPr id="8" name="グループ化 7">
            <a:extLst>
              <a:ext uri="{FF2B5EF4-FFF2-40B4-BE49-F238E27FC236}">
                <a16:creationId xmlns:a16="http://schemas.microsoft.com/office/drawing/2014/main" id="{2C0723D1-B0C1-5AB6-CE66-56FB5D23D30A}"/>
              </a:ext>
            </a:extLst>
          </p:cNvPr>
          <p:cNvGrpSpPr/>
          <p:nvPr/>
        </p:nvGrpSpPr>
        <p:grpSpPr>
          <a:xfrm>
            <a:off x="1845192" y="2753799"/>
            <a:ext cx="5453615" cy="830999"/>
            <a:chOff x="1976797" y="3307078"/>
            <a:chExt cx="5453615" cy="830999"/>
          </a:xfrm>
        </p:grpSpPr>
        <p:sp>
          <p:nvSpPr>
            <p:cNvPr id="5" name="テキスト ボックス 4">
              <a:extLst>
                <a:ext uri="{FF2B5EF4-FFF2-40B4-BE49-F238E27FC236}">
                  <a16:creationId xmlns:a16="http://schemas.microsoft.com/office/drawing/2014/main" id="{33D67A0F-C50C-D820-7665-92B86B25EBEA}"/>
                </a:ext>
              </a:extLst>
            </p:cNvPr>
            <p:cNvSpPr txBox="1"/>
            <p:nvPr/>
          </p:nvSpPr>
          <p:spPr>
            <a:xfrm>
              <a:off x="1976797" y="3307079"/>
              <a:ext cx="1925279" cy="830997"/>
            </a:xfrm>
            <a:prstGeom prst="rect">
              <a:avLst/>
            </a:prstGeom>
            <a:noFill/>
          </p:spPr>
          <p:txBody>
            <a:bodyPr wrap="square" rtlCol="0">
              <a:spAutoFit/>
            </a:bodyPr>
            <a:lstStyle/>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a = “I am ”</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b = “John”</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GB" altLang="ja-GB" sz="1200" b="1" dirty="0">
                  <a:solidFill>
                    <a:schemeClr val="tx1">
                      <a:lumMod val="50000"/>
                      <a:lumOff val="50000"/>
                    </a:schemeClr>
                  </a:solidFill>
                </a:rPr>
                <a:t>I am John</a:t>
              </a:r>
              <a:r>
                <a:rPr kumimoji="1" lang="ja-GB" altLang="en-GB" sz="1200" b="1" dirty="0">
                  <a:solidFill>
                    <a:schemeClr val="tx1">
                      <a:lumMod val="50000"/>
                      <a:lumOff val="50000"/>
                    </a:schemeClr>
                  </a:solidFill>
                </a:rPr>
                <a:t>」</a:t>
              </a:r>
              <a:endParaRPr kumimoji="1" lang="ja-JP" altLang="en-US" sz="1200" b="1">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EA48E4A1-ECF5-32D4-E282-B8DACA4741BD}"/>
                </a:ext>
              </a:extLst>
            </p:cNvPr>
            <p:cNvSpPr txBox="1"/>
            <p:nvPr/>
          </p:nvSpPr>
          <p:spPr>
            <a:xfrm>
              <a:off x="3902076" y="3307080"/>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1</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2</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US" altLang="ja-JP" sz="1200" b="1" dirty="0">
                  <a:solidFill>
                    <a:schemeClr val="tx1">
                      <a:lumMod val="50000"/>
                      <a:lumOff val="50000"/>
                    </a:schemeClr>
                  </a:solidFill>
                </a:rPr>
                <a:t>3</a:t>
              </a:r>
              <a:r>
                <a:rPr kumimoji="1" lang="ja-JP" altLang="en-US" sz="1200" b="1">
                  <a:solidFill>
                    <a:schemeClr val="tx1">
                      <a:lumMod val="50000"/>
                      <a:lumOff val="50000"/>
                    </a:schemeClr>
                  </a:solidFill>
                </a:rPr>
                <a:t>」</a:t>
              </a:r>
            </a:p>
          </p:txBody>
        </p:sp>
        <p:sp>
          <p:nvSpPr>
            <p:cNvPr id="7" name="テキスト ボックス 6">
              <a:extLst>
                <a:ext uri="{FF2B5EF4-FFF2-40B4-BE49-F238E27FC236}">
                  <a16:creationId xmlns:a16="http://schemas.microsoft.com/office/drawing/2014/main" id="{CFC44333-7E06-D3A1-32C1-4A4F7232D710}"/>
                </a:ext>
              </a:extLst>
            </p:cNvPr>
            <p:cNvSpPr txBox="1"/>
            <p:nvPr/>
          </p:nvSpPr>
          <p:spPr>
            <a:xfrm>
              <a:off x="5505133" y="3307078"/>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a:t>
              </a:r>
              <a:r>
                <a:rPr kumimoji="1" lang="en-US" altLang="ja-GB" sz="1200" b="1" dirty="0">
                  <a:solidFill>
                    <a:schemeClr val="tx1">
                      <a:lumMod val="50000"/>
                      <a:lumOff val="50000"/>
                    </a:schemeClr>
                  </a:solidFill>
                </a:rPr>
                <a:t>version </a:t>
              </a:r>
              <a:r>
                <a:rPr kumimoji="1" lang="en-GB" altLang="ja-GB" sz="1200" b="1" dirty="0">
                  <a:solidFill>
                    <a:schemeClr val="tx1">
                      <a:lumMod val="50000"/>
                      <a:lumOff val="50000"/>
                    </a:schemeClr>
                  </a:solidFill>
                </a:rPr>
                <a:t>”</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“3”</a:t>
              </a:r>
            </a:p>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 </a:t>
              </a:r>
              <a:r>
                <a:rPr kumimoji="1" lang="ja-GB" altLang="en-US" sz="1200" b="1" dirty="0">
                  <a:solidFill>
                    <a:schemeClr val="tx1">
                      <a:lumMod val="50000"/>
                      <a:lumOff val="50000"/>
                    </a:schemeClr>
                  </a:solidFill>
                </a:rPr>
                <a:t>エラー</a:t>
              </a:r>
              <a:endParaRPr kumimoji="1" lang="ja-JP" altLang="en-US" sz="1200" b="1">
                <a:solidFill>
                  <a:schemeClr val="tx1">
                    <a:lumMod val="50000"/>
                    <a:lumOff val="50000"/>
                  </a:schemeClr>
                </a:solidFill>
              </a:endParaRPr>
            </a:p>
          </p:txBody>
        </p:sp>
      </p:grpSp>
    </p:spTree>
    <p:extLst>
      <p:ext uri="{BB962C8B-B14F-4D97-AF65-F5344CB8AC3E}">
        <p14:creationId xmlns:p14="http://schemas.microsoft.com/office/powerpoint/2010/main" val="420918846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8EB4-4D1A-4A56-F84C-6BA7734BD8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0FE497-99CE-C7B4-99F1-990D9AEC17FE}"/>
              </a:ext>
            </a:extLst>
          </p:cNvPr>
          <p:cNvSpPr>
            <a:spLocks noGrp="1"/>
          </p:cNvSpPr>
          <p:nvPr>
            <p:ph type="title"/>
          </p:nvPr>
        </p:nvSpPr>
        <p:spPr/>
        <p:txBody>
          <a:bodyPr/>
          <a:lstStyle/>
          <a:p>
            <a:r>
              <a:rPr kumimoji="1" lang="ja-GB" altLang="en-US" dirty="0"/>
              <a:t>演算子</a:t>
            </a:r>
          </a:p>
        </p:txBody>
      </p:sp>
      <p:sp>
        <p:nvSpPr>
          <p:cNvPr id="3" name="コンテンツ プレースホルダー 2">
            <a:extLst>
              <a:ext uri="{FF2B5EF4-FFF2-40B4-BE49-F238E27FC236}">
                <a16:creationId xmlns:a16="http://schemas.microsoft.com/office/drawing/2014/main" id="{6C1F8074-3C1D-D1EA-EA35-BFCADBB54483}"/>
              </a:ext>
            </a:extLst>
          </p:cNvPr>
          <p:cNvSpPr>
            <a:spLocks noGrp="1"/>
          </p:cNvSpPr>
          <p:nvPr>
            <p:ph idx="1"/>
          </p:nvPr>
        </p:nvSpPr>
        <p:spPr/>
        <p:txBody>
          <a:bodyPr/>
          <a:lstStyle/>
          <a:p>
            <a:pPr marL="0" indent="0">
              <a:buNone/>
            </a:pPr>
            <a:r>
              <a:rPr lang="ja-GB" altLang="en-US" dirty="0"/>
              <a:t>情報を処理する「演算命令」を示すための記述</a:t>
            </a:r>
            <a:endParaRPr lang="en-US" altLang="ja-GB" dirty="0"/>
          </a:p>
          <a:p>
            <a:pPr marL="457200" lvl="1"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1</a:t>
            </a:r>
            <a:r>
              <a:rPr kumimoji="1" lang="ja-GB" altLang="en-US" dirty="0">
                <a:solidFill>
                  <a:schemeClr val="tx1">
                    <a:lumMod val="50000"/>
                    <a:lumOff val="50000"/>
                  </a:schemeClr>
                </a:solidFill>
              </a:rPr>
              <a:t>）代入演算子：</a:t>
            </a:r>
            <a:r>
              <a:rPr lang="en-US" altLang="ja-GB" dirty="0">
                <a:solidFill>
                  <a:schemeClr val="tx1">
                    <a:lumMod val="50000"/>
                    <a:lumOff val="50000"/>
                  </a:schemeClr>
                </a:solidFill>
              </a:rPr>
              <a:t>=</a:t>
            </a:r>
          </a:p>
          <a:p>
            <a:pPr marL="914400" lvl="2" indent="0">
              <a:buNone/>
            </a:pPr>
            <a:r>
              <a:rPr kumimoji="1" lang="ja-GB" altLang="en-US" dirty="0">
                <a:solidFill>
                  <a:schemeClr val="tx1">
                    <a:lumMod val="50000"/>
                    <a:lumOff val="50000"/>
                  </a:schemeClr>
                </a:solidFill>
              </a:rPr>
              <a:t>変数に情報を格納する命令（数学的なイコールではない）</a:t>
            </a:r>
            <a:endParaRPr kumimoji="1" lang="en-US" altLang="ja-GB" dirty="0">
              <a:solidFill>
                <a:schemeClr val="tx1">
                  <a:lumMod val="50000"/>
                  <a:lumOff val="50000"/>
                </a:schemeClr>
              </a:solidFill>
            </a:endParaRPr>
          </a:p>
          <a:p>
            <a:pPr lvl="4"/>
            <a:endParaRPr kumimoji="1" lang="en-US" altLang="ja-GB" dirty="0">
              <a:solidFill>
                <a:schemeClr val="tx1">
                  <a:lumMod val="50000"/>
                  <a:lumOff val="50000"/>
                </a:schemeClr>
              </a:solidFill>
            </a:endParaRPr>
          </a:p>
          <a:p>
            <a:pPr marL="457200" lvl="1" indent="0">
              <a:buNone/>
            </a:pPr>
            <a:r>
              <a:rPr lang="ja-GB" altLang="en-US" dirty="0">
                <a:solidFill>
                  <a:schemeClr val="tx1">
                    <a:lumMod val="50000"/>
                    <a:lumOff val="50000"/>
                  </a:schemeClr>
                </a:solidFill>
              </a:rPr>
              <a:t>例</a:t>
            </a:r>
            <a:r>
              <a:rPr lang="en-US" altLang="ja-GB" dirty="0">
                <a:solidFill>
                  <a:schemeClr val="tx1">
                    <a:lumMod val="50000"/>
                    <a:lumOff val="50000"/>
                  </a:schemeClr>
                </a:solidFill>
              </a:rPr>
              <a:t>2</a:t>
            </a:r>
            <a:r>
              <a:rPr lang="ja-GB" altLang="en-US" dirty="0">
                <a:solidFill>
                  <a:schemeClr val="tx1">
                    <a:lumMod val="50000"/>
                    <a:lumOff val="50000"/>
                  </a:schemeClr>
                </a:solidFill>
              </a:rPr>
              <a:t>）四則演算</a:t>
            </a:r>
            <a:r>
              <a:rPr lang="ja-JP" altLang="en-US">
                <a:solidFill>
                  <a:schemeClr val="tx1">
                    <a:lumMod val="50000"/>
                    <a:lumOff val="50000"/>
                  </a:schemeClr>
                </a:solidFill>
              </a:rPr>
              <a:t>子</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r>
              <a:rPr lang="ja-GB" altLang="en-US" dirty="0">
                <a:solidFill>
                  <a:schemeClr val="tx1">
                    <a:lumMod val="50000"/>
                    <a:lumOff val="50000"/>
                  </a:schemeClr>
                </a:solidFill>
              </a:rPr>
              <a:t>，</a:t>
            </a:r>
            <a:r>
              <a:rPr lang="en-US" altLang="ja-GB" dirty="0">
                <a:solidFill>
                  <a:schemeClr val="tx1">
                    <a:lumMod val="50000"/>
                    <a:lumOff val="50000"/>
                  </a:schemeClr>
                </a:solidFill>
              </a:rPr>
              <a:t>÷</a:t>
            </a:r>
          </a:p>
          <a:p>
            <a:pPr marL="914400" lvl="2" indent="0">
              <a:buNone/>
            </a:pPr>
            <a:r>
              <a:rPr lang="ja-GB" altLang="en-US" dirty="0">
                <a:solidFill>
                  <a:schemeClr val="tx1">
                    <a:lumMod val="50000"/>
                    <a:lumOff val="50000"/>
                  </a:schemeClr>
                </a:solidFill>
              </a:rPr>
              <a:t>同じ演算子で「型」ごとに異なる挙動が定義される場合がある</a:t>
            </a:r>
            <a:endParaRPr lang="en-US" altLang="ja-GB" dirty="0">
              <a:solidFill>
                <a:schemeClr val="tx1">
                  <a:lumMod val="50000"/>
                  <a:lumOff val="50000"/>
                </a:schemeClr>
              </a:solidFill>
            </a:endParaRPr>
          </a:p>
          <a:p>
            <a:pPr lvl="2"/>
            <a:endParaRPr lang="en-US" altLang="ja-GB" dirty="0">
              <a:solidFill>
                <a:schemeClr val="tx1">
                  <a:lumMod val="50000"/>
                  <a:lumOff val="50000"/>
                </a:schemeClr>
              </a:solidFill>
            </a:endParaRPr>
          </a:p>
          <a:p>
            <a:pPr lvl="2"/>
            <a:endParaRPr lang="en-US" altLang="ja-GB" dirty="0">
              <a:solidFill>
                <a:schemeClr val="tx1">
                  <a:lumMod val="50000"/>
                  <a:lumOff val="50000"/>
                </a:schemeClr>
              </a:solidFill>
            </a:endParaRPr>
          </a:p>
          <a:p>
            <a:pPr lvl="2"/>
            <a:endParaRPr lang="en-US" altLang="ja-GB" dirty="0">
              <a:solidFill>
                <a:schemeClr val="tx1">
                  <a:lumMod val="50000"/>
                  <a:lumOff val="50000"/>
                </a:schemeClr>
              </a:solidFill>
            </a:endParaRPr>
          </a:p>
          <a:p>
            <a:pPr marL="457200" lvl="1" indent="0">
              <a:buNone/>
            </a:pPr>
            <a:r>
              <a:rPr kumimoji="1" lang="ja-GB" altLang="en-US" dirty="0">
                <a:solidFill>
                  <a:schemeClr val="tx1">
                    <a:lumMod val="50000"/>
                    <a:lumOff val="50000"/>
                  </a:schemeClr>
                </a:solidFill>
              </a:rPr>
              <a:t>例</a:t>
            </a:r>
            <a:r>
              <a:rPr kumimoji="1" lang="en-US" altLang="ja-GB" dirty="0">
                <a:solidFill>
                  <a:schemeClr val="tx1">
                    <a:lumMod val="50000"/>
                    <a:lumOff val="50000"/>
                  </a:schemeClr>
                </a:solidFill>
              </a:rPr>
              <a:t>3</a:t>
            </a:r>
            <a:r>
              <a:rPr kumimoji="1" lang="ja-GB" altLang="en-US" dirty="0">
                <a:solidFill>
                  <a:schemeClr val="tx1">
                    <a:lumMod val="50000"/>
                    <a:lumOff val="50000"/>
                  </a:schemeClr>
                </a:solidFill>
              </a:rPr>
              <a:t>）</a:t>
            </a:r>
            <a:r>
              <a:rPr lang="ja-GB" altLang="en-US" dirty="0">
                <a:solidFill>
                  <a:schemeClr val="tx1">
                    <a:lumMod val="50000"/>
                    <a:lumOff val="50000"/>
                  </a:schemeClr>
                </a:solidFill>
              </a:rPr>
              <a:t> 比較演算子：</a:t>
            </a:r>
            <a:r>
              <a:rPr lang="en-US" altLang="ja-GB" dirty="0">
                <a:solidFill>
                  <a:schemeClr val="tx1">
                    <a:lumMod val="50000"/>
                    <a:lumOff val="50000"/>
                  </a:schemeClr>
                </a:solidFill>
              </a:rPr>
              <a:t>&lt;</a:t>
            </a:r>
            <a:r>
              <a:rPr lang="ja-GB" altLang="en-US" dirty="0">
                <a:solidFill>
                  <a:schemeClr val="tx1">
                    <a:lumMod val="50000"/>
                    <a:lumOff val="50000"/>
                  </a:schemeClr>
                </a:solidFill>
              </a:rPr>
              <a:t>，</a:t>
            </a:r>
            <a:r>
              <a:rPr lang="en-US" altLang="ja-GB" dirty="0">
                <a:solidFill>
                  <a:schemeClr val="tx1">
                    <a:lumMod val="50000"/>
                    <a:lumOff val="50000"/>
                  </a:schemeClr>
                </a:solidFill>
              </a:rPr>
              <a:t>&gt;</a:t>
            </a:r>
            <a:r>
              <a:rPr lang="ja-GB" altLang="en-US" dirty="0">
                <a:solidFill>
                  <a:schemeClr val="tx1">
                    <a:lumMod val="50000"/>
                    <a:lumOff val="50000"/>
                  </a:schemeClr>
                </a:solidFill>
              </a:rPr>
              <a:t>，≠，</a:t>
            </a:r>
            <a:r>
              <a:rPr lang="en-US" altLang="ja-GB" dirty="0">
                <a:solidFill>
                  <a:schemeClr val="tx1">
                    <a:lumMod val="50000"/>
                    <a:lumOff val="50000"/>
                  </a:schemeClr>
                </a:solidFill>
              </a:rPr>
              <a:t> ==</a:t>
            </a:r>
            <a:r>
              <a:rPr lang="ja-GB" altLang="en-US" dirty="0">
                <a:solidFill>
                  <a:schemeClr val="tx1">
                    <a:lumMod val="50000"/>
                    <a:lumOff val="50000"/>
                  </a:schemeClr>
                </a:solidFill>
              </a:rPr>
              <a:t>（イコール）</a:t>
            </a:r>
            <a:endParaRPr lang="en-US" altLang="ja-GB" dirty="0">
              <a:solidFill>
                <a:schemeClr val="tx1">
                  <a:lumMod val="50000"/>
                  <a:lumOff val="50000"/>
                </a:schemeClr>
              </a:solidFill>
            </a:endParaRPr>
          </a:p>
          <a:p>
            <a:pPr marL="914400" lvl="2" indent="0">
              <a:buNone/>
            </a:pPr>
            <a:r>
              <a:rPr lang="ja-GB" altLang="en-US" dirty="0">
                <a:solidFill>
                  <a:schemeClr val="tx1">
                    <a:lumMod val="50000"/>
                    <a:lumOff val="50000"/>
                  </a:schemeClr>
                </a:solidFill>
              </a:rPr>
              <a:t>変数同士を比較して論理値（真か偽か）を計算する命令</a:t>
            </a:r>
            <a:endParaRPr kumimoji="1" lang="en-US" altLang="ja-GB" dirty="0">
              <a:solidFill>
                <a:schemeClr val="tx1">
                  <a:lumMod val="50000"/>
                  <a:lumOff val="50000"/>
                </a:schemeClr>
              </a:solidFill>
            </a:endParaRPr>
          </a:p>
          <a:p>
            <a:pPr marL="1371600" lvl="3" indent="0">
              <a:buNone/>
            </a:pPr>
            <a:r>
              <a:rPr lang="en-US" altLang="ja-GB" sz="1200" dirty="0">
                <a:solidFill>
                  <a:schemeClr val="tx1">
                    <a:lumMod val="50000"/>
                    <a:lumOff val="50000"/>
                  </a:schemeClr>
                </a:solidFill>
              </a:rPr>
              <a:t>1 ==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1 </a:t>
            </a:r>
            <a:r>
              <a:rPr lang="ja-GB" altLang="en-US" sz="1200" dirty="0">
                <a:solidFill>
                  <a:schemeClr val="tx1">
                    <a:lumMod val="50000"/>
                    <a:lumOff val="50000"/>
                  </a:schemeClr>
                </a:solidFill>
              </a:rPr>
              <a:t>≠</a:t>
            </a:r>
            <a:r>
              <a:rPr lang="en-US" altLang="ja-GB" sz="1200" dirty="0">
                <a:solidFill>
                  <a:schemeClr val="tx1">
                    <a:lumMod val="50000"/>
                    <a:lumOff val="50000"/>
                  </a:schemeClr>
                </a:solidFill>
              </a:rPr>
              <a:t> 1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1 == 2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“hello” == “hello” → </a:t>
            </a:r>
            <a:r>
              <a:rPr lang="ja-GB" altLang="en-US" sz="1200" dirty="0">
                <a:solidFill>
                  <a:schemeClr val="tx1">
                    <a:lumMod val="50000"/>
                    <a:lumOff val="50000"/>
                  </a:schemeClr>
                </a:solidFill>
              </a:rPr>
              <a:t>真</a:t>
            </a:r>
            <a:endParaRPr lang="en-US" altLang="ja-GB" sz="1200" dirty="0">
              <a:solidFill>
                <a:schemeClr val="tx1">
                  <a:lumMod val="50000"/>
                  <a:lumOff val="50000"/>
                </a:schemeClr>
              </a:solidFill>
            </a:endParaRPr>
          </a:p>
          <a:p>
            <a:pPr marL="1371600" lvl="3" indent="0">
              <a:buNone/>
            </a:pPr>
            <a:r>
              <a:rPr lang="en-US" altLang="ja-GB" sz="1200" dirty="0">
                <a:solidFill>
                  <a:schemeClr val="tx1">
                    <a:lumMod val="50000"/>
                    <a:lumOff val="50000"/>
                  </a:schemeClr>
                </a:solidFill>
              </a:rPr>
              <a:t>2 &gt;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1 ≧ 1 → </a:t>
            </a:r>
            <a:r>
              <a:rPr lang="ja-GB" altLang="en-US" sz="1200" dirty="0">
                <a:solidFill>
                  <a:schemeClr val="tx1">
                    <a:lumMod val="50000"/>
                    <a:lumOff val="50000"/>
                  </a:schemeClr>
                </a:solidFill>
              </a:rPr>
              <a:t>真，</a:t>
            </a:r>
            <a:r>
              <a:rPr lang="en-US" altLang="ja-GB" sz="1200" dirty="0">
                <a:solidFill>
                  <a:schemeClr val="tx1">
                    <a:lumMod val="50000"/>
                    <a:lumOff val="50000"/>
                  </a:schemeClr>
                </a:solidFill>
              </a:rPr>
              <a:t>3 &lt; 1    → </a:t>
            </a:r>
            <a:r>
              <a:rPr lang="ja-GB" altLang="en-US" sz="1200" dirty="0">
                <a:solidFill>
                  <a:schemeClr val="tx1">
                    <a:lumMod val="50000"/>
                    <a:lumOff val="50000"/>
                  </a:schemeClr>
                </a:solidFill>
              </a:rPr>
              <a:t>偽，</a:t>
            </a:r>
            <a:r>
              <a:rPr lang="en-US" altLang="ja-GB" sz="1200" dirty="0">
                <a:solidFill>
                  <a:schemeClr val="tx1">
                    <a:lumMod val="50000"/>
                    <a:lumOff val="50000"/>
                  </a:schemeClr>
                </a:solidFill>
              </a:rPr>
              <a:t>-2 ≦ 0 →</a:t>
            </a:r>
            <a:r>
              <a:rPr lang="ja-GB" altLang="en-US" sz="1200" dirty="0">
                <a:solidFill>
                  <a:schemeClr val="tx1">
                    <a:lumMod val="50000"/>
                    <a:lumOff val="50000"/>
                  </a:schemeClr>
                </a:solidFill>
              </a:rPr>
              <a:t>真</a:t>
            </a:r>
            <a:endParaRPr lang="en-US" altLang="ja-GB" sz="1200" dirty="0">
              <a:solidFill>
                <a:schemeClr val="tx1">
                  <a:lumMod val="50000"/>
                  <a:lumOff val="50000"/>
                </a:schemeClr>
              </a:solidFill>
            </a:endParaRPr>
          </a:p>
          <a:p>
            <a:pPr lvl="4"/>
            <a:endParaRPr lang="en-US" altLang="ja-GB" sz="500" dirty="0"/>
          </a:p>
          <a:p>
            <a:pPr marL="457200" lvl="1" indent="0">
              <a:buNone/>
            </a:pPr>
            <a:r>
              <a:rPr kumimoji="1" lang="ja-GB" altLang="en-US" dirty="0">
                <a:solidFill>
                  <a:srgbClr val="2F2523"/>
                </a:solidFill>
              </a:rPr>
              <a:t>例</a:t>
            </a:r>
            <a:r>
              <a:rPr lang="en-US" altLang="ja-GB" dirty="0">
                <a:solidFill>
                  <a:srgbClr val="2F2523"/>
                </a:solidFill>
              </a:rPr>
              <a:t>4</a:t>
            </a:r>
            <a:r>
              <a:rPr lang="ja-GB" altLang="en-US" dirty="0">
                <a:solidFill>
                  <a:srgbClr val="2F2523"/>
                </a:solidFill>
              </a:rPr>
              <a:t>）論理演算</a:t>
            </a:r>
            <a:r>
              <a:rPr lang="ja-JP" altLang="en-US">
                <a:solidFill>
                  <a:srgbClr val="2F2523"/>
                </a:solidFill>
              </a:rPr>
              <a:t>子</a:t>
            </a:r>
            <a:r>
              <a:rPr lang="ja-GB" altLang="en-US" dirty="0">
                <a:solidFill>
                  <a:srgbClr val="2F2523"/>
                </a:solidFill>
              </a:rPr>
              <a:t>：</a:t>
            </a:r>
            <a:r>
              <a:rPr lang="en-US" altLang="ja-GB" dirty="0">
                <a:solidFill>
                  <a:srgbClr val="2F2523"/>
                </a:solidFill>
              </a:rPr>
              <a:t>not</a:t>
            </a:r>
            <a:r>
              <a:rPr lang="ja-GB" altLang="en-US" dirty="0">
                <a:solidFill>
                  <a:srgbClr val="2F2523"/>
                </a:solidFill>
              </a:rPr>
              <a:t>（でない），</a:t>
            </a:r>
            <a:r>
              <a:rPr lang="en-US" altLang="ja-GB" dirty="0">
                <a:solidFill>
                  <a:srgbClr val="2F2523"/>
                </a:solidFill>
              </a:rPr>
              <a:t>and</a:t>
            </a:r>
            <a:r>
              <a:rPr lang="ja-GB" altLang="en-US" dirty="0">
                <a:solidFill>
                  <a:srgbClr val="2F2523"/>
                </a:solidFill>
              </a:rPr>
              <a:t>（かつ），</a:t>
            </a:r>
            <a:r>
              <a:rPr lang="en-US" altLang="ja-GB" dirty="0">
                <a:solidFill>
                  <a:srgbClr val="2F2523"/>
                </a:solidFill>
              </a:rPr>
              <a:t>or</a:t>
            </a:r>
            <a:r>
              <a:rPr lang="ja-GB" altLang="en-US" dirty="0">
                <a:solidFill>
                  <a:srgbClr val="2F2523"/>
                </a:solidFill>
              </a:rPr>
              <a:t>（または）</a:t>
            </a:r>
          </a:p>
          <a:p>
            <a:pPr marL="914400" lvl="2" indent="0">
              <a:buNone/>
            </a:pPr>
            <a:r>
              <a:rPr kumimoji="1" lang="ja-GB" altLang="en-US" dirty="0"/>
              <a:t>論理（真偽）値の計算をするための命令</a:t>
            </a:r>
            <a:r>
              <a:rPr kumimoji="1" lang="ja-GB" altLang="en-US" sz="1200" dirty="0">
                <a:solidFill>
                  <a:schemeClr val="tx1">
                    <a:lumMod val="50000"/>
                    <a:lumOff val="50000"/>
                  </a:schemeClr>
                </a:solidFill>
              </a:rPr>
              <a:t>（使用例は次ページで説明）</a:t>
            </a:r>
            <a:endParaRPr kumimoji="1" lang="en-US" altLang="ja-GB" dirty="0">
              <a:solidFill>
                <a:schemeClr val="tx1">
                  <a:lumMod val="50000"/>
                  <a:lumOff val="50000"/>
                </a:schemeClr>
              </a:solidFill>
            </a:endParaRPr>
          </a:p>
        </p:txBody>
      </p:sp>
      <p:grpSp>
        <p:nvGrpSpPr>
          <p:cNvPr id="8" name="グループ化 7">
            <a:extLst>
              <a:ext uri="{FF2B5EF4-FFF2-40B4-BE49-F238E27FC236}">
                <a16:creationId xmlns:a16="http://schemas.microsoft.com/office/drawing/2014/main" id="{3B580BC4-809B-5033-6B88-73860790B800}"/>
              </a:ext>
            </a:extLst>
          </p:cNvPr>
          <p:cNvGrpSpPr/>
          <p:nvPr/>
        </p:nvGrpSpPr>
        <p:grpSpPr>
          <a:xfrm>
            <a:off x="1845192" y="2753799"/>
            <a:ext cx="5453615" cy="830999"/>
            <a:chOff x="1976797" y="3307078"/>
            <a:chExt cx="5453615" cy="830999"/>
          </a:xfrm>
        </p:grpSpPr>
        <p:sp>
          <p:nvSpPr>
            <p:cNvPr id="5" name="テキスト ボックス 4">
              <a:extLst>
                <a:ext uri="{FF2B5EF4-FFF2-40B4-BE49-F238E27FC236}">
                  <a16:creationId xmlns:a16="http://schemas.microsoft.com/office/drawing/2014/main" id="{BAED6B3A-E0BF-E6F6-1DC4-A03C8282FA88}"/>
                </a:ext>
              </a:extLst>
            </p:cNvPr>
            <p:cNvSpPr txBox="1"/>
            <p:nvPr/>
          </p:nvSpPr>
          <p:spPr>
            <a:xfrm>
              <a:off x="1976797" y="3307079"/>
              <a:ext cx="1925279" cy="830997"/>
            </a:xfrm>
            <a:prstGeom prst="rect">
              <a:avLst/>
            </a:prstGeom>
            <a:noFill/>
          </p:spPr>
          <p:txBody>
            <a:bodyPr wrap="square" rtlCol="0">
              <a:spAutoFit/>
            </a:bodyPr>
            <a:lstStyle/>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a = “I am ”</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b = “John”</a:t>
              </a:r>
            </a:p>
            <a:p>
              <a:pPr marL="342900" indent="-342900">
                <a:buFont typeface="+mj-lt"/>
                <a:buAutoNum type="arabicPeriod"/>
              </a:pPr>
              <a:r>
                <a:rPr kumimoji="1" lang="ja-JP" altLang="en-US" sz="1200" b="1">
                  <a:solidFill>
                    <a:schemeClr val="tx1">
                      <a:lumMod val="50000"/>
                      <a:lumOff val="50000"/>
                    </a:schemeClr>
                  </a:solidFill>
                </a:rPr>
                <a:t>文字列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GB" altLang="ja-GB" sz="1200" b="1" dirty="0">
                  <a:solidFill>
                    <a:schemeClr val="tx1">
                      <a:lumMod val="50000"/>
                      <a:lumOff val="50000"/>
                    </a:schemeClr>
                  </a:solidFill>
                </a:rPr>
                <a:t>I am John</a:t>
              </a:r>
              <a:r>
                <a:rPr kumimoji="1" lang="ja-GB" altLang="en-GB" sz="1200" b="1" dirty="0">
                  <a:solidFill>
                    <a:schemeClr val="tx1">
                      <a:lumMod val="50000"/>
                      <a:lumOff val="50000"/>
                    </a:schemeClr>
                  </a:solidFill>
                </a:rPr>
                <a:t>」</a:t>
              </a:r>
              <a:endParaRPr kumimoji="1" lang="ja-JP" altLang="en-US" sz="1200" b="1">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2BBE3B0C-BDB6-9D0F-3C38-7383B9D41098}"/>
                </a:ext>
              </a:extLst>
            </p:cNvPr>
            <p:cNvSpPr txBox="1"/>
            <p:nvPr/>
          </p:nvSpPr>
          <p:spPr>
            <a:xfrm>
              <a:off x="3902076" y="3307080"/>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1</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2</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→c</a:t>
              </a:r>
              <a:r>
                <a:rPr kumimoji="1" lang="ja-JP" altLang="en-US" sz="1200" b="1">
                  <a:solidFill>
                    <a:schemeClr val="tx1">
                      <a:lumMod val="50000"/>
                      <a:lumOff val="50000"/>
                    </a:schemeClr>
                  </a:solidFill>
                </a:rPr>
                <a:t>は「</a:t>
              </a:r>
              <a:r>
                <a:rPr kumimoji="1" lang="en-US" altLang="ja-JP" sz="1200" b="1" dirty="0">
                  <a:solidFill>
                    <a:schemeClr val="tx1">
                      <a:lumMod val="50000"/>
                      <a:lumOff val="50000"/>
                    </a:schemeClr>
                  </a:solidFill>
                </a:rPr>
                <a:t>3</a:t>
              </a:r>
              <a:r>
                <a:rPr kumimoji="1" lang="ja-JP" altLang="en-US" sz="1200" b="1">
                  <a:solidFill>
                    <a:schemeClr val="tx1">
                      <a:lumMod val="50000"/>
                      <a:lumOff val="50000"/>
                    </a:schemeClr>
                  </a:solidFill>
                </a:rPr>
                <a:t>」</a:t>
              </a:r>
            </a:p>
          </p:txBody>
        </p:sp>
        <p:sp>
          <p:nvSpPr>
            <p:cNvPr id="7" name="テキスト ボックス 6">
              <a:extLst>
                <a:ext uri="{FF2B5EF4-FFF2-40B4-BE49-F238E27FC236}">
                  <a16:creationId xmlns:a16="http://schemas.microsoft.com/office/drawing/2014/main" id="{A61FBF06-5B8C-632D-CED7-5CF66A45E6B0}"/>
                </a:ext>
              </a:extLst>
            </p:cNvPr>
            <p:cNvSpPr txBox="1"/>
            <p:nvPr/>
          </p:nvSpPr>
          <p:spPr>
            <a:xfrm>
              <a:off x="5505133" y="3307078"/>
              <a:ext cx="1925279" cy="830997"/>
            </a:xfrm>
            <a:prstGeom prst="rect">
              <a:avLst/>
            </a:prstGeom>
            <a:noFill/>
          </p:spPr>
          <p:txBody>
            <a:bodyPr wrap="square" rtlCol="0">
              <a:spAutoFit/>
            </a:bodyPr>
            <a:lstStyle/>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a = “</a:t>
              </a:r>
              <a:r>
                <a:rPr kumimoji="1" lang="en-US" altLang="ja-GB" sz="1200" b="1" dirty="0">
                  <a:solidFill>
                    <a:schemeClr val="tx1">
                      <a:lumMod val="50000"/>
                      <a:lumOff val="50000"/>
                    </a:schemeClr>
                  </a:solidFill>
                </a:rPr>
                <a:t>version </a:t>
              </a:r>
              <a:r>
                <a:rPr kumimoji="1" lang="en-GB" altLang="ja-GB" sz="1200" b="1" dirty="0">
                  <a:solidFill>
                    <a:schemeClr val="tx1">
                      <a:lumMod val="50000"/>
                      <a:lumOff val="50000"/>
                    </a:schemeClr>
                  </a:solidFill>
                </a:rPr>
                <a:t>”</a:t>
              </a:r>
            </a:p>
            <a:p>
              <a:pPr marL="342900" indent="-342900">
                <a:buFont typeface="+mj-lt"/>
                <a:buAutoNum type="arabicPeriod"/>
              </a:pPr>
              <a:r>
                <a:rPr kumimoji="1" lang="ja-GB" altLang="en-US" sz="1200" b="1" dirty="0">
                  <a:solidFill>
                    <a:schemeClr val="tx1">
                      <a:lumMod val="50000"/>
                      <a:lumOff val="50000"/>
                    </a:schemeClr>
                  </a:solidFill>
                </a:rPr>
                <a:t>数値</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b = “3”</a:t>
              </a:r>
            </a:p>
            <a:p>
              <a:pPr marL="342900" indent="-342900">
                <a:buFont typeface="+mj-lt"/>
                <a:buAutoNum type="arabicPeriod"/>
              </a:pPr>
              <a:r>
                <a:rPr kumimoji="1" lang="ja-GB" altLang="en-US" sz="1200" b="1" dirty="0">
                  <a:solidFill>
                    <a:schemeClr val="tx1">
                      <a:lumMod val="50000"/>
                      <a:lumOff val="50000"/>
                    </a:schemeClr>
                  </a:solidFill>
                </a:rPr>
                <a:t>文字列</a:t>
              </a:r>
              <a:r>
                <a:rPr kumimoji="1" lang="ja-JP" altLang="en-US" sz="1200" b="1">
                  <a:solidFill>
                    <a:schemeClr val="tx1">
                      <a:lumMod val="50000"/>
                      <a:lumOff val="50000"/>
                    </a:schemeClr>
                  </a:solidFill>
                </a:rPr>
                <a:t> </a:t>
              </a:r>
              <a:r>
                <a:rPr kumimoji="1" lang="en-GB" altLang="ja-GB" sz="1200" b="1" dirty="0">
                  <a:solidFill>
                    <a:schemeClr val="tx1">
                      <a:lumMod val="50000"/>
                      <a:lumOff val="50000"/>
                    </a:schemeClr>
                  </a:solidFill>
                </a:rPr>
                <a:t>c = a + b</a:t>
              </a:r>
            </a:p>
            <a:p>
              <a:r>
                <a:rPr kumimoji="1" lang="en-GB" altLang="ja-GB" sz="1200" b="1" dirty="0">
                  <a:solidFill>
                    <a:schemeClr val="tx1">
                      <a:lumMod val="50000"/>
                      <a:lumOff val="50000"/>
                    </a:schemeClr>
                  </a:solidFill>
                </a:rPr>
                <a:t>→ </a:t>
              </a:r>
              <a:r>
                <a:rPr kumimoji="1" lang="ja-GB" altLang="en-US" sz="1200" b="1" dirty="0">
                  <a:solidFill>
                    <a:schemeClr val="tx1">
                      <a:lumMod val="50000"/>
                      <a:lumOff val="50000"/>
                    </a:schemeClr>
                  </a:solidFill>
                </a:rPr>
                <a:t>エラー</a:t>
              </a:r>
              <a:endParaRPr kumimoji="1" lang="ja-JP" altLang="en-US" sz="1200" b="1">
                <a:solidFill>
                  <a:schemeClr val="tx1">
                    <a:lumMod val="50000"/>
                    <a:lumOff val="50000"/>
                  </a:schemeClr>
                </a:solidFill>
              </a:endParaRPr>
            </a:p>
          </p:txBody>
        </p:sp>
      </p:grpSp>
      <p:grpSp>
        <p:nvGrpSpPr>
          <p:cNvPr id="21" name="グループ化 20">
            <a:extLst>
              <a:ext uri="{FF2B5EF4-FFF2-40B4-BE49-F238E27FC236}">
                <a16:creationId xmlns:a16="http://schemas.microsoft.com/office/drawing/2014/main" id="{8ED20C28-5B17-A430-351E-954C922472E9}"/>
              </a:ext>
            </a:extLst>
          </p:cNvPr>
          <p:cNvGrpSpPr/>
          <p:nvPr/>
        </p:nvGrpSpPr>
        <p:grpSpPr>
          <a:xfrm>
            <a:off x="1528684" y="5507920"/>
            <a:ext cx="6086631" cy="1332401"/>
            <a:chOff x="1607675" y="5498993"/>
            <a:chExt cx="6086631" cy="1332401"/>
          </a:xfrm>
        </p:grpSpPr>
        <p:pic>
          <p:nvPicPr>
            <p:cNvPr id="16" name="図 15" descr="アプリケーション, テーブル&#10;&#10;AI 生成コンテンツは誤りを含む可能性があります。">
              <a:extLst>
                <a:ext uri="{FF2B5EF4-FFF2-40B4-BE49-F238E27FC236}">
                  <a16:creationId xmlns:a16="http://schemas.microsoft.com/office/drawing/2014/main" id="{AD66DD15-7608-C7C1-2A31-560C6CD79520}"/>
                </a:ext>
              </a:extLst>
            </p:cNvPr>
            <p:cNvPicPr>
              <a:picLocks noChangeAspect="1"/>
            </p:cNvPicPr>
            <p:nvPr/>
          </p:nvPicPr>
          <p:blipFill>
            <a:blip r:embed="rId2"/>
            <a:stretch>
              <a:fillRect/>
            </a:stretch>
          </p:blipFill>
          <p:spPr>
            <a:xfrm>
              <a:off x="1607675" y="5498993"/>
              <a:ext cx="1512005" cy="1332000"/>
            </a:xfrm>
            <a:prstGeom prst="rect">
              <a:avLst/>
            </a:prstGeom>
          </p:spPr>
        </p:pic>
        <p:pic>
          <p:nvPicPr>
            <p:cNvPr id="18" name="図 17" descr="テーブル&#10;&#10;AI 生成コンテンツは誤りを含む可能性があります。">
              <a:extLst>
                <a:ext uri="{FF2B5EF4-FFF2-40B4-BE49-F238E27FC236}">
                  <a16:creationId xmlns:a16="http://schemas.microsoft.com/office/drawing/2014/main" id="{C07837BE-F286-AF8E-B189-70B754A0719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89812" y="5498993"/>
              <a:ext cx="1265770" cy="1332000"/>
            </a:xfrm>
            <a:prstGeom prst="rect">
              <a:avLst/>
            </a:prstGeom>
          </p:spPr>
        </p:pic>
        <p:pic>
          <p:nvPicPr>
            <p:cNvPr id="20" name="図 19" descr="テーブル&#10;&#10;AI 生成コンテンツは誤りを含む可能性があります。">
              <a:extLst>
                <a:ext uri="{FF2B5EF4-FFF2-40B4-BE49-F238E27FC236}">
                  <a16:creationId xmlns:a16="http://schemas.microsoft.com/office/drawing/2014/main" id="{451849E6-1EE3-E2F0-3366-A1642B68A9E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25713" y="5499394"/>
              <a:ext cx="1368593" cy="1332000"/>
            </a:xfrm>
            <a:prstGeom prst="rect">
              <a:avLst/>
            </a:prstGeom>
          </p:spPr>
        </p:pic>
      </p:grpSp>
    </p:spTree>
    <p:extLst>
      <p:ext uri="{BB962C8B-B14F-4D97-AF65-F5344CB8AC3E}">
        <p14:creationId xmlns:p14="http://schemas.microsoft.com/office/powerpoint/2010/main" val="33101889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E20106-79B3-6DFC-2CF2-CD26BCD24381}"/>
              </a:ext>
            </a:extLst>
          </p:cNvPr>
          <p:cNvSpPr>
            <a:spLocks noGrp="1"/>
          </p:cNvSpPr>
          <p:nvPr>
            <p:ph type="title"/>
          </p:nvPr>
        </p:nvSpPr>
        <p:spPr/>
        <p:txBody>
          <a:bodyPr/>
          <a:lstStyle/>
          <a:p>
            <a:r>
              <a:rPr kumimoji="1" lang="ja-GB" altLang="en-US" dirty="0"/>
              <a:t>条件分岐の記述</a:t>
            </a:r>
          </a:p>
        </p:txBody>
      </p:sp>
      <p:sp>
        <p:nvSpPr>
          <p:cNvPr id="3" name="コンテンツ プレースホルダー 2">
            <a:extLst>
              <a:ext uri="{FF2B5EF4-FFF2-40B4-BE49-F238E27FC236}">
                <a16:creationId xmlns:a16="http://schemas.microsoft.com/office/drawing/2014/main" id="{39C3F909-24AA-3D0F-AA79-7407CD91F750}"/>
              </a:ext>
            </a:extLst>
          </p:cNvPr>
          <p:cNvSpPr>
            <a:spLocks noGrp="1"/>
          </p:cNvSpPr>
          <p:nvPr>
            <p:ph idx="1"/>
          </p:nvPr>
        </p:nvSpPr>
        <p:spPr/>
        <p:txBody>
          <a:bodyPr/>
          <a:lstStyle/>
          <a:p>
            <a:pPr marL="0" indent="0">
              <a:buNone/>
            </a:pPr>
            <a:r>
              <a:rPr kumimoji="1" lang="ja-GB" altLang="en-US" dirty="0"/>
              <a:t>「もし</a:t>
            </a:r>
            <a:r>
              <a:rPr kumimoji="1" lang="ja-GB" altLang="en-US" dirty="0">
                <a:solidFill>
                  <a:schemeClr val="tx1">
                    <a:lumMod val="50000"/>
                    <a:lumOff val="50000"/>
                  </a:schemeClr>
                </a:solidFill>
              </a:rPr>
              <a:t>（</a:t>
            </a:r>
            <a:r>
              <a:rPr lang="ja-GB" altLang="en-US" dirty="0">
                <a:solidFill>
                  <a:schemeClr val="tx1">
                    <a:lumMod val="50000"/>
                    <a:lumOff val="50000"/>
                  </a:schemeClr>
                </a:solidFill>
              </a:rPr>
              <a:t>条件</a:t>
            </a:r>
            <a:r>
              <a:rPr kumimoji="1" lang="ja-GB" altLang="en-US" dirty="0">
                <a:solidFill>
                  <a:schemeClr val="tx1">
                    <a:lumMod val="50000"/>
                    <a:lumOff val="50000"/>
                  </a:schemeClr>
                </a:solidFill>
              </a:rPr>
              <a:t>）</a:t>
            </a:r>
            <a:r>
              <a:rPr kumimoji="1" lang="ja-GB" altLang="en-US" dirty="0"/>
              <a:t>なら</a:t>
            </a:r>
            <a:r>
              <a:rPr kumimoji="1" lang="ja-GB" altLang="en-US" dirty="0">
                <a:solidFill>
                  <a:schemeClr val="tx1">
                    <a:lumMod val="50000"/>
                    <a:lumOff val="50000"/>
                  </a:schemeClr>
                </a:solidFill>
              </a:rPr>
              <a:t>｛処理</a:t>
            </a:r>
            <a:r>
              <a:rPr lang="ja-GB" altLang="en-US" dirty="0">
                <a:solidFill>
                  <a:schemeClr val="tx1">
                    <a:lumMod val="50000"/>
                    <a:lumOff val="50000"/>
                  </a:schemeClr>
                </a:solidFill>
              </a:rPr>
              <a:t>｝</a:t>
            </a:r>
            <a:r>
              <a:rPr kumimoji="1" lang="ja-GB" altLang="en-US" dirty="0"/>
              <a:t>」という形で書く</a:t>
            </a:r>
            <a:endParaRPr kumimoji="1" lang="en-US" altLang="ja-GB" dirty="0"/>
          </a:p>
          <a:p>
            <a:pPr lvl="1"/>
            <a:r>
              <a:rPr kumimoji="1" lang="ja-GB" altLang="en-US" dirty="0"/>
              <a:t>条件が真のとき，処理内容が実行される</a:t>
            </a:r>
            <a:endParaRPr kumimoji="1" lang="en-US" altLang="ja-GB" dirty="0"/>
          </a:p>
          <a:p>
            <a:pPr lvl="1"/>
            <a:r>
              <a:rPr lang="ja-GB" altLang="en-US" dirty="0"/>
              <a:t>条件が偽のとき，処理内容は実行されない</a:t>
            </a:r>
            <a:endParaRPr kumimoji="1" lang="en-US" altLang="ja-GB" dirty="0"/>
          </a:p>
        </p:txBody>
      </p:sp>
      <p:sp>
        <p:nvSpPr>
          <p:cNvPr id="5" name="テキスト ボックス 4">
            <a:extLst>
              <a:ext uri="{FF2B5EF4-FFF2-40B4-BE49-F238E27FC236}">
                <a16:creationId xmlns:a16="http://schemas.microsoft.com/office/drawing/2014/main" id="{7A4793AA-6F54-3E5A-E1F1-FE91D0776F8A}"/>
              </a:ext>
            </a:extLst>
          </p:cNvPr>
          <p:cNvSpPr txBox="1"/>
          <p:nvPr/>
        </p:nvSpPr>
        <p:spPr>
          <a:xfrm>
            <a:off x="585457" y="2048441"/>
            <a:ext cx="3379451" cy="4616648"/>
          </a:xfrm>
          <a:prstGeom prst="rect">
            <a:avLst/>
          </a:prstGeom>
          <a:noFill/>
        </p:spPr>
        <p:txBody>
          <a:bodyPr wrap="none" rtlCol="0">
            <a:spAutoFit/>
          </a:bodyPr>
          <a:lstStyle/>
          <a:p>
            <a:r>
              <a:rPr kumimoji="1" lang="ja-JP" altLang="en-US" sz="1400" b="1"/>
              <a:t>数値 月</a:t>
            </a:r>
            <a:r>
              <a:rPr kumimoji="1" lang="en-US" altLang="ja-JP" sz="1400" b="1" dirty="0"/>
              <a:t> = 5</a:t>
            </a:r>
          </a:p>
          <a:p>
            <a:r>
              <a:rPr kumimoji="1" lang="ja-GB" altLang="en-US" sz="1400" b="1" dirty="0"/>
              <a:t>文字列</a:t>
            </a:r>
            <a:r>
              <a:rPr kumimoji="1" lang="en-US" altLang="ja-GB" sz="1400" b="1" dirty="0"/>
              <a:t> </a:t>
            </a:r>
            <a:r>
              <a:rPr kumimoji="1" lang="ja-GB" altLang="en-US" sz="1400" b="1" dirty="0"/>
              <a:t>天気</a:t>
            </a:r>
            <a:r>
              <a:rPr kumimoji="1" lang="en-US" altLang="ja-GB" sz="1400" b="1" dirty="0"/>
              <a:t> = “</a:t>
            </a:r>
            <a:r>
              <a:rPr kumimoji="1" lang="ja-GB" altLang="en-US" sz="1400" b="1" dirty="0"/>
              <a:t>晴れ</a:t>
            </a:r>
            <a:r>
              <a:rPr kumimoji="1" lang="en-US" altLang="ja-GB" sz="1400" b="1" dirty="0"/>
              <a:t>”</a:t>
            </a:r>
          </a:p>
          <a:p>
            <a:r>
              <a:rPr kumimoji="1" lang="ja-GB" altLang="en-US" sz="1400" b="1" dirty="0"/>
              <a:t>文字列</a:t>
            </a:r>
            <a:r>
              <a:rPr kumimoji="1" lang="en-US" altLang="ja-GB" sz="1400" b="1" dirty="0"/>
              <a:t> </a:t>
            </a:r>
            <a:r>
              <a:rPr kumimoji="1" lang="ja-GB" altLang="en-US" sz="1400" b="1" dirty="0"/>
              <a:t>危険</a:t>
            </a:r>
            <a:r>
              <a:rPr kumimoji="1" lang="en-US" altLang="ja-GB" sz="1400" b="1" dirty="0"/>
              <a:t> = “</a:t>
            </a:r>
            <a:r>
              <a:rPr kumimoji="1" lang="ja-GB" altLang="en-US" sz="1400" b="1" dirty="0"/>
              <a:t>なし</a:t>
            </a:r>
            <a:r>
              <a:rPr kumimoji="1" lang="en-US" altLang="ja-GB" sz="1400" b="1" dirty="0"/>
              <a:t>”</a:t>
            </a:r>
            <a:endParaRPr kumimoji="1" lang="ja-JP" altLang="en-US" sz="1400" b="1"/>
          </a:p>
          <a:p>
            <a:endParaRPr kumimoji="1" lang="ja-JP" altLang="en-US" sz="1400" b="1"/>
          </a:p>
          <a:p>
            <a:r>
              <a:rPr kumimoji="1" lang="ja-JP" altLang="en-US" sz="1400" b="1">
                <a:solidFill>
                  <a:srgbClr val="0070C0"/>
                </a:solidFill>
              </a:rPr>
              <a:t>もし（月</a:t>
            </a:r>
            <a:r>
              <a:rPr kumimoji="1" lang="en-US" altLang="ja-JP" sz="1400" b="1" dirty="0">
                <a:solidFill>
                  <a:srgbClr val="0070C0"/>
                </a:solidFill>
              </a:rPr>
              <a:t>==12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2</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冬</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==3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4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5</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春</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==6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7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8</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夏</a:t>
            </a:r>
            <a:r>
              <a:rPr kumimoji="1" lang="en-US" altLang="ja-GB" sz="1400" b="1" dirty="0"/>
              <a:t>”</a:t>
            </a:r>
            <a:endParaRPr kumimoji="1" lang="ja-JP" altLang="en-US" sz="1400" b="1"/>
          </a:p>
          <a:p>
            <a:r>
              <a:rPr kumimoji="1" lang="en-US" altLang="ja-JP" sz="1400" b="1" dirty="0"/>
              <a:t>}</a:t>
            </a:r>
          </a:p>
          <a:p>
            <a:r>
              <a:rPr kumimoji="1" lang="ja-JP" altLang="en-US" sz="1400" b="1">
                <a:solidFill>
                  <a:srgbClr val="0070C0"/>
                </a:solidFill>
              </a:rPr>
              <a:t>もし（月</a:t>
            </a:r>
            <a:r>
              <a:rPr kumimoji="1" lang="en-US" altLang="ja-JP" sz="1400" b="1" dirty="0">
                <a:solidFill>
                  <a:srgbClr val="0070C0"/>
                </a:solidFill>
              </a:rPr>
              <a:t>==9 or</a:t>
            </a:r>
            <a:r>
              <a:rPr kumimoji="1" lang="ja-JP" altLang="en-US" sz="1400" b="1">
                <a:solidFill>
                  <a:srgbClr val="0070C0"/>
                </a:solidFill>
              </a:rPr>
              <a:t>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10 or </a:t>
            </a:r>
            <a:r>
              <a:rPr kumimoji="1" lang="ja-GB" altLang="en-US" sz="1400" b="1" dirty="0">
                <a:solidFill>
                  <a:srgbClr val="0070C0"/>
                </a:solidFill>
              </a:rPr>
              <a:t>月</a:t>
            </a:r>
            <a:r>
              <a:rPr kumimoji="1" lang="en-US" altLang="ja-GB" sz="1400" b="1" dirty="0">
                <a:solidFill>
                  <a:srgbClr val="0070C0"/>
                </a:solidFill>
              </a:rPr>
              <a:t>==</a:t>
            </a:r>
            <a:r>
              <a:rPr kumimoji="1" lang="en-US" altLang="ja-JP" sz="1400" b="1" dirty="0">
                <a:solidFill>
                  <a:srgbClr val="0070C0"/>
                </a:solidFill>
              </a:rPr>
              <a:t>11</a:t>
            </a:r>
            <a:r>
              <a:rPr kumimoji="1" lang="ja-JP" altLang="en-US" sz="1400" b="1">
                <a:solidFill>
                  <a:srgbClr val="0070C0"/>
                </a:solidFill>
              </a:rPr>
              <a:t>）なら</a:t>
            </a:r>
            <a:r>
              <a:rPr kumimoji="1" lang="ja-JP" altLang="en-US" sz="1400" b="1"/>
              <a:t> </a:t>
            </a:r>
            <a:r>
              <a:rPr kumimoji="1" lang="en-US" altLang="ja-JP" sz="1400" b="1" dirty="0"/>
              <a:t>{</a:t>
            </a:r>
          </a:p>
          <a:p>
            <a:r>
              <a:rPr kumimoji="1" lang="ja-JP" altLang="en-US" sz="1400" b="1"/>
              <a:t>　</a:t>
            </a:r>
            <a:r>
              <a:rPr kumimoji="1" lang="en-US" altLang="ja-JP" sz="1400" b="1" dirty="0"/>
              <a:t> </a:t>
            </a:r>
            <a:r>
              <a:rPr kumimoji="1" lang="ja-GB" altLang="en-US" sz="1400" b="1" dirty="0"/>
              <a:t>文字列</a:t>
            </a:r>
            <a:r>
              <a:rPr kumimoji="1" lang="en-US" altLang="ja-GB" sz="1400" b="1" dirty="0"/>
              <a:t> </a:t>
            </a:r>
            <a:r>
              <a:rPr kumimoji="1" lang="ja-GB" altLang="en-US" sz="1400" b="1" dirty="0"/>
              <a:t>季節</a:t>
            </a:r>
            <a:r>
              <a:rPr kumimoji="1" lang="en-US" altLang="ja-GB" sz="1400" b="1" dirty="0"/>
              <a:t> = “</a:t>
            </a:r>
            <a:r>
              <a:rPr kumimoji="1" lang="ja-GB" altLang="en-US" sz="1400" b="1" dirty="0"/>
              <a:t>秋</a:t>
            </a:r>
            <a:r>
              <a:rPr kumimoji="1" lang="en-US" altLang="ja-GB" sz="1400" b="1" dirty="0"/>
              <a:t>”</a:t>
            </a:r>
            <a:endParaRPr kumimoji="1" lang="ja-JP" altLang="en-US" sz="1400" b="1"/>
          </a:p>
          <a:p>
            <a:r>
              <a:rPr kumimoji="1" lang="en-US" altLang="ja-JP" sz="1400" b="1" dirty="0"/>
              <a:t>}</a:t>
            </a:r>
          </a:p>
          <a:p>
            <a:endParaRPr kumimoji="1" lang="en-US" altLang="ja-GB" sz="1400" b="1" dirty="0"/>
          </a:p>
          <a:p>
            <a:r>
              <a:rPr kumimoji="1" lang="ja-GB" altLang="en-US" sz="1400" b="1" dirty="0">
                <a:solidFill>
                  <a:srgbClr val="0070C0"/>
                </a:solidFill>
              </a:rPr>
              <a:t>もし（季節</a:t>
            </a:r>
            <a:r>
              <a:rPr kumimoji="1" lang="en-US" altLang="ja-GB" sz="1400" b="1" dirty="0">
                <a:solidFill>
                  <a:srgbClr val="0070C0"/>
                </a:solidFill>
              </a:rPr>
              <a:t>==</a:t>
            </a:r>
            <a:r>
              <a:rPr kumimoji="1" lang="ja-GB" altLang="en-US" sz="1400" b="1" dirty="0">
                <a:solidFill>
                  <a:srgbClr val="0070C0"/>
                </a:solidFill>
              </a:rPr>
              <a:t>冬</a:t>
            </a:r>
            <a:r>
              <a:rPr kumimoji="1" lang="en-US" altLang="ja-GB" sz="1400" b="1" dirty="0">
                <a:solidFill>
                  <a:srgbClr val="0070C0"/>
                </a:solidFill>
              </a:rPr>
              <a:t> and </a:t>
            </a:r>
            <a:r>
              <a:rPr kumimoji="1" lang="ja-GB" altLang="en-US" sz="1400" b="1" dirty="0">
                <a:solidFill>
                  <a:srgbClr val="0070C0"/>
                </a:solidFill>
              </a:rPr>
              <a:t>天気</a:t>
            </a:r>
            <a:r>
              <a:rPr kumimoji="1" lang="en-US" altLang="ja-GB" sz="1400" b="1" dirty="0">
                <a:solidFill>
                  <a:srgbClr val="0070C0"/>
                </a:solidFill>
              </a:rPr>
              <a:t> == </a:t>
            </a:r>
            <a:r>
              <a:rPr kumimoji="1" lang="ja-GB" altLang="en-US" sz="1400" b="1" dirty="0">
                <a:solidFill>
                  <a:srgbClr val="0070C0"/>
                </a:solidFill>
              </a:rPr>
              <a:t>晴れ）なら</a:t>
            </a:r>
            <a:r>
              <a:rPr kumimoji="1" lang="en-US" altLang="ja-GB" sz="1400" b="1" dirty="0"/>
              <a:t>{</a:t>
            </a:r>
          </a:p>
          <a:p>
            <a:r>
              <a:rPr kumimoji="1" lang="ja-JP" altLang="en-US" sz="1400" b="1"/>
              <a:t>　</a:t>
            </a:r>
            <a:r>
              <a:rPr kumimoji="1" lang="en-US" altLang="ja-JP" sz="1400" b="1" dirty="0"/>
              <a:t> </a:t>
            </a:r>
            <a:r>
              <a:rPr kumimoji="1" lang="ja-GB" altLang="en-US" sz="1400" b="1" dirty="0"/>
              <a:t>危険</a:t>
            </a:r>
            <a:r>
              <a:rPr kumimoji="1" lang="en-US" altLang="ja-GB" sz="1400" b="1" dirty="0"/>
              <a:t> = “</a:t>
            </a:r>
            <a:r>
              <a:rPr kumimoji="1" lang="ja-GB" altLang="en-US" sz="1400" b="1" dirty="0"/>
              <a:t>火事</a:t>
            </a:r>
            <a:r>
              <a:rPr kumimoji="1" lang="en-US" altLang="ja-GB" sz="1400" b="1" dirty="0"/>
              <a:t>”</a:t>
            </a:r>
            <a:endParaRPr kumimoji="1" lang="ja-JP" altLang="en-US" sz="1400" b="1"/>
          </a:p>
          <a:p>
            <a:r>
              <a:rPr kumimoji="1" lang="en-US" altLang="ja-GB" sz="1400" b="1" dirty="0"/>
              <a:t>}</a:t>
            </a:r>
          </a:p>
          <a:p>
            <a:endParaRPr kumimoji="1" lang="ja-GB" altLang="en-US" sz="1400" b="1" dirty="0"/>
          </a:p>
        </p:txBody>
      </p:sp>
      <p:sp>
        <p:nvSpPr>
          <p:cNvPr id="6" name="テキスト ボックス 5">
            <a:extLst>
              <a:ext uri="{FF2B5EF4-FFF2-40B4-BE49-F238E27FC236}">
                <a16:creationId xmlns:a16="http://schemas.microsoft.com/office/drawing/2014/main" id="{380BBEA1-C04C-961F-8416-DA3CAABC4A40}"/>
              </a:ext>
            </a:extLst>
          </p:cNvPr>
          <p:cNvSpPr txBox="1"/>
          <p:nvPr/>
        </p:nvSpPr>
        <p:spPr>
          <a:xfrm>
            <a:off x="5026810" y="2910215"/>
            <a:ext cx="3397084" cy="2893100"/>
          </a:xfrm>
          <a:prstGeom prst="rect">
            <a:avLst/>
          </a:prstGeom>
          <a:noFill/>
        </p:spPr>
        <p:txBody>
          <a:bodyPr wrap="none" rtlCol="0">
            <a:spAutoFit/>
          </a:bodyPr>
          <a:lstStyle/>
          <a:p>
            <a:r>
              <a:rPr kumimoji="1" lang="ja-JP" altLang="en-US" sz="1400" b="1"/>
              <a:t>数値 価格</a:t>
            </a:r>
            <a:r>
              <a:rPr kumimoji="1" lang="en-US" altLang="ja-JP" sz="1400" b="1" dirty="0"/>
              <a:t> = 100</a:t>
            </a:r>
          </a:p>
          <a:p>
            <a:endParaRPr kumimoji="1" lang="ja-JP" altLang="en-US" sz="1400" b="1"/>
          </a:p>
          <a:p>
            <a:r>
              <a:rPr kumimoji="1" lang="ja-JP" altLang="en-US" sz="1400" b="1"/>
              <a:t>文字列 商品カテゴリ</a:t>
            </a:r>
            <a:r>
              <a:rPr kumimoji="1" lang="en-US" altLang="ja-JP" sz="1400" b="1" dirty="0"/>
              <a:t>= </a:t>
            </a:r>
            <a:r>
              <a:rPr kumimoji="1" lang="ja-GB" altLang="en-US" sz="1400" b="1" dirty="0"/>
              <a:t>食品</a:t>
            </a:r>
            <a:endParaRPr kumimoji="1" lang="ja-JP" altLang="en-US" sz="1400" b="1"/>
          </a:p>
          <a:p>
            <a:endParaRPr kumimoji="1" lang="ja-JP" altLang="en-US" sz="1400" b="1"/>
          </a:p>
          <a:p>
            <a:r>
              <a:rPr kumimoji="1" lang="ja-JP" altLang="en-US" sz="1400" b="1">
                <a:solidFill>
                  <a:srgbClr val="0070C0"/>
                </a:solidFill>
              </a:rPr>
              <a:t>もし（商品カテゴリ </a:t>
            </a:r>
            <a:r>
              <a:rPr kumimoji="1" lang="en-US" altLang="ja-JP" sz="1400" b="1" dirty="0">
                <a:solidFill>
                  <a:srgbClr val="0070C0"/>
                </a:solidFill>
              </a:rPr>
              <a:t>== "</a:t>
            </a:r>
            <a:r>
              <a:rPr kumimoji="1" lang="ja-JP" altLang="en-US" sz="1400" b="1">
                <a:solidFill>
                  <a:srgbClr val="0070C0"/>
                </a:solidFill>
              </a:rPr>
              <a:t>食品</a:t>
            </a:r>
            <a:r>
              <a:rPr kumimoji="1" lang="en-US" altLang="ja-JP" sz="1400" b="1" dirty="0">
                <a:solidFill>
                  <a:srgbClr val="0070C0"/>
                </a:solidFill>
              </a:rPr>
              <a:t>"</a:t>
            </a:r>
            <a:r>
              <a:rPr kumimoji="1" lang="ja-JP" altLang="en-US" sz="1400" b="1">
                <a:solidFill>
                  <a:srgbClr val="0070C0"/>
                </a:solidFill>
              </a:rPr>
              <a:t>）なら</a:t>
            </a:r>
            <a:r>
              <a:rPr kumimoji="1" lang="ja-JP" altLang="en-US" sz="1400" b="1"/>
              <a:t> </a:t>
            </a:r>
            <a:r>
              <a:rPr kumimoji="1" lang="en-US" altLang="ja-JP" sz="1400" b="1" dirty="0"/>
              <a:t>{</a:t>
            </a:r>
          </a:p>
          <a:p>
            <a:r>
              <a:rPr kumimoji="1" lang="en-US" altLang="ja-JP" sz="1400" b="1" dirty="0"/>
              <a:t>    </a:t>
            </a:r>
            <a:r>
              <a:rPr kumimoji="1" lang="ja-JP" altLang="en-US" sz="1400" b="1"/>
              <a:t>数値 税率 </a:t>
            </a:r>
            <a:r>
              <a:rPr kumimoji="1" lang="en-US" altLang="ja-JP" sz="1400" b="1" dirty="0"/>
              <a:t>= 0.08</a:t>
            </a:r>
          </a:p>
          <a:p>
            <a:r>
              <a:rPr kumimoji="1" lang="en-US" altLang="ja-JP" sz="1400" b="1" dirty="0"/>
              <a:t>}</a:t>
            </a:r>
          </a:p>
          <a:p>
            <a:r>
              <a:rPr kumimoji="1" lang="ja-JP" altLang="en-US" sz="1400" b="1">
                <a:solidFill>
                  <a:srgbClr val="0070C0"/>
                </a:solidFill>
              </a:rPr>
              <a:t>もし（商品カテゴリ </a:t>
            </a:r>
            <a:r>
              <a:rPr kumimoji="1" lang="en-US" altLang="ja-JP" sz="1400" b="1" dirty="0">
                <a:solidFill>
                  <a:srgbClr val="0070C0"/>
                </a:solidFill>
              </a:rPr>
              <a:t>== "</a:t>
            </a:r>
            <a:r>
              <a:rPr kumimoji="1" lang="ja-JP" altLang="en-US" sz="1400" b="1">
                <a:solidFill>
                  <a:srgbClr val="0070C0"/>
                </a:solidFill>
              </a:rPr>
              <a:t>その他</a:t>
            </a:r>
            <a:r>
              <a:rPr kumimoji="1" lang="en-US" altLang="ja-JP" sz="1400" b="1" dirty="0">
                <a:solidFill>
                  <a:srgbClr val="0070C0"/>
                </a:solidFill>
              </a:rPr>
              <a:t>"</a:t>
            </a:r>
            <a:r>
              <a:rPr kumimoji="1" lang="ja-JP" altLang="en-US" sz="1400" b="1">
                <a:solidFill>
                  <a:srgbClr val="0070C0"/>
                </a:solidFill>
              </a:rPr>
              <a:t>）なら</a:t>
            </a:r>
            <a:r>
              <a:rPr kumimoji="1" lang="ja-JP" altLang="en-US" sz="1400" b="1"/>
              <a:t> </a:t>
            </a:r>
            <a:r>
              <a:rPr kumimoji="1" lang="en-US" altLang="ja-JP" sz="1400" b="1" dirty="0"/>
              <a:t>{</a:t>
            </a:r>
          </a:p>
          <a:p>
            <a:r>
              <a:rPr kumimoji="1" lang="en-US" altLang="ja-JP" sz="1400" b="1" dirty="0"/>
              <a:t>    </a:t>
            </a:r>
            <a:r>
              <a:rPr kumimoji="1" lang="ja-JP" altLang="en-US" sz="1400" b="1"/>
              <a:t>数値 税率 </a:t>
            </a:r>
            <a:r>
              <a:rPr kumimoji="1" lang="en-US" altLang="ja-JP" sz="1400" b="1" dirty="0"/>
              <a:t>= 0.10</a:t>
            </a:r>
          </a:p>
          <a:p>
            <a:r>
              <a:rPr kumimoji="1" lang="en-US" altLang="ja-JP" sz="1400" b="1" dirty="0"/>
              <a:t>}</a:t>
            </a:r>
          </a:p>
          <a:p>
            <a:endParaRPr kumimoji="1" lang="en-US" altLang="ja-JP" sz="1400" b="1" dirty="0"/>
          </a:p>
          <a:p>
            <a:r>
              <a:rPr kumimoji="1" lang="ja-GB" altLang="en-US" sz="1400" b="1" dirty="0"/>
              <a:t>数値</a:t>
            </a:r>
            <a:r>
              <a:rPr kumimoji="1" lang="en-US" altLang="ja-GB" sz="1400" b="1" dirty="0"/>
              <a:t> </a:t>
            </a:r>
            <a:r>
              <a:rPr kumimoji="1" lang="ja-GB" altLang="en-US" sz="1400" b="1" dirty="0"/>
              <a:t>消費税</a:t>
            </a:r>
            <a:r>
              <a:rPr kumimoji="1" lang="en-US" altLang="ja-GB" sz="1400" b="1" dirty="0"/>
              <a:t> = </a:t>
            </a:r>
            <a:r>
              <a:rPr kumimoji="1" lang="ja-GB" altLang="en-US" sz="1400" b="1" dirty="0"/>
              <a:t>価格</a:t>
            </a:r>
            <a:r>
              <a:rPr kumimoji="1" lang="en-US" altLang="ja-GB" sz="1400" b="1" dirty="0"/>
              <a:t> × </a:t>
            </a:r>
            <a:r>
              <a:rPr kumimoji="1" lang="ja-GB" altLang="en-US" sz="1400" b="1" dirty="0"/>
              <a:t>税率</a:t>
            </a:r>
            <a:endParaRPr kumimoji="1" lang="en-US" altLang="ja-GB" sz="1400" b="1" dirty="0"/>
          </a:p>
          <a:p>
            <a:r>
              <a:rPr kumimoji="1" lang="ja-GB" altLang="en-US" sz="1400" b="1" dirty="0"/>
              <a:t>数値</a:t>
            </a:r>
            <a:r>
              <a:rPr kumimoji="1" lang="en-US" altLang="ja-GB" sz="1400" b="1" dirty="0"/>
              <a:t> </a:t>
            </a:r>
            <a:r>
              <a:rPr kumimoji="1" lang="ja-GB" altLang="en-US" sz="1400" b="1" dirty="0"/>
              <a:t>合計金額</a:t>
            </a:r>
            <a:r>
              <a:rPr kumimoji="1" lang="en-US" altLang="ja-GB" sz="1400" b="1" dirty="0"/>
              <a:t> = </a:t>
            </a:r>
            <a:r>
              <a:rPr kumimoji="1" lang="ja-GB" altLang="en-US" sz="1400" b="1" dirty="0"/>
              <a:t>価格</a:t>
            </a:r>
            <a:r>
              <a:rPr kumimoji="1" lang="en-US" altLang="ja-GB" sz="1400" b="1" dirty="0"/>
              <a:t> + </a:t>
            </a:r>
            <a:r>
              <a:rPr kumimoji="1" lang="ja-GB" altLang="en-US" sz="1400" b="1" dirty="0"/>
              <a:t>消費税</a:t>
            </a:r>
            <a:endParaRPr kumimoji="1" lang="en-US" altLang="ja-JP" sz="1400" b="1" dirty="0"/>
          </a:p>
        </p:txBody>
      </p:sp>
      <p:sp>
        <p:nvSpPr>
          <p:cNvPr id="7" name="テキスト ボックス 6">
            <a:extLst>
              <a:ext uri="{FF2B5EF4-FFF2-40B4-BE49-F238E27FC236}">
                <a16:creationId xmlns:a16="http://schemas.microsoft.com/office/drawing/2014/main" id="{20728A16-0C51-3151-19E6-56A168F6CF95}"/>
              </a:ext>
            </a:extLst>
          </p:cNvPr>
          <p:cNvSpPr txBox="1"/>
          <p:nvPr/>
        </p:nvSpPr>
        <p:spPr>
          <a:xfrm>
            <a:off x="914073" y="6411322"/>
            <a:ext cx="2840842" cy="369332"/>
          </a:xfrm>
          <a:prstGeom prst="rect">
            <a:avLst/>
          </a:prstGeom>
          <a:noFill/>
        </p:spPr>
        <p:txBody>
          <a:bodyPr wrap="none" rtlCol="0">
            <a:spAutoFit/>
          </a:bodyPr>
          <a:lstStyle/>
          <a:p>
            <a:pPr algn="ctr"/>
            <a:r>
              <a:rPr kumimoji="1" lang="ja-GB" altLang="en-US" dirty="0"/>
              <a:t>例</a:t>
            </a:r>
            <a:r>
              <a:rPr kumimoji="1" lang="en-US" altLang="ja-GB" dirty="0"/>
              <a:t>1</a:t>
            </a:r>
            <a:r>
              <a:rPr kumimoji="1" lang="ja-GB" altLang="en-US" dirty="0"/>
              <a:t>）季節判定プログラム</a:t>
            </a:r>
          </a:p>
        </p:txBody>
      </p:sp>
      <p:sp>
        <p:nvSpPr>
          <p:cNvPr id="8" name="テキスト ボックス 7">
            <a:extLst>
              <a:ext uri="{FF2B5EF4-FFF2-40B4-BE49-F238E27FC236}">
                <a16:creationId xmlns:a16="http://schemas.microsoft.com/office/drawing/2014/main" id="{79E9E2B9-BE29-E282-236A-5C9329324A2E}"/>
              </a:ext>
            </a:extLst>
          </p:cNvPr>
          <p:cNvSpPr txBox="1"/>
          <p:nvPr/>
        </p:nvSpPr>
        <p:spPr>
          <a:xfrm>
            <a:off x="5189515" y="6411322"/>
            <a:ext cx="3071675" cy="369332"/>
          </a:xfrm>
          <a:prstGeom prst="rect">
            <a:avLst/>
          </a:prstGeom>
          <a:noFill/>
        </p:spPr>
        <p:txBody>
          <a:bodyPr wrap="none" rtlCol="0">
            <a:spAutoFit/>
          </a:bodyPr>
          <a:lstStyle/>
          <a:p>
            <a:pPr algn="ctr"/>
            <a:r>
              <a:rPr kumimoji="1" lang="ja-GB" altLang="en-US" dirty="0"/>
              <a:t>例</a:t>
            </a:r>
            <a:r>
              <a:rPr kumimoji="1" lang="en-US" altLang="ja-GB" dirty="0"/>
              <a:t>2</a:t>
            </a:r>
            <a:r>
              <a:rPr kumimoji="1" lang="ja-GB" altLang="en-US" dirty="0"/>
              <a:t>）消費税計算プログラム</a:t>
            </a:r>
          </a:p>
        </p:txBody>
      </p:sp>
    </p:spTree>
    <p:extLst>
      <p:ext uri="{BB962C8B-B14F-4D97-AF65-F5344CB8AC3E}">
        <p14:creationId xmlns:p14="http://schemas.microsoft.com/office/powerpoint/2010/main" val="224928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2346A-8EC9-B527-1042-508BBED734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720657-52C1-2310-0E1A-B9049A4AB9BD}"/>
              </a:ext>
            </a:extLst>
          </p:cNvPr>
          <p:cNvSpPr>
            <a:spLocks noGrp="1"/>
          </p:cNvSpPr>
          <p:nvPr>
            <p:ph type="title"/>
          </p:nvPr>
        </p:nvSpPr>
        <p:spPr/>
        <p:txBody>
          <a:bodyPr/>
          <a:lstStyle/>
          <a:p>
            <a:r>
              <a:rPr kumimoji="1" lang="ja-GB" altLang="en-US" dirty="0"/>
              <a:t>繰り返しの記述</a:t>
            </a:r>
          </a:p>
        </p:txBody>
      </p:sp>
      <p:sp>
        <p:nvSpPr>
          <p:cNvPr id="3" name="コンテンツ プレースホルダー 2">
            <a:extLst>
              <a:ext uri="{FF2B5EF4-FFF2-40B4-BE49-F238E27FC236}">
                <a16:creationId xmlns:a16="http://schemas.microsoft.com/office/drawing/2014/main" id="{95DF171D-FCB8-94C1-F05F-5378577BE888}"/>
              </a:ext>
            </a:extLst>
          </p:cNvPr>
          <p:cNvSpPr>
            <a:spLocks noGrp="1"/>
          </p:cNvSpPr>
          <p:nvPr>
            <p:ph idx="1"/>
          </p:nvPr>
        </p:nvSpPr>
        <p:spPr/>
        <p:txBody>
          <a:bodyPr/>
          <a:lstStyle/>
          <a:p>
            <a:pPr marL="0" indent="0">
              <a:buNone/>
            </a:pPr>
            <a:r>
              <a:rPr kumimoji="1" lang="ja-GB" altLang="en-US" dirty="0"/>
              <a:t>「</a:t>
            </a:r>
            <a:r>
              <a:rPr kumimoji="1" lang="ja-GB" altLang="en-US" dirty="0">
                <a:solidFill>
                  <a:schemeClr val="tx1">
                    <a:lumMod val="50000"/>
                    <a:lumOff val="50000"/>
                  </a:schemeClr>
                </a:solidFill>
              </a:rPr>
              <a:t>（数値）</a:t>
            </a:r>
            <a:r>
              <a:rPr kumimoji="1" lang="ja-GB" altLang="en-US" dirty="0"/>
              <a:t>回繰り返す</a:t>
            </a:r>
            <a:r>
              <a:rPr kumimoji="1" lang="ja-GB" altLang="en-US" dirty="0">
                <a:solidFill>
                  <a:schemeClr val="tx1">
                    <a:lumMod val="50000"/>
                    <a:lumOff val="50000"/>
                  </a:schemeClr>
                </a:solidFill>
              </a:rPr>
              <a:t>｛処理｝</a:t>
            </a:r>
            <a:r>
              <a:rPr kumimoji="1" lang="ja-GB" altLang="en-US" dirty="0"/>
              <a:t>」という形で書く</a:t>
            </a:r>
            <a:endParaRPr lang="en-US" altLang="ja-GB" dirty="0"/>
          </a:p>
          <a:p>
            <a:pPr lvl="1"/>
            <a:r>
              <a:rPr lang="ja-GB" altLang="en-US" dirty="0"/>
              <a:t>指定した回数だけ，処理が実行される</a:t>
            </a:r>
            <a:endParaRPr lang="en-US" altLang="ja-GB" dirty="0"/>
          </a:p>
          <a:p>
            <a:pPr lvl="1"/>
            <a:endParaRPr lang="en-US" altLang="ja-GB" dirty="0"/>
          </a:p>
          <a:p>
            <a:pPr marL="0" indent="0">
              <a:buNone/>
            </a:pPr>
            <a:r>
              <a:rPr lang="ja-GB" altLang="en-US" dirty="0"/>
              <a:t>「</a:t>
            </a:r>
            <a:r>
              <a:rPr lang="ja-GB" altLang="en-US" dirty="0">
                <a:solidFill>
                  <a:schemeClr val="tx1">
                    <a:lumMod val="50000"/>
                    <a:lumOff val="50000"/>
                  </a:schemeClr>
                </a:solidFill>
              </a:rPr>
              <a:t>（条件）</a:t>
            </a:r>
            <a:r>
              <a:rPr lang="ja-GB" altLang="en-US" dirty="0"/>
              <a:t>の間は繰り返す</a:t>
            </a:r>
            <a:r>
              <a:rPr lang="ja-GB" altLang="en-US" dirty="0">
                <a:solidFill>
                  <a:schemeClr val="tx1">
                    <a:lumMod val="50000"/>
                    <a:lumOff val="50000"/>
                  </a:schemeClr>
                </a:solidFill>
              </a:rPr>
              <a:t>｛処理｝</a:t>
            </a:r>
            <a:r>
              <a:rPr lang="ja-GB" altLang="en-US" dirty="0"/>
              <a:t>」という形で書く</a:t>
            </a:r>
            <a:endParaRPr lang="en-US" altLang="ja-GB" dirty="0"/>
          </a:p>
          <a:p>
            <a:pPr lvl="1"/>
            <a:r>
              <a:rPr lang="ja-GB" altLang="en-US" dirty="0"/>
              <a:t>条件が真である間は，処理が繰り返し実行される</a:t>
            </a:r>
            <a:endParaRPr lang="en-US" altLang="ja-GB" dirty="0"/>
          </a:p>
          <a:p>
            <a:pPr lvl="1"/>
            <a:r>
              <a:rPr lang="ja-GB" altLang="en-US" dirty="0"/>
              <a:t>条件が偽になったら，処理は実行されなくなる</a:t>
            </a:r>
            <a:endParaRPr lang="en-US" altLang="ja-GB" dirty="0"/>
          </a:p>
          <a:p>
            <a:pPr lvl="1"/>
            <a:endParaRPr kumimoji="1" lang="ja-GB" altLang="en-US" dirty="0"/>
          </a:p>
        </p:txBody>
      </p:sp>
      <p:grpSp>
        <p:nvGrpSpPr>
          <p:cNvPr id="4" name="グループ化 3">
            <a:extLst>
              <a:ext uri="{FF2B5EF4-FFF2-40B4-BE49-F238E27FC236}">
                <a16:creationId xmlns:a16="http://schemas.microsoft.com/office/drawing/2014/main" id="{EAD6685D-52D6-769B-618B-AEC17423ED1F}"/>
              </a:ext>
            </a:extLst>
          </p:cNvPr>
          <p:cNvGrpSpPr/>
          <p:nvPr/>
        </p:nvGrpSpPr>
        <p:grpSpPr>
          <a:xfrm>
            <a:off x="648439" y="3429000"/>
            <a:ext cx="7847121" cy="3277290"/>
            <a:chOff x="370208" y="3281004"/>
            <a:chExt cx="7847121" cy="3277290"/>
          </a:xfrm>
        </p:grpSpPr>
        <p:sp>
          <p:nvSpPr>
            <p:cNvPr id="5" name="テキスト ボックス 4">
              <a:extLst>
                <a:ext uri="{FF2B5EF4-FFF2-40B4-BE49-F238E27FC236}">
                  <a16:creationId xmlns:a16="http://schemas.microsoft.com/office/drawing/2014/main" id="{BCCAA294-472F-BD5D-45E1-C0033AA98CEF}"/>
                </a:ext>
              </a:extLst>
            </p:cNvPr>
            <p:cNvSpPr txBox="1"/>
            <p:nvPr/>
          </p:nvSpPr>
          <p:spPr>
            <a:xfrm>
              <a:off x="370208" y="3281004"/>
              <a:ext cx="2965877" cy="2862322"/>
            </a:xfrm>
            <a:prstGeom prst="rect">
              <a:avLst/>
            </a:prstGeom>
            <a:solidFill>
              <a:schemeClr val="bg1">
                <a:lumMod val="95000"/>
              </a:schemeClr>
            </a:solidFill>
          </p:spPr>
          <p:txBody>
            <a:bodyPr wrap="none" rtlCol="0">
              <a:spAutoFit/>
            </a:bodyPr>
            <a:lstStyle/>
            <a:p>
              <a:r>
                <a:rPr kumimoji="1" lang="ja-JP" altLang="en-US" sz="1600" b="1"/>
                <a:t>数値 腕立て回数 </a:t>
              </a:r>
              <a:r>
                <a:rPr kumimoji="1" lang="en-US" altLang="ja-JP" sz="1600" b="1" dirty="0"/>
                <a:t>= 0</a:t>
              </a:r>
            </a:p>
            <a:p>
              <a:endParaRPr kumimoji="1" lang="en-US" altLang="ja-JP" sz="1600" b="1" dirty="0"/>
            </a:p>
            <a:p>
              <a:r>
                <a:rPr kumimoji="1" lang="ja-JP" altLang="en-US" sz="1600" b="1">
                  <a:solidFill>
                    <a:srgbClr val="0070C0"/>
                  </a:solidFill>
                </a:rPr>
                <a:t>（</a:t>
              </a:r>
              <a:r>
                <a:rPr kumimoji="1" lang="en-US" altLang="ja-JP" sz="1600" b="1" dirty="0">
                  <a:solidFill>
                    <a:srgbClr val="0070C0"/>
                  </a:solidFill>
                </a:rPr>
                <a:t>10</a:t>
              </a:r>
              <a:r>
                <a:rPr kumimoji="1" lang="ja-JP" altLang="en-US" sz="1600" b="1">
                  <a:solidFill>
                    <a:srgbClr val="0070C0"/>
                  </a:solidFill>
                </a:rPr>
                <a:t>）回繰り返す</a:t>
              </a:r>
              <a:r>
                <a:rPr kumimoji="1" lang="ja-JP" altLang="en-US" sz="1600" b="1"/>
                <a:t> </a:t>
              </a:r>
              <a:r>
                <a:rPr kumimoji="1" lang="en-US" altLang="ja-JP" sz="1600" b="1" dirty="0"/>
                <a:t>{</a:t>
              </a:r>
            </a:p>
            <a:p>
              <a:r>
                <a:rPr kumimoji="1" lang="ja-JP" altLang="en-US" sz="1600" b="1"/>
                <a:t>　腕立て回数 </a:t>
              </a:r>
              <a:r>
                <a:rPr kumimoji="1" lang="en-US" altLang="ja-JP" sz="1600" b="1" dirty="0"/>
                <a:t>= </a:t>
              </a:r>
              <a:r>
                <a:rPr kumimoji="1" lang="ja-JP" altLang="en-US" sz="1600" b="1"/>
                <a:t>腕立て回数 </a:t>
              </a:r>
              <a:r>
                <a:rPr kumimoji="1" lang="en-US" altLang="ja-JP" sz="1600" b="1" dirty="0"/>
                <a:t>+ 1</a:t>
              </a:r>
            </a:p>
            <a:p>
              <a:r>
                <a:rPr kumimoji="1" lang="en-US" altLang="ja-JP" sz="1600" b="1" dirty="0"/>
                <a:t>}</a:t>
              </a:r>
            </a:p>
            <a:p>
              <a:endParaRPr kumimoji="1" lang="en-US" altLang="ja-JP" sz="1600" b="1" dirty="0"/>
            </a:p>
            <a:p>
              <a:r>
                <a:rPr kumimoji="1" lang="ja-JP" altLang="en-US" sz="1600" b="1"/>
                <a:t>数値 腹筋回数 </a:t>
              </a:r>
              <a:r>
                <a:rPr kumimoji="1" lang="en-US" altLang="ja-JP" sz="1600" b="1" dirty="0"/>
                <a:t>= 0</a:t>
              </a:r>
            </a:p>
            <a:p>
              <a:endParaRPr kumimoji="1" lang="en-US" altLang="ja-JP" sz="1600" b="1" dirty="0"/>
            </a:p>
            <a:p>
              <a:r>
                <a:rPr kumimoji="1" lang="ja-JP" altLang="en-US" sz="1600" b="1">
                  <a:solidFill>
                    <a:srgbClr val="0070C0"/>
                  </a:solidFill>
                </a:rPr>
                <a:t>（</a:t>
              </a:r>
              <a:r>
                <a:rPr kumimoji="1" lang="en-US" altLang="ja-JP" sz="1600" b="1" dirty="0">
                  <a:solidFill>
                    <a:srgbClr val="0070C0"/>
                  </a:solidFill>
                </a:rPr>
                <a:t>15</a:t>
              </a:r>
              <a:r>
                <a:rPr kumimoji="1" lang="ja-JP" altLang="en-US" sz="1600" b="1">
                  <a:solidFill>
                    <a:srgbClr val="0070C0"/>
                  </a:solidFill>
                </a:rPr>
                <a:t>）回繰り返す</a:t>
              </a:r>
              <a:r>
                <a:rPr kumimoji="1" lang="ja-JP" altLang="en-US" sz="1600" b="1"/>
                <a:t> </a:t>
              </a:r>
              <a:r>
                <a:rPr kumimoji="1" lang="en-US" altLang="ja-JP" sz="1600" b="1" dirty="0"/>
                <a:t>{</a:t>
              </a:r>
            </a:p>
            <a:p>
              <a:r>
                <a:rPr kumimoji="1" lang="ja-JP" altLang="en-US" sz="1600" b="1"/>
                <a:t>　腹筋回数 </a:t>
              </a:r>
              <a:r>
                <a:rPr kumimoji="1" lang="en-US" altLang="ja-JP" sz="1600" b="1" dirty="0"/>
                <a:t>= </a:t>
              </a:r>
              <a:r>
                <a:rPr kumimoji="1" lang="ja-JP" altLang="en-US" sz="1600" b="1"/>
                <a:t>腹筋回数 </a:t>
              </a:r>
              <a:r>
                <a:rPr kumimoji="1" lang="en-US" altLang="ja-JP" sz="1600" b="1" dirty="0"/>
                <a:t>+ 1</a:t>
              </a:r>
            </a:p>
            <a:p>
              <a:r>
                <a:rPr kumimoji="1" lang="en-US" altLang="ja-JP" sz="1600" b="1" dirty="0"/>
                <a:t>}</a:t>
              </a:r>
            </a:p>
          </p:txBody>
        </p:sp>
        <p:sp>
          <p:nvSpPr>
            <p:cNvPr id="6" name="テキスト ボックス 5">
              <a:extLst>
                <a:ext uri="{FF2B5EF4-FFF2-40B4-BE49-F238E27FC236}">
                  <a16:creationId xmlns:a16="http://schemas.microsoft.com/office/drawing/2014/main" id="{E66954A6-1771-2F18-C3C1-67D6B80C4F83}"/>
                </a:ext>
              </a:extLst>
            </p:cNvPr>
            <p:cNvSpPr txBox="1"/>
            <p:nvPr/>
          </p:nvSpPr>
          <p:spPr>
            <a:xfrm>
              <a:off x="5052680" y="3681114"/>
              <a:ext cx="3164649" cy="2062103"/>
            </a:xfrm>
            <a:prstGeom prst="rect">
              <a:avLst/>
            </a:prstGeom>
            <a:solidFill>
              <a:schemeClr val="bg1">
                <a:lumMod val="95000"/>
              </a:schemeClr>
            </a:solidFill>
          </p:spPr>
          <p:txBody>
            <a:bodyPr wrap="none" rtlCol="0">
              <a:spAutoFit/>
            </a:bodyPr>
            <a:lstStyle/>
            <a:p>
              <a:r>
                <a:rPr kumimoji="1" lang="ja-JP" altLang="en-US" sz="1600" b="1"/>
                <a:t>数値 貯金 </a:t>
              </a:r>
              <a:r>
                <a:rPr kumimoji="1" lang="en-US" altLang="ja-JP" sz="1600" b="1" dirty="0"/>
                <a:t>= 0</a:t>
              </a:r>
            </a:p>
            <a:p>
              <a:r>
                <a:rPr kumimoji="1" lang="ja-JP" altLang="en-US" sz="1600" b="1"/>
                <a:t>数値 目標 </a:t>
              </a:r>
              <a:r>
                <a:rPr kumimoji="1" lang="en-US" altLang="ja-JP" sz="1600" b="1" dirty="0"/>
                <a:t>= 10000</a:t>
              </a:r>
            </a:p>
            <a:p>
              <a:r>
                <a:rPr kumimoji="1" lang="ja-JP" altLang="en-US" sz="1600" b="1"/>
                <a:t>数値 毎週 </a:t>
              </a:r>
              <a:r>
                <a:rPr kumimoji="1" lang="en-US" altLang="ja-JP" sz="1600" b="1" dirty="0"/>
                <a:t>= 1000</a:t>
              </a:r>
            </a:p>
            <a:p>
              <a:endParaRPr kumimoji="1" lang="en-US" altLang="ja-JP" sz="1600" b="1" dirty="0"/>
            </a:p>
            <a:p>
              <a:r>
                <a:rPr kumimoji="1" lang="ja-JP" altLang="en-US" sz="1600" b="1">
                  <a:solidFill>
                    <a:srgbClr val="0070C0"/>
                  </a:solidFill>
                </a:rPr>
                <a:t>（貯金 </a:t>
              </a:r>
              <a:r>
                <a:rPr kumimoji="1" lang="en-US" altLang="ja-JP" sz="1600" b="1" dirty="0">
                  <a:solidFill>
                    <a:srgbClr val="0070C0"/>
                  </a:solidFill>
                </a:rPr>
                <a:t>&lt; </a:t>
              </a:r>
              <a:r>
                <a:rPr kumimoji="1" lang="ja-JP" altLang="en-US" sz="1600" b="1">
                  <a:solidFill>
                    <a:srgbClr val="0070C0"/>
                  </a:solidFill>
                </a:rPr>
                <a:t>目標）の間は繰り返す</a:t>
              </a:r>
              <a:r>
                <a:rPr kumimoji="1" lang="ja-JP" altLang="en-US" sz="1600" b="1"/>
                <a:t> </a:t>
              </a:r>
              <a:r>
                <a:rPr kumimoji="1" lang="en-US" altLang="ja-JP" sz="1600" b="1" dirty="0"/>
                <a:t>{</a:t>
              </a:r>
            </a:p>
            <a:p>
              <a:r>
                <a:rPr kumimoji="1" lang="ja-JP" altLang="en-US" sz="1600" b="1"/>
                <a:t>　貯金 </a:t>
              </a:r>
              <a:r>
                <a:rPr kumimoji="1" lang="en-US" altLang="ja-JP" sz="1600" b="1" dirty="0"/>
                <a:t>= </a:t>
              </a:r>
              <a:r>
                <a:rPr kumimoji="1" lang="ja-JP" altLang="en-US" sz="1600" b="1"/>
                <a:t>貯金 </a:t>
              </a:r>
              <a:r>
                <a:rPr kumimoji="1" lang="en-US" altLang="ja-JP" sz="1600" b="1" dirty="0"/>
                <a:t>+ </a:t>
              </a:r>
              <a:r>
                <a:rPr kumimoji="1" lang="ja-JP" altLang="en-US" sz="1600" b="1"/>
                <a:t>毎週</a:t>
              </a:r>
            </a:p>
            <a:p>
              <a:r>
                <a:rPr kumimoji="1" lang="en-US" altLang="ja-JP" sz="1600" b="1" dirty="0"/>
                <a:t>}</a:t>
              </a:r>
            </a:p>
            <a:p>
              <a:endParaRPr kumimoji="1" lang="ja-GB" altLang="en-US" sz="1600" b="1" dirty="0"/>
            </a:p>
          </p:txBody>
        </p:sp>
        <p:sp>
          <p:nvSpPr>
            <p:cNvPr id="7" name="テキスト ボックス 6">
              <a:extLst>
                <a:ext uri="{FF2B5EF4-FFF2-40B4-BE49-F238E27FC236}">
                  <a16:creationId xmlns:a16="http://schemas.microsoft.com/office/drawing/2014/main" id="{FE297625-5228-9D40-6F47-88895B6C0200}"/>
                </a:ext>
              </a:extLst>
            </p:cNvPr>
            <p:cNvSpPr txBox="1"/>
            <p:nvPr/>
          </p:nvSpPr>
          <p:spPr>
            <a:xfrm>
              <a:off x="778975" y="6188962"/>
              <a:ext cx="2148345" cy="369332"/>
            </a:xfrm>
            <a:prstGeom prst="rect">
              <a:avLst/>
            </a:prstGeom>
            <a:noFill/>
          </p:spPr>
          <p:txBody>
            <a:bodyPr wrap="none" rtlCol="0">
              <a:spAutoFit/>
            </a:bodyPr>
            <a:lstStyle/>
            <a:p>
              <a:pPr algn="ctr"/>
              <a:r>
                <a:rPr kumimoji="1" lang="ja-GB" altLang="en-US" dirty="0"/>
                <a:t>例</a:t>
              </a:r>
              <a:r>
                <a:rPr kumimoji="1" lang="en-US" altLang="ja-GB" dirty="0"/>
                <a:t>1</a:t>
              </a:r>
              <a:r>
                <a:rPr kumimoji="1" lang="ja-GB" altLang="en-US" dirty="0"/>
                <a:t>）筋トレの手順</a:t>
              </a:r>
            </a:p>
          </p:txBody>
        </p:sp>
        <p:sp>
          <p:nvSpPr>
            <p:cNvPr id="8" name="テキスト ボックス 7">
              <a:extLst>
                <a:ext uri="{FF2B5EF4-FFF2-40B4-BE49-F238E27FC236}">
                  <a16:creationId xmlns:a16="http://schemas.microsoft.com/office/drawing/2014/main" id="{F1A9178C-2261-F945-597B-E82A3D8968F9}"/>
                </a:ext>
              </a:extLst>
            </p:cNvPr>
            <p:cNvSpPr txBox="1"/>
            <p:nvPr/>
          </p:nvSpPr>
          <p:spPr>
            <a:xfrm>
              <a:off x="5676249" y="6188962"/>
              <a:ext cx="1917512" cy="369332"/>
            </a:xfrm>
            <a:prstGeom prst="rect">
              <a:avLst/>
            </a:prstGeom>
            <a:noFill/>
          </p:spPr>
          <p:txBody>
            <a:bodyPr wrap="none" rtlCol="0">
              <a:spAutoFit/>
            </a:bodyPr>
            <a:lstStyle/>
            <a:p>
              <a:pPr algn="ctr"/>
              <a:r>
                <a:rPr kumimoji="1" lang="ja-GB" altLang="en-US" dirty="0"/>
                <a:t>例</a:t>
              </a:r>
              <a:r>
                <a:rPr kumimoji="1" lang="en-US" altLang="ja-GB" dirty="0"/>
                <a:t>2</a:t>
              </a:r>
              <a:r>
                <a:rPr kumimoji="1" lang="ja-GB" altLang="en-US" dirty="0"/>
                <a:t>）貯金の手順</a:t>
              </a:r>
            </a:p>
          </p:txBody>
        </p:sp>
      </p:grpSp>
    </p:spTree>
    <p:extLst>
      <p:ext uri="{BB962C8B-B14F-4D97-AF65-F5344CB8AC3E}">
        <p14:creationId xmlns:p14="http://schemas.microsoft.com/office/powerpoint/2010/main" val="240598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3" presetClass="emph" presetSubtype="2" fill="hold" nodeType="withEffect">
                                  <p:stCondLst>
                                    <p:cond delay="0"/>
                                  </p:stCondLst>
                                  <p:childTnLst>
                                    <p:animClr clrSpc="rgb" dir="cw">
                                      <p:cBhvr override="childStyle">
                                        <p:cTn id="12" dur="10" fill="hold"/>
                                        <p:tgtEl>
                                          <p:spTgt spid="3">
                                            <p:txEl>
                                              <p:pRg st="0" end="0"/>
                                            </p:txEl>
                                          </p:spTgt>
                                        </p:tgtEl>
                                        <p:attrNameLst>
                                          <p:attrName>style.color</p:attrName>
                                        </p:attrNameLst>
                                      </p:cBhvr>
                                      <p:to>
                                        <a:srgbClr val="7F7F7F"/>
                                      </p:to>
                                    </p:animClr>
                                  </p:childTnLst>
                                </p:cTn>
                              </p:par>
                              <p:par>
                                <p:cTn id="13" presetID="3" presetClass="emph" presetSubtype="2" fill="hold" nodeType="withEffect">
                                  <p:stCondLst>
                                    <p:cond delay="0"/>
                                  </p:stCondLst>
                                  <p:childTnLst>
                                    <p:animClr clrSpc="rgb" dir="cw">
                                      <p:cBhvr override="childStyle">
                                        <p:cTn id="14" dur="10" fill="hold"/>
                                        <p:tgtEl>
                                          <p:spTgt spid="3">
                                            <p:txEl>
                                              <p:pRg st="1" end="1"/>
                                            </p:txEl>
                                          </p:spTgt>
                                        </p:tgtEl>
                                        <p:attrNameLst>
                                          <p:attrName>style.color</p:attrName>
                                        </p:attrNameLst>
                                      </p:cBhvr>
                                      <p:to>
                                        <a:srgbClr val="7F7F7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AA0B66-8C6D-6315-0A44-7AB40A452FD9}"/>
              </a:ext>
            </a:extLst>
          </p:cNvPr>
          <p:cNvSpPr>
            <a:spLocks noGrp="1"/>
          </p:cNvSpPr>
          <p:nvPr>
            <p:ph type="title"/>
          </p:nvPr>
        </p:nvSpPr>
        <p:spPr/>
        <p:txBody>
          <a:bodyPr/>
          <a:lstStyle/>
          <a:p>
            <a:r>
              <a:rPr lang="ja-GB" altLang="en-US" dirty="0"/>
              <a:t>関数</a:t>
            </a:r>
            <a:endParaRPr kumimoji="1" lang="ja-GB" altLang="en-US" dirty="0"/>
          </a:p>
        </p:txBody>
      </p:sp>
      <p:sp>
        <p:nvSpPr>
          <p:cNvPr id="3" name="コンテンツ プレースホルダー 2">
            <a:extLst>
              <a:ext uri="{FF2B5EF4-FFF2-40B4-BE49-F238E27FC236}">
                <a16:creationId xmlns:a16="http://schemas.microsoft.com/office/drawing/2014/main" id="{07D3A242-65BD-EE82-6432-AAC3FE2D7DB6}"/>
              </a:ext>
            </a:extLst>
          </p:cNvPr>
          <p:cNvSpPr>
            <a:spLocks noGrp="1"/>
          </p:cNvSpPr>
          <p:nvPr>
            <p:ph idx="1"/>
          </p:nvPr>
        </p:nvSpPr>
        <p:spPr/>
        <p:txBody>
          <a:bodyPr/>
          <a:lstStyle/>
          <a:p>
            <a:pPr marL="0" indent="0">
              <a:buNone/>
            </a:pPr>
            <a:r>
              <a:rPr kumimoji="1" lang="ja-GB" altLang="en-US" dirty="0"/>
              <a:t>繰り返し使う手順を一つの命令にまとめる記述</a:t>
            </a:r>
            <a:endParaRPr kumimoji="1" lang="en-US" altLang="ja-GB" dirty="0"/>
          </a:p>
          <a:p>
            <a:pPr marL="457200" lvl="1" indent="0">
              <a:buNone/>
            </a:pPr>
            <a:r>
              <a:rPr kumimoji="1" lang="ja-GB" altLang="en-US" dirty="0"/>
              <a:t>例えば，「</a:t>
            </a:r>
            <a:r>
              <a:rPr lang="ja-GB" altLang="en-US" dirty="0"/>
              <a:t>（</a:t>
            </a:r>
            <a:r>
              <a:rPr lang="ja-GB" altLang="en-US" dirty="0">
                <a:solidFill>
                  <a:schemeClr val="tx1">
                    <a:lumMod val="50000"/>
                    <a:lumOff val="50000"/>
                  </a:schemeClr>
                </a:solidFill>
              </a:rPr>
              <a:t>名前</a:t>
            </a:r>
            <a:r>
              <a:rPr lang="ja-GB" altLang="en-US" dirty="0"/>
              <a:t>）は（</a:t>
            </a:r>
            <a:r>
              <a:rPr lang="ja-GB" altLang="en-US" dirty="0">
                <a:solidFill>
                  <a:schemeClr val="tx1">
                    <a:lumMod val="50000"/>
                    <a:lumOff val="50000"/>
                  </a:schemeClr>
                </a:solidFill>
              </a:rPr>
              <a:t>変数</a:t>
            </a:r>
            <a:r>
              <a:rPr lang="ja-GB" altLang="en-US" dirty="0"/>
              <a:t>）を用いる</a:t>
            </a:r>
            <a:r>
              <a:rPr kumimoji="1" lang="ja-GB" altLang="en-US" dirty="0"/>
              <a:t>｛</a:t>
            </a:r>
            <a:r>
              <a:rPr kumimoji="1" lang="ja-GB" altLang="en-US" dirty="0">
                <a:solidFill>
                  <a:schemeClr val="tx1">
                    <a:lumMod val="50000"/>
                    <a:lumOff val="50000"/>
                  </a:schemeClr>
                </a:solidFill>
              </a:rPr>
              <a:t>処理</a:t>
            </a:r>
            <a:r>
              <a:rPr kumimoji="1" lang="ja-GB" altLang="en-US" dirty="0"/>
              <a:t>｝」のような形で書く</a:t>
            </a:r>
            <a:endParaRPr kumimoji="1" lang="en-US" altLang="ja-GB" dirty="0"/>
          </a:p>
          <a:p>
            <a:pPr lvl="1"/>
            <a:endParaRPr kumimoji="1" lang="en-US" altLang="ja-GB" dirty="0"/>
          </a:p>
          <a:p>
            <a:pPr lvl="1"/>
            <a:endParaRPr kumimoji="1" lang="ja-GB" altLang="en-US" dirty="0"/>
          </a:p>
        </p:txBody>
      </p:sp>
      <p:grpSp>
        <p:nvGrpSpPr>
          <p:cNvPr id="4" name="グループ化 3">
            <a:extLst>
              <a:ext uri="{FF2B5EF4-FFF2-40B4-BE49-F238E27FC236}">
                <a16:creationId xmlns:a16="http://schemas.microsoft.com/office/drawing/2014/main" id="{F9F6090E-8AF6-DF8C-F26D-CFDEBCDC603A}"/>
              </a:ext>
            </a:extLst>
          </p:cNvPr>
          <p:cNvGrpSpPr/>
          <p:nvPr/>
        </p:nvGrpSpPr>
        <p:grpSpPr>
          <a:xfrm>
            <a:off x="387151" y="2883252"/>
            <a:ext cx="8369697" cy="3119983"/>
            <a:chOff x="314325" y="2760701"/>
            <a:chExt cx="8369697" cy="3119983"/>
          </a:xfrm>
        </p:grpSpPr>
        <p:sp>
          <p:nvSpPr>
            <p:cNvPr id="5" name="テキスト ボックス 4">
              <a:extLst>
                <a:ext uri="{FF2B5EF4-FFF2-40B4-BE49-F238E27FC236}">
                  <a16:creationId xmlns:a16="http://schemas.microsoft.com/office/drawing/2014/main" id="{D210F926-878A-6D75-A4DA-9907882B1DDF}"/>
                </a:ext>
              </a:extLst>
            </p:cNvPr>
            <p:cNvSpPr txBox="1"/>
            <p:nvPr/>
          </p:nvSpPr>
          <p:spPr>
            <a:xfrm>
              <a:off x="314325" y="2760701"/>
              <a:ext cx="5062604" cy="2677656"/>
            </a:xfrm>
            <a:prstGeom prst="rect">
              <a:avLst/>
            </a:prstGeom>
            <a:solidFill>
              <a:schemeClr val="bg1">
                <a:lumMod val="95000"/>
              </a:schemeClr>
            </a:solidFill>
          </p:spPr>
          <p:txBody>
            <a:bodyPr wrap="none" rtlCol="0">
              <a:spAutoFit/>
            </a:bodyPr>
            <a:lstStyle/>
            <a:p>
              <a:r>
                <a:rPr lang="ja-JP" altLang="en-US" sz="1400" b="1">
                  <a:solidFill>
                    <a:srgbClr val="0070C0"/>
                  </a:solidFill>
                </a:rPr>
                <a:t>（支払い総額）は（</a:t>
              </a:r>
              <a:r>
                <a:rPr lang="ja-GB" altLang="en-US" sz="1400" b="1" dirty="0">
                  <a:solidFill>
                    <a:srgbClr val="0070C0"/>
                  </a:solidFill>
                </a:rPr>
                <a:t>数値</a:t>
              </a:r>
              <a:r>
                <a:rPr lang="en-US" altLang="ja-GB" sz="1400" b="1" dirty="0">
                  <a:solidFill>
                    <a:srgbClr val="0070C0"/>
                  </a:solidFill>
                </a:rPr>
                <a:t> </a:t>
              </a:r>
              <a:r>
                <a:rPr lang="ja-GB" altLang="en-US" sz="1400" b="1" dirty="0">
                  <a:solidFill>
                    <a:srgbClr val="0070C0"/>
                  </a:solidFill>
                </a:rPr>
                <a:t>価格，数値</a:t>
              </a:r>
              <a:r>
                <a:rPr lang="en-US" altLang="ja-GB" sz="1400" b="1" dirty="0">
                  <a:solidFill>
                    <a:srgbClr val="0070C0"/>
                  </a:solidFill>
                </a:rPr>
                <a:t> </a:t>
              </a:r>
              <a:r>
                <a:rPr lang="ja-GB" altLang="en-US" sz="1400" b="1" dirty="0">
                  <a:solidFill>
                    <a:srgbClr val="0070C0"/>
                  </a:solidFill>
                </a:rPr>
                <a:t>税率</a:t>
              </a:r>
              <a:r>
                <a:rPr lang="ja-JP" altLang="en-US" sz="1400" b="1">
                  <a:solidFill>
                    <a:srgbClr val="0070C0"/>
                  </a:solidFill>
                </a:rPr>
                <a:t>）</a:t>
              </a:r>
              <a:r>
                <a:rPr lang="ja-GB" altLang="en-US" sz="1400" b="1" dirty="0">
                  <a:solidFill>
                    <a:srgbClr val="0070C0"/>
                  </a:solidFill>
                </a:rPr>
                <a:t>を用いる</a:t>
              </a:r>
              <a:r>
                <a:rPr lang="ja-JP" altLang="en-US" sz="1400" b="1"/>
                <a:t>｛</a:t>
              </a:r>
              <a:endParaRPr lang="en-US" altLang="ja-JP" sz="1400" b="1" dirty="0"/>
            </a:p>
            <a:p>
              <a:r>
                <a:rPr lang="ja-JP" altLang="en-US" sz="1400" b="1"/>
                <a:t> 　</a:t>
              </a:r>
              <a:r>
                <a:rPr lang="ja-GB" altLang="en-US" sz="1400" b="1" dirty="0"/>
                <a:t>数値</a:t>
              </a:r>
              <a:r>
                <a:rPr lang="en-US" altLang="ja-GB" sz="1400" b="1" dirty="0"/>
                <a:t> </a:t>
              </a:r>
              <a:r>
                <a:rPr lang="ja-GB" altLang="en-US" sz="1400" b="1" dirty="0"/>
                <a:t>消費</a:t>
              </a:r>
              <a:r>
                <a:rPr lang="ja-JP" altLang="en-US" sz="1400" b="1"/>
                <a:t>税額 </a:t>
              </a:r>
              <a:r>
                <a:rPr lang="en-US" altLang="ja-JP" sz="1400" b="1" dirty="0"/>
                <a:t>= </a:t>
              </a:r>
              <a:r>
                <a:rPr lang="ja-JP" altLang="en-US" sz="1400" b="1"/>
                <a:t>価格 </a:t>
              </a:r>
              <a:r>
                <a:rPr lang="en-US" altLang="ja-JP" sz="1400" b="1" dirty="0"/>
                <a:t>× </a:t>
              </a:r>
              <a:r>
                <a:rPr lang="ja-JP" altLang="en-US" sz="1400" b="1"/>
                <a:t>税率</a:t>
              </a:r>
              <a:endParaRPr lang="en-US" altLang="ja-JP" sz="1400" b="1" dirty="0"/>
            </a:p>
            <a:p>
              <a:r>
                <a:rPr lang="ja-JP" altLang="en-US" sz="1400" b="1"/>
                <a:t> 　</a:t>
              </a:r>
              <a:r>
                <a:rPr lang="ja-GB" altLang="en-US" sz="1400" b="1" dirty="0"/>
                <a:t>数値</a:t>
              </a:r>
              <a:r>
                <a:rPr lang="en-US" altLang="ja-GB" sz="1400" b="1" dirty="0"/>
                <a:t> </a:t>
              </a:r>
              <a:r>
                <a:rPr lang="ja-JP" altLang="en-US" sz="1400" b="1"/>
                <a:t>総額 </a:t>
              </a:r>
              <a:r>
                <a:rPr lang="en-US" altLang="ja-JP" sz="1400" b="1" dirty="0"/>
                <a:t>= </a:t>
              </a:r>
              <a:r>
                <a:rPr lang="ja-JP" altLang="en-US" sz="1400" b="1"/>
                <a:t>価格 </a:t>
              </a:r>
              <a:r>
                <a:rPr lang="en-US" altLang="ja-JP" sz="1400" b="1" dirty="0"/>
                <a:t>+ </a:t>
              </a:r>
              <a:r>
                <a:rPr lang="ja-JP" altLang="en-US" sz="1400" b="1"/>
                <a:t>消費税額 </a:t>
              </a:r>
              <a:endParaRPr lang="en-US" altLang="ja-JP" sz="1400" b="1" dirty="0"/>
            </a:p>
            <a:p>
              <a:r>
                <a:rPr lang="ja-JP" altLang="en-US" sz="1400" b="1"/>
                <a:t>｝</a:t>
              </a:r>
              <a:endParaRPr lang="en-US" altLang="ja-JP" sz="1400" b="1" dirty="0"/>
            </a:p>
            <a:p>
              <a:endParaRPr kumimoji="1" lang="en-US" altLang="ja-GB" sz="1400" b="1" dirty="0"/>
            </a:p>
            <a:p>
              <a:r>
                <a:rPr lang="ja-JP" altLang="en-US" sz="1400" b="1"/>
                <a:t>数値 </a:t>
              </a:r>
              <a:r>
                <a:rPr lang="ja-GB" altLang="en-US" sz="1400" b="1" dirty="0"/>
                <a:t>弁当の価格</a:t>
              </a:r>
              <a:r>
                <a:rPr lang="en-US" altLang="ja-GB" sz="1400" b="1" dirty="0"/>
                <a:t> </a:t>
              </a:r>
              <a:r>
                <a:rPr lang="en-US" altLang="ja-JP" sz="1400" b="1" dirty="0"/>
                <a:t>= 150 </a:t>
              </a:r>
            </a:p>
            <a:p>
              <a:r>
                <a:rPr lang="ja-JP" altLang="en-US" sz="1400" b="1"/>
                <a:t>数値 </a:t>
              </a:r>
              <a:r>
                <a:rPr lang="ja-GB" altLang="en-US" sz="1400" b="1" dirty="0"/>
                <a:t>弁当の</a:t>
              </a:r>
              <a:r>
                <a:rPr lang="ja-JP" altLang="en-US" sz="1400" b="1"/>
                <a:t>税率 </a:t>
              </a:r>
              <a:r>
                <a:rPr lang="en-US" altLang="ja-JP" sz="1400" b="1" dirty="0"/>
                <a:t>= 0.10</a:t>
              </a:r>
            </a:p>
            <a:p>
              <a:r>
                <a:rPr kumimoji="1" lang="ja-GB" altLang="en-US" sz="1400" b="1" dirty="0"/>
                <a:t>数値</a:t>
              </a:r>
              <a:r>
                <a:rPr kumimoji="1" lang="en-US" altLang="ja-GB" sz="1400" b="1" dirty="0"/>
                <a:t> </a:t>
              </a:r>
              <a:r>
                <a:rPr kumimoji="1" lang="ja-GB" altLang="en-US" sz="1400" b="1" dirty="0"/>
                <a:t>弁当の総額</a:t>
              </a:r>
              <a:r>
                <a:rPr kumimoji="1" lang="en-US" altLang="ja-GB" sz="1400" b="1" dirty="0"/>
                <a:t> = </a:t>
              </a:r>
              <a:r>
                <a:rPr kumimoji="1" lang="ja-GB" altLang="en-US" sz="1400" b="1" dirty="0">
                  <a:solidFill>
                    <a:srgbClr val="0070C0"/>
                  </a:solidFill>
                </a:rPr>
                <a:t>支払い総額（弁当の価格，弁当の税率）</a:t>
              </a:r>
              <a:endParaRPr kumimoji="1" lang="en-US" altLang="ja-GB" sz="1400" b="1" dirty="0">
                <a:solidFill>
                  <a:srgbClr val="0070C0"/>
                </a:solidFill>
              </a:endParaRPr>
            </a:p>
            <a:p>
              <a:endParaRPr kumimoji="1" lang="en-US" altLang="ja-GB" sz="1400" b="1" dirty="0"/>
            </a:p>
            <a:p>
              <a:r>
                <a:rPr lang="ja-JP" altLang="en-US" sz="1400" b="1"/>
                <a:t>数値 </a:t>
              </a:r>
              <a:r>
                <a:rPr lang="ja-GB" altLang="en-US" sz="1400" b="1" dirty="0"/>
                <a:t>白菜の価格</a:t>
              </a:r>
              <a:r>
                <a:rPr lang="en-US" altLang="ja-GB" sz="1400" b="1" dirty="0"/>
                <a:t> </a:t>
              </a:r>
              <a:r>
                <a:rPr lang="en-US" altLang="ja-JP" sz="1400" b="1" dirty="0"/>
                <a:t>= 250 </a:t>
              </a:r>
            </a:p>
            <a:p>
              <a:r>
                <a:rPr lang="ja-JP" altLang="en-US" sz="1400" b="1"/>
                <a:t>数値 </a:t>
              </a:r>
              <a:r>
                <a:rPr lang="ja-GB" altLang="en-US" sz="1400" b="1" dirty="0"/>
                <a:t>白菜の</a:t>
              </a:r>
              <a:r>
                <a:rPr lang="ja-JP" altLang="en-US" sz="1400" b="1"/>
                <a:t>税率 </a:t>
              </a:r>
              <a:r>
                <a:rPr lang="en-US" altLang="ja-JP" sz="1400" b="1" dirty="0"/>
                <a:t>= 0.08</a:t>
              </a:r>
            </a:p>
            <a:p>
              <a:r>
                <a:rPr kumimoji="1" lang="ja-GB" altLang="en-US" sz="1400" b="1" dirty="0"/>
                <a:t>数値</a:t>
              </a:r>
              <a:r>
                <a:rPr kumimoji="1" lang="en-US" altLang="ja-GB" sz="1400" b="1" dirty="0"/>
                <a:t> </a:t>
              </a:r>
              <a:r>
                <a:rPr kumimoji="1" lang="ja-GB" altLang="en-US" sz="1400" b="1" dirty="0"/>
                <a:t>白菜の総額</a:t>
              </a:r>
              <a:r>
                <a:rPr kumimoji="1" lang="en-US" altLang="ja-GB" sz="1400" b="1" dirty="0"/>
                <a:t> = </a:t>
              </a:r>
              <a:r>
                <a:rPr kumimoji="1" lang="ja-GB" altLang="en-US" sz="1400" b="1" dirty="0">
                  <a:solidFill>
                    <a:srgbClr val="0070C0"/>
                  </a:solidFill>
                </a:rPr>
                <a:t>支払い総額（白菜の価格，白菜の税率）</a:t>
              </a:r>
            </a:p>
          </p:txBody>
        </p:sp>
        <p:sp>
          <p:nvSpPr>
            <p:cNvPr id="6" name="テキスト ボックス 5">
              <a:extLst>
                <a:ext uri="{FF2B5EF4-FFF2-40B4-BE49-F238E27FC236}">
                  <a16:creationId xmlns:a16="http://schemas.microsoft.com/office/drawing/2014/main" id="{C35CDE84-0C8A-33A2-DB18-7DC0B98F0072}"/>
                </a:ext>
              </a:extLst>
            </p:cNvPr>
            <p:cNvSpPr txBox="1"/>
            <p:nvPr/>
          </p:nvSpPr>
          <p:spPr>
            <a:xfrm>
              <a:off x="5559449" y="3622475"/>
              <a:ext cx="3087705" cy="954107"/>
            </a:xfrm>
            <a:prstGeom prst="rect">
              <a:avLst/>
            </a:prstGeom>
            <a:solidFill>
              <a:schemeClr val="bg1">
                <a:lumMod val="95000"/>
              </a:schemeClr>
            </a:solidFill>
          </p:spPr>
          <p:txBody>
            <a:bodyPr wrap="none" rtlCol="0">
              <a:spAutoFit/>
            </a:bodyPr>
            <a:lstStyle/>
            <a:p>
              <a:r>
                <a:rPr lang="ja-JP" altLang="en-US" sz="1400" b="1">
                  <a:solidFill>
                    <a:srgbClr val="0070C0"/>
                  </a:solidFill>
                </a:rPr>
                <a:t>（</a:t>
              </a:r>
              <a:r>
                <a:rPr lang="ja-GB" altLang="en-US" sz="1400" b="1" dirty="0">
                  <a:solidFill>
                    <a:srgbClr val="0070C0"/>
                  </a:solidFill>
                </a:rPr>
                <a:t>設定の初期化</a:t>
              </a:r>
              <a:r>
                <a:rPr lang="ja-JP" altLang="en-US" sz="1400" b="1">
                  <a:solidFill>
                    <a:srgbClr val="0070C0"/>
                  </a:solidFill>
                </a:rPr>
                <a:t>）は（）を用いる </a:t>
              </a:r>
              <a:r>
                <a:rPr lang="en-US" altLang="ja-JP" sz="1400" b="1" dirty="0">
                  <a:solidFill>
                    <a:srgbClr val="2F2523"/>
                  </a:solidFill>
                </a:rPr>
                <a:t>{</a:t>
              </a:r>
            </a:p>
            <a:p>
              <a:r>
                <a:rPr lang="ja-JP" altLang="en-US" sz="1400" b="1">
                  <a:solidFill>
                    <a:srgbClr val="2F2523"/>
                  </a:solidFill>
                </a:rPr>
                <a:t>　文字列 言語 </a:t>
              </a:r>
              <a:r>
                <a:rPr lang="en-US" altLang="ja-JP" sz="1400" b="1" dirty="0">
                  <a:solidFill>
                    <a:srgbClr val="2F2523"/>
                  </a:solidFill>
                </a:rPr>
                <a:t>= </a:t>
              </a:r>
              <a:r>
                <a:rPr lang="ja-JP" altLang="en-US" sz="1400" b="1">
                  <a:solidFill>
                    <a:srgbClr val="2F2523"/>
                  </a:solidFill>
                </a:rPr>
                <a:t>「日本語」</a:t>
              </a:r>
            </a:p>
            <a:p>
              <a:r>
                <a:rPr lang="ja-JP" altLang="en-US" sz="1400" b="1">
                  <a:solidFill>
                    <a:srgbClr val="2F2523"/>
                  </a:solidFill>
                </a:rPr>
                <a:t>　文字列 テーマ </a:t>
              </a:r>
              <a:r>
                <a:rPr lang="en-US" altLang="ja-JP" sz="1400" b="1" dirty="0">
                  <a:solidFill>
                    <a:srgbClr val="2F2523"/>
                  </a:solidFill>
                </a:rPr>
                <a:t>= </a:t>
              </a:r>
              <a:r>
                <a:rPr lang="ja-JP" altLang="en-US" sz="1400" b="1">
                  <a:solidFill>
                    <a:srgbClr val="2F2523"/>
                  </a:solidFill>
                </a:rPr>
                <a:t>「ライトモード」</a:t>
              </a:r>
            </a:p>
            <a:p>
              <a:r>
                <a:rPr lang="en-US" altLang="ja-JP" sz="1400" b="1" dirty="0">
                  <a:solidFill>
                    <a:srgbClr val="2F2523"/>
                  </a:solidFill>
                </a:rPr>
                <a:t>}</a:t>
              </a:r>
            </a:p>
          </p:txBody>
        </p:sp>
        <p:sp>
          <p:nvSpPr>
            <p:cNvPr id="7" name="テキスト ボックス 6">
              <a:extLst>
                <a:ext uri="{FF2B5EF4-FFF2-40B4-BE49-F238E27FC236}">
                  <a16:creationId xmlns:a16="http://schemas.microsoft.com/office/drawing/2014/main" id="{E3FE8BA8-C24F-20DC-3B0E-7A58F56C2AEF}"/>
                </a:ext>
              </a:extLst>
            </p:cNvPr>
            <p:cNvSpPr txBox="1"/>
            <p:nvPr/>
          </p:nvSpPr>
          <p:spPr>
            <a:xfrm>
              <a:off x="1656038" y="5511352"/>
              <a:ext cx="2379177" cy="369332"/>
            </a:xfrm>
            <a:prstGeom prst="rect">
              <a:avLst/>
            </a:prstGeom>
            <a:noFill/>
          </p:spPr>
          <p:txBody>
            <a:bodyPr wrap="none" rtlCol="0">
              <a:spAutoFit/>
            </a:bodyPr>
            <a:lstStyle/>
            <a:p>
              <a:pPr algn="ctr"/>
              <a:r>
                <a:rPr kumimoji="1" lang="ja-GB" altLang="en-US" dirty="0"/>
                <a:t>例</a:t>
              </a:r>
              <a:r>
                <a:rPr kumimoji="1" lang="en-US" altLang="ja-GB" dirty="0"/>
                <a:t>1</a:t>
              </a:r>
              <a:r>
                <a:rPr kumimoji="1" lang="ja-GB" altLang="en-US" dirty="0"/>
                <a:t>）税率計算の関数</a:t>
              </a:r>
            </a:p>
          </p:txBody>
        </p:sp>
        <p:sp>
          <p:nvSpPr>
            <p:cNvPr id="8" name="テキスト ボックス 7">
              <a:extLst>
                <a:ext uri="{FF2B5EF4-FFF2-40B4-BE49-F238E27FC236}">
                  <a16:creationId xmlns:a16="http://schemas.microsoft.com/office/drawing/2014/main" id="{77CEEFCF-63AA-309F-EE4E-F05C6FD2C9B1}"/>
                </a:ext>
              </a:extLst>
            </p:cNvPr>
            <p:cNvSpPr txBox="1"/>
            <p:nvPr/>
          </p:nvSpPr>
          <p:spPr>
            <a:xfrm>
              <a:off x="5522579" y="5511352"/>
              <a:ext cx="3161443" cy="369332"/>
            </a:xfrm>
            <a:prstGeom prst="rect">
              <a:avLst/>
            </a:prstGeom>
            <a:noFill/>
          </p:spPr>
          <p:txBody>
            <a:bodyPr wrap="none" rtlCol="0">
              <a:spAutoFit/>
            </a:bodyPr>
            <a:lstStyle/>
            <a:p>
              <a:pPr algn="ctr"/>
              <a:r>
                <a:rPr kumimoji="1" lang="ja-GB" altLang="en-US" dirty="0"/>
                <a:t>例</a:t>
              </a:r>
              <a:r>
                <a:rPr kumimoji="1" lang="en-US" altLang="ja-GB" dirty="0"/>
                <a:t>2</a:t>
              </a:r>
              <a:r>
                <a:rPr kumimoji="1" lang="ja-GB" altLang="en-US" dirty="0"/>
                <a:t>）リセットボタンの動作</a:t>
              </a:r>
            </a:p>
          </p:txBody>
        </p:sp>
      </p:grpSp>
    </p:spTree>
    <p:extLst>
      <p:ext uri="{BB962C8B-B14F-4D97-AF65-F5344CB8AC3E}">
        <p14:creationId xmlns:p14="http://schemas.microsoft.com/office/powerpoint/2010/main" val="239754902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F9E9-DE9B-0B5F-5ACC-61370E753B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D2D713-46F1-6C3D-9FE9-28E6DB5ABC52}"/>
              </a:ext>
            </a:extLst>
          </p:cNvPr>
          <p:cNvSpPr>
            <a:spLocks noGrp="1"/>
          </p:cNvSpPr>
          <p:nvPr>
            <p:ph type="title"/>
          </p:nvPr>
        </p:nvSpPr>
        <p:spPr/>
        <p:txBody>
          <a:bodyPr/>
          <a:lstStyle/>
          <a:p>
            <a:r>
              <a:rPr lang="ja-GB" altLang="en-US" dirty="0"/>
              <a:t>第</a:t>
            </a:r>
            <a:r>
              <a:rPr lang="en-US" altLang="ja-GB" dirty="0"/>
              <a:t>6</a:t>
            </a:r>
            <a:r>
              <a:rPr lang="ja-GB" altLang="en-US" dirty="0"/>
              <a:t>回：プログラムの基本</a:t>
            </a:r>
            <a:endParaRPr kumimoji="1" lang="ja-GB" altLang="en-US" dirty="0"/>
          </a:p>
        </p:txBody>
      </p:sp>
      <p:sp>
        <p:nvSpPr>
          <p:cNvPr id="3" name="コンテンツ プレースホルダー 2">
            <a:extLst>
              <a:ext uri="{FF2B5EF4-FFF2-40B4-BE49-F238E27FC236}">
                <a16:creationId xmlns:a16="http://schemas.microsoft.com/office/drawing/2014/main" id="{459A4F10-167D-22CF-D59D-7A085D487985}"/>
              </a:ext>
            </a:extLst>
          </p:cNvPr>
          <p:cNvSpPr>
            <a:spLocks noGrp="1"/>
          </p:cNvSpPr>
          <p:nvPr>
            <p:ph idx="1"/>
          </p:nvPr>
        </p:nvSpPr>
        <p:spPr/>
        <p:txBody>
          <a:bodyPr/>
          <a:lstStyle/>
          <a:p>
            <a:pPr marL="0" indent="0">
              <a:buNone/>
            </a:pPr>
            <a:r>
              <a:rPr kumimoji="1" lang="ja-GB" altLang="en-US" dirty="0"/>
              <a:t>アルゴリズムをどう計算機に実装するか？</a:t>
            </a:r>
            <a:endParaRPr kumimoji="1" lang="en-US" altLang="ja-GB" dirty="0"/>
          </a:p>
          <a:p>
            <a:pPr marL="914400" lvl="1" indent="-457200">
              <a:buFont typeface="+mj-lt"/>
              <a:buAutoNum type="arabicPeriod"/>
            </a:pPr>
            <a:r>
              <a:rPr kumimoji="1" lang="ja-GB" altLang="en-US" dirty="0">
                <a:solidFill>
                  <a:schemeClr val="tx1">
                    <a:lumMod val="50000"/>
                    <a:lumOff val="50000"/>
                  </a:schemeClr>
                </a:solidFill>
              </a:rPr>
              <a:t>プログラミングの記述方法</a:t>
            </a:r>
            <a:endParaRPr kumimoji="1"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命令を言葉で記述する（プログラミング言語）</a:t>
            </a:r>
            <a:endParaRPr kumimoji="1" lang="en-US" altLang="ja-GB" dirty="0">
              <a:solidFill>
                <a:schemeClr val="tx1">
                  <a:lumMod val="50000"/>
                  <a:lumOff val="50000"/>
                </a:schemeClr>
              </a:solidFill>
            </a:endParaRPr>
          </a:p>
          <a:p>
            <a:pPr lvl="2"/>
            <a:r>
              <a:rPr lang="ja-GB" altLang="en-US" dirty="0">
                <a:solidFill>
                  <a:schemeClr val="tx1">
                    <a:lumMod val="50000"/>
                    <a:lumOff val="50000"/>
                  </a:schemeClr>
                </a:solidFill>
              </a:rPr>
              <a:t>処理の流れを図示する（ビジュアルプログラミング言語）</a:t>
            </a:r>
            <a:endParaRPr lang="en-US" altLang="ja-GB" dirty="0">
              <a:solidFill>
                <a:schemeClr val="tx1">
                  <a:lumMod val="50000"/>
                  <a:lumOff val="50000"/>
                </a:schemeClr>
              </a:solidFill>
            </a:endParaRPr>
          </a:p>
          <a:p>
            <a:pPr lvl="2"/>
            <a:r>
              <a:rPr kumimoji="1" lang="ja-GB" altLang="en-US" dirty="0">
                <a:solidFill>
                  <a:schemeClr val="tx1">
                    <a:lumMod val="50000"/>
                    <a:lumOff val="50000"/>
                  </a:schemeClr>
                </a:solidFill>
              </a:rPr>
              <a:t>画面操作でアプリを作る（ノーコード，ローコード）</a:t>
            </a:r>
            <a:endParaRPr kumimoji="1" lang="en-US" altLang="ja-GB" dirty="0">
              <a:solidFill>
                <a:schemeClr val="tx1">
                  <a:lumMod val="50000"/>
                  <a:lumOff val="50000"/>
                </a:schemeClr>
              </a:solidFill>
            </a:endParaRPr>
          </a:p>
          <a:p>
            <a:pPr lvl="2"/>
            <a:endParaRPr kumimoji="1" lang="en-US" altLang="ja-GB" dirty="0">
              <a:solidFill>
                <a:schemeClr val="tx1">
                  <a:lumMod val="50000"/>
                  <a:lumOff val="50000"/>
                </a:schemeClr>
              </a:solidFill>
            </a:endParaRPr>
          </a:p>
          <a:p>
            <a:pPr marL="914400" lvl="1" indent="-457200">
              <a:buFont typeface="+mj-lt"/>
              <a:buAutoNum type="arabicPeriod"/>
            </a:pPr>
            <a:r>
              <a:rPr lang="ja-GB" altLang="en-US" dirty="0">
                <a:solidFill>
                  <a:schemeClr val="tx1">
                    <a:lumMod val="50000"/>
                    <a:lumOff val="50000"/>
                  </a:schemeClr>
                </a:solidFill>
              </a:rPr>
              <a:t>プログラミング言語の基本</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情報を保持する（変数，型）</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情報を処理する（演算子）</a:t>
            </a:r>
            <a:endParaRPr lang="en-US" altLang="ja-GB" dirty="0">
              <a:solidFill>
                <a:schemeClr val="tx1">
                  <a:lumMod val="50000"/>
                  <a:lumOff val="50000"/>
                </a:schemeClr>
              </a:solidFill>
            </a:endParaRPr>
          </a:p>
          <a:p>
            <a:pPr lvl="2"/>
            <a:r>
              <a:rPr lang="ja-GB" altLang="en-US" dirty="0">
                <a:solidFill>
                  <a:schemeClr val="tx1">
                    <a:lumMod val="50000"/>
                    <a:lumOff val="50000"/>
                  </a:schemeClr>
                </a:solidFill>
              </a:rPr>
              <a:t>繰り返し使う手順を一つの命令にまとめる（関数）</a:t>
            </a:r>
            <a:endParaRPr lang="en-US" altLang="ja-GB" dirty="0">
              <a:solidFill>
                <a:schemeClr val="tx1">
                  <a:lumMod val="50000"/>
                  <a:lumOff val="50000"/>
                </a:schemeClr>
              </a:solidFill>
            </a:endParaRPr>
          </a:p>
          <a:p>
            <a:pPr lvl="2"/>
            <a:endParaRPr lang="en-US" altLang="ja-GB" dirty="0"/>
          </a:p>
          <a:p>
            <a:pPr marL="914400" lvl="1" indent="-457200">
              <a:buFont typeface="+mj-lt"/>
              <a:buAutoNum type="arabicPeriod"/>
            </a:pPr>
            <a:r>
              <a:rPr kumimoji="1" lang="ja-GB" altLang="en-US" dirty="0">
                <a:solidFill>
                  <a:srgbClr val="002060"/>
                </a:solidFill>
              </a:rPr>
              <a:t>プログラミングの実際</a:t>
            </a:r>
            <a:endParaRPr kumimoji="1" lang="en-US" altLang="ja-GB" dirty="0">
              <a:solidFill>
                <a:srgbClr val="002060"/>
              </a:solidFill>
            </a:endParaRPr>
          </a:p>
          <a:p>
            <a:pPr lvl="2"/>
            <a:r>
              <a:rPr kumimoji="1" lang="ja-GB" altLang="en-US" dirty="0"/>
              <a:t>便利な関数を利用する（標準関数，ライブラリ，</a:t>
            </a:r>
            <a:r>
              <a:rPr kumimoji="1" lang="en-US" altLang="ja-GB" dirty="0"/>
              <a:t>API</a:t>
            </a:r>
            <a:r>
              <a:rPr kumimoji="1" lang="ja-GB" altLang="en-US" dirty="0"/>
              <a:t>）</a:t>
            </a:r>
            <a:endParaRPr kumimoji="1" lang="en-US" altLang="ja-GB" dirty="0"/>
          </a:p>
        </p:txBody>
      </p:sp>
    </p:spTree>
    <p:extLst>
      <p:ext uri="{BB962C8B-B14F-4D97-AF65-F5344CB8AC3E}">
        <p14:creationId xmlns:p14="http://schemas.microsoft.com/office/powerpoint/2010/main" val="280713362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FF1858-9D29-1AB7-FC43-9EDA0252E09C}"/>
              </a:ext>
            </a:extLst>
          </p:cNvPr>
          <p:cNvSpPr>
            <a:spLocks noGrp="1"/>
          </p:cNvSpPr>
          <p:nvPr>
            <p:ph type="title"/>
          </p:nvPr>
        </p:nvSpPr>
        <p:spPr/>
        <p:txBody>
          <a:bodyPr/>
          <a:lstStyle/>
          <a:p>
            <a:r>
              <a:rPr kumimoji="1" lang="ja-GB" altLang="en-US" dirty="0"/>
              <a:t>標準関数</a:t>
            </a:r>
          </a:p>
        </p:txBody>
      </p:sp>
      <p:sp>
        <p:nvSpPr>
          <p:cNvPr id="3" name="コンテンツ プレースホルダー 2">
            <a:extLst>
              <a:ext uri="{FF2B5EF4-FFF2-40B4-BE49-F238E27FC236}">
                <a16:creationId xmlns:a16="http://schemas.microsoft.com/office/drawing/2014/main" id="{9C7CBBFE-1458-4D80-958E-78166503288A}"/>
              </a:ext>
            </a:extLst>
          </p:cNvPr>
          <p:cNvSpPr>
            <a:spLocks noGrp="1"/>
          </p:cNvSpPr>
          <p:nvPr>
            <p:ph idx="1"/>
          </p:nvPr>
        </p:nvSpPr>
        <p:spPr/>
        <p:txBody>
          <a:bodyPr/>
          <a:lstStyle/>
          <a:p>
            <a:pPr marL="0" indent="0">
              <a:buNone/>
            </a:pPr>
            <a:r>
              <a:rPr kumimoji="1" lang="ja-GB" altLang="en-US" dirty="0"/>
              <a:t>プログラミング言語が標準で提供する関数</a:t>
            </a:r>
            <a:endParaRPr kumimoji="1" lang="en-US" altLang="ja-GB" dirty="0"/>
          </a:p>
          <a:p>
            <a:pPr lvl="1"/>
            <a:r>
              <a:rPr lang="ja-GB" altLang="en-US" dirty="0"/>
              <a:t>入力受付，文字表示，ファイル操作，三角関数など基本的な処理は</a:t>
            </a:r>
            <a:br>
              <a:rPr lang="en-US" altLang="ja-GB" dirty="0"/>
            </a:br>
            <a:r>
              <a:rPr lang="ja-GB" altLang="en-US" dirty="0"/>
              <a:t>用意されていることが多い</a:t>
            </a:r>
            <a:endParaRPr lang="en-US" altLang="ja-GB" dirty="0"/>
          </a:p>
          <a:p>
            <a:pPr lvl="1"/>
            <a:r>
              <a:rPr kumimoji="1" lang="ja-GB" altLang="en-US" dirty="0">
                <a:solidFill>
                  <a:srgbClr val="0070C0"/>
                </a:solidFill>
              </a:rPr>
              <a:t>自力で実装しようとする前に，行いたい処理が用意されているか調べると</a:t>
            </a:r>
            <a:br>
              <a:rPr lang="en-US" altLang="ja-GB" dirty="0">
                <a:solidFill>
                  <a:srgbClr val="0070C0"/>
                </a:solidFill>
              </a:rPr>
            </a:br>
            <a:r>
              <a:rPr lang="ja-GB" altLang="en-US" dirty="0">
                <a:solidFill>
                  <a:srgbClr val="0070C0"/>
                </a:solidFill>
              </a:rPr>
              <a:t>簡単にプログラミングを書けることがある</a:t>
            </a:r>
            <a:endParaRPr lang="en-US" altLang="ja-GB" dirty="0">
              <a:solidFill>
                <a:srgbClr val="0070C0"/>
              </a:solidFill>
            </a:endParaRPr>
          </a:p>
          <a:p>
            <a:pPr lvl="4"/>
            <a:endParaRPr kumimoji="1" lang="en-US" altLang="ja-GB" dirty="0"/>
          </a:p>
          <a:p>
            <a:pPr lvl="1"/>
            <a:r>
              <a:rPr lang="ja-GB" altLang="en-US" dirty="0"/>
              <a:t>使用例）数当てゲーム</a:t>
            </a:r>
            <a:endParaRPr lang="en-US" altLang="ja-GB" dirty="0"/>
          </a:p>
          <a:p>
            <a:pPr lvl="2"/>
            <a:endParaRPr kumimoji="1" lang="ja-GB" altLang="en-US" dirty="0"/>
          </a:p>
        </p:txBody>
      </p:sp>
      <p:sp>
        <p:nvSpPr>
          <p:cNvPr id="4" name="テキスト ボックス 3">
            <a:extLst>
              <a:ext uri="{FF2B5EF4-FFF2-40B4-BE49-F238E27FC236}">
                <a16:creationId xmlns:a16="http://schemas.microsoft.com/office/drawing/2014/main" id="{6BFCCB78-6518-4C34-5296-3AE83EE5A949}"/>
              </a:ext>
            </a:extLst>
          </p:cNvPr>
          <p:cNvSpPr txBox="1"/>
          <p:nvPr/>
        </p:nvSpPr>
        <p:spPr>
          <a:xfrm>
            <a:off x="1061106" y="3001526"/>
            <a:ext cx="3163045" cy="3754874"/>
          </a:xfrm>
          <a:prstGeom prst="rect">
            <a:avLst/>
          </a:prstGeom>
          <a:solidFill>
            <a:schemeClr val="bg1">
              <a:lumMod val="95000"/>
            </a:schemeClr>
          </a:solidFill>
        </p:spPr>
        <p:txBody>
          <a:bodyPr wrap="none" rtlCol="0">
            <a:spAutoFit/>
          </a:bodyPr>
          <a:lstStyle/>
          <a:p>
            <a:r>
              <a:rPr kumimoji="1" lang="ja-GB" altLang="en-US" sz="1400" dirty="0"/>
              <a:t>数値</a:t>
            </a:r>
            <a:r>
              <a:rPr kumimoji="1" lang="en-US" altLang="ja-GB" sz="1400" dirty="0"/>
              <a:t> </a:t>
            </a:r>
            <a:r>
              <a:rPr kumimoji="1" lang="ja-GB" altLang="en-US" sz="1400" dirty="0"/>
              <a:t>正解</a:t>
            </a:r>
            <a:r>
              <a:rPr kumimoji="1" lang="en-US" altLang="ja-GB" sz="1400" dirty="0"/>
              <a:t> = 7</a:t>
            </a:r>
          </a:p>
          <a:p>
            <a:r>
              <a:rPr kumimoji="1" lang="ja-GB" altLang="en-US" sz="1400" dirty="0"/>
              <a:t>数値</a:t>
            </a:r>
            <a:r>
              <a:rPr kumimoji="1" lang="en-US" altLang="ja-GB" sz="1400" dirty="0"/>
              <a:t> </a:t>
            </a:r>
            <a:r>
              <a:rPr kumimoji="1" lang="ja-GB" altLang="en-US" sz="1400" dirty="0"/>
              <a:t>予想</a:t>
            </a:r>
            <a:r>
              <a:rPr kumimoji="1" lang="en-US" altLang="ja-GB" sz="1400" dirty="0"/>
              <a:t> = </a:t>
            </a:r>
            <a:r>
              <a:rPr kumimoji="1" lang="ja-GB" altLang="en-US" sz="1400" dirty="0">
                <a:solidFill>
                  <a:schemeClr val="accent2"/>
                </a:solidFill>
              </a:rPr>
              <a:t>入力受付</a:t>
            </a:r>
            <a:r>
              <a:rPr kumimoji="1" lang="en-US" altLang="ja-GB" sz="1400" dirty="0">
                <a:solidFill>
                  <a:schemeClr val="accent2"/>
                </a:solidFill>
              </a:rPr>
              <a:t>()</a:t>
            </a:r>
          </a:p>
          <a:p>
            <a:r>
              <a:rPr kumimoji="1" lang="ja-GB" altLang="en-US" sz="1400" dirty="0"/>
              <a:t>論理</a:t>
            </a:r>
            <a:r>
              <a:rPr kumimoji="1" lang="en-US" altLang="ja-GB" sz="1400" dirty="0"/>
              <a:t> </a:t>
            </a:r>
            <a:r>
              <a:rPr kumimoji="1" lang="ja-GB" altLang="en-US" sz="1400" dirty="0"/>
              <a:t>正解済み</a:t>
            </a:r>
            <a:r>
              <a:rPr kumimoji="1" lang="en-US" altLang="ja-GB" sz="1400" dirty="0"/>
              <a:t> = </a:t>
            </a:r>
            <a:r>
              <a:rPr kumimoji="1" lang="ja-GB" altLang="en-US" sz="1400" dirty="0"/>
              <a:t>偽</a:t>
            </a:r>
            <a:endParaRPr kumimoji="1" lang="en-US" altLang="ja-GB" sz="1400" dirty="0"/>
          </a:p>
          <a:p>
            <a:r>
              <a:rPr kumimoji="1" lang="en-US" altLang="ja-GB" sz="1400" dirty="0"/>
              <a:t> (</a:t>
            </a:r>
            <a:r>
              <a:rPr kumimoji="1" lang="ja-GB" altLang="en-US" sz="1400" dirty="0"/>
              <a:t>正解済み</a:t>
            </a:r>
            <a:r>
              <a:rPr kumimoji="1" lang="en-US" altLang="ja-GB" sz="1400" dirty="0"/>
              <a:t> </a:t>
            </a:r>
            <a:r>
              <a:rPr kumimoji="1" lang="ja-GB" altLang="en-US" sz="1400" dirty="0"/>
              <a:t>でない</a:t>
            </a:r>
            <a:r>
              <a:rPr kumimoji="1" lang="en-US" altLang="ja-GB" sz="1400" dirty="0"/>
              <a:t>) </a:t>
            </a:r>
            <a:r>
              <a:rPr kumimoji="1" lang="ja-GB" altLang="en-US" sz="1400" dirty="0"/>
              <a:t>の間は繰り返す</a:t>
            </a:r>
            <a:r>
              <a:rPr kumimoji="1" lang="en-US" altLang="ja-GB" sz="1400" dirty="0"/>
              <a:t>{</a:t>
            </a:r>
          </a:p>
          <a:p>
            <a:r>
              <a:rPr kumimoji="1" lang="ja-GB" altLang="en-US" sz="1400" dirty="0"/>
              <a:t>　もし</a:t>
            </a:r>
            <a:r>
              <a:rPr kumimoji="1" lang="en-US" altLang="ja-GB" sz="1400" dirty="0"/>
              <a:t> (</a:t>
            </a:r>
            <a:r>
              <a:rPr kumimoji="1" lang="ja-GB" altLang="en-US" sz="1400" dirty="0"/>
              <a:t>予想</a:t>
            </a:r>
            <a:r>
              <a:rPr kumimoji="1" lang="en-US" altLang="ja-GB" sz="1400" dirty="0"/>
              <a:t> == </a:t>
            </a:r>
            <a:r>
              <a:rPr kumimoji="1" lang="ja-GB" altLang="en-US" sz="1400" dirty="0"/>
              <a:t>正解</a:t>
            </a:r>
            <a:r>
              <a:rPr kumimoji="1" lang="en-US" altLang="ja-GB" sz="1400" dirty="0"/>
              <a:t>)</a:t>
            </a:r>
            <a:r>
              <a:rPr kumimoji="1" lang="ja-GB" altLang="en-US" sz="1400" dirty="0"/>
              <a:t>が真なら</a:t>
            </a:r>
            <a:r>
              <a:rPr kumimoji="1" lang="en-US" altLang="ja-GB" sz="1400" dirty="0"/>
              <a:t>{</a:t>
            </a:r>
          </a:p>
          <a:p>
            <a:r>
              <a:rPr kumimoji="1" lang="ja-JP" altLang="en-US" sz="1400"/>
              <a:t>　　</a:t>
            </a:r>
            <a:r>
              <a:rPr kumimoji="1" lang="ja-GB" altLang="en-US" sz="1400" dirty="0">
                <a:solidFill>
                  <a:schemeClr val="accent2"/>
                </a:solidFill>
              </a:rPr>
              <a:t>画面出力</a:t>
            </a:r>
            <a:r>
              <a:rPr kumimoji="1" lang="en-US" altLang="ja-GB" sz="1400" dirty="0">
                <a:solidFill>
                  <a:srgbClr val="2F2523"/>
                </a:solidFill>
              </a:rPr>
              <a:t>(“</a:t>
            </a:r>
            <a:r>
              <a:rPr kumimoji="1" lang="ja-GB" altLang="en-US" sz="1400" dirty="0">
                <a:solidFill>
                  <a:srgbClr val="2F2523"/>
                </a:solidFill>
              </a:rPr>
              <a:t>正解！</a:t>
            </a:r>
            <a:r>
              <a:rPr kumimoji="1" lang="en-US" altLang="ja-GB" sz="1400" dirty="0">
                <a:solidFill>
                  <a:srgbClr val="2F2523"/>
                </a:solidFill>
              </a:rPr>
              <a:t>”</a:t>
            </a:r>
            <a:r>
              <a:rPr kumimoji="1" lang="en-US" altLang="ja-GB" sz="1400" dirty="0">
                <a:solidFill>
                  <a:schemeClr val="accent2"/>
                </a:solidFill>
              </a:rPr>
              <a:t>)</a:t>
            </a:r>
          </a:p>
          <a:p>
            <a:r>
              <a:rPr kumimoji="1" lang="ja-JP" altLang="en-US" sz="1400"/>
              <a:t>　　</a:t>
            </a:r>
            <a:r>
              <a:rPr kumimoji="1" lang="ja-GB" altLang="en-US" sz="1400" dirty="0"/>
              <a:t>正解済み</a:t>
            </a:r>
            <a:r>
              <a:rPr kumimoji="1" lang="en-US" altLang="ja-GB" sz="1400" dirty="0"/>
              <a:t> = </a:t>
            </a:r>
            <a:r>
              <a:rPr kumimoji="1" lang="ja-GB" altLang="en-US" sz="1400" dirty="0"/>
              <a:t>真</a:t>
            </a:r>
            <a:endParaRPr kumimoji="1" lang="en-US" altLang="ja-GB" sz="1400" dirty="0"/>
          </a:p>
          <a:p>
            <a:r>
              <a:rPr kumimoji="1" lang="ja-JP" altLang="en-US" sz="1400"/>
              <a:t>　</a:t>
            </a:r>
            <a:r>
              <a:rPr kumimoji="1" lang="en-US" altLang="ja-GB" sz="1400" dirty="0"/>
              <a:t>}</a:t>
            </a:r>
          </a:p>
          <a:p>
            <a:r>
              <a:rPr kumimoji="1" lang="ja-GB" altLang="en-US" sz="1400" dirty="0"/>
              <a:t>　もし</a:t>
            </a:r>
            <a:r>
              <a:rPr kumimoji="1" lang="en-US" altLang="ja-GB" sz="1400" dirty="0"/>
              <a:t>(</a:t>
            </a:r>
            <a:r>
              <a:rPr kumimoji="1" lang="ja-GB" altLang="en-US" sz="1400" dirty="0"/>
              <a:t>予想</a:t>
            </a:r>
            <a:r>
              <a:rPr kumimoji="1" lang="en-US" altLang="ja-GB" sz="1400" dirty="0"/>
              <a:t> &gt; </a:t>
            </a:r>
            <a:r>
              <a:rPr kumimoji="1" lang="ja-GB" altLang="en-US" sz="1400" dirty="0"/>
              <a:t>正解</a:t>
            </a:r>
            <a:r>
              <a:rPr kumimoji="1" lang="en-US" altLang="ja-GB" sz="1400" dirty="0"/>
              <a:t>)</a:t>
            </a:r>
            <a:r>
              <a:rPr kumimoji="1" lang="ja-GB" altLang="en-US" sz="1400" dirty="0"/>
              <a:t>なら</a:t>
            </a:r>
            <a:r>
              <a:rPr kumimoji="1" lang="en-US" altLang="ja-GB" sz="1400" dirty="0"/>
              <a:t>{</a:t>
            </a:r>
            <a:br>
              <a:rPr kumimoji="1" lang="en-US" altLang="ja-GB" sz="1400" dirty="0"/>
            </a:br>
            <a:r>
              <a:rPr kumimoji="1" lang="ja-JP" altLang="en-US" sz="1400"/>
              <a:t>　　</a:t>
            </a:r>
            <a:r>
              <a:rPr kumimoji="1" lang="ja-GB" altLang="en-US" sz="1400" dirty="0">
                <a:solidFill>
                  <a:schemeClr val="accent2"/>
                </a:solidFill>
              </a:rPr>
              <a:t>画面出力</a:t>
            </a:r>
            <a:r>
              <a:rPr kumimoji="1" lang="en-US" altLang="ja-GB" sz="1400" dirty="0">
                <a:solidFill>
                  <a:schemeClr val="accent2"/>
                </a:solidFill>
              </a:rPr>
              <a:t>(</a:t>
            </a:r>
            <a:r>
              <a:rPr kumimoji="1" lang="en-US" altLang="ja-GB" sz="1400" dirty="0">
                <a:solidFill>
                  <a:srgbClr val="2F2523"/>
                </a:solidFill>
              </a:rPr>
              <a:t>“</a:t>
            </a:r>
            <a:r>
              <a:rPr kumimoji="1" lang="ja-GB" altLang="en-US" sz="1400" dirty="0">
                <a:solidFill>
                  <a:srgbClr val="2F2523"/>
                </a:solidFill>
              </a:rPr>
              <a:t>もっと小さいです！</a:t>
            </a:r>
            <a:r>
              <a:rPr kumimoji="1" lang="en-US" altLang="ja-GB" sz="1400" dirty="0">
                <a:solidFill>
                  <a:srgbClr val="2F2523"/>
                </a:solidFill>
              </a:rPr>
              <a:t>”)</a:t>
            </a:r>
          </a:p>
          <a:p>
            <a:r>
              <a:rPr kumimoji="1" lang="ja-JP" altLang="en-US" sz="1400"/>
              <a:t>　　</a:t>
            </a:r>
            <a:r>
              <a:rPr kumimoji="1" lang="ja-GB" altLang="en-US" sz="1400" dirty="0"/>
              <a:t>予想</a:t>
            </a:r>
            <a:r>
              <a:rPr kumimoji="1" lang="en-US" altLang="ja-GB" sz="1400" dirty="0"/>
              <a:t> = </a:t>
            </a:r>
            <a:r>
              <a:rPr kumimoji="1" lang="ja-GB" altLang="en-US" sz="1400" dirty="0">
                <a:solidFill>
                  <a:schemeClr val="accent2"/>
                </a:solidFill>
              </a:rPr>
              <a:t>入力受付</a:t>
            </a:r>
            <a:r>
              <a:rPr kumimoji="1" lang="en-US" altLang="ja-GB" sz="1400" dirty="0">
                <a:solidFill>
                  <a:schemeClr val="accent2"/>
                </a:solidFill>
              </a:rPr>
              <a:t>()</a:t>
            </a:r>
          </a:p>
          <a:p>
            <a:r>
              <a:rPr kumimoji="1" lang="ja-JP" altLang="en-US" sz="1400"/>
              <a:t>　</a:t>
            </a:r>
            <a:r>
              <a:rPr kumimoji="1" lang="en-US" altLang="ja-GB" sz="1400" dirty="0"/>
              <a:t>}</a:t>
            </a:r>
          </a:p>
          <a:p>
            <a:r>
              <a:rPr kumimoji="1" lang="ja-GB" altLang="en-US" sz="1400" dirty="0"/>
              <a:t>　もし</a:t>
            </a:r>
            <a:r>
              <a:rPr kumimoji="1" lang="en-US" altLang="ja-GB" sz="1400" dirty="0"/>
              <a:t>(</a:t>
            </a:r>
            <a:r>
              <a:rPr kumimoji="1" lang="ja-GB" altLang="en-US" sz="1400" dirty="0"/>
              <a:t>予想</a:t>
            </a:r>
            <a:r>
              <a:rPr kumimoji="1" lang="en-US" altLang="ja-GB" sz="1400" dirty="0"/>
              <a:t> &lt; </a:t>
            </a:r>
            <a:r>
              <a:rPr kumimoji="1" lang="ja-GB" altLang="en-US" sz="1400" dirty="0"/>
              <a:t>正解</a:t>
            </a:r>
            <a:r>
              <a:rPr kumimoji="1" lang="en-US" altLang="ja-GB" sz="1400" dirty="0"/>
              <a:t>)</a:t>
            </a:r>
            <a:r>
              <a:rPr kumimoji="1" lang="ja-GB" altLang="en-US" sz="1400" dirty="0"/>
              <a:t>なら</a:t>
            </a:r>
            <a:r>
              <a:rPr kumimoji="1" lang="en-US" altLang="ja-GB" sz="1400" dirty="0"/>
              <a:t>{</a:t>
            </a:r>
          </a:p>
          <a:p>
            <a:r>
              <a:rPr kumimoji="1" lang="ja-JP" altLang="en-US" sz="1400"/>
              <a:t>　　</a:t>
            </a:r>
            <a:r>
              <a:rPr kumimoji="1" lang="ja-GB" altLang="en-US" sz="1400" dirty="0">
                <a:solidFill>
                  <a:schemeClr val="accent2"/>
                </a:solidFill>
              </a:rPr>
              <a:t>画面出力</a:t>
            </a:r>
            <a:r>
              <a:rPr kumimoji="1" lang="en-US" altLang="ja-GB" sz="1400" dirty="0">
                <a:solidFill>
                  <a:schemeClr val="accent2"/>
                </a:solidFill>
              </a:rPr>
              <a:t>(</a:t>
            </a:r>
            <a:r>
              <a:rPr kumimoji="1" lang="en-US" altLang="ja-GB" sz="1400" dirty="0">
                <a:solidFill>
                  <a:srgbClr val="2F2523"/>
                </a:solidFill>
              </a:rPr>
              <a:t>“</a:t>
            </a:r>
            <a:r>
              <a:rPr kumimoji="1" lang="ja-GB" altLang="en-US" sz="1400" dirty="0">
                <a:solidFill>
                  <a:srgbClr val="2F2523"/>
                </a:solidFill>
              </a:rPr>
              <a:t>もっと大きいです！</a:t>
            </a:r>
            <a:r>
              <a:rPr kumimoji="1" lang="en-US" altLang="ja-GB" sz="1400" dirty="0">
                <a:solidFill>
                  <a:srgbClr val="2F2523"/>
                </a:solidFill>
              </a:rPr>
              <a:t>”</a:t>
            </a:r>
            <a:r>
              <a:rPr kumimoji="1" lang="en-US" altLang="ja-GB" sz="1400" dirty="0">
                <a:solidFill>
                  <a:schemeClr val="accent2"/>
                </a:solidFill>
              </a:rPr>
              <a:t>)</a:t>
            </a:r>
          </a:p>
          <a:p>
            <a:r>
              <a:rPr kumimoji="1" lang="ja-JP" altLang="en-US" sz="1400"/>
              <a:t>　　</a:t>
            </a:r>
            <a:r>
              <a:rPr kumimoji="1" lang="ja-GB" altLang="en-US" sz="1400" dirty="0"/>
              <a:t>予想</a:t>
            </a:r>
            <a:r>
              <a:rPr kumimoji="1" lang="en-US" altLang="ja-GB" sz="1400" dirty="0"/>
              <a:t> = </a:t>
            </a:r>
            <a:r>
              <a:rPr kumimoji="1" lang="ja-GB" altLang="en-US" sz="1400" dirty="0">
                <a:solidFill>
                  <a:schemeClr val="accent2"/>
                </a:solidFill>
              </a:rPr>
              <a:t>入力受付</a:t>
            </a:r>
            <a:r>
              <a:rPr kumimoji="1" lang="en-US" altLang="ja-GB" sz="1400" dirty="0">
                <a:solidFill>
                  <a:schemeClr val="accent2"/>
                </a:solidFill>
              </a:rPr>
              <a:t>()</a:t>
            </a:r>
          </a:p>
          <a:p>
            <a:r>
              <a:rPr kumimoji="1" lang="ja-JP" altLang="en-US" sz="1400"/>
              <a:t>　</a:t>
            </a:r>
            <a:r>
              <a:rPr kumimoji="1" lang="en-US" altLang="ja-GB" sz="1400" dirty="0"/>
              <a:t>}</a:t>
            </a:r>
          </a:p>
          <a:p>
            <a:r>
              <a:rPr kumimoji="1" lang="en-US" altLang="ja-GB" sz="1400" dirty="0"/>
              <a:t>}</a:t>
            </a:r>
            <a:endParaRPr kumimoji="1" lang="ja-GB" altLang="en-US" sz="1400" dirty="0"/>
          </a:p>
        </p:txBody>
      </p:sp>
      <p:sp>
        <p:nvSpPr>
          <p:cNvPr id="5" name="テキスト ボックス 4">
            <a:extLst>
              <a:ext uri="{FF2B5EF4-FFF2-40B4-BE49-F238E27FC236}">
                <a16:creationId xmlns:a16="http://schemas.microsoft.com/office/drawing/2014/main" id="{323C06F0-C914-9684-618E-B9AE6DD75367}"/>
              </a:ext>
            </a:extLst>
          </p:cNvPr>
          <p:cNvSpPr txBox="1"/>
          <p:nvPr/>
        </p:nvSpPr>
        <p:spPr>
          <a:xfrm>
            <a:off x="4970932" y="6294735"/>
            <a:ext cx="3602268" cy="461665"/>
          </a:xfrm>
          <a:prstGeom prst="rect">
            <a:avLst/>
          </a:prstGeom>
          <a:solidFill>
            <a:schemeClr val="bg1">
              <a:lumMod val="95000"/>
            </a:schemeClr>
          </a:solidFill>
        </p:spPr>
        <p:txBody>
          <a:bodyPr wrap="none" rtlCol="0">
            <a:spAutoFit/>
          </a:bodyPr>
          <a:lstStyle/>
          <a:p>
            <a:r>
              <a:rPr kumimoji="1" lang="ja-GB" altLang="en-US" sz="1200" dirty="0">
                <a:solidFill>
                  <a:schemeClr val="accent2"/>
                </a:solidFill>
              </a:rPr>
              <a:t>入力受付</a:t>
            </a:r>
            <a:r>
              <a:rPr kumimoji="1" lang="en-US" altLang="ja-GB" sz="1200" dirty="0">
                <a:solidFill>
                  <a:schemeClr val="accent2"/>
                </a:solidFill>
              </a:rPr>
              <a:t>()</a:t>
            </a:r>
            <a:r>
              <a:rPr kumimoji="1" lang="ja-GB" altLang="en-US" sz="1200" dirty="0">
                <a:solidFill>
                  <a:srgbClr val="2F2523"/>
                </a:solidFill>
              </a:rPr>
              <a:t>はキー入力を受け取る関数</a:t>
            </a:r>
            <a:endParaRPr kumimoji="1" lang="en-US" altLang="ja-GB" sz="1200" dirty="0">
              <a:solidFill>
                <a:srgbClr val="2F2523"/>
              </a:solidFill>
            </a:endParaRPr>
          </a:p>
          <a:p>
            <a:r>
              <a:rPr kumimoji="1" lang="ja-GB" altLang="en-US" sz="1200" dirty="0">
                <a:solidFill>
                  <a:schemeClr val="accent2"/>
                </a:solidFill>
              </a:rPr>
              <a:t>画面出力</a:t>
            </a:r>
            <a:r>
              <a:rPr kumimoji="1" lang="en-US" altLang="ja-GB" sz="1200" dirty="0">
                <a:solidFill>
                  <a:schemeClr val="accent2"/>
                </a:solidFill>
              </a:rPr>
              <a:t>()</a:t>
            </a:r>
            <a:r>
              <a:rPr kumimoji="1" lang="ja-GB" altLang="en-US" sz="1200" dirty="0">
                <a:solidFill>
                  <a:srgbClr val="2F2523"/>
                </a:solidFill>
              </a:rPr>
              <a:t>は</a:t>
            </a:r>
            <a:r>
              <a:rPr kumimoji="1" lang="en-US" altLang="ja-GB" sz="1200" dirty="0">
                <a:solidFill>
                  <a:srgbClr val="2F2523"/>
                </a:solidFill>
              </a:rPr>
              <a:t>()</a:t>
            </a:r>
            <a:r>
              <a:rPr kumimoji="1" lang="ja-GB" altLang="en-US" sz="1200" dirty="0">
                <a:solidFill>
                  <a:srgbClr val="2F2523"/>
                </a:solidFill>
              </a:rPr>
              <a:t>の中の文字列を画面に表示する関数</a:t>
            </a:r>
          </a:p>
        </p:txBody>
      </p:sp>
    </p:spTree>
    <p:extLst>
      <p:ext uri="{BB962C8B-B14F-4D97-AF65-F5344CB8AC3E}">
        <p14:creationId xmlns:p14="http://schemas.microsoft.com/office/powerpoint/2010/main" val="1337603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B08CE3-C3C3-2F8F-DC54-FB4A6173F320}"/>
              </a:ext>
            </a:extLst>
          </p:cNvPr>
          <p:cNvSpPr>
            <a:spLocks noGrp="1"/>
          </p:cNvSpPr>
          <p:nvPr>
            <p:ph type="title"/>
          </p:nvPr>
        </p:nvSpPr>
        <p:spPr/>
        <p:txBody>
          <a:bodyPr/>
          <a:lstStyle/>
          <a:p>
            <a:r>
              <a:rPr kumimoji="1" lang="ja-GB" altLang="en-US" dirty="0"/>
              <a:t>ライブラリ</a:t>
            </a:r>
          </a:p>
        </p:txBody>
      </p:sp>
      <p:sp>
        <p:nvSpPr>
          <p:cNvPr id="3" name="コンテンツ プレースホルダー 2">
            <a:extLst>
              <a:ext uri="{FF2B5EF4-FFF2-40B4-BE49-F238E27FC236}">
                <a16:creationId xmlns:a16="http://schemas.microsoft.com/office/drawing/2014/main" id="{EFB7ACA7-C006-17A5-CD72-3D16AA87ABF0}"/>
              </a:ext>
            </a:extLst>
          </p:cNvPr>
          <p:cNvSpPr>
            <a:spLocks noGrp="1"/>
          </p:cNvSpPr>
          <p:nvPr>
            <p:ph idx="1"/>
          </p:nvPr>
        </p:nvSpPr>
        <p:spPr/>
        <p:txBody>
          <a:bodyPr/>
          <a:lstStyle/>
          <a:p>
            <a:pPr marL="0" indent="0">
              <a:buNone/>
            </a:pPr>
            <a:r>
              <a:rPr lang="ja-GB" altLang="en-US" dirty="0"/>
              <a:t>よく使われる</a:t>
            </a:r>
            <a:r>
              <a:rPr kumimoji="1" lang="ja-GB" altLang="en-US" dirty="0"/>
              <a:t>プログラムが詰め合わせで配布されているもの</a:t>
            </a:r>
            <a:endParaRPr kumimoji="1" lang="en-US" altLang="ja-GB" dirty="0"/>
          </a:p>
          <a:p>
            <a:pPr lvl="1"/>
            <a:r>
              <a:rPr lang="ja-GB" altLang="en-US" dirty="0"/>
              <a:t>プログラミング言語の標準関数に用意されていない計算でも，</a:t>
            </a:r>
            <a:br>
              <a:rPr lang="en-US" altLang="ja-GB" dirty="0"/>
            </a:br>
            <a:r>
              <a:rPr lang="ja-GB" altLang="en-US" dirty="0"/>
              <a:t>ライブラリを読み込めば簡単に使えるようになることがある</a:t>
            </a:r>
            <a:endParaRPr lang="en-US" altLang="ja-GB" dirty="0"/>
          </a:p>
          <a:p>
            <a:pPr lvl="1"/>
            <a:r>
              <a:rPr kumimoji="1" lang="ja-GB" altLang="en-US" dirty="0"/>
              <a:t>先人が効果的に実装してくれた関数などを自分のプログラムの中で</a:t>
            </a:r>
            <a:br>
              <a:rPr kumimoji="1" lang="en-US" altLang="ja-GB" dirty="0"/>
            </a:br>
            <a:r>
              <a:rPr kumimoji="1" lang="ja-GB" altLang="en-US" dirty="0"/>
              <a:t>簡単に呼び出して使うことができる</a:t>
            </a:r>
            <a:endParaRPr kumimoji="1" lang="en-US" altLang="ja-GB" dirty="0"/>
          </a:p>
          <a:p>
            <a:pPr lvl="1"/>
            <a:r>
              <a:rPr lang="ja-GB" altLang="en-US" dirty="0"/>
              <a:t>データベースの操作，基本的な統計・機械学習，一般的な数学演算など，よく使われる処理であれば，大抵はライブラリとして配布されている</a:t>
            </a:r>
            <a:endParaRPr lang="en-US" altLang="ja-GB" dirty="0"/>
          </a:p>
          <a:p>
            <a:pPr lvl="1"/>
            <a:endParaRPr kumimoji="1" lang="en-US" altLang="ja-GB" dirty="0"/>
          </a:p>
          <a:p>
            <a:pPr lvl="1"/>
            <a:endParaRPr kumimoji="1" lang="en-US" altLang="ja-GB" dirty="0"/>
          </a:p>
          <a:p>
            <a:pPr marL="457200" lvl="1" indent="0">
              <a:buNone/>
            </a:pPr>
            <a:r>
              <a:rPr kumimoji="1" lang="ja-GB" altLang="en-US" dirty="0"/>
              <a:t>例）</a:t>
            </a:r>
            <a:r>
              <a:rPr kumimoji="1" lang="en-US" altLang="ja-GB" dirty="0"/>
              <a:t>Pandas</a:t>
            </a:r>
          </a:p>
          <a:p>
            <a:pPr lvl="2"/>
            <a:r>
              <a:rPr lang="en-US" altLang="ja-GB" dirty="0"/>
              <a:t>Python</a:t>
            </a:r>
            <a:r>
              <a:rPr lang="ja-GB" altLang="en-US" dirty="0"/>
              <a:t>というプログラミング言語でデータ分析をする人のためのライブラリ</a:t>
            </a:r>
            <a:endParaRPr lang="en-US" altLang="ja-GB" dirty="0"/>
          </a:p>
          <a:p>
            <a:pPr lvl="2"/>
            <a:r>
              <a:rPr kumimoji="1" lang="ja-GB" altLang="en-US" dirty="0"/>
              <a:t>表形式のデータ（例</a:t>
            </a:r>
            <a:r>
              <a:rPr lang="ja-GB" altLang="en-US" dirty="0"/>
              <a:t>：</a:t>
            </a:r>
            <a:r>
              <a:rPr lang="en-US" altLang="ja-GB" dirty="0"/>
              <a:t>Excel</a:t>
            </a:r>
            <a:r>
              <a:rPr lang="ja-GB" altLang="en-US" dirty="0"/>
              <a:t>製データ</a:t>
            </a:r>
            <a:r>
              <a:rPr kumimoji="1" lang="ja-GB" altLang="en-US" dirty="0"/>
              <a:t>）を扱うための処理が多数格納されている</a:t>
            </a:r>
          </a:p>
        </p:txBody>
      </p:sp>
      <p:sp>
        <p:nvSpPr>
          <p:cNvPr id="4" name="テキスト ボックス 3">
            <a:extLst>
              <a:ext uri="{FF2B5EF4-FFF2-40B4-BE49-F238E27FC236}">
                <a16:creationId xmlns:a16="http://schemas.microsoft.com/office/drawing/2014/main" id="{A961CFC8-3D58-976F-32CF-6BBA583BC217}"/>
              </a:ext>
            </a:extLst>
          </p:cNvPr>
          <p:cNvSpPr txBox="1"/>
          <p:nvPr/>
        </p:nvSpPr>
        <p:spPr>
          <a:xfrm>
            <a:off x="1482051" y="6159723"/>
            <a:ext cx="6179897" cy="415498"/>
          </a:xfrm>
          <a:prstGeom prst="rect">
            <a:avLst/>
          </a:prstGeom>
          <a:noFill/>
        </p:spPr>
        <p:txBody>
          <a:bodyPr wrap="none" rtlCol="0">
            <a:spAutoFit/>
          </a:bodyPr>
          <a:lstStyle/>
          <a:p>
            <a:pPr algn="ctr"/>
            <a:r>
              <a:rPr kumimoji="1" lang="en-GB" altLang="ja-GB" sz="1050" dirty="0"/>
              <a:t>Marc Garcia - https://</a:t>
            </a:r>
            <a:r>
              <a:rPr kumimoji="1" lang="en-GB" altLang="ja-GB" sz="1050" dirty="0" err="1"/>
              <a:t>github.com</a:t>
            </a:r>
            <a:r>
              <a:rPr kumimoji="1" lang="en-GB" altLang="ja-GB" sz="1050" dirty="0"/>
              <a:t>/pandas-dev/pandas/blob/master/web/pandas/static/</a:t>
            </a:r>
            <a:r>
              <a:rPr kumimoji="1" lang="en-GB" altLang="ja-GB" sz="1050" dirty="0" err="1"/>
              <a:t>img</a:t>
            </a:r>
            <a:r>
              <a:rPr kumimoji="1" lang="en-GB" altLang="ja-GB" sz="1050" dirty="0"/>
              <a:t>/</a:t>
            </a:r>
            <a:r>
              <a:rPr kumimoji="1" lang="en-GB" altLang="ja-GB" sz="1050" dirty="0" err="1"/>
              <a:t>pandas.svg</a:t>
            </a:r>
            <a:r>
              <a:rPr kumimoji="1" lang="en-GB" altLang="ja-GB" sz="1050" dirty="0"/>
              <a:t>, BSD, </a:t>
            </a:r>
          </a:p>
          <a:p>
            <a:pPr algn="ctr"/>
            <a:r>
              <a:rPr kumimoji="1" lang="en-GB" altLang="ja-GB" sz="1050" dirty="0">
                <a:hlinkClick r:id="rId3"/>
              </a:rPr>
              <a:t>https://commons.wikimedia.org/w/index.php?curid=73107397</a:t>
            </a:r>
            <a:r>
              <a:rPr kumimoji="1" lang="en-US" altLang="ja-GB" sz="1050" dirty="0"/>
              <a:t> </a:t>
            </a:r>
            <a:r>
              <a:rPr kumimoji="1" lang="ja-GB" altLang="en-US" sz="1050" dirty="0"/>
              <a:t>による</a:t>
            </a:r>
          </a:p>
        </p:txBody>
      </p:sp>
      <p:pic>
        <p:nvPicPr>
          <p:cNvPr id="7170" name="Picture 2" descr="undefined">
            <a:extLst>
              <a:ext uri="{FF2B5EF4-FFF2-40B4-BE49-F238E27FC236}">
                <a16:creationId xmlns:a16="http://schemas.microsoft.com/office/drawing/2014/main" id="{26839B93-1A2B-45C8-D470-99F8515360C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412999" y="4534202"/>
            <a:ext cx="4318000" cy="1747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7634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EF5032-24C4-607E-38E9-43DCAA39ABCB}"/>
              </a:ext>
            </a:extLst>
          </p:cNvPr>
          <p:cNvSpPr>
            <a:spLocks noGrp="1"/>
          </p:cNvSpPr>
          <p:nvPr>
            <p:ph type="title"/>
          </p:nvPr>
        </p:nvSpPr>
        <p:spPr/>
        <p:txBody>
          <a:bodyPr/>
          <a:lstStyle/>
          <a:p>
            <a:r>
              <a:rPr kumimoji="1" lang="en-US" altLang="ja-GB" dirty="0"/>
              <a:t>API</a:t>
            </a:r>
            <a:endParaRPr kumimoji="1" lang="ja-GB" altLang="en-US" dirty="0"/>
          </a:p>
        </p:txBody>
      </p:sp>
      <p:sp>
        <p:nvSpPr>
          <p:cNvPr id="3" name="コンテンツ プレースホルダー 2">
            <a:extLst>
              <a:ext uri="{FF2B5EF4-FFF2-40B4-BE49-F238E27FC236}">
                <a16:creationId xmlns:a16="http://schemas.microsoft.com/office/drawing/2014/main" id="{50C05285-BE1E-46BE-1F46-83630BCA2541}"/>
              </a:ext>
            </a:extLst>
          </p:cNvPr>
          <p:cNvSpPr>
            <a:spLocks noGrp="1"/>
          </p:cNvSpPr>
          <p:nvPr>
            <p:ph idx="1"/>
          </p:nvPr>
        </p:nvSpPr>
        <p:spPr/>
        <p:txBody>
          <a:bodyPr/>
          <a:lstStyle/>
          <a:p>
            <a:pPr marL="0" indent="0">
              <a:buNone/>
            </a:pPr>
            <a:r>
              <a:rPr lang="ja-GB" altLang="en-US" dirty="0"/>
              <a:t>外部のサービス</a:t>
            </a:r>
            <a:r>
              <a:rPr lang="en-US" altLang="ja-GB" dirty="0"/>
              <a:t>/</a:t>
            </a:r>
            <a:r>
              <a:rPr lang="ja-GB" altLang="en-US" dirty="0"/>
              <a:t>ソフトウェアをプログラムに組み込める仕組み</a:t>
            </a:r>
            <a:endParaRPr lang="en-US" altLang="ja-GB" dirty="0"/>
          </a:p>
          <a:p>
            <a:pPr marL="457200" lvl="1" indent="0">
              <a:buNone/>
            </a:pPr>
            <a:r>
              <a:rPr kumimoji="1" lang="en-US" altLang="ja-GB" dirty="0">
                <a:solidFill>
                  <a:srgbClr val="0070C0"/>
                </a:solidFill>
              </a:rPr>
              <a:t>Application Programming Interface</a:t>
            </a:r>
          </a:p>
          <a:p>
            <a:pPr marL="914400" lvl="2" indent="0">
              <a:buNone/>
            </a:pPr>
            <a:r>
              <a:rPr lang="ja-GB" altLang="en-US" dirty="0"/>
              <a:t>アプリケーションをプログラムするための接続機構</a:t>
            </a:r>
            <a:br>
              <a:rPr lang="en-US" altLang="ja-GB" dirty="0"/>
            </a:br>
            <a:r>
              <a:rPr lang="ja-GB" altLang="en-US" sz="1400" dirty="0">
                <a:solidFill>
                  <a:schemeClr val="tx1">
                    <a:lumMod val="50000"/>
                    <a:lumOff val="50000"/>
                  </a:schemeClr>
                </a:solidFill>
              </a:rPr>
              <a:t>（</a:t>
            </a:r>
            <a:r>
              <a:rPr lang="en-US" altLang="ja-GB" sz="1400" dirty="0">
                <a:solidFill>
                  <a:schemeClr val="tx1">
                    <a:lumMod val="50000"/>
                    <a:lumOff val="50000"/>
                  </a:schemeClr>
                </a:solidFill>
              </a:rPr>
              <a:t>Interface</a:t>
            </a:r>
            <a:r>
              <a:rPr lang="ja-GB" altLang="en-US" sz="1400" dirty="0">
                <a:solidFill>
                  <a:schemeClr val="tx1">
                    <a:lumMod val="50000"/>
                    <a:lumOff val="50000"/>
                  </a:schemeClr>
                </a:solidFill>
              </a:rPr>
              <a:t>：界面，異なる仕組み同士の接合部分）</a:t>
            </a:r>
            <a:endParaRPr lang="en-US" altLang="ja-GB" dirty="0"/>
          </a:p>
          <a:p>
            <a:pPr marL="914400" lvl="2" indent="0">
              <a:buNone/>
            </a:pPr>
            <a:r>
              <a:rPr lang="ja-GB" altLang="en-US" dirty="0"/>
              <a:t>有名な多くのサービス</a:t>
            </a:r>
            <a:r>
              <a:rPr lang="en-US" altLang="ja-GB" dirty="0"/>
              <a:t>/</a:t>
            </a:r>
            <a:r>
              <a:rPr lang="ja-GB" altLang="en-US" dirty="0"/>
              <a:t>ソフトウェアは開発者向けに</a:t>
            </a:r>
            <a:r>
              <a:rPr lang="en-US" altLang="ja-GB" dirty="0"/>
              <a:t>API</a:t>
            </a:r>
            <a:r>
              <a:rPr lang="ja-GB" altLang="en-US" dirty="0"/>
              <a:t>を提供している</a:t>
            </a:r>
            <a:endParaRPr lang="en-US" altLang="ja-GB" dirty="0"/>
          </a:p>
          <a:p>
            <a:pPr marL="1371600" lvl="3" indent="0">
              <a:buNone/>
            </a:pPr>
            <a:r>
              <a:rPr lang="ja-GB" altLang="en-US" dirty="0"/>
              <a:t>例）</a:t>
            </a:r>
            <a:r>
              <a:rPr lang="en-US" altLang="ja-GB" dirty="0"/>
              <a:t>Instagram</a:t>
            </a:r>
            <a:r>
              <a:rPr lang="ja-GB" altLang="en-US" dirty="0"/>
              <a:t>，</a:t>
            </a:r>
            <a:r>
              <a:rPr lang="en-US" altLang="ja-GB" dirty="0"/>
              <a:t>Google Maps</a:t>
            </a:r>
            <a:r>
              <a:rPr lang="ja-GB" altLang="en-US" dirty="0"/>
              <a:t>，</a:t>
            </a:r>
            <a:r>
              <a:rPr lang="en-US" altLang="ja-GB" dirty="0"/>
              <a:t>Office365</a:t>
            </a:r>
            <a:r>
              <a:rPr lang="ja-GB" altLang="en-US" dirty="0"/>
              <a:t>，楽天トラベル，気象庁，</a:t>
            </a:r>
            <a:r>
              <a:rPr lang="en-US" altLang="ja-GB" dirty="0"/>
              <a:t>zoom</a:t>
            </a:r>
            <a:br>
              <a:rPr lang="en-US" altLang="ja-GB" dirty="0"/>
            </a:br>
            <a:r>
              <a:rPr lang="ja-JP" altLang="en-US"/>
              <a:t>　　</a:t>
            </a:r>
            <a:r>
              <a:rPr lang="en-US" altLang="ja-GB" dirty="0"/>
              <a:t>Google Calendar</a:t>
            </a:r>
            <a:r>
              <a:rPr lang="ja-GB" altLang="en-US" dirty="0"/>
              <a:t>，</a:t>
            </a:r>
            <a:r>
              <a:rPr lang="en-US" altLang="ja-GB" dirty="0"/>
              <a:t>ChatGPT</a:t>
            </a:r>
            <a:r>
              <a:rPr lang="ja-GB" altLang="en-US" dirty="0"/>
              <a:t>，</a:t>
            </a:r>
            <a:r>
              <a:rPr lang="en-US" altLang="ja-GB" dirty="0"/>
              <a:t>Google Drive</a:t>
            </a:r>
            <a:r>
              <a:rPr lang="ja-GB" altLang="en-US" dirty="0"/>
              <a:t>，国会図書館，など</a:t>
            </a:r>
            <a:br>
              <a:rPr lang="en-US" altLang="ja-GB" dirty="0"/>
            </a:br>
            <a:endParaRPr lang="en-US" altLang="ja-GB" dirty="0"/>
          </a:p>
          <a:p>
            <a:pPr marL="457200" lvl="1" indent="0">
              <a:buNone/>
            </a:pPr>
            <a:r>
              <a:rPr lang="ja-GB" altLang="en-US" dirty="0"/>
              <a:t>使用例）</a:t>
            </a:r>
            <a:r>
              <a:rPr lang="en-US" altLang="ja-GB" dirty="0"/>
              <a:t>Google</a:t>
            </a:r>
            <a:r>
              <a:rPr lang="ja-GB" altLang="en-US" dirty="0"/>
              <a:t>翻訳</a:t>
            </a:r>
            <a:r>
              <a:rPr lang="en-US" altLang="ja-GB" dirty="0"/>
              <a:t> API</a:t>
            </a:r>
          </a:p>
          <a:p>
            <a:pPr marL="914400" lvl="2" indent="0">
              <a:buNone/>
            </a:pPr>
            <a:r>
              <a:rPr kumimoji="1" lang="ja-GB" altLang="en-US" dirty="0"/>
              <a:t>テキストと翻訳先の言語を指定すると，翻訳されたテキストが得られる</a:t>
            </a:r>
            <a:r>
              <a:rPr kumimoji="1" lang="en-US" altLang="ja-GB" dirty="0"/>
              <a:t>API</a:t>
            </a:r>
            <a:endParaRPr lang="en-US" altLang="ja-GB" dirty="0"/>
          </a:p>
          <a:p>
            <a:pPr marL="1714500" lvl="3" indent="-342900">
              <a:buFont typeface="+mj-lt"/>
              <a:buAutoNum type="arabicPeriod"/>
            </a:pPr>
            <a:r>
              <a:rPr lang="ja-GB" altLang="en-US" sz="1400" dirty="0"/>
              <a:t>文字列</a:t>
            </a:r>
            <a:r>
              <a:rPr lang="en-US" altLang="ja-GB" sz="1400" dirty="0"/>
              <a:t> </a:t>
            </a:r>
            <a:r>
              <a:rPr lang="en-US" altLang="ja-GB" sz="1400" dirty="0" err="1"/>
              <a:t>jp_text</a:t>
            </a:r>
            <a:r>
              <a:rPr kumimoji="1" lang="en-US" altLang="ja-GB" sz="1400" dirty="0"/>
              <a:t> = “</a:t>
            </a:r>
            <a:r>
              <a:rPr kumimoji="1" lang="ja-GB" altLang="en-US" sz="1400" dirty="0"/>
              <a:t>こんにちは</a:t>
            </a:r>
            <a:r>
              <a:rPr kumimoji="1" lang="en-US" altLang="ja-GB" sz="1400" dirty="0"/>
              <a:t>!”</a:t>
            </a:r>
          </a:p>
          <a:p>
            <a:pPr marL="1714500" lvl="3" indent="-342900">
              <a:buFont typeface="+mj-lt"/>
              <a:buAutoNum type="arabicPeriod"/>
            </a:pPr>
            <a:r>
              <a:rPr lang="ja-GB" altLang="en-US" sz="1400" dirty="0"/>
              <a:t>文字列</a:t>
            </a:r>
            <a:r>
              <a:rPr lang="en-US" altLang="ja-GB" sz="1400" dirty="0"/>
              <a:t> </a:t>
            </a:r>
            <a:r>
              <a:rPr lang="en-US" altLang="ja-GB" sz="1400" dirty="0" err="1"/>
              <a:t>en_text</a:t>
            </a:r>
            <a:r>
              <a:rPr lang="en-US" altLang="ja-GB" sz="1400" dirty="0"/>
              <a:t> = </a:t>
            </a:r>
            <a:r>
              <a:rPr lang="en-US" altLang="ja-GB" sz="1400" dirty="0" err="1">
                <a:solidFill>
                  <a:schemeClr val="accent6">
                    <a:lumMod val="50000"/>
                  </a:schemeClr>
                </a:solidFill>
              </a:rPr>
              <a:t>translate_client.translate</a:t>
            </a:r>
            <a:r>
              <a:rPr lang="en-US" altLang="ja-GB" sz="1400" dirty="0"/>
              <a:t>(</a:t>
            </a:r>
            <a:r>
              <a:rPr lang="en-US" altLang="ja-GB" sz="1400" dirty="0" err="1"/>
              <a:t>jp_text</a:t>
            </a:r>
            <a:r>
              <a:rPr lang="en-US" altLang="ja-GB" sz="1400" dirty="0"/>
              <a:t>, </a:t>
            </a:r>
            <a:r>
              <a:rPr lang="en-US" altLang="ja-GB" sz="1400" dirty="0" err="1"/>
              <a:t>target_language</a:t>
            </a:r>
            <a:r>
              <a:rPr lang="en-US" altLang="ja-GB" sz="1400" dirty="0"/>
              <a:t>=“</a:t>
            </a:r>
            <a:r>
              <a:rPr lang="en-US" altLang="ja-GB" sz="1400" dirty="0" err="1"/>
              <a:t>jp</a:t>
            </a:r>
            <a:r>
              <a:rPr lang="en-US" altLang="ja-GB" sz="1400" dirty="0"/>
              <a:t>”)</a:t>
            </a:r>
          </a:p>
          <a:p>
            <a:pPr marL="2171700" lvl="4" indent="-342900">
              <a:buFont typeface="+mj-lt"/>
              <a:buAutoNum type="arabicPeriod"/>
            </a:pPr>
            <a:endParaRPr lang="en-US" altLang="ja-GB" dirty="0"/>
          </a:p>
          <a:p>
            <a:pPr marL="1371600" lvl="3" indent="0">
              <a:buNone/>
            </a:pPr>
            <a:r>
              <a:rPr lang="en-US" altLang="ja-GB" dirty="0"/>
              <a:t>→output</a:t>
            </a:r>
            <a:r>
              <a:rPr lang="ja-GB" altLang="en-US" dirty="0"/>
              <a:t>には</a:t>
            </a:r>
            <a:r>
              <a:rPr lang="en-US" altLang="ja-GB" dirty="0"/>
              <a:t>Google</a:t>
            </a:r>
            <a:r>
              <a:rPr lang="ja-GB" altLang="en-US" dirty="0"/>
              <a:t>翻訳の結果（</a:t>
            </a:r>
            <a:r>
              <a:rPr lang="en-US" altLang="ja-GB" dirty="0"/>
              <a:t>“Hello!”</a:t>
            </a:r>
            <a:r>
              <a:rPr lang="ja-GB" altLang="en-US" dirty="0"/>
              <a:t>）が格納される</a:t>
            </a:r>
            <a:endParaRPr lang="en-US" altLang="ja-GB" dirty="0"/>
          </a:p>
          <a:p>
            <a:pPr lvl="1"/>
            <a:endParaRPr kumimoji="1" lang="ja-GB" altLang="en-US" dirty="0"/>
          </a:p>
        </p:txBody>
      </p:sp>
      <p:sp>
        <p:nvSpPr>
          <p:cNvPr id="4" name="テキスト ボックス 3">
            <a:extLst>
              <a:ext uri="{FF2B5EF4-FFF2-40B4-BE49-F238E27FC236}">
                <a16:creationId xmlns:a16="http://schemas.microsoft.com/office/drawing/2014/main" id="{CBAC4434-B754-E1EA-F6DA-C4D498602C39}"/>
              </a:ext>
            </a:extLst>
          </p:cNvPr>
          <p:cNvSpPr txBox="1"/>
          <p:nvPr/>
        </p:nvSpPr>
        <p:spPr>
          <a:xfrm>
            <a:off x="1460828" y="6277555"/>
            <a:ext cx="6222344" cy="307777"/>
          </a:xfrm>
          <a:prstGeom prst="rect">
            <a:avLst/>
          </a:prstGeom>
          <a:noFill/>
        </p:spPr>
        <p:txBody>
          <a:bodyPr wrap="none" rtlCol="0">
            <a:spAutoFit/>
          </a:bodyPr>
          <a:lstStyle/>
          <a:p>
            <a:pPr algn="ctr"/>
            <a:r>
              <a:rPr kumimoji="1" lang="ja-GB" altLang="en-US" sz="1400" dirty="0">
                <a:solidFill>
                  <a:schemeClr val="tx1">
                    <a:lumMod val="50000"/>
                    <a:lumOff val="50000"/>
                  </a:schemeClr>
                </a:solidFill>
              </a:rPr>
              <a:t>参考：</a:t>
            </a:r>
            <a:r>
              <a:rPr kumimoji="1" lang="en-GB" altLang="ja-GB" sz="1400" dirty="0">
                <a:solidFill>
                  <a:schemeClr val="tx1">
                    <a:lumMod val="50000"/>
                    <a:lumOff val="50000"/>
                  </a:schemeClr>
                </a:solidFill>
              </a:rPr>
              <a:t>Cloud Translation | Google Cloud </a:t>
            </a:r>
            <a:r>
              <a:rPr kumimoji="1" lang="en-GB" altLang="ja-GB" sz="14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https://cloud.google.com/translate?hl=ja</a:t>
            </a:r>
            <a:r>
              <a:rPr kumimoji="1" lang="en-GB" altLang="ja-GB" sz="1400" dirty="0">
                <a:solidFill>
                  <a:schemeClr val="tx1">
                    <a:lumMod val="50000"/>
                    <a:lumOff val="50000"/>
                  </a:schemeClr>
                </a:solidFill>
              </a:rPr>
              <a:t> </a:t>
            </a:r>
            <a:endParaRPr kumimoji="1" lang="ja-GB" altLang="en-US" sz="1400" dirty="0">
              <a:solidFill>
                <a:schemeClr val="tx1">
                  <a:lumMod val="50000"/>
                  <a:lumOff val="50000"/>
                </a:schemeClr>
              </a:solidFill>
            </a:endParaRPr>
          </a:p>
        </p:txBody>
      </p:sp>
    </p:spTree>
    <p:extLst>
      <p:ext uri="{BB962C8B-B14F-4D97-AF65-F5344CB8AC3E}">
        <p14:creationId xmlns:p14="http://schemas.microsoft.com/office/powerpoint/2010/main" val="330570625"/>
      </p:ext>
    </p:extLst>
  </p:cSld>
  <p:clrMapOvr>
    <a:masterClrMapping/>
  </p:clrMapOvr>
</p:sld>
</file>

<file path=ppt/theme/theme1.xml><?xml version="1.0" encoding="utf-8"?>
<a:theme xmlns:a="http://schemas.openxmlformats.org/drawingml/2006/main" name="Office テーマ">
  <a:themeElements>
    <a:clrScheme name="ユーザー定義 2">
      <a:dk1>
        <a:srgbClr val="000000"/>
      </a:dk1>
      <a:lt1>
        <a:srgbClr val="FFFFFF"/>
      </a:lt1>
      <a:dk2>
        <a:srgbClr val="44546A"/>
      </a:dk2>
      <a:lt2>
        <a:srgbClr val="E7E6E6"/>
      </a:lt2>
      <a:accent1>
        <a:srgbClr val="05518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テーマ">
  <a:themeElements>
    <a:clrScheme name="ユーザー定義 2">
      <a:dk1>
        <a:srgbClr val="000000"/>
      </a:dk1>
      <a:lt1>
        <a:srgbClr val="FFFFFF"/>
      </a:lt1>
      <a:dk2>
        <a:srgbClr val="44546A"/>
      </a:dk2>
      <a:lt2>
        <a:srgbClr val="E7E6E6"/>
      </a:lt2>
      <a:accent1>
        <a:srgbClr val="05518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9361</TotalTime>
  <Words>13346</Words>
  <Application>Microsoft Macintosh PowerPoint</Application>
  <PresentationFormat>画面に合わせる (4:3)</PresentationFormat>
  <Paragraphs>2786</Paragraphs>
  <Slides>208</Slides>
  <Notes>15</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208</vt:i4>
      </vt:variant>
    </vt:vector>
  </HeadingPairs>
  <TitlesOfParts>
    <vt:vector size="216" baseType="lpstr">
      <vt:lpstr>ui-monospace</vt:lpstr>
      <vt:lpstr>游ゴシック</vt:lpstr>
      <vt:lpstr>Yu Gothic UI</vt:lpstr>
      <vt:lpstr>Arial</vt:lpstr>
      <vt:lpstr>Calibri</vt:lpstr>
      <vt:lpstr>Cambria Math</vt:lpstr>
      <vt:lpstr>Office テーマ</vt:lpstr>
      <vt:lpstr>1_Office テーマ</vt:lpstr>
      <vt:lpstr>2025年度 コンピュータシステム 全説明スライド 画像圧縮版 前半 </vt:lpstr>
      <vt:lpstr>試験の特性と持ち込み資料のアドバイス</vt:lpstr>
      <vt:lpstr>この授業について</vt:lpstr>
      <vt:lpstr>補足説明</vt:lpstr>
      <vt:lpstr>授業の流れ</vt:lpstr>
      <vt:lpstr>授業内容</vt:lpstr>
      <vt:lpstr>I. 計算機システムを学ぶ意味を見つける</vt:lpstr>
      <vt:lpstr>授業内容</vt:lpstr>
      <vt:lpstr>第I部（第1回，第2回）の位置付け</vt:lpstr>
      <vt:lpstr>概説1：計算機とはなにか？なぜ学ぶのか？</vt:lpstr>
      <vt:lpstr>概説2：情報システムとは何か？なぜ重要なのか？</vt:lpstr>
      <vt:lpstr>2025年度 コンピュータシステム 第1回：計算機とプログラムによる自動化 </vt:lpstr>
      <vt:lpstr>第1回内容：計算機とプログラムによる自動化</vt:lpstr>
      <vt:lpstr>第1回内容：計算機とプログラムによる自動化</vt:lpstr>
      <vt:lpstr>一般的なコンピュータのイメージ</vt:lpstr>
      <vt:lpstr>コンピュータの意味</vt:lpstr>
      <vt:lpstr>コンピュータの意味</vt:lpstr>
      <vt:lpstr>どうして“計算機“で様々なことができるのか？</vt:lpstr>
      <vt:lpstr>どうして“計算機“で様々なことができるのか？</vt:lpstr>
      <vt:lpstr>計算機の中身：自動で計算する装置</vt:lpstr>
      <vt:lpstr>補足説明</vt:lpstr>
      <vt:lpstr>計算機で画像を表示する仕組み</vt:lpstr>
      <vt:lpstr>計算機で画像を表示する仕組み</vt:lpstr>
      <vt:lpstr>計算機でカラー画像を表示する仕組み</vt:lpstr>
      <vt:lpstr>計算機で動画を表示する仕組み</vt:lpstr>
      <vt:lpstr>計算機で文章を取り扱う仕組み</vt:lpstr>
      <vt:lpstr>計算機でゲームを動かす仕組み</vt:lpstr>
      <vt:lpstr>計算機で帳簿をつける仕組み</vt:lpstr>
      <vt:lpstr>計算機で気象予報をする仕組み</vt:lpstr>
      <vt:lpstr>どうして“計算機“で様々なことができるのか？</vt:lpstr>
      <vt:lpstr>第1回内容：計算機とプログラムによる自動化</vt:lpstr>
      <vt:lpstr>計算の自動化</vt:lpstr>
      <vt:lpstr>「プログラム」で「計算」を組み合わせて機能を作る</vt:lpstr>
      <vt:lpstr>概説：計算機とはなにか？なぜ学ぶのか？</vt:lpstr>
      <vt:lpstr>第1回内容：計算機とプログラムによる自動化</vt:lpstr>
      <vt:lpstr>通信・インターネットの発展</vt:lpstr>
      <vt:lpstr>データ科学・人工知能</vt:lpstr>
      <vt:lpstr>Industry 4.0：第四次産業革命</vt:lpstr>
      <vt:lpstr>具体例：スマートファクトリー</vt:lpstr>
      <vt:lpstr>Society 5.0：超スマート社会</vt:lpstr>
      <vt:lpstr>具体例：再配達の削減</vt:lpstr>
      <vt:lpstr>Industry 4.0とSociety 5.0の示す方向性</vt:lpstr>
      <vt:lpstr>情報社会の問題解決</vt:lpstr>
      <vt:lpstr>類似例：数学の問題解決</vt:lpstr>
      <vt:lpstr>類似例：数学の問題解決（説明）</vt:lpstr>
      <vt:lpstr>情報社会の問題解決</vt:lpstr>
      <vt:lpstr>経産省：デジタル社会における人物像</vt:lpstr>
      <vt:lpstr>学科の推奨資格との関係</vt:lpstr>
      <vt:lpstr>学科の推奨資格との関係</vt:lpstr>
      <vt:lpstr>概説1：計算機とはなにか？なぜ学ぶのか？</vt:lpstr>
      <vt:lpstr>2025年度 コンピュータシステム 第2回：計算機，インターネット，情報システム </vt:lpstr>
      <vt:lpstr>概説2：情報システムとは何か？なぜ重要なのか？</vt:lpstr>
      <vt:lpstr>本日の内容</vt:lpstr>
      <vt:lpstr>本日の内容</vt:lpstr>
      <vt:lpstr>計算機内の情報表現</vt:lpstr>
      <vt:lpstr>数値化された情報はどのように計算機に入っているか？</vt:lpstr>
      <vt:lpstr>数値化された情報はどのように計算機に入っているか？</vt:lpstr>
      <vt:lpstr>数値化された情報はどのように計算機に入っているか？</vt:lpstr>
      <vt:lpstr>アナログとデジタル</vt:lpstr>
      <vt:lpstr>デジタル符号化の例：音声</vt:lpstr>
      <vt:lpstr>数値化された情報はどのように計算機に入っているか？</vt:lpstr>
      <vt:lpstr>2進数</vt:lpstr>
      <vt:lpstr>デジタル電子計算機と2進数表現</vt:lpstr>
      <vt:lpstr>数値化された情報はどのように計算機に入っているか？</vt:lpstr>
      <vt:lpstr>本日の内容</vt:lpstr>
      <vt:lpstr>単位：ビット(bit)とバイト(Byte)</vt:lpstr>
      <vt:lpstr>命令：プログラミング言語</vt:lpstr>
      <vt:lpstr>利用：アプリケーション</vt:lpstr>
      <vt:lpstr>注意点：人間可読性 vs 機械可読性</vt:lpstr>
      <vt:lpstr>本日の内容</vt:lpstr>
      <vt:lpstr>ネットワーク</vt:lpstr>
      <vt:lpstr>インターネット</vt:lpstr>
      <vt:lpstr>本日の内容</vt:lpstr>
      <vt:lpstr>ネットワーク</vt:lpstr>
      <vt:lpstr>インターネット</vt:lpstr>
      <vt:lpstr>情報システム</vt:lpstr>
      <vt:lpstr>情報セキュリティ</vt:lpstr>
      <vt:lpstr>概説2：情報システムとは何か？なぜ重要なのか？</vt:lpstr>
      <vt:lpstr>II. 計算機やデータ，AIにできることを知る</vt:lpstr>
      <vt:lpstr>授業内容</vt:lpstr>
      <vt:lpstr>授業の流れ</vt:lpstr>
      <vt:lpstr>2025年度 コンピュータシステム 第3回：計算機とプログラムによる自動化 </vt:lpstr>
      <vt:lpstr>第3回：計算機の基本原理</vt:lpstr>
      <vt:lpstr>補足説明</vt:lpstr>
      <vt:lpstr>第3回：計算機の基本原理</vt:lpstr>
      <vt:lpstr>五大装置：計算をするために必要な装置</vt:lpstr>
      <vt:lpstr>五大装置によるプログラム実行の流れ</vt:lpstr>
      <vt:lpstr>プログラム実行の流れ</vt:lpstr>
      <vt:lpstr>プログラム実行の流れ（例 A+B）</vt:lpstr>
      <vt:lpstr>プログラム実行の流れ（例 A+B）</vt:lpstr>
      <vt:lpstr>プログラム実行の流れ（例 A+B）</vt:lpstr>
      <vt:lpstr>プログラム実行の流れ（例 A+B）</vt:lpstr>
      <vt:lpstr>プログラム実行の流れ（例 A+B）</vt:lpstr>
      <vt:lpstr>プログラム実行の流れ（例 A+B）</vt:lpstr>
      <vt:lpstr>プログラム実行の流れ（例 A+B）</vt:lpstr>
      <vt:lpstr>実際のハードウェア構成</vt:lpstr>
      <vt:lpstr>第3回：計算機の基本原理</vt:lpstr>
      <vt:lpstr>計算機内部の情報表現</vt:lpstr>
      <vt:lpstr>デジタル電子計算機と2進数表現</vt:lpstr>
      <vt:lpstr>機械語：0と1で書かれたプログラム</vt:lpstr>
      <vt:lpstr>アセンブリ言語</vt:lpstr>
      <vt:lpstr>プログラミング言語</vt:lpstr>
      <vt:lpstr>プログラミングの基本</vt:lpstr>
      <vt:lpstr>第3回：計算機の基本原理</vt:lpstr>
      <vt:lpstr>アルゴリズム（algorithm）</vt:lpstr>
      <vt:lpstr>アルゴリズムを組み合わせてアルゴリズムを作る</vt:lpstr>
      <vt:lpstr>2025年度 コンピュータシステム 第4回：計算機と統計 </vt:lpstr>
      <vt:lpstr>前置き：コンピュータプログラミングの難しさ</vt:lpstr>
      <vt:lpstr>第4回：統計，データ，AIにできること</vt:lpstr>
      <vt:lpstr>第4回：統計，データ，AIにできること</vt:lpstr>
      <vt:lpstr>統計</vt:lpstr>
      <vt:lpstr>統計量</vt:lpstr>
      <vt:lpstr>統計量の応用例</vt:lpstr>
      <vt:lpstr>回帰分析</vt:lpstr>
      <vt:lpstr>検定</vt:lpstr>
      <vt:lpstr>統計の使用例</vt:lpstr>
      <vt:lpstr>統計を用いるときの注意点</vt:lpstr>
      <vt:lpstr>第4回：統計，データ，AIにできること</vt:lpstr>
      <vt:lpstr>機械学習の基本的な考え方</vt:lpstr>
      <vt:lpstr>機械学習の種類</vt:lpstr>
      <vt:lpstr>教師あり学習</vt:lpstr>
      <vt:lpstr>回帰分析</vt:lpstr>
      <vt:lpstr>教師あり学習の仕組み</vt:lpstr>
      <vt:lpstr>具体例：画像識別課題</vt:lpstr>
      <vt:lpstr>具体例：株価予測</vt:lpstr>
      <vt:lpstr>具体例：超解像課題</vt:lpstr>
      <vt:lpstr>機械学習</vt:lpstr>
      <vt:lpstr>教師なし学習</vt:lpstr>
      <vt:lpstr>応用例1：画像を絵画風に変換するフィルタ</vt:lpstr>
      <vt:lpstr> 応用例2：膨大な意見をAIで分類・可視化</vt:lpstr>
      <vt:lpstr> 応用例2：膨大な意見をAIで分類・可視化</vt:lpstr>
      <vt:lpstr>機械学習</vt:lpstr>
      <vt:lpstr>強化学習</vt:lpstr>
      <vt:lpstr>強化学習</vt:lpstr>
      <vt:lpstr>第4回：統計，データ，AIにできること</vt:lpstr>
      <vt:lpstr>大規模言語モデル（LLM）の基本動作</vt:lpstr>
      <vt:lpstr>大規模言語モデル（LLM）の基本動作</vt:lpstr>
      <vt:lpstr>LLMアプリケーションのアプローチ1</vt:lpstr>
      <vt:lpstr>LLMアプリケーションのアプローチ</vt:lpstr>
      <vt:lpstr>エージェントの具体例</vt:lpstr>
      <vt:lpstr>第4回：統計，データ，AIにできること</vt:lpstr>
      <vt:lpstr>III. 問題を計算機の使える形に整理する</vt:lpstr>
      <vt:lpstr>授業内容</vt:lpstr>
      <vt:lpstr>授業の流れ</vt:lpstr>
      <vt:lpstr>2025年度 コンピュータシステム 第5回：情報システムのデザイン </vt:lpstr>
      <vt:lpstr>第5回：問題を「計算機」に解ける形に整理する</vt:lpstr>
      <vt:lpstr>第5回：問題を「計算機」に解ける形に整理する</vt:lpstr>
      <vt:lpstr>V字モデル</vt:lpstr>
      <vt:lpstr>企業がソフトウェアを発注するときの役割分担</vt:lpstr>
      <vt:lpstr>ユーザー部門の仕事</vt:lpstr>
      <vt:lpstr>社内IT部門の仕事</vt:lpstr>
      <vt:lpstr>開発部門・SI企業の仕事</vt:lpstr>
      <vt:lpstr>要件定義の重要性</vt:lpstr>
      <vt:lpstr>第5回：問題を「計算機」に解ける形に整理する</vt:lpstr>
      <vt:lpstr>要件定義とは何か</vt:lpstr>
      <vt:lpstr>やりたいことを整理するのは難しい</vt:lpstr>
      <vt:lpstr>ITシステムのヒアリング</vt:lpstr>
      <vt:lpstr>要望を聞いて本当の課題を見極める</vt:lpstr>
      <vt:lpstr>要望を聞いて本当の課題を見極める</vt:lpstr>
      <vt:lpstr>要件定義とは何か</vt:lpstr>
      <vt:lpstr>要件定義の手順</vt:lpstr>
      <vt:lpstr>要件定義の手順</vt:lpstr>
      <vt:lpstr>要件定義1：やりたいことを小さい課題に分解する</vt:lpstr>
      <vt:lpstr>要件定義2：計算機にできることとすり合わせる</vt:lpstr>
      <vt:lpstr>要件定義の全体像</vt:lpstr>
      <vt:lpstr>第5回：問題を「計算機」に解ける形に整理する</vt:lpstr>
      <vt:lpstr>様々な開発モデル</vt:lpstr>
      <vt:lpstr>開発モデルの具体例</vt:lpstr>
      <vt:lpstr>ウォーターフォール開発</vt:lpstr>
      <vt:lpstr>V字モデル</vt:lpstr>
      <vt:lpstr>反復型開発</vt:lpstr>
      <vt:lpstr>アジャイル開発</vt:lpstr>
      <vt:lpstr>リーンスタートアップ（MVP開発）</vt:lpstr>
      <vt:lpstr>開発モデルの具体例</vt:lpstr>
      <vt:lpstr>多くの人々が情報技術を学ぶ意義</vt:lpstr>
      <vt:lpstr>第5回：問題を「計算機」に解ける形に整理する</vt:lpstr>
      <vt:lpstr>IV. 計算機の考え方を体感する</vt:lpstr>
      <vt:lpstr>授業内容</vt:lpstr>
      <vt:lpstr>授業の流れ</vt:lpstr>
      <vt:lpstr>2025年度 コンピュータシステム 第6回：プログラムの基本 </vt:lpstr>
      <vt:lpstr>前置き：アルゴリズムの実行方法の種類</vt:lpstr>
      <vt:lpstr>手続き型プログラム</vt:lpstr>
      <vt:lpstr>イベント駆動型プログラム</vt:lpstr>
      <vt:lpstr>第6回：プログラムの基本</vt:lpstr>
      <vt:lpstr>プログラミング言語</vt:lpstr>
      <vt:lpstr>ビジュアルプログラミング言語1：ブロック型</vt:lpstr>
      <vt:lpstr>ビジュアルプログラミング言語2：フロー型</vt:lpstr>
      <vt:lpstr>ノーコード，ローコード</vt:lpstr>
      <vt:lpstr>例1：Microsoft Office</vt:lpstr>
      <vt:lpstr>例2：Google Workspaceのツール連携</vt:lpstr>
      <vt:lpstr>例3：Google Sites</vt:lpstr>
      <vt:lpstr>例4）Notion</vt:lpstr>
      <vt:lpstr>例5）Unity</vt:lpstr>
      <vt:lpstr>第6回：プログラムの基本</vt:lpstr>
      <vt:lpstr>変数，型</vt:lpstr>
      <vt:lpstr>変数，型</vt:lpstr>
      <vt:lpstr>変数，型</vt:lpstr>
      <vt:lpstr>演算子</vt:lpstr>
      <vt:lpstr>演算子</vt:lpstr>
      <vt:lpstr>演算子</vt:lpstr>
      <vt:lpstr>演算子</vt:lpstr>
      <vt:lpstr>条件分岐の記述</vt:lpstr>
      <vt:lpstr>繰り返しの記述</vt:lpstr>
      <vt:lpstr>関数</vt:lpstr>
      <vt:lpstr>第6回：プログラムの基本</vt:lpstr>
      <vt:lpstr>標準関数</vt:lpstr>
      <vt:lpstr>ライブラリ</vt:lpstr>
      <vt:lpstr>API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TOMIOKA Rio</dc:creator>
  <cp:lastModifiedBy>rio tomioka</cp:lastModifiedBy>
  <cp:revision>64</cp:revision>
  <cp:lastPrinted>2025-09-26T09:33:50Z</cp:lastPrinted>
  <dcterms:created xsi:type="dcterms:W3CDTF">2021-06-08T09:51:30Z</dcterms:created>
  <dcterms:modified xsi:type="dcterms:W3CDTF">2025-10-03T05:43:35Z</dcterms:modified>
</cp:coreProperties>
</file>