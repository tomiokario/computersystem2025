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Lst>
  <p:notesMasterIdLst>
    <p:notesMasterId r:id="rId277"/>
  </p:notesMasterIdLst>
  <p:handoutMasterIdLst>
    <p:handoutMasterId r:id="rId278"/>
  </p:handoutMasterIdLst>
  <p:sldIdLst>
    <p:sldId id="920" r:id="rId3"/>
    <p:sldId id="1372" r:id="rId4"/>
    <p:sldId id="1474" r:id="rId5"/>
    <p:sldId id="1475" r:id="rId6"/>
    <p:sldId id="1456" r:id="rId7"/>
    <p:sldId id="1457" r:id="rId8"/>
    <p:sldId id="1458" r:id="rId9"/>
    <p:sldId id="1459" r:id="rId10"/>
    <p:sldId id="1460" r:id="rId11"/>
    <p:sldId id="1469" r:id="rId12"/>
    <p:sldId id="1464" r:id="rId13"/>
    <p:sldId id="1470" r:id="rId14"/>
    <p:sldId id="1471" r:id="rId15"/>
    <p:sldId id="1463" r:id="rId16"/>
    <p:sldId id="1472" r:id="rId17"/>
    <p:sldId id="1473" r:id="rId18"/>
    <p:sldId id="1487" r:id="rId19"/>
    <p:sldId id="1476" r:id="rId20"/>
    <p:sldId id="1478" r:id="rId21"/>
    <p:sldId id="1477" r:id="rId22"/>
    <p:sldId id="1479" r:id="rId23"/>
    <p:sldId id="1488" r:id="rId24"/>
    <p:sldId id="1481" r:id="rId25"/>
    <p:sldId id="1373" r:id="rId26"/>
    <p:sldId id="1528" r:id="rId27"/>
    <p:sldId id="1527" r:id="rId28"/>
    <p:sldId id="1489" r:id="rId29"/>
    <p:sldId id="1490" r:id="rId30"/>
    <p:sldId id="1492" r:id="rId31"/>
    <p:sldId id="1493" r:id="rId32"/>
    <p:sldId id="1448" r:id="rId33"/>
    <p:sldId id="1449" r:id="rId34"/>
    <p:sldId id="1397" r:id="rId35"/>
    <p:sldId id="1450" r:id="rId36"/>
    <p:sldId id="1451" r:id="rId37"/>
    <p:sldId id="1452" r:id="rId38"/>
    <p:sldId id="1453" r:id="rId39"/>
    <p:sldId id="1454" r:id="rId40"/>
    <p:sldId id="1455" r:id="rId41"/>
    <p:sldId id="1526" r:id="rId42"/>
    <p:sldId id="1499" r:id="rId43"/>
    <p:sldId id="1504" r:id="rId44"/>
    <p:sldId id="1516" r:id="rId45"/>
    <p:sldId id="1558" r:id="rId46"/>
    <p:sldId id="1508" r:id="rId47"/>
    <p:sldId id="1559" r:id="rId48"/>
    <p:sldId id="1505" r:id="rId49"/>
    <p:sldId id="1510" r:id="rId50"/>
    <p:sldId id="1560" r:id="rId51"/>
    <p:sldId id="1525" r:id="rId52"/>
    <p:sldId id="1500" r:id="rId53"/>
    <p:sldId id="1517" r:id="rId54"/>
    <p:sldId id="1501" r:id="rId55"/>
    <p:sldId id="1509" r:id="rId56"/>
    <p:sldId id="1514" r:id="rId57"/>
    <p:sldId id="1513" r:id="rId58"/>
    <p:sldId id="1512" r:id="rId59"/>
    <p:sldId id="1515" r:id="rId60"/>
    <p:sldId id="1498" r:id="rId61"/>
    <p:sldId id="1374" r:id="rId62"/>
    <p:sldId id="1561" r:id="rId63"/>
    <p:sldId id="1562" r:id="rId64"/>
    <p:sldId id="1544" r:id="rId65"/>
    <p:sldId id="1554" r:id="rId66"/>
    <p:sldId id="1555" r:id="rId67"/>
    <p:sldId id="1556" r:id="rId68"/>
    <p:sldId id="1563" r:id="rId69"/>
    <p:sldId id="1568" r:id="rId70"/>
    <p:sldId id="1569" r:id="rId71"/>
    <p:sldId id="1377" r:id="rId72"/>
    <p:sldId id="1383" r:id="rId73"/>
    <p:sldId id="1382" r:id="rId74"/>
    <p:sldId id="1389" r:id="rId75"/>
    <p:sldId id="1577" r:id="rId76"/>
    <p:sldId id="1585" r:id="rId77"/>
    <p:sldId id="1586" r:id="rId78"/>
    <p:sldId id="1587" r:id="rId79"/>
    <p:sldId id="1588" r:id="rId80"/>
    <p:sldId id="1589" r:id="rId81"/>
    <p:sldId id="1590" r:id="rId82"/>
    <p:sldId id="1591" r:id="rId83"/>
    <p:sldId id="1592" r:id="rId84"/>
    <p:sldId id="1593" r:id="rId85"/>
    <p:sldId id="1594" r:id="rId86"/>
    <p:sldId id="1581" r:id="rId87"/>
    <p:sldId id="1579" r:id="rId88"/>
    <p:sldId id="1578" r:id="rId89"/>
    <p:sldId id="1582" r:id="rId90"/>
    <p:sldId id="1580" r:id="rId91"/>
    <p:sldId id="1584" r:id="rId92"/>
    <p:sldId id="1595" r:id="rId93"/>
    <p:sldId id="1596" r:id="rId94"/>
    <p:sldId id="1597" r:id="rId95"/>
    <p:sldId id="1598" r:id="rId96"/>
    <p:sldId id="1599" r:id="rId97"/>
    <p:sldId id="1583" r:id="rId98"/>
    <p:sldId id="1601" r:id="rId99"/>
    <p:sldId id="1576" r:id="rId100"/>
    <p:sldId id="1602" r:id="rId101"/>
    <p:sldId id="1572" r:id="rId102"/>
    <p:sldId id="1564" r:id="rId103"/>
    <p:sldId id="1573" r:id="rId104"/>
    <p:sldId id="1603" r:id="rId105"/>
    <p:sldId id="1570" r:id="rId106"/>
    <p:sldId id="1574" r:id="rId107"/>
    <p:sldId id="1388" r:id="rId108"/>
    <p:sldId id="1607" r:id="rId109"/>
    <p:sldId id="1608" r:id="rId110"/>
    <p:sldId id="1609" r:id="rId111"/>
    <p:sldId id="1610" r:id="rId112"/>
    <p:sldId id="1611" r:id="rId113"/>
    <p:sldId id="1612" r:id="rId114"/>
    <p:sldId id="1613" r:id="rId115"/>
    <p:sldId id="1614" r:id="rId116"/>
    <p:sldId id="1615" r:id="rId117"/>
    <p:sldId id="1616" r:id="rId118"/>
    <p:sldId id="1617" r:id="rId119"/>
    <p:sldId id="1618" r:id="rId120"/>
    <p:sldId id="1619" r:id="rId121"/>
    <p:sldId id="1620" r:id="rId122"/>
    <p:sldId id="1621" r:id="rId123"/>
    <p:sldId id="1622" r:id="rId124"/>
    <p:sldId id="1623" r:id="rId125"/>
    <p:sldId id="1624" r:id="rId126"/>
    <p:sldId id="1625" r:id="rId127"/>
    <p:sldId id="1626" r:id="rId128"/>
    <p:sldId id="1628" r:id="rId129"/>
    <p:sldId id="1629" r:id="rId130"/>
    <p:sldId id="1630" r:id="rId131"/>
    <p:sldId id="1631" r:id="rId132"/>
    <p:sldId id="1632" r:id="rId133"/>
    <p:sldId id="1633" r:id="rId134"/>
    <p:sldId id="1634" r:id="rId135"/>
    <p:sldId id="1635" r:id="rId136"/>
    <p:sldId id="1636" r:id="rId137"/>
    <p:sldId id="1637" r:id="rId138"/>
    <p:sldId id="1638" r:id="rId139"/>
    <p:sldId id="1639" r:id="rId140"/>
    <p:sldId id="1640" r:id="rId141"/>
    <p:sldId id="1641" r:id="rId142"/>
    <p:sldId id="1642" r:id="rId143"/>
    <p:sldId id="1643" r:id="rId144"/>
    <p:sldId id="1644" r:id="rId145"/>
    <p:sldId id="1646" r:id="rId146"/>
    <p:sldId id="1647" r:id="rId147"/>
    <p:sldId id="1648" r:id="rId148"/>
    <p:sldId id="1649" r:id="rId149"/>
    <p:sldId id="1650" r:id="rId150"/>
    <p:sldId id="1378" r:id="rId151"/>
    <p:sldId id="1381" r:id="rId152"/>
    <p:sldId id="1380" r:id="rId153"/>
    <p:sldId id="1387" r:id="rId154"/>
    <p:sldId id="1655" r:id="rId155"/>
    <p:sldId id="1656" r:id="rId156"/>
    <p:sldId id="1657" r:id="rId157"/>
    <p:sldId id="1658" r:id="rId158"/>
    <p:sldId id="1659" r:id="rId159"/>
    <p:sldId id="1660" r:id="rId160"/>
    <p:sldId id="1661" r:id="rId161"/>
    <p:sldId id="1662" r:id="rId162"/>
    <p:sldId id="1663" r:id="rId163"/>
    <p:sldId id="1664" r:id="rId164"/>
    <p:sldId id="1665" r:id="rId165"/>
    <p:sldId id="1666" r:id="rId166"/>
    <p:sldId id="1667" r:id="rId167"/>
    <p:sldId id="1668" r:id="rId168"/>
    <p:sldId id="1669" r:id="rId169"/>
    <p:sldId id="1670" r:id="rId170"/>
    <p:sldId id="1671" r:id="rId171"/>
    <p:sldId id="1672" r:id="rId172"/>
    <p:sldId id="1673" r:id="rId173"/>
    <p:sldId id="1674" r:id="rId174"/>
    <p:sldId id="1675" r:id="rId175"/>
    <p:sldId id="1676" r:id="rId176"/>
    <p:sldId id="1677" r:id="rId177"/>
    <p:sldId id="1678" r:id="rId178"/>
    <p:sldId id="1679" r:id="rId179"/>
    <p:sldId id="1680" r:id="rId180"/>
    <p:sldId id="1600" r:id="rId181"/>
    <p:sldId id="1681" r:id="rId182"/>
    <p:sldId id="1682" r:id="rId183"/>
    <p:sldId id="1683" r:id="rId184"/>
    <p:sldId id="1684" r:id="rId185"/>
    <p:sldId id="1685" r:id="rId186"/>
    <p:sldId id="1686" r:id="rId187"/>
    <p:sldId id="1605" r:id="rId188"/>
    <p:sldId id="1687" r:id="rId189"/>
    <p:sldId id="1606" r:id="rId190"/>
    <p:sldId id="1379" r:id="rId191"/>
    <p:sldId id="1688" r:id="rId192"/>
    <p:sldId id="1689" r:id="rId193"/>
    <p:sldId id="1098" r:id="rId194"/>
    <p:sldId id="1384" r:id="rId195"/>
    <p:sldId id="1691" r:id="rId196"/>
    <p:sldId id="1692" r:id="rId197"/>
    <p:sldId id="1076" r:id="rId198"/>
    <p:sldId id="1102" r:id="rId199"/>
    <p:sldId id="1693" r:id="rId200"/>
    <p:sldId id="1095" r:id="rId201"/>
    <p:sldId id="1089" r:id="rId202"/>
    <p:sldId id="1082" r:id="rId203"/>
    <p:sldId id="1100" r:id="rId204"/>
    <p:sldId id="1083" r:id="rId205"/>
    <p:sldId id="1084" r:id="rId206"/>
    <p:sldId id="1103" r:id="rId207"/>
    <p:sldId id="1690" r:id="rId208"/>
    <p:sldId id="1385" r:id="rId209"/>
    <p:sldId id="1695" r:id="rId210"/>
    <p:sldId id="1696" r:id="rId211"/>
    <p:sldId id="1697" r:id="rId212"/>
    <p:sldId id="1698" r:id="rId213"/>
    <p:sldId id="1699" r:id="rId214"/>
    <p:sldId id="1700" r:id="rId215"/>
    <p:sldId id="1701" r:id="rId216"/>
    <p:sldId id="1702" r:id="rId217"/>
    <p:sldId id="1703" r:id="rId218"/>
    <p:sldId id="1704" r:id="rId219"/>
    <p:sldId id="1705" r:id="rId220"/>
    <p:sldId id="1706" r:id="rId221"/>
    <p:sldId id="1707" r:id="rId222"/>
    <p:sldId id="1708" r:id="rId223"/>
    <p:sldId id="1709" r:id="rId224"/>
    <p:sldId id="1710" r:id="rId225"/>
    <p:sldId id="1711" r:id="rId226"/>
    <p:sldId id="1712" r:id="rId227"/>
    <p:sldId id="1713" r:id="rId228"/>
    <p:sldId id="1714" r:id="rId229"/>
    <p:sldId id="1715" r:id="rId230"/>
    <p:sldId id="1716" r:id="rId231"/>
    <p:sldId id="1717" r:id="rId232"/>
    <p:sldId id="1719" r:id="rId233"/>
    <p:sldId id="1720" r:id="rId234"/>
    <p:sldId id="1721" r:id="rId235"/>
    <p:sldId id="1722" r:id="rId236"/>
    <p:sldId id="1723" r:id="rId237"/>
    <p:sldId id="1724" r:id="rId238"/>
    <p:sldId id="1386" r:id="rId239"/>
    <p:sldId id="1762" r:id="rId240"/>
    <p:sldId id="1726" r:id="rId241"/>
    <p:sldId id="1727" r:id="rId242"/>
    <p:sldId id="1728" r:id="rId243"/>
    <p:sldId id="1729" r:id="rId244"/>
    <p:sldId id="1730" r:id="rId245"/>
    <p:sldId id="1731" r:id="rId246"/>
    <p:sldId id="1732" r:id="rId247"/>
    <p:sldId id="1733" r:id="rId248"/>
    <p:sldId id="1734" r:id="rId249"/>
    <p:sldId id="1735" r:id="rId250"/>
    <p:sldId id="1736" r:id="rId251"/>
    <p:sldId id="1737" r:id="rId252"/>
    <p:sldId id="1738" r:id="rId253"/>
    <p:sldId id="1739" r:id="rId254"/>
    <p:sldId id="1740" r:id="rId255"/>
    <p:sldId id="1741" r:id="rId256"/>
    <p:sldId id="1742" r:id="rId257"/>
    <p:sldId id="1743" r:id="rId258"/>
    <p:sldId id="1744" r:id="rId259"/>
    <p:sldId id="1745" r:id="rId260"/>
    <p:sldId id="1746" r:id="rId261"/>
    <p:sldId id="1747" r:id="rId262"/>
    <p:sldId id="1748" r:id="rId263"/>
    <p:sldId id="1749" r:id="rId264"/>
    <p:sldId id="1750" r:id="rId265"/>
    <p:sldId id="1751" r:id="rId266"/>
    <p:sldId id="1752" r:id="rId267"/>
    <p:sldId id="1753" r:id="rId268"/>
    <p:sldId id="1754" r:id="rId269"/>
    <p:sldId id="1755" r:id="rId270"/>
    <p:sldId id="1756" r:id="rId271"/>
    <p:sldId id="1757" r:id="rId272"/>
    <p:sldId id="1758" r:id="rId273"/>
    <p:sldId id="1759" r:id="rId274"/>
    <p:sldId id="1760" r:id="rId275"/>
    <p:sldId id="1761" r:id="rId27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64155"/>
    <a:srgbClr val="2F2523"/>
    <a:srgbClr val="DFF6FF"/>
    <a:srgbClr val="F8FDFF"/>
    <a:srgbClr val="D39E00"/>
    <a:srgbClr val="F7FCFE"/>
    <a:srgbClr val="EDF7ED"/>
    <a:srgbClr val="2D350F"/>
    <a:srgbClr val="00A57C"/>
    <a:srgbClr val="FFFF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FAC583-05FE-BF4A-B825-7DFCBBE7B6B0}" v="4" dt="2025-09-26T09:39:23.32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autoAdjust="0"/>
    <p:restoredTop sz="79859" autoAdjust="0"/>
  </p:normalViewPr>
  <p:slideViewPr>
    <p:cSldViewPr snapToGrid="0">
      <p:cViewPr varScale="1">
        <p:scale>
          <a:sx n="97" d="100"/>
          <a:sy n="97" d="100"/>
        </p:scale>
        <p:origin x="976" y="192"/>
      </p:cViewPr>
      <p:guideLst>
        <p:guide orient="horz" pos="2137"/>
        <p:guide pos="2880"/>
      </p:guideLst>
    </p:cSldViewPr>
  </p:slideViewPr>
  <p:notesTextViewPr>
    <p:cViewPr>
      <p:scale>
        <a:sx n="130" d="100"/>
        <a:sy n="130" d="100"/>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63" Type="http://schemas.openxmlformats.org/officeDocument/2006/relationships/slide" Target="slides/slide61.xml"/><Relationship Id="rId159" Type="http://schemas.openxmlformats.org/officeDocument/2006/relationships/slide" Target="slides/slide157.xml"/><Relationship Id="rId170" Type="http://schemas.openxmlformats.org/officeDocument/2006/relationships/slide" Target="slides/slide168.xml"/><Relationship Id="rId226" Type="http://schemas.openxmlformats.org/officeDocument/2006/relationships/slide" Target="slides/slide224.xml"/><Relationship Id="rId268" Type="http://schemas.openxmlformats.org/officeDocument/2006/relationships/slide" Target="slides/slide266.xml"/><Relationship Id="rId32" Type="http://schemas.openxmlformats.org/officeDocument/2006/relationships/slide" Target="slides/slide30.xml"/><Relationship Id="rId74" Type="http://schemas.openxmlformats.org/officeDocument/2006/relationships/slide" Target="slides/slide72.xml"/><Relationship Id="rId128" Type="http://schemas.openxmlformats.org/officeDocument/2006/relationships/slide" Target="slides/slide126.xml"/><Relationship Id="rId5" Type="http://schemas.openxmlformats.org/officeDocument/2006/relationships/slide" Target="slides/slide3.xml"/><Relationship Id="rId181" Type="http://schemas.openxmlformats.org/officeDocument/2006/relationships/slide" Target="slides/slide179.xml"/><Relationship Id="rId237" Type="http://schemas.openxmlformats.org/officeDocument/2006/relationships/slide" Target="slides/slide235.xml"/><Relationship Id="rId279" Type="http://schemas.openxmlformats.org/officeDocument/2006/relationships/presProps" Target="presProps.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206" Type="http://schemas.openxmlformats.org/officeDocument/2006/relationships/slide" Target="slides/slide204.xml"/><Relationship Id="rId227" Type="http://schemas.openxmlformats.org/officeDocument/2006/relationships/slide" Target="slides/slide225.xml"/><Relationship Id="rId248" Type="http://schemas.openxmlformats.org/officeDocument/2006/relationships/slide" Target="slides/slide246.xml"/><Relationship Id="rId269" Type="http://schemas.openxmlformats.org/officeDocument/2006/relationships/slide" Target="slides/slide267.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280" Type="http://schemas.openxmlformats.org/officeDocument/2006/relationships/viewProps" Target="viewProps.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217" Type="http://schemas.openxmlformats.org/officeDocument/2006/relationships/slide" Target="slides/slide215.xml"/><Relationship Id="rId6" Type="http://schemas.openxmlformats.org/officeDocument/2006/relationships/slide" Target="slides/slide4.xml"/><Relationship Id="rId238" Type="http://schemas.openxmlformats.org/officeDocument/2006/relationships/slide" Target="slides/slide236.xml"/><Relationship Id="rId259" Type="http://schemas.openxmlformats.org/officeDocument/2006/relationships/slide" Target="slides/slide257.xml"/><Relationship Id="rId23" Type="http://schemas.openxmlformats.org/officeDocument/2006/relationships/slide" Target="slides/slide21.xml"/><Relationship Id="rId119" Type="http://schemas.openxmlformats.org/officeDocument/2006/relationships/slide" Target="slides/slide117.xml"/><Relationship Id="rId270" Type="http://schemas.openxmlformats.org/officeDocument/2006/relationships/slide" Target="slides/slide268.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207" Type="http://schemas.openxmlformats.org/officeDocument/2006/relationships/slide" Target="slides/slide205.xml"/><Relationship Id="rId228" Type="http://schemas.openxmlformats.org/officeDocument/2006/relationships/slide" Target="slides/slide226.xml"/><Relationship Id="rId249" Type="http://schemas.openxmlformats.org/officeDocument/2006/relationships/slide" Target="slides/slide247.xml"/><Relationship Id="rId13" Type="http://schemas.openxmlformats.org/officeDocument/2006/relationships/slide" Target="slides/slide11.xml"/><Relationship Id="rId109" Type="http://schemas.openxmlformats.org/officeDocument/2006/relationships/slide" Target="slides/slide107.xml"/><Relationship Id="rId260" Type="http://schemas.openxmlformats.org/officeDocument/2006/relationships/slide" Target="slides/slide258.xml"/><Relationship Id="rId281" Type="http://schemas.openxmlformats.org/officeDocument/2006/relationships/theme" Target="theme/theme1.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162" Type="http://schemas.openxmlformats.org/officeDocument/2006/relationships/slide" Target="slides/slide160.xml"/><Relationship Id="rId183" Type="http://schemas.openxmlformats.org/officeDocument/2006/relationships/slide" Target="slides/slide181.xml"/><Relationship Id="rId218" Type="http://schemas.openxmlformats.org/officeDocument/2006/relationships/slide" Target="slides/slide216.xml"/><Relationship Id="rId239" Type="http://schemas.openxmlformats.org/officeDocument/2006/relationships/slide" Target="slides/slide237.xml"/><Relationship Id="rId250" Type="http://schemas.openxmlformats.org/officeDocument/2006/relationships/slide" Target="slides/slide248.xml"/><Relationship Id="rId271" Type="http://schemas.openxmlformats.org/officeDocument/2006/relationships/slide" Target="slides/slide269.xml"/><Relationship Id="rId24" Type="http://schemas.openxmlformats.org/officeDocument/2006/relationships/slide" Target="slides/slide22.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31" Type="http://schemas.openxmlformats.org/officeDocument/2006/relationships/slide" Target="slides/slide129.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208" Type="http://schemas.openxmlformats.org/officeDocument/2006/relationships/slide" Target="slides/slide206.xml"/><Relationship Id="rId229" Type="http://schemas.openxmlformats.org/officeDocument/2006/relationships/slide" Target="slides/slide227.xml"/><Relationship Id="rId240" Type="http://schemas.openxmlformats.org/officeDocument/2006/relationships/slide" Target="slides/slide238.xml"/><Relationship Id="rId261" Type="http://schemas.openxmlformats.org/officeDocument/2006/relationships/slide" Target="slides/slide259.xml"/><Relationship Id="rId14" Type="http://schemas.openxmlformats.org/officeDocument/2006/relationships/slide" Target="slides/slide12.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282" Type="http://schemas.openxmlformats.org/officeDocument/2006/relationships/tableStyles" Target="tableStyles.xml"/><Relationship Id="rId8" Type="http://schemas.openxmlformats.org/officeDocument/2006/relationships/slide" Target="slides/slide6.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219" Type="http://schemas.openxmlformats.org/officeDocument/2006/relationships/slide" Target="slides/slide217.xml"/><Relationship Id="rId230" Type="http://schemas.openxmlformats.org/officeDocument/2006/relationships/slide" Target="slides/slide228.xml"/><Relationship Id="rId251" Type="http://schemas.openxmlformats.org/officeDocument/2006/relationships/slide" Target="slides/slide249.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72" Type="http://schemas.openxmlformats.org/officeDocument/2006/relationships/slide" Target="slides/slide270.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95" Type="http://schemas.openxmlformats.org/officeDocument/2006/relationships/slide" Target="slides/slide193.xml"/><Relationship Id="rId209" Type="http://schemas.openxmlformats.org/officeDocument/2006/relationships/slide" Target="slides/slide207.xml"/><Relationship Id="rId220" Type="http://schemas.openxmlformats.org/officeDocument/2006/relationships/slide" Target="slides/slide218.xml"/><Relationship Id="rId241" Type="http://schemas.openxmlformats.org/officeDocument/2006/relationships/slide" Target="slides/slide23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262" Type="http://schemas.openxmlformats.org/officeDocument/2006/relationships/slide" Target="slides/slide260.xml"/><Relationship Id="rId283" Type="http://schemas.microsoft.com/office/2015/10/relationships/revisionInfo" Target="revisionInfo.xml"/><Relationship Id="rId78" Type="http://schemas.openxmlformats.org/officeDocument/2006/relationships/slide" Target="slides/slide76.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64" Type="http://schemas.openxmlformats.org/officeDocument/2006/relationships/slide" Target="slides/slide162.xml"/><Relationship Id="rId185" Type="http://schemas.openxmlformats.org/officeDocument/2006/relationships/slide" Target="slides/slide183.xml"/><Relationship Id="rId9" Type="http://schemas.openxmlformats.org/officeDocument/2006/relationships/slide" Target="slides/slide7.xml"/><Relationship Id="rId210" Type="http://schemas.openxmlformats.org/officeDocument/2006/relationships/slide" Target="slides/slide208.xml"/><Relationship Id="rId26" Type="http://schemas.openxmlformats.org/officeDocument/2006/relationships/slide" Target="slides/slide24.xml"/><Relationship Id="rId231" Type="http://schemas.openxmlformats.org/officeDocument/2006/relationships/slide" Target="slides/slide229.xml"/><Relationship Id="rId252" Type="http://schemas.openxmlformats.org/officeDocument/2006/relationships/slide" Target="slides/slide250.xml"/><Relationship Id="rId273" Type="http://schemas.openxmlformats.org/officeDocument/2006/relationships/slide" Target="slides/slide271.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221" Type="http://schemas.openxmlformats.org/officeDocument/2006/relationships/slide" Target="slides/slide219.xml"/><Relationship Id="rId242" Type="http://schemas.openxmlformats.org/officeDocument/2006/relationships/slide" Target="slides/slide240.xml"/><Relationship Id="rId263" Type="http://schemas.openxmlformats.org/officeDocument/2006/relationships/slide" Target="slides/slide261.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11" Type="http://schemas.openxmlformats.org/officeDocument/2006/relationships/slide" Target="slides/slide209.xml"/><Relationship Id="rId232" Type="http://schemas.openxmlformats.org/officeDocument/2006/relationships/slide" Target="slides/slide230.xml"/><Relationship Id="rId253" Type="http://schemas.openxmlformats.org/officeDocument/2006/relationships/slide" Target="slides/slide251.xml"/><Relationship Id="rId274" Type="http://schemas.openxmlformats.org/officeDocument/2006/relationships/slide" Target="slides/slide272.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 Id="rId201" Type="http://schemas.openxmlformats.org/officeDocument/2006/relationships/slide" Target="slides/slide199.xml"/><Relationship Id="rId222" Type="http://schemas.openxmlformats.org/officeDocument/2006/relationships/slide" Target="slides/slide220.xml"/><Relationship Id="rId243" Type="http://schemas.openxmlformats.org/officeDocument/2006/relationships/slide" Target="slides/slide241.xml"/><Relationship Id="rId264" Type="http://schemas.openxmlformats.org/officeDocument/2006/relationships/slide" Target="slides/slide262.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12" Type="http://schemas.openxmlformats.org/officeDocument/2006/relationships/slide" Target="slides/slide210.xml"/><Relationship Id="rId233" Type="http://schemas.openxmlformats.org/officeDocument/2006/relationships/slide" Target="slides/slide231.xml"/><Relationship Id="rId254" Type="http://schemas.openxmlformats.org/officeDocument/2006/relationships/slide" Target="slides/slide252.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275" Type="http://schemas.openxmlformats.org/officeDocument/2006/relationships/slide" Target="slides/slide273.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202" Type="http://schemas.openxmlformats.org/officeDocument/2006/relationships/slide" Target="slides/slide200.xml"/><Relationship Id="rId223" Type="http://schemas.openxmlformats.org/officeDocument/2006/relationships/slide" Target="slides/slide221.xml"/><Relationship Id="rId244" Type="http://schemas.openxmlformats.org/officeDocument/2006/relationships/slide" Target="slides/slide242.xml"/><Relationship Id="rId18" Type="http://schemas.openxmlformats.org/officeDocument/2006/relationships/slide" Target="slides/slide16.xml"/><Relationship Id="rId39" Type="http://schemas.openxmlformats.org/officeDocument/2006/relationships/slide" Target="slides/slide37.xml"/><Relationship Id="rId265" Type="http://schemas.openxmlformats.org/officeDocument/2006/relationships/slide" Target="slides/slide263.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1" Type="http://schemas.openxmlformats.org/officeDocument/2006/relationships/slide" Target="slides/slide69.xml"/><Relationship Id="rId92" Type="http://schemas.openxmlformats.org/officeDocument/2006/relationships/slide" Target="slides/slide90.xml"/><Relationship Id="rId213" Type="http://schemas.openxmlformats.org/officeDocument/2006/relationships/slide" Target="slides/slide211.xml"/><Relationship Id="rId234" Type="http://schemas.openxmlformats.org/officeDocument/2006/relationships/slide" Target="slides/slide232.xml"/><Relationship Id="rId2" Type="http://schemas.openxmlformats.org/officeDocument/2006/relationships/slideMaster" Target="slideMasters/slideMaster2.xml"/><Relationship Id="rId29" Type="http://schemas.openxmlformats.org/officeDocument/2006/relationships/slide" Target="slides/slide27.xml"/><Relationship Id="rId255" Type="http://schemas.openxmlformats.org/officeDocument/2006/relationships/slide" Target="slides/slide253.xml"/><Relationship Id="rId276" Type="http://schemas.openxmlformats.org/officeDocument/2006/relationships/slide" Target="slides/slide274.xml"/><Relationship Id="rId40" Type="http://schemas.openxmlformats.org/officeDocument/2006/relationships/slide" Target="slides/slide38.xml"/><Relationship Id="rId115" Type="http://schemas.openxmlformats.org/officeDocument/2006/relationships/slide" Target="slides/slide113.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99" Type="http://schemas.openxmlformats.org/officeDocument/2006/relationships/slide" Target="slides/slide197.xml"/><Relationship Id="rId203" Type="http://schemas.openxmlformats.org/officeDocument/2006/relationships/slide" Target="slides/slide201.xml"/><Relationship Id="rId19" Type="http://schemas.openxmlformats.org/officeDocument/2006/relationships/slide" Target="slides/slide17.xml"/><Relationship Id="rId224" Type="http://schemas.openxmlformats.org/officeDocument/2006/relationships/slide" Target="slides/slide222.xml"/><Relationship Id="rId245" Type="http://schemas.openxmlformats.org/officeDocument/2006/relationships/slide" Target="slides/slide243.xml"/><Relationship Id="rId266" Type="http://schemas.openxmlformats.org/officeDocument/2006/relationships/slide" Target="slides/slide264.xml"/><Relationship Id="rId30" Type="http://schemas.openxmlformats.org/officeDocument/2006/relationships/slide" Target="slides/slide2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189" Type="http://schemas.openxmlformats.org/officeDocument/2006/relationships/slide" Target="slides/slide187.xml"/><Relationship Id="rId3" Type="http://schemas.openxmlformats.org/officeDocument/2006/relationships/slide" Target="slides/slide1.xml"/><Relationship Id="rId214" Type="http://schemas.openxmlformats.org/officeDocument/2006/relationships/slide" Target="slides/slide212.xml"/><Relationship Id="rId235" Type="http://schemas.openxmlformats.org/officeDocument/2006/relationships/slide" Target="slides/slide233.xml"/><Relationship Id="rId256" Type="http://schemas.openxmlformats.org/officeDocument/2006/relationships/slide" Target="slides/slide254.xml"/><Relationship Id="rId277" Type="http://schemas.openxmlformats.org/officeDocument/2006/relationships/notesMaster" Target="notesMasters/notesMaster1.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179" Type="http://schemas.openxmlformats.org/officeDocument/2006/relationships/slide" Target="slides/slide177.xml"/><Relationship Id="rId190" Type="http://schemas.openxmlformats.org/officeDocument/2006/relationships/slide" Target="slides/slide188.xml"/><Relationship Id="rId204" Type="http://schemas.openxmlformats.org/officeDocument/2006/relationships/slide" Target="slides/slide202.xml"/><Relationship Id="rId225" Type="http://schemas.openxmlformats.org/officeDocument/2006/relationships/slide" Target="slides/slide223.xml"/><Relationship Id="rId246" Type="http://schemas.openxmlformats.org/officeDocument/2006/relationships/slide" Target="slides/slide244.xml"/><Relationship Id="rId267" Type="http://schemas.openxmlformats.org/officeDocument/2006/relationships/slide" Target="slides/slide26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94" Type="http://schemas.openxmlformats.org/officeDocument/2006/relationships/slide" Target="slides/slide92.xml"/><Relationship Id="rId148" Type="http://schemas.openxmlformats.org/officeDocument/2006/relationships/slide" Target="slides/slide146.xml"/><Relationship Id="rId169" Type="http://schemas.openxmlformats.org/officeDocument/2006/relationships/slide" Target="slides/slide167.xml"/><Relationship Id="rId4" Type="http://schemas.openxmlformats.org/officeDocument/2006/relationships/slide" Target="slides/slide2.xml"/><Relationship Id="rId180" Type="http://schemas.openxmlformats.org/officeDocument/2006/relationships/slide" Target="slides/slide178.xml"/><Relationship Id="rId215" Type="http://schemas.openxmlformats.org/officeDocument/2006/relationships/slide" Target="slides/slide213.xml"/><Relationship Id="rId236" Type="http://schemas.openxmlformats.org/officeDocument/2006/relationships/slide" Target="slides/slide234.xml"/><Relationship Id="rId257" Type="http://schemas.openxmlformats.org/officeDocument/2006/relationships/slide" Target="slides/slide255.xml"/><Relationship Id="rId278" Type="http://schemas.openxmlformats.org/officeDocument/2006/relationships/handoutMaster" Target="handoutMasters/handoutMaster1.xml"/><Relationship Id="rId42" Type="http://schemas.openxmlformats.org/officeDocument/2006/relationships/slide" Target="slides/slide40.xml"/><Relationship Id="rId84" Type="http://schemas.openxmlformats.org/officeDocument/2006/relationships/slide" Target="slides/slide82.xml"/><Relationship Id="rId138" Type="http://schemas.openxmlformats.org/officeDocument/2006/relationships/slide" Target="slides/slide136.xml"/><Relationship Id="rId191" Type="http://schemas.openxmlformats.org/officeDocument/2006/relationships/slide" Target="slides/slide189.xml"/><Relationship Id="rId205" Type="http://schemas.openxmlformats.org/officeDocument/2006/relationships/slide" Target="slides/slide203.xml"/><Relationship Id="rId247" Type="http://schemas.openxmlformats.org/officeDocument/2006/relationships/slide" Target="slides/slide245.xml"/><Relationship Id="rId107" Type="http://schemas.openxmlformats.org/officeDocument/2006/relationships/slide" Target="slides/slide105.xml"/><Relationship Id="rId11" Type="http://schemas.openxmlformats.org/officeDocument/2006/relationships/slide" Target="slides/slide9.xml"/><Relationship Id="rId53" Type="http://schemas.openxmlformats.org/officeDocument/2006/relationships/slide" Target="slides/slide51.xml"/><Relationship Id="rId149" Type="http://schemas.openxmlformats.org/officeDocument/2006/relationships/slide" Target="slides/slide147.xml"/><Relationship Id="rId95" Type="http://schemas.openxmlformats.org/officeDocument/2006/relationships/slide" Target="slides/slide93.xml"/><Relationship Id="rId160" Type="http://schemas.openxmlformats.org/officeDocument/2006/relationships/slide" Target="slides/slide158.xml"/><Relationship Id="rId216" Type="http://schemas.openxmlformats.org/officeDocument/2006/relationships/slide" Target="slides/slide214.xml"/><Relationship Id="rId258" Type="http://schemas.openxmlformats.org/officeDocument/2006/relationships/slide" Target="slides/slide25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43493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382885-CB8F-6043-87D0-F90CE52B0672}" type="datetimeFigureOut">
              <a:rPr kumimoji="1" lang="ja-JP" altLang="en-US" smtClean="0"/>
              <a:t>2025/9/26</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0FD14A-E872-994C-B31E-6E17119D20B2}" type="slidenum">
              <a:rPr kumimoji="1" lang="ja-JP" altLang="en-US" smtClean="0"/>
              <a:t>‹#›</a:t>
            </a:fld>
            <a:endParaRPr kumimoji="1" lang="ja-JP" altLang="en-US"/>
          </a:p>
        </p:txBody>
      </p:sp>
    </p:spTree>
    <p:extLst>
      <p:ext uri="{BB962C8B-B14F-4D97-AF65-F5344CB8AC3E}">
        <p14:creationId xmlns:p14="http://schemas.microsoft.com/office/powerpoint/2010/main" val="38130009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GB" altLang="en-US" dirty="0"/>
          </a:p>
        </p:txBody>
      </p:sp>
      <p:sp>
        <p:nvSpPr>
          <p:cNvPr id="4" name="スライド番号プレースホルダー 3"/>
          <p:cNvSpPr>
            <a:spLocks noGrp="1"/>
          </p:cNvSpPr>
          <p:nvPr>
            <p:ph type="sldNum" sz="quarter" idx="5"/>
          </p:nvPr>
        </p:nvSpPr>
        <p:spPr/>
        <p:txBody>
          <a:bodyPr/>
          <a:lstStyle/>
          <a:p>
            <a:fld id="{000FD14A-E872-994C-B31E-6E17119D20B2}" type="slidenum">
              <a:rPr kumimoji="1" lang="ja-JP" altLang="en-US" smtClean="0"/>
              <a:t>7</a:t>
            </a:fld>
            <a:endParaRPr kumimoji="1" lang="ja-JP" altLang="en-US"/>
          </a:p>
        </p:txBody>
      </p:sp>
    </p:spTree>
    <p:extLst>
      <p:ext uri="{BB962C8B-B14F-4D97-AF65-F5344CB8AC3E}">
        <p14:creationId xmlns:p14="http://schemas.microsoft.com/office/powerpoint/2010/main" val="3827685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GB" altLang="en-US" dirty="0"/>
          </a:p>
        </p:txBody>
      </p:sp>
      <p:sp>
        <p:nvSpPr>
          <p:cNvPr id="4" name="スライド番号プレースホルダー 3"/>
          <p:cNvSpPr>
            <a:spLocks noGrp="1"/>
          </p:cNvSpPr>
          <p:nvPr>
            <p:ph type="sldNum" sz="quarter" idx="5"/>
          </p:nvPr>
        </p:nvSpPr>
        <p:spPr/>
        <p:txBody>
          <a:bodyPr/>
          <a:lstStyle/>
          <a:p>
            <a:fld id="{000FD14A-E872-994C-B31E-6E17119D20B2}" type="slidenum">
              <a:rPr kumimoji="1" lang="ja-JP" altLang="en-US" smtClean="0"/>
              <a:t>10</a:t>
            </a:fld>
            <a:endParaRPr kumimoji="1" lang="ja-JP" altLang="en-US"/>
          </a:p>
        </p:txBody>
      </p:sp>
    </p:spTree>
    <p:extLst>
      <p:ext uri="{BB962C8B-B14F-4D97-AF65-F5344CB8AC3E}">
        <p14:creationId xmlns:p14="http://schemas.microsoft.com/office/powerpoint/2010/main" val="3887488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GB" altLang="en-US" dirty="0"/>
          </a:p>
        </p:txBody>
      </p:sp>
      <p:sp>
        <p:nvSpPr>
          <p:cNvPr id="4" name="スライド番号プレースホルダー 3"/>
          <p:cNvSpPr>
            <a:spLocks noGrp="1"/>
          </p:cNvSpPr>
          <p:nvPr>
            <p:ph type="sldNum" sz="quarter" idx="5"/>
          </p:nvPr>
        </p:nvSpPr>
        <p:spPr/>
        <p:txBody>
          <a:bodyPr/>
          <a:lstStyle/>
          <a:p>
            <a:fld id="{000FD14A-E872-994C-B31E-6E17119D20B2}" type="slidenum">
              <a:rPr kumimoji="1" lang="ja-JP" altLang="en-US" smtClean="0"/>
              <a:t>20</a:t>
            </a:fld>
            <a:endParaRPr kumimoji="1" lang="ja-JP" altLang="en-US"/>
          </a:p>
        </p:txBody>
      </p:sp>
    </p:spTree>
    <p:extLst>
      <p:ext uri="{BB962C8B-B14F-4D97-AF65-F5344CB8AC3E}">
        <p14:creationId xmlns:p14="http://schemas.microsoft.com/office/powerpoint/2010/main" val="22878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GB" altLang="en-US" dirty="0"/>
              <a:t>比喩）大学の先生と企業</a:t>
            </a:r>
            <a:endParaRPr kumimoji="1" lang="en-US" altLang="ja-GB" dirty="0"/>
          </a:p>
          <a:p>
            <a:r>
              <a:rPr kumimoji="1" lang="ja-GB" altLang="en-US" dirty="0"/>
              <a:t>アルゴリズムの専門家とものづくり企業のエンジニア</a:t>
            </a:r>
            <a:endParaRPr kumimoji="1" lang="en-US" altLang="ja-GB" dirty="0"/>
          </a:p>
          <a:p>
            <a:endParaRPr kumimoji="1" lang="en-US" altLang="ja-GB" dirty="0"/>
          </a:p>
          <a:p>
            <a:r>
              <a:rPr kumimoji="1" lang="ja-GB" altLang="en-US" dirty="0"/>
              <a:t>比喩）仕事を一人でした方が早いか，社員が分業して作った方がいいか</a:t>
            </a:r>
            <a:endParaRPr kumimoji="1" lang="en-US" altLang="ja-GB" dirty="0"/>
          </a:p>
          <a:p>
            <a:r>
              <a:rPr kumimoji="1" lang="ja-GB" altLang="en-US" dirty="0"/>
              <a:t>一人ですると効率的に動けるがその人にしか分からないものができる</a:t>
            </a:r>
            <a:endParaRPr kumimoji="1" lang="en-US" altLang="ja-GB" dirty="0"/>
          </a:p>
          <a:p>
            <a:r>
              <a:rPr kumimoji="1" lang="ja-GB" altLang="en-US" dirty="0"/>
              <a:t>みんなで作ると</a:t>
            </a:r>
            <a:endParaRPr kumimoji="1" lang="en-US" altLang="ja-GB" dirty="0"/>
          </a:p>
          <a:p>
            <a:endParaRPr kumimoji="1" lang="en-US" altLang="ja-GB" dirty="0"/>
          </a:p>
          <a:p>
            <a:endParaRPr kumimoji="1" lang="en-US" altLang="ja-GB" dirty="0"/>
          </a:p>
          <a:p>
            <a:r>
              <a:rPr kumimoji="1" lang="ja-GB" altLang="en-US" dirty="0"/>
              <a:t>動的計画法：概念的に難しいけど爆速（</a:t>
            </a:r>
            <a:r>
              <a:rPr kumimoji="1" lang="en-US" altLang="ja-GB" dirty="0"/>
              <a:t>? </a:t>
            </a:r>
            <a:r>
              <a:rPr kumimoji="1" lang="ja-GB" altLang="en-US" dirty="0"/>
              <a:t>ナップサック問題は早い，問題による？）</a:t>
            </a:r>
            <a:endParaRPr kumimoji="1" lang="en-US" altLang="ja-GB" dirty="0"/>
          </a:p>
          <a:p>
            <a:r>
              <a:rPr kumimoji="1" lang="ja-GB" altLang="en-US" dirty="0"/>
              <a:t>分割統治法：概念的に簡単だけど遅い</a:t>
            </a:r>
          </a:p>
        </p:txBody>
      </p:sp>
      <p:sp>
        <p:nvSpPr>
          <p:cNvPr id="4" name="スライド番号プレースホルダー 3"/>
          <p:cNvSpPr>
            <a:spLocks noGrp="1"/>
          </p:cNvSpPr>
          <p:nvPr>
            <p:ph type="sldNum" sz="quarter" idx="5"/>
          </p:nvPr>
        </p:nvSpPr>
        <p:spPr/>
        <p:txBody>
          <a:bodyPr/>
          <a:lstStyle/>
          <a:p>
            <a:fld id="{000FD14A-E872-994C-B31E-6E17119D20B2}" type="slidenum">
              <a:rPr kumimoji="1" lang="ja-JP" altLang="en-US" smtClean="0"/>
              <a:t>32</a:t>
            </a:fld>
            <a:endParaRPr kumimoji="1" lang="ja-JP" altLang="en-US"/>
          </a:p>
        </p:txBody>
      </p:sp>
    </p:spTree>
    <p:extLst>
      <p:ext uri="{BB962C8B-B14F-4D97-AF65-F5344CB8AC3E}">
        <p14:creationId xmlns:p14="http://schemas.microsoft.com/office/powerpoint/2010/main" val="34585008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GB" altLang="en-US" dirty="0"/>
          </a:p>
        </p:txBody>
      </p:sp>
      <p:sp>
        <p:nvSpPr>
          <p:cNvPr id="4" name="スライド番号プレースホルダー 3"/>
          <p:cNvSpPr>
            <a:spLocks noGrp="1"/>
          </p:cNvSpPr>
          <p:nvPr>
            <p:ph type="sldNum" sz="quarter" idx="5"/>
          </p:nvPr>
        </p:nvSpPr>
        <p:spPr/>
        <p:txBody>
          <a:bodyPr/>
          <a:lstStyle/>
          <a:p>
            <a:fld id="{000FD14A-E872-994C-B31E-6E17119D20B2}" type="slidenum">
              <a:rPr kumimoji="1" lang="ja-JP" altLang="en-US" smtClean="0"/>
              <a:t>38</a:t>
            </a:fld>
            <a:endParaRPr kumimoji="1" lang="ja-JP" altLang="en-US"/>
          </a:p>
        </p:txBody>
      </p:sp>
    </p:spTree>
    <p:extLst>
      <p:ext uri="{BB962C8B-B14F-4D97-AF65-F5344CB8AC3E}">
        <p14:creationId xmlns:p14="http://schemas.microsoft.com/office/powerpoint/2010/main" val="1626491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GB" altLang="en-US" dirty="0"/>
          </a:p>
        </p:txBody>
      </p:sp>
      <p:sp>
        <p:nvSpPr>
          <p:cNvPr id="4" name="スライド番号プレースホルダー 3"/>
          <p:cNvSpPr>
            <a:spLocks noGrp="1"/>
          </p:cNvSpPr>
          <p:nvPr>
            <p:ph type="sldNum" sz="quarter" idx="5"/>
          </p:nvPr>
        </p:nvSpPr>
        <p:spPr/>
        <p:txBody>
          <a:bodyPr/>
          <a:lstStyle/>
          <a:p>
            <a:fld id="{000FD14A-E872-994C-B31E-6E17119D20B2}" type="slidenum">
              <a:rPr kumimoji="1" lang="ja-JP" altLang="en-US" smtClean="0"/>
              <a:t>46</a:t>
            </a:fld>
            <a:endParaRPr kumimoji="1" lang="ja-JP" altLang="en-US"/>
          </a:p>
        </p:txBody>
      </p:sp>
    </p:spTree>
    <p:extLst>
      <p:ext uri="{BB962C8B-B14F-4D97-AF65-F5344CB8AC3E}">
        <p14:creationId xmlns:p14="http://schemas.microsoft.com/office/powerpoint/2010/main" val="8829007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GB" altLang="en-US"/>
          </a:p>
        </p:txBody>
      </p:sp>
      <p:sp>
        <p:nvSpPr>
          <p:cNvPr id="4" name="スライド番号プレースホルダー 3"/>
          <p:cNvSpPr>
            <a:spLocks noGrp="1"/>
          </p:cNvSpPr>
          <p:nvPr>
            <p:ph type="sldNum" sz="quarter" idx="5"/>
          </p:nvPr>
        </p:nvSpPr>
        <p:spPr/>
        <p:txBody>
          <a:bodyPr/>
          <a:lstStyle/>
          <a:p>
            <a:fld id="{000FD14A-E872-994C-B31E-6E17119D20B2}" type="slidenum">
              <a:rPr kumimoji="1" lang="ja-JP" altLang="en-US" smtClean="0"/>
              <a:t>81</a:t>
            </a:fld>
            <a:endParaRPr kumimoji="1" lang="ja-JP" altLang="en-US"/>
          </a:p>
        </p:txBody>
      </p:sp>
    </p:spTree>
    <p:extLst>
      <p:ext uri="{BB962C8B-B14F-4D97-AF65-F5344CB8AC3E}">
        <p14:creationId xmlns:p14="http://schemas.microsoft.com/office/powerpoint/2010/main" val="23138784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GB" altLang="en-US" dirty="0"/>
          </a:p>
        </p:txBody>
      </p:sp>
      <p:sp>
        <p:nvSpPr>
          <p:cNvPr id="4" name="スライド番号プレースホルダー 3"/>
          <p:cNvSpPr>
            <a:spLocks noGrp="1"/>
          </p:cNvSpPr>
          <p:nvPr>
            <p:ph type="sldNum" sz="quarter" idx="5"/>
          </p:nvPr>
        </p:nvSpPr>
        <p:spPr/>
        <p:txBody>
          <a:bodyPr/>
          <a:lstStyle/>
          <a:p>
            <a:fld id="{000FD14A-E872-994C-B31E-6E17119D20B2}" type="slidenum">
              <a:rPr kumimoji="1" lang="ja-JP" altLang="en-US" smtClean="0"/>
              <a:t>100</a:t>
            </a:fld>
            <a:endParaRPr kumimoji="1" lang="ja-JP" altLang="en-US"/>
          </a:p>
        </p:txBody>
      </p:sp>
    </p:spTree>
    <p:extLst>
      <p:ext uri="{BB962C8B-B14F-4D97-AF65-F5344CB8AC3E}">
        <p14:creationId xmlns:p14="http://schemas.microsoft.com/office/powerpoint/2010/main" val="4064744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GB" altLang="en-US" dirty="0"/>
          </a:p>
        </p:txBody>
      </p:sp>
      <p:sp>
        <p:nvSpPr>
          <p:cNvPr id="4" name="スライド番号プレースホルダー 3"/>
          <p:cNvSpPr>
            <a:spLocks noGrp="1"/>
          </p:cNvSpPr>
          <p:nvPr>
            <p:ph type="sldNum" sz="quarter" idx="5"/>
          </p:nvPr>
        </p:nvSpPr>
        <p:spPr/>
        <p:txBody>
          <a:bodyPr/>
          <a:lstStyle/>
          <a:p>
            <a:fld id="{000FD14A-E872-994C-B31E-6E17119D20B2}" type="slidenum">
              <a:rPr kumimoji="1" lang="ja-JP" altLang="en-US" smtClean="0"/>
              <a:t>117</a:t>
            </a:fld>
            <a:endParaRPr kumimoji="1" lang="ja-JP" altLang="en-US"/>
          </a:p>
        </p:txBody>
      </p:sp>
    </p:spTree>
    <p:extLst>
      <p:ext uri="{BB962C8B-B14F-4D97-AF65-F5344CB8AC3E}">
        <p14:creationId xmlns:p14="http://schemas.microsoft.com/office/powerpoint/2010/main" val="32699690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7B518-EE52-8F08-5E2E-9079F033C94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17A6E48-48D9-B77F-4C63-AC59FBD9970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3270C4-677B-B2DD-2D40-05528A315459}"/>
              </a:ext>
            </a:extLst>
          </p:cNvPr>
          <p:cNvSpPr>
            <a:spLocks noGrp="1"/>
          </p:cNvSpPr>
          <p:nvPr>
            <p:ph type="body" idx="1"/>
          </p:nvPr>
        </p:nvSpPr>
        <p:spPr/>
        <p:txBody>
          <a:bodyPr/>
          <a:lstStyle/>
          <a:p>
            <a:endParaRPr kumimoji="1" lang="ja-GB" altLang="en-US" dirty="0"/>
          </a:p>
        </p:txBody>
      </p:sp>
      <p:sp>
        <p:nvSpPr>
          <p:cNvPr id="4" name="スライド番号プレースホルダー 3">
            <a:extLst>
              <a:ext uri="{FF2B5EF4-FFF2-40B4-BE49-F238E27FC236}">
                <a16:creationId xmlns:a16="http://schemas.microsoft.com/office/drawing/2014/main" id="{B17B46FA-BD31-4B62-8442-9DE95863DBB0}"/>
              </a:ext>
            </a:extLst>
          </p:cNvPr>
          <p:cNvSpPr>
            <a:spLocks noGrp="1"/>
          </p:cNvSpPr>
          <p:nvPr>
            <p:ph type="sldNum" sz="quarter" idx="5"/>
          </p:nvPr>
        </p:nvSpPr>
        <p:spPr/>
        <p:txBody>
          <a:bodyPr/>
          <a:lstStyle/>
          <a:p>
            <a:fld id="{000FD14A-E872-994C-B31E-6E17119D20B2}" type="slidenum">
              <a:rPr kumimoji="1" lang="ja-JP" altLang="en-US" smtClean="0"/>
              <a:t>118</a:t>
            </a:fld>
            <a:endParaRPr kumimoji="1" lang="ja-JP" altLang="en-US"/>
          </a:p>
        </p:txBody>
      </p:sp>
    </p:spTree>
    <p:extLst>
      <p:ext uri="{BB962C8B-B14F-4D97-AF65-F5344CB8AC3E}">
        <p14:creationId xmlns:p14="http://schemas.microsoft.com/office/powerpoint/2010/main" val="27317660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GB" altLang="en-US" dirty="0"/>
          </a:p>
        </p:txBody>
      </p:sp>
      <p:sp>
        <p:nvSpPr>
          <p:cNvPr id="4" name="スライド番号プレースホルダー 3"/>
          <p:cNvSpPr>
            <a:spLocks noGrp="1"/>
          </p:cNvSpPr>
          <p:nvPr>
            <p:ph type="sldNum" sz="quarter" idx="5"/>
          </p:nvPr>
        </p:nvSpPr>
        <p:spPr/>
        <p:txBody>
          <a:bodyPr/>
          <a:lstStyle/>
          <a:p>
            <a:fld id="{000FD14A-E872-994C-B31E-6E17119D20B2}" type="slidenum">
              <a:rPr kumimoji="1" lang="ja-JP" altLang="en-US" smtClean="0"/>
              <a:t>167</a:t>
            </a:fld>
            <a:endParaRPr kumimoji="1" lang="ja-JP" altLang="en-US"/>
          </a:p>
        </p:txBody>
      </p:sp>
    </p:spTree>
    <p:extLst>
      <p:ext uri="{BB962C8B-B14F-4D97-AF65-F5344CB8AC3E}">
        <p14:creationId xmlns:p14="http://schemas.microsoft.com/office/powerpoint/2010/main" val="2955769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13153-34A6-32AD-013B-899ABD31C53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6D8504D-8AF4-D4F5-D30B-C4DF4205A8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C92817A-89FA-6928-B006-77F2F9F44B59}"/>
              </a:ext>
            </a:extLst>
          </p:cNvPr>
          <p:cNvSpPr>
            <a:spLocks noGrp="1"/>
          </p:cNvSpPr>
          <p:nvPr>
            <p:ph type="body" idx="1"/>
          </p:nvPr>
        </p:nvSpPr>
        <p:spPr/>
        <p:txBody>
          <a:bodyPr/>
          <a:lstStyle/>
          <a:p>
            <a:endParaRPr kumimoji="1" lang="ja-GB" altLang="en-US" dirty="0"/>
          </a:p>
        </p:txBody>
      </p:sp>
      <p:sp>
        <p:nvSpPr>
          <p:cNvPr id="4" name="スライド番号プレースホルダー 3">
            <a:extLst>
              <a:ext uri="{FF2B5EF4-FFF2-40B4-BE49-F238E27FC236}">
                <a16:creationId xmlns:a16="http://schemas.microsoft.com/office/drawing/2014/main" id="{0D5A688C-C41E-B7C1-2440-51D76FACF948}"/>
              </a:ext>
            </a:extLst>
          </p:cNvPr>
          <p:cNvSpPr>
            <a:spLocks noGrp="1"/>
          </p:cNvSpPr>
          <p:nvPr>
            <p:ph type="sldNum" sz="quarter" idx="5"/>
          </p:nvPr>
        </p:nvSpPr>
        <p:spPr/>
        <p:txBody>
          <a:bodyPr/>
          <a:lstStyle/>
          <a:p>
            <a:fld id="{000FD14A-E872-994C-B31E-6E17119D20B2}" type="slidenum">
              <a:rPr kumimoji="1" lang="ja-JP" altLang="en-US" smtClean="0"/>
              <a:t>185</a:t>
            </a:fld>
            <a:endParaRPr kumimoji="1" lang="ja-JP" altLang="en-US"/>
          </a:p>
        </p:txBody>
      </p:sp>
    </p:spTree>
    <p:extLst>
      <p:ext uri="{BB962C8B-B14F-4D97-AF65-F5344CB8AC3E}">
        <p14:creationId xmlns:p14="http://schemas.microsoft.com/office/powerpoint/2010/main" val="42889113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GB" altLang="en-US" dirty="0"/>
          </a:p>
        </p:txBody>
      </p:sp>
      <p:sp>
        <p:nvSpPr>
          <p:cNvPr id="4" name="スライド番号プレースホルダー 3"/>
          <p:cNvSpPr>
            <a:spLocks noGrp="1"/>
          </p:cNvSpPr>
          <p:nvPr>
            <p:ph type="sldNum" sz="quarter" idx="5"/>
          </p:nvPr>
        </p:nvSpPr>
        <p:spPr/>
        <p:txBody>
          <a:bodyPr/>
          <a:lstStyle/>
          <a:p>
            <a:fld id="{000FD14A-E872-994C-B31E-6E17119D20B2}" type="slidenum">
              <a:rPr kumimoji="1" lang="ja-JP" altLang="en-US" smtClean="0"/>
              <a:t>243</a:t>
            </a:fld>
            <a:endParaRPr kumimoji="1" lang="ja-JP" altLang="en-US"/>
          </a:p>
        </p:txBody>
      </p:sp>
    </p:spTree>
    <p:extLst>
      <p:ext uri="{BB962C8B-B14F-4D97-AF65-F5344CB8AC3E}">
        <p14:creationId xmlns:p14="http://schemas.microsoft.com/office/powerpoint/2010/main" val="4064744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041400"/>
            <a:ext cx="8458200" cy="2387600"/>
          </a:xfrm>
        </p:spPr>
        <p:txBody>
          <a:bodyPr anchor="b"/>
          <a:lstStyle>
            <a:lvl1pPr algn="ctr">
              <a:defRPr sz="6000"/>
            </a:lvl1pPr>
          </a:lstStyle>
          <a:p>
            <a:r>
              <a:rPr lang="ja-JP" altLang="en-US"/>
              <a:t>マスター タイトルの書式設定</a:t>
            </a:r>
            <a:endParaRPr lang="en-US"/>
          </a:p>
        </p:txBody>
      </p:sp>
      <p:sp>
        <p:nvSpPr>
          <p:cNvPr id="3" name="Subtitle 2"/>
          <p:cNvSpPr>
            <a:spLocks noGrp="1"/>
          </p:cNvSpPr>
          <p:nvPr>
            <p:ph type="subTitle" idx="1"/>
          </p:nvPr>
        </p:nvSpPr>
        <p:spPr>
          <a:xfrm>
            <a:off x="1143000" y="4256881"/>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Tree>
    <p:extLst>
      <p:ext uri="{BB962C8B-B14F-4D97-AF65-F5344CB8AC3E}">
        <p14:creationId xmlns:p14="http://schemas.microsoft.com/office/powerpoint/2010/main" val="2251962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EB9E8174-6630-E243-91AC-443BD34E9CE1}"/>
              </a:ext>
            </a:extLst>
          </p:cNvPr>
          <p:cNvSpPr/>
          <p:nvPr userDrawn="1"/>
        </p:nvSpPr>
        <p:spPr>
          <a:xfrm>
            <a:off x="0" y="0"/>
            <a:ext cx="9144000" cy="65922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1"/>
              </a:solidFill>
            </a:endParaRPr>
          </a:p>
        </p:txBody>
      </p:sp>
      <p:sp>
        <p:nvSpPr>
          <p:cNvPr id="2" name="Title 1"/>
          <p:cNvSpPr>
            <a:spLocks noGrp="1"/>
          </p:cNvSpPr>
          <p:nvPr>
            <p:ph type="title"/>
          </p:nvPr>
        </p:nvSpPr>
        <p:spPr>
          <a:xfrm>
            <a:off x="314325" y="17679"/>
            <a:ext cx="7595184" cy="641540"/>
          </a:xfrm>
        </p:spPr>
        <p:txBody>
          <a:bodyPr anchor="ctr"/>
          <a:lstStyle>
            <a:lvl1pPr>
              <a:defRPr sz="2800">
                <a:solidFill>
                  <a:schemeClr val="bg1"/>
                </a:solidFill>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314325" y="854765"/>
            <a:ext cx="8515350" cy="6003234"/>
          </a:xfrm>
        </p:spPr>
        <p:txBody>
          <a:bodyPr/>
          <a:lstStyle>
            <a:lvl3pPr>
              <a:defRPr>
                <a:solidFill>
                  <a:srgbClr val="2F2624"/>
                </a:solidFill>
              </a:defRPr>
            </a:lvl3pPr>
            <a:lvl4pPr>
              <a:defRPr>
                <a:solidFill>
                  <a:srgbClr val="2F2624"/>
                </a:solidFill>
              </a:defRPr>
            </a:lvl4pPr>
            <a:lvl5pPr>
              <a:defRPr>
                <a:solidFill>
                  <a:srgbClr val="2F2624"/>
                </a:solidFill>
              </a:defRPr>
            </a:lvl5p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7" name="Slide Number Placeholder 4">
            <a:extLst>
              <a:ext uri="{FF2B5EF4-FFF2-40B4-BE49-F238E27FC236}">
                <a16:creationId xmlns:a16="http://schemas.microsoft.com/office/drawing/2014/main" id="{50E9AB7F-67B4-E040-AAD5-5E8CCF7FCA83}"/>
              </a:ext>
            </a:extLst>
          </p:cNvPr>
          <p:cNvSpPr txBox="1">
            <a:spLocks/>
          </p:cNvSpPr>
          <p:nvPr userDrawn="1"/>
        </p:nvSpPr>
        <p:spPr>
          <a:xfrm>
            <a:off x="7909509" y="17679"/>
            <a:ext cx="920166" cy="641540"/>
          </a:xfrm>
          <a:prstGeom prst="rect">
            <a:avLst/>
          </a:prstGeom>
        </p:spPr>
        <p:txBody>
          <a:bodyPr anchor="ctr"/>
          <a:lstStyle>
            <a:defPPr>
              <a:defRPr lang="en-US"/>
            </a:defPPr>
            <a:lvl1pPr marL="0" algn="l" defTabSz="457200" rtl="0" eaLnBrk="1" latinLnBrk="0" hangingPunct="1">
              <a:defRPr sz="36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4355D15C-4A7A-1640-A605-3CDA8E31B7D0}" type="slidenum">
              <a:rPr kumimoji="1" lang="ja-JP" altLang="en-US" sz="2800" smtClean="0">
                <a:solidFill>
                  <a:srgbClr val="FDFBEC"/>
                </a:solidFill>
              </a:rPr>
              <a:pPr algn="ctr"/>
              <a:t>‹#›</a:t>
            </a:fld>
            <a:endParaRPr kumimoji="1" lang="ja-JP" altLang="en-US" sz="2800">
              <a:solidFill>
                <a:srgbClr val="FDFBEC"/>
              </a:solidFill>
            </a:endParaRPr>
          </a:p>
        </p:txBody>
      </p:sp>
    </p:spTree>
    <p:extLst>
      <p:ext uri="{BB962C8B-B14F-4D97-AF65-F5344CB8AC3E}">
        <p14:creationId xmlns:p14="http://schemas.microsoft.com/office/powerpoint/2010/main" val="1662456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4_タイトルとコンテンツ">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EB9E8174-6630-E243-91AC-443BD34E9CE1}"/>
              </a:ext>
            </a:extLst>
          </p:cNvPr>
          <p:cNvSpPr/>
          <p:nvPr userDrawn="1"/>
        </p:nvSpPr>
        <p:spPr>
          <a:xfrm>
            <a:off x="0" y="0"/>
            <a:ext cx="9144000" cy="65922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1"/>
              </a:solidFill>
            </a:endParaRPr>
          </a:p>
        </p:txBody>
      </p:sp>
      <p:sp>
        <p:nvSpPr>
          <p:cNvPr id="2" name="Title 1"/>
          <p:cNvSpPr>
            <a:spLocks noGrp="1"/>
          </p:cNvSpPr>
          <p:nvPr>
            <p:ph type="title"/>
          </p:nvPr>
        </p:nvSpPr>
        <p:spPr>
          <a:xfrm>
            <a:off x="314325" y="17679"/>
            <a:ext cx="7595184" cy="641540"/>
          </a:xfrm>
        </p:spPr>
        <p:txBody>
          <a:bodyPr anchor="ctr"/>
          <a:lstStyle>
            <a:lvl1pPr>
              <a:defRPr sz="2800">
                <a:solidFill>
                  <a:schemeClr val="bg1"/>
                </a:solidFill>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314325" y="854765"/>
            <a:ext cx="8515350" cy="6003234"/>
          </a:xfrm>
        </p:spPr>
        <p:txBody>
          <a:bodyPr/>
          <a:lstStyle>
            <a:lvl3pPr>
              <a:defRPr>
                <a:solidFill>
                  <a:srgbClr val="2F2624"/>
                </a:solidFill>
              </a:defRPr>
            </a:lvl3pPr>
            <a:lvl4pPr>
              <a:defRPr>
                <a:solidFill>
                  <a:srgbClr val="2F2624"/>
                </a:solidFill>
              </a:defRPr>
            </a:lvl4pPr>
            <a:lvl5pPr>
              <a:defRPr>
                <a:solidFill>
                  <a:srgbClr val="2F2624"/>
                </a:solidFill>
              </a:defRPr>
            </a:lvl5p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7" name="Slide Number Placeholder 4">
            <a:extLst>
              <a:ext uri="{FF2B5EF4-FFF2-40B4-BE49-F238E27FC236}">
                <a16:creationId xmlns:a16="http://schemas.microsoft.com/office/drawing/2014/main" id="{50E9AB7F-67B4-E040-AAD5-5E8CCF7FCA83}"/>
              </a:ext>
            </a:extLst>
          </p:cNvPr>
          <p:cNvSpPr txBox="1">
            <a:spLocks/>
          </p:cNvSpPr>
          <p:nvPr userDrawn="1"/>
        </p:nvSpPr>
        <p:spPr>
          <a:xfrm>
            <a:off x="7909509" y="17679"/>
            <a:ext cx="920166" cy="641540"/>
          </a:xfrm>
          <a:prstGeom prst="rect">
            <a:avLst/>
          </a:prstGeom>
        </p:spPr>
        <p:txBody>
          <a:bodyPr anchor="ctr"/>
          <a:lstStyle>
            <a:defPPr>
              <a:defRPr lang="en-US"/>
            </a:defPPr>
            <a:lvl1pPr marL="0" algn="l" defTabSz="457200" rtl="0" eaLnBrk="1" latinLnBrk="0" hangingPunct="1">
              <a:defRPr sz="36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4355D15C-4A7A-1640-A605-3CDA8E31B7D0}" type="slidenum">
              <a:rPr kumimoji="1" lang="ja-JP" altLang="en-US" sz="2800" smtClean="0">
                <a:solidFill>
                  <a:srgbClr val="FDFBEC"/>
                </a:solidFill>
              </a:rPr>
              <a:pPr algn="ctr"/>
              <a:t>‹#›</a:t>
            </a:fld>
            <a:endParaRPr kumimoji="1" lang="ja-JP" altLang="en-US" sz="2800">
              <a:solidFill>
                <a:srgbClr val="FDFBEC"/>
              </a:solidFill>
            </a:endParaRPr>
          </a:p>
        </p:txBody>
      </p:sp>
    </p:spTree>
    <p:extLst>
      <p:ext uri="{BB962C8B-B14F-4D97-AF65-F5344CB8AC3E}">
        <p14:creationId xmlns:p14="http://schemas.microsoft.com/office/powerpoint/2010/main" val="1201587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3_タイトルとコンテンツ">
    <p:bg>
      <p:bgPr>
        <a:solidFill>
          <a:schemeClr val="bg1">
            <a:lumMod val="95000"/>
          </a:schemeClr>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EB9E8174-6630-E243-91AC-443BD34E9CE1}"/>
              </a:ext>
            </a:extLst>
          </p:cNvPr>
          <p:cNvSpPr/>
          <p:nvPr userDrawn="1"/>
        </p:nvSpPr>
        <p:spPr>
          <a:xfrm>
            <a:off x="0" y="0"/>
            <a:ext cx="9144000" cy="65922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1"/>
              </a:solidFill>
            </a:endParaRPr>
          </a:p>
        </p:txBody>
      </p:sp>
      <p:sp>
        <p:nvSpPr>
          <p:cNvPr id="2" name="Title 1"/>
          <p:cNvSpPr>
            <a:spLocks noGrp="1"/>
          </p:cNvSpPr>
          <p:nvPr>
            <p:ph type="title"/>
          </p:nvPr>
        </p:nvSpPr>
        <p:spPr>
          <a:xfrm>
            <a:off x="314325" y="17679"/>
            <a:ext cx="7595184" cy="641540"/>
          </a:xfrm>
        </p:spPr>
        <p:txBody>
          <a:bodyPr anchor="ctr"/>
          <a:lstStyle>
            <a:lvl1pPr>
              <a:defRPr sz="2800">
                <a:solidFill>
                  <a:schemeClr val="bg1"/>
                </a:solidFill>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314325" y="854765"/>
            <a:ext cx="8515350" cy="6003234"/>
          </a:xfrm>
        </p:spPr>
        <p:txBody>
          <a:bodyPr/>
          <a:lstStyle>
            <a:lvl1pPr>
              <a:defRPr>
                <a:solidFill>
                  <a:srgbClr val="2F2523"/>
                </a:solidFill>
              </a:defRPr>
            </a:lvl1pPr>
            <a:lvl3pPr>
              <a:defRPr>
                <a:solidFill>
                  <a:srgbClr val="2F2624"/>
                </a:solidFill>
              </a:defRPr>
            </a:lvl3pPr>
            <a:lvl4pPr>
              <a:defRPr>
                <a:solidFill>
                  <a:srgbClr val="2F2624"/>
                </a:solidFill>
              </a:defRPr>
            </a:lvl4pPr>
            <a:lvl5pPr>
              <a:defRPr>
                <a:solidFill>
                  <a:srgbClr val="2F2624"/>
                </a:solidFill>
              </a:defRPr>
            </a:lvl5p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7" name="Slide Number Placeholder 4">
            <a:extLst>
              <a:ext uri="{FF2B5EF4-FFF2-40B4-BE49-F238E27FC236}">
                <a16:creationId xmlns:a16="http://schemas.microsoft.com/office/drawing/2014/main" id="{50E9AB7F-67B4-E040-AAD5-5E8CCF7FCA83}"/>
              </a:ext>
            </a:extLst>
          </p:cNvPr>
          <p:cNvSpPr txBox="1">
            <a:spLocks/>
          </p:cNvSpPr>
          <p:nvPr userDrawn="1"/>
        </p:nvSpPr>
        <p:spPr>
          <a:xfrm>
            <a:off x="7909509" y="17679"/>
            <a:ext cx="920166" cy="641540"/>
          </a:xfrm>
          <a:prstGeom prst="rect">
            <a:avLst/>
          </a:prstGeom>
        </p:spPr>
        <p:txBody>
          <a:bodyPr anchor="ctr"/>
          <a:lstStyle>
            <a:defPPr>
              <a:defRPr lang="en-US"/>
            </a:defPPr>
            <a:lvl1pPr marL="0" algn="l" defTabSz="457200" rtl="0" eaLnBrk="1" latinLnBrk="0" hangingPunct="1">
              <a:defRPr sz="36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4355D15C-4A7A-1640-A605-3CDA8E31B7D0}" type="slidenum">
              <a:rPr kumimoji="1" lang="ja-JP" altLang="en-US" sz="2800" smtClean="0">
                <a:solidFill>
                  <a:srgbClr val="FDFBEC"/>
                </a:solidFill>
              </a:rPr>
              <a:pPr algn="ctr"/>
              <a:t>‹#›</a:t>
            </a:fld>
            <a:endParaRPr kumimoji="1" lang="ja-JP" altLang="en-US" sz="2800">
              <a:solidFill>
                <a:srgbClr val="FDFBEC"/>
              </a:solidFill>
            </a:endParaRPr>
          </a:p>
        </p:txBody>
      </p:sp>
    </p:spTree>
    <p:extLst>
      <p:ext uri="{BB962C8B-B14F-4D97-AF65-F5344CB8AC3E}">
        <p14:creationId xmlns:p14="http://schemas.microsoft.com/office/powerpoint/2010/main" val="3670458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2_タイトルとコンテンツ">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EB9E8174-6630-E243-91AC-443BD34E9CE1}"/>
              </a:ext>
            </a:extLst>
          </p:cNvPr>
          <p:cNvSpPr/>
          <p:nvPr userDrawn="1"/>
        </p:nvSpPr>
        <p:spPr>
          <a:xfrm>
            <a:off x="0" y="0"/>
            <a:ext cx="9144000" cy="659220"/>
          </a:xfrm>
          <a:prstGeom prst="rect">
            <a:avLst/>
          </a:prstGeom>
          <a:solidFill>
            <a:schemeClr val="accent6">
              <a:lumMod val="5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1"/>
              </a:solidFill>
            </a:endParaRPr>
          </a:p>
        </p:txBody>
      </p:sp>
      <p:sp>
        <p:nvSpPr>
          <p:cNvPr id="2" name="Title 1"/>
          <p:cNvSpPr>
            <a:spLocks noGrp="1"/>
          </p:cNvSpPr>
          <p:nvPr>
            <p:ph type="title"/>
          </p:nvPr>
        </p:nvSpPr>
        <p:spPr>
          <a:xfrm>
            <a:off x="314325" y="17679"/>
            <a:ext cx="7595184" cy="641540"/>
          </a:xfrm>
        </p:spPr>
        <p:txBody>
          <a:bodyPr anchor="ctr"/>
          <a:lstStyle>
            <a:lvl1pPr>
              <a:defRPr sz="2800">
                <a:solidFill>
                  <a:schemeClr val="bg1"/>
                </a:solidFill>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314325" y="854765"/>
            <a:ext cx="8515350" cy="6003234"/>
          </a:xfrm>
        </p:spPr>
        <p:txBody>
          <a:bodyPr/>
          <a:lstStyle>
            <a:lvl1pPr>
              <a:defRPr>
                <a:solidFill>
                  <a:schemeClr val="accent6">
                    <a:lumMod val="50000"/>
                  </a:schemeClr>
                </a:solidFill>
              </a:defRPr>
            </a:lvl1pPr>
            <a:lvl3pPr>
              <a:defRPr>
                <a:solidFill>
                  <a:srgbClr val="2F2624"/>
                </a:solidFill>
              </a:defRPr>
            </a:lvl3pPr>
            <a:lvl4pPr>
              <a:defRPr>
                <a:solidFill>
                  <a:srgbClr val="2F2624"/>
                </a:solidFill>
              </a:defRPr>
            </a:lvl4pPr>
            <a:lvl5pPr>
              <a:defRPr>
                <a:solidFill>
                  <a:srgbClr val="2F2624"/>
                </a:solidFill>
              </a:defRPr>
            </a:lvl5p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7" name="Slide Number Placeholder 4">
            <a:extLst>
              <a:ext uri="{FF2B5EF4-FFF2-40B4-BE49-F238E27FC236}">
                <a16:creationId xmlns:a16="http://schemas.microsoft.com/office/drawing/2014/main" id="{50E9AB7F-67B4-E040-AAD5-5E8CCF7FCA83}"/>
              </a:ext>
            </a:extLst>
          </p:cNvPr>
          <p:cNvSpPr txBox="1">
            <a:spLocks/>
          </p:cNvSpPr>
          <p:nvPr userDrawn="1"/>
        </p:nvSpPr>
        <p:spPr>
          <a:xfrm>
            <a:off x="7909509" y="17679"/>
            <a:ext cx="920166" cy="641540"/>
          </a:xfrm>
          <a:prstGeom prst="rect">
            <a:avLst/>
          </a:prstGeom>
        </p:spPr>
        <p:txBody>
          <a:bodyPr anchor="ctr"/>
          <a:lstStyle>
            <a:defPPr>
              <a:defRPr lang="en-US"/>
            </a:defPPr>
            <a:lvl1pPr marL="0" algn="l" defTabSz="457200" rtl="0" eaLnBrk="1" latinLnBrk="0" hangingPunct="1">
              <a:defRPr sz="36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4355D15C-4A7A-1640-A605-3CDA8E31B7D0}" type="slidenum">
              <a:rPr kumimoji="1" lang="ja-JP" altLang="en-US" sz="2800" smtClean="0">
                <a:solidFill>
                  <a:srgbClr val="FDFBEC"/>
                </a:solidFill>
              </a:rPr>
              <a:pPr algn="ctr"/>
              <a:t>‹#›</a:t>
            </a:fld>
            <a:endParaRPr kumimoji="1" lang="ja-JP" altLang="en-US" sz="2800">
              <a:solidFill>
                <a:srgbClr val="FDFBEC"/>
              </a:solidFill>
            </a:endParaRPr>
          </a:p>
        </p:txBody>
      </p:sp>
    </p:spTree>
    <p:extLst>
      <p:ext uri="{BB962C8B-B14F-4D97-AF65-F5344CB8AC3E}">
        <p14:creationId xmlns:p14="http://schemas.microsoft.com/office/powerpoint/2010/main" val="2905419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EB9E8174-6630-E243-91AC-443BD34E9CE1}"/>
              </a:ext>
            </a:extLst>
          </p:cNvPr>
          <p:cNvSpPr/>
          <p:nvPr userDrawn="1"/>
        </p:nvSpPr>
        <p:spPr>
          <a:xfrm>
            <a:off x="0" y="0"/>
            <a:ext cx="9144000" cy="659220"/>
          </a:xfrm>
          <a:prstGeom prst="rect">
            <a:avLst/>
          </a:prstGeom>
          <a:solidFill>
            <a:srgbClr val="A641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1"/>
              </a:solidFill>
            </a:endParaRPr>
          </a:p>
        </p:txBody>
      </p:sp>
      <p:sp>
        <p:nvSpPr>
          <p:cNvPr id="2" name="Title 1"/>
          <p:cNvSpPr>
            <a:spLocks noGrp="1"/>
          </p:cNvSpPr>
          <p:nvPr>
            <p:ph type="title"/>
          </p:nvPr>
        </p:nvSpPr>
        <p:spPr>
          <a:xfrm>
            <a:off x="314325" y="17679"/>
            <a:ext cx="7595184" cy="641540"/>
          </a:xfrm>
        </p:spPr>
        <p:txBody>
          <a:bodyPr anchor="ctr"/>
          <a:lstStyle>
            <a:lvl1pPr>
              <a:defRPr sz="2800">
                <a:solidFill>
                  <a:schemeClr val="bg1"/>
                </a:solidFill>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314325" y="854765"/>
            <a:ext cx="8515350" cy="6003234"/>
          </a:xfrm>
        </p:spPr>
        <p:txBody>
          <a:bodyPr/>
          <a:lstStyle>
            <a:lvl1pPr>
              <a:defRPr>
                <a:solidFill>
                  <a:srgbClr val="A64155"/>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7" name="Slide Number Placeholder 4">
            <a:extLst>
              <a:ext uri="{FF2B5EF4-FFF2-40B4-BE49-F238E27FC236}">
                <a16:creationId xmlns:a16="http://schemas.microsoft.com/office/drawing/2014/main" id="{50E9AB7F-67B4-E040-AAD5-5E8CCF7FCA83}"/>
              </a:ext>
            </a:extLst>
          </p:cNvPr>
          <p:cNvSpPr txBox="1">
            <a:spLocks/>
          </p:cNvSpPr>
          <p:nvPr userDrawn="1"/>
        </p:nvSpPr>
        <p:spPr>
          <a:xfrm>
            <a:off x="7909509" y="17679"/>
            <a:ext cx="920166" cy="641540"/>
          </a:xfrm>
          <a:prstGeom prst="rect">
            <a:avLst/>
          </a:prstGeom>
        </p:spPr>
        <p:txBody>
          <a:bodyPr anchor="ctr"/>
          <a:lstStyle>
            <a:defPPr>
              <a:defRPr lang="en-US"/>
            </a:defPPr>
            <a:lvl1pPr marL="0" algn="l" defTabSz="457200" rtl="0" eaLnBrk="1" latinLnBrk="0" hangingPunct="1">
              <a:defRPr sz="36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4355D15C-4A7A-1640-A605-3CDA8E31B7D0}" type="slidenum">
              <a:rPr kumimoji="1" lang="ja-JP" altLang="en-US" sz="2800" smtClean="0">
                <a:solidFill>
                  <a:srgbClr val="FDFBEC"/>
                </a:solidFill>
              </a:rPr>
              <a:pPr algn="ctr"/>
              <a:t>‹#›</a:t>
            </a:fld>
            <a:endParaRPr kumimoji="1" lang="ja-JP" altLang="en-US" sz="2800">
              <a:solidFill>
                <a:srgbClr val="FDFBEC"/>
              </a:solidFill>
            </a:endParaRPr>
          </a:p>
        </p:txBody>
      </p:sp>
    </p:spTree>
    <p:extLst>
      <p:ext uri="{BB962C8B-B14F-4D97-AF65-F5344CB8AC3E}">
        <p14:creationId xmlns:p14="http://schemas.microsoft.com/office/powerpoint/2010/main" val="4063162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A03B7421-E648-C6E0-525B-AB5F8ADAED49}"/>
              </a:ext>
            </a:extLst>
          </p:cNvPr>
          <p:cNvSpPr/>
          <p:nvPr userDrawn="1"/>
        </p:nvSpPr>
        <p:spPr>
          <a:xfrm>
            <a:off x="0" y="0"/>
            <a:ext cx="9144000" cy="1046163"/>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1"/>
              </a:solidFill>
            </a:endParaRPr>
          </a:p>
        </p:txBody>
      </p:sp>
      <p:sp>
        <p:nvSpPr>
          <p:cNvPr id="2" name="タイトル 1">
            <a:extLst>
              <a:ext uri="{FF2B5EF4-FFF2-40B4-BE49-F238E27FC236}">
                <a16:creationId xmlns:a16="http://schemas.microsoft.com/office/drawing/2014/main" id="{C670D3B4-8BD2-3A7A-FAE9-F2A1421B0834}"/>
              </a:ext>
            </a:extLst>
          </p:cNvPr>
          <p:cNvSpPr>
            <a:spLocks noGrp="1"/>
          </p:cNvSpPr>
          <p:nvPr>
            <p:ph type="title"/>
          </p:nvPr>
        </p:nvSpPr>
        <p:spPr/>
        <p:txBody>
          <a:bodyPr/>
          <a:lstStyle/>
          <a:p>
            <a:r>
              <a:rPr kumimoji="1" lang="ja-JP" altLang="en-US"/>
              <a:t>マスター タイトルの書式設定</a:t>
            </a:r>
          </a:p>
        </p:txBody>
      </p:sp>
      <p:sp>
        <p:nvSpPr>
          <p:cNvPr id="4" name="Slide Number Placeholder 4">
            <a:extLst>
              <a:ext uri="{FF2B5EF4-FFF2-40B4-BE49-F238E27FC236}">
                <a16:creationId xmlns:a16="http://schemas.microsoft.com/office/drawing/2014/main" id="{6A06C13F-E606-6F12-D501-090C2E3BA469}"/>
              </a:ext>
            </a:extLst>
          </p:cNvPr>
          <p:cNvSpPr txBox="1">
            <a:spLocks/>
          </p:cNvSpPr>
          <p:nvPr userDrawn="1"/>
        </p:nvSpPr>
        <p:spPr>
          <a:xfrm>
            <a:off x="7741918" y="61644"/>
            <a:ext cx="1087755" cy="943420"/>
          </a:xfrm>
          <a:prstGeom prst="rect">
            <a:avLst/>
          </a:prstGeom>
        </p:spPr>
        <p:txBody>
          <a:bodyPr anchor="ctr"/>
          <a:lstStyle>
            <a:defPPr>
              <a:defRPr lang="en-US"/>
            </a:defPPr>
            <a:lvl1pPr marL="0" algn="l" defTabSz="457200" rtl="0" eaLnBrk="1" latinLnBrk="0" hangingPunct="1">
              <a:defRPr sz="36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4355D15C-4A7A-1640-A605-3CDA8E31B7D0}" type="slidenum">
              <a:rPr kumimoji="1" lang="ja-JP" altLang="en-US" smtClean="0">
                <a:solidFill>
                  <a:srgbClr val="FDFBEC"/>
                </a:solidFill>
              </a:rPr>
              <a:pPr algn="ctr"/>
              <a:t>‹#›</a:t>
            </a:fld>
            <a:endParaRPr kumimoji="1" lang="ja-JP" altLang="en-US">
              <a:solidFill>
                <a:srgbClr val="FDFBEC"/>
              </a:solidFill>
            </a:endParaRPr>
          </a:p>
        </p:txBody>
      </p:sp>
    </p:spTree>
    <p:extLst>
      <p:ext uri="{BB962C8B-B14F-4D97-AF65-F5344CB8AC3E}">
        <p14:creationId xmlns:p14="http://schemas.microsoft.com/office/powerpoint/2010/main" val="74693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1_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041400"/>
            <a:ext cx="8458200" cy="2387600"/>
          </a:xfrm>
        </p:spPr>
        <p:txBody>
          <a:bodyPr anchor="b">
            <a:normAutofit/>
          </a:bodyPr>
          <a:lstStyle>
            <a:lvl1pPr algn="ctr">
              <a:defRPr sz="3600">
                <a:solidFill>
                  <a:srgbClr val="002060"/>
                </a:solidFill>
              </a:defRPr>
            </a:lvl1pPr>
          </a:lstStyle>
          <a:p>
            <a:r>
              <a:rPr lang="ja-JP" altLang="en-US"/>
              <a:t>マスター タイトルの書式設定</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Tree>
    <p:extLst>
      <p:ext uri="{BB962C8B-B14F-4D97-AF65-F5344CB8AC3E}">
        <p14:creationId xmlns:p14="http://schemas.microsoft.com/office/powerpoint/2010/main" val="1233396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6071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EB9E8174-6630-E243-91AC-443BD34E9CE1}"/>
              </a:ext>
            </a:extLst>
          </p:cNvPr>
          <p:cNvSpPr/>
          <p:nvPr userDrawn="1"/>
        </p:nvSpPr>
        <p:spPr>
          <a:xfrm>
            <a:off x="0" y="0"/>
            <a:ext cx="9144000" cy="65922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1"/>
              </a:solidFill>
            </a:endParaRPr>
          </a:p>
        </p:txBody>
      </p:sp>
      <p:sp>
        <p:nvSpPr>
          <p:cNvPr id="2" name="Title 1"/>
          <p:cNvSpPr>
            <a:spLocks noGrp="1"/>
          </p:cNvSpPr>
          <p:nvPr>
            <p:ph type="title"/>
          </p:nvPr>
        </p:nvSpPr>
        <p:spPr>
          <a:xfrm>
            <a:off x="314325" y="17679"/>
            <a:ext cx="7595184" cy="641540"/>
          </a:xfrm>
        </p:spPr>
        <p:txBody>
          <a:bodyPr anchor="ctr"/>
          <a:lstStyle>
            <a:lvl1pPr>
              <a:defRPr sz="2800">
                <a:solidFill>
                  <a:schemeClr val="bg1"/>
                </a:solidFill>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314325" y="854765"/>
            <a:ext cx="8515350" cy="6003234"/>
          </a:xfrm>
        </p:spPr>
        <p:txBody>
          <a:bodyPr/>
          <a:lstStyle>
            <a:lvl3pPr>
              <a:defRPr>
                <a:solidFill>
                  <a:srgbClr val="2F2624"/>
                </a:solidFill>
              </a:defRPr>
            </a:lvl3pPr>
            <a:lvl4pPr>
              <a:defRPr>
                <a:solidFill>
                  <a:srgbClr val="2F2624"/>
                </a:solidFill>
              </a:defRPr>
            </a:lvl4pPr>
            <a:lvl5pPr>
              <a:defRPr>
                <a:solidFill>
                  <a:srgbClr val="2F2624"/>
                </a:solidFill>
              </a:defRPr>
            </a:lvl5p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7" name="Slide Number Placeholder 4">
            <a:extLst>
              <a:ext uri="{FF2B5EF4-FFF2-40B4-BE49-F238E27FC236}">
                <a16:creationId xmlns:a16="http://schemas.microsoft.com/office/drawing/2014/main" id="{50E9AB7F-67B4-E040-AAD5-5E8CCF7FCA83}"/>
              </a:ext>
            </a:extLst>
          </p:cNvPr>
          <p:cNvSpPr txBox="1">
            <a:spLocks/>
          </p:cNvSpPr>
          <p:nvPr userDrawn="1"/>
        </p:nvSpPr>
        <p:spPr>
          <a:xfrm>
            <a:off x="7909509" y="17679"/>
            <a:ext cx="920166" cy="641540"/>
          </a:xfrm>
          <a:prstGeom prst="rect">
            <a:avLst/>
          </a:prstGeom>
        </p:spPr>
        <p:txBody>
          <a:bodyPr anchor="ctr"/>
          <a:lstStyle>
            <a:defPPr>
              <a:defRPr lang="en-US"/>
            </a:defPPr>
            <a:lvl1pPr marL="0" algn="l" defTabSz="457200" rtl="0" eaLnBrk="1" latinLnBrk="0" hangingPunct="1">
              <a:defRPr sz="36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4355D15C-4A7A-1640-A605-3CDA8E31B7D0}" type="slidenum">
              <a:rPr kumimoji="1" lang="ja-JP" altLang="en-US" sz="2800" smtClean="0">
                <a:solidFill>
                  <a:srgbClr val="FDFBEC"/>
                </a:solidFill>
              </a:rPr>
              <a:pPr algn="ctr"/>
              <a:t>‹#›</a:t>
            </a:fld>
            <a:endParaRPr kumimoji="1" lang="ja-JP" altLang="en-US" sz="2800">
              <a:solidFill>
                <a:srgbClr val="FDFBEC"/>
              </a:solidFill>
            </a:endParaRPr>
          </a:p>
        </p:txBody>
      </p:sp>
    </p:spTree>
    <p:extLst>
      <p:ext uri="{BB962C8B-B14F-4D97-AF65-F5344CB8AC3E}">
        <p14:creationId xmlns:p14="http://schemas.microsoft.com/office/powerpoint/2010/main" val="4141493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CF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4325" y="113016"/>
            <a:ext cx="8515350" cy="922759"/>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314325" y="1270000"/>
            <a:ext cx="8515350" cy="5587999"/>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テキスト ボックス 3">
            <a:extLst>
              <a:ext uri="{FF2B5EF4-FFF2-40B4-BE49-F238E27FC236}">
                <a16:creationId xmlns:a16="http://schemas.microsoft.com/office/drawing/2014/main" id="{D49A627A-A4E9-D124-69A0-CBFDD6245443}"/>
              </a:ext>
            </a:extLst>
          </p:cNvPr>
          <p:cNvSpPr txBox="1"/>
          <p:nvPr userDrawn="1"/>
        </p:nvSpPr>
        <p:spPr>
          <a:xfrm>
            <a:off x="7866086" y="6618026"/>
            <a:ext cx="1277914" cy="253916"/>
          </a:xfrm>
          <a:prstGeom prst="rect">
            <a:avLst/>
          </a:prstGeom>
          <a:noFill/>
        </p:spPr>
        <p:txBody>
          <a:bodyPr wrap="none" rtlCol="0">
            <a:spAutoFit/>
          </a:bodyPr>
          <a:lstStyle/>
          <a:p>
            <a:r>
              <a:rPr kumimoji="1" lang="en-US" altLang="ja-GB" sz="1050" dirty="0">
                <a:solidFill>
                  <a:schemeClr val="bg1">
                    <a:lumMod val="95000"/>
                  </a:schemeClr>
                </a:solidFill>
              </a:rPr>
              <a:t>©2025 Rio Tomioka</a:t>
            </a:r>
            <a:endParaRPr kumimoji="1" lang="ja-GB" altLang="en-US" sz="1050" dirty="0">
              <a:solidFill>
                <a:schemeClr val="bg1">
                  <a:lumMod val="95000"/>
                </a:schemeClr>
              </a:solidFill>
            </a:endParaRPr>
          </a:p>
        </p:txBody>
      </p:sp>
    </p:spTree>
    <p:extLst>
      <p:ext uri="{BB962C8B-B14F-4D97-AF65-F5344CB8AC3E}">
        <p14:creationId xmlns:p14="http://schemas.microsoft.com/office/powerpoint/2010/main" val="21999145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1" r:id="rId3"/>
    <p:sldLayoutId id="2147483670" r:id="rId4"/>
    <p:sldLayoutId id="2147483669" r:id="rId5"/>
    <p:sldLayoutId id="2147483668" r:id="rId6"/>
    <p:sldLayoutId id="2147483666" r:id="rId7"/>
  </p:sldLayoutIdLst>
  <p:hf hdr="0" ftr="0" dt="0"/>
  <p:txStyles>
    <p:titleStyle>
      <a:lvl1pPr algn="l" defTabSz="914400" rtl="0" eaLnBrk="1" latinLnBrk="0" hangingPunct="1">
        <a:lnSpc>
          <a:spcPct val="90000"/>
        </a:lnSpc>
        <a:spcBef>
          <a:spcPct val="0"/>
        </a:spcBef>
        <a:buNone/>
        <a:defRPr kumimoji="1" sz="3600" b="1" kern="1200" baseline="0">
          <a:solidFill>
            <a:schemeClr val="bg1"/>
          </a:solidFill>
          <a:latin typeface="Yu Gothic UI" panose="020B0500000000000000" pitchFamily="34" charset="-128"/>
          <a:ea typeface="Yu Gothic UI" panose="020B0500000000000000"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400" b="1" kern="1200">
          <a:solidFill>
            <a:srgbClr val="002060"/>
          </a:solidFill>
          <a:latin typeface="Yu Gothic UI" panose="020B0500000000000000" pitchFamily="34" charset="-128"/>
          <a:ea typeface="Yu Gothic UI"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1" kern="1200">
          <a:solidFill>
            <a:srgbClr val="2F2624"/>
          </a:solidFill>
          <a:latin typeface="Yu Gothic UI" panose="020B0500000000000000" pitchFamily="34" charset="-128"/>
          <a:ea typeface="Yu Gothic UI"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1" kern="1200">
          <a:solidFill>
            <a:srgbClr val="2F2624"/>
          </a:solidFill>
          <a:latin typeface="Yu Gothic UI" panose="020B0500000000000000" pitchFamily="34" charset="-128"/>
          <a:ea typeface="Yu Gothic UI"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1" kern="1200">
          <a:solidFill>
            <a:srgbClr val="2F2624"/>
          </a:solidFill>
          <a:latin typeface="Yu Gothic UI" panose="020B0500000000000000" pitchFamily="34" charset="-128"/>
          <a:ea typeface="Yu Gothic UI"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700" b="1" kern="1200">
          <a:solidFill>
            <a:srgbClr val="2F2624"/>
          </a:solidFill>
          <a:latin typeface="Yu Gothic UI" panose="020B0500000000000000" pitchFamily="34" charset="-128"/>
          <a:ea typeface="Yu Gothic UI"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7FCF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4325" y="113016"/>
            <a:ext cx="8515350" cy="922759"/>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314325" y="1270000"/>
            <a:ext cx="8515350" cy="5587999"/>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Tree>
    <p:extLst>
      <p:ext uri="{BB962C8B-B14F-4D97-AF65-F5344CB8AC3E}">
        <p14:creationId xmlns:p14="http://schemas.microsoft.com/office/powerpoint/2010/main" val="2880840127"/>
      </p:ext>
    </p:extLst>
  </p:cSld>
  <p:clrMap bg1="lt1" tx1="dk1" bg2="lt2" tx2="dk2" accent1="accent1" accent2="accent2" accent3="accent3" accent4="accent4" accent5="accent5" accent6="accent6" hlink="hlink" folHlink="folHlink"/>
  <p:sldLayoutIdLst>
    <p:sldLayoutId id="2147483674" r:id="rId1"/>
    <p:sldLayoutId id="2147483681" r:id="rId2"/>
    <p:sldLayoutId id="2147483682" r:id="rId3"/>
  </p:sldLayoutIdLst>
  <p:hf hdr="0" ftr="0" dt="0"/>
  <p:txStyles>
    <p:titleStyle>
      <a:lvl1pPr algn="l" defTabSz="914400" rtl="0" eaLnBrk="1" latinLnBrk="0" hangingPunct="1">
        <a:lnSpc>
          <a:spcPct val="90000"/>
        </a:lnSpc>
        <a:spcBef>
          <a:spcPct val="0"/>
        </a:spcBef>
        <a:buNone/>
        <a:defRPr kumimoji="1" sz="3600" b="1" kern="1200" baseline="0">
          <a:solidFill>
            <a:schemeClr val="bg1"/>
          </a:solidFill>
          <a:latin typeface="Yu Gothic UI" panose="020B0500000000000000" pitchFamily="34" charset="-128"/>
          <a:ea typeface="Yu Gothic UI" panose="020B0500000000000000"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400" b="1" kern="1200">
          <a:solidFill>
            <a:srgbClr val="002060"/>
          </a:solidFill>
          <a:latin typeface="Yu Gothic UI" panose="020B0500000000000000" pitchFamily="34" charset="-128"/>
          <a:ea typeface="Yu Gothic UI"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1" kern="1200">
          <a:solidFill>
            <a:srgbClr val="2F2624"/>
          </a:solidFill>
          <a:latin typeface="Yu Gothic UI" panose="020B0500000000000000" pitchFamily="34" charset="-128"/>
          <a:ea typeface="Yu Gothic UI"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1" kern="1200">
          <a:solidFill>
            <a:srgbClr val="2F2624"/>
          </a:solidFill>
          <a:latin typeface="Yu Gothic UI" panose="020B0500000000000000" pitchFamily="34" charset="-128"/>
          <a:ea typeface="Yu Gothic UI"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1" kern="1200">
          <a:solidFill>
            <a:srgbClr val="2F2624"/>
          </a:solidFill>
          <a:latin typeface="Yu Gothic UI" panose="020B0500000000000000" pitchFamily="34" charset="-128"/>
          <a:ea typeface="Yu Gothic UI"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700" b="1" kern="1200">
          <a:solidFill>
            <a:srgbClr val="2F2624"/>
          </a:solidFill>
          <a:latin typeface="Yu Gothic UI" panose="020B0500000000000000" pitchFamily="34" charset="-128"/>
          <a:ea typeface="Yu Gothic UI"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8" Type="http://schemas.openxmlformats.org/officeDocument/2006/relationships/hyperlink" Target="https://github.com/tomiokario/route_search?tab=readme-ov-file" TargetMode="External"/><Relationship Id="rId3" Type="http://schemas.openxmlformats.org/officeDocument/2006/relationships/image" Target="../media/image11.png"/><Relationship Id="rId7" Type="http://schemas.openxmlformats.org/officeDocument/2006/relationships/image" Target="../media/image14.gi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hyperlink" Target="https://github.com/hashcc/railmaps" TargetMode="External"/><Relationship Id="rId4" Type="http://schemas.openxmlformats.org/officeDocument/2006/relationships/image" Target="../media/image12.sv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0.png"/><Relationship Id="rId7" Type="http://schemas.openxmlformats.org/officeDocument/2006/relationships/image" Target="../media/image310.png"/><Relationship Id="rId2" Type="http://schemas.openxmlformats.org/officeDocument/2006/relationships/image" Target="../media/image136.png"/><Relationship Id="rId1" Type="http://schemas.openxmlformats.org/officeDocument/2006/relationships/slideLayout" Target="../slideLayouts/slideLayout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380.png"/><Relationship Id="rId1" Type="http://schemas.openxmlformats.org/officeDocument/2006/relationships/slideLayout" Target="../slideLayouts/slideLayout2.xml"/><Relationship Id="rId4" Type="http://schemas.openxmlformats.org/officeDocument/2006/relationships/image" Target="../media/image340.png"/></Relationships>
</file>

<file path=ppt/slides/_rels/slide3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390.png"/><Relationship Id="rId7" Type="http://schemas.openxmlformats.org/officeDocument/2006/relationships/image" Target="../media/image3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80.png"/><Relationship Id="rId5" Type="http://schemas.openxmlformats.org/officeDocument/2006/relationships/image" Target="../media/image370.png"/><Relationship Id="rId10" Type="http://schemas.openxmlformats.org/officeDocument/2006/relationships/image" Target="../media/image420.png"/><Relationship Id="rId4" Type="http://schemas.openxmlformats.org/officeDocument/2006/relationships/image" Target="../media/image22.png"/><Relationship Id="rId9" Type="http://schemas.openxmlformats.org/officeDocument/2006/relationships/image" Target="../media/image4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3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4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4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5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6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hyperlink" Target="https://www.kindaikagaku.co.jp/book_list/detail/9784764906495/" TargetMode="External"/><Relationship Id="rId2" Type="http://schemas.openxmlformats.org/officeDocument/2006/relationships/hyperlink" Target="https://www.sbcr.jp/product/4815606008/" TargetMode="Externa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25.png"/></Relationships>
</file>

<file path=ppt/slides/_rels/slide7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eg"/><Relationship Id="rId1" Type="http://schemas.openxmlformats.org/officeDocument/2006/relationships/slideLayout" Target="../slideLayouts/slideLayout4.xm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image" Target="../media/image30.jpe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hyperlink" Target="https://commons.wikimedia.org/w/index.php?curid=314282" TargetMode="External"/><Relationship Id="rId1" Type="http://schemas.openxmlformats.org/officeDocument/2006/relationships/slideLayout" Target="../slideLayouts/slideLayout4.xml"/><Relationship Id="rId5" Type="http://schemas.openxmlformats.org/officeDocument/2006/relationships/image" Target="../media/image39.jpeg"/><Relationship Id="rId4" Type="http://schemas.openxmlformats.org/officeDocument/2006/relationships/image" Target="../media/image38.jpg"/></Relationships>
</file>

<file path=ppt/slides/_rels/slide8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png"/><Relationship Id="rId1" Type="http://schemas.openxmlformats.org/officeDocument/2006/relationships/slideLayout" Target="../slideLayouts/slideLayout4.xml"/><Relationship Id="rId4" Type="http://schemas.openxmlformats.org/officeDocument/2006/relationships/image" Target="../media/image43.jpe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8.xml.rels><?xml version="1.0" encoding="UTF-8" standalone="yes"?>
<Relationships xmlns="http://schemas.openxmlformats.org/package/2006/relationships"><Relationship Id="rId3" Type="http://schemas.openxmlformats.org/officeDocument/2006/relationships/hyperlink" Target="https://claude.ai/public/artifacts/0dfe2ebd-3e1a-45ab-95c1-c3c7174ea2ce" TargetMode="External"/><Relationship Id="rId2" Type="http://schemas.openxmlformats.org/officeDocument/2006/relationships/image" Target="../media/image44.png"/><Relationship Id="rId1" Type="http://schemas.openxmlformats.org/officeDocument/2006/relationships/slideLayout" Target="../slideLayouts/slideLayout10.xml"/></Relationships>
</file>

<file path=ppt/slides/_rels/slide8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0.xml"/></Relationships>
</file>

<file path=ppt/slides/_rels/slide90.xml.rels><?xml version="1.0" encoding="UTF-8" standalone="yes"?>
<Relationships xmlns="http://schemas.openxmlformats.org/package/2006/relationships"><Relationship Id="rId3" Type="http://schemas.openxmlformats.org/officeDocument/2006/relationships/hyperlink" Target="https://claude.ai/public/artifacts/aba4536b-0ce9-4646-8732-47ea2cd625f9" TargetMode="External"/><Relationship Id="rId2" Type="http://schemas.openxmlformats.org/officeDocument/2006/relationships/image" Target="../media/image46.png"/><Relationship Id="rId1" Type="http://schemas.openxmlformats.org/officeDocument/2006/relationships/slideLayout" Target="../slideLayouts/slideLayout1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2.xml.rels><?xml version="1.0" encoding="UTF-8" standalone="yes"?>
<Relationships xmlns="http://schemas.openxmlformats.org/package/2006/relationships"><Relationship Id="rId3" Type="http://schemas.openxmlformats.org/officeDocument/2006/relationships/hyperlink" Target="https://claude.ai/public/artifacts/af79b8ae-17da-4597-8c2e-477c036c482f" TargetMode="External"/><Relationship Id="rId2" Type="http://schemas.openxmlformats.org/officeDocument/2006/relationships/image" Target="../media/image47.png"/><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0.xml"/></Relationships>
</file>

<file path=ppt/slides/_rels/slide9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0.xml"/></Relationships>
</file>

<file path=ppt/slides/_rels/slide96.xml.rels><?xml version="1.0" encoding="UTF-8" standalone="yes"?>
<Relationships xmlns="http://schemas.openxmlformats.org/package/2006/relationships"><Relationship Id="rId3" Type="http://schemas.openxmlformats.org/officeDocument/2006/relationships/hyperlink" Target="https://claude.ai/public/artifacts/41aaac6d-a888-40be-8020-3441e40fc942" TargetMode="External"/><Relationship Id="rId2" Type="http://schemas.openxmlformats.org/officeDocument/2006/relationships/image" Target="../media/image50.png"/><Relationship Id="rId1" Type="http://schemas.openxmlformats.org/officeDocument/2006/relationships/slideLayout" Target="../slideLayouts/slideLayout1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hyperlink" Target="https://claude.ai/public/artifacts/d07b7208-44e6-4d47-8f54-079161fe30eb"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2.xml.rels><?xml version="1.0" encoding="UTF-8" standalone="yes"?>
<Relationships xmlns="http://schemas.openxmlformats.org/package/2006/relationships"><Relationship Id="rId3" Type="http://schemas.openxmlformats.org/officeDocument/2006/relationships/hyperlink" Target="https://claude.ai/public/artifacts/4ac68507-ef42-4c2e-9a05-9af4fa555d5e" TargetMode="External"/><Relationship Id="rId2" Type="http://schemas.openxmlformats.org/officeDocument/2006/relationships/image" Target="../media/image52.png"/><Relationship Id="rId1" Type="http://schemas.openxmlformats.org/officeDocument/2006/relationships/slideLayout" Target="../slideLayouts/slideLayout1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5.xml.rels><?xml version="1.0" encoding="UTF-8" standalone="yes"?>
<Relationships xmlns="http://schemas.openxmlformats.org/package/2006/relationships"><Relationship Id="rId3" Type="http://schemas.openxmlformats.org/officeDocument/2006/relationships/hyperlink" Target="https://claude.ai/public/artifacts/8262c434-ed2f-4991-8bb8-e1cb54b8022f" TargetMode="External"/><Relationship Id="rId2" Type="http://schemas.openxmlformats.org/officeDocument/2006/relationships/image" Target="../media/image53.png"/><Relationship Id="rId1" Type="http://schemas.openxmlformats.org/officeDocument/2006/relationships/slideLayout" Target="../slideLayouts/slideLayout1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emf"/><Relationship Id="rId1" Type="http://schemas.openxmlformats.org/officeDocument/2006/relationships/slideLayout" Target="../slideLayouts/slideLayout4.xml"/><Relationship Id="rId4" Type="http://schemas.openxmlformats.org/officeDocument/2006/relationships/image" Target="../media/image56.emf"/></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60.svg"/></Relationships>
</file>

<file path=ppt/slides/_rels/slide11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60.svg"/><Relationship Id="rId5" Type="http://schemas.openxmlformats.org/officeDocument/2006/relationships/image" Target="../media/image59.png"/><Relationship Id="rId4" Type="http://schemas.openxmlformats.org/officeDocument/2006/relationships/image" Target="../media/image62.svg"/></Relationships>
</file>

<file path=ppt/slides/_rels/slide119.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slideLayout" Target="../slideLayouts/slideLayout4.xml"/><Relationship Id="rId5" Type="http://schemas.openxmlformats.org/officeDocument/2006/relationships/image" Target="../media/image60.svg"/><Relationship Id="rId4" Type="http://schemas.openxmlformats.org/officeDocument/2006/relationships/image" Target="../media/image59.png"/></Relationships>
</file>

<file path=ppt/slides/_rels/slide120.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63.png"/><Relationship Id="rId1" Type="http://schemas.openxmlformats.org/officeDocument/2006/relationships/slideLayout" Target="../slideLayouts/slideLayout4.xml"/><Relationship Id="rId5" Type="http://schemas.openxmlformats.org/officeDocument/2006/relationships/image" Target="../media/image60.svg"/><Relationship Id="rId4" Type="http://schemas.openxmlformats.org/officeDocument/2006/relationships/image" Target="../media/image59.png"/></Relationships>
</file>

<file path=ppt/slides/_rels/slide121.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63.png"/><Relationship Id="rId1" Type="http://schemas.openxmlformats.org/officeDocument/2006/relationships/slideLayout" Target="../slideLayouts/slideLayout4.xml"/><Relationship Id="rId5" Type="http://schemas.openxmlformats.org/officeDocument/2006/relationships/image" Target="../media/image60.svg"/><Relationship Id="rId4" Type="http://schemas.openxmlformats.org/officeDocument/2006/relationships/image" Target="../media/image59.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3.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124.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63.png"/><Relationship Id="rId1" Type="http://schemas.openxmlformats.org/officeDocument/2006/relationships/slideLayout" Target="../slideLayouts/slideLayout10.xml"/><Relationship Id="rId5" Type="http://schemas.openxmlformats.org/officeDocument/2006/relationships/image" Target="../media/image60.svg"/><Relationship Id="rId4" Type="http://schemas.openxmlformats.org/officeDocument/2006/relationships/image" Target="../media/image59.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0.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png"/><Relationship Id="rId1" Type="http://schemas.openxmlformats.org/officeDocument/2006/relationships/slideLayout" Target="../slideLayouts/slideLayout4.xml"/><Relationship Id="rId4" Type="http://schemas.openxmlformats.org/officeDocument/2006/relationships/image" Target="../media/image43.jpeg"/></Relationships>
</file>

<file path=ppt/slides/_rels/slide129.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hyperlink" Target="https://commons.wikimedia.org/w/index.php?curid=314282" TargetMode="External"/><Relationship Id="rId1" Type="http://schemas.openxmlformats.org/officeDocument/2006/relationships/slideLayout" Target="../slideLayouts/slideLayout4.xml"/><Relationship Id="rId5" Type="http://schemas.openxmlformats.org/officeDocument/2006/relationships/image" Target="../media/image39.jpeg"/><Relationship Id="rId4" Type="http://schemas.openxmlformats.org/officeDocument/2006/relationships/image" Target="../media/image38.jpg"/></Relationships>
</file>

<file path=ppt/slides/_rels/slide130.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slideLayout" Target="../slideLayouts/slideLayout4.xml"/><Relationship Id="rId5" Type="http://schemas.openxmlformats.org/officeDocument/2006/relationships/image" Target="../media/image60.svg"/><Relationship Id="rId4" Type="http://schemas.openxmlformats.org/officeDocument/2006/relationships/image" Target="../media/image59.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2.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10.xml"/></Relationships>
</file>

<file path=ppt/slides/_rels/slide133.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10.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6.xml.rels><?xml version="1.0" encoding="UTF-8" standalone="yes"?>
<Relationships xmlns="http://schemas.openxmlformats.org/package/2006/relationships"><Relationship Id="rId2" Type="http://schemas.openxmlformats.org/officeDocument/2006/relationships/hyperlink" Target="https://claude.ai/public/artifacts/1dabe594-0783-405e-a1a4-0979ca0bd6fe" TargetMode="External"/><Relationship Id="rId1" Type="http://schemas.openxmlformats.org/officeDocument/2006/relationships/slideLayout" Target="../slideLayouts/slideLayout10.xml"/></Relationships>
</file>

<file path=ppt/slides/_rels/slide137.xml.rels><?xml version="1.0" encoding="UTF-8" standalone="yes"?>
<Relationships xmlns="http://schemas.openxmlformats.org/package/2006/relationships"><Relationship Id="rId2" Type="http://schemas.openxmlformats.org/officeDocument/2006/relationships/hyperlink" Target="https://claude.ai/public/artifacts/1dabe594-0783-405e-a1a4-0979ca0bd6fe" TargetMode="External"/><Relationship Id="rId1" Type="http://schemas.openxmlformats.org/officeDocument/2006/relationships/slideLayout" Target="../slideLayouts/slideLayout10.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hyperlink" Target="https://claude.ai/public/artifacts/c92f5941-714b-426a-9510-d6148391f101" TargetMode="External"/><Relationship Id="rId1" Type="http://schemas.openxmlformats.org/officeDocument/2006/relationships/slideLayout" Target="../slideLayouts/slideLayout10.xml"/></Relationships>
</file>

<file path=ppt/slides/_rels/slide140.xml.rels><?xml version="1.0" encoding="UTF-8" standalone="yes"?>
<Relationships xmlns="http://schemas.openxmlformats.org/package/2006/relationships"><Relationship Id="rId3" Type="http://schemas.openxmlformats.org/officeDocument/2006/relationships/hyperlink" Target="https://claude.ai/public/artifacts/2ec434b1-5e8b-4464-84b0-bbc81dfba806" TargetMode="External"/><Relationship Id="rId2" Type="http://schemas.openxmlformats.org/officeDocument/2006/relationships/hyperlink" Target="https://claude.ai/public/artifacts/1dabe594-0783-405e-a1a4-0979ca0bd6fe" TargetMode="External"/><Relationship Id="rId1" Type="http://schemas.openxmlformats.org/officeDocument/2006/relationships/slideLayout" Target="../slideLayouts/slideLayout1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hyperlink" Target="https://tomiokario.notion.site/Publication-list-1a6532283c7a802a97edca590300b9f6?pvs=4" TargetMode="External"/><Relationship Id="rId1" Type="http://schemas.openxmlformats.org/officeDocument/2006/relationships/slideLayout" Target="../slideLayouts/slideLayout10.xml"/></Relationships>
</file>

<file path=ppt/slides/_rels/slide146.xml.rels><?xml version="1.0" encoding="UTF-8" standalone="yes"?>
<Relationships xmlns="http://schemas.openxmlformats.org/package/2006/relationships"><Relationship Id="rId2" Type="http://schemas.openxmlformats.org/officeDocument/2006/relationships/hyperlink" Target="https://support.google.com/cloudsearch/answer/6172299?hl=ja&amp;co=GENIE.Platform%3DAndroid#zippy=%2C%E8%A8%98%E5%8F%B7%E3%81%A8%E6%A8%99%E6%BA%96%E7%9A%84%E3%81%AA%E6%BC%94%E7%AE%97%E5%AD%90" TargetMode="External"/><Relationship Id="rId1" Type="http://schemas.openxmlformats.org/officeDocument/2006/relationships/slideLayout" Target="../slideLayouts/slideLayout10.xml"/></Relationships>
</file>

<file path=ppt/slides/_rels/slide14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0.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4.xml"/><Relationship Id="rId4" Type="http://schemas.openxmlformats.org/officeDocument/2006/relationships/image" Target="../media/image72.png"/></Relationships>
</file>

<file path=ppt/slides/_rels/slide15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15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hyperlink" Target="https://claude.ai/public/artifacts/41aaac6d-a888-40be-8020-3441e40fc942" TargetMode="External"/><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4.xml"/></Relationships>
</file>

<file path=ppt/slides/_rels/slide160.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4.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hyperlink" Target="https://claude.ai/public/artifacts/47f22590-2bad-4803-888b-620148d6292e" TargetMode="Externa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hyperlink" Target="https://support.google.com/cloudsearch/answer/6172299?hl=ja&amp;co=GENIE.Platform%3DAndroid#zippy=%2C%E8%A8%98%E5%8F%B7%E3%81%A8%E6%A8%99%E6%BA%96%E7%9A%84%E3%81%AA%E6%BC%94%E7%AE%97%E5%AD%90" TargetMode="External"/><Relationship Id="rId1" Type="http://schemas.openxmlformats.org/officeDocument/2006/relationships/slideLayout" Target="../slideLayouts/slideLayout4.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4.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hyperlink" Target="https://claude.ai/public/artifacts/8466c5b1-61df-4e6e-9f5c-7dac5a16fa5f"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hyperlink" Target="https://claude.ai/public/artifacts/1dabe594-0783-405e-a1a4-0979ca0bd6fe" TargetMode="External"/><Relationship Id="rId1" Type="http://schemas.openxmlformats.org/officeDocument/2006/relationships/slideLayout" Target="../slideLayouts/slideLayout4.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hyperlink" Target="https://claude.ai/public/artifacts/c92f5941-714b-426a-9510-d6148391f101" TargetMode="External"/><Relationship Id="rId1" Type="http://schemas.openxmlformats.org/officeDocument/2006/relationships/slideLayout" Target="../slideLayouts/slideLayout4.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4.xml"/><Relationship Id="rId4" Type="http://schemas.openxmlformats.org/officeDocument/2006/relationships/image" Target="../media/image75.png"/></Relationships>
</file>

<file path=ppt/slides/_rels/slide17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4.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8.xml.rels><?xml version="1.0" encoding="UTF-8" standalone="yes"?>
<Relationships xmlns="http://schemas.openxmlformats.org/package/2006/relationships"><Relationship Id="rId3" Type="http://schemas.openxmlformats.org/officeDocument/2006/relationships/hyperlink" Target="https://claude.ai/public/artifacts/af79b8ae-17da-4597-8c2e-477c036c482f" TargetMode="External"/><Relationship Id="rId2" Type="http://schemas.openxmlformats.org/officeDocument/2006/relationships/image" Target="../media/image80.png"/><Relationship Id="rId1" Type="http://schemas.openxmlformats.org/officeDocument/2006/relationships/slideLayout" Target="../slideLayouts/slideLayout4.xml"/></Relationships>
</file>

<file path=ppt/slides/_rels/slide179.xml.rels><?xml version="1.0" encoding="UTF-8" standalone="yes"?>
<Relationships xmlns="http://schemas.openxmlformats.org/package/2006/relationships"><Relationship Id="rId3" Type="http://schemas.openxmlformats.org/officeDocument/2006/relationships/hyperlink" Target="https://claude.ai/public/artifacts/41aaac6d-a888-40be-8020-3441e40fc942" TargetMode="External"/><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5.xml.rels><?xml version="1.0" encoding="UTF-8" standalone="yes"?>
<Relationships xmlns="http://schemas.openxmlformats.org/package/2006/relationships"><Relationship Id="rId3" Type="http://schemas.openxmlformats.org/officeDocument/2006/relationships/hyperlink" Target="https://claude.ai/public/artifacts/8466c5b1-61df-4e6e-9f5c-7dac5a16fa5f"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78.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hyperlink" Target="https://www.cs.cmu.edu/afs/cs/usr/wing/www/ct-japanese.pdf" TargetMode="External"/><Relationship Id="rId1" Type="http://schemas.openxmlformats.org/officeDocument/2006/relationships/slideLayout" Target="../slideLayouts/slideLayout4.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2.png"/><Relationship Id="rId7" Type="http://schemas.openxmlformats.org/officeDocument/2006/relationships/hyperlink" Target="https://github.com/hashcc/railmaps" TargetMode="External"/><Relationship Id="rId2"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image" Target="../media/image84.jpeg"/><Relationship Id="rId5" Type="http://schemas.openxmlformats.org/officeDocument/2006/relationships/image" Target="../media/image83.emf"/><Relationship Id="rId10" Type="http://schemas.openxmlformats.org/officeDocument/2006/relationships/image" Target="../media/image86.emf"/><Relationship Id="rId4" Type="http://schemas.openxmlformats.org/officeDocument/2006/relationships/image" Target="../media/image19.png"/><Relationship Id="rId9" Type="http://schemas.openxmlformats.org/officeDocument/2006/relationships/image" Target="../media/image85.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image" Target="../media/image1410.png"/><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hyperlink" Target="https://www.cs.cmu.edu/afs/cs/usr/wing/www/ct-japanese.pdf" TargetMode="External"/><Relationship Id="rId1" Type="http://schemas.openxmlformats.org/officeDocument/2006/relationships/slideLayout" Target="../slideLayouts/slideLayout4.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0.xml.rels><?xml version="1.0" encoding="UTF-8" standalone="yes"?>
<Relationships xmlns="http://schemas.openxmlformats.org/package/2006/relationships"><Relationship Id="rId2" Type="http://schemas.openxmlformats.org/officeDocument/2006/relationships/image" Target="../media/image90.emf"/><Relationship Id="rId1" Type="http://schemas.openxmlformats.org/officeDocument/2006/relationships/slideLayout" Target="../slideLayouts/slideLayout4.xml"/></Relationships>
</file>

<file path=ppt/slides/_rels/slide21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4.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image" Target="../media/image610.png"/><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image" Target="../media/image700.png"/><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6.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4.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hyperlink" Target="https://claude.ai/public/artifacts/d07b7208-44e6-4d47-8f54-079161fe30eb" TargetMode="Externa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5.xml.rels><?xml version="1.0" encoding="UTF-8" standalone="yes"?>
<Relationships xmlns="http://schemas.openxmlformats.org/package/2006/relationships"><Relationship Id="rId3" Type="http://schemas.openxmlformats.org/officeDocument/2006/relationships/hyperlink" Target="https://claude.ai/public/artifacts/4ac68507-ef42-4c2e-9a05-9af4fa555d5e" TargetMode="External"/><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246.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4.emf"/><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2" Type="http://schemas.openxmlformats.org/officeDocument/2006/relationships/image" Target="../media/image115.emf"/><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E0EAB9E-69D7-72F1-444B-FC1F0043469E}"/>
              </a:ext>
            </a:extLst>
          </p:cNvPr>
          <p:cNvSpPr/>
          <p:nvPr/>
        </p:nvSpPr>
        <p:spPr>
          <a:xfrm>
            <a:off x="0" y="1"/>
            <a:ext cx="9144000" cy="440463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sp>
        <p:nvSpPr>
          <p:cNvPr id="5" name="タイトル 1">
            <a:extLst>
              <a:ext uri="{FF2B5EF4-FFF2-40B4-BE49-F238E27FC236}">
                <a16:creationId xmlns:a16="http://schemas.microsoft.com/office/drawing/2014/main" id="{CB1F0B11-E9AD-B69D-775B-3486AB04CD48}"/>
              </a:ext>
            </a:extLst>
          </p:cNvPr>
          <p:cNvSpPr>
            <a:spLocks noGrp="1"/>
          </p:cNvSpPr>
          <p:nvPr>
            <p:ph type="ctrTitle"/>
          </p:nvPr>
        </p:nvSpPr>
        <p:spPr>
          <a:xfrm>
            <a:off x="342901" y="1666380"/>
            <a:ext cx="8458198" cy="2738260"/>
          </a:xfrm>
        </p:spPr>
        <p:txBody>
          <a:bodyPr anchor="b">
            <a:normAutofit/>
          </a:bodyPr>
          <a:lstStyle/>
          <a:p>
            <a:pPr algn="l">
              <a:lnSpc>
                <a:spcPct val="100000"/>
              </a:lnSpc>
            </a:pPr>
            <a:r>
              <a:rPr kumimoji="1" lang="en-US" altLang="ja-JP" sz="3200" dirty="0">
                <a:solidFill>
                  <a:schemeClr val="bg1"/>
                </a:solidFill>
              </a:rPr>
              <a:t>2025</a:t>
            </a:r>
            <a:r>
              <a:rPr kumimoji="1" lang="ja-JP" altLang="en-US" sz="3200">
                <a:solidFill>
                  <a:schemeClr val="bg1"/>
                </a:solidFill>
              </a:rPr>
              <a:t>年度</a:t>
            </a:r>
            <a:r>
              <a:rPr lang="en-US" altLang="ja-JP" sz="3200" dirty="0">
                <a:solidFill>
                  <a:schemeClr val="bg1"/>
                </a:solidFill>
              </a:rPr>
              <a:t> </a:t>
            </a:r>
            <a:r>
              <a:rPr kumimoji="1" lang="ja-JP" altLang="en-US" sz="3200">
                <a:solidFill>
                  <a:schemeClr val="bg1"/>
                </a:solidFill>
              </a:rPr>
              <a:t>コンピュータシステム</a:t>
            </a:r>
            <a:br>
              <a:rPr lang="en-US" altLang="ja-JP" sz="3200" dirty="0">
                <a:solidFill>
                  <a:schemeClr val="bg1"/>
                </a:solidFill>
              </a:rPr>
            </a:br>
            <a:r>
              <a:rPr kumimoji="1" lang="ja-GB" altLang="en-US" sz="3200" dirty="0">
                <a:solidFill>
                  <a:schemeClr val="bg1"/>
                </a:solidFill>
              </a:rPr>
              <a:t>全説明スライド</a:t>
            </a:r>
            <a:r>
              <a:rPr kumimoji="1" lang="en-US" altLang="ja-GB" sz="3200" dirty="0">
                <a:solidFill>
                  <a:schemeClr val="bg1"/>
                </a:solidFill>
              </a:rPr>
              <a:t> </a:t>
            </a:r>
            <a:r>
              <a:rPr kumimoji="1" lang="ja-GB" altLang="en-US" sz="3200" dirty="0">
                <a:solidFill>
                  <a:schemeClr val="bg1"/>
                </a:solidFill>
              </a:rPr>
              <a:t>画像圧縮</a:t>
            </a:r>
            <a:r>
              <a:rPr kumimoji="1" lang="en-US" altLang="ja-GB" sz="3200" dirty="0">
                <a:solidFill>
                  <a:schemeClr val="bg1"/>
                </a:solidFill>
              </a:rPr>
              <a:t> </a:t>
            </a:r>
            <a:r>
              <a:rPr kumimoji="1" lang="ja-GB" altLang="en-US" sz="3200" dirty="0">
                <a:solidFill>
                  <a:schemeClr val="bg1"/>
                </a:solidFill>
              </a:rPr>
              <a:t>後半</a:t>
            </a:r>
            <a:br>
              <a:rPr kumimoji="1" lang="en-US" altLang="ja-JP" sz="2400" dirty="0">
                <a:solidFill>
                  <a:schemeClr val="bg1"/>
                </a:solidFill>
              </a:rPr>
            </a:br>
            <a:endParaRPr kumimoji="1" lang="ja-JP" altLang="en-US" sz="2400">
              <a:solidFill>
                <a:schemeClr val="bg1"/>
              </a:solidFill>
            </a:endParaRPr>
          </a:p>
        </p:txBody>
      </p:sp>
      <p:sp>
        <p:nvSpPr>
          <p:cNvPr id="6" name="字幕 2">
            <a:extLst>
              <a:ext uri="{FF2B5EF4-FFF2-40B4-BE49-F238E27FC236}">
                <a16:creationId xmlns:a16="http://schemas.microsoft.com/office/drawing/2014/main" id="{8F2D9799-792A-3B6D-6EF0-3887B177B1E6}"/>
              </a:ext>
            </a:extLst>
          </p:cNvPr>
          <p:cNvSpPr txBox="1">
            <a:spLocks/>
          </p:cNvSpPr>
          <p:nvPr/>
        </p:nvSpPr>
        <p:spPr>
          <a:xfrm>
            <a:off x="342900" y="4404640"/>
            <a:ext cx="8458199" cy="1762620"/>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b="1" kern="1200">
                <a:solidFill>
                  <a:srgbClr val="002060"/>
                </a:solidFill>
                <a:latin typeface="+mn-ea"/>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b="1" kern="1200">
                <a:solidFill>
                  <a:srgbClr val="2F2624"/>
                </a:solidFill>
                <a:latin typeface="+mn-ea"/>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b="1" kern="1200">
                <a:solidFill>
                  <a:srgbClr val="2F2624"/>
                </a:solidFill>
                <a:latin typeface="+mn-ea"/>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b="1" kern="1200">
                <a:solidFill>
                  <a:srgbClr val="2F2624"/>
                </a:solidFill>
                <a:latin typeface="+mn-ea"/>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b="1" kern="1200">
                <a:solidFill>
                  <a:srgbClr val="2F2624"/>
                </a:solidFill>
                <a:latin typeface="+mn-ea"/>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lvl="0" algn="l">
              <a:lnSpc>
                <a:spcPct val="100000"/>
              </a:lnSpc>
              <a:spcBef>
                <a:spcPts val="600"/>
              </a:spcBef>
            </a:pPr>
            <a:endParaRPr lang="en-GB" altLang="ja-JP" sz="2000" dirty="0">
              <a:solidFill>
                <a:srgbClr val="2F2523"/>
              </a:solidFill>
              <a:latin typeface="Yu Gothic UI" panose="020B0500000000000000" pitchFamily="34" charset="-128"/>
              <a:ea typeface="Yu Gothic UI" panose="020B0500000000000000" pitchFamily="34" charset="-128"/>
            </a:endParaRPr>
          </a:p>
          <a:p>
            <a:pPr lvl="0" algn="l">
              <a:lnSpc>
                <a:spcPct val="100000"/>
              </a:lnSpc>
              <a:spcBef>
                <a:spcPts val="600"/>
              </a:spcBef>
            </a:pPr>
            <a:r>
              <a:rPr lang="en-US" altLang="ja-JP" sz="2600" dirty="0">
                <a:solidFill>
                  <a:srgbClr val="2F2523"/>
                </a:solidFill>
                <a:latin typeface="Yu Gothic UI" panose="020B0500000000000000" pitchFamily="34" charset="-128"/>
                <a:ea typeface="Yu Gothic UI" panose="020B0500000000000000" pitchFamily="34" charset="-128"/>
              </a:rPr>
              <a:t>2025/9/26(</a:t>
            </a:r>
            <a:r>
              <a:rPr lang="ja-JP" altLang="en-US" sz="2600">
                <a:solidFill>
                  <a:srgbClr val="2F2523"/>
                </a:solidFill>
                <a:latin typeface="Yu Gothic UI" panose="020B0500000000000000" pitchFamily="34" charset="-128"/>
                <a:ea typeface="Yu Gothic UI" panose="020B0500000000000000" pitchFamily="34" charset="-128"/>
              </a:rPr>
              <a:t>金</a:t>
            </a:r>
            <a:r>
              <a:rPr lang="en-US" altLang="ja-JP" sz="2600" dirty="0">
                <a:solidFill>
                  <a:srgbClr val="2F2523"/>
                </a:solidFill>
                <a:latin typeface="Yu Gothic UI" panose="020B0500000000000000" pitchFamily="34" charset="-128"/>
                <a:ea typeface="Yu Gothic UI" panose="020B0500000000000000" pitchFamily="34" charset="-128"/>
              </a:rPr>
              <a:t>)</a:t>
            </a:r>
          </a:p>
          <a:p>
            <a:pPr lvl="0" algn="l">
              <a:lnSpc>
                <a:spcPct val="100000"/>
              </a:lnSpc>
              <a:spcBef>
                <a:spcPts val="600"/>
              </a:spcBef>
            </a:pPr>
            <a:r>
              <a:rPr lang="ja-JP" altLang="en-US" sz="2600">
                <a:solidFill>
                  <a:srgbClr val="2F2523"/>
                </a:solidFill>
                <a:latin typeface="Yu Gothic UI" panose="020B0500000000000000" pitchFamily="34" charset="-128"/>
                <a:ea typeface="Yu Gothic UI" panose="020B0500000000000000" pitchFamily="34" charset="-128"/>
              </a:rPr>
              <a:t>担当講師</a:t>
            </a:r>
            <a:r>
              <a:rPr lang="en-US" altLang="ja-JP" sz="2600" dirty="0">
                <a:solidFill>
                  <a:srgbClr val="2F2523"/>
                </a:solidFill>
                <a:latin typeface="Yu Gothic UI" panose="020B0500000000000000" pitchFamily="34" charset="-128"/>
                <a:ea typeface="Yu Gothic UI" panose="020B0500000000000000" pitchFamily="34" charset="-128"/>
              </a:rPr>
              <a:t> </a:t>
            </a:r>
            <a:r>
              <a:rPr lang="ja-JP" altLang="en-US" sz="2600">
                <a:solidFill>
                  <a:srgbClr val="2F2523"/>
                </a:solidFill>
                <a:latin typeface="Yu Gothic UI" panose="020B0500000000000000" pitchFamily="34" charset="-128"/>
                <a:ea typeface="Yu Gothic UI" panose="020B0500000000000000" pitchFamily="34" charset="-128"/>
              </a:rPr>
              <a:t>冨岡莉生</a:t>
            </a:r>
            <a:endParaRPr lang="en-US" altLang="ja-JP" sz="1500" dirty="0">
              <a:solidFill>
                <a:srgbClr val="2F2523"/>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375557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CF035-E797-A66D-04C6-14C04EF4F9C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9A07CF5-0CA4-5D3A-1326-EA02F158922F}"/>
              </a:ext>
            </a:extLst>
          </p:cNvPr>
          <p:cNvSpPr/>
          <p:nvPr/>
        </p:nvSpPr>
        <p:spPr>
          <a:xfrm>
            <a:off x="0" y="1"/>
            <a:ext cx="9144000" cy="440463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sp>
        <p:nvSpPr>
          <p:cNvPr id="5" name="タイトル 1">
            <a:extLst>
              <a:ext uri="{FF2B5EF4-FFF2-40B4-BE49-F238E27FC236}">
                <a16:creationId xmlns:a16="http://schemas.microsoft.com/office/drawing/2014/main" id="{2C08A184-5D33-BC01-659A-21436B109E3D}"/>
              </a:ext>
            </a:extLst>
          </p:cNvPr>
          <p:cNvSpPr>
            <a:spLocks noGrp="1"/>
          </p:cNvSpPr>
          <p:nvPr>
            <p:ph type="ctrTitle"/>
          </p:nvPr>
        </p:nvSpPr>
        <p:spPr>
          <a:xfrm>
            <a:off x="342901" y="1666380"/>
            <a:ext cx="8458198" cy="2738260"/>
          </a:xfrm>
        </p:spPr>
        <p:txBody>
          <a:bodyPr anchor="b">
            <a:normAutofit/>
          </a:bodyPr>
          <a:lstStyle/>
          <a:p>
            <a:pPr algn="l">
              <a:lnSpc>
                <a:spcPct val="100000"/>
              </a:lnSpc>
            </a:pPr>
            <a:r>
              <a:rPr kumimoji="1" lang="en-US" altLang="ja-JP" sz="3200" dirty="0">
                <a:solidFill>
                  <a:schemeClr val="bg1"/>
                </a:solidFill>
              </a:rPr>
              <a:t>2025</a:t>
            </a:r>
            <a:r>
              <a:rPr kumimoji="1" lang="ja-JP" altLang="en-US" sz="3200">
                <a:solidFill>
                  <a:schemeClr val="bg1"/>
                </a:solidFill>
              </a:rPr>
              <a:t>年度</a:t>
            </a:r>
            <a:r>
              <a:rPr lang="en-US" altLang="ja-JP" sz="3200" dirty="0">
                <a:solidFill>
                  <a:schemeClr val="bg1"/>
                </a:solidFill>
              </a:rPr>
              <a:t> </a:t>
            </a:r>
            <a:r>
              <a:rPr kumimoji="1" lang="ja-JP" altLang="en-US" sz="3200">
                <a:solidFill>
                  <a:schemeClr val="bg1"/>
                </a:solidFill>
              </a:rPr>
              <a:t>コンピュータシステム</a:t>
            </a:r>
            <a:br>
              <a:rPr lang="en-US" altLang="ja-JP" sz="3200" dirty="0">
                <a:solidFill>
                  <a:schemeClr val="bg1"/>
                </a:solidFill>
              </a:rPr>
            </a:br>
            <a:r>
              <a:rPr kumimoji="1" lang="ja-GB" altLang="en-US" sz="3200" dirty="0">
                <a:solidFill>
                  <a:schemeClr val="bg1"/>
                </a:solidFill>
              </a:rPr>
              <a:t>第</a:t>
            </a:r>
            <a:r>
              <a:rPr lang="en-US" altLang="ja-GB" sz="3200" dirty="0"/>
              <a:t>7</a:t>
            </a:r>
            <a:r>
              <a:rPr kumimoji="1" lang="ja-GB" altLang="en-US" sz="3200" dirty="0">
                <a:solidFill>
                  <a:schemeClr val="bg1"/>
                </a:solidFill>
              </a:rPr>
              <a:t>回：データ構造</a:t>
            </a:r>
            <a:br>
              <a:rPr kumimoji="1" lang="en-US" altLang="ja-JP" sz="2400" dirty="0">
                <a:solidFill>
                  <a:schemeClr val="bg1"/>
                </a:solidFill>
              </a:rPr>
            </a:br>
            <a:endParaRPr kumimoji="1" lang="ja-JP" altLang="en-US" sz="2400">
              <a:solidFill>
                <a:schemeClr val="bg1"/>
              </a:solidFill>
            </a:endParaRPr>
          </a:p>
        </p:txBody>
      </p:sp>
    </p:spTree>
    <p:extLst>
      <p:ext uri="{BB962C8B-B14F-4D97-AF65-F5344CB8AC3E}">
        <p14:creationId xmlns:p14="http://schemas.microsoft.com/office/powerpoint/2010/main" val="1080364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205FD-5DAA-EA29-6A22-7A194F8D566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B5A3EBC-589E-41BE-17AA-610655581F01}"/>
              </a:ext>
            </a:extLst>
          </p:cNvPr>
          <p:cNvSpPr>
            <a:spLocks noGrp="1"/>
          </p:cNvSpPr>
          <p:nvPr>
            <p:ph type="title"/>
          </p:nvPr>
        </p:nvSpPr>
        <p:spPr/>
        <p:txBody>
          <a:bodyPr/>
          <a:lstStyle/>
          <a:p>
            <a:r>
              <a:rPr lang="ja-GB" altLang="en-US" dirty="0"/>
              <a:t>第</a:t>
            </a:r>
            <a:r>
              <a:rPr lang="en-US" altLang="ja-GB" dirty="0"/>
              <a:t>7</a:t>
            </a:r>
            <a:r>
              <a:rPr lang="ja-GB" altLang="en-US" dirty="0"/>
              <a:t>回：データ構造</a:t>
            </a:r>
            <a:endParaRPr kumimoji="1" lang="ja-GB" altLang="en-US" dirty="0"/>
          </a:p>
        </p:txBody>
      </p:sp>
      <p:sp>
        <p:nvSpPr>
          <p:cNvPr id="3" name="コンテンツ プレースホルダー 2">
            <a:extLst>
              <a:ext uri="{FF2B5EF4-FFF2-40B4-BE49-F238E27FC236}">
                <a16:creationId xmlns:a16="http://schemas.microsoft.com/office/drawing/2014/main" id="{657AB484-5DFB-C878-056F-FB7EBF4ADA98}"/>
              </a:ext>
            </a:extLst>
          </p:cNvPr>
          <p:cNvSpPr>
            <a:spLocks noGrp="1"/>
          </p:cNvSpPr>
          <p:nvPr>
            <p:ph idx="1"/>
          </p:nvPr>
        </p:nvSpPr>
        <p:spPr/>
        <p:txBody>
          <a:bodyPr/>
          <a:lstStyle/>
          <a:p>
            <a:pPr marL="0" indent="0">
              <a:buNone/>
            </a:pPr>
            <a:r>
              <a:rPr lang="ja-GB" altLang="en-US" dirty="0"/>
              <a:t>計算手順の書きやすさや効率は，与えるデータの形で変わる</a:t>
            </a:r>
            <a:endParaRPr lang="en-US" altLang="ja-GB" dirty="0"/>
          </a:p>
          <a:p>
            <a:pPr marL="914400" lvl="1" indent="-457200">
              <a:buFont typeface="+mj-lt"/>
              <a:buAutoNum type="arabicPeriod"/>
            </a:pPr>
            <a:r>
              <a:rPr lang="ja-GB" altLang="en-US" dirty="0"/>
              <a:t>情報をまとめて扱うための構造</a:t>
            </a:r>
            <a:endParaRPr lang="en-US" altLang="ja-GB" dirty="0"/>
          </a:p>
          <a:p>
            <a:pPr lvl="2"/>
            <a:r>
              <a:rPr lang="ja-GB" altLang="en-US" dirty="0"/>
              <a:t>配列，集合，クラス</a:t>
            </a:r>
            <a:endParaRPr lang="en-US" altLang="ja-GB" dirty="0"/>
          </a:p>
          <a:p>
            <a:pPr marL="914400" lvl="1" indent="-457200">
              <a:buFont typeface="+mj-lt"/>
              <a:buAutoNum type="arabicPeriod"/>
            </a:pPr>
            <a:r>
              <a:rPr lang="ja-GB" altLang="en-US" dirty="0"/>
              <a:t>柔軟にデータ構造や数を書き換えるための構造</a:t>
            </a:r>
            <a:endParaRPr lang="en-US" altLang="ja-JP" dirty="0"/>
          </a:p>
          <a:p>
            <a:pPr lvl="2"/>
            <a:r>
              <a:rPr lang="ja-GB" altLang="en-US" dirty="0"/>
              <a:t>キュー，スタック，リスト，辞書</a:t>
            </a:r>
            <a:endParaRPr lang="en-US" altLang="ja-JP" dirty="0"/>
          </a:p>
          <a:p>
            <a:pPr marL="914400" lvl="1" indent="-457200">
              <a:buFont typeface="+mj-lt"/>
              <a:buAutoNum type="arabicPeriod"/>
            </a:pPr>
            <a:r>
              <a:rPr lang="ja-GB" altLang="en-US" dirty="0"/>
              <a:t>計算手順</a:t>
            </a:r>
            <a:r>
              <a:rPr lang="ja-JP" altLang="en-US"/>
              <a:t>を</a:t>
            </a:r>
            <a:r>
              <a:rPr lang="ja-GB" altLang="en-US" dirty="0"/>
              <a:t>簡易化，効率化するための</a:t>
            </a:r>
            <a:r>
              <a:rPr lang="ja-JP" altLang="en-US"/>
              <a:t>構造</a:t>
            </a:r>
            <a:endParaRPr lang="en-US" altLang="ja-JP" dirty="0"/>
          </a:p>
          <a:p>
            <a:pPr lvl="2"/>
            <a:r>
              <a:rPr lang="ja-GB" altLang="en-US" dirty="0"/>
              <a:t>ツリー，グラフ，リレーショナルデータベース</a:t>
            </a:r>
            <a:endParaRPr lang="en-US" altLang="ja-JP" dirty="0"/>
          </a:p>
          <a:p>
            <a:pPr lvl="2"/>
            <a:endParaRPr lang="ja-GB" altLang="en-US" dirty="0"/>
          </a:p>
        </p:txBody>
      </p:sp>
    </p:spTree>
    <p:extLst>
      <p:ext uri="{BB962C8B-B14F-4D97-AF65-F5344CB8AC3E}">
        <p14:creationId xmlns:p14="http://schemas.microsoft.com/office/powerpoint/2010/main" val="3009380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10C42-78AC-2639-F559-856A5EE48FC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CF9081C-DE38-43D7-73AA-4B21FBA594BD}"/>
              </a:ext>
            </a:extLst>
          </p:cNvPr>
          <p:cNvSpPr>
            <a:spLocks noGrp="1"/>
          </p:cNvSpPr>
          <p:nvPr>
            <p:ph type="title"/>
          </p:nvPr>
        </p:nvSpPr>
        <p:spPr/>
        <p:txBody>
          <a:bodyPr/>
          <a:lstStyle/>
          <a:p>
            <a:r>
              <a:rPr lang="ja-GB" altLang="en-US" dirty="0"/>
              <a:t>第</a:t>
            </a:r>
            <a:r>
              <a:rPr lang="en-US" altLang="ja-GB" dirty="0"/>
              <a:t>7</a:t>
            </a:r>
            <a:r>
              <a:rPr lang="ja-GB" altLang="en-US" dirty="0"/>
              <a:t>回：データ構造</a:t>
            </a:r>
            <a:endParaRPr kumimoji="1" lang="ja-GB" altLang="en-US" dirty="0"/>
          </a:p>
        </p:txBody>
      </p:sp>
      <p:sp>
        <p:nvSpPr>
          <p:cNvPr id="3" name="コンテンツ プレースホルダー 2">
            <a:extLst>
              <a:ext uri="{FF2B5EF4-FFF2-40B4-BE49-F238E27FC236}">
                <a16:creationId xmlns:a16="http://schemas.microsoft.com/office/drawing/2014/main" id="{BA045002-00FD-AC02-D595-58F439ED9E8C}"/>
              </a:ext>
            </a:extLst>
          </p:cNvPr>
          <p:cNvSpPr>
            <a:spLocks noGrp="1"/>
          </p:cNvSpPr>
          <p:nvPr>
            <p:ph idx="1"/>
          </p:nvPr>
        </p:nvSpPr>
        <p:spPr/>
        <p:txBody>
          <a:bodyPr/>
          <a:lstStyle/>
          <a:p>
            <a:pPr marL="0" indent="0">
              <a:buNone/>
            </a:pPr>
            <a:r>
              <a:rPr lang="ja-GB" altLang="en-US" dirty="0"/>
              <a:t>計算手順の書きやすさや効率は，与えるデータの形で変わる</a:t>
            </a:r>
            <a:endParaRPr lang="en-US" altLang="ja-GB" dirty="0"/>
          </a:p>
          <a:p>
            <a:pPr marL="914400" lvl="1" indent="-457200">
              <a:buFont typeface="+mj-lt"/>
              <a:buAutoNum type="arabicPeriod"/>
            </a:pPr>
            <a:r>
              <a:rPr lang="ja-GB" altLang="en-US" dirty="0">
                <a:solidFill>
                  <a:srgbClr val="0070C0"/>
                </a:solidFill>
              </a:rPr>
              <a:t>情報をまとめて扱うための構造</a:t>
            </a:r>
            <a:endParaRPr lang="en-US" altLang="ja-GB" dirty="0">
              <a:solidFill>
                <a:srgbClr val="0070C0"/>
              </a:solidFill>
            </a:endParaRPr>
          </a:p>
          <a:p>
            <a:pPr lvl="2"/>
            <a:r>
              <a:rPr lang="ja-GB" altLang="en-US" dirty="0"/>
              <a:t>配列，集合，クラス</a:t>
            </a:r>
            <a:endParaRPr lang="en-US" altLang="ja-GB" dirty="0"/>
          </a:p>
          <a:p>
            <a:pPr marL="914400" lvl="1" indent="-457200">
              <a:buFont typeface="+mj-lt"/>
              <a:buAutoNum type="arabicPeriod"/>
            </a:pPr>
            <a:r>
              <a:rPr lang="ja-GB" altLang="en-US" dirty="0"/>
              <a:t>柔軟にデータ構造や数を書き換えるための構造</a:t>
            </a:r>
            <a:endParaRPr lang="en-US" altLang="ja-JP" dirty="0"/>
          </a:p>
          <a:p>
            <a:pPr lvl="2"/>
            <a:r>
              <a:rPr lang="ja-GB" altLang="en-US" dirty="0"/>
              <a:t>キュー，スタック，リスト，辞書</a:t>
            </a:r>
            <a:endParaRPr lang="en-US" altLang="ja-JP" dirty="0"/>
          </a:p>
          <a:p>
            <a:pPr marL="914400" lvl="1" indent="-457200">
              <a:buFont typeface="+mj-lt"/>
              <a:buAutoNum type="arabicPeriod"/>
            </a:pPr>
            <a:r>
              <a:rPr lang="ja-GB" altLang="en-US" dirty="0"/>
              <a:t>計算手順</a:t>
            </a:r>
            <a:r>
              <a:rPr lang="ja-JP" altLang="en-US"/>
              <a:t>を</a:t>
            </a:r>
            <a:r>
              <a:rPr lang="ja-GB" altLang="en-US" dirty="0"/>
              <a:t>簡易化，効率化するための</a:t>
            </a:r>
            <a:r>
              <a:rPr lang="ja-JP" altLang="en-US"/>
              <a:t>構造</a:t>
            </a:r>
            <a:endParaRPr lang="en-US" altLang="ja-JP" dirty="0"/>
          </a:p>
          <a:p>
            <a:pPr lvl="2"/>
            <a:r>
              <a:rPr lang="ja-GB" altLang="en-US" dirty="0"/>
              <a:t>ツリー，グラフ，リレーショナルデータベース</a:t>
            </a:r>
            <a:endParaRPr lang="en-US" altLang="ja-JP" dirty="0"/>
          </a:p>
          <a:p>
            <a:pPr lvl="2"/>
            <a:endParaRPr lang="ja-GB" altLang="en-US" dirty="0"/>
          </a:p>
        </p:txBody>
      </p:sp>
    </p:spTree>
    <p:extLst>
      <p:ext uri="{BB962C8B-B14F-4D97-AF65-F5344CB8AC3E}">
        <p14:creationId xmlns:p14="http://schemas.microsoft.com/office/powerpoint/2010/main" val="3365820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265620-B9B0-F44D-81DE-1DA641F94EA5}"/>
              </a:ext>
            </a:extLst>
          </p:cNvPr>
          <p:cNvSpPr>
            <a:spLocks noGrp="1"/>
          </p:cNvSpPr>
          <p:nvPr>
            <p:ph type="title"/>
          </p:nvPr>
        </p:nvSpPr>
        <p:spPr/>
        <p:txBody>
          <a:bodyPr/>
          <a:lstStyle/>
          <a:p>
            <a:r>
              <a:rPr kumimoji="1" lang="ja-GB" altLang="en-US" dirty="0"/>
              <a:t>配列</a:t>
            </a:r>
          </a:p>
        </p:txBody>
      </p:sp>
      <p:sp>
        <p:nvSpPr>
          <p:cNvPr id="3" name="コンテンツ プレースホルダー 2">
            <a:extLst>
              <a:ext uri="{FF2B5EF4-FFF2-40B4-BE49-F238E27FC236}">
                <a16:creationId xmlns:a16="http://schemas.microsoft.com/office/drawing/2014/main" id="{A60C394F-2C9D-152B-020C-2D2B8C708464}"/>
              </a:ext>
            </a:extLst>
          </p:cNvPr>
          <p:cNvSpPr>
            <a:spLocks noGrp="1"/>
          </p:cNvSpPr>
          <p:nvPr>
            <p:ph idx="1"/>
          </p:nvPr>
        </p:nvSpPr>
        <p:spPr/>
        <p:txBody>
          <a:bodyPr/>
          <a:lstStyle/>
          <a:p>
            <a:pPr marL="0" indent="0">
              <a:buNone/>
            </a:pPr>
            <a:r>
              <a:rPr kumimoji="1" lang="ja-GB" altLang="en-US" dirty="0"/>
              <a:t>変数を並べて一つにまとめたもの</a:t>
            </a:r>
            <a:endParaRPr kumimoji="1" lang="en-US" altLang="ja-GB" dirty="0"/>
          </a:p>
          <a:p>
            <a:pPr marL="457200" lvl="1" indent="0">
              <a:buNone/>
            </a:pPr>
            <a:r>
              <a:rPr lang="ja-GB" altLang="en-US" dirty="0"/>
              <a:t>例）取扱商品一覧</a:t>
            </a:r>
            <a:endParaRPr lang="en-US" altLang="ja-GB" dirty="0"/>
          </a:p>
          <a:p>
            <a:pPr lvl="2"/>
            <a:endParaRPr lang="en-US" altLang="ja-GB" dirty="0"/>
          </a:p>
          <a:p>
            <a:pPr lvl="2"/>
            <a:endParaRPr lang="en-US" altLang="ja-GB" dirty="0"/>
          </a:p>
          <a:p>
            <a:pPr lvl="2"/>
            <a:endParaRPr lang="en-US" altLang="ja-GB" dirty="0"/>
          </a:p>
          <a:p>
            <a:pPr lvl="2"/>
            <a:endParaRPr lang="en-US" altLang="ja-GB" dirty="0"/>
          </a:p>
          <a:p>
            <a:pPr marL="457200" lvl="1" indent="0">
              <a:buNone/>
            </a:pPr>
            <a:r>
              <a:rPr lang="ja-GB" altLang="en-US" dirty="0"/>
              <a:t>機能</a:t>
            </a:r>
            <a:endParaRPr lang="en-US" altLang="ja-GB" dirty="0"/>
          </a:p>
          <a:p>
            <a:pPr lvl="2"/>
            <a:r>
              <a:rPr lang="ja-GB" altLang="en-US" dirty="0"/>
              <a:t>同じ型の変数を並べて</a:t>
            </a:r>
            <a:r>
              <a:rPr lang="en-US" altLang="ja-GB" dirty="0"/>
              <a:t>[]</a:t>
            </a:r>
            <a:r>
              <a:rPr lang="ja-GB" altLang="en-US" dirty="0"/>
              <a:t>に入れて定義する</a:t>
            </a:r>
            <a:endParaRPr lang="en-US" altLang="ja-GB" dirty="0"/>
          </a:p>
          <a:p>
            <a:pPr lvl="2"/>
            <a:r>
              <a:rPr lang="ja-GB" altLang="en-US" dirty="0"/>
              <a:t>場所を指定して情報を取り出す</a:t>
            </a:r>
            <a:endParaRPr lang="en-US" altLang="ja-GB" dirty="0"/>
          </a:p>
          <a:p>
            <a:pPr marL="1371600" lvl="3" indent="0">
              <a:buNone/>
            </a:pPr>
            <a:r>
              <a:rPr lang="ja-GB" altLang="en-US" dirty="0"/>
              <a:t>例）</a:t>
            </a:r>
            <a:r>
              <a:rPr lang="en-US" altLang="ja-GB" dirty="0"/>
              <a:t>fruits[0]</a:t>
            </a:r>
            <a:r>
              <a:rPr lang="ja-GB" altLang="en-US" dirty="0"/>
              <a:t>は</a:t>
            </a:r>
            <a:r>
              <a:rPr lang="en-US" altLang="ja-GB" dirty="0"/>
              <a:t>”apple”</a:t>
            </a:r>
            <a:r>
              <a:rPr lang="ja-GB" altLang="en-US" dirty="0"/>
              <a:t>，</a:t>
            </a:r>
            <a:r>
              <a:rPr lang="en-US" altLang="ja-GB" dirty="0"/>
              <a:t>fruits[1]</a:t>
            </a:r>
            <a:r>
              <a:rPr lang="ja-GB" altLang="en-US" dirty="0"/>
              <a:t>は</a:t>
            </a:r>
            <a:r>
              <a:rPr lang="en-US" altLang="ja-GB" dirty="0"/>
              <a:t>”banana”</a:t>
            </a:r>
          </a:p>
          <a:p>
            <a:pPr lvl="2"/>
            <a:r>
              <a:rPr lang="ja-GB" altLang="en-US" dirty="0"/>
              <a:t>場所を指定して情報を変更する</a:t>
            </a:r>
            <a:endParaRPr lang="en-US" altLang="ja-GB" dirty="0"/>
          </a:p>
          <a:p>
            <a:pPr marL="1371600" lvl="3" indent="0">
              <a:buNone/>
            </a:pPr>
            <a:r>
              <a:rPr lang="ja-GB" altLang="en-US" dirty="0"/>
              <a:t>例）</a:t>
            </a:r>
            <a:r>
              <a:rPr lang="en-US" altLang="ja-GB" dirty="0"/>
              <a:t>fruits[2] = “grape”</a:t>
            </a:r>
          </a:p>
          <a:p>
            <a:pPr marL="1371600" lvl="3" indent="0">
              <a:buNone/>
            </a:pPr>
            <a:r>
              <a:rPr lang="en-US" altLang="ja-GB" dirty="0"/>
              <a:t> </a:t>
            </a:r>
            <a:r>
              <a:rPr lang="ja-JP" altLang="en-US"/>
              <a:t>　　</a:t>
            </a:r>
            <a:r>
              <a:rPr lang="en-US" altLang="ja-JP" dirty="0"/>
              <a:t>→ </a:t>
            </a:r>
            <a:r>
              <a:rPr lang="en-US" altLang="ja-GB" dirty="0"/>
              <a:t>fruits= [“apple”, “banana”, “</a:t>
            </a:r>
            <a:r>
              <a:rPr lang="en-US" altLang="ja-GB" dirty="0">
                <a:solidFill>
                  <a:srgbClr val="0070C0"/>
                </a:solidFill>
              </a:rPr>
              <a:t>grape</a:t>
            </a:r>
            <a:r>
              <a:rPr lang="en-US" altLang="ja-GB" dirty="0"/>
              <a:t>”]</a:t>
            </a:r>
          </a:p>
          <a:p>
            <a:pPr lvl="2"/>
            <a:r>
              <a:rPr lang="ja-GB" altLang="en-US" dirty="0"/>
              <a:t>関数でサイズ（要素数）を確認する</a:t>
            </a:r>
            <a:endParaRPr lang="en-US" altLang="ja-GB" dirty="0"/>
          </a:p>
          <a:p>
            <a:pPr marL="1371600" lvl="3" indent="0">
              <a:buNone/>
            </a:pPr>
            <a:r>
              <a:rPr lang="ja-GB" altLang="en-US" dirty="0"/>
              <a:t>例）</a:t>
            </a:r>
            <a:r>
              <a:rPr lang="en-US" altLang="ja-GB" dirty="0" err="1"/>
              <a:t>number_of_fruits</a:t>
            </a:r>
            <a:r>
              <a:rPr lang="en-US" altLang="ja-GB" dirty="0"/>
              <a:t> = size(fruits) </a:t>
            </a:r>
          </a:p>
          <a:p>
            <a:pPr marL="1371600" lvl="3" indent="0">
              <a:buNone/>
            </a:pPr>
            <a:r>
              <a:rPr lang="ja-JP" altLang="en-US"/>
              <a:t>　　</a:t>
            </a:r>
            <a:r>
              <a:rPr lang="en-US" altLang="ja-JP" dirty="0"/>
              <a:t>→ </a:t>
            </a:r>
            <a:r>
              <a:rPr lang="en-US" altLang="ja-GB" dirty="0"/>
              <a:t> </a:t>
            </a:r>
            <a:r>
              <a:rPr lang="en-US" altLang="ja-GB" dirty="0">
                <a:solidFill>
                  <a:srgbClr val="0070C0"/>
                </a:solidFill>
              </a:rPr>
              <a:t>3</a:t>
            </a:r>
          </a:p>
          <a:p>
            <a:pPr lvl="4"/>
            <a:endParaRPr lang="en-US" altLang="ja-GB" dirty="0"/>
          </a:p>
          <a:p>
            <a:pPr lvl="2"/>
            <a:endParaRPr lang="en-US" altLang="ja-GB" dirty="0"/>
          </a:p>
        </p:txBody>
      </p:sp>
      <p:sp>
        <p:nvSpPr>
          <p:cNvPr id="4" name="テキスト ボックス 3">
            <a:extLst>
              <a:ext uri="{FF2B5EF4-FFF2-40B4-BE49-F238E27FC236}">
                <a16:creationId xmlns:a16="http://schemas.microsoft.com/office/drawing/2014/main" id="{398BCA56-2095-6FD2-F4BD-780CC06DB853}"/>
              </a:ext>
            </a:extLst>
          </p:cNvPr>
          <p:cNvSpPr txBox="1"/>
          <p:nvPr/>
        </p:nvSpPr>
        <p:spPr>
          <a:xfrm>
            <a:off x="2002867" y="1668545"/>
            <a:ext cx="5138266" cy="923330"/>
          </a:xfrm>
          <a:prstGeom prst="rect">
            <a:avLst/>
          </a:prstGeom>
          <a:solidFill>
            <a:schemeClr val="bg1">
              <a:lumMod val="85000"/>
            </a:schemeClr>
          </a:solidFill>
        </p:spPr>
        <p:txBody>
          <a:bodyPr wrap="none" rtlCol="0">
            <a:spAutoFit/>
          </a:bodyPr>
          <a:lstStyle/>
          <a:p>
            <a:r>
              <a:rPr lang="en-US" altLang="ja-GB" dirty="0"/>
              <a:t>Fruits        =  [“apple”, “banana”, “orange”]</a:t>
            </a:r>
          </a:p>
          <a:p>
            <a:r>
              <a:rPr lang="en-US" altLang="ja-GB" dirty="0"/>
              <a:t>vegetable =  [“tomato”, “paprika”, “okra”, “avocado”]</a:t>
            </a:r>
          </a:p>
          <a:p>
            <a:r>
              <a:rPr lang="en-US" altLang="ja-GB" dirty="0"/>
              <a:t>meat         =  [“beef”, “pork”, “chicken”, “mutton”]</a:t>
            </a:r>
          </a:p>
        </p:txBody>
      </p:sp>
    </p:spTree>
    <p:extLst>
      <p:ext uri="{BB962C8B-B14F-4D97-AF65-F5344CB8AC3E}">
        <p14:creationId xmlns:p14="http://schemas.microsoft.com/office/powerpoint/2010/main" val="817331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E2CEBA-C9BB-8B54-8410-25C8D66715A6}"/>
              </a:ext>
            </a:extLst>
          </p:cNvPr>
          <p:cNvSpPr>
            <a:spLocks noGrp="1"/>
          </p:cNvSpPr>
          <p:nvPr>
            <p:ph type="title"/>
          </p:nvPr>
        </p:nvSpPr>
        <p:spPr/>
        <p:txBody>
          <a:bodyPr/>
          <a:lstStyle/>
          <a:p>
            <a:r>
              <a:rPr lang="en-US" altLang="ja-GB" dirty="0"/>
              <a:t>2</a:t>
            </a:r>
            <a:r>
              <a:rPr lang="ja-GB" altLang="en-US" dirty="0"/>
              <a:t>次元配列（行列）</a:t>
            </a:r>
            <a:endParaRPr kumimoji="1" lang="ja-GB" altLang="en-US" dirty="0"/>
          </a:p>
        </p:txBody>
      </p:sp>
      <p:sp>
        <p:nvSpPr>
          <p:cNvPr id="3" name="コンテンツ プレースホルダー 2">
            <a:extLst>
              <a:ext uri="{FF2B5EF4-FFF2-40B4-BE49-F238E27FC236}">
                <a16:creationId xmlns:a16="http://schemas.microsoft.com/office/drawing/2014/main" id="{28507C59-26FB-D6DC-C058-7133106C10CB}"/>
              </a:ext>
            </a:extLst>
          </p:cNvPr>
          <p:cNvSpPr>
            <a:spLocks noGrp="1"/>
          </p:cNvSpPr>
          <p:nvPr>
            <p:ph idx="1"/>
          </p:nvPr>
        </p:nvSpPr>
        <p:spPr/>
        <p:txBody>
          <a:bodyPr/>
          <a:lstStyle/>
          <a:p>
            <a:pPr marL="0" indent="0">
              <a:buNone/>
            </a:pPr>
            <a:r>
              <a:rPr kumimoji="1" lang="ja-GB" altLang="en-US" dirty="0"/>
              <a:t>変数を二次元状（行と列）にまとめたもの</a:t>
            </a:r>
            <a:endParaRPr kumimoji="1" lang="en-US" altLang="ja-GB" dirty="0"/>
          </a:p>
          <a:p>
            <a:pPr marL="457200" lvl="1" indent="0">
              <a:buNone/>
            </a:pPr>
            <a:r>
              <a:rPr kumimoji="1" lang="ja-GB" altLang="en-US" dirty="0"/>
              <a:t>例）モノクロ画像</a:t>
            </a:r>
          </a:p>
        </p:txBody>
      </p:sp>
      <p:sp>
        <p:nvSpPr>
          <p:cNvPr id="4" name="正方形/長方形 3">
            <a:extLst>
              <a:ext uri="{FF2B5EF4-FFF2-40B4-BE49-F238E27FC236}">
                <a16:creationId xmlns:a16="http://schemas.microsoft.com/office/drawing/2014/main" id="{4D1749B4-1F6D-7779-5609-0463D839C206}"/>
              </a:ext>
            </a:extLst>
          </p:cNvPr>
          <p:cNvSpPr/>
          <p:nvPr/>
        </p:nvSpPr>
        <p:spPr>
          <a:xfrm>
            <a:off x="5411725" y="2180904"/>
            <a:ext cx="1810405" cy="347177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GB"/>
          </a:p>
        </p:txBody>
      </p:sp>
      <p:sp>
        <p:nvSpPr>
          <p:cNvPr id="5" name="正方形/長方形 4">
            <a:extLst>
              <a:ext uri="{FF2B5EF4-FFF2-40B4-BE49-F238E27FC236}">
                <a16:creationId xmlns:a16="http://schemas.microsoft.com/office/drawing/2014/main" id="{7BFDDEAB-E18D-194D-CA19-32F273CF75A7}"/>
              </a:ext>
            </a:extLst>
          </p:cNvPr>
          <p:cNvSpPr/>
          <p:nvPr/>
        </p:nvSpPr>
        <p:spPr>
          <a:xfrm>
            <a:off x="1870231" y="2180904"/>
            <a:ext cx="2368851" cy="347177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GB"/>
          </a:p>
        </p:txBody>
      </p:sp>
      <p:sp>
        <p:nvSpPr>
          <p:cNvPr id="6" name="テキスト ボックス 5">
            <a:extLst>
              <a:ext uri="{FF2B5EF4-FFF2-40B4-BE49-F238E27FC236}">
                <a16:creationId xmlns:a16="http://schemas.microsoft.com/office/drawing/2014/main" id="{E5122FAA-65CC-19FE-406A-08AAD268ACA1}"/>
              </a:ext>
            </a:extLst>
          </p:cNvPr>
          <p:cNvSpPr txBox="1"/>
          <p:nvPr/>
        </p:nvSpPr>
        <p:spPr>
          <a:xfrm>
            <a:off x="1985058" y="2263949"/>
            <a:ext cx="2194416" cy="1569660"/>
          </a:xfrm>
          <a:prstGeom prst="rect">
            <a:avLst/>
          </a:prstGeom>
          <a:noFill/>
        </p:spPr>
        <p:txBody>
          <a:bodyPr wrap="square" rtlCol="0">
            <a:spAutoFit/>
          </a:bodyPr>
          <a:lstStyle/>
          <a:p>
            <a:pPr algn="ctr"/>
            <a:r>
              <a:rPr lang="ja-GB" sz="1200" b="0" i="0" dirty="0">
                <a:solidFill>
                  <a:srgbClr val="0D0D0D"/>
                </a:solidFill>
                <a:effectLst/>
                <a:latin typeface="ui-monospace"/>
              </a:rPr>
              <a:t>0   0   1   1   1   1   0   0 </a:t>
            </a:r>
          </a:p>
          <a:p>
            <a:pPr algn="ctr"/>
            <a:r>
              <a:rPr lang="ja-GB" sz="1200" b="0" i="0" dirty="0">
                <a:solidFill>
                  <a:srgbClr val="0D0D0D"/>
                </a:solidFill>
                <a:effectLst/>
                <a:latin typeface="ui-monospace"/>
              </a:rPr>
              <a:t>0   1   0   0   0   0   1   0</a:t>
            </a:r>
          </a:p>
          <a:p>
            <a:pPr algn="ctr"/>
            <a:r>
              <a:rPr lang="ja-GB" sz="1200" b="0" i="0" dirty="0">
                <a:solidFill>
                  <a:srgbClr val="0D0D0D"/>
                </a:solidFill>
                <a:effectLst/>
                <a:latin typeface="ui-monospace"/>
              </a:rPr>
              <a:t>1   0   1   0   0   1   0   1</a:t>
            </a:r>
          </a:p>
          <a:p>
            <a:pPr algn="ctr"/>
            <a:r>
              <a:rPr lang="ja-GB" sz="1200" b="0" i="0" dirty="0">
                <a:solidFill>
                  <a:srgbClr val="0D0D0D"/>
                </a:solidFill>
                <a:effectLst/>
                <a:latin typeface="ui-monospace"/>
              </a:rPr>
              <a:t>1   0   0   0   0   0   0   1</a:t>
            </a:r>
          </a:p>
          <a:p>
            <a:pPr algn="ctr"/>
            <a:r>
              <a:rPr lang="ja-GB" sz="1200" b="0" i="0" dirty="0">
                <a:solidFill>
                  <a:srgbClr val="0D0D0D"/>
                </a:solidFill>
                <a:effectLst/>
                <a:latin typeface="ui-monospace"/>
              </a:rPr>
              <a:t>1   0   1   0   0   1   0   1</a:t>
            </a:r>
          </a:p>
          <a:p>
            <a:pPr algn="ctr"/>
            <a:r>
              <a:rPr lang="ja-GB" sz="1200" b="0" i="0" dirty="0">
                <a:solidFill>
                  <a:srgbClr val="0D0D0D"/>
                </a:solidFill>
                <a:effectLst/>
                <a:latin typeface="ui-monospace"/>
              </a:rPr>
              <a:t>1   0   0   1   1   0   0   1</a:t>
            </a:r>
          </a:p>
          <a:p>
            <a:pPr algn="ctr"/>
            <a:r>
              <a:rPr lang="ja-GB" sz="1200" b="0" i="0" dirty="0">
                <a:solidFill>
                  <a:srgbClr val="0D0D0D"/>
                </a:solidFill>
                <a:effectLst/>
                <a:latin typeface="ui-monospace"/>
              </a:rPr>
              <a:t>0   1   0   0   0   0   1   0</a:t>
            </a:r>
          </a:p>
          <a:p>
            <a:pPr algn="ctr"/>
            <a:r>
              <a:rPr lang="ja-GB" sz="1200" b="0" i="0" dirty="0">
                <a:solidFill>
                  <a:srgbClr val="0D0D0D"/>
                </a:solidFill>
                <a:effectLst/>
                <a:latin typeface="ui-monospace"/>
              </a:rPr>
              <a:t>0   0   1   1   1   1   0   0</a:t>
            </a:r>
            <a:endParaRPr lang="ja-GB" sz="1200" dirty="0"/>
          </a:p>
        </p:txBody>
      </p:sp>
      <p:pic>
        <p:nvPicPr>
          <p:cNvPr id="7" name="Picture 2" descr="プロット">
            <a:extLst>
              <a:ext uri="{FF2B5EF4-FFF2-40B4-BE49-F238E27FC236}">
                <a16:creationId xmlns:a16="http://schemas.microsoft.com/office/drawing/2014/main" id="{C627DB0A-E952-FD05-63A9-F1DD52B9FFF8}"/>
              </a:ext>
            </a:extLst>
          </p:cNvPr>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5562322" y="2319136"/>
            <a:ext cx="1525868" cy="1459285"/>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線矢印コネクタ 7">
            <a:extLst>
              <a:ext uri="{FF2B5EF4-FFF2-40B4-BE49-F238E27FC236}">
                <a16:creationId xmlns:a16="http://schemas.microsoft.com/office/drawing/2014/main" id="{688A80EB-72CF-73E2-324C-9FBD7DF09E5F}"/>
              </a:ext>
            </a:extLst>
          </p:cNvPr>
          <p:cNvCxnSpPr>
            <a:cxnSpLocks/>
          </p:cNvCxnSpPr>
          <p:nvPr/>
        </p:nvCxnSpPr>
        <p:spPr>
          <a:xfrm>
            <a:off x="4279937" y="3048778"/>
            <a:ext cx="1066495" cy="0"/>
          </a:xfrm>
          <a:prstGeom prst="straightConnector1">
            <a:avLst/>
          </a:prstGeom>
          <a:ln w="57150">
            <a:solidFill>
              <a:srgbClr val="2F2523"/>
            </a:solidFill>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E933E48C-E635-5CDE-A869-BB5F7C21B958}"/>
              </a:ext>
            </a:extLst>
          </p:cNvPr>
          <p:cNvSpPr txBox="1"/>
          <p:nvPr/>
        </p:nvSpPr>
        <p:spPr>
          <a:xfrm>
            <a:off x="1921427" y="3998607"/>
            <a:ext cx="2317656" cy="1569660"/>
          </a:xfrm>
          <a:prstGeom prst="rect">
            <a:avLst/>
          </a:prstGeom>
          <a:noFill/>
        </p:spPr>
        <p:txBody>
          <a:bodyPr wrap="square" rtlCol="0">
            <a:spAutoFit/>
          </a:bodyPr>
          <a:lstStyle/>
          <a:p>
            <a:pPr algn="l"/>
            <a:r>
              <a:rPr lang="en-GB" sz="1200" dirty="0">
                <a:solidFill>
                  <a:srgbClr val="000000"/>
                </a:solidFill>
                <a:latin typeface="ui-monospace"/>
              </a:rPr>
              <a:t>00</a:t>
            </a:r>
            <a:r>
              <a:rPr lang="en-GB" sz="1200" b="0" i="0" dirty="0">
                <a:solidFill>
                  <a:srgbClr val="000000"/>
                </a:solidFill>
                <a:effectLst/>
                <a:latin typeface="ui-monospace"/>
              </a:rPr>
              <a:t>0 030 060 090 120 150 180 210 </a:t>
            </a:r>
          </a:p>
          <a:p>
            <a:pPr algn="l"/>
            <a:r>
              <a:rPr lang="en-GB" sz="1200" dirty="0">
                <a:solidFill>
                  <a:srgbClr val="000000"/>
                </a:solidFill>
                <a:latin typeface="ui-monospace"/>
              </a:rPr>
              <a:t>0</a:t>
            </a:r>
            <a:r>
              <a:rPr lang="en-GB" sz="1200" b="0" i="0" dirty="0">
                <a:solidFill>
                  <a:srgbClr val="000000"/>
                </a:solidFill>
                <a:effectLst/>
                <a:latin typeface="ui-monospace"/>
              </a:rPr>
              <a:t>30 060 090 120 150 180 210 240 </a:t>
            </a:r>
          </a:p>
          <a:p>
            <a:pPr algn="l"/>
            <a:r>
              <a:rPr lang="en-GB" sz="1200" dirty="0">
                <a:solidFill>
                  <a:srgbClr val="000000"/>
                </a:solidFill>
                <a:latin typeface="ui-monospace"/>
              </a:rPr>
              <a:t>0</a:t>
            </a:r>
            <a:r>
              <a:rPr lang="en-GB" sz="1200" b="0" i="0" dirty="0">
                <a:solidFill>
                  <a:srgbClr val="000000"/>
                </a:solidFill>
                <a:effectLst/>
                <a:latin typeface="ui-monospace"/>
              </a:rPr>
              <a:t>60 090 120 150 180 210 240 255 </a:t>
            </a:r>
          </a:p>
          <a:p>
            <a:pPr algn="l"/>
            <a:r>
              <a:rPr lang="en-GB" sz="1200" dirty="0">
                <a:solidFill>
                  <a:srgbClr val="000000"/>
                </a:solidFill>
                <a:latin typeface="ui-monospace"/>
              </a:rPr>
              <a:t>0</a:t>
            </a:r>
            <a:r>
              <a:rPr lang="en-GB" sz="1200" b="0" i="0" dirty="0">
                <a:solidFill>
                  <a:srgbClr val="000000"/>
                </a:solidFill>
                <a:effectLst/>
                <a:latin typeface="ui-monospace"/>
              </a:rPr>
              <a:t>90 120 150 180 210 240 255 225 </a:t>
            </a:r>
          </a:p>
          <a:p>
            <a:pPr algn="l"/>
            <a:r>
              <a:rPr lang="en-GB" sz="1200" b="0" i="0" dirty="0">
                <a:solidFill>
                  <a:srgbClr val="000000"/>
                </a:solidFill>
                <a:effectLst/>
                <a:latin typeface="ui-monospace"/>
              </a:rPr>
              <a:t>120 150 180 210 240 255 225 195 </a:t>
            </a:r>
          </a:p>
          <a:p>
            <a:pPr algn="l"/>
            <a:r>
              <a:rPr lang="en-GB" sz="1200" b="0" i="0" dirty="0">
                <a:solidFill>
                  <a:srgbClr val="000000"/>
                </a:solidFill>
                <a:effectLst/>
                <a:latin typeface="ui-monospace"/>
              </a:rPr>
              <a:t>150 180 210 240 255 225 195 165 </a:t>
            </a:r>
          </a:p>
          <a:p>
            <a:pPr algn="l"/>
            <a:r>
              <a:rPr lang="en-GB" sz="1200" b="0" i="0" dirty="0">
                <a:solidFill>
                  <a:srgbClr val="000000"/>
                </a:solidFill>
                <a:effectLst/>
                <a:latin typeface="ui-monospace"/>
              </a:rPr>
              <a:t>180 210 240 255 225 195 165 135 </a:t>
            </a:r>
          </a:p>
          <a:p>
            <a:pPr algn="l"/>
            <a:r>
              <a:rPr lang="en-GB" sz="1200" b="0" i="0" dirty="0">
                <a:solidFill>
                  <a:srgbClr val="000000"/>
                </a:solidFill>
                <a:effectLst/>
                <a:latin typeface="ui-monospace"/>
              </a:rPr>
              <a:t>210 240 255 225 195 165 135 105</a:t>
            </a:r>
          </a:p>
        </p:txBody>
      </p:sp>
      <p:pic>
        <p:nvPicPr>
          <p:cNvPr id="10" name="Picture 2">
            <a:extLst>
              <a:ext uri="{FF2B5EF4-FFF2-40B4-BE49-F238E27FC236}">
                <a16:creationId xmlns:a16="http://schemas.microsoft.com/office/drawing/2014/main" id="{E73F6BEA-3BE9-2DC8-2084-0B493FD4117E}"/>
              </a:ext>
            </a:extLst>
          </p:cNvPr>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a:stretch/>
        </p:blipFill>
        <p:spPr bwMode="auto">
          <a:xfrm>
            <a:off x="5598530" y="4053794"/>
            <a:ext cx="1461655" cy="145928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線矢印コネクタ 10">
            <a:extLst>
              <a:ext uri="{FF2B5EF4-FFF2-40B4-BE49-F238E27FC236}">
                <a16:creationId xmlns:a16="http://schemas.microsoft.com/office/drawing/2014/main" id="{680B0044-63A5-1D60-60BD-B58B1253DAA2}"/>
              </a:ext>
            </a:extLst>
          </p:cNvPr>
          <p:cNvCxnSpPr>
            <a:cxnSpLocks/>
          </p:cNvCxnSpPr>
          <p:nvPr/>
        </p:nvCxnSpPr>
        <p:spPr>
          <a:xfrm>
            <a:off x="4279937" y="4783436"/>
            <a:ext cx="1066495" cy="0"/>
          </a:xfrm>
          <a:prstGeom prst="straightConnector1">
            <a:avLst/>
          </a:prstGeom>
          <a:ln w="57150">
            <a:solidFill>
              <a:srgbClr val="2F2523"/>
            </a:solidFill>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D2AA145C-92DD-E002-E9B8-8B899CC3B3D2}"/>
              </a:ext>
            </a:extLst>
          </p:cNvPr>
          <p:cNvSpPr txBox="1"/>
          <p:nvPr/>
        </p:nvSpPr>
        <p:spPr>
          <a:xfrm>
            <a:off x="1478845" y="5959216"/>
            <a:ext cx="6186309" cy="646331"/>
          </a:xfrm>
          <a:prstGeom prst="rect">
            <a:avLst/>
          </a:prstGeom>
          <a:noFill/>
        </p:spPr>
        <p:txBody>
          <a:bodyPr wrap="none" rtlCol="0">
            <a:spAutoFit/>
          </a:bodyPr>
          <a:lstStyle/>
          <a:p>
            <a:pPr algn="ctr"/>
            <a:r>
              <a:rPr lang="ja-GB" altLang="ja-GB" b="1" dirty="0">
                <a:solidFill>
                  <a:srgbClr val="2F2523"/>
                </a:solidFill>
              </a:rPr>
              <a:t>画像をたくさんの数値が縦横に並んだ情報として出力する</a:t>
            </a:r>
            <a:br>
              <a:rPr kumimoji="1" lang="en-US" altLang="ja-GB" b="1" dirty="0">
                <a:solidFill>
                  <a:srgbClr val="2F2523"/>
                </a:solidFill>
              </a:rPr>
            </a:br>
            <a:r>
              <a:rPr kumimoji="1" lang="ja-GB" altLang="en-US" b="1" dirty="0">
                <a:solidFill>
                  <a:schemeClr val="tx1">
                    <a:lumMod val="50000"/>
                    <a:lumOff val="50000"/>
                  </a:schemeClr>
                </a:solidFill>
              </a:rPr>
              <a:t>（第二回：計算機で画像を表示する仕組み）</a:t>
            </a:r>
            <a:endParaRPr lang="ja-GB" altLang="ja-GB" b="1" dirty="0">
              <a:solidFill>
                <a:schemeClr val="tx1">
                  <a:lumMod val="50000"/>
                  <a:lumOff val="50000"/>
                </a:schemeClr>
              </a:solidFill>
            </a:endParaRPr>
          </a:p>
        </p:txBody>
      </p:sp>
    </p:spTree>
    <p:extLst>
      <p:ext uri="{BB962C8B-B14F-4D97-AF65-F5344CB8AC3E}">
        <p14:creationId xmlns:p14="http://schemas.microsoft.com/office/powerpoint/2010/main" val="3934592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147598-B835-1EE6-83E8-ADC78BB1B5AE}"/>
              </a:ext>
            </a:extLst>
          </p:cNvPr>
          <p:cNvSpPr>
            <a:spLocks noGrp="1"/>
          </p:cNvSpPr>
          <p:nvPr>
            <p:ph type="title"/>
          </p:nvPr>
        </p:nvSpPr>
        <p:spPr/>
        <p:txBody>
          <a:bodyPr/>
          <a:lstStyle/>
          <a:p>
            <a:r>
              <a:rPr kumimoji="1" lang="ja-GB" altLang="en-US" dirty="0"/>
              <a:t>多次元配列</a:t>
            </a:r>
          </a:p>
        </p:txBody>
      </p:sp>
      <p:sp>
        <p:nvSpPr>
          <p:cNvPr id="3" name="コンテンツ プレースホルダー 2">
            <a:extLst>
              <a:ext uri="{FF2B5EF4-FFF2-40B4-BE49-F238E27FC236}">
                <a16:creationId xmlns:a16="http://schemas.microsoft.com/office/drawing/2014/main" id="{7F911D5B-FCD9-D645-D95B-2FB1E3FD15DC}"/>
              </a:ext>
            </a:extLst>
          </p:cNvPr>
          <p:cNvSpPr>
            <a:spLocks noGrp="1"/>
          </p:cNvSpPr>
          <p:nvPr>
            <p:ph idx="1"/>
          </p:nvPr>
        </p:nvSpPr>
        <p:spPr/>
        <p:txBody>
          <a:bodyPr/>
          <a:lstStyle/>
          <a:p>
            <a:pPr marL="0" indent="0">
              <a:buNone/>
            </a:pPr>
            <a:r>
              <a:rPr kumimoji="1" lang="ja-GB" altLang="en-US" dirty="0"/>
              <a:t>変数を</a:t>
            </a:r>
            <a:r>
              <a:rPr kumimoji="1" lang="en-US" altLang="ja-GB" dirty="0"/>
              <a:t>3</a:t>
            </a:r>
            <a:r>
              <a:rPr kumimoji="1" lang="ja-GB" altLang="en-US" dirty="0"/>
              <a:t>次元以上にまとめたもの</a:t>
            </a:r>
            <a:endParaRPr kumimoji="1" lang="en-US" altLang="ja-GB" dirty="0"/>
          </a:p>
          <a:p>
            <a:pPr lvl="1"/>
            <a:endParaRPr kumimoji="1" lang="ja-GB" altLang="en-US" dirty="0"/>
          </a:p>
        </p:txBody>
      </p:sp>
      <p:pic>
        <p:nvPicPr>
          <p:cNvPr id="15" name="図 14">
            <a:extLst>
              <a:ext uri="{FF2B5EF4-FFF2-40B4-BE49-F238E27FC236}">
                <a16:creationId xmlns:a16="http://schemas.microsoft.com/office/drawing/2014/main" id="{2EF00BDD-8C82-FCFF-84C4-B29E1CC1559C}"/>
              </a:ext>
            </a:extLst>
          </p:cNvPr>
          <p:cNvPicPr>
            <a:picLocks noChangeAspect="1"/>
          </p:cNvPicPr>
          <p:nvPr/>
        </p:nvPicPr>
        <p:blipFill>
          <a:blip r:embed="rId3"/>
          <a:stretch>
            <a:fillRect/>
          </a:stretch>
        </p:blipFill>
        <p:spPr>
          <a:xfrm>
            <a:off x="0" y="2503487"/>
            <a:ext cx="3921281" cy="2308057"/>
          </a:xfrm>
          <a:prstGeom prst="rect">
            <a:avLst/>
          </a:prstGeom>
        </p:spPr>
      </p:pic>
      <p:pic>
        <p:nvPicPr>
          <p:cNvPr id="21" name="図 20" descr="アイコン が含まれている画像&#10;&#10;AI によって生成されたコンテンツは間違っている可能性があります。">
            <a:extLst>
              <a:ext uri="{FF2B5EF4-FFF2-40B4-BE49-F238E27FC236}">
                <a16:creationId xmlns:a16="http://schemas.microsoft.com/office/drawing/2014/main" id="{6BADA3CD-DBDD-5EE2-8F1D-DB76A2D863BC}"/>
              </a:ext>
            </a:extLst>
          </p:cNvPr>
          <p:cNvPicPr>
            <a:picLocks noChangeAspect="1"/>
          </p:cNvPicPr>
          <p:nvPr/>
        </p:nvPicPr>
        <p:blipFill>
          <a:blip r:embed="rId4"/>
          <a:stretch>
            <a:fillRect/>
          </a:stretch>
        </p:blipFill>
        <p:spPr>
          <a:xfrm>
            <a:off x="6209740" y="2485809"/>
            <a:ext cx="691963" cy="691963"/>
          </a:xfrm>
          <a:prstGeom prst="rect">
            <a:avLst/>
          </a:prstGeom>
        </p:spPr>
      </p:pic>
      <p:grpSp>
        <p:nvGrpSpPr>
          <p:cNvPr id="22" name="グループ化 21">
            <a:extLst>
              <a:ext uri="{FF2B5EF4-FFF2-40B4-BE49-F238E27FC236}">
                <a16:creationId xmlns:a16="http://schemas.microsoft.com/office/drawing/2014/main" id="{7B9E8718-C914-FA10-04CF-B83FF043B3DA}"/>
              </a:ext>
            </a:extLst>
          </p:cNvPr>
          <p:cNvGrpSpPr>
            <a:grpSpLocks noChangeAspect="1"/>
          </p:cNvGrpSpPr>
          <p:nvPr/>
        </p:nvGrpSpPr>
        <p:grpSpPr>
          <a:xfrm>
            <a:off x="4094778" y="3995668"/>
            <a:ext cx="4921888" cy="460225"/>
            <a:chOff x="220391" y="3765761"/>
            <a:chExt cx="8923609" cy="834409"/>
          </a:xfrm>
        </p:grpSpPr>
        <p:sp>
          <p:nvSpPr>
            <p:cNvPr id="23" name="正方形/長方形 22">
              <a:extLst>
                <a:ext uri="{FF2B5EF4-FFF2-40B4-BE49-F238E27FC236}">
                  <a16:creationId xmlns:a16="http://schemas.microsoft.com/office/drawing/2014/main" id="{F10C0FA5-76EF-E97E-9A4D-E8A95673ECC7}"/>
                </a:ext>
              </a:extLst>
            </p:cNvPr>
            <p:cNvSpPr/>
            <p:nvPr/>
          </p:nvSpPr>
          <p:spPr>
            <a:xfrm>
              <a:off x="220391" y="4078798"/>
              <a:ext cx="8703218" cy="46481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ja-GB"/>
            </a:p>
          </p:txBody>
        </p:sp>
        <p:pic>
          <p:nvPicPr>
            <p:cNvPr id="24" name="図 23">
              <a:extLst>
                <a:ext uri="{FF2B5EF4-FFF2-40B4-BE49-F238E27FC236}">
                  <a16:creationId xmlns:a16="http://schemas.microsoft.com/office/drawing/2014/main" id="{0C3B725B-615F-A7A0-01C9-9A5030A9AEDF}"/>
                </a:ext>
              </a:extLst>
            </p:cNvPr>
            <p:cNvPicPr>
              <a:picLocks noChangeAspect="1"/>
            </p:cNvPicPr>
            <p:nvPr/>
          </p:nvPicPr>
          <p:blipFill>
            <a:blip r:embed="rId5" cstate="print">
              <a:extLst>
                <a:ext uri="{28A0092B-C50C-407E-A947-70E740481C1C}">
                  <a14:useLocalDpi xmlns:a14="http://schemas.microsoft.com/office/drawing/2010/main"/>
                </a:ext>
              </a:extLst>
            </a:blip>
            <a:srcRect b="-15233"/>
            <a:stretch/>
          </p:blipFill>
          <p:spPr>
            <a:xfrm>
              <a:off x="220391" y="3765761"/>
              <a:ext cx="8923609" cy="834409"/>
            </a:xfrm>
            <a:prstGeom prst="rect">
              <a:avLst/>
            </a:prstGeom>
          </p:spPr>
        </p:pic>
      </p:grpSp>
      <p:sp>
        <p:nvSpPr>
          <p:cNvPr id="25" name="テキスト ボックス 24">
            <a:extLst>
              <a:ext uri="{FF2B5EF4-FFF2-40B4-BE49-F238E27FC236}">
                <a16:creationId xmlns:a16="http://schemas.microsoft.com/office/drawing/2014/main" id="{DD36570D-5BDE-8199-5E29-85C9811E5FF4}"/>
              </a:ext>
            </a:extLst>
          </p:cNvPr>
          <p:cNvSpPr txBox="1"/>
          <p:nvPr/>
        </p:nvSpPr>
        <p:spPr>
          <a:xfrm>
            <a:off x="400757" y="4906922"/>
            <a:ext cx="3119765" cy="646331"/>
          </a:xfrm>
          <a:prstGeom prst="rect">
            <a:avLst/>
          </a:prstGeom>
          <a:noFill/>
        </p:spPr>
        <p:txBody>
          <a:bodyPr wrap="none" rtlCol="0">
            <a:spAutoFit/>
          </a:bodyPr>
          <a:lstStyle/>
          <a:p>
            <a:pPr algn="ctr"/>
            <a:r>
              <a:rPr kumimoji="1" lang="ja-GB" altLang="en-US" b="1" dirty="0">
                <a:solidFill>
                  <a:srgbClr val="2F2523"/>
                </a:solidFill>
              </a:rPr>
              <a:t>カラー画像は</a:t>
            </a:r>
            <a:r>
              <a:rPr kumimoji="1" lang="en-US" altLang="ja-GB" b="1" dirty="0">
                <a:solidFill>
                  <a:srgbClr val="2F2523"/>
                </a:solidFill>
              </a:rPr>
              <a:t>3</a:t>
            </a:r>
            <a:r>
              <a:rPr kumimoji="1" lang="ja-GB" altLang="en-US" b="1" dirty="0">
                <a:solidFill>
                  <a:srgbClr val="2F2523"/>
                </a:solidFill>
              </a:rPr>
              <a:t>次元配列</a:t>
            </a:r>
            <a:endParaRPr kumimoji="1" lang="en-US" altLang="ja-GB" b="1" dirty="0">
              <a:solidFill>
                <a:srgbClr val="2F2523"/>
              </a:solidFill>
            </a:endParaRPr>
          </a:p>
          <a:p>
            <a:pPr algn="ctr"/>
            <a:r>
              <a:rPr kumimoji="1" lang="ja-GB" altLang="en-US" b="1" dirty="0">
                <a:solidFill>
                  <a:srgbClr val="2F2523"/>
                </a:solidFill>
              </a:rPr>
              <a:t>（横，縦，</a:t>
            </a:r>
            <a:r>
              <a:rPr kumimoji="1" lang="en-US" altLang="ja-GB" b="1" dirty="0">
                <a:solidFill>
                  <a:srgbClr val="2F2523"/>
                </a:solidFill>
              </a:rPr>
              <a:t>RBG</a:t>
            </a:r>
            <a:r>
              <a:rPr kumimoji="1" lang="ja-GB" altLang="en-US" b="1" dirty="0">
                <a:solidFill>
                  <a:srgbClr val="2F2523"/>
                </a:solidFill>
              </a:rPr>
              <a:t>チャンネル）</a:t>
            </a:r>
          </a:p>
        </p:txBody>
      </p:sp>
      <p:sp>
        <p:nvSpPr>
          <p:cNvPr id="26" name="テキスト ボックス 25">
            <a:extLst>
              <a:ext uri="{FF2B5EF4-FFF2-40B4-BE49-F238E27FC236}">
                <a16:creationId xmlns:a16="http://schemas.microsoft.com/office/drawing/2014/main" id="{EE6682DE-BD58-F080-E49C-B136A04AC18B}"/>
              </a:ext>
            </a:extLst>
          </p:cNvPr>
          <p:cNvSpPr txBox="1"/>
          <p:nvPr/>
        </p:nvSpPr>
        <p:spPr>
          <a:xfrm>
            <a:off x="4527898" y="4907530"/>
            <a:ext cx="3934090" cy="646331"/>
          </a:xfrm>
          <a:prstGeom prst="rect">
            <a:avLst/>
          </a:prstGeom>
          <a:noFill/>
        </p:spPr>
        <p:txBody>
          <a:bodyPr wrap="none" rtlCol="0">
            <a:spAutoFit/>
          </a:bodyPr>
          <a:lstStyle/>
          <a:p>
            <a:pPr algn="ctr"/>
            <a:r>
              <a:rPr kumimoji="1" lang="ja-GB" altLang="en-US" b="1" dirty="0">
                <a:solidFill>
                  <a:srgbClr val="2F2523"/>
                </a:solidFill>
              </a:rPr>
              <a:t>カラー動画は</a:t>
            </a:r>
            <a:r>
              <a:rPr kumimoji="1" lang="en-US" altLang="ja-GB" b="1" dirty="0">
                <a:solidFill>
                  <a:srgbClr val="2F2523"/>
                </a:solidFill>
              </a:rPr>
              <a:t>4</a:t>
            </a:r>
            <a:r>
              <a:rPr kumimoji="1" lang="ja-GB" altLang="en-US" b="1" dirty="0">
                <a:solidFill>
                  <a:srgbClr val="2F2523"/>
                </a:solidFill>
              </a:rPr>
              <a:t>次元配列</a:t>
            </a:r>
            <a:endParaRPr kumimoji="1" lang="en-US" altLang="ja-GB" b="1" dirty="0">
              <a:solidFill>
                <a:srgbClr val="2F2523"/>
              </a:solidFill>
            </a:endParaRPr>
          </a:p>
          <a:p>
            <a:pPr algn="ctr"/>
            <a:r>
              <a:rPr kumimoji="1" lang="ja-GB" altLang="en-US" b="1" dirty="0">
                <a:solidFill>
                  <a:srgbClr val="2F2523"/>
                </a:solidFill>
              </a:rPr>
              <a:t>（横，縦，</a:t>
            </a:r>
            <a:r>
              <a:rPr kumimoji="1" lang="en-US" altLang="ja-GB" b="1" dirty="0">
                <a:solidFill>
                  <a:srgbClr val="2F2523"/>
                </a:solidFill>
              </a:rPr>
              <a:t>RBG</a:t>
            </a:r>
            <a:r>
              <a:rPr kumimoji="1" lang="ja-GB" altLang="en-US" b="1" dirty="0">
                <a:solidFill>
                  <a:srgbClr val="2F2523"/>
                </a:solidFill>
              </a:rPr>
              <a:t>チャンネル，時間）</a:t>
            </a:r>
          </a:p>
        </p:txBody>
      </p:sp>
      <p:cxnSp>
        <p:nvCxnSpPr>
          <p:cNvPr id="27" name="直線矢印コネクタ 26">
            <a:extLst>
              <a:ext uri="{FF2B5EF4-FFF2-40B4-BE49-F238E27FC236}">
                <a16:creationId xmlns:a16="http://schemas.microsoft.com/office/drawing/2014/main" id="{4233A29B-D94A-EBAE-2398-B6CBE4A26A23}"/>
              </a:ext>
            </a:extLst>
          </p:cNvPr>
          <p:cNvCxnSpPr>
            <a:cxnSpLocks/>
          </p:cNvCxnSpPr>
          <p:nvPr/>
        </p:nvCxnSpPr>
        <p:spPr>
          <a:xfrm>
            <a:off x="4094778" y="4628609"/>
            <a:ext cx="4908394" cy="0"/>
          </a:xfrm>
          <a:prstGeom prst="straightConnector1">
            <a:avLst/>
          </a:prstGeom>
          <a:ln w="76200">
            <a:gradFill flip="none" rotWithShape="1">
              <a:gsLst>
                <a:gs pos="0">
                  <a:schemeClr val="bg2">
                    <a:lumMod val="90000"/>
                  </a:schemeClr>
                </a:gs>
                <a:gs pos="42000">
                  <a:schemeClr val="bg2">
                    <a:lumMod val="50000"/>
                  </a:schemeClr>
                </a:gs>
                <a:gs pos="81000">
                  <a:schemeClr val="bg2">
                    <a:lumMod val="25000"/>
                  </a:schemeClr>
                </a:gs>
                <a:gs pos="58000">
                  <a:schemeClr val="bg2">
                    <a:lumMod val="25000"/>
                  </a:schemeClr>
                </a:gs>
                <a:gs pos="100000">
                  <a:schemeClr val="tx1">
                    <a:lumMod val="95000"/>
                    <a:lumOff val="5000"/>
                  </a:schemeClr>
                </a:gs>
              </a:gsLst>
              <a:lin ang="0" scaled="0"/>
              <a:tileRect/>
            </a:gra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7152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211062-CFE6-756F-2DFE-751FFB9B7989}"/>
              </a:ext>
            </a:extLst>
          </p:cNvPr>
          <p:cNvSpPr>
            <a:spLocks noGrp="1"/>
          </p:cNvSpPr>
          <p:nvPr>
            <p:ph type="title"/>
          </p:nvPr>
        </p:nvSpPr>
        <p:spPr/>
        <p:txBody>
          <a:bodyPr/>
          <a:lstStyle/>
          <a:p>
            <a:r>
              <a:rPr kumimoji="1" lang="ja-GB" altLang="en-US" dirty="0"/>
              <a:t>集合</a:t>
            </a:r>
          </a:p>
        </p:txBody>
      </p:sp>
      <p:sp>
        <p:nvSpPr>
          <p:cNvPr id="3" name="コンテンツ プレースホルダー 2">
            <a:extLst>
              <a:ext uri="{FF2B5EF4-FFF2-40B4-BE49-F238E27FC236}">
                <a16:creationId xmlns:a16="http://schemas.microsoft.com/office/drawing/2014/main" id="{5B66AEC1-E2DE-CA9C-27B5-E67A66C5EFB9}"/>
              </a:ext>
            </a:extLst>
          </p:cNvPr>
          <p:cNvSpPr>
            <a:spLocks noGrp="1"/>
          </p:cNvSpPr>
          <p:nvPr>
            <p:ph idx="1"/>
          </p:nvPr>
        </p:nvSpPr>
        <p:spPr/>
        <p:txBody>
          <a:bodyPr/>
          <a:lstStyle/>
          <a:p>
            <a:pPr marL="0" indent="0">
              <a:buNone/>
            </a:pPr>
            <a:r>
              <a:rPr kumimoji="1" lang="ja-GB" altLang="en-US" dirty="0"/>
              <a:t>場所や順序，重複のない要素の集まり</a:t>
            </a:r>
            <a:endParaRPr kumimoji="1" lang="en-US" altLang="ja-GB" dirty="0"/>
          </a:p>
          <a:p>
            <a:pPr marL="457200" lvl="1" indent="0">
              <a:buNone/>
            </a:pPr>
            <a:r>
              <a:rPr lang="ja-GB" altLang="en-US" dirty="0"/>
              <a:t>例）授業履修者の集合</a:t>
            </a:r>
            <a:endParaRPr lang="en-US" altLang="ja-GB" dirty="0"/>
          </a:p>
          <a:p>
            <a:pPr lvl="2"/>
            <a:r>
              <a:rPr lang="ja-GB" altLang="en-US" dirty="0"/>
              <a:t>英語履修者</a:t>
            </a:r>
            <a:r>
              <a:rPr lang="en-US" altLang="ja-GB" dirty="0"/>
              <a:t> = {A</a:t>
            </a:r>
            <a:r>
              <a:rPr lang="ja-GB" altLang="en-US" dirty="0"/>
              <a:t>さん，</a:t>
            </a:r>
            <a:r>
              <a:rPr lang="en-US" altLang="ja-GB" dirty="0"/>
              <a:t>C</a:t>
            </a:r>
            <a:r>
              <a:rPr lang="ja-GB" altLang="en-US" dirty="0"/>
              <a:t>さん，</a:t>
            </a:r>
            <a:r>
              <a:rPr lang="en-US" altLang="ja-GB" dirty="0"/>
              <a:t>D</a:t>
            </a:r>
            <a:r>
              <a:rPr lang="ja-GB" altLang="en-US" dirty="0"/>
              <a:t>さん</a:t>
            </a:r>
            <a:r>
              <a:rPr lang="en-US" altLang="ja-GB" dirty="0"/>
              <a:t>}</a:t>
            </a:r>
          </a:p>
          <a:p>
            <a:pPr lvl="2"/>
            <a:r>
              <a:rPr kumimoji="1" lang="ja-GB" altLang="en-US" dirty="0"/>
              <a:t>数学履修者</a:t>
            </a:r>
            <a:r>
              <a:rPr kumimoji="1" lang="en-US" altLang="ja-GB" dirty="0"/>
              <a:t> = {A</a:t>
            </a:r>
            <a:r>
              <a:rPr kumimoji="1" lang="ja-GB" altLang="en-US" dirty="0"/>
              <a:t>さん，</a:t>
            </a:r>
            <a:r>
              <a:rPr kumimoji="1" lang="en-US" altLang="ja-GB" dirty="0"/>
              <a:t>B</a:t>
            </a:r>
            <a:r>
              <a:rPr kumimoji="1" lang="ja-GB" altLang="en-US" dirty="0"/>
              <a:t>さん，</a:t>
            </a:r>
            <a:r>
              <a:rPr kumimoji="1" lang="en-US" altLang="ja-GB" dirty="0"/>
              <a:t>D</a:t>
            </a:r>
            <a:r>
              <a:rPr kumimoji="1" lang="ja-GB" altLang="en-US" dirty="0"/>
              <a:t>さん，</a:t>
            </a:r>
            <a:r>
              <a:rPr kumimoji="1" lang="en-US" altLang="ja-GB" dirty="0"/>
              <a:t>E</a:t>
            </a:r>
            <a:r>
              <a:rPr kumimoji="1" lang="ja-GB" altLang="en-US" dirty="0"/>
              <a:t>さん</a:t>
            </a:r>
            <a:r>
              <a:rPr kumimoji="1" lang="en-US" altLang="ja-GB" dirty="0"/>
              <a:t>}</a:t>
            </a:r>
          </a:p>
          <a:p>
            <a:pPr lvl="2"/>
            <a:r>
              <a:rPr lang="ja-GB" altLang="en-US" dirty="0"/>
              <a:t>英語履修者</a:t>
            </a:r>
            <a:r>
              <a:rPr lang="en-US" altLang="ja-GB" dirty="0"/>
              <a:t> </a:t>
            </a:r>
            <a:r>
              <a:rPr lang="ja-GB" altLang="en-US" dirty="0"/>
              <a:t>かつ</a:t>
            </a:r>
            <a:r>
              <a:rPr lang="en-US" altLang="ja-GB" dirty="0"/>
              <a:t> </a:t>
            </a:r>
            <a:r>
              <a:rPr lang="ja-GB" altLang="en-US" dirty="0"/>
              <a:t>数学履修者（</a:t>
            </a:r>
            <a:r>
              <a:rPr lang="en-US" altLang="ja-GB" dirty="0"/>
              <a:t>AND</a:t>
            </a:r>
            <a:r>
              <a:rPr lang="ja-GB" altLang="en-US" dirty="0"/>
              <a:t>）</a:t>
            </a:r>
            <a:endParaRPr lang="en-US" altLang="ja-GB" dirty="0"/>
          </a:p>
          <a:p>
            <a:pPr marL="1371600" lvl="3" indent="0">
              <a:buNone/>
            </a:pPr>
            <a:r>
              <a:rPr kumimoji="1" lang="en-US" altLang="ja-GB" dirty="0"/>
              <a:t>→ {A</a:t>
            </a:r>
            <a:r>
              <a:rPr kumimoji="1" lang="ja-GB" altLang="en-US" dirty="0"/>
              <a:t>さん，</a:t>
            </a:r>
            <a:r>
              <a:rPr kumimoji="1" lang="en-US" altLang="ja-GB" dirty="0"/>
              <a:t>D</a:t>
            </a:r>
            <a:r>
              <a:rPr kumimoji="1" lang="ja-GB" altLang="en-US" dirty="0"/>
              <a:t>さん</a:t>
            </a:r>
            <a:r>
              <a:rPr kumimoji="1" lang="en-US" altLang="ja-GB" dirty="0"/>
              <a:t>}</a:t>
            </a:r>
            <a:endParaRPr lang="en-US" altLang="ja-GB" dirty="0"/>
          </a:p>
          <a:p>
            <a:pPr lvl="2"/>
            <a:r>
              <a:rPr lang="ja-GB" altLang="en-US" dirty="0"/>
              <a:t>英語履修者</a:t>
            </a:r>
            <a:r>
              <a:rPr lang="en-US" altLang="ja-GB" dirty="0"/>
              <a:t> </a:t>
            </a:r>
            <a:r>
              <a:rPr lang="ja-GB" altLang="en-US" dirty="0"/>
              <a:t>または</a:t>
            </a:r>
            <a:r>
              <a:rPr lang="en-US" altLang="ja-GB" dirty="0"/>
              <a:t> </a:t>
            </a:r>
            <a:r>
              <a:rPr lang="ja-GB" altLang="en-US" dirty="0"/>
              <a:t>数学履修者（</a:t>
            </a:r>
            <a:r>
              <a:rPr lang="en-US" altLang="ja-GB" dirty="0"/>
              <a:t>OR</a:t>
            </a:r>
            <a:r>
              <a:rPr lang="ja-GB" altLang="en-US" dirty="0"/>
              <a:t>）</a:t>
            </a:r>
            <a:endParaRPr lang="en-US" altLang="ja-GB" dirty="0"/>
          </a:p>
          <a:p>
            <a:pPr marL="1371600" lvl="3" indent="0">
              <a:buNone/>
            </a:pPr>
            <a:r>
              <a:rPr kumimoji="1" lang="en-US" altLang="ja-GB" dirty="0"/>
              <a:t>→{A</a:t>
            </a:r>
            <a:r>
              <a:rPr kumimoji="1" lang="ja-GB" altLang="en-US" dirty="0"/>
              <a:t>さん，</a:t>
            </a:r>
            <a:r>
              <a:rPr kumimoji="1" lang="en-US" altLang="ja-GB" dirty="0"/>
              <a:t>B</a:t>
            </a:r>
            <a:r>
              <a:rPr kumimoji="1" lang="ja-GB" altLang="en-US" dirty="0"/>
              <a:t>さん，</a:t>
            </a:r>
            <a:r>
              <a:rPr kumimoji="1" lang="en-US" altLang="ja-GB" dirty="0"/>
              <a:t>C</a:t>
            </a:r>
            <a:r>
              <a:rPr kumimoji="1" lang="ja-GB" altLang="en-US" dirty="0"/>
              <a:t>さん，</a:t>
            </a:r>
            <a:r>
              <a:rPr kumimoji="1" lang="en-US" altLang="ja-GB" dirty="0"/>
              <a:t>D</a:t>
            </a:r>
            <a:r>
              <a:rPr lang="ja-GB" altLang="en-US" dirty="0"/>
              <a:t>さん，</a:t>
            </a:r>
            <a:r>
              <a:rPr lang="en-US" altLang="ja-GB" dirty="0"/>
              <a:t>E</a:t>
            </a:r>
            <a:r>
              <a:rPr lang="ja-GB" altLang="en-US" dirty="0"/>
              <a:t>さん</a:t>
            </a:r>
            <a:r>
              <a:rPr kumimoji="1" lang="en-US" altLang="ja-GB" dirty="0"/>
              <a:t>}  # </a:t>
            </a:r>
            <a:r>
              <a:rPr kumimoji="1" lang="ja-GB" altLang="en-US" dirty="0"/>
              <a:t>重複しない</a:t>
            </a:r>
            <a:endParaRPr kumimoji="1" lang="en-US" altLang="ja-GB" dirty="0"/>
          </a:p>
        </p:txBody>
      </p:sp>
      <p:grpSp>
        <p:nvGrpSpPr>
          <p:cNvPr id="6" name="グループ化 5">
            <a:extLst>
              <a:ext uri="{FF2B5EF4-FFF2-40B4-BE49-F238E27FC236}">
                <a16:creationId xmlns:a16="http://schemas.microsoft.com/office/drawing/2014/main" id="{D268C3C5-B9F6-E4EB-98B7-B5F7005AA7E3}"/>
              </a:ext>
            </a:extLst>
          </p:cNvPr>
          <p:cNvGrpSpPr/>
          <p:nvPr/>
        </p:nvGrpSpPr>
        <p:grpSpPr>
          <a:xfrm>
            <a:off x="2389992" y="3667027"/>
            <a:ext cx="4364016" cy="2909344"/>
            <a:chOff x="2160310" y="3695307"/>
            <a:chExt cx="4364016" cy="2909344"/>
          </a:xfrm>
        </p:grpSpPr>
        <p:sp>
          <p:nvSpPr>
            <p:cNvPr id="4" name="円/楕円 3">
              <a:extLst>
                <a:ext uri="{FF2B5EF4-FFF2-40B4-BE49-F238E27FC236}">
                  <a16:creationId xmlns:a16="http://schemas.microsoft.com/office/drawing/2014/main" id="{A845D7FF-963F-0EBA-EEB9-792E8F16E66D}"/>
                </a:ext>
              </a:extLst>
            </p:cNvPr>
            <p:cNvSpPr>
              <a:spLocks noChangeAspect="1"/>
            </p:cNvSpPr>
            <p:nvPr/>
          </p:nvSpPr>
          <p:spPr>
            <a:xfrm>
              <a:off x="3614982" y="3695307"/>
              <a:ext cx="2909344" cy="2909344"/>
            </a:xfrm>
            <a:prstGeom prst="ellipse">
              <a:avLst/>
            </a:prstGeom>
            <a:solidFill>
              <a:schemeClr val="accent1">
                <a:lumMod val="40000"/>
                <a:lumOff val="60000"/>
                <a:alpha val="3242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 name="円/楕円 4">
              <a:extLst>
                <a:ext uri="{FF2B5EF4-FFF2-40B4-BE49-F238E27FC236}">
                  <a16:creationId xmlns:a16="http://schemas.microsoft.com/office/drawing/2014/main" id="{9988BB11-A1EC-1BEA-10D3-BCF87771C2CE}"/>
                </a:ext>
              </a:extLst>
            </p:cNvPr>
            <p:cNvSpPr>
              <a:spLocks noChangeAspect="1"/>
            </p:cNvSpPr>
            <p:nvPr/>
          </p:nvSpPr>
          <p:spPr>
            <a:xfrm>
              <a:off x="2160310" y="3695307"/>
              <a:ext cx="2909344" cy="2909344"/>
            </a:xfrm>
            <a:prstGeom prst="ellipse">
              <a:avLst/>
            </a:prstGeom>
            <a:solidFill>
              <a:srgbClr val="C00000">
                <a:alpha val="1606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grpSp>
      <p:sp>
        <p:nvSpPr>
          <p:cNvPr id="7" name="テキスト ボックス 6">
            <a:extLst>
              <a:ext uri="{FF2B5EF4-FFF2-40B4-BE49-F238E27FC236}">
                <a16:creationId xmlns:a16="http://schemas.microsoft.com/office/drawing/2014/main" id="{4A3DBDD4-300E-1726-EB98-A97B6FB8001D}"/>
              </a:ext>
            </a:extLst>
          </p:cNvPr>
          <p:cNvSpPr txBox="1"/>
          <p:nvPr/>
        </p:nvSpPr>
        <p:spPr>
          <a:xfrm>
            <a:off x="4226392" y="4937033"/>
            <a:ext cx="691215" cy="369332"/>
          </a:xfrm>
          <a:prstGeom prst="rect">
            <a:avLst/>
          </a:prstGeom>
          <a:noFill/>
        </p:spPr>
        <p:txBody>
          <a:bodyPr wrap="none" rtlCol="0">
            <a:spAutoFit/>
          </a:bodyPr>
          <a:lstStyle/>
          <a:p>
            <a:r>
              <a:rPr kumimoji="1" lang="en-US" altLang="ja-GB" dirty="0"/>
              <a:t>A</a:t>
            </a:r>
            <a:r>
              <a:rPr kumimoji="1" lang="ja-GB" altLang="en-US" dirty="0"/>
              <a:t>，</a:t>
            </a:r>
            <a:r>
              <a:rPr kumimoji="1" lang="en-US" altLang="ja-GB" dirty="0"/>
              <a:t>D</a:t>
            </a:r>
            <a:endParaRPr kumimoji="1" lang="ja-GB" altLang="en-US" dirty="0"/>
          </a:p>
        </p:txBody>
      </p:sp>
      <p:sp>
        <p:nvSpPr>
          <p:cNvPr id="8" name="テキスト ボックス 7">
            <a:extLst>
              <a:ext uri="{FF2B5EF4-FFF2-40B4-BE49-F238E27FC236}">
                <a16:creationId xmlns:a16="http://schemas.microsoft.com/office/drawing/2014/main" id="{A29E97BD-4495-7F86-61AB-48133B728D76}"/>
              </a:ext>
            </a:extLst>
          </p:cNvPr>
          <p:cNvSpPr txBox="1"/>
          <p:nvPr/>
        </p:nvSpPr>
        <p:spPr>
          <a:xfrm>
            <a:off x="3034510" y="4937033"/>
            <a:ext cx="308098" cy="369332"/>
          </a:xfrm>
          <a:prstGeom prst="rect">
            <a:avLst/>
          </a:prstGeom>
          <a:noFill/>
        </p:spPr>
        <p:txBody>
          <a:bodyPr wrap="none" rtlCol="0">
            <a:spAutoFit/>
          </a:bodyPr>
          <a:lstStyle/>
          <a:p>
            <a:r>
              <a:rPr kumimoji="1" lang="en-US" altLang="ja-GB" dirty="0"/>
              <a:t>C</a:t>
            </a:r>
            <a:endParaRPr kumimoji="1" lang="ja-GB" altLang="en-US" dirty="0"/>
          </a:p>
        </p:txBody>
      </p:sp>
      <p:sp>
        <p:nvSpPr>
          <p:cNvPr id="9" name="テキスト ボックス 8">
            <a:extLst>
              <a:ext uri="{FF2B5EF4-FFF2-40B4-BE49-F238E27FC236}">
                <a16:creationId xmlns:a16="http://schemas.microsoft.com/office/drawing/2014/main" id="{3F098D3E-4978-F2A5-8881-6CB00E23120F}"/>
              </a:ext>
            </a:extLst>
          </p:cNvPr>
          <p:cNvSpPr txBox="1"/>
          <p:nvPr/>
        </p:nvSpPr>
        <p:spPr>
          <a:xfrm>
            <a:off x="5681064" y="4937033"/>
            <a:ext cx="652743" cy="369332"/>
          </a:xfrm>
          <a:prstGeom prst="rect">
            <a:avLst/>
          </a:prstGeom>
          <a:noFill/>
        </p:spPr>
        <p:txBody>
          <a:bodyPr wrap="none" rtlCol="0">
            <a:spAutoFit/>
          </a:bodyPr>
          <a:lstStyle/>
          <a:p>
            <a:r>
              <a:rPr kumimoji="1" lang="en-US" altLang="ja-GB" dirty="0"/>
              <a:t>B</a:t>
            </a:r>
            <a:r>
              <a:rPr kumimoji="1" lang="ja-GB" altLang="en-US" dirty="0"/>
              <a:t>，</a:t>
            </a:r>
            <a:r>
              <a:rPr kumimoji="1" lang="en-US" altLang="ja-GB" dirty="0"/>
              <a:t>E</a:t>
            </a:r>
            <a:endParaRPr kumimoji="1" lang="ja-GB" altLang="en-US" dirty="0"/>
          </a:p>
        </p:txBody>
      </p:sp>
      <p:sp>
        <p:nvSpPr>
          <p:cNvPr id="10" name="テキスト ボックス 9">
            <a:extLst>
              <a:ext uri="{FF2B5EF4-FFF2-40B4-BE49-F238E27FC236}">
                <a16:creationId xmlns:a16="http://schemas.microsoft.com/office/drawing/2014/main" id="{D6593C32-408C-22D7-13FB-8AB98DA48FAC}"/>
              </a:ext>
            </a:extLst>
          </p:cNvPr>
          <p:cNvSpPr txBox="1"/>
          <p:nvPr/>
        </p:nvSpPr>
        <p:spPr>
          <a:xfrm>
            <a:off x="6430842" y="6003235"/>
            <a:ext cx="646331" cy="369332"/>
          </a:xfrm>
          <a:prstGeom prst="rect">
            <a:avLst/>
          </a:prstGeom>
          <a:noFill/>
        </p:spPr>
        <p:txBody>
          <a:bodyPr wrap="none" rtlCol="0">
            <a:spAutoFit/>
          </a:bodyPr>
          <a:lstStyle/>
          <a:p>
            <a:r>
              <a:rPr kumimoji="1" lang="ja-GB" altLang="en-US" dirty="0"/>
              <a:t>数学</a:t>
            </a:r>
          </a:p>
        </p:txBody>
      </p:sp>
      <p:sp>
        <p:nvSpPr>
          <p:cNvPr id="11" name="テキスト ボックス 10">
            <a:extLst>
              <a:ext uri="{FF2B5EF4-FFF2-40B4-BE49-F238E27FC236}">
                <a16:creationId xmlns:a16="http://schemas.microsoft.com/office/drawing/2014/main" id="{4EC1258E-3474-40A6-40EB-FF880E5E63C9}"/>
              </a:ext>
            </a:extLst>
          </p:cNvPr>
          <p:cNvSpPr txBox="1"/>
          <p:nvPr/>
        </p:nvSpPr>
        <p:spPr>
          <a:xfrm>
            <a:off x="2092162" y="6003235"/>
            <a:ext cx="646331" cy="369332"/>
          </a:xfrm>
          <a:prstGeom prst="rect">
            <a:avLst/>
          </a:prstGeom>
          <a:noFill/>
        </p:spPr>
        <p:txBody>
          <a:bodyPr wrap="none" rtlCol="0">
            <a:spAutoFit/>
          </a:bodyPr>
          <a:lstStyle/>
          <a:p>
            <a:r>
              <a:rPr kumimoji="1" lang="ja-GB" altLang="en-US" dirty="0"/>
              <a:t>英語</a:t>
            </a:r>
          </a:p>
        </p:txBody>
      </p:sp>
    </p:spTree>
    <p:extLst>
      <p:ext uri="{BB962C8B-B14F-4D97-AF65-F5344CB8AC3E}">
        <p14:creationId xmlns:p14="http://schemas.microsoft.com/office/powerpoint/2010/main" val="561118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91FB80-3922-19A6-4D7E-1786B3009612}"/>
              </a:ext>
            </a:extLst>
          </p:cNvPr>
          <p:cNvSpPr>
            <a:spLocks noGrp="1"/>
          </p:cNvSpPr>
          <p:nvPr>
            <p:ph type="title"/>
          </p:nvPr>
        </p:nvSpPr>
        <p:spPr/>
        <p:txBody>
          <a:bodyPr/>
          <a:lstStyle/>
          <a:p>
            <a:r>
              <a:rPr kumimoji="1" lang="ja-GB" altLang="en-US" dirty="0"/>
              <a:t>動作するプログラムの例</a:t>
            </a:r>
            <a:r>
              <a:rPr lang="ja-GB" altLang="en-US" dirty="0"/>
              <a:t>（</a:t>
            </a:r>
            <a:r>
              <a:rPr kumimoji="1" lang="en-US" altLang="ja-GB" dirty="0"/>
              <a:t>Python</a:t>
            </a:r>
            <a:r>
              <a:rPr kumimoji="1" lang="ja-GB" altLang="en-US" dirty="0"/>
              <a:t>）</a:t>
            </a:r>
          </a:p>
        </p:txBody>
      </p:sp>
      <p:sp>
        <p:nvSpPr>
          <p:cNvPr id="3" name="コンテンツ プレースホルダー 2">
            <a:extLst>
              <a:ext uri="{FF2B5EF4-FFF2-40B4-BE49-F238E27FC236}">
                <a16:creationId xmlns:a16="http://schemas.microsoft.com/office/drawing/2014/main" id="{3D90786D-10EE-407D-21EB-8C8E510170FF}"/>
              </a:ext>
            </a:extLst>
          </p:cNvPr>
          <p:cNvSpPr>
            <a:spLocks noGrp="1"/>
          </p:cNvSpPr>
          <p:nvPr>
            <p:ph idx="1"/>
          </p:nvPr>
        </p:nvSpPr>
        <p:spPr>
          <a:xfrm>
            <a:off x="1255917" y="1238864"/>
            <a:ext cx="6632165" cy="4822722"/>
          </a:xfrm>
          <a:solidFill>
            <a:schemeClr val="bg1">
              <a:lumMod val="85000"/>
            </a:schemeClr>
          </a:solidFill>
        </p:spPr>
        <p:txBody>
          <a:bodyPr>
            <a:normAutofit fontScale="92500" lnSpcReduction="10000"/>
          </a:bodyPr>
          <a:lstStyle/>
          <a:p>
            <a:pPr marL="0" indent="0">
              <a:buNone/>
            </a:pPr>
            <a:r>
              <a:rPr lang="en-US" altLang="ja-JP" b="0" dirty="0">
                <a:solidFill>
                  <a:schemeClr val="accent6">
                    <a:lumMod val="50000"/>
                  </a:schemeClr>
                </a:solidFill>
              </a:rPr>
              <a:t># </a:t>
            </a:r>
            <a:r>
              <a:rPr lang="ja-JP" altLang="en-US" b="0">
                <a:solidFill>
                  <a:schemeClr val="accent6">
                    <a:lumMod val="50000"/>
                  </a:schemeClr>
                </a:solidFill>
              </a:rPr>
              <a:t>授業の履修者名簿を集合で定義</a:t>
            </a:r>
          </a:p>
          <a:p>
            <a:pPr marL="0" indent="0">
              <a:buNone/>
            </a:pPr>
            <a:r>
              <a:rPr lang="en-GB" altLang="ja-GB" b="0" dirty="0" err="1"/>
              <a:t>class_a</a:t>
            </a:r>
            <a:r>
              <a:rPr lang="en-GB" altLang="ja-GB" b="0" dirty="0"/>
              <a:t> = {"Alice", "Bob", "Charlie", "David"}</a:t>
            </a:r>
          </a:p>
          <a:p>
            <a:pPr marL="0" indent="0">
              <a:buNone/>
            </a:pPr>
            <a:r>
              <a:rPr lang="en-GB" altLang="ja-GB" b="0" dirty="0" err="1"/>
              <a:t>class_b</a:t>
            </a:r>
            <a:r>
              <a:rPr lang="en-GB" altLang="ja-GB" b="0" dirty="0"/>
              <a:t> = {"Charlie", "David", "Eve", "Frank"}</a:t>
            </a:r>
          </a:p>
          <a:p>
            <a:pPr marL="0" indent="0">
              <a:buNone/>
            </a:pPr>
            <a:endParaRPr lang="en-GB" altLang="ja-GB" b="0" dirty="0"/>
          </a:p>
          <a:p>
            <a:pPr marL="0" indent="0">
              <a:buNone/>
            </a:pPr>
            <a:r>
              <a:rPr lang="en-GB" altLang="ja-GB" b="0" dirty="0">
                <a:solidFill>
                  <a:schemeClr val="accent6">
                    <a:lumMod val="50000"/>
                  </a:schemeClr>
                </a:solidFill>
              </a:rPr>
              <a:t># A </a:t>
            </a:r>
            <a:r>
              <a:rPr lang="ja-GB" altLang="en-US" b="0" dirty="0">
                <a:solidFill>
                  <a:schemeClr val="accent6">
                    <a:lumMod val="50000"/>
                  </a:schemeClr>
                </a:solidFill>
              </a:rPr>
              <a:t>または</a:t>
            </a:r>
            <a:r>
              <a:rPr lang="en-US" altLang="ja-GB" b="0" dirty="0">
                <a:solidFill>
                  <a:schemeClr val="accent6">
                    <a:lumMod val="50000"/>
                  </a:schemeClr>
                </a:solidFill>
              </a:rPr>
              <a:t> B</a:t>
            </a:r>
            <a:r>
              <a:rPr lang="ja-JP" altLang="en-US" b="0">
                <a:solidFill>
                  <a:schemeClr val="accent6">
                    <a:lumMod val="50000"/>
                  </a:schemeClr>
                </a:solidFill>
              </a:rPr>
              <a:t>：どちらかの授業を履修している学生</a:t>
            </a:r>
          </a:p>
          <a:p>
            <a:pPr marL="0" indent="0">
              <a:buNone/>
            </a:pPr>
            <a:r>
              <a:rPr lang="en-GB" altLang="ja-GB" b="0" dirty="0"/>
              <a:t>union = </a:t>
            </a:r>
            <a:r>
              <a:rPr lang="en-GB" altLang="ja-GB" b="0" dirty="0" err="1"/>
              <a:t>class_a</a:t>
            </a:r>
            <a:r>
              <a:rPr lang="en-GB" altLang="ja-GB" b="0" dirty="0"/>
              <a:t> | </a:t>
            </a:r>
            <a:r>
              <a:rPr lang="en-GB" altLang="ja-GB" b="0" dirty="0" err="1"/>
              <a:t>class_b</a:t>
            </a:r>
            <a:endParaRPr lang="en-GB" altLang="ja-GB" b="0" dirty="0"/>
          </a:p>
          <a:p>
            <a:pPr marL="0" indent="0">
              <a:buNone/>
            </a:pPr>
            <a:endParaRPr lang="en-GB" altLang="ja-GB" b="0" dirty="0"/>
          </a:p>
          <a:p>
            <a:pPr marL="0" indent="0">
              <a:buNone/>
            </a:pPr>
            <a:r>
              <a:rPr lang="en-GB" altLang="ja-GB" b="0" dirty="0">
                <a:solidFill>
                  <a:schemeClr val="accent6">
                    <a:lumMod val="50000"/>
                  </a:schemeClr>
                </a:solidFill>
              </a:rPr>
              <a:t># A </a:t>
            </a:r>
            <a:r>
              <a:rPr lang="ja-GB" altLang="en-US" b="0" dirty="0">
                <a:solidFill>
                  <a:schemeClr val="accent6">
                    <a:lumMod val="50000"/>
                  </a:schemeClr>
                </a:solidFill>
              </a:rPr>
              <a:t>かつ</a:t>
            </a:r>
            <a:r>
              <a:rPr lang="en-US" altLang="ja-GB" b="0" dirty="0">
                <a:solidFill>
                  <a:schemeClr val="accent6">
                    <a:lumMod val="50000"/>
                  </a:schemeClr>
                </a:solidFill>
              </a:rPr>
              <a:t> B</a:t>
            </a:r>
            <a:r>
              <a:rPr lang="ja-JP" altLang="en-US" b="0">
                <a:solidFill>
                  <a:schemeClr val="accent6">
                    <a:lumMod val="50000"/>
                  </a:schemeClr>
                </a:solidFill>
              </a:rPr>
              <a:t>：両方の授業を履修している学生</a:t>
            </a:r>
          </a:p>
          <a:p>
            <a:pPr marL="0" indent="0">
              <a:buNone/>
            </a:pPr>
            <a:r>
              <a:rPr lang="en-GB" altLang="ja-GB" b="0" dirty="0"/>
              <a:t>intersection = </a:t>
            </a:r>
            <a:r>
              <a:rPr lang="en-GB" altLang="ja-GB" b="0" dirty="0" err="1"/>
              <a:t>class_a</a:t>
            </a:r>
            <a:r>
              <a:rPr lang="en-GB" altLang="ja-GB" b="0" dirty="0"/>
              <a:t> &amp; </a:t>
            </a:r>
            <a:r>
              <a:rPr lang="en-GB" altLang="ja-GB" b="0" dirty="0" err="1"/>
              <a:t>class_b</a:t>
            </a:r>
            <a:endParaRPr lang="en-GB" altLang="ja-GB" b="0" dirty="0"/>
          </a:p>
          <a:p>
            <a:pPr marL="0" indent="0">
              <a:buNone/>
            </a:pPr>
            <a:endParaRPr lang="en-GB" altLang="ja-GB" b="0" dirty="0"/>
          </a:p>
          <a:p>
            <a:pPr marL="0" indent="0">
              <a:buNone/>
            </a:pPr>
            <a:r>
              <a:rPr lang="en-GB" altLang="ja-GB" b="0" dirty="0">
                <a:solidFill>
                  <a:schemeClr val="accent6">
                    <a:lumMod val="50000"/>
                  </a:schemeClr>
                </a:solidFill>
              </a:rPr>
              <a:t># </a:t>
            </a:r>
            <a:r>
              <a:rPr lang="en-US" altLang="ja-GB" b="0" dirty="0">
                <a:solidFill>
                  <a:schemeClr val="accent6">
                    <a:lumMod val="50000"/>
                  </a:schemeClr>
                </a:solidFill>
              </a:rPr>
              <a:t>A – B</a:t>
            </a:r>
            <a:r>
              <a:rPr lang="ja-JP" altLang="en-US" b="0">
                <a:solidFill>
                  <a:schemeClr val="accent6">
                    <a:lumMod val="50000"/>
                  </a:schemeClr>
                </a:solidFill>
              </a:rPr>
              <a:t>：</a:t>
            </a:r>
            <a:r>
              <a:rPr lang="en-GB" altLang="ja-GB" b="0" dirty="0" err="1">
                <a:solidFill>
                  <a:schemeClr val="accent6">
                    <a:lumMod val="50000"/>
                  </a:schemeClr>
                </a:solidFill>
              </a:rPr>
              <a:t>class_a</a:t>
            </a:r>
            <a:r>
              <a:rPr lang="ja-JP" altLang="en-US" b="0">
                <a:solidFill>
                  <a:schemeClr val="accent6">
                    <a:lumMod val="50000"/>
                  </a:schemeClr>
                </a:solidFill>
              </a:rPr>
              <a:t>だけ履修している学生</a:t>
            </a:r>
          </a:p>
          <a:p>
            <a:pPr marL="0" indent="0">
              <a:buNone/>
            </a:pPr>
            <a:r>
              <a:rPr lang="en-GB" altLang="ja-GB" b="0" dirty="0" err="1"/>
              <a:t>only_a</a:t>
            </a:r>
            <a:r>
              <a:rPr lang="en-GB" altLang="ja-GB" b="0" dirty="0"/>
              <a:t> = </a:t>
            </a:r>
            <a:r>
              <a:rPr lang="en-GB" altLang="ja-GB" b="0" dirty="0" err="1"/>
              <a:t>class_a</a:t>
            </a:r>
            <a:r>
              <a:rPr lang="en-GB" altLang="ja-GB" b="0" dirty="0"/>
              <a:t> - </a:t>
            </a:r>
            <a:r>
              <a:rPr lang="en-GB" altLang="ja-GB" b="0" dirty="0" err="1"/>
              <a:t>class_b</a:t>
            </a:r>
            <a:endParaRPr lang="en-GB" altLang="ja-GB" b="0" dirty="0"/>
          </a:p>
        </p:txBody>
      </p:sp>
    </p:spTree>
    <p:extLst>
      <p:ext uri="{BB962C8B-B14F-4D97-AF65-F5344CB8AC3E}">
        <p14:creationId xmlns:p14="http://schemas.microsoft.com/office/powerpoint/2010/main" val="3840496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EDFC6A-935B-83EA-2660-04BB3B96CB60}"/>
              </a:ext>
            </a:extLst>
          </p:cNvPr>
          <p:cNvSpPr>
            <a:spLocks noGrp="1"/>
          </p:cNvSpPr>
          <p:nvPr>
            <p:ph type="title"/>
          </p:nvPr>
        </p:nvSpPr>
        <p:spPr/>
        <p:txBody>
          <a:bodyPr/>
          <a:lstStyle/>
          <a:p>
            <a:r>
              <a:rPr kumimoji="1" lang="ja-GB" altLang="en-US" dirty="0"/>
              <a:t>集合が使えないと複雑な記述になる（</a:t>
            </a:r>
            <a:r>
              <a:rPr kumimoji="1" lang="en-US" altLang="ja-GB" dirty="0"/>
              <a:t>Python</a:t>
            </a:r>
            <a:r>
              <a:rPr kumimoji="1" lang="ja-GB" altLang="en-US" dirty="0"/>
              <a:t>）</a:t>
            </a:r>
          </a:p>
        </p:txBody>
      </p:sp>
      <p:sp>
        <p:nvSpPr>
          <p:cNvPr id="3" name="コンテンツ プレースホルダー 2">
            <a:extLst>
              <a:ext uri="{FF2B5EF4-FFF2-40B4-BE49-F238E27FC236}">
                <a16:creationId xmlns:a16="http://schemas.microsoft.com/office/drawing/2014/main" id="{CCA74721-3219-C261-9C26-CBC0A114290B}"/>
              </a:ext>
            </a:extLst>
          </p:cNvPr>
          <p:cNvSpPr>
            <a:spLocks noGrp="1"/>
          </p:cNvSpPr>
          <p:nvPr>
            <p:ph idx="1"/>
          </p:nvPr>
        </p:nvSpPr>
        <p:spPr/>
        <p:txBody>
          <a:bodyPr/>
          <a:lstStyle/>
          <a:p>
            <a:endParaRPr lang="ja-GB" altLang="en-US"/>
          </a:p>
        </p:txBody>
      </p:sp>
      <p:grpSp>
        <p:nvGrpSpPr>
          <p:cNvPr id="7" name="グループ化 6">
            <a:extLst>
              <a:ext uri="{FF2B5EF4-FFF2-40B4-BE49-F238E27FC236}">
                <a16:creationId xmlns:a16="http://schemas.microsoft.com/office/drawing/2014/main" id="{9A9154E3-8EA4-11BF-80BA-3D0E589E7DC8}"/>
              </a:ext>
            </a:extLst>
          </p:cNvPr>
          <p:cNvGrpSpPr/>
          <p:nvPr/>
        </p:nvGrpSpPr>
        <p:grpSpPr>
          <a:xfrm>
            <a:off x="687713" y="757788"/>
            <a:ext cx="7768574" cy="5632311"/>
            <a:chOff x="850050" y="757788"/>
            <a:chExt cx="7768574" cy="5632311"/>
          </a:xfrm>
        </p:grpSpPr>
        <p:sp>
          <p:nvSpPr>
            <p:cNvPr id="4" name="テキスト ボックス 3">
              <a:extLst>
                <a:ext uri="{FF2B5EF4-FFF2-40B4-BE49-F238E27FC236}">
                  <a16:creationId xmlns:a16="http://schemas.microsoft.com/office/drawing/2014/main" id="{A0030BA2-358C-4D48-CA73-2379367F43A9}"/>
                </a:ext>
              </a:extLst>
            </p:cNvPr>
            <p:cNvSpPr txBox="1"/>
            <p:nvPr/>
          </p:nvSpPr>
          <p:spPr>
            <a:xfrm>
              <a:off x="3709908" y="757788"/>
              <a:ext cx="4908716" cy="5632311"/>
            </a:xfrm>
            <a:prstGeom prst="rect">
              <a:avLst/>
            </a:prstGeom>
            <a:solidFill>
              <a:schemeClr val="bg1">
                <a:lumMod val="85000"/>
              </a:schemeClr>
            </a:solidFill>
          </p:spPr>
          <p:txBody>
            <a:bodyPr wrap="none" rtlCol="0">
              <a:spAutoFit/>
            </a:bodyPr>
            <a:lstStyle/>
            <a:p>
              <a:r>
                <a:rPr lang="en-GB" altLang="ja-GB" dirty="0">
                  <a:solidFill>
                    <a:schemeClr val="accent6">
                      <a:lumMod val="50000"/>
                    </a:schemeClr>
                  </a:solidFill>
                </a:rPr>
                <a:t># b</a:t>
              </a:r>
              <a:r>
                <a:rPr lang="ja-JP" altLang="en-US">
                  <a:solidFill>
                    <a:schemeClr val="accent6">
                      <a:lumMod val="50000"/>
                    </a:schemeClr>
                  </a:solidFill>
                </a:rPr>
                <a:t>の値を</a:t>
              </a:r>
              <a:r>
                <a:rPr lang="en-GB" altLang="ja-GB" dirty="0">
                  <a:solidFill>
                    <a:schemeClr val="accent6">
                      <a:lumMod val="50000"/>
                    </a:schemeClr>
                  </a:solidFill>
                </a:rPr>
                <a:t>a</a:t>
              </a:r>
              <a:r>
                <a:rPr lang="ja-JP" altLang="en-US">
                  <a:solidFill>
                    <a:schemeClr val="accent6">
                      <a:lumMod val="50000"/>
                    </a:schemeClr>
                  </a:solidFill>
                </a:rPr>
                <a:t>と照合して、重複がなければ追加</a:t>
              </a:r>
            </a:p>
            <a:p>
              <a:r>
                <a:rPr lang="en-GB" altLang="ja-GB" dirty="0"/>
                <a:t>if b1 != a1 and b1 != a2 and b1 != a3 and b1 != a4:</a:t>
              </a:r>
            </a:p>
            <a:p>
              <a:r>
                <a:rPr lang="en-GB" altLang="ja-GB" dirty="0"/>
                <a:t>    u5 = b1</a:t>
              </a:r>
            </a:p>
            <a:p>
              <a:r>
                <a:rPr lang="en-GB" altLang="ja-GB" dirty="0"/>
                <a:t>else:</a:t>
              </a:r>
            </a:p>
            <a:p>
              <a:r>
                <a:rPr lang="en-GB" altLang="ja-GB" dirty="0"/>
                <a:t>    u5 = None</a:t>
              </a:r>
            </a:p>
            <a:p>
              <a:endParaRPr lang="en-GB" altLang="ja-GB" dirty="0"/>
            </a:p>
            <a:p>
              <a:r>
                <a:rPr lang="en-GB" altLang="ja-GB" dirty="0"/>
                <a:t>if b2 != a1 and b2 != a2 and b2 != a3 and b2 != a4:</a:t>
              </a:r>
            </a:p>
            <a:p>
              <a:r>
                <a:rPr lang="en-GB" altLang="ja-GB" dirty="0"/>
                <a:t>    u6 = b2</a:t>
              </a:r>
            </a:p>
            <a:p>
              <a:r>
                <a:rPr lang="en-GB" altLang="ja-GB" dirty="0"/>
                <a:t>else:</a:t>
              </a:r>
            </a:p>
            <a:p>
              <a:r>
                <a:rPr lang="en-GB" altLang="ja-GB" dirty="0"/>
                <a:t>    u6 = None</a:t>
              </a:r>
            </a:p>
            <a:p>
              <a:endParaRPr lang="en-GB" altLang="ja-GB" dirty="0"/>
            </a:p>
            <a:p>
              <a:r>
                <a:rPr lang="en-GB" altLang="ja-GB" dirty="0"/>
                <a:t>if b3 != a1 and b3 != a2 and b3 != a3 and b3 != a4:</a:t>
              </a:r>
            </a:p>
            <a:p>
              <a:r>
                <a:rPr lang="en-GB" altLang="ja-GB" dirty="0"/>
                <a:t>    u7 = b3</a:t>
              </a:r>
            </a:p>
            <a:p>
              <a:r>
                <a:rPr lang="en-GB" altLang="ja-GB" dirty="0"/>
                <a:t>else:</a:t>
              </a:r>
            </a:p>
            <a:p>
              <a:r>
                <a:rPr lang="en-GB" altLang="ja-GB" dirty="0"/>
                <a:t>    u7 = None</a:t>
              </a:r>
            </a:p>
            <a:p>
              <a:endParaRPr lang="en-GB" altLang="ja-GB" dirty="0"/>
            </a:p>
            <a:p>
              <a:r>
                <a:rPr lang="en-GB" altLang="ja-GB" dirty="0"/>
                <a:t>if b4 != a1 and b4 != a2 and b4 != a3 and b4 != a4:</a:t>
              </a:r>
            </a:p>
            <a:p>
              <a:r>
                <a:rPr lang="en-GB" altLang="ja-GB" dirty="0"/>
                <a:t>    u8 = b4</a:t>
              </a:r>
            </a:p>
            <a:p>
              <a:r>
                <a:rPr lang="en-GB" altLang="ja-GB" dirty="0"/>
                <a:t>else:</a:t>
              </a:r>
            </a:p>
            <a:p>
              <a:r>
                <a:rPr lang="en-GB" altLang="ja-GB" dirty="0"/>
                <a:t>    u8 = None</a:t>
              </a:r>
              <a:endParaRPr kumimoji="1" lang="ja-GB" altLang="en-US" dirty="0"/>
            </a:p>
          </p:txBody>
        </p:sp>
        <p:sp>
          <p:nvSpPr>
            <p:cNvPr id="5" name="テキスト ボックス 4">
              <a:extLst>
                <a:ext uri="{FF2B5EF4-FFF2-40B4-BE49-F238E27FC236}">
                  <a16:creationId xmlns:a16="http://schemas.microsoft.com/office/drawing/2014/main" id="{77C844F0-6A35-BE09-78A5-282EBB167DB8}"/>
                </a:ext>
              </a:extLst>
            </p:cNvPr>
            <p:cNvSpPr txBox="1"/>
            <p:nvPr/>
          </p:nvSpPr>
          <p:spPr>
            <a:xfrm>
              <a:off x="850050" y="1146714"/>
              <a:ext cx="2007281" cy="4524315"/>
            </a:xfrm>
            <a:prstGeom prst="rect">
              <a:avLst/>
            </a:prstGeom>
            <a:solidFill>
              <a:schemeClr val="bg1">
                <a:lumMod val="85000"/>
              </a:schemeClr>
            </a:solidFill>
          </p:spPr>
          <p:txBody>
            <a:bodyPr wrap="none" rtlCol="0">
              <a:spAutoFit/>
            </a:bodyPr>
            <a:lstStyle/>
            <a:p>
              <a:r>
                <a:rPr lang="en-GB" altLang="ja-GB" dirty="0">
                  <a:solidFill>
                    <a:schemeClr val="accent6">
                      <a:lumMod val="50000"/>
                    </a:schemeClr>
                  </a:solidFill>
                </a:rPr>
                <a:t># </a:t>
              </a:r>
              <a:r>
                <a:rPr lang="en-GB" altLang="ja-GB" dirty="0" err="1">
                  <a:solidFill>
                    <a:schemeClr val="accent6">
                      <a:lumMod val="50000"/>
                    </a:schemeClr>
                  </a:solidFill>
                </a:rPr>
                <a:t>class_a</a:t>
              </a:r>
              <a:r>
                <a:rPr lang="en-GB" altLang="ja-GB" dirty="0">
                  <a:solidFill>
                    <a:schemeClr val="accent6">
                      <a:lumMod val="50000"/>
                    </a:schemeClr>
                  </a:solidFill>
                </a:rPr>
                <a:t> </a:t>
              </a:r>
              <a:r>
                <a:rPr lang="ja-JP" altLang="en-US">
                  <a:solidFill>
                    <a:schemeClr val="accent6">
                      <a:lumMod val="50000"/>
                    </a:schemeClr>
                  </a:solidFill>
                </a:rPr>
                <a:t>の履修者</a:t>
              </a:r>
            </a:p>
            <a:p>
              <a:r>
                <a:rPr lang="en-GB" altLang="ja-GB" dirty="0"/>
                <a:t>a1 = "Alice"</a:t>
              </a:r>
            </a:p>
            <a:p>
              <a:r>
                <a:rPr lang="en-GB" altLang="ja-GB" dirty="0"/>
                <a:t>a2 = "Bob"</a:t>
              </a:r>
            </a:p>
            <a:p>
              <a:r>
                <a:rPr lang="en-GB" altLang="ja-GB" dirty="0"/>
                <a:t>a3 = "Charlie"</a:t>
              </a:r>
            </a:p>
            <a:p>
              <a:r>
                <a:rPr lang="en-GB" altLang="ja-GB" dirty="0"/>
                <a:t>a4 = "David"</a:t>
              </a:r>
            </a:p>
            <a:p>
              <a:endParaRPr lang="en-GB" altLang="ja-GB" dirty="0"/>
            </a:p>
            <a:p>
              <a:r>
                <a:rPr lang="en-GB" altLang="ja-GB" dirty="0">
                  <a:solidFill>
                    <a:schemeClr val="accent6">
                      <a:lumMod val="50000"/>
                    </a:schemeClr>
                  </a:solidFill>
                </a:rPr>
                <a:t># </a:t>
              </a:r>
              <a:r>
                <a:rPr lang="en-GB" altLang="ja-GB" dirty="0" err="1">
                  <a:solidFill>
                    <a:schemeClr val="accent6">
                      <a:lumMod val="50000"/>
                    </a:schemeClr>
                  </a:solidFill>
                </a:rPr>
                <a:t>class_b</a:t>
              </a:r>
              <a:r>
                <a:rPr lang="en-GB" altLang="ja-GB" dirty="0">
                  <a:solidFill>
                    <a:schemeClr val="accent6">
                      <a:lumMod val="50000"/>
                    </a:schemeClr>
                  </a:solidFill>
                </a:rPr>
                <a:t> </a:t>
              </a:r>
              <a:r>
                <a:rPr lang="ja-JP" altLang="en-US">
                  <a:solidFill>
                    <a:schemeClr val="accent6">
                      <a:lumMod val="50000"/>
                    </a:schemeClr>
                  </a:solidFill>
                </a:rPr>
                <a:t>の履修者</a:t>
              </a:r>
            </a:p>
            <a:p>
              <a:r>
                <a:rPr lang="en-GB" altLang="ja-GB" dirty="0"/>
                <a:t>b1 = "Charlie"</a:t>
              </a:r>
            </a:p>
            <a:p>
              <a:r>
                <a:rPr lang="en-GB" altLang="ja-GB" dirty="0"/>
                <a:t>b2 = "David"</a:t>
              </a:r>
            </a:p>
            <a:p>
              <a:r>
                <a:rPr lang="en-GB" altLang="ja-GB" dirty="0"/>
                <a:t>b3 = "Eve"</a:t>
              </a:r>
            </a:p>
            <a:p>
              <a:r>
                <a:rPr lang="en-GB" altLang="ja-GB" dirty="0"/>
                <a:t>b4 = "Frank"</a:t>
              </a:r>
            </a:p>
            <a:p>
              <a:r>
                <a:rPr lang="en-GB" altLang="ja-GB" dirty="0"/>
                <a:t>u1 = a1  # Alice</a:t>
              </a:r>
            </a:p>
            <a:p>
              <a:r>
                <a:rPr lang="en-GB" altLang="ja-GB" dirty="0"/>
                <a:t>u2 = a2  # Bob</a:t>
              </a:r>
            </a:p>
            <a:p>
              <a:r>
                <a:rPr lang="en-GB" altLang="ja-GB" dirty="0"/>
                <a:t>u3 = a3  # Charlie</a:t>
              </a:r>
            </a:p>
            <a:p>
              <a:r>
                <a:rPr lang="en-GB" altLang="ja-GB" dirty="0"/>
                <a:t>u4 = a4  # David</a:t>
              </a:r>
            </a:p>
            <a:p>
              <a:endParaRPr kumimoji="1" lang="ja-GB" altLang="en-US" dirty="0"/>
            </a:p>
          </p:txBody>
        </p:sp>
      </p:grpSp>
      <p:sp>
        <p:nvSpPr>
          <p:cNvPr id="6" name="テキスト ボックス 5">
            <a:extLst>
              <a:ext uri="{FF2B5EF4-FFF2-40B4-BE49-F238E27FC236}">
                <a16:creationId xmlns:a16="http://schemas.microsoft.com/office/drawing/2014/main" id="{D36EC253-4549-C50D-4DF2-05B77CF01C2D}"/>
              </a:ext>
            </a:extLst>
          </p:cNvPr>
          <p:cNvSpPr txBox="1"/>
          <p:nvPr/>
        </p:nvSpPr>
        <p:spPr>
          <a:xfrm>
            <a:off x="268584" y="6470989"/>
            <a:ext cx="8606843" cy="369332"/>
          </a:xfrm>
          <a:prstGeom prst="rect">
            <a:avLst/>
          </a:prstGeom>
          <a:noFill/>
        </p:spPr>
        <p:txBody>
          <a:bodyPr wrap="none" rtlCol="0">
            <a:spAutoFit/>
          </a:bodyPr>
          <a:lstStyle/>
          <a:p>
            <a:pPr algn="ctr"/>
            <a:r>
              <a:rPr lang="ja-GB" altLang="en-US" b="1" dirty="0">
                <a:solidFill>
                  <a:srgbClr val="2F2523"/>
                </a:solidFill>
              </a:rPr>
              <a:t>変数と条件分岐のみで「クラス</a:t>
            </a:r>
            <a:r>
              <a:rPr lang="en-US" altLang="ja-GB" b="1" dirty="0">
                <a:solidFill>
                  <a:srgbClr val="2F2523"/>
                </a:solidFill>
              </a:rPr>
              <a:t>a</a:t>
            </a:r>
            <a:r>
              <a:rPr lang="ja-GB" altLang="en-US" b="1" dirty="0">
                <a:solidFill>
                  <a:srgbClr val="2F2523"/>
                </a:solidFill>
              </a:rPr>
              <a:t>履修者</a:t>
            </a:r>
            <a:r>
              <a:rPr lang="en-US" altLang="ja-GB" b="1" dirty="0">
                <a:solidFill>
                  <a:srgbClr val="2F2523"/>
                </a:solidFill>
              </a:rPr>
              <a:t> </a:t>
            </a:r>
            <a:r>
              <a:rPr lang="ja-GB" altLang="en-US" b="1" dirty="0">
                <a:solidFill>
                  <a:srgbClr val="2F2523"/>
                </a:solidFill>
              </a:rPr>
              <a:t>かつ</a:t>
            </a:r>
            <a:r>
              <a:rPr lang="en-US" altLang="ja-GB" b="1" dirty="0">
                <a:solidFill>
                  <a:srgbClr val="2F2523"/>
                </a:solidFill>
              </a:rPr>
              <a:t> </a:t>
            </a:r>
            <a:r>
              <a:rPr lang="ja-GB" altLang="en-US" b="1" dirty="0">
                <a:solidFill>
                  <a:srgbClr val="2F2523"/>
                </a:solidFill>
              </a:rPr>
              <a:t>クラス</a:t>
            </a:r>
            <a:r>
              <a:rPr lang="en-US" altLang="ja-GB" b="1" dirty="0">
                <a:solidFill>
                  <a:srgbClr val="2F2523"/>
                </a:solidFill>
              </a:rPr>
              <a:t>b</a:t>
            </a:r>
            <a:r>
              <a:rPr lang="ja-GB" altLang="en-US" b="1" dirty="0">
                <a:solidFill>
                  <a:srgbClr val="2F2523"/>
                </a:solidFill>
              </a:rPr>
              <a:t>履修者」を導出する計算手順</a:t>
            </a:r>
            <a:endParaRPr kumimoji="1" lang="ja-GB" altLang="en-US" b="1" dirty="0">
              <a:solidFill>
                <a:srgbClr val="2F2523"/>
              </a:solidFill>
            </a:endParaRPr>
          </a:p>
        </p:txBody>
      </p:sp>
    </p:spTree>
    <p:extLst>
      <p:ext uri="{BB962C8B-B14F-4D97-AF65-F5344CB8AC3E}">
        <p14:creationId xmlns:p14="http://schemas.microsoft.com/office/powerpoint/2010/main" val="2460479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5F18D6-F5BD-4210-325F-6E2C90EE7072}"/>
              </a:ext>
            </a:extLst>
          </p:cNvPr>
          <p:cNvSpPr>
            <a:spLocks noGrp="1"/>
          </p:cNvSpPr>
          <p:nvPr>
            <p:ph type="title"/>
          </p:nvPr>
        </p:nvSpPr>
        <p:spPr/>
        <p:txBody>
          <a:bodyPr/>
          <a:lstStyle/>
          <a:p>
            <a:r>
              <a:rPr kumimoji="1" lang="ja-GB" altLang="en-US" dirty="0"/>
              <a:t>クラス</a:t>
            </a:r>
          </a:p>
        </p:txBody>
      </p:sp>
      <p:sp>
        <p:nvSpPr>
          <p:cNvPr id="3" name="コンテンツ プレースホルダー 2">
            <a:extLst>
              <a:ext uri="{FF2B5EF4-FFF2-40B4-BE49-F238E27FC236}">
                <a16:creationId xmlns:a16="http://schemas.microsoft.com/office/drawing/2014/main" id="{CCAC6C6A-D2AE-155F-E254-7A55FDAEDEFE}"/>
              </a:ext>
            </a:extLst>
          </p:cNvPr>
          <p:cNvSpPr>
            <a:spLocks noGrp="1"/>
          </p:cNvSpPr>
          <p:nvPr>
            <p:ph idx="1"/>
          </p:nvPr>
        </p:nvSpPr>
        <p:spPr/>
        <p:txBody>
          <a:bodyPr/>
          <a:lstStyle/>
          <a:p>
            <a:pPr marL="0" indent="0">
              <a:buNone/>
            </a:pPr>
            <a:r>
              <a:rPr lang="ja-GB" altLang="en-US" dirty="0"/>
              <a:t>いくつかの</a:t>
            </a:r>
            <a:r>
              <a:rPr kumimoji="1" lang="ja-GB" altLang="en-US" dirty="0"/>
              <a:t>データと関数（処理手順）を一つにまとめたもの</a:t>
            </a:r>
            <a:endParaRPr kumimoji="1" lang="en-US" altLang="ja-GB" dirty="0"/>
          </a:p>
          <a:p>
            <a:pPr marL="457200" lvl="1" indent="0">
              <a:buNone/>
            </a:pPr>
            <a:r>
              <a:rPr kumimoji="1" lang="ja-GB" altLang="en-US" dirty="0"/>
              <a:t>例）ゲームキャラクター</a:t>
            </a:r>
            <a:endParaRPr kumimoji="1" lang="en-US" altLang="ja-GB" dirty="0"/>
          </a:p>
          <a:p>
            <a:pPr marL="914400" lvl="2" indent="0">
              <a:buNone/>
            </a:pPr>
            <a:r>
              <a:rPr lang="ja-GB" altLang="en-US" dirty="0"/>
              <a:t>ゲームキャラクターは次の変数を持つ</a:t>
            </a:r>
            <a:endParaRPr kumimoji="1" lang="en-US" altLang="ja-GB" dirty="0"/>
          </a:p>
          <a:p>
            <a:pPr lvl="3"/>
            <a:r>
              <a:rPr kumimoji="1" lang="ja-GB" altLang="en-US" dirty="0"/>
              <a:t>攻撃力</a:t>
            </a:r>
            <a:r>
              <a:rPr kumimoji="1" lang="en-US" altLang="ja-GB" dirty="0"/>
              <a:t> = 100</a:t>
            </a:r>
          </a:p>
          <a:p>
            <a:pPr lvl="3"/>
            <a:r>
              <a:rPr lang="ja-GB" altLang="en-US" dirty="0"/>
              <a:t>防御力</a:t>
            </a:r>
            <a:r>
              <a:rPr lang="en-US" altLang="ja-GB" dirty="0"/>
              <a:t> = 50</a:t>
            </a:r>
          </a:p>
          <a:p>
            <a:pPr lvl="3"/>
            <a:r>
              <a:rPr lang="ja-GB" altLang="en-US" dirty="0"/>
              <a:t>体力（</a:t>
            </a:r>
            <a:r>
              <a:rPr lang="en-US" altLang="ja-GB" dirty="0"/>
              <a:t>HP</a:t>
            </a:r>
            <a:r>
              <a:rPr lang="ja-GB" altLang="en-US" dirty="0"/>
              <a:t>）</a:t>
            </a:r>
            <a:r>
              <a:rPr lang="en-US" altLang="ja-GB" dirty="0"/>
              <a:t> = 200</a:t>
            </a:r>
          </a:p>
          <a:p>
            <a:pPr lvl="3"/>
            <a:r>
              <a:rPr lang="ja-GB" altLang="en-US" dirty="0"/>
              <a:t>回避率</a:t>
            </a:r>
            <a:r>
              <a:rPr lang="en-US" altLang="ja-GB" dirty="0"/>
              <a:t> = 0.1</a:t>
            </a:r>
          </a:p>
          <a:p>
            <a:pPr lvl="3"/>
            <a:r>
              <a:rPr lang="ja-GB" altLang="en-US" dirty="0"/>
              <a:t>わざ</a:t>
            </a:r>
            <a:r>
              <a:rPr lang="en-US" altLang="ja-GB" dirty="0"/>
              <a:t> = [</a:t>
            </a:r>
            <a:r>
              <a:rPr lang="ja-GB" altLang="en-US" dirty="0"/>
              <a:t>つつく，ける，威嚇する，叩く</a:t>
            </a:r>
            <a:r>
              <a:rPr lang="en-US" altLang="ja-GB" dirty="0"/>
              <a:t>]</a:t>
            </a:r>
          </a:p>
          <a:p>
            <a:pPr lvl="3"/>
            <a:endParaRPr lang="en-US" altLang="ja-GB" dirty="0"/>
          </a:p>
          <a:p>
            <a:pPr marL="914400" lvl="2" indent="0">
              <a:buNone/>
            </a:pPr>
            <a:r>
              <a:rPr lang="ja-GB" altLang="en-US" dirty="0"/>
              <a:t>ゲームキャラクターは次の関数を持つ</a:t>
            </a:r>
            <a:endParaRPr lang="en-US" altLang="ja-GB" dirty="0"/>
          </a:p>
          <a:p>
            <a:pPr marL="1371600" lvl="3" indent="0">
              <a:buNone/>
            </a:pPr>
            <a:r>
              <a:rPr lang="ja-GB" altLang="en-US" dirty="0"/>
              <a:t>攻撃：敵の体力にどれくらいのマイナス値を与えるかを計算する関数</a:t>
            </a:r>
            <a:endParaRPr lang="en-US" altLang="ja-GB" dirty="0"/>
          </a:p>
          <a:p>
            <a:pPr marL="1371600" lvl="3" indent="0">
              <a:buNone/>
            </a:pPr>
            <a:r>
              <a:rPr lang="en-US" altLang="ja-GB" dirty="0"/>
              <a:t>		</a:t>
            </a:r>
            <a:r>
              <a:rPr lang="ja-GB" altLang="en-US" dirty="0"/>
              <a:t>数値型　威力</a:t>
            </a:r>
            <a:r>
              <a:rPr lang="en-US" altLang="ja-GB" dirty="0"/>
              <a:t> = </a:t>
            </a:r>
            <a:r>
              <a:rPr lang="ja-GB" altLang="en-US" dirty="0"/>
              <a:t>攻撃力</a:t>
            </a:r>
            <a:r>
              <a:rPr lang="en-US" altLang="ja-GB" dirty="0"/>
              <a:t> × </a:t>
            </a:r>
            <a:r>
              <a:rPr lang="ja-GB" altLang="en-US" dirty="0"/>
              <a:t>「わざ」の威力</a:t>
            </a:r>
            <a:endParaRPr lang="en-US" altLang="ja-GB" dirty="0"/>
          </a:p>
          <a:p>
            <a:pPr marL="1371600" lvl="3" indent="0">
              <a:buNone/>
            </a:pPr>
            <a:r>
              <a:rPr lang="ja-GB" altLang="en-US" dirty="0"/>
              <a:t>回避：敵の攻撃を受けたときに攻撃を無効化できるかどうか判定する関数</a:t>
            </a:r>
            <a:endParaRPr lang="en-US" altLang="ja-GB" dirty="0"/>
          </a:p>
          <a:p>
            <a:pPr marL="1371600" lvl="3" indent="0">
              <a:buNone/>
            </a:pPr>
            <a:r>
              <a:rPr lang="en-US" altLang="ja-GB" dirty="0"/>
              <a:t>		</a:t>
            </a:r>
            <a:r>
              <a:rPr lang="ja-GB" altLang="en-US" dirty="0"/>
              <a:t>論理型</a:t>
            </a:r>
            <a:r>
              <a:rPr lang="ja-JP" altLang="en-US" dirty="0"/>
              <a:t>　</a:t>
            </a:r>
            <a:r>
              <a:rPr lang="ja-GB" altLang="en-US" dirty="0"/>
              <a:t>回避成功</a:t>
            </a:r>
            <a:r>
              <a:rPr lang="en-US" altLang="ja-GB" dirty="0"/>
              <a:t> = </a:t>
            </a:r>
            <a:r>
              <a:rPr lang="ja-GB" altLang="en-US" dirty="0"/>
              <a:t>乱数</a:t>
            </a:r>
            <a:r>
              <a:rPr lang="en-US" altLang="ja-GB" dirty="0"/>
              <a:t> &lt; </a:t>
            </a:r>
            <a:r>
              <a:rPr lang="ja-GB" altLang="en-US" dirty="0"/>
              <a:t>回避率</a:t>
            </a:r>
            <a:endParaRPr lang="en-US" altLang="ja-GB" dirty="0"/>
          </a:p>
          <a:p>
            <a:pPr marL="1371600" lvl="3" indent="0">
              <a:buNone/>
            </a:pPr>
            <a:r>
              <a:rPr lang="ja-GB" altLang="en-US" dirty="0"/>
              <a:t>防御：敵の攻撃を受けたときにマイナス値をどれだけ軽減できるかを計算する関数</a:t>
            </a:r>
            <a:endParaRPr lang="en-US" altLang="ja-GB" dirty="0"/>
          </a:p>
          <a:p>
            <a:pPr marL="1371600" lvl="3" indent="0">
              <a:buNone/>
            </a:pPr>
            <a:r>
              <a:rPr lang="en-US" altLang="ja-GB" dirty="0"/>
              <a:t>		</a:t>
            </a:r>
            <a:r>
              <a:rPr lang="ja-GB" altLang="en-US" dirty="0"/>
              <a:t>数値型　被ダメージ</a:t>
            </a:r>
            <a:r>
              <a:rPr lang="en-US" altLang="ja-GB" dirty="0"/>
              <a:t> = </a:t>
            </a:r>
            <a:r>
              <a:rPr lang="ja-GB" altLang="en-US" dirty="0"/>
              <a:t>威力</a:t>
            </a:r>
            <a:r>
              <a:rPr lang="en-US" altLang="ja-GB" dirty="0"/>
              <a:t> – </a:t>
            </a:r>
            <a:r>
              <a:rPr lang="ja-GB" altLang="en-US" dirty="0"/>
              <a:t>防御力</a:t>
            </a:r>
            <a:endParaRPr lang="en-US" altLang="ja-GB" dirty="0"/>
          </a:p>
          <a:p>
            <a:pPr marL="1371600" lvl="3" indent="0">
              <a:buNone/>
            </a:pPr>
            <a:r>
              <a:rPr lang="ja-GB" altLang="en-US" dirty="0"/>
              <a:t>回復：自分の体力を増やす計算手順</a:t>
            </a:r>
            <a:endParaRPr lang="en-US" altLang="ja-GB" dirty="0"/>
          </a:p>
          <a:p>
            <a:pPr marL="1371600" lvl="3" indent="0">
              <a:buNone/>
            </a:pPr>
            <a:r>
              <a:rPr lang="en-US" altLang="ja-GB" dirty="0"/>
              <a:t>		</a:t>
            </a:r>
            <a:r>
              <a:rPr lang="ja-GB" altLang="en-US" dirty="0"/>
              <a:t>数値型　体力</a:t>
            </a:r>
            <a:r>
              <a:rPr lang="en-US" altLang="ja-GB" dirty="0"/>
              <a:t> = </a:t>
            </a:r>
            <a:r>
              <a:rPr lang="ja-GB" altLang="en-US" dirty="0"/>
              <a:t>体力</a:t>
            </a:r>
            <a:r>
              <a:rPr lang="en-US" altLang="ja-GB" dirty="0"/>
              <a:t> + </a:t>
            </a:r>
            <a:r>
              <a:rPr lang="ja-GB" altLang="en-US" dirty="0"/>
              <a:t>回復量</a:t>
            </a:r>
            <a:endParaRPr lang="en-US" altLang="ja-GB" dirty="0"/>
          </a:p>
        </p:txBody>
      </p:sp>
    </p:spTree>
    <p:extLst>
      <p:ext uri="{BB962C8B-B14F-4D97-AF65-F5344CB8AC3E}">
        <p14:creationId xmlns:p14="http://schemas.microsoft.com/office/powerpoint/2010/main" val="962471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39E9B-4F2C-980A-B1BE-52A653AAC59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5321317-37D4-95D3-9E26-6CE4029A4CD0}"/>
              </a:ext>
            </a:extLst>
          </p:cNvPr>
          <p:cNvSpPr>
            <a:spLocks noGrp="1"/>
          </p:cNvSpPr>
          <p:nvPr>
            <p:ph type="title"/>
          </p:nvPr>
        </p:nvSpPr>
        <p:spPr/>
        <p:txBody>
          <a:bodyPr/>
          <a:lstStyle/>
          <a:p>
            <a:r>
              <a:rPr lang="ja-GB" altLang="en-US" dirty="0"/>
              <a:t>第</a:t>
            </a:r>
            <a:r>
              <a:rPr lang="en-US" altLang="ja-GB" dirty="0"/>
              <a:t>7</a:t>
            </a:r>
            <a:r>
              <a:rPr lang="ja-GB" altLang="en-US" dirty="0"/>
              <a:t>回：データ構造</a:t>
            </a:r>
            <a:endParaRPr kumimoji="1" lang="ja-GB" altLang="en-US" dirty="0"/>
          </a:p>
        </p:txBody>
      </p:sp>
      <p:sp>
        <p:nvSpPr>
          <p:cNvPr id="3" name="コンテンツ プレースホルダー 2">
            <a:extLst>
              <a:ext uri="{FF2B5EF4-FFF2-40B4-BE49-F238E27FC236}">
                <a16:creationId xmlns:a16="http://schemas.microsoft.com/office/drawing/2014/main" id="{363E46A9-6A75-2B91-E118-3027EF012F4A}"/>
              </a:ext>
            </a:extLst>
          </p:cNvPr>
          <p:cNvSpPr>
            <a:spLocks noGrp="1"/>
          </p:cNvSpPr>
          <p:nvPr>
            <p:ph idx="1"/>
          </p:nvPr>
        </p:nvSpPr>
        <p:spPr/>
        <p:txBody>
          <a:bodyPr/>
          <a:lstStyle/>
          <a:p>
            <a:pPr marL="0" indent="0">
              <a:buNone/>
            </a:pPr>
            <a:r>
              <a:rPr lang="ja-GB" altLang="en-US" dirty="0"/>
              <a:t>計算手順の書きやすさや効率は，与えるデータの形で変わる</a:t>
            </a:r>
            <a:endParaRPr lang="en-US" altLang="ja-GB" dirty="0"/>
          </a:p>
          <a:p>
            <a:pPr marL="914400" lvl="1" indent="-457200">
              <a:buFont typeface="+mj-lt"/>
              <a:buAutoNum type="arabicPeriod"/>
            </a:pPr>
            <a:r>
              <a:rPr lang="ja-GB" altLang="en-US" dirty="0"/>
              <a:t>情報をまとめて扱うための構造</a:t>
            </a:r>
            <a:endParaRPr lang="en-US" altLang="ja-GB" dirty="0"/>
          </a:p>
          <a:p>
            <a:pPr lvl="2"/>
            <a:r>
              <a:rPr lang="ja-GB" altLang="en-US" dirty="0"/>
              <a:t>配列，集合，クラス</a:t>
            </a:r>
            <a:endParaRPr lang="en-US" altLang="ja-GB" dirty="0"/>
          </a:p>
          <a:p>
            <a:pPr marL="914400" lvl="1" indent="-457200">
              <a:buFont typeface="+mj-lt"/>
              <a:buAutoNum type="arabicPeriod"/>
            </a:pPr>
            <a:r>
              <a:rPr lang="ja-GB" altLang="en-US" dirty="0">
                <a:solidFill>
                  <a:srgbClr val="0070C0"/>
                </a:solidFill>
              </a:rPr>
              <a:t>柔軟にデータ構造や数を書き換えるための構造</a:t>
            </a:r>
            <a:endParaRPr lang="en-US" altLang="ja-JP" dirty="0">
              <a:solidFill>
                <a:srgbClr val="0070C0"/>
              </a:solidFill>
            </a:endParaRPr>
          </a:p>
          <a:p>
            <a:pPr lvl="2"/>
            <a:r>
              <a:rPr lang="ja-GB" altLang="en-US" dirty="0"/>
              <a:t>キュー，スタック，リスト，辞書</a:t>
            </a:r>
            <a:endParaRPr lang="en-US" altLang="ja-JP" dirty="0"/>
          </a:p>
          <a:p>
            <a:pPr marL="914400" lvl="1" indent="-457200">
              <a:buFont typeface="+mj-lt"/>
              <a:buAutoNum type="arabicPeriod"/>
            </a:pPr>
            <a:r>
              <a:rPr lang="ja-GB" altLang="en-US" dirty="0"/>
              <a:t>計算手順</a:t>
            </a:r>
            <a:r>
              <a:rPr lang="ja-JP" altLang="en-US"/>
              <a:t>を</a:t>
            </a:r>
            <a:r>
              <a:rPr lang="ja-GB" altLang="en-US" dirty="0"/>
              <a:t>簡易化，効率化するための</a:t>
            </a:r>
            <a:r>
              <a:rPr lang="ja-JP" altLang="en-US"/>
              <a:t>構造</a:t>
            </a:r>
            <a:endParaRPr lang="en-US" altLang="ja-JP" dirty="0"/>
          </a:p>
          <a:p>
            <a:pPr lvl="2"/>
            <a:r>
              <a:rPr lang="ja-GB" altLang="en-US" dirty="0"/>
              <a:t>ツリー，グラフ，リレーショナルデータベース</a:t>
            </a:r>
            <a:endParaRPr lang="en-US" altLang="ja-JP" dirty="0"/>
          </a:p>
          <a:p>
            <a:pPr lvl="2"/>
            <a:endParaRPr lang="ja-GB" altLang="en-US" dirty="0"/>
          </a:p>
        </p:txBody>
      </p:sp>
    </p:spTree>
    <p:extLst>
      <p:ext uri="{BB962C8B-B14F-4D97-AF65-F5344CB8AC3E}">
        <p14:creationId xmlns:p14="http://schemas.microsoft.com/office/powerpoint/2010/main" val="2170744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6564A0-3B40-495B-C4E9-F7097432FFA8}"/>
              </a:ext>
            </a:extLst>
          </p:cNvPr>
          <p:cNvSpPr>
            <a:spLocks noGrp="1"/>
          </p:cNvSpPr>
          <p:nvPr>
            <p:ph type="title"/>
          </p:nvPr>
        </p:nvSpPr>
        <p:spPr/>
        <p:txBody>
          <a:bodyPr/>
          <a:lstStyle/>
          <a:p>
            <a:r>
              <a:rPr kumimoji="1" lang="ja-GB" altLang="en-US" dirty="0"/>
              <a:t>キュー（待ち行列）</a:t>
            </a:r>
          </a:p>
        </p:txBody>
      </p:sp>
      <p:sp>
        <p:nvSpPr>
          <p:cNvPr id="3" name="コンテンツ プレースホルダー 2">
            <a:extLst>
              <a:ext uri="{FF2B5EF4-FFF2-40B4-BE49-F238E27FC236}">
                <a16:creationId xmlns:a16="http://schemas.microsoft.com/office/drawing/2014/main" id="{505532F4-BF00-86E8-64FE-7C9D468868C4}"/>
              </a:ext>
            </a:extLst>
          </p:cNvPr>
          <p:cNvSpPr>
            <a:spLocks noGrp="1"/>
          </p:cNvSpPr>
          <p:nvPr>
            <p:ph idx="1"/>
          </p:nvPr>
        </p:nvSpPr>
        <p:spPr/>
        <p:txBody>
          <a:bodyPr/>
          <a:lstStyle/>
          <a:p>
            <a:pPr marL="0" indent="0">
              <a:buNone/>
            </a:pPr>
            <a:r>
              <a:rPr lang="ja-JP" altLang="en-US"/>
              <a:t>先入れ先出し（</a:t>
            </a:r>
            <a:r>
              <a:rPr lang="en-GB" altLang="ja-GB" dirty="0"/>
              <a:t>FIFO: First In, First Out</a:t>
            </a:r>
            <a:r>
              <a:rPr lang="ja-GB" altLang="en-GB" dirty="0"/>
              <a:t>）</a:t>
            </a:r>
            <a:endParaRPr kumimoji="1" lang="en-US" altLang="ja-GB" dirty="0"/>
          </a:p>
          <a:p>
            <a:pPr lvl="1"/>
            <a:r>
              <a:rPr lang="ja-GB" altLang="en-US" dirty="0"/>
              <a:t>比喩）レジでは先に待っている人から対応する</a:t>
            </a:r>
            <a:endParaRPr lang="en-US" altLang="ja-GB" dirty="0"/>
          </a:p>
          <a:p>
            <a:pPr lvl="1"/>
            <a:r>
              <a:rPr lang="ja-GB" altLang="en-US" dirty="0"/>
              <a:t>例</a:t>
            </a:r>
            <a:r>
              <a:rPr lang="en-US" altLang="ja-GB" dirty="0"/>
              <a:t>1</a:t>
            </a:r>
            <a:r>
              <a:rPr lang="ja-GB" altLang="en-US" dirty="0"/>
              <a:t>）</a:t>
            </a:r>
            <a:r>
              <a:rPr lang="en-US" altLang="ja-GB" dirty="0"/>
              <a:t>YouTube</a:t>
            </a:r>
            <a:r>
              <a:rPr lang="ja-GB" altLang="en-US" dirty="0"/>
              <a:t>のキュー</a:t>
            </a:r>
            <a:endParaRPr lang="en-US" altLang="ja-GB" dirty="0"/>
          </a:p>
          <a:p>
            <a:pPr lvl="1"/>
            <a:r>
              <a:rPr kumimoji="1" lang="ja-GB" altLang="en-US" dirty="0"/>
              <a:t>例</a:t>
            </a:r>
            <a:r>
              <a:rPr kumimoji="1" lang="en-US" altLang="ja-GB" dirty="0"/>
              <a:t>2</a:t>
            </a:r>
            <a:r>
              <a:rPr kumimoji="1" lang="ja-GB" altLang="en-US" dirty="0"/>
              <a:t>）カラオケの予約リスト</a:t>
            </a:r>
            <a:endParaRPr kumimoji="1" lang="en-US" altLang="ja-GB" dirty="0"/>
          </a:p>
          <a:p>
            <a:pPr lvl="1"/>
            <a:r>
              <a:rPr lang="ja-GB" altLang="en-US" dirty="0"/>
              <a:t>例</a:t>
            </a:r>
            <a:r>
              <a:rPr lang="en-US" altLang="ja-GB" dirty="0"/>
              <a:t>3</a:t>
            </a:r>
            <a:r>
              <a:rPr lang="ja-GB" altLang="en-US" dirty="0"/>
              <a:t>）病院</a:t>
            </a:r>
            <a:r>
              <a:rPr lang="en-US" altLang="ja-GB" dirty="0"/>
              <a:t>/</a:t>
            </a:r>
            <a:r>
              <a:rPr lang="ja-GB" altLang="en-US" dirty="0"/>
              <a:t>レストランの順番待ち表</a:t>
            </a:r>
            <a:endParaRPr kumimoji="1" lang="ja-GB" altLang="en-US" dirty="0"/>
          </a:p>
        </p:txBody>
      </p:sp>
      <p:grpSp>
        <p:nvGrpSpPr>
          <p:cNvPr id="4" name="グループ化 3">
            <a:extLst>
              <a:ext uri="{FF2B5EF4-FFF2-40B4-BE49-F238E27FC236}">
                <a16:creationId xmlns:a16="http://schemas.microsoft.com/office/drawing/2014/main" id="{6FC2875F-8EF1-EE52-26CA-626A826DBD53}"/>
              </a:ext>
            </a:extLst>
          </p:cNvPr>
          <p:cNvGrpSpPr/>
          <p:nvPr/>
        </p:nvGrpSpPr>
        <p:grpSpPr>
          <a:xfrm>
            <a:off x="1324334" y="3826550"/>
            <a:ext cx="6495331" cy="1694621"/>
            <a:chOff x="1185444" y="3856382"/>
            <a:chExt cx="6495331" cy="1694621"/>
          </a:xfrm>
        </p:grpSpPr>
        <p:grpSp>
          <p:nvGrpSpPr>
            <p:cNvPr id="5" name="グループ化 4">
              <a:extLst>
                <a:ext uri="{FF2B5EF4-FFF2-40B4-BE49-F238E27FC236}">
                  <a16:creationId xmlns:a16="http://schemas.microsoft.com/office/drawing/2014/main" id="{4533C163-BEFC-A992-3FDB-110D122A29AE}"/>
                </a:ext>
              </a:extLst>
            </p:cNvPr>
            <p:cNvGrpSpPr/>
            <p:nvPr/>
          </p:nvGrpSpPr>
          <p:grpSpPr>
            <a:xfrm>
              <a:off x="1185444" y="3856382"/>
              <a:ext cx="6495331" cy="1694621"/>
              <a:chOff x="1055192" y="3429000"/>
              <a:chExt cx="6495331" cy="1694621"/>
            </a:xfrm>
          </p:grpSpPr>
          <p:sp>
            <p:nvSpPr>
              <p:cNvPr id="8" name="正方形/長方形 7">
                <a:extLst>
                  <a:ext uri="{FF2B5EF4-FFF2-40B4-BE49-F238E27FC236}">
                    <a16:creationId xmlns:a16="http://schemas.microsoft.com/office/drawing/2014/main" id="{7AF10F52-2429-D7E8-92D6-2C1BB2B50708}"/>
                  </a:ext>
                </a:extLst>
              </p:cNvPr>
              <p:cNvSpPr/>
              <p:nvPr/>
            </p:nvSpPr>
            <p:spPr>
              <a:xfrm>
                <a:off x="2397760" y="3429000"/>
                <a:ext cx="3789802" cy="2683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9" name="正方形/長方形 8">
                <a:extLst>
                  <a:ext uri="{FF2B5EF4-FFF2-40B4-BE49-F238E27FC236}">
                    <a16:creationId xmlns:a16="http://schemas.microsoft.com/office/drawing/2014/main" id="{8363CF9A-80A9-D213-15CD-E895E9888867}"/>
                  </a:ext>
                </a:extLst>
              </p:cNvPr>
              <p:cNvSpPr/>
              <p:nvPr/>
            </p:nvSpPr>
            <p:spPr>
              <a:xfrm>
                <a:off x="2397760" y="4855264"/>
                <a:ext cx="3789802" cy="2683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0" name="正方形/長方形 9">
                <a:extLst>
                  <a:ext uri="{FF2B5EF4-FFF2-40B4-BE49-F238E27FC236}">
                    <a16:creationId xmlns:a16="http://schemas.microsoft.com/office/drawing/2014/main" id="{D51163EF-6552-E451-F89E-310DC65C7693}"/>
                  </a:ext>
                </a:extLst>
              </p:cNvPr>
              <p:cNvSpPr/>
              <p:nvPr/>
            </p:nvSpPr>
            <p:spPr>
              <a:xfrm>
                <a:off x="2695934" y="3697357"/>
                <a:ext cx="636104" cy="115790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1" name="正方形/長方形 10">
                <a:extLst>
                  <a:ext uri="{FF2B5EF4-FFF2-40B4-BE49-F238E27FC236}">
                    <a16:creationId xmlns:a16="http://schemas.microsoft.com/office/drawing/2014/main" id="{4774AE80-6E4F-9C61-38D5-DD7869B465E5}"/>
                  </a:ext>
                </a:extLst>
              </p:cNvPr>
              <p:cNvSpPr/>
              <p:nvPr/>
            </p:nvSpPr>
            <p:spPr>
              <a:xfrm>
                <a:off x="3332038" y="3697357"/>
                <a:ext cx="636104" cy="115790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2" name="正方形/長方形 11">
                <a:extLst>
                  <a:ext uri="{FF2B5EF4-FFF2-40B4-BE49-F238E27FC236}">
                    <a16:creationId xmlns:a16="http://schemas.microsoft.com/office/drawing/2014/main" id="{FD307A04-45A6-DD15-2C7C-F638E85A0AF3}"/>
                  </a:ext>
                </a:extLst>
              </p:cNvPr>
              <p:cNvSpPr/>
              <p:nvPr/>
            </p:nvSpPr>
            <p:spPr>
              <a:xfrm>
                <a:off x="3968142" y="3697357"/>
                <a:ext cx="636104" cy="115790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3" name="正方形/長方形 12">
                <a:extLst>
                  <a:ext uri="{FF2B5EF4-FFF2-40B4-BE49-F238E27FC236}">
                    <a16:creationId xmlns:a16="http://schemas.microsoft.com/office/drawing/2014/main" id="{9C69B31E-D1C4-0816-F3BB-50F9DB40FBBC}"/>
                  </a:ext>
                </a:extLst>
              </p:cNvPr>
              <p:cNvSpPr/>
              <p:nvPr/>
            </p:nvSpPr>
            <p:spPr>
              <a:xfrm>
                <a:off x="4604246" y="3697357"/>
                <a:ext cx="636104" cy="115790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4" name="正方形/長方形 13">
                <a:extLst>
                  <a:ext uri="{FF2B5EF4-FFF2-40B4-BE49-F238E27FC236}">
                    <a16:creationId xmlns:a16="http://schemas.microsoft.com/office/drawing/2014/main" id="{C8F5B798-7E9F-A534-FF17-DCE431B5FB99}"/>
                  </a:ext>
                </a:extLst>
              </p:cNvPr>
              <p:cNvSpPr/>
              <p:nvPr/>
            </p:nvSpPr>
            <p:spPr>
              <a:xfrm>
                <a:off x="5240350" y="3697357"/>
                <a:ext cx="636104" cy="115790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5" name="正方形/長方形 14">
                <a:extLst>
                  <a:ext uri="{FF2B5EF4-FFF2-40B4-BE49-F238E27FC236}">
                    <a16:creationId xmlns:a16="http://schemas.microsoft.com/office/drawing/2014/main" id="{E1BBA3E1-7E96-332A-51D4-B7A5D3ACD228}"/>
                  </a:ext>
                </a:extLst>
              </p:cNvPr>
              <p:cNvSpPr/>
              <p:nvPr/>
            </p:nvSpPr>
            <p:spPr>
              <a:xfrm>
                <a:off x="1055192" y="3697357"/>
                <a:ext cx="636104" cy="115790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6" name="正方形/長方形 15">
                <a:extLst>
                  <a:ext uri="{FF2B5EF4-FFF2-40B4-BE49-F238E27FC236}">
                    <a16:creationId xmlns:a16="http://schemas.microsoft.com/office/drawing/2014/main" id="{8CE6C761-1CAA-5B0D-5A5A-B84D841D9D7A}"/>
                  </a:ext>
                </a:extLst>
              </p:cNvPr>
              <p:cNvSpPr/>
              <p:nvPr/>
            </p:nvSpPr>
            <p:spPr>
              <a:xfrm>
                <a:off x="6914419" y="3697357"/>
                <a:ext cx="636104" cy="115790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grpSp>
        <p:sp>
          <p:nvSpPr>
            <p:cNvPr id="6" name="右矢印 5">
              <a:extLst>
                <a:ext uri="{FF2B5EF4-FFF2-40B4-BE49-F238E27FC236}">
                  <a16:creationId xmlns:a16="http://schemas.microsoft.com/office/drawing/2014/main" id="{7C326296-102C-9AAC-EF95-214E872FB40D}"/>
                </a:ext>
              </a:extLst>
            </p:cNvPr>
            <p:cNvSpPr/>
            <p:nvPr/>
          </p:nvSpPr>
          <p:spPr>
            <a:xfrm>
              <a:off x="2022478" y="4457925"/>
              <a:ext cx="636104"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7" name="右矢印 6">
              <a:extLst>
                <a:ext uri="{FF2B5EF4-FFF2-40B4-BE49-F238E27FC236}">
                  <a16:creationId xmlns:a16="http://schemas.microsoft.com/office/drawing/2014/main" id="{BC30E0B6-52F9-3967-17C4-2328A6F791DA}"/>
                </a:ext>
              </a:extLst>
            </p:cNvPr>
            <p:cNvSpPr/>
            <p:nvPr/>
          </p:nvSpPr>
          <p:spPr>
            <a:xfrm>
              <a:off x="6207636" y="4461376"/>
              <a:ext cx="636104"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grpSp>
    </p:spTree>
    <p:extLst>
      <p:ext uri="{BB962C8B-B14F-4D97-AF65-F5344CB8AC3E}">
        <p14:creationId xmlns:p14="http://schemas.microsoft.com/office/powerpoint/2010/main" val="35767276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5F8BF0-51FB-FCC7-4680-FB4AAF131A45}"/>
              </a:ext>
            </a:extLst>
          </p:cNvPr>
          <p:cNvSpPr>
            <a:spLocks noGrp="1"/>
          </p:cNvSpPr>
          <p:nvPr>
            <p:ph type="title"/>
          </p:nvPr>
        </p:nvSpPr>
        <p:spPr/>
        <p:txBody>
          <a:bodyPr/>
          <a:lstStyle/>
          <a:p>
            <a:r>
              <a:rPr kumimoji="1" lang="ja-GB" altLang="en-US" dirty="0"/>
              <a:t>スタック（積み上げ）</a:t>
            </a:r>
          </a:p>
        </p:txBody>
      </p:sp>
      <p:sp>
        <p:nvSpPr>
          <p:cNvPr id="3" name="コンテンツ プレースホルダー 2">
            <a:extLst>
              <a:ext uri="{FF2B5EF4-FFF2-40B4-BE49-F238E27FC236}">
                <a16:creationId xmlns:a16="http://schemas.microsoft.com/office/drawing/2014/main" id="{24542FE4-4514-BBDE-F27F-2CD26EB78CCE}"/>
              </a:ext>
            </a:extLst>
          </p:cNvPr>
          <p:cNvSpPr>
            <a:spLocks noGrp="1"/>
          </p:cNvSpPr>
          <p:nvPr>
            <p:ph idx="1"/>
          </p:nvPr>
        </p:nvSpPr>
        <p:spPr/>
        <p:txBody>
          <a:bodyPr/>
          <a:lstStyle/>
          <a:p>
            <a:pPr marL="0" indent="0">
              <a:buNone/>
            </a:pPr>
            <a:r>
              <a:rPr lang="ja-JP" altLang="en-US"/>
              <a:t>後入れ先出し（</a:t>
            </a:r>
            <a:r>
              <a:rPr lang="en-GB" altLang="ja-GB" dirty="0"/>
              <a:t>LIFO: Last In, First Out</a:t>
            </a:r>
            <a:r>
              <a:rPr lang="ja-GB" altLang="en-GB" dirty="0"/>
              <a:t>）</a:t>
            </a:r>
            <a:endParaRPr lang="en-US" altLang="ja-GB" dirty="0"/>
          </a:p>
          <a:p>
            <a:pPr lvl="1"/>
            <a:r>
              <a:rPr kumimoji="1" lang="ja-GB" altLang="en-US" dirty="0"/>
              <a:t>比喩）皿洗いでは，上に積まれた新しい皿から対応する</a:t>
            </a:r>
            <a:endParaRPr kumimoji="1" lang="en-US" altLang="ja-GB" dirty="0"/>
          </a:p>
          <a:p>
            <a:pPr lvl="1"/>
            <a:r>
              <a:rPr kumimoji="1" lang="ja-GB" altLang="en-US" dirty="0"/>
              <a:t>例</a:t>
            </a:r>
            <a:r>
              <a:rPr kumimoji="1" lang="en-US" altLang="ja-GB" dirty="0"/>
              <a:t>1</a:t>
            </a:r>
            <a:r>
              <a:rPr kumimoji="1" lang="ja-GB" altLang="en-US" dirty="0"/>
              <a:t>）操作の取り消し</a:t>
            </a:r>
            <a:endParaRPr kumimoji="1" lang="en-US" altLang="ja-GB" dirty="0"/>
          </a:p>
          <a:p>
            <a:pPr lvl="1"/>
            <a:r>
              <a:rPr lang="ja-GB" altLang="en-US" dirty="0"/>
              <a:t>例</a:t>
            </a:r>
            <a:r>
              <a:rPr lang="en-US" altLang="ja-GB" dirty="0"/>
              <a:t>2</a:t>
            </a:r>
            <a:r>
              <a:rPr lang="ja-GB" altLang="en-US" dirty="0"/>
              <a:t>）</a:t>
            </a:r>
            <a:r>
              <a:rPr kumimoji="1" lang="ja-GB" altLang="en-US" dirty="0"/>
              <a:t>ブラウザの「戻る」機能</a:t>
            </a:r>
          </a:p>
        </p:txBody>
      </p:sp>
      <p:grpSp>
        <p:nvGrpSpPr>
          <p:cNvPr id="4" name="グループ化 3">
            <a:extLst>
              <a:ext uri="{FF2B5EF4-FFF2-40B4-BE49-F238E27FC236}">
                <a16:creationId xmlns:a16="http://schemas.microsoft.com/office/drawing/2014/main" id="{54B324AB-4F2B-1D45-3487-210C2AB66A03}"/>
              </a:ext>
            </a:extLst>
          </p:cNvPr>
          <p:cNvGrpSpPr/>
          <p:nvPr/>
        </p:nvGrpSpPr>
        <p:grpSpPr>
          <a:xfrm>
            <a:off x="2271345" y="3033721"/>
            <a:ext cx="4601310" cy="3268440"/>
            <a:chOff x="2195326" y="3262321"/>
            <a:chExt cx="4601310" cy="3268440"/>
          </a:xfrm>
        </p:grpSpPr>
        <p:grpSp>
          <p:nvGrpSpPr>
            <p:cNvPr id="5" name="グループ化 4">
              <a:extLst>
                <a:ext uri="{FF2B5EF4-FFF2-40B4-BE49-F238E27FC236}">
                  <a16:creationId xmlns:a16="http://schemas.microsoft.com/office/drawing/2014/main" id="{4D539BB7-9781-D07B-7747-6873E4D494DA}"/>
                </a:ext>
              </a:extLst>
            </p:cNvPr>
            <p:cNvGrpSpPr/>
            <p:nvPr/>
          </p:nvGrpSpPr>
          <p:grpSpPr>
            <a:xfrm rot="16200000">
              <a:off x="3115722" y="4362810"/>
              <a:ext cx="2614387" cy="1694620"/>
              <a:chOff x="2397761" y="3429002"/>
              <a:chExt cx="2614387" cy="1694620"/>
            </a:xfrm>
          </p:grpSpPr>
          <p:sp>
            <p:nvSpPr>
              <p:cNvPr id="11" name="正方形/長方形 10">
                <a:extLst>
                  <a:ext uri="{FF2B5EF4-FFF2-40B4-BE49-F238E27FC236}">
                    <a16:creationId xmlns:a16="http://schemas.microsoft.com/office/drawing/2014/main" id="{132394D1-25DB-4041-FDCD-47E2907FBD12}"/>
                  </a:ext>
                </a:extLst>
              </p:cNvPr>
              <p:cNvSpPr/>
              <p:nvPr/>
            </p:nvSpPr>
            <p:spPr>
              <a:xfrm>
                <a:off x="2665454" y="3697359"/>
                <a:ext cx="378908" cy="115790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12" name="正方形/長方形 11">
                <a:extLst>
                  <a:ext uri="{FF2B5EF4-FFF2-40B4-BE49-F238E27FC236}">
                    <a16:creationId xmlns:a16="http://schemas.microsoft.com/office/drawing/2014/main" id="{9CCA6061-12A5-A5FD-BF7B-E4ACDD5C5F83}"/>
                  </a:ext>
                </a:extLst>
              </p:cNvPr>
              <p:cNvSpPr/>
              <p:nvPr/>
            </p:nvSpPr>
            <p:spPr>
              <a:xfrm>
                <a:off x="3044694" y="3697357"/>
                <a:ext cx="378908" cy="115790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3" name="正方形/長方形 12">
                <a:extLst>
                  <a:ext uri="{FF2B5EF4-FFF2-40B4-BE49-F238E27FC236}">
                    <a16:creationId xmlns:a16="http://schemas.microsoft.com/office/drawing/2014/main" id="{238E9C6B-A552-8CB0-E38E-75453EC2D648}"/>
                  </a:ext>
                </a:extLst>
              </p:cNvPr>
              <p:cNvSpPr/>
              <p:nvPr/>
            </p:nvSpPr>
            <p:spPr>
              <a:xfrm>
                <a:off x="3423934" y="3697358"/>
                <a:ext cx="378908" cy="115790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4" name="正方形/長方形 13">
                <a:extLst>
                  <a:ext uri="{FF2B5EF4-FFF2-40B4-BE49-F238E27FC236}">
                    <a16:creationId xmlns:a16="http://schemas.microsoft.com/office/drawing/2014/main" id="{2DA81CEE-DEC5-A3F2-6C62-14DBFAB0C33B}"/>
                  </a:ext>
                </a:extLst>
              </p:cNvPr>
              <p:cNvSpPr/>
              <p:nvPr/>
            </p:nvSpPr>
            <p:spPr>
              <a:xfrm>
                <a:off x="3803506" y="3697357"/>
                <a:ext cx="378908" cy="115790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5" name="正方形/長方形 14">
                <a:extLst>
                  <a:ext uri="{FF2B5EF4-FFF2-40B4-BE49-F238E27FC236}">
                    <a16:creationId xmlns:a16="http://schemas.microsoft.com/office/drawing/2014/main" id="{67761268-9A2C-28D9-C223-1CF50B65F1E1}"/>
                  </a:ext>
                </a:extLst>
              </p:cNvPr>
              <p:cNvSpPr/>
              <p:nvPr/>
            </p:nvSpPr>
            <p:spPr>
              <a:xfrm>
                <a:off x="2397761" y="3429002"/>
                <a:ext cx="2614386" cy="2683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6" name="正方形/長方形 15">
                <a:extLst>
                  <a:ext uri="{FF2B5EF4-FFF2-40B4-BE49-F238E27FC236}">
                    <a16:creationId xmlns:a16="http://schemas.microsoft.com/office/drawing/2014/main" id="{ACA0E27E-F0D9-18E2-57EF-7797276DC1BD}"/>
                  </a:ext>
                </a:extLst>
              </p:cNvPr>
              <p:cNvSpPr/>
              <p:nvPr/>
            </p:nvSpPr>
            <p:spPr>
              <a:xfrm>
                <a:off x="2397762" y="4855265"/>
                <a:ext cx="2614386" cy="2683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grpSp>
        <p:sp>
          <p:nvSpPr>
            <p:cNvPr id="6" name="正方形/長方形 5">
              <a:extLst>
                <a:ext uri="{FF2B5EF4-FFF2-40B4-BE49-F238E27FC236}">
                  <a16:creationId xmlns:a16="http://schemas.microsoft.com/office/drawing/2014/main" id="{5980D53B-0DC3-ED28-6ACC-AD42E714578E}"/>
                </a:ext>
              </a:extLst>
            </p:cNvPr>
            <p:cNvSpPr/>
            <p:nvPr/>
          </p:nvSpPr>
          <p:spPr>
            <a:xfrm>
              <a:off x="3575602" y="6262404"/>
              <a:ext cx="1694622" cy="26835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7" name="正方形/長方形 6">
              <a:extLst>
                <a:ext uri="{FF2B5EF4-FFF2-40B4-BE49-F238E27FC236}">
                  <a16:creationId xmlns:a16="http://schemas.microsoft.com/office/drawing/2014/main" id="{E7297CFB-A866-A5D3-FF92-739099B8CB8A}"/>
                </a:ext>
              </a:extLst>
            </p:cNvPr>
            <p:cNvSpPr/>
            <p:nvPr/>
          </p:nvSpPr>
          <p:spPr>
            <a:xfrm rot="16200000">
              <a:off x="2584826" y="2872822"/>
              <a:ext cx="378908" cy="115790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8" name="正方形/長方形 7">
              <a:extLst>
                <a:ext uri="{FF2B5EF4-FFF2-40B4-BE49-F238E27FC236}">
                  <a16:creationId xmlns:a16="http://schemas.microsoft.com/office/drawing/2014/main" id="{EA9748E7-0B4E-7176-DF3E-0D0EBF5969A2}"/>
                </a:ext>
              </a:extLst>
            </p:cNvPr>
            <p:cNvSpPr/>
            <p:nvPr/>
          </p:nvSpPr>
          <p:spPr>
            <a:xfrm rot="16200000">
              <a:off x="6028229" y="2872822"/>
              <a:ext cx="378908" cy="115790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9" name="曲折矢印 8">
              <a:extLst>
                <a:ext uri="{FF2B5EF4-FFF2-40B4-BE49-F238E27FC236}">
                  <a16:creationId xmlns:a16="http://schemas.microsoft.com/office/drawing/2014/main" id="{BA330355-3693-3DEF-85DA-641FFCFD481D}"/>
                </a:ext>
              </a:extLst>
            </p:cNvPr>
            <p:cNvSpPr/>
            <p:nvPr/>
          </p:nvSpPr>
          <p:spPr>
            <a:xfrm rot="5400000">
              <a:off x="3581665" y="3296357"/>
              <a:ext cx="813816" cy="868680"/>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chemeClr val="tx1"/>
                </a:solidFill>
              </a:endParaRPr>
            </a:p>
          </p:txBody>
        </p:sp>
        <p:sp>
          <p:nvSpPr>
            <p:cNvPr id="10" name="曲折矢印 9">
              <a:extLst>
                <a:ext uri="{FF2B5EF4-FFF2-40B4-BE49-F238E27FC236}">
                  <a16:creationId xmlns:a16="http://schemas.microsoft.com/office/drawing/2014/main" id="{C1A6216A-3F22-F606-E2EF-69A792BF1631}"/>
                </a:ext>
              </a:extLst>
            </p:cNvPr>
            <p:cNvSpPr/>
            <p:nvPr/>
          </p:nvSpPr>
          <p:spPr>
            <a:xfrm>
              <a:off x="4623913" y="3262321"/>
              <a:ext cx="813816" cy="868680"/>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chemeClr val="tx1"/>
                </a:solidFill>
              </a:endParaRPr>
            </a:p>
          </p:txBody>
        </p:sp>
      </p:grpSp>
      <p:sp>
        <p:nvSpPr>
          <p:cNvPr id="17" name="テキスト ボックス 16">
            <a:extLst>
              <a:ext uri="{FF2B5EF4-FFF2-40B4-BE49-F238E27FC236}">
                <a16:creationId xmlns:a16="http://schemas.microsoft.com/office/drawing/2014/main" id="{868296D3-7F54-5866-CE06-FAC33ADD80F4}"/>
              </a:ext>
            </a:extLst>
          </p:cNvPr>
          <p:cNvSpPr txBox="1"/>
          <p:nvPr/>
        </p:nvSpPr>
        <p:spPr>
          <a:xfrm>
            <a:off x="4053938" y="5706987"/>
            <a:ext cx="889987" cy="261610"/>
          </a:xfrm>
          <a:prstGeom prst="rect">
            <a:avLst/>
          </a:prstGeom>
          <a:noFill/>
        </p:spPr>
        <p:txBody>
          <a:bodyPr wrap="none" rtlCol="0">
            <a:spAutoFit/>
          </a:bodyPr>
          <a:lstStyle/>
          <a:p>
            <a:pPr algn="ctr"/>
            <a:r>
              <a:rPr kumimoji="1" lang="ja-GB" altLang="en-US" sz="1100" b="1" dirty="0">
                <a:solidFill>
                  <a:srgbClr val="002060"/>
                </a:solidFill>
              </a:rPr>
              <a:t>文字を追記</a:t>
            </a:r>
          </a:p>
        </p:txBody>
      </p:sp>
      <p:sp>
        <p:nvSpPr>
          <p:cNvPr id="18" name="テキスト ボックス 17">
            <a:extLst>
              <a:ext uri="{FF2B5EF4-FFF2-40B4-BE49-F238E27FC236}">
                <a16:creationId xmlns:a16="http://schemas.microsoft.com/office/drawing/2014/main" id="{89E7C5E8-0D99-08D7-E5B5-D966932D0CCD}"/>
              </a:ext>
            </a:extLst>
          </p:cNvPr>
          <p:cNvSpPr txBox="1"/>
          <p:nvPr/>
        </p:nvSpPr>
        <p:spPr>
          <a:xfrm>
            <a:off x="4053942" y="5328078"/>
            <a:ext cx="889987" cy="261610"/>
          </a:xfrm>
          <a:prstGeom prst="rect">
            <a:avLst/>
          </a:prstGeom>
          <a:noFill/>
        </p:spPr>
        <p:txBody>
          <a:bodyPr wrap="none" rtlCol="0">
            <a:spAutoFit/>
          </a:bodyPr>
          <a:lstStyle/>
          <a:p>
            <a:pPr algn="ctr"/>
            <a:r>
              <a:rPr kumimoji="1" lang="ja-GB" altLang="en-US" sz="1100" b="1" dirty="0">
                <a:solidFill>
                  <a:srgbClr val="002060"/>
                </a:solidFill>
              </a:rPr>
              <a:t>サイズ変更</a:t>
            </a:r>
          </a:p>
        </p:txBody>
      </p:sp>
      <p:sp>
        <p:nvSpPr>
          <p:cNvPr id="19" name="テキスト ボックス 18">
            <a:extLst>
              <a:ext uri="{FF2B5EF4-FFF2-40B4-BE49-F238E27FC236}">
                <a16:creationId xmlns:a16="http://schemas.microsoft.com/office/drawing/2014/main" id="{C2AB89AF-8AA1-827B-C7A5-CC6DFFCD30CC}"/>
              </a:ext>
            </a:extLst>
          </p:cNvPr>
          <p:cNvSpPr txBox="1"/>
          <p:nvPr/>
        </p:nvSpPr>
        <p:spPr>
          <a:xfrm>
            <a:off x="4124473" y="4961450"/>
            <a:ext cx="748923" cy="261610"/>
          </a:xfrm>
          <a:prstGeom prst="rect">
            <a:avLst/>
          </a:prstGeom>
          <a:noFill/>
        </p:spPr>
        <p:txBody>
          <a:bodyPr wrap="none" rtlCol="0">
            <a:spAutoFit/>
          </a:bodyPr>
          <a:lstStyle/>
          <a:p>
            <a:pPr algn="ctr"/>
            <a:r>
              <a:rPr kumimoji="1" lang="ja-GB" altLang="en-US" sz="1100" b="1" dirty="0">
                <a:solidFill>
                  <a:srgbClr val="002060"/>
                </a:solidFill>
              </a:rPr>
              <a:t>色を変更</a:t>
            </a:r>
          </a:p>
        </p:txBody>
      </p:sp>
      <p:sp>
        <p:nvSpPr>
          <p:cNvPr id="20" name="テキスト ボックス 19">
            <a:extLst>
              <a:ext uri="{FF2B5EF4-FFF2-40B4-BE49-F238E27FC236}">
                <a16:creationId xmlns:a16="http://schemas.microsoft.com/office/drawing/2014/main" id="{0070735E-69CF-E712-4590-F39CB84020BD}"/>
              </a:ext>
            </a:extLst>
          </p:cNvPr>
          <p:cNvSpPr txBox="1"/>
          <p:nvPr/>
        </p:nvSpPr>
        <p:spPr>
          <a:xfrm>
            <a:off x="3651621" y="2810529"/>
            <a:ext cx="543739" cy="307777"/>
          </a:xfrm>
          <a:prstGeom prst="rect">
            <a:avLst/>
          </a:prstGeom>
          <a:noFill/>
        </p:spPr>
        <p:txBody>
          <a:bodyPr wrap="none" rtlCol="0">
            <a:spAutoFit/>
          </a:bodyPr>
          <a:lstStyle/>
          <a:p>
            <a:pPr algn="ctr"/>
            <a:r>
              <a:rPr kumimoji="1" lang="ja-GB" altLang="en-US" sz="1400" b="1" dirty="0">
                <a:solidFill>
                  <a:srgbClr val="002060"/>
                </a:solidFill>
              </a:rPr>
              <a:t>操作</a:t>
            </a:r>
          </a:p>
        </p:txBody>
      </p:sp>
      <p:sp>
        <p:nvSpPr>
          <p:cNvPr id="21" name="テキスト ボックス 20">
            <a:extLst>
              <a:ext uri="{FF2B5EF4-FFF2-40B4-BE49-F238E27FC236}">
                <a16:creationId xmlns:a16="http://schemas.microsoft.com/office/drawing/2014/main" id="{A7ED2350-A1E7-ED7C-A180-0E589488C834}"/>
              </a:ext>
            </a:extLst>
          </p:cNvPr>
          <p:cNvSpPr txBox="1"/>
          <p:nvPr/>
        </p:nvSpPr>
        <p:spPr>
          <a:xfrm>
            <a:off x="4731634" y="2812151"/>
            <a:ext cx="543739" cy="307777"/>
          </a:xfrm>
          <a:prstGeom prst="rect">
            <a:avLst/>
          </a:prstGeom>
          <a:noFill/>
        </p:spPr>
        <p:txBody>
          <a:bodyPr wrap="none" rtlCol="0">
            <a:spAutoFit/>
          </a:bodyPr>
          <a:lstStyle/>
          <a:p>
            <a:pPr algn="ctr"/>
            <a:r>
              <a:rPr kumimoji="1" lang="ja-GB" altLang="en-US" sz="1400" b="1" dirty="0">
                <a:solidFill>
                  <a:srgbClr val="002060"/>
                </a:solidFill>
              </a:rPr>
              <a:t>取消</a:t>
            </a:r>
          </a:p>
        </p:txBody>
      </p:sp>
      <p:sp>
        <p:nvSpPr>
          <p:cNvPr id="22" name="テキスト ボックス 21">
            <a:extLst>
              <a:ext uri="{FF2B5EF4-FFF2-40B4-BE49-F238E27FC236}">
                <a16:creationId xmlns:a16="http://schemas.microsoft.com/office/drawing/2014/main" id="{804FE2B0-590C-7015-E7A5-0272624CAECD}"/>
              </a:ext>
            </a:extLst>
          </p:cNvPr>
          <p:cNvSpPr txBox="1"/>
          <p:nvPr/>
        </p:nvSpPr>
        <p:spPr>
          <a:xfrm>
            <a:off x="4053937" y="4576167"/>
            <a:ext cx="889987" cy="261610"/>
          </a:xfrm>
          <a:prstGeom prst="rect">
            <a:avLst/>
          </a:prstGeom>
          <a:noFill/>
        </p:spPr>
        <p:txBody>
          <a:bodyPr wrap="none" rtlCol="0">
            <a:spAutoFit/>
          </a:bodyPr>
          <a:lstStyle/>
          <a:p>
            <a:pPr algn="ctr"/>
            <a:r>
              <a:rPr kumimoji="1" lang="ja-GB" altLang="en-US" sz="1100" b="1" dirty="0">
                <a:solidFill>
                  <a:srgbClr val="002060"/>
                </a:solidFill>
              </a:rPr>
              <a:t>文字を追加</a:t>
            </a:r>
          </a:p>
        </p:txBody>
      </p:sp>
      <p:sp>
        <p:nvSpPr>
          <p:cNvPr id="23" name="テキスト ボックス 22">
            <a:extLst>
              <a:ext uri="{FF2B5EF4-FFF2-40B4-BE49-F238E27FC236}">
                <a16:creationId xmlns:a16="http://schemas.microsoft.com/office/drawing/2014/main" id="{AE2C97C5-C517-325C-8B1C-DF03D5F89594}"/>
              </a:ext>
            </a:extLst>
          </p:cNvPr>
          <p:cNvSpPr txBox="1"/>
          <p:nvPr/>
        </p:nvSpPr>
        <p:spPr>
          <a:xfrm>
            <a:off x="2405308" y="3088713"/>
            <a:ext cx="889987" cy="261610"/>
          </a:xfrm>
          <a:prstGeom prst="rect">
            <a:avLst/>
          </a:prstGeom>
          <a:noFill/>
        </p:spPr>
        <p:txBody>
          <a:bodyPr wrap="none" rtlCol="0">
            <a:spAutoFit/>
          </a:bodyPr>
          <a:lstStyle/>
          <a:p>
            <a:pPr algn="ctr"/>
            <a:r>
              <a:rPr kumimoji="1" lang="ja-GB" altLang="en-US" sz="1100" b="1" dirty="0">
                <a:solidFill>
                  <a:srgbClr val="002060"/>
                </a:solidFill>
              </a:rPr>
              <a:t>位置を変更</a:t>
            </a:r>
          </a:p>
        </p:txBody>
      </p:sp>
      <p:sp>
        <p:nvSpPr>
          <p:cNvPr id="24" name="テキスト ボックス 23">
            <a:extLst>
              <a:ext uri="{FF2B5EF4-FFF2-40B4-BE49-F238E27FC236}">
                <a16:creationId xmlns:a16="http://schemas.microsoft.com/office/drawing/2014/main" id="{2200355A-310C-D121-0BF5-D64A9912544D}"/>
              </a:ext>
            </a:extLst>
          </p:cNvPr>
          <p:cNvSpPr txBox="1"/>
          <p:nvPr/>
        </p:nvSpPr>
        <p:spPr>
          <a:xfrm>
            <a:off x="5848708" y="3088713"/>
            <a:ext cx="889987" cy="261610"/>
          </a:xfrm>
          <a:prstGeom prst="rect">
            <a:avLst/>
          </a:prstGeom>
          <a:noFill/>
        </p:spPr>
        <p:txBody>
          <a:bodyPr wrap="none" rtlCol="0">
            <a:spAutoFit/>
          </a:bodyPr>
          <a:lstStyle/>
          <a:p>
            <a:pPr algn="ctr"/>
            <a:r>
              <a:rPr kumimoji="1" lang="ja-GB" altLang="en-US" sz="1100" b="1" dirty="0">
                <a:solidFill>
                  <a:srgbClr val="002060"/>
                </a:solidFill>
              </a:rPr>
              <a:t>位置を戻す</a:t>
            </a:r>
          </a:p>
        </p:txBody>
      </p:sp>
      <p:sp>
        <p:nvSpPr>
          <p:cNvPr id="25" name="テキスト ボックス 24">
            <a:extLst>
              <a:ext uri="{FF2B5EF4-FFF2-40B4-BE49-F238E27FC236}">
                <a16:creationId xmlns:a16="http://schemas.microsoft.com/office/drawing/2014/main" id="{621858F1-4927-AC24-4C5E-C707654EB418}"/>
              </a:ext>
            </a:extLst>
          </p:cNvPr>
          <p:cNvSpPr txBox="1"/>
          <p:nvPr/>
        </p:nvSpPr>
        <p:spPr>
          <a:xfrm>
            <a:off x="5390275" y="5611605"/>
            <a:ext cx="3323347" cy="677108"/>
          </a:xfrm>
          <a:prstGeom prst="rect">
            <a:avLst/>
          </a:prstGeom>
          <a:noFill/>
        </p:spPr>
        <p:txBody>
          <a:bodyPr wrap="none" rtlCol="0">
            <a:spAutoFit/>
          </a:bodyPr>
          <a:lstStyle/>
          <a:p>
            <a:pPr algn="ctr"/>
            <a:r>
              <a:rPr kumimoji="1" lang="ja-GB" altLang="en-US" sz="1400" b="1" dirty="0">
                <a:solidFill>
                  <a:srgbClr val="0070C0"/>
                </a:solidFill>
              </a:rPr>
              <a:t>例）操作の取消</a:t>
            </a:r>
            <a:endParaRPr kumimoji="1" lang="en-US" altLang="ja-GB" sz="1400" b="1" dirty="0">
              <a:solidFill>
                <a:srgbClr val="0070C0"/>
              </a:solidFill>
            </a:endParaRPr>
          </a:p>
          <a:p>
            <a:pPr algn="ctr"/>
            <a:r>
              <a:rPr kumimoji="1" lang="ja-GB" altLang="en-US" sz="1200" b="1" dirty="0">
                <a:solidFill>
                  <a:srgbClr val="2F2523"/>
                </a:solidFill>
              </a:rPr>
              <a:t>変更操作の履歴をスタックとして記録して，</a:t>
            </a:r>
            <a:br>
              <a:rPr kumimoji="1" lang="en-US" altLang="ja-GB" sz="1200" b="1" dirty="0">
                <a:solidFill>
                  <a:srgbClr val="2F2523"/>
                </a:solidFill>
              </a:rPr>
            </a:br>
            <a:r>
              <a:rPr kumimoji="1" lang="ja-GB" altLang="en-US" sz="1200" b="1" dirty="0">
                <a:solidFill>
                  <a:srgbClr val="2F2523"/>
                </a:solidFill>
              </a:rPr>
              <a:t>新しい方から取り消せば過去の状態に戻れる</a:t>
            </a:r>
            <a:endParaRPr kumimoji="1" lang="en-US" altLang="ja-GB" sz="1200" b="1" dirty="0">
              <a:solidFill>
                <a:srgbClr val="2F2523"/>
              </a:solidFill>
            </a:endParaRPr>
          </a:p>
        </p:txBody>
      </p:sp>
    </p:spTree>
    <p:extLst>
      <p:ext uri="{BB962C8B-B14F-4D97-AF65-F5344CB8AC3E}">
        <p14:creationId xmlns:p14="http://schemas.microsoft.com/office/powerpoint/2010/main" val="2995387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14596F-0D2C-F0CE-99CB-3E0A182646CE}"/>
              </a:ext>
            </a:extLst>
          </p:cNvPr>
          <p:cNvSpPr>
            <a:spLocks noGrp="1"/>
          </p:cNvSpPr>
          <p:nvPr>
            <p:ph type="title"/>
          </p:nvPr>
        </p:nvSpPr>
        <p:spPr/>
        <p:txBody>
          <a:bodyPr/>
          <a:lstStyle/>
          <a:p>
            <a:r>
              <a:rPr lang="ja-GB" altLang="en-US" dirty="0"/>
              <a:t>連結リスト（リンクリスト）</a:t>
            </a:r>
            <a:endParaRPr kumimoji="1" lang="ja-GB" altLang="en-US" dirty="0"/>
          </a:p>
        </p:txBody>
      </p:sp>
      <p:sp>
        <p:nvSpPr>
          <p:cNvPr id="3" name="コンテンツ プレースホルダー 2">
            <a:extLst>
              <a:ext uri="{FF2B5EF4-FFF2-40B4-BE49-F238E27FC236}">
                <a16:creationId xmlns:a16="http://schemas.microsoft.com/office/drawing/2014/main" id="{8671B23D-9942-CA6D-3B0A-E35623998B51}"/>
              </a:ext>
            </a:extLst>
          </p:cNvPr>
          <p:cNvSpPr>
            <a:spLocks noGrp="1"/>
          </p:cNvSpPr>
          <p:nvPr>
            <p:ph idx="1"/>
          </p:nvPr>
        </p:nvSpPr>
        <p:spPr/>
        <p:txBody>
          <a:bodyPr/>
          <a:lstStyle/>
          <a:p>
            <a:pPr marL="0" indent="0">
              <a:buNone/>
            </a:pPr>
            <a:r>
              <a:rPr lang="ja-GB" altLang="en-US" dirty="0"/>
              <a:t>自由な位置にデータを挿入</a:t>
            </a:r>
            <a:r>
              <a:rPr lang="en-US" altLang="ja-GB" dirty="0"/>
              <a:t>/</a:t>
            </a:r>
            <a:r>
              <a:rPr lang="ja-GB" altLang="en-US" dirty="0"/>
              <a:t>削除できる構造</a:t>
            </a:r>
            <a:endParaRPr lang="en-US" altLang="ja-GB" dirty="0"/>
          </a:p>
          <a:p>
            <a:pPr lvl="1"/>
            <a:r>
              <a:rPr lang="ja-GB" altLang="en-US" dirty="0"/>
              <a:t>前後の要素のリンクが記述された構造</a:t>
            </a:r>
            <a:endParaRPr lang="en-US" altLang="ja-GB" dirty="0"/>
          </a:p>
          <a:p>
            <a:pPr lvl="2"/>
            <a:r>
              <a:rPr lang="ja-GB" altLang="en-US" dirty="0"/>
              <a:t>リンクを編集することで順序を編集できる</a:t>
            </a:r>
            <a:endParaRPr lang="en-US" altLang="ja-GB" dirty="0"/>
          </a:p>
          <a:p>
            <a:pPr lvl="1"/>
            <a:r>
              <a:rPr lang="ja-GB" altLang="en-US" dirty="0"/>
              <a:t>比喩）新しく入手したトランプを，手札の数字順の位置に挿入する</a:t>
            </a:r>
            <a:endParaRPr lang="en-US" altLang="ja-GB" dirty="0"/>
          </a:p>
          <a:p>
            <a:pPr lvl="1"/>
            <a:r>
              <a:rPr lang="ja-GB" altLang="en-US" dirty="0"/>
              <a:t>例</a:t>
            </a:r>
            <a:r>
              <a:rPr lang="en-US" altLang="ja-GB" dirty="0"/>
              <a:t>1</a:t>
            </a:r>
            <a:r>
              <a:rPr lang="ja-GB" altLang="en-US" dirty="0"/>
              <a:t>）音楽再生リストの曲順編集</a:t>
            </a:r>
            <a:endParaRPr lang="en-US" altLang="ja-GB" dirty="0"/>
          </a:p>
          <a:p>
            <a:pPr lvl="1"/>
            <a:r>
              <a:rPr lang="ja-GB" altLang="en-US" dirty="0"/>
              <a:t>例</a:t>
            </a:r>
            <a:r>
              <a:rPr lang="en-US" altLang="ja-GB" dirty="0"/>
              <a:t>2</a:t>
            </a:r>
            <a:r>
              <a:rPr lang="ja-GB" altLang="en-US" dirty="0"/>
              <a:t>）</a:t>
            </a:r>
            <a:r>
              <a:rPr lang="en-US" altLang="ja-GB" dirty="0"/>
              <a:t>PowerPoint</a:t>
            </a:r>
            <a:r>
              <a:rPr lang="ja-GB" altLang="en-US" dirty="0"/>
              <a:t>でのスライド追加</a:t>
            </a:r>
            <a:r>
              <a:rPr lang="en-US" altLang="ja-GB" dirty="0"/>
              <a:t>/</a:t>
            </a:r>
            <a:r>
              <a:rPr lang="ja-GB" altLang="en-US" dirty="0"/>
              <a:t>挿入</a:t>
            </a:r>
            <a:r>
              <a:rPr lang="en-US" altLang="ja-GB" dirty="0"/>
              <a:t>/</a:t>
            </a:r>
            <a:r>
              <a:rPr lang="ja-GB" altLang="en-US" dirty="0"/>
              <a:t>削除</a:t>
            </a:r>
            <a:r>
              <a:rPr lang="en-US" altLang="ja-GB" dirty="0"/>
              <a:t>/</a:t>
            </a:r>
            <a:r>
              <a:rPr lang="ja-GB" altLang="en-US" dirty="0"/>
              <a:t>入れ替え操作</a:t>
            </a:r>
            <a:endParaRPr lang="en-US" altLang="ja-GB" dirty="0"/>
          </a:p>
          <a:p>
            <a:pPr lvl="1"/>
            <a:endParaRPr kumimoji="1" lang="en-US" altLang="ja-GB" dirty="0"/>
          </a:p>
          <a:p>
            <a:endParaRPr kumimoji="1" lang="ja-GB" altLang="en-US" dirty="0"/>
          </a:p>
        </p:txBody>
      </p:sp>
      <p:pic>
        <p:nvPicPr>
          <p:cNvPr id="5" name="図 4"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635509D7-DF53-2B64-E457-669DC7438709}"/>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1275560" y="3275636"/>
            <a:ext cx="6592879" cy="3299508"/>
          </a:xfrm>
          <a:prstGeom prst="rect">
            <a:avLst/>
          </a:prstGeom>
        </p:spPr>
      </p:pic>
    </p:spTree>
    <p:extLst>
      <p:ext uri="{BB962C8B-B14F-4D97-AF65-F5344CB8AC3E}">
        <p14:creationId xmlns:p14="http://schemas.microsoft.com/office/powerpoint/2010/main" val="2323416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1FE9E9-12E0-2D05-D5A3-CF69217B8436}"/>
              </a:ext>
            </a:extLst>
          </p:cNvPr>
          <p:cNvSpPr>
            <a:spLocks noGrp="1"/>
          </p:cNvSpPr>
          <p:nvPr>
            <p:ph type="title"/>
          </p:nvPr>
        </p:nvSpPr>
        <p:spPr/>
        <p:txBody>
          <a:bodyPr/>
          <a:lstStyle/>
          <a:p>
            <a:r>
              <a:rPr lang="ja-GB" altLang="en-US" dirty="0"/>
              <a:t>辞書</a:t>
            </a:r>
            <a:endParaRPr kumimoji="1" lang="ja-GB" altLang="en-US" dirty="0"/>
          </a:p>
        </p:txBody>
      </p:sp>
      <p:sp>
        <p:nvSpPr>
          <p:cNvPr id="3" name="コンテンツ プレースホルダー 2">
            <a:extLst>
              <a:ext uri="{FF2B5EF4-FFF2-40B4-BE49-F238E27FC236}">
                <a16:creationId xmlns:a16="http://schemas.microsoft.com/office/drawing/2014/main" id="{DFDE7004-8283-04E8-5919-439D2A66B357}"/>
              </a:ext>
            </a:extLst>
          </p:cNvPr>
          <p:cNvSpPr>
            <a:spLocks noGrp="1"/>
          </p:cNvSpPr>
          <p:nvPr>
            <p:ph idx="1"/>
          </p:nvPr>
        </p:nvSpPr>
        <p:spPr/>
        <p:txBody>
          <a:bodyPr/>
          <a:lstStyle/>
          <a:p>
            <a:pPr marL="0" indent="0">
              <a:buNone/>
            </a:pPr>
            <a:r>
              <a:rPr kumimoji="1" lang="ja-GB" altLang="en-US" dirty="0"/>
              <a:t>値に独自の名前（キー）をつけて管理できる構造</a:t>
            </a:r>
            <a:endParaRPr kumimoji="1" lang="en-US" altLang="ja-GB" dirty="0"/>
          </a:p>
          <a:p>
            <a:pPr marL="457200" lvl="1" indent="0">
              <a:buNone/>
            </a:pPr>
            <a:r>
              <a:rPr kumimoji="1" lang="ja-GB" altLang="en-US" dirty="0"/>
              <a:t>比喩）辞書（書籍）は，</a:t>
            </a:r>
            <a:r>
              <a:rPr kumimoji="1" lang="ja-GB" altLang="en-US" dirty="0">
                <a:solidFill>
                  <a:srgbClr val="0070C0"/>
                </a:solidFill>
              </a:rPr>
              <a:t>単語名からそれが持つ情報を見つけ出せる</a:t>
            </a:r>
            <a:endParaRPr kumimoji="1" lang="en-US" altLang="ja-GB" dirty="0">
              <a:solidFill>
                <a:srgbClr val="0070C0"/>
              </a:solidFill>
            </a:endParaRPr>
          </a:p>
          <a:p>
            <a:pPr lvl="2"/>
            <a:r>
              <a:rPr kumimoji="1" lang="ja-GB" altLang="en-US" dirty="0"/>
              <a:t>辞書（データ構造）では，名前を引いて情報を</a:t>
            </a:r>
            <a:r>
              <a:rPr lang="ja-GB" altLang="en-US" dirty="0"/>
              <a:t>見つけ出せる</a:t>
            </a:r>
            <a:endParaRPr kumimoji="1" lang="en-US" altLang="ja-GB" dirty="0"/>
          </a:p>
          <a:p>
            <a:pPr lvl="2"/>
            <a:endParaRPr kumimoji="1" lang="en-US" altLang="ja-GB" dirty="0"/>
          </a:p>
          <a:p>
            <a:pPr marL="457200" lvl="1" indent="0">
              <a:buNone/>
            </a:pPr>
            <a:r>
              <a:rPr kumimoji="1" lang="ja-GB" altLang="en-US" dirty="0"/>
              <a:t>例</a:t>
            </a:r>
            <a:r>
              <a:rPr kumimoji="1" lang="en-US" altLang="ja-GB" dirty="0"/>
              <a:t>1</a:t>
            </a:r>
            <a:r>
              <a:rPr kumimoji="1" lang="ja-GB" altLang="en-US" dirty="0"/>
              <a:t>）アプリの内部設定</a:t>
            </a:r>
            <a:endParaRPr kumimoji="1" lang="en-US" altLang="ja-GB" dirty="0"/>
          </a:p>
          <a:p>
            <a:pPr lvl="2"/>
            <a:r>
              <a:rPr kumimoji="1" lang="ja-GB" altLang="en-US" dirty="0"/>
              <a:t>設定項目</a:t>
            </a:r>
            <a:r>
              <a:rPr lang="ja-GB" altLang="en-US" dirty="0"/>
              <a:t>に対応する値として</a:t>
            </a:r>
            <a:r>
              <a:rPr kumimoji="1" lang="ja-GB" altLang="en-US" dirty="0"/>
              <a:t>，ユーザーが選んだ設定が保存されている</a:t>
            </a:r>
            <a:endParaRPr kumimoji="1" lang="en-US" altLang="ja-GB" dirty="0"/>
          </a:p>
          <a:p>
            <a:pPr marL="457200" lvl="1" indent="0">
              <a:buNone/>
            </a:pPr>
            <a:r>
              <a:rPr lang="ja-GB" altLang="en-US" dirty="0"/>
              <a:t>例</a:t>
            </a:r>
            <a:r>
              <a:rPr lang="en-US" altLang="ja-GB" dirty="0"/>
              <a:t>2</a:t>
            </a:r>
            <a:r>
              <a:rPr lang="ja-GB" altLang="en-US" dirty="0"/>
              <a:t>）学生名簿</a:t>
            </a:r>
            <a:endParaRPr lang="en-US" altLang="ja-GB" dirty="0"/>
          </a:p>
          <a:p>
            <a:pPr lvl="2"/>
            <a:r>
              <a:rPr lang="ja-GB" altLang="en-US" dirty="0"/>
              <a:t>学籍番号から，</a:t>
            </a:r>
            <a:r>
              <a:rPr lang="en-US" altLang="ja-GB" dirty="0"/>
              <a:t>“</a:t>
            </a:r>
            <a:r>
              <a:rPr lang="ja-GB" altLang="en-US" dirty="0"/>
              <a:t>所属</a:t>
            </a:r>
            <a:r>
              <a:rPr lang="en-US" altLang="ja-GB" dirty="0"/>
              <a:t>”</a:t>
            </a:r>
            <a:r>
              <a:rPr lang="ja-GB" altLang="en-US" dirty="0"/>
              <a:t>，</a:t>
            </a:r>
            <a:r>
              <a:rPr lang="en-US" altLang="ja-GB" dirty="0"/>
              <a:t>”</a:t>
            </a:r>
            <a:r>
              <a:rPr lang="ja-GB" altLang="en-US" dirty="0"/>
              <a:t>学年</a:t>
            </a:r>
            <a:r>
              <a:rPr lang="en-US" altLang="ja-GB" dirty="0"/>
              <a:t>”</a:t>
            </a:r>
            <a:r>
              <a:rPr lang="ja-GB" altLang="en-US" dirty="0"/>
              <a:t>，</a:t>
            </a:r>
            <a:r>
              <a:rPr lang="en-US" altLang="ja-GB" dirty="0"/>
              <a:t>”</a:t>
            </a:r>
            <a:r>
              <a:rPr lang="ja-GB" altLang="en-US" dirty="0"/>
              <a:t>履修科目</a:t>
            </a:r>
            <a:r>
              <a:rPr lang="en-US" altLang="ja-GB" dirty="0"/>
              <a:t>”</a:t>
            </a:r>
            <a:r>
              <a:rPr lang="ja-GB" altLang="en-US" dirty="0"/>
              <a:t>などの情報を参照できる</a:t>
            </a:r>
            <a:endParaRPr lang="en-US" altLang="ja-GB" dirty="0"/>
          </a:p>
          <a:p>
            <a:pPr marL="457200" lvl="1" indent="0">
              <a:buNone/>
            </a:pPr>
            <a:r>
              <a:rPr lang="ja-GB" altLang="en-US" dirty="0"/>
              <a:t>例</a:t>
            </a:r>
            <a:r>
              <a:rPr lang="en-US" altLang="ja-GB" dirty="0"/>
              <a:t>3</a:t>
            </a:r>
            <a:r>
              <a:rPr lang="ja-GB" altLang="en-US" dirty="0"/>
              <a:t>）音楽ストリーミングサービス</a:t>
            </a:r>
            <a:endParaRPr lang="en-US" altLang="ja-GB" dirty="0"/>
          </a:p>
          <a:p>
            <a:pPr lvl="2"/>
            <a:r>
              <a:rPr kumimoji="1" lang="ja-GB" altLang="en-US" dirty="0"/>
              <a:t>音楽</a:t>
            </a:r>
            <a:r>
              <a:rPr lang="en-US" altLang="ja-GB" dirty="0"/>
              <a:t>ID</a:t>
            </a:r>
            <a:r>
              <a:rPr lang="ja-GB" altLang="en-US" dirty="0"/>
              <a:t>ごとに，曲名，アーティスト名，アルバム情報などを参照できる</a:t>
            </a:r>
            <a:endParaRPr kumimoji="1" lang="ja-GB" altLang="en-US" dirty="0"/>
          </a:p>
        </p:txBody>
      </p:sp>
      <p:sp>
        <p:nvSpPr>
          <p:cNvPr id="4" name="テキスト ボックス 3">
            <a:extLst>
              <a:ext uri="{FF2B5EF4-FFF2-40B4-BE49-F238E27FC236}">
                <a16:creationId xmlns:a16="http://schemas.microsoft.com/office/drawing/2014/main" id="{2EBC8B00-3E43-BBB6-035F-F73D83FA17D2}"/>
              </a:ext>
            </a:extLst>
          </p:cNvPr>
          <p:cNvSpPr txBox="1"/>
          <p:nvPr/>
        </p:nvSpPr>
        <p:spPr>
          <a:xfrm>
            <a:off x="855042" y="4750970"/>
            <a:ext cx="1872629" cy="1600438"/>
          </a:xfrm>
          <a:prstGeom prst="rect">
            <a:avLst/>
          </a:prstGeom>
          <a:solidFill>
            <a:schemeClr val="bg1">
              <a:lumMod val="85000"/>
            </a:schemeClr>
          </a:solidFill>
        </p:spPr>
        <p:txBody>
          <a:bodyPr wrap="none" rtlCol="0">
            <a:spAutoFit/>
          </a:bodyPr>
          <a:lstStyle/>
          <a:p>
            <a:r>
              <a:rPr kumimoji="1" lang="ja-GB" altLang="en-US" sz="1400" b="1" dirty="0"/>
              <a:t>個人</a:t>
            </a:r>
            <a:r>
              <a:rPr kumimoji="1" lang="ja-JP" altLang="en-US" sz="1400" b="1"/>
              <a:t>設定 </a:t>
            </a:r>
            <a:r>
              <a:rPr kumimoji="1" lang="en-US" altLang="ja-JP" sz="1400" b="1" dirty="0"/>
              <a:t>= {</a:t>
            </a:r>
          </a:p>
          <a:p>
            <a:r>
              <a:rPr kumimoji="1" lang="en-US" altLang="ja-JP" sz="1400" b="1" dirty="0"/>
              <a:t>    "</a:t>
            </a:r>
            <a:r>
              <a:rPr kumimoji="1" lang="ja-JP" altLang="en-US" sz="1400" b="1"/>
              <a:t>テーマ</a:t>
            </a:r>
            <a:r>
              <a:rPr kumimoji="1" lang="en-US" altLang="ja-JP" sz="1400" b="1" dirty="0"/>
              <a:t>": "</a:t>
            </a:r>
            <a:r>
              <a:rPr kumimoji="1" lang="ja-JP" altLang="en-US" sz="1400" b="1"/>
              <a:t>ダーク</a:t>
            </a:r>
            <a:r>
              <a:rPr kumimoji="1" lang="en-US" altLang="ja-JP" sz="1400" b="1" dirty="0"/>
              <a:t>",</a:t>
            </a:r>
          </a:p>
          <a:p>
            <a:r>
              <a:rPr kumimoji="1" lang="en-US" altLang="ja-JP" sz="1400" b="1" dirty="0"/>
              <a:t>    "</a:t>
            </a:r>
            <a:r>
              <a:rPr kumimoji="1" lang="ja-JP" altLang="en-US" sz="1400" b="1"/>
              <a:t>通知</a:t>
            </a:r>
            <a:r>
              <a:rPr kumimoji="1" lang="en-US" altLang="ja-JP" sz="1400" b="1" dirty="0"/>
              <a:t>": "</a:t>
            </a:r>
            <a:r>
              <a:rPr kumimoji="1" lang="ja-JP" altLang="en-US" sz="1400" b="1"/>
              <a:t>オン</a:t>
            </a:r>
            <a:r>
              <a:rPr kumimoji="1" lang="en-US" altLang="ja-JP" sz="1400" b="1" dirty="0"/>
              <a:t>",</a:t>
            </a:r>
          </a:p>
          <a:p>
            <a:r>
              <a:rPr kumimoji="1" lang="en-US" altLang="ja-JP" sz="1400" b="1" dirty="0"/>
              <a:t>    "</a:t>
            </a:r>
            <a:r>
              <a:rPr kumimoji="1" lang="ja-JP" altLang="en-US" sz="1400" b="1"/>
              <a:t>言語</a:t>
            </a:r>
            <a:r>
              <a:rPr kumimoji="1" lang="en-US" altLang="ja-JP" sz="1400" b="1" dirty="0"/>
              <a:t>": "</a:t>
            </a:r>
            <a:r>
              <a:rPr kumimoji="1" lang="ja-JP" altLang="en-US" sz="1400" b="1"/>
              <a:t>日本語</a:t>
            </a:r>
            <a:r>
              <a:rPr kumimoji="1" lang="en-US" altLang="ja-JP" sz="1400" b="1" dirty="0"/>
              <a:t>",</a:t>
            </a:r>
          </a:p>
          <a:p>
            <a:r>
              <a:rPr kumimoji="1" lang="en-US" altLang="ja-JP" sz="1400" b="1" dirty="0"/>
              <a:t>    "</a:t>
            </a:r>
            <a:r>
              <a:rPr kumimoji="1" lang="ja-JP" altLang="en-US" sz="1400" b="1"/>
              <a:t>文字サイズ</a:t>
            </a:r>
            <a:r>
              <a:rPr kumimoji="1" lang="en-US" altLang="ja-JP" sz="1400" b="1" dirty="0"/>
              <a:t>": "</a:t>
            </a:r>
            <a:r>
              <a:rPr kumimoji="1" lang="ja-JP" altLang="en-US" sz="1400" b="1"/>
              <a:t>中</a:t>
            </a:r>
            <a:r>
              <a:rPr kumimoji="1" lang="en-US" altLang="ja-JP" sz="1400" b="1" dirty="0"/>
              <a:t>"</a:t>
            </a:r>
          </a:p>
          <a:p>
            <a:r>
              <a:rPr kumimoji="1" lang="en-US" altLang="ja-JP" sz="1400" b="1" dirty="0"/>
              <a:t>}</a:t>
            </a:r>
          </a:p>
          <a:p>
            <a:endParaRPr kumimoji="1" lang="ja-GB" altLang="en-US" sz="1400" b="1" dirty="0"/>
          </a:p>
        </p:txBody>
      </p:sp>
      <p:sp>
        <p:nvSpPr>
          <p:cNvPr id="5" name="テキスト ボックス 4">
            <a:extLst>
              <a:ext uri="{FF2B5EF4-FFF2-40B4-BE49-F238E27FC236}">
                <a16:creationId xmlns:a16="http://schemas.microsoft.com/office/drawing/2014/main" id="{941FBDEC-DAC3-1B38-7B60-CE3940D2FF5F}"/>
              </a:ext>
            </a:extLst>
          </p:cNvPr>
          <p:cNvSpPr txBox="1"/>
          <p:nvPr/>
        </p:nvSpPr>
        <p:spPr>
          <a:xfrm>
            <a:off x="4943342" y="4320079"/>
            <a:ext cx="1645002" cy="2462213"/>
          </a:xfrm>
          <a:prstGeom prst="rect">
            <a:avLst/>
          </a:prstGeom>
          <a:solidFill>
            <a:schemeClr val="bg1">
              <a:lumMod val="85000"/>
            </a:schemeClr>
          </a:solidFill>
        </p:spPr>
        <p:txBody>
          <a:bodyPr wrap="none" rtlCol="0">
            <a:spAutoFit/>
          </a:bodyPr>
          <a:lstStyle/>
          <a:p>
            <a:r>
              <a:rPr kumimoji="1" lang="ja-JP" altLang="en-US" sz="1100" b="1"/>
              <a:t>学生名簿 </a:t>
            </a:r>
            <a:r>
              <a:rPr kumimoji="1" lang="en-US" altLang="ja-JP" sz="1100" b="1" dirty="0"/>
              <a:t>= {</a:t>
            </a:r>
          </a:p>
          <a:p>
            <a:r>
              <a:rPr kumimoji="1" lang="en-US" altLang="ja-JP" sz="1100" b="1" dirty="0"/>
              <a:t>    "2023001": {</a:t>
            </a:r>
          </a:p>
          <a:p>
            <a:r>
              <a:rPr kumimoji="1" lang="en-US" altLang="ja-JP" sz="1100" b="1" dirty="0"/>
              <a:t>        “</a:t>
            </a:r>
            <a:r>
              <a:rPr kumimoji="1" lang="ja-JP" altLang="en-US" sz="1100" b="1"/>
              <a:t>氏名</a:t>
            </a:r>
            <a:r>
              <a:rPr kumimoji="1" lang="en-US" altLang="ja-JP" sz="1100" b="1" dirty="0"/>
              <a:t>”: “</a:t>
            </a:r>
            <a:r>
              <a:rPr kumimoji="1" lang="ja-GB" altLang="en-US" sz="1100" b="1" dirty="0"/>
              <a:t>佐藤翔</a:t>
            </a:r>
            <a:r>
              <a:rPr kumimoji="1" lang="en-US" altLang="ja-JP" sz="1100" b="1" dirty="0"/>
              <a:t>",</a:t>
            </a:r>
          </a:p>
          <a:p>
            <a:r>
              <a:rPr kumimoji="1" lang="en-US" altLang="ja-JP" sz="1100" b="1" dirty="0"/>
              <a:t>        "</a:t>
            </a:r>
            <a:r>
              <a:rPr kumimoji="1" lang="ja-JP" altLang="en-US" sz="1100" b="1"/>
              <a:t>所属</a:t>
            </a:r>
            <a:r>
              <a:rPr kumimoji="1" lang="en-US" altLang="ja-JP" sz="1100" b="1" dirty="0"/>
              <a:t>": "</a:t>
            </a:r>
            <a:r>
              <a:rPr kumimoji="1" lang="ja-JP" altLang="en-US" sz="1100" b="1"/>
              <a:t>情報学部</a:t>
            </a:r>
            <a:r>
              <a:rPr kumimoji="1" lang="en-US" altLang="ja-JP" sz="1100" b="1" dirty="0"/>
              <a:t>",</a:t>
            </a:r>
          </a:p>
          <a:p>
            <a:r>
              <a:rPr kumimoji="1" lang="en-US" altLang="ja-JP" sz="1100" b="1" dirty="0"/>
              <a:t>        "</a:t>
            </a:r>
            <a:r>
              <a:rPr kumimoji="1" lang="ja-JP" altLang="en-US" sz="1100" b="1"/>
              <a:t>学年</a:t>
            </a:r>
            <a:r>
              <a:rPr kumimoji="1" lang="en-US" altLang="ja-JP" sz="1100" b="1" dirty="0"/>
              <a:t>": 2,</a:t>
            </a:r>
          </a:p>
          <a:p>
            <a:r>
              <a:rPr kumimoji="1" lang="en-US" altLang="ja-JP" sz="1100" b="1" dirty="0"/>
              <a:t>        "</a:t>
            </a:r>
            <a:r>
              <a:rPr kumimoji="1" lang="ja-JP" altLang="en-US" sz="1100" b="1"/>
              <a:t>専攻</a:t>
            </a:r>
            <a:r>
              <a:rPr kumimoji="1" lang="en-US" altLang="ja-JP" sz="1100" b="1" dirty="0"/>
              <a:t>": "</a:t>
            </a:r>
            <a:r>
              <a:rPr kumimoji="1" lang="ja-JP" altLang="en-US" sz="1100" b="1"/>
              <a:t>情報科学</a:t>
            </a:r>
            <a:r>
              <a:rPr kumimoji="1" lang="en-US" altLang="ja-JP" sz="1100" b="1" dirty="0"/>
              <a:t>"</a:t>
            </a:r>
          </a:p>
          <a:p>
            <a:r>
              <a:rPr kumimoji="1" lang="en-US" altLang="ja-JP" sz="1100" b="1" dirty="0"/>
              <a:t>    },</a:t>
            </a:r>
          </a:p>
          <a:p>
            <a:r>
              <a:rPr kumimoji="1" lang="en-US" altLang="ja-JP" sz="1100" b="1" dirty="0"/>
              <a:t>    "2023002": {</a:t>
            </a:r>
          </a:p>
          <a:p>
            <a:r>
              <a:rPr kumimoji="1" lang="en-US" altLang="ja-JP" sz="1100" b="1" dirty="0"/>
              <a:t>        “</a:t>
            </a:r>
            <a:r>
              <a:rPr kumimoji="1" lang="ja-JP" altLang="en-US" sz="1100" b="1"/>
              <a:t>氏名</a:t>
            </a:r>
            <a:r>
              <a:rPr kumimoji="1" lang="en-US" altLang="ja-JP" sz="1100" b="1" dirty="0"/>
              <a:t>”: “</a:t>
            </a:r>
            <a:r>
              <a:rPr kumimoji="1" lang="ja-GB" altLang="en-US" sz="1100" b="1" dirty="0"/>
              <a:t>鈴木楓</a:t>
            </a:r>
            <a:r>
              <a:rPr kumimoji="1" lang="en-US" altLang="ja-JP" sz="1100" b="1" dirty="0"/>
              <a:t>",</a:t>
            </a:r>
          </a:p>
          <a:p>
            <a:r>
              <a:rPr kumimoji="1" lang="en-US" altLang="ja-JP" sz="1100" b="1" dirty="0"/>
              <a:t>        "</a:t>
            </a:r>
            <a:r>
              <a:rPr kumimoji="1" lang="ja-JP" altLang="en-US" sz="1100" b="1"/>
              <a:t>所属</a:t>
            </a:r>
            <a:r>
              <a:rPr kumimoji="1" lang="en-US" altLang="ja-JP" sz="1100" b="1" dirty="0"/>
              <a:t>": "</a:t>
            </a:r>
            <a:r>
              <a:rPr kumimoji="1" lang="ja-JP" altLang="en-US" sz="1100" b="1"/>
              <a:t>経済学部</a:t>
            </a:r>
            <a:r>
              <a:rPr kumimoji="1" lang="en-US" altLang="ja-JP" sz="1100" b="1" dirty="0"/>
              <a:t>",</a:t>
            </a:r>
          </a:p>
          <a:p>
            <a:r>
              <a:rPr kumimoji="1" lang="en-US" altLang="ja-JP" sz="1100" b="1" dirty="0"/>
              <a:t>        "</a:t>
            </a:r>
            <a:r>
              <a:rPr kumimoji="1" lang="ja-JP" altLang="en-US" sz="1100" b="1"/>
              <a:t>学年</a:t>
            </a:r>
            <a:r>
              <a:rPr kumimoji="1" lang="en-US" altLang="ja-JP" sz="1100" b="1" dirty="0"/>
              <a:t>": 3,</a:t>
            </a:r>
          </a:p>
          <a:p>
            <a:r>
              <a:rPr kumimoji="1" lang="en-US" altLang="ja-JP" sz="1100" b="1" dirty="0"/>
              <a:t>        "</a:t>
            </a:r>
            <a:r>
              <a:rPr kumimoji="1" lang="ja-JP" altLang="en-US" sz="1100" b="1"/>
              <a:t>専攻</a:t>
            </a:r>
            <a:r>
              <a:rPr kumimoji="1" lang="en-US" altLang="ja-JP" sz="1100" b="1" dirty="0"/>
              <a:t>": "</a:t>
            </a:r>
            <a:r>
              <a:rPr kumimoji="1" lang="ja-JP" altLang="en-US" sz="1100" b="1"/>
              <a:t>経済政策</a:t>
            </a:r>
            <a:r>
              <a:rPr kumimoji="1" lang="en-US" altLang="ja-JP" sz="1100" b="1" dirty="0"/>
              <a:t>"</a:t>
            </a:r>
          </a:p>
          <a:p>
            <a:r>
              <a:rPr kumimoji="1" lang="en-US" altLang="ja-JP" sz="1100" b="1" dirty="0"/>
              <a:t>    }</a:t>
            </a:r>
          </a:p>
          <a:p>
            <a:r>
              <a:rPr kumimoji="1" lang="en-US" altLang="ja-JP" sz="1100" b="1" dirty="0"/>
              <a:t>}</a:t>
            </a:r>
          </a:p>
        </p:txBody>
      </p:sp>
      <p:sp>
        <p:nvSpPr>
          <p:cNvPr id="6" name="テキスト ボックス 5">
            <a:extLst>
              <a:ext uri="{FF2B5EF4-FFF2-40B4-BE49-F238E27FC236}">
                <a16:creationId xmlns:a16="http://schemas.microsoft.com/office/drawing/2014/main" id="{DDCD8067-F8AC-5CF7-5903-4ED70830B023}"/>
              </a:ext>
            </a:extLst>
          </p:cNvPr>
          <p:cNvSpPr txBox="1"/>
          <p:nvPr/>
        </p:nvSpPr>
        <p:spPr>
          <a:xfrm>
            <a:off x="6614004" y="5304966"/>
            <a:ext cx="2430474" cy="423193"/>
          </a:xfrm>
          <a:prstGeom prst="rect">
            <a:avLst/>
          </a:prstGeom>
          <a:noFill/>
        </p:spPr>
        <p:txBody>
          <a:bodyPr wrap="none" rtlCol="0">
            <a:spAutoFit/>
          </a:bodyPr>
          <a:lstStyle/>
          <a:p>
            <a:r>
              <a:rPr kumimoji="1" lang="ja-GB" altLang="en-US" sz="1100" b="1" dirty="0"/>
              <a:t>使用例</a:t>
            </a:r>
            <a:endParaRPr kumimoji="1" lang="en-US" altLang="ja-GB" sz="1100" b="1" dirty="0"/>
          </a:p>
          <a:p>
            <a:r>
              <a:rPr kumimoji="1" lang="ja-GB" altLang="en-US" sz="1050" b="1" dirty="0"/>
              <a:t>学生名簿</a:t>
            </a:r>
            <a:r>
              <a:rPr kumimoji="1" lang="en-US" altLang="ja-GB" sz="1050" b="1" dirty="0"/>
              <a:t>[2023002][</a:t>
            </a:r>
            <a:r>
              <a:rPr kumimoji="1" lang="ja-GB" altLang="en-US" sz="1050" b="1" dirty="0"/>
              <a:t>所属</a:t>
            </a:r>
            <a:r>
              <a:rPr kumimoji="1" lang="en-US" altLang="ja-GB" sz="1050" b="1" dirty="0"/>
              <a:t>]  →  </a:t>
            </a:r>
            <a:r>
              <a:rPr kumimoji="1" lang="ja-GB" altLang="en-US" sz="1050" b="1" dirty="0"/>
              <a:t>経済学部</a:t>
            </a:r>
          </a:p>
        </p:txBody>
      </p:sp>
      <p:sp>
        <p:nvSpPr>
          <p:cNvPr id="7" name="テキスト ボックス 6">
            <a:extLst>
              <a:ext uri="{FF2B5EF4-FFF2-40B4-BE49-F238E27FC236}">
                <a16:creationId xmlns:a16="http://schemas.microsoft.com/office/drawing/2014/main" id="{95D6B10A-183B-6A0C-FA67-2FF8D71DCEB1}"/>
              </a:ext>
            </a:extLst>
          </p:cNvPr>
          <p:cNvSpPr txBox="1"/>
          <p:nvPr/>
        </p:nvSpPr>
        <p:spPr>
          <a:xfrm>
            <a:off x="2727671" y="5304965"/>
            <a:ext cx="1861407" cy="746358"/>
          </a:xfrm>
          <a:prstGeom prst="rect">
            <a:avLst/>
          </a:prstGeom>
          <a:noFill/>
        </p:spPr>
        <p:txBody>
          <a:bodyPr wrap="none" rtlCol="0">
            <a:spAutoFit/>
          </a:bodyPr>
          <a:lstStyle/>
          <a:p>
            <a:r>
              <a:rPr kumimoji="1" lang="ja-GB" altLang="en-US" sz="1100" b="1" dirty="0"/>
              <a:t>使用例</a:t>
            </a:r>
            <a:endParaRPr kumimoji="1" lang="en-US" altLang="ja-GB" sz="1100" b="1" dirty="0"/>
          </a:p>
          <a:p>
            <a:r>
              <a:rPr kumimoji="1" lang="ja-GB" altLang="en-US" sz="1050" b="1" dirty="0"/>
              <a:t>個人設定</a:t>
            </a:r>
            <a:r>
              <a:rPr kumimoji="1" lang="en-US" altLang="ja-GB" sz="1050" b="1" dirty="0"/>
              <a:t>[</a:t>
            </a:r>
            <a:r>
              <a:rPr kumimoji="1" lang="ja-GB" altLang="en-US" sz="1050" b="1" dirty="0"/>
              <a:t>テーマ</a:t>
            </a:r>
            <a:r>
              <a:rPr kumimoji="1" lang="en-US" altLang="ja-GB" sz="1050" b="1" dirty="0"/>
              <a:t>]  →  </a:t>
            </a:r>
            <a:r>
              <a:rPr kumimoji="1" lang="ja-GB" altLang="en-US" sz="1050" b="1" dirty="0"/>
              <a:t>ダーク</a:t>
            </a:r>
            <a:endParaRPr kumimoji="1" lang="en-US" altLang="ja-GB" sz="1050" b="1" dirty="0"/>
          </a:p>
          <a:p>
            <a:r>
              <a:rPr kumimoji="1" lang="ja-GB" altLang="en-US" sz="1050" b="1" dirty="0"/>
              <a:t>個人設定</a:t>
            </a:r>
            <a:r>
              <a:rPr kumimoji="1" lang="en-US" altLang="ja-GB" sz="1050" b="1" dirty="0"/>
              <a:t>[</a:t>
            </a:r>
            <a:r>
              <a:rPr kumimoji="1" lang="ja-GB" altLang="en-US" sz="1050" b="1" dirty="0"/>
              <a:t>言語</a:t>
            </a:r>
            <a:r>
              <a:rPr kumimoji="1" lang="en-US" altLang="ja-GB" sz="1050" b="1" dirty="0"/>
              <a:t>] </a:t>
            </a:r>
            <a:r>
              <a:rPr kumimoji="1" lang="ja-JP" altLang="en-US" sz="1050" b="1"/>
              <a:t>　</a:t>
            </a:r>
            <a:r>
              <a:rPr kumimoji="1" lang="en-US" altLang="ja-GB" sz="1050" b="1" dirty="0"/>
              <a:t> →  </a:t>
            </a:r>
            <a:r>
              <a:rPr kumimoji="1" lang="ja-GB" altLang="en-US" sz="1050" b="1" dirty="0"/>
              <a:t>日本語</a:t>
            </a:r>
          </a:p>
          <a:p>
            <a:endParaRPr kumimoji="1" lang="ja-GB" altLang="en-US" sz="1050" b="1" dirty="0"/>
          </a:p>
        </p:txBody>
      </p:sp>
    </p:spTree>
    <p:extLst>
      <p:ext uri="{BB962C8B-B14F-4D97-AF65-F5344CB8AC3E}">
        <p14:creationId xmlns:p14="http://schemas.microsoft.com/office/powerpoint/2010/main" val="2712361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EAC718-CF1C-B3A6-B64B-6190CA845F9A}"/>
              </a:ext>
            </a:extLst>
          </p:cNvPr>
          <p:cNvSpPr>
            <a:spLocks noGrp="1"/>
          </p:cNvSpPr>
          <p:nvPr>
            <p:ph type="title"/>
          </p:nvPr>
        </p:nvSpPr>
        <p:spPr/>
        <p:txBody>
          <a:bodyPr/>
          <a:lstStyle/>
          <a:p>
            <a:r>
              <a:rPr lang="ja-GB" altLang="en-US" dirty="0"/>
              <a:t>各</a:t>
            </a:r>
            <a:r>
              <a:rPr kumimoji="1" lang="ja-GB" altLang="en-US" dirty="0"/>
              <a:t>データ構造の直感的な整理</a:t>
            </a:r>
          </a:p>
        </p:txBody>
      </p:sp>
      <p:sp>
        <p:nvSpPr>
          <p:cNvPr id="9" name="コンテンツ プレースホルダー 8">
            <a:extLst>
              <a:ext uri="{FF2B5EF4-FFF2-40B4-BE49-F238E27FC236}">
                <a16:creationId xmlns:a16="http://schemas.microsoft.com/office/drawing/2014/main" id="{584A3FD2-7D10-50F5-A5D9-351C9D7E86DF}"/>
              </a:ext>
            </a:extLst>
          </p:cNvPr>
          <p:cNvSpPr>
            <a:spLocks noGrp="1"/>
          </p:cNvSpPr>
          <p:nvPr>
            <p:ph idx="1"/>
          </p:nvPr>
        </p:nvSpPr>
        <p:spPr/>
        <p:txBody>
          <a:bodyPr/>
          <a:lstStyle/>
          <a:p>
            <a:pPr marL="0" indent="0">
              <a:buNone/>
            </a:pPr>
            <a:r>
              <a:rPr lang="ja-GB" altLang="en-US" dirty="0"/>
              <a:t>大まかに</a:t>
            </a:r>
            <a:r>
              <a:rPr lang="en-US" altLang="ja-GB" baseline="30000" dirty="0"/>
              <a:t>※</a:t>
            </a:r>
            <a:r>
              <a:rPr lang="ja-GB" altLang="en-US" dirty="0"/>
              <a:t>これまで紹介してきたデータ構造は以下のように整理できる</a:t>
            </a:r>
          </a:p>
        </p:txBody>
      </p:sp>
      <p:sp>
        <p:nvSpPr>
          <p:cNvPr id="17" name="テキスト ボックス 16">
            <a:extLst>
              <a:ext uri="{FF2B5EF4-FFF2-40B4-BE49-F238E27FC236}">
                <a16:creationId xmlns:a16="http://schemas.microsoft.com/office/drawing/2014/main" id="{6C9109EC-32DB-BBD6-311A-989F062490C6}"/>
              </a:ext>
            </a:extLst>
          </p:cNvPr>
          <p:cNvSpPr txBox="1"/>
          <p:nvPr/>
        </p:nvSpPr>
        <p:spPr>
          <a:xfrm>
            <a:off x="225668" y="6239145"/>
            <a:ext cx="8688597" cy="307777"/>
          </a:xfrm>
          <a:prstGeom prst="rect">
            <a:avLst/>
          </a:prstGeom>
          <a:noFill/>
        </p:spPr>
        <p:txBody>
          <a:bodyPr wrap="none" rtlCol="0">
            <a:spAutoFit/>
          </a:bodyPr>
          <a:lstStyle/>
          <a:p>
            <a:pPr algn="ctr"/>
            <a:r>
              <a:rPr kumimoji="1" lang="en-US" altLang="ja-GB" sz="1400" b="1" dirty="0"/>
              <a:t>※</a:t>
            </a:r>
            <a:r>
              <a:rPr kumimoji="1" lang="ja-GB" altLang="en-US" sz="1400" b="1" dirty="0"/>
              <a:t>現実には，本講義で紹介していないデータ構造も候補となり，分岐はより複雑で異なる形になりえます</a:t>
            </a:r>
          </a:p>
        </p:txBody>
      </p:sp>
      <p:pic>
        <p:nvPicPr>
          <p:cNvPr id="21" name="図 20" descr="ダイアグラム&#10;&#10;AI 生成コンテンツは誤りを含む可能性があります。">
            <a:extLst>
              <a:ext uri="{FF2B5EF4-FFF2-40B4-BE49-F238E27FC236}">
                <a16:creationId xmlns:a16="http://schemas.microsoft.com/office/drawing/2014/main" id="{BB1DBCE4-B3DB-BA18-8A3F-278341F2436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19175" y="1621670"/>
            <a:ext cx="8101581" cy="4519702"/>
          </a:xfrm>
          <a:prstGeom prst="rect">
            <a:avLst/>
          </a:prstGeom>
        </p:spPr>
      </p:pic>
    </p:spTree>
    <p:extLst>
      <p:ext uri="{BB962C8B-B14F-4D97-AF65-F5344CB8AC3E}">
        <p14:creationId xmlns:p14="http://schemas.microsoft.com/office/powerpoint/2010/main" val="1245874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FAABE-8DA4-B1BC-4D3C-B3EF9A88E5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DB39C0D-2463-A96A-C2CB-85B872F48BB4}"/>
              </a:ext>
            </a:extLst>
          </p:cNvPr>
          <p:cNvSpPr>
            <a:spLocks noGrp="1"/>
          </p:cNvSpPr>
          <p:nvPr>
            <p:ph type="title"/>
          </p:nvPr>
        </p:nvSpPr>
        <p:spPr/>
        <p:txBody>
          <a:bodyPr/>
          <a:lstStyle/>
          <a:p>
            <a:r>
              <a:rPr lang="ja-GB" altLang="en-US" dirty="0"/>
              <a:t>第</a:t>
            </a:r>
            <a:r>
              <a:rPr lang="en-US" altLang="ja-GB" dirty="0"/>
              <a:t>7</a:t>
            </a:r>
            <a:r>
              <a:rPr lang="ja-GB" altLang="en-US" dirty="0"/>
              <a:t>回：データ構造</a:t>
            </a:r>
            <a:endParaRPr kumimoji="1" lang="ja-GB" altLang="en-US" dirty="0"/>
          </a:p>
        </p:txBody>
      </p:sp>
      <p:sp>
        <p:nvSpPr>
          <p:cNvPr id="3" name="コンテンツ プレースホルダー 2">
            <a:extLst>
              <a:ext uri="{FF2B5EF4-FFF2-40B4-BE49-F238E27FC236}">
                <a16:creationId xmlns:a16="http://schemas.microsoft.com/office/drawing/2014/main" id="{3248EAAC-CF77-DA17-D035-5BB05687C504}"/>
              </a:ext>
            </a:extLst>
          </p:cNvPr>
          <p:cNvSpPr>
            <a:spLocks noGrp="1"/>
          </p:cNvSpPr>
          <p:nvPr>
            <p:ph idx="1"/>
          </p:nvPr>
        </p:nvSpPr>
        <p:spPr/>
        <p:txBody>
          <a:bodyPr/>
          <a:lstStyle/>
          <a:p>
            <a:pPr marL="0" indent="0">
              <a:buNone/>
            </a:pPr>
            <a:r>
              <a:rPr lang="ja-GB" altLang="en-US" dirty="0"/>
              <a:t>計算手順の書きやすさや効率は，与えるデータの形で変わる</a:t>
            </a:r>
            <a:endParaRPr lang="en-US" altLang="ja-GB" dirty="0"/>
          </a:p>
          <a:p>
            <a:pPr marL="914400" lvl="1" indent="-457200">
              <a:buFont typeface="+mj-lt"/>
              <a:buAutoNum type="arabicPeriod"/>
            </a:pPr>
            <a:r>
              <a:rPr lang="ja-GB" altLang="en-US" dirty="0"/>
              <a:t>情報をまとめて扱うための構造</a:t>
            </a:r>
            <a:endParaRPr lang="en-US" altLang="ja-GB" dirty="0"/>
          </a:p>
          <a:p>
            <a:pPr lvl="2"/>
            <a:r>
              <a:rPr lang="ja-GB" altLang="en-US" dirty="0"/>
              <a:t>配列，集合，クラス</a:t>
            </a:r>
            <a:endParaRPr lang="en-US" altLang="ja-GB" dirty="0"/>
          </a:p>
          <a:p>
            <a:pPr lvl="2"/>
            <a:endParaRPr lang="en-US" altLang="ja-GB" dirty="0"/>
          </a:p>
          <a:p>
            <a:pPr marL="914400" lvl="1" indent="-457200">
              <a:buFont typeface="+mj-lt"/>
              <a:buAutoNum type="arabicPeriod"/>
            </a:pPr>
            <a:r>
              <a:rPr lang="ja-GB" altLang="en-US" dirty="0"/>
              <a:t>柔軟にデータ構造や数を書き換えるための構造</a:t>
            </a:r>
            <a:endParaRPr lang="en-US" altLang="ja-JP" dirty="0"/>
          </a:p>
          <a:p>
            <a:pPr lvl="2"/>
            <a:r>
              <a:rPr lang="ja-GB" altLang="en-US" dirty="0"/>
              <a:t>キュー，スタック，リスト，辞書</a:t>
            </a:r>
            <a:endParaRPr lang="en-US" altLang="ja-GB" dirty="0"/>
          </a:p>
          <a:p>
            <a:pPr lvl="2"/>
            <a:endParaRPr lang="en-US" altLang="ja-JP" dirty="0"/>
          </a:p>
          <a:p>
            <a:pPr marL="914400" lvl="1" indent="-457200">
              <a:buFont typeface="+mj-lt"/>
              <a:buAutoNum type="arabicPeriod"/>
            </a:pPr>
            <a:r>
              <a:rPr lang="ja-GB" altLang="en-US" dirty="0">
                <a:solidFill>
                  <a:srgbClr val="0070C0"/>
                </a:solidFill>
              </a:rPr>
              <a:t>計算手順</a:t>
            </a:r>
            <a:r>
              <a:rPr lang="ja-JP" altLang="en-US">
                <a:solidFill>
                  <a:srgbClr val="0070C0"/>
                </a:solidFill>
              </a:rPr>
              <a:t>を</a:t>
            </a:r>
            <a:r>
              <a:rPr lang="ja-GB" altLang="en-US" dirty="0">
                <a:solidFill>
                  <a:srgbClr val="0070C0"/>
                </a:solidFill>
              </a:rPr>
              <a:t>簡易化，効率化するための</a:t>
            </a:r>
            <a:r>
              <a:rPr lang="ja-JP" altLang="en-US">
                <a:solidFill>
                  <a:srgbClr val="0070C0"/>
                </a:solidFill>
              </a:rPr>
              <a:t>構造</a:t>
            </a:r>
            <a:endParaRPr lang="en-US" altLang="ja-JP" dirty="0">
              <a:solidFill>
                <a:srgbClr val="0070C0"/>
              </a:solidFill>
            </a:endParaRPr>
          </a:p>
          <a:p>
            <a:pPr lvl="2"/>
            <a:r>
              <a:rPr lang="ja-GB" altLang="en-US" dirty="0"/>
              <a:t>ツリー，グラフ，リレーショナルデータベース</a:t>
            </a:r>
            <a:endParaRPr lang="en-US" altLang="ja-JP" dirty="0"/>
          </a:p>
          <a:p>
            <a:pPr lvl="2"/>
            <a:endParaRPr lang="ja-GB" altLang="en-US" dirty="0"/>
          </a:p>
        </p:txBody>
      </p:sp>
    </p:spTree>
    <p:extLst>
      <p:ext uri="{BB962C8B-B14F-4D97-AF65-F5344CB8AC3E}">
        <p14:creationId xmlns:p14="http://schemas.microsoft.com/office/powerpoint/2010/main" val="8376998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9CE9AC-6421-0F20-4D26-B1AF3D3C480A}"/>
              </a:ext>
            </a:extLst>
          </p:cNvPr>
          <p:cNvSpPr>
            <a:spLocks noGrp="1"/>
          </p:cNvSpPr>
          <p:nvPr>
            <p:ph type="title"/>
          </p:nvPr>
        </p:nvSpPr>
        <p:spPr/>
        <p:txBody>
          <a:bodyPr/>
          <a:lstStyle/>
          <a:p>
            <a:r>
              <a:rPr kumimoji="1" lang="ja-GB" altLang="en-US" dirty="0"/>
              <a:t>ツリー（木構造）</a:t>
            </a:r>
          </a:p>
        </p:txBody>
      </p:sp>
      <p:sp>
        <p:nvSpPr>
          <p:cNvPr id="3" name="コンテンツ プレースホルダー 2">
            <a:extLst>
              <a:ext uri="{FF2B5EF4-FFF2-40B4-BE49-F238E27FC236}">
                <a16:creationId xmlns:a16="http://schemas.microsoft.com/office/drawing/2014/main" id="{D6F169BB-1180-7FF9-46A0-F5448620245A}"/>
              </a:ext>
            </a:extLst>
          </p:cNvPr>
          <p:cNvSpPr>
            <a:spLocks noGrp="1"/>
          </p:cNvSpPr>
          <p:nvPr>
            <p:ph idx="1"/>
          </p:nvPr>
        </p:nvSpPr>
        <p:spPr/>
        <p:txBody>
          <a:bodyPr>
            <a:normAutofit/>
          </a:bodyPr>
          <a:lstStyle/>
          <a:p>
            <a:pPr marL="0" indent="0">
              <a:buNone/>
            </a:pPr>
            <a:r>
              <a:rPr kumimoji="1" lang="ja-GB" altLang="en-US" sz="2000" dirty="0"/>
              <a:t>階層関係を枝分かれによって表現した構造</a:t>
            </a:r>
            <a:endParaRPr kumimoji="1" lang="en-US" altLang="ja-GB" sz="2000" dirty="0"/>
          </a:p>
          <a:p>
            <a:pPr marL="457200" lvl="1" indent="0">
              <a:buNone/>
            </a:pPr>
            <a:r>
              <a:rPr lang="ja-GB" altLang="en-US" sz="1800" dirty="0"/>
              <a:t>比喩）一つの根から枝分かれをして，末端には葉（情報）がある</a:t>
            </a:r>
            <a:endParaRPr lang="en-US" altLang="ja-GB" sz="1800" dirty="0"/>
          </a:p>
          <a:p>
            <a:pPr marL="914400" lvl="2" indent="0">
              <a:buNone/>
            </a:pPr>
            <a:r>
              <a:rPr lang="en-US" altLang="ja-GB" sz="1600" dirty="0">
                <a:solidFill>
                  <a:srgbClr val="0070C0"/>
                </a:solidFill>
              </a:rPr>
              <a:t>→</a:t>
            </a:r>
            <a:r>
              <a:rPr lang="ja-GB" altLang="en-US" sz="1600" dirty="0">
                <a:solidFill>
                  <a:srgbClr val="0070C0"/>
                </a:solidFill>
              </a:rPr>
              <a:t>条件分岐（</a:t>
            </a:r>
            <a:r>
              <a:rPr lang="en-US" altLang="ja-GB" sz="1600" dirty="0">
                <a:solidFill>
                  <a:srgbClr val="0070C0"/>
                </a:solidFill>
              </a:rPr>
              <a:t>Yes/No</a:t>
            </a:r>
            <a:r>
              <a:rPr lang="ja-GB" altLang="en-US" sz="1600" dirty="0">
                <a:solidFill>
                  <a:srgbClr val="0070C0"/>
                </a:solidFill>
              </a:rPr>
              <a:t>）を繰り返すだけで，素早く必要な情報を探し出せる</a:t>
            </a:r>
            <a:endParaRPr kumimoji="1" lang="en-US" altLang="ja-GB" sz="1800" dirty="0"/>
          </a:p>
          <a:p>
            <a:pPr lvl="4"/>
            <a:endParaRPr kumimoji="1" lang="en-US" altLang="ja-GB" sz="500" dirty="0"/>
          </a:p>
          <a:p>
            <a:pPr marL="457200" lvl="1" indent="0">
              <a:buNone/>
            </a:pPr>
            <a:r>
              <a:rPr kumimoji="1" lang="ja-GB" altLang="en-US" sz="1800" dirty="0"/>
              <a:t>例</a:t>
            </a:r>
            <a:r>
              <a:rPr kumimoji="1" lang="en-US" altLang="ja-GB" sz="1800" dirty="0"/>
              <a:t>1</a:t>
            </a:r>
            <a:r>
              <a:rPr kumimoji="1" lang="ja-GB" altLang="en-US" sz="1800" dirty="0"/>
              <a:t>）決定木：起点から分岐を続けて，結論に至る</a:t>
            </a:r>
            <a:endParaRPr kumimoji="1" lang="en-US" altLang="ja-GB" sz="1800" dirty="0"/>
          </a:p>
          <a:p>
            <a:pPr marL="457200" lvl="1" indent="0">
              <a:buNone/>
            </a:pPr>
            <a:r>
              <a:rPr lang="ja-GB" altLang="en-US" sz="1800" dirty="0"/>
              <a:t>例</a:t>
            </a:r>
            <a:r>
              <a:rPr lang="en-US" altLang="ja-GB" sz="1800" dirty="0"/>
              <a:t>2</a:t>
            </a:r>
            <a:r>
              <a:rPr lang="ja-GB" altLang="en-US" sz="1800" dirty="0"/>
              <a:t>）組織図：最高責任者から分岐を続けて，各部署に到達する</a:t>
            </a:r>
            <a:endParaRPr lang="en-US" altLang="ja-GB" sz="1800" dirty="0"/>
          </a:p>
          <a:p>
            <a:pPr marL="457200" lvl="1" indent="0">
              <a:buNone/>
            </a:pPr>
            <a:r>
              <a:rPr kumimoji="1" lang="ja-GB" altLang="en-US" sz="1800" dirty="0"/>
              <a:t>例</a:t>
            </a:r>
            <a:r>
              <a:rPr kumimoji="1" lang="en-US" altLang="ja-GB" sz="1800" dirty="0"/>
              <a:t>3</a:t>
            </a:r>
            <a:r>
              <a:rPr kumimoji="1" lang="ja-GB" altLang="en-US" sz="1800" dirty="0"/>
              <a:t>）ファイルシステム：ファイルは一つのフォルダに必ず属する</a:t>
            </a:r>
            <a:endParaRPr kumimoji="1" lang="en-US" altLang="ja-GB" sz="1800" dirty="0"/>
          </a:p>
          <a:p>
            <a:pPr lvl="1"/>
            <a:endParaRPr kumimoji="1" lang="ja-GB" altLang="en-US" sz="1800" dirty="0"/>
          </a:p>
        </p:txBody>
      </p:sp>
      <p:pic>
        <p:nvPicPr>
          <p:cNvPr id="4" name="図 3" descr="ダイアグラム&#10;&#10;AI 生成コンテンツは誤りを含む可能性があります。">
            <a:extLst>
              <a:ext uri="{FF2B5EF4-FFF2-40B4-BE49-F238E27FC236}">
                <a16:creationId xmlns:a16="http://schemas.microsoft.com/office/drawing/2014/main" id="{1123AD98-E514-B9EF-83A7-CC5C7A1CA2B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14325" y="3082982"/>
            <a:ext cx="4087935" cy="2280573"/>
          </a:xfrm>
          <a:prstGeom prst="rect">
            <a:avLst/>
          </a:prstGeom>
        </p:spPr>
      </p:pic>
      <p:pic>
        <p:nvPicPr>
          <p:cNvPr id="5" name="図 4">
            <a:extLst>
              <a:ext uri="{FF2B5EF4-FFF2-40B4-BE49-F238E27FC236}">
                <a16:creationId xmlns:a16="http://schemas.microsoft.com/office/drawing/2014/main" id="{CAE41E32-D6B0-7809-5530-6FF541062C33}"/>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2907989" y="5631757"/>
            <a:ext cx="3461622" cy="723169"/>
          </a:xfrm>
          <a:prstGeom prst="rect">
            <a:avLst/>
          </a:prstGeom>
        </p:spPr>
      </p:pic>
      <p:cxnSp>
        <p:nvCxnSpPr>
          <p:cNvPr id="6" name="直線矢印コネクタ 5">
            <a:extLst>
              <a:ext uri="{FF2B5EF4-FFF2-40B4-BE49-F238E27FC236}">
                <a16:creationId xmlns:a16="http://schemas.microsoft.com/office/drawing/2014/main" id="{2A07677D-81F0-9F99-E5CC-CBDDD41FC9CF}"/>
              </a:ext>
            </a:extLst>
          </p:cNvPr>
          <p:cNvCxnSpPr>
            <a:cxnSpLocks/>
          </p:cNvCxnSpPr>
          <p:nvPr/>
        </p:nvCxnSpPr>
        <p:spPr>
          <a:xfrm>
            <a:off x="1608881" y="6467087"/>
            <a:ext cx="5833641" cy="0"/>
          </a:xfrm>
          <a:prstGeom prst="straightConnector1">
            <a:avLst/>
          </a:prstGeom>
          <a:ln w="7620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0BF7D98C-8368-06DB-254B-64DAA70C0165}"/>
              </a:ext>
            </a:extLst>
          </p:cNvPr>
          <p:cNvSpPr txBox="1"/>
          <p:nvPr/>
        </p:nvSpPr>
        <p:spPr>
          <a:xfrm>
            <a:off x="1093533" y="6290182"/>
            <a:ext cx="595035" cy="338554"/>
          </a:xfrm>
          <a:prstGeom prst="rect">
            <a:avLst/>
          </a:prstGeom>
          <a:noFill/>
        </p:spPr>
        <p:txBody>
          <a:bodyPr wrap="none" rtlCol="0">
            <a:spAutoFit/>
          </a:bodyPr>
          <a:lstStyle/>
          <a:p>
            <a:pPr algn="r"/>
            <a:r>
              <a:rPr kumimoji="1" lang="ja-JP" altLang="en-US" sz="1600" b="1">
                <a:solidFill>
                  <a:schemeClr val="accent2"/>
                </a:solidFill>
              </a:rPr>
              <a:t>上位</a:t>
            </a:r>
          </a:p>
        </p:txBody>
      </p:sp>
      <p:sp>
        <p:nvSpPr>
          <p:cNvPr id="8" name="テキスト ボックス 7">
            <a:extLst>
              <a:ext uri="{FF2B5EF4-FFF2-40B4-BE49-F238E27FC236}">
                <a16:creationId xmlns:a16="http://schemas.microsoft.com/office/drawing/2014/main" id="{93D00E20-45CC-DC39-7B52-3A86B22DEDD4}"/>
              </a:ext>
            </a:extLst>
          </p:cNvPr>
          <p:cNvSpPr txBox="1"/>
          <p:nvPr/>
        </p:nvSpPr>
        <p:spPr>
          <a:xfrm>
            <a:off x="7348994" y="6290182"/>
            <a:ext cx="595035" cy="338554"/>
          </a:xfrm>
          <a:prstGeom prst="rect">
            <a:avLst/>
          </a:prstGeom>
          <a:noFill/>
        </p:spPr>
        <p:txBody>
          <a:bodyPr wrap="none" rtlCol="0">
            <a:spAutoFit/>
          </a:bodyPr>
          <a:lstStyle/>
          <a:p>
            <a:r>
              <a:rPr kumimoji="1" lang="ja-JP" altLang="en-US" sz="1600" b="1">
                <a:solidFill>
                  <a:schemeClr val="accent2"/>
                </a:solidFill>
              </a:rPr>
              <a:t>下位</a:t>
            </a:r>
          </a:p>
        </p:txBody>
      </p:sp>
      <p:sp>
        <p:nvSpPr>
          <p:cNvPr id="9" name="テキスト ボックス 8">
            <a:extLst>
              <a:ext uri="{FF2B5EF4-FFF2-40B4-BE49-F238E27FC236}">
                <a16:creationId xmlns:a16="http://schemas.microsoft.com/office/drawing/2014/main" id="{D9A50FA3-8FAE-7D32-E3B8-C933F553005A}"/>
              </a:ext>
            </a:extLst>
          </p:cNvPr>
          <p:cNvSpPr txBox="1"/>
          <p:nvPr/>
        </p:nvSpPr>
        <p:spPr>
          <a:xfrm>
            <a:off x="49977" y="6558384"/>
            <a:ext cx="2682145" cy="276999"/>
          </a:xfrm>
          <a:prstGeom prst="rect">
            <a:avLst/>
          </a:prstGeom>
          <a:noFill/>
        </p:spPr>
        <p:txBody>
          <a:bodyPr wrap="none" rtlCol="0">
            <a:spAutoFit/>
          </a:bodyPr>
          <a:lstStyle/>
          <a:p>
            <a:pPr algn="ctr"/>
            <a:r>
              <a:rPr kumimoji="1" lang="ja-GB" altLang="en-US" sz="1200" b="1" dirty="0">
                <a:solidFill>
                  <a:srgbClr val="2F2523"/>
                </a:solidFill>
              </a:rPr>
              <a:t>根（ルートディレクトリ，</a:t>
            </a:r>
            <a:r>
              <a:rPr kumimoji="1" lang="en-US" altLang="ja-GB" sz="1200" b="1" dirty="0">
                <a:solidFill>
                  <a:srgbClr val="0070C0"/>
                </a:solidFill>
              </a:rPr>
              <a:t>C:\</a:t>
            </a:r>
            <a:r>
              <a:rPr kumimoji="1" lang="ja-GB" altLang="en-US" sz="1200" b="1" dirty="0">
                <a:solidFill>
                  <a:srgbClr val="2F2523"/>
                </a:solidFill>
              </a:rPr>
              <a:t>など）</a:t>
            </a:r>
            <a:endParaRPr kumimoji="1" lang="en-US" altLang="ja-GB" sz="1200" b="1" dirty="0">
              <a:solidFill>
                <a:srgbClr val="2F2523"/>
              </a:solidFill>
            </a:endParaRPr>
          </a:p>
        </p:txBody>
      </p:sp>
      <p:sp>
        <p:nvSpPr>
          <p:cNvPr id="10" name="テキスト ボックス 9">
            <a:extLst>
              <a:ext uri="{FF2B5EF4-FFF2-40B4-BE49-F238E27FC236}">
                <a16:creationId xmlns:a16="http://schemas.microsoft.com/office/drawing/2014/main" id="{2B128EA2-9858-D15E-62D1-81BF8C391F53}"/>
              </a:ext>
            </a:extLst>
          </p:cNvPr>
          <p:cNvSpPr txBox="1"/>
          <p:nvPr/>
        </p:nvSpPr>
        <p:spPr>
          <a:xfrm>
            <a:off x="6369611" y="6558384"/>
            <a:ext cx="2536272" cy="276999"/>
          </a:xfrm>
          <a:prstGeom prst="rect">
            <a:avLst/>
          </a:prstGeom>
          <a:noFill/>
        </p:spPr>
        <p:txBody>
          <a:bodyPr wrap="none" rtlCol="0">
            <a:spAutoFit/>
          </a:bodyPr>
          <a:lstStyle/>
          <a:p>
            <a:pPr algn="ctr"/>
            <a:r>
              <a:rPr kumimoji="1" lang="ja-GB" altLang="en-US" sz="1200" b="1" dirty="0">
                <a:solidFill>
                  <a:srgbClr val="2F2523"/>
                </a:solidFill>
              </a:rPr>
              <a:t>葉（各ファイル，</a:t>
            </a:r>
            <a:r>
              <a:rPr kumimoji="1" lang="en-US" altLang="ja-GB" sz="1200" b="1" dirty="0" err="1">
                <a:solidFill>
                  <a:srgbClr val="0070C0"/>
                </a:solidFill>
              </a:rPr>
              <a:t>report.pdf</a:t>
            </a:r>
            <a:r>
              <a:rPr kumimoji="1" lang="ja-GB" altLang="en-US" sz="1200" b="1" dirty="0">
                <a:solidFill>
                  <a:srgbClr val="2F2523"/>
                </a:solidFill>
              </a:rPr>
              <a:t>など）</a:t>
            </a:r>
            <a:endParaRPr kumimoji="1" lang="ja-JP" altLang="en-US" sz="1200" b="1">
              <a:solidFill>
                <a:srgbClr val="2F2523"/>
              </a:solidFill>
            </a:endParaRPr>
          </a:p>
        </p:txBody>
      </p:sp>
      <p:sp>
        <p:nvSpPr>
          <p:cNvPr id="11" name="テキスト ボックス 10">
            <a:extLst>
              <a:ext uri="{FF2B5EF4-FFF2-40B4-BE49-F238E27FC236}">
                <a16:creationId xmlns:a16="http://schemas.microsoft.com/office/drawing/2014/main" id="{422A354C-53B9-839F-58C1-0BE60A6BD17F}"/>
              </a:ext>
            </a:extLst>
          </p:cNvPr>
          <p:cNvSpPr txBox="1"/>
          <p:nvPr/>
        </p:nvSpPr>
        <p:spPr>
          <a:xfrm>
            <a:off x="3267116" y="6558384"/>
            <a:ext cx="2404826" cy="276999"/>
          </a:xfrm>
          <a:prstGeom prst="rect">
            <a:avLst/>
          </a:prstGeom>
          <a:noFill/>
        </p:spPr>
        <p:txBody>
          <a:bodyPr wrap="none" rtlCol="0">
            <a:spAutoFit/>
          </a:bodyPr>
          <a:lstStyle/>
          <a:p>
            <a:pPr algn="ctr"/>
            <a:r>
              <a:rPr kumimoji="1" lang="ja-GB" altLang="en-US" sz="1200" b="1" dirty="0">
                <a:solidFill>
                  <a:srgbClr val="2F2523"/>
                </a:solidFill>
              </a:rPr>
              <a:t>枝（</a:t>
            </a:r>
            <a:r>
              <a:rPr kumimoji="1" lang="ja-GB" altLang="en-US" sz="1200" b="1" dirty="0">
                <a:solidFill>
                  <a:srgbClr val="0070C0"/>
                </a:solidFill>
              </a:rPr>
              <a:t>フォルダ</a:t>
            </a:r>
            <a:r>
              <a:rPr kumimoji="1" lang="ja-GB" altLang="en-US" sz="1200" b="1" dirty="0">
                <a:solidFill>
                  <a:srgbClr val="2F2523"/>
                </a:solidFill>
              </a:rPr>
              <a:t>，ディレクトリ）</a:t>
            </a:r>
            <a:endParaRPr kumimoji="1" lang="ja-JP" altLang="en-US" sz="1200" b="1">
              <a:solidFill>
                <a:srgbClr val="2F2523"/>
              </a:solidFill>
            </a:endParaRPr>
          </a:p>
        </p:txBody>
      </p:sp>
      <p:sp>
        <p:nvSpPr>
          <p:cNvPr id="14" name="テキスト ボックス 13">
            <a:extLst>
              <a:ext uri="{FF2B5EF4-FFF2-40B4-BE49-F238E27FC236}">
                <a16:creationId xmlns:a16="http://schemas.microsoft.com/office/drawing/2014/main" id="{16F7DDB8-B302-5120-2886-DBB304FA9DC4}"/>
              </a:ext>
            </a:extLst>
          </p:cNvPr>
          <p:cNvSpPr txBox="1"/>
          <p:nvPr/>
        </p:nvSpPr>
        <p:spPr>
          <a:xfrm>
            <a:off x="1258729" y="5810541"/>
            <a:ext cx="877163" cy="369332"/>
          </a:xfrm>
          <a:prstGeom prst="rect">
            <a:avLst/>
          </a:prstGeom>
          <a:noFill/>
        </p:spPr>
        <p:txBody>
          <a:bodyPr wrap="none" rtlCol="0">
            <a:spAutoFit/>
          </a:bodyPr>
          <a:lstStyle/>
          <a:p>
            <a:r>
              <a:rPr kumimoji="1" lang="ja-GB" altLang="en-US" dirty="0"/>
              <a:t>・・・</a:t>
            </a:r>
          </a:p>
        </p:txBody>
      </p:sp>
      <p:sp>
        <p:nvSpPr>
          <p:cNvPr id="15" name="テキスト ボックス 14">
            <a:extLst>
              <a:ext uri="{FF2B5EF4-FFF2-40B4-BE49-F238E27FC236}">
                <a16:creationId xmlns:a16="http://schemas.microsoft.com/office/drawing/2014/main" id="{3AE9055F-D262-2EE1-0893-B3E06250DCDC}"/>
              </a:ext>
            </a:extLst>
          </p:cNvPr>
          <p:cNvSpPr txBox="1"/>
          <p:nvPr/>
        </p:nvSpPr>
        <p:spPr>
          <a:xfrm>
            <a:off x="7038664" y="5810541"/>
            <a:ext cx="877163" cy="369332"/>
          </a:xfrm>
          <a:prstGeom prst="rect">
            <a:avLst/>
          </a:prstGeom>
          <a:noFill/>
        </p:spPr>
        <p:txBody>
          <a:bodyPr wrap="none" rtlCol="0">
            <a:spAutoFit/>
          </a:bodyPr>
          <a:lstStyle/>
          <a:p>
            <a:r>
              <a:rPr kumimoji="1" lang="ja-GB" altLang="en-US" dirty="0"/>
              <a:t>・・・</a:t>
            </a:r>
          </a:p>
        </p:txBody>
      </p:sp>
      <p:pic>
        <p:nvPicPr>
          <p:cNvPr id="17" name="図 16" descr="地図と文字の加工写真&#10;&#10;AI 生成コンテンツは誤りを含む可能性があります。">
            <a:extLst>
              <a:ext uri="{FF2B5EF4-FFF2-40B4-BE49-F238E27FC236}">
                <a16:creationId xmlns:a16="http://schemas.microsoft.com/office/drawing/2014/main" id="{54187036-4931-FCB2-E332-59F53676CC3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849791" y="3629887"/>
            <a:ext cx="4039539" cy="1277670"/>
          </a:xfrm>
          <a:prstGeom prst="rect">
            <a:avLst/>
          </a:prstGeom>
        </p:spPr>
      </p:pic>
    </p:spTree>
    <p:extLst>
      <p:ext uri="{BB962C8B-B14F-4D97-AF65-F5344CB8AC3E}">
        <p14:creationId xmlns:p14="http://schemas.microsoft.com/office/powerpoint/2010/main" val="31630602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5CC7D6-7FB6-149D-1312-6CE4F4907137}"/>
              </a:ext>
            </a:extLst>
          </p:cNvPr>
          <p:cNvSpPr>
            <a:spLocks noGrp="1"/>
          </p:cNvSpPr>
          <p:nvPr>
            <p:ph type="title"/>
          </p:nvPr>
        </p:nvSpPr>
        <p:spPr/>
        <p:txBody>
          <a:bodyPr/>
          <a:lstStyle/>
          <a:p>
            <a:r>
              <a:rPr kumimoji="1" lang="ja-GB" altLang="en-US" dirty="0"/>
              <a:t>グラフ</a:t>
            </a:r>
          </a:p>
        </p:txBody>
      </p:sp>
      <p:sp>
        <p:nvSpPr>
          <p:cNvPr id="3" name="コンテンツ プレースホルダー 2">
            <a:extLst>
              <a:ext uri="{FF2B5EF4-FFF2-40B4-BE49-F238E27FC236}">
                <a16:creationId xmlns:a16="http://schemas.microsoft.com/office/drawing/2014/main" id="{273BCF9F-326E-3740-6B86-ACF5AF88680F}"/>
              </a:ext>
            </a:extLst>
          </p:cNvPr>
          <p:cNvSpPr>
            <a:spLocks noGrp="1"/>
          </p:cNvSpPr>
          <p:nvPr>
            <p:ph idx="1"/>
          </p:nvPr>
        </p:nvSpPr>
        <p:spPr/>
        <p:txBody>
          <a:bodyPr>
            <a:normAutofit/>
          </a:bodyPr>
          <a:lstStyle/>
          <a:p>
            <a:pPr marL="0" indent="0">
              <a:buNone/>
            </a:pPr>
            <a:r>
              <a:rPr lang="ja-GB" altLang="en-US" sz="2000" dirty="0"/>
              <a:t>要素とその関係を，「点」とそれを結ぶ「線」で図示するような構造</a:t>
            </a:r>
            <a:endParaRPr lang="en-US" altLang="ja-GB" sz="2000" dirty="0"/>
          </a:p>
          <a:p>
            <a:pPr marL="457200" lvl="1" indent="0">
              <a:buNone/>
            </a:pPr>
            <a:r>
              <a:rPr lang="ja-GB" altLang="en-US" sz="1800" dirty="0"/>
              <a:t>例</a:t>
            </a:r>
            <a:r>
              <a:rPr lang="en-US" altLang="ja-GB" sz="1800" dirty="0"/>
              <a:t>1</a:t>
            </a:r>
            <a:r>
              <a:rPr kumimoji="1" lang="ja-GB" altLang="en-US" sz="1800" dirty="0"/>
              <a:t>）路線図：駅（点）が路線で繋がれている関係</a:t>
            </a:r>
            <a:endParaRPr kumimoji="1" lang="en-US" altLang="ja-GB" sz="1800" dirty="0"/>
          </a:p>
          <a:p>
            <a:pPr marL="914400" lvl="2" indent="0">
              <a:buNone/>
            </a:pPr>
            <a:r>
              <a:rPr lang="en-US" altLang="ja-GB" sz="1600" dirty="0"/>
              <a:t>→</a:t>
            </a:r>
            <a:r>
              <a:rPr lang="ja-GB" altLang="en-US" sz="1600" dirty="0"/>
              <a:t>ある駅から別の駅までの経路情報はグラフで表現できる</a:t>
            </a:r>
            <a:endParaRPr lang="en-US" altLang="ja-GB" sz="1600" dirty="0"/>
          </a:p>
          <a:p>
            <a:pPr marL="457200" lvl="1" indent="0">
              <a:buNone/>
            </a:pPr>
            <a:r>
              <a:rPr kumimoji="1" lang="ja-GB" altLang="en-US" sz="1800" dirty="0"/>
              <a:t>例</a:t>
            </a:r>
            <a:r>
              <a:rPr kumimoji="1" lang="en-US" altLang="ja-GB" sz="1800" dirty="0"/>
              <a:t>2</a:t>
            </a:r>
            <a:r>
              <a:rPr kumimoji="1" lang="ja-GB" altLang="en-US" sz="1800" dirty="0"/>
              <a:t>）ネットワーク：計算機（点）が通信経路（線）で結ばれている関係</a:t>
            </a:r>
            <a:endParaRPr kumimoji="1" lang="en-US" altLang="ja-GB" sz="1800" dirty="0"/>
          </a:p>
          <a:p>
            <a:pPr marL="914400" lvl="2" indent="0">
              <a:buNone/>
            </a:pPr>
            <a:r>
              <a:rPr lang="en-US" altLang="ja-GB" sz="1600" dirty="0"/>
              <a:t>→</a:t>
            </a:r>
            <a:r>
              <a:rPr lang="ja-GB" altLang="en-US" sz="1600" dirty="0"/>
              <a:t>計算機が情報を送るための通信経路はグラフで表現できる</a:t>
            </a:r>
            <a:endParaRPr lang="en-US" altLang="ja-GB" sz="1600" dirty="0"/>
          </a:p>
          <a:p>
            <a:pPr marL="457200" lvl="1" indent="0">
              <a:buNone/>
            </a:pPr>
            <a:r>
              <a:rPr kumimoji="1" lang="ja-GB" altLang="en-US" sz="1800" dirty="0"/>
              <a:t>例</a:t>
            </a:r>
            <a:r>
              <a:rPr kumimoji="1" lang="en-US" altLang="ja-GB" sz="1800" dirty="0"/>
              <a:t>3</a:t>
            </a:r>
            <a:r>
              <a:rPr kumimoji="1" lang="ja-GB" altLang="en-US" sz="1800" dirty="0"/>
              <a:t>）</a:t>
            </a:r>
            <a:r>
              <a:rPr kumimoji="1" lang="en-US" altLang="ja-GB" sz="1800" dirty="0"/>
              <a:t>SNS</a:t>
            </a:r>
            <a:r>
              <a:rPr kumimoji="1" lang="ja-GB" altLang="en-US" sz="1800" dirty="0"/>
              <a:t>：ユーザー（点）同士は関係（線）で結ばれている</a:t>
            </a:r>
            <a:endParaRPr kumimoji="1" lang="en-US" altLang="ja-GB" sz="1800" dirty="0"/>
          </a:p>
          <a:p>
            <a:pPr marL="457200" lvl="1" indent="0">
              <a:buNone/>
            </a:pPr>
            <a:r>
              <a:rPr lang="ja-GB" altLang="en-US" sz="1800" dirty="0"/>
              <a:t>例</a:t>
            </a:r>
            <a:r>
              <a:rPr lang="en-US" altLang="ja-GB" sz="1800" dirty="0"/>
              <a:t>4</a:t>
            </a:r>
            <a:r>
              <a:rPr lang="ja-GB" altLang="en-US" sz="1800" dirty="0"/>
              <a:t>）木構造もグラフの一種</a:t>
            </a:r>
            <a:endParaRPr lang="en-US" altLang="ja-GB" sz="1800" dirty="0"/>
          </a:p>
        </p:txBody>
      </p:sp>
      <p:pic>
        <p:nvPicPr>
          <p:cNvPr id="4" name="グラフィックス 3">
            <a:extLst>
              <a:ext uri="{FF2B5EF4-FFF2-40B4-BE49-F238E27FC236}">
                <a16:creationId xmlns:a16="http://schemas.microsoft.com/office/drawing/2014/main" id="{15832F14-FFFD-A10B-E6EC-7B552E974516}"/>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928629" y="2520497"/>
            <a:ext cx="4060266" cy="2537667"/>
          </a:xfrm>
          <a:prstGeom prst="rect">
            <a:avLst/>
          </a:prstGeom>
        </p:spPr>
      </p:pic>
      <p:sp>
        <p:nvSpPr>
          <p:cNvPr id="5" name="テキスト ボックス 4">
            <a:extLst>
              <a:ext uri="{FF2B5EF4-FFF2-40B4-BE49-F238E27FC236}">
                <a16:creationId xmlns:a16="http://schemas.microsoft.com/office/drawing/2014/main" id="{44561202-150A-B1D6-3C2A-E397B26E5919}"/>
              </a:ext>
            </a:extLst>
          </p:cNvPr>
          <p:cNvSpPr txBox="1"/>
          <p:nvPr/>
        </p:nvSpPr>
        <p:spPr>
          <a:xfrm>
            <a:off x="5185728" y="6424770"/>
            <a:ext cx="3643947" cy="430887"/>
          </a:xfrm>
          <a:prstGeom prst="rect">
            <a:avLst/>
          </a:prstGeom>
          <a:noFill/>
        </p:spPr>
        <p:txBody>
          <a:bodyPr wrap="none" rtlCol="0">
            <a:spAutoFit/>
          </a:bodyPr>
          <a:lstStyle/>
          <a:p>
            <a:pPr algn="ctr"/>
            <a:r>
              <a:rPr kumimoji="1" lang="en-GB" altLang="ja-GB" sz="1100" dirty="0"/>
              <a:t>CC0: </a:t>
            </a:r>
            <a:r>
              <a:rPr kumimoji="1" lang="en-GB" altLang="ja-GB" sz="1100" dirty="0" err="1"/>
              <a:t>hashcc</a:t>
            </a:r>
            <a:r>
              <a:rPr kumimoji="1" lang="en-GB" altLang="ja-GB" sz="1100" dirty="0"/>
              <a:t>/</a:t>
            </a:r>
            <a:r>
              <a:rPr kumimoji="1" lang="en-GB" altLang="ja-GB" sz="1100" dirty="0" err="1"/>
              <a:t>railmaps</a:t>
            </a:r>
            <a:r>
              <a:rPr kumimoji="1" lang="en-GB" altLang="ja-GB" sz="1100" dirty="0"/>
              <a:t>: Railway maps of world's famous cities.</a:t>
            </a:r>
          </a:p>
          <a:p>
            <a:pPr algn="ctr"/>
            <a:r>
              <a:rPr kumimoji="1" lang="en-GB" altLang="ja-GB" sz="1100" dirty="0">
                <a:hlinkClick r:id="rId5"/>
              </a:rPr>
              <a:t>https://github.com/hashcc/railmaps</a:t>
            </a:r>
            <a:r>
              <a:rPr kumimoji="1" lang="en-GB" altLang="ja-GB" sz="1100" dirty="0"/>
              <a:t> </a:t>
            </a:r>
            <a:endParaRPr kumimoji="1" lang="ja-GB" altLang="en-US" sz="1100" dirty="0"/>
          </a:p>
        </p:txBody>
      </p:sp>
      <p:pic>
        <p:nvPicPr>
          <p:cNvPr id="9" name="図 8">
            <a:extLst>
              <a:ext uri="{FF2B5EF4-FFF2-40B4-BE49-F238E27FC236}">
                <a16:creationId xmlns:a16="http://schemas.microsoft.com/office/drawing/2014/main" id="{57B90E5B-E420-06C5-9E21-DECC878A6E60}"/>
              </a:ext>
            </a:extLst>
          </p:cNvPr>
          <p:cNvPicPr>
            <a:picLocks noChangeAspect="1"/>
          </p:cNvPicPr>
          <p:nvPr/>
        </p:nvPicPr>
        <p:blipFill>
          <a:blip r:embed="rId6"/>
          <a:stretch>
            <a:fillRect/>
          </a:stretch>
        </p:blipFill>
        <p:spPr>
          <a:xfrm>
            <a:off x="5275652" y="4864624"/>
            <a:ext cx="3366219" cy="1574203"/>
          </a:xfrm>
          <a:prstGeom prst="rect">
            <a:avLst/>
          </a:prstGeom>
        </p:spPr>
      </p:pic>
      <p:pic>
        <p:nvPicPr>
          <p:cNvPr id="11" name="図 10" descr="ダイアグラム&#10;&#10;AI 生成コンテンツは誤りを含む可能性があります。">
            <a:extLst>
              <a:ext uri="{FF2B5EF4-FFF2-40B4-BE49-F238E27FC236}">
                <a16:creationId xmlns:a16="http://schemas.microsoft.com/office/drawing/2014/main" id="{EB06EEC7-75F4-DBE3-ECCC-8C8980EE6A69}"/>
              </a:ext>
            </a:extLst>
          </p:cNvPr>
          <p:cNvPicPr>
            <a:picLocks noChangeAspect="1"/>
          </p:cNvPicPr>
          <p:nvPr/>
        </p:nvPicPr>
        <p:blipFill>
          <a:blip r:embed="rId7"/>
          <a:stretch>
            <a:fillRect/>
          </a:stretch>
        </p:blipFill>
        <p:spPr>
          <a:xfrm>
            <a:off x="314325" y="3595403"/>
            <a:ext cx="4060266" cy="3045199"/>
          </a:xfrm>
          <a:prstGeom prst="rect">
            <a:avLst/>
          </a:prstGeom>
        </p:spPr>
      </p:pic>
      <p:sp>
        <p:nvSpPr>
          <p:cNvPr id="12" name="テキスト ボックス 11">
            <a:extLst>
              <a:ext uri="{FF2B5EF4-FFF2-40B4-BE49-F238E27FC236}">
                <a16:creationId xmlns:a16="http://schemas.microsoft.com/office/drawing/2014/main" id="{5E84972F-DE1E-C994-05FA-2A75E0191C1F}"/>
              </a:ext>
            </a:extLst>
          </p:cNvPr>
          <p:cNvSpPr txBox="1"/>
          <p:nvPr/>
        </p:nvSpPr>
        <p:spPr>
          <a:xfrm>
            <a:off x="179153" y="6378656"/>
            <a:ext cx="4330609" cy="461665"/>
          </a:xfrm>
          <a:prstGeom prst="rect">
            <a:avLst/>
          </a:prstGeom>
          <a:noFill/>
        </p:spPr>
        <p:txBody>
          <a:bodyPr wrap="none" rtlCol="0">
            <a:spAutoFit/>
          </a:bodyPr>
          <a:lstStyle/>
          <a:p>
            <a:pPr algn="ctr"/>
            <a:r>
              <a:rPr kumimoji="1" lang="en-GB" altLang="ja-GB" sz="1200" dirty="0" err="1"/>
              <a:t>tomiokario</a:t>
            </a:r>
            <a:r>
              <a:rPr kumimoji="1" lang="en-GB" altLang="ja-GB" sz="1200" dirty="0"/>
              <a:t>/</a:t>
            </a:r>
            <a:r>
              <a:rPr kumimoji="1" lang="en-GB" altLang="ja-GB" sz="1200" dirty="0" err="1"/>
              <a:t>route_search</a:t>
            </a:r>
            <a:endParaRPr kumimoji="1" lang="en-GB" altLang="ja-GB" sz="1200" dirty="0"/>
          </a:p>
          <a:p>
            <a:pPr algn="ctr"/>
            <a:r>
              <a:rPr kumimoji="1" lang="en-GB" altLang="ja-GB" sz="1200" dirty="0"/>
              <a:t> </a:t>
            </a:r>
            <a:r>
              <a:rPr kumimoji="1" lang="en-GB" altLang="ja-GB" sz="1200" dirty="0">
                <a:hlinkClick r:id="rId8"/>
              </a:rPr>
              <a:t>https://github.com/tomiokario/route_search?tab=readme-ov-file</a:t>
            </a:r>
            <a:r>
              <a:rPr kumimoji="1" lang="en-GB" altLang="ja-GB" sz="1200" dirty="0"/>
              <a:t> </a:t>
            </a:r>
            <a:endParaRPr kumimoji="1" lang="ja-GB" altLang="en-US" sz="1200" dirty="0"/>
          </a:p>
        </p:txBody>
      </p:sp>
    </p:spTree>
    <p:extLst>
      <p:ext uri="{BB962C8B-B14F-4D97-AF65-F5344CB8AC3E}">
        <p14:creationId xmlns:p14="http://schemas.microsoft.com/office/powerpoint/2010/main" val="255423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07975B-9511-BE50-5409-BCF60593ABAC}"/>
              </a:ext>
            </a:extLst>
          </p:cNvPr>
          <p:cNvSpPr>
            <a:spLocks noGrp="1"/>
          </p:cNvSpPr>
          <p:nvPr>
            <p:ph type="title"/>
          </p:nvPr>
        </p:nvSpPr>
        <p:spPr/>
        <p:txBody>
          <a:bodyPr/>
          <a:lstStyle/>
          <a:p>
            <a:r>
              <a:rPr kumimoji="1" lang="ja-GB" altLang="en-US" dirty="0"/>
              <a:t>リレーショナルデータベース</a:t>
            </a:r>
          </a:p>
        </p:txBody>
      </p:sp>
      <p:sp>
        <p:nvSpPr>
          <p:cNvPr id="3" name="コンテンツ プレースホルダー 2">
            <a:extLst>
              <a:ext uri="{FF2B5EF4-FFF2-40B4-BE49-F238E27FC236}">
                <a16:creationId xmlns:a16="http://schemas.microsoft.com/office/drawing/2014/main" id="{C20103C7-992F-1D2E-BD77-3D958C1DD4CB}"/>
              </a:ext>
            </a:extLst>
          </p:cNvPr>
          <p:cNvSpPr>
            <a:spLocks noGrp="1"/>
          </p:cNvSpPr>
          <p:nvPr>
            <p:ph idx="1"/>
          </p:nvPr>
        </p:nvSpPr>
        <p:spPr/>
        <p:txBody>
          <a:bodyPr>
            <a:normAutofit/>
          </a:bodyPr>
          <a:lstStyle/>
          <a:p>
            <a:pPr marL="0" indent="0">
              <a:buNone/>
            </a:pPr>
            <a:r>
              <a:rPr lang="ja-GB" altLang="en-US" sz="2000" dirty="0"/>
              <a:t>相互</a:t>
            </a:r>
            <a:r>
              <a:rPr kumimoji="1" lang="ja-GB" altLang="en-US" sz="2000" dirty="0"/>
              <a:t>に参照可能な複数の表に情報を保存する構造</a:t>
            </a:r>
            <a:endParaRPr kumimoji="1" lang="en-US" altLang="ja-GB" sz="2000" dirty="0"/>
          </a:p>
          <a:p>
            <a:pPr marL="457200" lvl="1" indent="0">
              <a:buNone/>
            </a:pPr>
            <a:r>
              <a:rPr lang="ja-GB" altLang="en-US" sz="1800" dirty="0"/>
              <a:t>例）店舗の持つ情報を管理するデータベース（</a:t>
            </a:r>
            <a:r>
              <a:rPr lang="en-US" altLang="ja-GB" sz="1800" dirty="0"/>
              <a:t>Excel</a:t>
            </a:r>
            <a:r>
              <a:rPr lang="ja-GB" altLang="en-US" sz="1800" dirty="0"/>
              <a:t>，</a:t>
            </a:r>
            <a:r>
              <a:rPr lang="en-US" altLang="ja-GB" sz="1800" dirty="0"/>
              <a:t>Notion</a:t>
            </a:r>
            <a:r>
              <a:rPr lang="ja-GB" altLang="en-US" sz="1800" dirty="0"/>
              <a:t>，</a:t>
            </a:r>
            <a:r>
              <a:rPr lang="en-US" altLang="ja-GB" sz="1800" dirty="0"/>
              <a:t>SQL</a:t>
            </a:r>
            <a:r>
              <a:rPr lang="ja-GB" altLang="en-US" sz="1800" dirty="0"/>
              <a:t>など）</a:t>
            </a:r>
            <a:endParaRPr lang="en-US" altLang="ja-GB" sz="1800" dirty="0"/>
          </a:p>
          <a:p>
            <a:pPr lvl="2"/>
            <a:endParaRPr kumimoji="1" lang="ja-GB" altLang="en-US" sz="1600" dirty="0"/>
          </a:p>
        </p:txBody>
      </p:sp>
      <p:pic>
        <p:nvPicPr>
          <p:cNvPr id="7" name="図 6" descr="グラフィカル ユーザー インターフェイス, アプリケーション&#10;&#10;AI 生成コンテンツは誤りを含む可能性があります。">
            <a:extLst>
              <a:ext uri="{FF2B5EF4-FFF2-40B4-BE49-F238E27FC236}">
                <a16:creationId xmlns:a16="http://schemas.microsoft.com/office/drawing/2014/main" id="{E13851C1-9D7B-3FE3-A5B8-FA965259DBE5}"/>
              </a:ext>
            </a:extLst>
          </p:cNvPr>
          <p:cNvPicPr>
            <a:picLocks noChangeAspect="1"/>
          </p:cNvPicPr>
          <p:nvPr/>
        </p:nvPicPr>
        <p:blipFill>
          <a:blip r:embed="rId2"/>
          <a:stretch>
            <a:fillRect/>
          </a:stretch>
        </p:blipFill>
        <p:spPr>
          <a:xfrm>
            <a:off x="314325" y="1963654"/>
            <a:ext cx="3772236" cy="1703884"/>
          </a:xfrm>
          <a:prstGeom prst="rect">
            <a:avLst/>
          </a:prstGeom>
        </p:spPr>
      </p:pic>
      <p:pic>
        <p:nvPicPr>
          <p:cNvPr id="9" name="図 8" descr="グラフィカル ユーザー インターフェイス, アプリケーション&#10;&#10;AI 生成コンテンツは誤りを含む可能性があります。">
            <a:extLst>
              <a:ext uri="{FF2B5EF4-FFF2-40B4-BE49-F238E27FC236}">
                <a16:creationId xmlns:a16="http://schemas.microsoft.com/office/drawing/2014/main" id="{3070A000-179F-AAE3-9066-AC18532C45F6}"/>
              </a:ext>
            </a:extLst>
          </p:cNvPr>
          <p:cNvPicPr>
            <a:picLocks noChangeAspect="1"/>
          </p:cNvPicPr>
          <p:nvPr/>
        </p:nvPicPr>
        <p:blipFill>
          <a:blip r:embed="rId3"/>
          <a:stretch>
            <a:fillRect/>
          </a:stretch>
        </p:blipFill>
        <p:spPr>
          <a:xfrm>
            <a:off x="4962776" y="1963654"/>
            <a:ext cx="3862136" cy="1703884"/>
          </a:xfrm>
          <a:prstGeom prst="rect">
            <a:avLst/>
          </a:prstGeom>
        </p:spPr>
      </p:pic>
      <p:pic>
        <p:nvPicPr>
          <p:cNvPr id="11" name="図 10" descr="グラフィカル ユーザー インターフェイス, アプリケーション&#10;&#10;AI 生成コンテンツは誤りを含む可能性があります。">
            <a:extLst>
              <a:ext uri="{FF2B5EF4-FFF2-40B4-BE49-F238E27FC236}">
                <a16:creationId xmlns:a16="http://schemas.microsoft.com/office/drawing/2014/main" id="{122B8191-611D-5C15-2A5F-5C202571292C}"/>
              </a:ext>
            </a:extLst>
          </p:cNvPr>
          <p:cNvPicPr>
            <a:picLocks noChangeAspect="1"/>
          </p:cNvPicPr>
          <p:nvPr/>
        </p:nvPicPr>
        <p:blipFill>
          <a:blip r:embed="rId4"/>
          <a:stretch>
            <a:fillRect/>
          </a:stretch>
        </p:blipFill>
        <p:spPr>
          <a:xfrm>
            <a:off x="314325" y="4776427"/>
            <a:ext cx="4287841" cy="1581511"/>
          </a:xfrm>
          <a:prstGeom prst="rect">
            <a:avLst/>
          </a:prstGeom>
        </p:spPr>
      </p:pic>
      <p:sp>
        <p:nvSpPr>
          <p:cNvPr id="35" name="正方形/長方形 34">
            <a:extLst>
              <a:ext uri="{FF2B5EF4-FFF2-40B4-BE49-F238E27FC236}">
                <a16:creationId xmlns:a16="http://schemas.microsoft.com/office/drawing/2014/main" id="{B3ECB188-1395-07F3-79B9-756909269102}"/>
              </a:ext>
            </a:extLst>
          </p:cNvPr>
          <p:cNvSpPr/>
          <p:nvPr/>
        </p:nvSpPr>
        <p:spPr>
          <a:xfrm>
            <a:off x="309561" y="1963653"/>
            <a:ext cx="1262063" cy="1703883"/>
          </a:xfrm>
          <a:prstGeom prst="rect">
            <a:avLst/>
          </a:prstGeom>
          <a:no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6" name="正方形/長方形 35">
            <a:extLst>
              <a:ext uri="{FF2B5EF4-FFF2-40B4-BE49-F238E27FC236}">
                <a16:creationId xmlns:a16="http://schemas.microsoft.com/office/drawing/2014/main" id="{4DAB2AA7-4DF1-63F5-7D20-5C77D98B5E05}"/>
              </a:ext>
            </a:extLst>
          </p:cNvPr>
          <p:cNvSpPr/>
          <p:nvPr/>
        </p:nvSpPr>
        <p:spPr>
          <a:xfrm>
            <a:off x="4958013" y="1963653"/>
            <a:ext cx="1428500" cy="1703883"/>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7" name="正方形/長方形 36">
            <a:extLst>
              <a:ext uri="{FF2B5EF4-FFF2-40B4-BE49-F238E27FC236}">
                <a16:creationId xmlns:a16="http://schemas.microsoft.com/office/drawing/2014/main" id="{06DC9CF6-8E8E-1EC7-785D-8DB06482C4AA}"/>
              </a:ext>
            </a:extLst>
          </p:cNvPr>
          <p:cNvSpPr/>
          <p:nvPr/>
        </p:nvSpPr>
        <p:spPr>
          <a:xfrm>
            <a:off x="1282613" y="4776424"/>
            <a:ext cx="1071563" cy="1581514"/>
          </a:xfrm>
          <a:prstGeom prst="rect">
            <a:avLst/>
          </a:prstGeom>
          <a:no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8" name="正方形/長方形 37">
            <a:extLst>
              <a:ext uri="{FF2B5EF4-FFF2-40B4-BE49-F238E27FC236}">
                <a16:creationId xmlns:a16="http://schemas.microsoft.com/office/drawing/2014/main" id="{C8DC1DB4-323C-C821-681C-E433288DEE22}"/>
              </a:ext>
            </a:extLst>
          </p:cNvPr>
          <p:cNvSpPr/>
          <p:nvPr/>
        </p:nvSpPr>
        <p:spPr>
          <a:xfrm>
            <a:off x="2400298" y="4776424"/>
            <a:ext cx="1071563" cy="1581514"/>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cxnSp>
        <p:nvCxnSpPr>
          <p:cNvPr id="46" name="カギ線コネクタ 45">
            <a:extLst>
              <a:ext uri="{FF2B5EF4-FFF2-40B4-BE49-F238E27FC236}">
                <a16:creationId xmlns:a16="http://schemas.microsoft.com/office/drawing/2014/main" id="{2D58D027-64D2-2BF4-727A-26B8AE454546}"/>
              </a:ext>
            </a:extLst>
          </p:cNvPr>
          <p:cNvCxnSpPr>
            <a:cxnSpLocks/>
            <a:stCxn id="35" idx="2"/>
            <a:endCxn id="37" idx="0"/>
          </p:cNvCxnSpPr>
          <p:nvPr/>
        </p:nvCxnSpPr>
        <p:spPr>
          <a:xfrm rot="16200000" flipH="1">
            <a:off x="825050" y="3783079"/>
            <a:ext cx="1108888" cy="877802"/>
          </a:xfrm>
          <a:prstGeom prst="bentConnector3">
            <a:avLst>
              <a:gd name="adj1" fmla="val 50000"/>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0" name="カギ線コネクタ 49">
            <a:extLst>
              <a:ext uri="{FF2B5EF4-FFF2-40B4-BE49-F238E27FC236}">
                <a16:creationId xmlns:a16="http://schemas.microsoft.com/office/drawing/2014/main" id="{BD08A168-AA9A-7AA6-F36C-059FDF6FE934}"/>
              </a:ext>
            </a:extLst>
          </p:cNvPr>
          <p:cNvCxnSpPr>
            <a:cxnSpLocks/>
            <a:stCxn id="36" idx="2"/>
            <a:endCxn id="38" idx="0"/>
          </p:cNvCxnSpPr>
          <p:nvPr/>
        </p:nvCxnSpPr>
        <p:spPr>
          <a:xfrm rot="5400000">
            <a:off x="3749728" y="2853889"/>
            <a:ext cx="1108888" cy="2736183"/>
          </a:xfrm>
          <a:prstGeom prst="bentConnector3">
            <a:avLst>
              <a:gd name="adj1" fmla="val 50000"/>
            </a:avLst>
          </a:prstGeom>
          <a:ln w="57150">
            <a:solidFill>
              <a:schemeClr val="accent2"/>
            </a:solidFill>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C72BFDB1-3457-AF15-A868-D036FC57F18F}"/>
              </a:ext>
            </a:extLst>
          </p:cNvPr>
          <p:cNvSpPr txBox="1"/>
          <p:nvPr/>
        </p:nvSpPr>
        <p:spPr>
          <a:xfrm>
            <a:off x="4698604" y="4690018"/>
            <a:ext cx="4572085" cy="1754326"/>
          </a:xfrm>
          <a:prstGeom prst="rect">
            <a:avLst/>
          </a:prstGeom>
          <a:noFill/>
        </p:spPr>
        <p:txBody>
          <a:bodyPr wrap="none" rtlCol="0">
            <a:spAutoFit/>
          </a:bodyPr>
          <a:lstStyle/>
          <a:p>
            <a:r>
              <a:rPr kumimoji="1" lang="ja-GB" altLang="en-US" b="1" dirty="0"/>
              <a:t>例）顧客</a:t>
            </a:r>
            <a:r>
              <a:rPr kumimoji="1" lang="en-US" altLang="ja-GB" b="1" dirty="0"/>
              <a:t>1</a:t>
            </a:r>
            <a:r>
              <a:rPr kumimoji="1" lang="ja-GB" altLang="en-US" b="1" dirty="0"/>
              <a:t>の購入金額を求める計算手順</a:t>
            </a:r>
            <a:endParaRPr kumimoji="1" lang="en-US" altLang="ja-GB" b="1" dirty="0"/>
          </a:p>
          <a:p>
            <a:pPr marL="342900" indent="-342900">
              <a:buFont typeface="+mj-lt"/>
              <a:buAutoNum type="arabicPeriod"/>
            </a:pPr>
            <a:r>
              <a:rPr kumimoji="1" lang="ja-GB" altLang="en-US" dirty="0"/>
              <a:t>購入リストから顧客</a:t>
            </a:r>
            <a:r>
              <a:rPr kumimoji="1" lang="en-US" altLang="ja-GB" dirty="0"/>
              <a:t>1</a:t>
            </a:r>
            <a:r>
              <a:rPr kumimoji="1" lang="ja-GB" altLang="en-US" dirty="0"/>
              <a:t>の履歴を抽出</a:t>
            </a:r>
            <a:endParaRPr kumimoji="1" lang="en-US" altLang="ja-GB" dirty="0"/>
          </a:p>
          <a:p>
            <a:pPr marL="342900" indent="-342900">
              <a:buFont typeface="+mj-lt"/>
              <a:buAutoNum type="arabicPeriod"/>
            </a:pPr>
            <a:r>
              <a:rPr kumimoji="1" lang="ja-GB" altLang="en-US" dirty="0"/>
              <a:t>商品</a:t>
            </a:r>
            <a:r>
              <a:rPr kumimoji="1" lang="en-US" altLang="ja-GB" dirty="0"/>
              <a:t>ID</a:t>
            </a:r>
            <a:r>
              <a:rPr kumimoji="1" lang="ja-GB" altLang="en-US" dirty="0"/>
              <a:t>から単価を取得</a:t>
            </a:r>
            <a:endParaRPr kumimoji="1" lang="en-US" altLang="ja-GB" dirty="0"/>
          </a:p>
          <a:p>
            <a:pPr marL="342900" indent="-342900">
              <a:buFont typeface="+mj-lt"/>
              <a:buAutoNum type="arabicPeriod"/>
            </a:pPr>
            <a:r>
              <a:rPr kumimoji="1" lang="ja-GB" altLang="en-US" dirty="0"/>
              <a:t>全履歴で「価格</a:t>
            </a:r>
            <a:r>
              <a:rPr kumimoji="1" lang="en-US" altLang="ja-GB" dirty="0"/>
              <a:t> = </a:t>
            </a:r>
            <a:r>
              <a:rPr kumimoji="1" lang="ja-GB" altLang="en-US" dirty="0"/>
              <a:t>単価</a:t>
            </a:r>
            <a:r>
              <a:rPr kumimoji="1" lang="en-US" altLang="ja-GB" dirty="0"/>
              <a:t>×</a:t>
            </a:r>
            <a:r>
              <a:rPr kumimoji="1" lang="ja-GB" altLang="en-US" dirty="0"/>
              <a:t>個数」を計算</a:t>
            </a:r>
            <a:endParaRPr kumimoji="1" lang="en-US" altLang="ja-GB" dirty="0"/>
          </a:p>
          <a:p>
            <a:pPr marL="342900" indent="-342900">
              <a:buFont typeface="+mj-lt"/>
              <a:buAutoNum type="arabicPeriod"/>
            </a:pPr>
            <a:r>
              <a:rPr kumimoji="1" lang="ja-GB" altLang="en-US" dirty="0"/>
              <a:t>全履歴の「価格」を合計すれば</a:t>
            </a:r>
            <a:br>
              <a:rPr kumimoji="1" lang="en-US" altLang="ja-GB" dirty="0"/>
            </a:br>
            <a:r>
              <a:rPr kumimoji="1" lang="ja-GB" altLang="en-US" dirty="0"/>
              <a:t>顧客</a:t>
            </a:r>
            <a:r>
              <a:rPr kumimoji="1" lang="en-US" altLang="ja-GB" dirty="0"/>
              <a:t>1</a:t>
            </a:r>
            <a:r>
              <a:rPr kumimoji="1" lang="ja-GB" altLang="en-US" dirty="0"/>
              <a:t>の購入金額が導出される</a:t>
            </a:r>
          </a:p>
        </p:txBody>
      </p:sp>
      <p:sp>
        <p:nvSpPr>
          <p:cNvPr id="54" name="テキスト ボックス 53">
            <a:extLst>
              <a:ext uri="{FF2B5EF4-FFF2-40B4-BE49-F238E27FC236}">
                <a16:creationId xmlns:a16="http://schemas.microsoft.com/office/drawing/2014/main" id="{61E9952F-D803-4FAB-2247-3B0411B3712D}"/>
              </a:ext>
            </a:extLst>
          </p:cNvPr>
          <p:cNvSpPr txBox="1"/>
          <p:nvPr/>
        </p:nvSpPr>
        <p:spPr>
          <a:xfrm>
            <a:off x="1730884" y="6423302"/>
            <a:ext cx="1338828" cy="369332"/>
          </a:xfrm>
          <a:prstGeom prst="rect">
            <a:avLst/>
          </a:prstGeom>
          <a:noFill/>
        </p:spPr>
        <p:txBody>
          <a:bodyPr wrap="none" rtlCol="0">
            <a:spAutoFit/>
          </a:bodyPr>
          <a:lstStyle/>
          <a:p>
            <a:pPr algn="ctr"/>
            <a:r>
              <a:rPr kumimoji="1" lang="ja-GB" altLang="en-US" dirty="0"/>
              <a:t>購入リスト</a:t>
            </a:r>
          </a:p>
        </p:txBody>
      </p:sp>
      <p:sp>
        <p:nvSpPr>
          <p:cNvPr id="55" name="テキスト ボックス 54">
            <a:extLst>
              <a:ext uri="{FF2B5EF4-FFF2-40B4-BE49-F238E27FC236}">
                <a16:creationId xmlns:a16="http://schemas.microsoft.com/office/drawing/2014/main" id="{CA48DF54-27D9-9509-943E-4C1629B7661D}"/>
              </a:ext>
            </a:extLst>
          </p:cNvPr>
          <p:cNvSpPr txBox="1"/>
          <p:nvPr/>
        </p:nvSpPr>
        <p:spPr>
          <a:xfrm>
            <a:off x="1684762" y="3703612"/>
            <a:ext cx="1338828" cy="369332"/>
          </a:xfrm>
          <a:prstGeom prst="rect">
            <a:avLst/>
          </a:prstGeom>
          <a:noFill/>
        </p:spPr>
        <p:txBody>
          <a:bodyPr wrap="none" rtlCol="0">
            <a:spAutoFit/>
          </a:bodyPr>
          <a:lstStyle/>
          <a:p>
            <a:pPr algn="ctr"/>
            <a:r>
              <a:rPr kumimoji="1" lang="ja-GB" altLang="en-US" dirty="0"/>
              <a:t>顧客リスト</a:t>
            </a:r>
          </a:p>
        </p:txBody>
      </p:sp>
      <p:sp>
        <p:nvSpPr>
          <p:cNvPr id="56" name="テキスト ボックス 55">
            <a:extLst>
              <a:ext uri="{FF2B5EF4-FFF2-40B4-BE49-F238E27FC236}">
                <a16:creationId xmlns:a16="http://schemas.microsoft.com/office/drawing/2014/main" id="{B22A3FFB-ED75-20FE-8769-AADEB90675F1}"/>
              </a:ext>
            </a:extLst>
          </p:cNvPr>
          <p:cNvSpPr txBox="1"/>
          <p:nvPr/>
        </p:nvSpPr>
        <p:spPr>
          <a:xfrm>
            <a:off x="6315233" y="3703612"/>
            <a:ext cx="1338828" cy="369332"/>
          </a:xfrm>
          <a:prstGeom prst="rect">
            <a:avLst/>
          </a:prstGeom>
          <a:noFill/>
        </p:spPr>
        <p:txBody>
          <a:bodyPr wrap="none" rtlCol="0">
            <a:spAutoFit/>
          </a:bodyPr>
          <a:lstStyle/>
          <a:p>
            <a:pPr algn="ctr"/>
            <a:r>
              <a:rPr kumimoji="1" lang="ja-GB" altLang="en-US" dirty="0"/>
              <a:t>商品リスト</a:t>
            </a:r>
          </a:p>
        </p:txBody>
      </p:sp>
    </p:spTree>
    <p:extLst>
      <p:ext uri="{BB962C8B-B14F-4D97-AF65-F5344CB8AC3E}">
        <p14:creationId xmlns:p14="http://schemas.microsoft.com/office/powerpoint/2010/main" val="1538406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B94738-FACE-8110-EBF3-F115659C8014}"/>
              </a:ext>
            </a:extLst>
          </p:cNvPr>
          <p:cNvSpPr>
            <a:spLocks noGrp="1"/>
          </p:cNvSpPr>
          <p:nvPr>
            <p:ph type="title"/>
          </p:nvPr>
        </p:nvSpPr>
        <p:spPr/>
        <p:txBody>
          <a:bodyPr/>
          <a:lstStyle/>
          <a:p>
            <a:r>
              <a:rPr kumimoji="1" lang="ja-GB" altLang="en-US" dirty="0"/>
              <a:t>（リレーショナルにする利点の説明）</a:t>
            </a:r>
          </a:p>
        </p:txBody>
      </p:sp>
      <p:sp>
        <p:nvSpPr>
          <p:cNvPr id="3" name="コンテンツ プレースホルダー 2">
            <a:extLst>
              <a:ext uri="{FF2B5EF4-FFF2-40B4-BE49-F238E27FC236}">
                <a16:creationId xmlns:a16="http://schemas.microsoft.com/office/drawing/2014/main" id="{2A35E7E0-BCAD-B2DD-6D15-E444426FCCCC}"/>
              </a:ext>
            </a:extLst>
          </p:cNvPr>
          <p:cNvSpPr>
            <a:spLocks noGrp="1"/>
          </p:cNvSpPr>
          <p:nvPr>
            <p:ph idx="1"/>
          </p:nvPr>
        </p:nvSpPr>
        <p:spPr/>
        <p:txBody>
          <a:bodyPr>
            <a:normAutofit/>
          </a:bodyPr>
          <a:lstStyle/>
          <a:p>
            <a:pPr marL="0" indent="0">
              <a:buNone/>
            </a:pPr>
            <a:r>
              <a:rPr lang="ja-GB" altLang="en-US" sz="1400" dirty="0"/>
              <a:t>リレーショナルデータベースは，</a:t>
            </a:r>
            <a:r>
              <a:rPr lang="ja-GB" altLang="en-US" sz="1400" dirty="0">
                <a:solidFill>
                  <a:srgbClr val="0070C0"/>
                </a:solidFill>
              </a:rPr>
              <a:t>「複数の表」を作成して，「互いに参照する」という一見すると複雑な構造</a:t>
            </a:r>
            <a:r>
              <a:rPr lang="ja-GB" altLang="en-US" sz="1400" dirty="0"/>
              <a:t>を持つ</a:t>
            </a:r>
            <a:endParaRPr lang="en-US" altLang="ja-GB" sz="1400" dirty="0"/>
          </a:p>
          <a:p>
            <a:pPr marL="0" indent="0">
              <a:buNone/>
            </a:pPr>
            <a:endParaRPr lang="en-US" altLang="ja-GB" sz="1400" dirty="0"/>
          </a:p>
          <a:p>
            <a:pPr marL="0" indent="0">
              <a:buNone/>
            </a:pPr>
            <a:r>
              <a:rPr lang="ja-GB" altLang="en-US" sz="1400" dirty="0"/>
              <a:t>当然，エクセルファイルのように「一つの表」に全ての情報を入れて，そこから情報を取り出すという単純な実装もできる．</a:t>
            </a:r>
            <a:endParaRPr lang="en-US" altLang="ja-GB" sz="1400" dirty="0"/>
          </a:p>
          <a:p>
            <a:pPr marL="0" indent="0">
              <a:buNone/>
            </a:pPr>
            <a:r>
              <a:rPr lang="ja-GB" altLang="en-US" sz="1400" dirty="0"/>
              <a:t>しかしながら，この実装では非効率な場合がある．</a:t>
            </a:r>
            <a:endParaRPr lang="en-US" altLang="ja-GB" sz="1400" dirty="0"/>
          </a:p>
          <a:p>
            <a:pPr marL="0" indent="0">
              <a:buNone/>
            </a:pPr>
            <a:endParaRPr lang="en-US" altLang="ja-GB" sz="1400" dirty="0"/>
          </a:p>
          <a:p>
            <a:pPr marL="0" indent="0">
              <a:buNone/>
            </a:pPr>
            <a:r>
              <a:rPr lang="ja-GB" altLang="en-US" sz="1400" dirty="0"/>
              <a:t>例えば，</a:t>
            </a:r>
            <a:r>
              <a:rPr lang="en-US" altLang="ja-GB" sz="1400" dirty="0"/>
              <a:t>SNS</a:t>
            </a:r>
            <a:r>
              <a:rPr lang="ja-GB" altLang="en-US" sz="1400" dirty="0"/>
              <a:t>を作る場合を考える．</a:t>
            </a:r>
            <a:endParaRPr lang="en-US" altLang="ja-GB" sz="1400" dirty="0"/>
          </a:p>
          <a:p>
            <a:pPr marL="0" indent="0">
              <a:buNone/>
            </a:pPr>
            <a:r>
              <a:rPr lang="ja-GB" altLang="en-US" sz="1400" dirty="0"/>
              <a:t>エクセルの各行に投稿情報として，「投稿日時，投稿者</a:t>
            </a:r>
            <a:r>
              <a:rPr lang="en-US" altLang="ja-GB" sz="1400" dirty="0"/>
              <a:t>ID</a:t>
            </a:r>
            <a:r>
              <a:rPr lang="ja-GB" altLang="en-US" sz="1400" dirty="0"/>
              <a:t>，投稿者名，アイコン画像，投稿内容」を保持して，それをタイムラインに並べることで，簡易的な</a:t>
            </a:r>
            <a:r>
              <a:rPr lang="en-US" altLang="ja-GB" sz="1400" dirty="0"/>
              <a:t>SNS</a:t>
            </a:r>
            <a:r>
              <a:rPr lang="ja-GB" altLang="en-US" sz="1400" dirty="0"/>
              <a:t>が実装できそうである．</a:t>
            </a:r>
            <a:endParaRPr lang="en-US" altLang="ja-GB" sz="1400" dirty="0"/>
          </a:p>
          <a:p>
            <a:pPr marL="0" indent="0">
              <a:buNone/>
            </a:pPr>
            <a:endParaRPr lang="en-US" altLang="ja-GB" sz="1400" dirty="0"/>
          </a:p>
          <a:p>
            <a:pPr marL="0" indent="0">
              <a:buNone/>
            </a:pPr>
            <a:r>
              <a:rPr lang="ja-GB" altLang="en-US" sz="1400" dirty="0"/>
              <a:t>しかし，仮にあるユーザーが</a:t>
            </a:r>
            <a:r>
              <a:rPr lang="en-US" altLang="ja-GB" sz="1400" dirty="0"/>
              <a:t>100</a:t>
            </a:r>
            <a:r>
              <a:rPr lang="ja-GB" altLang="en-US" sz="1400" dirty="0"/>
              <a:t>件の投稿をした場合，そのエクセルには投稿者のアイコンが重複して</a:t>
            </a:r>
            <a:r>
              <a:rPr lang="en-US" altLang="ja-GB" sz="1400" dirty="0"/>
              <a:t>100</a:t>
            </a:r>
            <a:r>
              <a:rPr lang="ja-GB" altLang="en-US" sz="1400" dirty="0"/>
              <a:t>個保存されることになり，例えばストレージを圧迫するなどの問題が生じる．</a:t>
            </a:r>
            <a:endParaRPr lang="en-US" altLang="ja-GB" sz="1400" dirty="0"/>
          </a:p>
          <a:p>
            <a:pPr marL="0" indent="0">
              <a:buNone/>
            </a:pPr>
            <a:endParaRPr lang="en-US" altLang="ja-GB" sz="1400" dirty="0"/>
          </a:p>
          <a:p>
            <a:pPr marL="0" indent="0">
              <a:buNone/>
            </a:pPr>
            <a:r>
              <a:rPr lang="ja-GB" altLang="en-US" sz="1400" dirty="0"/>
              <a:t>このような場合，例えば次のような解決策がある．</a:t>
            </a:r>
            <a:endParaRPr lang="en-US" altLang="ja-GB" sz="1400" dirty="0"/>
          </a:p>
          <a:p>
            <a:pPr marL="342900" indent="-342900">
              <a:buAutoNum type="arabicPeriod"/>
            </a:pPr>
            <a:r>
              <a:rPr lang="ja-GB" altLang="en-US" sz="1400" dirty="0"/>
              <a:t>「投稿履歴」という表に「投稿日時，投稿者</a:t>
            </a:r>
            <a:r>
              <a:rPr lang="en-US" altLang="ja-GB" sz="1400" dirty="0"/>
              <a:t>ID</a:t>
            </a:r>
            <a:r>
              <a:rPr lang="ja-GB" altLang="en-US" sz="1400" dirty="0"/>
              <a:t>，投稿内容」だけを保持する</a:t>
            </a:r>
            <a:endParaRPr lang="en-US" altLang="ja-GB" sz="1400" dirty="0"/>
          </a:p>
          <a:p>
            <a:pPr marL="342900" indent="-342900">
              <a:buAutoNum type="arabicPeriod"/>
            </a:pPr>
            <a:r>
              <a:rPr lang="ja-GB" altLang="en-US" sz="1400" dirty="0"/>
              <a:t>「ユーザー」という別の表で「投稿者</a:t>
            </a:r>
            <a:r>
              <a:rPr lang="en-US" altLang="ja-GB" sz="1400" dirty="0"/>
              <a:t>ID</a:t>
            </a:r>
            <a:r>
              <a:rPr lang="ja-GB" altLang="en-US" sz="1400" dirty="0"/>
              <a:t>，投稿者名，アイコン画像」を保存する</a:t>
            </a:r>
            <a:endParaRPr lang="en-US" altLang="ja-GB" sz="1400" dirty="0"/>
          </a:p>
          <a:p>
            <a:pPr marL="342900" indent="-342900">
              <a:buAutoNum type="arabicPeriod"/>
            </a:pPr>
            <a:r>
              <a:rPr lang="ja-GB" altLang="en-US" sz="1400" dirty="0"/>
              <a:t>タイムライン作成時には，「投稿履歴」の投稿者</a:t>
            </a:r>
            <a:r>
              <a:rPr lang="en-US" altLang="ja-GB" sz="1400" dirty="0"/>
              <a:t>ID</a:t>
            </a:r>
            <a:r>
              <a:rPr lang="ja-GB" altLang="en-US" sz="1400" dirty="0"/>
              <a:t>からユーザー情報を適宜取り出しながら並べる</a:t>
            </a:r>
            <a:endParaRPr lang="en-US" altLang="ja-GB" sz="1400" dirty="0"/>
          </a:p>
          <a:p>
            <a:pPr marL="342900" indent="-342900">
              <a:buAutoNum type="arabicPeriod"/>
            </a:pPr>
            <a:endParaRPr lang="en-US" altLang="ja-GB" sz="1400" dirty="0"/>
          </a:p>
          <a:p>
            <a:pPr marL="0" indent="0">
              <a:buNone/>
            </a:pPr>
            <a:r>
              <a:rPr lang="ja-GB" altLang="en-US" sz="1400" dirty="0"/>
              <a:t>これはリレーショナルデータベースの考え方である．</a:t>
            </a:r>
            <a:endParaRPr lang="en-US" altLang="ja-GB" sz="1400" dirty="0"/>
          </a:p>
        </p:txBody>
      </p:sp>
    </p:spTree>
    <p:extLst>
      <p:ext uri="{BB962C8B-B14F-4D97-AF65-F5344CB8AC3E}">
        <p14:creationId xmlns:p14="http://schemas.microsoft.com/office/powerpoint/2010/main" val="9592337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4584-BECC-A397-B849-68107DB70E9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51357A7-1E99-0A68-3B9C-C618DA058144}"/>
              </a:ext>
            </a:extLst>
          </p:cNvPr>
          <p:cNvSpPr>
            <a:spLocks noGrp="1"/>
          </p:cNvSpPr>
          <p:nvPr>
            <p:ph type="title"/>
          </p:nvPr>
        </p:nvSpPr>
        <p:spPr/>
        <p:txBody>
          <a:bodyPr/>
          <a:lstStyle/>
          <a:p>
            <a:r>
              <a:rPr lang="ja-GB" altLang="en-US" dirty="0"/>
              <a:t>第</a:t>
            </a:r>
            <a:r>
              <a:rPr lang="en-US" altLang="ja-GB" dirty="0"/>
              <a:t>7</a:t>
            </a:r>
            <a:r>
              <a:rPr lang="ja-GB" altLang="en-US" dirty="0"/>
              <a:t>回：データ構造</a:t>
            </a:r>
            <a:endParaRPr kumimoji="1" lang="ja-GB" altLang="en-US" dirty="0"/>
          </a:p>
        </p:txBody>
      </p:sp>
      <p:sp>
        <p:nvSpPr>
          <p:cNvPr id="3" name="コンテンツ プレースホルダー 2">
            <a:extLst>
              <a:ext uri="{FF2B5EF4-FFF2-40B4-BE49-F238E27FC236}">
                <a16:creationId xmlns:a16="http://schemas.microsoft.com/office/drawing/2014/main" id="{D195DFAB-7A77-A8FE-44F6-E266DF772564}"/>
              </a:ext>
            </a:extLst>
          </p:cNvPr>
          <p:cNvSpPr>
            <a:spLocks noGrp="1"/>
          </p:cNvSpPr>
          <p:nvPr>
            <p:ph idx="1"/>
          </p:nvPr>
        </p:nvSpPr>
        <p:spPr/>
        <p:txBody>
          <a:bodyPr/>
          <a:lstStyle/>
          <a:p>
            <a:pPr marL="0" indent="0">
              <a:buNone/>
            </a:pPr>
            <a:r>
              <a:rPr lang="ja-GB" altLang="en-US" dirty="0"/>
              <a:t>計算手順の書きやすさや効率は，与えるデータの形で変わる</a:t>
            </a:r>
            <a:endParaRPr lang="en-US" altLang="ja-GB" dirty="0"/>
          </a:p>
          <a:p>
            <a:pPr marL="914400" lvl="1" indent="-457200">
              <a:buFont typeface="+mj-lt"/>
              <a:buAutoNum type="arabicPeriod"/>
            </a:pPr>
            <a:r>
              <a:rPr lang="ja-GB" altLang="en-US" dirty="0"/>
              <a:t>情報をまとめて扱うための構造</a:t>
            </a:r>
            <a:endParaRPr lang="en-US" altLang="ja-GB" dirty="0"/>
          </a:p>
          <a:p>
            <a:pPr lvl="2"/>
            <a:r>
              <a:rPr lang="ja-GB" altLang="en-US" dirty="0"/>
              <a:t>配列，集合，クラス</a:t>
            </a:r>
            <a:endParaRPr lang="en-US" altLang="ja-GB" dirty="0"/>
          </a:p>
          <a:p>
            <a:pPr lvl="2"/>
            <a:endParaRPr lang="en-US" altLang="ja-GB" dirty="0"/>
          </a:p>
          <a:p>
            <a:pPr marL="914400" lvl="1" indent="-457200">
              <a:buFont typeface="+mj-lt"/>
              <a:buAutoNum type="arabicPeriod"/>
            </a:pPr>
            <a:r>
              <a:rPr lang="ja-GB" altLang="en-US" dirty="0"/>
              <a:t>柔軟にデータ構造や数を書き換えるための構造</a:t>
            </a:r>
            <a:endParaRPr lang="en-US" altLang="ja-JP" dirty="0"/>
          </a:p>
          <a:p>
            <a:pPr lvl="2"/>
            <a:r>
              <a:rPr lang="ja-GB" altLang="en-US" dirty="0"/>
              <a:t>キュー，スタック，リスト，辞書</a:t>
            </a:r>
            <a:endParaRPr lang="en-US" altLang="ja-GB" dirty="0"/>
          </a:p>
          <a:p>
            <a:pPr lvl="2"/>
            <a:endParaRPr lang="en-US" altLang="ja-JP" dirty="0"/>
          </a:p>
          <a:p>
            <a:pPr marL="914400" lvl="1" indent="-457200">
              <a:buFont typeface="+mj-lt"/>
              <a:buAutoNum type="arabicPeriod"/>
            </a:pPr>
            <a:r>
              <a:rPr lang="ja-GB" altLang="en-US" dirty="0"/>
              <a:t>計算手順</a:t>
            </a:r>
            <a:r>
              <a:rPr lang="ja-JP" altLang="en-US"/>
              <a:t>を</a:t>
            </a:r>
            <a:r>
              <a:rPr lang="ja-GB" altLang="en-US" dirty="0"/>
              <a:t>簡易化，効率化するための</a:t>
            </a:r>
            <a:r>
              <a:rPr lang="ja-JP" altLang="en-US"/>
              <a:t>構造</a:t>
            </a:r>
            <a:endParaRPr lang="en-US" altLang="ja-JP" dirty="0"/>
          </a:p>
          <a:p>
            <a:pPr lvl="2"/>
            <a:r>
              <a:rPr lang="ja-GB" altLang="en-US" dirty="0"/>
              <a:t>ツリー，グラフ，リレーショナルデータベース</a:t>
            </a:r>
            <a:endParaRPr lang="en-US" altLang="ja-JP" dirty="0"/>
          </a:p>
          <a:p>
            <a:pPr lvl="2"/>
            <a:endParaRPr lang="ja-GB" altLang="en-US" dirty="0"/>
          </a:p>
        </p:txBody>
      </p:sp>
    </p:spTree>
    <p:extLst>
      <p:ext uri="{BB962C8B-B14F-4D97-AF65-F5344CB8AC3E}">
        <p14:creationId xmlns:p14="http://schemas.microsoft.com/office/powerpoint/2010/main" val="10096940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AA06E-B476-579B-EB83-F02965649FAD}"/>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FBE3D32F-C539-5DC1-8F52-113D6A4B8329}"/>
              </a:ext>
            </a:extLst>
          </p:cNvPr>
          <p:cNvSpPr/>
          <p:nvPr/>
        </p:nvSpPr>
        <p:spPr>
          <a:xfrm>
            <a:off x="0" y="1"/>
            <a:ext cx="9144000" cy="440463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sp>
        <p:nvSpPr>
          <p:cNvPr id="5" name="タイトル 1">
            <a:extLst>
              <a:ext uri="{FF2B5EF4-FFF2-40B4-BE49-F238E27FC236}">
                <a16:creationId xmlns:a16="http://schemas.microsoft.com/office/drawing/2014/main" id="{A5057735-CA3D-714D-4561-52895A7A8BCC}"/>
              </a:ext>
            </a:extLst>
          </p:cNvPr>
          <p:cNvSpPr>
            <a:spLocks noGrp="1"/>
          </p:cNvSpPr>
          <p:nvPr>
            <p:ph type="ctrTitle"/>
          </p:nvPr>
        </p:nvSpPr>
        <p:spPr>
          <a:xfrm>
            <a:off x="342901" y="1666380"/>
            <a:ext cx="8458198" cy="2738260"/>
          </a:xfrm>
        </p:spPr>
        <p:txBody>
          <a:bodyPr anchor="b">
            <a:normAutofit/>
          </a:bodyPr>
          <a:lstStyle/>
          <a:p>
            <a:pPr algn="l">
              <a:lnSpc>
                <a:spcPct val="100000"/>
              </a:lnSpc>
            </a:pPr>
            <a:r>
              <a:rPr kumimoji="1" lang="en-US" altLang="ja-JP" sz="3200" dirty="0">
                <a:solidFill>
                  <a:schemeClr val="bg1"/>
                </a:solidFill>
              </a:rPr>
              <a:t>2025</a:t>
            </a:r>
            <a:r>
              <a:rPr kumimoji="1" lang="ja-JP" altLang="en-US" sz="3200">
                <a:solidFill>
                  <a:schemeClr val="bg1"/>
                </a:solidFill>
              </a:rPr>
              <a:t>年度</a:t>
            </a:r>
            <a:r>
              <a:rPr lang="en-US" altLang="ja-JP" sz="3200" dirty="0">
                <a:solidFill>
                  <a:schemeClr val="bg1"/>
                </a:solidFill>
              </a:rPr>
              <a:t> </a:t>
            </a:r>
            <a:r>
              <a:rPr kumimoji="1" lang="ja-JP" altLang="en-US" sz="3200">
                <a:solidFill>
                  <a:schemeClr val="bg1"/>
                </a:solidFill>
              </a:rPr>
              <a:t>コンピュータシステム</a:t>
            </a:r>
            <a:br>
              <a:rPr lang="en-US" altLang="ja-JP" sz="3200" dirty="0">
                <a:solidFill>
                  <a:schemeClr val="bg1"/>
                </a:solidFill>
              </a:rPr>
            </a:br>
            <a:r>
              <a:rPr kumimoji="1" lang="ja-GB" altLang="en-US" sz="3200" dirty="0">
                <a:solidFill>
                  <a:schemeClr val="bg1"/>
                </a:solidFill>
              </a:rPr>
              <a:t>第</a:t>
            </a:r>
            <a:r>
              <a:rPr kumimoji="1" lang="en-US" altLang="ja-GB" sz="3200" dirty="0">
                <a:solidFill>
                  <a:schemeClr val="bg1"/>
                </a:solidFill>
              </a:rPr>
              <a:t>8</a:t>
            </a:r>
            <a:r>
              <a:rPr kumimoji="1" lang="ja-GB" altLang="en-US" sz="3200" dirty="0">
                <a:solidFill>
                  <a:schemeClr val="bg1"/>
                </a:solidFill>
              </a:rPr>
              <a:t>回：アルゴリズム</a:t>
            </a:r>
            <a:br>
              <a:rPr kumimoji="1" lang="en-US" altLang="ja-JP" sz="2400" dirty="0">
                <a:solidFill>
                  <a:schemeClr val="bg1"/>
                </a:solidFill>
              </a:rPr>
            </a:br>
            <a:endParaRPr kumimoji="1" lang="ja-JP" altLang="en-US" sz="2400">
              <a:solidFill>
                <a:schemeClr val="bg1"/>
              </a:solidFill>
            </a:endParaRPr>
          </a:p>
        </p:txBody>
      </p:sp>
    </p:spTree>
    <p:extLst>
      <p:ext uri="{BB962C8B-B14F-4D97-AF65-F5344CB8AC3E}">
        <p14:creationId xmlns:p14="http://schemas.microsoft.com/office/powerpoint/2010/main" val="10109959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D98D4-37E6-706E-6527-FFADDCE518C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0DEC460-B2F5-041B-3228-C96FC79659B9}"/>
              </a:ext>
            </a:extLst>
          </p:cNvPr>
          <p:cNvSpPr>
            <a:spLocks noGrp="1"/>
          </p:cNvSpPr>
          <p:nvPr>
            <p:ph type="title"/>
          </p:nvPr>
        </p:nvSpPr>
        <p:spPr/>
        <p:txBody>
          <a:bodyPr>
            <a:normAutofit/>
          </a:bodyPr>
          <a:lstStyle/>
          <a:p>
            <a:r>
              <a:rPr kumimoji="1" lang="ja-GB" altLang="en-US" dirty="0"/>
              <a:t>第</a:t>
            </a:r>
            <a:r>
              <a:rPr kumimoji="1" lang="en-US" altLang="ja-GB" dirty="0"/>
              <a:t>8</a:t>
            </a:r>
            <a:r>
              <a:rPr kumimoji="1" lang="ja-GB" altLang="en-US" dirty="0"/>
              <a:t>回：アルゴリズム</a:t>
            </a:r>
          </a:p>
        </p:txBody>
      </p:sp>
      <p:sp>
        <p:nvSpPr>
          <p:cNvPr id="3" name="コンテンツ プレースホルダー 2">
            <a:extLst>
              <a:ext uri="{FF2B5EF4-FFF2-40B4-BE49-F238E27FC236}">
                <a16:creationId xmlns:a16="http://schemas.microsoft.com/office/drawing/2014/main" id="{4445A2F0-E4B5-E63C-0503-CCA5817F625A}"/>
              </a:ext>
            </a:extLst>
          </p:cNvPr>
          <p:cNvSpPr>
            <a:spLocks noGrp="1"/>
          </p:cNvSpPr>
          <p:nvPr>
            <p:ph idx="1"/>
          </p:nvPr>
        </p:nvSpPr>
        <p:spPr/>
        <p:txBody>
          <a:bodyPr/>
          <a:lstStyle/>
          <a:p>
            <a:pPr marL="0" indent="0">
              <a:buNone/>
            </a:pPr>
            <a:r>
              <a:rPr kumimoji="1" lang="ja-GB" altLang="en-US" dirty="0"/>
              <a:t>アルゴリズムを使うとき同じ機能でも様々な方式から選ぶ必要がある</a:t>
            </a:r>
            <a:endParaRPr kumimoji="1" lang="en-US" altLang="ja-GB" dirty="0"/>
          </a:p>
          <a:p>
            <a:pPr marL="914400" lvl="1" indent="-457200">
              <a:buFont typeface="+mj-lt"/>
              <a:buAutoNum type="arabicPeriod"/>
            </a:pPr>
            <a:r>
              <a:rPr kumimoji="1" lang="ja-GB" altLang="en-US" dirty="0"/>
              <a:t>状況に応じたアルゴリズム選定の重要性</a:t>
            </a:r>
            <a:endParaRPr kumimoji="1" lang="en-US" altLang="ja-GB" dirty="0"/>
          </a:p>
          <a:p>
            <a:pPr lvl="2"/>
            <a:r>
              <a:rPr lang="ja-GB" altLang="en-US" dirty="0"/>
              <a:t>同じ機能でも処理速度が異なるアルゴリズムが存在する</a:t>
            </a:r>
            <a:endParaRPr lang="en-US" altLang="ja-GB" dirty="0"/>
          </a:p>
          <a:p>
            <a:pPr lvl="2"/>
            <a:r>
              <a:rPr kumimoji="1" lang="ja-GB" altLang="en-US" dirty="0"/>
              <a:t>計算手順の少なさと考えやすさのトレードオフ</a:t>
            </a:r>
            <a:endParaRPr kumimoji="1" lang="en-US" altLang="ja-GB" dirty="0"/>
          </a:p>
          <a:p>
            <a:pPr lvl="2"/>
            <a:r>
              <a:rPr lang="ja-GB" altLang="en-US" dirty="0"/>
              <a:t>アルゴリズムの速さを見積もる数式</a:t>
            </a:r>
            <a:endParaRPr lang="en-US" altLang="ja-GB" dirty="0"/>
          </a:p>
          <a:p>
            <a:pPr lvl="2"/>
            <a:endParaRPr lang="en-US" altLang="ja-GB" dirty="0"/>
          </a:p>
          <a:p>
            <a:pPr marL="914400" lvl="1" indent="-457200">
              <a:buFont typeface="+mj-lt"/>
              <a:buAutoNum type="arabicPeriod"/>
            </a:pPr>
            <a:r>
              <a:rPr kumimoji="1" lang="ja-GB" altLang="en-US" dirty="0"/>
              <a:t>「考えやすさ</a:t>
            </a:r>
            <a:r>
              <a:rPr kumimoji="1" lang="en-US" altLang="ja-GB" dirty="0"/>
              <a:t> vs </a:t>
            </a:r>
            <a:r>
              <a:rPr kumimoji="1" lang="ja-GB" altLang="en-US" dirty="0"/>
              <a:t>速さ」の具体例</a:t>
            </a:r>
            <a:endParaRPr kumimoji="1" lang="en-US" altLang="ja-GB" dirty="0"/>
          </a:p>
          <a:p>
            <a:pPr lvl="2"/>
            <a:r>
              <a:rPr lang="ja-GB" altLang="en-US" dirty="0"/>
              <a:t>並び替えアルゴリズムの比較</a:t>
            </a:r>
            <a:endParaRPr lang="en-US" altLang="ja-GB" dirty="0"/>
          </a:p>
          <a:p>
            <a:pPr lvl="2"/>
            <a:r>
              <a:rPr kumimoji="1" lang="ja-GB" altLang="en-US" dirty="0"/>
              <a:t>考えやすいアルゴリズム（挿入ソート，選択ソート）</a:t>
            </a:r>
            <a:endParaRPr kumimoji="1" lang="en-US" altLang="ja-GB" dirty="0"/>
          </a:p>
          <a:p>
            <a:pPr lvl="2"/>
            <a:r>
              <a:rPr lang="ja-GB" altLang="en-US" dirty="0"/>
              <a:t>大きなデータを少ない手順で捌けるアルゴリズム（クイックソート）</a:t>
            </a:r>
            <a:endParaRPr lang="en-US" altLang="ja-GB" dirty="0"/>
          </a:p>
          <a:p>
            <a:pPr lvl="2"/>
            <a:endParaRPr lang="en-US" altLang="ja-GB" dirty="0"/>
          </a:p>
          <a:p>
            <a:pPr marL="914400" lvl="1" indent="-457200">
              <a:buFont typeface="+mj-lt"/>
              <a:buAutoNum type="arabicPeriod"/>
            </a:pPr>
            <a:r>
              <a:rPr kumimoji="1" lang="ja-GB" altLang="en-US" dirty="0"/>
              <a:t>状況に応じたアルゴリズム選定</a:t>
            </a:r>
            <a:endParaRPr kumimoji="1" lang="en-US" altLang="ja-GB" dirty="0"/>
          </a:p>
          <a:p>
            <a:pPr lvl="2"/>
            <a:r>
              <a:rPr kumimoji="1" lang="ja-GB" altLang="en-US" dirty="0"/>
              <a:t>メモリ使用量の違い（</a:t>
            </a:r>
            <a:r>
              <a:rPr lang="ja-GB" altLang="en-US" dirty="0"/>
              <a:t>空間計算量</a:t>
            </a:r>
            <a:r>
              <a:rPr kumimoji="1" lang="ja-GB" altLang="en-US" dirty="0"/>
              <a:t>）</a:t>
            </a:r>
            <a:endParaRPr kumimoji="1" lang="en-US" altLang="ja-GB" dirty="0"/>
          </a:p>
          <a:p>
            <a:pPr lvl="2"/>
            <a:r>
              <a:rPr kumimoji="1" lang="ja-GB" altLang="en-US" dirty="0"/>
              <a:t>問題条件の違い（ソートの安定性）</a:t>
            </a:r>
            <a:endParaRPr kumimoji="1" lang="en-US" altLang="ja-GB" dirty="0"/>
          </a:p>
          <a:p>
            <a:pPr lvl="2"/>
            <a:endParaRPr kumimoji="1" lang="ja-GB" altLang="en-US" dirty="0"/>
          </a:p>
        </p:txBody>
      </p:sp>
    </p:spTree>
    <p:extLst>
      <p:ext uri="{BB962C8B-B14F-4D97-AF65-F5344CB8AC3E}">
        <p14:creationId xmlns:p14="http://schemas.microsoft.com/office/powerpoint/2010/main" val="31738738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4445A-1285-23D1-5444-2144D860142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3C5E95A-AC1E-06DD-FEA8-F781C30308C5}"/>
              </a:ext>
            </a:extLst>
          </p:cNvPr>
          <p:cNvSpPr>
            <a:spLocks noGrp="1"/>
          </p:cNvSpPr>
          <p:nvPr>
            <p:ph type="title"/>
          </p:nvPr>
        </p:nvSpPr>
        <p:spPr/>
        <p:txBody>
          <a:bodyPr>
            <a:normAutofit/>
          </a:bodyPr>
          <a:lstStyle/>
          <a:p>
            <a:r>
              <a:rPr kumimoji="1" lang="ja-GB" altLang="en-US" dirty="0"/>
              <a:t>第</a:t>
            </a:r>
            <a:r>
              <a:rPr kumimoji="1" lang="en-US" altLang="ja-GB" dirty="0"/>
              <a:t>8</a:t>
            </a:r>
            <a:r>
              <a:rPr kumimoji="1" lang="ja-GB" altLang="en-US" dirty="0"/>
              <a:t>回：アルゴリズム</a:t>
            </a:r>
          </a:p>
        </p:txBody>
      </p:sp>
      <p:sp>
        <p:nvSpPr>
          <p:cNvPr id="3" name="コンテンツ プレースホルダー 2">
            <a:extLst>
              <a:ext uri="{FF2B5EF4-FFF2-40B4-BE49-F238E27FC236}">
                <a16:creationId xmlns:a16="http://schemas.microsoft.com/office/drawing/2014/main" id="{E8DA79C2-9058-0CD1-7573-E51E3E19E767}"/>
              </a:ext>
            </a:extLst>
          </p:cNvPr>
          <p:cNvSpPr>
            <a:spLocks noGrp="1"/>
          </p:cNvSpPr>
          <p:nvPr>
            <p:ph idx="1"/>
          </p:nvPr>
        </p:nvSpPr>
        <p:spPr/>
        <p:txBody>
          <a:bodyPr/>
          <a:lstStyle/>
          <a:p>
            <a:pPr marL="0" indent="0">
              <a:buNone/>
            </a:pPr>
            <a:r>
              <a:rPr kumimoji="1" lang="ja-GB" altLang="en-US" dirty="0"/>
              <a:t>アルゴリズムを使うとき同じ機能でも様々な方式から選ぶ必要がある</a:t>
            </a:r>
            <a:endParaRPr kumimoji="1" lang="en-US" altLang="ja-GB" dirty="0"/>
          </a:p>
          <a:p>
            <a:pPr marL="914400" lvl="1" indent="-457200">
              <a:buFont typeface="+mj-lt"/>
              <a:buAutoNum type="arabicPeriod"/>
            </a:pPr>
            <a:r>
              <a:rPr kumimoji="1" lang="ja-GB" altLang="en-US" dirty="0">
                <a:solidFill>
                  <a:srgbClr val="0070C0"/>
                </a:solidFill>
              </a:rPr>
              <a:t>状況に応じたアルゴリズム選定の重要性</a:t>
            </a:r>
            <a:endParaRPr kumimoji="1" lang="en-US" altLang="ja-GB" dirty="0">
              <a:solidFill>
                <a:srgbClr val="0070C0"/>
              </a:solidFill>
            </a:endParaRPr>
          </a:p>
          <a:p>
            <a:pPr lvl="2"/>
            <a:r>
              <a:rPr lang="ja-GB" altLang="en-US" dirty="0"/>
              <a:t>同じ機能でも処理速度が異なるアルゴリズムが存在する</a:t>
            </a:r>
            <a:endParaRPr lang="en-US" altLang="ja-GB" dirty="0"/>
          </a:p>
          <a:p>
            <a:pPr lvl="2"/>
            <a:r>
              <a:rPr kumimoji="1" lang="ja-GB" altLang="en-US" dirty="0"/>
              <a:t>計算手順の少なさと考えやすさのトレードオフ</a:t>
            </a:r>
            <a:endParaRPr kumimoji="1" lang="en-US" altLang="ja-GB" dirty="0"/>
          </a:p>
          <a:p>
            <a:pPr lvl="2"/>
            <a:r>
              <a:rPr lang="ja-GB" altLang="en-US" dirty="0"/>
              <a:t>アルゴリズムの速さを見積もる数式</a:t>
            </a:r>
            <a:endParaRPr lang="en-US" altLang="ja-GB" dirty="0"/>
          </a:p>
          <a:p>
            <a:pPr lvl="2"/>
            <a:endParaRPr lang="en-US" altLang="ja-GB" dirty="0"/>
          </a:p>
          <a:p>
            <a:pPr marL="914400" lvl="1" indent="-457200">
              <a:buFont typeface="+mj-lt"/>
              <a:buAutoNum type="arabicPeriod"/>
            </a:pPr>
            <a:r>
              <a:rPr kumimoji="1" lang="ja-GB" altLang="en-US" dirty="0"/>
              <a:t>「考えやすさ</a:t>
            </a:r>
            <a:r>
              <a:rPr kumimoji="1" lang="en-US" altLang="ja-GB" dirty="0"/>
              <a:t> vs </a:t>
            </a:r>
            <a:r>
              <a:rPr kumimoji="1" lang="ja-GB" altLang="en-US" dirty="0"/>
              <a:t>速さ」の具体例</a:t>
            </a:r>
            <a:endParaRPr kumimoji="1" lang="en-US" altLang="ja-GB" dirty="0"/>
          </a:p>
          <a:p>
            <a:pPr lvl="2"/>
            <a:r>
              <a:rPr lang="ja-GB" altLang="en-US" dirty="0"/>
              <a:t>並び替えアルゴリズムの比較</a:t>
            </a:r>
            <a:endParaRPr lang="en-US" altLang="ja-GB" dirty="0"/>
          </a:p>
          <a:p>
            <a:pPr lvl="2"/>
            <a:r>
              <a:rPr kumimoji="1" lang="ja-GB" altLang="en-US" dirty="0"/>
              <a:t>考えやすいアルゴリズム（挿入ソート，選択ソート）</a:t>
            </a:r>
            <a:endParaRPr kumimoji="1" lang="en-US" altLang="ja-GB" dirty="0"/>
          </a:p>
          <a:p>
            <a:pPr lvl="2"/>
            <a:r>
              <a:rPr lang="ja-GB" altLang="en-US" dirty="0"/>
              <a:t>大きなデータを少ない手順で捌けるアルゴリズム（クイックソート）</a:t>
            </a:r>
            <a:endParaRPr lang="en-US" altLang="ja-GB" dirty="0"/>
          </a:p>
          <a:p>
            <a:pPr lvl="2"/>
            <a:endParaRPr lang="en-US" altLang="ja-GB" dirty="0"/>
          </a:p>
          <a:p>
            <a:pPr marL="914400" lvl="1" indent="-457200">
              <a:buFont typeface="+mj-lt"/>
              <a:buAutoNum type="arabicPeriod"/>
            </a:pPr>
            <a:r>
              <a:rPr kumimoji="1" lang="ja-GB" altLang="en-US" dirty="0"/>
              <a:t>状況に応じたアルゴリズム選定</a:t>
            </a:r>
            <a:endParaRPr kumimoji="1" lang="en-US" altLang="ja-GB" dirty="0"/>
          </a:p>
          <a:p>
            <a:pPr lvl="2"/>
            <a:r>
              <a:rPr kumimoji="1" lang="ja-GB" altLang="en-US" dirty="0"/>
              <a:t>メモリ使用量の違い（</a:t>
            </a:r>
            <a:r>
              <a:rPr lang="ja-GB" altLang="en-US" dirty="0"/>
              <a:t>空間計算量</a:t>
            </a:r>
            <a:r>
              <a:rPr kumimoji="1" lang="ja-GB" altLang="en-US" dirty="0"/>
              <a:t>）</a:t>
            </a:r>
            <a:endParaRPr kumimoji="1" lang="en-US" altLang="ja-GB" dirty="0"/>
          </a:p>
          <a:p>
            <a:pPr lvl="2"/>
            <a:r>
              <a:rPr kumimoji="1" lang="ja-GB" altLang="en-US" dirty="0"/>
              <a:t>問題条件の違い（ソートの安定性）</a:t>
            </a:r>
            <a:endParaRPr kumimoji="1" lang="en-US" altLang="ja-GB" dirty="0"/>
          </a:p>
          <a:p>
            <a:pPr lvl="2"/>
            <a:endParaRPr kumimoji="1" lang="ja-GB" altLang="en-US" dirty="0"/>
          </a:p>
        </p:txBody>
      </p:sp>
    </p:spTree>
    <p:extLst>
      <p:ext uri="{BB962C8B-B14F-4D97-AF65-F5344CB8AC3E}">
        <p14:creationId xmlns:p14="http://schemas.microsoft.com/office/powerpoint/2010/main" val="42331792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ED8408-306D-185F-B548-ED1911D6A709}"/>
              </a:ext>
            </a:extLst>
          </p:cNvPr>
          <p:cNvSpPr>
            <a:spLocks noGrp="1"/>
          </p:cNvSpPr>
          <p:nvPr>
            <p:ph type="title"/>
          </p:nvPr>
        </p:nvSpPr>
        <p:spPr/>
        <p:txBody>
          <a:bodyPr/>
          <a:lstStyle/>
          <a:p>
            <a:r>
              <a:rPr kumimoji="1" lang="ja-GB" altLang="en-US" dirty="0"/>
              <a:t>アルゴリズムを学ぶ理由</a:t>
            </a:r>
          </a:p>
        </p:txBody>
      </p:sp>
      <p:sp>
        <p:nvSpPr>
          <p:cNvPr id="3" name="コンテンツ プレースホルダー 2">
            <a:extLst>
              <a:ext uri="{FF2B5EF4-FFF2-40B4-BE49-F238E27FC236}">
                <a16:creationId xmlns:a16="http://schemas.microsoft.com/office/drawing/2014/main" id="{F506F373-AA64-A520-0253-5D49227764E1}"/>
              </a:ext>
            </a:extLst>
          </p:cNvPr>
          <p:cNvSpPr>
            <a:spLocks noGrp="1"/>
          </p:cNvSpPr>
          <p:nvPr>
            <p:ph idx="1"/>
          </p:nvPr>
        </p:nvSpPr>
        <p:spPr/>
        <p:txBody>
          <a:bodyPr/>
          <a:lstStyle/>
          <a:p>
            <a:pPr marL="0" indent="0">
              <a:buNone/>
            </a:pPr>
            <a:r>
              <a:rPr kumimoji="1" lang="ja-GB" altLang="en-US" dirty="0"/>
              <a:t>アルゴリズムを使って問題を解決するため</a:t>
            </a:r>
            <a:endParaRPr kumimoji="1" lang="en-US" altLang="ja-GB" dirty="0"/>
          </a:p>
          <a:p>
            <a:pPr marL="914400" lvl="1" indent="-457200">
              <a:buFont typeface="+mj-lt"/>
              <a:buAutoNum type="arabicPeriod"/>
            </a:pPr>
            <a:r>
              <a:rPr kumimoji="1" lang="ja-GB" altLang="en-US" dirty="0"/>
              <a:t>既存アルゴリズムをそのまま使って問題を解決する</a:t>
            </a:r>
            <a:endParaRPr kumimoji="1" lang="en-US" altLang="ja-GB" dirty="0"/>
          </a:p>
          <a:p>
            <a:pPr marL="914400" lvl="1" indent="-457200">
              <a:buFont typeface="+mj-lt"/>
              <a:buAutoNum type="arabicPeriod"/>
            </a:pPr>
            <a:r>
              <a:rPr lang="ja-GB" altLang="en-US" dirty="0"/>
              <a:t>頻出アルゴリズムを組み合わせて，状況に応じたアルゴリズムを作る</a:t>
            </a:r>
            <a:endParaRPr lang="en-US" altLang="ja-GB" dirty="0"/>
          </a:p>
          <a:p>
            <a:pPr marL="914400" lvl="1" indent="-457200">
              <a:buFont typeface="+mj-lt"/>
              <a:buAutoNum type="arabicPeriod"/>
            </a:pPr>
            <a:r>
              <a:rPr kumimoji="1" lang="ja-GB" altLang="en-US" dirty="0">
                <a:solidFill>
                  <a:schemeClr val="tx1">
                    <a:lumMod val="50000"/>
                    <a:lumOff val="50000"/>
                  </a:schemeClr>
                </a:solidFill>
              </a:rPr>
              <a:t>革新的なアルゴリズムを開発する</a:t>
            </a:r>
            <a:endParaRPr kumimoji="1" lang="en-US" altLang="ja-GB" dirty="0">
              <a:solidFill>
                <a:schemeClr val="tx1">
                  <a:lumMod val="50000"/>
                  <a:lumOff val="50000"/>
                </a:schemeClr>
              </a:solidFill>
            </a:endParaRPr>
          </a:p>
          <a:p>
            <a:pPr lvl="2"/>
            <a:r>
              <a:rPr lang="ja-GB" altLang="en-US" sz="1400" dirty="0">
                <a:solidFill>
                  <a:schemeClr val="tx1">
                    <a:lumMod val="50000"/>
                    <a:lumOff val="50000"/>
                  </a:schemeClr>
                </a:solidFill>
              </a:rPr>
              <a:t>これまで解決不能だった問題が解ける（高度な専門家の仕事）</a:t>
            </a:r>
          </a:p>
          <a:p>
            <a:pPr lvl="2"/>
            <a:endParaRPr lang="ja-GB" altLang="en-US" dirty="0">
              <a:solidFill>
                <a:schemeClr val="tx1">
                  <a:lumMod val="50000"/>
                  <a:lumOff val="50000"/>
                </a:schemeClr>
              </a:solidFill>
            </a:endParaRPr>
          </a:p>
        </p:txBody>
      </p:sp>
      <p:sp>
        <p:nvSpPr>
          <p:cNvPr id="4" name="正方形/長方形 3">
            <a:extLst>
              <a:ext uri="{FF2B5EF4-FFF2-40B4-BE49-F238E27FC236}">
                <a16:creationId xmlns:a16="http://schemas.microsoft.com/office/drawing/2014/main" id="{13BBA55C-369B-6B1E-C1E3-BFCFEAC433DA}"/>
              </a:ext>
            </a:extLst>
          </p:cNvPr>
          <p:cNvSpPr/>
          <p:nvPr/>
        </p:nvSpPr>
        <p:spPr>
          <a:xfrm>
            <a:off x="4138000" y="2941982"/>
            <a:ext cx="2203201" cy="337492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5" name="正方形/長方形 4">
            <a:extLst>
              <a:ext uri="{FF2B5EF4-FFF2-40B4-BE49-F238E27FC236}">
                <a16:creationId xmlns:a16="http://schemas.microsoft.com/office/drawing/2014/main" id="{8A6B430C-5F32-ACD4-6DA4-E968D5A389EB}"/>
              </a:ext>
            </a:extLst>
          </p:cNvPr>
          <p:cNvSpPr/>
          <p:nvPr/>
        </p:nvSpPr>
        <p:spPr>
          <a:xfrm>
            <a:off x="1928482" y="2941982"/>
            <a:ext cx="2203201" cy="3374928"/>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6" name="テキスト ボックス 5">
            <a:extLst>
              <a:ext uri="{FF2B5EF4-FFF2-40B4-BE49-F238E27FC236}">
                <a16:creationId xmlns:a16="http://schemas.microsoft.com/office/drawing/2014/main" id="{41366B5F-88CE-6FE4-71A7-9CF1B653A88C}"/>
              </a:ext>
            </a:extLst>
          </p:cNvPr>
          <p:cNvSpPr txBox="1"/>
          <p:nvPr/>
        </p:nvSpPr>
        <p:spPr>
          <a:xfrm>
            <a:off x="2290197" y="3244334"/>
            <a:ext cx="646331" cy="369332"/>
          </a:xfrm>
          <a:prstGeom prst="rect">
            <a:avLst/>
          </a:prstGeom>
          <a:noFill/>
        </p:spPr>
        <p:txBody>
          <a:bodyPr wrap="none" rtlCol="0">
            <a:spAutoFit/>
          </a:bodyPr>
          <a:lstStyle/>
          <a:p>
            <a:pPr algn="ctr"/>
            <a:r>
              <a:rPr kumimoji="1" lang="ja-GB" altLang="en-US" dirty="0"/>
              <a:t>現状</a:t>
            </a:r>
          </a:p>
        </p:txBody>
      </p:sp>
      <p:sp>
        <p:nvSpPr>
          <p:cNvPr id="7" name="テキスト ボックス 6">
            <a:extLst>
              <a:ext uri="{FF2B5EF4-FFF2-40B4-BE49-F238E27FC236}">
                <a16:creationId xmlns:a16="http://schemas.microsoft.com/office/drawing/2014/main" id="{11A73098-1AA0-7BA3-42D1-2E5C8871B96C}"/>
              </a:ext>
            </a:extLst>
          </p:cNvPr>
          <p:cNvSpPr txBox="1"/>
          <p:nvPr/>
        </p:nvSpPr>
        <p:spPr>
          <a:xfrm>
            <a:off x="2174778" y="5426870"/>
            <a:ext cx="877164" cy="369332"/>
          </a:xfrm>
          <a:prstGeom prst="rect">
            <a:avLst/>
          </a:prstGeom>
          <a:noFill/>
        </p:spPr>
        <p:txBody>
          <a:bodyPr wrap="none" rtlCol="0">
            <a:spAutoFit/>
          </a:bodyPr>
          <a:lstStyle/>
          <a:p>
            <a:pPr algn="ctr"/>
            <a:r>
              <a:rPr kumimoji="1" lang="ja-GB" altLang="en-US" dirty="0"/>
              <a:t>ゴール</a:t>
            </a:r>
          </a:p>
        </p:txBody>
      </p:sp>
      <p:sp>
        <p:nvSpPr>
          <p:cNvPr id="8" name="テキスト ボックス 7">
            <a:extLst>
              <a:ext uri="{FF2B5EF4-FFF2-40B4-BE49-F238E27FC236}">
                <a16:creationId xmlns:a16="http://schemas.microsoft.com/office/drawing/2014/main" id="{499BE941-5142-428E-00F6-07C0F69C41F7}"/>
              </a:ext>
            </a:extLst>
          </p:cNvPr>
          <p:cNvSpPr txBox="1"/>
          <p:nvPr/>
        </p:nvSpPr>
        <p:spPr>
          <a:xfrm>
            <a:off x="5121359" y="3244334"/>
            <a:ext cx="646331" cy="369332"/>
          </a:xfrm>
          <a:prstGeom prst="rect">
            <a:avLst/>
          </a:prstGeom>
          <a:noFill/>
        </p:spPr>
        <p:txBody>
          <a:bodyPr wrap="none" rtlCol="0">
            <a:spAutoFit/>
          </a:bodyPr>
          <a:lstStyle/>
          <a:p>
            <a:pPr algn="ctr"/>
            <a:r>
              <a:rPr kumimoji="1" lang="ja-GB" altLang="en-US" dirty="0"/>
              <a:t>問題</a:t>
            </a:r>
          </a:p>
        </p:txBody>
      </p:sp>
      <p:sp>
        <p:nvSpPr>
          <p:cNvPr id="9" name="テキスト ボックス 8">
            <a:extLst>
              <a:ext uri="{FF2B5EF4-FFF2-40B4-BE49-F238E27FC236}">
                <a16:creationId xmlns:a16="http://schemas.microsoft.com/office/drawing/2014/main" id="{D61810C3-2303-9ACB-DEB7-9696B3209CAD}"/>
              </a:ext>
            </a:extLst>
          </p:cNvPr>
          <p:cNvSpPr txBox="1"/>
          <p:nvPr/>
        </p:nvSpPr>
        <p:spPr>
          <a:xfrm>
            <a:off x="5121356" y="5426870"/>
            <a:ext cx="646331" cy="369332"/>
          </a:xfrm>
          <a:prstGeom prst="rect">
            <a:avLst/>
          </a:prstGeom>
          <a:noFill/>
        </p:spPr>
        <p:txBody>
          <a:bodyPr wrap="none" rtlCol="0">
            <a:spAutoFit/>
          </a:bodyPr>
          <a:lstStyle/>
          <a:p>
            <a:pPr algn="ctr"/>
            <a:r>
              <a:rPr kumimoji="1" lang="ja-GB" altLang="en-US" dirty="0"/>
              <a:t>解決</a:t>
            </a:r>
          </a:p>
        </p:txBody>
      </p:sp>
      <p:cxnSp>
        <p:nvCxnSpPr>
          <p:cNvPr id="10" name="直線矢印コネクタ 9">
            <a:extLst>
              <a:ext uri="{FF2B5EF4-FFF2-40B4-BE49-F238E27FC236}">
                <a16:creationId xmlns:a16="http://schemas.microsoft.com/office/drawing/2014/main" id="{3679E414-B196-DAB5-A066-DD686DC98D60}"/>
              </a:ext>
            </a:extLst>
          </p:cNvPr>
          <p:cNvCxnSpPr>
            <a:cxnSpLocks/>
            <a:stCxn id="6" idx="3"/>
            <a:endCxn id="8" idx="1"/>
          </p:cNvCxnSpPr>
          <p:nvPr/>
        </p:nvCxnSpPr>
        <p:spPr>
          <a:xfrm>
            <a:off x="2936528" y="3429000"/>
            <a:ext cx="2184831" cy="0"/>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17C9FC8A-BECA-16C9-634C-35575545D1D3}"/>
              </a:ext>
            </a:extLst>
          </p:cNvPr>
          <p:cNvCxnSpPr>
            <a:cxnSpLocks/>
            <a:stCxn id="8" idx="2"/>
            <a:endCxn id="9" idx="0"/>
          </p:cNvCxnSpPr>
          <p:nvPr/>
        </p:nvCxnSpPr>
        <p:spPr>
          <a:xfrm flipH="1">
            <a:off x="5444522" y="3613666"/>
            <a:ext cx="3" cy="1813204"/>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2B2AE704-E2B1-5073-8983-BFC7FE538F0C}"/>
              </a:ext>
            </a:extLst>
          </p:cNvPr>
          <p:cNvCxnSpPr>
            <a:cxnSpLocks/>
            <a:stCxn id="9" idx="1"/>
            <a:endCxn id="7" idx="3"/>
          </p:cNvCxnSpPr>
          <p:nvPr/>
        </p:nvCxnSpPr>
        <p:spPr>
          <a:xfrm flipH="1">
            <a:off x="3051942" y="5611536"/>
            <a:ext cx="2069414" cy="0"/>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80D0D87B-721F-DB58-864C-02EE3A49020A}"/>
              </a:ext>
            </a:extLst>
          </p:cNvPr>
          <p:cNvSpPr txBox="1"/>
          <p:nvPr/>
        </p:nvSpPr>
        <p:spPr>
          <a:xfrm>
            <a:off x="2476084" y="6359042"/>
            <a:ext cx="1107996" cy="369332"/>
          </a:xfrm>
          <a:prstGeom prst="rect">
            <a:avLst/>
          </a:prstGeom>
          <a:noFill/>
        </p:spPr>
        <p:txBody>
          <a:bodyPr wrap="none" rtlCol="0">
            <a:spAutoFit/>
          </a:bodyPr>
          <a:lstStyle/>
          <a:p>
            <a:pPr algn="ctr"/>
            <a:r>
              <a:rPr kumimoji="1" lang="ja-GB" altLang="en-US" b="1" dirty="0">
                <a:solidFill>
                  <a:schemeClr val="tx1">
                    <a:lumMod val="65000"/>
                    <a:lumOff val="35000"/>
                  </a:schemeClr>
                </a:solidFill>
              </a:rPr>
              <a:t>現実世界</a:t>
            </a:r>
          </a:p>
        </p:txBody>
      </p:sp>
      <p:sp>
        <p:nvSpPr>
          <p:cNvPr id="16" name="テキスト ボックス 15">
            <a:extLst>
              <a:ext uri="{FF2B5EF4-FFF2-40B4-BE49-F238E27FC236}">
                <a16:creationId xmlns:a16="http://schemas.microsoft.com/office/drawing/2014/main" id="{330850B3-2E64-5D7C-EF20-88FB9F4E35A4}"/>
              </a:ext>
            </a:extLst>
          </p:cNvPr>
          <p:cNvSpPr txBox="1"/>
          <p:nvPr/>
        </p:nvSpPr>
        <p:spPr>
          <a:xfrm>
            <a:off x="4570188" y="6359042"/>
            <a:ext cx="1338828" cy="369332"/>
          </a:xfrm>
          <a:prstGeom prst="rect">
            <a:avLst/>
          </a:prstGeom>
          <a:noFill/>
        </p:spPr>
        <p:txBody>
          <a:bodyPr wrap="none" rtlCol="0">
            <a:spAutoFit/>
          </a:bodyPr>
          <a:lstStyle/>
          <a:p>
            <a:pPr algn="ctr"/>
            <a:r>
              <a:rPr kumimoji="1" lang="ja-GB" altLang="en-US" b="1" dirty="0">
                <a:solidFill>
                  <a:schemeClr val="tx1">
                    <a:lumMod val="65000"/>
                    <a:lumOff val="35000"/>
                  </a:schemeClr>
                </a:solidFill>
              </a:rPr>
              <a:t>情報の世界</a:t>
            </a:r>
          </a:p>
        </p:txBody>
      </p:sp>
    </p:spTree>
    <p:extLst>
      <p:ext uri="{BB962C8B-B14F-4D97-AF65-F5344CB8AC3E}">
        <p14:creationId xmlns:p14="http://schemas.microsoft.com/office/powerpoint/2010/main" val="11399581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2A0A7-DC49-E70B-52EB-BF41ACC6861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890B8E7-92D7-668A-B649-28E930DF9DBB}"/>
              </a:ext>
            </a:extLst>
          </p:cNvPr>
          <p:cNvSpPr>
            <a:spLocks noGrp="1"/>
          </p:cNvSpPr>
          <p:nvPr>
            <p:ph type="title"/>
          </p:nvPr>
        </p:nvSpPr>
        <p:spPr/>
        <p:txBody>
          <a:bodyPr/>
          <a:lstStyle/>
          <a:p>
            <a:r>
              <a:rPr kumimoji="1" lang="ja-GB" altLang="en-US" dirty="0"/>
              <a:t>比喩）数学を学ぶ理由</a:t>
            </a:r>
          </a:p>
        </p:txBody>
      </p:sp>
      <p:sp>
        <p:nvSpPr>
          <p:cNvPr id="3" name="コンテンツ プレースホルダー 2">
            <a:extLst>
              <a:ext uri="{FF2B5EF4-FFF2-40B4-BE49-F238E27FC236}">
                <a16:creationId xmlns:a16="http://schemas.microsoft.com/office/drawing/2014/main" id="{0438589F-BC45-FEF7-D20D-6A1F8A8E6919}"/>
              </a:ext>
            </a:extLst>
          </p:cNvPr>
          <p:cNvSpPr>
            <a:spLocks noGrp="1"/>
          </p:cNvSpPr>
          <p:nvPr>
            <p:ph idx="1"/>
          </p:nvPr>
        </p:nvSpPr>
        <p:spPr/>
        <p:txBody>
          <a:bodyPr/>
          <a:lstStyle/>
          <a:p>
            <a:pPr marL="0" indent="0">
              <a:buNone/>
            </a:pPr>
            <a:r>
              <a:rPr kumimoji="1" lang="ja-GB" altLang="en-US" dirty="0"/>
              <a:t>数学で現実世界の問題を解決するため</a:t>
            </a:r>
            <a:endParaRPr kumimoji="1" lang="en-US" altLang="ja-GB" dirty="0"/>
          </a:p>
          <a:p>
            <a:pPr marL="914400" lvl="1" indent="-457200">
              <a:buFont typeface="+mj-lt"/>
              <a:buAutoNum type="arabicPeriod"/>
            </a:pPr>
            <a:r>
              <a:rPr kumimoji="1" lang="ja-GB" altLang="en-US" dirty="0"/>
              <a:t>頻出手順（公式）をそのまま使って問題を解決する</a:t>
            </a:r>
            <a:endParaRPr kumimoji="1" lang="en-US" altLang="ja-GB" dirty="0"/>
          </a:p>
          <a:p>
            <a:pPr marL="914400" lvl="1" indent="-457200">
              <a:buFont typeface="+mj-lt"/>
              <a:buAutoNum type="arabicPeriod"/>
            </a:pPr>
            <a:r>
              <a:rPr lang="ja-GB" altLang="en-US" dirty="0"/>
              <a:t>公式を組み合わせて，目の前の問題の解法を見つける</a:t>
            </a:r>
            <a:endParaRPr lang="en-US" altLang="ja-GB" dirty="0"/>
          </a:p>
          <a:p>
            <a:pPr marL="914400" lvl="1" indent="-457200">
              <a:buFont typeface="+mj-lt"/>
              <a:buAutoNum type="arabicPeriod"/>
            </a:pPr>
            <a:r>
              <a:rPr kumimoji="1" lang="ja-GB" altLang="en-US" dirty="0">
                <a:solidFill>
                  <a:schemeClr val="tx1">
                    <a:lumMod val="50000"/>
                    <a:lumOff val="50000"/>
                  </a:schemeClr>
                </a:solidFill>
              </a:rPr>
              <a:t>革新的な数学理論を開発する</a:t>
            </a:r>
            <a:endParaRPr kumimoji="1" lang="en-US" altLang="ja-GB" dirty="0">
              <a:solidFill>
                <a:schemeClr val="tx1">
                  <a:lumMod val="50000"/>
                  <a:lumOff val="50000"/>
                </a:schemeClr>
              </a:solidFill>
            </a:endParaRPr>
          </a:p>
          <a:p>
            <a:pPr lvl="2"/>
            <a:r>
              <a:rPr lang="ja-GB" altLang="en-US" sz="1400" dirty="0">
                <a:solidFill>
                  <a:schemeClr val="tx1">
                    <a:lumMod val="50000"/>
                    <a:lumOff val="50000"/>
                  </a:schemeClr>
                </a:solidFill>
              </a:rPr>
              <a:t>これまで解決不能だった問題が解ける（高度な専門家の仕事）</a:t>
            </a:r>
            <a:endParaRPr lang="en-US" altLang="ja-GB" sz="1400" dirty="0">
              <a:solidFill>
                <a:schemeClr val="tx1">
                  <a:lumMod val="50000"/>
                  <a:lumOff val="50000"/>
                </a:schemeClr>
              </a:solidFill>
            </a:endParaRPr>
          </a:p>
          <a:p>
            <a:pPr lvl="2"/>
            <a:endParaRPr kumimoji="1" lang="ja-GB" altLang="en-US" dirty="0">
              <a:solidFill>
                <a:schemeClr val="tx1">
                  <a:lumMod val="50000"/>
                  <a:lumOff val="50000"/>
                </a:schemeClr>
              </a:solidFill>
            </a:endParaRPr>
          </a:p>
        </p:txBody>
      </p:sp>
      <p:sp>
        <p:nvSpPr>
          <p:cNvPr id="4" name="正方形/長方形 3">
            <a:extLst>
              <a:ext uri="{FF2B5EF4-FFF2-40B4-BE49-F238E27FC236}">
                <a16:creationId xmlns:a16="http://schemas.microsoft.com/office/drawing/2014/main" id="{DD05D432-E11D-EF92-1474-A1C584738B78}"/>
              </a:ext>
            </a:extLst>
          </p:cNvPr>
          <p:cNvSpPr/>
          <p:nvPr/>
        </p:nvSpPr>
        <p:spPr>
          <a:xfrm>
            <a:off x="4138000" y="2941982"/>
            <a:ext cx="2203201" cy="337492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5" name="正方形/長方形 4">
            <a:extLst>
              <a:ext uri="{FF2B5EF4-FFF2-40B4-BE49-F238E27FC236}">
                <a16:creationId xmlns:a16="http://schemas.microsoft.com/office/drawing/2014/main" id="{4463660A-269E-F7A5-2BE3-75633343F3B8}"/>
              </a:ext>
            </a:extLst>
          </p:cNvPr>
          <p:cNvSpPr/>
          <p:nvPr/>
        </p:nvSpPr>
        <p:spPr>
          <a:xfrm>
            <a:off x="1928482" y="2941982"/>
            <a:ext cx="2203201" cy="3374928"/>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6" name="テキスト ボックス 5">
            <a:extLst>
              <a:ext uri="{FF2B5EF4-FFF2-40B4-BE49-F238E27FC236}">
                <a16:creationId xmlns:a16="http://schemas.microsoft.com/office/drawing/2014/main" id="{E12D2BF9-4047-9194-CDED-01B7CC03CF70}"/>
              </a:ext>
            </a:extLst>
          </p:cNvPr>
          <p:cNvSpPr txBox="1"/>
          <p:nvPr/>
        </p:nvSpPr>
        <p:spPr>
          <a:xfrm>
            <a:off x="2290197" y="3244334"/>
            <a:ext cx="646331" cy="369332"/>
          </a:xfrm>
          <a:prstGeom prst="rect">
            <a:avLst/>
          </a:prstGeom>
          <a:noFill/>
        </p:spPr>
        <p:txBody>
          <a:bodyPr wrap="none" rtlCol="0">
            <a:spAutoFit/>
          </a:bodyPr>
          <a:lstStyle/>
          <a:p>
            <a:pPr algn="ctr"/>
            <a:r>
              <a:rPr kumimoji="1" lang="ja-GB" altLang="en-US" dirty="0"/>
              <a:t>現状</a:t>
            </a:r>
          </a:p>
        </p:txBody>
      </p:sp>
      <p:sp>
        <p:nvSpPr>
          <p:cNvPr id="7" name="テキスト ボックス 6">
            <a:extLst>
              <a:ext uri="{FF2B5EF4-FFF2-40B4-BE49-F238E27FC236}">
                <a16:creationId xmlns:a16="http://schemas.microsoft.com/office/drawing/2014/main" id="{22045BB0-521B-76BE-0DD7-94708AD0B272}"/>
              </a:ext>
            </a:extLst>
          </p:cNvPr>
          <p:cNvSpPr txBox="1"/>
          <p:nvPr/>
        </p:nvSpPr>
        <p:spPr>
          <a:xfrm>
            <a:off x="2174778" y="5426870"/>
            <a:ext cx="877164" cy="369332"/>
          </a:xfrm>
          <a:prstGeom prst="rect">
            <a:avLst/>
          </a:prstGeom>
          <a:noFill/>
        </p:spPr>
        <p:txBody>
          <a:bodyPr wrap="none" rtlCol="0">
            <a:spAutoFit/>
          </a:bodyPr>
          <a:lstStyle/>
          <a:p>
            <a:pPr algn="ctr"/>
            <a:r>
              <a:rPr kumimoji="1" lang="ja-GB" altLang="en-US" dirty="0"/>
              <a:t>ゴール</a:t>
            </a:r>
          </a:p>
        </p:txBody>
      </p:sp>
      <p:sp>
        <p:nvSpPr>
          <p:cNvPr id="8" name="テキスト ボックス 7">
            <a:extLst>
              <a:ext uri="{FF2B5EF4-FFF2-40B4-BE49-F238E27FC236}">
                <a16:creationId xmlns:a16="http://schemas.microsoft.com/office/drawing/2014/main" id="{B5702335-E36B-9E54-B74C-A194A6FBF503}"/>
              </a:ext>
            </a:extLst>
          </p:cNvPr>
          <p:cNvSpPr txBox="1"/>
          <p:nvPr/>
        </p:nvSpPr>
        <p:spPr>
          <a:xfrm>
            <a:off x="5121359" y="3244334"/>
            <a:ext cx="646331" cy="369332"/>
          </a:xfrm>
          <a:prstGeom prst="rect">
            <a:avLst/>
          </a:prstGeom>
          <a:noFill/>
        </p:spPr>
        <p:txBody>
          <a:bodyPr wrap="none" rtlCol="0">
            <a:spAutoFit/>
          </a:bodyPr>
          <a:lstStyle/>
          <a:p>
            <a:pPr algn="ctr"/>
            <a:r>
              <a:rPr kumimoji="1" lang="ja-GB" altLang="en-US" dirty="0"/>
              <a:t>問題</a:t>
            </a:r>
          </a:p>
        </p:txBody>
      </p:sp>
      <p:sp>
        <p:nvSpPr>
          <p:cNvPr id="9" name="テキスト ボックス 8">
            <a:extLst>
              <a:ext uri="{FF2B5EF4-FFF2-40B4-BE49-F238E27FC236}">
                <a16:creationId xmlns:a16="http://schemas.microsoft.com/office/drawing/2014/main" id="{16D682CB-1816-2EDF-880C-A705C18A4979}"/>
              </a:ext>
            </a:extLst>
          </p:cNvPr>
          <p:cNvSpPr txBox="1"/>
          <p:nvPr/>
        </p:nvSpPr>
        <p:spPr>
          <a:xfrm>
            <a:off x="5121356" y="5426870"/>
            <a:ext cx="646331" cy="369332"/>
          </a:xfrm>
          <a:prstGeom prst="rect">
            <a:avLst/>
          </a:prstGeom>
          <a:noFill/>
        </p:spPr>
        <p:txBody>
          <a:bodyPr wrap="none" rtlCol="0">
            <a:spAutoFit/>
          </a:bodyPr>
          <a:lstStyle/>
          <a:p>
            <a:pPr algn="ctr"/>
            <a:r>
              <a:rPr kumimoji="1" lang="ja-GB" altLang="en-US" dirty="0"/>
              <a:t>解決</a:t>
            </a:r>
          </a:p>
        </p:txBody>
      </p:sp>
      <p:cxnSp>
        <p:nvCxnSpPr>
          <p:cNvPr id="10" name="直線矢印コネクタ 9">
            <a:extLst>
              <a:ext uri="{FF2B5EF4-FFF2-40B4-BE49-F238E27FC236}">
                <a16:creationId xmlns:a16="http://schemas.microsoft.com/office/drawing/2014/main" id="{13DBC394-25CA-D31F-595D-B990CACFDABD}"/>
              </a:ext>
            </a:extLst>
          </p:cNvPr>
          <p:cNvCxnSpPr>
            <a:cxnSpLocks/>
            <a:stCxn id="6" idx="3"/>
            <a:endCxn id="8" idx="1"/>
          </p:cNvCxnSpPr>
          <p:nvPr/>
        </p:nvCxnSpPr>
        <p:spPr>
          <a:xfrm>
            <a:off x="2936528" y="3429000"/>
            <a:ext cx="2184831" cy="0"/>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B2F85271-A4BC-5571-7414-17B49A9A449C}"/>
              </a:ext>
            </a:extLst>
          </p:cNvPr>
          <p:cNvCxnSpPr>
            <a:cxnSpLocks/>
            <a:stCxn id="9" idx="1"/>
            <a:endCxn id="7" idx="3"/>
          </p:cNvCxnSpPr>
          <p:nvPr/>
        </p:nvCxnSpPr>
        <p:spPr>
          <a:xfrm flipH="1">
            <a:off x="3051942" y="5611536"/>
            <a:ext cx="2069414" cy="0"/>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6DD7D28E-B136-72B3-CEA4-6849396580C3}"/>
              </a:ext>
            </a:extLst>
          </p:cNvPr>
          <p:cNvSpPr txBox="1"/>
          <p:nvPr/>
        </p:nvSpPr>
        <p:spPr>
          <a:xfrm>
            <a:off x="2476084" y="6359042"/>
            <a:ext cx="1107996" cy="369332"/>
          </a:xfrm>
          <a:prstGeom prst="rect">
            <a:avLst/>
          </a:prstGeom>
          <a:noFill/>
        </p:spPr>
        <p:txBody>
          <a:bodyPr wrap="none" rtlCol="0">
            <a:spAutoFit/>
          </a:bodyPr>
          <a:lstStyle/>
          <a:p>
            <a:pPr algn="ctr"/>
            <a:r>
              <a:rPr kumimoji="1" lang="ja-GB" altLang="en-US" b="1" dirty="0">
                <a:solidFill>
                  <a:schemeClr val="tx1">
                    <a:lumMod val="65000"/>
                    <a:lumOff val="35000"/>
                  </a:schemeClr>
                </a:solidFill>
              </a:rPr>
              <a:t>現実世界</a:t>
            </a:r>
          </a:p>
        </p:txBody>
      </p:sp>
      <p:sp>
        <p:nvSpPr>
          <p:cNvPr id="16" name="テキスト ボックス 15">
            <a:extLst>
              <a:ext uri="{FF2B5EF4-FFF2-40B4-BE49-F238E27FC236}">
                <a16:creationId xmlns:a16="http://schemas.microsoft.com/office/drawing/2014/main" id="{5491F363-49EE-90E6-C7C5-594D4C435C84}"/>
              </a:ext>
            </a:extLst>
          </p:cNvPr>
          <p:cNvSpPr txBox="1"/>
          <p:nvPr/>
        </p:nvSpPr>
        <p:spPr>
          <a:xfrm>
            <a:off x="4570188" y="6359042"/>
            <a:ext cx="1338828" cy="369332"/>
          </a:xfrm>
          <a:prstGeom prst="rect">
            <a:avLst/>
          </a:prstGeom>
          <a:noFill/>
        </p:spPr>
        <p:txBody>
          <a:bodyPr wrap="none" rtlCol="0">
            <a:spAutoFit/>
          </a:bodyPr>
          <a:lstStyle/>
          <a:p>
            <a:pPr algn="ctr"/>
            <a:r>
              <a:rPr kumimoji="1" lang="ja-GB" altLang="en-US" b="1" dirty="0">
                <a:solidFill>
                  <a:schemeClr val="tx1">
                    <a:lumMod val="65000"/>
                    <a:lumOff val="35000"/>
                  </a:schemeClr>
                </a:solidFill>
              </a:rPr>
              <a:t>数学の世界</a:t>
            </a:r>
          </a:p>
        </p:txBody>
      </p:sp>
      <p:cxnSp>
        <p:nvCxnSpPr>
          <p:cNvPr id="18" name="直線矢印コネクタ 17">
            <a:extLst>
              <a:ext uri="{FF2B5EF4-FFF2-40B4-BE49-F238E27FC236}">
                <a16:creationId xmlns:a16="http://schemas.microsoft.com/office/drawing/2014/main" id="{EA8AD18E-03C2-73BD-02D8-65BCAAB76F18}"/>
              </a:ext>
            </a:extLst>
          </p:cNvPr>
          <p:cNvCxnSpPr>
            <a:cxnSpLocks/>
          </p:cNvCxnSpPr>
          <p:nvPr/>
        </p:nvCxnSpPr>
        <p:spPr>
          <a:xfrm flipH="1">
            <a:off x="5444522" y="3613666"/>
            <a:ext cx="3" cy="1813204"/>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09052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EE220-F852-A325-0A8A-F208A65BAB1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CA5BD37-604A-B604-35B9-BC2ACF1A88FE}"/>
              </a:ext>
            </a:extLst>
          </p:cNvPr>
          <p:cNvSpPr>
            <a:spLocks noGrp="1"/>
          </p:cNvSpPr>
          <p:nvPr>
            <p:ph type="title"/>
          </p:nvPr>
        </p:nvSpPr>
        <p:spPr/>
        <p:txBody>
          <a:bodyPr/>
          <a:lstStyle/>
          <a:p>
            <a:r>
              <a:rPr kumimoji="1" lang="ja-GB" altLang="en-US" dirty="0"/>
              <a:t>アルゴリズムを学ぶ理由</a:t>
            </a:r>
          </a:p>
        </p:txBody>
      </p:sp>
      <p:sp>
        <p:nvSpPr>
          <p:cNvPr id="3" name="コンテンツ プレースホルダー 2">
            <a:extLst>
              <a:ext uri="{FF2B5EF4-FFF2-40B4-BE49-F238E27FC236}">
                <a16:creationId xmlns:a16="http://schemas.microsoft.com/office/drawing/2014/main" id="{3D60C5BE-25CD-4D67-90A1-90B6AE1AF889}"/>
              </a:ext>
            </a:extLst>
          </p:cNvPr>
          <p:cNvSpPr>
            <a:spLocks noGrp="1"/>
          </p:cNvSpPr>
          <p:nvPr>
            <p:ph idx="1"/>
          </p:nvPr>
        </p:nvSpPr>
        <p:spPr/>
        <p:txBody>
          <a:bodyPr/>
          <a:lstStyle/>
          <a:p>
            <a:pPr marL="0" indent="0">
              <a:buNone/>
            </a:pPr>
            <a:r>
              <a:rPr kumimoji="1" lang="ja-GB" altLang="en-US" dirty="0"/>
              <a:t>アルゴリズムを使って問題を解決するため</a:t>
            </a:r>
            <a:endParaRPr kumimoji="1" lang="en-US" altLang="ja-GB" dirty="0"/>
          </a:p>
          <a:p>
            <a:pPr marL="914400" lvl="1" indent="-457200">
              <a:buFont typeface="+mj-lt"/>
              <a:buAutoNum type="arabicPeriod"/>
            </a:pPr>
            <a:r>
              <a:rPr kumimoji="1" lang="ja-GB" altLang="en-US" dirty="0">
                <a:solidFill>
                  <a:srgbClr val="0070C0"/>
                </a:solidFill>
              </a:rPr>
              <a:t>既存アルゴリズムをそのまま使って問題を解決する</a:t>
            </a:r>
            <a:endParaRPr kumimoji="1" lang="en-US" altLang="ja-GB" dirty="0">
              <a:solidFill>
                <a:srgbClr val="0070C0"/>
              </a:solidFill>
            </a:endParaRPr>
          </a:p>
          <a:p>
            <a:pPr marL="914400" lvl="1" indent="-457200">
              <a:buFont typeface="+mj-lt"/>
              <a:buAutoNum type="arabicPeriod"/>
            </a:pPr>
            <a:r>
              <a:rPr lang="ja-GB" altLang="en-US" dirty="0"/>
              <a:t>頻出アルゴリズムを組み合わせて，状況に応じたアルゴリズムを作る</a:t>
            </a:r>
            <a:endParaRPr lang="en-US" altLang="ja-GB" dirty="0"/>
          </a:p>
          <a:p>
            <a:pPr marL="914400" lvl="1" indent="-457200">
              <a:buFont typeface="+mj-lt"/>
              <a:buAutoNum type="arabicPeriod"/>
            </a:pPr>
            <a:r>
              <a:rPr kumimoji="1" lang="ja-GB" altLang="en-US" dirty="0">
                <a:solidFill>
                  <a:schemeClr val="tx1">
                    <a:lumMod val="50000"/>
                    <a:lumOff val="50000"/>
                  </a:schemeClr>
                </a:solidFill>
              </a:rPr>
              <a:t>革新的なアルゴリズムを開発する</a:t>
            </a:r>
            <a:endParaRPr kumimoji="1" lang="en-US" altLang="ja-GB" dirty="0">
              <a:solidFill>
                <a:schemeClr val="tx1">
                  <a:lumMod val="50000"/>
                  <a:lumOff val="50000"/>
                </a:schemeClr>
              </a:solidFill>
            </a:endParaRPr>
          </a:p>
          <a:p>
            <a:pPr lvl="2"/>
            <a:r>
              <a:rPr lang="ja-GB" altLang="en-US" sz="1400" dirty="0">
                <a:solidFill>
                  <a:schemeClr val="tx1">
                    <a:lumMod val="50000"/>
                    <a:lumOff val="50000"/>
                  </a:schemeClr>
                </a:solidFill>
              </a:rPr>
              <a:t>これまで解決不能だった問題が解ける（高度な専門家の仕事）</a:t>
            </a:r>
          </a:p>
          <a:p>
            <a:pPr lvl="2"/>
            <a:endParaRPr lang="ja-GB" altLang="en-US" dirty="0">
              <a:solidFill>
                <a:schemeClr val="tx1">
                  <a:lumMod val="50000"/>
                  <a:lumOff val="50000"/>
                </a:schemeClr>
              </a:solidFill>
            </a:endParaRPr>
          </a:p>
        </p:txBody>
      </p:sp>
      <p:sp>
        <p:nvSpPr>
          <p:cNvPr id="4" name="正方形/長方形 3">
            <a:extLst>
              <a:ext uri="{FF2B5EF4-FFF2-40B4-BE49-F238E27FC236}">
                <a16:creationId xmlns:a16="http://schemas.microsoft.com/office/drawing/2014/main" id="{C9F57630-F127-C1D0-5180-74120323DAE0}"/>
              </a:ext>
            </a:extLst>
          </p:cNvPr>
          <p:cNvSpPr/>
          <p:nvPr/>
        </p:nvSpPr>
        <p:spPr>
          <a:xfrm>
            <a:off x="4138000" y="2941982"/>
            <a:ext cx="2203201" cy="337492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5" name="正方形/長方形 4">
            <a:extLst>
              <a:ext uri="{FF2B5EF4-FFF2-40B4-BE49-F238E27FC236}">
                <a16:creationId xmlns:a16="http://schemas.microsoft.com/office/drawing/2014/main" id="{4CBB1379-7731-5124-F5B5-34C9A538DF38}"/>
              </a:ext>
            </a:extLst>
          </p:cNvPr>
          <p:cNvSpPr/>
          <p:nvPr/>
        </p:nvSpPr>
        <p:spPr>
          <a:xfrm>
            <a:off x="1928482" y="2941982"/>
            <a:ext cx="2203201" cy="3374928"/>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6" name="テキスト ボックス 5">
            <a:extLst>
              <a:ext uri="{FF2B5EF4-FFF2-40B4-BE49-F238E27FC236}">
                <a16:creationId xmlns:a16="http://schemas.microsoft.com/office/drawing/2014/main" id="{9C7F7774-B9B6-CEBC-A3FE-8410F4D9997E}"/>
              </a:ext>
            </a:extLst>
          </p:cNvPr>
          <p:cNvSpPr txBox="1"/>
          <p:nvPr/>
        </p:nvSpPr>
        <p:spPr>
          <a:xfrm>
            <a:off x="2290197" y="3244334"/>
            <a:ext cx="646331" cy="369332"/>
          </a:xfrm>
          <a:prstGeom prst="rect">
            <a:avLst/>
          </a:prstGeom>
          <a:noFill/>
        </p:spPr>
        <p:txBody>
          <a:bodyPr wrap="none" rtlCol="0">
            <a:spAutoFit/>
          </a:bodyPr>
          <a:lstStyle/>
          <a:p>
            <a:pPr algn="ctr"/>
            <a:r>
              <a:rPr kumimoji="1" lang="ja-GB" altLang="en-US" dirty="0"/>
              <a:t>現状</a:t>
            </a:r>
          </a:p>
        </p:txBody>
      </p:sp>
      <p:sp>
        <p:nvSpPr>
          <p:cNvPr id="7" name="テキスト ボックス 6">
            <a:extLst>
              <a:ext uri="{FF2B5EF4-FFF2-40B4-BE49-F238E27FC236}">
                <a16:creationId xmlns:a16="http://schemas.microsoft.com/office/drawing/2014/main" id="{8321FE4F-04EB-3F15-19DF-4413D1ABEDCF}"/>
              </a:ext>
            </a:extLst>
          </p:cNvPr>
          <p:cNvSpPr txBox="1"/>
          <p:nvPr/>
        </p:nvSpPr>
        <p:spPr>
          <a:xfrm>
            <a:off x="2174778" y="5426870"/>
            <a:ext cx="877164" cy="369332"/>
          </a:xfrm>
          <a:prstGeom prst="rect">
            <a:avLst/>
          </a:prstGeom>
          <a:noFill/>
        </p:spPr>
        <p:txBody>
          <a:bodyPr wrap="none" rtlCol="0">
            <a:spAutoFit/>
          </a:bodyPr>
          <a:lstStyle/>
          <a:p>
            <a:pPr algn="ctr"/>
            <a:r>
              <a:rPr kumimoji="1" lang="ja-GB" altLang="en-US" dirty="0"/>
              <a:t>ゴール</a:t>
            </a:r>
          </a:p>
        </p:txBody>
      </p:sp>
      <p:sp>
        <p:nvSpPr>
          <p:cNvPr id="8" name="テキスト ボックス 7">
            <a:extLst>
              <a:ext uri="{FF2B5EF4-FFF2-40B4-BE49-F238E27FC236}">
                <a16:creationId xmlns:a16="http://schemas.microsoft.com/office/drawing/2014/main" id="{EB757A1C-53F0-035A-2090-C820CDD59626}"/>
              </a:ext>
            </a:extLst>
          </p:cNvPr>
          <p:cNvSpPr txBox="1"/>
          <p:nvPr/>
        </p:nvSpPr>
        <p:spPr>
          <a:xfrm>
            <a:off x="5121359" y="3244334"/>
            <a:ext cx="646331" cy="369332"/>
          </a:xfrm>
          <a:prstGeom prst="rect">
            <a:avLst/>
          </a:prstGeom>
          <a:noFill/>
        </p:spPr>
        <p:txBody>
          <a:bodyPr wrap="none" rtlCol="0">
            <a:spAutoFit/>
          </a:bodyPr>
          <a:lstStyle/>
          <a:p>
            <a:pPr algn="ctr"/>
            <a:r>
              <a:rPr kumimoji="1" lang="ja-GB" altLang="en-US" dirty="0"/>
              <a:t>問題</a:t>
            </a:r>
          </a:p>
        </p:txBody>
      </p:sp>
      <p:sp>
        <p:nvSpPr>
          <p:cNvPr id="9" name="テキスト ボックス 8">
            <a:extLst>
              <a:ext uri="{FF2B5EF4-FFF2-40B4-BE49-F238E27FC236}">
                <a16:creationId xmlns:a16="http://schemas.microsoft.com/office/drawing/2014/main" id="{BF701998-A070-F90F-4FB3-1E1B03DC7128}"/>
              </a:ext>
            </a:extLst>
          </p:cNvPr>
          <p:cNvSpPr txBox="1"/>
          <p:nvPr/>
        </p:nvSpPr>
        <p:spPr>
          <a:xfrm>
            <a:off x="5121356" y="5426870"/>
            <a:ext cx="646331" cy="369332"/>
          </a:xfrm>
          <a:prstGeom prst="rect">
            <a:avLst/>
          </a:prstGeom>
          <a:noFill/>
        </p:spPr>
        <p:txBody>
          <a:bodyPr wrap="none" rtlCol="0">
            <a:spAutoFit/>
          </a:bodyPr>
          <a:lstStyle/>
          <a:p>
            <a:pPr algn="ctr"/>
            <a:r>
              <a:rPr kumimoji="1" lang="ja-GB" altLang="en-US" dirty="0"/>
              <a:t>解決</a:t>
            </a:r>
          </a:p>
        </p:txBody>
      </p:sp>
      <p:cxnSp>
        <p:nvCxnSpPr>
          <p:cNvPr id="10" name="直線矢印コネクタ 9">
            <a:extLst>
              <a:ext uri="{FF2B5EF4-FFF2-40B4-BE49-F238E27FC236}">
                <a16:creationId xmlns:a16="http://schemas.microsoft.com/office/drawing/2014/main" id="{C8CA7FE0-EA38-C565-0DEB-B49973F0E93E}"/>
              </a:ext>
            </a:extLst>
          </p:cNvPr>
          <p:cNvCxnSpPr>
            <a:cxnSpLocks/>
            <a:stCxn id="6" idx="3"/>
            <a:endCxn id="8" idx="1"/>
          </p:cNvCxnSpPr>
          <p:nvPr/>
        </p:nvCxnSpPr>
        <p:spPr>
          <a:xfrm>
            <a:off x="2936528" y="3429000"/>
            <a:ext cx="2184831" cy="0"/>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E21E3E03-7BC5-9F2D-CBE3-6E4F4A14171A}"/>
              </a:ext>
            </a:extLst>
          </p:cNvPr>
          <p:cNvCxnSpPr>
            <a:cxnSpLocks/>
            <a:stCxn id="9" idx="1"/>
            <a:endCxn id="7" idx="3"/>
          </p:cNvCxnSpPr>
          <p:nvPr/>
        </p:nvCxnSpPr>
        <p:spPr>
          <a:xfrm flipH="1">
            <a:off x="3051942" y="5611536"/>
            <a:ext cx="2069414" cy="0"/>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AF7D3897-77E3-0028-4869-057DE32B41B4}"/>
              </a:ext>
            </a:extLst>
          </p:cNvPr>
          <p:cNvSpPr txBox="1"/>
          <p:nvPr/>
        </p:nvSpPr>
        <p:spPr>
          <a:xfrm>
            <a:off x="2476084" y="6359042"/>
            <a:ext cx="1107996" cy="369332"/>
          </a:xfrm>
          <a:prstGeom prst="rect">
            <a:avLst/>
          </a:prstGeom>
          <a:noFill/>
        </p:spPr>
        <p:txBody>
          <a:bodyPr wrap="none" rtlCol="0">
            <a:spAutoFit/>
          </a:bodyPr>
          <a:lstStyle/>
          <a:p>
            <a:pPr algn="ctr"/>
            <a:r>
              <a:rPr kumimoji="1" lang="ja-GB" altLang="en-US" b="1" dirty="0">
                <a:solidFill>
                  <a:schemeClr val="tx1">
                    <a:lumMod val="65000"/>
                    <a:lumOff val="35000"/>
                  </a:schemeClr>
                </a:solidFill>
              </a:rPr>
              <a:t>現実世界</a:t>
            </a:r>
          </a:p>
        </p:txBody>
      </p:sp>
      <p:sp>
        <p:nvSpPr>
          <p:cNvPr id="16" name="テキスト ボックス 15">
            <a:extLst>
              <a:ext uri="{FF2B5EF4-FFF2-40B4-BE49-F238E27FC236}">
                <a16:creationId xmlns:a16="http://schemas.microsoft.com/office/drawing/2014/main" id="{9AB42906-603A-2596-5AEA-92119637702B}"/>
              </a:ext>
            </a:extLst>
          </p:cNvPr>
          <p:cNvSpPr txBox="1"/>
          <p:nvPr/>
        </p:nvSpPr>
        <p:spPr>
          <a:xfrm>
            <a:off x="4570188" y="6359042"/>
            <a:ext cx="1338828" cy="369332"/>
          </a:xfrm>
          <a:prstGeom prst="rect">
            <a:avLst/>
          </a:prstGeom>
          <a:noFill/>
        </p:spPr>
        <p:txBody>
          <a:bodyPr wrap="none" rtlCol="0">
            <a:spAutoFit/>
          </a:bodyPr>
          <a:lstStyle/>
          <a:p>
            <a:pPr algn="ctr"/>
            <a:r>
              <a:rPr kumimoji="1" lang="ja-GB" altLang="en-US" b="1" dirty="0">
                <a:solidFill>
                  <a:schemeClr val="tx1">
                    <a:lumMod val="65000"/>
                    <a:lumOff val="35000"/>
                  </a:schemeClr>
                </a:solidFill>
              </a:rPr>
              <a:t>情報の世界</a:t>
            </a:r>
          </a:p>
        </p:txBody>
      </p:sp>
      <p:cxnSp>
        <p:nvCxnSpPr>
          <p:cNvPr id="14" name="直線矢印コネクタ 13">
            <a:extLst>
              <a:ext uri="{FF2B5EF4-FFF2-40B4-BE49-F238E27FC236}">
                <a16:creationId xmlns:a16="http://schemas.microsoft.com/office/drawing/2014/main" id="{F42A8536-9428-7870-AA0C-CCDEEBAF4A34}"/>
              </a:ext>
            </a:extLst>
          </p:cNvPr>
          <p:cNvCxnSpPr>
            <a:cxnSpLocks/>
          </p:cNvCxnSpPr>
          <p:nvPr/>
        </p:nvCxnSpPr>
        <p:spPr>
          <a:xfrm flipH="1">
            <a:off x="5444522" y="3613666"/>
            <a:ext cx="3" cy="1813204"/>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1F4E50DE-AA7A-F374-2619-CBBBDE42F2F7}"/>
              </a:ext>
            </a:extLst>
          </p:cNvPr>
          <p:cNvSpPr txBox="1"/>
          <p:nvPr/>
        </p:nvSpPr>
        <p:spPr>
          <a:xfrm>
            <a:off x="328957" y="3276600"/>
            <a:ext cx="1441420" cy="307777"/>
          </a:xfrm>
          <a:prstGeom prst="rect">
            <a:avLst/>
          </a:prstGeom>
          <a:noFill/>
        </p:spPr>
        <p:txBody>
          <a:bodyPr wrap="none" rtlCol="0">
            <a:spAutoFit/>
          </a:bodyPr>
          <a:lstStyle/>
          <a:p>
            <a:pPr algn="ctr"/>
            <a:r>
              <a:rPr kumimoji="1" lang="ja-GB" altLang="en-US" sz="1400" b="1" dirty="0">
                <a:solidFill>
                  <a:srgbClr val="2F2523"/>
                </a:solidFill>
              </a:rPr>
              <a:t>順位を知りたい</a:t>
            </a:r>
          </a:p>
        </p:txBody>
      </p:sp>
      <p:sp>
        <p:nvSpPr>
          <p:cNvPr id="21" name="テキスト ボックス 20">
            <a:extLst>
              <a:ext uri="{FF2B5EF4-FFF2-40B4-BE49-F238E27FC236}">
                <a16:creationId xmlns:a16="http://schemas.microsoft.com/office/drawing/2014/main" id="{C74923B0-0B4B-77C7-C719-22D95B6CA23D}"/>
              </a:ext>
            </a:extLst>
          </p:cNvPr>
          <p:cNvSpPr txBox="1"/>
          <p:nvPr/>
        </p:nvSpPr>
        <p:spPr>
          <a:xfrm>
            <a:off x="418725" y="5457647"/>
            <a:ext cx="1261884" cy="307777"/>
          </a:xfrm>
          <a:prstGeom prst="rect">
            <a:avLst/>
          </a:prstGeom>
          <a:noFill/>
        </p:spPr>
        <p:txBody>
          <a:bodyPr wrap="none" rtlCol="0">
            <a:spAutoFit/>
          </a:bodyPr>
          <a:lstStyle/>
          <a:p>
            <a:pPr algn="ctr"/>
            <a:r>
              <a:rPr kumimoji="1" lang="ja-GB" altLang="en-US" sz="1400" b="1" dirty="0">
                <a:solidFill>
                  <a:srgbClr val="2F2523"/>
                </a:solidFill>
              </a:rPr>
              <a:t>順位が分かる</a:t>
            </a:r>
          </a:p>
        </p:txBody>
      </p:sp>
      <p:sp>
        <p:nvSpPr>
          <p:cNvPr id="22" name="テキスト ボックス 21">
            <a:extLst>
              <a:ext uri="{FF2B5EF4-FFF2-40B4-BE49-F238E27FC236}">
                <a16:creationId xmlns:a16="http://schemas.microsoft.com/office/drawing/2014/main" id="{6700B837-1734-92B8-A37F-44269663E647}"/>
              </a:ext>
            </a:extLst>
          </p:cNvPr>
          <p:cNvSpPr txBox="1"/>
          <p:nvPr/>
        </p:nvSpPr>
        <p:spPr>
          <a:xfrm>
            <a:off x="6632655" y="3276600"/>
            <a:ext cx="2159566" cy="307777"/>
          </a:xfrm>
          <a:prstGeom prst="rect">
            <a:avLst/>
          </a:prstGeom>
          <a:solidFill>
            <a:schemeClr val="accent5">
              <a:lumMod val="20000"/>
              <a:lumOff val="80000"/>
            </a:schemeClr>
          </a:solidFill>
          <a:ln>
            <a:solidFill>
              <a:schemeClr val="accent5">
                <a:lumMod val="40000"/>
                <a:lumOff val="60000"/>
              </a:schemeClr>
            </a:solidFill>
          </a:ln>
        </p:spPr>
        <p:txBody>
          <a:bodyPr wrap="none" rtlCol="0">
            <a:spAutoFit/>
          </a:bodyPr>
          <a:lstStyle/>
          <a:p>
            <a:pPr algn="ctr"/>
            <a:r>
              <a:rPr kumimoji="1" lang="ja-GB" altLang="en-US" sz="1400" b="1" dirty="0">
                <a:solidFill>
                  <a:srgbClr val="2F2523"/>
                </a:solidFill>
              </a:rPr>
              <a:t>大会成績の記録名簿入手</a:t>
            </a:r>
          </a:p>
        </p:txBody>
      </p:sp>
      <p:sp>
        <p:nvSpPr>
          <p:cNvPr id="23" name="テキスト ボックス 22">
            <a:extLst>
              <a:ext uri="{FF2B5EF4-FFF2-40B4-BE49-F238E27FC236}">
                <a16:creationId xmlns:a16="http://schemas.microsoft.com/office/drawing/2014/main" id="{AD74D0D2-FCED-1D3B-DAE4-C9E56A4FC881}"/>
              </a:ext>
            </a:extLst>
          </p:cNvPr>
          <p:cNvSpPr txBox="1"/>
          <p:nvPr/>
        </p:nvSpPr>
        <p:spPr>
          <a:xfrm>
            <a:off x="6453123" y="5426870"/>
            <a:ext cx="2518639" cy="307777"/>
          </a:xfrm>
          <a:prstGeom prst="rect">
            <a:avLst/>
          </a:prstGeom>
          <a:solidFill>
            <a:schemeClr val="accent5">
              <a:lumMod val="20000"/>
              <a:lumOff val="80000"/>
            </a:schemeClr>
          </a:solidFill>
          <a:ln>
            <a:solidFill>
              <a:schemeClr val="accent5">
                <a:lumMod val="40000"/>
                <a:lumOff val="60000"/>
              </a:schemeClr>
            </a:solidFill>
          </a:ln>
        </p:spPr>
        <p:txBody>
          <a:bodyPr wrap="none" rtlCol="0">
            <a:spAutoFit/>
          </a:bodyPr>
          <a:lstStyle/>
          <a:p>
            <a:pPr algn="ctr"/>
            <a:r>
              <a:rPr kumimoji="1" lang="ja-GB" altLang="en-US" sz="1400" b="1" dirty="0">
                <a:solidFill>
                  <a:srgbClr val="2F2523"/>
                </a:solidFill>
              </a:rPr>
              <a:t>成績順位に名前の並んだ名簿</a:t>
            </a:r>
          </a:p>
        </p:txBody>
      </p:sp>
      <p:cxnSp>
        <p:nvCxnSpPr>
          <p:cNvPr id="24" name="直線矢印コネクタ 23">
            <a:extLst>
              <a:ext uri="{FF2B5EF4-FFF2-40B4-BE49-F238E27FC236}">
                <a16:creationId xmlns:a16="http://schemas.microsoft.com/office/drawing/2014/main" id="{A195E333-CDB8-B7A1-48C1-AA4BCAA17294}"/>
              </a:ext>
            </a:extLst>
          </p:cNvPr>
          <p:cNvCxnSpPr>
            <a:cxnSpLocks/>
          </p:cNvCxnSpPr>
          <p:nvPr/>
        </p:nvCxnSpPr>
        <p:spPr>
          <a:xfrm flipH="1">
            <a:off x="7712433" y="3576517"/>
            <a:ext cx="3" cy="1813204"/>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75B2CA06-D251-B8A0-8E59-B8083DAAB3EF}"/>
              </a:ext>
            </a:extLst>
          </p:cNvPr>
          <p:cNvSpPr txBox="1"/>
          <p:nvPr/>
        </p:nvSpPr>
        <p:spPr>
          <a:xfrm>
            <a:off x="6812191" y="4244013"/>
            <a:ext cx="1800493" cy="523220"/>
          </a:xfrm>
          <a:prstGeom prst="rect">
            <a:avLst/>
          </a:prstGeom>
          <a:solidFill>
            <a:schemeClr val="accent5">
              <a:lumMod val="20000"/>
              <a:lumOff val="80000"/>
            </a:schemeClr>
          </a:solidFill>
          <a:ln>
            <a:solidFill>
              <a:schemeClr val="accent5">
                <a:lumMod val="40000"/>
                <a:lumOff val="60000"/>
              </a:schemeClr>
            </a:solidFill>
          </a:ln>
        </p:spPr>
        <p:txBody>
          <a:bodyPr wrap="none" rtlCol="0">
            <a:spAutoFit/>
          </a:bodyPr>
          <a:lstStyle/>
          <a:p>
            <a:pPr algn="ctr"/>
            <a:r>
              <a:rPr kumimoji="1" lang="ja-GB" altLang="en-US" sz="1400" b="1" dirty="0">
                <a:solidFill>
                  <a:srgbClr val="2F2523"/>
                </a:solidFill>
              </a:rPr>
              <a:t>名簿の成績順ソート</a:t>
            </a:r>
            <a:br>
              <a:rPr kumimoji="1" lang="en-US" altLang="ja-GB" sz="1400" b="1" dirty="0">
                <a:solidFill>
                  <a:srgbClr val="2F2523"/>
                </a:solidFill>
              </a:rPr>
            </a:br>
            <a:r>
              <a:rPr kumimoji="1" lang="ja-GB" altLang="en-US" sz="1400" b="1" dirty="0">
                <a:solidFill>
                  <a:srgbClr val="2F2523"/>
                </a:solidFill>
              </a:rPr>
              <a:t>（アルゴリズム）</a:t>
            </a:r>
          </a:p>
        </p:txBody>
      </p:sp>
      <p:cxnSp>
        <p:nvCxnSpPr>
          <p:cNvPr id="26" name="直線矢印コネクタ 25">
            <a:extLst>
              <a:ext uri="{FF2B5EF4-FFF2-40B4-BE49-F238E27FC236}">
                <a16:creationId xmlns:a16="http://schemas.microsoft.com/office/drawing/2014/main" id="{7EC22B37-A680-9E27-A74A-E77A5BC4E203}"/>
              </a:ext>
            </a:extLst>
          </p:cNvPr>
          <p:cNvCxnSpPr>
            <a:cxnSpLocks/>
          </p:cNvCxnSpPr>
          <p:nvPr/>
        </p:nvCxnSpPr>
        <p:spPr>
          <a:xfrm flipH="1">
            <a:off x="1028231" y="3596969"/>
            <a:ext cx="3" cy="1813204"/>
          </a:xfrm>
          <a:prstGeom prst="straightConnector1">
            <a:avLst/>
          </a:prstGeom>
          <a:ln w="38100">
            <a:solidFill>
              <a:schemeClr val="tx1">
                <a:lumMod val="50000"/>
                <a:lumOff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9177310D-8828-7EF1-7975-1BFD9794A9EE}"/>
              </a:ext>
            </a:extLst>
          </p:cNvPr>
          <p:cNvSpPr txBox="1"/>
          <p:nvPr/>
        </p:nvSpPr>
        <p:spPr>
          <a:xfrm>
            <a:off x="141405" y="4365072"/>
            <a:ext cx="1816524" cy="276999"/>
          </a:xfrm>
          <a:prstGeom prst="rect">
            <a:avLst/>
          </a:prstGeom>
          <a:solidFill>
            <a:schemeClr val="bg1">
              <a:lumMod val="95000"/>
            </a:schemeClr>
          </a:solidFill>
        </p:spPr>
        <p:txBody>
          <a:bodyPr wrap="none" rtlCol="0">
            <a:spAutoFit/>
          </a:bodyPr>
          <a:lstStyle/>
          <a:p>
            <a:pPr algn="ctr"/>
            <a:r>
              <a:rPr kumimoji="1" lang="en-US" altLang="ja-GB" sz="1200" b="1" dirty="0">
                <a:solidFill>
                  <a:schemeClr val="tx1">
                    <a:lumMod val="50000"/>
                    <a:lumOff val="50000"/>
                  </a:schemeClr>
                </a:solidFill>
              </a:rPr>
              <a:t>(</a:t>
            </a:r>
            <a:r>
              <a:rPr kumimoji="1" lang="ja-GB" altLang="en-US" sz="1200" b="1" dirty="0">
                <a:solidFill>
                  <a:schemeClr val="tx1">
                    <a:lumMod val="50000"/>
                    <a:lumOff val="50000"/>
                  </a:schemeClr>
                </a:solidFill>
              </a:rPr>
              <a:t>名簿を数えるのは大変</a:t>
            </a:r>
            <a:r>
              <a:rPr kumimoji="1" lang="en-US" altLang="ja-GB" sz="1200" b="1" dirty="0">
                <a:solidFill>
                  <a:schemeClr val="tx1">
                    <a:lumMod val="50000"/>
                    <a:lumOff val="50000"/>
                  </a:schemeClr>
                </a:solidFill>
              </a:rPr>
              <a:t>)</a:t>
            </a:r>
            <a:endParaRPr kumimoji="1" lang="ja-GB" altLang="en-US" sz="1200" b="1" dirty="0">
              <a:solidFill>
                <a:schemeClr val="tx1">
                  <a:lumMod val="50000"/>
                  <a:lumOff val="50000"/>
                </a:schemeClr>
              </a:solidFill>
            </a:endParaRPr>
          </a:p>
        </p:txBody>
      </p:sp>
      <p:sp>
        <p:nvSpPr>
          <p:cNvPr id="27" name="テキスト ボックス 26">
            <a:extLst>
              <a:ext uri="{FF2B5EF4-FFF2-40B4-BE49-F238E27FC236}">
                <a16:creationId xmlns:a16="http://schemas.microsoft.com/office/drawing/2014/main" id="{72BF48B2-3AA9-2B11-AA9B-191353F2FAE5}"/>
              </a:ext>
            </a:extLst>
          </p:cNvPr>
          <p:cNvSpPr txBox="1"/>
          <p:nvPr/>
        </p:nvSpPr>
        <p:spPr>
          <a:xfrm>
            <a:off x="782009" y="4483119"/>
            <a:ext cx="492443" cy="461665"/>
          </a:xfrm>
          <a:prstGeom prst="rect">
            <a:avLst/>
          </a:prstGeom>
          <a:noFill/>
        </p:spPr>
        <p:txBody>
          <a:bodyPr wrap="none" rtlCol="0">
            <a:spAutoFit/>
          </a:bodyPr>
          <a:lstStyle/>
          <a:p>
            <a:r>
              <a:rPr kumimoji="1" lang="en-US" altLang="ja-GB" sz="2400" dirty="0">
                <a:solidFill>
                  <a:srgbClr val="A64155"/>
                </a:solidFill>
              </a:rPr>
              <a:t>×</a:t>
            </a:r>
            <a:endParaRPr kumimoji="1" lang="ja-GB" altLang="en-US" sz="2400" dirty="0">
              <a:solidFill>
                <a:srgbClr val="A64155"/>
              </a:solidFill>
            </a:endParaRPr>
          </a:p>
        </p:txBody>
      </p:sp>
    </p:spTree>
    <p:extLst>
      <p:ext uri="{BB962C8B-B14F-4D97-AF65-F5344CB8AC3E}">
        <p14:creationId xmlns:p14="http://schemas.microsoft.com/office/powerpoint/2010/main" val="335184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1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89B5B-F807-7D78-3C1B-C06D67841794}"/>
            </a:ext>
          </a:extLst>
        </p:cNvPr>
        <p:cNvGrpSpPr/>
        <p:nvPr/>
      </p:nvGrpSpPr>
      <p:grpSpPr>
        <a:xfrm>
          <a:off x="0" y="0"/>
          <a:ext cx="0" cy="0"/>
          <a:chOff x="0" y="0"/>
          <a:chExt cx="0" cy="0"/>
        </a:xfrm>
      </p:grpSpPr>
      <p:cxnSp>
        <p:nvCxnSpPr>
          <p:cNvPr id="20" name="直線矢印コネクタ 19">
            <a:extLst>
              <a:ext uri="{FF2B5EF4-FFF2-40B4-BE49-F238E27FC236}">
                <a16:creationId xmlns:a16="http://schemas.microsoft.com/office/drawing/2014/main" id="{69C16254-C7CD-2D9D-BAD8-D7FC54540758}"/>
              </a:ext>
            </a:extLst>
          </p:cNvPr>
          <p:cNvCxnSpPr>
            <a:cxnSpLocks/>
            <a:stCxn id="26" idx="2"/>
            <a:endCxn id="25" idx="0"/>
          </p:cNvCxnSpPr>
          <p:nvPr/>
        </p:nvCxnSpPr>
        <p:spPr>
          <a:xfrm flipH="1">
            <a:off x="7712449" y="3378944"/>
            <a:ext cx="1" cy="2435048"/>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 name="タイトル 1">
            <a:extLst>
              <a:ext uri="{FF2B5EF4-FFF2-40B4-BE49-F238E27FC236}">
                <a16:creationId xmlns:a16="http://schemas.microsoft.com/office/drawing/2014/main" id="{B87B034F-B534-E9D8-93F7-DAAACF9CE1B8}"/>
              </a:ext>
            </a:extLst>
          </p:cNvPr>
          <p:cNvSpPr>
            <a:spLocks noGrp="1"/>
          </p:cNvSpPr>
          <p:nvPr>
            <p:ph type="title"/>
          </p:nvPr>
        </p:nvSpPr>
        <p:spPr/>
        <p:txBody>
          <a:bodyPr/>
          <a:lstStyle/>
          <a:p>
            <a:r>
              <a:rPr kumimoji="1" lang="ja-GB" altLang="en-US" dirty="0"/>
              <a:t>アルゴリズムを学ぶ理由</a:t>
            </a:r>
          </a:p>
        </p:txBody>
      </p:sp>
      <p:sp>
        <p:nvSpPr>
          <p:cNvPr id="3" name="コンテンツ プレースホルダー 2">
            <a:extLst>
              <a:ext uri="{FF2B5EF4-FFF2-40B4-BE49-F238E27FC236}">
                <a16:creationId xmlns:a16="http://schemas.microsoft.com/office/drawing/2014/main" id="{FD30847F-4ECA-D9DA-021A-FC5938F05965}"/>
              </a:ext>
            </a:extLst>
          </p:cNvPr>
          <p:cNvSpPr>
            <a:spLocks noGrp="1"/>
          </p:cNvSpPr>
          <p:nvPr>
            <p:ph idx="1"/>
          </p:nvPr>
        </p:nvSpPr>
        <p:spPr/>
        <p:txBody>
          <a:bodyPr/>
          <a:lstStyle/>
          <a:p>
            <a:pPr marL="0" indent="0">
              <a:buNone/>
            </a:pPr>
            <a:r>
              <a:rPr kumimoji="1" lang="ja-GB" altLang="en-US" dirty="0"/>
              <a:t>アルゴリズムを使って問題を解決するため</a:t>
            </a:r>
            <a:endParaRPr kumimoji="1" lang="en-US" altLang="ja-GB" dirty="0"/>
          </a:p>
          <a:p>
            <a:pPr marL="914400" lvl="1" indent="-457200">
              <a:buFont typeface="+mj-lt"/>
              <a:buAutoNum type="arabicPeriod"/>
            </a:pPr>
            <a:r>
              <a:rPr kumimoji="1" lang="ja-GB" altLang="en-US" dirty="0"/>
              <a:t>既存アルゴリズムをそのまま使って問題を解決する</a:t>
            </a:r>
            <a:endParaRPr kumimoji="1" lang="en-US" altLang="ja-GB" dirty="0"/>
          </a:p>
          <a:p>
            <a:pPr marL="914400" lvl="1" indent="-457200">
              <a:buFont typeface="+mj-lt"/>
              <a:buAutoNum type="arabicPeriod"/>
            </a:pPr>
            <a:r>
              <a:rPr lang="ja-GB" altLang="en-US" dirty="0">
                <a:solidFill>
                  <a:srgbClr val="0070C0"/>
                </a:solidFill>
              </a:rPr>
              <a:t>頻出アルゴリズムを組み合わせて，状況に応じたアルゴリズムを作る</a:t>
            </a:r>
            <a:endParaRPr lang="en-US" altLang="ja-GB" dirty="0">
              <a:solidFill>
                <a:srgbClr val="0070C0"/>
              </a:solidFill>
            </a:endParaRPr>
          </a:p>
          <a:p>
            <a:pPr marL="914400" lvl="1" indent="-457200">
              <a:buFont typeface="+mj-lt"/>
              <a:buAutoNum type="arabicPeriod"/>
            </a:pPr>
            <a:r>
              <a:rPr kumimoji="1" lang="ja-GB" altLang="en-US" dirty="0">
                <a:solidFill>
                  <a:schemeClr val="tx1">
                    <a:lumMod val="50000"/>
                    <a:lumOff val="50000"/>
                  </a:schemeClr>
                </a:solidFill>
              </a:rPr>
              <a:t>革新的なアルゴリズムを開発する</a:t>
            </a:r>
            <a:endParaRPr kumimoji="1" lang="en-US" altLang="ja-GB" dirty="0">
              <a:solidFill>
                <a:schemeClr val="tx1">
                  <a:lumMod val="50000"/>
                  <a:lumOff val="50000"/>
                </a:schemeClr>
              </a:solidFill>
            </a:endParaRPr>
          </a:p>
          <a:p>
            <a:pPr lvl="2"/>
            <a:r>
              <a:rPr lang="ja-GB" altLang="en-US" sz="1400" dirty="0">
                <a:solidFill>
                  <a:schemeClr val="tx1">
                    <a:lumMod val="50000"/>
                    <a:lumOff val="50000"/>
                  </a:schemeClr>
                </a:solidFill>
              </a:rPr>
              <a:t>これまで解決不能だった問題が解ける（高度な専門家の仕事）</a:t>
            </a:r>
          </a:p>
          <a:p>
            <a:pPr lvl="2"/>
            <a:endParaRPr lang="ja-GB" altLang="en-US" dirty="0">
              <a:solidFill>
                <a:schemeClr val="tx1">
                  <a:lumMod val="50000"/>
                  <a:lumOff val="50000"/>
                </a:schemeClr>
              </a:solidFill>
            </a:endParaRPr>
          </a:p>
        </p:txBody>
      </p:sp>
      <p:sp>
        <p:nvSpPr>
          <p:cNvPr id="4" name="正方形/長方形 3">
            <a:extLst>
              <a:ext uri="{FF2B5EF4-FFF2-40B4-BE49-F238E27FC236}">
                <a16:creationId xmlns:a16="http://schemas.microsoft.com/office/drawing/2014/main" id="{6F9F74D0-E6C8-B588-09A3-C3E4DDB332DA}"/>
              </a:ext>
            </a:extLst>
          </p:cNvPr>
          <p:cNvSpPr/>
          <p:nvPr/>
        </p:nvSpPr>
        <p:spPr>
          <a:xfrm>
            <a:off x="4138000" y="2941982"/>
            <a:ext cx="2203201" cy="337492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5" name="正方形/長方形 4">
            <a:extLst>
              <a:ext uri="{FF2B5EF4-FFF2-40B4-BE49-F238E27FC236}">
                <a16:creationId xmlns:a16="http://schemas.microsoft.com/office/drawing/2014/main" id="{B076188D-9CBD-F130-F1A1-71F44ABC1523}"/>
              </a:ext>
            </a:extLst>
          </p:cNvPr>
          <p:cNvSpPr/>
          <p:nvPr/>
        </p:nvSpPr>
        <p:spPr>
          <a:xfrm>
            <a:off x="1928482" y="2941982"/>
            <a:ext cx="2203201" cy="3374928"/>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6" name="テキスト ボックス 5">
            <a:extLst>
              <a:ext uri="{FF2B5EF4-FFF2-40B4-BE49-F238E27FC236}">
                <a16:creationId xmlns:a16="http://schemas.microsoft.com/office/drawing/2014/main" id="{91CF3912-8BA4-813A-2C9A-721CCEDCDEA1}"/>
              </a:ext>
            </a:extLst>
          </p:cNvPr>
          <p:cNvSpPr txBox="1"/>
          <p:nvPr/>
        </p:nvSpPr>
        <p:spPr>
          <a:xfrm>
            <a:off x="2290197" y="3244334"/>
            <a:ext cx="646331" cy="369332"/>
          </a:xfrm>
          <a:prstGeom prst="rect">
            <a:avLst/>
          </a:prstGeom>
          <a:noFill/>
        </p:spPr>
        <p:txBody>
          <a:bodyPr wrap="none" rtlCol="0">
            <a:spAutoFit/>
          </a:bodyPr>
          <a:lstStyle/>
          <a:p>
            <a:pPr algn="ctr"/>
            <a:r>
              <a:rPr kumimoji="1" lang="ja-GB" altLang="en-US" dirty="0"/>
              <a:t>現状</a:t>
            </a:r>
          </a:p>
        </p:txBody>
      </p:sp>
      <p:sp>
        <p:nvSpPr>
          <p:cNvPr id="7" name="テキスト ボックス 6">
            <a:extLst>
              <a:ext uri="{FF2B5EF4-FFF2-40B4-BE49-F238E27FC236}">
                <a16:creationId xmlns:a16="http://schemas.microsoft.com/office/drawing/2014/main" id="{9B1E64DD-66D4-F133-0692-B6ECB620F239}"/>
              </a:ext>
            </a:extLst>
          </p:cNvPr>
          <p:cNvSpPr txBox="1"/>
          <p:nvPr/>
        </p:nvSpPr>
        <p:spPr>
          <a:xfrm>
            <a:off x="2174778" y="5426870"/>
            <a:ext cx="877164" cy="369332"/>
          </a:xfrm>
          <a:prstGeom prst="rect">
            <a:avLst/>
          </a:prstGeom>
          <a:noFill/>
        </p:spPr>
        <p:txBody>
          <a:bodyPr wrap="none" rtlCol="0">
            <a:spAutoFit/>
          </a:bodyPr>
          <a:lstStyle/>
          <a:p>
            <a:pPr algn="ctr"/>
            <a:r>
              <a:rPr kumimoji="1" lang="ja-GB" altLang="en-US" dirty="0"/>
              <a:t>ゴール</a:t>
            </a:r>
          </a:p>
        </p:txBody>
      </p:sp>
      <p:sp>
        <p:nvSpPr>
          <p:cNvPr id="8" name="テキスト ボックス 7">
            <a:extLst>
              <a:ext uri="{FF2B5EF4-FFF2-40B4-BE49-F238E27FC236}">
                <a16:creationId xmlns:a16="http://schemas.microsoft.com/office/drawing/2014/main" id="{BB8F17DB-5627-BD9A-9D5C-D7219A4E713F}"/>
              </a:ext>
            </a:extLst>
          </p:cNvPr>
          <p:cNvSpPr txBox="1"/>
          <p:nvPr/>
        </p:nvSpPr>
        <p:spPr>
          <a:xfrm>
            <a:off x="5121359" y="3244334"/>
            <a:ext cx="646331" cy="369332"/>
          </a:xfrm>
          <a:prstGeom prst="rect">
            <a:avLst/>
          </a:prstGeom>
          <a:noFill/>
        </p:spPr>
        <p:txBody>
          <a:bodyPr wrap="none" rtlCol="0">
            <a:spAutoFit/>
          </a:bodyPr>
          <a:lstStyle/>
          <a:p>
            <a:pPr algn="ctr"/>
            <a:r>
              <a:rPr kumimoji="1" lang="ja-GB" altLang="en-US" dirty="0"/>
              <a:t>問題</a:t>
            </a:r>
          </a:p>
        </p:txBody>
      </p:sp>
      <p:sp>
        <p:nvSpPr>
          <p:cNvPr id="9" name="テキスト ボックス 8">
            <a:extLst>
              <a:ext uri="{FF2B5EF4-FFF2-40B4-BE49-F238E27FC236}">
                <a16:creationId xmlns:a16="http://schemas.microsoft.com/office/drawing/2014/main" id="{7F8AF3FE-B966-F574-5481-DF4A73CA0DA8}"/>
              </a:ext>
            </a:extLst>
          </p:cNvPr>
          <p:cNvSpPr txBox="1"/>
          <p:nvPr/>
        </p:nvSpPr>
        <p:spPr>
          <a:xfrm>
            <a:off x="5121356" y="5426870"/>
            <a:ext cx="646331" cy="369332"/>
          </a:xfrm>
          <a:prstGeom prst="rect">
            <a:avLst/>
          </a:prstGeom>
          <a:noFill/>
        </p:spPr>
        <p:txBody>
          <a:bodyPr wrap="none" rtlCol="0">
            <a:spAutoFit/>
          </a:bodyPr>
          <a:lstStyle/>
          <a:p>
            <a:pPr algn="ctr"/>
            <a:r>
              <a:rPr kumimoji="1" lang="ja-GB" altLang="en-US" dirty="0"/>
              <a:t>解決</a:t>
            </a:r>
          </a:p>
        </p:txBody>
      </p:sp>
      <p:cxnSp>
        <p:nvCxnSpPr>
          <p:cNvPr id="10" name="直線矢印コネクタ 9">
            <a:extLst>
              <a:ext uri="{FF2B5EF4-FFF2-40B4-BE49-F238E27FC236}">
                <a16:creationId xmlns:a16="http://schemas.microsoft.com/office/drawing/2014/main" id="{614D7FA1-AB78-D7D0-CE61-B737BF1CAD6A}"/>
              </a:ext>
            </a:extLst>
          </p:cNvPr>
          <p:cNvCxnSpPr>
            <a:cxnSpLocks/>
            <a:stCxn id="6" idx="3"/>
            <a:endCxn id="8" idx="1"/>
          </p:cNvCxnSpPr>
          <p:nvPr/>
        </p:nvCxnSpPr>
        <p:spPr>
          <a:xfrm>
            <a:off x="2936528" y="3429000"/>
            <a:ext cx="2184831" cy="0"/>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78890715-5AB5-A915-D620-FDB7BD5FD40D}"/>
              </a:ext>
            </a:extLst>
          </p:cNvPr>
          <p:cNvCxnSpPr>
            <a:cxnSpLocks/>
            <a:stCxn id="8" idx="2"/>
            <a:endCxn id="9" idx="0"/>
          </p:cNvCxnSpPr>
          <p:nvPr/>
        </p:nvCxnSpPr>
        <p:spPr>
          <a:xfrm flipH="1">
            <a:off x="5444522" y="3613666"/>
            <a:ext cx="3" cy="1813204"/>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C0A07CCF-9FE5-0C36-2655-62599B29E05E}"/>
              </a:ext>
            </a:extLst>
          </p:cNvPr>
          <p:cNvCxnSpPr>
            <a:cxnSpLocks/>
            <a:stCxn id="9" idx="1"/>
            <a:endCxn id="7" idx="3"/>
          </p:cNvCxnSpPr>
          <p:nvPr/>
        </p:nvCxnSpPr>
        <p:spPr>
          <a:xfrm flipH="1">
            <a:off x="3051942" y="5611536"/>
            <a:ext cx="2069414" cy="0"/>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F8B9B70E-AC1B-D1FD-5AE4-9973FF4597C9}"/>
              </a:ext>
            </a:extLst>
          </p:cNvPr>
          <p:cNvSpPr txBox="1"/>
          <p:nvPr/>
        </p:nvSpPr>
        <p:spPr>
          <a:xfrm>
            <a:off x="2476084" y="6359042"/>
            <a:ext cx="1107996" cy="369332"/>
          </a:xfrm>
          <a:prstGeom prst="rect">
            <a:avLst/>
          </a:prstGeom>
          <a:noFill/>
        </p:spPr>
        <p:txBody>
          <a:bodyPr wrap="none" rtlCol="0">
            <a:spAutoFit/>
          </a:bodyPr>
          <a:lstStyle/>
          <a:p>
            <a:pPr algn="ctr"/>
            <a:r>
              <a:rPr kumimoji="1" lang="ja-GB" altLang="en-US" b="1" dirty="0">
                <a:solidFill>
                  <a:schemeClr val="tx1">
                    <a:lumMod val="65000"/>
                    <a:lumOff val="35000"/>
                  </a:schemeClr>
                </a:solidFill>
              </a:rPr>
              <a:t>現実世界</a:t>
            </a:r>
          </a:p>
        </p:txBody>
      </p:sp>
      <p:sp>
        <p:nvSpPr>
          <p:cNvPr id="16" name="テキスト ボックス 15">
            <a:extLst>
              <a:ext uri="{FF2B5EF4-FFF2-40B4-BE49-F238E27FC236}">
                <a16:creationId xmlns:a16="http://schemas.microsoft.com/office/drawing/2014/main" id="{24036822-ABC4-C706-8BF0-816881C3B9DB}"/>
              </a:ext>
            </a:extLst>
          </p:cNvPr>
          <p:cNvSpPr txBox="1"/>
          <p:nvPr/>
        </p:nvSpPr>
        <p:spPr>
          <a:xfrm>
            <a:off x="4570188" y="6359042"/>
            <a:ext cx="1338828" cy="369332"/>
          </a:xfrm>
          <a:prstGeom prst="rect">
            <a:avLst/>
          </a:prstGeom>
          <a:noFill/>
        </p:spPr>
        <p:txBody>
          <a:bodyPr wrap="none" rtlCol="0">
            <a:spAutoFit/>
          </a:bodyPr>
          <a:lstStyle/>
          <a:p>
            <a:pPr algn="ctr"/>
            <a:r>
              <a:rPr kumimoji="1" lang="ja-GB" altLang="en-US" b="1" dirty="0">
                <a:solidFill>
                  <a:schemeClr val="tx1">
                    <a:lumMod val="65000"/>
                    <a:lumOff val="35000"/>
                  </a:schemeClr>
                </a:solidFill>
              </a:rPr>
              <a:t>情報の世界</a:t>
            </a:r>
          </a:p>
        </p:txBody>
      </p:sp>
      <p:sp>
        <p:nvSpPr>
          <p:cNvPr id="14" name="テキスト ボックス 13">
            <a:extLst>
              <a:ext uri="{FF2B5EF4-FFF2-40B4-BE49-F238E27FC236}">
                <a16:creationId xmlns:a16="http://schemas.microsoft.com/office/drawing/2014/main" id="{E85BE4ED-2C70-B3BA-5D41-F99D8ECA0CC1}"/>
              </a:ext>
            </a:extLst>
          </p:cNvPr>
          <p:cNvSpPr txBox="1"/>
          <p:nvPr/>
        </p:nvSpPr>
        <p:spPr>
          <a:xfrm>
            <a:off x="306205" y="3113529"/>
            <a:ext cx="1441420" cy="523220"/>
          </a:xfrm>
          <a:prstGeom prst="rect">
            <a:avLst/>
          </a:prstGeom>
          <a:noFill/>
        </p:spPr>
        <p:txBody>
          <a:bodyPr wrap="none" rtlCol="0">
            <a:spAutoFit/>
          </a:bodyPr>
          <a:lstStyle/>
          <a:p>
            <a:pPr algn="ctr"/>
            <a:r>
              <a:rPr kumimoji="1" lang="ja-GB" altLang="en-US" sz="1400" b="1" dirty="0">
                <a:solidFill>
                  <a:srgbClr val="2F2523"/>
                </a:solidFill>
              </a:rPr>
              <a:t>サブスクで聞く</a:t>
            </a:r>
            <a:br>
              <a:rPr kumimoji="1" lang="en-US" altLang="ja-GB" sz="1400" b="1" dirty="0">
                <a:solidFill>
                  <a:srgbClr val="2F2523"/>
                </a:solidFill>
              </a:rPr>
            </a:br>
            <a:r>
              <a:rPr kumimoji="1" lang="ja-GB" altLang="en-US" sz="1400" b="1" dirty="0">
                <a:solidFill>
                  <a:srgbClr val="2F2523"/>
                </a:solidFill>
              </a:rPr>
              <a:t>音楽を選びたい</a:t>
            </a:r>
          </a:p>
        </p:txBody>
      </p:sp>
      <p:sp>
        <p:nvSpPr>
          <p:cNvPr id="17" name="テキスト ボックス 16">
            <a:extLst>
              <a:ext uri="{FF2B5EF4-FFF2-40B4-BE49-F238E27FC236}">
                <a16:creationId xmlns:a16="http://schemas.microsoft.com/office/drawing/2014/main" id="{43221B08-AAA8-AA54-CBFD-AF0914473D6F}"/>
              </a:ext>
            </a:extLst>
          </p:cNvPr>
          <p:cNvSpPr txBox="1"/>
          <p:nvPr/>
        </p:nvSpPr>
        <p:spPr>
          <a:xfrm>
            <a:off x="36900" y="5831879"/>
            <a:ext cx="1980029" cy="307777"/>
          </a:xfrm>
          <a:prstGeom prst="rect">
            <a:avLst/>
          </a:prstGeom>
          <a:noFill/>
        </p:spPr>
        <p:txBody>
          <a:bodyPr wrap="none" rtlCol="0">
            <a:spAutoFit/>
          </a:bodyPr>
          <a:lstStyle/>
          <a:p>
            <a:pPr algn="ctr"/>
            <a:r>
              <a:rPr kumimoji="1" lang="ja-GB" altLang="en-US" sz="1400" b="1" dirty="0">
                <a:solidFill>
                  <a:srgbClr val="2F2523"/>
                </a:solidFill>
              </a:rPr>
              <a:t>聞きたい音楽が決まる</a:t>
            </a:r>
          </a:p>
        </p:txBody>
      </p:sp>
      <p:sp>
        <p:nvSpPr>
          <p:cNvPr id="18" name="テキスト ボックス 17">
            <a:extLst>
              <a:ext uri="{FF2B5EF4-FFF2-40B4-BE49-F238E27FC236}">
                <a16:creationId xmlns:a16="http://schemas.microsoft.com/office/drawing/2014/main" id="{E7384168-A942-4073-E01B-18BF9253219F}"/>
              </a:ext>
            </a:extLst>
          </p:cNvPr>
          <p:cNvSpPr txBox="1"/>
          <p:nvPr/>
        </p:nvSpPr>
        <p:spPr>
          <a:xfrm>
            <a:off x="6530953" y="3656666"/>
            <a:ext cx="2342308" cy="261610"/>
          </a:xfrm>
          <a:prstGeom prst="rect">
            <a:avLst/>
          </a:prstGeom>
          <a:solidFill>
            <a:schemeClr val="accent5">
              <a:lumMod val="20000"/>
              <a:lumOff val="80000"/>
            </a:schemeClr>
          </a:solidFill>
          <a:ln>
            <a:solidFill>
              <a:schemeClr val="accent5">
                <a:lumMod val="40000"/>
                <a:lumOff val="60000"/>
              </a:schemeClr>
            </a:solidFill>
          </a:ln>
        </p:spPr>
        <p:txBody>
          <a:bodyPr wrap="none" rtlCol="0">
            <a:spAutoFit/>
          </a:bodyPr>
          <a:lstStyle/>
          <a:p>
            <a:pPr algn="ctr"/>
            <a:r>
              <a:rPr kumimoji="1" lang="ja-GB" altLang="en-US" sz="1100" b="1" dirty="0">
                <a:solidFill>
                  <a:srgbClr val="2F2523"/>
                </a:solidFill>
              </a:rPr>
              <a:t>フィルター（時間帯・年齢・</a:t>
            </a:r>
            <a:r>
              <a:rPr kumimoji="1" lang="en-US" altLang="ja-GB" sz="1100" b="1" dirty="0">
                <a:solidFill>
                  <a:srgbClr val="2F2523"/>
                </a:solidFill>
              </a:rPr>
              <a:t>NG</a:t>
            </a:r>
            <a:r>
              <a:rPr kumimoji="1" lang="ja-GB" altLang="en-US" sz="1100" b="1" dirty="0">
                <a:solidFill>
                  <a:srgbClr val="2F2523"/>
                </a:solidFill>
              </a:rPr>
              <a:t>）</a:t>
            </a:r>
          </a:p>
        </p:txBody>
      </p:sp>
      <p:sp>
        <p:nvSpPr>
          <p:cNvPr id="19" name="テキスト ボックス 18">
            <a:extLst>
              <a:ext uri="{FF2B5EF4-FFF2-40B4-BE49-F238E27FC236}">
                <a16:creationId xmlns:a16="http://schemas.microsoft.com/office/drawing/2014/main" id="{E772E7F2-8C80-8DCC-EAFA-08B2EEE67468}"/>
              </a:ext>
            </a:extLst>
          </p:cNvPr>
          <p:cNvSpPr txBox="1"/>
          <p:nvPr/>
        </p:nvSpPr>
        <p:spPr>
          <a:xfrm>
            <a:off x="7045511" y="4735330"/>
            <a:ext cx="1313180" cy="261610"/>
          </a:xfrm>
          <a:prstGeom prst="rect">
            <a:avLst/>
          </a:prstGeom>
          <a:solidFill>
            <a:schemeClr val="accent5">
              <a:lumMod val="20000"/>
              <a:lumOff val="80000"/>
            </a:schemeClr>
          </a:solidFill>
          <a:ln>
            <a:solidFill>
              <a:schemeClr val="accent5">
                <a:lumMod val="40000"/>
                <a:lumOff val="60000"/>
              </a:schemeClr>
            </a:solidFill>
          </a:ln>
        </p:spPr>
        <p:txBody>
          <a:bodyPr wrap="none" rtlCol="0">
            <a:spAutoFit/>
          </a:bodyPr>
          <a:lstStyle/>
          <a:p>
            <a:pPr algn="ctr"/>
            <a:r>
              <a:rPr kumimoji="1" lang="ja-GB" altLang="en-US" sz="1100" b="1" dirty="0">
                <a:solidFill>
                  <a:srgbClr val="2F2523"/>
                </a:solidFill>
              </a:rPr>
              <a:t>ソート（評価順）</a:t>
            </a:r>
          </a:p>
        </p:txBody>
      </p:sp>
      <p:sp>
        <p:nvSpPr>
          <p:cNvPr id="21" name="テキスト ボックス 20">
            <a:extLst>
              <a:ext uri="{FF2B5EF4-FFF2-40B4-BE49-F238E27FC236}">
                <a16:creationId xmlns:a16="http://schemas.microsoft.com/office/drawing/2014/main" id="{9437BBA9-C5DA-99B9-7335-4C700FE061A6}"/>
              </a:ext>
            </a:extLst>
          </p:cNvPr>
          <p:cNvSpPr txBox="1"/>
          <p:nvPr/>
        </p:nvSpPr>
        <p:spPr>
          <a:xfrm>
            <a:off x="7055850" y="4195998"/>
            <a:ext cx="1313180" cy="261610"/>
          </a:xfrm>
          <a:prstGeom prst="rect">
            <a:avLst/>
          </a:prstGeom>
          <a:solidFill>
            <a:schemeClr val="accent5">
              <a:lumMod val="20000"/>
              <a:lumOff val="80000"/>
            </a:schemeClr>
          </a:solidFill>
          <a:ln>
            <a:solidFill>
              <a:schemeClr val="accent5">
                <a:lumMod val="40000"/>
                <a:lumOff val="60000"/>
              </a:schemeClr>
            </a:solidFill>
          </a:ln>
        </p:spPr>
        <p:txBody>
          <a:bodyPr wrap="none" rtlCol="0">
            <a:spAutoFit/>
          </a:bodyPr>
          <a:lstStyle/>
          <a:p>
            <a:pPr algn="ctr"/>
            <a:r>
              <a:rPr kumimoji="1" lang="ja-GB" altLang="en-US" sz="1100" b="1" dirty="0">
                <a:solidFill>
                  <a:srgbClr val="2F2523"/>
                </a:solidFill>
              </a:rPr>
              <a:t>分類（ジャンル）</a:t>
            </a:r>
          </a:p>
        </p:txBody>
      </p:sp>
      <p:cxnSp>
        <p:nvCxnSpPr>
          <p:cNvPr id="22" name="直線矢印コネクタ 21">
            <a:extLst>
              <a:ext uri="{FF2B5EF4-FFF2-40B4-BE49-F238E27FC236}">
                <a16:creationId xmlns:a16="http://schemas.microsoft.com/office/drawing/2014/main" id="{C431F5D4-52F4-B572-5113-9C154C5001C9}"/>
              </a:ext>
            </a:extLst>
          </p:cNvPr>
          <p:cNvCxnSpPr>
            <a:cxnSpLocks/>
            <a:endCxn id="17" idx="0"/>
          </p:cNvCxnSpPr>
          <p:nvPr/>
        </p:nvCxnSpPr>
        <p:spPr>
          <a:xfrm flipH="1">
            <a:off x="1026915" y="3596969"/>
            <a:ext cx="1319" cy="2234910"/>
          </a:xfrm>
          <a:prstGeom prst="straightConnector1">
            <a:avLst/>
          </a:prstGeom>
          <a:ln w="38100">
            <a:solidFill>
              <a:schemeClr val="tx1">
                <a:lumMod val="50000"/>
                <a:lumOff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1EDDAD59-AF77-12C0-7800-7EA83A54EB01}"/>
              </a:ext>
            </a:extLst>
          </p:cNvPr>
          <p:cNvSpPr txBox="1"/>
          <p:nvPr/>
        </p:nvSpPr>
        <p:spPr>
          <a:xfrm>
            <a:off x="370645" y="4365072"/>
            <a:ext cx="1358064" cy="276999"/>
          </a:xfrm>
          <a:prstGeom prst="rect">
            <a:avLst/>
          </a:prstGeom>
          <a:solidFill>
            <a:schemeClr val="bg1">
              <a:lumMod val="95000"/>
            </a:schemeClr>
          </a:solidFill>
        </p:spPr>
        <p:txBody>
          <a:bodyPr wrap="none" rtlCol="0">
            <a:spAutoFit/>
          </a:bodyPr>
          <a:lstStyle/>
          <a:p>
            <a:pPr algn="ctr"/>
            <a:r>
              <a:rPr kumimoji="1" lang="en-US" altLang="ja-GB" sz="1200" b="1" dirty="0">
                <a:solidFill>
                  <a:schemeClr val="tx1">
                    <a:lumMod val="50000"/>
                    <a:lumOff val="50000"/>
                  </a:schemeClr>
                </a:solidFill>
              </a:rPr>
              <a:t>(</a:t>
            </a:r>
            <a:r>
              <a:rPr kumimoji="1" lang="ja-GB" altLang="en-US" sz="1200" b="1" dirty="0">
                <a:solidFill>
                  <a:schemeClr val="tx1">
                    <a:lumMod val="50000"/>
                    <a:lumOff val="50000"/>
                  </a:schemeClr>
                </a:solidFill>
              </a:rPr>
              <a:t>候補選定は大変</a:t>
            </a:r>
            <a:r>
              <a:rPr kumimoji="1" lang="en-US" altLang="ja-GB" sz="1200" b="1" dirty="0">
                <a:solidFill>
                  <a:schemeClr val="tx1">
                    <a:lumMod val="50000"/>
                    <a:lumOff val="50000"/>
                  </a:schemeClr>
                </a:solidFill>
              </a:rPr>
              <a:t>)</a:t>
            </a:r>
            <a:endParaRPr kumimoji="1" lang="ja-GB" altLang="en-US" sz="1200" b="1" dirty="0">
              <a:solidFill>
                <a:schemeClr val="tx1">
                  <a:lumMod val="50000"/>
                  <a:lumOff val="50000"/>
                </a:schemeClr>
              </a:solidFill>
            </a:endParaRPr>
          </a:p>
        </p:txBody>
      </p:sp>
      <p:sp>
        <p:nvSpPr>
          <p:cNvPr id="24" name="テキスト ボックス 23">
            <a:extLst>
              <a:ext uri="{FF2B5EF4-FFF2-40B4-BE49-F238E27FC236}">
                <a16:creationId xmlns:a16="http://schemas.microsoft.com/office/drawing/2014/main" id="{5C60C8F4-2AFF-AB50-A283-14B2A05F3855}"/>
              </a:ext>
            </a:extLst>
          </p:cNvPr>
          <p:cNvSpPr txBox="1"/>
          <p:nvPr/>
        </p:nvSpPr>
        <p:spPr>
          <a:xfrm>
            <a:off x="782009" y="4483119"/>
            <a:ext cx="492443" cy="461665"/>
          </a:xfrm>
          <a:prstGeom prst="rect">
            <a:avLst/>
          </a:prstGeom>
          <a:noFill/>
        </p:spPr>
        <p:txBody>
          <a:bodyPr wrap="none" rtlCol="0">
            <a:spAutoFit/>
          </a:bodyPr>
          <a:lstStyle/>
          <a:p>
            <a:r>
              <a:rPr kumimoji="1" lang="en-US" altLang="ja-GB" sz="2400" dirty="0">
                <a:solidFill>
                  <a:srgbClr val="A64155"/>
                </a:solidFill>
              </a:rPr>
              <a:t>×</a:t>
            </a:r>
            <a:endParaRPr kumimoji="1" lang="ja-GB" altLang="en-US" sz="2400" dirty="0">
              <a:solidFill>
                <a:srgbClr val="A64155"/>
              </a:solidFill>
            </a:endParaRPr>
          </a:p>
        </p:txBody>
      </p:sp>
      <p:sp>
        <p:nvSpPr>
          <p:cNvPr id="25" name="テキスト ボックス 24">
            <a:extLst>
              <a:ext uri="{FF2B5EF4-FFF2-40B4-BE49-F238E27FC236}">
                <a16:creationId xmlns:a16="http://schemas.microsoft.com/office/drawing/2014/main" id="{66972C13-CDE9-D4CB-06B3-8FCE22A5BE7F}"/>
              </a:ext>
            </a:extLst>
          </p:cNvPr>
          <p:cNvSpPr txBox="1"/>
          <p:nvPr/>
        </p:nvSpPr>
        <p:spPr>
          <a:xfrm>
            <a:off x="7055859" y="5813992"/>
            <a:ext cx="1313180" cy="430887"/>
          </a:xfrm>
          <a:prstGeom prst="rect">
            <a:avLst/>
          </a:prstGeom>
          <a:solidFill>
            <a:schemeClr val="bg2">
              <a:lumMod val="90000"/>
            </a:schemeClr>
          </a:solidFill>
          <a:ln>
            <a:solidFill>
              <a:schemeClr val="bg2">
                <a:lumMod val="75000"/>
              </a:schemeClr>
            </a:solidFill>
          </a:ln>
        </p:spPr>
        <p:txBody>
          <a:bodyPr wrap="none" rtlCol="0">
            <a:spAutoFit/>
          </a:bodyPr>
          <a:lstStyle/>
          <a:p>
            <a:pPr algn="ctr"/>
            <a:r>
              <a:rPr kumimoji="1" lang="ja-GB" altLang="en-US" sz="1100" b="1" dirty="0">
                <a:solidFill>
                  <a:srgbClr val="2F2523"/>
                </a:solidFill>
              </a:rPr>
              <a:t>各ジャンルの</a:t>
            </a:r>
            <a:endParaRPr kumimoji="1" lang="en-US" altLang="ja-GB" sz="1100" b="1" dirty="0">
              <a:solidFill>
                <a:srgbClr val="2F2523"/>
              </a:solidFill>
            </a:endParaRPr>
          </a:p>
          <a:p>
            <a:pPr algn="ctr"/>
            <a:r>
              <a:rPr kumimoji="1" lang="ja-GB" altLang="en-US" sz="1100" b="1" dirty="0">
                <a:solidFill>
                  <a:srgbClr val="2F2523"/>
                </a:solidFill>
              </a:rPr>
              <a:t>おすすめ音楽一覧</a:t>
            </a:r>
          </a:p>
        </p:txBody>
      </p:sp>
      <p:sp>
        <p:nvSpPr>
          <p:cNvPr id="26" name="テキスト ボックス 25">
            <a:extLst>
              <a:ext uri="{FF2B5EF4-FFF2-40B4-BE49-F238E27FC236}">
                <a16:creationId xmlns:a16="http://schemas.microsoft.com/office/drawing/2014/main" id="{B5B5E855-6129-BF8E-38E4-DABE492848EF}"/>
              </a:ext>
            </a:extLst>
          </p:cNvPr>
          <p:cNvSpPr txBox="1"/>
          <p:nvPr/>
        </p:nvSpPr>
        <p:spPr>
          <a:xfrm>
            <a:off x="6985328" y="3117334"/>
            <a:ext cx="1454244" cy="261610"/>
          </a:xfrm>
          <a:prstGeom prst="rect">
            <a:avLst/>
          </a:prstGeom>
          <a:solidFill>
            <a:schemeClr val="bg2">
              <a:lumMod val="90000"/>
            </a:schemeClr>
          </a:solidFill>
          <a:ln>
            <a:solidFill>
              <a:schemeClr val="bg2">
                <a:lumMod val="75000"/>
              </a:schemeClr>
            </a:solidFill>
          </a:ln>
        </p:spPr>
        <p:txBody>
          <a:bodyPr wrap="none" rtlCol="0">
            <a:spAutoFit/>
          </a:bodyPr>
          <a:lstStyle/>
          <a:p>
            <a:pPr algn="ctr"/>
            <a:r>
              <a:rPr kumimoji="1" lang="ja-GB" altLang="en-US" sz="1100" b="1" dirty="0">
                <a:solidFill>
                  <a:srgbClr val="2F2523"/>
                </a:solidFill>
              </a:rPr>
              <a:t>全ての音楽のリスト</a:t>
            </a:r>
          </a:p>
        </p:txBody>
      </p:sp>
      <p:sp>
        <p:nvSpPr>
          <p:cNvPr id="27" name="テキスト ボックス 26">
            <a:extLst>
              <a:ext uri="{FF2B5EF4-FFF2-40B4-BE49-F238E27FC236}">
                <a16:creationId xmlns:a16="http://schemas.microsoft.com/office/drawing/2014/main" id="{C778D100-76C1-EFEE-66DF-3AC9D653536A}"/>
              </a:ext>
            </a:extLst>
          </p:cNvPr>
          <p:cNvSpPr txBox="1"/>
          <p:nvPr/>
        </p:nvSpPr>
        <p:spPr>
          <a:xfrm>
            <a:off x="7055850" y="5274662"/>
            <a:ext cx="1454244" cy="261610"/>
          </a:xfrm>
          <a:prstGeom prst="rect">
            <a:avLst/>
          </a:prstGeom>
          <a:solidFill>
            <a:schemeClr val="accent5">
              <a:lumMod val="20000"/>
              <a:lumOff val="80000"/>
            </a:schemeClr>
          </a:solidFill>
          <a:ln>
            <a:solidFill>
              <a:schemeClr val="accent5">
                <a:lumMod val="40000"/>
                <a:lumOff val="60000"/>
              </a:schemeClr>
            </a:solidFill>
          </a:ln>
        </p:spPr>
        <p:txBody>
          <a:bodyPr wrap="none" rtlCol="0">
            <a:spAutoFit/>
          </a:bodyPr>
          <a:lstStyle/>
          <a:p>
            <a:pPr algn="ctr"/>
            <a:r>
              <a:rPr kumimoji="1" lang="ja-GB" altLang="en-US" sz="1100" b="1" dirty="0">
                <a:solidFill>
                  <a:srgbClr val="2F2523"/>
                </a:solidFill>
              </a:rPr>
              <a:t>フィルター（順位）</a:t>
            </a:r>
          </a:p>
        </p:txBody>
      </p:sp>
    </p:spTree>
    <p:extLst>
      <p:ext uri="{BB962C8B-B14F-4D97-AF65-F5344CB8AC3E}">
        <p14:creationId xmlns:p14="http://schemas.microsoft.com/office/powerpoint/2010/main" val="3354496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1" grpId="0" animBg="1"/>
      <p:bldP spid="25" grpId="0" animBg="1"/>
      <p:bldP spid="26" grpId="0" animBg="1"/>
      <p:bldP spid="2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C964DB-DC35-9D8F-F7DE-330D8B909656}"/>
              </a:ext>
            </a:extLst>
          </p:cNvPr>
          <p:cNvSpPr>
            <a:spLocks noGrp="1"/>
          </p:cNvSpPr>
          <p:nvPr>
            <p:ph type="title"/>
          </p:nvPr>
        </p:nvSpPr>
        <p:spPr/>
        <p:txBody>
          <a:bodyPr/>
          <a:lstStyle/>
          <a:p>
            <a:r>
              <a:rPr kumimoji="1" lang="ja-GB" altLang="en-US" dirty="0"/>
              <a:t>アルゴリズムを使う上で重要なこと</a:t>
            </a:r>
          </a:p>
        </p:txBody>
      </p:sp>
      <p:sp>
        <p:nvSpPr>
          <p:cNvPr id="3" name="コンテンツ プレースホルダー 2">
            <a:extLst>
              <a:ext uri="{FF2B5EF4-FFF2-40B4-BE49-F238E27FC236}">
                <a16:creationId xmlns:a16="http://schemas.microsoft.com/office/drawing/2014/main" id="{3B75AC96-EF0F-4165-FBB0-234A7DC73363}"/>
              </a:ext>
            </a:extLst>
          </p:cNvPr>
          <p:cNvSpPr>
            <a:spLocks noGrp="1"/>
          </p:cNvSpPr>
          <p:nvPr>
            <p:ph idx="1"/>
          </p:nvPr>
        </p:nvSpPr>
        <p:spPr/>
        <p:txBody>
          <a:bodyPr/>
          <a:lstStyle/>
          <a:p>
            <a:pPr marL="0" indent="0">
              <a:buNone/>
            </a:pPr>
            <a:r>
              <a:rPr kumimoji="1" lang="ja-GB" altLang="en-US" dirty="0"/>
              <a:t>信頼性</a:t>
            </a:r>
            <a:endParaRPr kumimoji="1" lang="en-US" altLang="ja-GB" dirty="0"/>
          </a:p>
          <a:p>
            <a:pPr marL="457200" lvl="1" indent="0">
              <a:buNone/>
            </a:pPr>
            <a:r>
              <a:rPr lang="ja-GB" altLang="en-US" dirty="0"/>
              <a:t>正しく動作することは最も重要なこと</a:t>
            </a:r>
            <a:endParaRPr lang="en-US" altLang="ja-GB" dirty="0"/>
          </a:p>
          <a:p>
            <a:pPr marL="914400" lvl="2" indent="0">
              <a:buNone/>
            </a:pPr>
            <a:r>
              <a:rPr kumimoji="1" lang="ja-GB" altLang="en-US" dirty="0"/>
              <a:t>例</a:t>
            </a:r>
            <a:r>
              <a:rPr kumimoji="1" lang="en-US" altLang="ja-GB" dirty="0"/>
              <a:t>1</a:t>
            </a:r>
            <a:r>
              <a:rPr lang="ja-GB" altLang="en-US" dirty="0"/>
              <a:t>）銀行システム：残高を正しく計算する</a:t>
            </a:r>
            <a:endParaRPr lang="en-US" altLang="ja-GB" dirty="0"/>
          </a:p>
          <a:p>
            <a:pPr marL="914400" lvl="2" indent="0">
              <a:buNone/>
            </a:pPr>
            <a:r>
              <a:rPr kumimoji="1" lang="ja-GB" altLang="en-US" dirty="0"/>
              <a:t>例</a:t>
            </a:r>
            <a:r>
              <a:rPr kumimoji="1" lang="en-US" altLang="ja-GB" dirty="0"/>
              <a:t>2</a:t>
            </a:r>
            <a:r>
              <a:rPr kumimoji="1" lang="ja-GB" altLang="en-US" dirty="0"/>
              <a:t>）自動車の燃料噴射装置：適切な量を噴射する</a:t>
            </a:r>
            <a:endParaRPr kumimoji="1" lang="en-US" altLang="ja-GB" dirty="0"/>
          </a:p>
          <a:p>
            <a:pPr marL="914400" lvl="2" indent="0">
              <a:buNone/>
            </a:pPr>
            <a:r>
              <a:rPr lang="ja-GB" altLang="en-US" dirty="0"/>
              <a:t>その他，飛行機の墜落や</a:t>
            </a:r>
            <a:r>
              <a:rPr lang="en-US" altLang="ja-GB" dirty="0"/>
              <a:t>OS</a:t>
            </a:r>
            <a:r>
              <a:rPr lang="ja-GB" altLang="en-US" dirty="0"/>
              <a:t>の異常停止は望ましくない</a:t>
            </a:r>
            <a:endParaRPr lang="en-US" altLang="ja-GB" dirty="0"/>
          </a:p>
          <a:p>
            <a:pPr lvl="1"/>
            <a:endParaRPr kumimoji="1" lang="en-US" altLang="ja-GB" dirty="0"/>
          </a:p>
          <a:p>
            <a:pPr marL="0" indent="0">
              <a:buNone/>
            </a:pPr>
            <a:r>
              <a:rPr lang="ja-GB" altLang="en-US" dirty="0"/>
              <a:t>計算速度</a:t>
            </a:r>
            <a:endParaRPr lang="en-US" altLang="ja-GB" dirty="0"/>
          </a:p>
          <a:p>
            <a:pPr marL="457200" lvl="1" indent="0">
              <a:buNone/>
            </a:pPr>
            <a:r>
              <a:rPr lang="ja-GB" altLang="en-US" dirty="0"/>
              <a:t>速さが</a:t>
            </a:r>
            <a:r>
              <a:rPr kumimoji="1" lang="ja-GB" altLang="en-US" dirty="0"/>
              <a:t>信頼性を決めることもある</a:t>
            </a:r>
            <a:endParaRPr kumimoji="1" lang="en-US" altLang="ja-GB" dirty="0"/>
          </a:p>
          <a:p>
            <a:pPr marL="914400" lvl="2" indent="0">
              <a:buNone/>
            </a:pPr>
            <a:r>
              <a:rPr lang="ja-GB" altLang="en-US" dirty="0"/>
              <a:t>例</a:t>
            </a:r>
            <a:r>
              <a:rPr lang="en-US" altLang="ja-GB" dirty="0"/>
              <a:t>1</a:t>
            </a:r>
            <a:r>
              <a:rPr lang="ja-GB" altLang="en-US" dirty="0"/>
              <a:t>）飛行機の障害物警告プログラム：接近前に警告しなければならない</a:t>
            </a:r>
            <a:endParaRPr lang="en-US" altLang="ja-GB" dirty="0"/>
          </a:p>
          <a:p>
            <a:pPr marL="914400" lvl="2" indent="0">
              <a:buNone/>
            </a:pPr>
            <a:r>
              <a:rPr kumimoji="1" lang="ja-GB" altLang="en-US" dirty="0"/>
              <a:t>例</a:t>
            </a:r>
            <a:r>
              <a:rPr kumimoji="1" lang="en-US" altLang="ja-GB" dirty="0"/>
              <a:t>2</a:t>
            </a:r>
            <a:r>
              <a:rPr kumimoji="1" lang="ja-GB" altLang="en-US" dirty="0"/>
              <a:t>）スマホアプリ：ユーザーが不快を感じる前に起動することが望ましい</a:t>
            </a:r>
            <a:endParaRPr kumimoji="1" lang="en-US" altLang="ja-GB" dirty="0"/>
          </a:p>
          <a:p>
            <a:pPr marL="914400" lvl="2" indent="0">
              <a:buNone/>
            </a:pPr>
            <a:r>
              <a:rPr lang="ja-GB" altLang="en-US" dirty="0"/>
              <a:t>例</a:t>
            </a:r>
            <a:r>
              <a:rPr lang="en-US" altLang="ja-GB" dirty="0"/>
              <a:t>3</a:t>
            </a:r>
            <a:r>
              <a:rPr lang="ja-GB" altLang="en-US" dirty="0"/>
              <a:t>）データベース：リクエストが届くより速く処理を終えなければ溢れる</a:t>
            </a:r>
            <a:endParaRPr lang="en-US" altLang="ja-GB" dirty="0"/>
          </a:p>
          <a:p>
            <a:pPr marL="914400" lvl="2" indent="0">
              <a:buNone/>
            </a:pPr>
            <a:r>
              <a:rPr kumimoji="1" lang="ja-GB" altLang="en-US" dirty="0"/>
              <a:t>例</a:t>
            </a:r>
            <a:r>
              <a:rPr kumimoji="1" lang="en-US" altLang="ja-GB" dirty="0"/>
              <a:t>4</a:t>
            </a:r>
            <a:r>
              <a:rPr kumimoji="1" lang="ja-GB" altLang="en-US" dirty="0"/>
              <a:t>）生物学研究：系統推論の計算時間がかかりすぎると研究にならない</a:t>
            </a:r>
          </a:p>
        </p:txBody>
      </p:sp>
    </p:spTree>
    <p:extLst>
      <p:ext uri="{BB962C8B-B14F-4D97-AF65-F5344CB8AC3E}">
        <p14:creationId xmlns:p14="http://schemas.microsoft.com/office/powerpoint/2010/main" val="20584398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F1E01F-536E-B74D-782F-43E06F6C8039}"/>
              </a:ext>
            </a:extLst>
          </p:cNvPr>
          <p:cNvSpPr>
            <a:spLocks noGrp="1"/>
          </p:cNvSpPr>
          <p:nvPr>
            <p:ph type="title"/>
          </p:nvPr>
        </p:nvSpPr>
        <p:spPr/>
        <p:txBody>
          <a:bodyPr/>
          <a:lstStyle/>
          <a:p>
            <a:r>
              <a:rPr lang="ja-GB" altLang="en-US" dirty="0"/>
              <a:t>計算複雑性と概念的複雑性のトレードオフ</a:t>
            </a:r>
            <a:endParaRPr kumimoji="1" lang="ja-GB" altLang="en-US" dirty="0"/>
          </a:p>
        </p:txBody>
      </p:sp>
      <p:sp>
        <p:nvSpPr>
          <p:cNvPr id="3" name="コンテンツ プレースホルダー 2">
            <a:extLst>
              <a:ext uri="{FF2B5EF4-FFF2-40B4-BE49-F238E27FC236}">
                <a16:creationId xmlns:a16="http://schemas.microsoft.com/office/drawing/2014/main" id="{CF1A3FD5-E17D-0F5E-DADF-D14B152CA989}"/>
              </a:ext>
            </a:extLst>
          </p:cNvPr>
          <p:cNvSpPr>
            <a:spLocks noGrp="1"/>
          </p:cNvSpPr>
          <p:nvPr>
            <p:ph idx="1"/>
          </p:nvPr>
        </p:nvSpPr>
        <p:spPr/>
        <p:txBody>
          <a:bodyPr/>
          <a:lstStyle/>
          <a:p>
            <a:pPr marL="0" indent="0">
              <a:buNone/>
            </a:pPr>
            <a:r>
              <a:rPr kumimoji="1" lang="ja-GB" altLang="en-US" dirty="0"/>
              <a:t>アルゴリズムの処理効率と分かりやすさの両立は難しい</a:t>
            </a:r>
            <a:endParaRPr kumimoji="1" lang="en-US" altLang="ja-GB" dirty="0"/>
          </a:p>
          <a:p>
            <a:pPr marL="457200" lvl="1" indent="0">
              <a:buNone/>
            </a:pPr>
            <a:r>
              <a:rPr lang="ja-GB" altLang="en-US" dirty="0"/>
              <a:t>計算複雑性（</a:t>
            </a:r>
            <a:r>
              <a:rPr lang="en-US" altLang="ja-GB" dirty="0"/>
              <a:t>computational complexity</a:t>
            </a:r>
            <a:r>
              <a:rPr lang="ja-GB" altLang="en-US" dirty="0"/>
              <a:t>）</a:t>
            </a:r>
            <a:endParaRPr lang="en-US" altLang="ja-GB" dirty="0"/>
          </a:p>
          <a:p>
            <a:pPr marL="914400" lvl="2" indent="0">
              <a:buNone/>
            </a:pPr>
            <a:r>
              <a:rPr lang="ja-GB" altLang="en-US" dirty="0"/>
              <a:t>計算の</a:t>
            </a:r>
            <a:r>
              <a:rPr kumimoji="1" lang="ja-GB" altLang="en-US" dirty="0"/>
              <a:t>手順としての複雑さ（≒</a:t>
            </a:r>
            <a:r>
              <a:rPr kumimoji="1" lang="ja-GB" altLang="en-US" dirty="0">
                <a:solidFill>
                  <a:srgbClr val="0070C0"/>
                </a:solidFill>
              </a:rPr>
              <a:t>処理の遅さ</a:t>
            </a:r>
            <a:r>
              <a:rPr kumimoji="1" lang="ja-GB" altLang="en-US" dirty="0"/>
              <a:t>，計算時間）</a:t>
            </a:r>
            <a:endParaRPr kumimoji="1" lang="en-US" altLang="ja-GB" dirty="0"/>
          </a:p>
          <a:p>
            <a:pPr marL="457200" lvl="1" indent="0">
              <a:buNone/>
            </a:pPr>
            <a:r>
              <a:rPr kumimoji="1" lang="ja-GB" altLang="en-US" dirty="0"/>
              <a:t>概念的複雑性（</a:t>
            </a:r>
            <a:r>
              <a:rPr kumimoji="1" lang="en-US" altLang="ja-GB" dirty="0"/>
              <a:t>conceptual complexity</a:t>
            </a:r>
            <a:r>
              <a:rPr kumimoji="1" lang="ja-GB" altLang="en-US" dirty="0"/>
              <a:t>）</a:t>
            </a:r>
            <a:endParaRPr kumimoji="1" lang="en-US" altLang="ja-GB" dirty="0"/>
          </a:p>
          <a:p>
            <a:pPr marL="914400" lvl="2" indent="0">
              <a:buNone/>
            </a:pPr>
            <a:r>
              <a:rPr lang="ja-GB" altLang="en-US" dirty="0"/>
              <a:t>計算を考える上での複雑さ（≒</a:t>
            </a:r>
            <a:r>
              <a:rPr lang="ja-GB" altLang="en-US" dirty="0">
                <a:solidFill>
                  <a:srgbClr val="0070C0"/>
                </a:solidFill>
              </a:rPr>
              <a:t>実装の難解さ</a:t>
            </a:r>
            <a:r>
              <a:rPr lang="ja-GB" altLang="en-US" dirty="0"/>
              <a:t>，認知負荷）</a:t>
            </a:r>
            <a:endParaRPr lang="en-US" altLang="ja-GB" dirty="0"/>
          </a:p>
          <a:p>
            <a:pPr marL="457200" lvl="1" indent="0">
              <a:buNone/>
            </a:pPr>
            <a:r>
              <a:rPr kumimoji="1" lang="ja-GB" altLang="en-US" dirty="0"/>
              <a:t>トレードオフ</a:t>
            </a:r>
            <a:endParaRPr kumimoji="1" lang="en-US" altLang="ja-GB" dirty="0"/>
          </a:p>
          <a:p>
            <a:pPr marL="914400" lvl="2" indent="0">
              <a:buNone/>
            </a:pPr>
            <a:r>
              <a:rPr kumimoji="1" lang="ja-GB" altLang="en-US" dirty="0">
                <a:solidFill>
                  <a:srgbClr val="0070C0"/>
                </a:solidFill>
              </a:rPr>
              <a:t>一方を重視すればもう一方が損なわれる</a:t>
            </a:r>
            <a:r>
              <a:rPr kumimoji="1" lang="ja-GB" altLang="en-US" dirty="0"/>
              <a:t>関係性</a:t>
            </a:r>
            <a:endParaRPr kumimoji="1" lang="en-US" altLang="ja-GB" dirty="0"/>
          </a:p>
          <a:p>
            <a:pPr marL="0" indent="0">
              <a:buNone/>
            </a:pPr>
            <a:endParaRPr lang="en-US" altLang="ja-GB" dirty="0"/>
          </a:p>
          <a:p>
            <a:pPr marL="0" indent="0" algn="ctr">
              <a:buNone/>
            </a:pPr>
            <a:r>
              <a:rPr lang="en-US" altLang="ja-GB" sz="2300" dirty="0"/>
              <a:t>↓</a:t>
            </a:r>
          </a:p>
          <a:p>
            <a:pPr marL="0" indent="0" algn="ctr">
              <a:buNone/>
            </a:pPr>
            <a:endParaRPr lang="en-US" altLang="ja-GB" sz="2300" dirty="0"/>
          </a:p>
          <a:p>
            <a:pPr marL="0" indent="0" algn="ctr">
              <a:buNone/>
            </a:pPr>
            <a:r>
              <a:rPr lang="ja-GB" altLang="en-US" sz="2300" dirty="0"/>
              <a:t>理解や実装がしやすくて速いアルゴリズムはなかなかない</a:t>
            </a:r>
            <a:r>
              <a:rPr lang="en-US" altLang="ja-GB" sz="2300" baseline="30000" dirty="0"/>
              <a:t>※</a:t>
            </a:r>
          </a:p>
          <a:p>
            <a:pPr marL="0" indent="0" algn="ctr">
              <a:buNone/>
            </a:pPr>
            <a:r>
              <a:rPr lang="en-US" altLang="ja-GB" sz="1800" dirty="0"/>
              <a:t>→</a:t>
            </a:r>
            <a:r>
              <a:rPr lang="ja-GB" altLang="en-US" sz="1800" dirty="0"/>
              <a:t>開発・運用コストを考えると</a:t>
            </a:r>
            <a:r>
              <a:rPr lang="ja-GB" altLang="en-US" sz="1800" dirty="0">
                <a:solidFill>
                  <a:schemeClr val="accent2"/>
                </a:solidFill>
              </a:rPr>
              <a:t>要求に対して十分な速さのアルゴリズムを選ぶことが重要</a:t>
            </a:r>
            <a:endParaRPr lang="en-US" altLang="ja-GB" sz="1800" dirty="0">
              <a:solidFill>
                <a:schemeClr val="accent2"/>
              </a:solidFill>
            </a:endParaRPr>
          </a:p>
        </p:txBody>
      </p:sp>
      <p:sp>
        <p:nvSpPr>
          <p:cNvPr id="4" name="テキスト ボックス 3">
            <a:extLst>
              <a:ext uri="{FF2B5EF4-FFF2-40B4-BE49-F238E27FC236}">
                <a16:creationId xmlns:a16="http://schemas.microsoft.com/office/drawing/2014/main" id="{D712AC59-E650-63E1-360A-63BFA695D3D4}"/>
              </a:ext>
            </a:extLst>
          </p:cNvPr>
          <p:cNvSpPr txBox="1"/>
          <p:nvPr/>
        </p:nvSpPr>
        <p:spPr>
          <a:xfrm>
            <a:off x="438500" y="6440774"/>
            <a:ext cx="8267007" cy="276999"/>
          </a:xfrm>
          <a:prstGeom prst="rect">
            <a:avLst/>
          </a:prstGeom>
          <a:noFill/>
        </p:spPr>
        <p:txBody>
          <a:bodyPr wrap="none" rtlCol="0">
            <a:spAutoFit/>
          </a:bodyPr>
          <a:lstStyle/>
          <a:p>
            <a:pPr algn="ctr"/>
            <a:r>
              <a:rPr lang="en-US" altLang="ja-GB" sz="1200" dirty="0"/>
              <a:t>※</a:t>
            </a:r>
            <a:r>
              <a:rPr lang="ja-GB" altLang="en-US" sz="1200" dirty="0"/>
              <a:t>正確には，「あるならそれを使えば良いが，現実としてトレードオフに直面し，意思決定を求められる場面は多い」</a:t>
            </a:r>
            <a:endParaRPr lang="en-US" altLang="ja-GB" sz="1200" dirty="0"/>
          </a:p>
        </p:txBody>
      </p:sp>
    </p:spTree>
    <p:extLst>
      <p:ext uri="{BB962C8B-B14F-4D97-AF65-F5344CB8AC3E}">
        <p14:creationId xmlns:p14="http://schemas.microsoft.com/office/powerpoint/2010/main" val="19537202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A2268-B82F-24FB-ED9C-060E1F9251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6399CDE-1F43-F7E2-E66D-C9E8F99E861B}"/>
              </a:ext>
            </a:extLst>
          </p:cNvPr>
          <p:cNvSpPr>
            <a:spLocks noGrp="1"/>
          </p:cNvSpPr>
          <p:nvPr>
            <p:ph type="title"/>
          </p:nvPr>
        </p:nvSpPr>
        <p:spPr/>
        <p:txBody>
          <a:bodyPr/>
          <a:lstStyle/>
          <a:p>
            <a:r>
              <a:rPr kumimoji="1" lang="ja-GB" altLang="en-US" dirty="0"/>
              <a:t>アルゴリズムの速さをどう見積もるか？</a:t>
            </a:r>
          </a:p>
        </p:txBody>
      </p:sp>
      <p:sp>
        <p:nvSpPr>
          <p:cNvPr id="4" name="コンテンツ プレースホルダー 3">
            <a:extLst>
              <a:ext uri="{FF2B5EF4-FFF2-40B4-BE49-F238E27FC236}">
                <a16:creationId xmlns:a16="http://schemas.microsoft.com/office/drawing/2014/main" id="{282CFD86-5BD3-49F8-7FC4-0F3ED0C7F463}"/>
              </a:ext>
            </a:extLst>
          </p:cNvPr>
          <p:cNvSpPr>
            <a:spLocks noGrp="1"/>
          </p:cNvSpPr>
          <p:nvPr>
            <p:ph idx="1"/>
          </p:nvPr>
        </p:nvSpPr>
        <p:spPr/>
        <p:txBody>
          <a:bodyPr/>
          <a:lstStyle/>
          <a:p>
            <a:pPr marL="0" indent="0">
              <a:buNone/>
            </a:pPr>
            <a:r>
              <a:rPr lang="ja-GB" altLang="en-US" dirty="0"/>
              <a:t>「実際に実行して時間を測る」方法は簡単だが万能ではない</a:t>
            </a:r>
            <a:endParaRPr lang="en-US" altLang="ja-GB" dirty="0"/>
          </a:p>
          <a:p>
            <a:pPr lvl="1"/>
            <a:r>
              <a:rPr lang="ja-GB" altLang="en-US" dirty="0"/>
              <a:t>プログラムを動かす計算機に依存する（例：開発者の</a:t>
            </a:r>
            <a:r>
              <a:rPr lang="en-US" altLang="ja-GB" dirty="0"/>
              <a:t>PC vs </a:t>
            </a:r>
            <a:r>
              <a:rPr lang="ja-GB" altLang="en-US" dirty="0"/>
              <a:t>格安スマホ）</a:t>
            </a:r>
            <a:endParaRPr lang="en-US" altLang="ja-GB" dirty="0"/>
          </a:p>
          <a:p>
            <a:pPr lvl="1"/>
            <a:r>
              <a:rPr lang="ja-GB" altLang="en-US" dirty="0"/>
              <a:t>実装するプログラミング言語に依存する</a:t>
            </a:r>
            <a:endParaRPr lang="en-US" altLang="ja-GB" dirty="0"/>
          </a:p>
          <a:p>
            <a:pPr lvl="1"/>
            <a:r>
              <a:rPr lang="ja-GB" altLang="en-US" dirty="0"/>
              <a:t>プログラムの書き方に依存する</a:t>
            </a:r>
            <a:endParaRPr lang="en-US" altLang="ja-GB" dirty="0"/>
          </a:p>
          <a:p>
            <a:pPr lvl="1"/>
            <a:r>
              <a:rPr lang="ja-GB" altLang="en-US" dirty="0"/>
              <a:t>入力データの数に依存する</a:t>
            </a:r>
            <a:endParaRPr lang="en-US" altLang="ja-GB" dirty="0"/>
          </a:p>
          <a:p>
            <a:pPr marL="0" indent="0" algn="ctr">
              <a:buNone/>
            </a:pPr>
            <a:endParaRPr lang="en-US" altLang="ja-GB" dirty="0"/>
          </a:p>
          <a:p>
            <a:pPr marL="0" indent="0" algn="ctr">
              <a:buNone/>
            </a:pPr>
            <a:r>
              <a:rPr lang="en-US" altLang="ja-GB" dirty="0"/>
              <a:t>↓</a:t>
            </a:r>
          </a:p>
          <a:p>
            <a:pPr marL="0" indent="0" algn="ctr">
              <a:buNone/>
            </a:pPr>
            <a:endParaRPr lang="en-US" altLang="ja-GB" dirty="0"/>
          </a:p>
          <a:p>
            <a:pPr marL="0" indent="0" algn="ctr">
              <a:buNone/>
            </a:pPr>
            <a:r>
              <a:rPr lang="ja-GB" altLang="en-US" dirty="0"/>
              <a:t>計算にかかる時間を事前に簡単に見積もりたい</a:t>
            </a:r>
            <a:endParaRPr lang="en-US" altLang="ja-GB" dirty="0"/>
          </a:p>
          <a:p>
            <a:pPr lvl="1"/>
            <a:endParaRPr lang="en-US" altLang="ja-GB" dirty="0"/>
          </a:p>
          <a:p>
            <a:endParaRPr lang="en-US" altLang="ja-GB" dirty="0"/>
          </a:p>
        </p:txBody>
      </p:sp>
    </p:spTree>
    <p:extLst>
      <p:ext uri="{BB962C8B-B14F-4D97-AF65-F5344CB8AC3E}">
        <p14:creationId xmlns:p14="http://schemas.microsoft.com/office/powerpoint/2010/main" val="15797560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A38336-7174-1241-DA98-D1B8E73E4238}"/>
              </a:ext>
            </a:extLst>
          </p:cNvPr>
          <p:cNvSpPr>
            <a:spLocks noGrp="1"/>
          </p:cNvSpPr>
          <p:nvPr>
            <p:ph type="title"/>
          </p:nvPr>
        </p:nvSpPr>
        <p:spPr/>
        <p:txBody>
          <a:bodyPr/>
          <a:lstStyle/>
          <a:p>
            <a:r>
              <a:rPr kumimoji="1" lang="ja-GB" altLang="en-US" dirty="0"/>
              <a:t>工夫</a:t>
            </a:r>
            <a:r>
              <a:rPr kumimoji="1" lang="en-US" altLang="ja-GB" dirty="0"/>
              <a:t>1</a:t>
            </a:r>
            <a:r>
              <a:rPr lang="ja-GB" altLang="en-US" dirty="0"/>
              <a:t>：</a:t>
            </a:r>
            <a:r>
              <a:rPr kumimoji="1" lang="ja-GB" altLang="en-US" dirty="0"/>
              <a:t>時間計測方法の抽象化</a:t>
            </a:r>
          </a:p>
        </p:txBody>
      </p:sp>
      <p:sp>
        <p:nvSpPr>
          <p:cNvPr id="3" name="コンテンツ プレースホルダー 2">
            <a:extLst>
              <a:ext uri="{FF2B5EF4-FFF2-40B4-BE49-F238E27FC236}">
                <a16:creationId xmlns:a16="http://schemas.microsoft.com/office/drawing/2014/main" id="{3D0EFE7D-BCC7-23D5-FEFB-6E1C4713AE1C}"/>
              </a:ext>
            </a:extLst>
          </p:cNvPr>
          <p:cNvSpPr>
            <a:spLocks noGrp="1"/>
          </p:cNvSpPr>
          <p:nvPr>
            <p:ph idx="1"/>
          </p:nvPr>
        </p:nvSpPr>
        <p:spPr/>
        <p:txBody>
          <a:bodyPr/>
          <a:lstStyle/>
          <a:p>
            <a:pPr marL="0" indent="0">
              <a:buNone/>
            </a:pPr>
            <a:r>
              <a:rPr lang="ja-GB" altLang="en-US" dirty="0"/>
              <a:t>条件を一般化して，おおよその計算時間が簡単に分かる式を作る</a:t>
            </a:r>
            <a:endParaRPr kumimoji="1" lang="en-US" altLang="ja-GB" dirty="0"/>
          </a:p>
          <a:p>
            <a:pPr marL="457200" lvl="1" indent="0">
              <a:buNone/>
            </a:pPr>
            <a:r>
              <a:rPr kumimoji="1" lang="ja-GB" altLang="en-US" dirty="0"/>
              <a:t>例</a:t>
            </a:r>
            <a:r>
              <a:rPr kumimoji="1" lang="en-US" altLang="ja-GB" dirty="0"/>
              <a:t>1</a:t>
            </a:r>
            <a:r>
              <a:rPr kumimoji="1" lang="ja-GB" altLang="en-US" dirty="0"/>
              <a:t>）計算機の抽象化（ランダムアクセス機械）</a:t>
            </a:r>
            <a:endParaRPr kumimoji="1" lang="en-US" altLang="ja-GB" dirty="0"/>
          </a:p>
          <a:p>
            <a:pPr lvl="2"/>
            <a:r>
              <a:rPr kumimoji="1" lang="ja-GB" altLang="en-US" dirty="0"/>
              <a:t>変数作成，比較，演算，メモリ参照などの基本操作を一定時間で行う装置を仮定する</a:t>
            </a:r>
            <a:endParaRPr kumimoji="1" lang="en-US" altLang="ja-GB" dirty="0"/>
          </a:p>
          <a:p>
            <a:pPr marL="457200" lvl="1" indent="0">
              <a:buNone/>
            </a:pPr>
            <a:r>
              <a:rPr lang="ja-GB" altLang="en-US" dirty="0"/>
              <a:t>例</a:t>
            </a:r>
            <a:r>
              <a:rPr lang="en-US" altLang="ja-GB" dirty="0"/>
              <a:t>2</a:t>
            </a:r>
            <a:r>
              <a:rPr lang="ja-GB" altLang="en-US" dirty="0"/>
              <a:t>）計算時間の抽象化（ステップ数）</a:t>
            </a:r>
            <a:endParaRPr lang="en-US" altLang="ja-GB" dirty="0"/>
          </a:p>
          <a:p>
            <a:pPr lvl="2"/>
            <a:r>
              <a:rPr kumimoji="1" lang="ja-GB" altLang="en-US" dirty="0"/>
              <a:t>アルゴリズムに含まれる基本操作の回数（ステップ数）を数える</a:t>
            </a:r>
            <a:endParaRPr kumimoji="1" lang="en-US" altLang="ja-GB" dirty="0"/>
          </a:p>
          <a:p>
            <a:pPr lvl="2"/>
            <a:r>
              <a:rPr lang="ja-GB" altLang="en-US" dirty="0"/>
              <a:t>ステップ数を一般的な処理時間の見積もりとして用いる</a:t>
            </a:r>
            <a:endParaRPr lang="en-US" altLang="ja-GB" dirty="0"/>
          </a:p>
          <a:p>
            <a:pPr marL="1371600" lvl="3" indent="0">
              <a:buNone/>
            </a:pPr>
            <a:r>
              <a:rPr lang="en-US" altLang="ja-GB" dirty="0"/>
              <a:t>→</a:t>
            </a:r>
            <a:r>
              <a:rPr lang="en-US" altLang="ja-GB" dirty="0">
                <a:solidFill>
                  <a:srgbClr val="0070C0"/>
                </a:solidFill>
              </a:rPr>
              <a:t>CPU</a:t>
            </a:r>
            <a:r>
              <a:rPr lang="ja-GB" altLang="en-US" dirty="0">
                <a:solidFill>
                  <a:srgbClr val="0070C0"/>
                </a:solidFill>
              </a:rPr>
              <a:t>の処理性能などを代入すればおおよその時間がわかる</a:t>
            </a:r>
            <a:endParaRPr lang="en-US" altLang="ja-GB" dirty="0">
              <a:solidFill>
                <a:srgbClr val="0070C0"/>
              </a:solidFill>
            </a:endParaRPr>
          </a:p>
          <a:p>
            <a:pPr lvl="2"/>
            <a:endParaRPr lang="en-US" altLang="ja-GB" dirty="0"/>
          </a:p>
          <a:p>
            <a:pPr marL="457200" lvl="1" indent="0">
              <a:buNone/>
            </a:pPr>
            <a:r>
              <a:rPr kumimoji="1" lang="ja-GB" altLang="en-US" dirty="0"/>
              <a:t>例</a:t>
            </a:r>
            <a:r>
              <a:rPr kumimoji="1" lang="en-US" altLang="ja-GB" dirty="0"/>
              <a:t>3</a:t>
            </a:r>
            <a:r>
              <a:rPr kumimoji="1" lang="ja-GB" altLang="en-US" dirty="0"/>
              <a:t>）入力データの変数化</a:t>
            </a:r>
            <a:endParaRPr kumimoji="1" lang="en-US" altLang="ja-GB" dirty="0"/>
          </a:p>
          <a:p>
            <a:pPr lvl="2"/>
            <a:r>
              <a:rPr lang="ja-GB" altLang="en-US" dirty="0"/>
              <a:t>入力データサイズを変数（</a:t>
            </a:r>
            <a:r>
              <a:rPr lang="en-US" altLang="ja-GB" dirty="0"/>
              <a:t>n</a:t>
            </a:r>
            <a:r>
              <a:rPr lang="ja-GB" altLang="en-US" dirty="0"/>
              <a:t>など）として，一般的に取り扱う</a:t>
            </a:r>
            <a:endParaRPr lang="en-US" altLang="ja-GB" dirty="0"/>
          </a:p>
          <a:p>
            <a:pPr marL="1371600" lvl="3" indent="0">
              <a:buNone/>
            </a:pPr>
            <a:r>
              <a:rPr lang="en-US" altLang="ja-GB" dirty="0"/>
              <a:t>→</a:t>
            </a:r>
            <a:r>
              <a:rPr lang="ja-GB" altLang="en-US" dirty="0">
                <a:solidFill>
                  <a:srgbClr val="0070C0"/>
                </a:solidFill>
              </a:rPr>
              <a:t>条件が変化した場合でも，変数の値を変えればステップ数がわかる</a:t>
            </a:r>
            <a:endParaRPr lang="en-US" altLang="ja-GB" dirty="0">
              <a:solidFill>
                <a:srgbClr val="0070C0"/>
              </a:solidFill>
            </a:endParaRPr>
          </a:p>
        </p:txBody>
      </p:sp>
    </p:spTree>
    <p:extLst>
      <p:ext uri="{BB962C8B-B14F-4D97-AF65-F5344CB8AC3E}">
        <p14:creationId xmlns:p14="http://schemas.microsoft.com/office/powerpoint/2010/main" val="27950681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A259C0-CDFE-FD7A-2CD6-056A6B5174E2}"/>
              </a:ext>
            </a:extLst>
          </p:cNvPr>
          <p:cNvSpPr>
            <a:spLocks noGrp="1"/>
          </p:cNvSpPr>
          <p:nvPr>
            <p:ph type="title"/>
          </p:nvPr>
        </p:nvSpPr>
        <p:spPr/>
        <p:txBody>
          <a:bodyPr/>
          <a:lstStyle/>
          <a:p>
            <a:r>
              <a:rPr kumimoji="1" lang="ja-GB" altLang="en-US" dirty="0"/>
              <a:t>工夫</a:t>
            </a:r>
            <a:r>
              <a:rPr kumimoji="1" lang="en-US" altLang="ja-GB" dirty="0"/>
              <a:t>2</a:t>
            </a:r>
            <a:r>
              <a:rPr kumimoji="1" lang="ja-GB" altLang="en-US" dirty="0"/>
              <a:t>：想定パターンを減らす</a:t>
            </a:r>
          </a:p>
        </p:txBody>
      </p:sp>
      <p:sp>
        <p:nvSpPr>
          <p:cNvPr id="3" name="コンテンツ プレースホルダー 2">
            <a:extLst>
              <a:ext uri="{FF2B5EF4-FFF2-40B4-BE49-F238E27FC236}">
                <a16:creationId xmlns:a16="http://schemas.microsoft.com/office/drawing/2014/main" id="{3D82FB72-B2C6-5721-2A0A-AD78F82FF7E0}"/>
              </a:ext>
            </a:extLst>
          </p:cNvPr>
          <p:cNvSpPr>
            <a:spLocks noGrp="1"/>
          </p:cNvSpPr>
          <p:nvPr>
            <p:ph idx="1"/>
          </p:nvPr>
        </p:nvSpPr>
        <p:spPr/>
        <p:txBody>
          <a:bodyPr/>
          <a:lstStyle/>
          <a:p>
            <a:pPr marL="0" indent="0">
              <a:buNone/>
            </a:pPr>
            <a:r>
              <a:rPr kumimoji="1" lang="ja-GB" altLang="en-US" dirty="0"/>
              <a:t>全ての条件を網羅的に検証する必要はあまりない</a:t>
            </a:r>
            <a:endParaRPr kumimoji="1" lang="en-US" altLang="ja-GB" dirty="0"/>
          </a:p>
          <a:p>
            <a:pPr marL="457200" lvl="1" indent="0">
              <a:buNone/>
            </a:pPr>
            <a:r>
              <a:rPr lang="ja-GB" altLang="en-US" dirty="0"/>
              <a:t>一般にはおおまかに次の三つが想定される</a:t>
            </a:r>
            <a:endParaRPr lang="en-US" altLang="ja-GB" dirty="0"/>
          </a:p>
          <a:p>
            <a:pPr lvl="2"/>
            <a:r>
              <a:rPr lang="ja-JP" altLang="en-US"/>
              <a:t>最良計算時間：想定される入力のうち，</a:t>
            </a:r>
            <a:r>
              <a:rPr lang="ja-JP" altLang="en-US">
                <a:solidFill>
                  <a:srgbClr val="0070C0"/>
                </a:solidFill>
              </a:rPr>
              <a:t>最も</a:t>
            </a:r>
            <a:r>
              <a:rPr lang="ja-GB" altLang="en-US" dirty="0">
                <a:solidFill>
                  <a:srgbClr val="0070C0"/>
                </a:solidFill>
              </a:rPr>
              <a:t>短い</a:t>
            </a:r>
            <a:r>
              <a:rPr lang="ja-JP" altLang="en-US">
                <a:solidFill>
                  <a:srgbClr val="0070C0"/>
                </a:solidFill>
              </a:rPr>
              <a:t>処理時間</a:t>
            </a:r>
            <a:endParaRPr lang="en-US" altLang="ja-JP" dirty="0">
              <a:solidFill>
                <a:srgbClr val="0070C0"/>
              </a:solidFill>
            </a:endParaRPr>
          </a:p>
          <a:p>
            <a:pPr lvl="2"/>
            <a:r>
              <a:rPr lang="ja-JP" altLang="en-US"/>
              <a:t>最悪計算時間：想定される入力のうち，</a:t>
            </a:r>
            <a:r>
              <a:rPr lang="ja-JP" altLang="en-US">
                <a:solidFill>
                  <a:srgbClr val="0070C0"/>
                </a:solidFill>
              </a:rPr>
              <a:t>最も</a:t>
            </a:r>
            <a:r>
              <a:rPr lang="ja-GB" altLang="en-US" dirty="0">
                <a:solidFill>
                  <a:srgbClr val="0070C0"/>
                </a:solidFill>
              </a:rPr>
              <a:t>長い</a:t>
            </a:r>
            <a:r>
              <a:rPr lang="ja-JP" altLang="en-US">
                <a:solidFill>
                  <a:srgbClr val="0070C0"/>
                </a:solidFill>
              </a:rPr>
              <a:t>処理時間</a:t>
            </a:r>
            <a:endParaRPr lang="en-US" altLang="ja-JP" dirty="0">
              <a:solidFill>
                <a:srgbClr val="0070C0"/>
              </a:solidFill>
            </a:endParaRPr>
          </a:p>
          <a:p>
            <a:pPr lvl="2"/>
            <a:r>
              <a:rPr lang="ja-JP" altLang="en-US"/>
              <a:t>平均計算時間：想定される全ての入力の</a:t>
            </a:r>
            <a:r>
              <a:rPr lang="ja-JP" altLang="en-US">
                <a:solidFill>
                  <a:srgbClr val="0070C0"/>
                </a:solidFill>
              </a:rPr>
              <a:t>平均的な処理時間</a:t>
            </a:r>
            <a:endParaRPr lang="en-US" altLang="ja-JP" dirty="0">
              <a:solidFill>
                <a:srgbClr val="0070C0"/>
              </a:solidFill>
            </a:endParaRPr>
          </a:p>
          <a:p>
            <a:pPr lvl="2"/>
            <a:endParaRPr lang="en-US" altLang="ja-JP" dirty="0"/>
          </a:p>
          <a:p>
            <a:pPr marL="457200" lvl="1" indent="0">
              <a:buNone/>
            </a:pPr>
            <a:r>
              <a:rPr lang="ja-JP" altLang="en-US"/>
              <a:t>例）二つの鍵がついた玄関ドアを開錠する</a:t>
            </a:r>
            <a:endParaRPr lang="en-US" altLang="ja-JP" dirty="0"/>
          </a:p>
          <a:p>
            <a:pPr lvl="2"/>
            <a:r>
              <a:rPr lang="ja-JP" altLang="en-US"/>
              <a:t>鍵の確認，鍵を回す操作を</a:t>
            </a:r>
            <a:r>
              <a:rPr lang="en-US" altLang="ja-JP" dirty="0"/>
              <a:t>1</a:t>
            </a:r>
            <a:r>
              <a:rPr lang="ja-JP" altLang="en-US"/>
              <a:t>ステップとする</a:t>
            </a:r>
            <a:endParaRPr lang="en-US" altLang="ja-JP" dirty="0"/>
          </a:p>
          <a:p>
            <a:pPr lvl="2"/>
            <a:endParaRPr kumimoji="1" lang="en-US" altLang="ja-GB" dirty="0"/>
          </a:p>
          <a:p>
            <a:pPr lvl="2"/>
            <a:endParaRPr lang="en-US" altLang="ja-GB" dirty="0"/>
          </a:p>
          <a:p>
            <a:pPr lvl="2"/>
            <a:endParaRPr kumimoji="1" lang="en-US" altLang="ja-GB" dirty="0"/>
          </a:p>
          <a:p>
            <a:pPr lvl="2"/>
            <a:endParaRPr lang="en-US" altLang="ja-GB" dirty="0"/>
          </a:p>
          <a:p>
            <a:pPr lvl="2"/>
            <a:endParaRPr kumimoji="1" lang="en-US" altLang="ja-GB" dirty="0"/>
          </a:p>
          <a:p>
            <a:pPr lvl="2"/>
            <a:endParaRPr kumimoji="1" lang="ja-GB" altLang="en-US" dirty="0"/>
          </a:p>
        </p:txBody>
      </p:sp>
      <p:sp>
        <p:nvSpPr>
          <p:cNvPr id="4" name="テキスト ボックス 3">
            <a:extLst>
              <a:ext uri="{FF2B5EF4-FFF2-40B4-BE49-F238E27FC236}">
                <a16:creationId xmlns:a16="http://schemas.microsoft.com/office/drawing/2014/main" id="{E1D9E52F-1184-7F00-A25D-A34BD5121D1B}"/>
              </a:ext>
            </a:extLst>
          </p:cNvPr>
          <p:cNvSpPr txBox="1"/>
          <p:nvPr/>
        </p:nvSpPr>
        <p:spPr>
          <a:xfrm>
            <a:off x="578916" y="3649122"/>
            <a:ext cx="4833374" cy="1200329"/>
          </a:xfrm>
          <a:prstGeom prst="rect">
            <a:avLst/>
          </a:prstGeom>
          <a:noFill/>
        </p:spPr>
        <p:txBody>
          <a:bodyPr wrap="none" rtlCol="0">
            <a:spAutoFit/>
          </a:bodyPr>
          <a:lstStyle/>
          <a:p>
            <a:r>
              <a:rPr kumimoji="1" lang="en-US" altLang="ja-JP" dirty="0"/>
              <a:t>1. </a:t>
            </a:r>
            <a:r>
              <a:rPr kumimoji="1" lang="ja-JP" altLang="en-US"/>
              <a:t>鍵</a:t>
            </a:r>
            <a:r>
              <a:rPr kumimoji="1" lang="en-GB" altLang="ja-GB" dirty="0"/>
              <a:t>A</a:t>
            </a:r>
            <a:r>
              <a:rPr kumimoji="1" lang="ja-JP" altLang="en-US"/>
              <a:t>を確認する</a:t>
            </a:r>
          </a:p>
          <a:p>
            <a:r>
              <a:rPr kumimoji="1" lang="en-US" altLang="ja-JP" dirty="0"/>
              <a:t>2. </a:t>
            </a:r>
            <a:r>
              <a:rPr kumimoji="1" lang="ja-JP" altLang="en-US"/>
              <a:t>鍵</a:t>
            </a:r>
            <a:r>
              <a:rPr kumimoji="1" lang="en-GB" altLang="ja-GB" dirty="0"/>
              <a:t>A</a:t>
            </a:r>
            <a:r>
              <a:rPr kumimoji="1" lang="ja-JP" altLang="en-US"/>
              <a:t>が閉まっていたら、鍵</a:t>
            </a:r>
            <a:r>
              <a:rPr kumimoji="1" lang="en-GB" altLang="ja-GB" dirty="0"/>
              <a:t>A</a:t>
            </a:r>
            <a:r>
              <a:rPr kumimoji="1" lang="ja-JP" altLang="en-US"/>
              <a:t>を回して開ける</a:t>
            </a:r>
          </a:p>
          <a:p>
            <a:r>
              <a:rPr kumimoji="1" lang="en-US" altLang="ja-JP" dirty="0"/>
              <a:t>3. </a:t>
            </a:r>
            <a:r>
              <a:rPr kumimoji="1" lang="ja-JP" altLang="en-US"/>
              <a:t>鍵</a:t>
            </a:r>
            <a:r>
              <a:rPr kumimoji="1" lang="en-GB" altLang="ja-GB" dirty="0"/>
              <a:t>B</a:t>
            </a:r>
            <a:r>
              <a:rPr kumimoji="1" lang="ja-JP" altLang="en-US"/>
              <a:t>を確認する</a:t>
            </a:r>
          </a:p>
          <a:p>
            <a:r>
              <a:rPr kumimoji="1" lang="en-US" altLang="ja-JP" dirty="0"/>
              <a:t>4. </a:t>
            </a:r>
            <a:r>
              <a:rPr kumimoji="1" lang="ja-JP" altLang="en-US"/>
              <a:t>鍵</a:t>
            </a:r>
            <a:r>
              <a:rPr kumimoji="1" lang="en-GB" altLang="ja-GB" dirty="0"/>
              <a:t>B</a:t>
            </a:r>
            <a:r>
              <a:rPr kumimoji="1" lang="ja-JP" altLang="en-US"/>
              <a:t>が閉まっていたら、鍵</a:t>
            </a:r>
            <a:r>
              <a:rPr kumimoji="1" lang="en-GB" altLang="ja-GB" dirty="0"/>
              <a:t>B</a:t>
            </a:r>
            <a:r>
              <a:rPr kumimoji="1" lang="ja-JP" altLang="en-US"/>
              <a:t>を回して開ける</a:t>
            </a:r>
            <a:endParaRPr kumimoji="1" lang="ja-GB" altLang="en-US" dirty="0"/>
          </a:p>
        </p:txBody>
      </p:sp>
      <p:pic>
        <p:nvPicPr>
          <p:cNvPr id="6" name="図 5" descr="テキスト&#10;&#10;AI 生成コンテンツは誤りを含む可能性があります。">
            <a:extLst>
              <a:ext uri="{FF2B5EF4-FFF2-40B4-BE49-F238E27FC236}">
                <a16:creationId xmlns:a16="http://schemas.microsoft.com/office/drawing/2014/main" id="{C88291B3-7D82-E6E9-0D9B-62D313A4120D}"/>
              </a:ext>
            </a:extLst>
          </p:cNvPr>
          <p:cNvPicPr>
            <a:picLocks noChangeAspect="1"/>
          </p:cNvPicPr>
          <p:nvPr/>
        </p:nvPicPr>
        <p:blipFill>
          <a:blip r:embed="rId2"/>
          <a:stretch>
            <a:fillRect/>
          </a:stretch>
        </p:blipFill>
        <p:spPr>
          <a:xfrm>
            <a:off x="578916" y="5044997"/>
            <a:ext cx="4023360" cy="1543050"/>
          </a:xfrm>
          <a:prstGeom prst="rect">
            <a:avLst/>
          </a:prstGeom>
        </p:spPr>
      </p:pic>
      <p:sp>
        <p:nvSpPr>
          <p:cNvPr id="7" name="テキスト ボックス 6">
            <a:extLst>
              <a:ext uri="{FF2B5EF4-FFF2-40B4-BE49-F238E27FC236}">
                <a16:creationId xmlns:a16="http://schemas.microsoft.com/office/drawing/2014/main" id="{8960EEA6-BFA9-5B54-A358-2DF43970E730}"/>
              </a:ext>
            </a:extLst>
          </p:cNvPr>
          <p:cNvSpPr txBox="1"/>
          <p:nvPr/>
        </p:nvSpPr>
        <p:spPr>
          <a:xfrm>
            <a:off x="4799425" y="5757050"/>
            <a:ext cx="3833101" cy="830997"/>
          </a:xfrm>
          <a:prstGeom prst="rect">
            <a:avLst/>
          </a:prstGeom>
          <a:noFill/>
        </p:spPr>
        <p:txBody>
          <a:bodyPr wrap="none" rtlCol="0">
            <a:spAutoFit/>
          </a:bodyPr>
          <a:lstStyle/>
          <a:p>
            <a:r>
              <a:rPr kumimoji="1" lang="ja-GB" altLang="en-US" sz="1600" b="1" dirty="0">
                <a:solidFill>
                  <a:srgbClr val="2F2523"/>
                </a:solidFill>
              </a:rPr>
              <a:t>最良計算時間：</a:t>
            </a:r>
            <a:r>
              <a:rPr kumimoji="1" lang="en-US" altLang="ja-GB" sz="1600" b="1" dirty="0">
                <a:solidFill>
                  <a:srgbClr val="2F2523"/>
                </a:solidFill>
              </a:rPr>
              <a:t>2</a:t>
            </a:r>
            <a:r>
              <a:rPr kumimoji="1" lang="ja-GB" altLang="en-US" sz="1600" b="1" dirty="0">
                <a:solidFill>
                  <a:srgbClr val="2F2523"/>
                </a:solidFill>
              </a:rPr>
              <a:t>ステップ</a:t>
            </a:r>
            <a:endParaRPr kumimoji="1" lang="en-US" altLang="ja-GB" sz="1600" b="1" dirty="0">
              <a:solidFill>
                <a:srgbClr val="2F2523"/>
              </a:solidFill>
            </a:endParaRPr>
          </a:p>
          <a:p>
            <a:r>
              <a:rPr kumimoji="1" lang="ja-GB" altLang="en-US" sz="1600" b="1" dirty="0">
                <a:solidFill>
                  <a:srgbClr val="2F2523"/>
                </a:solidFill>
              </a:rPr>
              <a:t>最悪計算時間：</a:t>
            </a:r>
            <a:r>
              <a:rPr kumimoji="1" lang="en-US" altLang="ja-GB" sz="1600" b="1" dirty="0">
                <a:solidFill>
                  <a:srgbClr val="2F2523"/>
                </a:solidFill>
              </a:rPr>
              <a:t>4</a:t>
            </a:r>
            <a:r>
              <a:rPr kumimoji="1" lang="ja-GB" altLang="en-US" sz="1600" b="1" dirty="0">
                <a:solidFill>
                  <a:srgbClr val="2F2523"/>
                </a:solidFill>
              </a:rPr>
              <a:t>ステップ</a:t>
            </a:r>
            <a:endParaRPr kumimoji="1" lang="en-US" altLang="ja-JP" sz="1600" b="1" dirty="0">
              <a:solidFill>
                <a:srgbClr val="2F2523"/>
              </a:solidFill>
            </a:endParaRPr>
          </a:p>
          <a:p>
            <a:r>
              <a:rPr kumimoji="1" lang="ja-JP" altLang="en-US" sz="1600" b="1">
                <a:solidFill>
                  <a:srgbClr val="2F2523"/>
                </a:solidFill>
              </a:rPr>
              <a:t>平均計算時間：</a:t>
            </a:r>
            <a:r>
              <a:rPr kumimoji="1" lang="en-US" altLang="ja-JP" sz="1600" b="1" dirty="0">
                <a:solidFill>
                  <a:srgbClr val="2F2523"/>
                </a:solidFill>
              </a:rPr>
              <a:t>(2+3+3+4)/4 = 3 </a:t>
            </a:r>
            <a:r>
              <a:rPr kumimoji="1" lang="ja-GB" altLang="en-US" sz="1600" b="1" dirty="0">
                <a:solidFill>
                  <a:srgbClr val="2F2523"/>
                </a:solidFill>
              </a:rPr>
              <a:t>ステップ</a:t>
            </a:r>
          </a:p>
        </p:txBody>
      </p:sp>
      <p:pic>
        <p:nvPicPr>
          <p:cNvPr id="8" name="図 7" descr="ドアが開いている&#10;&#10;AI 生成コンテンツは誤りを含む可能性があります。">
            <a:extLst>
              <a:ext uri="{FF2B5EF4-FFF2-40B4-BE49-F238E27FC236}">
                <a16:creationId xmlns:a16="http://schemas.microsoft.com/office/drawing/2014/main" id="{B102AA32-A6B8-E6C9-7CD7-03E6DC3953D8}"/>
              </a:ext>
            </a:extLst>
          </p:cNvPr>
          <p:cNvPicPr>
            <a:picLocks noChangeAspect="1"/>
          </p:cNvPicPr>
          <p:nvPr/>
        </p:nvPicPr>
        <p:blipFill>
          <a:blip r:embed="rId3"/>
          <a:srcRect l="11111" t="34999" r="45026" b="27964"/>
          <a:stretch>
            <a:fillRect/>
          </a:stretch>
        </p:blipFill>
        <p:spPr>
          <a:xfrm>
            <a:off x="6038660" y="2819399"/>
            <a:ext cx="1870849" cy="2369551"/>
          </a:xfrm>
          <a:prstGeom prst="rect">
            <a:avLst/>
          </a:prstGeom>
        </p:spPr>
      </p:pic>
      <p:sp>
        <p:nvSpPr>
          <p:cNvPr id="9" name="テキスト ボックス 8">
            <a:extLst>
              <a:ext uri="{FF2B5EF4-FFF2-40B4-BE49-F238E27FC236}">
                <a16:creationId xmlns:a16="http://schemas.microsoft.com/office/drawing/2014/main" id="{8795EDE8-BBFD-8770-1F23-798EED0AA525}"/>
              </a:ext>
            </a:extLst>
          </p:cNvPr>
          <p:cNvSpPr txBox="1"/>
          <p:nvPr/>
        </p:nvSpPr>
        <p:spPr>
          <a:xfrm>
            <a:off x="6207303" y="5198213"/>
            <a:ext cx="1533561" cy="307777"/>
          </a:xfrm>
          <a:prstGeom prst="rect">
            <a:avLst/>
          </a:prstGeom>
          <a:noFill/>
        </p:spPr>
        <p:txBody>
          <a:bodyPr wrap="none" rtlCol="0">
            <a:spAutoFit/>
          </a:bodyPr>
          <a:lstStyle/>
          <a:p>
            <a:r>
              <a:rPr kumimoji="1" lang="en-US" altLang="ja-GB" sz="1400" dirty="0">
                <a:solidFill>
                  <a:schemeClr val="tx1">
                    <a:lumMod val="50000"/>
                    <a:lumOff val="50000"/>
                  </a:schemeClr>
                </a:solidFill>
              </a:rPr>
              <a:t>※ChatGPT</a:t>
            </a:r>
            <a:r>
              <a:rPr kumimoji="1" lang="ja-GB" altLang="en-US" sz="1400" dirty="0">
                <a:solidFill>
                  <a:schemeClr val="tx1">
                    <a:lumMod val="50000"/>
                    <a:lumOff val="50000"/>
                  </a:schemeClr>
                </a:solidFill>
              </a:rPr>
              <a:t>で生成</a:t>
            </a:r>
          </a:p>
        </p:txBody>
      </p:sp>
    </p:spTree>
    <p:extLst>
      <p:ext uri="{BB962C8B-B14F-4D97-AF65-F5344CB8AC3E}">
        <p14:creationId xmlns:p14="http://schemas.microsoft.com/office/powerpoint/2010/main" val="12229007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A168F68-3460-021B-D6A0-DD3621D1A9D5}"/>
              </a:ext>
            </a:extLst>
          </p:cNvPr>
          <p:cNvSpPr>
            <a:spLocks noGrp="1"/>
          </p:cNvSpPr>
          <p:nvPr>
            <p:ph type="title"/>
          </p:nvPr>
        </p:nvSpPr>
        <p:spPr/>
        <p:txBody>
          <a:bodyPr/>
          <a:lstStyle/>
          <a:p>
            <a:r>
              <a:rPr kumimoji="1" lang="ja-GB" altLang="en-US" dirty="0"/>
              <a:t>工夫</a:t>
            </a:r>
            <a:r>
              <a:rPr kumimoji="1" lang="en-US" altLang="ja-GB" dirty="0"/>
              <a:t>3</a:t>
            </a:r>
            <a:r>
              <a:rPr lang="ja-GB" altLang="en-US" dirty="0"/>
              <a:t>：</a:t>
            </a:r>
            <a:r>
              <a:rPr kumimoji="1" lang="ja-GB" altLang="en-US" dirty="0"/>
              <a:t>計算時間の式を簡単にする</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3A34FB1D-D28E-7210-84F0-ED348F277F97}"/>
                  </a:ext>
                </a:extLst>
              </p:cNvPr>
              <p:cNvSpPr>
                <a:spLocks noGrp="1"/>
              </p:cNvSpPr>
              <p:nvPr>
                <p:ph idx="1"/>
              </p:nvPr>
            </p:nvSpPr>
            <p:spPr/>
            <p:txBody>
              <a:bodyPr>
                <a:normAutofit/>
              </a:bodyPr>
              <a:lstStyle/>
              <a:p>
                <a:pPr marL="0" indent="0">
                  <a:buNone/>
                </a:pPr>
                <a:r>
                  <a:rPr lang="ja-JP" altLang="en-US" sz="2000"/>
                  <a:t>ほとんどのアルゴリズムは小さい入力サイズなら十分高速</a:t>
                </a:r>
                <a:endParaRPr lang="en-US" altLang="ja-JP" sz="2000" dirty="0"/>
              </a:p>
              <a:p>
                <a:pPr marL="457200" lvl="1" indent="0">
                  <a:buNone/>
                </a:pPr>
                <a:r>
                  <a:rPr lang="ja-JP" altLang="en-US" sz="1800">
                    <a:solidFill>
                      <a:srgbClr val="0070C0"/>
                    </a:solidFill>
                  </a:rPr>
                  <a:t>見積もりが必要になるのは，入力サイズが非常に大きい場合</a:t>
                </a:r>
                <a:r>
                  <a:rPr lang="ja-GB" altLang="en-US" sz="1800" dirty="0">
                    <a:solidFill>
                      <a:srgbClr val="0070C0"/>
                    </a:solidFill>
                  </a:rPr>
                  <a:t>のみ</a:t>
                </a:r>
                <a:endParaRPr lang="en-US" altLang="ja-GB" sz="1800" dirty="0">
                  <a:solidFill>
                    <a:srgbClr val="0070C0"/>
                  </a:solidFill>
                </a:endParaRPr>
              </a:p>
              <a:p>
                <a:pPr marL="914400" lvl="2" indent="0">
                  <a:buNone/>
                </a:pPr>
                <a:r>
                  <a:rPr lang="ja-JP" altLang="en-US" sz="1600"/>
                  <a:t>例）</a:t>
                </a:r>
                <a:r>
                  <a:rPr lang="en-US" altLang="ja-JP" sz="1600" dirty="0"/>
                  <a:t>10</a:t>
                </a:r>
                <a:r>
                  <a:rPr lang="ja-JP" altLang="en-US" sz="1600"/>
                  <a:t>万人の顧客データベースの操作，</a:t>
                </a:r>
                <a:r>
                  <a:rPr lang="en-US" altLang="ja-JP" sz="1600" dirty="0"/>
                  <a:t>100</a:t>
                </a:r>
                <a:r>
                  <a:rPr lang="ja-JP" altLang="en-US" sz="1600"/>
                  <a:t>万本の光線を用いた描画</a:t>
                </a:r>
                <a:endParaRPr lang="en-US" altLang="ja-JP" sz="1600" dirty="0"/>
              </a:p>
              <a:p>
                <a:pPr lvl="4"/>
                <a:endParaRPr lang="en-US" altLang="ja-JP" sz="500" dirty="0"/>
              </a:p>
              <a:p>
                <a:pPr marL="0" indent="0">
                  <a:buNone/>
                </a:pPr>
                <a:r>
                  <a:rPr lang="ja-GB" altLang="en-US" sz="2000" dirty="0"/>
                  <a:t>データ</a:t>
                </a:r>
                <a:r>
                  <a:rPr lang="ja-JP" altLang="en-US" sz="2000"/>
                  <a:t>が</a:t>
                </a:r>
                <a:r>
                  <a:rPr lang="ja-GB" altLang="en-US" sz="2000" dirty="0"/>
                  <a:t>増えると</a:t>
                </a:r>
                <a:r>
                  <a:rPr lang="ja-JP" altLang="en-US" sz="2000"/>
                  <a:t>どれくらいのペースで計算時間が増加するかを大まかに見積もりたい</a:t>
                </a:r>
                <a:endParaRPr lang="en-US" altLang="ja-JP" sz="2000" dirty="0"/>
              </a:p>
              <a:p>
                <a:pPr marL="457200" lvl="1" indent="0">
                  <a:buNone/>
                </a:pPr>
                <a:r>
                  <a:rPr lang="ja-JP" altLang="en-US" sz="1800"/>
                  <a:t>ステップ数の</a:t>
                </a:r>
                <a:r>
                  <a:rPr lang="ja-JP" altLang="en-US" sz="1800">
                    <a:solidFill>
                      <a:srgbClr val="0070C0"/>
                    </a:solidFill>
                  </a:rPr>
                  <a:t>数式の</a:t>
                </a:r>
                <a:r>
                  <a:rPr lang="ja-GB" altLang="en-US" sz="1800" dirty="0">
                    <a:solidFill>
                      <a:srgbClr val="0070C0"/>
                    </a:solidFill>
                  </a:rPr>
                  <a:t>うち</a:t>
                </a:r>
                <a:r>
                  <a:rPr lang="ja-JP" altLang="en-US" sz="1800">
                    <a:solidFill>
                      <a:srgbClr val="0070C0"/>
                    </a:solidFill>
                  </a:rPr>
                  <a:t>最も</a:t>
                </a:r>
                <a:r>
                  <a:rPr lang="ja-GB" altLang="en-US" sz="1800" dirty="0">
                    <a:solidFill>
                      <a:srgbClr val="0070C0"/>
                    </a:solidFill>
                  </a:rPr>
                  <a:t>増加速度の</a:t>
                </a:r>
                <a:r>
                  <a:rPr lang="ja-JP" altLang="en-US" sz="1800">
                    <a:solidFill>
                      <a:srgbClr val="0070C0"/>
                    </a:solidFill>
                  </a:rPr>
                  <a:t>速い項のみを抽出</a:t>
                </a:r>
                <a:r>
                  <a:rPr lang="ja-JP" altLang="en-US" sz="1800"/>
                  <a:t>すれば見積には十分</a:t>
                </a:r>
                <a:endParaRPr lang="en-US" altLang="ja-JP" sz="1800" dirty="0"/>
              </a:p>
              <a:p>
                <a:pPr marL="914400" lvl="2" indent="0">
                  <a:buNone/>
                </a:pPr>
                <a:r>
                  <a:rPr lang="ja-JP" altLang="en-US" sz="1600"/>
                  <a:t>例</a:t>
                </a:r>
                <a:r>
                  <a:rPr lang="en-US" altLang="ja-JP" sz="1600" dirty="0"/>
                  <a:t>1</a:t>
                </a:r>
                <a:r>
                  <a:rPr lang="ja-JP" altLang="en-US" sz="1600"/>
                  <a:t>）定数より変数の方が，</a:t>
                </a:r>
                <a:r>
                  <a:rPr lang="ja-GB" altLang="en-US" sz="1600" dirty="0">
                    <a:solidFill>
                      <a:schemeClr val="accent2"/>
                    </a:solidFill>
                  </a:rPr>
                  <a:t>データサイズ</a:t>
                </a:r>
                <a:r>
                  <a:rPr lang="en-US" altLang="ja-GB" sz="1600" dirty="0">
                    <a:solidFill>
                      <a:schemeClr val="accent2"/>
                    </a:solidFill>
                  </a:rPr>
                  <a:t>n</a:t>
                </a:r>
                <a:r>
                  <a:rPr lang="ja-JP" altLang="en-US" sz="1600">
                    <a:solidFill>
                      <a:schemeClr val="accent2"/>
                    </a:solidFill>
                  </a:rPr>
                  <a:t>が増えたときの影響は大きい</a:t>
                </a:r>
                <a:endParaRPr lang="en-US" altLang="ja-JP" sz="1600" dirty="0">
                  <a:solidFill>
                    <a:schemeClr val="accent2"/>
                  </a:solidFill>
                </a:endParaRPr>
              </a:p>
              <a:p>
                <a:pPr marL="914400" lvl="2" indent="0">
                  <a:buNone/>
                </a:pPr>
                <a:r>
                  <a:rPr lang="en-US" altLang="ja-GB" sz="1600" dirty="0"/>
                  <a:t>	</a:t>
                </a:r>
                <a:r>
                  <a:rPr lang="en-GB" altLang="ja-GB" sz="1600" dirty="0">
                    <a:solidFill>
                      <a:srgbClr val="0070C0"/>
                    </a:solidFill>
                  </a:rPr>
                  <a:t>n+5 → n</a:t>
                </a:r>
                <a:r>
                  <a:rPr lang="ja-JP" altLang="en-US" sz="1600"/>
                  <a:t>だけ分かれば</a:t>
                </a:r>
                <a:r>
                  <a:rPr lang="ja-GB" altLang="en-US" sz="1600" dirty="0"/>
                  <a:t>概算可能</a:t>
                </a:r>
                <a:endParaRPr lang="en-US" altLang="ja-JP" sz="1600" dirty="0"/>
              </a:p>
              <a:p>
                <a:pPr marL="914400" lvl="2" indent="0">
                  <a:buNone/>
                </a:pPr>
                <a:r>
                  <a:rPr lang="ja-JP" altLang="en-US" sz="1600"/>
                  <a:t>例</a:t>
                </a:r>
                <a:r>
                  <a:rPr lang="en-US" altLang="ja-JP" sz="1600" dirty="0"/>
                  <a:t>2</a:t>
                </a:r>
                <a:r>
                  <a:rPr lang="ja-JP" altLang="en-US" sz="1600"/>
                  <a:t>）</a:t>
                </a:r>
                <a:r>
                  <a:rPr lang="ja-GB" altLang="en-US" sz="1600" dirty="0"/>
                  <a:t>指数</a:t>
                </a:r>
                <a:r>
                  <a:rPr lang="ja-JP" altLang="en-US" sz="1600"/>
                  <a:t>が</a:t>
                </a:r>
                <a:r>
                  <a:rPr lang="ja-GB" altLang="en-US" sz="1600" dirty="0"/>
                  <a:t>小さいより</a:t>
                </a:r>
                <a:r>
                  <a:rPr lang="ja-JP" altLang="en-US" sz="1600"/>
                  <a:t>大きい方が，影響は大きい</a:t>
                </a:r>
                <a:endParaRPr lang="en-US" altLang="ja-JP" sz="1600" dirty="0"/>
              </a:p>
              <a:p>
                <a:pPr marL="914400" lvl="2" indent="0">
                  <a:buNone/>
                </a:pPr>
                <a:r>
                  <a:rPr lang="en-US" altLang="ja-JP" sz="1600" dirty="0"/>
                  <a:t>	</a:t>
                </a:r>
                <a14:m>
                  <m:oMath xmlns:m="http://schemas.openxmlformats.org/officeDocument/2006/math">
                    <m:r>
                      <a:rPr lang="en-US" altLang="ja-JP" sz="1600" i="1" dirty="0" smtClean="0">
                        <a:solidFill>
                          <a:srgbClr val="0070C0"/>
                        </a:solidFill>
                        <a:latin typeface="Cambria Math" panose="02040503050406030204" pitchFamily="18" charset="0"/>
                      </a:rPr>
                      <m:t>3</m:t>
                    </m:r>
                    <m:sSup>
                      <m:sSupPr>
                        <m:ctrlPr>
                          <a:rPr lang="en-GB" altLang="ja-GB" sz="1600" i="1" dirty="0">
                            <a:solidFill>
                              <a:srgbClr val="0070C0"/>
                            </a:solidFill>
                            <a:latin typeface="Cambria Math" panose="02040503050406030204" pitchFamily="18" charset="0"/>
                          </a:rPr>
                        </m:ctrlPr>
                      </m:sSupPr>
                      <m:e>
                        <m:r>
                          <a:rPr lang="en-GB" altLang="ja-GB" sz="1600" i="1" dirty="0">
                            <a:solidFill>
                              <a:srgbClr val="0070C0"/>
                            </a:solidFill>
                            <a:latin typeface="Cambria Math" panose="02040503050406030204" pitchFamily="18" charset="0"/>
                          </a:rPr>
                          <m:t>𝑛</m:t>
                        </m:r>
                      </m:e>
                      <m:sup>
                        <m:r>
                          <a:rPr lang="en-US" altLang="ja-GB" sz="1600" b="1" i="1" dirty="0" smtClean="0">
                            <a:solidFill>
                              <a:srgbClr val="0070C0"/>
                            </a:solidFill>
                            <a:latin typeface="Cambria Math" panose="02040503050406030204" pitchFamily="18" charset="0"/>
                          </a:rPr>
                          <m:t>𝟓</m:t>
                        </m:r>
                      </m:sup>
                    </m:sSup>
                    <m:r>
                      <a:rPr lang="en-GB" altLang="ja-GB" sz="1600" i="1" dirty="0">
                        <a:solidFill>
                          <a:srgbClr val="0070C0"/>
                        </a:solidFill>
                        <a:latin typeface="Cambria Math" panose="02040503050406030204" pitchFamily="18" charset="0"/>
                      </a:rPr>
                      <m:t>+</m:t>
                    </m:r>
                    <m:sSup>
                      <m:sSupPr>
                        <m:ctrlPr>
                          <a:rPr lang="en-US" altLang="ja-GB" sz="1600" b="1" i="1" dirty="0" smtClean="0">
                            <a:solidFill>
                              <a:srgbClr val="0070C0"/>
                            </a:solidFill>
                            <a:latin typeface="Cambria Math" panose="02040503050406030204" pitchFamily="18" charset="0"/>
                          </a:rPr>
                        </m:ctrlPr>
                      </m:sSupPr>
                      <m:e>
                        <m:r>
                          <a:rPr lang="en-GB" altLang="ja-GB" sz="1600" i="1" dirty="0">
                            <a:solidFill>
                              <a:srgbClr val="0070C0"/>
                            </a:solidFill>
                            <a:latin typeface="Cambria Math" panose="02040503050406030204" pitchFamily="18" charset="0"/>
                          </a:rPr>
                          <m:t>𝑛</m:t>
                        </m:r>
                      </m:e>
                      <m:sup>
                        <m:r>
                          <a:rPr lang="en-US" altLang="ja-GB" sz="1600" b="1" i="1" dirty="0" smtClean="0">
                            <a:solidFill>
                              <a:srgbClr val="0070C0"/>
                            </a:solidFill>
                            <a:latin typeface="Cambria Math" panose="02040503050406030204" pitchFamily="18" charset="0"/>
                          </a:rPr>
                          <m:t>𝟑</m:t>
                        </m:r>
                      </m:sup>
                    </m:sSup>
                    <m:r>
                      <a:rPr lang="en-GB" altLang="ja-GB" sz="1600" i="1" dirty="0">
                        <a:solidFill>
                          <a:srgbClr val="0070C0"/>
                        </a:solidFill>
                        <a:latin typeface="Cambria Math" panose="02040503050406030204" pitchFamily="18" charset="0"/>
                      </a:rPr>
                      <m:t>+8</m:t>
                    </m:r>
                  </m:oMath>
                </a14:m>
                <a:r>
                  <a:rPr lang="en-GB" altLang="ja-GB" sz="1600" dirty="0">
                    <a:solidFill>
                      <a:srgbClr val="0070C0"/>
                    </a:solidFill>
                  </a:rPr>
                  <a:t>  → </a:t>
                </a:r>
                <a14:m>
                  <m:oMath xmlns:m="http://schemas.openxmlformats.org/officeDocument/2006/math">
                    <m:sSup>
                      <m:sSupPr>
                        <m:ctrlPr>
                          <a:rPr lang="en-GB" altLang="ja-GB" sz="1600" i="1" dirty="0">
                            <a:solidFill>
                              <a:srgbClr val="0070C0"/>
                            </a:solidFill>
                            <a:latin typeface="Cambria Math" panose="02040503050406030204" pitchFamily="18" charset="0"/>
                          </a:rPr>
                        </m:ctrlPr>
                      </m:sSupPr>
                      <m:e>
                        <m:r>
                          <a:rPr lang="en-GB" altLang="ja-GB" sz="1600" i="1" dirty="0" smtClean="0">
                            <a:solidFill>
                              <a:srgbClr val="0070C0"/>
                            </a:solidFill>
                            <a:latin typeface="Cambria Math" panose="02040503050406030204" pitchFamily="18" charset="0"/>
                          </a:rPr>
                          <m:t>𝑛</m:t>
                        </m:r>
                      </m:e>
                      <m:sup>
                        <m:r>
                          <a:rPr lang="en-GB" altLang="ja-GB" sz="1600" i="1" dirty="0">
                            <a:solidFill>
                              <a:srgbClr val="0070C0"/>
                            </a:solidFill>
                            <a:latin typeface="Cambria Math" panose="02040503050406030204" pitchFamily="18" charset="0"/>
                          </a:rPr>
                          <m:t>2</m:t>
                        </m:r>
                      </m:sup>
                    </m:sSup>
                  </m:oMath>
                </a14:m>
                <a:r>
                  <a:rPr lang="ja-JP" altLang="en-US" sz="1600"/>
                  <a:t>だけ分かれば</a:t>
                </a:r>
                <a:r>
                  <a:rPr lang="ja-GB" altLang="en-US" sz="1600" dirty="0"/>
                  <a:t>概算可能</a:t>
                </a:r>
                <a:endParaRPr lang="en-US" altLang="ja-JP" sz="1600" dirty="0"/>
              </a:p>
              <a:p>
                <a:pPr marL="914400" lvl="2" indent="0">
                  <a:buNone/>
                </a:pPr>
                <a:r>
                  <a:rPr lang="ja-JP" altLang="en-US" sz="1600"/>
                  <a:t>例</a:t>
                </a:r>
                <a:r>
                  <a:rPr lang="en-US" altLang="ja-JP" sz="1600" dirty="0"/>
                  <a:t>3</a:t>
                </a:r>
                <a:r>
                  <a:rPr lang="ja-JP" altLang="en-US" sz="1600"/>
                  <a:t>）</a:t>
                </a:r>
                <a:r>
                  <a:rPr lang="ja-GB" altLang="en-US" sz="1600" dirty="0"/>
                  <a:t>冪乗関数</a:t>
                </a:r>
                <a:r>
                  <a:rPr lang="ja-JP" altLang="en-US" sz="1600"/>
                  <a:t>より指数</a:t>
                </a:r>
                <a:r>
                  <a:rPr lang="ja-GB" altLang="en-US" sz="1600" dirty="0"/>
                  <a:t>関数</a:t>
                </a:r>
                <a:r>
                  <a:rPr lang="ja-JP" altLang="en-US" sz="1600"/>
                  <a:t>の方が，影響は大きい</a:t>
                </a:r>
                <a:endParaRPr lang="en-US" altLang="ja-JP" sz="1600" dirty="0"/>
              </a:p>
              <a:p>
                <a:pPr marL="914400" lvl="2" indent="0">
                  <a:buNone/>
                </a:pPr>
                <a:r>
                  <a:rPr lang="en-US" altLang="ja-JP" sz="1600" dirty="0"/>
                  <a:t>	</a:t>
                </a:r>
                <a14:m>
                  <m:oMath xmlns:m="http://schemas.openxmlformats.org/officeDocument/2006/math">
                    <m:sSup>
                      <m:sSupPr>
                        <m:ctrlPr>
                          <a:rPr lang="en-US" altLang="ja-JP" sz="1600" i="1" dirty="0" smtClean="0">
                            <a:solidFill>
                              <a:srgbClr val="0070C0"/>
                            </a:solidFill>
                            <a:latin typeface="Cambria Math" panose="02040503050406030204" pitchFamily="18" charset="0"/>
                          </a:rPr>
                        </m:ctrlPr>
                      </m:sSupPr>
                      <m:e>
                        <m:r>
                          <a:rPr lang="en-US" altLang="ja-JP" sz="1600" i="1" dirty="0" smtClean="0">
                            <a:solidFill>
                              <a:srgbClr val="0070C0"/>
                            </a:solidFill>
                            <a:latin typeface="Cambria Math" panose="02040503050406030204" pitchFamily="18" charset="0"/>
                          </a:rPr>
                          <m:t>2</m:t>
                        </m:r>
                      </m:e>
                      <m:sup>
                        <m:r>
                          <a:rPr lang="en-GB" altLang="ja-GB" sz="1600" i="1" dirty="0">
                            <a:solidFill>
                              <a:srgbClr val="0070C0"/>
                            </a:solidFill>
                            <a:latin typeface="Cambria Math" panose="02040503050406030204" pitchFamily="18" charset="0"/>
                          </a:rPr>
                          <m:t>𝑛</m:t>
                        </m:r>
                      </m:sup>
                    </m:sSup>
                    <m:r>
                      <a:rPr lang="en-GB" altLang="ja-GB" sz="1600" i="1" dirty="0">
                        <a:solidFill>
                          <a:srgbClr val="0070C0"/>
                        </a:solidFill>
                        <a:latin typeface="Cambria Math" panose="02040503050406030204" pitchFamily="18" charset="0"/>
                      </a:rPr>
                      <m:t>+</m:t>
                    </m:r>
                    <m:sSup>
                      <m:sSupPr>
                        <m:ctrlPr>
                          <a:rPr lang="en-GB" altLang="ja-GB" sz="1600" i="1" dirty="0">
                            <a:solidFill>
                              <a:srgbClr val="0070C0"/>
                            </a:solidFill>
                            <a:latin typeface="Cambria Math" panose="02040503050406030204" pitchFamily="18" charset="0"/>
                          </a:rPr>
                        </m:ctrlPr>
                      </m:sSupPr>
                      <m:e>
                        <m:r>
                          <a:rPr lang="en-GB" altLang="ja-GB" sz="1600" i="1" dirty="0">
                            <a:solidFill>
                              <a:srgbClr val="0070C0"/>
                            </a:solidFill>
                            <a:latin typeface="Cambria Math" panose="02040503050406030204" pitchFamily="18" charset="0"/>
                          </a:rPr>
                          <m:t>𝑛</m:t>
                        </m:r>
                      </m:e>
                      <m:sup>
                        <m:r>
                          <a:rPr lang="en-GB" altLang="ja-GB" sz="1600" i="1" dirty="0">
                            <a:solidFill>
                              <a:srgbClr val="0070C0"/>
                            </a:solidFill>
                            <a:latin typeface="Cambria Math" panose="02040503050406030204" pitchFamily="18" charset="0"/>
                          </a:rPr>
                          <m:t>3</m:t>
                        </m:r>
                      </m:sup>
                    </m:sSup>
                  </m:oMath>
                </a14:m>
                <a:r>
                  <a:rPr lang="en-GB" altLang="ja-GB" sz="1600" dirty="0">
                    <a:solidFill>
                      <a:srgbClr val="0070C0"/>
                    </a:solidFill>
                  </a:rPr>
                  <a:t> → </a:t>
                </a:r>
                <a14:m>
                  <m:oMath xmlns:m="http://schemas.openxmlformats.org/officeDocument/2006/math">
                    <m:sSup>
                      <m:sSupPr>
                        <m:ctrlPr>
                          <a:rPr lang="en-GB" altLang="ja-GB" sz="1600" i="1" dirty="0">
                            <a:solidFill>
                              <a:srgbClr val="0070C0"/>
                            </a:solidFill>
                            <a:latin typeface="Cambria Math" panose="02040503050406030204" pitchFamily="18" charset="0"/>
                          </a:rPr>
                        </m:ctrlPr>
                      </m:sSupPr>
                      <m:e>
                        <m:r>
                          <a:rPr lang="en-GB" altLang="ja-GB" sz="1600" i="1" dirty="0" smtClean="0">
                            <a:solidFill>
                              <a:srgbClr val="0070C0"/>
                            </a:solidFill>
                            <a:latin typeface="Cambria Math" panose="02040503050406030204" pitchFamily="18" charset="0"/>
                          </a:rPr>
                          <m:t>2</m:t>
                        </m:r>
                      </m:e>
                      <m:sup>
                        <m:r>
                          <a:rPr lang="en-GB" altLang="ja-GB" sz="1600" i="1" dirty="0" smtClean="0">
                            <a:solidFill>
                              <a:srgbClr val="0070C0"/>
                            </a:solidFill>
                            <a:latin typeface="Cambria Math" panose="02040503050406030204" pitchFamily="18" charset="0"/>
                          </a:rPr>
                          <m:t>𝑛</m:t>
                        </m:r>
                      </m:sup>
                    </m:sSup>
                  </m:oMath>
                </a14:m>
                <a:r>
                  <a:rPr lang="ja-JP" altLang="en-US" sz="1600"/>
                  <a:t>だけ分かれば</a:t>
                </a:r>
                <a:r>
                  <a:rPr lang="ja-GB" altLang="en-US" sz="1600" dirty="0"/>
                  <a:t>概算可能</a:t>
                </a:r>
                <a:endParaRPr kumimoji="1" lang="ja-GB" altLang="en-US" sz="1600" dirty="0"/>
              </a:p>
            </p:txBody>
          </p:sp>
        </mc:Choice>
        <mc:Fallback xmlns="">
          <p:sp>
            <p:nvSpPr>
              <p:cNvPr id="3" name="コンテンツ プレースホルダー 2">
                <a:extLst>
                  <a:ext uri="{FF2B5EF4-FFF2-40B4-BE49-F238E27FC236}">
                    <a16:creationId xmlns:a16="http://schemas.microsoft.com/office/drawing/2014/main" id="{3A34FB1D-D28E-7210-84F0-ED348F277F97}"/>
                  </a:ext>
                </a:extLst>
              </p:cNvPr>
              <p:cNvSpPr>
                <a:spLocks noGrp="1" noRot="1" noChangeAspect="1" noMove="1" noResize="1" noEditPoints="1" noAdjustHandles="1" noChangeArrowheads="1" noChangeShapeType="1" noTextEdit="1"/>
              </p:cNvSpPr>
              <p:nvPr>
                <p:ph idx="1"/>
              </p:nvPr>
            </p:nvSpPr>
            <p:spPr>
              <a:blipFill>
                <a:blip r:embed="rId2"/>
                <a:stretch>
                  <a:fillRect l="-744" t="-1057" r="-595"/>
                </a:stretch>
              </a:blipFill>
            </p:spPr>
            <p:txBody>
              <a:bodyPr/>
              <a:lstStyle/>
              <a:p>
                <a:r>
                  <a:rPr lang="ja-GB" altLang="en-US">
                    <a:noFill/>
                  </a:rPr>
                  <a:t> </a:t>
                </a:r>
              </a:p>
            </p:txBody>
          </p:sp>
        </mc:Fallback>
      </mc:AlternateContent>
      <p:pic>
        <p:nvPicPr>
          <p:cNvPr id="4098" name="Picture 2">
            <a:extLst>
              <a:ext uri="{FF2B5EF4-FFF2-40B4-BE49-F238E27FC236}">
                <a16:creationId xmlns:a16="http://schemas.microsoft.com/office/drawing/2014/main" id="{72C3F952-B442-45F4-18B4-FB26B9B0B35E}"/>
              </a:ext>
            </a:extLst>
          </p:cNvPr>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a:stretch>
            <a:fillRect/>
          </a:stretch>
        </p:blipFill>
        <p:spPr bwMode="auto">
          <a:xfrm>
            <a:off x="2431602" y="4299979"/>
            <a:ext cx="4280795" cy="255802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97E2BA42-D3B4-4AFD-2551-416C03377347}"/>
                  </a:ext>
                </a:extLst>
              </p:cNvPr>
              <p:cNvSpPr txBox="1"/>
              <p:nvPr/>
            </p:nvSpPr>
            <p:spPr>
              <a:xfrm>
                <a:off x="6638412" y="4380131"/>
                <a:ext cx="48724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kumimoji="1" lang="en-US" altLang="ja-GB" b="0" i="1" smtClean="0">
                              <a:solidFill>
                                <a:srgbClr val="0070C0"/>
                              </a:solidFill>
                              <a:latin typeface="Cambria Math" panose="02040503050406030204" pitchFamily="18" charset="0"/>
                            </a:rPr>
                          </m:ctrlPr>
                        </m:sSupPr>
                        <m:e>
                          <m:r>
                            <a:rPr kumimoji="1" lang="en-US" altLang="ja-GB" b="0" i="1" smtClean="0">
                              <a:solidFill>
                                <a:srgbClr val="0070C0"/>
                              </a:solidFill>
                              <a:latin typeface="Cambria Math" panose="02040503050406030204" pitchFamily="18" charset="0"/>
                            </a:rPr>
                            <m:t>2</m:t>
                          </m:r>
                        </m:e>
                        <m:sup>
                          <m:r>
                            <a:rPr kumimoji="1" lang="en-US" altLang="ja-GB" b="0" i="1" smtClean="0">
                              <a:solidFill>
                                <a:srgbClr val="0070C0"/>
                              </a:solidFill>
                              <a:latin typeface="Cambria Math" panose="02040503050406030204" pitchFamily="18" charset="0"/>
                            </a:rPr>
                            <m:t>𝑛</m:t>
                          </m:r>
                        </m:sup>
                      </m:sSup>
                    </m:oMath>
                  </m:oMathPara>
                </a14:m>
                <a:endParaRPr kumimoji="1" lang="ja-GB" altLang="en-US" dirty="0">
                  <a:solidFill>
                    <a:srgbClr val="0070C0"/>
                  </a:solidFill>
                </a:endParaRPr>
              </a:p>
            </p:txBody>
          </p:sp>
        </mc:Choice>
        <mc:Fallback xmlns="">
          <p:sp>
            <p:nvSpPr>
              <p:cNvPr id="4" name="テキスト ボックス 3">
                <a:extLst>
                  <a:ext uri="{FF2B5EF4-FFF2-40B4-BE49-F238E27FC236}">
                    <a16:creationId xmlns:a16="http://schemas.microsoft.com/office/drawing/2014/main" id="{97E2BA42-D3B4-4AFD-2551-416C03377347}"/>
                  </a:ext>
                </a:extLst>
              </p:cNvPr>
              <p:cNvSpPr txBox="1">
                <a:spLocks noRot="1" noChangeAspect="1" noMove="1" noResize="1" noEditPoints="1" noAdjustHandles="1" noChangeArrowheads="1" noChangeShapeType="1" noTextEdit="1"/>
              </p:cNvSpPr>
              <p:nvPr/>
            </p:nvSpPr>
            <p:spPr>
              <a:xfrm>
                <a:off x="6638412" y="4380131"/>
                <a:ext cx="487249" cy="369332"/>
              </a:xfrm>
              <a:prstGeom prst="rect">
                <a:avLst/>
              </a:prstGeom>
              <a:blipFill>
                <a:blip r:embed="rId4"/>
                <a:stretch>
                  <a:fillRect/>
                </a:stretch>
              </a:blipFill>
            </p:spPr>
            <p:txBody>
              <a:bodyPr/>
              <a:lstStyle/>
              <a:p>
                <a:r>
                  <a:rPr lang="ja-GB"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0077153F-3950-FE4F-8E42-F5EED5F5FDAE}"/>
                  </a:ext>
                </a:extLst>
              </p:cNvPr>
              <p:cNvSpPr txBox="1"/>
              <p:nvPr/>
            </p:nvSpPr>
            <p:spPr>
              <a:xfrm>
                <a:off x="6638412" y="4829615"/>
                <a:ext cx="48192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kumimoji="1" lang="en-US" altLang="ja-GB" b="0" i="1" smtClean="0">
                              <a:solidFill>
                                <a:srgbClr val="A64155"/>
                              </a:solidFill>
                              <a:latin typeface="Cambria Math" panose="02040503050406030204" pitchFamily="18" charset="0"/>
                            </a:rPr>
                          </m:ctrlPr>
                        </m:sSupPr>
                        <m:e>
                          <m:r>
                            <a:rPr kumimoji="1" lang="en-US" altLang="ja-GB" b="0" i="1" smtClean="0">
                              <a:solidFill>
                                <a:srgbClr val="A64155"/>
                              </a:solidFill>
                              <a:latin typeface="Cambria Math" panose="02040503050406030204" pitchFamily="18" charset="0"/>
                            </a:rPr>
                            <m:t>𝑛</m:t>
                          </m:r>
                        </m:e>
                        <m:sup>
                          <m:r>
                            <a:rPr kumimoji="1" lang="en-US" altLang="ja-GB" b="0" i="1" smtClean="0">
                              <a:solidFill>
                                <a:srgbClr val="A64155"/>
                              </a:solidFill>
                              <a:latin typeface="Cambria Math" panose="02040503050406030204" pitchFamily="18" charset="0"/>
                            </a:rPr>
                            <m:t>2</m:t>
                          </m:r>
                        </m:sup>
                      </m:sSup>
                    </m:oMath>
                  </m:oMathPara>
                </a14:m>
                <a:endParaRPr kumimoji="1" lang="ja-GB" altLang="en-US" dirty="0">
                  <a:solidFill>
                    <a:srgbClr val="A64155"/>
                  </a:solidFill>
                </a:endParaRPr>
              </a:p>
            </p:txBody>
          </p:sp>
        </mc:Choice>
        <mc:Fallback xmlns="">
          <p:sp>
            <p:nvSpPr>
              <p:cNvPr id="5" name="テキスト ボックス 4">
                <a:extLst>
                  <a:ext uri="{FF2B5EF4-FFF2-40B4-BE49-F238E27FC236}">
                    <a16:creationId xmlns:a16="http://schemas.microsoft.com/office/drawing/2014/main" id="{0077153F-3950-FE4F-8E42-F5EED5F5FDAE}"/>
                  </a:ext>
                </a:extLst>
              </p:cNvPr>
              <p:cNvSpPr txBox="1">
                <a:spLocks noRot="1" noChangeAspect="1" noMove="1" noResize="1" noEditPoints="1" noAdjustHandles="1" noChangeArrowheads="1" noChangeShapeType="1" noTextEdit="1"/>
              </p:cNvSpPr>
              <p:nvPr/>
            </p:nvSpPr>
            <p:spPr>
              <a:xfrm>
                <a:off x="6638412" y="4829615"/>
                <a:ext cx="481927" cy="369332"/>
              </a:xfrm>
              <a:prstGeom prst="rect">
                <a:avLst/>
              </a:prstGeom>
              <a:blipFill>
                <a:blip r:embed="rId5"/>
                <a:stretch>
                  <a:fillRect/>
                </a:stretch>
              </a:blipFill>
            </p:spPr>
            <p:txBody>
              <a:bodyPr/>
              <a:lstStyle/>
              <a:p>
                <a:r>
                  <a:rPr lang="ja-GB"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8B437BB7-54A2-9EDE-0563-3A82BC4128EB}"/>
                  </a:ext>
                </a:extLst>
              </p:cNvPr>
              <p:cNvSpPr txBox="1"/>
              <p:nvPr/>
            </p:nvSpPr>
            <p:spPr>
              <a:xfrm>
                <a:off x="6638412" y="5968036"/>
                <a:ext cx="3745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GB" b="0" i="1" smtClean="0">
                          <a:solidFill>
                            <a:srgbClr val="C00000"/>
                          </a:solidFill>
                          <a:latin typeface="Cambria Math" panose="02040503050406030204" pitchFamily="18" charset="0"/>
                        </a:rPr>
                        <m:t>𝑛</m:t>
                      </m:r>
                    </m:oMath>
                  </m:oMathPara>
                </a14:m>
                <a:endParaRPr kumimoji="1" lang="ja-GB" altLang="en-US" dirty="0">
                  <a:solidFill>
                    <a:srgbClr val="C00000"/>
                  </a:solidFill>
                </a:endParaRPr>
              </a:p>
            </p:txBody>
          </p:sp>
        </mc:Choice>
        <mc:Fallback xmlns="">
          <p:sp>
            <p:nvSpPr>
              <p:cNvPr id="6" name="テキスト ボックス 5">
                <a:extLst>
                  <a:ext uri="{FF2B5EF4-FFF2-40B4-BE49-F238E27FC236}">
                    <a16:creationId xmlns:a16="http://schemas.microsoft.com/office/drawing/2014/main" id="{8B437BB7-54A2-9EDE-0563-3A82BC4128EB}"/>
                  </a:ext>
                </a:extLst>
              </p:cNvPr>
              <p:cNvSpPr txBox="1">
                <a:spLocks noRot="1" noChangeAspect="1" noMove="1" noResize="1" noEditPoints="1" noAdjustHandles="1" noChangeArrowheads="1" noChangeShapeType="1" noTextEdit="1"/>
              </p:cNvSpPr>
              <p:nvPr/>
            </p:nvSpPr>
            <p:spPr>
              <a:xfrm>
                <a:off x="6638412" y="5968036"/>
                <a:ext cx="374590" cy="369332"/>
              </a:xfrm>
              <a:prstGeom prst="rect">
                <a:avLst/>
              </a:prstGeom>
              <a:blipFill>
                <a:blip r:embed="rId6"/>
                <a:stretch>
                  <a:fillRect/>
                </a:stretch>
              </a:blipFill>
            </p:spPr>
            <p:txBody>
              <a:bodyPr/>
              <a:lstStyle/>
              <a:p>
                <a:r>
                  <a:rPr lang="ja-GB"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86C15B67-B091-CD89-D463-E40C882AFEB2}"/>
                  </a:ext>
                </a:extLst>
              </p:cNvPr>
              <p:cNvSpPr txBox="1"/>
              <p:nvPr/>
            </p:nvSpPr>
            <p:spPr>
              <a:xfrm>
                <a:off x="6638412" y="6261308"/>
                <a:ext cx="86433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ja-GB" b="0" i="0" smtClean="0">
                          <a:solidFill>
                            <a:schemeClr val="accent2"/>
                          </a:solidFill>
                          <a:latin typeface="Cambria Math" panose="02040503050406030204" pitchFamily="18" charset="0"/>
                        </a:rPr>
                        <m:t>log</m:t>
                      </m:r>
                      <m:d>
                        <m:dPr>
                          <m:ctrlPr>
                            <a:rPr kumimoji="1" lang="en-US" altLang="ja-GB" b="0" i="1" smtClean="0">
                              <a:solidFill>
                                <a:schemeClr val="accent2"/>
                              </a:solidFill>
                              <a:latin typeface="Cambria Math" panose="02040503050406030204" pitchFamily="18" charset="0"/>
                            </a:rPr>
                          </m:ctrlPr>
                        </m:dPr>
                        <m:e>
                          <m:r>
                            <a:rPr kumimoji="1" lang="en-US" altLang="ja-GB" b="0" i="1" smtClean="0">
                              <a:solidFill>
                                <a:schemeClr val="accent2"/>
                              </a:solidFill>
                              <a:latin typeface="Cambria Math" panose="02040503050406030204" pitchFamily="18" charset="0"/>
                            </a:rPr>
                            <m:t>𝑛</m:t>
                          </m:r>
                        </m:e>
                      </m:d>
                    </m:oMath>
                  </m:oMathPara>
                </a14:m>
                <a:endParaRPr kumimoji="1" lang="ja-GB" altLang="en-US" dirty="0">
                  <a:solidFill>
                    <a:schemeClr val="accent2"/>
                  </a:solidFill>
                </a:endParaRPr>
              </a:p>
            </p:txBody>
          </p:sp>
        </mc:Choice>
        <mc:Fallback xmlns="">
          <p:sp>
            <p:nvSpPr>
              <p:cNvPr id="7" name="テキスト ボックス 6">
                <a:extLst>
                  <a:ext uri="{FF2B5EF4-FFF2-40B4-BE49-F238E27FC236}">
                    <a16:creationId xmlns:a16="http://schemas.microsoft.com/office/drawing/2014/main" id="{86C15B67-B091-CD89-D463-E40C882AFEB2}"/>
                  </a:ext>
                </a:extLst>
              </p:cNvPr>
              <p:cNvSpPr txBox="1">
                <a:spLocks noRot="1" noChangeAspect="1" noMove="1" noResize="1" noEditPoints="1" noAdjustHandles="1" noChangeArrowheads="1" noChangeShapeType="1" noTextEdit="1"/>
              </p:cNvSpPr>
              <p:nvPr/>
            </p:nvSpPr>
            <p:spPr>
              <a:xfrm>
                <a:off x="6638412" y="6261308"/>
                <a:ext cx="864339" cy="369332"/>
              </a:xfrm>
              <a:prstGeom prst="rect">
                <a:avLst/>
              </a:prstGeom>
              <a:blipFill>
                <a:blip r:embed="rId7"/>
                <a:stretch>
                  <a:fillRect b="-12903"/>
                </a:stretch>
              </a:blipFill>
            </p:spPr>
            <p:txBody>
              <a:bodyPr/>
              <a:lstStyle/>
              <a:p>
                <a:r>
                  <a:rPr lang="ja-GB"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47210AED-B6EA-0E27-50CE-188678FC091D}"/>
                  </a:ext>
                </a:extLst>
              </p:cNvPr>
              <p:cNvSpPr txBox="1"/>
              <p:nvPr/>
            </p:nvSpPr>
            <p:spPr>
              <a:xfrm>
                <a:off x="6638412" y="6508271"/>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GB" b="0" i="1" smtClean="0">
                          <a:solidFill>
                            <a:schemeClr val="accent4">
                              <a:lumMod val="75000"/>
                            </a:schemeClr>
                          </a:solidFill>
                          <a:latin typeface="Cambria Math" panose="02040503050406030204" pitchFamily="18" charset="0"/>
                        </a:rPr>
                        <m:t>1</m:t>
                      </m:r>
                    </m:oMath>
                  </m:oMathPara>
                </a14:m>
                <a:endParaRPr kumimoji="1" lang="ja-GB" altLang="en-US" dirty="0">
                  <a:solidFill>
                    <a:schemeClr val="accent4">
                      <a:lumMod val="75000"/>
                    </a:schemeClr>
                  </a:solidFill>
                </a:endParaRPr>
              </a:p>
            </p:txBody>
          </p:sp>
        </mc:Choice>
        <mc:Fallback xmlns="">
          <p:sp>
            <p:nvSpPr>
              <p:cNvPr id="8" name="テキスト ボックス 7">
                <a:extLst>
                  <a:ext uri="{FF2B5EF4-FFF2-40B4-BE49-F238E27FC236}">
                    <a16:creationId xmlns:a16="http://schemas.microsoft.com/office/drawing/2014/main" id="{47210AED-B6EA-0E27-50CE-188678FC091D}"/>
                  </a:ext>
                </a:extLst>
              </p:cNvPr>
              <p:cNvSpPr txBox="1">
                <a:spLocks noRot="1" noChangeAspect="1" noMove="1" noResize="1" noEditPoints="1" noAdjustHandles="1" noChangeArrowheads="1" noChangeShapeType="1" noTextEdit="1"/>
              </p:cNvSpPr>
              <p:nvPr/>
            </p:nvSpPr>
            <p:spPr>
              <a:xfrm>
                <a:off x="6638412" y="6508271"/>
                <a:ext cx="365806" cy="369332"/>
              </a:xfrm>
              <a:prstGeom prst="rect">
                <a:avLst/>
              </a:prstGeom>
              <a:blipFill>
                <a:blip r:embed="rId8"/>
                <a:stretch>
                  <a:fillRect/>
                </a:stretch>
              </a:blipFill>
            </p:spPr>
            <p:txBody>
              <a:bodyPr/>
              <a:lstStyle/>
              <a:p>
                <a:r>
                  <a:rPr lang="ja-GB" altLang="en-US">
                    <a:noFill/>
                  </a:rPr>
                  <a:t> </a:t>
                </a:r>
              </a:p>
            </p:txBody>
          </p:sp>
        </mc:Fallback>
      </mc:AlternateContent>
    </p:spTree>
    <p:extLst>
      <p:ext uri="{BB962C8B-B14F-4D97-AF65-F5344CB8AC3E}">
        <p14:creationId xmlns:p14="http://schemas.microsoft.com/office/powerpoint/2010/main" val="2809427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DF9173-3DD6-5DD1-C03F-99970AB7B834}"/>
              </a:ext>
            </a:extLst>
          </p:cNvPr>
          <p:cNvSpPr>
            <a:spLocks noGrp="1"/>
          </p:cNvSpPr>
          <p:nvPr>
            <p:ph type="title"/>
          </p:nvPr>
        </p:nvSpPr>
        <p:spPr/>
        <p:txBody>
          <a:bodyPr/>
          <a:lstStyle/>
          <a:p>
            <a:r>
              <a:rPr kumimoji="1" lang="ja-GB" altLang="en-US" dirty="0"/>
              <a:t>漸近記法</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C454E49-6608-2DC0-E504-0C797AD02B11}"/>
                  </a:ext>
                </a:extLst>
              </p:cNvPr>
              <p:cNvSpPr>
                <a:spLocks noGrp="1"/>
              </p:cNvSpPr>
              <p:nvPr>
                <p:ph idx="1"/>
              </p:nvPr>
            </p:nvSpPr>
            <p:spPr/>
            <p:txBody>
              <a:bodyPr>
                <a:normAutofit/>
              </a:bodyPr>
              <a:lstStyle/>
              <a:p>
                <a:pPr marL="0" indent="0">
                  <a:buNone/>
                </a:pPr>
                <a:r>
                  <a:rPr kumimoji="1" lang="ja-GB" altLang="en-US" dirty="0"/>
                  <a:t>簡略化の工夫の施された「計算時間の目安」を表現する方法</a:t>
                </a:r>
                <a:endParaRPr kumimoji="1" lang="en-US" altLang="ja-GB" dirty="0"/>
              </a:p>
              <a:p>
                <a:pPr marL="457200" lvl="1" indent="0">
                  <a:buNone/>
                </a:pPr>
                <a:r>
                  <a:rPr lang="ja-GB" altLang="en-GB" dirty="0"/>
                  <a:t>「</a:t>
                </a:r>
                <a14:m>
                  <m:oMath xmlns:m="http://schemas.openxmlformats.org/officeDocument/2006/math">
                    <m:r>
                      <a:rPr lang="en-GB" altLang="ja-GB" i="1" dirty="0" smtClean="0">
                        <a:solidFill>
                          <a:srgbClr val="0070C0"/>
                        </a:solidFill>
                        <a:latin typeface="Cambria Math" panose="02040503050406030204" pitchFamily="18" charset="0"/>
                      </a:rPr>
                      <m:t>𝑓</m:t>
                    </m:r>
                    <m:r>
                      <a:rPr lang="en-GB" altLang="ja-GB" i="1" dirty="0">
                        <a:solidFill>
                          <a:srgbClr val="0070C0"/>
                        </a:solidFill>
                        <a:latin typeface="Cambria Math" panose="02040503050406030204" pitchFamily="18" charset="0"/>
                      </a:rPr>
                      <m:t>(</m:t>
                    </m:r>
                    <m:r>
                      <a:rPr lang="en-GB" altLang="ja-GB" i="1" dirty="0">
                        <a:solidFill>
                          <a:srgbClr val="0070C0"/>
                        </a:solidFill>
                        <a:latin typeface="Cambria Math" panose="02040503050406030204" pitchFamily="18" charset="0"/>
                      </a:rPr>
                      <m:t>𝑛</m:t>
                    </m:r>
                    <m:r>
                      <a:rPr lang="en-GB" altLang="ja-GB" i="1" dirty="0" smtClean="0">
                        <a:solidFill>
                          <a:srgbClr val="0070C0"/>
                        </a:solidFill>
                        <a:latin typeface="Cambria Math" panose="02040503050406030204" pitchFamily="18" charset="0"/>
                      </a:rPr>
                      <m:t>)</m:t>
                    </m:r>
                  </m:oMath>
                </a14:m>
                <a:r>
                  <a:rPr lang="ja-JP" altLang="en-US">
                    <a:solidFill>
                      <a:srgbClr val="0070C0"/>
                    </a:solidFill>
                  </a:rPr>
                  <a:t>の増加速度は</a:t>
                </a:r>
                <a14:m>
                  <m:oMath xmlns:m="http://schemas.openxmlformats.org/officeDocument/2006/math">
                    <m:sSup>
                      <m:sSupPr>
                        <m:ctrlPr>
                          <a:rPr lang="en-US" altLang="ja-GB" b="1" i="1" dirty="0" smtClean="0">
                            <a:solidFill>
                              <a:srgbClr val="0070C0"/>
                            </a:solidFill>
                            <a:latin typeface="Cambria Math" panose="02040503050406030204" pitchFamily="18" charset="0"/>
                          </a:rPr>
                        </m:ctrlPr>
                      </m:sSupPr>
                      <m:e>
                        <m:r>
                          <a:rPr lang="en-GB" altLang="ja-GB" i="1" dirty="0" smtClean="0">
                            <a:solidFill>
                              <a:srgbClr val="0070C0"/>
                            </a:solidFill>
                            <a:latin typeface="Cambria Math" panose="02040503050406030204" pitchFamily="18" charset="0"/>
                          </a:rPr>
                          <m:t>𝑛</m:t>
                        </m:r>
                      </m:e>
                      <m:sup>
                        <m:r>
                          <a:rPr lang="en-US" altLang="ja-GB" b="1" i="1" dirty="0" smtClean="0">
                            <a:solidFill>
                              <a:srgbClr val="0070C0"/>
                            </a:solidFill>
                            <a:latin typeface="Cambria Math" panose="02040503050406030204" pitchFamily="18" charset="0"/>
                          </a:rPr>
                          <m:t>𝟐</m:t>
                        </m:r>
                      </m:sup>
                    </m:sSup>
                  </m:oMath>
                </a14:m>
                <a:r>
                  <a:rPr lang="ja-JP" altLang="en-US">
                    <a:solidFill>
                      <a:srgbClr val="0070C0"/>
                    </a:solidFill>
                  </a:rPr>
                  <a:t>と同程度だ</a:t>
                </a:r>
                <a:r>
                  <a:rPr lang="ja-JP" altLang="en-US"/>
                  <a:t>」と言いたいとき，</a:t>
                </a:r>
                <a:r>
                  <a:rPr lang="ja-GB" altLang="en-US" dirty="0"/>
                  <a:t>日常的な場面では</a:t>
                </a:r>
                <a:r>
                  <a:rPr lang="en-US" altLang="ja-GB" baseline="30000" dirty="0"/>
                  <a:t>※</a:t>
                </a:r>
                <a:r>
                  <a:rPr lang="ja-JP" altLang="en-US"/>
                  <a:t>，</a:t>
                </a:r>
                <a:br>
                  <a:rPr lang="en-US" altLang="ja-JP" dirty="0"/>
                </a:br>
                <a:r>
                  <a:rPr lang="ja-JP" altLang="en-US"/>
                  <a:t>「</a:t>
                </a:r>
                <a14:m>
                  <m:oMath xmlns:m="http://schemas.openxmlformats.org/officeDocument/2006/math">
                    <m:r>
                      <a:rPr lang="en-GB" altLang="ja-GB" i="1" dirty="0" smtClean="0">
                        <a:solidFill>
                          <a:srgbClr val="0070C0"/>
                        </a:solidFill>
                        <a:latin typeface="Cambria Math" panose="02040503050406030204" pitchFamily="18" charset="0"/>
                      </a:rPr>
                      <m:t>𝑓</m:t>
                    </m:r>
                    <m:r>
                      <a:rPr lang="en-GB" altLang="ja-GB" i="1" dirty="0">
                        <a:solidFill>
                          <a:srgbClr val="0070C0"/>
                        </a:solidFill>
                        <a:latin typeface="Cambria Math" panose="02040503050406030204" pitchFamily="18" charset="0"/>
                      </a:rPr>
                      <m:t>(</m:t>
                    </m:r>
                    <m:r>
                      <a:rPr lang="en-GB" altLang="ja-GB" i="1" dirty="0">
                        <a:solidFill>
                          <a:srgbClr val="0070C0"/>
                        </a:solidFill>
                        <a:latin typeface="Cambria Math" panose="02040503050406030204" pitchFamily="18" charset="0"/>
                      </a:rPr>
                      <m:t>𝑛</m:t>
                    </m:r>
                    <m:r>
                      <a:rPr lang="en-GB" altLang="ja-GB" i="1" dirty="0" smtClean="0">
                        <a:solidFill>
                          <a:srgbClr val="0070C0"/>
                        </a:solidFill>
                        <a:latin typeface="Cambria Math" panose="02040503050406030204" pitchFamily="18" charset="0"/>
                      </a:rPr>
                      <m:t>)</m:t>
                    </m:r>
                  </m:oMath>
                </a14:m>
                <a:r>
                  <a:rPr lang="ja-JP" altLang="en-US">
                    <a:solidFill>
                      <a:srgbClr val="0070C0"/>
                    </a:solidFill>
                  </a:rPr>
                  <a:t>は</a:t>
                </a:r>
                <a14:m>
                  <m:oMath xmlns:m="http://schemas.openxmlformats.org/officeDocument/2006/math">
                    <m:r>
                      <a:rPr lang="en-GB" altLang="ja-GB" i="1" dirty="0" smtClean="0">
                        <a:solidFill>
                          <a:srgbClr val="0070C0"/>
                        </a:solidFill>
                        <a:latin typeface="Cambria Math" panose="02040503050406030204" pitchFamily="18" charset="0"/>
                      </a:rPr>
                      <m:t>𝑂</m:t>
                    </m:r>
                    <m:r>
                      <a:rPr lang="en-GB" altLang="ja-GB" i="1" dirty="0">
                        <a:solidFill>
                          <a:srgbClr val="0070C0"/>
                        </a:solidFill>
                        <a:latin typeface="Cambria Math" panose="02040503050406030204" pitchFamily="18" charset="0"/>
                      </a:rPr>
                      <m:t>(</m:t>
                    </m:r>
                    <m:sSup>
                      <m:sSupPr>
                        <m:ctrlPr>
                          <a:rPr lang="en-GB" altLang="ja-GB" i="1" dirty="0">
                            <a:solidFill>
                              <a:srgbClr val="0070C0"/>
                            </a:solidFill>
                            <a:latin typeface="Cambria Math" panose="02040503050406030204" pitchFamily="18" charset="0"/>
                          </a:rPr>
                        </m:ctrlPr>
                      </m:sSupPr>
                      <m:e>
                        <m:r>
                          <a:rPr lang="en-GB" altLang="ja-GB" i="1" dirty="0">
                            <a:solidFill>
                              <a:srgbClr val="0070C0"/>
                            </a:solidFill>
                            <a:latin typeface="Cambria Math" panose="02040503050406030204" pitchFamily="18" charset="0"/>
                          </a:rPr>
                          <m:t>𝑛</m:t>
                        </m:r>
                      </m:e>
                      <m:sup>
                        <m:r>
                          <a:rPr lang="en-GB" altLang="ja-GB" i="1" dirty="0">
                            <a:solidFill>
                              <a:srgbClr val="0070C0"/>
                            </a:solidFill>
                            <a:latin typeface="Cambria Math" panose="02040503050406030204" pitchFamily="18" charset="0"/>
                          </a:rPr>
                          <m:t>2</m:t>
                        </m:r>
                      </m:sup>
                    </m:sSup>
                    <m:r>
                      <a:rPr lang="en-GB" altLang="ja-GB" i="1" dirty="0" smtClean="0">
                        <a:solidFill>
                          <a:srgbClr val="0070C0"/>
                        </a:solidFill>
                        <a:latin typeface="Cambria Math" panose="02040503050406030204" pitchFamily="18" charset="0"/>
                      </a:rPr>
                      <m:t>)</m:t>
                    </m:r>
                  </m:oMath>
                </a14:m>
                <a:r>
                  <a:rPr lang="ja-JP" altLang="en-US">
                    <a:solidFill>
                      <a:srgbClr val="0070C0"/>
                    </a:solidFill>
                  </a:rPr>
                  <a:t>である</a:t>
                </a:r>
                <a:r>
                  <a:rPr lang="ja-JP" altLang="en-US"/>
                  <a:t>」と</a:t>
                </a:r>
                <a:r>
                  <a:rPr lang="ja-GB" altLang="en-US" dirty="0"/>
                  <a:t>よく言われる</a:t>
                </a:r>
                <a:endParaRPr lang="en-US" altLang="ja-JP" dirty="0"/>
              </a:p>
              <a:p>
                <a:pPr marL="914400" lvl="2" indent="0">
                  <a:buNone/>
                </a:pPr>
                <a:r>
                  <a:rPr lang="ja-JP" altLang="en-US"/>
                  <a:t>例）計算時間が</a:t>
                </a:r>
                <a14:m>
                  <m:oMath xmlns:m="http://schemas.openxmlformats.org/officeDocument/2006/math">
                    <m:r>
                      <a:rPr lang="en-US" altLang="ja-JP" i="1" dirty="0" smtClean="0">
                        <a:latin typeface="Cambria Math" panose="02040503050406030204" pitchFamily="18" charset="0"/>
                      </a:rPr>
                      <m:t>3</m:t>
                    </m:r>
                    <m:sSup>
                      <m:sSupPr>
                        <m:ctrlPr>
                          <a:rPr lang="en-GB" altLang="ja-GB" i="1" dirty="0">
                            <a:latin typeface="Cambria Math" panose="02040503050406030204" pitchFamily="18" charset="0"/>
                          </a:rPr>
                        </m:ctrlPr>
                      </m:sSupPr>
                      <m:e>
                        <m:r>
                          <a:rPr lang="en-GB" altLang="ja-GB" i="1" dirty="0">
                            <a:latin typeface="Cambria Math" panose="02040503050406030204" pitchFamily="18" charset="0"/>
                          </a:rPr>
                          <m:t>𝑛</m:t>
                        </m:r>
                      </m:e>
                      <m:sup>
                        <m:r>
                          <a:rPr lang="en-GB" altLang="ja-GB" i="1" dirty="0">
                            <a:latin typeface="Cambria Math" panose="02040503050406030204" pitchFamily="18" charset="0"/>
                          </a:rPr>
                          <m:t>2</m:t>
                        </m:r>
                      </m:sup>
                    </m:sSup>
                    <m:r>
                      <a:rPr lang="en-GB" altLang="ja-GB" i="1" dirty="0">
                        <a:latin typeface="Cambria Math" panose="02040503050406030204" pitchFamily="18" charset="0"/>
                      </a:rPr>
                      <m:t>+</m:t>
                    </m:r>
                    <m:r>
                      <a:rPr lang="en-GB" altLang="ja-GB" i="1" dirty="0">
                        <a:latin typeface="Cambria Math" panose="02040503050406030204" pitchFamily="18" charset="0"/>
                      </a:rPr>
                      <m:t>𝑛</m:t>
                    </m:r>
                    <m:r>
                      <a:rPr lang="en-GB" altLang="ja-GB" i="1" dirty="0">
                        <a:latin typeface="Cambria Math" panose="02040503050406030204" pitchFamily="18" charset="0"/>
                      </a:rPr>
                      <m:t>+8</m:t>
                    </m:r>
                  </m:oMath>
                </a14:m>
                <a:r>
                  <a:rPr lang="ja-JP" altLang="en-US"/>
                  <a:t>のアルゴリズムは</a:t>
                </a:r>
                <a14:m>
                  <m:oMath xmlns:m="http://schemas.openxmlformats.org/officeDocument/2006/math">
                    <m:r>
                      <a:rPr lang="en-GB" altLang="ja-GB" i="1" dirty="0" smtClean="0">
                        <a:latin typeface="Cambria Math" panose="02040503050406030204" pitchFamily="18" charset="0"/>
                      </a:rPr>
                      <m:t>𝑂</m:t>
                    </m:r>
                    <m:r>
                      <a:rPr lang="en-GB" altLang="ja-GB" i="1" dirty="0">
                        <a:latin typeface="Cambria Math" panose="02040503050406030204" pitchFamily="18" charset="0"/>
                      </a:rPr>
                      <m:t>(</m:t>
                    </m:r>
                    <m:sSup>
                      <m:sSupPr>
                        <m:ctrlPr>
                          <a:rPr lang="en-GB" altLang="ja-GB" i="1" dirty="0">
                            <a:latin typeface="Cambria Math" panose="02040503050406030204" pitchFamily="18" charset="0"/>
                          </a:rPr>
                        </m:ctrlPr>
                      </m:sSupPr>
                      <m:e>
                        <m:r>
                          <a:rPr lang="en-GB" altLang="ja-GB" i="1" dirty="0">
                            <a:latin typeface="Cambria Math" panose="02040503050406030204" pitchFamily="18" charset="0"/>
                          </a:rPr>
                          <m:t>𝑛</m:t>
                        </m:r>
                      </m:e>
                      <m:sup>
                        <m:r>
                          <a:rPr lang="en-GB" altLang="ja-GB" i="1" dirty="0">
                            <a:latin typeface="Cambria Math" panose="02040503050406030204" pitchFamily="18" charset="0"/>
                          </a:rPr>
                          <m:t>2</m:t>
                        </m:r>
                      </m:sup>
                    </m:sSup>
                    <m:r>
                      <a:rPr lang="en-GB" altLang="ja-GB" i="1" dirty="0">
                        <a:latin typeface="Cambria Math" panose="02040503050406030204" pitchFamily="18" charset="0"/>
                      </a:rPr>
                      <m:t>)</m:t>
                    </m:r>
                  </m:oMath>
                </a14:m>
                <a:r>
                  <a:rPr lang="ja-JP" altLang="en-US"/>
                  <a:t>である</a:t>
                </a:r>
                <a:endParaRPr lang="en-US" altLang="ja-JP" dirty="0"/>
              </a:p>
              <a:p>
                <a:pPr lvl="1"/>
                <a:endParaRPr lang="en-US" altLang="ja-JP" dirty="0"/>
              </a:p>
            </p:txBody>
          </p:sp>
        </mc:Choice>
        <mc:Fallback xmlns="">
          <p:sp>
            <p:nvSpPr>
              <p:cNvPr id="3" name="コンテンツ プレースホルダー 2">
                <a:extLst>
                  <a:ext uri="{FF2B5EF4-FFF2-40B4-BE49-F238E27FC236}">
                    <a16:creationId xmlns:a16="http://schemas.microsoft.com/office/drawing/2014/main" id="{7C454E49-6608-2DC0-E504-0C797AD02B11}"/>
                  </a:ext>
                </a:extLst>
              </p:cNvPr>
              <p:cNvSpPr>
                <a:spLocks noGrp="1" noRot="1" noChangeAspect="1" noMove="1" noResize="1" noEditPoints="1" noAdjustHandles="1" noChangeArrowheads="1" noChangeShapeType="1" noTextEdit="1"/>
              </p:cNvSpPr>
              <p:nvPr>
                <p:ph idx="1"/>
              </p:nvPr>
            </p:nvSpPr>
            <p:spPr>
              <a:blipFill>
                <a:blip r:embed="rId2"/>
                <a:stretch>
                  <a:fillRect l="-1042" t="-1480"/>
                </a:stretch>
              </a:blipFill>
            </p:spPr>
            <p:txBody>
              <a:bodyPr/>
              <a:lstStyle/>
              <a:p>
                <a:r>
                  <a:rPr lang="ja-GB" altLang="en-US">
                    <a:noFill/>
                  </a:rPr>
                  <a:t> </a:t>
                </a:r>
              </a:p>
            </p:txBody>
          </p:sp>
        </mc:Fallback>
      </mc:AlternateContent>
      <p:pic>
        <p:nvPicPr>
          <p:cNvPr id="4" name="Picture 2">
            <a:extLst>
              <a:ext uri="{FF2B5EF4-FFF2-40B4-BE49-F238E27FC236}">
                <a16:creationId xmlns:a16="http://schemas.microsoft.com/office/drawing/2014/main" id="{1686D4DD-13C7-A28C-4093-584D535F6120}"/>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289064" y="2257636"/>
            <a:ext cx="6565872" cy="393268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613F4953-E6FF-856E-3619-56B3E31B4269}"/>
                  </a:ext>
                </a:extLst>
              </p:cNvPr>
              <p:cNvSpPr txBox="1"/>
              <p:nvPr/>
            </p:nvSpPr>
            <p:spPr>
              <a:xfrm>
                <a:off x="627586" y="6385865"/>
                <a:ext cx="7888826" cy="276999"/>
              </a:xfrm>
              <a:prstGeom prst="rect">
                <a:avLst/>
              </a:prstGeom>
              <a:noFill/>
            </p:spPr>
            <p:txBody>
              <a:bodyPr wrap="none" rtlCol="0">
                <a:spAutoFit/>
              </a:bodyPr>
              <a:lstStyle/>
              <a:p>
                <a:pPr algn="ctr"/>
                <a:r>
                  <a:rPr lang="en-US" altLang="ja-JP" sz="1200" dirty="0"/>
                  <a:t>※</a:t>
                </a:r>
                <a:r>
                  <a:rPr lang="ja-JP" altLang="en-US" sz="1200"/>
                  <a:t>厳密には，「</a:t>
                </a:r>
                <a14:m>
                  <m:oMath xmlns:m="http://schemas.openxmlformats.org/officeDocument/2006/math">
                    <m:r>
                      <a:rPr lang="en-GB" altLang="ja-GB" sz="1200" i="1" dirty="0" smtClean="0">
                        <a:latin typeface="Cambria Math" panose="02040503050406030204" pitchFamily="18" charset="0"/>
                      </a:rPr>
                      <m:t>𝑓</m:t>
                    </m:r>
                    <m:r>
                      <a:rPr lang="en-GB" altLang="ja-GB" sz="1200" i="1" dirty="0">
                        <a:latin typeface="Cambria Math" panose="02040503050406030204" pitchFamily="18" charset="0"/>
                      </a:rPr>
                      <m:t>(</m:t>
                    </m:r>
                    <m:r>
                      <a:rPr lang="en-GB" altLang="ja-GB" sz="1200" i="1" dirty="0">
                        <a:latin typeface="Cambria Math" panose="02040503050406030204" pitchFamily="18" charset="0"/>
                      </a:rPr>
                      <m:t>𝑛</m:t>
                    </m:r>
                    <m:r>
                      <a:rPr lang="en-GB" altLang="ja-GB" sz="1200" i="1" dirty="0" smtClean="0">
                        <a:latin typeface="Cambria Math" panose="02040503050406030204" pitchFamily="18" charset="0"/>
                      </a:rPr>
                      <m:t>)</m:t>
                    </m:r>
                  </m:oMath>
                </a14:m>
                <a:r>
                  <a:rPr lang="ja-JP" altLang="en-US" sz="1200"/>
                  <a:t>の増加速度は</a:t>
                </a:r>
                <a14:m>
                  <m:oMath xmlns:m="http://schemas.openxmlformats.org/officeDocument/2006/math">
                    <m:sSup>
                      <m:sSupPr>
                        <m:ctrlPr>
                          <a:rPr lang="en-GB" altLang="ja-GB" sz="1200" i="1" dirty="0" smtClean="0">
                            <a:latin typeface="Cambria Math" panose="02040503050406030204" pitchFamily="18" charset="0"/>
                          </a:rPr>
                        </m:ctrlPr>
                      </m:sSupPr>
                      <m:e>
                        <m:r>
                          <a:rPr lang="en-GB" altLang="ja-GB" sz="1200" i="1" dirty="0" smtClean="0">
                            <a:latin typeface="Cambria Math" panose="02040503050406030204" pitchFamily="18" charset="0"/>
                          </a:rPr>
                          <m:t>𝑛</m:t>
                        </m:r>
                      </m:e>
                      <m:sup>
                        <m:r>
                          <a:rPr lang="en-GB" altLang="ja-GB" sz="1200" i="1" dirty="0" smtClean="0">
                            <a:latin typeface="Cambria Math" panose="02040503050406030204" pitchFamily="18" charset="0"/>
                          </a:rPr>
                          <m:t>2</m:t>
                        </m:r>
                      </m:sup>
                    </m:sSup>
                  </m:oMath>
                </a14:m>
                <a:r>
                  <a:rPr lang="ja-JP" altLang="en-US" sz="1200"/>
                  <a:t>よりも小さい」（上界）という意味だが，</a:t>
                </a:r>
                <a:r>
                  <a:rPr lang="ja-GB" altLang="en-US" sz="1200" dirty="0"/>
                  <a:t>本授業ではそこまで</a:t>
                </a:r>
                <a:r>
                  <a:rPr lang="ja-JP" altLang="en-US" sz="1200"/>
                  <a:t>踏み込まない</a:t>
                </a:r>
                <a:endParaRPr lang="en-US" altLang="ja-JP" sz="1200" dirty="0"/>
              </a:p>
            </p:txBody>
          </p:sp>
        </mc:Choice>
        <mc:Fallback xmlns="">
          <p:sp>
            <p:nvSpPr>
              <p:cNvPr id="5" name="テキスト ボックス 4">
                <a:extLst>
                  <a:ext uri="{FF2B5EF4-FFF2-40B4-BE49-F238E27FC236}">
                    <a16:creationId xmlns:a16="http://schemas.microsoft.com/office/drawing/2014/main" id="{613F4953-E6FF-856E-3619-56B3E31B4269}"/>
                  </a:ext>
                </a:extLst>
              </p:cNvPr>
              <p:cNvSpPr txBox="1">
                <a:spLocks noRot="1" noChangeAspect="1" noMove="1" noResize="1" noEditPoints="1" noAdjustHandles="1" noChangeArrowheads="1" noChangeShapeType="1" noTextEdit="1"/>
              </p:cNvSpPr>
              <p:nvPr/>
            </p:nvSpPr>
            <p:spPr>
              <a:xfrm>
                <a:off x="627586" y="6385865"/>
                <a:ext cx="7888826" cy="276999"/>
              </a:xfrm>
              <a:prstGeom prst="rect">
                <a:avLst/>
              </a:prstGeom>
              <a:blipFill>
                <a:blip r:embed="rId4"/>
                <a:stretch>
                  <a:fillRect t="-9091" b="-13636"/>
                </a:stretch>
              </a:blipFill>
            </p:spPr>
            <p:txBody>
              <a:bodyPr/>
              <a:lstStyle/>
              <a:p>
                <a:r>
                  <a:rPr lang="ja-GB" altLang="en-US">
                    <a:noFill/>
                  </a:rPr>
                  <a:t> </a:t>
                </a:r>
              </a:p>
            </p:txBody>
          </p:sp>
        </mc:Fallback>
      </mc:AlternateContent>
    </p:spTree>
    <p:extLst>
      <p:ext uri="{BB962C8B-B14F-4D97-AF65-F5344CB8AC3E}">
        <p14:creationId xmlns:p14="http://schemas.microsoft.com/office/powerpoint/2010/main" val="20519373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84F6A5-9154-C109-4EFD-63FE1C569784}"/>
              </a:ext>
            </a:extLst>
          </p:cNvPr>
          <p:cNvSpPr>
            <a:spLocks noGrp="1"/>
          </p:cNvSpPr>
          <p:nvPr>
            <p:ph type="title"/>
          </p:nvPr>
        </p:nvSpPr>
        <p:spPr/>
        <p:txBody>
          <a:bodyPr/>
          <a:lstStyle/>
          <a:p>
            <a:r>
              <a:rPr lang="ja-JP" altLang="en-US"/>
              <a:t>計算複雑性に基づくアルゴリズムの分類</a:t>
            </a:r>
            <a:endParaRPr kumimoji="1" lang="ja-GB"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1056A71F-3F9A-C524-5320-F54FEA1C4FEF}"/>
                  </a:ext>
                </a:extLst>
              </p:cNvPr>
              <p:cNvSpPr>
                <a:spLocks noGrp="1"/>
              </p:cNvSpPr>
              <p:nvPr>
                <p:ph idx="1"/>
              </p:nvPr>
            </p:nvSpPr>
            <p:spPr/>
            <p:txBody>
              <a:bodyPr/>
              <a:lstStyle/>
              <a:p>
                <a:pPr marL="0" indent="0">
                  <a:buNone/>
                </a:pPr>
                <a:r>
                  <a:rPr lang="ja-GB" altLang="en-US" dirty="0"/>
                  <a:t>代表的な</a:t>
                </a:r>
                <a:r>
                  <a:rPr lang="ja-JP" altLang="en-US"/>
                  <a:t>アルゴリズムの速さの</a:t>
                </a:r>
                <a:r>
                  <a:rPr lang="ja-GB" altLang="en-US" dirty="0"/>
                  <a:t>分類</a:t>
                </a:r>
                <a:endParaRPr lang="en-US" altLang="ja-JP" dirty="0"/>
              </a:p>
              <a:p>
                <a:pPr marL="457200" lvl="1" indent="0">
                  <a:buNone/>
                </a:pPr>
                <a:r>
                  <a:rPr lang="ja-JP" altLang="en-US">
                    <a:solidFill>
                      <a:srgbClr val="0070C0"/>
                    </a:solidFill>
                  </a:rPr>
                  <a:t>指数計算時間</a:t>
                </a:r>
                <a:r>
                  <a:rPr lang="ja-JP" altLang="en-US"/>
                  <a:t>：</a:t>
                </a:r>
                <a:r>
                  <a:rPr lang="ja-GB" altLang="en-US" dirty="0"/>
                  <a:t>指数関数的に時間が増加する（</a:t>
                </a:r>
                <a:r>
                  <a:rPr lang="ja-GB" altLang="en-US" dirty="0">
                    <a:solidFill>
                      <a:srgbClr val="0070C0"/>
                    </a:solidFill>
                  </a:rPr>
                  <a:t>ほとんどの場面で問題</a:t>
                </a:r>
                <a:r>
                  <a:rPr lang="ja-GB" altLang="en-US" dirty="0"/>
                  <a:t>）</a:t>
                </a:r>
                <a:endParaRPr lang="en-US" altLang="ja-GB" dirty="0"/>
              </a:p>
              <a:p>
                <a:pPr marL="457200" lvl="1" indent="0">
                  <a:buNone/>
                </a:pPr>
                <a:r>
                  <a:rPr lang="ja-JP" altLang="en-US">
                    <a:solidFill>
                      <a:srgbClr val="00B0F0"/>
                    </a:solidFill>
                  </a:rPr>
                  <a:t>多項式計算時間</a:t>
                </a:r>
                <a:r>
                  <a:rPr lang="ja-JP" altLang="en-US"/>
                  <a:t>：</a:t>
                </a:r>
                <a:r>
                  <a:rPr lang="ja-GB" altLang="en-US" dirty="0"/>
                  <a:t>冪乗関数的に時間が増える（</a:t>
                </a:r>
                <a:r>
                  <a:rPr lang="ja-GB" altLang="en-US" dirty="0">
                    <a:solidFill>
                      <a:srgbClr val="00B0F0"/>
                    </a:solidFill>
                  </a:rPr>
                  <a:t>遅いが使用場面も多い</a:t>
                </a:r>
                <a:r>
                  <a:rPr lang="ja-GB" altLang="en-US" dirty="0"/>
                  <a:t>）</a:t>
                </a:r>
                <a:endParaRPr lang="en-US" altLang="ja-GB" dirty="0"/>
              </a:p>
              <a:p>
                <a:pPr marL="457200" lvl="1" indent="0">
                  <a:buNone/>
                </a:pPr>
                <a:r>
                  <a:rPr lang="ja-JP" altLang="en-US">
                    <a:solidFill>
                      <a:srgbClr val="A64155"/>
                    </a:solidFill>
                  </a:rPr>
                  <a:t>対数線形計算時間</a:t>
                </a:r>
                <a:r>
                  <a:rPr lang="ja-JP" altLang="en-US"/>
                  <a:t>：</a:t>
                </a:r>
                <a:r>
                  <a:rPr lang="ja-GB" altLang="en-US" dirty="0"/>
                  <a:t>比例より大きく計算手順が増える</a:t>
                </a:r>
                <a:r>
                  <a:rPr lang="en-US" altLang="ja-JP" dirty="0"/>
                  <a:t> </a:t>
                </a:r>
                <a14:m>
                  <m:oMath xmlns:m="http://schemas.openxmlformats.org/officeDocument/2006/math">
                    <m:r>
                      <a:rPr lang="en-US" altLang="ja-JP" i="1" dirty="0">
                        <a:latin typeface="Cambria Math" panose="02040503050406030204" pitchFamily="18" charset="0"/>
                      </a:rPr>
                      <m:t>𝑂</m:t>
                    </m:r>
                    <m:r>
                      <a:rPr lang="en-US" altLang="ja-JP" i="1" dirty="0">
                        <a:latin typeface="Cambria Math" panose="02040503050406030204" pitchFamily="18" charset="0"/>
                      </a:rPr>
                      <m:t>(</m:t>
                    </m:r>
                    <m:r>
                      <a:rPr lang="en-US" altLang="ja-JP" i="1" dirty="0" err="1">
                        <a:latin typeface="Cambria Math" panose="02040503050406030204" pitchFamily="18" charset="0"/>
                      </a:rPr>
                      <m:t>𝑛</m:t>
                    </m:r>
                    <m:r>
                      <a:rPr lang="en-US" altLang="ja-JP" i="1" dirty="0">
                        <a:latin typeface="Cambria Math" panose="02040503050406030204" pitchFamily="18" charset="0"/>
                      </a:rPr>
                      <m:t> </m:t>
                    </m:r>
                    <m:r>
                      <m:rPr>
                        <m:sty m:val="p"/>
                      </m:rPr>
                      <a:rPr lang="en-US" altLang="ja-JP" dirty="0" err="1">
                        <a:latin typeface="Cambria Math" panose="02040503050406030204" pitchFamily="18" charset="0"/>
                      </a:rPr>
                      <m:t>log</m:t>
                    </m:r>
                    <m:r>
                      <a:rPr lang="en-US" altLang="ja-JP" i="1" dirty="0">
                        <a:latin typeface="Cambria Math" panose="02040503050406030204" pitchFamily="18" charset="0"/>
                      </a:rPr>
                      <m:t>(</m:t>
                    </m:r>
                    <m:r>
                      <a:rPr lang="en-US" altLang="ja-JP" i="1" dirty="0">
                        <a:latin typeface="Cambria Math" panose="02040503050406030204" pitchFamily="18" charset="0"/>
                      </a:rPr>
                      <m:t>𝑛</m:t>
                    </m:r>
                    <m:r>
                      <a:rPr lang="en-US" altLang="ja-JP" i="1" dirty="0">
                        <a:latin typeface="Cambria Math" panose="02040503050406030204" pitchFamily="18" charset="0"/>
                      </a:rPr>
                      <m:t>))</m:t>
                    </m:r>
                  </m:oMath>
                </a14:m>
                <a:endParaRPr lang="ja-GB" altLang="en-US" dirty="0"/>
              </a:p>
              <a:p>
                <a:pPr marL="457200" lvl="1" indent="0">
                  <a:buNone/>
                </a:pPr>
                <a:r>
                  <a:rPr lang="ja-JP" altLang="en-US">
                    <a:solidFill>
                      <a:srgbClr val="C00000"/>
                    </a:solidFill>
                  </a:rPr>
                  <a:t>線形計算時間</a:t>
                </a:r>
                <a:r>
                  <a:rPr lang="ja-JP" altLang="en-US"/>
                  <a:t>：</a:t>
                </a:r>
                <a:r>
                  <a:rPr lang="ja-GB" altLang="en-US" dirty="0"/>
                  <a:t>データ数に概ね比例して時間が増える</a:t>
                </a:r>
                <a:endParaRPr lang="en-US" altLang="ja-JP" dirty="0"/>
              </a:p>
              <a:p>
                <a:pPr marL="457200" lvl="1" indent="0">
                  <a:buNone/>
                </a:pPr>
                <a:r>
                  <a:rPr lang="ja-JP" altLang="en-US">
                    <a:solidFill>
                      <a:schemeClr val="accent2"/>
                    </a:solidFill>
                  </a:rPr>
                  <a:t>対数計算時間</a:t>
                </a:r>
                <a:r>
                  <a:rPr lang="ja-JP" altLang="en-US"/>
                  <a:t>：</a:t>
                </a:r>
                <a:r>
                  <a:rPr lang="ja-GB" altLang="en-US" dirty="0"/>
                  <a:t>データが増えてもほとんど時間は増えない</a:t>
                </a:r>
                <a:r>
                  <a:rPr lang="en-US" altLang="ja-JP" dirty="0"/>
                  <a:t> </a:t>
                </a:r>
                <a14:m>
                  <m:oMath xmlns:m="http://schemas.openxmlformats.org/officeDocument/2006/math">
                    <m:r>
                      <a:rPr lang="en-US" altLang="ja-JP" i="1" dirty="0">
                        <a:latin typeface="Cambria Math" panose="02040503050406030204" pitchFamily="18" charset="0"/>
                      </a:rPr>
                      <m:t>𝑂</m:t>
                    </m:r>
                    <m:r>
                      <a:rPr lang="en-US" altLang="ja-JP" i="1" dirty="0">
                        <a:latin typeface="Cambria Math" panose="02040503050406030204" pitchFamily="18" charset="0"/>
                      </a:rPr>
                      <m:t>(</m:t>
                    </m:r>
                    <m:r>
                      <m:rPr>
                        <m:sty m:val="p"/>
                      </m:rPr>
                      <a:rPr lang="en-US" altLang="ja-JP" i="1" dirty="0">
                        <a:latin typeface="Cambria Math" panose="02040503050406030204" pitchFamily="18" charset="0"/>
                      </a:rPr>
                      <m:t>log</m:t>
                    </m:r>
                    <m:r>
                      <a:rPr lang="en-US" altLang="ja-JP" i="1" dirty="0">
                        <a:latin typeface="Cambria Math" panose="02040503050406030204" pitchFamily="18" charset="0"/>
                      </a:rPr>
                      <m:t>⁡(</m:t>
                    </m:r>
                    <m:r>
                      <a:rPr lang="en-US" altLang="ja-JP" i="1" dirty="0">
                        <a:latin typeface="Cambria Math" panose="02040503050406030204" pitchFamily="18" charset="0"/>
                      </a:rPr>
                      <m:t>𝑛</m:t>
                    </m:r>
                    <m:r>
                      <a:rPr lang="en-US" altLang="ja-JP" i="1" dirty="0">
                        <a:latin typeface="Cambria Math" panose="02040503050406030204" pitchFamily="18" charset="0"/>
                      </a:rPr>
                      <m:t>))</m:t>
                    </m:r>
                  </m:oMath>
                </a14:m>
                <a:endParaRPr lang="en-US" altLang="ja-JP" dirty="0">
                  <a:solidFill>
                    <a:schemeClr val="accent4">
                      <a:lumMod val="50000"/>
                    </a:schemeClr>
                  </a:solidFill>
                </a:endParaRPr>
              </a:p>
              <a:p>
                <a:pPr marL="457200" lvl="1" indent="0">
                  <a:buNone/>
                </a:pPr>
                <a:r>
                  <a:rPr lang="ja-JP" altLang="en-US">
                    <a:solidFill>
                      <a:schemeClr val="accent4">
                        <a:lumMod val="50000"/>
                      </a:schemeClr>
                    </a:solidFill>
                  </a:rPr>
                  <a:t>定数計算時間</a:t>
                </a:r>
                <a:r>
                  <a:rPr lang="ja-JP" altLang="en-US"/>
                  <a:t>：</a:t>
                </a:r>
                <a:r>
                  <a:rPr lang="ja-GB" altLang="en-US" dirty="0"/>
                  <a:t>データが増えても時間は変わらない</a:t>
                </a:r>
                <a:endParaRPr lang="ja-JP" altLang="en-US"/>
              </a:p>
            </p:txBody>
          </p:sp>
        </mc:Choice>
        <mc:Fallback xmlns="">
          <p:sp>
            <p:nvSpPr>
              <p:cNvPr id="3" name="コンテンツ プレースホルダー 2">
                <a:extLst>
                  <a:ext uri="{FF2B5EF4-FFF2-40B4-BE49-F238E27FC236}">
                    <a16:creationId xmlns:a16="http://schemas.microsoft.com/office/drawing/2014/main" id="{1056A71F-3F9A-C524-5320-F54FEA1C4FEF}"/>
                  </a:ext>
                </a:extLst>
              </p:cNvPr>
              <p:cNvSpPr>
                <a:spLocks noGrp="1" noRot="1" noChangeAspect="1" noMove="1" noResize="1" noEditPoints="1" noAdjustHandles="1" noChangeArrowheads="1" noChangeShapeType="1" noTextEdit="1"/>
              </p:cNvSpPr>
              <p:nvPr>
                <p:ph idx="1"/>
              </p:nvPr>
            </p:nvSpPr>
            <p:spPr>
              <a:blipFill>
                <a:blip r:embed="rId3"/>
                <a:stretch>
                  <a:fillRect l="-1042" t="-1480"/>
                </a:stretch>
              </a:blipFill>
            </p:spPr>
            <p:txBody>
              <a:bodyPr/>
              <a:lstStyle/>
              <a:p>
                <a:r>
                  <a:rPr lang="ja-GB" altLang="en-US">
                    <a:noFill/>
                  </a:rPr>
                  <a:t> </a:t>
                </a:r>
              </a:p>
            </p:txBody>
          </p:sp>
        </mc:Fallback>
      </mc:AlternateContent>
      <p:grpSp>
        <p:nvGrpSpPr>
          <p:cNvPr id="18" name="グループ化 17">
            <a:extLst>
              <a:ext uri="{FF2B5EF4-FFF2-40B4-BE49-F238E27FC236}">
                <a16:creationId xmlns:a16="http://schemas.microsoft.com/office/drawing/2014/main" id="{CAB15872-DCEF-C4AE-82FC-8E2C68D2C54F}"/>
              </a:ext>
            </a:extLst>
          </p:cNvPr>
          <p:cNvGrpSpPr/>
          <p:nvPr/>
        </p:nvGrpSpPr>
        <p:grpSpPr>
          <a:xfrm>
            <a:off x="1321231" y="3309321"/>
            <a:ext cx="7165896" cy="3512094"/>
            <a:chOff x="1321231" y="3244005"/>
            <a:chExt cx="7165896" cy="3512094"/>
          </a:xfrm>
        </p:grpSpPr>
        <p:pic>
          <p:nvPicPr>
            <p:cNvPr id="6146" name="Picture 2">
              <a:extLst>
                <a:ext uri="{FF2B5EF4-FFF2-40B4-BE49-F238E27FC236}">
                  <a16:creationId xmlns:a16="http://schemas.microsoft.com/office/drawing/2014/main" id="{E102589E-965E-D9BE-AD63-C0E5E627F6BE}"/>
                </a:ext>
              </a:extLst>
            </p:cNvPr>
            <p:cNvPicPr>
              <a:picLocks noChangeAspect="1" noChangeArrowheads="1"/>
            </p:cNvPicPr>
            <p:nvPr/>
          </p:nvPicPr>
          <p:blipFill rotWithShape="1">
            <a:blip r:embed="rId4" cstate="print">
              <a:extLst>
                <a:ext uri="{28A0092B-C50C-407E-A947-70E740481C1C}">
                  <a14:useLocalDpi xmlns:a14="http://schemas.microsoft.com/office/drawing/2010/main"/>
                </a:ext>
              </a:extLst>
            </a:blip>
            <a:srcRect/>
            <a:stretch>
              <a:fillRect/>
            </a:stretch>
          </p:blipFill>
          <p:spPr bwMode="auto">
            <a:xfrm>
              <a:off x="2090994" y="3344778"/>
              <a:ext cx="5338258" cy="341132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CC542D09-7D8E-47F4-865E-1FA30A46EDE4}"/>
                    </a:ext>
                  </a:extLst>
                </p:cNvPr>
                <p:cNvSpPr txBox="1"/>
                <p:nvPr/>
              </p:nvSpPr>
              <p:spPr>
                <a:xfrm>
                  <a:off x="7446521" y="3244005"/>
                  <a:ext cx="48724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kumimoji="1" lang="en-US" altLang="ja-GB" b="0" i="1" smtClean="0">
                                <a:solidFill>
                                  <a:srgbClr val="0070C0"/>
                                </a:solidFill>
                                <a:latin typeface="Cambria Math" panose="02040503050406030204" pitchFamily="18" charset="0"/>
                              </a:rPr>
                            </m:ctrlPr>
                          </m:sSupPr>
                          <m:e>
                            <m:r>
                              <a:rPr kumimoji="1" lang="en-US" altLang="ja-GB" b="0" i="1" smtClean="0">
                                <a:solidFill>
                                  <a:srgbClr val="0070C0"/>
                                </a:solidFill>
                                <a:latin typeface="Cambria Math" panose="02040503050406030204" pitchFamily="18" charset="0"/>
                              </a:rPr>
                              <m:t>2</m:t>
                            </m:r>
                          </m:e>
                          <m:sup>
                            <m:r>
                              <a:rPr kumimoji="1" lang="en-US" altLang="ja-GB" b="0" i="1" smtClean="0">
                                <a:solidFill>
                                  <a:srgbClr val="0070C0"/>
                                </a:solidFill>
                                <a:latin typeface="Cambria Math" panose="02040503050406030204" pitchFamily="18" charset="0"/>
                              </a:rPr>
                              <m:t>𝑛</m:t>
                            </m:r>
                          </m:sup>
                        </m:sSup>
                      </m:oMath>
                    </m:oMathPara>
                  </a14:m>
                  <a:endParaRPr kumimoji="1" lang="ja-GB" altLang="en-US" dirty="0">
                    <a:solidFill>
                      <a:srgbClr val="0070C0"/>
                    </a:solidFill>
                  </a:endParaRPr>
                </a:p>
              </p:txBody>
            </p:sp>
          </mc:Choice>
          <mc:Fallback xmlns="">
            <p:sp>
              <p:nvSpPr>
                <p:cNvPr id="4" name="テキスト ボックス 3">
                  <a:extLst>
                    <a:ext uri="{FF2B5EF4-FFF2-40B4-BE49-F238E27FC236}">
                      <a16:creationId xmlns:a16="http://schemas.microsoft.com/office/drawing/2014/main" id="{CC542D09-7D8E-47F4-865E-1FA30A46EDE4}"/>
                    </a:ext>
                  </a:extLst>
                </p:cNvPr>
                <p:cNvSpPr txBox="1">
                  <a:spLocks noRot="1" noChangeAspect="1" noMove="1" noResize="1" noEditPoints="1" noAdjustHandles="1" noChangeArrowheads="1" noChangeShapeType="1" noTextEdit="1"/>
                </p:cNvSpPr>
                <p:nvPr/>
              </p:nvSpPr>
              <p:spPr>
                <a:xfrm>
                  <a:off x="7446521" y="3244005"/>
                  <a:ext cx="487249" cy="369332"/>
                </a:xfrm>
                <a:prstGeom prst="rect">
                  <a:avLst/>
                </a:prstGeom>
                <a:blipFill>
                  <a:blip r:embed="rId5"/>
                  <a:stretch>
                    <a:fillRect/>
                  </a:stretch>
                </a:blipFill>
              </p:spPr>
              <p:txBody>
                <a:bodyPr/>
                <a:lstStyle/>
                <a:p>
                  <a:r>
                    <a:rPr lang="ja-GB"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AFF51F86-1401-21F3-2144-B35973249691}"/>
                    </a:ext>
                  </a:extLst>
                </p:cNvPr>
                <p:cNvSpPr txBox="1"/>
                <p:nvPr/>
              </p:nvSpPr>
              <p:spPr>
                <a:xfrm>
                  <a:off x="7446521" y="3693489"/>
                  <a:ext cx="48192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kumimoji="1" lang="en-US" altLang="ja-GB" b="0" i="1" smtClean="0">
                                <a:solidFill>
                                  <a:srgbClr val="00B0F0"/>
                                </a:solidFill>
                                <a:latin typeface="Cambria Math" panose="02040503050406030204" pitchFamily="18" charset="0"/>
                              </a:rPr>
                            </m:ctrlPr>
                          </m:sSupPr>
                          <m:e>
                            <m:r>
                              <a:rPr kumimoji="1" lang="en-US" altLang="ja-GB" b="0" i="1" smtClean="0">
                                <a:solidFill>
                                  <a:srgbClr val="00B0F0"/>
                                </a:solidFill>
                                <a:latin typeface="Cambria Math" panose="02040503050406030204" pitchFamily="18" charset="0"/>
                              </a:rPr>
                              <m:t>𝑛</m:t>
                            </m:r>
                          </m:e>
                          <m:sup>
                            <m:r>
                              <a:rPr kumimoji="1" lang="en-US" altLang="ja-GB" b="0" i="1" smtClean="0">
                                <a:solidFill>
                                  <a:srgbClr val="00B0F0"/>
                                </a:solidFill>
                                <a:latin typeface="Cambria Math" panose="02040503050406030204" pitchFamily="18" charset="0"/>
                              </a:rPr>
                              <m:t>3</m:t>
                            </m:r>
                          </m:sup>
                        </m:sSup>
                      </m:oMath>
                    </m:oMathPara>
                  </a14:m>
                  <a:endParaRPr kumimoji="1" lang="ja-GB" altLang="en-US" dirty="0">
                    <a:solidFill>
                      <a:srgbClr val="00B0F0"/>
                    </a:solidFill>
                  </a:endParaRPr>
                </a:p>
              </p:txBody>
            </p:sp>
          </mc:Choice>
          <mc:Fallback xmlns="">
            <p:sp>
              <p:nvSpPr>
                <p:cNvPr id="5" name="テキスト ボックス 4">
                  <a:extLst>
                    <a:ext uri="{FF2B5EF4-FFF2-40B4-BE49-F238E27FC236}">
                      <a16:creationId xmlns:a16="http://schemas.microsoft.com/office/drawing/2014/main" id="{AFF51F86-1401-21F3-2144-B35973249691}"/>
                    </a:ext>
                  </a:extLst>
                </p:cNvPr>
                <p:cNvSpPr txBox="1">
                  <a:spLocks noRot="1" noChangeAspect="1" noMove="1" noResize="1" noEditPoints="1" noAdjustHandles="1" noChangeArrowheads="1" noChangeShapeType="1" noTextEdit="1"/>
                </p:cNvSpPr>
                <p:nvPr/>
              </p:nvSpPr>
              <p:spPr>
                <a:xfrm>
                  <a:off x="7446521" y="3693489"/>
                  <a:ext cx="481927" cy="369332"/>
                </a:xfrm>
                <a:prstGeom prst="rect">
                  <a:avLst/>
                </a:prstGeom>
                <a:blipFill>
                  <a:blip r:embed="rId6"/>
                  <a:stretch>
                    <a:fillRect/>
                  </a:stretch>
                </a:blipFill>
              </p:spPr>
              <p:txBody>
                <a:bodyPr/>
                <a:lstStyle/>
                <a:p>
                  <a:r>
                    <a:rPr lang="ja-GB"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85281E23-DC52-F99C-C905-A42E1788ED12}"/>
                    </a:ext>
                  </a:extLst>
                </p:cNvPr>
                <p:cNvSpPr txBox="1"/>
                <p:nvPr/>
              </p:nvSpPr>
              <p:spPr>
                <a:xfrm>
                  <a:off x="7446521" y="4747683"/>
                  <a:ext cx="3745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GB" b="0" i="1" smtClean="0">
                            <a:solidFill>
                              <a:srgbClr val="C00000"/>
                            </a:solidFill>
                            <a:latin typeface="Cambria Math" panose="02040503050406030204" pitchFamily="18" charset="0"/>
                          </a:rPr>
                          <m:t>𝑛</m:t>
                        </m:r>
                      </m:oMath>
                    </m:oMathPara>
                  </a14:m>
                  <a:endParaRPr kumimoji="1" lang="ja-GB" altLang="en-US" dirty="0">
                    <a:solidFill>
                      <a:srgbClr val="C00000"/>
                    </a:solidFill>
                  </a:endParaRPr>
                </a:p>
              </p:txBody>
            </p:sp>
          </mc:Choice>
          <mc:Fallback xmlns="">
            <p:sp>
              <p:nvSpPr>
                <p:cNvPr id="6" name="テキスト ボックス 5">
                  <a:extLst>
                    <a:ext uri="{FF2B5EF4-FFF2-40B4-BE49-F238E27FC236}">
                      <a16:creationId xmlns:a16="http://schemas.microsoft.com/office/drawing/2014/main" id="{85281E23-DC52-F99C-C905-A42E1788ED12}"/>
                    </a:ext>
                  </a:extLst>
                </p:cNvPr>
                <p:cNvSpPr txBox="1">
                  <a:spLocks noRot="1" noChangeAspect="1" noMove="1" noResize="1" noEditPoints="1" noAdjustHandles="1" noChangeArrowheads="1" noChangeShapeType="1" noTextEdit="1"/>
                </p:cNvSpPr>
                <p:nvPr/>
              </p:nvSpPr>
              <p:spPr>
                <a:xfrm>
                  <a:off x="7446521" y="4747683"/>
                  <a:ext cx="374590" cy="369332"/>
                </a:xfrm>
                <a:prstGeom prst="rect">
                  <a:avLst/>
                </a:prstGeom>
                <a:blipFill>
                  <a:blip r:embed="rId7"/>
                  <a:stretch>
                    <a:fillRect/>
                  </a:stretch>
                </a:blipFill>
              </p:spPr>
              <p:txBody>
                <a:bodyPr/>
                <a:lstStyle/>
                <a:p>
                  <a:r>
                    <a:rPr lang="ja-GB"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98A5B6AF-B573-FEC9-F4ED-A3F16A4E0A57}"/>
                    </a:ext>
                  </a:extLst>
                </p:cNvPr>
                <p:cNvSpPr txBox="1"/>
                <p:nvPr/>
              </p:nvSpPr>
              <p:spPr>
                <a:xfrm>
                  <a:off x="7446521" y="5063891"/>
                  <a:ext cx="86433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ja-GB" b="0" i="0" smtClean="0">
                            <a:solidFill>
                              <a:schemeClr val="accent2"/>
                            </a:solidFill>
                            <a:latin typeface="Cambria Math" panose="02040503050406030204" pitchFamily="18" charset="0"/>
                          </a:rPr>
                          <m:t>log</m:t>
                        </m:r>
                        <m:d>
                          <m:dPr>
                            <m:ctrlPr>
                              <a:rPr kumimoji="1" lang="en-US" altLang="ja-GB" b="0" i="1" smtClean="0">
                                <a:solidFill>
                                  <a:schemeClr val="accent2"/>
                                </a:solidFill>
                                <a:latin typeface="Cambria Math" panose="02040503050406030204" pitchFamily="18" charset="0"/>
                              </a:rPr>
                            </m:ctrlPr>
                          </m:dPr>
                          <m:e>
                            <m:r>
                              <a:rPr kumimoji="1" lang="en-US" altLang="ja-GB" b="0" i="1" smtClean="0">
                                <a:solidFill>
                                  <a:schemeClr val="accent2"/>
                                </a:solidFill>
                                <a:latin typeface="Cambria Math" panose="02040503050406030204" pitchFamily="18" charset="0"/>
                              </a:rPr>
                              <m:t>𝑛</m:t>
                            </m:r>
                          </m:e>
                        </m:d>
                      </m:oMath>
                    </m:oMathPara>
                  </a14:m>
                  <a:endParaRPr kumimoji="1" lang="ja-GB" altLang="en-US" dirty="0">
                    <a:solidFill>
                      <a:schemeClr val="accent2"/>
                    </a:solidFill>
                  </a:endParaRPr>
                </a:p>
              </p:txBody>
            </p:sp>
          </mc:Choice>
          <mc:Fallback xmlns="">
            <p:sp>
              <p:nvSpPr>
                <p:cNvPr id="7" name="テキスト ボックス 6">
                  <a:extLst>
                    <a:ext uri="{FF2B5EF4-FFF2-40B4-BE49-F238E27FC236}">
                      <a16:creationId xmlns:a16="http://schemas.microsoft.com/office/drawing/2014/main" id="{98A5B6AF-B573-FEC9-F4ED-A3F16A4E0A57}"/>
                    </a:ext>
                  </a:extLst>
                </p:cNvPr>
                <p:cNvSpPr txBox="1">
                  <a:spLocks noRot="1" noChangeAspect="1" noMove="1" noResize="1" noEditPoints="1" noAdjustHandles="1" noChangeArrowheads="1" noChangeShapeType="1" noTextEdit="1"/>
                </p:cNvSpPr>
                <p:nvPr/>
              </p:nvSpPr>
              <p:spPr>
                <a:xfrm>
                  <a:off x="7446521" y="5063891"/>
                  <a:ext cx="864339" cy="369332"/>
                </a:xfrm>
                <a:prstGeom prst="rect">
                  <a:avLst/>
                </a:prstGeom>
                <a:blipFill>
                  <a:blip r:embed="rId8"/>
                  <a:stretch>
                    <a:fillRect b="-16667"/>
                  </a:stretch>
                </a:blipFill>
              </p:spPr>
              <p:txBody>
                <a:bodyPr/>
                <a:lstStyle/>
                <a:p>
                  <a:r>
                    <a:rPr lang="ja-GB"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3CBFA8BF-B4F4-3A3E-ADBF-1183627C649D}"/>
                    </a:ext>
                  </a:extLst>
                </p:cNvPr>
                <p:cNvSpPr txBox="1"/>
                <p:nvPr/>
              </p:nvSpPr>
              <p:spPr>
                <a:xfrm>
                  <a:off x="7446521" y="5378223"/>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GB" b="0" i="1" smtClean="0">
                            <a:solidFill>
                              <a:schemeClr val="accent4">
                                <a:lumMod val="75000"/>
                              </a:schemeClr>
                            </a:solidFill>
                            <a:latin typeface="Cambria Math" panose="02040503050406030204" pitchFamily="18" charset="0"/>
                          </a:rPr>
                          <m:t>1</m:t>
                        </m:r>
                      </m:oMath>
                    </m:oMathPara>
                  </a14:m>
                  <a:endParaRPr kumimoji="1" lang="ja-GB" altLang="en-US" dirty="0">
                    <a:solidFill>
                      <a:schemeClr val="accent4">
                        <a:lumMod val="75000"/>
                      </a:schemeClr>
                    </a:solidFill>
                  </a:endParaRPr>
                </a:p>
              </p:txBody>
            </p:sp>
          </mc:Choice>
          <mc:Fallback xmlns="">
            <p:sp>
              <p:nvSpPr>
                <p:cNvPr id="8" name="テキスト ボックス 7">
                  <a:extLst>
                    <a:ext uri="{FF2B5EF4-FFF2-40B4-BE49-F238E27FC236}">
                      <a16:creationId xmlns:a16="http://schemas.microsoft.com/office/drawing/2014/main" id="{3CBFA8BF-B4F4-3A3E-ADBF-1183627C649D}"/>
                    </a:ext>
                  </a:extLst>
                </p:cNvPr>
                <p:cNvSpPr txBox="1">
                  <a:spLocks noRot="1" noChangeAspect="1" noMove="1" noResize="1" noEditPoints="1" noAdjustHandles="1" noChangeArrowheads="1" noChangeShapeType="1" noTextEdit="1"/>
                </p:cNvSpPr>
                <p:nvPr/>
              </p:nvSpPr>
              <p:spPr>
                <a:xfrm>
                  <a:off x="7446521" y="5378223"/>
                  <a:ext cx="365806" cy="369332"/>
                </a:xfrm>
                <a:prstGeom prst="rect">
                  <a:avLst/>
                </a:prstGeom>
                <a:blipFill>
                  <a:blip r:embed="rId9"/>
                  <a:stretch>
                    <a:fillRect/>
                  </a:stretch>
                </a:blipFill>
              </p:spPr>
              <p:txBody>
                <a:bodyPr/>
                <a:lstStyle/>
                <a:p>
                  <a:r>
                    <a:rPr lang="ja-GB"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B36F2470-B812-7CBE-ADB5-F1FE07140581}"/>
                    </a:ext>
                  </a:extLst>
                </p:cNvPr>
                <p:cNvSpPr txBox="1"/>
                <p:nvPr/>
              </p:nvSpPr>
              <p:spPr>
                <a:xfrm>
                  <a:off x="7446521" y="4499013"/>
                  <a:ext cx="10406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GB" b="0" i="1" smtClean="0">
                            <a:solidFill>
                              <a:srgbClr val="A64155"/>
                            </a:solidFill>
                            <a:latin typeface="Cambria Math" panose="02040503050406030204" pitchFamily="18" charset="0"/>
                          </a:rPr>
                          <m:t>𝑛</m:t>
                        </m:r>
                        <m:func>
                          <m:funcPr>
                            <m:ctrlPr>
                              <a:rPr kumimoji="1" lang="en-US" altLang="ja-GB" b="0" i="1" smtClean="0">
                                <a:solidFill>
                                  <a:srgbClr val="A64155"/>
                                </a:solidFill>
                                <a:latin typeface="Cambria Math" panose="02040503050406030204" pitchFamily="18" charset="0"/>
                              </a:rPr>
                            </m:ctrlPr>
                          </m:funcPr>
                          <m:fName>
                            <m:r>
                              <m:rPr>
                                <m:sty m:val="p"/>
                              </m:rPr>
                              <a:rPr kumimoji="1" lang="en-US" altLang="ja-GB" b="0" i="0" smtClean="0">
                                <a:solidFill>
                                  <a:srgbClr val="A64155"/>
                                </a:solidFill>
                                <a:latin typeface="Cambria Math" panose="02040503050406030204" pitchFamily="18" charset="0"/>
                              </a:rPr>
                              <m:t>log</m:t>
                            </m:r>
                          </m:fName>
                          <m:e>
                            <m:r>
                              <a:rPr kumimoji="1" lang="en-US" altLang="ja-GB" b="0" i="1" smtClean="0">
                                <a:solidFill>
                                  <a:srgbClr val="A64155"/>
                                </a:solidFill>
                                <a:latin typeface="Cambria Math" panose="02040503050406030204" pitchFamily="18" charset="0"/>
                              </a:rPr>
                              <m:t>(</m:t>
                            </m:r>
                            <m:r>
                              <a:rPr kumimoji="1" lang="en-US" altLang="ja-GB" b="0" i="1" smtClean="0">
                                <a:solidFill>
                                  <a:srgbClr val="A64155"/>
                                </a:solidFill>
                                <a:latin typeface="Cambria Math" panose="02040503050406030204" pitchFamily="18" charset="0"/>
                              </a:rPr>
                              <m:t>𝑛</m:t>
                            </m:r>
                            <m:r>
                              <a:rPr kumimoji="1" lang="en-US" altLang="ja-GB" b="0" i="1" smtClean="0">
                                <a:solidFill>
                                  <a:srgbClr val="A64155"/>
                                </a:solidFill>
                                <a:latin typeface="Cambria Math" panose="02040503050406030204" pitchFamily="18" charset="0"/>
                              </a:rPr>
                              <m:t>)</m:t>
                            </m:r>
                          </m:e>
                        </m:func>
                      </m:oMath>
                    </m:oMathPara>
                  </a14:m>
                  <a:endParaRPr kumimoji="1" lang="ja-GB" altLang="en-US" dirty="0">
                    <a:solidFill>
                      <a:srgbClr val="A64155"/>
                    </a:solidFill>
                  </a:endParaRPr>
                </a:p>
              </p:txBody>
            </p:sp>
          </mc:Choice>
          <mc:Fallback xmlns="">
            <p:sp>
              <p:nvSpPr>
                <p:cNvPr id="10" name="テキスト ボックス 9">
                  <a:extLst>
                    <a:ext uri="{FF2B5EF4-FFF2-40B4-BE49-F238E27FC236}">
                      <a16:creationId xmlns:a16="http://schemas.microsoft.com/office/drawing/2014/main" id="{B36F2470-B812-7CBE-ADB5-F1FE07140581}"/>
                    </a:ext>
                  </a:extLst>
                </p:cNvPr>
                <p:cNvSpPr txBox="1">
                  <a:spLocks noRot="1" noChangeAspect="1" noMove="1" noResize="1" noEditPoints="1" noAdjustHandles="1" noChangeArrowheads="1" noChangeShapeType="1" noTextEdit="1"/>
                </p:cNvSpPr>
                <p:nvPr/>
              </p:nvSpPr>
              <p:spPr>
                <a:xfrm>
                  <a:off x="7446521" y="4499013"/>
                  <a:ext cx="1040606" cy="369332"/>
                </a:xfrm>
                <a:prstGeom prst="rect">
                  <a:avLst/>
                </a:prstGeom>
                <a:blipFill>
                  <a:blip r:embed="rId10"/>
                  <a:stretch>
                    <a:fillRect b="-13333"/>
                  </a:stretch>
                </a:blipFill>
              </p:spPr>
              <p:txBody>
                <a:bodyPr/>
                <a:lstStyle/>
                <a:p>
                  <a:r>
                    <a:rPr lang="ja-GB" altLang="en-US">
                      <a:noFill/>
                    </a:rPr>
                    <a:t> </a:t>
                  </a:r>
                </a:p>
              </p:txBody>
            </p:sp>
          </mc:Fallback>
        </mc:AlternateContent>
        <p:sp>
          <p:nvSpPr>
            <p:cNvPr id="11" name="テキスト ボックス 10">
              <a:extLst>
                <a:ext uri="{FF2B5EF4-FFF2-40B4-BE49-F238E27FC236}">
                  <a16:creationId xmlns:a16="http://schemas.microsoft.com/office/drawing/2014/main" id="{0171A0BF-692A-EF02-819F-BE85E2178D67}"/>
                </a:ext>
              </a:extLst>
            </p:cNvPr>
            <p:cNvSpPr txBox="1"/>
            <p:nvPr/>
          </p:nvSpPr>
          <p:spPr>
            <a:xfrm>
              <a:off x="1321231" y="3513788"/>
              <a:ext cx="769763" cy="369332"/>
            </a:xfrm>
            <a:prstGeom prst="rect">
              <a:avLst/>
            </a:prstGeom>
            <a:solidFill>
              <a:schemeClr val="bg1">
                <a:lumMod val="95000"/>
              </a:schemeClr>
            </a:solidFill>
          </p:spPr>
          <p:txBody>
            <a:bodyPr wrap="none" rtlCol="0">
              <a:spAutoFit/>
            </a:bodyPr>
            <a:lstStyle/>
            <a:p>
              <a:r>
                <a:rPr kumimoji="1" lang="en-US" altLang="ja-GB" dirty="0"/>
                <a:t>10000</a:t>
              </a:r>
              <a:endParaRPr kumimoji="1" lang="ja-GB" altLang="en-US" dirty="0"/>
            </a:p>
          </p:txBody>
        </p:sp>
        <p:sp>
          <p:nvSpPr>
            <p:cNvPr id="12" name="テキスト ボックス 11">
              <a:extLst>
                <a:ext uri="{FF2B5EF4-FFF2-40B4-BE49-F238E27FC236}">
                  <a16:creationId xmlns:a16="http://schemas.microsoft.com/office/drawing/2014/main" id="{64F58447-2946-79C8-077B-B97197B37476}"/>
                </a:ext>
              </a:extLst>
            </p:cNvPr>
            <p:cNvSpPr txBox="1"/>
            <p:nvPr/>
          </p:nvSpPr>
          <p:spPr>
            <a:xfrm>
              <a:off x="1438251" y="3976908"/>
              <a:ext cx="652743" cy="369332"/>
            </a:xfrm>
            <a:prstGeom prst="rect">
              <a:avLst/>
            </a:prstGeom>
            <a:solidFill>
              <a:schemeClr val="bg1">
                <a:lumMod val="95000"/>
              </a:schemeClr>
            </a:solidFill>
          </p:spPr>
          <p:txBody>
            <a:bodyPr wrap="none" rtlCol="0">
              <a:spAutoFit/>
            </a:bodyPr>
            <a:lstStyle/>
            <a:p>
              <a:r>
                <a:rPr kumimoji="1" lang="en-US" altLang="ja-GB" dirty="0"/>
                <a:t>1000</a:t>
              </a:r>
              <a:endParaRPr kumimoji="1" lang="ja-GB" altLang="en-US" dirty="0"/>
            </a:p>
          </p:txBody>
        </p:sp>
        <p:sp>
          <p:nvSpPr>
            <p:cNvPr id="13" name="テキスト ボックス 12">
              <a:extLst>
                <a:ext uri="{FF2B5EF4-FFF2-40B4-BE49-F238E27FC236}">
                  <a16:creationId xmlns:a16="http://schemas.microsoft.com/office/drawing/2014/main" id="{9CEC2FB4-474F-8F23-D7EE-CA0854A7BC11}"/>
                </a:ext>
              </a:extLst>
            </p:cNvPr>
            <p:cNvSpPr txBox="1"/>
            <p:nvPr/>
          </p:nvSpPr>
          <p:spPr>
            <a:xfrm>
              <a:off x="1555270" y="4440028"/>
              <a:ext cx="535724" cy="369332"/>
            </a:xfrm>
            <a:prstGeom prst="rect">
              <a:avLst/>
            </a:prstGeom>
            <a:solidFill>
              <a:schemeClr val="bg1">
                <a:lumMod val="95000"/>
              </a:schemeClr>
            </a:solidFill>
          </p:spPr>
          <p:txBody>
            <a:bodyPr wrap="none" rtlCol="0">
              <a:spAutoFit/>
            </a:bodyPr>
            <a:lstStyle/>
            <a:p>
              <a:r>
                <a:rPr kumimoji="1" lang="en-US" altLang="ja-GB" dirty="0"/>
                <a:t>100</a:t>
              </a:r>
              <a:endParaRPr kumimoji="1" lang="ja-GB" altLang="en-US" dirty="0"/>
            </a:p>
          </p:txBody>
        </p:sp>
        <p:sp>
          <p:nvSpPr>
            <p:cNvPr id="14" name="テキスト ボックス 13">
              <a:extLst>
                <a:ext uri="{FF2B5EF4-FFF2-40B4-BE49-F238E27FC236}">
                  <a16:creationId xmlns:a16="http://schemas.microsoft.com/office/drawing/2014/main" id="{0C01FC49-8DE7-6608-0375-4C9C146CBE22}"/>
                </a:ext>
              </a:extLst>
            </p:cNvPr>
            <p:cNvSpPr txBox="1"/>
            <p:nvPr/>
          </p:nvSpPr>
          <p:spPr>
            <a:xfrm>
              <a:off x="1672290" y="4898688"/>
              <a:ext cx="418704" cy="369332"/>
            </a:xfrm>
            <a:prstGeom prst="rect">
              <a:avLst/>
            </a:prstGeom>
            <a:solidFill>
              <a:schemeClr val="bg1">
                <a:lumMod val="95000"/>
              </a:schemeClr>
            </a:solidFill>
          </p:spPr>
          <p:txBody>
            <a:bodyPr wrap="none" rtlCol="0">
              <a:spAutoFit/>
            </a:bodyPr>
            <a:lstStyle/>
            <a:p>
              <a:r>
                <a:rPr kumimoji="1" lang="en-US" altLang="ja-GB" dirty="0"/>
                <a:t>10</a:t>
              </a:r>
              <a:endParaRPr kumimoji="1" lang="ja-GB" altLang="en-US" dirty="0"/>
            </a:p>
          </p:txBody>
        </p:sp>
        <p:sp>
          <p:nvSpPr>
            <p:cNvPr id="15" name="テキスト ボックス 14">
              <a:extLst>
                <a:ext uri="{FF2B5EF4-FFF2-40B4-BE49-F238E27FC236}">
                  <a16:creationId xmlns:a16="http://schemas.microsoft.com/office/drawing/2014/main" id="{6E2702B6-A494-99ED-7291-16195DC08355}"/>
                </a:ext>
              </a:extLst>
            </p:cNvPr>
            <p:cNvSpPr txBox="1"/>
            <p:nvPr/>
          </p:nvSpPr>
          <p:spPr>
            <a:xfrm>
              <a:off x="1801633" y="5357348"/>
              <a:ext cx="301686" cy="369332"/>
            </a:xfrm>
            <a:prstGeom prst="rect">
              <a:avLst/>
            </a:prstGeom>
            <a:solidFill>
              <a:schemeClr val="bg1">
                <a:lumMod val="95000"/>
              </a:schemeClr>
            </a:solidFill>
          </p:spPr>
          <p:txBody>
            <a:bodyPr wrap="none" rtlCol="0">
              <a:spAutoFit/>
            </a:bodyPr>
            <a:lstStyle/>
            <a:p>
              <a:r>
                <a:rPr kumimoji="1" lang="en-US" altLang="ja-GB" dirty="0"/>
                <a:t>1</a:t>
              </a:r>
              <a:endParaRPr kumimoji="1" lang="ja-GB" altLang="en-US" dirty="0"/>
            </a:p>
          </p:txBody>
        </p:sp>
        <p:sp>
          <p:nvSpPr>
            <p:cNvPr id="16" name="テキスト ボックス 15">
              <a:extLst>
                <a:ext uri="{FF2B5EF4-FFF2-40B4-BE49-F238E27FC236}">
                  <a16:creationId xmlns:a16="http://schemas.microsoft.com/office/drawing/2014/main" id="{889F9353-7A78-53FD-0154-912C6370E41C}"/>
                </a:ext>
              </a:extLst>
            </p:cNvPr>
            <p:cNvSpPr txBox="1"/>
            <p:nvPr/>
          </p:nvSpPr>
          <p:spPr>
            <a:xfrm>
              <a:off x="1626907" y="5818569"/>
              <a:ext cx="476412" cy="369332"/>
            </a:xfrm>
            <a:prstGeom prst="rect">
              <a:avLst/>
            </a:prstGeom>
            <a:solidFill>
              <a:schemeClr val="bg1">
                <a:lumMod val="95000"/>
              </a:schemeClr>
            </a:solidFill>
          </p:spPr>
          <p:txBody>
            <a:bodyPr wrap="none" rtlCol="0">
              <a:spAutoFit/>
            </a:bodyPr>
            <a:lstStyle/>
            <a:p>
              <a:r>
                <a:rPr kumimoji="1" lang="en-US" altLang="ja-GB" dirty="0"/>
                <a:t>0.1</a:t>
              </a:r>
              <a:endParaRPr kumimoji="1" lang="ja-GB" altLang="en-US" dirty="0"/>
            </a:p>
          </p:txBody>
        </p:sp>
        <p:sp>
          <p:nvSpPr>
            <p:cNvPr id="17" name="テキスト ボックス 16">
              <a:extLst>
                <a:ext uri="{FF2B5EF4-FFF2-40B4-BE49-F238E27FC236}">
                  <a16:creationId xmlns:a16="http://schemas.microsoft.com/office/drawing/2014/main" id="{DD073EBD-520C-93F4-0F21-AA1818AC0BC1}"/>
                </a:ext>
              </a:extLst>
            </p:cNvPr>
            <p:cNvSpPr txBox="1"/>
            <p:nvPr/>
          </p:nvSpPr>
          <p:spPr>
            <a:xfrm>
              <a:off x="1509887" y="6246765"/>
              <a:ext cx="593432" cy="369332"/>
            </a:xfrm>
            <a:prstGeom prst="rect">
              <a:avLst/>
            </a:prstGeom>
            <a:solidFill>
              <a:schemeClr val="bg1">
                <a:lumMod val="95000"/>
              </a:schemeClr>
            </a:solidFill>
          </p:spPr>
          <p:txBody>
            <a:bodyPr wrap="none" rtlCol="0">
              <a:spAutoFit/>
            </a:bodyPr>
            <a:lstStyle/>
            <a:p>
              <a:r>
                <a:rPr kumimoji="1" lang="en-US" altLang="ja-GB" dirty="0"/>
                <a:t>0.01</a:t>
              </a:r>
              <a:endParaRPr kumimoji="1" lang="ja-GB" altLang="en-US" dirty="0"/>
            </a:p>
          </p:txBody>
        </p:sp>
      </p:grpSp>
    </p:spTree>
    <p:extLst>
      <p:ext uri="{BB962C8B-B14F-4D97-AF65-F5344CB8AC3E}">
        <p14:creationId xmlns:p14="http://schemas.microsoft.com/office/powerpoint/2010/main" val="2511770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EC6A0E-B576-AE0E-6D92-2492CA440094}"/>
              </a:ext>
            </a:extLst>
          </p:cNvPr>
          <p:cNvSpPr>
            <a:spLocks noGrp="1"/>
          </p:cNvSpPr>
          <p:nvPr>
            <p:ph type="title"/>
          </p:nvPr>
        </p:nvSpPr>
        <p:spPr/>
        <p:txBody>
          <a:bodyPr/>
          <a:lstStyle/>
          <a:p>
            <a:r>
              <a:rPr kumimoji="1" lang="ja-GB" altLang="en-US" dirty="0"/>
              <a:t>計算複雑性を考えることの重要性</a:t>
            </a:r>
          </a:p>
        </p:txBody>
      </p:sp>
      <p:sp>
        <p:nvSpPr>
          <p:cNvPr id="3" name="コンテンツ プレースホルダー 2">
            <a:extLst>
              <a:ext uri="{FF2B5EF4-FFF2-40B4-BE49-F238E27FC236}">
                <a16:creationId xmlns:a16="http://schemas.microsoft.com/office/drawing/2014/main" id="{416FFE6D-C27B-5993-109B-3D302CF61995}"/>
              </a:ext>
            </a:extLst>
          </p:cNvPr>
          <p:cNvSpPr>
            <a:spLocks noGrp="1"/>
          </p:cNvSpPr>
          <p:nvPr>
            <p:ph idx="1"/>
          </p:nvPr>
        </p:nvSpPr>
        <p:spPr/>
        <p:txBody>
          <a:bodyPr/>
          <a:lstStyle/>
          <a:p>
            <a:pPr marL="0" indent="0">
              <a:buNone/>
            </a:pPr>
            <a:r>
              <a:rPr lang="ja-JP" altLang="en-US"/>
              <a:t>問題の規模に</a:t>
            </a:r>
            <a:r>
              <a:rPr lang="ja-GB" altLang="en-US" dirty="0"/>
              <a:t>応じて</a:t>
            </a:r>
            <a:r>
              <a:rPr lang="ja-JP" altLang="en-US"/>
              <a:t>，アルゴリズムがどれくらいの速度で動くのかの体感を持つことは重要</a:t>
            </a:r>
            <a:endParaRPr lang="en-US" altLang="ja-JP" dirty="0"/>
          </a:p>
          <a:p>
            <a:pPr marL="457200" lvl="1" indent="0">
              <a:buNone/>
            </a:pPr>
            <a:r>
              <a:rPr lang="ja-JP" altLang="en-US">
                <a:solidFill>
                  <a:srgbClr val="0070C0"/>
                </a:solidFill>
              </a:rPr>
              <a:t>計算複雑性</a:t>
            </a:r>
            <a:r>
              <a:rPr lang="en-US" altLang="ja-JP" dirty="0">
                <a:solidFill>
                  <a:srgbClr val="0070C0"/>
                </a:solidFill>
              </a:rPr>
              <a:t>(</a:t>
            </a:r>
            <a:r>
              <a:rPr lang="ja-JP" altLang="en-US">
                <a:solidFill>
                  <a:srgbClr val="0070C0"/>
                </a:solidFill>
              </a:rPr>
              <a:t>処理効率</a:t>
            </a:r>
            <a:r>
              <a:rPr lang="en-US" altLang="ja-JP" dirty="0">
                <a:solidFill>
                  <a:srgbClr val="0070C0"/>
                </a:solidFill>
              </a:rPr>
              <a:t>)</a:t>
            </a:r>
            <a:r>
              <a:rPr lang="ja-JP" altLang="en-US">
                <a:solidFill>
                  <a:srgbClr val="0070C0"/>
                </a:solidFill>
              </a:rPr>
              <a:t>，概念的複雑性</a:t>
            </a:r>
            <a:r>
              <a:rPr lang="en-US" altLang="ja-JP" dirty="0">
                <a:solidFill>
                  <a:srgbClr val="0070C0"/>
                </a:solidFill>
              </a:rPr>
              <a:t>(</a:t>
            </a:r>
            <a:r>
              <a:rPr lang="ja-GB" altLang="en-US" dirty="0">
                <a:solidFill>
                  <a:srgbClr val="0070C0"/>
                </a:solidFill>
              </a:rPr>
              <a:t>開発・拡張コスト</a:t>
            </a:r>
            <a:r>
              <a:rPr lang="en-US" altLang="ja-JP" dirty="0">
                <a:solidFill>
                  <a:srgbClr val="0070C0"/>
                </a:solidFill>
              </a:rPr>
              <a:t>)</a:t>
            </a:r>
            <a:r>
              <a:rPr lang="ja-JP" altLang="en-US">
                <a:solidFill>
                  <a:srgbClr val="0070C0"/>
                </a:solidFill>
              </a:rPr>
              <a:t>，計算機性能</a:t>
            </a:r>
            <a:r>
              <a:rPr lang="en-US" altLang="ja-JP" dirty="0">
                <a:solidFill>
                  <a:srgbClr val="0070C0"/>
                </a:solidFill>
              </a:rPr>
              <a:t>(</a:t>
            </a:r>
            <a:r>
              <a:rPr lang="ja-GB" altLang="en-US" dirty="0">
                <a:solidFill>
                  <a:srgbClr val="0070C0"/>
                </a:solidFill>
              </a:rPr>
              <a:t>速度</a:t>
            </a:r>
            <a:r>
              <a:rPr lang="en-US" altLang="ja-JP" dirty="0">
                <a:solidFill>
                  <a:srgbClr val="0070C0"/>
                </a:solidFill>
              </a:rPr>
              <a:t>)</a:t>
            </a:r>
            <a:r>
              <a:rPr lang="ja-JP" altLang="en-US">
                <a:solidFill>
                  <a:srgbClr val="0070C0"/>
                </a:solidFill>
              </a:rPr>
              <a:t>のバランスを検討できる</a:t>
            </a:r>
            <a:endParaRPr lang="en-US" altLang="ja-JP" dirty="0">
              <a:solidFill>
                <a:srgbClr val="0070C0"/>
              </a:solidFill>
            </a:endParaRPr>
          </a:p>
          <a:p>
            <a:pPr marL="914400" lvl="2" indent="0">
              <a:buNone/>
            </a:pPr>
            <a:r>
              <a:rPr lang="ja-JP" altLang="en-US"/>
              <a:t>例</a:t>
            </a:r>
            <a:r>
              <a:rPr lang="en-US" altLang="ja-JP" dirty="0"/>
              <a:t>1</a:t>
            </a:r>
            <a:r>
              <a:rPr lang="ja-JP" altLang="en-US"/>
              <a:t>）毎秒膨大なリクエストが届くサービスなら，それに見合う効率のアルゴリズム</a:t>
            </a:r>
            <a:br>
              <a:rPr lang="en-US" altLang="ja-JP" dirty="0"/>
            </a:br>
            <a:r>
              <a:rPr lang="ja-JP" altLang="en-US"/>
              <a:t>　　</a:t>
            </a:r>
            <a:r>
              <a:rPr lang="en-US" altLang="ja-JP" dirty="0"/>
              <a:t> </a:t>
            </a:r>
            <a:r>
              <a:rPr lang="ja-JP" altLang="en-US"/>
              <a:t>と計算機が必要</a:t>
            </a:r>
            <a:endParaRPr lang="en-US" altLang="ja-JP" dirty="0"/>
          </a:p>
          <a:p>
            <a:pPr marL="914400" lvl="2" indent="0">
              <a:buNone/>
            </a:pPr>
            <a:r>
              <a:rPr lang="ja-JP" altLang="en-US"/>
              <a:t>例</a:t>
            </a:r>
            <a:r>
              <a:rPr lang="en-US" altLang="ja-JP" dirty="0"/>
              <a:t>2</a:t>
            </a:r>
            <a:r>
              <a:rPr lang="ja-JP" altLang="en-US"/>
              <a:t>）操縦支援や株取引のように一瞬の遅れが命取りなら，</a:t>
            </a:r>
            <a:br>
              <a:rPr lang="en-US" altLang="ja-JP" dirty="0"/>
            </a:br>
            <a:r>
              <a:rPr lang="ja-JP" altLang="en-US"/>
              <a:t>　　</a:t>
            </a:r>
            <a:r>
              <a:rPr lang="en-US" altLang="ja-JP" dirty="0"/>
              <a:t>  </a:t>
            </a:r>
            <a:r>
              <a:rPr lang="ja-JP" altLang="en-US"/>
              <a:t>入力や効率の事前見積りは必須</a:t>
            </a:r>
            <a:endParaRPr lang="en-US" altLang="ja-JP" dirty="0"/>
          </a:p>
          <a:p>
            <a:pPr marL="914400" lvl="2" indent="0">
              <a:buNone/>
            </a:pPr>
            <a:r>
              <a:rPr lang="ja-JP" altLang="en-US"/>
              <a:t>例</a:t>
            </a:r>
            <a:r>
              <a:rPr lang="en-US" altLang="ja-JP" dirty="0"/>
              <a:t>3</a:t>
            </a:r>
            <a:r>
              <a:rPr lang="ja-JP" altLang="en-US"/>
              <a:t>）人間がリアルタイムで操作するアプリなら，快適な操作感を実現する程度</a:t>
            </a:r>
            <a:br>
              <a:rPr lang="en-US" altLang="ja-JP" dirty="0"/>
            </a:br>
            <a:r>
              <a:rPr lang="ja-JP" altLang="en-US"/>
              <a:t>　　</a:t>
            </a:r>
            <a:r>
              <a:rPr lang="en-US" altLang="ja-JP" dirty="0"/>
              <a:t>  </a:t>
            </a:r>
            <a:r>
              <a:rPr lang="ja-JP" altLang="en-US"/>
              <a:t>の効率が必要</a:t>
            </a:r>
            <a:endParaRPr lang="en-US" altLang="ja-JP" dirty="0"/>
          </a:p>
          <a:p>
            <a:pPr lvl="1"/>
            <a:endParaRPr lang="en-US" altLang="ja-JP" dirty="0"/>
          </a:p>
          <a:p>
            <a:pPr marL="457200" lvl="1" indent="0">
              <a:buNone/>
            </a:pPr>
            <a:r>
              <a:rPr lang="ja-JP" altLang="en-US"/>
              <a:t>漸近記法に基づく見積りと体感が結びつけば，問題に</a:t>
            </a:r>
            <a:r>
              <a:rPr lang="ja-GB" altLang="en-US" dirty="0"/>
              <a:t>対して最適なマシンや</a:t>
            </a:r>
            <a:r>
              <a:rPr lang="ja-JP" altLang="en-US"/>
              <a:t>システムを</a:t>
            </a:r>
            <a:r>
              <a:rPr lang="ja-GB" altLang="en-US" dirty="0"/>
              <a:t>発注したり</a:t>
            </a:r>
            <a:r>
              <a:rPr lang="ja-JP" altLang="en-US"/>
              <a:t>，</a:t>
            </a:r>
            <a:r>
              <a:rPr lang="ja-GB" altLang="en-US" dirty="0"/>
              <a:t>それに関して</a:t>
            </a:r>
            <a:r>
              <a:rPr lang="ja-JP" altLang="en-US"/>
              <a:t>専門家に</a:t>
            </a:r>
            <a:r>
              <a:rPr lang="ja-GB" altLang="en-US" dirty="0"/>
              <a:t>相談したり</a:t>
            </a:r>
            <a:r>
              <a:rPr lang="ja-JP" altLang="en-US"/>
              <a:t>しやすくなる</a:t>
            </a:r>
            <a:endParaRPr lang="en-US" altLang="ja-JP" dirty="0"/>
          </a:p>
          <a:p>
            <a:pPr lvl="1"/>
            <a:endParaRPr kumimoji="1" lang="en-US" altLang="ja-GB" dirty="0"/>
          </a:p>
        </p:txBody>
      </p:sp>
      <p:sp>
        <p:nvSpPr>
          <p:cNvPr id="4" name="テキスト ボックス 3">
            <a:extLst>
              <a:ext uri="{FF2B5EF4-FFF2-40B4-BE49-F238E27FC236}">
                <a16:creationId xmlns:a16="http://schemas.microsoft.com/office/drawing/2014/main" id="{C92CC20B-6B7E-F59B-AE9F-5BE3B2515BF5}"/>
              </a:ext>
            </a:extLst>
          </p:cNvPr>
          <p:cNvSpPr txBox="1"/>
          <p:nvPr/>
        </p:nvSpPr>
        <p:spPr>
          <a:xfrm>
            <a:off x="783142" y="6334812"/>
            <a:ext cx="7577715" cy="369332"/>
          </a:xfrm>
          <a:prstGeom prst="rect">
            <a:avLst/>
          </a:prstGeom>
          <a:noFill/>
        </p:spPr>
        <p:txBody>
          <a:bodyPr wrap="none" rtlCol="0">
            <a:spAutoFit/>
          </a:bodyPr>
          <a:lstStyle/>
          <a:p>
            <a:r>
              <a:rPr lang="ja-JP" altLang="en-US"/>
              <a:t>（現実の計算機の処理速度についての詳細は第</a:t>
            </a:r>
            <a:r>
              <a:rPr lang="en-US" altLang="ja-JP" dirty="0"/>
              <a:t>10</a:t>
            </a:r>
            <a:r>
              <a:rPr lang="ja-JP" altLang="en-US"/>
              <a:t>回，</a:t>
            </a:r>
            <a:r>
              <a:rPr lang="en-US" altLang="ja-JP" dirty="0"/>
              <a:t>11</a:t>
            </a:r>
            <a:r>
              <a:rPr lang="ja-JP" altLang="en-US"/>
              <a:t>回で取り扱う）</a:t>
            </a:r>
            <a:endParaRPr kumimoji="1" lang="ja-GB" altLang="en-US" dirty="0"/>
          </a:p>
        </p:txBody>
      </p:sp>
    </p:spTree>
    <p:extLst>
      <p:ext uri="{BB962C8B-B14F-4D97-AF65-F5344CB8AC3E}">
        <p14:creationId xmlns:p14="http://schemas.microsoft.com/office/powerpoint/2010/main" val="25867170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C98E3-78B3-FA32-0921-4EF7453037E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7F1FADC-AA9A-9654-DB64-6D9B46D6B888}"/>
              </a:ext>
            </a:extLst>
          </p:cNvPr>
          <p:cNvSpPr>
            <a:spLocks noGrp="1"/>
          </p:cNvSpPr>
          <p:nvPr>
            <p:ph type="title"/>
          </p:nvPr>
        </p:nvSpPr>
        <p:spPr/>
        <p:txBody>
          <a:bodyPr>
            <a:normAutofit/>
          </a:bodyPr>
          <a:lstStyle/>
          <a:p>
            <a:r>
              <a:rPr kumimoji="1" lang="ja-GB" altLang="en-US" dirty="0"/>
              <a:t>第</a:t>
            </a:r>
            <a:r>
              <a:rPr kumimoji="1" lang="en-US" altLang="ja-GB" dirty="0"/>
              <a:t>8</a:t>
            </a:r>
            <a:r>
              <a:rPr kumimoji="1" lang="ja-GB" altLang="en-US" dirty="0"/>
              <a:t>回：アルゴリズム</a:t>
            </a:r>
          </a:p>
        </p:txBody>
      </p:sp>
      <p:sp>
        <p:nvSpPr>
          <p:cNvPr id="3" name="コンテンツ プレースホルダー 2">
            <a:extLst>
              <a:ext uri="{FF2B5EF4-FFF2-40B4-BE49-F238E27FC236}">
                <a16:creationId xmlns:a16="http://schemas.microsoft.com/office/drawing/2014/main" id="{A22DDE38-3C1C-12CA-09B1-464CE78D4DAE}"/>
              </a:ext>
            </a:extLst>
          </p:cNvPr>
          <p:cNvSpPr>
            <a:spLocks noGrp="1"/>
          </p:cNvSpPr>
          <p:nvPr>
            <p:ph idx="1"/>
          </p:nvPr>
        </p:nvSpPr>
        <p:spPr/>
        <p:txBody>
          <a:bodyPr/>
          <a:lstStyle/>
          <a:p>
            <a:pPr marL="0" indent="0">
              <a:buNone/>
            </a:pPr>
            <a:r>
              <a:rPr kumimoji="1" lang="ja-GB" altLang="en-US" dirty="0"/>
              <a:t>アルゴリズムを使うとき同じ機能でも様々な方式から選ぶ必要がある</a:t>
            </a:r>
            <a:endParaRPr kumimoji="1" lang="en-US" altLang="ja-GB" dirty="0"/>
          </a:p>
          <a:p>
            <a:pPr marL="914400" lvl="1" indent="-457200">
              <a:buFont typeface="+mj-lt"/>
              <a:buAutoNum type="arabicPeriod"/>
            </a:pPr>
            <a:r>
              <a:rPr kumimoji="1" lang="ja-GB" altLang="en-US" dirty="0"/>
              <a:t>状況に応じたアルゴリズム選定の重要性</a:t>
            </a:r>
            <a:endParaRPr kumimoji="1" lang="en-US" altLang="ja-GB" dirty="0"/>
          </a:p>
          <a:p>
            <a:pPr lvl="2"/>
            <a:r>
              <a:rPr lang="ja-GB" altLang="en-US" dirty="0"/>
              <a:t>同じ機能でも処理速度が異なるアルゴリズムが存在する</a:t>
            </a:r>
            <a:endParaRPr lang="en-US" altLang="ja-GB" dirty="0"/>
          </a:p>
          <a:p>
            <a:pPr lvl="2"/>
            <a:r>
              <a:rPr kumimoji="1" lang="ja-GB" altLang="en-US" dirty="0"/>
              <a:t>計算手順の少なさと考えやすさのトレードオフ</a:t>
            </a:r>
            <a:endParaRPr kumimoji="1" lang="en-US" altLang="ja-GB" dirty="0"/>
          </a:p>
          <a:p>
            <a:pPr lvl="2"/>
            <a:r>
              <a:rPr lang="ja-GB" altLang="en-US" dirty="0"/>
              <a:t>アルゴリズムの速さを見積もる数式</a:t>
            </a:r>
            <a:endParaRPr lang="en-US" altLang="ja-GB" dirty="0"/>
          </a:p>
          <a:p>
            <a:pPr lvl="2"/>
            <a:endParaRPr lang="en-US" altLang="ja-GB" dirty="0"/>
          </a:p>
          <a:p>
            <a:pPr marL="914400" lvl="1" indent="-457200">
              <a:buFont typeface="+mj-lt"/>
              <a:buAutoNum type="arabicPeriod"/>
            </a:pPr>
            <a:r>
              <a:rPr kumimoji="1" lang="ja-GB" altLang="en-US" dirty="0">
                <a:solidFill>
                  <a:srgbClr val="0070C0"/>
                </a:solidFill>
              </a:rPr>
              <a:t>「考えやすさ</a:t>
            </a:r>
            <a:r>
              <a:rPr kumimoji="1" lang="en-US" altLang="ja-GB" dirty="0">
                <a:solidFill>
                  <a:srgbClr val="0070C0"/>
                </a:solidFill>
              </a:rPr>
              <a:t> vs </a:t>
            </a:r>
            <a:r>
              <a:rPr kumimoji="1" lang="ja-GB" altLang="en-US" dirty="0">
                <a:solidFill>
                  <a:srgbClr val="0070C0"/>
                </a:solidFill>
              </a:rPr>
              <a:t>速さ」の具体例</a:t>
            </a:r>
            <a:endParaRPr kumimoji="1" lang="en-US" altLang="ja-GB" dirty="0">
              <a:solidFill>
                <a:srgbClr val="0070C0"/>
              </a:solidFill>
            </a:endParaRPr>
          </a:p>
          <a:p>
            <a:pPr lvl="2"/>
            <a:r>
              <a:rPr lang="ja-GB" altLang="en-US" dirty="0"/>
              <a:t>並び替えアルゴリズムの比較</a:t>
            </a:r>
            <a:endParaRPr lang="en-US" altLang="ja-GB" dirty="0"/>
          </a:p>
          <a:p>
            <a:pPr lvl="2"/>
            <a:r>
              <a:rPr kumimoji="1" lang="ja-GB" altLang="en-US" dirty="0"/>
              <a:t>考えやすいアルゴリズム（挿入ソート，選択ソート）</a:t>
            </a:r>
            <a:endParaRPr kumimoji="1" lang="en-US" altLang="ja-GB" dirty="0"/>
          </a:p>
          <a:p>
            <a:pPr lvl="2"/>
            <a:r>
              <a:rPr lang="ja-GB" altLang="en-US" dirty="0"/>
              <a:t>大きなデータを少ない手順で捌けるアルゴリズム（クイックソート）</a:t>
            </a:r>
            <a:endParaRPr lang="en-US" altLang="ja-GB" dirty="0"/>
          </a:p>
          <a:p>
            <a:pPr lvl="2"/>
            <a:endParaRPr lang="en-US" altLang="ja-GB" dirty="0"/>
          </a:p>
          <a:p>
            <a:pPr marL="914400" lvl="1" indent="-457200">
              <a:buFont typeface="+mj-lt"/>
              <a:buAutoNum type="arabicPeriod"/>
            </a:pPr>
            <a:r>
              <a:rPr kumimoji="1" lang="ja-GB" altLang="en-US" dirty="0"/>
              <a:t>状況に応じたアルゴリズム選定</a:t>
            </a:r>
            <a:endParaRPr kumimoji="1" lang="en-US" altLang="ja-GB" dirty="0"/>
          </a:p>
          <a:p>
            <a:pPr lvl="2"/>
            <a:r>
              <a:rPr kumimoji="1" lang="ja-GB" altLang="en-US" dirty="0"/>
              <a:t>メモリ使用量の違い（</a:t>
            </a:r>
            <a:r>
              <a:rPr lang="ja-GB" altLang="en-US" dirty="0"/>
              <a:t>空間計算量</a:t>
            </a:r>
            <a:r>
              <a:rPr kumimoji="1" lang="ja-GB" altLang="en-US" dirty="0"/>
              <a:t>）</a:t>
            </a:r>
            <a:endParaRPr kumimoji="1" lang="en-US" altLang="ja-GB" dirty="0"/>
          </a:p>
          <a:p>
            <a:pPr lvl="2"/>
            <a:r>
              <a:rPr kumimoji="1" lang="ja-GB" altLang="en-US" dirty="0"/>
              <a:t>問題条件の違い（ソートの安定性）</a:t>
            </a:r>
            <a:endParaRPr kumimoji="1" lang="en-US" altLang="ja-GB" dirty="0"/>
          </a:p>
          <a:p>
            <a:pPr lvl="2"/>
            <a:endParaRPr kumimoji="1" lang="ja-GB" altLang="en-US" dirty="0"/>
          </a:p>
        </p:txBody>
      </p:sp>
    </p:spTree>
    <p:extLst>
      <p:ext uri="{BB962C8B-B14F-4D97-AF65-F5344CB8AC3E}">
        <p14:creationId xmlns:p14="http://schemas.microsoft.com/office/powerpoint/2010/main" val="22976866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387CF96A-7B51-8081-51B1-867F7B50FD9F}"/>
              </a:ext>
            </a:extLst>
          </p:cNvPr>
          <p:cNvSpPr>
            <a:spLocks noGrp="1"/>
          </p:cNvSpPr>
          <p:nvPr>
            <p:ph type="title"/>
          </p:nvPr>
        </p:nvSpPr>
        <p:spPr/>
        <p:txBody>
          <a:bodyPr/>
          <a:lstStyle/>
          <a:p>
            <a:r>
              <a:rPr lang="ja-GB" altLang="en-US" dirty="0"/>
              <a:t>具体例：ソート（並び替え）アルゴリズム</a:t>
            </a:r>
          </a:p>
        </p:txBody>
      </p:sp>
      <p:sp>
        <p:nvSpPr>
          <p:cNvPr id="5" name="コンテンツ プレースホルダー 4">
            <a:extLst>
              <a:ext uri="{FF2B5EF4-FFF2-40B4-BE49-F238E27FC236}">
                <a16:creationId xmlns:a16="http://schemas.microsoft.com/office/drawing/2014/main" id="{E8BD087C-1F26-7FFA-68C4-7F090E425D6C}"/>
              </a:ext>
            </a:extLst>
          </p:cNvPr>
          <p:cNvSpPr>
            <a:spLocks noGrp="1"/>
          </p:cNvSpPr>
          <p:nvPr>
            <p:ph idx="1"/>
          </p:nvPr>
        </p:nvSpPr>
        <p:spPr/>
        <p:txBody>
          <a:bodyPr/>
          <a:lstStyle/>
          <a:p>
            <a:pPr marL="0" indent="0">
              <a:buNone/>
            </a:pPr>
            <a:r>
              <a:rPr lang="ja-GB" altLang="en-US" dirty="0"/>
              <a:t>配列を順番通りに並び替えるアルゴリズム</a:t>
            </a:r>
            <a:endParaRPr lang="en-US" altLang="ja-GB" dirty="0"/>
          </a:p>
          <a:p>
            <a:pPr marL="457200" lvl="1" indent="0">
              <a:buNone/>
            </a:pPr>
            <a:r>
              <a:rPr lang="ja-GB" altLang="en-US" dirty="0"/>
              <a:t>素朴な発想で理解</a:t>
            </a:r>
            <a:r>
              <a:rPr lang="en-US" altLang="ja-GB" dirty="0"/>
              <a:t>/</a:t>
            </a:r>
            <a:r>
              <a:rPr lang="ja-GB" altLang="en-US" dirty="0"/>
              <a:t>実装しやすい（概念的複雑性が低い）</a:t>
            </a:r>
            <a:endParaRPr lang="en-US" altLang="ja-GB" dirty="0"/>
          </a:p>
          <a:p>
            <a:pPr lvl="2"/>
            <a:r>
              <a:rPr lang="ja-GB" altLang="en-US" dirty="0"/>
              <a:t>バブルソート</a:t>
            </a:r>
            <a:endParaRPr lang="en-US" altLang="ja-GB" dirty="0"/>
          </a:p>
          <a:p>
            <a:pPr lvl="2"/>
            <a:r>
              <a:rPr lang="ja-GB" altLang="en-US" dirty="0"/>
              <a:t>選択ソート</a:t>
            </a:r>
            <a:endParaRPr lang="en-US" altLang="ja-GB" dirty="0"/>
          </a:p>
          <a:p>
            <a:pPr marL="457200" lvl="1" indent="0">
              <a:buNone/>
            </a:pPr>
            <a:r>
              <a:rPr lang="ja-GB" altLang="en-US" dirty="0"/>
              <a:t>大きなデータを少ない手順で捌ける（計算複雑性が低い）</a:t>
            </a:r>
            <a:endParaRPr lang="en-US" altLang="ja-GB" dirty="0"/>
          </a:p>
          <a:p>
            <a:pPr lvl="2"/>
            <a:r>
              <a:rPr lang="ja-GB" altLang="en-US" dirty="0"/>
              <a:t>クイックソート</a:t>
            </a:r>
            <a:endParaRPr lang="en-US" altLang="ja-GB" dirty="0"/>
          </a:p>
        </p:txBody>
      </p:sp>
    </p:spTree>
    <p:extLst>
      <p:ext uri="{BB962C8B-B14F-4D97-AF65-F5344CB8AC3E}">
        <p14:creationId xmlns:p14="http://schemas.microsoft.com/office/powerpoint/2010/main" val="7670623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9F156-9CEC-4FC0-F1D9-7CC3DE285EF6}"/>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45B9AB46-FB44-BE6A-429C-C47734702AC8}"/>
              </a:ext>
            </a:extLst>
          </p:cNvPr>
          <p:cNvSpPr>
            <a:spLocks noGrp="1"/>
          </p:cNvSpPr>
          <p:nvPr>
            <p:ph type="title"/>
          </p:nvPr>
        </p:nvSpPr>
        <p:spPr/>
        <p:txBody>
          <a:bodyPr/>
          <a:lstStyle/>
          <a:p>
            <a:r>
              <a:rPr lang="ja-GB" altLang="en-US" dirty="0"/>
              <a:t>具体例：ソート（並び替え）アルゴリズム</a:t>
            </a:r>
          </a:p>
        </p:txBody>
      </p:sp>
      <p:sp>
        <p:nvSpPr>
          <p:cNvPr id="5" name="コンテンツ プレースホルダー 4">
            <a:extLst>
              <a:ext uri="{FF2B5EF4-FFF2-40B4-BE49-F238E27FC236}">
                <a16:creationId xmlns:a16="http://schemas.microsoft.com/office/drawing/2014/main" id="{F59CC132-6C8E-DF38-007B-7C0C07BDFF3C}"/>
              </a:ext>
            </a:extLst>
          </p:cNvPr>
          <p:cNvSpPr>
            <a:spLocks noGrp="1"/>
          </p:cNvSpPr>
          <p:nvPr>
            <p:ph idx="1"/>
          </p:nvPr>
        </p:nvSpPr>
        <p:spPr/>
        <p:txBody>
          <a:bodyPr/>
          <a:lstStyle/>
          <a:p>
            <a:pPr marL="0" indent="0">
              <a:buNone/>
            </a:pPr>
            <a:r>
              <a:rPr lang="ja-GB" altLang="en-US" dirty="0"/>
              <a:t>配列を順番通りに並び替えるアルゴリズム</a:t>
            </a:r>
            <a:endParaRPr lang="en-US" altLang="ja-GB" dirty="0"/>
          </a:p>
          <a:p>
            <a:pPr marL="457200" lvl="1" indent="0">
              <a:buNone/>
            </a:pPr>
            <a:r>
              <a:rPr lang="ja-GB" altLang="en-US" dirty="0">
                <a:solidFill>
                  <a:srgbClr val="0070C0"/>
                </a:solidFill>
              </a:rPr>
              <a:t>素朴な発想で理解</a:t>
            </a:r>
            <a:r>
              <a:rPr lang="en-US" altLang="ja-GB" dirty="0">
                <a:solidFill>
                  <a:srgbClr val="0070C0"/>
                </a:solidFill>
              </a:rPr>
              <a:t>/</a:t>
            </a:r>
            <a:r>
              <a:rPr lang="ja-GB" altLang="en-US" dirty="0">
                <a:solidFill>
                  <a:srgbClr val="0070C0"/>
                </a:solidFill>
              </a:rPr>
              <a:t>実装しやすい（概念的複雑性が低い）</a:t>
            </a:r>
            <a:endParaRPr lang="en-US" altLang="ja-GB" dirty="0">
              <a:solidFill>
                <a:srgbClr val="0070C0"/>
              </a:solidFill>
            </a:endParaRPr>
          </a:p>
          <a:p>
            <a:pPr lvl="2"/>
            <a:r>
              <a:rPr lang="ja-GB" altLang="en-US" dirty="0"/>
              <a:t>バブルソート</a:t>
            </a:r>
            <a:endParaRPr lang="en-US" altLang="ja-GB" dirty="0"/>
          </a:p>
          <a:p>
            <a:pPr lvl="2"/>
            <a:r>
              <a:rPr lang="ja-GB" altLang="en-US" dirty="0"/>
              <a:t>選択ソート</a:t>
            </a:r>
            <a:endParaRPr lang="en-US" altLang="ja-GB" dirty="0"/>
          </a:p>
          <a:p>
            <a:pPr marL="457200" lvl="1" indent="0">
              <a:buNone/>
            </a:pPr>
            <a:r>
              <a:rPr lang="ja-GB" altLang="en-US" dirty="0"/>
              <a:t>大きなデータを少ない手順で捌ける（計算複雑性が低い）</a:t>
            </a:r>
            <a:endParaRPr lang="en-US" altLang="ja-GB" dirty="0"/>
          </a:p>
          <a:p>
            <a:pPr lvl="2"/>
            <a:r>
              <a:rPr lang="ja-GB" altLang="en-US" dirty="0"/>
              <a:t>クイックソート</a:t>
            </a:r>
            <a:endParaRPr lang="en-US" altLang="ja-GB" dirty="0"/>
          </a:p>
        </p:txBody>
      </p:sp>
    </p:spTree>
    <p:extLst>
      <p:ext uri="{BB962C8B-B14F-4D97-AF65-F5344CB8AC3E}">
        <p14:creationId xmlns:p14="http://schemas.microsoft.com/office/powerpoint/2010/main" val="13216306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EED1F1-4541-D13E-1661-5D1711831FCA}"/>
              </a:ext>
            </a:extLst>
          </p:cNvPr>
          <p:cNvSpPr>
            <a:spLocks noGrp="1"/>
          </p:cNvSpPr>
          <p:nvPr>
            <p:ph type="title"/>
          </p:nvPr>
        </p:nvSpPr>
        <p:spPr/>
        <p:txBody>
          <a:bodyPr/>
          <a:lstStyle/>
          <a:p>
            <a:r>
              <a:rPr kumimoji="1" lang="ja-GB" altLang="en-US" dirty="0"/>
              <a:t>挿入ソート</a:t>
            </a:r>
          </a:p>
        </p:txBody>
      </p:sp>
      <p:sp>
        <p:nvSpPr>
          <p:cNvPr id="3" name="コンテンツ プレースホルダー 2">
            <a:extLst>
              <a:ext uri="{FF2B5EF4-FFF2-40B4-BE49-F238E27FC236}">
                <a16:creationId xmlns:a16="http://schemas.microsoft.com/office/drawing/2014/main" id="{4B56DFA0-F485-D84E-082E-44BEF99A2FC4}"/>
              </a:ext>
            </a:extLst>
          </p:cNvPr>
          <p:cNvSpPr>
            <a:spLocks noGrp="1"/>
          </p:cNvSpPr>
          <p:nvPr>
            <p:ph idx="1"/>
          </p:nvPr>
        </p:nvSpPr>
        <p:spPr/>
        <p:txBody>
          <a:bodyPr/>
          <a:lstStyle/>
          <a:p>
            <a:pPr marL="0" indent="0">
              <a:buNone/>
            </a:pPr>
            <a:r>
              <a:rPr kumimoji="1" lang="en-US" altLang="ja-GB" dirty="0"/>
              <a:t>1</a:t>
            </a:r>
            <a:r>
              <a:rPr kumimoji="1" lang="ja-GB" altLang="en-US" dirty="0"/>
              <a:t>つずつ要素を取り出し，適切な位置に挿入していく</a:t>
            </a:r>
            <a:endParaRPr kumimoji="1" lang="en-US" altLang="ja-GB" dirty="0"/>
          </a:p>
          <a:p>
            <a:pPr lvl="1"/>
            <a:r>
              <a:rPr lang="ja-GB" altLang="en-US" dirty="0"/>
              <a:t>山札から一枚ずつ引いて，手札の適切な位置に挿入して並べる方法と同じ</a:t>
            </a:r>
            <a:endParaRPr kumimoji="1" lang="ja-GB" altLang="en-US" dirty="0"/>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2B5771A0-9B5F-5C8E-D10E-17F42E690EED}"/>
                  </a:ext>
                </a:extLst>
              </p:cNvPr>
              <p:cNvSpPr txBox="1"/>
              <p:nvPr/>
            </p:nvSpPr>
            <p:spPr>
              <a:xfrm>
                <a:off x="6183566" y="5610738"/>
                <a:ext cx="2166747" cy="923330"/>
              </a:xfrm>
              <a:prstGeom prst="rect">
                <a:avLst/>
              </a:prstGeom>
              <a:noFill/>
            </p:spPr>
            <p:txBody>
              <a:bodyPr wrap="none" rtlCol="0">
                <a:spAutoFit/>
              </a:bodyPr>
              <a:lstStyle/>
              <a:p>
                <a:r>
                  <a:rPr kumimoji="1" lang="ja-GB" altLang="en-US" dirty="0"/>
                  <a:t>最良計算量：</a:t>
                </a:r>
                <a14:m>
                  <m:oMath xmlns:m="http://schemas.openxmlformats.org/officeDocument/2006/math">
                    <m:r>
                      <a:rPr kumimoji="1" lang="en-US" altLang="ja-GB" i="1">
                        <a:latin typeface="Cambria Math" panose="02040503050406030204" pitchFamily="18" charset="0"/>
                      </a:rPr>
                      <m:t>𝑂</m:t>
                    </m:r>
                    <m:d>
                      <m:dPr>
                        <m:ctrlPr>
                          <a:rPr kumimoji="1" lang="en-US" altLang="ja-GB" i="1">
                            <a:latin typeface="Cambria Math" panose="02040503050406030204" pitchFamily="18" charset="0"/>
                          </a:rPr>
                        </m:ctrlPr>
                      </m:dPr>
                      <m:e>
                        <m:r>
                          <a:rPr kumimoji="1" lang="en-US" altLang="ja-GB" i="1">
                            <a:latin typeface="Cambria Math" panose="02040503050406030204" pitchFamily="18" charset="0"/>
                          </a:rPr>
                          <m:t>𝑛</m:t>
                        </m:r>
                      </m:e>
                    </m:d>
                  </m:oMath>
                </a14:m>
                <a:endParaRPr kumimoji="1" lang="en-US" altLang="ja-GB" dirty="0"/>
              </a:p>
              <a:p>
                <a:r>
                  <a:rPr kumimoji="1" lang="ja-GB" altLang="en-US" dirty="0"/>
                  <a:t>平均計算量：</a:t>
                </a:r>
                <a14:m>
                  <m:oMath xmlns:m="http://schemas.openxmlformats.org/officeDocument/2006/math">
                    <m:r>
                      <a:rPr kumimoji="1" lang="en-US" altLang="ja-GB" i="1">
                        <a:latin typeface="Cambria Math" panose="02040503050406030204" pitchFamily="18" charset="0"/>
                      </a:rPr>
                      <m:t>𝑂</m:t>
                    </m:r>
                    <m:d>
                      <m:dPr>
                        <m:ctrlPr>
                          <a:rPr kumimoji="1" lang="en-US" altLang="ja-GB" i="1">
                            <a:latin typeface="Cambria Math" panose="02040503050406030204" pitchFamily="18" charset="0"/>
                          </a:rPr>
                        </m:ctrlPr>
                      </m:dPr>
                      <m:e>
                        <m:sSup>
                          <m:sSupPr>
                            <m:ctrlPr>
                              <a:rPr kumimoji="1" lang="en-US" altLang="ja-GB" b="0" i="1" smtClean="0">
                                <a:latin typeface="Cambria Math" panose="02040503050406030204" pitchFamily="18" charset="0"/>
                              </a:rPr>
                            </m:ctrlPr>
                          </m:sSupPr>
                          <m:e>
                            <m:r>
                              <a:rPr kumimoji="1" lang="en-US" altLang="ja-GB" b="0" i="1" smtClean="0">
                                <a:latin typeface="Cambria Math" panose="02040503050406030204" pitchFamily="18" charset="0"/>
                              </a:rPr>
                              <m:t>𝑛</m:t>
                            </m:r>
                          </m:e>
                          <m:sup>
                            <m:r>
                              <a:rPr kumimoji="1" lang="en-US" altLang="ja-GB" b="0" i="1" smtClean="0">
                                <a:latin typeface="Cambria Math" panose="02040503050406030204" pitchFamily="18" charset="0"/>
                              </a:rPr>
                              <m:t>2</m:t>
                            </m:r>
                          </m:sup>
                        </m:sSup>
                      </m:e>
                    </m:d>
                  </m:oMath>
                </a14:m>
                <a:endParaRPr kumimoji="1" lang="en-US" altLang="ja-GB" dirty="0"/>
              </a:p>
              <a:p>
                <a:r>
                  <a:rPr kumimoji="1" lang="ja-GB" altLang="en-US" dirty="0"/>
                  <a:t>最悪計算量：</a:t>
                </a:r>
                <a14:m>
                  <m:oMath xmlns:m="http://schemas.openxmlformats.org/officeDocument/2006/math">
                    <m:r>
                      <a:rPr kumimoji="1" lang="en-US" altLang="ja-GB" b="0" i="1" smtClean="0">
                        <a:latin typeface="Cambria Math" panose="02040503050406030204" pitchFamily="18" charset="0"/>
                      </a:rPr>
                      <m:t>𝑂</m:t>
                    </m:r>
                    <m:d>
                      <m:dPr>
                        <m:ctrlPr>
                          <a:rPr kumimoji="1" lang="en-US" altLang="ja-GB" b="0" i="1" smtClean="0">
                            <a:latin typeface="Cambria Math" panose="02040503050406030204" pitchFamily="18" charset="0"/>
                          </a:rPr>
                        </m:ctrlPr>
                      </m:dPr>
                      <m:e>
                        <m:sSup>
                          <m:sSupPr>
                            <m:ctrlPr>
                              <a:rPr kumimoji="1" lang="en-US" altLang="ja-GB" b="0" i="1" smtClean="0">
                                <a:latin typeface="Cambria Math" panose="02040503050406030204" pitchFamily="18" charset="0"/>
                              </a:rPr>
                            </m:ctrlPr>
                          </m:sSupPr>
                          <m:e>
                            <m:r>
                              <a:rPr kumimoji="1" lang="en-US" altLang="ja-GB" b="0" i="1" smtClean="0">
                                <a:latin typeface="Cambria Math" panose="02040503050406030204" pitchFamily="18" charset="0"/>
                              </a:rPr>
                              <m:t>𝑛</m:t>
                            </m:r>
                          </m:e>
                          <m:sup>
                            <m:r>
                              <a:rPr kumimoji="1" lang="en-US" altLang="ja-GB" b="0" i="1" smtClean="0">
                                <a:latin typeface="Cambria Math" panose="02040503050406030204" pitchFamily="18" charset="0"/>
                              </a:rPr>
                              <m:t>2</m:t>
                            </m:r>
                          </m:sup>
                        </m:sSup>
                      </m:e>
                    </m:d>
                  </m:oMath>
                </a14:m>
                <a:endParaRPr kumimoji="1" lang="ja-GB" altLang="en-US" dirty="0"/>
              </a:p>
            </p:txBody>
          </p:sp>
        </mc:Choice>
        <mc:Fallback xmlns="">
          <p:sp>
            <p:nvSpPr>
              <p:cNvPr id="4" name="テキスト ボックス 3">
                <a:extLst>
                  <a:ext uri="{FF2B5EF4-FFF2-40B4-BE49-F238E27FC236}">
                    <a16:creationId xmlns:a16="http://schemas.microsoft.com/office/drawing/2014/main" id="{2B5771A0-9B5F-5C8E-D10E-17F42E690EED}"/>
                  </a:ext>
                </a:extLst>
              </p:cNvPr>
              <p:cNvSpPr txBox="1">
                <a:spLocks noRot="1" noChangeAspect="1" noMove="1" noResize="1" noEditPoints="1" noAdjustHandles="1" noChangeArrowheads="1" noChangeShapeType="1" noTextEdit="1"/>
              </p:cNvSpPr>
              <p:nvPr/>
            </p:nvSpPr>
            <p:spPr>
              <a:xfrm>
                <a:off x="6183566" y="5610738"/>
                <a:ext cx="2166747" cy="923330"/>
              </a:xfrm>
              <a:prstGeom prst="rect">
                <a:avLst/>
              </a:prstGeom>
              <a:blipFill>
                <a:blip r:embed="rId2"/>
                <a:stretch>
                  <a:fillRect l="-2326" t="-2703" b="-9459"/>
                </a:stretch>
              </a:blipFill>
            </p:spPr>
            <p:txBody>
              <a:bodyPr/>
              <a:lstStyle/>
              <a:p>
                <a:r>
                  <a:rPr lang="ja-GB" altLang="en-US">
                    <a:noFill/>
                  </a:rPr>
                  <a:t> </a:t>
                </a:r>
              </a:p>
            </p:txBody>
          </p:sp>
        </mc:Fallback>
      </mc:AlternateContent>
      <p:grpSp>
        <p:nvGrpSpPr>
          <p:cNvPr id="5" name="グループ化 4">
            <a:extLst>
              <a:ext uri="{FF2B5EF4-FFF2-40B4-BE49-F238E27FC236}">
                <a16:creationId xmlns:a16="http://schemas.microsoft.com/office/drawing/2014/main" id="{73B6280C-19E8-C33D-064D-7CFA59852389}"/>
              </a:ext>
            </a:extLst>
          </p:cNvPr>
          <p:cNvGrpSpPr/>
          <p:nvPr/>
        </p:nvGrpSpPr>
        <p:grpSpPr>
          <a:xfrm>
            <a:off x="4511710" y="2217559"/>
            <a:ext cx="3334284" cy="471346"/>
            <a:chOff x="2900144" y="1583697"/>
            <a:chExt cx="3334284" cy="471346"/>
          </a:xfrm>
          <a:solidFill>
            <a:schemeClr val="bg1">
              <a:lumMod val="95000"/>
            </a:schemeClr>
          </a:solidFill>
        </p:grpSpPr>
        <p:sp>
          <p:nvSpPr>
            <p:cNvPr id="6" name="正方形/長方形 5">
              <a:extLst>
                <a:ext uri="{FF2B5EF4-FFF2-40B4-BE49-F238E27FC236}">
                  <a16:creationId xmlns:a16="http://schemas.microsoft.com/office/drawing/2014/main" id="{6B25BA8A-FDB1-441F-0BA0-6ABBE79C5E17}"/>
                </a:ext>
              </a:extLst>
            </p:cNvPr>
            <p:cNvSpPr/>
            <p:nvPr/>
          </p:nvSpPr>
          <p:spPr>
            <a:xfrm>
              <a:off x="2900144" y="1583699"/>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7" name="正方形/長方形 6">
              <a:extLst>
                <a:ext uri="{FF2B5EF4-FFF2-40B4-BE49-F238E27FC236}">
                  <a16:creationId xmlns:a16="http://schemas.microsoft.com/office/drawing/2014/main" id="{4D6FFB5E-928B-CF50-9380-89A9F63C816F}"/>
                </a:ext>
              </a:extLst>
            </p:cNvPr>
            <p:cNvSpPr/>
            <p:nvPr/>
          </p:nvSpPr>
          <p:spPr>
            <a:xfrm>
              <a:off x="3374124"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8" name="正方形/長方形 7">
              <a:extLst>
                <a:ext uri="{FF2B5EF4-FFF2-40B4-BE49-F238E27FC236}">
                  <a16:creationId xmlns:a16="http://schemas.microsoft.com/office/drawing/2014/main" id="{36433A2C-7F0B-3870-91A1-09569AFE9A9B}"/>
                </a:ext>
              </a:extLst>
            </p:cNvPr>
            <p:cNvSpPr/>
            <p:nvPr/>
          </p:nvSpPr>
          <p:spPr>
            <a:xfrm>
              <a:off x="3851797"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9" name="正方形/長方形 8">
              <a:extLst>
                <a:ext uri="{FF2B5EF4-FFF2-40B4-BE49-F238E27FC236}">
                  <a16:creationId xmlns:a16="http://schemas.microsoft.com/office/drawing/2014/main" id="{0D522227-0F5A-097D-1EFC-89BF28C86FD9}"/>
                </a:ext>
              </a:extLst>
            </p:cNvPr>
            <p:cNvSpPr/>
            <p:nvPr/>
          </p:nvSpPr>
          <p:spPr>
            <a:xfrm>
              <a:off x="4331316"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10" name="正方形/長方形 9">
              <a:extLst>
                <a:ext uri="{FF2B5EF4-FFF2-40B4-BE49-F238E27FC236}">
                  <a16:creationId xmlns:a16="http://schemas.microsoft.com/office/drawing/2014/main" id="{28B2BEB2-01B1-100C-D318-0D47F5175101}"/>
                </a:ext>
              </a:extLst>
            </p:cNvPr>
            <p:cNvSpPr/>
            <p:nvPr/>
          </p:nvSpPr>
          <p:spPr>
            <a:xfrm>
              <a:off x="4808989"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11" name="正方形/長方形 10">
              <a:extLst>
                <a:ext uri="{FF2B5EF4-FFF2-40B4-BE49-F238E27FC236}">
                  <a16:creationId xmlns:a16="http://schemas.microsoft.com/office/drawing/2014/main" id="{814FB75C-DECE-992D-2B7E-176967F2FBCC}"/>
                </a:ext>
              </a:extLst>
            </p:cNvPr>
            <p:cNvSpPr/>
            <p:nvPr/>
          </p:nvSpPr>
          <p:spPr>
            <a:xfrm>
              <a:off x="5279082"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12" name="正方形/長方形 11">
              <a:extLst>
                <a:ext uri="{FF2B5EF4-FFF2-40B4-BE49-F238E27FC236}">
                  <a16:creationId xmlns:a16="http://schemas.microsoft.com/office/drawing/2014/main" id="{58A7224F-C6D9-B019-D611-5333421A706A}"/>
                </a:ext>
              </a:extLst>
            </p:cNvPr>
            <p:cNvSpPr/>
            <p:nvPr/>
          </p:nvSpPr>
          <p:spPr>
            <a:xfrm>
              <a:off x="5756755"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grpSp>
      <p:grpSp>
        <p:nvGrpSpPr>
          <p:cNvPr id="15" name="グループ化 14">
            <a:extLst>
              <a:ext uri="{FF2B5EF4-FFF2-40B4-BE49-F238E27FC236}">
                <a16:creationId xmlns:a16="http://schemas.microsoft.com/office/drawing/2014/main" id="{92F671C1-0100-27AA-13FC-8E6724203183}"/>
              </a:ext>
            </a:extLst>
          </p:cNvPr>
          <p:cNvGrpSpPr/>
          <p:nvPr/>
        </p:nvGrpSpPr>
        <p:grpSpPr>
          <a:xfrm>
            <a:off x="1038721" y="2891667"/>
            <a:ext cx="6799440" cy="471344"/>
            <a:chOff x="-583866" y="1583697"/>
            <a:chExt cx="6799440" cy="471344"/>
          </a:xfrm>
          <a:solidFill>
            <a:schemeClr val="bg1">
              <a:lumMod val="95000"/>
            </a:schemeClr>
          </a:solidFill>
        </p:grpSpPr>
        <p:sp>
          <p:nvSpPr>
            <p:cNvPr id="16" name="正方形/長方形 15">
              <a:extLst>
                <a:ext uri="{FF2B5EF4-FFF2-40B4-BE49-F238E27FC236}">
                  <a16:creationId xmlns:a16="http://schemas.microsoft.com/office/drawing/2014/main" id="{9813B267-CC24-70FD-70B8-C9C5F97DF0E5}"/>
                </a:ext>
              </a:extLst>
            </p:cNvPr>
            <p:cNvSpPr/>
            <p:nvPr/>
          </p:nvSpPr>
          <p:spPr>
            <a:xfrm>
              <a:off x="-583866" y="1583697"/>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17" name="正方形/長方形 16">
              <a:extLst>
                <a:ext uri="{FF2B5EF4-FFF2-40B4-BE49-F238E27FC236}">
                  <a16:creationId xmlns:a16="http://schemas.microsoft.com/office/drawing/2014/main" id="{4CEF44CC-8BCB-6E68-61ED-4CD82E012685}"/>
                </a:ext>
              </a:extLst>
            </p:cNvPr>
            <p:cNvSpPr/>
            <p:nvPr/>
          </p:nvSpPr>
          <p:spPr>
            <a:xfrm>
              <a:off x="3374124"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18" name="正方形/長方形 17">
              <a:extLst>
                <a:ext uri="{FF2B5EF4-FFF2-40B4-BE49-F238E27FC236}">
                  <a16:creationId xmlns:a16="http://schemas.microsoft.com/office/drawing/2014/main" id="{7CA1031B-AD7D-95BC-DCD4-B4090ED5B4F9}"/>
                </a:ext>
              </a:extLst>
            </p:cNvPr>
            <p:cNvSpPr/>
            <p:nvPr/>
          </p:nvSpPr>
          <p:spPr>
            <a:xfrm>
              <a:off x="3851797"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19" name="正方形/長方形 18">
              <a:extLst>
                <a:ext uri="{FF2B5EF4-FFF2-40B4-BE49-F238E27FC236}">
                  <a16:creationId xmlns:a16="http://schemas.microsoft.com/office/drawing/2014/main" id="{A1C9CDC0-4173-EA92-A95A-1B27841BB075}"/>
                </a:ext>
              </a:extLst>
            </p:cNvPr>
            <p:cNvSpPr/>
            <p:nvPr/>
          </p:nvSpPr>
          <p:spPr>
            <a:xfrm>
              <a:off x="4312462"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20" name="正方形/長方形 19">
              <a:extLst>
                <a:ext uri="{FF2B5EF4-FFF2-40B4-BE49-F238E27FC236}">
                  <a16:creationId xmlns:a16="http://schemas.microsoft.com/office/drawing/2014/main" id="{4CFBD917-4AD8-3B33-A442-4F2C094C9B53}"/>
                </a:ext>
              </a:extLst>
            </p:cNvPr>
            <p:cNvSpPr/>
            <p:nvPr/>
          </p:nvSpPr>
          <p:spPr>
            <a:xfrm>
              <a:off x="4790135"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21" name="正方形/長方形 20">
              <a:extLst>
                <a:ext uri="{FF2B5EF4-FFF2-40B4-BE49-F238E27FC236}">
                  <a16:creationId xmlns:a16="http://schemas.microsoft.com/office/drawing/2014/main" id="{0F7F9D14-F86A-53FF-7FAF-C62CD709F0A8}"/>
                </a:ext>
              </a:extLst>
            </p:cNvPr>
            <p:cNvSpPr/>
            <p:nvPr/>
          </p:nvSpPr>
          <p:spPr>
            <a:xfrm>
              <a:off x="5260228"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22" name="正方形/長方形 21">
              <a:extLst>
                <a:ext uri="{FF2B5EF4-FFF2-40B4-BE49-F238E27FC236}">
                  <a16:creationId xmlns:a16="http://schemas.microsoft.com/office/drawing/2014/main" id="{90C29F0E-7014-3405-B2DD-3B94955F5C3A}"/>
                </a:ext>
              </a:extLst>
            </p:cNvPr>
            <p:cNvSpPr/>
            <p:nvPr/>
          </p:nvSpPr>
          <p:spPr>
            <a:xfrm>
              <a:off x="5737901"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grpSp>
      <p:grpSp>
        <p:nvGrpSpPr>
          <p:cNvPr id="24" name="グループ化 23">
            <a:extLst>
              <a:ext uri="{FF2B5EF4-FFF2-40B4-BE49-F238E27FC236}">
                <a16:creationId xmlns:a16="http://schemas.microsoft.com/office/drawing/2014/main" id="{48B85C06-EAAE-1387-DEF0-850B3B0AB12C}"/>
              </a:ext>
            </a:extLst>
          </p:cNvPr>
          <p:cNvGrpSpPr/>
          <p:nvPr/>
        </p:nvGrpSpPr>
        <p:grpSpPr>
          <a:xfrm>
            <a:off x="1038721" y="3554723"/>
            <a:ext cx="6808867" cy="472165"/>
            <a:chOff x="-583866" y="1583697"/>
            <a:chExt cx="6808867" cy="472165"/>
          </a:xfrm>
          <a:solidFill>
            <a:schemeClr val="bg1">
              <a:lumMod val="95000"/>
            </a:schemeClr>
          </a:solidFill>
        </p:grpSpPr>
        <p:sp>
          <p:nvSpPr>
            <p:cNvPr id="25" name="正方形/長方形 24">
              <a:extLst>
                <a:ext uri="{FF2B5EF4-FFF2-40B4-BE49-F238E27FC236}">
                  <a16:creationId xmlns:a16="http://schemas.microsoft.com/office/drawing/2014/main" id="{B9056A20-296A-66F1-BE82-04C04AAD6213}"/>
                </a:ext>
              </a:extLst>
            </p:cNvPr>
            <p:cNvSpPr/>
            <p:nvPr/>
          </p:nvSpPr>
          <p:spPr>
            <a:xfrm>
              <a:off x="-583866"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26" name="正方形/長方形 25">
              <a:extLst>
                <a:ext uri="{FF2B5EF4-FFF2-40B4-BE49-F238E27FC236}">
                  <a16:creationId xmlns:a16="http://schemas.microsoft.com/office/drawing/2014/main" id="{DB5983D8-4F73-0439-8178-E4D80FFAC7D6}"/>
                </a:ext>
              </a:extLst>
            </p:cNvPr>
            <p:cNvSpPr/>
            <p:nvPr/>
          </p:nvSpPr>
          <p:spPr>
            <a:xfrm>
              <a:off x="-106193" y="1584518"/>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27" name="正方形/長方形 26">
              <a:extLst>
                <a:ext uri="{FF2B5EF4-FFF2-40B4-BE49-F238E27FC236}">
                  <a16:creationId xmlns:a16="http://schemas.microsoft.com/office/drawing/2014/main" id="{5EB8BB12-5435-2C76-714E-9B48630A5AAA}"/>
                </a:ext>
              </a:extLst>
            </p:cNvPr>
            <p:cNvSpPr/>
            <p:nvPr/>
          </p:nvSpPr>
          <p:spPr>
            <a:xfrm>
              <a:off x="3851797"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28" name="正方形/長方形 27">
              <a:extLst>
                <a:ext uri="{FF2B5EF4-FFF2-40B4-BE49-F238E27FC236}">
                  <a16:creationId xmlns:a16="http://schemas.microsoft.com/office/drawing/2014/main" id="{EA3A9F67-C1DA-4A44-8027-4CFFAD544C52}"/>
                </a:ext>
              </a:extLst>
            </p:cNvPr>
            <p:cNvSpPr/>
            <p:nvPr/>
          </p:nvSpPr>
          <p:spPr>
            <a:xfrm>
              <a:off x="4321889"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29" name="正方形/長方形 28">
              <a:extLst>
                <a:ext uri="{FF2B5EF4-FFF2-40B4-BE49-F238E27FC236}">
                  <a16:creationId xmlns:a16="http://schemas.microsoft.com/office/drawing/2014/main" id="{143ABAC9-FECA-3066-0BF7-7E1EBC7820F0}"/>
                </a:ext>
              </a:extLst>
            </p:cNvPr>
            <p:cNvSpPr/>
            <p:nvPr/>
          </p:nvSpPr>
          <p:spPr>
            <a:xfrm>
              <a:off x="4799562"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30" name="正方形/長方形 29">
              <a:extLst>
                <a:ext uri="{FF2B5EF4-FFF2-40B4-BE49-F238E27FC236}">
                  <a16:creationId xmlns:a16="http://schemas.microsoft.com/office/drawing/2014/main" id="{DFDC8C79-BAB8-B793-E1EA-93C083B24E74}"/>
                </a:ext>
              </a:extLst>
            </p:cNvPr>
            <p:cNvSpPr/>
            <p:nvPr/>
          </p:nvSpPr>
          <p:spPr>
            <a:xfrm>
              <a:off x="5269655"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31" name="正方形/長方形 30">
              <a:extLst>
                <a:ext uri="{FF2B5EF4-FFF2-40B4-BE49-F238E27FC236}">
                  <a16:creationId xmlns:a16="http://schemas.microsoft.com/office/drawing/2014/main" id="{03C69C4F-544C-342A-1309-1E826D267B29}"/>
                </a:ext>
              </a:extLst>
            </p:cNvPr>
            <p:cNvSpPr/>
            <p:nvPr/>
          </p:nvSpPr>
          <p:spPr>
            <a:xfrm>
              <a:off x="5747328"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grpSp>
      <p:grpSp>
        <p:nvGrpSpPr>
          <p:cNvPr id="32" name="グループ化 31">
            <a:extLst>
              <a:ext uri="{FF2B5EF4-FFF2-40B4-BE49-F238E27FC236}">
                <a16:creationId xmlns:a16="http://schemas.microsoft.com/office/drawing/2014/main" id="{F05A3619-9264-65FE-C2B8-A1A0FDAA27F7}"/>
              </a:ext>
            </a:extLst>
          </p:cNvPr>
          <p:cNvGrpSpPr/>
          <p:nvPr/>
        </p:nvGrpSpPr>
        <p:grpSpPr>
          <a:xfrm>
            <a:off x="1038721" y="4369264"/>
            <a:ext cx="6808867" cy="472165"/>
            <a:chOff x="-583866" y="1583697"/>
            <a:chExt cx="6808867" cy="472165"/>
          </a:xfrm>
          <a:solidFill>
            <a:schemeClr val="bg1">
              <a:lumMod val="95000"/>
            </a:schemeClr>
          </a:solidFill>
        </p:grpSpPr>
        <p:sp>
          <p:nvSpPr>
            <p:cNvPr id="33" name="正方形/長方形 32">
              <a:extLst>
                <a:ext uri="{FF2B5EF4-FFF2-40B4-BE49-F238E27FC236}">
                  <a16:creationId xmlns:a16="http://schemas.microsoft.com/office/drawing/2014/main" id="{CEAA04B1-A377-3C02-7401-220193381DC1}"/>
                </a:ext>
              </a:extLst>
            </p:cNvPr>
            <p:cNvSpPr/>
            <p:nvPr/>
          </p:nvSpPr>
          <p:spPr>
            <a:xfrm>
              <a:off x="-106193" y="1584518"/>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34" name="正方形/長方形 33">
              <a:extLst>
                <a:ext uri="{FF2B5EF4-FFF2-40B4-BE49-F238E27FC236}">
                  <a16:creationId xmlns:a16="http://schemas.microsoft.com/office/drawing/2014/main" id="{6BF4C08C-0276-2AC0-B82F-35882312A6BA}"/>
                </a:ext>
              </a:extLst>
            </p:cNvPr>
            <p:cNvSpPr/>
            <p:nvPr/>
          </p:nvSpPr>
          <p:spPr>
            <a:xfrm>
              <a:off x="371480" y="1584518"/>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35" name="正方形/長方形 34">
              <a:extLst>
                <a:ext uri="{FF2B5EF4-FFF2-40B4-BE49-F238E27FC236}">
                  <a16:creationId xmlns:a16="http://schemas.microsoft.com/office/drawing/2014/main" id="{9172C41A-6020-33BA-40AC-8FC09F2B37DD}"/>
                </a:ext>
              </a:extLst>
            </p:cNvPr>
            <p:cNvSpPr/>
            <p:nvPr/>
          </p:nvSpPr>
          <p:spPr>
            <a:xfrm>
              <a:off x="-583866" y="1584518"/>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36" name="正方形/長方形 35">
              <a:extLst>
                <a:ext uri="{FF2B5EF4-FFF2-40B4-BE49-F238E27FC236}">
                  <a16:creationId xmlns:a16="http://schemas.microsoft.com/office/drawing/2014/main" id="{21FA026C-8C13-B59F-592B-44DFE47889B3}"/>
                </a:ext>
              </a:extLst>
            </p:cNvPr>
            <p:cNvSpPr/>
            <p:nvPr/>
          </p:nvSpPr>
          <p:spPr>
            <a:xfrm>
              <a:off x="4321889"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37" name="正方形/長方形 36">
              <a:extLst>
                <a:ext uri="{FF2B5EF4-FFF2-40B4-BE49-F238E27FC236}">
                  <a16:creationId xmlns:a16="http://schemas.microsoft.com/office/drawing/2014/main" id="{B4E83539-E00C-0228-ADB5-21670EED30DF}"/>
                </a:ext>
              </a:extLst>
            </p:cNvPr>
            <p:cNvSpPr/>
            <p:nvPr/>
          </p:nvSpPr>
          <p:spPr>
            <a:xfrm>
              <a:off x="4799562"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38" name="正方形/長方形 37">
              <a:extLst>
                <a:ext uri="{FF2B5EF4-FFF2-40B4-BE49-F238E27FC236}">
                  <a16:creationId xmlns:a16="http://schemas.microsoft.com/office/drawing/2014/main" id="{5A2BEB4F-8872-0FE9-A780-E0749C9A0C9F}"/>
                </a:ext>
              </a:extLst>
            </p:cNvPr>
            <p:cNvSpPr/>
            <p:nvPr/>
          </p:nvSpPr>
          <p:spPr>
            <a:xfrm>
              <a:off x="5269655"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39" name="正方形/長方形 38">
              <a:extLst>
                <a:ext uri="{FF2B5EF4-FFF2-40B4-BE49-F238E27FC236}">
                  <a16:creationId xmlns:a16="http://schemas.microsoft.com/office/drawing/2014/main" id="{9FB3AB46-550A-7A24-CC0B-689241D65CD0}"/>
                </a:ext>
              </a:extLst>
            </p:cNvPr>
            <p:cNvSpPr/>
            <p:nvPr/>
          </p:nvSpPr>
          <p:spPr>
            <a:xfrm>
              <a:off x="5747328"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grpSp>
      <p:sp>
        <p:nvSpPr>
          <p:cNvPr id="47" name="テキスト ボックス 46">
            <a:extLst>
              <a:ext uri="{FF2B5EF4-FFF2-40B4-BE49-F238E27FC236}">
                <a16:creationId xmlns:a16="http://schemas.microsoft.com/office/drawing/2014/main" id="{8873294E-9884-4C18-D201-913AB6892691}"/>
              </a:ext>
            </a:extLst>
          </p:cNvPr>
          <p:cNvSpPr txBox="1"/>
          <p:nvPr/>
        </p:nvSpPr>
        <p:spPr>
          <a:xfrm>
            <a:off x="5858552" y="1844320"/>
            <a:ext cx="646331" cy="369332"/>
          </a:xfrm>
          <a:prstGeom prst="rect">
            <a:avLst/>
          </a:prstGeom>
          <a:noFill/>
        </p:spPr>
        <p:txBody>
          <a:bodyPr wrap="none" rtlCol="0">
            <a:spAutoFit/>
          </a:bodyPr>
          <a:lstStyle/>
          <a:p>
            <a:pPr algn="ctr"/>
            <a:r>
              <a:rPr kumimoji="1" lang="ja-GB" altLang="en-US" b="1" dirty="0">
                <a:solidFill>
                  <a:schemeClr val="tx1">
                    <a:lumMod val="50000"/>
                    <a:lumOff val="50000"/>
                  </a:schemeClr>
                </a:solidFill>
              </a:rPr>
              <a:t>山札</a:t>
            </a:r>
          </a:p>
        </p:txBody>
      </p:sp>
      <p:sp>
        <p:nvSpPr>
          <p:cNvPr id="48" name="テキスト ボックス 47">
            <a:extLst>
              <a:ext uri="{FF2B5EF4-FFF2-40B4-BE49-F238E27FC236}">
                <a16:creationId xmlns:a16="http://schemas.microsoft.com/office/drawing/2014/main" id="{615D7C26-E2D5-8D00-97B2-5AC2AB16BA0A}"/>
              </a:ext>
            </a:extLst>
          </p:cNvPr>
          <p:cNvSpPr txBox="1"/>
          <p:nvPr/>
        </p:nvSpPr>
        <p:spPr>
          <a:xfrm>
            <a:off x="954391" y="1844320"/>
            <a:ext cx="646331" cy="369332"/>
          </a:xfrm>
          <a:prstGeom prst="rect">
            <a:avLst/>
          </a:prstGeom>
          <a:noFill/>
        </p:spPr>
        <p:txBody>
          <a:bodyPr wrap="none" rtlCol="0">
            <a:spAutoFit/>
          </a:bodyPr>
          <a:lstStyle/>
          <a:p>
            <a:pPr algn="ctr"/>
            <a:r>
              <a:rPr kumimoji="1" lang="ja-GB" altLang="en-US" b="1" dirty="0">
                <a:solidFill>
                  <a:schemeClr val="tx1">
                    <a:lumMod val="50000"/>
                    <a:lumOff val="50000"/>
                  </a:schemeClr>
                </a:solidFill>
              </a:rPr>
              <a:t>手札</a:t>
            </a:r>
          </a:p>
        </p:txBody>
      </p:sp>
    </p:spTree>
    <p:extLst>
      <p:ext uri="{BB962C8B-B14F-4D97-AF65-F5344CB8AC3E}">
        <p14:creationId xmlns:p14="http://schemas.microsoft.com/office/powerpoint/2010/main" val="12584243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9B0DA-534B-92EB-C1AB-90EC2D3E5D0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5C6D380-5E2B-F833-C5D8-6AC152EB0B57}"/>
              </a:ext>
            </a:extLst>
          </p:cNvPr>
          <p:cNvSpPr>
            <a:spLocks noGrp="1"/>
          </p:cNvSpPr>
          <p:nvPr>
            <p:ph type="title"/>
          </p:nvPr>
        </p:nvSpPr>
        <p:spPr/>
        <p:txBody>
          <a:bodyPr/>
          <a:lstStyle/>
          <a:p>
            <a:r>
              <a:rPr kumimoji="1" lang="ja-GB" altLang="en-US" dirty="0"/>
              <a:t>挿入ソート（小さい具体例）</a:t>
            </a:r>
          </a:p>
        </p:txBody>
      </p:sp>
      <p:sp>
        <p:nvSpPr>
          <p:cNvPr id="3" name="コンテンツ プレースホルダー 2">
            <a:extLst>
              <a:ext uri="{FF2B5EF4-FFF2-40B4-BE49-F238E27FC236}">
                <a16:creationId xmlns:a16="http://schemas.microsoft.com/office/drawing/2014/main" id="{CEE03944-92B6-5692-EA82-C1A42FAE5B40}"/>
              </a:ext>
            </a:extLst>
          </p:cNvPr>
          <p:cNvSpPr>
            <a:spLocks noGrp="1"/>
          </p:cNvSpPr>
          <p:nvPr>
            <p:ph idx="1"/>
          </p:nvPr>
        </p:nvSpPr>
        <p:spPr/>
        <p:txBody>
          <a:bodyPr/>
          <a:lstStyle/>
          <a:p>
            <a:pPr marL="0" indent="0">
              <a:buNone/>
            </a:pPr>
            <a:r>
              <a:rPr kumimoji="1" lang="en-US" altLang="ja-GB" dirty="0"/>
              <a:t>1</a:t>
            </a:r>
            <a:r>
              <a:rPr kumimoji="1" lang="ja-GB" altLang="en-US" dirty="0"/>
              <a:t>つずつ要素を取り出し，適切な位置に挿入していく</a:t>
            </a:r>
            <a:endParaRPr kumimoji="1" lang="en-US" altLang="ja-GB" dirty="0"/>
          </a:p>
          <a:p>
            <a:pPr marL="457200" lvl="1" indent="0">
              <a:buNone/>
            </a:pPr>
            <a:r>
              <a:rPr lang="ja-GB" altLang="en-US" dirty="0"/>
              <a:t>山札から一枚ずつ引いて，手札の適切な位置に挿入して並べる方法と同じ</a:t>
            </a:r>
            <a:endParaRPr kumimoji="1" lang="ja-GB" altLang="en-US" dirty="0"/>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1A1D9AED-B429-9D47-E2EF-02F6876B3592}"/>
                  </a:ext>
                </a:extLst>
              </p:cNvPr>
              <p:cNvSpPr txBox="1"/>
              <p:nvPr/>
            </p:nvSpPr>
            <p:spPr>
              <a:xfrm>
                <a:off x="6183566" y="5610738"/>
                <a:ext cx="2166747" cy="923330"/>
              </a:xfrm>
              <a:prstGeom prst="rect">
                <a:avLst/>
              </a:prstGeom>
              <a:noFill/>
            </p:spPr>
            <p:txBody>
              <a:bodyPr wrap="none" rtlCol="0">
                <a:spAutoFit/>
              </a:bodyPr>
              <a:lstStyle/>
              <a:p>
                <a:r>
                  <a:rPr kumimoji="1" lang="ja-GB" altLang="en-US" dirty="0"/>
                  <a:t>最良計算量：</a:t>
                </a:r>
                <a14:m>
                  <m:oMath xmlns:m="http://schemas.openxmlformats.org/officeDocument/2006/math">
                    <m:r>
                      <a:rPr kumimoji="1" lang="en-US" altLang="ja-GB" i="1">
                        <a:latin typeface="Cambria Math" panose="02040503050406030204" pitchFamily="18" charset="0"/>
                      </a:rPr>
                      <m:t>𝑂</m:t>
                    </m:r>
                    <m:d>
                      <m:dPr>
                        <m:ctrlPr>
                          <a:rPr kumimoji="1" lang="en-US" altLang="ja-GB" i="1">
                            <a:latin typeface="Cambria Math" panose="02040503050406030204" pitchFamily="18" charset="0"/>
                          </a:rPr>
                        </m:ctrlPr>
                      </m:dPr>
                      <m:e>
                        <m:r>
                          <a:rPr kumimoji="1" lang="en-US" altLang="ja-GB" i="1">
                            <a:latin typeface="Cambria Math" panose="02040503050406030204" pitchFamily="18" charset="0"/>
                          </a:rPr>
                          <m:t>𝑛</m:t>
                        </m:r>
                      </m:e>
                    </m:d>
                  </m:oMath>
                </a14:m>
                <a:endParaRPr kumimoji="1" lang="en-US" altLang="ja-GB" dirty="0"/>
              </a:p>
              <a:p>
                <a:r>
                  <a:rPr kumimoji="1" lang="ja-GB" altLang="en-US" dirty="0"/>
                  <a:t>平均計算量：</a:t>
                </a:r>
                <a14:m>
                  <m:oMath xmlns:m="http://schemas.openxmlformats.org/officeDocument/2006/math">
                    <m:r>
                      <a:rPr kumimoji="1" lang="en-US" altLang="ja-GB" i="1">
                        <a:latin typeface="Cambria Math" panose="02040503050406030204" pitchFamily="18" charset="0"/>
                      </a:rPr>
                      <m:t>𝑂</m:t>
                    </m:r>
                    <m:d>
                      <m:dPr>
                        <m:ctrlPr>
                          <a:rPr kumimoji="1" lang="en-US" altLang="ja-GB" i="1">
                            <a:latin typeface="Cambria Math" panose="02040503050406030204" pitchFamily="18" charset="0"/>
                          </a:rPr>
                        </m:ctrlPr>
                      </m:dPr>
                      <m:e>
                        <m:sSup>
                          <m:sSupPr>
                            <m:ctrlPr>
                              <a:rPr kumimoji="1" lang="en-US" altLang="ja-GB" b="0" i="1" smtClean="0">
                                <a:latin typeface="Cambria Math" panose="02040503050406030204" pitchFamily="18" charset="0"/>
                              </a:rPr>
                            </m:ctrlPr>
                          </m:sSupPr>
                          <m:e>
                            <m:r>
                              <a:rPr kumimoji="1" lang="en-US" altLang="ja-GB" b="0" i="1" smtClean="0">
                                <a:latin typeface="Cambria Math" panose="02040503050406030204" pitchFamily="18" charset="0"/>
                              </a:rPr>
                              <m:t>𝑛</m:t>
                            </m:r>
                          </m:e>
                          <m:sup>
                            <m:r>
                              <a:rPr kumimoji="1" lang="en-US" altLang="ja-GB" b="0" i="1" smtClean="0">
                                <a:latin typeface="Cambria Math" panose="02040503050406030204" pitchFamily="18" charset="0"/>
                              </a:rPr>
                              <m:t>2</m:t>
                            </m:r>
                          </m:sup>
                        </m:sSup>
                      </m:e>
                    </m:d>
                  </m:oMath>
                </a14:m>
                <a:endParaRPr kumimoji="1" lang="en-US" altLang="ja-GB" dirty="0"/>
              </a:p>
              <a:p>
                <a:r>
                  <a:rPr kumimoji="1" lang="ja-GB" altLang="en-US" dirty="0"/>
                  <a:t>最悪計算量：</a:t>
                </a:r>
                <a14:m>
                  <m:oMath xmlns:m="http://schemas.openxmlformats.org/officeDocument/2006/math">
                    <m:r>
                      <a:rPr kumimoji="1" lang="en-US" altLang="ja-GB" b="0" i="1" smtClean="0">
                        <a:latin typeface="Cambria Math" panose="02040503050406030204" pitchFamily="18" charset="0"/>
                      </a:rPr>
                      <m:t>𝑂</m:t>
                    </m:r>
                    <m:d>
                      <m:dPr>
                        <m:ctrlPr>
                          <a:rPr kumimoji="1" lang="en-US" altLang="ja-GB" b="0" i="1" smtClean="0">
                            <a:latin typeface="Cambria Math" panose="02040503050406030204" pitchFamily="18" charset="0"/>
                          </a:rPr>
                        </m:ctrlPr>
                      </m:dPr>
                      <m:e>
                        <m:sSup>
                          <m:sSupPr>
                            <m:ctrlPr>
                              <a:rPr kumimoji="1" lang="en-US" altLang="ja-GB" b="0" i="1" smtClean="0">
                                <a:latin typeface="Cambria Math" panose="02040503050406030204" pitchFamily="18" charset="0"/>
                              </a:rPr>
                            </m:ctrlPr>
                          </m:sSupPr>
                          <m:e>
                            <m:r>
                              <a:rPr kumimoji="1" lang="en-US" altLang="ja-GB" b="0" i="1" smtClean="0">
                                <a:latin typeface="Cambria Math" panose="02040503050406030204" pitchFamily="18" charset="0"/>
                              </a:rPr>
                              <m:t>𝑛</m:t>
                            </m:r>
                          </m:e>
                          <m:sup>
                            <m:r>
                              <a:rPr kumimoji="1" lang="en-US" altLang="ja-GB" b="0" i="1" smtClean="0">
                                <a:latin typeface="Cambria Math" panose="02040503050406030204" pitchFamily="18" charset="0"/>
                              </a:rPr>
                              <m:t>2</m:t>
                            </m:r>
                          </m:sup>
                        </m:sSup>
                      </m:e>
                    </m:d>
                  </m:oMath>
                </a14:m>
                <a:endParaRPr kumimoji="1" lang="ja-GB" altLang="en-US" dirty="0"/>
              </a:p>
            </p:txBody>
          </p:sp>
        </mc:Choice>
        <mc:Fallback xmlns="">
          <p:sp>
            <p:nvSpPr>
              <p:cNvPr id="4" name="テキスト ボックス 3">
                <a:extLst>
                  <a:ext uri="{FF2B5EF4-FFF2-40B4-BE49-F238E27FC236}">
                    <a16:creationId xmlns:a16="http://schemas.microsoft.com/office/drawing/2014/main" id="{2B5771A0-9B5F-5C8E-D10E-17F42E690EED}"/>
                  </a:ext>
                </a:extLst>
              </p:cNvPr>
              <p:cNvSpPr txBox="1">
                <a:spLocks noRot="1" noChangeAspect="1" noMove="1" noResize="1" noEditPoints="1" noAdjustHandles="1" noChangeArrowheads="1" noChangeShapeType="1" noTextEdit="1"/>
              </p:cNvSpPr>
              <p:nvPr/>
            </p:nvSpPr>
            <p:spPr>
              <a:xfrm>
                <a:off x="6183566" y="5610738"/>
                <a:ext cx="2166747" cy="923330"/>
              </a:xfrm>
              <a:prstGeom prst="rect">
                <a:avLst/>
              </a:prstGeom>
              <a:blipFill>
                <a:blip r:embed="rId2"/>
                <a:stretch>
                  <a:fillRect l="-2326" t="-2703" b="-9459"/>
                </a:stretch>
              </a:blipFill>
            </p:spPr>
            <p:txBody>
              <a:bodyPr/>
              <a:lstStyle/>
              <a:p>
                <a:r>
                  <a:rPr lang="ja-GB" altLang="en-US">
                    <a:noFill/>
                  </a:rPr>
                  <a:t> </a:t>
                </a:r>
              </a:p>
            </p:txBody>
          </p:sp>
        </mc:Fallback>
      </mc:AlternateContent>
      <p:grpSp>
        <p:nvGrpSpPr>
          <p:cNvPr id="5" name="グループ化 4">
            <a:extLst>
              <a:ext uri="{FF2B5EF4-FFF2-40B4-BE49-F238E27FC236}">
                <a16:creationId xmlns:a16="http://schemas.microsoft.com/office/drawing/2014/main" id="{0BB190D5-CEDD-CB09-DDAD-500B67BF3277}"/>
              </a:ext>
            </a:extLst>
          </p:cNvPr>
          <p:cNvGrpSpPr/>
          <p:nvPr/>
        </p:nvGrpSpPr>
        <p:grpSpPr>
          <a:xfrm>
            <a:off x="1058053" y="2217559"/>
            <a:ext cx="1903112" cy="471344"/>
            <a:chOff x="4331316" y="1583697"/>
            <a:chExt cx="1903112" cy="471344"/>
          </a:xfrm>
          <a:solidFill>
            <a:schemeClr val="accent2">
              <a:lumMod val="20000"/>
              <a:lumOff val="80000"/>
            </a:schemeClr>
          </a:solidFill>
        </p:grpSpPr>
        <p:sp>
          <p:nvSpPr>
            <p:cNvPr id="9" name="正方形/長方形 8">
              <a:extLst>
                <a:ext uri="{FF2B5EF4-FFF2-40B4-BE49-F238E27FC236}">
                  <a16:creationId xmlns:a16="http://schemas.microsoft.com/office/drawing/2014/main" id="{6CF4CDC3-F7FD-A918-65C4-C80BE73048CB}"/>
                </a:ext>
              </a:extLst>
            </p:cNvPr>
            <p:cNvSpPr/>
            <p:nvPr/>
          </p:nvSpPr>
          <p:spPr>
            <a:xfrm>
              <a:off x="4331316"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10" name="正方形/長方形 9">
              <a:extLst>
                <a:ext uri="{FF2B5EF4-FFF2-40B4-BE49-F238E27FC236}">
                  <a16:creationId xmlns:a16="http://schemas.microsoft.com/office/drawing/2014/main" id="{B39775A4-5C27-8004-95DC-404641E9F9FE}"/>
                </a:ext>
              </a:extLst>
            </p:cNvPr>
            <p:cNvSpPr/>
            <p:nvPr/>
          </p:nvSpPr>
          <p:spPr>
            <a:xfrm>
              <a:off x="4808989"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11" name="正方形/長方形 10">
              <a:extLst>
                <a:ext uri="{FF2B5EF4-FFF2-40B4-BE49-F238E27FC236}">
                  <a16:creationId xmlns:a16="http://schemas.microsoft.com/office/drawing/2014/main" id="{4E462DEE-BA0E-6442-0CA7-507D9CB3DCDD}"/>
                </a:ext>
              </a:extLst>
            </p:cNvPr>
            <p:cNvSpPr/>
            <p:nvPr/>
          </p:nvSpPr>
          <p:spPr>
            <a:xfrm>
              <a:off x="5279082"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12" name="正方形/長方形 11">
              <a:extLst>
                <a:ext uri="{FF2B5EF4-FFF2-40B4-BE49-F238E27FC236}">
                  <a16:creationId xmlns:a16="http://schemas.microsoft.com/office/drawing/2014/main" id="{9403F583-F6B1-68B7-CB4F-7FBD85A10B3F}"/>
                </a:ext>
              </a:extLst>
            </p:cNvPr>
            <p:cNvSpPr/>
            <p:nvPr/>
          </p:nvSpPr>
          <p:spPr>
            <a:xfrm>
              <a:off x="5756755"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grpSp>
      <p:sp>
        <p:nvSpPr>
          <p:cNvPr id="16" name="正方形/長方形 15">
            <a:extLst>
              <a:ext uri="{FF2B5EF4-FFF2-40B4-BE49-F238E27FC236}">
                <a16:creationId xmlns:a16="http://schemas.microsoft.com/office/drawing/2014/main" id="{6E35B111-74ED-656F-0A07-A7C43F03462E}"/>
              </a:ext>
            </a:extLst>
          </p:cNvPr>
          <p:cNvSpPr/>
          <p:nvPr/>
        </p:nvSpPr>
        <p:spPr>
          <a:xfrm>
            <a:off x="1038721" y="2891667"/>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20" name="正方形/長方形 19">
            <a:extLst>
              <a:ext uri="{FF2B5EF4-FFF2-40B4-BE49-F238E27FC236}">
                <a16:creationId xmlns:a16="http://schemas.microsoft.com/office/drawing/2014/main" id="{E511C9B0-04FC-A177-7E39-BB56E01DC867}"/>
              </a:ext>
            </a:extLst>
          </p:cNvPr>
          <p:cNvSpPr/>
          <p:nvPr/>
        </p:nvSpPr>
        <p:spPr>
          <a:xfrm>
            <a:off x="1527893" y="2891667"/>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21" name="正方形/長方形 20">
            <a:extLst>
              <a:ext uri="{FF2B5EF4-FFF2-40B4-BE49-F238E27FC236}">
                <a16:creationId xmlns:a16="http://schemas.microsoft.com/office/drawing/2014/main" id="{6C41AEE0-4F74-B680-F5DB-F10EF72A759C}"/>
              </a:ext>
            </a:extLst>
          </p:cNvPr>
          <p:cNvSpPr/>
          <p:nvPr/>
        </p:nvSpPr>
        <p:spPr>
          <a:xfrm>
            <a:off x="1997986" y="2891667"/>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22" name="正方形/長方形 21">
            <a:extLst>
              <a:ext uri="{FF2B5EF4-FFF2-40B4-BE49-F238E27FC236}">
                <a16:creationId xmlns:a16="http://schemas.microsoft.com/office/drawing/2014/main" id="{920FE8ED-8AB8-A03D-2872-4456EE4D897D}"/>
              </a:ext>
            </a:extLst>
          </p:cNvPr>
          <p:cNvSpPr/>
          <p:nvPr/>
        </p:nvSpPr>
        <p:spPr>
          <a:xfrm>
            <a:off x="2475659" y="2891667"/>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25" name="正方形/長方形 24">
            <a:extLst>
              <a:ext uri="{FF2B5EF4-FFF2-40B4-BE49-F238E27FC236}">
                <a16:creationId xmlns:a16="http://schemas.microsoft.com/office/drawing/2014/main" id="{8201F123-5F5C-32FB-1E10-8CBF6DABD4D6}"/>
              </a:ext>
            </a:extLst>
          </p:cNvPr>
          <p:cNvSpPr/>
          <p:nvPr/>
        </p:nvSpPr>
        <p:spPr>
          <a:xfrm>
            <a:off x="1038721" y="3554723"/>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26" name="正方形/長方形 25">
            <a:extLst>
              <a:ext uri="{FF2B5EF4-FFF2-40B4-BE49-F238E27FC236}">
                <a16:creationId xmlns:a16="http://schemas.microsoft.com/office/drawing/2014/main" id="{20E861EB-AB75-0205-F879-C0FAE64A64F8}"/>
              </a:ext>
            </a:extLst>
          </p:cNvPr>
          <p:cNvSpPr/>
          <p:nvPr/>
        </p:nvSpPr>
        <p:spPr>
          <a:xfrm>
            <a:off x="1516394" y="3555544"/>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30" name="正方形/長方形 29">
            <a:extLst>
              <a:ext uri="{FF2B5EF4-FFF2-40B4-BE49-F238E27FC236}">
                <a16:creationId xmlns:a16="http://schemas.microsoft.com/office/drawing/2014/main" id="{88BCC4DF-59E5-2612-D2AD-FE386922C8C6}"/>
              </a:ext>
            </a:extLst>
          </p:cNvPr>
          <p:cNvSpPr/>
          <p:nvPr/>
        </p:nvSpPr>
        <p:spPr>
          <a:xfrm>
            <a:off x="1995381" y="3554723"/>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31" name="正方形/長方形 30">
            <a:extLst>
              <a:ext uri="{FF2B5EF4-FFF2-40B4-BE49-F238E27FC236}">
                <a16:creationId xmlns:a16="http://schemas.microsoft.com/office/drawing/2014/main" id="{A00A1CBA-06A4-941E-6D5F-DE35EF6D7A5F}"/>
              </a:ext>
            </a:extLst>
          </p:cNvPr>
          <p:cNvSpPr/>
          <p:nvPr/>
        </p:nvSpPr>
        <p:spPr>
          <a:xfrm>
            <a:off x="2473054" y="3554723"/>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33" name="正方形/長方形 32">
            <a:extLst>
              <a:ext uri="{FF2B5EF4-FFF2-40B4-BE49-F238E27FC236}">
                <a16:creationId xmlns:a16="http://schemas.microsoft.com/office/drawing/2014/main" id="{AD792E97-DAA7-D288-A382-2C6048B09DE7}"/>
              </a:ext>
            </a:extLst>
          </p:cNvPr>
          <p:cNvSpPr/>
          <p:nvPr/>
        </p:nvSpPr>
        <p:spPr>
          <a:xfrm>
            <a:off x="1516394" y="4370085"/>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34" name="正方形/長方形 33">
            <a:extLst>
              <a:ext uri="{FF2B5EF4-FFF2-40B4-BE49-F238E27FC236}">
                <a16:creationId xmlns:a16="http://schemas.microsoft.com/office/drawing/2014/main" id="{D1689DFA-500F-4CB2-C0ED-E105FA90338B}"/>
              </a:ext>
            </a:extLst>
          </p:cNvPr>
          <p:cNvSpPr/>
          <p:nvPr/>
        </p:nvSpPr>
        <p:spPr>
          <a:xfrm>
            <a:off x="1994067" y="4370085"/>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35" name="正方形/長方形 34">
            <a:extLst>
              <a:ext uri="{FF2B5EF4-FFF2-40B4-BE49-F238E27FC236}">
                <a16:creationId xmlns:a16="http://schemas.microsoft.com/office/drawing/2014/main" id="{D470C2B7-E591-0655-07AF-0AAFCC612871}"/>
              </a:ext>
            </a:extLst>
          </p:cNvPr>
          <p:cNvSpPr/>
          <p:nvPr/>
        </p:nvSpPr>
        <p:spPr>
          <a:xfrm>
            <a:off x="1038721" y="4370085"/>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39" name="正方形/長方形 38">
            <a:extLst>
              <a:ext uri="{FF2B5EF4-FFF2-40B4-BE49-F238E27FC236}">
                <a16:creationId xmlns:a16="http://schemas.microsoft.com/office/drawing/2014/main" id="{8A4CADCE-4DE2-D749-0620-3313B184679E}"/>
              </a:ext>
            </a:extLst>
          </p:cNvPr>
          <p:cNvSpPr/>
          <p:nvPr/>
        </p:nvSpPr>
        <p:spPr>
          <a:xfrm>
            <a:off x="2473054" y="4369264"/>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47" name="テキスト ボックス 46">
            <a:extLst>
              <a:ext uri="{FF2B5EF4-FFF2-40B4-BE49-F238E27FC236}">
                <a16:creationId xmlns:a16="http://schemas.microsoft.com/office/drawing/2014/main" id="{09784786-C84F-6665-AC2B-921328A0B07B}"/>
              </a:ext>
            </a:extLst>
          </p:cNvPr>
          <p:cNvSpPr txBox="1"/>
          <p:nvPr/>
        </p:nvSpPr>
        <p:spPr>
          <a:xfrm>
            <a:off x="2959690" y="2268667"/>
            <a:ext cx="646331" cy="369332"/>
          </a:xfrm>
          <a:prstGeom prst="rect">
            <a:avLst/>
          </a:prstGeom>
          <a:noFill/>
        </p:spPr>
        <p:txBody>
          <a:bodyPr wrap="none" rtlCol="0">
            <a:spAutoFit/>
          </a:bodyPr>
          <a:lstStyle/>
          <a:p>
            <a:pPr algn="ctr"/>
            <a:r>
              <a:rPr kumimoji="1" lang="ja-GB" altLang="en-US" b="1" dirty="0">
                <a:solidFill>
                  <a:schemeClr val="tx1">
                    <a:lumMod val="50000"/>
                    <a:lumOff val="50000"/>
                  </a:schemeClr>
                </a:solidFill>
              </a:rPr>
              <a:t>山札</a:t>
            </a:r>
          </a:p>
        </p:txBody>
      </p:sp>
      <p:sp>
        <p:nvSpPr>
          <p:cNvPr id="48" name="テキスト ボックス 47">
            <a:extLst>
              <a:ext uri="{FF2B5EF4-FFF2-40B4-BE49-F238E27FC236}">
                <a16:creationId xmlns:a16="http://schemas.microsoft.com/office/drawing/2014/main" id="{B42C87ED-B538-1C4D-E2BF-3D54784BC458}"/>
              </a:ext>
            </a:extLst>
          </p:cNvPr>
          <p:cNvSpPr txBox="1"/>
          <p:nvPr/>
        </p:nvSpPr>
        <p:spPr>
          <a:xfrm>
            <a:off x="264794" y="2268565"/>
            <a:ext cx="646331" cy="369332"/>
          </a:xfrm>
          <a:prstGeom prst="rect">
            <a:avLst/>
          </a:prstGeom>
          <a:noFill/>
        </p:spPr>
        <p:txBody>
          <a:bodyPr wrap="none" rtlCol="0">
            <a:spAutoFit/>
          </a:bodyPr>
          <a:lstStyle/>
          <a:p>
            <a:pPr algn="ctr"/>
            <a:r>
              <a:rPr kumimoji="1" lang="ja-GB" altLang="en-US" b="1" dirty="0">
                <a:solidFill>
                  <a:schemeClr val="tx1">
                    <a:lumMod val="50000"/>
                    <a:lumOff val="50000"/>
                  </a:schemeClr>
                </a:solidFill>
              </a:rPr>
              <a:t>手札</a:t>
            </a:r>
          </a:p>
        </p:txBody>
      </p:sp>
      <p:sp>
        <p:nvSpPr>
          <p:cNvPr id="13" name="正方形/長方形 12">
            <a:extLst>
              <a:ext uri="{FF2B5EF4-FFF2-40B4-BE49-F238E27FC236}">
                <a16:creationId xmlns:a16="http://schemas.microsoft.com/office/drawing/2014/main" id="{715F0222-E6F2-604D-C06E-E0CC4771D200}"/>
              </a:ext>
            </a:extLst>
          </p:cNvPr>
          <p:cNvSpPr/>
          <p:nvPr/>
        </p:nvSpPr>
        <p:spPr>
          <a:xfrm>
            <a:off x="1516394" y="5139394"/>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14" name="正方形/長方形 13">
            <a:extLst>
              <a:ext uri="{FF2B5EF4-FFF2-40B4-BE49-F238E27FC236}">
                <a16:creationId xmlns:a16="http://schemas.microsoft.com/office/drawing/2014/main" id="{79C2AE2A-C1F8-BADB-9126-0FA3BD47107B}"/>
              </a:ext>
            </a:extLst>
          </p:cNvPr>
          <p:cNvSpPr/>
          <p:nvPr/>
        </p:nvSpPr>
        <p:spPr>
          <a:xfrm>
            <a:off x="1994067" y="5139394"/>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23" name="正方形/長方形 22">
            <a:extLst>
              <a:ext uri="{FF2B5EF4-FFF2-40B4-BE49-F238E27FC236}">
                <a16:creationId xmlns:a16="http://schemas.microsoft.com/office/drawing/2014/main" id="{1F1F23AD-39E1-D77E-3664-896AA5C4FB66}"/>
              </a:ext>
            </a:extLst>
          </p:cNvPr>
          <p:cNvSpPr/>
          <p:nvPr/>
        </p:nvSpPr>
        <p:spPr>
          <a:xfrm>
            <a:off x="1038721" y="5139394"/>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40" name="正方形/長方形 39">
            <a:extLst>
              <a:ext uri="{FF2B5EF4-FFF2-40B4-BE49-F238E27FC236}">
                <a16:creationId xmlns:a16="http://schemas.microsoft.com/office/drawing/2014/main" id="{E62EE57E-0013-0781-DA86-C9883BEA711C}"/>
              </a:ext>
            </a:extLst>
          </p:cNvPr>
          <p:cNvSpPr/>
          <p:nvPr/>
        </p:nvSpPr>
        <p:spPr>
          <a:xfrm>
            <a:off x="2473054" y="5138573"/>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cxnSp>
        <p:nvCxnSpPr>
          <p:cNvPr id="42" name="直線コネクタ 41">
            <a:extLst>
              <a:ext uri="{FF2B5EF4-FFF2-40B4-BE49-F238E27FC236}">
                <a16:creationId xmlns:a16="http://schemas.microsoft.com/office/drawing/2014/main" id="{2AAC9CCA-1B3E-BF60-4919-DF7590B26B98}"/>
              </a:ext>
            </a:extLst>
          </p:cNvPr>
          <p:cNvCxnSpPr>
            <a:cxnSpLocks/>
          </p:cNvCxnSpPr>
          <p:nvPr/>
        </p:nvCxnSpPr>
        <p:spPr>
          <a:xfrm flipH="1">
            <a:off x="1511927" y="2775924"/>
            <a:ext cx="1489" cy="70703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074A54E5-3437-20FF-9B71-85AD1930C898}"/>
              </a:ext>
            </a:extLst>
          </p:cNvPr>
          <p:cNvCxnSpPr>
            <a:cxnSpLocks/>
          </p:cNvCxnSpPr>
          <p:nvPr/>
        </p:nvCxnSpPr>
        <p:spPr>
          <a:xfrm flipH="1">
            <a:off x="1981903" y="3436878"/>
            <a:ext cx="1489" cy="70703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46934547-922B-9E7D-06AF-92981164012E}"/>
              </a:ext>
            </a:extLst>
          </p:cNvPr>
          <p:cNvCxnSpPr>
            <a:cxnSpLocks/>
          </p:cNvCxnSpPr>
          <p:nvPr/>
        </p:nvCxnSpPr>
        <p:spPr>
          <a:xfrm flipH="1">
            <a:off x="2470164" y="4251419"/>
            <a:ext cx="1489" cy="70703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ED036A1-38AF-1016-22CF-418F8EA0EE46}"/>
              </a:ext>
            </a:extLst>
          </p:cNvPr>
          <p:cNvCxnSpPr>
            <a:cxnSpLocks/>
          </p:cNvCxnSpPr>
          <p:nvPr/>
        </p:nvCxnSpPr>
        <p:spPr>
          <a:xfrm flipH="1">
            <a:off x="2959690" y="5020728"/>
            <a:ext cx="1489" cy="707034"/>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74839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45662D-697B-DAF9-35AF-E40A485ACF58}"/>
              </a:ext>
            </a:extLst>
          </p:cNvPr>
          <p:cNvSpPr>
            <a:spLocks noGrp="1"/>
          </p:cNvSpPr>
          <p:nvPr>
            <p:ph type="title"/>
          </p:nvPr>
        </p:nvSpPr>
        <p:spPr/>
        <p:txBody>
          <a:bodyPr/>
          <a:lstStyle/>
          <a:p>
            <a:r>
              <a:rPr kumimoji="1" lang="ja-GB" altLang="en-US" dirty="0"/>
              <a:t>選択ソート</a:t>
            </a:r>
          </a:p>
        </p:txBody>
      </p:sp>
      <p:sp>
        <p:nvSpPr>
          <p:cNvPr id="3" name="コンテンツ プレースホルダー 2">
            <a:extLst>
              <a:ext uri="{FF2B5EF4-FFF2-40B4-BE49-F238E27FC236}">
                <a16:creationId xmlns:a16="http://schemas.microsoft.com/office/drawing/2014/main" id="{A0849F20-0876-74D7-12BF-C22AFDB6EB5B}"/>
              </a:ext>
            </a:extLst>
          </p:cNvPr>
          <p:cNvSpPr>
            <a:spLocks noGrp="1"/>
          </p:cNvSpPr>
          <p:nvPr>
            <p:ph idx="1"/>
          </p:nvPr>
        </p:nvSpPr>
        <p:spPr/>
        <p:txBody>
          <a:bodyPr/>
          <a:lstStyle/>
          <a:p>
            <a:r>
              <a:rPr kumimoji="1" lang="ja-GB" altLang="en-US" dirty="0"/>
              <a:t>配列から最小値を探し，先頭要素と入れ替える</a:t>
            </a:r>
          </a:p>
        </p:txBody>
      </p:sp>
      <p:grpSp>
        <p:nvGrpSpPr>
          <p:cNvPr id="4" name="グループ化 3">
            <a:extLst>
              <a:ext uri="{FF2B5EF4-FFF2-40B4-BE49-F238E27FC236}">
                <a16:creationId xmlns:a16="http://schemas.microsoft.com/office/drawing/2014/main" id="{646C9FEC-43B3-6B68-A8B5-DA034D55C7A2}"/>
              </a:ext>
            </a:extLst>
          </p:cNvPr>
          <p:cNvGrpSpPr/>
          <p:nvPr/>
        </p:nvGrpSpPr>
        <p:grpSpPr>
          <a:xfrm>
            <a:off x="2904858" y="1689658"/>
            <a:ext cx="3343711" cy="471346"/>
            <a:chOff x="2900144" y="1583697"/>
            <a:chExt cx="3343711" cy="471346"/>
          </a:xfrm>
          <a:solidFill>
            <a:schemeClr val="bg1">
              <a:lumMod val="95000"/>
            </a:schemeClr>
          </a:solidFill>
        </p:grpSpPr>
        <p:sp>
          <p:nvSpPr>
            <p:cNvPr id="5" name="正方形/長方形 4">
              <a:extLst>
                <a:ext uri="{FF2B5EF4-FFF2-40B4-BE49-F238E27FC236}">
                  <a16:creationId xmlns:a16="http://schemas.microsoft.com/office/drawing/2014/main" id="{D734119C-6128-BD2F-B7FC-BEE4798E3617}"/>
                </a:ext>
              </a:extLst>
            </p:cNvPr>
            <p:cNvSpPr/>
            <p:nvPr/>
          </p:nvSpPr>
          <p:spPr>
            <a:xfrm>
              <a:off x="2900144" y="1583699"/>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6" name="正方形/長方形 5">
              <a:extLst>
                <a:ext uri="{FF2B5EF4-FFF2-40B4-BE49-F238E27FC236}">
                  <a16:creationId xmlns:a16="http://schemas.microsoft.com/office/drawing/2014/main" id="{25F775C2-20AC-264C-758B-969C1ADE27F3}"/>
                </a:ext>
              </a:extLst>
            </p:cNvPr>
            <p:cNvSpPr/>
            <p:nvPr/>
          </p:nvSpPr>
          <p:spPr>
            <a:xfrm>
              <a:off x="3383551"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7" name="正方形/長方形 6">
              <a:extLst>
                <a:ext uri="{FF2B5EF4-FFF2-40B4-BE49-F238E27FC236}">
                  <a16:creationId xmlns:a16="http://schemas.microsoft.com/office/drawing/2014/main" id="{64D0142B-ED6D-29CD-57A0-56714931DA0A}"/>
                </a:ext>
              </a:extLst>
            </p:cNvPr>
            <p:cNvSpPr/>
            <p:nvPr/>
          </p:nvSpPr>
          <p:spPr>
            <a:xfrm>
              <a:off x="3861224"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8" name="正方形/長方形 7">
              <a:extLst>
                <a:ext uri="{FF2B5EF4-FFF2-40B4-BE49-F238E27FC236}">
                  <a16:creationId xmlns:a16="http://schemas.microsoft.com/office/drawing/2014/main" id="{7F261207-629C-075C-5740-06115297AB13}"/>
                </a:ext>
              </a:extLst>
            </p:cNvPr>
            <p:cNvSpPr/>
            <p:nvPr/>
          </p:nvSpPr>
          <p:spPr>
            <a:xfrm>
              <a:off x="4340743"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9" name="正方形/長方形 8">
              <a:extLst>
                <a:ext uri="{FF2B5EF4-FFF2-40B4-BE49-F238E27FC236}">
                  <a16:creationId xmlns:a16="http://schemas.microsoft.com/office/drawing/2014/main" id="{1AC12C0A-D5E9-796D-7EF6-166FEB4860A1}"/>
                </a:ext>
              </a:extLst>
            </p:cNvPr>
            <p:cNvSpPr/>
            <p:nvPr/>
          </p:nvSpPr>
          <p:spPr>
            <a:xfrm>
              <a:off x="4818416"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10" name="正方形/長方形 9">
              <a:extLst>
                <a:ext uri="{FF2B5EF4-FFF2-40B4-BE49-F238E27FC236}">
                  <a16:creationId xmlns:a16="http://schemas.microsoft.com/office/drawing/2014/main" id="{D924B3A4-99E0-01F6-930A-75F156E1C052}"/>
                </a:ext>
              </a:extLst>
            </p:cNvPr>
            <p:cNvSpPr/>
            <p:nvPr/>
          </p:nvSpPr>
          <p:spPr>
            <a:xfrm>
              <a:off x="5288509"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11" name="正方形/長方形 10">
              <a:extLst>
                <a:ext uri="{FF2B5EF4-FFF2-40B4-BE49-F238E27FC236}">
                  <a16:creationId xmlns:a16="http://schemas.microsoft.com/office/drawing/2014/main" id="{C3A839B1-83BD-CB21-3953-8D7945A36974}"/>
                </a:ext>
              </a:extLst>
            </p:cNvPr>
            <p:cNvSpPr/>
            <p:nvPr/>
          </p:nvSpPr>
          <p:spPr>
            <a:xfrm>
              <a:off x="5766182" y="1583697"/>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grpSp>
      <p:sp>
        <p:nvSpPr>
          <p:cNvPr id="12" name="テキスト ボックス 11">
            <a:extLst>
              <a:ext uri="{FF2B5EF4-FFF2-40B4-BE49-F238E27FC236}">
                <a16:creationId xmlns:a16="http://schemas.microsoft.com/office/drawing/2014/main" id="{773892E6-9E96-261E-294F-9D6973FE785B}"/>
              </a:ext>
            </a:extLst>
          </p:cNvPr>
          <p:cNvSpPr txBox="1"/>
          <p:nvPr/>
        </p:nvSpPr>
        <p:spPr>
          <a:xfrm>
            <a:off x="488213" y="1740664"/>
            <a:ext cx="1800493" cy="369332"/>
          </a:xfrm>
          <a:prstGeom prst="rect">
            <a:avLst/>
          </a:prstGeom>
          <a:noFill/>
        </p:spPr>
        <p:txBody>
          <a:bodyPr wrap="none" rtlCol="0">
            <a:spAutoFit/>
          </a:bodyPr>
          <a:lstStyle/>
          <a:p>
            <a:r>
              <a:rPr kumimoji="1" lang="ja-GB" altLang="en-US" dirty="0"/>
              <a:t>最小要素を探す</a:t>
            </a:r>
          </a:p>
        </p:txBody>
      </p:sp>
      <p:grpSp>
        <p:nvGrpSpPr>
          <p:cNvPr id="13" name="グループ化 12">
            <a:extLst>
              <a:ext uri="{FF2B5EF4-FFF2-40B4-BE49-F238E27FC236}">
                <a16:creationId xmlns:a16="http://schemas.microsoft.com/office/drawing/2014/main" id="{ECEF8971-AD7B-283C-E1A3-F74B60A66F12}"/>
              </a:ext>
            </a:extLst>
          </p:cNvPr>
          <p:cNvGrpSpPr/>
          <p:nvPr/>
        </p:nvGrpSpPr>
        <p:grpSpPr>
          <a:xfrm>
            <a:off x="2904858" y="2524549"/>
            <a:ext cx="3343711" cy="471346"/>
            <a:chOff x="2900144" y="1583697"/>
            <a:chExt cx="3343711" cy="471346"/>
          </a:xfrm>
          <a:solidFill>
            <a:schemeClr val="bg1">
              <a:lumMod val="95000"/>
            </a:schemeClr>
          </a:solidFill>
        </p:grpSpPr>
        <p:sp>
          <p:nvSpPr>
            <p:cNvPr id="14" name="正方形/長方形 13">
              <a:extLst>
                <a:ext uri="{FF2B5EF4-FFF2-40B4-BE49-F238E27FC236}">
                  <a16:creationId xmlns:a16="http://schemas.microsoft.com/office/drawing/2014/main" id="{5FDBB693-70A5-E77C-618F-ADBAEE9B7D11}"/>
                </a:ext>
              </a:extLst>
            </p:cNvPr>
            <p:cNvSpPr/>
            <p:nvPr/>
          </p:nvSpPr>
          <p:spPr>
            <a:xfrm>
              <a:off x="2900144" y="158369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15" name="正方形/長方形 14">
              <a:extLst>
                <a:ext uri="{FF2B5EF4-FFF2-40B4-BE49-F238E27FC236}">
                  <a16:creationId xmlns:a16="http://schemas.microsoft.com/office/drawing/2014/main" id="{93471AF9-8C9A-A5EE-6046-6817400A1187}"/>
                </a:ext>
              </a:extLst>
            </p:cNvPr>
            <p:cNvSpPr/>
            <p:nvPr/>
          </p:nvSpPr>
          <p:spPr>
            <a:xfrm>
              <a:off x="3383551"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16" name="正方形/長方形 15">
              <a:extLst>
                <a:ext uri="{FF2B5EF4-FFF2-40B4-BE49-F238E27FC236}">
                  <a16:creationId xmlns:a16="http://schemas.microsoft.com/office/drawing/2014/main" id="{B0423A04-987C-6224-0DCB-D20939799C8A}"/>
                </a:ext>
              </a:extLst>
            </p:cNvPr>
            <p:cNvSpPr/>
            <p:nvPr/>
          </p:nvSpPr>
          <p:spPr>
            <a:xfrm>
              <a:off x="3861224"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17" name="正方形/長方形 16">
              <a:extLst>
                <a:ext uri="{FF2B5EF4-FFF2-40B4-BE49-F238E27FC236}">
                  <a16:creationId xmlns:a16="http://schemas.microsoft.com/office/drawing/2014/main" id="{1BBE0E51-8744-72F1-BB8B-F3B94C4837CF}"/>
                </a:ext>
              </a:extLst>
            </p:cNvPr>
            <p:cNvSpPr/>
            <p:nvPr/>
          </p:nvSpPr>
          <p:spPr>
            <a:xfrm>
              <a:off x="4340743"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18" name="正方形/長方形 17">
              <a:extLst>
                <a:ext uri="{FF2B5EF4-FFF2-40B4-BE49-F238E27FC236}">
                  <a16:creationId xmlns:a16="http://schemas.microsoft.com/office/drawing/2014/main" id="{625C9108-1CEC-A0F8-0C05-D40DDB5C4D1E}"/>
                </a:ext>
              </a:extLst>
            </p:cNvPr>
            <p:cNvSpPr/>
            <p:nvPr/>
          </p:nvSpPr>
          <p:spPr>
            <a:xfrm>
              <a:off x="4818416"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19" name="正方形/長方形 18">
              <a:extLst>
                <a:ext uri="{FF2B5EF4-FFF2-40B4-BE49-F238E27FC236}">
                  <a16:creationId xmlns:a16="http://schemas.microsoft.com/office/drawing/2014/main" id="{1442CA52-0A92-A9E9-1BB4-38F9E9969F78}"/>
                </a:ext>
              </a:extLst>
            </p:cNvPr>
            <p:cNvSpPr/>
            <p:nvPr/>
          </p:nvSpPr>
          <p:spPr>
            <a:xfrm>
              <a:off x="5288509"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20" name="正方形/長方形 19">
              <a:extLst>
                <a:ext uri="{FF2B5EF4-FFF2-40B4-BE49-F238E27FC236}">
                  <a16:creationId xmlns:a16="http://schemas.microsoft.com/office/drawing/2014/main" id="{D708880D-677F-7061-C42E-A2022D86DA45}"/>
                </a:ext>
              </a:extLst>
            </p:cNvPr>
            <p:cNvSpPr/>
            <p:nvPr/>
          </p:nvSpPr>
          <p:spPr>
            <a:xfrm>
              <a:off x="5766182" y="1583697"/>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grpSp>
      <p:sp>
        <p:nvSpPr>
          <p:cNvPr id="21" name="テキスト ボックス 20">
            <a:extLst>
              <a:ext uri="{FF2B5EF4-FFF2-40B4-BE49-F238E27FC236}">
                <a16:creationId xmlns:a16="http://schemas.microsoft.com/office/drawing/2014/main" id="{52F7A434-A115-3670-C7A3-B6BBCD75C058}"/>
              </a:ext>
            </a:extLst>
          </p:cNvPr>
          <p:cNvSpPr txBox="1"/>
          <p:nvPr/>
        </p:nvSpPr>
        <p:spPr>
          <a:xfrm>
            <a:off x="488213" y="2575555"/>
            <a:ext cx="2031325" cy="369332"/>
          </a:xfrm>
          <a:prstGeom prst="rect">
            <a:avLst/>
          </a:prstGeom>
          <a:noFill/>
        </p:spPr>
        <p:txBody>
          <a:bodyPr wrap="none" rtlCol="0">
            <a:spAutoFit/>
          </a:bodyPr>
          <a:lstStyle/>
          <a:p>
            <a:r>
              <a:rPr kumimoji="1" lang="ja-GB" altLang="en-US" dirty="0"/>
              <a:t>先頭と入れ替える</a:t>
            </a:r>
          </a:p>
        </p:txBody>
      </p:sp>
      <p:grpSp>
        <p:nvGrpSpPr>
          <p:cNvPr id="22" name="グループ化 21">
            <a:extLst>
              <a:ext uri="{FF2B5EF4-FFF2-40B4-BE49-F238E27FC236}">
                <a16:creationId xmlns:a16="http://schemas.microsoft.com/office/drawing/2014/main" id="{77E41BFE-0AD2-A769-881F-CB658DD2164E}"/>
              </a:ext>
            </a:extLst>
          </p:cNvPr>
          <p:cNvGrpSpPr/>
          <p:nvPr/>
        </p:nvGrpSpPr>
        <p:grpSpPr>
          <a:xfrm>
            <a:off x="2904858" y="3359438"/>
            <a:ext cx="3343711" cy="471346"/>
            <a:chOff x="2900144" y="1583697"/>
            <a:chExt cx="3343711" cy="471346"/>
          </a:xfrm>
          <a:solidFill>
            <a:schemeClr val="bg1">
              <a:lumMod val="95000"/>
            </a:schemeClr>
          </a:solidFill>
        </p:grpSpPr>
        <p:sp>
          <p:nvSpPr>
            <p:cNvPr id="23" name="正方形/長方形 22">
              <a:extLst>
                <a:ext uri="{FF2B5EF4-FFF2-40B4-BE49-F238E27FC236}">
                  <a16:creationId xmlns:a16="http://schemas.microsoft.com/office/drawing/2014/main" id="{3FD4DF18-88FA-1312-BD60-84A614C85DF4}"/>
                </a:ext>
              </a:extLst>
            </p:cNvPr>
            <p:cNvSpPr/>
            <p:nvPr/>
          </p:nvSpPr>
          <p:spPr>
            <a:xfrm>
              <a:off x="2900144" y="158369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24" name="正方形/長方形 23">
              <a:extLst>
                <a:ext uri="{FF2B5EF4-FFF2-40B4-BE49-F238E27FC236}">
                  <a16:creationId xmlns:a16="http://schemas.microsoft.com/office/drawing/2014/main" id="{C753C1C0-E3C7-E6FC-B81D-3FBCAD16BEFC}"/>
                </a:ext>
              </a:extLst>
            </p:cNvPr>
            <p:cNvSpPr/>
            <p:nvPr/>
          </p:nvSpPr>
          <p:spPr>
            <a:xfrm>
              <a:off x="3383551"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25" name="正方形/長方形 24">
              <a:extLst>
                <a:ext uri="{FF2B5EF4-FFF2-40B4-BE49-F238E27FC236}">
                  <a16:creationId xmlns:a16="http://schemas.microsoft.com/office/drawing/2014/main" id="{5BD1474C-8E07-9B0C-D17F-1D86D1EF842A}"/>
                </a:ext>
              </a:extLst>
            </p:cNvPr>
            <p:cNvSpPr/>
            <p:nvPr/>
          </p:nvSpPr>
          <p:spPr>
            <a:xfrm>
              <a:off x="3861224" y="1583697"/>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26" name="正方形/長方形 25">
              <a:extLst>
                <a:ext uri="{FF2B5EF4-FFF2-40B4-BE49-F238E27FC236}">
                  <a16:creationId xmlns:a16="http://schemas.microsoft.com/office/drawing/2014/main" id="{FA43E7BA-9FA3-DD20-B57E-8BBAD72DC5F9}"/>
                </a:ext>
              </a:extLst>
            </p:cNvPr>
            <p:cNvSpPr/>
            <p:nvPr/>
          </p:nvSpPr>
          <p:spPr>
            <a:xfrm>
              <a:off x="4340743"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27" name="正方形/長方形 26">
              <a:extLst>
                <a:ext uri="{FF2B5EF4-FFF2-40B4-BE49-F238E27FC236}">
                  <a16:creationId xmlns:a16="http://schemas.microsoft.com/office/drawing/2014/main" id="{7627D9ED-06B8-DDFF-62D1-4BEBE3022FC0}"/>
                </a:ext>
              </a:extLst>
            </p:cNvPr>
            <p:cNvSpPr/>
            <p:nvPr/>
          </p:nvSpPr>
          <p:spPr>
            <a:xfrm>
              <a:off x="4818416"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28" name="正方形/長方形 27">
              <a:extLst>
                <a:ext uri="{FF2B5EF4-FFF2-40B4-BE49-F238E27FC236}">
                  <a16:creationId xmlns:a16="http://schemas.microsoft.com/office/drawing/2014/main" id="{6B769C64-9F97-32E7-A34F-27DDD48AB788}"/>
                </a:ext>
              </a:extLst>
            </p:cNvPr>
            <p:cNvSpPr/>
            <p:nvPr/>
          </p:nvSpPr>
          <p:spPr>
            <a:xfrm>
              <a:off x="5288509"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29" name="正方形/長方形 28">
              <a:extLst>
                <a:ext uri="{FF2B5EF4-FFF2-40B4-BE49-F238E27FC236}">
                  <a16:creationId xmlns:a16="http://schemas.microsoft.com/office/drawing/2014/main" id="{2C00C9A2-5B94-5AC7-ADB0-8DC66B9FD8E1}"/>
                </a:ext>
              </a:extLst>
            </p:cNvPr>
            <p:cNvSpPr/>
            <p:nvPr/>
          </p:nvSpPr>
          <p:spPr>
            <a:xfrm>
              <a:off x="5766182" y="1583697"/>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grpSp>
      <p:sp>
        <p:nvSpPr>
          <p:cNvPr id="30" name="テキスト ボックス 29">
            <a:extLst>
              <a:ext uri="{FF2B5EF4-FFF2-40B4-BE49-F238E27FC236}">
                <a16:creationId xmlns:a16="http://schemas.microsoft.com/office/drawing/2014/main" id="{B4C54241-C6A3-887C-5302-174CA24AD1E9}"/>
              </a:ext>
            </a:extLst>
          </p:cNvPr>
          <p:cNvSpPr txBox="1"/>
          <p:nvPr/>
        </p:nvSpPr>
        <p:spPr>
          <a:xfrm>
            <a:off x="488212" y="3410444"/>
            <a:ext cx="1800493" cy="369332"/>
          </a:xfrm>
          <a:prstGeom prst="rect">
            <a:avLst/>
          </a:prstGeom>
          <a:noFill/>
        </p:spPr>
        <p:txBody>
          <a:bodyPr wrap="none" rtlCol="0">
            <a:spAutoFit/>
          </a:bodyPr>
          <a:lstStyle/>
          <a:p>
            <a:r>
              <a:rPr kumimoji="1" lang="ja-GB" altLang="en-US" dirty="0"/>
              <a:t>最小要素を探す</a:t>
            </a:r>
          </a:p>
        </p:txBody>
      </p:sp>
      <p:grpSp>
        <p:nvGrpSpPr>
          <p:cNvPr id="31" name="グループ化 30">
            <a:extLst>
              <a:ext uri="{FF2B5EF4-FFF2-40B4-BE49-F238E27FC236}">
                <a16:creationId xmlns:a16="http://schemas.microsoft.com/office/drawing/2014/main" id="{FAA5C6D8-20F9-8F0C-E80F-E36AD0123024}"/>
              </a:ext>
            </a:extLst>
          </p:cNvPr>
          <p:cNvGrpSpPr/>
          <p:nvPr/>
        </p:nvGrpSpPr>
        <p:grpSpPr>
          <a:xfrm>
            <a:off x="2904858" y="4194325"/>
            <a:ext cx="3343711" cy="471346"/>
            <a:chOff x="2900144" y="1583697"/>
            <a:chExt cx="3343711" cy="471346"/>
          </a:xfrm>
          <a:solidFill>
            <a:schemeClr val="bg1">
              <a:lumMod val="95000"/>
            </a:schemeClr>
          </a:solidFill>
        </p:grpSpPr>
        <p:sp>
          <p:nvSpPr>
            <p:cNvPr id="32" name="正方形/長方形 31">
              <a:extLst>
                <a:ext uri="{FF2B5EF4-FFF2-40B4-BE49-F238E27FC236}">
                  <a16:creationId xmlns:a16="http://schemas.microsoft.com/office/drawing/2014/main" id="{947CC968-6B81-BC87-66C5-BCFAFA2AF15E}"/>
                </a:ext>
              </a:extLst>
            </p:cNvPr>
            <p:cNvSpPr/>
            <p:nvPr/>
          </p:nvSpPr>
          <p:spPr>
            <a:xfrm>
              <a:off x="2900144" y="158369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33" name="正方形/長方形 32">
              <a:extLst>
                <a:ext uri="{FF2B5EF4-FFF2-40B4-BE49-F238E27FC236}">
                  <a16:creationId xmlns:a16="http://schemas.microsoft.com/office/drawing/2014/main" id="{824A21C2-DFCC-582C-C82F-38395F03D79C}"/>
                </a:ext>
              </a:extLst>
            </p:cNvPr>
            <p:cNvSpPr/>
            <p:nvPr/>
          </p:nvSpPr>
          <p:spPr>
            <a:xfrm>
              <a:off x="3383551" y="1583697"/>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34" name="正方形/長方形 33">
              <a:extLst>
                <a:ext uri="{FF2B5EF4-FFF2-40B4-BE49-F238E27FC236}">
                  <a16:creationId xmlns:a16="http://schemas.microsoft.com/office/drawing/2014/main" id="{D442B7CD-A498-5CC8-D221-8BF15913286C}"/>
                </a:ext>
              </a:extLst>
            </p:cNvPr>
            <p:cNvSpPr/>
            <p:nvPr/>
          </p:nvSpPr>
          <p:spPr>
            <a:xfrm>
              <a:off x="3861224" y="1583697"/>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35" name="正方形/長方形 34">
              <a:extLst>
                <a:ext uri="{FF2B5EF4-FFF2-40B4-BE49-F238E27FC236}">
                  <a16:creationId xmlns:a16="http://schemas.microsoft.com/office/drawing/2014/main" id="{4A2D56D6-6DE8-A3A9-EB0A-046E5FD992E1}"/>
                </a:ext>
              </a:extLst>
            </p:cNvPr>
            <p:cNvSpPr/>
            <p:nvPr/>
          </p:nvSpPr>
          <p:spPr>
            <a:xfrm>
              <a:off x="4340743"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36" name="正方形/長方形 35">
              <a:extLst>
                <a:ext uri="{FF2B5EF4-FFF2-40B4-BE49-F238E27FC236}">
                  <a16:creationId xmlns:a16="http://schemas.microsoft.com/office/drawing/2014/main" id="{5167F6CA-EE05-90BA-5B7C-4B43CA089C1A}"/>
                </a:ext>
              </a:extLst>
            </p:cNvPr>
            <p:cNvSpPr/>
            <p:nvPr/>
          </p:nvSpPr>
          <p:spPr>
            <a:xfrm>
              <a:off x="4818416"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37" name="正方形/長方形 36">
              <a:extLst>
                <a:ext uri="{FF2B5EF4-FFF2-40B4-BE49-F238E27FC236}">
                  <a16:creationId xmlns:a16="http://schemas.microsoft.com/office/drawing/2014/main" id="{DC50E95A-C5F3-1043-CA32-A6F60488EE27}"/>
                </a:ext>
              </a:extLst>
            </p:cNvPr>
            <p:cNvSpPr/>
            <p:nvPr/>
          </p:nvSpPr>
          <p:spPr>
            <a:xfrm>
              <a:off x="5288509"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38" name="正方形/長方形 37">
              <a:extLst>
                <a:ext uri="{FF2B5EF4-FFF2-40B4-BE49-F238E27FC236}">
                  <a16:creationId xmlns:a16="http://schemas.microsoft.com/office/drawing/2014/main" id="{83989587-66A8-F773-1099-083F2D2FC1E6}"/>
                </a:ext>
              </a:extLst>
            </p:cNvPr>
            <p:cNvSpPr/>
            <p:nvPr/>
          </p:nvSpPr>
          <p:spPr>
            <a:xfrm>
              <a:off x="5766182" y="1583697"/>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grpSp>
      <p:sp>
        <p:nvSpPr>
          <p:cNvPr id="39" name="テキスト ボックス 38">
            <a:extLst>
              <a:ext uri="{FF2B5EF4-FFF2-40B4-BE49-F238E27FC236}">
                <a16:creationId xmlns:a16="http://schemas.microsoft.com/office/drawing/2014/main" id="{60D0CC62-B9C3-48FE-E1D0-B7D6DFD7707B}"/>
              </a:ext>
            </a:extLst>
          </p:cNvPr>
          <p:cNvSpPr txBox="1"/>
          <p:nvPr/>
        </p:nvSpPr>
        <p:spPr>
          <a:xfrm>
            <a:off x="488213" y="4245331"/>
            <a:ext cx="2031325" cy="369332"/>
          </a:xfrm>
          <a:prstGeom prst="rect">
            <a:avLst/>
          </a:prstGeom>
          <a:noFill/>
        </p:spPr>
        <p:txBody>
          <a:bodyPr wrap="none" rtlCol="0">
            <a:spAutoFit/>
          </a:bodyPr>
          <a:lstStyle/>
          <a:p>
            <a:r>
              <a:rPr kumimoji="1" lang="ja-GB" altLang="en-US" dirty="0"/>
              <a:t>先頭と入れ替える</a:t>
            </a:r>
          </a:p>
        </p:txBody>
      </p:sp>
      <mc:AlternateContent xmlns:mc="http://schemas.openxmlformats.org/markup-compatibility/2006" xmlns:a14="http://schemas.microsoft.com/office/drawing/2010/main">
        <mc:Choice Requires="a14">
          <p:sp>
            <p:nvSpPr>
              <p:cNvPr id="40" name="テキスト ボックス 39">
                <a:extLst>
                  <a:ext uri="{FF2B5EF4-FFF2-40B4-BE49-F238E27FC236}">
                    <a16:creationId xmlns:a16="http://schemas.microsoft.com/office/drawing/2014/main" id="{74532399-8CA6-BFA3-5596-2B150DBCCB9F}"/>
                  </a:ext>
                </a:extLst>
              </p:cNvPr>
              <p:cNvSpPr txBox="1"/>
              <p:nvPr/>
            </p:nvSpPr>
            <p:spPr>
              <a:xfrm>
                <a:off x="6183566" y="5610738"/>
                <a:ext cx="2166747" cy="923330"/>
              </a:xfrm>
              <a:prstGeom prst="rect">
                <a:avLst/>
              </a:prstGeom>
              <a:noFill/>
            </p:spPr>
            <p:txBody>
              <a:bodyPr wrap="none" rtlCol="0">
                <a:spAutoFit/>
              </a:bodyPr>
              <a:lstStyle/>
              <a:p>
                <a:r>
                  <a:rPr kumimoji="1" lang="ja-GB" altLang="en-US" dirty="0"/>
                  <a:t>最良計算量：</a:t>
                </a:r>
                <a14:m>
                  <m:oMath xmlns:m="http://schemas.openxmlformats.org/officeDocument/2006/math">
                    <m:r>
                      <a:rPr kumimoji="1" lang="en-US" altLang="ja-GB" i="1">
                        <a:latin typeface="Cambria Math" panose="02040503050406030204" pitchFamily="18" charset="0"/>
                      </a:rPr>
                      <m:t>𝑂</m:t>
                    </m:r>
                    <m:d>
                      <m:dPr>
                        <m:ctrlPr>
                          <a:rPr kumimoji="1" lang="en-US" altLang="ja-GB" i="1">
                            <a:latin typeface="Cambria Math" panose="02040503050406030204" pitchFamily="18" charset="0"/>
                          </a:rPr>
                        </m:ctrlPr>
                      </m:dPr>
                      <m:e>
                        <m:sSup>
                          <m:sSupPr>
                            <m:ctrlPr>
                              <a:rPr kumimoji="1" lang="en-US" altLang="ja-GB" b="0" i="1" smtClean="0">
                                <a:latin typeface="Cambria Math" panose="02040503050406030204" pitchFamily="18" charset="0"/>
                              </a:rPr>
                            </m:ctrlPr>
                          </m:sSupPr>
                          <m:e>
                            <m:r>
                              <a:rPr kumimoji="1" lang="en-US" altLang="ja-GB" i="1">
                                <a:latin typeface="Cambria Math" panose="02040503050406030204" pitchFamily="18" charset="0"/>
                              </a:rPr>
                              <m:t>𝑛</m:t>
                            </m:r>
                          </m:e>
                          <m:sup>
                            <m:r>
                              <a:rPr kumimoji="1" lang="en-US" altLang="ja-GB" b="0" i="1" smtClean="0">
                                <a:latin typeface="Cambria Math" panose="02040503050406030204" pitchFamily="18" charset="0"/>
                              </a:rPr>
                              <m:t>2</m:t>
                            </m:r>
                          </m:sup>
                        </m:sSup>
                      </m:e>
                    </m:d>
                  </m:oMath>
                </a14:m>
                <a:endParaRPr kumimoji="1" lang="en-US" altLang="ja-GB" dirty="0"/>
              </a:p>
              <a:p>
                <a:r>
                  <a:rPr kumimoji="1" lang="ja-GB" altLang="en-US" dirty="0"/>
                  <a:t>平均計算量：</a:t>
                </a:r>
                <a14:m>
                  <m:oMath xmlns:m="http://schemas.openxmlformats.org/officeDocument/2006/math">
                    <m:r>
                      <a:rPr kumimoji="1" lang="en-US" altLang="ja-GB" i="1">
                        <a:latin typeface="Cambria Math" panose="02040503050406030204" pitchFamily="18" charset="0"/>
                      </a:rPr>
                      <m:t>𝑂</m:t>
                    </m:r>
                    <m:d>
                      <m:dPr>
                        <m:ctrlPr>
                          <a:rPr kumimoji="1" lang="en-US" altLang="ja-GB" i="1">
                            <a:latin typeface="Cambria Math" panose="02040503050406030204" pitchFamily="18" charset="0"/>
                          </a:rPr>
                        </m:ctrlPr>
                      </m:dPr>
                      <m:e>
                        <m:sSup>
                          <m:sSupPr>
                            <m:ctrlPr>
                              <a:rPr kumimoji="1" lang="en-US" altLang="ja-GB" b="0" i="1" smtClean="0">
                                <a:latin typeface="Cambria Math" panose="02040503050406030204" pitchFamily="18" charset="0"/>
                              </a:rPr>
                            </m:ctrlPr>
                          </m:sSupPr>
                          <m:e>
                            <m:r>
                              <a:rPr kumimoji="1" lang="en-US" altLang="ja-GB" b="0" i="1" smtClean="0">
                                <a:latin typeface="Cambria Math" panose="02040503050406030204" pitchFamily="18" charset="0"/>
                              </a:rPr>
                              <m:t>𝑛</m:t>
                            </m:r>
                          </m:e>
                          <m:sup>
                            <m:r>
                              <a:rPr kumimoji="1" lang="en-US" altLang="ja-GB" b="0" i="1" smtClean="0">
                                <a:latin typeface="Cambria Math" panose="02040503050406030204" pitchFamily="18" charset="0"/>
                              </a:rPr>
                              <m:t>2</m:t>
                            </m:r>
                          </m:sup>
                        </m:sSup>
                      </m:e>
                    </m:d>
                  </m:oMath>
                </a14:m>
                <a:endParaRPr kumimoji="1" lang="en-US" altLang="ja-GB" dirty="0"/>
              </a:p>
              <a:p>
                <a:r>
                  <a:rPr kumimoji="1" lang="ja-GB" altLang="en-US" dirty="0"/>
                  <a:t>最悪計算量：</a:t>
                </a:r>
                <a14:m>
                  <m:oMath xmlns:m="http://schemas.openxmlformats.org/officeDocument/2006/math">
                    <m:r>
                      <a:rPr kumimoji="1" lang="en-US" altLang="ja-GB" b="0" i="1" smtClean="0">
                        <a:latin typeface="Cambria Math" panose="02040503050406030204" pitchFamily="18" charset="0"/>
                      </a:rPr>
                      <m:t>𝑂</m:t>
                    </m:r>
                    <m:d>
                      <m:dPr>
                        <m:ctrlPr>
                          <a:rPr kumimoji="1" lang="en-US" altLang="ja-GB" b="0" i="1" smtClean="0">
                            <a:latin typeface="Cambria Math" panose="02040503050406030204" pitchFamily="18" charset="0"/>
                          </a:rPr>
                        </m:ctrlPr>
                      </m:dPr>
                      <m:e>
                        <m:sSup>
                          <m:sSupPr>
                            <m:ctrlPr>
                              <a:rPr kumimoji="1" lang="en-US" altLang="ja-GB" b="0" i="1" smtClean="0">
                                <a:latin typeface="Cambria Math" panose="02040503050406030204" pitchFamily="18" charset="0"/>
                              </a:rPr>
                            </m:ctrlPr>
                          </m:sSupPr>
                          <m:e>
                            <m:r>
                              <a:rPr kumimoji="1" lang="en-US" altLang="ja-GB" b="0" i="1" smtClean="0">
                                <a:latin typeface="Cambria Math" panose="02040503050406030204" pitchFamily="18" charset="0"/>
                              </a:rPr>
                              <m:t>𝑛</m:t>
                            </m:r>
                          </m:e>
                          <m:sup>
                            <m:r>
                              <a:rPr kumimoji="1" lang="en-US" altLang="ja-GB" b="0" i="1" smtClean="0">
                                <a:latin typeface="Cambria Math" panose="02040503050406030204" pitchFamily="18" charset="0"/>
                              </a:rPr>
                              <m:t>2</m:t>
                            </m:r>
                          </m:sup>
                        </m:sSup>
                      </m:e>
                    </m:d>
                  </m:oMath>
                </a14:m>
                <a:endParaRPr kumimoji="1" lang="ja-GB" altLang="en-US" dirty="0"/>
              </a:p>
            </p:txBody>
          </p:sp>
        </mc:Choice>
        <mc:Fallback xmlns="">
          <p:sp>
            <p:nvSpPr>
              <p:cNvPr id="40" name="テキスト ボックス 39">
                <a:extLst>
                  <a:ext uri="{FF2B5EF4-FFF2-40B4-BE49-F238E27FC236}">
                    <a16:creationId xmlns:a16="http://schemas.microsoft.com/office/drawing/2014/main" id="{74532399-8CA6-BFA3-5596-2B150DBCCB9F}"/>
                  </a:ext>
                </a:extLst>
              </p:cNvPr>
              <p:cNvSpPr txBox="1">
                <a:spLocks noRot="1" noChangeAspect="1" noMove="1" noResize="1" noEditPoints="1" noAdjustHandles="1" noChangeArrowheads="1" noChangeShapeType="1" noTextEdit="1"/>
              </p:cNvSpPr>
              <p:nvPr/>
            </p:nvSpPr>
            <p:spPr>
              <a:xfrm>
                <a:off x="6183566" y="5610738"/>
                <a:ext cx="2166747" cy="923330"/>
              </a:xfrm>
              <a:prstGeom prst="rect">
                <a:avLst/>
              </a:prstGeom>
              <a:blipFill>
                <a:blip r:embed="rId2"/>
                <a:stretch>
                  <a:fillRect l="-2326" t="-2703" b="-9459"/>
                </a:stretch>
              </a:blipFill>
            </p:spPr>
            <p:txBody>
              <a:bodyPr/>
              <a:lstStyle/>
              <a:p>
                <a:r>
                  <a:rPr lang="ja-GB" altLang="en-US">
                    <a:noFill/>
                  </a:rPr>
                  <a:t> </a:t>
                </a:r>
              </a:p>
            </p:txBody>
          </p:sp>
        </mc:Fallback>
      </mc:AlternateContent>
    </p:spTree>
    <p:extLst>
      <p:ext uri="{BB962C8B-B14F-4D97-AF65-F5344CB8AC3E}">
        <p14:creationId xmlns:p14="http://schemas.microsoft.com/office/powerpoint/2010/main" val="38007499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A8AD7-E85E-52D4-9BCF-8E8C6234829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EA75AFF-3A12-4246-C37B-A4E5455786E1}"/>
              </a:ext>
            </a:extLst>
          </p:cNvPr>
          <p:cNvSpPr>
            <a:spLocks noGrp="1"/>
          </p:cNvSpPr>
          <p:nvPr>
            <p:ph type="title"/>
          </p:nvPr>
        </p:nvSpPr>
        <p:spPr/>
        <p:txBody>
          <a:bodyPr/>
          <a:lstStyle/>
          <a:p>
            <a:r>
              <a:rPr kumimoji="1" lang="ja-GB" altLang="en-US" dirty="0"/>
              <a:t>選択ソート（小さい具体例）</a:t>
            </a:r>
          </a:p>
        </p:txBody>
      </p:sp>
      <p:sp>
        <p:nvSpPr>
          <p:cNvPr id="3" name="コンテンツ プレースホルダー 2">
            <a:extLst>
              <a:ext uri="{FF2B5EF4-FFF2-40B4-BE49-F238E27FC236}">
                <a16:creationId xmlns:a16="http://schemas.microsoft.com/office/drawing/2014/main" id="{58129A25-7205-9A30-DDA2-C635E5BA0F3B}"/>
              </a:ext>
            </a:extLst>
          </p:cNvPr>
          <p:cNvSpPr>
            <a:spLocks noGrp="1"/>
          </p:cNvSpPr>
          <p:nvPr>
            <p:ph idx="1"/>
          </p:nvPr>
        </p:nvSpPr>
        <p:spPr/>
        <p:txBody>
          <a:bodyPr/>
          <a:lstStyle/>
          <a:p>
            <a:pPr marL="0" indent="0">
              <a:buNone/>
            </a:pPr>
            <a:r>
              <a:rPr kumimoji="1" lang="ja-GB" altLang="en-US" dirty="0"/>
              <a:t>配列から最小値を探し，先頭要素と入れ替える</a:t>
            </a:r>
          </a:p>
        </p:txBody>
      </p:sp>
      <p:grpSp>
        <p:nvGrpSpPr>
          <p:cNvPr id="4" name="グループ化 3">
            <a:extLst>
              <a:ext uri="{FF2B5EF4-FFF2-40B4-BE49-F238E27FC236}">
                <a16:creationId xmlns:a16="http://schemas.microsoft.com/office/drawing/2014/main" id="{23AA4E0F-A085-B159-FB09-D8D4AC71E437}"/>
              </a:ext>
            </a:extLst>
          </p:cNvPr>
          <p:cNvGrpSpPr/>
          <p:nvPr/>
        </p:nvGrpSpPr>
        <p:grpSpPr>
          <a:xfrm>
            <a:off x="2904858" y="1689658"/>
            <a:ext cx="1918272" cy="471346"/>
            <a:chOff x="2900144" y="1583697"/>
            <a:chExt cx="1918272" cy="471346"/>
          </a:xfrm>
          <a:solidFill>
            <a:schemeClr val="bg1">
              <a:lumMod val="95000"/>
            </a:schemeClr>
          </a:solidFill>
        </p:grpSpPr>
        <p:sp>
          <p:nvSpPr>
            <p:cNvPr id="5" name="正方形/長方形 4">
              <a:extLst>
                <a:ext uri="{FF2B5EF4-FFF2-40B4-BE49-F238E27FC236}">
                  <a16:creationId xmlns:a16="http://schemas.microsoft.com/office/drawing/2014/main" id="{83DF36F0-5D9C-5A6E-E68B-DAD359C03099}"/>
                </a:ext>
              </a:extLst>
            </p:cNvPr>
            <p:cNvSpPr/>
            <p:nvPr/>
          </p:nvSpPr>
          <p:spPr>
            <a:xfrm>
              <a:off x="2900144" y="1583699"/>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6" name="正方形/長方形 5">
              <a:extLst>
                <a:ext uri="{FF2B5EF4-FFF2-40B4-BE49-F238E27FC236}">
                  <a16:creationId xmlns:a16="http://schemas.microsoft.com/office/drawing/2014/main" id="{9ED83596-185A-7D10-AEEB-6A577EB8D5B1}"/>
                </a:ext>
              </a:extLst>
            </p:cNvPr>
            <p:cNvSpPr/>
            <p:nvPr/>
          </p:nvSpPr>
          <p:spPr>
            <a:xfrm>
              <a:off x="3383551"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7" name="正方形/長方形 6">
              <a:extLst>
                <a:ext uri="{FF2B5EF4-FFF2-40B4-BE49-F238E27FC236}">
                  <a16:creationId xmlns:a16="http://schemas.microsoft.com/office/drawing/2014/main" id="{AC6F7511-FED7-1165-A486-C36ACDF54B7C}"/>
                </a:ext>
              </a:extLst>
            </p:cNvPr>
            <p:cNvSpPr/>
            <p:nvPr/>
          </p:nvSpPr>
          <p:spPr>
            <a:xfrm>
              <a:off x="3861224" y="1583697"/>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8" name="正方形/長方形 7">
              <a:extLst>
                <a:ext uri="{FF2B5EF4-FFF2-40B4-BE49-F238E27FC236}">
                  <a16:creationId xmlns:a16="http://schemas.microsoft.com/office/drawing/2014/main" id="{EFF8698B-80A6-E639-1B26-7606AD998544}"/>
                </a:ext>
              </a:extLst>
            </p:cNvPr>
            <p:cNvSpPr/>
            <p:nvPr/>
          </p:nvSpPr>
          <p:spPr>
            <a:xfrm>
              <a:off x="4340743"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grpSp>
      <p:sp>
        <p:nvSpPr>
          <p:cNvPr id="12" name="テキスト ボックス 11">
            <a:extLst>
              <a:ext uri="{FF2B5EF4-FFF2-40B4-BE49-F238E27FC236}">
                <a16:creationId xmlns:a16="http://schemas.microsoft.com/office/drawing/2014/main" id="{9E1E895F-486B-4F67-109A-04429266439B}"/>
              </a:ext>
            </a:extLst>
          </p:cNvPr>
          <p:cNvSpPr txBox="1"/>
          <p:nvPr/>
        </p:nvSpPr>
        <p:spPr>
          <a:xfrm>
            <a:off x="488213" y="1740664"/>
            <a:ext cx="1800493" cy="369332"/>
          </a:xfrm>
          <a:prstGeom prst="rect">
            <a:avLst/>
          </a:prstGeom>
          <a:noFill/>
        </p:spPr>
        <p:txBody>
          <a:bodyPr wrap="none" rtlCol="0">
            <a:spAutoFit/>
          </a:bodyPr>
          <a:lstStyle/>
          <a:p>
            <a:r>
              <a:rPr kumimoji="1" lang="ja-GB" altLang="en-US" dirty="0"/>
              <a:t>最小要素を探す</a:t>
            </a:r>
          </a:p>
        </p:txBody>
      </p:sp>
      <p:grpSp>
        <p:nvGrpSpPr>
          <p:cNvPr id="13" name="グループ化 12">
            <a:extLst>
              <a:ext uri="{FF2B5EF4-FFF2-40B4-BE49-F238E27FC236}">
                <a16:creationId xmlns:a16="http://schemas.microsoft.com/office/drawing/2014/main" id="{69D3AE17-F55E-8AB2-8A52-93872B5BF133}"/>
              </a:ext>
            </a:extLst>
          </p:cNvPr>
          <p:cNvGrpSpPr/>
          <p:nvPr/>
        </p:nvGrpSpPr>
        <p:grpSpPr>
          <a:xfrm>
            <a:off x="2904858" y="2524549"/>
            <a:ext cx="1918272" cy="471346"/>
            <a:chOff x="2900144" y="1583697"/>
            <a:chExt cx="1918272" cy="471346"/>
          </a:xfrm>
          <a:solidFill>
            <a:schemeClr val="bg1">
              <a:lumMod val="95000"/>
            </a:schemeClr>
          </a:solidFill>
        </p:grpSpPr>
        <p:sp>
          <p:nvSpPr>
            <p:cNvPr id="14" name="正方形/長方形 13">
              <a:extLst>
                <a:ext uri="{FF2B5EF4-FFF2-40B4-BE49-F238E27FC236}">
                  <a16:creationId xmlns:a16="http://schemas.microsoft.com/office/drawing/2014/main" id="{69672031-C656-5AE1-8B5C-8696538DC9FF}"/>
                </a:ext>
              </a:extLst>
            </p:cNvPr>
            <p:cNvSpPr/>
            <p:nvPr/>
          </p:nvSpPr>
          <p:spPr>
            <a:xfrm>
              <a:off x="2900144" y="158369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15" name="正方形/長方形 14">
              <a:extLst>
                <a:ext uri="{FF2B5EF4-FFF2-40B4-BE49-F238E27FC236}">
                  <a16:creationId xmlns:a16="http://schemas.microsoft.com/office/drawing/2014/main" id="{4CF24376-34EC-3C7A-A91A-70AD2F6EB7AD}"/>
                </a:ext>
              </a:extLst>
            </p:cNvPr>
            <p:cNvSpPr/>
            <p:nvPr/>
          </p:nvSpPr>
          <p:spPr>
            <a:xfrm>
              <a:off x="3383551"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16" name="正方形/長方形 15">
              <a:extLst>
                <a:ext uri="{FF2B5EF4-FFF2-40B4-BE49-F238E27FC236}">
                  <a16:creationId xmlns:a16="http://schemas.microsoft.com/office/drawing/2014/main" id="{BB1DE4DA-C827-E268-D633-BCE25ED65455}"/>
                </a:ext>
              </a:extLst>
            </p:cNvPr>
            <p:cNvSpPr/>
            <p:nvPr/>
          </p:nvSpPr>
          <p:spPr>
            <a:xfrm>
              <a:off x="3861224" y="1583697"/>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17" name="正方形/長方形 16">
              <a:extLst>
                <a:ext uri="{FF2B5EF4-FFF2-40B4-BE49-F238E27FC236}">
                  <a16:creationId xmlns:a16="http://schemas.microsoft.com/office/drawing/2014/main" id="{0309F73F-2884-A4CB-C2D1-C6E96E68DAE4}"/>
                </a:ext>
              </a:extLst>
            </p:cNvPr>
            <p:cNvSpPr/>
            <p:nvPr/>
          </p:nvSpPr>
          <p:spPr>
            <a:xfrm>
              <a:off x="4340743"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grpSp>
      <p:sp>
        <p:nvSpPr>
          <p:cNvPr id="21" name="テキスト ボックス 20">
            <a:extLst>
              <a:ext uri="{FF2B5EF4-FFF2-40B4-BE49-F238E27FC236}">
                <a16:creationId xmlns:a16="http://schemas.microsoft.com/office/drawing/2014/main" id="{BC7A4C5A-B1D9-6F33-3ECA-FD74B679A044}"/>
              </a:ext>
            </a:extLst>
          </p:cNvPr>
          <p:cNvSpPr txBox="1"/>
          <p:nvPr/>
        </p:nvSpPr>
        <p:spPr>
          <a:xfrm>
            <a:off x="488213" y="2575555"/>
            <a:ext cx="2031325" cy="369332"/>
          </a:xfrm>
          <a:prstGeom prst="rect">
            <a:avLst/>
          </a:prstGeom>
          <a:noFill/>
        </p:spPr>
        <p:txBody>
          <a:bodyPr wrap="none" rtlCol="0">
            <a:spAutoFit/>
          </a:bodyPr>
          <a:lstStyle/>
          <a:p>
            <a:r>
              <a:rPr kumimoji="1" lang="ja-GB" altLang="en-US" dirty="0"/>
              <a:t>先頭と入れ替える</a:t>
            </a:r>
          </a:p>
        </p:txBody>
      </p:sp>
      <p:grpSp>
        <p:nvGrpSpPr>
          <p:cNvPr id="22" name="グループ化 21">
            <a:extLst>
              <a:ext uri="{FF2B5EF4-FFF2-40B4-BE49-F238E27FC236}">
                <a16:creationId xmlns:a16="http://schemas.microsoft.com/office/drawing/2014/main" id="{BBAD89B3-3419-2263-AE46-A630BF255D87}"/>
              </a:ext>
            </a:extLst>
          </p:cNvPr>
          <p:cNvGrpSpPr/>
          <p:nvPr/>
        </p:nvGrpSpPr>
        <p:grpSpPr>
          <a:xfrm>
            <a:off x="2904858" y="3359438"/>
            <a:ext cx="1918272" cy="471346"/>
            <a:chOff x="2900144" y="1583697"/>
            <a:chExt cx="1918272" cy="471346"/>
          </a:xfrm>
          <a:solidFill>
            <a:schemeClr val="bg1">
              <a:lumMod val="95000"/>
            </a:schemeClr>
          </a:solidFill>
        </p:grpSpPr>
        <p:sp>
          <p:nvSpPr>
            <p:cNvPr id="23" name="正方形/長方形 22">
              <a:extLst>
                <a:ext uri="{FF2B5EF4-FFF2-40B4-BE49-F238E27FC236}">
                  <a16:creationId xmlns:a16="http://schemas.microsoft.com/office/drawing/2014/main" id="{3015DEE7-7D02-7351-7809-FBAF49FFCE9F}"/>
                </a:ext>
              </a:extLst>
            </p:cNvPr>
            <p:cNvSpPr/>
            <p:nvPr/>
          </p:nvSpPr>
          <p:spPr>
            <a:xfrm>
              <a:off x="2900144" y="158369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24" name="正方形/長方形 23">
              <a:extLst>
                <a:ext uri="{FF2B5EF4-FFF2-40B4-BE49-F238E27FC236}">
                  <a16:creationId xmlns:a16="http://schemas.microsoft.com/office/drawing/2014/main" id="{56C73EA6-3533-B721-32AC-6E8F413C45F8}"/>
                </a:ext>
              </a:extLst>
            </p:cNvPr>
            <p:cNvSpPr/>
            <p:nvPr/>
          </p:nvSpPr>
          <p:spPr>
            <a:xfrm>
              <a:off x="3383551"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25" name="正方形/長方形 24">
              <a:extLst>
                <a:ext uri="{FF2B5EF4-FFF2-40B4-BE49-F238E27FC236}">
                  <a16:creationId xmlns:a16="http://schemas.microsoft.com/office/drawing/2014/main" id="{B59B09D6-7DC5-9169-BEEF-382B5381F866}"/>
                </a:ext>
              </a:extLst>
            </p:cNvPr>
            <p:cNvSpPr/>
            <p:nvPr/>
          </p:nvSpPr>
          <p:spPr>
            <a:xfrm>
              <a:off x="3861224" y="1583697"/>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26" name="正方形/長方形 25">
              <a:extLst>
                <a:ext uri="{FF2B5EF4-FFF2-40B4-BE49-F238E27FC236}">
                  <a16:creationId xmlns:a16="http://schemas.microsoft.com/office/drawing/2014/main" id="{EA542695-DCCF-B62A-A1BB-754BB848DBC7}"/>
                </a:ext>
              </a:extLst>
            </p:cNvPr>
            <p:cNvSpPr/>
            <p:nvPr/>
          </p:nvSpPr>
          <p:spPr>
            <a:xfrm>
              <a:off x="4340743" y="1583697"/>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grpSp>
      <p:sp>
        <p:nvSpPr>
          <p:cNvPr id="30" name="テキスト ボックス 29">
            <a:extLst>
              <a:ext uri="{FF2B5EF4-FFF2-40B4-BE49-F238E27FC236}">
                <a16:creationId xmlns:a16="http://schemas.microsoft.com/office/drawing/2014/main" id="{209439E0-95A3-CE90-A2FE-7226AF18C8A1}"/>
              </a:ext>
            </a:extLst>
          </p:cNvPr>
          <p:cNvSpPr txBox="1"/>
          <p:nvPr/>
        </p:nvSpPr>
        <p:spPr>
          <a:xfrm>
            <a:off x="488212" y="3410444"/>
            <a:ext cx="1800493" cy="369332"/>
          </a:xfrm>
          <a:prstGeom prst="rect">
            <a:avLst/>
          </a:prstGeom>
          <a:noFill/>
        </p:spPr>
        <p:txBody>
          <a:bodyPr wrap="none" rtlCol="0">
            <a:spAutoFit/>
          </a:bodyPr>
          <a:lstStyle/>
          <a:p>
            <a:r>
              <a:rPr kumimoji="1" lang="ja-GB" altLang="en-US" dirty="0"/>
              <a:t>最小要素を探す</a:t>
            </a:r>
          </a:p>
        </p:txBody>
      </p:sp>
      <p:grpSp>
        <p:nvGrpSpPr>
          <p:cNvPr id="31" name="グループ化 30">
            <a:extLst>
              <a:ext uri="{FF2B5EF4-FFF2-40B4-BE49-F238E27FC236}">
                <a16:creationId xmlns:a16="http://schemas.microsoft.com/office/drawing/2014/main" id="{4F1AD2B2-C348-45B5-2BE9-3DC6FF4DAABD}"/>
              </a:ext>
            </a:extLst>
          </p:cNvPr>
          <p:cNvGrpSpPr/>
          <p:nvPr/>
        </p:nvGrpSpPr>
        <p:grpSpPr>
          <a:xfrm>
            <a:off x="2904858" y="4194325"/>
            <a:ext cx="1918272" cy="471346"/>
            <a:chOff x="2900144" y="1583697"/>
            <a:chExt cx="1918272" cy="471346"/>
          </a:xfrm>
          <a:solidFill>
            <a:schemeClr val="bg1">
              <a:lumMod val="95000"/>
            </a:schemeClr>
          </a:solidFill>
        </p:grpSpPr>
        <p:sp>
          <p:nvSpPr>
            <p:cNvPr id="32" name="正方形/長方形 31">
              <a:extLst>
                <a:ext uri="{FF2B5EF4-FFF2-40B4-BE49-F238E27FC236}">
                  <a16:creationId xmlns:a16="http://schemas.microsoft.com/office/drawing/2014/main" id="{2F80BB35-18DF-2E91-8BB6-335AE6B86447}"/>
                </a:ext>
              </a:extLst>
            </p:cNvPr>
            <p:cNvSpPr/>
            <p:nvPr/>
          </p:nvSpPr>
          <p:spPr>
            <a:xfrm>
              <a:off x="2900144" y="158369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33" name="正方形/長方形 32">
              <a:extLst>
                <a:ext uri="{FF2B5EF4-FFF2-40B4-BE49-F238E27FC236}">
                  <a16:creationId xmlns:a16="http://schemas.microsoft.com/office/drawing/2014/main" id="{91355A82-5EB5-ABCF-9410-81353DAAA394}"/>
                </a:ext>
              </a:extLst>
            </p:cNvPr>
            <p:cNvSpPr/>
            <p:nvPr/>
          </p:nvSpPr>
          <p:spPr>
            <a:xfrm>
              <a:off x="3383551" y="1583697"/>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34" name="正方形/長方形 33">
              <a:extLst>
                <a:ext uri="{FF2B5EF4-FFF2-40B4-BE49-F238E27FC236}">
                  <a16:creationId xmlns:a16="http://schemas.microsoft.com/office/drawing/2014/main" id="{8F6E659F-2994-7B3B-E45C-28D2F572F902}"/>
                </a:ext>
              </a:extLst>
            </p:cNvPr>
            <p:cNvSpPr/>
            <p:nvPr/>
          </p:nvSpPr>
          <p:spPr>
            <a:xfrm>
              <a:off x="3861224" y="1583697"/>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35" name="正方形/長方形 34">
              <a:extLst>
                <a:ext uri="{FF2B5EF4-FFF2-40B4-BE49-F238E27FC236}">
                  <a16:creationId xmlns:a16="http://schemas.microsoft.com/office/drawing/2014/main" id="{E039CA74-432D-783E-889D-E9B748802174}"/>
                </a:ext>
              </a:extLst>
            </p:cNvPr>
            <p:cNvSpPr/>
            <p:nvPr/>
          </p:nvSpPr>
          <p:spPr>
            <a:xfrm>
              <a:off x="4340743" y="1583697"/>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grpSp>
      <p:sp>
        <p:nvSpPr>
          <p:cNvPr id="39" name="テキスト ボックス 38">
            <a:extLst>
              <a:ext uri="{FF2B5EF4-FFF2-40B4-BE49-F238E27FC236}">
                <a16:creationId xmlns:a16="http://schemas.microsoft.com/office/drawing/2014/main" id="{02FF61FD-3769-D7F6-48B3-E9865763C975}"/>
              </a:ext>
            </a:extLst>
          </p:cNvPr>
          <p:cNvSpPr txBox="1"/>
          <p:nvPr/>
        </p:nvSpPr>
        <p:spPr>
          <a:xfrm>
            <a:off x="488213" y="4245331"/>
            <a:ext cx="2031325" cy="369332"/>
          </a:xfrm>
          <a:prstGeom prst="rect">
            <a:avLst/>
          </a:prstGeom>
          <a:noFill/>
        </p:spPr>
        <p:txBody>
          <a:bodyPr wrap="none" rtlCol="0">
            <a:spAutoFit/>
          </a:bodyPr>
          <a:lstStyle/>
          <a:p>
            <a:r>
              <a:rPr kumimoji="1" lang="ja-GB" altLang="en-US" dirty="0"/>
              <a:t>先頭と入れ替える</a:t>
            </a:r>
          </a:p>
        </p:txBody>
      </p:sp>
      <mc:AlternateContent xmlns:mc="http://schemas.openxmlformats.org/markup-compatibility/2006" xmlns:a14="http://schemas.microsoft.com/office/drawing/2010/main">
        <mc:Choice Requires="a14">
          <p:sp>
            <p:nvSpPr>
              <p:cNvPr id="40" name="テキスト ボックス 39">
                <a:extLst>
                  <a:ext uri="{FF2B5EF4-FFF2-40B4-BE49-F238E27FC236}">
                    <a16:creationId xmlns:a16="http://schemas.microsoft.com/office/drawing/2014/main" id="{E4EC0D22-7EEC-3241-8C1E-8007CB3CA6F6}"/>
                  </a:ext>
                </a:extLst>
              </p:cNvPr>
              <p:cNvSpPr txBox="1"/>
              <p:nvPr/>
            </p:nvSpPr>
            <p:spPr>
              <a:xfrm>
                <a:off x="6183566" y="5610738"/>
                <a:ext cx="2166747" cy="923330"/>
              </a:xfrm>
              <a:prstGeom prst="rect">
                <a:avLst/>
              </a:prstGeom>
              <a:noFill/>
            </p:spPr>
            <p:txBody>
              <a:bodyPr wrap="none" rtlCol="0">
                <a:spAutoFit/>
              </a:bodyPr>
              <a:lstStyle/>
              <a:p>
                <a:r>
                  <a:rPr kumimoji="1" lang="ja-GB" altLang="en-US" dirty="0"/>
                  <a:t>最良計算量：</a:t>
                </a:r>
                <a14:m>
                  <m:oMath xmlns:m="http://schemas.openxmlformats.org/officeDocument/2006/math">
                    <m:r>
                      <a:rPr kumimoji="1" lang="en-US" altLang="ja-GB" i="1">
                        <a:latin typeface="Cambria Math" panose="02040503050406030204" pitchFamily="18" charset="0"/>
                      </a:rPr>
                      <m:t>𝑂</m:t>
                    </m:r>
                    <m:d>
                      <m:dPr>
                        <m:ctrlPr>
                          <a:rPr kumimoji="1" lang="en-US" altLang="ja-GB" i="1">
                            <a:latin typeface="Cambria Math" panose="02040503050406030204" pitchFamily="18" charset="0"/>
                          </a:rPr>
                        </m:ctrlPr>
                      </m:dPr>
                      <m:e>
                        <m:sSup>
                          <m:sSupPr>
                            <m:ctrlPr>
                              <a:rPr kumimoji="1" lang="en-US" altLang="ja-GB" b="0" i="1" smtClean="0">
                                <a:latin typeface="Cambria Math" panose="02040503050406030204" pitchFamily="18" charset="0"/>
                              </a:rPr>
                            </m:ctrlPr>
                          </m:sSupPr>
                          <m:e>
                            <m:r>
                              <a:rPr kumimoji="1" lang="en-US" altLang="ja-GB" i="1">
                                <a:latin typeface="Cambria Math" panose="02040503050406030204" pitchFamily="18" charset="0"/>
                              </a:rPr>
                              <m:t>𝑛</m:t>
                            </m:r>
                          </m:e>
                          <m:sup>
                            <m:r>
                              <a:rPr kumimoji="1" lang="en-US" altLang="ja-GB" b="0" i="1" smtClean="0">
                                <a:latin typeface="Cambria Math" panose="02040503050406030204" pitchFamily="18" charset="0"/>
                              </a:rPr>
                              <m:t>2</m:t>
                            </m:r>
                          </m:sup>
                        </m:sSup>
                      </m:e>
                    </m:d>
                  </m:oMath>
                </a14:m>
                <a:endParaRPr kumimoji="1" lang="en-US" altLang="ja-GB" dirty="0"/>
              </a:p>
              <a:p>
                <a:r>
                  <a:rPr kumimoji="1" lang="ja-GB" altLang="en-US" dirty="0"/>
                  <a:t>平均計算量：</a:t>
                </a:r>
                <a14:m>
                  <m:oMath xmlns:m="http://schemas.openxmlformats.org/officeDocument/2006/math">
                    <m:r>
                      <a:rPr kumimoji="1" lang="en-US" altLang="ja-GB" i="1">
                        <a:latin typeface="Cambria Math" panose="02040503050406030204" pitchFamily="18" charset="0"/>
                      </a:rPr>
                      <m:t>𝑂</m:t>
                    </m:r>
                    <m:d>
                      <m:dPr>
                        <m:ctrlPr>
                          <a:rPr kumimoji="1" lang="en-US" altLang="ja-GB" i="1">
                            <a:latin typeface="Cambria Math" panose="02040503050406030204" pitchFamily="18" charset="0"/>
                          </a:rPr>
                        </m:ctrlPr>
                      </m:dPr>
                      <m:e>
                        <m:sSup>
                          <m:sSupPr>
                            <m:ctrlPr>
                              <a:rPr kumimoji="1" lang="en-US" altLang="ja-GB" b="0" i="1" smtClean="0">
                                <a:latin typeface="Cambria Math" panose="02040503050406030204" pitchFamily="18" charset="0"/>
                              </a:rPr>
                            </m:ctrlPr>
                          </m:sSupPr>
                          <m:e>
                            <m:r>
                              <a:rPr kumimoji="1" lang="en-US" altLang="ja-GB" b="0" i="1" smtClean="0">
                                <a:latin typeface="Cambria Math" panose="02040503050406030204" pitchFamily="18" charset="0"/>
                              </a:rPr>
                              <m:t>𝑛</m:t>
                            </m:r>
                          </m:e>
                          <m:sup>
                            <m:r>
                              <a:rPr kumimoji="1" lang="en-US" altLang="ja-GB" b="0" i="1" smtClean="0">
                                <a:latin typeface="Cambria Math" panose="02040503050406030204" pitchFamily="18" charset="0"/>
                              </a:rPr>
                              <m:t>2</m:t>
                            </m:r>
                          </m:sup>
                        </m:sSup>
                      </m:e>
                    </m:d>
                  </m:oMath>
                </a14:m>
                <a:endParaRPr kumimoji="1" lang="en-US" altLang="ja-GB" dirty="0"/>
              </a:p>
              <a:p>
                <a:r>
                  <a:rPr kumimoji="1" lang="ja-GB" altLang="en-US" dirty="0"/>
                  <a:t>最悪計算量：</a:t>
                </a:r>
                <a14:m>
                  <m:oMath xmlns:m="http://schemas.openxmlformats.org/officeDocument/2006/math">
                    <m:r>
                      <a:rPr kumimoji="1" lang="en-US" altLang="ja-GB" b="0" i="1" smtClean="0">
                        <a:latin typeface="Cambria Math" panose="02040503050406030204" pitchFamily="18" charset="0"/>
                      </a:rPr>
                      <m:t>𝑂</m:t>
                    </m:r>
                    <m:d>
                      <m:dPr>
                        <m:ctrlPr>
                          <a:rPr kumimoji="1" lang="en-US" altLang="ja-GB" b="0" i="1" smtClean="0">
                            <a:latin typeface="Cambria Math" panose="02040503050406030204" pitchFamily="18" charset="0"/>
                          </a:rPr>
                        </m:ctrlPr>
                      </m:dPr>
                      <m:e>
                        <m:sSup>
                          <m:sSupPr>
                            <m:ctrlPr>
                              <a:rPr kumimoji="1" lang="en-US" altLang="ja-GB" b="0" i="1" smtClean="0">
                                <a:latin typeface="Cambria Math" panose="02040503050406030204" pitchFamily="18" charset="0"/>
                              </a:rPr>
                            </m:ctrlPr>
                          </m:sSupPr>
                          <m:e>
                            <m:r>
                              <a:rPr kumimoji="1" lang="en-US" altLang="ja-GB" b="0" i="1" smtClean="0">
                                <a:latin typeface="Cambria Math" panose="02040503050406030204" pitchFamily="18" charset="0"/>
                              </a:rPr>
                              <m:t>𝑛</m:t>
                            </m:r>
                          </m:e>
                          <m:sup>
                            <m:r>
                              <a:rPr kumimoji="1" lang="en-US" altLang="ja-GB" b="0" i="1" smtClean="0">
                                <a:latin typeface="Cambria Math" panose="02040503050406030204" pitchFamily="18" charset="0"/>
                              </a:rPr>
                              <m:t>2</m:t>
                            </m:r>
                          </m:sup>
                        </m:sSup>
                      </m:e>
                    </m:d>
                  </m:oMath>
                </a14:m>
                <a:endParaRPr kumimoji="1" lang="ja-GB" altLang="en-US" dirty="0"/>
              </a:p>
            </p:txBody>
          </p:sp>
        </mc:Choice>
        <mc:Fallback xmlns="">
          <p:sp>
            <p:nvSpPr>
              <p:cNvPr id="40" name="テキスト ボックス 39">
                <a:extLst>
                  <a:ext uri="{FF2B5EF4-FFF2-40B4-BE49-F238E27FC236}">
                    <a16:creationId xmlns:a16="http://schemas.microsoft.com/office/drawing/2014/main" id="{74532399-8CA6-BFA3-5596-2B150DBCCB9F}"/>
                  </a:ext>
                </a:extLst>
              </p:cNvPr>
              <p:cNvSpPr txBox="1">
                <a:spLocks noRot="1" noChangeAspect="1" noMove="1" noResize="1" noEditPoints="1" noAdjustHandles="1" noChangeArrowheads="1" noChangeShapeType="1" noTextEdit="1"/>
              </p:cNvSpPr>
              <p:nvPr/>
            </p:nvSpPr>
            <p:spPr>
              <a:xfrm>
                <a:off x="6183566" y="5610738"/>
                <a:ext cx="2166747" cy="923330"/>
              </a:xfrm>
              <a:prstGeom prst="rect">
                <a:avLst/>
              </a:prstGeom>
              <a:blipFill>
                <a:blip r:embed="rId3"/>
                <a:stretch>
                  <a:fillRect l="-2326" t="-2703" b="-9459"/>
                </a:stretch>
              </a:blipFill>
            </p:spPr>
            <p:txBody>
              <a:bodyPr/>
              <a:lstStyle/>
              <a:p>
                <a:r>
                  <a:rPr lang="ja-GB" altLang="en-US">
                    <a:noFill/>
                  </a:rPr>
                  <a:t> </a:t>
                </a:r>
              </a:p>
            </p:txBody>
          </p:sp>
        </mc:Fallback>
      </mc:AlternateContent>
      <p:cxnSp>
        <p:nvCxnSpPr>
          <p:cNvPr id="45" name="カギ線コネクタ 44">
            <a:extLst>
              <a:ext uri="{FF2B5EF4-FFF2-40B4-BE49-F238E27FC236}">
                <a16:creationId xmlns:a16="http://schemas.microsoft.com/office/drawing/2014/main" id="{8EABF24C-97BB-5C64-0850-F83B1A233DF9}"/>
              </a:ext>
            </a:extLst>
          </p:cNvPr>
          <p:cNvCxnSpPr>
            <a:cxnSpLocks/>
            <a:stCxn id="16" idx="0"/>
            <a:endCxn id="14" idx="0"/>
          </p:cNvCxnSpPr>
          <p:nvPr/>
        </p:nvCxnSpPr>
        <p:spPr>
          <a:xfrm rot="16200000" flipH="1" flipV="1">
            <a:off x="3624234" y="2044010"/>
            <a:ext cx="2" cy="961080"/>
          </a:xfrm>
          <a:prstGeom prst="bentConnector3">
            <a:avLst>
              <a:gd name="adj1" fmla="val -11430000000"/>
            </a:avLst>
          </a:prstGeom>
          <a:ln w="381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E1E71920-08C0-58DD-077D-7E805F5F57F6}"/>
              </a:ext>
            </a:extLst>
          </p:cNvPr>
          <p:cNvCxnSpPr>
            <a:cxnSpLocks/>
          </p:cNvCxnSpPr>
          <p:nvPr/>
        </p:nvCxnSpPr>
        <p:spPr>
          <a:xfrm flipH="1">
            <a:off x="3394356" y="2406705"/>
            <a:ext cx="1489" cy="70703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65D569F5-D7D0-4FAF-8094-D9140BB985CE}"/>
              </a:ext>
            </a:extLst>
          </p:cNvPr>
          <p:cNvCxnSpPr>
            <a:cxnSpLocks/>
          </p:cNvCxnSpPr>
          <p:nvPr/>
        </p:nvCxnSpPr>
        <p:spPr>
          <a:xfrm flipH="1">
            <a:off x="3381042" y="3251620"/>
            <a:ext cx="1489" cy="70703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C91B4ED9-8023-4748-F9C0-4773E963FD4D}"/>
              </a:ext>
            </a:extLst>
          </p:cNvPr>
          <p:cNvCxnSpPr>
            <a:cxnSpLocks/>
          </p:cNvCxnSpPr>
          <p:nvPr/>
        </p:nvCxnSpPr>
        <p:spPr>
          <a:xfrm flipH="1">
            <a:off x="3875364" y="4076480"/>
            <a:ext cx="1489" cy="70703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54" name="カギ線コネクタ 53">
            <a:extLst>
              <a:ext uri="{FF2B5EF4-FFF2-40B4-BE49-F238E27FC236}">
                <a16:creationId xmlns:a16="http://schemas.microsoft.com/office/drawing/2014/main" id="{DBA8B1E8-1576-E485-4452-95428EA3BECD}"/>
              </a:ext>
            </a:extLst>
          </p:cNvPr>
          <p:cNvCxnSpPr>
            <a:cxnSpLocks/>
            <a:stCxn id="35" idx="0"/>
            <a:endCxn id="33" idx="0"/>
          </p:cNvCxnSpPr>
          <p:nvPr/>
        </p:nvCxnSpPr>
        <p:spPr>
          <a:xfrm rot="16200000" flipV="1">
            <a:off x="4105698" y="3715729"/>
            <a:ext cx="12700" cy="957192"/>
          </a:xfrm>
          <a:prstGeom prst="bentConnector3">
            <a:avLst>
              <a:gd name="adj1" fmla="val 1800000"/>
            </a:avLst>
          </a:prstGeom>
          <a:ln w="381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D1FC1DF1-1A1A-7C0E-355C-217686A5F59C}"/>
              </a:ext>
            </a:extLst>
          </p:cNvPr>
          <p:cNvCxnSpPr>
            <a:cxnSpLocks/>
          </p:cNvCxnSpPr>
          <p:nvPr/>
        </p:nvCxnSpPr>
        <p:spPr>
          <a:xfrm flipH="1">
            <a:off x="2897635" y="1605062"/>
            <a:ext cx="1489" cy="707034"/>
          </a:xfrm>
          <a:prstGeom prst="line">
            <a:avLst/>
          </a:prstGeom>
          <a:ln w="57150"/>
        </p:spPr>
        <p:style>
          <a:lnRef idx="1">
            <a:schemeClr val="accent1"/>
          </a:lnRef>
          <a:fillRef idx="0">
            <a:schemeClr val="accent1"/>
          </a:fillRef>
          <a:effectRef idx="0">
            <a:schemeClr val="accent1"/>
          </a:effectRef>
          <a:fontRef idx="minor">
            <a:schemeClr val="tx1"/>
          </a:fontRef>
        </p:style>
      </p:cxnSp>
      <p:grpSp>
        <p:nvGrpSpPr>
          <p:cNvPr id="60" name="グループ化 59">
            <a:extLst>
              <a:ext uri="{FF2B5EF4-FFF2-40B4-BE49-F238E27FC236}">
                <a16:creationId xmlns:a16="http://schemas.microsoft.com/office/drawing/2014/main" id="{6D9BB497-7E17-3BD0-5299-B94F25948EAB}"/>
              </a:ext>
            </a:extLst>
          </p:cNvPr>
          <p:cNvGrpSpPr/>
          <p:nvPr/>
        </p:nvGrpSpPr>
        <p:grpSpPr>
          <a:xfrm>
            <a:off x="2916228" y="5021549"/>
            <a:ext cx="1918272" cy="471346"/>
            <a:chOff x="2900144" y="1583697"/>
            <a:chExt cx="1918272" cy="471346"/>
          </a:xfrm>
          <a:solidFill>
            <a:schemeClr val="bg1">
              <a:lumMod val="95000"/>
            </a:schemeClr>
          </a:solidFill>
        </p:grpSpPr>
        <p:sp>
          <p:nvSpPr>
            <p:cNvPr id="61" name="正方形/長方形 60">
              <a:extLst>
                <a:ext uri="{FF2B5EF4-FFF2-40B4-BE49-F238E27FC236}">
                  <a16:creationId xmlns:a16="http://schemas.microsoft.com/office/drawing/2014/main" id="{FFF156F2-FD2A-FA25-BBBB-B4777A5B0AE7}"/>
                </a:ext>
              </a:extLst>
            </p:cNvPr>
            <p:cNvSpPr/>
            <p:nvPr/>
          </p:nvSpPr>
          <p:spPr>
            <a:xfrm>
              <a:off x="2900144" y="158369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62" name="正方形/長方形 61">
              <a:extLst>
                <a:ext uri="{FF2B5EF4-FFF2-40B4-BE49-F238E27FC236}">
                  <a16:creationId xmlns:a16="http://schemas.microsoft.com/office/drawing/2014/main" id="{A627FF94-F7D8-462E-DDB4-CB73B2D99D99}"/>
                </a:ext>
              </a:extLst>
            </p:cNvPr>
            <p:cNvSpPr/>
            <p:nvPr/>
          </p:nvSpPr>
          <p:spPr>
            <a:xfrm>
              <a:off x="3383551" y="1583697"/>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63" name="正方形/長方形 62">
              <a:extLst>
                <a:ext uri="{FF2B5EF4-FFF2-40B4-BE49-F238E27FC236}">
                  <a16:creationId xmlns:a16="http://schemas.microsoft.com/office/drawing/2014/main" id="{3D208B8C-0896-BE2D-DF12-367859949757}"/>
                </a:ext>
              </a:extLst>
            </p:cNvPr>
            <p:cNvSpPr/>
            <p:nvPr/>
          </p:nvSpPr>
          <p:spPr>
            <a:xfrm>
              <a:off x="3861224" y="1583697"/>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64" name="正方形/長方形 63">
              <a:extLst>
                <a:ext uri="{FF2B5EF4-FFF2-40B4-BE49-F238E27FC236}">
                  <a16:creationId xmlns:a16="http://schemas.microsoft.com/office/drawing/2014/main" id="{CAAC6814-46BF-EBCA-EF57-A0E8C8B8969B}"/>
                </a:ext>
              </a:extLst>
            </p:cNvPr>
            <p:cNvSpPr/>
            <p:nvPr/>
          </p:nvSpPr>
          <p:spPr>
            <a:xfrm>
              <a:off x="4340743" y="1583697"/>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grpSp>
      <p:sp>
        <p:nvSpPr>
          <p:cNvPr id="65" name="テキスト ボックス 64">
            <a:extLst>
              <a:ext uri="{FF2B5EF4-FFF2-40B4-BE49-F238E27FC236}">
                <a16:creationId xmlns:a16="http://schemas.microsoft.com/office/drawing/2014/main" id="{286E6607-9881-393E-91A9-06A3920ADAC2}"/>
              </a:ext>
            </a:extLst>
          </p:cNvPr>
          <p:cNvSpPr txBox="1"/>
          <p:nvPr/>
        </p:nvSpPr>
        <p:spPr>
          <a:xfrm>
            <a:off x="499583" y="5072555"/>
            <a:ext cx="1800493" cy="369332"/>
          </a:xfrm>
          <a:prstGeom prst="rect">
            <a:avLst/>
          </a:prstGeom>
          <a:noFill/>
        </p:spPr>
        <p:txBody>
          <a:bodyPr wrap="none" rtlCol="0">
            <a:spAutoFit/>
          </a:bodyPr>
          <a:lstStyle/>
          <a:p>
            <a:r>
              <a:rPr kumimoji="1" lang="ja-GB" altLang="en-US" dirty="0"/>
              <a:t>最小要素を探す</a:t>
            </a:r>
          </a:p>
        </p:txBody>
      </p:sp>
      <p:cxnSp>
        <p:nvCxnSpPr>
          <p:cNvPr id="66" name="直線コネクタ 65">
            <a:extLst>
              <a:ext uri="{FF2B5EF4-FFF2-40B4-BE49-F238E27FC236}">
                <a16:creationId xmlns:a16="http://schemas.microsoft.com/office/drawing/2014/main" id="{B31A627D-D4AA-42E6-E3D2-51962082703F}"/>
              </a:ext>
            </a:extLst>
          </p:cNvPr>
          <p:cNvCxnSpPr>
            <a:cxnSpLocks/>
          </p:cNvCxnSpPr>
          <p:nvPr/>
        </p:nvCxnSpPr>
        <p:spPr>
          <a:xfrm flipH="1">
            <a:off x="3886734" y="4903704"/>
            <a:ext cx="1489" cy="707034"/>
          </a:xfrm>
          <a:prstGeom prst="line">
            <a:avLst/>
          </a:prstGeom>
          <a:ln w="57150"/>
        </p:spPr>
        <p:style>
          <a:lnRef idx="1">
            <a:schemeClr val="accent1"/>
          </a:lnRef>
          <a:fillRef idx="0">
            <a:schemeClr val="accent1"/>
          </a:fillRef>
          <a:effectRef idx="0">
            <a:schemeClr val="accent1"/>
          </a:effectRef>
          <a:fontRef idx="minor">
            <a:schemeClr val="tx1"/>
          </a:fontRef>
        </p:style>
      </p:cxnSp>
      <p:grpSp>
        <p:nvGrpSpPr>
          <p:cNvPr id="68" name="グループ化 67">
            <a:extLst>
              <a:ext uri="{FF2B5EF4-FFF2-40B4-BE49-F238E27FC236}">
                <a16:creationId xmlns:a16="http://schemas.microsoft.com/office/drawing/2014/main" id="{7F7AACAD-D86A-EA77-B8E4-DC48F9D94888}"/>
              </a:ext>
            </a:extLst>
          </p:cNvPr>
          <p:cNvGrpSpPr/>
          <p:nvPr/>
        </p:nvGrpSpPr>
        <p:grpSpPr>
          <a:xfrm>
            <a:off x="2927598" y="5914271"/>
            <a:ext cx="1918272" cy="471346"/>
            <a:chOff x="2900144" y="1583697"/>
            <a:chExt cx="1918272" cy="471346"/>
          </a:xfrm>
          <a:solidFill>
            <a:schemeClr val="bg1">
              <a:lumMod val="95000"/>
            </a:schemeClr>
          </a:solidFill>
        </p:grpSpPr>
        <p:sp>
          <p:nvSpPr>
            <p:cNvPr id="69" name="正方形/長方形 68">
              <a:extLst>
                <a:ext uri="{FF2B5EF4-FFF2-40B4-BE49-F238E27FC236}">
                  <a16:creationId xmlns:a16="http://schemas.microsoft.com/office/drawing/2014/main" id="{5B979A05-2AD3-0537-3A6F-0694183828E4}"/>
                </a:ext>
              </a:extLst>
            </p:cNvPr>
            <p:cNvSpPr/>
            <p:nvPr/>
          </p:nvSpPr>
          <p:spPr>
            <a:xfrm>
              <a:off x="2900144" y="158369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70" name="正方形/長方形 69">
              <a:extLst>
                <a:ext uri="{FF2B5EF4-FFF2-40B4-BE49-F238E27FC236}">
                  <a16:creationId xmlns:a16="http://schemas.microsoft.com/office/drawing/2014/main" id="{E40ADE24-DA1D-D1D5-F1AD-FAC2E78867A3}"/>
                </a:ext>
              </a:extLst>
            </p:cNvPr>
            <p:cNvSpPr/>
            <p:nvPr/>
          </p:nvSpPr>
          <p:spPr>
            <a:xfrm>
              <a:off x="3383551" y="1583697"/>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71" name="正方形/長方形 70">
              <a:extLst>
                <a:ext uri="{FF2B5EF4-FFF2-40B4-BE49-F238E27FC236}">
                  <a16:creationId xmlns:a16="http://schemas.microsoft.com/office/drawing/2014/main" id="{9727D56A-4429-9A88-83E0-8E3F96A2FB24}"/>
                </a:ext>
              </a:extLst>
            </p:cNvPr>
            <p:cNvSpPr/>
            <p:nvPr/>
          </p:nvSpPr>
          <p:spPr>
            <a:xfrm>
              <a:off x="3861224" y="1583697"/>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72" name="正方形/長方形 71">
              <a:extLst>
                <a:ext uri="{FF2B5EF4-FFF2-40B4-BE49-F238E27FC236}">
                  <a16:creationId xmlns:a16="http://schemas.microsoft.com/office/drawing/2014/main" id="{5B33B12C-2328-F1C5-CA24-63512D33D64F}"/>
                </a:ext>
              </a:extLst>
            </p:cNvPr>
            <p:cNvSpPr/>
            <p:nvPr/>
          </p:nvSpPr>
          <p:spPr>
            <a:xfrm>
              <a:off x="4340743" y="1583697"/>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grpSp>
      <p:sp>
        <p:nvSpPr>
          <p:cNvPr id="73" name="テキスト ボックス 72">
            <a:extLst>
              <a:ext uri="{FF2B5EF4-FFF2-40B4-BE49-F238E27FC236}">
                <a16:creationId xmlns:a16="http://schemas.microsoft.com/office/drawing/2014/main" id="{69F3E5AE-0E07-766E-0145-2E1960EA60E4}"/>
              </a:ext>
            </a:extLst>
          </p:cNvPr>
          <p:cNvSpPr txBox="1"/>
          <p:nvPr/>
        </p:nvSpPr>
        <p:spPr>
          <a:xfrm>
            <a:off x="510953" y="5965277"/>
            <a:ext cx="2031325" cy="369332"/>
          </a:xfrm>
          <a:prstGeom prst="rect">
            <a:avLst/>
          </a:prstGeom>
          <a:noFill/>
        </p:spPr>
        <p:txBody>
          <a:bodyPr wrap="none" rtlCol="0">
            <a:spAutoFit/>
          </a:bodyPr>
          <a:lstStyle/>
          <a:p>
            <a:r>
              <a:rPr kumimoji="1" lang="ja-GB" altLang="en-US" dirty="0"/>
              <a:t>先頭と入れ替える</a:t>
            </a:r>
          </a:p>
        </p:txBody>
      </p:sp>
      <p:cxnSp>
        <p:nvCxnSpPr>
          <p:cNvPr id="74" name="直線コネクタ 73">
            <a:extLst>
              <a:ext uri="{FF2B5EF4-FFF2-40B4-BE49-F238E27FC236}">
                <a16:creationId xmlns:a16="http://schemas.microsoft.com/office/drawing/2014/main" id="{71914866-A388-195C-092E-3D9432C7A3F9}"/>
              </a:ext>
            </a:extLst>
          </p:cNvPr>
          <p:cNvCxnSpPr>
            <a:cxnSpLocks/>
          </p:cNvCxnSpPr>
          <p:nvPr/>
        </p:nvCxnSpPr>
        <p:spPr>
          <a:xfrm flipH="1">
            <a:off x="4366885" y="5796426"/>
            <a:ext cx="1489" cy="707034"/>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81736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9DF38-9E9D-B025-ACEF-FA0007ABB4D1}"/>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E0C9FFDE-0ED5-E3F6-A39A-110C1467EBB4}"/>
              </a:ext>
            </a:extLst>
          </p:cNvPr>
          <p:cNvSpPr>
            <a:spLocks noGrp="1"/>
          </p:cNvSpPr>
          <p:nvPr>
            <p:ph type="title"/>
          </p:nvPr>
        </p:nvSpPr>
        <p:spPr/>
        <p:txBody>
          <a:bodyPr/>
          <a:lstStyle/>
          <a:p>
            <a:r>
              <a:rPr lang="ja-GB" altLang="en-US" dirty="0"/>
              <a:t>具体例：ソート（並び替え）アルゴリズム</a:t>
            </a:r>
          </a:p>
        </p:txBody>
      </p:sp>
      <p:sp>
        <p:nvSpPr>
          <p:cNvPr id="5" name="コンテンツ プレースホルダー 4">
            <a:extLst>
              <a:ext uri="{FF2B5EF4-FFF2-40B4-BE49-F238E27FC236}">
                <a16:creationId xmlns:a16="http://schemas.microsoft.com/office/drawing/2014/main" id="{470B3D7C-C5F4-AFE9-47FD-F4F77B130A8D}"/>
              </a:ext>
            </a:extLst>
          </p:cNvPr>
          <p:cNvSpPr>
            <a:spLocks noGrp="1"/>
          </p:cNvSpPr>
          <p:nvPr>
            <p:ph idx="1"/>
          </p:nvPr>
        </p:nvSpPr>
        <p:spPr/>
        <p:txBody>
          <a:bodyPr/>
          <a:lstStyle/>
          <a:p>
            <a:pPr marL="0" indent="0">
              <a:buNone/>
            </a:pPr>
            <a:r>
              <a:rPr lang="ja-GB" altLang="en-US" dirty="0"/>
              <a:t>配列を順番通りに並び替えるアルゴリズム</a:t>
            </a:r>
            <a:endParaRPr lang="en-US" altLang="ja-GB" dirty="0"/>
          </a:p>
          <a:p>
            <a:pPr marL="457200" lvl="1" indent="0">
              <a:buNone/>
            </a:pPr>
            <a:r>
              <a:rPr lang="ja-GB" altLang="en-US" dirty="0"/>
              <a:t>素朴な発想で理解</a:t>
            </a:r>
            <a:r>
              <a:rPr lang="en-US" altLang="ja-GB" dirty="0"/>
              <a:t>/</a:t>
            </a:r>
            <a:r>
              <a:rPr lang="ja-GB" altLang="en-US" dirty="0"/>
              <a:t>実装しやすい（概念的複雑性が低い）</a:t>
            </a:r>
            <a:endParaRPr lang="en-US" altLang="ja-GB" dirty="0"/>
          </a:p>
          <a:p>
            <a:pPr lvl="2"/>
            <a:r>
              <a:rPr lang="ja-GB" altLang="en-US" dirty="0"/>
              <a:t>バブルソート</a:t>
            </a:r>
            <a:endParaRPr lang="en-US" altLang="ja-GB" dirty="0"/>
          </a:p>
          <a:p>
            <a:pPr lvl="2"/>
            <a:r>
              <a:rPr lang="ja-GB" altLang="en-US" dirty="0"/>
              <a:t>選択ソート</a:t>
            </a:r>
            <a:endParaRPr lang="en-US" altLang="ja-GB" dirty="0"/>
          </a:p>
          <a:p>
            <a:pPr marL="457200" lvl="1" indent="0">
              <a:buNone/>
            </a:pPr>
            <a:r>
              <a:rPr lang="ja-GB" altLang="en-US" dirty="0">
                <a:solidFill>
                  <a:srgbClr val="0070C0"/>
                </a:solidFill>
              </a:rPr>
              <a:t>大きなデータを少ない手順で捌ける（計算複雑性が低い）</a:t>
            </a:r>
            <a:endParaRPr lang="en-US" altLang="ja-GB" dirty="0">
              <a:solidFill>
                <a:srgbClr val="0070C0"/>
              </a:solidFill>
            </a:endParaRPr>
          </a:p>
          <a:p>
            <a:pPr lvl="2"/>
            <a:r>
              <a:rPr lang="ja-GB" altLang="en-US" dirty="0"/>
              <a:t>クイックソート</a:t>
            </a:r>
            <a:endParaRPr lang="en-US" altLang="ja-GB" dirty="0"/>
          </a:p>
        </p:txBody>
      </p:sp>
    </p:spTree>
    <p:extLst>
      <p:ext uri="{BB962C8B-B14F-4D97-AF65-F5344CB8AC3E}">
        <p14:creationId xmlns:p14="http://schemas.microsoft.com/office/powerpoint/2010/main" val="24392344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DE486E-703B-CB03-EB47-052577D257BC}"/>
              </a:ext>
            </a:extLst>
          </p:cNvPr>
          <p:cNvSpPr>
            <a:spLocks noGrp="1"/>
          </p:cNvSpPr>
          <p:nvPr>
            <p:ph type="title"/>
          </p:nvPr>
        </p:nvSpPr>
        <p:spPr/>
        <p:txBody>
          <a:bodyPr/>
          <a:lstStyle/>
          <a:p>
            <a:r>
              <a:rPr kumimoji="1" lang="ja-GB" altLang="en-US" dirty="0"/>
              <a:t>クイックソート（直訳：速いソート）</a:t>
            </a:r>
          </a:p>
        </p:txBody>
      </p:sp>
      <p:sp>
        <p:nvSpPr>
          <p:cNvPr id="3" name="コンテンツ プレースホルダー 2">
            <a:extLst>
              <a:ext uri="{FF2B5EF4-FFF2-40B4-BE49-F238E27FC236}">
                <a16:creationId xmlns:a16="http://schemas.microsoft.com/office/drawing/2014/main" id="{FEB1A6B7-F3A8-2E90-CD2E-48B97B91A5AC}"/>
              </a:ext>
            </a:extLst>
          </p:cNvPr>
          <p:cNvSpPr>
            <a:spLocks noGrp="1"/>
          </p:cNvSpPr>
          <p:nvPr>
            <p:ph idx="1"/>
          </p:nvPr>
        </p:nvSpPr>
        <p:spPr/>
        <p:txBody>
          <a:bodyPr/>
          <a:lstStyle/>
          <a:p>
            <a:pPr marL="0" indent="0">
              <a:buNone/>
            </a:pPr>
            <a:r>
              <a:rPr kumimoji="1" lang="ja-GB" altLang="en-US" dirty="0"/>
              <a:t>基準を決めて，それ以上</a:t>
            </a:r>
            <a:r>
              <a:rPr kumimoji="1" lang="en-US" altLang="ja-GB" dirty="0"/>
              <a:t>/</a:t>
            </a:r>
            <a:r>
              <a:rPr lang="ja-GB" altLang="en-US" dirty="0"/>
              <a:t>以下に分ける操作を繰り返す</a:t>
            </a:r>
            <a:endParaRPr lang="en-US" altLang="ja-GB" dirty="0"/>
          </a:p>
          <a:p>
            <a:pPr lvl="1"/>
            <a:endParaRPr kumimoji="1" lang="ja-GB" altLang="en-US" dirty="0"/>
          </a:p>
        </p:txBody>
      </p:sp>
      <p:grpSp>
        <p:nvGrpSpPr>
          <p:cNvPr id="64" name="グループ化 63">
            <a:extLst>
              <a:ext uri="{FF2B5EF4-FFF2-40B4-BE49-F238E27FC236}">
                <a16:creationId xmlns:a16="http://schemas.microsoft.com/office/drawing/2014/main" id="{4998FBAB-30BA-C10E-6F8D-3739363574B7}"/>
              </a:ext>
            </a:extLst>
          </p:cNvPr>
          <p:cNvGrpSpPr/>
          <p:nvPr/>
        </p:nvGrpSpPr>
        <p:grpSpPr>
          <a:xfrm>
            <a:off x="361001" y="1364005"/>
            <a:ext cx="5505780" cy="748343"/>
            <a:chOff x="738075" y="1583697"/>
            <a:chExt cx="5505780" cy="748343"/>
          </a:xfrm>
        </p:grpSpPr>
        <p:sp>
          <p:nvSpPr>
            <p:cNvPr id="5" name="正方形/長方形 4">
              <a:extLst>
                <a:ext uri="{FF2B5EF4-FFF2-40B4-BE49-F238E27FC236}">
                  <a16:creationId xmlns:a16="http://schemas.microsoft.com/office/drawing/2014/main" id="{C6E3C582-8F88-2C54-258E-573B35DCD5A3}"/>
                </a:ext>
              </a:extLst>
            </p:cNvPr>
            <p:cNvSpPr/>
            <p:nvPr/>
          </p:nvSpPr>
          <p:spPr>
            <a:xfrm>
              <a:off x="2900144" y="1583699"/>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6" name="正方形/長方形 5">
              <a:extLst>
                <a:ext uri="{FF2B5EF4-FFF2-40B4-BE49-F238E27FC236}">
                  <a16:creationId xmlns:a16="http://schemas.microsoft.com/office/drawing/2014/main" id="{251B64B4-DA8F-4053-EB5A-866A7D388682}"/>
                </a:ext>
              </a:extLst>
            </p:cNvPr>
            <p:cNvSpPr/>
            <p:nvPr/>
          </p:nvSpPr>
          <p:spPr>
            <a:xfrm>
              <a:off x="3374124" y="1583697"/>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7" name="正方形/長方形 6">
              <a:extLst>
                <a:ext uri="{FF2B5EF4-FFF2-40B4-BE49-F238E27FC236}">
                  <a16:creationId xmlns:a16="http://schemas.microsoft.com/office/drawing/2014/main" id="{E32BD559-7147-79DF-FEE9-AA250A3866FD}"/>
                </a:ext>
              </a:extLst>
            </p:cNvPr>
            <p:cNvSpPr/>
            <p:nvPr/>
          </p:nvSpPr>
          <p:spPr>
            <a:xfrm>
              <a:off x="3851797" y="1583697"/>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8" name="正方形/長方形 7">
              <a:extLst>
                <a:ext uri="{FF2B5EF4-FFF2-40B4-BE49-F238E27FC236}">
                  <a16:creationId xmlns:a16="http://schemas.microsoft.com/office/drawing/2014/main" id="{65BA7ABF-60F1-9BE8-4463-BFC556049F97}"/>
                </a:ext>
              </a:extLst>
            </p:cNvPr>
            <p:cNvSpPr/>
            <p:nvPr/>
          </p:nvSpPr>
          <p:spPr>
            <a:xfrm>
              <a:off x="4331316" y="1583697"/>
              <a:ext cx="477673" cy="471344"/>
            </a:xfrm>
            <a:prstGeom prst="rect">
              <a:avLst/>
            </a:prstGeom>
            <a:solidFill>
              <a:schemeClr val="accent6">
                <a:lumMod val="40000"/>
                <a:lumOff val="6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9" name="正方形/長方形 8">
              <a:extLst>
                <a:ext uri="{FF2B5EF4-FFF2-40B4-BE49-F238E27FC236}">
                  <a16:creationId xmlns:a16="http://schemas.microsoft.com/office/drawing/2014/main" id="{919D9B62-0894-F8CA-171D-029769AAFF42}"/>
                </a:ext>
              </a:extLst>
            </p:cNvPr>
            <p:cNvSpPr/>
            <p:nvPr/>
          </p:nvSpPr>
          <p:spPr>
            <a:xfrm>
              <a:off x="4808989" y="1583697"/>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10" name="正方形/長方形 9">
              <a:extLst>
                <a:ext uri="{FF2B5EF4-FFF2-40B4-BE49-F238E27FC236}">
                  <a16:creationId xmlns:a16="http://schemas.microsoft.com/office/drawing/2014/main" id="{0BCD9CCC-B231-D0CD-8B54-181A52FBD7B8}"/>
                </a:ext>
              </a:extLst>
            </p:cNvPr>
            <p:cNvSpPr/>
            <p:nvPr/>
          </p:nvSpPr>
          <p:spPr>
            <a:xfrm>
              <a:off x="5288509" y="1583697"/>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11" name="正方形/長方形 10">
              <a:extLst>
                <a:ext uri="{FF2B5EF4-FFF2-40B4-BE49-F238E27FC236}">
                  <a16:creationId xmlns:a16="http://schemas.microsoft.com/office/drawing/2014/main" id="{CD885B60-60D4-A193-CCBD-359CC055A317}"/>
                </a:ext>
              </a:extLst>
            </p:cNvPr>
            <p:cNvSpPr/>
            <p:nvPr/>
          </p:nvSpPr>
          <p:spPr>
            <a:xfrm>
              <a:off x="5766182" y="1583697"/>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13" name="テキスト ボックス 12">
              <a:extLst>
                <a:ext uri="{FF2B5EF4-FFF2-40B4-BE49-F238E27FC236}">
                  <a16:creationId xmlns:a16="http://schemas.microsoft.com/office/drawing/2014/main" id="{CB7D792A-DF49-18A3-21BE-B678FA01888D}"/>
                </a:ext>
              </a:extLst>
            </p:cNvPr>
            <p:cNvSpPr txBox="1"/>
            <p:nvPr/>
          </p:nvSpPr>
          <p:spPr>
            <a:xfrm>
              <a:off x="4325777" y="2055041"/>
              <a:ext cx="492444" cy="276999"/>
            </a:xfrm>
            <a:prstGeom prst="rect">
              <a:avLst/>
            </a:prstGeom>
            <a:noFill/>
          </p:spPr>
          <p:txBody>
            <a:bodyPr wrap="none" rtlCol="0">
              <a:spAutoFit/>
            </a:bodyPr>
            <a:lstStyle/>
            <a:p>
              <a:pPr algn="ctr"/>
              <a:r>
                <a:rPr kumimoji="1" lang="ja-GB" altLang="en-US" sz="1200" b="1" dirty="0">
                  <a:solidFill>
                    <a:schemeClr val="accent6">
                      <a:lumMod val="50000"/>
                    </a:schemeClr>
                  </a:solidFill>
                </a:rPr>
                <a:t>基準</a:t>
              </a:r>
            </a:p>
          </p:txBody>
        </p:sp>
        <p:sp>
          <p:nvSpPr>
            <p:cNvPr id="33" name="テキスト ボックス 32">
              <a:extLst>
                <a:ext uri="{FF2B5EF4-FFF2-40B4-BE49-F238E27FC236}">
                  <a16:creationId xmlns:a16="http://schemas.microsoft.com/office/drawing/2014/main" id="{2FB42511-C463-9D0A-ADC4-6C5457C76469}"/>
                </a:ext>
              </a:extLst>
            </p:cNvPr>
            <p:cNvSpPr txBox="1"/>
            <p:nvPr/>
          </p:nvSpPr>
          <p:spPr>
            <a:xfrm>
              <a:off x="738075" y="1680869"/>
              <a:ext cx="1107996" cy="276999"/>
            </a:xfrm>
            <a:prstGeom prst="rect">
              <a:avLst/>
            </a:prstGeom>
            <a:noFill/>
          </p:spPr>
          <p:txBody>
            <a:bodyPr wrap="none" rtlCol="0">
              <a:spAutoFit/>
            </a:bodyPr>
            <a:lstStyle/>
            <a:p>
              <a:r>
                <a:rPr kumimoji="1" lang="ja-GB" altLang="en-US" sz="1200" b="1" dirty="0"/>
                <a:t>基準を決める</a:t>
              </a:r>
            </a:p>
          </p:txBody>
        </p:sp>
      </p:grpSp>
      <p:grpSp>
        <p:nvGrpSpPr>
          <p:cNvPr id="65" name="グループ化 64">
            <a:extLst>
              <a:ext uri="{FF2B5EF4-FFF2-40B4-BE49-F238E27FC236}">
                <a16:creationId xmlns:a16="http://schemas.microsoft.com/office/drawing/2014/main" id="{427BE1D7-6D66-FC3D-0F71-34453C738397}"/>
              </a:ext>
            </a:extLst>
          </p:cNvPr>
          <p:cNvGrpSpPr/>
          <p:nvPr/>
        </p:nvGrpSpPr>
        <p:grpSpPr>
          <a:xfrm>
            <a:off x="363994" y="2138274"/>
            <a:ext cx="5501546" cy="749162"/>
            <a:chOff x="742309" y="2448600"/>
            <a:chExt cx="5501546" cy="749162"/>
          </a:xfrm>
        </p:grpSpPr>
        <p:sp>
          <p:nvSpPr>
            <p:cNvPr id="15" name="正方形/長方形 14">
              <a:extLst>
                <a:ext uri="{FF2B5EF4-FFF2-40B4-BE49-F238E27FC236}">
                  <a16:creationId xmlns:a16="http://schemas.microsoft.com/office/drawing/2014/main" id="{141EABB6-37C5-DBA1-8E1E-B76E09BE03BF}"/>
                </a:ext>
              </a:extLst>
            </p:cNvPr>
            <p:cNvSpPr/>
            <p:nvPr/>
          </p:nvSpPr>
          <p:spPr>
            <a:xfrm>
              <a:off x="4331316" y="2448600"/>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16" name="正方形/長方形 15">
              <a:extLst>
                <a:ext uri="{FF2B5EF4-FFF2-40B4-BE49-F238E27FC236}">
                  <a16:creationId xmlns:a16="http://schemas.microsoft.com/office/drawing/2014/main" id="{BBDCFE7C-5913-282D-2B3E-DDC9613CD2A2}"/>
                </a:ext>
              </a:extLst>
            </p:cNvPr>
            <p:cNvSpPr/>
            <p:nvPr/>
          </p:nvSpPr>
          <p:spPr>
            <a:xfrm>
              <a:off x="4808989" y="2448600"/>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17" name="正方形/長方形 16">
              <a:extLst>
                <a:ext uri="{FF2B5EF4-FFF2-40B4-BE49-F238E27FC236}">
                  <a16:creationId xmlns:a16="http://schemas.microsoft.com/office/drawing/2014/main" id="{0E62ED67-4E69-1716-6AAA-891E1C53A4A1}"/>
                </a:ext>
              </a:extLst>
            </p:cNvPr>
            <p:cNvSpPr/>
            <p:nvPr/>
          </p:nvSpPr>
          <p:spPr>
            <a:xfrm>
              <a:off x="2900144" y="2448600"/>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18" name="正方形/長方形 17">
              <a:extLst>
                <a:ext uri="{FF2B5EF4-FFF2-40B4-BE49-F238E27FC236}">
                  <a16:creationId xmlns:a16="http://schemas.microsoft.com/office/drawing/2014/main" id="{4A53BAF8-092A-575B-2B94-22AD5A4C1FA7}"/>
                </a:ext>
              </a:extLst>
            </p:cNvPr>
            <p:cNvSpPr/>
            <p:nvPr/>
          </p:nvSpPr>
          <p:spPr>
            <a:xfrm>
              <a:off x="3851797" y="2448600"/>
              <a:ext cx="477673" cy="471344"/>
            </a:xfrm>
            <a:prstGeom prst="rect">
              <a:avLst/>
            </a:prstGeom>
            <a:solidFill>
              <a:schemeClr val="accent6">
                <a:lumMod val="40000"/>
                <a:lumOff val="6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19" name="正方形/長方形 18">
              <a:extLst>
                <a:ext uri="{FF2B5EF4-FFF2-40B4-BE49-F238E27FC236}">
                  <a16:creationId xmlns:a16="http://schemas.microsoft.com/office/drawing/2014/main" id="{08AD8798-7B06-517C-69C9-E3539CBEC2D8}"/>
                </a:ext>
              </a:extLst>
            </p:cNvPr>
            <p:cNvSpPr/>
            <p:nvPr/>
          </p:nvSpPr>
          <p:spPr>
            <a:xfrm>
              <a:off x="5288509" y="2448602"/>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20" name="正方形/長方形 19">
              <a:extLst>
                <a:ext uri="{FF2B5EF4-FFF2-40B4-BE49-F238E27FC236}">
                  <a16:creationId xmlns:a16="http://schemas.microsoft.com/office/drawing/2014/main" id="{5A9F081A-6B77-5E78-2441-AB0DC5A97D3D}"/>
                </a:ext>
              </a:extLst>
            </p:cNvPr>
            <p:cNvSpPr/>
            <p:nvPr/>
          </p:nvSpPr>
          <p:spPr>
            <a:xfrm>
              <a:off x="5766182" y="2448602"/>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21" name="正方形/長方形 20">
              <a:extLst>
                <a:ext uri="{FF2B5EF4-FFF2-40B4-BE49-F238E27FC236}">
                  <a16:creationId xmlns:a16="http://schemas.microsoft.com/office/drawing/2014/main" id="{F33B8AED-92A3-9977-B134-2E7508F811E4}"/>
                </a:ext>
              </a:extLst>
            </p:cNvPr>
            <p:cNvSpPr/>
            <p:nvPr/>
          </p:nvSpPr>
          <p:spPr>
            <a:xfrm>
              <a:off x="3374124" y="2448600"/>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22" name="テキスト ボックス 21">
              <a:extLst>
                <a:ext uri="{FF2B5EF4-FFF2-40B4-BE49-F238E27FC236}">
                  <a16:creationId xmlns:a16="http://schemas.microsoft.com/office/drawing/2014/main" id="{578F3855-BE7E-9E10-1E42-B1C42CFA13AF}"/>
                </a:ext>
              </a:extLst>
            </p:cNvPr>
            <p:cNvSpPr txBox="1"/>
            <p:nvPr/>
          </p:nvSpPr>
          <p:spPr>
            <a:xfrm>
              <a:off x="2979553" y="2919944"/>
              <a:ext cx="800220" cy="276999"/>
            </a:xfrm>
            <a:prstGeom prst="rect">
              <a:avLst/>
            </a:prstGeom>
            <a:noFill/>
          </p:spPr>
          <p:txBody>
            <a:bodyPr wrap="none" rtlCol="0">
              <a:spAutoFit/>
            </a:bodyPr>
            <a:lstStyle/>
            <a:p>
              <a:pPr algn="ctr"/>
              <a:r>
                <a:rPr kumimoji="1" lang="ja-GB" altLang="en-US" sz="1200" b="1" dirty="0">
                  <a:solidFill>
                    <a:srgbClr val="002060"/>
                  </a:solidFill>
                </a:rPr>
                <a:t>基準以下</a:t>
              </a:r>
            </a:p>
          </p:txBody>
        </p:sp>
        <p:sp>
          <p:nvSpPr>
            <p:cNvPr id="23" name="テキスト ボックス 22">
              <a:extLst>
                <a:ext uri="{FF2B5EF4-FFF2-40B4-BE49-F238E27FC236}">
                  <a16:creationId xmlns:a16="http://schemas.microsoft.com/office/drawing/2014/main" id="{08ADA0A9-643E-C7FE-BC11-93975495C959}"/>
                </a:ext>
              </a:extLst>
            </p:cNvPr>
            <p:cNvSpPr txBox="1"/>
            <p:nvPr/>
          </p:nvSpPr>
          <p:spPr>
            <a:xfrm>
              <a:off x="4886552" y="2920763"/>
              <a:ext cx="800219" cy="276999"/>
            </a:xfrm>
            <a:prstGeom prst="rect">
              <a:avLst/>
            </a:prstGeom>
            <a:noFill/>
          </p:spPr>
          <p:txBody>
            <a:bodyPr wrap="none" rtlCol="0">
              <a:spAutoFit/>
            </a:bodyPr>
            <a:lstStyle/>
            <a:p>
              <a:pPr algn="ctr"/>
              <a:r>
                <a:rPr kumimoji="1" lang="ja-GB" altLang="en-US" sz="1200" b="1" dirty="0">
                  <a:solidFill>
                    <a:schemeClr val="accent2">
                      <a:lumMod val="50000"/>
                    </a:schemeClr>
                  </a:solidFill>
                </a:rPr>
                <a:t>基準以上</a:t>
              </a:r>
            </a:p>
          </p:txBody>
        </p:sp>
        <p:sp>
          <p:nvSpPr>
            <p:cNvPr id="34" name="テキスト ボックス 33">
              <a:extLst>
                <a:ext uri="{FF2B5EF4-FFF2-40B4-BE49-F238E27FC236}">
                  <a16:creationId xmlns:a16="http://schemas.microsoft.com/office/drawing/2014/main" id="{608774B6-4A05-D79E-2568-5EAD30121928}"/>
                </a:ext>
              </a:extLst>
            </p:cNvPr>
            <p:cNvSpPr txBox="1"/>
            <p:nvPr/>
          </p:nvSpPr>
          <p:spPr>
            <a:xfrm>
              <a:off x="742309" y="2545772"/>
              <a:ext cx="1782860" cy="276999"/>
            </a:xfrm>
            <a:prstGeom prst="rect">
              <a:avLst/>
            </a:prstGeom>
            <a:noFill/>
          </p:spPr>
          <p:txBody>
            <a:bodyPr wrap="none" rtlCol="0">
              <a:spAutoFit/>
            </a:bodyPr>
            <a:lstStyle/>
            <a:p>
              <a:r>
                <a:rPr kumimoji="1" lang="ja-GB" altLang="en-US" sz="1200" b="1" dirty="0"/>
                <a:t>基準以上</a:t>
              </a:r>
              <a:r>
                <a:rPr kumimoji="1" lang="en-US" altLang="ja-GB" sz="1200" b="1" dirty="0"/>
                <a:t>/</a:t>
              </a:r>
              <a:r>
                <a:rPr kumimoji="1" lang="ja-GB" altLang="en-US" sz="1200" b="1" dirty="0"/>
                <a:t>以下に分ける</a:t>
              </a:r>
            </a:p>
          </p:txBody>
        </p:sp>
      </p:grpSp>
      <p:grpSp>
        <p:nvGrpSpPr>
          <p:cNvPr id="66" name="グループ化 65">
            <a:extLst>
              <a:ext uri="{FF2B5EF4-FFF2-40B4-BE49-F238E27FC236}">
                <a16:creationId xmlns:a16="http://schemas.microsoft.com/office/drawing/2014/main" id="{82C11F29-4BB0-0A94-AA97-644724FCC4C9}"/>
              </a:ext>
            </a:extLst>
          </p:cNvPr>
          <p:cNvGrpSpPr/>
          <p:nvPr/>
        </p:nvGrpSpPr>
        <p:grpSpPr>
          <a:xfrm>
            <a:off x="367079" y="2980824"/>
            <a:ext cx="5501546" cy="760909"/>
            <a:chOff x="742309" y="3452821"/>
            <a:chExt cx="5501546" cy="760909"/>
          </a:xfrm>
        </p:grpSpPr>
        <p:sp>
          <p:nvSpPr>
            <p:cNvPr id="24" name="正方形/長方形 23">
              <a:extLst>
                <a:ext uri="{FF2B5EF4-FFF2-40B4-BE49-F238E27FC236}">
                  <a16:creationId xmlns:a16="http://schemas.microsoft.com/office/drawing/2014/main" id="{1B83AB27-D405-C807-EE26-D04AB75E8966}"/>
                </a:ext>
              </a:extLst>
            </p:cNvPr>
            <p:cNvSpPr/>
            <p:nvPr/>
          </p:nvSpPr>
          <p:spPr>
            <a:xfrm>
              <a:off x="4331316" y="3452821"/>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25" name="正方形/長方形 24">
              <a:extLst>
                <a:ext uri="{FF2B5EF4-FFF2-40B4-BE49-F238E27FC236}">
                  <a16:creationId xmlns:a16="http://schemas.microsoft.com/office/drawing/2014/main" id="{73EC984A-C286-C4B2-574D-E224DE4414BC}"/>
                </a:ext>
              </a:extLst>
            </p:cNvPr>
            <p:cNvSpPr/>
            <p:nvPr/>
          </p:nvSpPr>
          <p:spPr>
            <a:xfrm>
              <a:off x="4808989" y="3452821"/>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26" name="正方形/長方形 25">
              <a:extLst>
                <a:ext uri="{FF2B5EF4-FFF2-40B4-BE49-F238E27FC236}">
                  <a16:creationId xmlns:a16="http://schemas.microsoft.com/office/drawing/2014/main" id="{29773887-DB44-791D-A74E-E030CD614551}"/>
                </a:ext>
              </a:extLst>
            </p:cNvPr>
            <p:cNvSpPr/>
            <p:nvPr/>
          </p:nvSpPr>
          <p:spPr>
            <a:xfrm>
              <a:off x="2900144" y="3452821"/>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27" name="正方形/長方形 26">
              <a:extLst>
                <a:ext uri="{FF2B5EF4-FFF2-40B4-BE49-F238E27FC236}">
                  <a16:creationId xmlns:a16="http://schemas.microsoft.com/office/drawing/2014/main" id="{734005B7-6CFD-5A33-AB19-C80F75416435}"/>
                </a:ext>
              </a:extLst>
            </p:cNvPr>
            <p:cNvSpPr/>
            <p:nvPr/>
          </p:nvSpPr>
          <p:spPr>
            <a:xfrm>
              <a:off x="3851797" y="3452821"/>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28" name="正方形/長方形 27">
              <a:extLst>
                <a:ext uri="{FF2B5EF4-FFF2-40B4-BE49-F238E27FC236}">
                  <a16:creationId xmlns:a16="http://schemas.microsoft.com/office/drawing/2014/main" id="{F9FB6987-BA2A-43BF-3DC1-958316BDB12C}"/>
                </a:ext>
              </a:extLst>
            </p:cNvPr>
            <p:cNvSpPr/>
            <p:nvPr/>
          </p:nvSpPr>
          <p:spPr>
            <a:xfrm>
              <a:off x="5288509" y="3452823"/>
              <a:ext cx="477673" cy="471344"/>
            </a:xfrm>
            <a:prstGeom prst="rect">
              <a:avLst/>
            </a:prstGeom>
            <a:solidFill>
              <a:schemeClr val="accent6">
                <a:lumMod val="40000"/>
                <a:lumOff val="6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29" name="正方形/長方形 28">
              <a:extLst>
                <a:ext uri="{FF2B5EF4-FFF2-40B4-BE49-F238E27FC236}">
                  <a16:creationId xmlns:a16="http://schemas.microsoft.com/office/drawing/2014/main" id="{A0384AF4-0FAF-6DBE-16AE-9FBE11424136}"/>
                </a:ext>
              </a:extLst>
            </p:cNvPr>
            <p:cNvSpPr/>
            <p:nvPr/>
          </p:nvSpPr>
          <p:spPr>
            <a:xfrm>
              <a:off x="5766182" y="3452823"/>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30" name="正方形/長方形 29">
              <a:extLst>
                <a:ext uri="{FF2B5EF4-FFF2-40B4-BE49-F238E27FC236}">
                  <a16:creationId xmlns:a16="http://schemas.microsoft.com/office/drawing/2014/main" id="{5C9847DF-1FCF-3A6C-1ED2-C5359E1F7020}"/>
                </a:ext>
              </a:extLst>
            </p:cNvPr>
            <p:cNvSpPr/>
            <p:nvPr/>
          </p:nvSpPr>
          <p:spPr>
            <a:xfrm>
              <a:off x="3374124" y="3452821"/>
              <a:ext cx="477673" cy="471344"/>
            </a:xfrm>
            <a:prstGeom prst="rect">
              <a:avLst/>
            </a:prstGeom>
            <a:solidFill>
              <a:schemeClr val="accent6">
                <a:lumMod val="40000"/>
                <a:lumOff val="6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31" name="テキスト ボックス 30">
              <a:extLst>
                <a:ext uri="{FF2B5EF4-FFF2-40B4-BE49-F238E27FC236}">
                  <a16:creationId xmlns:a16="http://schemas.microsoft.com/office/drawing/2014/main" id="{1A756784-29AF-2D85-3897-8933AB93CECD}"/>
                </a:ext>
              </a:extLst>
            </p:cNvPr>
            <p:cNvSpPr txBox="1"/>
            <p:nvPr/>
          </p:nvSpPr>
          <p:spPr>
            <a:xfrm>
              <a:off x="3359354" y="3932042"/>
              <a:ext cx="492443" cy="276999"/>
            </a:xfrm>
            <a:prstGeom prst="rect">
              <a:avLst/>
            </a:prstGeom>
            <a:noFill/>
          </p:spPr>
          <p:txBody>
            <a:bodyPr wrap="none" rtlCol="0">
              <a:spAutoFit/>
            </a:bodyPr>
            <a:lstStyle/>
            <a:p>
              <a:pPr algn="ctr"/>
              <a:r>
                <a:rPr kumimoji="1" lang="ja-GB" altLang="en-US" sz="1200" b="1" dirty="0">
                  <a:solidFill>
                    <a:schemeClr val="accent6">
                      <a:lumMod val="50000"/>
                    </a:schemeClr>
                  </a:solidFill>
                </a:rPr>
                <a:t>基準</a:t>
              </a:r>
            </a:p>
          </p:txBody>
        </p:sp>
        <p:sp>
          <p:nvSpPr>
            <p:cNvPr id="32" name="テキスト ボックス 31">
              <a:extLst>
                <a:ext uri="{FF2B5EF4-FFF2-40B4-BE49-F238E27FC236}">
                  <a16:creationId xmlns:a16="http://schemas.microsoft.com/office/drawing/2014/main" id="{79D066A0-8BD9-D1E4-D312-A44AB0DB159C}"/>
                </a:ext>
              </a:extLst>
            </p:cNvPr>
            <p:cNvSpPr txBox="1"/>
            <p:nvPr/>
          </p:nvSpPr>
          <p:spPr>
            <a:xfrm>
              <a:off x="5286661" y="3936731"/>
              <a:ext cx="492443" cy="276999"/>
            </a:xfrm>
            <a:prstGeom prst="rect">
              <a:avLst/>
            </a:prstGeom>
            <a:noFill/>
          </p:spPr>
          <p:txBody>
            <a:bodyPr wrap="none" rtlCol="0">
              <a:spAutoFit/>
            </a:bodyPr>
            <a:lstStyle/>
            <a:p>
              <a:pPr algn="ctr"/>
              <a:r>
                <a:rPr kumimoji="1" lang="ja-GB" altLang="en-US" sz="1200" b="1" dirty="0">
                  <a:solidFill>
                    <a:schemeClr val="accent6">
                      <a:lumMod val="50000"/>
                    </a:schemeClr>
                  </a:solidFill>
                </a:rPr>
                <a:t>基準</a:t>
              </a:r>
            </a:p>
          </p:txBody>
        </p:sp>
        <p:sp>
          <p:nvSpPr>
            <p:cNvPr id="35" name="テキスト ボックス 34">
              <a:extLst>
                <a:ext uri="{FF2B5EF4-FFF2-40B4-BE49-F238E27FC236}">
                  <a16:creationId xmlns:a16="http://schemas.microsoft.com/office/drawing/2014/main" id="{5B6EE0C9-7BA9-78B8-8DCB-CC0AE8A10416}"/>
                </a:ext>
              </a:extLst>
            </p:cNvPr>
            <p:cNvSpPr txBox="1"/>
            <p:nvPr/>
          </p:nvSpPr>
          <p:spPr>
            <a:xfrm>
              <a:off x="742309" y="3549993"/>
              <a:ext cx="2031325" cy="276999"/>
            </a:xfrm>
            <a:prstGeom prst="rect">
              <a:avLst/>
            </a:prstGeom>
            <a:noFill/>
          </p:spPr>
          <p:txBody>
            <a:bodyPr wrap="none" rtlCol="0">
              <a:spAutoFit/>
            </a:bodyPr>
            <a:lstStyle/>
            <a:p>
              <a:r>
                <a:rPr kumimoji="1" lang="ja-GB" altLang="en-US" sz="1200" b="1" dirty="0"/>
                <a:t>各グループに基準を決める</a:t>
              </a:r>
            </a:p>
          </p:txBody>
        </p:sp>
      </p:grpSp>
      <p:grpSp>
        <p:nvGrpSpPr>
          <p:cNvPr id="68" name="グループ化 67">
            <a:extLst>
              <a:ext uri="{FF2B5EF4-FFF2-40B4-BE49-F238E27FC236}">
                <a16:creationId xmlns:a16="http://schemas.microsoft.com/office/drawing/2014/main" id="{5D1DB059-CE3A-1FFB-FFF1-70E10C333093}"/>
              </a:ext>
            </a:extLst>
          </p:cNvPr>
          <p:cNvGrpSpPr/>
          <p:nvPr/>
        </p:nvGrpSpPr>
        <p:grpSpPr>
          <a:xfrm>
            <a:off x="361001" y="4587107"/>
            <a:ext cx="5518702" cy="474011"/>
            <a:chOff x="738075" y="5162146"/>
            <a:chExt cx="5518702" cy="474011"/>
          </a:xfrm>
        </p:grpSpPr>
        <p:sp>
          <p:nvSpPr>
            <p:cNvPr id="44" name="テキスト ボックス 43">
              <a:extLst>
                <a:ext uri="{FF2B5EF4-FFF2-40B4-BE49-F238E27FC236}">
                  <a16:creationId xmlns:a16="http://schemas.microsoft.com/office/drawing/2014/main" id="{425998CC-FD31-84A0-BB26-0D5FC424FA81}"/>
                </a:ext>
              </a:extLst>
            </p:cNvPr>
            <p:cNvSpPr txBox="1"/>
            <p:nvPr/>
          </p:nvSpPr>
          <p:spPr>
            <a:xfrm>
              <a:off x="738075" y="5168082"/>
              <a:ext cx="1955985" cy="461665"/>
            </a:xfrm>
            <a:prstGeom prst="rect">
              <a:avLst/>
            </a:prstGeom>
            <a:noFill/>
          </p:spPr>
          <p:txBody>
            <a:bodyPr wrap="none" rtlCol="0">
              <a:spAutoFit/>
            </a:bodyPr>
            <a:lstStyle/>
            <a:p>
              <a:r>
                <a:rPr kumimoji="1" lang="ja-GB" altLang="en-US" sz="1200" b="1" dirty="0"/>
                <a:t>単体になったら終了</a:t>
              </a:r>
              <a:endParaRPr kumimoji="1" lang="en-US" altLang="ja-GB" sz="1200" b="1" dirty="0"/>
            </a:p>
            <a:p>
              <a:r>
                <a:rPr kumimoji="1" lang="en-US" altLang="ja-GB" sz="1200" b="1" dirty="0"/>
                <a:t>2</a:t>
              </a:r>
              <a:r>
                <a:rPr kumimoji="1" lang="ja-GB" altLang="en-US" sz="1200" b="1" dirty="0"/>
                <a:t>つ以上なら基準を決める</a:t>
              </a:r>
            </a:p>
          </p:txBody>
        </p:sp>
        <p:sp>
          <p:nvSpPr>
            <p:cNvPr id="45" name="正方形/長方形 44">
              <a:extLst>
                <a:ext uri="{FF2B5EF4-FFF2-40B4-BE49-F238E27FC236}">
                  <a16:creationId xmlns:a16="http://schemas.microsoft.com/office/drawing/2014/main" id="{E9D168E7-3563-4A95-9A9E-0DB7C0036FE4}"/>
                </a:ext>
              </a:extLst>
            </p:cNvPr>
            <p:cNvSpPr/>
            <p:nvPr/>
          </p:nvSpPr>
          <p:spPr>
            <a:xfrm>
              <a:off x="4344238" y="5162146"/>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46" name="正方形/長方形 45">
              <a:extLst>
                <a:ext uri="{FF2B5EF4-FFF2-40B4-BE49-F238E27FC236}">
                  <a16:creationId xmlns:a16="http://schemas.microsoft.com/office/drawing/2014/main" id="{8038C316-2D24-1FD2-7A59-40ACB7D349D4}"/>
                </a:ext>
              </a:extLst>
            </p:cNvPr>
            <p:cNvSpPr/>
            <p:nvPr/>
          </p:nvSpPr>
          <p:spPr>
            <a:xfrm>
              <a:off x="5301431" y="5162146"/>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47" name="正方形/長方形 46">
              <a:extLst>
                <a:ext uri="{FF2B5EF4-FFF2-40B4-BE49-F238E27FC236}">
                  <a16:creationId xmlns:a16="http://schemas.microsoft.com/office/drawing/2014/main" id="{86057180-FC8F-267E-43ED-2EF03CAFF40B}"/>
                </a:ext>
              </a:extLst>
            </p:cNvPr>
            <p:cNvSpPr/>
            <p:nvPr/>
          </p:nvSpPr>
          <p:spPr>
            <a:xfrm>
              <a:off x="3387046" y="5162146"/>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48" name="正方形/長方形 47">
              <a:extLst>
                <a:ext uri="{FF2B5EF4-FFF2-40B4-BE49-F238E27FC236}">
                  <a16:creationId xmlns:a16="http://schemas.microsoft.com/office/drawing/2014/main" id="{912FAE77-9545-C758-C216-9D3C19E5397F}"/>
                </a:ext>
              </a:extLst>
            </p:cNvPr>
            <p:cNvSpPr/>
            <p:nvPr/>
          </p:nvSpPr>
          <p:spPr>
            <a:xfrm>
              <a:off x="3864719" y="5162146"/>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49" name="正方形/長方形 48">
              <a:extLst>
                <a:ext uri="{FF2B5EF4-FFF2-40B4-BE49-F238E27FC236}">
                  <a16:creationId xmlns:a16="http://schemas.microsoft.com/office/drawing/2014/main" id="{F560F2B5-808A-8FC9-4B8F-B60685481066}"/>
                </a:ext>
              </a:extLst>
            </p:cNvPr>
            <p:cNvSpPr/>
            <p:nvPr/>
          </p:nvSpPr>
          <p:spPr>
            <a:xfrm>
              <a:off x="4821911" y="5164813"/>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50" name="正方形/長方形 49">
              <a:extLst>
                <a:ext uri="{FF2B5EF4-FFF2-40B4-BE49-F238E27FC236}">
                  <a16:creationId xmlns:a16="http://schemas.microsoft.com/office/drawing/2014/main" id="{65D88002-946F-62DA-6DE4-23EAB4DE808A}"/>
                </a:ext>
              </a:extLst>
            </p:cNvPr>
            <p:cNvSpPr/>
            <p:nvPr/>
          </p:nvSpPr>
          <p:spPr>
            <a:xfrm>
              <a:off x="5779104" y="5162146"/>
              <a:ext cx="477673" cy="471344"/>
            </a:xfrm>
            <a:prstGeom prst="rect">
              <a:avLst/>
            </a:prstGeom>
            <a:solidFill>
              <a:schemeClr val="accent6">
                <a:lumMod val="40000"/>
                <a:lumOff val="6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51" name="正方形/長方形 50">
              <a:extLst>
                <a:ext uri="{FF2B5EF4-FFF2-40B4-BE49-F238E27FC236}">
                  <a16:creationId xmlns:a16="http://schemas.microsoft.com/office/drawing/2014/main" id="{8F01EB7F-6DDF-784D-8386-A2AFCECE1C1F}"/>
                </a:ext>
              </a:extLst>
            </p:cNvPr>
            <p:cNvSpPr/>
            <p:nvPr/>
          </p:nvSpPr>
          <p:spPr>
            <a:xfrm>
              <a:off x="2913066" y="5162146"/>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grpSp>
      <p:grpSp>
        <p:nvGrpSpPr>
          <p:cNvPr id="67" name="グループ化 66">
            <a:extLst>
              <a:ext uri="{FF2B5EF4-FFF2-40B4-BE49-F238E27FC236}">
                <a16:creationId xmlns:a16="http://schemas.microsoft.com/office/drawing/2014/main" id="{B3D6B51D-182E-49EE-1EFD-F71FFD8B4CCE}"/>
              </a:ext>
            </a:extLst>
          </p:cNvPr>
          <p:cNvGrpSpPr/>
          <p:nvPr/>
        </p:nvGrpSpPr>
        <p:grpSpPr>
          <a:xfrm>
            <a:off x="365235" y="3794695"/>
            <a:ext cx="5501546" cy="764131"/>
            <a:chOff x="742309" y="4398015"/>
            <a:chExt cx="5501546" cy="764131"/>
          </a:xfrm>
        </p:grpSpPr>
        <p:sp>
          <p:nvSpPr>
            <p:cNvPr id="36" name="テキスト ボックス 35">
              <a:extLst>
                <a:ext uri="{FF2B5EF4-FFF2-40B4-BE49-F238E27FC236}">
                  <a16:creationId xmlns:a16="http://schemas.microsoft.com/office/drawing/2014/main" id="{9C187EA2-AD95-11F1-9F6A-A31B69A6CEB0}"/>
                </a:ext>
              </a:extLst>
            </p:cNvPr>
            <p:cNvSpPr txBox="1"/>
            <p:nvPr/>
          </p:nvSpPr>
          <p:spPr>
            <a:xfrm>
              <a:off x="742309" y="4495187"/>
              <a:ext cx="1782860" cy="276999"/>
            </a:xfrm>
            <a:prstGeom prst="rect">
              <a:avLst/>
            </a:prstGeom>
            <a:noFill/>
          </p:spPr>
          <p:txBody>
            <a:bodyPr wrap="none" rtlCol="0">
              <a:spAutoFit/>
            </a:bodyPr>
            <a:lstStyle/>
            <a:p>
              <a:r>
                <a:rPr kumimoji="1" lang="ja-GB" altLang="en-US" sz="1200" b="1" dirty="0"/>
                <a:t>基準以上</a:t>
              </a:r>
              <a:r>
                <a:rPr kumimoji="1" lang="en-US" altLang="ja-GB" sz="1200" b="1" dirty="0"/>
                <a:t>/</a:t>
              </a:r>
              <a:r>
                <a:rPr kumimoji="1" lang="ja-GB" altLang="en-US" sz="1200" b="1" dirty="0"/>
                <a:t>以下に分ける</a:t>
              </a:r>
            </a:p>
          </p:txBody>
        </p:sp>
        <p:sp>
          <p:nvSpPr>
            <p:cNvPr id="37" name="正方形/長方形 36">
              <a:extLst>
                <a:ext uri="{FF2B5EF4-FFF2-40B4-BE49-F238E27FC236}">
                  <a16:creationId xmlns:a16="http://schemas.microsoft.com/office/drawing/2014/main" id="{C931A5CA-3D91-6124-7048-FDF4CA4E6E9A}"/>
                </a:ext>
              </a:extLst>
            </p:cNvPr>
            <p:cNvSpPr/>
            <p:nvPr/>
          </p:nvSpPr>
          <p:spPr>
            <a:xfrm>
              <a:off x="4331316" y="4398015"/>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38" name="正方形/長方形 37">
              <a:extLst>
                <a:ext uri="{FF2B5EF4-FFF2-40B4-BE49-F238E27FC236}">
                  <a16:creationId xmlns:a16="http://schemas.microsoft.com/office/drawing/2014/main" id="{31CFD87C-59F1-78B4-95CB-96AAAE81111E}"/>
                </a:ext>
              </a:extLst>
            </p:cNvPr>
            <p:cNvSpPr/>
            <p:nvPr/>
          </p:nvSpPr>
          <p:spPr>
            <a:xfrm>
              <a:off x="5288509" y="4398015"/>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39" name="正方形/長方形 38">
              <a:extLst>
                <a:ext uri="{FF2B5EF4-FFF2-40B4-BE49-F238E27FC236}">
                  <a16:creationId xmlns:a16="http://schemas.microsoft.com/office/drawing/2014/main" id="{ED624A24-43A0-C26E-28A1-F1C359404FB3}"/>
                </a:ext>
              </a:extLst>
            </p:cNvPr>
            <p:cNvSpPr/>
            <p:nvPr/>
          </p:nvSpPr>
          <p:spPr>
            <a:xfrm>
              <a:off x="3374124" y="4398015"/>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40" name="正方形/長方形 39">
              <a:extLst>
                <a:ext uri="{FF2B5EF4-FFF2-40B4-BE49-F238E27FC236}">
                  <a16:creationId xmlns:a16="http://schemas.microsoft.com/office/drawing/2014/main" id="{8CEC1632-83F2-1014-17FC-38FE333D49FE}"/>
                </a:ext>
              </a:extLst>
            </p:cNvPr>
            <p:cNvSpPr/>
            <p:nvPr/>
          </p:nvSpPr>
          <p:spPr>
            <a:xfrm>
              <a:off x="3851797" y="4398015"/>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41" name="正方形/長方形 40">
              <a:extLst>
                <a:ext uri="{FF2B5EF4-FFF2-40B4-BE49-F238E27FC236}">
                  <a16:creationId xmlns:a16="http://schemas.microsoft.com/office/drawing/2014/main" id="{C576BE35-4AB0-03C1-D6B5-7A5C93C1EEC1}"/>
                </a:ext>
              </a:extLst>
            </p:cNvPr>
            <p:cNvSpPr/>
            <p:nvPr/>
          </p:nvSpPr>
          <p:spPr>
            <a:xfrm>
              <a:off x="4808989" y="4400682"/>
              <a:ext cx="477673" cy="471344"/>
            </a:xfrm>
            <a:prstGeom prst="rect">
              <a:avLst/>
            </a:prstGeom>
            <a:solidFill>
              <a:schemeClr val="accent6">
                <a:lumMod val="40000"/>
                <a:lumOff val="6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42" name="正方形/長方形 41">
              <a:extLst>
                <a:ext uri="{FF2B5EF4-FFF2-40B4-BE49-F238E27FC236}">
                  <a16:creationId xmlns:a16="http://schemas.microsoft.com/office/drawing/2014/main" id="{140658C4-4DE8-512A-A077-D1D86BA5D7F8}"/>
                </a:ext>
              </a:extLst>
            </p:cNvPr>
            <p:cNvSpPr/>
            <p:nvPr/>
          </p:nvSpPr>
          <p:spPr>
            <a:xfrm>
              <a:off x="5766182" y="4398015"/>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43" name="正方形/長方形 42">
              <a:extLst>
                <a:ext uri="{FF2B5EF4-FFF2-40B4-BE49-F238E27FC236}">
                  <a16:creationId xmlns:a16="http://schemas.microsoft.com/office/drawing/2014/main" id="{5E4421BD-4BE5-EF82-3CDC-508B68FAA70D}"/>
                </a:ext>
              </a:extLst>
            </p:cNvPr>
            <p:cNvSpPr/>
            <p:nvPr/>
          </p:nvSpPr>
          <p:spPr>
            <a:xfrm>
              <a:off x="2900144" y="4398015"/>
              <a:ext cx="477673" cy="471344"/>
            </a:xfrm>
            <a:prstGeom prst="rect">
              <a:avLst/>
            </a:prstGeom>
            <a:solidFill>
              <a:schemeClr val="accent6">
                <a:lumMod val="40000"/>
                <a:lumOff val="6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53" name="テキスト ボックス 52">
              <a:extLst>
                <a:ext uri="{FF2B5EF4-FFF2-40B4-BE49-F238E27FC236}">
                  <a16:creationId xmlns:a16="http://schemas.microsoft.com/office/drawing/2014/main" id="{2FB0CB33-5519-C547-EDC5-44B0C5BBE166}"/>
                </a:ext>
              </a:extLst>
            </p:cNvPr>
            <p:cNvSpPr txBox="1"/>
            <p:nvPr/>
          </p:nvSpPr>
          <p:spPr>
            <a:xfrm>
              <a:off x="4175795" y="4885147"/>
              <a:ext cx="800220" cy="276999"/>
            </a:xfrm>
            <a:prstGeom prst="rect">
              <a:avLst/>
            </a:prstGeom>
            <a:noFill/>
          </p:spPr>
          <p:txBody>
            <a:bodyPr wrap="none" rtlCol="0">
              <a:spAutoFit/>
            </a:bodyPr>
            <a:lstStyle/>
            <a:p>
              <a:pPr algn="ctr"/>
              <a:r>
                <a:rPr kumimoji="1" lang="ja-GB" altLang="en-US" sz="1200" b="1" dirty="0">
                  <a:solidFill>
                    <a:srgbClr val="002060"/>
                  </a:solidFill>
                </a:rPr>
                <a:t>基準以下</a:t>
              </a:r>
            </a:p>
          </p:txBody>
        </p:sp>
        <p:sp>
          <p:nvSpPr>
            <p:cNvPr id="54" name="テキスト ボックス 53">
              <a:extLst>
                <a:ext uri="{FF2B5EF4-FFF2-40B4-BE49-F238E27FC236}">
                  <a16:creationId xmlns:a16="http://schemas.microsoft.com/office/drawing/2014/main" id="{E3F9BB60-B3FA-DE0E-ED3E-690E60135369}"/>
                </a:ext>
              </a:extLst>
            </p:cNvPr>
            <p:cNvSpPr txBox="1"/>
            <p:nvPr/>
          </p:nvSpPr>
          <p:spPr>
            <a:xfrm>
              <a:off x="5382687" y="4885147"/>
              <a:ext cx="800219" cy="276999"/>
            </a:xfrm>
            <a:prstGeom prst="rect">
              <a:avLst/>
            </a:prstGeom>
            <a:noFill/>
          </p:spPr>
          <p:txBody>
            <a:bodyPr wrap="none" rtlCol="0">
              <a:spAutoFit/>
            </a:bodyPr>
            <a:lstStyle/>
            <a:p>
              <a:pPr algn="ctr"/>
              <a:r>
                <a:rPr kumimoji="1" lang="ja-GB" altLang="en-US" sz="1200" b="1" dirty="0">
                  <a:solidFill>
                    <a:schemeClr val="accent2">
                      <a:lumMod val="50000"/>
                    </a:schemeClr>
                  </a:solidFill>
                </a:rPr>
                <a:t>基準以上</a:t>
              </a:r>
            </a:p>
          </p:txBody>
        </p:sp>
        <p:sp>
          <p:nvSpPr>
            <p:cNvPr id="55" name="テキスト ボックス 54">
              <a:extLst>
                <a:ext uri="{FF2B5EF4-FFF2-40B4-BE49-F238E27FC236}">
                  <a16:creationId xmlns:a16="http://schemas.microsoft.com/office/drawing/2014/main" id="{390AB53D-4E64-E862-73D3-A559BCEC1FDC}"/>
                </a:ext>
              </a:extLst>
            </p:cNvPr>
            <p:cNvSpPr txBox="1"/>
            <p:nvPr/>
          </p:nvSpPr>
          <p:spPr>
            <a:xfrm>
              <a:off x="3218604" y="4885147"/>
              <a:ext cx="800219" cy="276999"/>
            </a:xfrm>
            <a:prstGeom prst="rect">
              <a:avLst/>
            </a:prstGeom>
            <a:noFill/>
          </p:spPr>
          <p:txBody>
            <a:bodyPr wrap="none" rtlCol="0">
              <a:spAutoFit/>
            </a:bodyPr>
            <a:lstStyle/>
            <a:p>
              <a:pPr algn="ctr"/>
              <a:r>
                <a:rPr kumimoji="1" lang="ja-GB" altLang="en-US" sz="1200" b="1" dirty="0">
                  <a:solidFill>
                    <a:schemeClr val="accent2">
                      <a:lumMod val="50000"/>
                    </a:schemeClr>
                  </a:solidFill>
                </a:rPr>
                <a:t>基準以上</a:t>
              </a:r>
            </a:p>
          </p:txBody>
        </p:sp>
      </p:grpSp>
      <p:grpSp>
        <p:nvGrpSpPr>
          <p:cNvPr id="69" name="グループ化 68">
            <a:extLst>
              <a:ext uri="{FF2B5EF4-FFF2-40B4-BE49-F238E27FC236}">
                <a16:creationId xmlns:a16="http://schemas.microsoft.com/office/drawing/2014/main" id="{8719939E-43A3-9F8D-73A5-2F33AAE72EEE}"/>
              </a:ext>
            </a:extLst>
          </p:cNvPr>
          <p:cNvGrpSpPr/>
          <p:nvPr/>
        </p:nvGrpSpPr>
        <p:grpSpPr>
          <a:xfrm>
            <a:off x="2517530" y="5330969"/>
            <a:ext cx="3343711" cy="474011"/>
            <a:chOff x="2894610" y="6068376"/>
            <a:chExt cx="3343711" cy="474011"/>
          </a:xfrm>
        </p:grpSpPr>
        <p:sp>
          <p:nvSpPr>
            <p:cNvPr id="56" name="正方形/長方形 55">
              <a:extLst>
                <a:ext uri="{FF2B5EF4-FFF2-40B4-BE49-F238E27FC236}">
                  <a16:creationId xmlns:a16="http://schemas.microsoft.com/office/drawing/2014/main" id="{6564839B-E348-45AD-1F27-A8E4B64004FB}"/>
                </a:ext>
              </a:extLst>
            </p:cNvPr>
            <p:cNvSpPr/>
            <p:nvPr/>
          </p:nvSpPr>
          <p:spPr>
            <a:xfrm>
              <a:off x="4325782" y="6068376"/>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57" name="正方形/長方形 56">
              <a:extLst>
                <a:ext uri="{FF2B5EF4-FFF2-40B4-BE49-F238E27FC236}">
                  <a16:creationId xmlns:a16="http://schemas.microsoft.com/office/drawing/2014/main" id="{826A084A-182E-421B-BB53-80AB9DE6B654}"/>
                </a:ext>
              </a:extLst>
            </p:cNvPr>
            <p:cNvSpPr/>
            <p:nvPr/>
          </p:nvSpPr>
          <p:spPr>
            <a:xfrm>
              <a:off x="5282975" y="6068376"/>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58" name="正方形/長方形 57">
              <a:extLst>
                <a:ext uri="{FF2B5EF4-FFF2-40B4-BE49-F238E27FC236}">
                  <a16:creationId xmlns:a16="http://schemas.microsoft.com/office/drawing/2014/main" id="{DFF80FF5-CB38-ED43-6B61-A4768FB25C46}"/>
                </a:ext>
              </a:extLst>
            </p:cNvPr>
            <p:cNvSpPr/>
            <p:nvPr/>
          </p:nvSpPr>
          <p:spPr>
            <a:xfrm>
              <a:off x="3368590" y="6068376"/>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59" name="正方形/長方形 58">
              <a:extLst>
                <a:ext uri="{FF2B5EF4-FFF2-40B4-BE49-F238E27FC236}">
                  <a16:creationId xmlns:a16="http://schemas.microsoft.com/office/drawing/2014/main" id="{547A1894-0030-BA17-DF49-EA3438F8D255}"/>
                </a:ext>
              </a:extLst>
            </p:cNvPr>
            <p:cNvSpPr/>
            <p:nvPr/>
          </p:nvSpPr>
          <p:spPr>
            <a:xfrm>
              <a:off x="3846263" y="6068376"/>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60" name="正方形/長方形 59">
              <a:extLst>
                <a:ext uri="{FF2B5EF4-FFF2-40B4-BE49-F238E27FC236}">
                  <a16:creationId xmlns:a16="http://schemas.microsoft.com/office/drawing/2014/main" id="{BD55108D-EB8C-1D5F-6670-C285864AC054}"/>
                </a:ext>
              </a:extLst>
            </p:cNvPr>
            <p:cNvSpPr/>
            <p:nvPr/>
          </p:nvSpPr>
          <p:spPr>
            <a:xfrm>
              <a:off x="4803455" y="6071043"/>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61" name="正方形/長方形 60">
              <a:extLst>
                <a:ext uri="{FF2B5EF4-FFF2-40B4-BE49-F238E27FC236}">
                  <a16:creationId xmlns:a16="http://schemas.microsoft.com/office/drawing/2014/main" id="{35D6D857-4B49-D425-54F3-BB6566F93600}"/>
                </a:ext>
              </a:extLst>
            </p:cNvPr>
            <p:cNvSpPr/>
            <p:nvPr/>
          </p:nvSpPr>
          <p:spPr>
            <a:xfrm>
              <a:off x="5760648" y="6068376"/>
              <a:ext cx="477673" cy="471344"/>
            </a:xfrm>
            <a:prstGeom prst="rect">
              <a:avLst/>
            </a:prstGeom>
            <a:solidFill>
              <a:schemeClr val="accent6">
                <a:lumMod val="40000"/>
                <a:lumOff val="6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62" name="正方形/長方形 61">
              <a:extLst>
                <a:ext uri="{FF2B5EF4-FFF2-40B4-BE49-F238E27FC236}">
                  <a16:creationId xmlns:a16="http://schemas.microsoft.com/office/drawing/2014/main" id="{875AC0CF-0CBD-C6AA-7845-F358811F7C18}"/>
                </a:ext>
              </a:extLst>
            </p:cNvPr>
            <p:cNvSpPr/>
            <p:nvPr/>
          </p:nvSpPr>
          <p:spPr>
            <a:xfrm>
              <a:off x="2894610" y="6068376"/>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grpSp>
      <p:grpSp>
        <p:nvGrpSpPr>
          <p:cNvPr id="70" name="グループ化 69">
            <a:extLst>
              <a:ext uri="{FF2B5EF4-FFF2-40B4-BE49-F238E27FC236}">
                <a16:creationId xmlns:a16="http://schemas.microsoft.com/office/drawing/2014/main" id="{4D51722C-3447-4200-60BB-8CE5126D351B}"/>
              </a:ext>
            </a:extLst>
          </p:cNvPr>
          <p:cNvGrpSpPr/>
          <p:nvPr/>
        </p:nvGrpSpPr>
        <p:grpSpPr>
          <a:xfrm>
            <a:off x="2519294" y="6113400"/>
            <a:ext cx="3343711" cy="474011"/>
            <a:chOff x="2894610" y="6068376"/>
            <a:chExt cx="3343711" cy="474011"/>
          </a:xfrm>
        </p:grpSpPr>
        <p:sp>
          <p:nvSpPr>
            <p:cNvPr id="71" name="正方形/長方形 70">
              <a:extLst>
                <a:ext uri="{FF2B5EF4-FFF2-40B4-BE49-F238E27FC236}">
                  <a16:creationId xmlns:a16="http://schemas.microsoft.com/office/drawing/2014/main" id="{14FF1B25-12AC-5D4C-0D82-70BE53851DC0}"/>
                </a:ext>
              </a:extLst>
            </p:cNvPr>
            <p:cNvSpPr/>
            <p:nvPr/>
          </p:nvSpPr>
          <p:spPr>
            <a:xfrm>
              <a:off x="4325782" y="6068376"/>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72" name="正方形/長方形 71">
              <a:extLst>
                <a:ext uri="{FF2B5EF4-FFF2-40B4-BE49-F238E27FC236}">
                  <a16:creationId xmlns:a16="http://schemas.microsoft.com/office/drawing/2014/main" id="{EF92966D-2F7F-57E4-AA2D-1C02F2C53635}"/>
                </a:ext>
              </a:extLst>
            </p:cNvPr>
            <p:cNvSpPr/>
            <p:nvPr/>
          </p:nvSpPr>
          <p:spPr>
            <a:xfrm>
              <a:off x="5282975" y="6068376"/>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8</a:t>
              </a:r>
              <a:endParaRPr kumimoji="1" lang="ja-GB" altLang="en-US" dirty="0">
                <a:solidFill>
                  <a:schemeClr val="tx1">
                    <a:lumMod val="50000"/>
                    <a:lumOff val="50000"/>
                  </a:schemeClr>
                </a:solidFill>
              </a:endParaRPr>
            </a:p>
          </p:txBody>
        </p:sp>
        <p:sp>
          <p:nvSpPr>
            <p:cNvPr id="73" name="正方形/長方形 72">
              <a:extLst>
                <a:ext uri="{FF2B5EF4-FFF2-40B4-BE49-F238E27FC236}">
                  <a16:creationId xmlns:a16="http://schemas.microsoft.com/office/drawing/2014/main" id="{96A88011-ED62-93CB-2D21-567FFADC91CA}"/>
                </a:ext>
              </a:extLst>
            </p:cNvPr>
            <p:cNvSpPr/>
            <p:nvPr/>
          </p:nvSpPr>
          <p:spPr>
            <a:xfrm>
              <a:off x="3368590" y="6068376"/>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74" name="正方形/長方形 73">
              <a:extLst>
                <a:ext uri="{FF2B5EF4-FFF2-40B4-BE49-F238E27FC236}">
                  <a16:creationId xmlns:a16="http://schemas.microsoft.com/office/drawing/2014/main" id="{DF49F29D-CC6A-E313-1A2F-2ACD65A33175}"/>
                </a:ext>
              </a:extLst>
            </p:cNvPr>
            <p:cNvSpPr/>
            <p:nvPr/>
          </p:nvSpPr>
          <p:spPr>
            <a:xfrm>
              <a:off x="3846263" y="6068376"/>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75" name="正方形/長方形 74">
              <a:extLst>
                <a:ext uri="{FF2B5EF4-FFF2-40B4-BE49-F238E27FC236}">
                  <a16:creationId xmlns:a16="http://schemas.microsoft.com/office/drawing/2014/main" id="{FFFFE43B-C732-4797-AEBE-F89E280974EC}"/>
                </a:ext>
              </a:extLst>
            </p:cNvPr>
            <p:cNvSpPr/>
            <p:nvPr/>
          </p:nvSpPr>
          <p:spPr>
            <a:xfrm>
              <a:off x="4803455" y="6071043"/>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76" name="正方形/長方形 75">
              <a:extLst>
                <a:ext uri="{FF2B5EF4-FFF2-40B4-BE49-F238E27FC236}">
                  <a16:creationId xmlns:a16="http://schemas.microsoft.com/office/drawing/2014/main" id="{B3722239-92D2-770D-4F01-AA0DF4D18E42}"/>
                </a:ext>
              </a:extLst>
            </p:cNvPr>
            <p:cNvSpPr/>
            <p:nvPr/>
          </p:nvSpPr>
          <p:spPr>
            <a:xfrm>
              <a:off x="5760648" y="6068376"/>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10</a:t>
              </a:r>
              <a:endParaRPr kumimoji="1" lang="ja-GB" altLang="en-US" dirty="0">
                <a:solidFill>
                  <a:schemeClr val="tx1">
                    <a:lumMod val="50000"/>
                    <a:lumOff val="50000"/>
                  </a:schemeClr>
                </a:solidFill>
              </a:endParaRPr>
            </a:p>
          </p:txBody>
        </p:sp>
        <p:sp>
          <p:nvSpPr>
            <p:cNvPr id="77" name="正方形/長方形 76">
              <a:extLst>
                <a:ext uri="{FF2B5EF4-FFF2-40B4-BE49-F238E27FC236}">
                  <a16:creationId xmlns:a16="http://schemas.microsoft.com/office/drawing/2014/main" id="{35D6D3DD-6D7F-7C69-652C-FAB077877D9F}"/>
                </a:ext>
              </a:extLst>
            </p:cNvPr>
            <p:cNvSpPr/>
            <p:nvPr/>
          </p:nvSpPr>
          <p:spPr>
            <a:xfrm>
              <a:off x="2894610" y="6068376"/>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grpSp>
      <p:sp>
        <p:nvSpPr>
          <p:cNvPr id="80" name="テキスト ボックス 79">
            <a:extLst>
              <a:ext uri="{FF2B5EF4-FFF2-40B4-BE49-F238E27FC236}">
                <a16:creationId xmlns:a16="http://schemas.microsoft.com/office/drawing/2014/main" id="{ABF673E6-CA81-1121-B2A9-6E793154555D}"/>
              </a:ext>
            </a:extLst>
          </p:cNvPr>
          <p:cNvSpPr txBox="1"/>
          <p:nvPr/>
        </p:nvSpPr>
        <p:spPr>
          <a:xfrm>
            <a:off x="361001" y="6128212"/>
            <a:ext cx="2263761" cy="461665"/>
          </a:xfrm>
          <a:prstGeom prst="rect">
            <a:avLst/>
          </a:prstGeom>
          <a:noFill/>
        </p:spPr>
        <p:txBody>
          <a:bodyPr wrap="none" rtlCol="0">
            <a:spAutoFit/>
          </a:bodyPr>
          <a:lstStyle/>
          <a:p>
            <a:r>
              <a:rPr kumimoji="1" lang="ja-GB" altLang="en-US" sz="1200" b="1" dirty="0"/>
              <a:t>全て</a:t>
            </a:r>
            <a:r>
              <a:rPr kumimoji="1" lang="en-US" altLang="ja-GB" sz="1200" b="1" dirty="0"/>
              <a:t>1</a:t>
            </a:r>
            <a:r>
              <a:rPr kumimoji="1" lang="ja-GB" altLang="en-US" sz="1200" b="1" dirty="0"/>
              <a:t>つの要素に分離されたら</a:t>
            </a:r>
            <a:endParaRPr kumimoji="1" lang="en-US" altLang="ja-GB" sz="1200" b="1" dirty="0"/>
          </a:p>
          <a:p>
            <a:r>
              <a:rPr kumimoji="1" lang="ja-GB" altLang="en-US" sz="1200" b="1" dirty="0"/>
              <a:t>並び替えが完了している</a:t>
            </a:r>
          </a:p>
        </p:txBody>
      </p:sp>
      <mc:AlternateContent xmlns:mc="http://schemas.openxmlformats.org/markup-compatibility/2006" xmlns:a14="http://schemas.microsoft.com/office/drawing/2010/main">
        <mc:Choice Requires="a14">
          <p:sp>
            <p:nvSpPr>
              <p:cNvPr id="81" name="テキスト ボックス 80">
                <a:extLst>
                  <a:ext uri="{FF2B5EF4-FFF2-40B4-BE49-F238E27FC236}">
                    <a16:creationId xmlns:a16="http://schemas.microsoft.com/office/drawing/2014/main" id="{26DA5AB7-7398-B5DB-C1E5-68AFF0C3598A}"/>
                  </a:ext>
                </a:extLst>
              </p:cNvPr>
              <p:cNvSpPr txBox="1"/>
              <p:nvPr/>
            </p:nvSpPr>
            <p:spPr>
              <a:xfrm>
                <a:off x="6133897" y="1312116"/>
                <a:ext cx="2646109" cy="923330"/>
              </a:xfrm>
              <a:prstGeom prst="rect">
                <a:avLst/>
              </a:prstGeom>
              <a:noFill/>
            </p:spPr>
            <p:txBody>
              <a:bodyPr wrap="none" rtlCol="0">
                <a:spAutoFit/>
              </a:bodyPr>
              <a:lstStyle/>
              <a:p>
                <a:r>
                  <a:rPr kumimoji="1" lang="ja-GB" altLang="en-US" dirty="0"/>
                  <a:t>最良計算量：</a:t>
                </a:r>
                <a14:m>
                  <m:oMath xmlns:m="http://schemas.openxmlformats.org/officeDocument/2006/math">
                    <m:r>
                      <a:rPr kumimoji="1" lang="en-US" altLang="ja-GB" i="1">
                        <a:latin typeface="Cambria Math" panose="02040503050406030204" pitchFamily="18" charset="0"/>
                      </a:rPr>
                      <m:t>𝑂</m:t>
                    </m:r>
                    <m:d>
                      <m:dPr>
                        <m:ctrlPr>
                          <a:rPr kumimoji="1" lang="en-US" altLang="ja-GB" i="1">
                            <a:latin typeface="Cambria Math" panose="02040503050406030204" pitchFamily="18" charset="0"/>
                          </a:rPr>
                        </m:ctrlPr>
                      </m:dPr>
                      <m:e>
                        <m:r>
                          <a:rPr kumimoji="1" lang="en-US" altLang="ja-GB" i="1">
                            <a:latin typeface="Cambria Math" panose="02040503050406030204" pitchFamily="18" charset="0"/>
                          </a:rPr>
                          <m:t>𝑛</m:t>
                        </m:r>
                        <m:func>
                          <m:funcPr>
                            <m:ctrlPr>
                              <a:rPr kumimoji="1" lang="en-US" altLang="ja-GB" i="1">
                                <a:latin typeface="Cambria Math" panose="02040503050406030204" pitchFamily="18" charset="0"/>
                              </a:rPr>
                            </m:ctrlPr>
                          </m:funcPr>
                          <m:fName>
                            <m:r>
                              <m:rPr>
                                <m:sty m:val="p"/>
                              </m:rPr>
                              <a:rPr kumimoji="1" lang="en-US" altLang="ja-GB">
                                <a:latin typeface="Cambria Math" panose="02040503050406030204" pitchFamily="18" charset="0"/>
                              </a:rPr>
                              <m:t>log</m:t>
                            </m:r>
                          </m:fName>
                          <m:e>
                            <m:r>
                              <a:rPr kumimoji="1" lang="en-US" altLang="ja-GB" i="1">
                                <a:latin typeface="Cambria Math" panose="02040503050406030204" pitchFamily="18" charset="0"/>
                              </a:rPr>
                              <m:t>𝑛</m:t>
                            </m:r>
                          </m:e>
                        </m:func>
                      </m:e>
                    </m:d>
                  </m:oMath>
                </a14:m>
                <a:endParaRPr kumimoji="1" lang="en-US" altLang="ja-GB" dirty="0"/>
              </a:p>
              <a:p>
                <a:r>
                  <a:rPr kumimoji="1" lang="ja-GB" altLang="en-US" dirty="0"/>
                  <a:t>平均計算量：</a:t>
                </a:r>
                <a14:m>
                  <m:oMath xmlns:m="http://schemas.openxmlformats.org/officeDocument/2006/math">
                    <m:r>
                      <a:rPr kumimoji="1" lang="en-US" altLang="ja-GB" i="1">
                        <a:latin typeface="Cambria Math" panose="02040503050406030204" pitchFamily="18" charset="0"/>
                      </a:rPr>
                      <m:t>𝑂</m:t>
                    </m:r>
                    <m:d>
                      <m:dPr>
                        <m:ctrlPr>
                          <a:rPr kumimoji="1" lang="en-US" altLang="ja-GB" i="1">
                            <a:latin typeface="Cambria Math" panose="02040503050406030204" pitchFamily="18" charset="0"/>
                          </a:rPr>
                        </m:ctrlPr>
                      </m:dPr>
                      <m:e>
                        <m:r>
                          <a:rPr kumimoji="1" lang="en-US" altLang="ja-GB" b="0" i="1" smtClean="0">
                            <a:latin typeface="Cambria Math" panose="02040503050406030204" pitchFamily="18" charset="0"/>
                          </a:rPr>
                          <m:t>𝑛</m:t>
                        </m:r>
                        <m:func>
                          <m:funcPr>
                            <m:ctrlPr>
                              <a:rPr kumimoji="1" lang="en-US" altLang="ja-GB" b="0" i="1" smtClean="0">
                                <a:latin typeface="Cambria Math" panose="02040503050406030204" pitchFamily="18" charset="0"/>
                              </a:rPr>
                            </m:ctrlPr>
                          </m:funcPr>
                          <m:fName>
                            <m:r>
                              <m:rPr>
                                <m:sty m:val="p"/>
                              </m:rPr>
                              <a:rPr kumimoji="1" lang="en-US" altLang="ja-GB" b="0" i="0" smtClean="0">
                                <a:latin typeface="Cambria Math" panose="02040503050406030204" pitchFamily="18" charset="0"/>
                              </a:rPr>
                              <m:t>log</m:t>
                            </m:r>
                          </m:fName>
                          <m:e>
                            <m:r>
                              <a:rPr kumimoji="1" lang="en-US" altLang="ja-GB" b="0" i="1" smtClean="0">
                                <a:latin typeface="Cambria Math" panose="02040503050406030204" pitchFamily="18" charset="0"/>
                              </a:rPr>
                              <m:t>𝑛</m:t>
                            </m:r>
                          </m:e>
                        </m:func>
                      </m:e>
                    </m:d>
                  </m:oMath>
                </a14:m>
                <a:endParaRPr kumimoji="1" lang="en-US" altLang="ja-GB" dirty="0"/>
              </a:p>
              <a:p>
                <a:r>
                  <a:rPr kumimoji="1" lang="ja-GB" altLang="en-US" dirty="0"/>
                  <a:t>最悪計算量：</a:t>
                </a:r>
                <a14:m>
                  <m:oMath xmlns:m="http://schemas.openxmlformats.org/officeDocument/2006/math">
                    <m:r>
                      <a:rPr kumimoji="1" lang="en-US" altLang="ja-GB" b="0" i="1" smtClean="0">
                        <a:latin typeface="Cambria Math" panose="02040503050406030204" pitchFamily="18" charset="0"/>
                      </a:rPr>
                      <m:t>𝑂</m:t>
                    </m:r>
                    <m:d>
                      <m:dPr>
                        <m:ctrlPr>
                          <a:rPr kumimoji="1" lang="en-US" altLang="ja-GB" b="0" i="1" smtClean="0">
                            <a:latin typeface="Cambria Math" panose="02040503050406030204" pitchFamily="18" charset="0"/>
                          </a:rPr>
                        </m:ctrlPr>
                      </m:dPr>
                      <m:e>
                        <m:sSup>
                          <m:sSupPr>
                            <m:ctrlPr>
                              <a:rPr kumimoji="1" lang="en-US" altLang="ja-GB" b="0" i="1" smtClean="0">
                                <a:latin typeface="Cambria Math" panose="02040503050406030204" pitchFamily="18" charset="0"/>
                              </a:rPr>
                            </m:ctrlPr>
                          </m:sSupPr>
                          <m:e>
                            <m:r>
                              <a:rPr kumimoji="1" lang="en-US" altLang="ja-GB" b="0" i="1" smtClean="0">
                                <a:latin typeface="Cambria Math" panose="02040503050406030204" pitchFamily="18" charset="0"/>
                              </a:rPr>
                              <m:t>𝑛</m:t>
                            </m:r>
                          </m:e>
                          <m:sup>
                            <m:r>
                              <a:rPr kumimoji="1" lang="en-US" altLang="ja-GB" b="0" i="1" smtClean="0">
                                <a:latin typeface="Cambria Math" panose="02040503050406030204" pitchFamily="18" charset="0"/>
                              </a:rPr>
                              <m:t>2</m:t>
                            </m:r>
                          </m:sup>
                        </m:sSup>
                      </m:e>
                    </m:d>
                  </m:oMath>
                </a14:m>
                <a:endParaRPr kumimoji="1" lang="ja-GB" altLang="en-US" dirty="0"/>
              </a:p>
            </p:txBody>
          </p:sp>
        </mc:Choice>
        <mc:Fallback xmlns="">
          <p:sp>
            <p:nvSpPr>
              <p:cNvPr id="81" name="テキスト ボックス 80">
                <a:extLst>
                  <a:ext uri="{FF2B5EF4-FFF2-40B4-BE49-F238E27FC236}">
                    <a16:creationId xmlns:a16="http://schemas.microsoft.com/office/drawing/2014/main" id="{26DA5AB7-7398-B5DB-C1E5-68AFF0C3598A}"/>
                  </a:ext>
                </a:extLst>
              </p:cNvPr>
              <p:cNvSpPr txBox="1">
                <a:spLocks noRot="1" noChangeAspect="1" noMove="1" noResize="1" noEditPoints="1" noAdjustHandles="1" noChangeArrowheads="1" noChangeShapeType="1" noTextEdit="1"/>
              </p:cNvSpPr>
              <p:nvPr/>
            </p:nvSpPr>
            <p:spPr>
              <a:xfrm>
                <a:off x="6133897" y="1312116"/>
                <a:ext cx="2646109" cy="923330"/>
              </a:xfrm>
              <a:prstGeom prst="rect">
                <a:avLst/>
              </a:prstGeom>
              <a:blipFill>
                <a:blip r:embed="rId2"/>
                <a:stretch>
                  <a:fillRect l="-1429" t="-2703" b="-9459"/>
                </a:stretch>
              </a:blipFill>
            </p:spPr>
            <p:txBody>
              <a:bodyPr/>
              <a:lstStyle/>
              <a:p>
                <a:r>
                  <a:rPr lang="ja-GB" altLang="en-US">
                    <a:noFill/>
                  </a:rPr>
                  <a:t> </a:t>
                </a:r>
              </a:p>
            </p:txBody>
          </p:sp>
        </mc:Fallback>
      </mc:AlternateContent>
    </p:spTree>
    <p:extLst>
      <p:ext uri="{BB962C8B-B14F-4D97-AF65-F5344CB8AC3E}">
        <p14:creationId xmlns:p14="http://schemas.microsoft.com/office/powerpoint/2010/main" val="24633969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DE486E-703B-CB03-EB47-052577D257BC}"/>
              </a:ext>
            </a:extLst>
          </p:cNvPr>
          <p:cNvSpPr>
            <a:spLocks noGrp="1"/>
          </p:cNvSpPr>
          <p:nvPr>
            <p:ph type="title"/>
          </p:nvPr>
        </p:nvSpPr>
        <p:spPr/>
        <p:txBody>
          <a:bodyPr/>
          <a:lstStyle/>
          <a:p>
            <a:r>
              <a:rPr kumimoji="1" lang="ja-GB" altLang="en-US" dirty="0"/>
              <a:t>クイックソートの小さい具体例</a:t>
            </a:r>
          </a:p>
        </p:txBody>
      </p:sp>
      <p:sp>
        <p:nvSpPr>
          <p:cNvPr id="3" name="コンテンツ プレースホルダー 2">
            <a:extLst>
              <a:ext uri="{FF2B5EF4-FFF2-40B4-BE49-F238E27FC236}">
                <a16:creationId xmlns:a16="http://schemas.microsoft.com/office/drawing/2014/main" id="{FEB1A6B7-F3A8-2E90-CD2E-48B97B91A5AC}"/>
              </a:ext>
            </a:extLst>
          </p:cNvPr>
          <p:cNvSpPr>
            <a:spLocks noGrp="1"/>
          </p:cNvSpPr>
          <p:nvPr>
            <p:ph idx="1"/>
          </p:nvPr>
        </p:nvSpPr>
        <p:spPr/>
        <p:txBody>
          <a:bodyPr/>
          <a:lstStyle/>
          <a:p>
            <a:pPr marL="0" indent="0">
              <a:buNone/>
            </a:pPr>
            <a:r>
              <a:rPr kumimoji="1" lang="ja-GB" altLang="en-US" dirty="0"/>
              <a:t>基準を決めて，それ以上</a:t>
            </a:r>
            <a:r>
              <a:rPr kumimoji="1" lang="en-US" altLang="ja-GB" dirty="0"/>
              <a:t>/</a:t>
            </a:r>
            <a:r>
              <a:rPr lang="ja-GB" altLang="en-US" dirty="0"/>
              <a:t>以下に分ける操作を繰り返す</a:t>
            </a:r>
            <a:endParaRPr lang="en-US" altLang="ja-GB" dirty="0"/>
          </a:p>
          <a:p>
            <a:pPr lvl="1"/>
            <a:endParaRPr kumimoji="1" lang="ja-GB" altLang="en-US" dirty="0"/>
          </a:p>
        </p:txBody>
      </p:sp>
      <p:grpSp>
        <p:nvGrpSpPr>
          <p:cNvPr id="64" name="グループ化 63">
            <a:extLst>
              <a:ext uri="{FF2B5EF4-FFF2-40B4-BE49-F238E27FC236}">
                <a16:creationId xmlns:a16="http://schemas.microsoft.com/office/drawing/2014/main" id="{4998FBAB-30BA-C10E-6F8D-3739363574B7}"/>
              </a:ext>
            </a:extLst>
          </p:cNvPr>
          <p:cNvGrpSpPr/>
          <p:nvPr/>
        </p:nvGrpSpPr>
        <p:grpSpPr>
          <a:xfrm>
            <a:off x="361001" y="1364005"/>
            <a:ext cx="4080146" cy="748343"/>
            <a:chOff x="738075" y="1583697"/>
            <a:chExt cx="4080146" cy="748343"/>
          </a:xfrm>
        </p:grpSpPr>
        <p:sp>
          <p:nvSpPr>
            <p:cNvPr id="5" name="正方形/長方形 4">
              <a:extLst>
                <a:ext uri="{FF2B5EF4-FFF2-40B4-BE49-F238E27FC236}">
                  <a16:creationId xmlns:a16="http://schemas.microsoft.com/office/drawing/2014/main" id="{C6E3C582-8F88-2C54-258E-573B35DCD5A3}"/>
                </a:ext>
              </a:extLst>
            </p:cNvPr>
            <p:cNvSpPr/>
            <p:nvPr/>
          </p:nvSpPr>
          <p:spPr>
            <a:xfrm>
              <a:off x="2900144" y="1583699"/>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6" name="正方形/長方形 5">
              <a:extLst>
                <a:ext uri="{FF2B5EF4-FFF2-40B4-BE49-F238E27FC236}">
                  <a16:creationId xmlns:a16="http://schemas.microsoft.com/office/drawing/2014/main" id="{251B64B4-DA8F-4053-EB5A-866A7D388682}"/>
                </a:ext>
              </a:extLst>
            </p:cNvPr>
            <p:cNvSpPr/>
            <p:nvPr/>
          </p:nvSpPr>
          <p:spPr>
            <a:xfrm>
              <a:off x="3374124" y="1583697"/>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7" name="正方形/長方形 6">
              <a:extLst>
                <a:ext uri="{FF2B5EF4-FFF2-40B4-BE49-F238E27FC236}">
                  <a16:creationId xmlns:a16="http://schemas.microsoft.com/office/drawing/2014/main" id="{E32BD559-7147-79DF-FEE9-AA250A3866FD}"/>
                </a:ext>
              </a:extLst>
            </p:cNvPr>
            <p:cNvSpPr/>
            <p:nvPr/>
          </p:nvSpPr>
          <p:spPr>
            <a:xfrm>
              <a:off x="3851797" y="1583697"/>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8" name="正方形/長方形 7">
              <a:extLst>
                <a:ext uri="{FF2B5EF4-FFF2-40B4-BE49-F238E27FC236}">
                  <a16:creationId xmlns:a16="http://schemas.microsoft.com/office/drawing/2014/main" id="{65BA7ABF-60F1-9BE8-4463-BFC556049F97}"/>
                </a:ext>
              </a:extLst>
            </p:cNvPr>
            <p:cNvSpPr/>
            <p:nvPr/>
          </p:nvSpPr>
          <p:spPr>
            <a:xfrm>
              <a:off x="4331316" y="1583697"/>
              <a:ext cx="477673" cy="471344"/>
            </a:xfrm>
            <a:prstGeom prst="rect">
              <a:avLst/>
            </a:prstGeom>
            <a:solidFill>
              <a:schemeClr val="accent6">
                <a:lumMod val="40000"/>
                <a:lumOff val="6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13" name="テキスト ボックス 12">
              <a:extLst>
                <a:ext uri="{FF2B5EF4-FFF2-40B4-BE49-F238E27FC236}">
                  <a16:creationId xmlns:a16="http://schemas.microsoft.com/office/drawing/2014/main" id="{CB7D792A-DF49-18A3-21BE-B678FA01888D}"/>
                </a:ext>
              </a:extLst>
            </p:cNvPr>
            <p:cNvSpPr txBox="1"/>
            <p:nvPr/>
          </p:nvSpPr>
          <p:spPr>
            <a:xfrm>
              <a:off x="4325777" y="2055041"/>
              <a:ext cx="492444" cy="276999"/>
            </a:xfrm>
            <a:prstGeom prst="rect">
              <a:avLst/>
            </a:prstGeom>
            <a:noFill/>
          </p:spPr>
          <p:txBody>
            <a:bodyPr wrap="none" rtlCol="0">
              <a:spAutoFit/>
            </a:bodyPr>
            <a:lstStyle/>
            <a:p>
              <a:pPr algn="ctr"/>
              <a:r>
                <a:rPr kumimoji="1" lang="ja-GB" altLang="en-US" sz="1200" b="1" dirty="0">
                  <a:solidFill>
                    <a:schemeClr val="accent6">
                      <a:lumMod val="50000"/>
                    </a:schemeClr>
                  </a:solidFill>
                </a:rPr>
                <a:t>基準</a:t>
              </a:r>
            </a:p>
          </p:txBody>
        </p:sp>
        <p:sp>
          <p:nvSpPr>
            <p:cNvPr id="33" name="テキスト ボックス 32">
              <a:extLst>
                <a:ext uri="{FF2B5EF4-FFF2-40B4-BE49-F238E27FC236}">
                  <a16:creationId xmlns:a16="http://schemas.microsoft.com/office/drawing/2014/main" id="{2FB42511-C463-9D0A-ADC4-6C5457C76469}"/>
                </a:ext>
              </a:extLst>
            </p:cNvPr>
            <p:cNvSpPr txBox="1"/>
            <p:nvPr/>
          </p:nvSpPr>
          <p:spPr>
            <a:xfrm>
              <a:off x="738075" y="1680869"/>
              <a:ext cx="1107996" cy="276999"/>
            </a:xfrm>
            <a:prstGeom prst="rect">
              <a:avLst/>
            </a:prstGeom>
            <a:noFill/>
          </p:spPr>
          <p:txBody>
            <a:bodyPr wrap="none" rtlCol="0">
              <a:spAutoFit/>
            </a:bodyPr>
            <a:lstStyle/>
            <a:p>
              <a:r>
                <a:rPr kumimoji="1" lang="ja-GB" altLang="en-US" sz="1200" b="1" dirty="0"/>
                <a:t>基準を決める</a:t>
              </a:r>
            </a:p>
          </p:txBody>
        </p:sp>
      </p:grpSp>
      <p:grpSp>
        <p:nvGrpSpPr>
          <p:cNvPr id="65" name="グループ化 64">
            <a:extLst>
              <a:ext uri="{FF2B5EF4-FFF2-40B4-BE49-F238E27FC236}">
                <a16:creationId xmlns:a16="http://schemas.microsoft.com/office/drawing/2014/main" id="{427BE1D7-6D66-FC3D-0F71-34453C738397}"/>
              </a:ext>
            </a:extLst>
          </p:cNvPr>
          <p:cNvGrpSpPr/>
          <p:nvPr/>
        </p:nvGrpSpPr>
        <p:grpSpPr>
          <a:xfrm>
            <a:off x="363994" y="2138274"/>
            <a:ext cx="4324005" cy="748343"/>
            <a:chOff x="742309" y="2448600"/>
            <a:chExt cx="4324005" cy="748343"/>
          </a:xfrm>
        </p:grpSpPr>
        <p:sp>
          <p:nvSpPr>
            <p:cNvPr id="15" name="正方形/長方形 14">
              <a:extLst>
                <a:ext uri="{FF2B5EF4-FFF2-40B4-BE49-F238E27FC236}">
                  <a16:creationId xmlns:a16="http://schemas.microsoft.com/office/drawing/2014/main" id="{141EABB6-37C5-DBA1-8E1E-B76E09BE03BF}"/>
                </a:ext>
              </a:extLst>
            </p:cNvPr>
            <p:cNvSpPr/>
            <p:nvPr/>
          </p:nvSpPr>
          <p:spPr>
            <a:xfrm>
              <a:off x="4331316" y="2448600"/>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17" name="正方形/長方形 16">
              <a:extLst>
                <a:ext uri="{FF2B5EF4-FFF2-40B4-BE49-F238E27FC236}">
                  <a16:creationId xmlns:a16="http://schemas.microsoft.com/office/drawing/2014/main" id="{0E62ED67-4E69-1716-6AAA-891E1C53A4A1}"/>
                </a:ext>
              </a:extLst>
            </p:cNvPr>
            <p:cNvSpPr/>
            <p:nvPr/>
          </p:nvSpPr>
          <p:spPr>
            <a:xfrm>
              <a:off x="2900144" y="2448600"/>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18" name="正方形/長方形 17">
              <a:extLst>
                <a:ext uri="{FF2B5EF4-FFF2-40B4-BE49-F238E27FC236}">
                  <a16:creationId xmlns:a16="http://schemas.microsoft.com/office/drawing/2014/main" id="{4A53BAF8-092A-575B-2B94-22AD5A4C1FA7}"/>
                </a:ext>
              </a:extLst>
            </p:cNvPr>
            <p:cNvSpPr/>
            <p:nvPr/>
          </p:nvSpPr>
          <p:spPr>
            <a:xfrm>
              <a:off x="3851797" y="2448600"/>
              <a:ext cx="477673" cy="471344"/>
            </a:xfrm>
            <a:prstGeom prst="rect">
              <a:avLst/>
            </a:prstGeom>
            <a:solidFill>
              <a:schemeClr val="accent6">
                <a:lumMod val="40000"/>
                <a:lumOff val="6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21" name="正方形/長方形 20">
              <a:extLst>
                <a:ext uri="{FF2B5EF4-FFF2-40B4-BE49-F238E27FC236}">
                  <a16:creationId xmlns:a16="http://schemas.microsoft.com/office/drawing/2014/main" id="{F33B8AED-92A3-9977-B134-2E7508F811E4}"/>
                </a:ext>
              </a:extLst>
            </p:cNvPr>
            <p:cNvSpPr/>
            <p:nvPr/>
          </p:nvSpPr>
          <p:spPr>
            <a:xfrm>
              <a:off x="3374124" y="2448600"/>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22" name="テキスト ボックス 21">
              <a:extLst>
                <a:ext uri="{FF2B5EF4-FFF2-40B4-BE49-F238E27FC236}">
                  <a16:creationId xmlns:a16="http://schemas.microsoft.com/office/drawing/2014/main" id="{578F3855-BE7E-9E10-1E42-B1C42CFA13AF}"/>
                </a:ext>
              </a:extLst>
            </p:cNvPr>
            <p:cNvSpPr txBox="1"/>
            <p:nvPr/>
          </p:nvSpPr>
          <p:spPr>
            <a:xfrm>
              <a:off x="2979553" y="2919944"/>
              <a:ext cx="800220" cy="276999"/>
            </a:xfrm>
            <a:prstGeom prst="rect">
              <a:avLst/>
            </a:prstGeom>
            <a:noFill/>
          </p:spPr>
          <p:txBody>
            <a:bodyPr wrap="none" rtlCol="0">
              <a:spAutoFit/>
            </a:bodyPr>
            <a:lstStyle/>
            <a:p>
              <a:pPr algn="ctr"/>
              <a:r>
                <a:rPr kumimoji="1" lang="ja-GB" altLang="en-US" sz="1200" b="1" dirty="0">
                  <a:solidFill>
                    <a:srgbClr val="002060"/>
                  </a:solidFill>
                </a:rPr>
                <a:t>基準以下</a:t>
              </a:r>
            </a:p>
          </p:txBody>
        </p:sp>
        <p:sp>
          <p:nvSpPr>
            <p:cNvPr id="23" name="テキスト ボックス 22">
              <a:extLst>
                <a:ext uri="{FF2B5EF4-FFF2-40B4-BE49-F238E27FC236}">
                  <a16:creationId xmlns:a16="http://schemas.microsoft.com/office/drawing/2014/main" id="{08ADA0A9-643E-C7FE-BC11-93975495C959}"/>
                </a:ext>
              </a:extLst>
            </p:cNvPr>
            <p:cNvSpPr txBox="1"/>
            <p:nvPr/>
          </p:nvSpPr>
          <p:spPr>
            <a:xfrm>
              <a:off x="4266095" y="2919944"/>
              <a:ext cx="800219" cy="276999"/>
            </a:xfrm>
            <a:prstGeom prst="rect">
              <a:avLst/>
            </a:prstGeom>
            <a:noFill/>
          </p:spPr>
          <p:txBody>
            <a:bodyPr wrap="none" rtlCol="0">
              <a:spAutoFit/>
            </a:bodyPr>
            <a:lstStyle/>
            <a:p>
              <a:pPr algn="ctr"/>
              <a:r>
                <a:rPr kumimoji="1" lang="ja-GB" altLang="en-US" sz="1200" b="1" dirty="0">
                  <a:solidFill>
                    <a:schemeClr val="accent2">
                      <a:lumMod val="50000"/>
                    </a:schemeClr>
                  </a:solidFill>
                </a:rPr>
                <a:t>基準以上</a:t>
              </a:r>
            </a:p>
          </p:txBody>
        </p:sp>
        <p:sp>
          <p:nvSpPr>
            <p:cNvPr id="34" name="テキスト ボックス 33">
              <a:extLst>
                <a:ext uri="{FF2B5EF4-FFF2-40B4-BE49-F238E27FC236}">
                  <a16:creationId xmlns:a16="http://schemas.microsoft.com/office/drawing/2014/main" id="{608774B6-4A05-D79E-2568-5EAD30121928}"/>
                </a:ext>
              </a:extLst>
            </p:cNvPr>
            <p:cNvSpPr txBox="1"/>
            <p:nvPr/>
          </p:nvSpPr>
          <p:spPr>
            <a:xfrm>
              <a:off x="742309" y="2545772"/>
              <a:ext cx="1782860" cy="276999"/>
            </a:xfrm>
            <a:prstGeom prst="rect">
              <a:avLst/>
            </a:prstGeom>
            <a:noFill/>
          </p:spPr>
          <p:txBody>
            <a:bodyPr wrap="none" rtlCol="0">
              <a:spAutoFit/>
            </a:bodyPr>
            <a:lstStyle/>
            <a:p>
              <a:r>
                <a:rPr kumimoji="1" lang="ja-GB" altLang="en-US" sz="1200" b="1" dirty="0"/>
                <a:t>基準以上</a:t>
              </a:r>
              <a:r>
                <a:rPr kumimoji="1" lang="en-US" altLang="ja-GB" sz="1200" b="1" dirty="0"/>
                <a:t>/</a:t>
              </a:r>
              <a:r>
                <a:rPr kumimoji="1" lang="ja-GB" altLang="en-US" sz="1200" b="1" dirty="0"/>
                <a:t>以下に分ける</a:t>
              </a:r>
            </a:p>
          </p:txBody>
        </p:sp>
      </p:grpSp>
      <p:grpSp>
        <p:nvGrpSpPr>
          <p:cNvPr id="66" name="グループ化 65">
            <a:extLst>
              <a:ext uri="{FF2B5EF4-FFF2-40B4-BE49-F238E27FC236}">
                <a16:creationId xmlns:a16="http://schemas.microsoft.com/office/drawing/2014/main" id="{82C11F29-4BB0-0A94-AA97-644724FCC4C9}"/>
              </a:ext>
            </a:extLst>
          </p:cNvPr>
          <p:cNvGrpSpPr/>
          <p:nvPr/>
        </p:nvGrpSpPr>
        <p:grpSpPr>
          <a:xfrm>
            <a:off x="367079" y="2980824"/>
            <a:ext cx="4066680" cy="756220"/>
            <a:chOff x="742309" y="3452821"/>
            <a:chExt cx="4066680" cy="756220"/>
          </a:xfrm>
        </p:grpSpPr>
        <p:sp>
          <p:nvSpPr>
            <p:cNvPr id="24" name="正方形/長方形 23">
              <a:extLst>
                <a:ext uri="{FF2B5EF4-FFF2-40B4-BE49-F238E27FC236}">
                  <a16:creationId xmlns:a16="http://schemas.microsoft.com/office/drawing/2014/main" id="{1B83AB27-D405-C807-EE26-D04AB75E8966}"/>
                </a:ext>
              </a:extLst>
            </p:cNvPr>
            <p:cNvSpPr/>
            <p:nvPr/>
          </p:nvSpPr>
          <p:spPr>
            <a:xfrm>
              <a:off x="4331316" y="3452821"/>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26" name="正方形/長方形 25">
              <a:extLst>
                <a:ext uri="{FF2B5EF4-FFF2-40B4-BE49-F238E27FC236}">
                  <a16:creationId xmlns:a16="http://schemas.microsoft.com/office/drawing/2014/main" id="{29773887-DB44-791D-A74E-E030CD614551}"/>
                </a:ext>
              </a:extLst>
            </p:cNvPr>
            <p:cNvSpPr/>
            <p:nvPr/>
          </p:nvSpPr>
          <p:spPr>
            <a:xfrm>
              <a:off x="2900144" y="3452821"/>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27" name="正方形/長方形 26">
              <a:extLst>
                <a:ext uri="{FF2B5EF4-FFF2-40B4-BE49-F238E27FC236}">
                  <a16:creationId xmlns:a16="http://schemas.microsoft.com/office/drawing/2014/main" id="{734005B7-6CFD-5A33-AB19-C80F75416435}"/>
                </a:ext>
              </a:extLst>
            </p:cNvPr>
            <p:cNvSpPr/>
            <p:nvPr/>
          </p:nvSpPr>
          <p:spPr>
            <a:xfrm>
              <a:off x="3851797" y="3452821"/>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30" name="正方形/長方形 29">
              <a:extLst>
                <a:ext uri="{FF2B5EF4-FFF2-40B4-BE49-F238E27FC236}">
                  <a16:creationId xmlns:a16="http://schemas.microsoft.com/office/drawing/2014/main" id="{5C9847DF-1FCF-3A6C-1ED2-C5359E1F7020}"/>
                </a:ext>
              </a:extLst>
            </p:cNvPr>
            <p:cNvSpPr/>
            <p:nvPr/>
          </p:nvSpPr>
          <p:spPr>
            <a:xfrm>
              <a:off x="3374124" y="3452821"/>
              <a:ext cx="477673" cy="471344"/>
            </a:xfrm>
            <a:prstGeom prst="rect">
              <a:avLst/>
            </a:prstGeom>
            <a:solidFill>
              <a:schemeClr val="accent6">
                <a:lumMod val="40000"/>
                <a:lumOff val="6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31" name="テキスト ボックス 30">
              <a:extLst>
                <a:ext uri="{FF2B5EF4-FFF2-40B4-BE49-F238E27FC236}">
                  <a16:creationId xmlns:a16="http://schemas.microsoft.com/office/drawing/2014/main" id="{1A756784-29AF-2D85-3897-8933AB93CECD}"/>
                </a:ext>
              </a:extLst>
            </p:cNvPr>
            <p:cNvSpPr txBox="1"/>
            <p:nvPr/>
          </p:nvSpPr>
          <p:spPr>
            <a:xfrm>
              <a:off x="3359354" y="3932042"/>
              <a:ext cx="492443" cy="276999"/>
            </a:xfrm>
            <a:prstGeom prst="rect">
              <a:avLst/>
            </a:prstGeom>
            <a:noFill/>
          </p:spPr>
          <p:txBody>
            <a:bodyPr wrap="none" rtlCol="0">
              <a:spAutoFit/>
            </a:bodyPr>
            <a:lstStyle/>
            <a:p>
              <a:pPr algn="ctr"/>
              <a:r>
                <a:rPr kumimoji="1" lang="ja-GB" altLang="en-US" sz="1200" b="1" dirty="0">
                  <a:solidFill>
                    <a:schemeClr val="accent6">
                      <a:lumMod val="50000"/>
                    </a:schemeClr>
                  </a:solidFill>
                </a:rPr>
                <a:t>基準</a:t>
              </a:r>
            </a:p>
          </p:txBody>
        </p:sp>
        <p:sp>
          <p:nvSpPr>
            <p:cNvPr id="35" name="テキスト ボックス 34">
              <a:extLst>
                <a:ext uri="{FF2B5EF4-FFF2-40B4-BE49-F238E27FC236}">
                  <a16:creationId xmlns:a16="http://schemas.microsoft.com/office/drawing/2014/main" id="{5B6EE0C9-7BA9-78B8-8DCB-CC0AE8A10416}"/>
                </a:ext>
              </a:extLst>
            </p:cNvPr>
            <p:cNvSpPr txBox="1"/>
            <p:nvPr/>
          </p:nvSpPr>
          <p:spPr>
            <a:xfrm>
              <a:off x="742309" y="3549993"/>
              <a:ext cx="2031325" cy="276999"/>
            </a:xfrm>
            <a:prstGeom prst="rect">
              <a:avLst/>
            </a:prstGeom>
            <a:noFill/>
          </p:spPr>
          <p:txBody>
            <a:bodyPr wrap="none" rtlCol="0">
              <a:spAutoFit/>
            </a:bodyPr>
            <a:lstStyle/>
            <a:p>
              <a:r>
                <a:rPr kumimoji="1" lang="ja-GB" altLang="en-US" sz="1200" b="1" dirty="0"/>
                <a:t>各グループに基準を決める</a:t>
              </a:r>
              <a:endParaRPr kumimoji="1" lang="en-US" altLang="ja-GB" sz="1200" b="1" dirty="0"/>
            </a:p>
          </p:txBody>
        </p:sp>
      </p:grpSp>
      <p:grpSp>
        <p:nvGrpSpPr>
          <p:cNvPr id="68" name="グループ化 67">
            <a:extLst>
              <a:ext uri="{FF2B5EF4-FFF2-40B4-BE49-F238E27FC236}">
                <a16:creationId xmlns:a16="http://schemas.microsoft.com/office/drawing/2014/main" id="{5D1DB059-CE3A-1FFB-FFF1-70E10C333093}"/>
              </a:ext>
            </a:extLst>
          </p:cNvPr>
          <p:cNvGrpSpPr/>
          <p:nvPr/>
        </p:nvGrpSpPr>
        <p:grpSpPr>
          <a:xfrm>
            <a:off x="2535992" y="4587107"/>
            <a:ext cx="1908845" cy="471344"/>
            <a:chOff x="2913066" y="5162146"/>
            <a:chExt cx="1908845" cy="471344"/>
          </a:xfrm>
        </p:grpSpPr>
        <p:sp>
          <p:nvSpPr>
            <p:cNvPr id="45" name="正方形/長方形 44">
              <a:extLst>
                <a:ext uri="{FF2B5EF4-FFF2-40B4-BE49-F238E27FC236}">
                  <a16:creationId xmlns:a16="http://schemas.microsoft.com/office/drawing/2014/main" id="{E9D168E7-3563-4A95-9A9E-0DB7C0036FE4}"/>
                </a:ext>
              </a:extLst>
            </p:cNvPr>
            <p:cNvSpPr/>
            <p:nvPr/>
          </p:nvSpPr>
          <p:spPr>
            <a:xfrm>
              <a:off x="4344238" y="5162146"/>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47" name="正方形/長方形 46">
              <a:extLst>
                <a:ext uri="{FF2B5EF4-FFF2-40B4-BE49-F238E27FC236}">
                  <a16:creationId xmlns:a16="http://schemas.microsoft.com/office/drawing/2014/main" id="{86057180-FC8F-267E-43ED-2EF03CAFF40B}"/>
                </a:ext>
              </a:extLst>
            </p:cNvPr>
            <p:cNvSpPr/>
            <p:nvPr/>
          </p:nvSpPr>
          <p:spPr>
            <a:xfrm>
              <a:off x="3387046" y="5162146"/>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48" name="正方形/長方形 47">
              <a:extLst>
                <a:ext uri="{FF2B5EF4-FFF2-40B4-BE49-F238E27FC236}">
                  <a16:creationId xmlns:a16="http://schemas.microsoft.com/office/drawing/2014/main" id="{912FAE77-9545-C758-C216-9D3C19E5397F}"/>
                </a:ext>
              </a:extLst>
            </p:cNvPr>
            <p:cNvSpPr/>
            <p:nvPr/>
          </p:nvSpPr>
          <p:spPr>
            <a:xfrm>
              <a:off x="3864719" y="5162146"/>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51" name="正方形/長方形 50">
              <a:extLst>
                <a:ext uri="{FF2B5EF4-FFF2-40B4-BE49-F238E27FC236}">
                  <a16:creationId xmlns:a16="http://schemas.microsoft.com/office/drawing/2014/main" id="{8F01EB7F-6DDF-784D-8386-A2AFCECE1C1F}"/>
                </a:ext>
              </a:extLst>
            </p:cNvPr>
            <p:cNvSpPr/>
            <p:nvPr/>
          </p:nvSpPr>
          <p:spPr>
            <a:xfrm>
              <a:off x="2913066" y="5162146"/>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grpSp>
      <p:grpSp>
        <p:nvGrpSpPr>
          <p:cNvPr id="67" name="グループ化 66">
            <a:extLst>
              <a:ext uri="{FF2B5EF4-FFF2-40B4-BE49-F238E27FC236}">
                <a16:creationId xmlns:a16="http://schemas.microsoft.com/office/drawing/2014/main" id="{B3D6B51D-182E-49EE-1EFD-F71FFD8B4CCE}"/>
              </a:ext>
            </a:extLst>
          </p:cNvPr>
          <p:cNvGrpSpPr/>
          <p:nvPr/>
        </p:nvGrpSpPr>
        <p:grpSpPr>
          <a:xfrm>
            <a:off x="365235" y="3794695"/>
            <a:ext cx="4066680" cy="471344"/>
            <a:chOff x="742309" y="4398015"/>
            <a:chExt cx="4066680" cy="471344"/>
          </a:xfrm>
        </p:grpSpPr>
        <p:sp>
          <p:nvSpPr>
            <p:cNvPr id="36" name="テキスト ボックス 35">
              <a:extLst>
                <a:ext uri="{FF2B5EF4-FFF2-40B4-BE49-F238E27FC236}">
                  <a16:creationId xmlns:a16="http://schemas.microsoft.com/office/drawing/2014/main" id="{9C187EA2-AD95-11F1-9F6A-A31B69A6CEB0}"/>
                </a:ext>
              </a:extLst>
            </p:cNvPr>
            <p:cNvSpPr txBox="1"/>
            <p:nvPr/>
          </p:nvSpPr>
          <p:spPr>
            <a:xfrm>
              <a:off x="742309" y="4495187"/>
              <a:ext cx="1782860" cy="276999"/>
            </a:xfrm>
            <a:prstGeom prst="rect">
              <a:avLst/>
            </a:prstGeom>
            <a:noFill/>
          </p:spPr>
          <p:txBody>
            <a:bodyPr wrap="none" rtlCol="0">
              <a:spAutoFit/>
            </a:bodyPr>
            <a:lstStyle/>
            <a:p>
              <a:r>
                <a:rPr kumimoji="1" lang="ja-GB" altLang="en-US" sz="1200" b="1" dirty="0"/>
                <a:t>基準以上</a:t>
              </a:r>
              <a:r>
                <a:rPr kumimoji="1" lang="en-US" altLang="ja-GB" sz="1200" b="1" dirty="0"/>
                <a:t>/</a:t>
              </a:r>
              <a:r>
                <a:rPr kumimoji="1" lang="ja-GB" altLang="en-US" sz="1200" b="1" dirty="0"/>
                <a:t>以下に分ける</a:t>
              </a:r>
            </a:p>
          </p:txBody>
        </p:sp>
        <p:sp>
          <p:nvSpPr>
            <p:cNvPr id="37" name="正方形/長方形 36">
              <a:extLst>
                <a:ext uri="{FF2B5EF4-FFF2-40B4-BE49-F238E27FC236}">
                  <a16:creationId xmlns:a16="http://schemas.microsoft.com/office/drawing/2014/main" id="{C931A5CA-3D91-6124-7048-FDF4CA4E6E9A}"/>
                </a:ext>
              </a:extLst>
            </p:cNvPr>
            <p:cNvSpPr/>
            <p:nvPr/>
          </p:nvSpPr>
          <p:spPr>
            <a:xfrm>
              <a:off x="4331316" y="4398015"/>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39" name="正方形/長方形 38">
              <a:extLst>
                <a:ext uri="{FF2B5EF4-FFF2-40B4-BE49-F238E27FC236}">
                  <a16:creationId xmlns:a16="http://schemas.microsoft.com/office/drawing/2014/main" id="{ED624A24-43A0-C26E-28A1-F1C359404FB3}"/>
                </a:ext>
              </a:extLst>
            </p:cNvPr>
            <p:cNvSpPr/>
            <p:nvPr/>
          </p:nvSpPr>
          <p:spPr>
            <a:xfrm>
              <a:off x="3374124" y="4398015"/>
              <a:ext cx="477673" cy="471344"/>
            </a:xfrm>
            <a:prstGeom prst="rect">
              <a:avLst/>
            </a:prstGeom>
            <a:solidFill>
              <a:schemeClr val="accent6">
                <a:lumMod val="40000"/>
                <a:lumOff val="6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accent6">
                      <a:lumMod val="50000"/>
                    </a:schemeClr>
                  </a:solidFill>
                </a:rPr>
                <a:t>2</a:t>
              </a:r>
              <a:endParaRPr kumimoji="1" lang="ja-GB" altLang="en-US" dirty="0">
                <a:solidFill>
                  <a:schemeClr val="accent6">
                    <a:lumMod val="50000"/>
                  </a:schemeClr>
                </a:solidFill>
              </a:endParaRPr>
            </a:p>
          </p:txBody>
        </p:sp>
        <p:sp>
          <p:nvSpPr>
            <p:cNvPr id="40" name="正方形/長方形 39">
              <a:extLst>
                <a:ext uri="{FF2B5EF4-FFF2-40B4-BE49-F238E27FC236}">
                  <a16:creationId xmlns:a16="http://schemas.microsoft.com/office/drawing/2014/main" id="{8CEC1632-83F2-1014-17FC-38FE333D49FE}"/>
                </a:ext>
              </a:extLst>
            </p:cNvPr>
            <p:cNvSpPr/>
            <p:nvPr/>
          </p:nvSpPr>
          <p:spPr>
            <a:xfrm>
              <a:off x="3851797" y="4398015"/>
              <a:ext cx="477673" cy="4713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43" name="正方形/長方形 42">
              <a:extLst>
                <a:ext uri="{FF2B5EF4-FFF2-40B4-BE49-F238E27FC236}">
                  <a16:creationId xmlns:a16="http://schemas.microsoft.com/office/drawing/2014/main" id="{5E4421BD-4BE5-EF82-3CDC-508B68FAA70D}"/>
                </a:ext>
              </a:extLst>
            </p:cNvPr>
            <p:cNvSpPr/>
            <p:nvPr/>
          </p:nvSpPr>
          <p:spPr>
            <a:xfrm>
              <a:off x="2900144" y="4398015"/>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grpSp>
      <p:sp>
        <p:nvSpPr>
          <p:cNvPr id="80" name="テキスト ボックス 79">
            <a:extLst>
              <a:ext uri="{FF2B5EF4-FFF2-40B4-BE49-F238E27FC236}">
                <a16:creationId xmlns:a16="http://schemas.microsoft.com/office/drawing/2014/main" id="{ABF673E6-CA81-1121-B2A9-6E793154555D}"/>
              </a:ext>
            </a:extLst>
          </p:cNvPr>
          <p:cNvSpPr txBox="1"/>
          <p:nvPr/>
        </p:nvSpPr>
        <p:spPr>
          <a:xfrm>
            <a:off x="314325" y="4587107"/>
            <a:ext cx="2263761" cy="461665"/>
          </a:xfrm>
          <a:prstGeom prst="rect">
            <a:avLst/>
          </a:prstGeom>
          <a:noFill/>
        </p:spPr>
        <p:txBody>
          <a:bodyPr wrap="none" rtlCol="0">
            <a:spAutoFit/>
          </a:bodyPr>
          <a:lstStyle/>
          <a:p>
            <a:r>
              <a:rPr kumimoji="1" lang="ja-GB" altLang="en-US" sz="1200" b="1" dirty="0"/>
              <a:t>全て</a:t>
            </a:r>
            <a:r>
              <a:rPr kumimoji="1" lang="en-US" altLang="ja-GB" sz="1200" b="1" dirty="0"/>
              <a:t>1</a:t>
            </a:r>
            <a:r>
              <a:rPr kumimoji="1" lang="ja-GB" altLang="en-US" sz="1200" b="1" dirty="0"/>
              <a:t>つの要素に分離されたら</a:t>
            </a:r>
            <a:endParaRPr kumimoji="1" lang="en-US" altLang="ja-GB" sz="1200" b="1" dirty="0"/>
          </a:p>
          <a:p>
            <a:r>
              <a:rPr kumimoji="1" lang="ja-GB" altLang="en-US" sz="1200" b="1" dirty="0"/>
              <a:t>並び替えが完了している</a:t>
            </a:r>
          </a:p>
        </p:txBody>
      </p:sp>
      <mc:AlternateContent xmlns:mc="http://schemas.openxmlformats.org/markup-compatibility/2006" xmlns:a14="http://schemas.microsoft.com/office/drawing/2010/main">
        <mc:Choice Requires="a14">
          <p:sp>
            <p:nvSpPr>
              <p:cNvPr id="81" name="テキスト ボックス 80">
                <a:extLst>
                  <a:ext uri="{FF2B5EF4-FFF2-40B4-BE49-F238E27FC236}">
                    <a16:creationId xmlns:a16="http://schemas.microsoft.com/office/drawing/2014/main" id="{26DA5AB7-7398-B5DB-C1E5-68AFF0C3598A}"/>
                  </a:ext>
                </a:extLst>
              </p:cNvPr>
              <p:cNvSpPr txBox="1"/>
              <p:nvPr/>
            </p:nvSpPr>
            <p:spPr>
              <a:xfrm>
                <a:off x="6133897" y="1312116"/>
                <a:ext cx="2646109" cy="923330"/>
              </a:xfrm>
              <a:prstGeom prst="rect">
                <a:avLst/>
              </a:prstGeom>
              <a:noFill/>
            </p:spPr>
            <p:txBody>
              <a:bodyPr wrap="none" rtlCol="0">
                <a:spAutoFit/>
              </a:bodyPr>
              <a:lstStyle/>
              <a:p>
                <a:r>
                  <a:rPr kumimoji="1" lang="ja-GB" altLang="en-US" dirty="0"/>
                  <a:t>最良計算量：</a:t>
                </a:r>
                <a14:m>
                  <m:oMath xmlns:m="http://schemas.openxmlformats.org/officeDocument/2006/math">
                    <m:r>
                      <a:rPr kumimoji="1" lang="en-US" altLang="ja-GB" i="1">
                        <a:latin typeface="Cambria Math" panose="02040503050406030204" pitchFamily="18" charset="0"/>
                      </a:rPr>
                      <m:t>𝑂</m:t>
                    </m:r>
                    <m:d>
                      <m:dPr>
                        <m:ctrlPr>
                          <a:rPr kumimoji="1" lang="en-US" altLang="ja-GB" i="1">
                            <a:latin typeface="Cambria Math" panose="02040503050406030204" pitchFamily="18" charset="0"/>
                          </a:rPr>
                        </m:ctrlPr>
                      </m:dPr>
                      <m:e>
                        <m:r>
                          <a:rPr kumimoji="1" lang="en-US" altLang="ja-GB" i="1">
                            <a:latin typeface="Cambria Math" panose="02040503050406030204" pitchFamily="18" charset="0"/>
                          </a:rPr>
                          <m:t>𝑛</m:t>
                        </m:r>
                        <m:func>
                          <m:funcPr>
                            <m:ctrlPr>
                              <a:rPr kumimoji="1" lang="en-US" altLang="ja-GB" i="1">
                                <a:latin typeface="Cambria Math" panose="02040503050406030204" pitchFamily="18" charset="0"/>
                              </a:rPr>
                            </m:ctrlPr>
                          </m:funcPr>
                          <m:fName>
                            <m:r>
                              <m:rPr>
                                <m:sty m:val="p"/>
                              </m:rPr>
                              <a:rPr kumimoji="1" lang="en-US" altLang="ja-GB">
                                <a:latin typeface="Cambria Math" panose="02040503050406030204" pitchFamily="18" charset="0"/>
                              </a:rPr>
                              <m:t>log</m:t>
                            </m:r>
                          </m:fName>
                          <m:e>
                            <m:r>
                              <a:rPr kumimoji="1" lang="en-US" altLang="ja-GB" i="1">
                                <a:latin typeface="Cambria Math" panose="02040503050406030204" pitchFamily="18" charset="0"/>
                              </a:rPr>
                              <m:t>𝑛</m:t>
                            </m:r>
                          </m:e>
                        </m:func>
                      </m:e>
                    </m:d>
                  </m:oMath>
                </a14:m>
                <a:endParaRPr kumimoji="1" lang="en-US" altLang="ja-GB" dirty="0"/>
              </a:p>
              <a:p>
                <a:r>
                  <a:rPr kumimoji="1" lang="ja-GB" altLang="en-US" dirty="0"/>
                  <a:t>平均計算量：</a:t>
                </a:r>
                <a14:m>
                  <m:oMath xmlns:m="http://schemas.openxmlformats.org/officeDocument/2006/math">
                    <m:r>
                      <a:rPr kumimoji="1" lang="en-US" altLang="ja-GB" i="1">
                        <a:latin typeface="Cambria Math" panose="02040503050406030204" pitchFamily="18" charset="0"/>
                      </a:rPr>
                      <m:t>𝑂</m:t>
                    </m:r>
                    <m:d>
                      <m:dPr>
                        <m:ctrlPr>
                          <a:rPr kumimoji="1" lang="en-US" altLang="ja-GB" i="1">
                            <a:latin typeface="Cambria Math" panose="02040503050406030204" pitchFamily="18" charset="0"/>
                          </a:rPr>
                        </m:ctrlPr>
                      </m:dPr>
                      <m:e>
                        <m:r>
                          <a:rPr kumimoji="1" lang="en-US" altLang="ja-GB" b="0" i="1" smtClean="0">
                            <a:latin typeface="Cambria Math" panose="02040503050406030204" pitchFamily="18" charset="0"/>
                          </a:rPr>
                          <m:t>𝑛</m:t>
                        </m:r>
                        <m:func>
                          <m:funcPr>
                            <m:ctrlPr>
                              <a:rPr kumimoji="1" lang="en-US" altLang="ja-GB" b="0" i="1" smtClean="0">
                                <a:latin typeface="Cambria Math" panose="02040503050406030204" pitchFamily="18" charset="0"/>
                              </a:rPr>
                            </m:ctrlPr>
                          </m:funcPr>
                          <m:fName>
                            <m:r>
                              <m:rPr>
                                <m:sty m:val="p"/>
                              </m:rPr>
                              <a:rPr kumimoji="1" lang="en-US" altLang="ja-GB" b="0" i="0" smtClean="0">
                                <a:latin typeface="Cambria Math" panose="02040503050406030204" pitchFamily="18" charset="0"/>
                              </a:rPr>
                              <m:t>log</m:t>
                            </m:r>
                          </m:fName>
                          <m:e>
                            <m:r>
                              <a:rPr kumimoji="1" lang="en-US" altLang="ja-GB" b="0" i="1" smtClean="0">
                                <a:latin typeface="Cambria Math" panose="02040503050406030204" pitchFamily="18" charset="0"/>
                              </a:rPr>
                              <m:t>𝑛</m:t>
                            </m:r>
                          </m:e>
                        </m:func>
                      </m:e>
                    </m:d>
                  </m:oMath>
                </a14:m>
                <a:endParaRPr kumimoji="1" lang="en-US" altLang="ja-GB" dirty="0"/>
              </a:p>
              <a:p>
                <a:r>
                  <a:rPr kumimoji="1" lang="ja-GB" altLang="en-US" dirty="0"/>
                  <a:t>最悪計算量：</a:t>
                </a:r>
                <a14:m>
                  <m:oMath xmlns:m="http://schemas.openxmlformats.org/officeDocument/2006/math">
                    <m:r>
                      <a:rPr kumimoji="1" lang="en-US" altLang="ja-GB" b="0" i="1" smtClean="0">
                        <a:latin typeface="Cambria Math" panose="02040503050406030204" pitchFamily="18" charset="0"/>
                      </a:rPr>
                      <m:t>𝑂</m:t>
                    </m:r>
                    <m:d>
                      <m:dPr>
                        <m:ctrlPr>
                          <a:rPr kumimoji="1" lang="en-US" altLang="ja-GB" b="0" i="1" smtClean="0">
                            <a:latin typeface="Cambria Math" panose="02040503050406030204" pitchFamily="18" charset="0"/>
                          </a:rPr>
                        </m:ctrlPr>
                      </m:dPr>
                      <m:e>
                        <m:sSup>
                          <m:sSupPr>
                            <m:ctrlPr>
                              <a:rPr kumimoji="1" lang="en-US" altLang="ja-GB" b="0" i="1" smtClean="0">
                                <a:latin typeface="Cambria Math" panose="02040503050406030204" pitchFamily="18" charset="0"/>
                              </a:rPr>
                            </m:ctrlPr>
                          </m:sSupPr>
                          <m:e>
                            <m:r>
                              <a:rPr kumimoji="1" lang="en-US" altLang="ja-GB" b="0" i="1" smtClean="0">
                                <a:latin typeface="Cambria Math" panose="02040503050406030204" pitchFamily="18" charset="0"/>
                              </a:rPr>
                              <m:t>𝑛</m:t>
                            </m:r>
                          </m:e>
                          <m:sup>
                            <m:r>
                              <a:rPr kumimoji="1" lang="en-US" altLang="ja-GB" b="0" i="1" smtClean="0">
                                <a:latin typeface="Cambria Math" panose="02040503050406030204" pitchFamily="18" charset="0"/>
                              </a:rPr>
                              <m:t>2</m:t>
                            </m:r>
                          </m:sup>
                        </m:sSup>
                      </m:e>
                    </m:d>
                  </m:oMath>
                </a14:m>
                <a:endParaRPr kumimoji="1" lang="ja-GB" altLang="en-US" dirty="0"/>
              </a:p>
            </p:txBody>
          </p:sp>
        </mc:Choice>
        <mc:Fallback xmlns="">
          <p:sp>
            <p:nvSpPr>
              <p:cNvPr id="81" name="テキスト ボックス 80">
                <a:extLst>
                  <a:ext uri="{FF2B5EF4-FFF2-40B4-BE49-F238E27FC236}">
                    <a16:creationId xmlns:a16="http://schemas.microsoft.com/office/drawing/2014/main" id="{26DA5AB7-7398-B5DB-C1E5-68AFF0C3598A}"/>
                  </a:ext>
                </a:extLst>
              </p:cNvPr>
              <p:cNvSpPr txBox="1">
                <a:spLocks noRot="1" noChangeAspect="1" noMove="1" noResize="1" noEditPoints="1" noAdjustHandles="1" noChangeArrowheads="1" noChangeShapeType="1" noTextEdit="1"/>
              </p:cNvSpPr>
              <p:nvPr/>
            </p:nvSpPr>
            <p:spPr>
              <a:xfrm>
                <a:off x="6133897" y="1312116"/>
                <a:ext cx="2646109" cy="923330"/>
              </a:xfrm>
              <a:prstGeom prst="rect">
                <a:avLst/>
              </a:prstGeom>
              <a:blipFill>
                <a:blip r:embed="rId2"/>
                <a:stretch>
                  <a:fillRect l="-1429" t="-2703" b="-9459"/>
                </a:stretch>
              </a:blipFill>
            </p:spPr>
            <p:txBody>
              <a:bodyPr/>
              <a:lstStyle/>
              <a:p>
                <a:r>
                  <a:rPr lang="ja-GB" altLang="en-US">
                    <a:noFill/>
                  </a:rPr>
                  <a:t> </a:t>
                </a:r>
              </a:p>
            </p:txBody>
          </p:sp>
        </mc:Fallback>
      </mc:AlternateContent>
      <p:sp>
        <p:nvSpPr>
          <p:cNvPr id="4" name="テキスト ボックス 3">
            <a:extLst>
              <a:ext uri="{FF2B5EF4-FFF2-40B4-BE49-F238E27FC236}">
                <a16:creationId xmlns:a16="http://schemas.microsoft.com/office/drawing/2014/main" id="{F1D55EF3-0EE2-F971-BD80-FC2D74B63C1A}"/>
              </a:ext>
            </a:extLst>
          </p:cNvPr>
          <p:cNvSpPr txBox="1"/>
          <p:nvPr/>
        </p:nvSpPr>
        <p:spPr>
          <a:xfrm>
            <a:off x="4435605" y="3104897"/>
            <a:ext cx="2339102" cy="276999"/>
          </a:xfrm>
          <a:prstGeom prst="rect">
            <a:avLst/>
          </a:prstGeom>
          <a:noFill/>
        </p:spPr>
        <p:txBody>
          <a:bodyPr wrap="none" rtlCol="0">
            <a:spAutoFit/>
          </a:bodyPr>
          <a:lstStyle/>
          <a:p>
            <a:r>
              <a:rPr kumimoji="1" lang="ja-GB" altLang="en-US" sz="1200" b="1" dirty="0"/>
              <a:t>要素が一つになったら探索終了</a:t>
            </a:r>
            <a:endParaRPr kumimoji="1" lang="en-US" altLang="ja-GB" sz="1200" b="1" dirty="0"/>
          </a:p>
        </p:txBody>
      </p:sp>
      <p:sp>
        <p:nvSpPr>
          <p:cNvPr id="12" name="テキスト ボックス 11">
            <a:extLst>
              <a:ext uri="{FF2B5EF4-FFF2-40B4-BE49-F238E27FC236}">
                <a16:creationId xmlns:a16="http://schemas.microsoft.com/office/drawing/2014/main" id="{D1128217-63B5-DF03-CF21-ED5906923831}"/>
              </a:ext>
            </a:extLst>
          </p:cNvPr>
          <p:cNvSpPr txBox="1"/>
          <p:nvPr/>
        </p:nvSpPr>
        <p:spPr>
          <a:xfrm>
            <a:off x="2360555" y="4288073"/>
            <a:ext cx="800220" cy="276999"/>
          </a:xfrm>
          <a:prstGeom prst="rect">
            <a:avLst/>
          </a:prstGeom>
          <a:noFill/>
        </p:spPr>
        <p:txBody>
          <a:bodyPr wrap="none" rtlCol="0">
            <a:spAutoFit/>
          </a:bodyPr>
          <a:lstStyle/>
          <a:p>
            <a:pPr algn="ctr"/>
            <a:r>
              <a:rPr kumimoji="1" lang="ja-GB" altLang="en-US" sz="1200" b="1" dirty="0">
                <a:solidFill>
                  <a:srgbClr val="002060"/>
                </a:solidFill>
              </a:rPr>
              <a:t>基準以下</a:t>
            </a:r>
          </a:p>
        </p:txBody>
      </p:sp>
    </p:spTree>
    <p:extLst>
      <p:ext uri="{BB962C8B-B14F-4D97-AF65-F5344CB8AC3E}">
        <p14:creationId xmlns:p14="http://schemas.microsoft.com/office/powerpoint/2010/main" val="42073216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F1FC2-6573-3B61-652E-400990189F4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42BF77E-4CF8-1607-8E05-86245236CB7F}"/>
              </a:ext>
            </a:extLst>
          </p:cNvPr>
          <p:cNvSpPr>
            <a:spLocks noGrp="1"/>
          </p:cNvSpPr>
          <p:nvPr>
            <p:ph type="title"/>
          </p:nvPr>
        </p:nvSpPr>
        <p:spPr/>
        <p:txBody>
          <a:bodyPr>
            <a:normAutofit/>
          </a:bodyPr>
          <a:lstStyle/>
          <a:p>
            <a:r>
              <a:rPr kumimoji="1" lang="ja-GB" altLang="en-US" dirty="0"/>
              <a:t>第</a:t>
            </a:r>
            <a:r>
              <a:rPr kumimoji="1" lang="en-US" altLang="ja-GB" dirty="0"/>
              <a:t>8</a:t>
            </a:r>
            <a:r>
              <a:rPr kumimoji="1" lang="ja-GB" altLang="en-US" dirty="0"/>
              <a:t>回：アルゴリズム</a:t>
            </a:r>
          </a:p>
        </p:txBody>
      </p:sp>
      <p:sp>
        <p:nvSpPr>
          <p:cNvPr id="3" name="コンテンツ プレースホルダー 2">
            <a:extLst>
              <a:ext uri="{FF2B5EF4-FFF2-40B4-BE49-F238E27FC236}">
                <a16:creationId xmlns:a16="http://schemas.microsoft.com/office/drawing/2014/main" id="{4590624D-83D3-1B1A-CAAA-A521ACFF0160}"/>
              </a:ext>
            </a:extLst>
          </p:cNvPr>
          <p:cNvSpPr>
            <a:spLocks noGrp="1"/>
          </p:cNvSpPr>
          <p:nvPr>
            <p:ph idx="1"/>
          </p:nvPr>
        </p:nvSpPr>
        <p:spPr/>
        <p:txBody>
          <a:bodyPr/>
          <a:lstStyle/>
          <a:p>
            <a:pPr marL="0" indent="0">
              <a:buNone/>
            </a:pPr>
            <a:r>
              <a:rPr kumimoji="1" lang="ja-GB" altLang="en-US" dirty="0"/>
              <a:t>アルゴリズムを使うとき同じ機能でも様々な方式から選ぶ必要がある</a:t>
            </a:r>
            <a:endParaRPr kumimoji="1" lang="en-US" altLang="ja-GB" dirty="0"/>
          </a:p>
          <a:p>
            <a:pPr marL="914400" lvl="1" indent="-457200">
              <a:buFont typeface="+mj-lt"/>
              <a:buAutoNum type="arabicPeriod"/>
            </a:pPr>
            <a:r>
              <a:rPr kumimoji="1" lang="ja-GB" altLang="en-US" dirty="0"/>
              <a:t>状況に応じたアルゴリズム選定の重要性</a:t>
            </a:r>
            <a:endParaRPr kumimoji="1" lang="en-US" altLang="ja-GB" dirty="0"/>
          </a:p>
          <a:p>
            <a:pPr lvl="2"/>
            <a:r>
              <a:rPr lang="ja-GB" altLang="en-US" dirty="0"/>
              <a:t>同じ機能でも処理速度が異なるアルゴリズムが存在する</a:t>
            </a:r>
            <a:endParaRPr lang="en-US" altLang="ja-GB" dirty="0"/>
          </a:p>
          <a:p>
            <a:pPr lvl="2"/>
            <a:r>
              <a:rPr kumimoji="1" lang="ja-GB" altLang="en-US" dirty="0"/>
              <a:t>計算手順の少なさと考えやすさのトレードオフ</a:t>
            </a:r>
            <a:endParaRPr kumimoji="1" lang="en-US" altLang="ja-GB" dirty="0"/>
          </a:p>
          <a:p>
            <a:pPr lvl="2"/>
            <a:r>
              <a:rPr lang="ja-GB" altLang="en-US" dirty="0"/>
              <a:t>アルゴリズムの速さを見積もる数式</a:t>
            </a:r>
            <a:endParaRPr lang="en-US" altLang="ja-GB" dirty="0"/>
          </a:p>
          <a:p>
            <a:pPr lvl="2"/>
            <a:endParaRPr lang="en-US" altLang="ja-GB" dirty="0"/>
          </a:p>
          <a:p>
            <a:pPr marL="914400" lvl="1" indent="-457200">
              <a:buFont typeface="+mj-lt"/>
              <a:buAutoNum type="arabicPeriod"/>
            </a:pPr>
            <a:r>
              <a:rPr kumimoji="1" lang="ja-GB" altLang="en-US" dirty="0"/>
              <a:t>「考えやすさ</a:t>
            </a:r>
            <a:r>
              <a:rPr kumimoji="1" lang="en-US" altLang="ja-GB" dirty="0"/>
              <a:t> vs </a:t>
            </a:r>
            <a:r>
              <a:rPr kumimoji="1" lang="ja-GB" altLang="en-US" dirty="0"/>
              <a:t>速さ」の具体例</a:t>
            </a:r>
            <a:endParaRPr kumimoji="1" lang="en-US" altLang="ja-GB" dirty="0"/>
          </a:p>
          <a:p>
            <a:pPr lvl="2"/>
            <a:r>
              <a:rPr lang="ja-GB" altLang="en-US" dirty="0"/>
              <a:t>並び替えアルゴリズムの比較</a:t>
            </a:r>
            <a:endParaRPr lang="en-US" altLang="ja-GB" dirty="0"/>
          </a:p>
          <a:p>
            <a:pPr lvl="2"/>
            <a:r>
              <a:rPr kumimoji="1" lang="ja-GB" altLang="en-US" dirty="0"/>
              <a:t>考えやすいアルゴリズム（挿入ソート，選択ソート）</a:t>
            </a:r>
            <a:endParaRPr kumimoji="1" lang="en-US" altLang="ja-GB" dirty="0"/>
          </a:p>
          <a:p>
            <a:pPr lvl="2"/>
            <a:r>
              <a:rPr lang="ja-GB" altLang="en-US" dirty="0"/>
              <a:t>大きなデータを少ない手順で捌けるアルゴリズム（クイックソート）</a:t>
            </a:r>
            <a:endParaRPr lang="en-US" altLang="ja-GB" dirty="0"/>
          </a:p>
          <a:p>
            <a:pPr lvl="2"/>
            <a:endParaRPr lang="en-US" altLang="ja-GB" dirty="0"/>
          </a:p>
          <a:p>
            <a:pPr marL="914400" lvl="1" indent="-457200">
              <a:buFont typeface="+mj-lt"/>
              <a:buAutoNum type="arabicPeriod"/>
            </a:pPr>
            <a:r>
              <a:rPr kumimoji="1" lang="ja-GB" altLang="en-US" dirty="0">
                <a:solidFill>
                  <a:srgbClr val="0070C0"/>
                </a:solidFill>
              </a:rPr>
              <a:t>状況に応じたアルゴリズム選定</a:t>
            </a:r>
            <a:endParaRPr kumimoji="1" lang="en-US" altLang="ja-GB" dirty="0">
              <a:solidFill>
                <a:srgbClr val="0070C0"/>
              </a:solidFill>
            </a:endParaRPr>
          </a:p>
          <a:p>
            <a:pPr lvl="2"/>
            <a:r>
              <a:rPr kumimoji="1" lang="ja-GB" altLang="en-US" dirty="0"/>
              <a:t>メモリ使用量の違い（</a:t>
            </a:r>
            <a:r>
              <a:rPr lang="ja-GB" altLang="en-US" dirty="0"/>
              <a:t>空間計算量</a:t>
            </a:r>
            <a:r>
              <a:rPr kumimoji="1" lang="ja-GB" altLang="en-US" dirty="0"/>
              <a:t>）</a:t>
            </a:r>
            <a:endParaRPr kumimoji="1" lang="en-US" altLang="ja-GB" dirty="0"/>
          </a:p>
          <a:p>
            <a:pPr lvl="2"/>
            <a:r>
              <a:rPr kumimoji="1" lang="ja-GB" altLang="en-US" dirty="0"/>
              <a:t>問題条件の違い（ソートの安定性）</a:t>
            </a:r>
            <a:endParaRPr kumimoji="1" lang="en-US" altLang="ja-GB" dirty="0"/>
          </a:p>
          <a:p>
            <a:pPr lvl="2"/>
            <a:endParaRPr kumimoji="1" lang="ja-GB" altLang="en-US" dirty="0"/>
          </a:p>
        </p:txBody>
      </p:sp>
    </p:spTree>
    <p:extLst>
      <p:ext uri="{BB962C8B-B14F-4D97-AF65-F5344CB8AC3E}">
        <p14:creationId xmlns:p14="http://schemas.microsoft.com/office/powerpoint/2010/main" val="8093643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50BE74-E561-0250-28BA-F0E89C22CBA2}"/>
              </a:ext>
            </a:extLst>
          </p:cNvPr>
          <p:cNvSpPr>
            <a:spLocks noGrp="1"/>
          </p:cNvSpPr>
          <p:nvPr>
            <p:ph type="title"/>
          </p:nvPr>
        </p:nvSpPr>
        <p:spPr/>
        <p:txBody>
          <a:bodyPr/>
          <a:lstStyle/>
          <a:p>
            <a:r>
              <a:rPr kumimoji="1" lang="ja-GB" altLang="en-US" dirty="0"/>
              <a:t>空間計算量</a:t>
            </a:r>
          </a:p>
        </p:txBody>
      </p:sp>
      <p:sp>
        <p:nvSpPr>
          <p:cNvPr id="3" name="コンテンツ プレースホルダー 2">
            <a:extLst>
              <a:ext uri="{FF2B5EF4-FFF2-40B4-BE49-F238E27FC236}">
                <a16:creationId xmlns:a16="http://schemas.microsoft.com/office/drawing/2014/main" id="{CDC62A43-A247-1FEC-6E62-82F2ACA4C1D3}"/>
              </a:ext>
            </a:extLst>
          </p:cNvPr>
          <p:cNvSpPr>
            <a:spLocks noGrp="1"/>
          </p:cNvSpPr>
          <p:nvPr>
            <p:ph idx="1"/>
          </p:nvPr>
        </p:nvSpPr>
        <p:spPr/>
        <p:txBody>
          <a:bodyPr/>
          <a:lstStyle/>
          <a:p>
            <a:pPr marL="0" indent="0">
              <a:buNone/>
            </a:pPr>
            <a:r>
              <a:rPr kumimoji="1" lang="ja-GB" altLang="en-US" dirty="0"/>
              <a:t>メモリ消費の少なさは重要な選定要件になりうる</a:t>
            </a:r>
            <a:endParaRPr kumimoji="1" lang="en-US" altLang="ja-GB" dirty="0"/>
          </a:p>
          <a:p>
            <a:pPr lvl="1"/>
            <a:r>
              <a:rPr lang="ja-GB" altLang="en-US" dirty="0"/>
              <a:t>計算機のメモリ（記憶容量）は有限</a:t>
            </a:r>
            <a:endParaRPr lang="en-US" altLang="ja-GB" dirty="0"/>
          </a:p>
          <a:p>
            <a:pPr lvl="1"/>
            <a:r>
              <a:rPr lang="ja-GB" altLang="en-US" dirty="0"/>
              <a:t>手順の少なさや理解しやすさと同様に，メモリ消費の少なさも重要</a:t>
            </a:r>
            <a:endParaRPr lang="en-US" altLang="ja-GB" dirty="0"/>
          </a:p>
        </p:txBody>
      </p:sp>
    </p:spTree>
    <p:extLst>
      <p:ext uri="{BB962C8B-B14F-4D97-AF65-F5344CB8AC3E}">
        <p14:creationId xmlns:p14="http://schemas.microsoft.com/office/powerpoint/2010/main" val="2586658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F829DA-FCEB-7227-F82A-C0F2436CF92E}"/>
              </a:ext>
            </a:extLst>
          </p:cNvPr>
          <p:cNvSpPr>
            <a:spLocks noGrp="1"/>
          </p:cNvSpPr>
          <p:nvPr>
            <p:ph type="title"/>
          </p:nvPr>
        </p:nvSpPr>
        <p:spPr/>
        <p:txBody>
          <a:bodyPr/>
          <a:lstStyle/>
          <a:p>
            <a:r>
              <a:rPr kumimoji="1" lang="ja-GB" altLang="en-US" dirty="0"/>
              <a:t>バケットソート</a:t>
            </a:r>
          </a:p>
        </p:txBody>
      </p:sp>
      <p:sp>
        <p:nvSpPr>
          <p:cNvPr id="3" name="コンテンツ プレースホルダー 2">
            <a:extLst>
              <a:ext uri="{FF2B5EF4-FFF2-40B4-BE49-F238E27FC236}">
                <a16:creationId xmlns:a16="http://schemas.microsoft.com/office/drawing/2014/main" id="{AA285E44-C421-BDD5-8305-C1FB1526AA82}"/>
              </a:ext>
            </a:extLst>
          </p:cNvPr>
          <p:cNvSpPr>
            <a:spLocks noGrp="1"/>
          </p:cNvSpPr>
          <p:nvPr>
            <p:ph idx="1"/>
          </p:nvPr>
        </p:nvSpPr>
        <p:spPr/>
        <p:txBody>
          <a:bodyPr/>
          <a:lstStyle/>
          <a:p>
            <a:pPr marL="0" indent="0">
              <a:buNone/>
            </a:pPr>
            <a:r>
              <a:rPr kumimoji="1" lang="ja-GB" altLang="en-US" dirty="0"/>
              <a:t>候補数分のバケツを用意して，各値をそれに入れて，整列する</a:t>
            </a:r>
            <a:endParaRPr kumimoji="1" lang="en-US" altLang="ja-GB" dirty="0"/>
          </a:p>
          <a:p>
            <a:pPr lvl="1"/>
            <a:r>
              <a:rPr kumimoji="1" lang="ja-GB" altLang="en-US" dirty="0"/>
              <a:t>要素を</a:t>
            </a:r>
            <a:r>
              <a:rPr kumimoji="1" lang="en-US" altLang="ja-GB" dirty="0"/>
              <a:t>1</a:t>
            </a:r>
            <a:r>
              <a:rPr kumimoji="1" lang="ja-GB" altLang="en-US" dirty="0"/>
              <a:t>回ずつ操作すれば良いため非常に高速</a:t>
            </a:r>
            <a:endParaRPr kumimoji="1" lang="en-US" altLang="ja-GB" dirty="0"/>
          </a:p>
          <a:p>
            <a:pPr lvl="1"/>
            <a:r>
              <a:rPr kumimoji="1" lang="ja-GB" altLang="en-US" dirty="0"/>
              <a:t>候補数が少ない場合にのみ有効な特殊なアルゴリズム</a:t>
            </a:r>
            <a:endParaRPr kumimoji="1" lang="en-US" altLang="ja-GB" dirty="0"/>
          </a:p>
          <a:p>
            <a:pPr marL="914400" lvl="2" indent="0">
              <a:buNone/>
            </a:pPr>
            <a:r>
              <a:rPr kumimoji="1" lang="ja-GB" altLang="en-US" dirty="0"/>
              <a:t>例）小数や整数のように候補が無数にある場合，無数のバケツが必要</a:t>
            </a:r>
          </a:p>
        </p:txBody>
      </p:sp>
      <p:grpSp>
        <p:nvGrpSpPr>
          <p:cNvPr id="4" name="グループ化 3">
            <a:extLst>
              <a:ext uri="{FF2B5EF4-FFF2-40B4-BE49-F238E27FC236}">
                <a16:creationId xmlns:a16="http://schemas.microsoft.com/office/drawing/2014/main" id="{4BD2401F-4D50-41B8-C277-B0AD20FE506E}"/>
              </a:ext>
            </a:extLst>
          </p:cNvPr>
          <p:cNvGrpSpPr/>
          <p:nvPr/>
        </p:nvGrpSpPr>
        <p:grpSpPr>
          <a:xfrm>
            <a:off x="2440061" y="2593066"/>
            <a:ext cx="3343711" cy="471346"/>
            <a:chOff x="2900144" y="1583697"/>
            <a:chExt cx="3343711" cy="471346"/>
          </a:xfrm>
          <a:solidFill>
            <a:schemeClr val="bg1">
              <a:lumMod val="95000"/>
            </a:schemeClr>
          </a:solidFill>
        </p:grpSpPr>
        <p:sp>
          <p:nvSpPr>
            <p:cNvPr id="5" name="正方形/長方形 4">
              <a:extLst>
                <a:ext uri="{FF2B5EF4-FFF2-40B4-BE49-F238E27FC236}">
                  <a16:creationId xmlns:a16="http://schemas.microsoft.com/office/drawing/2014/main" id="{D6D6497B-4D18-5A81-AF2F-2F9364064F6E}"/>
                </a:ext>
              </a:extLst>
            </p:cNvPr>
            <p:cNvSpPr/>
            <p:nvPr/>
          </p:nvSpPr>
          <p:spPr>
            <a:xfrm>
              <a:off x="2900144" y="1583699"/>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6" name="正方形/長方形 5">
              <a:extLst>
                <a:ext uri="{FF2B5EF4-FFF2-40B4-BE49-F238E27FC236}">
                  <a16:creationId xmlns:a16="http://schemas.microsoft.com/office/drawing/2014/main" id="{FEA3ACFB-47FF-410D-4A0C-1413B27FBAAB}"/>
                </a:ext>
              </a:extLst>
            </p:cNvPr>
            <p:cNvSpPr/>
            <p:nvPr/>
          </p:nvSpPr>
          <p:spPr>
            <a:xfrm>
              <a:off x="3374124"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7" name="正方形/長方形 6">
              <a:extLst>
                <a:ext uri="{FF2B5EF4-FFF2-40B4-BE49-F238E27FC236}">
                  <a16:creationId xmlns:a16="http://schemas.microsoft.com/office/drawing/2014/main" id="{0A282E03-A7E2-8DDD-9953-519E7A85D8D1}"/>
                </a:ext>
              </a:extLst>
            </p:cNvPr>
            <p:cNvSpPr/>
            <p:nvPr/>
          </p:nvSpPr>
          <p:spPr>
            <a:xfrm>
              <a:off x="3851797"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8" name="正方形/長方形 7">
              <a:extLst>
                <a:ext uri="{FF2B5EF4-FFF2-40B4-BE49-F238E27FC236}">
                  <a16:creationId xmlns:a16="http://schemas.microsoft.com/office/drawing/2014/main" id="{9C69469C-8D38-C375-2973-8FA8AB837CD5}"/>
                </a:ext>
              </a:extLst>
            </p:cNvPr>
            <p:cNvSpPr/>
            <p:nvPr/>
          </p:nvSpPr>
          <p:spPr>
            <a:xfrm>
              <a:off x="4331316"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9" name="正方形/長方形 8">
              <a:extLst>
                <a:ext uri="{FF2B5EF4-FFF2-40B4-BE49-F238E27FC236}">
                  <a16:creationId xmlns:a16="http://schemas.microsoft.com/office/drawing/2014/main" id="{71C35C79-71AD-D5FA-D596-3E4FC2873418}"/>
                </a:ext>
              </a:extLst>
            </p:cNvPr>
            <p:cNvSpPr/>
            <p:nvPr/>
          </p:nvSpPr>
          <p:spPr>
            <a:xfrm>
              <a:off x="4808989"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10" name="正方形/長方形 9">
              <a:extLst>
                <a:ext uri="{FF2B5EF4-FFF2-40B4-BE49-F238E27FC236}">
                  <a16:creationId xmlns:a16="http://schemas.microsoft.com/office/drawing/2014/main" id="{A90E3928-1F3A-045C-0A59-D7445C549DAD}"/>
                </a:ext>
              </a:extLst>
            </p:cNvPr>
            <p:cNvSpPr/>
            <p:nvPr/>
          </p:nvSpPr>
          <p:spPr>
            <a:xfrm>
              <a:off x="5288509"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11" name="正方形/長方形 10">
              <a:extLst>
                <a:ext uri="{FF2B5EF4-FFF2-40B4-BE49-F238E27FC236}">
                  <a16:creationId xmlns:a16="http://schemas.microsoft.com/office/drawing/2014/main" id="{973B0E63-ECF2-87CE-882A-F4D2A205E18C}"/>
                </a:ext>
              </a:extLst>
            </p:cNvPr>
            <p:cNvSpPr/>
            <p:nvPr/>
          </p:nvSpPr>
          <p:spPr>
            <a:xfrm>
              <a:off x="5766182"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grpSp>
      <p:sp>
        <p:nvSpPr>
          <p:cNvPr id="14" name="円柱 13">
            <a:extLst>
              <a:ext uri="{FF2B5EF4-FFF2-40B4-BE49-F238E27FC236}">
                <a16:creationId xmlns:a16="http://schemas.microsoft.com/office/drawing/2014/main" id="{7E367AFE-A6E3-D115-5C64-82AB93AAECA6}"/>
              </a:ext>
            </a:extLst>
          </p:cNvPr>
          <p:cNvSpPr/>
          <p:nvPr/>
        </p:nvSpPr>
        <p:spPr>
          <a:xfrm>
            <a:off x="314325" y="3729788"/>
            <a:ext cx="689811" cy="753197"/>
          </a:xfrm>
          <a:prstGeom prst="can">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5" name="円柱 14">
            <a:extLst>
              <a:ext uri="{FF2B5EF4-FFF2-40B4-BE49-F238E27FC236}">
                <a16:creationId xmlns:a16="http://schemas.microsoft.com/office/drawing/2014/main" id="{2B0A3A2E-DE82-EAE5-F536-46DE102961CB}"/>
              </a:ext>
            </a:extLst>
          </p:cNvPr>
          <p:cNvSpPr/>
          <p:nvPr/>
        </p:nvSpPr>
        <p:spPr>
          <a:xfrm>
            <a:off x="1183829" y="3729789"/>
            <a:ext cx="689811" cy="753197"/>
          </a:xfrm>
          <a:prstGeom prst="can">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6" name="円柱 15">
            <a:extLst>
              <a:ext uri="{FF2B5EF4-FFF2-40B4-BE49-F238E27FC236}">
                <a16:creationId xmlns:a16="http://schemas.microsoft.com/office/drawing/2014/main" id="{C992C107-67D8-3C86-5BD3-C8E2372A1CFA}"/>
              </a:ext>
            </a:extLst>
          </p:cNvPr>
          <p:cNvSpPr/>
          <p:nvPr/>
        </p:nvSpPr>
        <p:spPr>
          <a:xfrm>
            <a:off x="2053333" y="3729789"/>
            <a:ext cx="689811" cy="753197"/>
          </a:xfrm>
          <a:prstGeom prst="can">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7" name="円柱 16">
            <a:extLst>
              <a:ext uri="{FF2B5EF4-FFF2-40B4-BE49-F238E27FC236}">
                <a16:creationId xmlns:a16="http://schemas.microsoft.com/office/drawing/2014/main" id="{D28BA51A-FBE8-110B-5D7E-E962B3FC2F51}"/>
              </a:ext>
            </a:extLst>
          </p:cNvPr>
          <p:cNvSpPr/>
          <p:nvPr/>
        </p:nvSpPr>
        <p:spPr>
          <a:xfrm>
            <a:off x="2922837" y="3729789"/>
            <a:ext cx="689811" cy="753197"/>
          </a:xfrm>
          <a:prstGeom prst="can">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8" name="円柱 17">
            <a:extLst>
              <a:ext uri="{FF2B5EF4-FFF2-40B4-BE49-F238E27FC236}">
                <a16:creationId xmlns:a16="http://schemas.microsoft.com/office/drawing/2014/main" id="{CB62D745-1359-4FE4-7C64-194EC7EADD75}"/>
              </a:ext>
            </a:extLst>
          </p:cNvPr>
          <p:cNvSpPr/>
          <p:nvPr/>
        </p:nvSpPr>
        <p:spPr>
          <a:xfrm>
            <a:off x="3792341" y="3729789"/>
            <a:ext cx="689811" cy="753197"/>
          </a:xfrm>
          <a:prstGeom prst="can">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9" name="円柱 18">
            <a:extLst>
              <a:ext uri="{FF2B5EF4-FFF2-40B4-BE49-F238E27FC236}">
                <a16:creationId xmlns:a16="http://schemas.microsoft.com/office/drawing/2014/main" id="{78E92A48-D72C-728A-2D97-C63009242547}"/>
              </a:ext>
            </a:extLst>
          </p:cNvPr>
          <p:cNvSpPr/>
          <p:nvPr/>
        </p:nvSpPr>
        <p:spPr>
          <a:xfrm>
            <a:off x="4661845" y="3729789"/>
            <a:ext cx="689811" cy="753197"/>
          </a:xfrm>
          <a:prstGeom prst="can">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0" name="円柱 19">
            <a:extLst>
              <a:ext uri="{FF2B5EF4-FFF2-40B4-BE49-F238E27FC236}">
                <a16:creationId xmlns:a16="http://schemas.microsoft.com/office/drawing/2014/main" id="{405A6E0E-3C19-B609-347C-22F7E3A2AB12}"/>
              </a:ext>
            </a:extLst>
          </p:cNvPr>
          <p:cNvSpPr/>
          <p:nvPr/>
        </p:nvSpPr>
        <p:spPr>
          <a:xfrm>
            <a:off x="5531349" y="3729789"/>
            <a:ext cx="689811" cy="753197"/>
          </a:xfrm>
          <a:prstGeom prst="can">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1" name="円柱 20">
            <a:extLst>
              <a:ext uri="{FF2B5EF4-FFF2-40B4-BE49-F238E27FC236}">
                <a16:creationId xmlns:a16="http://schemas.microsoft.com/office/drawing/2014/main" id="{B47A30C9-ADE2-253D-9F21-462F57BAD40F}"/>
              </a:ext>
            </a:extLst>
          </p:cNvPr>
          <p:cNvSpPr/>
          <p:nvPr/>
        </p:nvSpPr>
        <p:spPr>
          <a:xfrm>
            <a:off x="6400853" y="3729789"/>
            <a:ext cx="689811" cy="753197"/>
          </a:xfrm>
          <a:prstGeom prst="can">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2" name="円柱 21">
            <a:extLst>
              <a:ext uri="{FF2B5EF4-FFF2-40B4-BE49-F238E27FC236}">
                <a16:creationId xmlns:a16="http://schemas.microsoft.com/office/drawing/2014/main" id="{CEC812D5-B1D2-A875-7C8F-01C433EBDFC8}"/>
              </a:ext>
            </a:extLst>
          </p:cNvPr>
          <p:cNvSpPr/>
          <p:nvPr/>
        </p:nvSpPr>
        <p:spPr>
          <a:xfrm>
            <a:off x="7270357" y="3729789"/>
            <a:ext cx="689811" cy="753197"/>
          </a:xfrm>
          <a:prstGeom prst="can">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3" name="円柱 22">
            <a:extLst>
              <a:ext uri="{FF2B5EF4-FFF2-40B4-BE49-F238E27FC236}">
                <a16:creationId xmlns:a16="http://schemas.microsoft.com/office/drawing/2014/main" id="{080B999E-8C98-7572-3569-E9E79E0690A7}"/>
              </a:ext>
            </a:extLst>
          </p:cNvPr>
          <p:cNvSpPr/>
          <p:nvPr/>
        </p:nvSpPr>
        <p:spPr>
          <a:xfrm>
            <a:off x="8139864" y="3729789"/>
            <a:ext cx="689811" cy="753197"/>
          </a:xfrm>
          <a:prstGeom prst="can">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4" name="テキスト ボックス 23">
            <a:extLst>
              <a:ext uri="{FF2B5EF4-FFF2-40B4-BE49-F238E27FC236}">
                <a16:creationId xmlns:a16="http://schemas.microsoft.com/office/drawing/2014/main" id="{EBBF3C0A-6041-8DC6-F3F8-72D25DA654C8}"/>
              </a:ext>
            </a:extLst>
          </p:cNvPr>
          <p:cNvSpPr txBox="1"/>
          <p:nvPr/>
        </p:nvSpPr>
        <p:spPr>
          <a:xfrm>
            <a:off x="508387" y="4493865"/>
            <a:ext cx="301686" cy="369332"/>
          </a:xfrm>
          <a:prstGeom prst="rect">
            <a:avLst/>
          </a:prstGeom>
          <a:noFill/>
        </p:spPr>
        <p:txBody>
          <a:bodyPr wrap="none" rtlCol="0">
            <a:spAutoFit/>
          </a:bodyPr>
          <a:lstStyle/>
          <a:p>
            <a:pPr algn="ctr"/>
            <a:r>
              <a:rPr kumimoji="1" lang="en-US" altLang="ja-GB" dirty="0"/>
              <a:t>1</a:t>
            </a:r>
            <a:endParaRPr kumimoji="1" lang="ja-GB" altLang="en-US" dirty="0"/>
          </a:p>
        </p:txBody>
      </p:sp>
      <p:sp>
        <p:nvSpPr>
          <p:cNvPr id="25" name="テキスト ボックス 24">
            <a:extLst>
              <a:ext uri="{FF2B5EF4-FFF2-40B4-BE49-F238E27FC236}">
                <a16:creationId xmlns:a16="http://schemas.microsoft.com/office/drawing/2014/main" id="{C9F59DE5-B125-9857-CB32-ACED1E7FB2F6}"/>
              </a:ext>
            </a:extLst>
          </p:cNvPr>
          <p:cNvSpPr txBox="1"/>
          <p:nvPr/>
        </p:nvSpPr>
        <p:spPr>
          <a:xfrm>
            <a:off x="1377891" y="4493865"/>
            <a:ext cx="301686" cy="369332"/>
          </a:xfrm>
          <a:prstGeom prst="rect">
            <a:avLst/>
          </a:prstGeom>
          <a:noFill/>
        </p:spPr>
        <p:txBody>
          <a:bodyPr wrap="none" rtlCol="0">
            <a:spAutoFit/>
          </a:bodyPr>
          <a:lstStyle/>
          <a:p>
            <a:pPr algn="ctr"/>
            <a:r>
              <a:rPr kumimoji="1" lang="en-US" altLang="ja-GB" dirty="0"/>
              <a:t>2</a:t>
            </a:r>
            <a:endParaRPr kumimoji="1" lang="ja-GB" altLang="en-US" dirty="0"/>
          </a:p>
        </p:txBody>
      </p:sp>
      <p:sp>
        <p:nvSpPr>
          <p:cNvPr id="26" name="テキスト ボックス 25">
            <a:extLst>
              <a:ext uri="{FF2B5EF4-FFF2-40B4-BE49-F238E27FC236}">
                <a16:creationId xmlns:a16="http://schemas.microsoft.com/office/drawing/2014/main" id="{82BD8B25-74ED-B8C3-FA33-FE3ABDBA8240}"/>
              </a:ext>
            </a:extLst>
          </p:cNvPr>
          <p:cNvSpPr txBox="1"/>
          <p:nvPr/>
        </p:nvSpPr>
        <p:spPr>
          <a:xfrm>
            <a:off x="2247395" y="4493865"/>
            <a:ext cx="301686" cy="369332"/>
          </a:xfrm>
          <a:prstGeom prst="rect">
            <a:avLst/>
          </a:prstGeom>
          <a:noFill/>
        </p:spPr>
        <p:txBody>
          <a:bodyPr wrap="none" rtlCol="0">
            <a:spAutoFit/>
          </a:bodyPr>
          <a:lstStyle/>
          <a:p>
            <a:pPr algn="ctr"/>
            <a:r>
              <a:rPr kumimoji="1" lang="en-US" altLang="ja-GB" dirty="0"/>
              <a:t>3</a:t>
            </a:r>
            <a:endParaRPr kumimoji="1" lang="ja-GB" altLang="en-US" dirty="0"/>
          </a:p>
        </p:txBody>
      </p:sp>
      <p:sp>
        <p:nvSpPr>
          <p:cNvPr id="27" name="テキスト ボックス 26">
            <a:extLst>
              <a:ext uri="{FF2B5EF4-FFF2-40B4-BE49-F238E27FC236}">
                <a16:creationId xmlns:a16="http://schemas.microsoft.com/office/drawing/2014/main" id="{CC4F21DE-4079-5BA3-B9C0-01C0D9AD9C87}"/>
              </a:ext>
            </a:extLst>
          </p:cNvPr>
          <p:cNvSpPr txBox="1"/>
          <p:nvPr/>
        </p:nvSpPr>
        <p:spPr>
          <a:xfrm>
            <a:off x="3116899" y="4489873"/>
            <a:ext cx="301686" cy="369332"/>
          </a:xfrm>
          <a:prstGeom prst="rect">
            <a:avLst/>
          </a:prstGeom>
          <a:noFill/>
        </p:spPr>
        <p:txBody>
          <a:bodyPr wrap="none" rtlCol="0">
            <a:spAutoFit/>
          </a:bodyPr>
          <a:lstStyle/>
          <a:p>
            <a:pPr algn="ctr"/>
            <a:r>
              <a:rPr kumimoji="1" lang="en-US" altLang="ja-GB" dirty="0"/>
              <a:t>4</a:t>
            </a:r>
            <a:endParaRPr kumimoji="1" lang="ja-GB" altLang="en-US" dirty="0"/>
          </a:p>
        </p:txBody>
      </p:sp>
      <p:sp>
        <p:nvSpPr>
          <p:cNvPr id="28" name="テキスト ボックス 27">
            <a:extLst>
              <a:ext uri="{FF2B5EF4-FFF2-40B4-BE49-F238E27FC236}">
                <a16:creationId xmlns:a16="http://schemas.microsoft.com/office/drawing/2014/main" id="{AF7BDCED-2EAA-42C8-98C8-B19ADA3D66D2}"/>
              </a:ext>
            </a:extLst>
          </p:cNvPr>
          <p:cNvSpPr txBox="1"/>
          <p:nvPr/>
        </p:nvSpPr>
        <p:spPr>
          <a:xfrm>
            <a:off x="3981752" y="4489873"/>
            <a:ext cx="301686" cy="369332"/>
          </a:xfrm>
          <a:prstGeom prst="rect">
            <a:avLst/>
          </a:prstGeom>
          <a:noFill/>
        </p:spPr>
        <p:txBody>
          <a:bodyPr wrap="none" rtlCol="0">
            <a:spAutoFit/>
          </a:bodyPr>
          <a:lstStyle/>
          <a:p>
            <a:pPr algn="ctr"/>
            <a:r>
              <a:rPr kumimoji="1" lang="en-US" altLang="ja-GB" dirty="0"/>
              <a:t>5</a:t>
            </a:r>
            <a:endParaRPr kumimoji="1" lang="ja-GB" altLang="en-US" dirty="0"/>
          </a:p>
        </p:txBody>
      </p:sp>
      <p:sp>
        <p:nvSpPr>
          <p:cNvPr id="29" name="テキスト ボックス 28">
            <a:extLst>
              <a:ext uri="{FF2B5EF4-FFF2-40B4-BE49-F238E27FC236}">
                <a16:creationId xmlns:a16="http://schemas.microsoft.com/office/drawing/2014/main" id="{E3B21F8B-F138-DB5D-E4B5-B24E737E91A4}"/>
              </a:ext>
            </a:extLst>
          </p:cNvPr>
          <p:cNvSpPr txBox="1"/>
          <p:nvPr/>
        </p:nvSpPr>
        <p:spPr>
          <a:xfrm>
            <a:off x="4855907" y="4489873"/>
            <a:ext cx="301686" cy="369332"/>
          </a:xfrm>
          <a:prstGeom prst="rect">
            <a:avLst/>
          </a:prstGeom>
          <a:noFill/>
        </p:spPr>
        <p:txBody>
          <a:bodyPr wrap="none" rtlCol="0">
            <a:spAutoFit/>
          </a:bodyPr>
          <a:lstStyle/>
          <a:p>
            <a:pPr algn="ctr"/>
            <a:r>
              <a:rPr kumimoji="1" lang="en-US" altLang="ja-GB" dirty="0"/>
              <a:t>6</a:t>
            </a:r>
            <a:endParaRPr kumimoji="1" lang="ja-GB" altLang="en-US" dirty="0"/>
          </a:p>
        </p:txBody>
      </p:sp>
      <p:sp>
        <p:nvSpPr>
          <p:cNvPr id="30" name="テキスト ボックス 29">
            <a:extLst>
              <a:ext uri="{FF2B5EF4-FFF2-40B4-BE49-F238E27FC236}">
                <a16:creationId xmlns:a16="http://schemas.microsoft.com/office/drawing/2014/main" id="{4CA68C87-7AD6-1DF9-8262-57E3CF56CC5D}"/>
              </a:ext>
            </a:extLst>
          </p:cNvPr>
          <p:cNvSpPr txBox="1"/>
          <p:nvPr/>
        </p:nvSpPr>
        <p:spPr>
          <a:xfrm>
            <a:off x="5721104" y="4489873"/>
            <a:ext cx="301686" cy="369332"/>
          </a:xfrm>
          <a:prstGeom prst="rect">
            <a:avLst/>
          </a:prstGeom>
          <a:noFill/>
        </p:spPr>
        <p:txBody>
          <a:bodyPr wrap="none" rtlCol="0">
            <a:spAutoFit/>
          </a:bodyPr>
          <a:lstStyle/>
          <a:p>
            <a:pPr algn="ctr"/>
            <a:r>
              <a:rPr kumimoji="1" lang="en-US" altLang="ja-GB" dirty="0"/>
              <a:t>7</a:t>
            </a:r>
            <a:endParaRPr kumimoji="1" lang="ja-GB" altLang="en-US" dirty="0"/>
          </a:p>
        </p:txBody>
      </p:sp>
      <p:sp>
        <p:nvSpPr>
          <p:cNvPr id="31" name="テキスト ボックス 30">
            <a:extLst>
              <a:ext uri="{FF2B5EF4-FFF2-40B4-BE49-F238E27FC236}">
                <a16:creationId xmlns:a16="http://schemas.microsoft.com/office/drawing/2014/main" id="{B448A6AF-698B-5B71-ECCC-51A011A20AF3}"/>
              </a:ext>
            </a:extLst>
          </p:cNvPr>
          <p:cNvSpPr txBox="1"/>
          <p:nvPr/>
        </p:nvSpPr>
        <p:spPr>
          <a:xfrm>
            <a:off x="6594919" y="4489873"/>
            <a:ext cx="301686" cy="369332"/>
          </a:xfrm>
          <a:prstGeom prst="rect">
            <a:avLst/>
          </a:prstGeom>
          <a:noFill/>
        </p:spPr>
        <p:txBody>
          <a:bodyPr wrap="none" rtlCol="0">
            <a:spAutoFit/>
          </a:bodyPr>
          <a:lstStyle/>
          <a:p>
            <a:pPr algn="ctr"/>
            <a:r>
              <a:rPr kumimoji="1" lang="en-US" altLang="ja-GB" dirty="0"/>
              <a:t>8</a:t>
            </a:r>
            <a:endParaRPr kumimoji="1" lang="ja-GB" altLang="en-US" dirty="0"/>
          </a:p>
        </p:txBody>
      </p:sp>
      <p:sp>
        <p:nvSpPr>
          <p:cNvPr id="32" name="テキスト ボックス 31">
            <a:extLst>
              <a:ext uri="{FF2B5EF4-FFF2-40B4-BE49-F238E27FC236}">
                <a16:creationId xmlns:a16="http://schemas.microsoft.com/office/drawing/2014/main" id="{67B22DBC-DA51-E41E-72AB-357013BC72BD}"/>
              </a:ext>
            </a:extLst>
          </p:cNvPr>
          <p:cNvSpPr txBox="1"/>
          <p:nvPr/>
        </p:nvSpPr>
        <p:spPr>
          <a:xfrm>
            <a:off x="7468734" y="4489873"/>
            <a:ext cx="301686" cy="369332"/>
          </a:xfrm>
          <a:prstGeom prst="rect">
            <a:avLst/>
          </a:prstGeom>
          <a:noFill/>
        </p:spPr>
        <p:txBody>
          <a:bodyPr wrap="none" rtlCol="0">
            <a:spAutoFit/>
          </a:bodyPr>
          <a:lstStyle/>
          <a:p>
            <a:pPr algn="ctr"/>
            <a:r>
              <a:rPr kumimoji="1" lang="en-US" altLang="ja-GB" dirty="0"/>
              <a:t>9</a:t>
            </a:r>
            <a:endParaRPr kumimoji="1" lang="ja-GB" altLang="en-US" dirty="0"/>
          </a:p>
        </p:txBody>
      </p:sp>
      <p:sp>
        <p:nvSpPr>
          <p:cNvPr id="33" name="テキスト ボックス 32">
            <a:extLst>
              <a:ext uri="{FF2B5EF4-FFF2-40B4-BE49-F238E27FC236}">
                <a16:creationId xmlns:a16="http://schemas.microsoft.com/office/drawing/2014/main" id="{A588FF7D-0D38-9ED9-03C0-3800D0FF7EA7}"/>
              </a:ext>
            </a:extLst>
          </p:cNvPr>
          <p:cNvSpPr txBox="1"/>
          <p:nvPr/>
        </p:nvSpPr>
        <p:spPr>
          <a:xfrm>
            <a:off x="8275417" y="4489873"/>
            <a:ext cx="418704" cy="369332"/>
          </a:xfrm>
          <a:prstGeom prst="rect">
            <a:avLst/>
          </a:prstGeom>
          <a:noFill/>
        </p:spPr>
        <p:txBody>
          <a:bodyPr wrap="none" rtlCol="0">
            <a:spAutoFit/>
          </a:bodyPr>
          <a:lstStyle/>
          <a:p>
            <a:pPr algn="ctr"/>
            <a:r>
              <a:rPr kumimoji="1" lang="en-US" altLang="ja-GB" dirty="0"/>
              <a:t>10</a:t>
            </a:r>
            <a:endParaRPr kumimoji="1" lang="ja-GB" altLang="en-US" dirty="0"/>
          </a:p>
        </p:txBody>
      </p:sp>
      <p:sp>
        <p:nvSpPr>
          <p:cNvPr id="34" name="正方形/長方形 33">
            <a:extLst>
              <a:ext uri="{FF2B5EF4-FFF2-40B4-BE49-F238E27FC236}">
                <a16:creationId xmlns:a16="http://schemas.microsoft.com/office/drawing/2014/main" id="{F609880B-66FD-039E-E8F9-FA6C37EE9F51}"/>
              </a:ext>
            </a:extLst>
          </p:cNvPr>
          <p:cNvSpPr/>
          <p:nvPr/>
        </p:nvSpPr>
        <p:spPr>
          <a:xfrm>
            <a:off x="420393" y="3924748"/>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35" name="正方形/長方形 34">
            <a:extLst>
              <a:ext uri="{FF2B5EF4-FFF2-40B4-BE49-F238E27FC236}">
                <a16:creationId xmlns:a16="http://schemas.microsoft.com/office/drawing/2014/main" id="{35D86935-5D28-0968-7E44-9A2005B625E5}"/>
              </a:ext>
            </a:extLst>
          </p:cNvPr>
          <p:cNvSpPr/>
          <p:nvPr/>
        </p:nvSpPr>
        <p:spPr>
          <a:xfrm>
            <a:off x="1289898" y="3924748"/>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36" name="正方形/長方形 35">
            <a:extLst>
              <a:ext uri="{FF2B5EF4-FFF2-40B4-BE49-F238E27FC236}">
                <a16:creationId xmlns:a16="http://schemas.microsoft.com/office/drawing/2014/main" id="{2B8EDE11-4014-D612-ACC2-07D6E79BBEED}"/>
              </a:ext>
            </a:extLst>
          </p:cNvPr>
          <p:cNvSpPr/>
          <p:nvPr/>
        </p:nvSpPr>
        <p:spPr>
          <a:xfrm>
            <a:off x="2159402" y="3924748"/>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37" name="正方形/長方形 36">
            <a:extLst>
              <a:ext uri="{FF2B5EF4-FFF2-40B4-BE49-F238E27FC236}">
                <a16:creationId xmlns:a16="http://schemas.microsoft.com/office/drawing/2014/main" id="{54AB5BDC-2881-FF6A-5E28-759E1362E666}"/>
              </a:ext>
            </a:extLst>
          </p:cNvPr>
          <p:cNvSpPr/>
          <p:nvPr/>
        </p:nvSpPr>
        <p:spPr>
          <a:xfrm>
            <a:off x="3028906" y="3924748"/>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38" name="正方形/長方形 37">
            <a:extLst>
              <a:ext uri="{FF2B5EF4-FFF2-40B4-BE49-F238E27FC236}">
                <a16:creationId xmlns:a16="http://schemas.microsoft.com/office/drawing/2014/main" id="{5ACD94A9-4888-8BE0-7E10-4D20F6878126}"/>
              </a:ext>
            </a:extLst>
          </p:cNvPr>
          <p:cNvSpPr/>
          <p:nvPr/>
        </p:nvSpPr>
        <p:spPr>
          <a:xfrm>
            <a:off x="5706381" y="3837855"/>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40" name="正方形/長方形 39">
            <a:extLst>
              <a:ext uri="{FF2B5EF4-FFF2-40B4-BE49-F238E27FC236}">
                <a16:creationId xmlns:a16="http://schemas.microsoft.com/office/drawing/2014/main" id="{E3FA3C07-D2BB-A1AC-D0C2-91FF3FCAF25C}"/>
              </a:ext>
            </a:extLst>
          </p:cNvPr>
          <p:cNvSpPr/>
          <p:nvPr/>
        </p:nvSpPr>
        <p:spPr>
          <a:xfrm>
            <a:off x="8258131" y="3920756"/>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grpSp>
        <p:nvGrpSpPr>
          <p:cNvPr id="41" name="グループ化 40">
            <a:extLst>
              <a:ext uri="{FF2B5EF4-FFF2-40B4-BE49-F238E27FC236}">
                <a16:creationId xmlns:a16="http://schemas.microsoft.com/office/drawing/2014/main" id="{35DFFF09-4996-5E1A-E914-E6FF19467709}"/>
              </a:ext>
            </a:extLst>
          </p:cNvPr>
          <p:cNvGrpSpPr/>
          <p:nvPr/>
        </p:nvGrpSpPr>
        <p:grpSpPr>
          <a:xfrm>
            <a:off x="2460739" y="5767562"/>
            <a:ext cx="3343711" cy="471346"/>
            <a:chOff x="2900144" y="1583697"/>
            <a:chExt cx="3343711" cy="471346"/>
          </a:xfrm>
          <a:solidFill>
            <a:schemeClr val="bg1">
              <a:lumMod val="95000"/>
            </a:schemeClr>
          </a:solidFill>
        </p:grpSpPr>
        <p:sp>
          <p:nvSpPr>
            <p:cNvPr id="42" name="正方形/長方形 41">
              <a:extLst>
                <a:ext uri="{FF2B5EF4-FFF2-40B4-BE49-F238E27FC236}">
                  <a16:creationId xmlns:a16="http://schemas.microsoft.com/office/drawing/2014/main" id="{4757BD92-A46E-E75F-0A25-01932ED351CD}"/>
                </a:ext>
              </a:extLst>
            </p:cNvPr>
            <p:cNvSpPr/>
            <p:nvPr/>
          </p:nvSpPr>
          <p:spPr>
            <a:xfrm>
              <a:off x="2900144" y="1583699"/>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43" name="正方形/長方形 42">
              <a:extLst>
                <a:ext uri="{FF2B5EF4-FFF2-40B4-BE49-F238E27FC236}">
                  <a16:creationId xmlns:a16="http://schemas.microsoft.com/office/drawing/2014/main" id="{C47BE970-F688-0BD9-9573-5F225FB31C71}"/>
                </a:ext>
              </a:extLst>
            </p:cNvPr>
            <p:cNvSpPr/>
            <p:nvPr/>
          </p:nvSpPr>
          <p:spPr>
            <a:xfrm>
              <a:off x="3374124"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44" name="正方形/長方形 43">
              <a:extLst>
                <a:ext uri="{FF2B5EF4-FFF2-40B4-BE49-F238E27FC236}">
                  <a16:creationId xmlns:a16="http://schemas.microsoft.com/office/drawing/2014/main" id="{681C148E-D7BB-5449-BFCC-241D8867A7AF}"/>
                </a:ext>
              </a:extLst>
            </p:cNvPr>
            <p:cNvSpPr/>
            <p:nvPr/>
          </p:nvSpPr>
          <p:spPr>
            <a:xfrm>
              <a:off x="3851797"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45" name="正方形/長方形 44">
              <a:extLst>
                <a:ext uri="{FF2B5EF4-FFF2-40B4-BE49-F238E27FC236}">
                  <a16:creationId xmlns:a16="http://schemas.microsoft.com/office/drawing/2014/main" id="{3E54070D-739C-F2EC-4F07-F1D3F1B7241C}"/>
                </a:ext>
              </a:extLst>
            </p:cNvPr>
            <p:cNvSpPr/>
            <p:nvPr/>
          </p:nvSpPr>
          <p:spPr>
            <a:xfrm>
              <a:off x="4331316"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46" name="正方形/長方形 45">
              <a:extLst>
                <a:ext uri="{FF2B5EF4-FFF2-40B4-BE49-F238E27FC236}">
                  <a16:creationId xmlns:a16="http://schemas.microsoft.com/office/drawing/2014/main" id="{93FA6085-7EE2-17C8-031A-3580D2AB7F03}"/>
                </a:ext>
              </a:extLst>
            </p:cNvPr>
            <p:cNvSpPr/>
            <p:nvPr/>
          </p:nvSpPr>
          <p:spPr>
            <a:xfrm>
              <a:off x="4808989"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47" name="正方形/長方形 46">
              <a:extLst>
                <a:ext uri="{FF2B5EF4-FFF2-40B4-BE49-F238E27FC236}">
                  <a16:creationId xmlns:a16="http://schemas.microsoft.com/office/drawing/2014/main" id="{F2FFE085-4534-5D9C-D275-B09992333BC7}"/>
                </a:ext>
              </a:extLst>
            </p:cNvPr>
            <p:cNvSpPr/>
            <p:nvPr/>
          </p:nvSpPr>
          <p:spPr>
            <a:xfrm>
              <a:off x="5288509"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48" name="正方形/長方形 47">
              <a:extLst>
                <a:ext uri="{FF2B5EF4-FFF2-40B4-BE49-F238E27FC236}">
                  <a16:creationId xmlns:a16="http://schemas.microsoft.com/office/drawing/2014/main" id="{2A192044-C738-176A-D902-A7D6C8252053}"/>
                </a:ext>
              </a:extLst>
            </p:cNvPr>
            <p:cNvSpPr/>
            <p:nvPr/>
          </p:nvSpPr>
          <p:spPr>
            <a:xfrm>
              <a:off x="5766182" y="1583697"/>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grpSp>
      <p:cxnSp>
        <p:nvCxnSpPr>
          <p:cNvPr id="50" name="直線矢印コネクタ 49">
            <a:extLst>
              <a:ext uri="{FF2B5EF4-FFF2-40B4-BE49-F238E27FC236}">
                <a16:creationId xmlns:a16="http://schemas.microsoft.com/office/drawing/2014/main" id="{62BA8E67-9D1B-6CDC-C54D-C128077761CE}"/>
              </a:ext>
            </a:extLst>
          </p:cNvPr>
          <p:cNvCxnSpPr>
            <a:cxnSpLocks/>
            <a:stCxn id="5" idx="2"/>
            <a:endCxn id="37" idx="0"/>
          </p:cNvCxnSpPr>
          <p:nvPr/>
        </p:nvCxnSpPr>
        <p:spPr>
          <a:xfrm>
            <a:off x="2678898" y="3064412"/>
            <a:ext cx="588845" cy="860336"/>
          </a:xfrm>
          <a:prstGeom prst="straightConnector1">
            <a:avLst/>
          </a:prstGeom>
          <a:ln>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矢印コネクタ 51">
            <a:extLst>
              <a:ext uri="{FF2B5EF4-FFF2-40B4-BE49-F238E27FC236}">
                <a16:creationId xmlns:a16="http://schemas.microsoft.com/office/drawing/2014/main" id="{87209A1F-31AF-A15F-9407-2B73C0ED33D6}"/>
              </a:ext>
            </a:extLst>
          </p:cNvPr>
          <p:cNvCxnSpPr>
            <a:cxnSpLocks/>
            <a:stCxn id="6" idx="2"/>
            <a:endCxn id="39" idx="0"/>
          </p:cNvCxnSpPr>
          <p:nvPr/>
        </p:nvCxnSpPr>
        <p:spPr>
          <a:xfrm>
            <a:off x="3152878" y="3064410"/>
            <a:ext cx="2719069" cy="860338"/>
          </a:xfrm>
          <a:prstGeom prst="straightConnector1">
            <a:avLst/>
          </a:prstGeom>
          <a:ln>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矢印コネクタ 54">
            <a:extLst>
              <a:ext uri="{FF2B5EF4-FFF2-40B4-BE49-F238E27FC236}">
                <a16:creationId xmlns:a16="http://schemas.microsoft.com/office/drawing/2014/main" id="{F4E7FE76-6EB4-7E31-084C-4C446459BD35}"/>
              </a:ext>
            </a:extLst>
          </p:cNvPr>
          <p:cNvCxnSpPr>
            <a:cxnSpLocks/>
            <a:stCxn id="7" idx="2"/>
            <a:endCxn id="35" idx="0"/>
          </p:cNvCxnSpPr>
          <p:nvPr/>
        </p:nvCxnSpPr>
        <p:spPr>
          <a:xfrm flipH="1">
            <a:off x="1528735" y="3064410"/>
            <a:ext cx="2101816" cy="860338"/>
          </a:xfrm>
          <a:prstGeom prst="straightConnector1">
            <a:avLst/>
          </a:prstGeom>
          <a:ln>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矢印コネクタ 57">
            <a:extLst>
              <a:ext uri="{FF2B5EF4-FFF2-40B4-BE49-F238E27FC236}">
                <a16:creationId xmlns:a16="http://schemas.microsoft.com/office/drawing/2014/main" id="{71371ED1-DC1A-A76A-0EBC-E5A5A3824C08}"/>
              </a:ext>
            </a:extLst>
          </p:cNvPr>
          <p:cNvCxnSpPr>
            <a:cxnSpLocks/>
            <a:stCxn id="8" idx="2"/>
            <a:endCxn id="36" idx="0"/>
          </p:cNvCxnSpPr>
          <p:nvPr/>
        </p:nvCxnSpPr>
        <p:spPr>
          <a:xfrm flipH="1">
            <a:off x="2398239" y="3064410"/>
            <a:ext cx="1711831" cy="860338"/>
          </a:xfrm>
          <a:prstGeom prst="straightConnector1">
            <a:avLst/>
          </a:prstGeom>
          <a:ln>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矢印コネクタ 60">
            <a:extLst>
              <a:ext uri="{FF2B5EF4-FFF2-40B4-BE49-F238E27FC236}">
                <a16:creationId xmlns:a16="http://schemas.microsoft.com/office/drawing/2014/main" id="{BAA2169E-2E7B-5AF0-400D-531EEE64B6B4}"/>
              </a:ext>
            </a:extLst>
          </p:cNvPr>
          <p:cNvCxnSpPr>
            <a:cxnSpLocks/>
            <a:stCxn id="9" idx="2"/>
            <a:endCxn id="38" idx="0"/>
          </p:cNvCxnSpPr>
          <p:nvPr/>
        </p:nvCxnSpPr>
        <p:spPr>
          <a:xfrm>
            <a:off x="4587743" y="3064410"/>
            <a:ext cx="1357475" cy="773445"/>
          </a:xfrm>
          <a:prstGeom prst="straightConnector1">
            <a:avLst/>
          </a:prstGeom>
          <a:ln>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矢印コネクタ 64">
            <a:extLst>
              <a:ext uri="{FF2B5EF4-FFF2-40B4-BE49-F238E27FC236}">
                <a16:creationId xmlns:a16="http://schemas.microsoft.com/office/drawing/2014/main" id="{2012DFEF-5ACC-3A1A-67BC-44F4F2593A59}"/>
              </a:ext>
            </a:extLst>
          </p:cNvPr>
          <p:cNvCxnSpPr>
            <a:cxnSpLocks/>
            <a:stCxn id="10" idx="2"/>
            <a:endCxn id="40" idx="0"/>
          </p:cNvCxnSpPr>
          <p:nvPr/>
        </p:nvCxnSpPr>
        <p:spPr>
          <a:xfrm>
            <a:off x="5067263" y="3064410"/>
            <a:ext cx="3429705" cy="856346"/>
          </a:xfrm>
          <a:prstGeom prst="straightConnector1">
            <a:avLst/>
          </a:prstGeom>
          <a:ln>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矢印コネクタ 67">
            <a:extLst>
              <a:ext uri="{FF2B5EF4-FFF2-40B4-BE49-F238E27FC236}">
                <a16:creationId xmlns:a16="http://schemas.microsoft.com/office/drawing/2014/main" id="{2F04FF68-687C-486A-1143-860319CF7574}"/>
              </a:ext>
            </a:extLst>
          </p:cNvPr>
          <p:cNvCxnSpPr>
            <a:cxnSpLocks/>
            <a:stCxn id="11" idx="2"/>
            <a:endCxn id="34" idx="0"/>
          </p:cNvCxnSpPr>
          <p:nvPr/>
        </p:nvCxnSpPr>
        <p:spPr>
          <a:xfrm flipH="1">
            <a:off x="659230" y="3064410"/>
            <a:ext cx="4885706" cy="860338"/>
          </a:xfrm>
          <a:prstGeom prst="straightConnector1">
            <a:avLst/>
          </a:prstGeom>
          <a:ln>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矢印コネクタ 70">
            <a:extLst>
              <a:ext uri="{FF2B5EF4-FFF2-40B4-BE49-F238E27FC236}">
                <a16:creationId xmlns:a16="http://schemas.microsoft.com/office/drawing/2014/main" id="{2C9AA2E2-B609-F9A6-C0B4-22459600E45D}"/>
              </a:ext>
            </a:extLst>
          </p:cNvPr>
          <p:cNvCxnSpPr>
            <a:cxnSpLocks/>
            <a:stCxn id="34" idx="2"/>
            <a:endCxn id="42" idx="0"/>
          </p:cNvCxnSpPr>
          <p:nvPr/>
        </p:nvCxnSpPr>
        <p:spPr>
          <a:xfrm>
            <a:off x="659230" y="4396092"/>
            <a:ext cx="2040346" cy="1371472"/>
          </a:xfrm>
          <a:prstGeom prst="straightConnector1">
            <a:avLst/>
          </a:prstGeom>
          <a:ln>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矢印コネクタ 73">
            <a:extLst>
              <a:ext uri="{FF2B5EF4-FFF2-40B4-BE49-F238E27FC236}">
                <a16:creationId xmlns:a16="http://schemas.microsoft.com/office/drawing/2014/main" id="{E5FD3F35-AACD-C090-0E05-B16221188D9C}"/>
              </a:ext>
            </a:extLst>
          </p:cNvPr>
          <p:cNvCxnSpPr>
            <a:cxnSpLocks/>
            <a:stCxn id="35" idx="2"/>
            <a:endCxn id="43" idx="0"/>
          </p:cNvCxnSpPr>
          <p:nvPr/>
        </p:nvCxnSpPr>
        <p:spPr>
          <a:xfrm>
            <a:off x="1528735" y="4396092"/>
            <a:ext cx="1644821" cy="1371470"/>
          </a:xfrm>
          <a:prstGeom prst="straightConnector1">
            <a:avLst/>
          </a:prstGeom>
          <a:ln>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矢印コネクタ 76">
            <a:extLst>
              <a:ext uri="{FF2B5EF4-FFF2-40B4-BE49-F238E27FC236}">
                <a16:creationId xmlns:a16="http://schemas.microsoft.com/office/drawing/2014/main" id="{11A67528-CACD-1BEC-3E34-BCEDE883613C}"/>
              </a:ext>
            </a:extLst>
          </p:cNvPr>
          <p:cNvCxnSpPr>
            <a:cxnSpLocks/>
            <a:stCxn id="36" idx="2"/>
            <a:endCxn id="44" idx="0"/>
          </p:cNvCxnSpPr>
          <p:nvPr/>
        </p:nvCxnSpPr>
        <p:spPr>
          <a:xfrm>
            <a:off x="2398239" y="4396092"/>
            <a:ext cx="1252990" cy="1371470"/>
          </a:xfrm>
          <a:prstGeom prst="straightConnector1">
            <a:avLst/>
          </a:prstGeom>
          <a:ln>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線矢印コネクタ 79">
            <a:extLst>
              <a:ext uri="{FF2B5EF4-FFF2-40B4-BE49-F238E27FC236}">
                <a16:creationId xmlns:a16="http://schemas.microsoft.com/office/drawing/2014/main" id="{04FBED5A-E090-DBA2-A552-B6DA593E986D}"/>
              </a:ext>
            </a:extLst>
          </p:cNvPr>
          <p:cNvCxnSpPr>
            <a:cxnSpLocks/>
            <a:stCxn id="37" idx="2"/>
            <a:endCxn id="45" idx="0"/>
          </p:cNvCxnSpPr>
          <p:nvPr/>
        </p:nvCxnSpPr>
        <p:spPr>
          <a:xfrm>
            <a:off x="3267743" y="4396092"/>
            <a:ext cx="863005" cy="1371470"/>
          </a:xfrm>
          <a:prstGeom prst="straightConnector1">
            <a:avLst/>
          </a:prstGeom>
          <a:ln>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線矢印コネクタ 82">
            <a:extLst>
              <a:ext uri="{FF2B5EF4-FFF2-40B4-BE49-F238E27FC236}">
                <a16:creationId xmlns:a16="http://schemas.microsoft.com/office/drawing/2014/main" id="{AE6592DC-D539-28BF-54B7-EF64CA02D621}"/>
              </a:ext>
            </a:extLst>
          </p:cNvPr>
          <p:cNvCxnSpPr>
            <a:cxnSpLocks/>
            <a:stCxn id="39" idx="2"/>
            <a:endCxn id="46" idx="0"/>
          </p:cNvCxnSpPr>
          <p:nvPr/>
        </p:nvCxnSpPr>
        <p:spPr>
          <a:xfrm flipH="1">
            <a:off x="4608421" y="4396092"/>
            <a:ext cx="1263526" cy="1371470"/>
          </a:xfrm>
          <a:prstGeom prst="straightConnector1">
            <a:avLst/>
          </a:prstGeom>
          <a:ln>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A0DC122C-A9F0-C305-527B-1B6EA9E5433F}"/>
              </a:ext>
            </a:extLst>
          </p:cNvPr>
          <p:cNvCxnSpPr>
            <a:cxnSpLocks/>
            <a:endCxn id="47" idx="0"/>
          </p:cNvCxnSpPr>
          <p:nvPr/>
        </p:nvCxnSpPr>
        <p:spPr>
          <a:xfrm flipH="1">
            <a:off x="5087941" y="4309197"/>
            <a:ext cx="934849" cy="1458365"/>
          </a:xfrm>
          <a:prstGeom prst="straightConnector1">
            <a:avLst/>
          </a:prstGeom>
          <a:ln>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線矢印コネクタ 88">
            <a:extLst>
              <a:ext uri="{FF2B5EF4-FFF2-40B4-BE49-F238E27FC236}">
                <a16:creationId xmlns:a16="http://schemas.microsoft.com/office/drawing/2014/main" id="{EC4C5E6B-D43B-370B-25A1-11CB8863C1BA}"/>
              </a:ext>
            </a:extLst>
          </p:cNvPr>
          <p:cNvCxnSpPr>
            <a:cxnSpLocks/>
            <a:stCxn id="40" idx="2"/>
            <a:endCxn id="48" idx="0"/>
          </p:cNvCxnSpPr>
          <p:nvPr/>
        </p:nvCxnSpPr>
        <p:spPr>
          <a:xfrm flipH="1">
            <a:off x="5565614" y="4392100"/>
            <a:ext cx="2931354" cy="1375462"/>
          </a:xfrm>
          <a:prstGeom prst="straightConnector1">
            <a:avLst/>
          </a:prstGeom>
          <a:ln>
            <a:solidFill>
              <a:srgbClr val="2F2523"/>
            </a:solidFill>
            <a:tailEnd type="triangle"/>
          </a:ln>
        </p:spPr>
        <p:style>
          <a:lnRef idx="1">
            <a:schemeClr val="accent1"/>
          </a:lnRef>
          <a:fillRef idx="0">
            <a:schemeClr val="accent1"/>
          </a:fillRef>
          <a:effectRef idx="0">
            <a:schemeClr val="accent1"/>
          </a:effectRef>
          <a:fontRef idx="minor">
            <a:schemeClr val="tx1"/>
          </a:fontRef>
        </p:style>
      </p:cxnSp>
      <p:sp>
        <p:nvSpPr>
          <p:cNvPr id="39" name="正方形/長方形 38">
            <a:extLst>
              <a:ext uri="{FF2B5EF4-FFF2-40B4-BE49-F238E27FC236}">
                <a16:creationId xmlns:a16="http://schemas.microsoft.com/office/drawing/2014/main" id="{5DD83E49-A110-529D-EFCE-65A752826827}"/>
              </a:ext>
            </a:extLst>
          </p:cNvPr>
          <p:cNvSpPr/>
          <p:nvPr/>
        </p:nvSpPr>
        <p:spPr>
          <a:xfrm>
            <a:off x="5633110" y="3924748"/>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mc:AlternateContent xmlns:mc="http://schemas.openxmlformats.org/markup-compatibility/2006" xmlns:a14="http://schemas.microsoft.com/office/drawing/2010/main">
        <mc:Choice Requires="a14">
          <p:sp>
            <p:nvSpPr>
              <p:cNvPr id="92" name="テキスト ボックス 91">
                <a:extLst>
                  <a:ext uri="{FF2B5EF4-FFF2-40B4-BE49-F238E27FC236}">
                    <a16:creationId xmlns:a16="http://schemas.microsoft.com/office/drawing/2014/main" id="{012E4181-9D60-E2C9-EC01-26D9925559FA}"/>
                  </a:ext>
                </a:extLst>
              </p:cNvPr>
              <p:cNvSpPr txBox="1"/>
              <p:nvPr/>
            </p:nvSpPr>
            <p:spPr>
              <a:xfrm>
                <a:off x="6146117" y="5403070"/>
                <a:ext cx="2875659" cy="1415772"/>
              </a:xfrm>
              <a:prstGeom prst="rect">
                <a:avLst/>
              </a:prstGeom>
              <a:noFill/>
            </p:spPr>
            <p:txBody>
              <a:bodyPr wrap="none" rtlCol="0">
                <a:spAutoFit/>
              </a:bodyPr>
              <a:lstStyle/>
              <a:p>
                <a:r>
                  <a:rPr kumimoji="1" lang="ja-GB" altLang="en-US" dirty="0"/>
                  <a:t>最良計算量：</a:t>
                </a:r>
                <a14:m>
                  <m:oMath xmlns:m="http://schemas.openxmlformats.org/officeDocument/2006/math">
                    <m:r>
                      <a:rPr kumimoji="1" lang="en-US" altLang="ja-GB" i="1">
                        <a:latin typeface="Cambria Math" panose="02040503050406030204" pitchFamily="18" charset="0"/>
                      </a:rPr>
                      <m:t>𝑂</m:t>
                    </m:r>
                    <m:d>
                      <m:dPr>
                        <m:ctrlPr>
                          <a:rPr kumimoji="1" lang="en-US" altLang="ja-GB" i="1">
                            <a:latin typeface="Cambria Math" panose="02040503050406030204" pitchFamily="18" charset="0"/>
                          </a:rPr>
                        </m:ctrlPr>
                      </m:dPr>
                      <m:e>
                        <m:r>
                          <a:rPr kumimoji="1" lang="en-US" altLang="ja-GB" b="0" i="1" smtClean="0">
                            <a:latin typeface="Cambria Math" panose="02040503050406030204" pitchFamily="18" charset="0"/>
                          </a:rPr>
                          <m:t>𝑛</m:t>
                        </m:r>
                      </m:e>
                    </m:d>
                  </m:oMath>
                </a14:m>
                <a:endParaRPr kumimoji="1" lang="en-US" altLang="ja-GB" dirty="0"/>
              </a:p>
              <a:p>
                <a:r>
                  <a:rPr kumimoji="1" lang="ja-GB" altLang="en-US" dirty="0"/>
                  <a:t>平均計算量：</a:t>
                </a:r>
                <a14:m>
                  <m:oMath xmlns:m="http://schemas.openxmlformats.org/officeDocument/2006/math">
                    <m:r>
                      <a:rPr kumimoji="1" lang="en-US" altLang="ja-GB" i="1">
                        <a:latin typeface="Cambria Math" panose="02040503050406030204" pitchFamily="18" charset="0"/>
                      </a:rPr>
                      <m:t>𝑂</m:t>
                    </m:r>
                    <m:d>
                      <m:dPr>
                        <m:ctrlPr>
                          <a:rPr kumimoji="1" lang="en-US" altLang="ja-GB" i="1">
                            <a:latin typeface="Cambria Math" panose="02040503050406030204" pitchFamily="18" charset="0"/>
                          </a:rPr>
                        </m:ctrlPr>
                      </m:dPr>
                      <m:e>
                        <m:r>
                          <a:rPr kumimoji="1" lang="en-US" altLang="ja-GB" b="0" i="1" smtClean="0">
                            <a:latin typeface="Cambria Math" panose="02040503050406030204" pitchFamily="18" charset="0"/>
                          </a:rPr>
                          <m:t>𝑛</m:t>
                        </m:r>
                        <m:r>
                          <a:rPr kumimoji="1" lang="en-US" altLang="ja-GB" b="0" i="1" smtClean="0">
                            <a:latin typeface="Cambria Math" panose="02040503050406030204" pitchFamily="18" charset="0"/>
                          </a:rPr>
                          <m:t>+</m:t>
                        </m:r>
                        <m:r>
                          <a:rPr kumimoji="1" lang="en-US" altLang="ja-GB" b="0" i="1" smtClean="0">
                            <a:latin typeface="Cambria Math" panose="02040503050406030204" pitchFamily="18" charset="0"/>
                          </a:rPr>
                          <m:t>𝑘</m:t>
                        </m:r>
                      </m:e>
                    </m:d>
                  </m:oMath>
                </a14:m>
                <a:endParaRPr kumimoji="1" lang="en-US" altLang="ja-GB" dirty="0"/>
              </a:p>
              <a:p>
                <a:r>
                  <a:rPr kumimoji="1" lang="ja-GB" altLang="en-US" dirty="0"/>
                  <a:t>最悪計算量：</a:t>
                </a:r>
                <a14:m>
                  <m:oMath xmlns:m="http://schemas.openxmlformats.org/officeDocument/2006/math">
                    <m:r>
                      <a:rPr kumimoji="1" lang="en-US" altLang="ja-GB" b="0" i="1" smtClean="0">
                        <a:latin typeface="Cambria Math" panose="02040503050406030204" pitchFamily="18" charset="0"/>
                      </a:rPr>
                      <m:t>𝑂</m:t>
                    </m:r>
                    <m:d>
                      <m:dPr>
                        <m:ctrlPr>
                          <a:rPr kumimoji="1" lang="en-US" altLang="ja-GB" b="0" i="1" smtClean="0">
                            <a:latin typeface="Cambria Math" panose="02040503050406030204" pitchFamily="18" charset="0"/>
                          </a:rPr>
                        </m:ctrlPr>
                      </m:dPr>
                      <m:e>
                        <m:sSup>
                          <m:sSupPr>
                            <m:ctrlPr>
                              <a:rPr kumimoji="1" lang="en-US" altLang="ja-GB" b="0" i="1" smtClean="0">
                                <a:latin typeface="Cambria Math" panose="02040503050406030204" pitchFamily="18" charset="0"/>
                              </a:rPr>
                            </m:ctrlPr>
                          </m:sSupPr>
                          <m:e>
                            <m:r>
                              <a:rPr kumimoji="1" lang="en-US" altLang="ja-GB" b="0" i="1" smtClean="0">
                                <a:latin typeface="Cambria Math" panose="02040503050406030204" pitchFamily="18" charset="0"/>
                              </a:rPr>
                              <m:t>𝑛</m:t>
                            </m:r>
                          </m:e>
                          <m:sup>
                            <m:r>
                              <a:rPr kumimoji="1" lang="en-US" altLang="ja-GB" b="0" i="1" smtClean="0">
                                <a:latin typeface="Cambria Math" panose="02040503050406030204" pitchFamily="18" charset="0"/>
                              </a:rPr>
                              <m:t>2</m:t>
                            </m:r>
                          </m:sup>
                        </m:sSup>
                      </m:e>
                    </m:d>
                  </m:oMath>
                </a14:m>
                <a:endParaRPr kumimoji="1" lang="en-US" altLang="ja-GB" dirty="0"/>
              </a:p>
              <a:p>
                <a:r>
                  <a:rPr kumimoji="1" lang="ja-GB" altLang="en-US" dirty="0"/>
                  <a:t>最悪空間計算量：</a:t>
                </a:r>
                <a:r>
                  <a:rPr kumimoji="1" lang="en-US" altLang="ja-GB" dirty="0"/>
                  <a:t> </a:t>
                </a:r>
                <a14:m>
                  <m:oMath xmlns:m="http://schemas.openxmlformats.org/officeDocument/2006/math">
                    <m:r>
                      <a:rPr kumimoji="1" lang="en-US" altLang="ja-GB" i="1">
                        <a:latin typeface="Cambria Math" panose="02040503050406030204" pitchFamily="18" charset="0"/>
                      </a:rPr>
                      <m:t>𝑂</m:t>
                    </m:r>
                    <m:d>
                      <m:dPr>
                        <m:ctrlPr>
                          <a:rPr kumimoji="1" lang="en-US" altLang="ja-GB" i="1">
                            <a:latin typeface="Cambria Math" panose="02040503050406030204" pitchFamily="18" charset="0"/>
                          </a:rPr>
                        </m:ctrlPr>
                      </m:dPr>
                      <m:e>
                        <m:r>
                          <a:rPr kumimoji="1" lang="en-US" altLang="ja-GB" i="1">
                            <a:latin typeface="Cambria Math" panose="02040503050406030204" pitchFamily="18" charset="0"/>
                          </a:rPr>
                          <m:t>𝑛</m:t>
                        </m:r>
                        <m:r>
                          <a:rPr kumimoji="1" lang="en-US" altLang="ja-GB" b="0" i="1" smtClean="0">
                            <a:latin typeface="Cambria Math" panose="02040503050406030204" pitchFamily="18" charset="0"/>
                          </a:rPr>
                          <m:t>⋅</m:t>
                        </m:r>
                        <m:r>
                          <a:rPr kumimoji="1" lang="en-US" altLang="ja-GB" i="1">
                            <a:latin typeface="Cambria Math" panose="02040503050406030204" pitchFamily="18" charset="0"/>
                          </a:rPr>
                          <m:t>𝑘</m:t>
                        </m:r>
                      </m:e>
                    </m:d>
                  </m:oMath>
                </a14:m>
                <a:endParaRPr kumimoji="1" lang="en-US" altLang="ja-GB" dirty="0"/>
              </a:p>
              <a:p>
                <a:r>
                  <a:rPr kumimoji="1" lang="en-US" altLang="ja-GB" sz="1400" b="1" dirty="0">
                    <a:solidFill>
                      <a:schemeClr val="tx1">
                        <a:lumMod val="50000"/>
                        <a:lumOff val="50000"/>
                      </a:schemeClr>
                    </a:solidFill>
                  </a:rPr>
                  <a:t>※ k</a:t>
                </a:r>
                <a:r>
                  <a:rPr kumimoji="1" lang="ja-GB" altLang="en-US" sz="1400" b="1" dirty="0">
                    <a:solidFill>
                      <a:schemeClr val="tx1">
                        <a:lumMod val="50000"/>
                        <a:lumOff val="50000"/>
                      </a:schemeClr>
                    </a:solidFill>
                  </a:rPr>
                  <a:t>はバケツの数</a:t>
                </a:r>
              </a:p>
            </p:txBody>
          </p:sp>
        </mc:Choice>
        <mc:Fallback xmlns="">
          <p:sp>
            <p:nvSpPr>
              <p:cNvPr id="92" name="テキスト ボックス 91">
                <a:extLst>
                  <a:ext uri="{FF2B5EF4-FFF2-40B4-BE49-F238E27FC236}">
                    <a16:creationId xmlns:a16="http://schemas.microsoft.com/office/drawing/2014/main" id="{012E4181-9D60-E2C9-EC01-26D9925559FA}"/>
                  </a:ext>
                </a:extLst>
              </p:cNvPr>
              <p:cNvSpPr txBox="1">
                <a:spLocks noRot="1" noChangeAspect="1" noMove="1" noResize="1" noEditPoints="1" noAdjustHandles="1" noChangeArrowheads="1" noChangeShapeType="1" noTextEdit="1"/>
              </p:cNvSpPr>
              <p:nvPr/>
            </p:nvSpPr>
            <p:spPr>
              <a:xfrm>
                <a:off x="6146117" y="5403070"/>
                <a:ext cx="2875659" cy="1415772"/>
              </a:xfrm>
              <a:prstGeom prst="rect">
                <a:avLst/>
              </a:prstGeom>
              <a:blipFill>
                <a:blip r:embed="rId2"/>
                <a:stretch>
                  <a:fillRect l="-1316" t="-1770" b="-3540"/>
                </a:stretch>
              </a:blipFill>
            </p:spPr>
            <p:txBody>
              <a:bodyPr/>
              <a:lstStyle/>
              <a:p>
                <a:r>
                  <a:rPr lang="ja-GB" altLang="en-US">
                    <a:noFill/>
                  </a:rPr>
                  <a:t> </a:t>
                </a:r>
              </a:p>
            </p:txBody>
          </p:sp>
        </mc:Fallback>
      </mc:AlternateContent>
    </p:spTree>
    <p:extLst>
      <p:ext uri="{BB962C8B-B14F-4D97-AF65-F5344CB8AC3E}">
        <p14:creationId xmlns:p14="http://schemas.microsoft.com/office/powerpoint/2010/main" val="42313893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26E406-BE44-AB08-4ADC-25BED3812A8C}"/>
              </a:ext>
            </a:extLst>
          </p:cNvPr>
          <p:cNvSpPr>
            <a:spLocks noGrp="1"/>
          </p:cNvSpPr>
          <p:nvPr>
            <p:ph type="title"/>
          </p:nvPr>
        </p:nvSpPr>
        <p:spPr/>
        <p:txBody>
          <a:bodyPr/>
          <a:lstStyle/>
          <a:p>
            <a:r>
              <a:rPr kumimoji="1" lang="ja-GB" altLang="en-US" dirty="0"/>
              <a:t>問題条件の違い</a:t>
            </a:r>
            <a:r>
              <a:rPr kumimoji="1" lang="en-US" altLang="ja-GB" dirty="0"/>
              <a:t>1</a:t>
            </a:r>
            <a:r>
              <a:rPr kumimoji="1" lang="ja-GB" altLang="en-US" dirty="0"/>
              <a:t>：ソートの安定性</a:t>
            </a:r>
          </a:p>
        </p:txBody>
      </p:sp>
      <p:sp>
        <p:nvSpPr>
          <p:cNvPr id="3" name="コンテンツ プレースホルダー 2">
            <a:extLst>
              <a:ext uri="{FF2B5EF4-FFF2-40B4-BE49-F238E27FC236}">
                <a16:creationId xmlns:a16="http://schemas.microsoft.com/office/drawing/2014/main" id="{EFD53CA7-98CD-9AE7-6469-18A697C270D3}"/>
              </a:ext>
            </a:extLst>
          </p:cNvPr>
          <p:cNvSpPr>
            <a:spLocks noGrp="1"/>
          </p:cNvSpPr>
          <p:nvPr>
            <p:ph idx="1"/>
          </p:nvPr>
        </p:nvSpPr>
        <p:spPr/>
        <p:txBody>
          <a:bodyPr/>
          <a:lstStyle/>
          <a:p>
            <a:pPr marL="0" indent="0">
              <a:buNone/>
            </a:pPr>
            <a:r>
              <a:rPr kumimoji="1" lang="ja-GB" altLang="en-US" dirty="0"/>
              <a:t>同じ値の要素があるとき，並び替え前の順序を維持する性質</a:t>
            </a:r>
            <a:endParaRPr kumimoji="1" lang="en-US" altLang="ja-GB" dirty="0"/>
          </a:p>
          <a:p>
            <a:pPr lvl="1"/>
            <a:r>
              <a:rPr lang="ja-GB" altLang="en-US" dirty="0"/>
              <a:t>二つ以上の項目で対象を比較したいときに有用</a:t>
            </a:r>
            <a:endParaRPr lang="en-US" altLang="ja-GB" dirty="0"/>
          </a:p>
          <a:p>
            <a:pPr marL="914400" lvl="2" indent="0">
              <a:buNone/>
            </a:pPr>
            <a:r>
              <a:rPr lang="ja-GB" altLang="en-US" dirty="0"/>
              <a:t>例</a:t>
            </a:r>
            <a:r>
              <a:rPr lang="en-US" altLang="ja-GB" dirty="0"/>
              <a:t>1</a:t>
            </a:r>
            <a:r>
              <a:rPr lang="ja-GB" altLang="en-US" dirty="0"/>
              <a:t>）テストの成績が同じなら，内申点を比較して合格者を決めたい</a:t>
            </a:r>
            <a:endParaRPr lang="en-US" altLang="ja-GB" dirty="0"/>
          </a:p>
          <a:p>
            <a:pPr lvl="3"/>
            <a:r>
              <a:rPr lang="en-US" altLang="ja-GB" dirty="0"/>
              <a:t>(1)</a:t>
            </a:r>
            <a:r>
              <a:rPr lang="ja-GB" altLang="en-US" dirty="0"/>
              <a:t>名簿を内申点順にソートしてから，</a:t>
            </a:r>
            <a:r>
              <a:rPr lang="en-US" altLang="ja-GB" dirty="0"/>
              <a:t>(2)</a:t>
            </a:r>
            <a:r>
              <a:rPr lang="ja-GB" altLang="en-US" dirty="0"/>
              <a:t>テストの成績順にソートする</a:t>
            </a:r>
            <a:endParaRPr lang="en-US" altLang="ja-GB" dirty="0"/>
          </a:p>
          <a:p>
            <a:pPr lvl="3"/>
            <a:r>
              <a:rPr lang="ja-GB" altLang="en-US" dirty="0"/>
              <a:t>安定ソートであれば，成績が同じ受験者は内申点順に並ぶ</a:t>
            </a:r>
            <a:endParaRPr lang="en-US" altLang="ja-GB" dirty="0"/>
          </a:p>
          <a:p>
            <a:pPr lvl="3"/>
            <a:r>
              <a:rPr lang="ja-GB" altLang="en-US" dirty="0"/>
              <a:t>不安定ソートなら，成績が同じ受験者は内申点に関係ない順序で並ぶ</a:t>
            </a:r>
            <a:endParaRPr lang="en-US" altLang="ja-GB" dirty="0"/>
          </a:p>
          <a:p>
            <a:pPr lvl="2"/>
            <a:endParaRPr lang="en-US" altLang="ja-GB" dirty="0"/>
          </a:p>
          <a:p>
            <a:pPr lvl="1"/>
            <a:r>
              <a:rPr lang="ja-GB" altLang="en-US" dirty="0"/>
              <a:t>クイックソートは速いが不安定ソート</a:t>
            </a:r>
            <a:endParaRPr lang="en-US" altLang="ja-GB" dirty="0"/>
          </a:p>
          <a:p>
            <a:pPr lvl="2"/>
            <a:r>
              <a:rPr lang="ja-GB" altLang="en-US" dirty="0"/>
              <a:t>安定性と速さが必要な場合，マージソートなどが用いられることがある</a:t>
            </a:r>
            <a:endParaRPr lang="en-US" altLang="ja-GB" dirty="0"/>
          </a:p>
        </p:txBody>
      </p:sp>
    </p:spTree>
    <p:extLst>
      <p:ext uri="{BB962C8B-B14F-4D97-AF65-F5344CB8AC3E}">
        <p14:creationId xmlns:p14="http://schemas.microsoft.com/office/powerpoint/2010/main" val="12424483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F8A339-0699-3964-2137-0986B9EB51EA}"/>
              </a:ext>
            </a:extLst>
          </p:cNvPr>
          <p:cNvSpPr>
            <a:spLocks noGrp="1"/>
          </p:cNvSpPr>
          <p:nvPr>
            <p:ph type="title"/>
          </p:nvPr>
        </p:nvSpPr>
        <p:spPr/>
        <p:txBody>
          <a:bodyPr/>
          <a:lstStyle/>
          <a:p>
            <a:r>
              <a:rPr kumimoji="1" lang="ja-GB" altLang="en-US" dirty="0"/>
              <a:t>マージソート（直訳：統合ソート）</a:t>
            </a:r>
          </a:p>
        </p:txBody>
      </p:sp>
      <p:sp>
        <p:nvSpPr>
          <p:cNvPr id="3" name="コンテンツ プレースホルダー 2">
            <a:extLst>
              <a:ext uri="{FF2B5EF4-FFF2-40B4-BE49-F238E27FC236}">
                <a16:creationId xmlns:a16="http://schemas.microsoft.com/office/drawing/2014/main" id="{7E8DF987-969D-53F9-35B3-27B6C8DC09CD}"/>
              </a:ext>
            </a:extLst>
          </p:cNvPr>
          <p:cNvSpPr>
            <a:spLocks noGrp="1"/>
          </p:cNvSpPr>
          <p:nvPr>
            <p:ph idx="1"/>
          </p:nvPr>
        </p:nvSpPr>
        <p:spPr/>
        <p:txBody>
          <a:bodyPr/>
          <a:lstStyle/>
          <a:p>
            <a:pPr marL="0" indent="0">
              <a:buNone/>
            </a:pPr>
            <a:r>
              <a:rPr kumimoji="1" lang="en-US" altLang="ja-GB" dirty="0"/>
              <a:t>(1)</a:t>
            </a:r>
            <a:r>
              <a:rPr kumimoji="1" lang="ja-GB" altLang="en-US" dirty="0"/>
              <a:t>データを半分に分割して，</a:t>
            </a:r>
            <a:r>
              <a:rPr kumimoji="1" lang="en-US" altLang="ja-GB" dirty="0"/>
              <a:t>(2)</a:t>
            </a:r>
            <a:r>
              <a:rPr kumimoji="1" lang="ja-GB" altLang="en-US" dirty="0"/>
              <a:t>決まった規則で統合していく</a:t>
            </a:r>
          </a:p>
        </p:txBody>
      </p:sp>
      <p:grpSp>
        <p:nvGrpSpPr>
          <p:cNvPr id="15" name="グループ化 14">
            <a:extLst>
              <a:ext uri="{FF2B5EF4-FFF2-40B4-BE49-F238E27FC236}">
                <a16:creationId xmlns:a16="http://schemas.microsoft.com/office/drawing/2014/main" id="{FAA60C4F-6FF5-81BA-17E5-7FB28782E9F0}"/>
              </a:ext>
            </a:extLst>
          </p:cNvPr>
          <p:cNvGrpSpPr/>
          <p:nvPr/>
        </p:nvGrpSpPr>
        <p:grpSpPr>
          <a:xfrm>
            <a:off x="2651419" y="1524260"/>
            <a:ext cx="3831735" cy="471346"/>
            <a:chOff x="2534668" y="1543114"/>
            <a:chExt cx="3831735" cy="471346"/>
          </a:xfrm>
          <a:noFill/>
        </p:grpSpPr>
        <p:sp>
          <p:nvSpPr>
            <p:cNvPr id="5" name="正方形/長方形 4">
              <a:extLst>
                <a:ext uri="{FF2B5EF4-FFF2-40B4-BE49-F238E27FC236}">
                  <a16:creationId xmlns:a16="http://schemas.microsoft.com/office/drawing/2014/main" id="{434FBA1B-91AE-AC33-8630-7C93E15E6AE0}"/>
                </a:ext>
              </a:extLst>
            </p:cNvPr>
            <p:cNvSpPr/>
            <p:nvPr/>
          </p:nvSpPr>
          <p:spPr>
            <a:xfrm>
              <a:off x="3013265" y="1543116"/>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6" name="正方形/長方形 5">
              <a:extLst>
                <a:ext uri="{FF2B5EF4-FFF2-40B4-BE49-F238E27FC236}">
                  <a16:creationId xmlns:a16="http://schemas.microsoft.com/office/drawing/2014/main" id="{7AA2DC3C-52C7-2FAC-C76B-9A276745D28A}"/>
                </a:ext>
              </a:extLst>
            </p:cNvPr>
            <p:cNvSpPr/>
            <p:nvPr/>
          </p:nvSpPr>
          <p:spPr>
            <a:xfrm>
              <a:off x="3496672"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8</a:t>
              </a:r>
              <a:endParaRPr kumimoji="1" lang="ja-GB" altLang="en-US" dirty="0">
                <a:solidFill>
                  <a:schemeClr val="tx1">
                    <a:lumMod val="50000"/>
                    <a:lumOff val="50000"/>
                  </a:schemeClr>
                </a:solidFill>
              </a:endParaRPr>
            </a:p>
          </p:txBody>
        </p:sp>
        <p:sp>
          <p:nvSpPr>
            <p:cNvPr id="7" name="正方形/長方形 6">
              <a:extLst>
                <a:ext uri="{FF2B5EF4-FFF2-40B4-BE49-F238E27FC236}">
                  <a16:creationId xmlns:a16="http://schemas.microsoft.com/office/drawing/2014/main" id="{F1EB055A-5835-47EB-B36A-3CC3274F9FE1}"/>
                </a:ext>
              </a:extLst>
            </p:cNvPr>
            <p:cNvSpPr/>
            <p:nvPr/>
          </p:nvSpPr>
          <p:spPr>
            <a:xfrm>
              <a:off x="3974345"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8" name="正方形/長方形 7">
              <a:extLst>
                <a:ext uri="{FF2B5EF4-FFF2-40B4-BE49-F238E27FC236}">
                  <a16:creationId xmlns:a16="http://schemas.microsoft.com/office/drawing/2014/main" id="{3CBACEC3-C0F4-200E-9B1F-E7F3DD31267D}"/>
                </a:ext>
              </a:extLst>
            </p:cNvPr>
            <p:cNvSpPr/>
            <p:nvPr/>
          </p:nvSpPr>
          <p:spPr>
            <a:xfrm>
              <a:off x="4453864"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20ECF572-FF7D-28D7-D777-A39114772916}"/>
                </a:ext>
              </a:extLst>
            </p:cNvPr>
            <p:cNvSpPr/>
            <p:nvPr/>
          </p:nvSpPr>
          <p:spPr>
            <a:xfrm>
              <a:off x="4931537"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10" name="正方形/長方形 9">
              <a:extLst>
                <a:ext uri="{FF2B5EF4-FFF2-40B4-BE49-F238E27FC236}">
                  <a16:creationId xmlns:a16="http://schemas.microsoft.com/office/drawing/2014/main" id="{A7BB4D6F-2EE9-3390-8189-5ADB8E153881}"/>
                </a:ext>
              </a:extLst>
            </p:cNvPr>
            <p:cNvSpPr/>
            <p:nvPr/>
          </p:nvSpPr>
          <p:spPr>
            <a:xfrm>
              <a:off x="5411057"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10</a:t>
              </a:r>
              <a:endParaRPr kumimoji="1" lang="ja-GB" altLang="en-US" dirty="0">
                <a:solidFill>
                  <a:schemeClr val="tx1">
                    <a:lumMod val="50000"/>
                    <a:lumOff val="50000"/>
                  </a:schemeClr>
                </a:solidFill>
              </a:endParaRPr>
            </a:p>
          </p:txBody>
        </p:sp>
        <p:sp>
          <p:nvSpPr>
            <p:cNvPr id="11" name="正方形/長方形 10">
              <a:extLst>
                <a:ext uri="{FF2B5EF4-FFF2-40B4-BE49-F238E27FC236}">
                  <a16:creationId xmlns:a16="http://schemas.microsoft.com/office/drawing/2014/main" id="{87F5D554-F92D-1444-1817-AC23D00141BC}"/>
                </a:ext>
              </a:extLst>
            </p:cNvPr>
            <p:cNvSpPr/>
            <p:nvPr/>
          </p:nvSpPr>
          <p:spPr>
            <a:xfrm>
              <a:off x="5888730"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1D242D35-E081-717B-8450-A93F9E8F04B9}"/>
                </a:ext>
              </a:extLst>
            </p:cNvPr>
            <p:cNvSpPr/>
            <p:nvPr/>
          </p:nvSpPr>
          <p:spPr>
            <a:xfrm>
              <a:off x="2534668"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5</a:t>
              </a:r>
              <a:endParaRPr kumimoji="1" lang="ja-GB" altLang="en-US" dirty="0">
                <a:solidFill>
                  <a:schemeClr val="tx1">
                    <a:lumMod val="50000"/>
                    <a:lumOff val="50000"/>
                  </a:schemeClr>
                </a:solidFill>
              </a:endParaRPr>
            </a:p>
          </p:txBody>
        </p:sp>
      </p:grpSp>
      <p:sp>
        <p:nvSpPr>
          <p:cNvPr id="17" name="正方形/長方形 16">
            <a:extLst>
              <a:ext uri="{FF2B5EF4-FFF2-40B4-BE49-F238E27FC236}">
                <a16:creationId xmlns:a16="http://schemas.microsoft.com/office/drawing/2014/main" id="{DC7362DE-096F-58BD-5234-17F5B90CA5ED}"/>
              </a:ext>
            </a:extLst>
          </p:cNvPr>
          <p:cNvSpPr/>
          <p:nvPr/>
        </p:nvSpPr>
        <p:spPr>
          <a:xfrm>
            <a:off x="2900606" y="2127770"/>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18" name="正方形/長方形 17">
            <a:extLst>
              <a:ext uri="{FF2B5EF4-FFF2-40B4-BE49-F238E27FC236}">
                <a16:creationId xmlns:a16="http://schemas.microsoft.com/office/drawing/2014/main" id="{117C0A20-42B3-0EC9-B187-7DEC262F2419}"/>
              </a:ext>
            </a:extLst>
          </p:cNvPr>
          <p:cNvSpPr/>
          <p:nvPr/>
        </p:nvSpPr>
        <p:spPr>
          <a:xfrm>
            <a:off x="3374586" y="2127768"/>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8</a:t>
            </a:r>
            <a:endParaRPr kumimoji="1" lang="ja-GB" altLang="en-US" dirty="0">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0C39E455-E160-2229-BA20-E6B2A3577BC7}"/>
              </a:ext>
            </a:extLst>
          </p:cNvPr>
          <p:cNvSpPr/>
          <p:nvPr/>
        </p:nvSpPr>
        <p:spPr>
          <a:xfrm>
            <a:off x="3852259" y="2127768"/>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20" name="正方形/長方形 19">
            <a:extLst>
              <a:ext uri="{FF2B5EF4-FFF2-40B4-BE49-F238E27FC236}">
                <a16:creationId xmlns:a16="http://schemas.microsoft.com/office/drawing/2014/main" id="{0E6A13D0-57E2-B73E-EBFE-01E83FB819F2}"/>
              </a:ext>
            </a:extLst>
          </p:cNvPr>
          <p:cNvSpPr/>
          <p:nvPr/>
        </p:nvSpPr>
        <p:spPr>
          <a:xfrm>
            <a:off x="4809451" y="212776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21" name="正方形/長方形 20">
            <a:extLst>
              <a:ext uri="{FF2B5EF4-FFF2-40B4-BE49-F238E27FC236}">
                <a16:creationId xmlns:a16="http://schemas.microsoft.com/office/drawing/2014/main" id="{BC18A380-73D3-7092-8E4B-48777A60826E}"/>
              </a:ext>
            </a:extLst>
          </p:cNvPr>
          <p:cNvSpPr/>
          <p:nvPr/>
        </p:nvSpPr>
        <p:spPr>
          <a:xfrm>
            <a:off x="5287124" y="212776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22" name="正方形/長方形 21">
            <a:extLst>
              <a:ext uri="{FF2B5EF4-FFF2-40B4-BE49-F238E27FC236}">
                <a16:creationId xmlns:a16="http://schemas.microsoft.com/office/drawing/2014/main" id="{B5E6DEFC-41C3-1D3D-1FE4-EE9C1727C41F}"/>
              </a:ext>
            </a:extLst>
          </p:cNvPr>
          <p:cNvSpPr/>
          <p:nvPr/>
        </p:nvSpPr>
        <p:spPr>
          <a:xfrm>
            <a:off x="5766644" y="212776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10</a:t>
            </a:r>
            <a:endParaRPr kumimoji="1" lang="ja-GB" altLang="en-US" dirty="0">
              <a:solidFill>
                <a:schemeClr val="tx1">
                  <a:lumMod val="50000"/>
                  <a:lumOff val="50000"/>
                </a:schemeClr>
              </a:solidFill>
            </a:endParaRPr>
          </a:p>
        </p:txBody>
      </p:sp>
      <p:sp>
        <p:nvSpPr>
          <p:cNvPr id="23" name="正方形/長方形 22">
            <a:extLst>
              <a:ext uri="{FF2B5EF4-FFF2-40B4-BE49-F238E27FC236}">
                <a16:creationId xmlns:a16="http://schemas.microsoft.com/office/drawing/2014/main" id="{989F4651-E18C-6D8F-7EC2-543921FCA210}"/>
              </a:ext>
            </a:extLst>
          </p:cNvPr>
          <p:cNvSpPr/>
          <p:nvPr/>
        </p:nvSpPr>
        <p:spPr>
          <a:xfrm>
            <a:off x="6244317" y="212776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24" name="正方形/長方形 23">
            <a:extLst>
              <a:ext uri="{FF2B5EF4-FFF2-40B4-BE49-F238E27FC236}">
                <a16:creationId xmlns:a16="http://schemas.microsoft.com/office/drawing/2014/main" id="{20D9C1F5-19E2-88D9-7DDD-92362978A18A}"/>
              </a:ext>
            </a:extLst>
          </p:cNvPr>
          <p:cNvSpPr/>
          <p:nvPr/>
        </p:nvSpPr>
        <p:spPr>
          <a:xfrm>
            <a:off x="2422009" y="2127768"/>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5</a:t>
            </a:r>
            <a:endParaRPr kumimoji="1" lang="ja-GB" altLang="en-US" dirty="0">
              <a:solidFill>
                <a:schemeClr val="tx1">
                  <a:lumMod val="50000"/>
                  <a:lumOff val="50000"/>
                </a:schemeClr>
              </a:solidFill>
            </a:endParaRPr>
          </a:p>
        </p:txBody>
      </p:sp>
      <p:sp>
        <p:nvSpPr>
          <p:cNvPr id="25" name="正方形/長方形 24">
            <a:extLst>
              <a:ext uri="{FF2B5EF4-FFF2-40B4-BE49-F238E27FC236}">
                <a16:creationId xmlns:a16="http://schemas.microsoft.com/office/drawing/2014/main" id="{6923F097-5645-566B-15A0-A705625F6B33}"/>
              </a:ext>
            </a:extLst>
          </p:cNvPr>
          <p:cNvSpPr/>
          <p:nvPr/>
        </p:nvSpPr>
        <p:spPr>
          <a:xfrm>
            <a:off x="2803035" y="2711018"/>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26" name="正方形/長方形 25">
            <a:extLst>
              <a:ext uri="{FF2B5EF4-FFF2-40B4-BE49-F238E27FC236}">
                <a16:creationId xmlns:a16="http://schemas.microsoft.com/office/drawing/2014/main" id="{54B707FF-7401-A176-50F1-0143F86F4540}"/>
              </a:ext>
            </a:extLst>
          </p:cNvPr>
          <p:cNvSpPr/>
          <p:nvPr/>
        </p:nvSpPr>
        <p:spPr>
          <a:xfrm>
            <a:off x="3479545"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8</a:t>
            </a:r>
            <a:endParaRPr kumimoji="1" lang="ja-GB" altLang="en-US" dirty="0">
              <a:solidFill>
                <a:schemeClr val="tx1">
                  <a:lumMod val="50000"/>
                  <a:lumOff val="50000"/>
                </a:schemeClr>
              </a:solidFill>
            </a:endParaRPr>
          </a:p>
        </p:txBody>
      </p:sp>
      <p:sp>
        <p:nvSpPr>
          <p:cNvPr id="27" name="正方形/長方形 26">
            <a:extLst>
              <a:ext uri="{FF2B5EF4-FFF2-40B4-BE49-F238E27FC236}">
                <a16:creationId xmlns:a16="http://schemas.microsoft.com/office/drawing/2014/main" id="{8746EFFE-9BA2-283F-7BFF-F47CEB3CF7BF}"/>
              </a:ext>
            </a:extLst>
          </p:cNvPr>
          <p:cNvSpPr/>
          <p:nvPr/>
        </p:nvSpPr>
        <p:spPr>
          <a:xfrm>
            <a:off x="3957218"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28" name="正方形/長方形 27">
            <a:extLst>
              <a:ext uri="{FF2B5EF4-FFF2-40B4-BE49-F238E27FC236}">
                <a16:creationId xmlns:a16="http://schemas.microsoft.com/office/drawing/2014/main" id="{10DBFA08-6A6A-2C75-5869-550F82963DBB}"/>
              </a:ext>
            </a:extLst>
          </p:cNvPr>
          <p:cNvSpPr/>
          <p:nvPr/>
        </p:nvSpPr>
        <p:spPr>
          <a:xfrm>
            <a:off x="4673727"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29" name="正方形/長方形 28">
            <a:extLst>
              <a:ext uri="{FF2B5EF4-FFF2-40B4-BE49-F238E27FC236}">
                <a16:creationId xmlns:a16="http://schemas.microsoft.com/office/drawing/2014/main" id="{A1FFBAC5-C0B7-C265-7507-D5AD63A96B66}"/>
              </a:ext>
            </a:extLst>
          </p:cNvPr>
          <p:cNvSpPr/>
          <p:nvPr/>
        </p:nvSpPr>
        <p:spPr>
          <a:xfrm>
            <a:off x="5151400"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30" name="正方形/長方形 29">
            <a:extLst>
              <a:ext uri="{FF2B5EF4-FFF2-40B4-BE49-F238E27FC236}">
                <a16:creationId xmlns:a16="http://schemas.microsoft.com/office/drawing/2014/main" id="{F6AE0BED-2479-D721-ACAF-EE28577E9A67}"/>
              </a:ext>
            </a:extLst>
          </p:cNvPr>
          <p:cNvSpPr/>
          <p:nvPr/>
        </p:nvSpPr>
        <p:spPr>
          <a:xfrm>
            <a:off x="5864217"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10</a:t>
            </a:r>
            <a:endParaRPr kumimoji="1" lang="ja-GB" altLang="en-US" dirty="0">
              <a:solidFill>
                <a:schemeClr val="tx1">
                  <a:lumMod val="50000"/>
                  <a:lumOff val="50000"/>
                </a:schemeClr>
              </a:solidFill>
            </a:endParaRPr>
          </a:p>
        </p:txBody>
      </p:sp>
      <p:sp>
        <p:nvSpPr>
          <p:cNvPr id="31" name="正方形/長方形 30">
            <a:extLst>
              <a:ext uri="{FF2B5EF4-FFF2-40B4-BE49-F238E27FC236}">
                <a16:creationId xmlns:a16="http://schemas.microsoft.com/office/drawing/2014/main" id="{AC690B1F-46C6-4D28-3793-5240AF634B39}"/>
              </a:ext>
            </a:extLst>
          </p:cNvPr>
          <p:cNvSpPr/>
          <p:nvPr/>
        </p:nvSpPr>
        <p:spPr>
          <a:xfrm>
            <a:off x="6341890"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32" name="正方形/長方形 31">
            <a:extLst>
              <a:ext uri="{FF2B5EF4-FFF2-40B4-BE49-F238E27FC236}">
                <a16:creationId xmlns:a16="http://schemas.microsoft.com/office/drawing/2014/main" id="{1A641CFF-35AA-F9E3-9C41-C6793173E915}"/>
              </a:ext>
            </a:extLst>
          </p:cNvPr>
          <p:cNvSpPr/>
          <p:nvPr/>
        </p:nvSpPr>
        <p:spPr>
          <a:xfrm>
            <a:off x="2324438"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5</a:t>
            </a:r>
            <a:endParaRPr kumimoji="1" lang="ja-GB" altLang="en-US" dirty="0">
              <a:solidFill>
                <a:schemeClr val="tx1">
                  <a:lumMod val="50000"/>
                  <a:lumOff val="50000"/>
                </a:schemeClr>
              </a:solidFill>
            </a:endParaRPr>
          </a:p>
        </p:txBody>
      </p:sp>
      <p:sp>
        <p:nvSpPr>
          <p:cNvPr id="33" name="正方形/長方形 32">
            <a:extLst>
              <a:ext uri="{FF2B5EF4-FFF2-40B4-BE49-F238E27FC236}">
                <a16:creationId xmlns:a16="http://schemas.microsoft.com/office/drawing/2014/main" id="{96DC9ED7-558B-44CD-F7CD-2EEF9D6F9603}"/>
              </a:ext>
            </a:extLst>
          </p:cNvPr>
          <p:cNvSpPr/>
          <p:nvPr/>
        </p:nvSpPr>
        <p:spPr>
          <a:xfrm>
            <a:off x="2839519" y="3306774"/>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34" name="正方形/長方形 33">
            <a:extLst>
              <a:ext uri="{FF2B5EF4-FFF2-40B4-BE49-F238E27FC236}">
                <a16:creationId xmlns:a16="http://schemas.microsoft.com/office/drawing/2014/main" id="{C55F0665-856F-8D33-6653-43A58F74A2F0}"/>
              </a:ext>
            </a:extLst>
          </p:cNvPr>
          <p:cNvSpPr/>
          <p:nvPr/>
        </p:nvSpPr>
        <p:spPr>
          <a:xfrm>
            <a:off x="3445888" y="3306774"/>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35" name="正方形/長方形 34">
            <a:extLst>
              <a:ext uri="{FF2B5EF4-FFF2-40B4-BE49-F238E27FC236}">
                <a16:creationId xmlns:a16="http://schemas.microsoft.com/office/drawing/2014/main" id="{ECFC57DF-A3F4-E44C-D088-A4E9551FE92A}"/>
              </a:ext>
            </a:extLst>
          </p:cNvPr>
          <p:cNvSpPr/>
          <p:nvPr/>
        </p:nvSpPr>
        <p:spPr>
          <a:xfrm>
            <a:off x="4001349" y="3306774"/>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36" name="正方形/長方形 35">
            <a:extLst>
              <a:ext uri="{FF2B5EF4-FFF2-40B4-BE49-F238E27FC236}">
                <a16:creationId xmlns:a16="http://schemas.microsoft.com/office/drawing/2014/main" id="{92CF4154-5F51-CFA5-102F-EE19C8121A10}"/>
              </a:ext>
            </a:extLst>
          </p:cNvPr>
          <p:cNvSpPr/>
          <p:nvPr/>
        </p:nvSpPr>
        <p:spPr>
          <a:xfrm>
            <a:off x="4603836" y="3306774"/>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37" name="正方形/長方形 36">
            <a:extLst>
              <a:ext uri="{FF2B5EF4-FFF2-40B4-BE49-F238E27FC236}">
                <a16:creationId xmlns:a16="http://schemas.microsoft.com/office/drawing/2014/main" id="{EBB2BAC4-B1D8-B5E0-EC93-786698C3A5FF}"/>
              </a:ext>
            </a:extLst>
          </p:cNvPr>
          <p:cNvSpPr/>
          <p:nvPr/>
        </p:nvSpPr>
        <p:spPr>
          <a:xfrm>
            <a:off x="5204542" y="3306774"/>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38" name="正方形/長方形 37">
            <a:extLst>
              <a:ext uri="{FF2B5EF4-FFF2-40B4-BE49-F238E27FC236}">
                <a16:creationId xmlns:a16="http://schemas.microsoft.com/office/drawing/2014/main" id="{972E9C49-1641-11D0-99D6-7D3C560F8DAD}"/>
              </a:ext>
            </a:extLst>
          </p:cNvPr>
          <p:cNvSpPr/>
          <p:nvPr/>
        </p:nvSpPr>
        <p:spPr>
          <a:xfrm>
            <a:off x="5792805" y="3306774"/>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39" name="正方形/長方形 38">
            <a:extLst>
              <a:ext uri="{FF2B5EF4-FFF2-40B4-BE49-F238E27FC236}">
                <a16:creationId xmlns:a16="http://schemas.microsoft.com/office/drawing/2014/main" id="{441244D8-8A47-FE4F-C077-F3566BCA4DE1}"/>
              </a:ext>
            </a:extLst>
          </p:cNvPr>
          <p:cNvSpPr/>
          <p:nvPr/>
        </p:nvSpPr>
        <p:spPr>
          <a:xfrm>
            <a:off x="6395292" y="3306774"/>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40" name="正方形/長方形 39">
            <a:extLst>
              <a:ext uri="{FF2B5EF4-FFF2-40B4-BE49-F238E27FC236}">
                <a16:creationId xmlns:a16="http://schemas.microsoft.com/office/drawing/2014/main" id="{10944F97-C4C6-6AE9-6C33-892C40450CED}"/>
              </a:ext>
            </a:extLst>
          </p:cNvPr>
          <p:cNvSpPr/>
          <p:nvPr/>
        </p:nvSpPr>
        <p:spPr>
          <a:xfrm>
            <a:off x="2271035" y="3306774"/>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5</a:t>
            </a:r>
            <a:endParaRPr kumimoji="1" lang="ja-GB" altLang="en-US" dirty="0">
              <a:solidFill>
                <a:srgbClr val="2F2523"/>
              </a:solidFill>
            </a:endParaRPr>
          </a:p>
        </p:txBody>
      </p:sp>
      <p:sp>
        <p:nvSpPr>
          <p:cNvPr id="4" name="正方形/長方形 3">
            <a:extLst>
              <a:ext uri="{FF2B5EF4-FFF2-40B4-BE49-F238E27FC236}">
                <a16:creationId xmlns:a16="http://schemas.microsoft.com/office/drawing/2014/main" id="{EB3EF8C7-FD61-DF20-D787-817491ABA416}"/>
              </a:ext>
            </a:extLst>
          </p:cNvPr>
          <p:cNvSpPr/>
          <p:nvPr/>
        </p:nvSpPr>
        <p:spPr>
          <a:xfrm>
            <a:off x="2324383" y="3889373"/>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12" name="正方形/長方形 11">
            <a:extLst>
              <a:ext uri="{FF2B5EF4-FFF2-40B4-BE49-F238E27FC236}">
                <a16:creationId xmlns:a16="http://schemas.microsoft.com/office/drawing/2014/main" id="{449D3B54-EE2E-37F9-82BE-A295C1D67720}"/>
              </a:ext>
            </a:extLst>
          </p:cNvPr>
          <p:cNvSpPr/>
          <p:nvPr/>
        </p:nvSpPr>
        <p:spPr>
          <a:xfrm>
            <a:off x="2803035" y="3889375"/>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5</a:t>
            </a:r>
            <a:endParaRPr kumimoji="1" lang="ja-GB" altLang="en-US" dirty="0">
              <a:solidFill>
                <a:srgbClr val="2F2523"/>
              </a:solidFill>
            </a:endParaRPr>
          </a:p>
        </p:txBody>
      </p:sp>
      <p:sp>
        <p:nvSpPr>
          <p:cNvPr id="13" name="正方形/長方形 12">
            <a:extLst>
              <a:ext uri="{FF2B5EF4-FFF2-40B4-BE49-F238E27FC236}">
                <a16:creationId xmlns:a16="http://schemas.microsoft.com/office/drawing/2014/main" id="{57683051-48CE-B4B6-73D9-189EE02154AD}"/>
              </a:ext>
            </a:extLst>
          </p:cNvPr>
          <p:cNvSpPr/>
          <p:nvPr/>
        </p:nvSpPr>
        <p:spPr>
          <a:xfrm>
            <a:off x="3479544" y="3889373"/>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16" name="正方形/長方形 15">
            <a:extLst>
              <a:ext uri="{FF2B5EF4-FFF2-40B4-BE49-F238E27FC236}">
                <a16:creationId xmlns:a16="http://schemas.microsoft.com/office/drawing/2014/main" id="{920C50C3-7B66-5AB7-8214-A7BB6E1F4C0E}"/>
              </a:ext>
            </a:extLst>
          </p:cNvPr>
          <p:cNvSpPr/>
          <p:nvPr/>
        </p:nvSpPr>
        <p:spPr>
          <a:xfrm>
            <a:off x="3957217" y="3889373"/>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41" name="正方形/長方形 40">
            <a:extLst>
              <a:ext uri="{FF2B5EF4-FFF2-40B4-BE49-F238E27FC236}">
                <a16:creationId xmlns:a16="http://schemas.microsoft.com/office/drawing/2014/main" id="{7FB51DC9-CCD9-6472-5834-B9A769ED4B19}"/>
              </a:ext>
            </a:extLst>
          </p:cNvPr>
          <p:cNvSpPr/>
          <p:nvPr/>
        </p:nvSpPr>
        <p:spPr>
          <a:xfrm>
            <a:off x="4673726" y="3889373"/>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42" name="正方形/長方形 41">
            <a:extLst>
              <a:ext uri="{FF2B5EF4-FFF2-40B4-BE49-F238E27FC236}">
                <a16:creationId xmlns:a16="http://schemas.microsoft.com/office/drawing/2014/main" id="{A62C97DA-5910-E69B-BE33-9D585628975F}"/>
              </a:ext>
            </a:extLst>
          </p:cNvPr>
          <p:cNvSpPr/>
          <p:nvPr/>
        </p:nvSpPr>
        <p:spPr>
          <a:xfrm>
            <a:off x="5151400" y="3889373"/>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43" name="正方形/長方形 42">
            <a:extLst>
              <a:ext uri="{FF2B5EF4-FFF2-40B4-BE49-F238E27FC236}">
                <a16:creationId xmlns:a16="http://schemas.microsoft.com/office/drawing/2014/main" id="{943C92F6-42DF-E81E-71FC-3EAA8EF46576}"/>
              </a:ext>
            </a:extLst>
          </p:cNvPr>
          <p:cNvSpPr/>
          <p:nvPr/>
        </p:nvSpPr>
        <p:spPr>
          <a:xfrm>
            <a:off x="5864217" y="3889373"/>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44" name="正方形/長方形 43">
            <a:extLst>
              <a:ext uri="{FF2B5EF4-FFF2-40B4-BE49-F238E27FC236}">
                <a16:creationId xmlns:a16="http://schemas.microsoft.com/office/drawing/2014/main" id="{A39BA2F3-E199-BA8D-CFBF-1D8A5C49AA1F}"/>
              </a:ext>
            </a:extLst>
          </p:cNvPr>
          <p:cNvSpPr/>
          <p:nvPr/>
        </p:nvSpPr>
        <p:spPr>
          <a:xfrm>
            <a:off x="6341890" y="3889373"/>
            <a:ext cx="477673" cy="471344"/>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Tree>
    <p:extLst>
      <p:ext uri="{BB962C8B-B14F-4D97-AF65-F5344CB8AC3E}">
        <p14:creationId xmlns:p14="http://schemas.microsoft.com/office/powerpoint/2010/main" val="12341528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19A5B-3464-ED24-85F1-92EB4BFADEE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411A879-E3F2-22C8-6775-B1BC89C068F5}"/>
              </a:ext>
            </a:extLst>
          </p:cNvPr>
          <p:cNvSpPr>
            <a:spLocks noGrp="1"/>
          </p:cNvSpPr>
          <p:nvPr>
            <p:ph type="title"/>
          </p:nvPr>
        </p:nvSpPr>
        <p:spPr/>
        <p:txBody>
          <a:bodyPr/>
          <a:lstStyle/>
          <a:p>
            <a:r>
              <a:rPr kumimoji="1" lang="ja-GB" altLang="en-US" dirty="0"/>
              <a:t>マージソート（直訳：統合ソート）</a:t>
            </a:r>
          </a:p>
        </p:txBody>
      </p:sp>
      <p:sp>
        <p:nvSpPr>
          <p:cNvPr id="3" name="コンテンツ プレースホルダー 2">
            <a:extLst>
              <a:ext uri="{FF2B5EF4-FFF2-40B4-BE49-F238E27FC236}">
                <a16:creationId xmlns:a16="http://schemas.microsoft.com/office/drawing/2014/main" id="{A5AF5AA9-2159-B8F5-E26B-0D3127A0C6BB}"/>
              </a:ext>
            </a:extLst>
          </p:cNvPr>
          <p:cNvSpPr>
            <a:spLocks noGrp="1"/>
          </p:cNvSpPr>
          <p:nvPr>
            <p:ph idx="1"/>
          </p:nvPr>
        </p:nvSpPr>
        <p:spPr/>
        <p:txBody>
          <a:bodyPr/>
          <a:lstStyle/>
          <a:p>
            <a:pPr marL="0" indent="0">
              <a:buNone/>
            </a:pPr>
            <a:r>
              <a:rPr kumimoji="1" lang="en-US" altLang="ja-GB" dirty="0"/>
              <a:t>(1)</a:t>
            </a:r>
            <a:r>
              <a:rPr kumimoji="1" lang="ja-GB" altLang="en-US" dirty="0"/>
              <a:t>データを半分に分割して，</a:t>
            </a:r>
            <a:r>
              <a:rPr kumimoji="1" lang="en-US" altLang="ja-GB" dirty="0"/>
              <a:t>(2)</a:t>
            </a:r>
            <a:r>
              <a:rPr kumimoji="1" lang="ja-GB" altLang="en-US" dirty="0"/>
              <a:t>決まった規則で統合していく</a:t>
            </a:r>
          </a:p>
        </p:txBody>
      </p:sp>
      <p:grpSp>
        <p:nvGrpSpPr>
          <p:cNvPr id="15" name="グループ化 14">
            <a:extLst>
              <a:ext uri="{FF2B5EF4-FFF2-40B4-BE49-F238E27FC236}">
                <a16:creationId xmlns:a16="http://schemas.microsoft.com/office/drawing/2014/main" id="{D2BC7D97-2B79-E185-5F71-0B992FD3FBF8}"/>
              </a:ext>
            </a:extLst>
          </p:cNvPr>
          <p:cNvGrpSpPr/>
          <p:nvPr/>
        </p:nvGrpSpPr>
        <p:grpSpPr>
          <a:xfrm>
            <a:off x="2651419" y="1524260"/>
            <a:ext cx="3831735" cy="471346"/>
            <a:chOff x="2534668" y="1543114"/>
            <a:chExt cx="3831735" cy="471346"/>
          </a:xfrm>
          <a:noFill/>
        </p:grpSpPr>
        <p:sp>
          <p:nvSpPr>
            <p:cNvPr id="5" name="正方形/長方形 4">
              <a:extLst>
                <a:ext uri="{FF2B5EF4-FFF2-40B4-BE49-F238E27FC236}">
                  <a16:creationId xmlns:a16="http://schemas.microsoft.com/office/drawing/2014/main" id="{23003C38-D994-E273-E772-8F1CF68DED83}"/>
                </a:ext>
              </a:extLst>
            </p:cNvPr>
            <p:cNvSpPr/>
            <p:nvPr/>
          </p:nvSpPr>
          <p:spPr>
            <a:xfrm>
              <a:off x="3013265" y="1543116"/>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6" name="正方形/長方形 5">
              <a:extLst>
                <a:ext uri="{FF2B5EF4-FFF2-40B4-BE49-F238E27FC236}">
                  <a16:creationId xmlns:a16="http://schemas.microsoft.com/office/drawing/2014/main" id="{72488D5F-F01E-07FC-640A-F3000269A260}"/>
                </a:ext>
              </a:extLst>
            </p:cNvPr>
            <p:cNvSpPr/>
            <p:nvPr/>
          </p:nvSpPr>
          <p:spPr>
            <a:xfrm>
              <a:off x="3496672"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8</a:t>
              </a:r>
              <a:endParaRPr kumimoji="1" lang="ja-GB" altLang="en-US" dirty="0">
                <a:solidFill>
                  <a:schemeClr val="tx1">
                    <a:lumMod val="50000"/>
                    <a:lumOff val="50000"/>
                  </a:schemeClr>
                </a:solidFill>
              </a:endParaRPr>
            </a:p>
          </p:txBody>
        </p:sp>
        <p:sp>
          <p:nvSpPr>
            <p:cNvPr id="7" name="正方形/長方形 6">
              <a:extLst>
                <a:ext uri="{FF2B5EF4-FFF2-40B4-BE49-F238E27FC236}">
                  <a16:creationId xmlns:a16="http://schemas.microsoft.com/office/drawing/2014/main" id="{47FD6288-CC4B-B0A3-2FB9-76D10560FD3A}"/>
                </a:ext>
              </a:extLst>
            </p:cNvPr>
            <p:cNvSpPr/>
            <p:nvPr/>
          </p:nvSpPr>
          <p:spPr>
            <a:xfrm>
              <a:off x="3974345"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8" name="正方形/長方形 7">
              <a:extLst>
                <a:ext uri="{FF2B5EF4-FFF2-40B4-BE49-F238E27FC236}">
                  <a16:creationId xmlns:a16="http://schemas.microsoft.com/office/drawing/2014/main" id="{C6943AAE-202D-AFFF-CCD9-DDA533539E92}"/>
                </a:ext>
              </a:extLst>
            </p:cNvPr>
            <p:cNvSpPr/>
            <p:nvPr/>
          </p:nvSpPr>
          <p:spPr>
            <a:xfrm>
              <a:off x="4453864"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6F0CE292-E38D-3CCD-A5BF-33F5824958FF}"/>
                </a:ext>
              </a:extLst>
            </p:cNvPr>
            <p:cNvSpPr/>
            <p:nvPr/>
          </p:nvSpPr>
          <p:spPr>
            <a:xfrm>
              <a:off x="4931537"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10" name="正方形/長方形 9">
              <a:extLst>
                <a:ext uri="{FF2B5EF4-FFF2-40B4-BE49-F238E27FC236}">
                  <a16:creationId xmlns:a16="http://schemas.microsoft.com/office/drawing/2014/main" id="{46DBCDFC-E0F2-9239-9331-E6591AFFFC1C}"/>
                </a:ext>
              </a:extLst>
            </p:cNvPr>
            <p:cNvSpPr/>
            <p:nvPr/>
          </p:nvSpPr>
          <p:spPr>
            <a:xfrm>
              <a:off x="5411057"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10</a:t>
              </a:r>
              <a:endParaRPr kumimoji="1" lang="ja-GB" altLang="en-US" dirty="0">
                <a:solidFill>
                  <a:schemeClr val="tx1">
                    <a:lumMod val="50000"/>
                    <a:lumOff val="50000"/>
                  </a:schemeClr>
                </a:solidFill>
              </a:endParaRPr>
            </a:p>
          </p:txBody>
        </p:sp>
        <p:sp>
          <p:nvSpPr>
            <p:cNvPr id="11" name="正方形/長方形 10">
              <a:extLst>
                <a:ext uri="{FF2B5EF4-FFF2-40B4-BE49-F238E27FC236}">
                  <a16:creationId xmlns:a16="http://schemas.microsoft.com/office/drawing/2014/main" id="{609621D5-420E-F097-5C01-3693F42D7B5A}"/>
                </a:ext>
              </a:extLst>
            </p:cNvPr>
            <p:cNvSpPr/>
            <p:nvPr/>
          </p:nvSpPr>
          <p:spPr>
            <a:xfrm>
              <a:off x="5888730"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5B99BEEA-64D4-C46E-9D78-04E1E0F5E10B}"/>
                </a:ext>
              </a:extLst>
            </p:cNvPr>
            <p:cNvSpPr/>
            <p:nvPr/>
          </p:nvSpPr>
          <p:spPr>
            <a:xfrm>
              <a:off x="2534668"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5</a:t>
              </a:r>
              <a:endParaRPr kumimoji="1" lang="ja-GB" altLang="en-US" dirty="0">
                <a:solidFill>
                  <a:schemeClr val="tx1">
                    <a:lumMod val="50000"/>
                    <a:lumOff val="50000"/>
                  </a:schemeClr>
                </a:solidFill>
              </a:endParaRPr>
            </a:p>
          </p:txBody>
        </p:sp>
      </p:grpSp>
      <p:sp>
        <p:nvSpPr>
          <p:cNvPr id="17" name="正方形/長方形 16">
            <a:extLst>
              <a:ext uri="{FF2B5EF4-FFF2-40B4-BE49-F238E27FC236}">
                <a16:creationId xmlns:a16="http://schemas.microsoft.com/office/drawing/2014/main" id="{4096990A-4920-7020-AD3C-484545E87A55}"/>
              </a:ext>
            </a:extLst>
          </p:cNvPr>
          <p:cNvSpPr/>
          <p:nvPr/>
        </p:nvSpPr>
        <p:spPr>
          <a:xfrm>
            <a:off x="2900606" y="2127770"/>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18" name="正方形/長方形 17">
            <a:extLst>
              <a:ext uri="{FF2B5EF4-FFF2-40B4-BE49-F238E27FC236}">
                <a16:creationId xmlns:a16="http://schemas.microsoft.com/office/drawing/2014/main" id="{182B411C-D8A8-9673-3F38-9E59A83A94EC}"/>
              </a:ext>
            </a:extLst>
          </p:cNvPr>
          <p:cNvSpPr/>
          <p:nvPr/>
        </p:nvSpPr>
        <p:spPr>
          <a:xfrm>
            <a:off x="3374586" y="2127768"/>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8</a:t>
            </a:r>
            <a:endParaRPr kumimoji="1" lang="ja-GB" altLang="en-US" dirty="0">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B98D4331-B8C8-3410-4D78-3923E3313179}"/>
              </a:ext>
            </a:extLst>
          </p:cNvPr>
          <p:cNvSpPr/>
          <p:nvPr/>
        </p:nvSpPr>
        <p:spPr>
          <a:xfrm>
            <a:off x="3852259" y="2127768"/>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20" name="正方形/長方形 19">
            <a:extLst>
              <a:ext uri="{FF2B5EF4-FFF2-40B4-BE49-F238E27FC236}">
                <a16:creationId xmlns:a16="http://schemas.microsoft.com/office/drawing/2014/main" id="{0745B4AD-B2F4-0DCC-C7C5-782027273BA1}"/>
              </a:ext>
            </a:extLst>
          </p:cNvPr>
          <p:cNvSpPr/>
          <p:nvPr/>
        </p:nvSpPr>
        <p:spPr>
          <a:xfrm>
            <a:off x="4809451" y="212776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21" name="正方形/長方形 20">
            <a:extLst>
              <a:ext uri="{FF2B5EF4-FFF2-40B4-BE49-F238E27FC236}">
                <a16:creationId xmlns:a16="http://schemas.microsoft.com/office/drawing/2014/main" id="{58585E0D-F550-15A5-BDDC-CCB7B64AF261}"/>
              </a:ext>
            </a:extLst>
          </p:cNvPr>
          <p:cNvSpPr/>
          <p:nvPr/>
        </p:nvSpPr>
        <p:spPr>
          <a:xfrm>
            <a:off x="5287124" y="212776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22" name="正方形/長方形 21">
            <a:extLst>
              <a:ext uri="{FF2B5EF4-FFF2-40B4-BE49-F238E27FC236}">
                <a16:creationId xmlns:a16="http://schemas.microsoft.com/office/drawing/2014/main" id="{A766132B-A8FF-0397-C0FE-A82D5C358321}"/>
              </a:ext>
            </a:extLst>
          </p:cNvPr>
          <p:cNvSpPr/>
          <p:nvPr/>
        </p:nvSpPr>
        <p:spPr>
          <a:xfrm>
            <a:off x="5766644" y="212776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10</a:t>
            </a:r>
            <a:endParaRPr kumimoji="1" lang="ja-GB" altLang="en-US" dirty="0">
              <a:solidFill>
                <a:schemeClr val="tx1">
                  <a:lumMod val="50000"/>
                  <a:lumOff val="50000"/>
                </a:schemeClr>
              </a:solidFill>
            </a:endParaRPr>
          </a:p>
        </p:txBody>
      </p:sp>
      <p:sp>
        <p:nvSpPr>
          <p:cNvPr id="23" name="正方形/長方形 22">
            <a:extLst>
              <a:ext uri="{FF2B5EF4-FFF2-40B4-BE49-F238E27FC236}">
                <a16:creationId xmlns:a16="http://schemas.microsoft.com/office/drawing/2014/main" id="{1723DDCF-FA20-21CE-CDE2-25F4463CD39D}"/>
              </a:ext>
            </a:extLst>
          </p:cNvPr>
          <p:cNvSpPr/>
          <p:nvPr/>
        </p:nvSpPr>
        <p:spPr>
          <a:xfrm>
            <a:off x="6244317" y="212776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24" name="正方形/長方形 23">
            <a:extLst>
              <a:ext uri="{FF2B5EF4-FFF2-40B4-BE49-F238E27FC236}">
                <a16:creationId xmlns:a16="http://schemas.microsoft.com/office/drawing/2014/main" id="{EE16E786-311F-CF08-022F-5DF0DFE8E308}"/>
              </a:ext>
            </a:extLst>
          </p:cNvPr>
          <p:cNvSpPr/>
          <p:nvPr/>
        </p:nvSpPr>
        <p:spPr>
          <a:xfrm>
            <a:off x="2422009" y="2127768"/>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5</a:t>
            </a:r>
            <a:endParaRPr kumimoji="1" lang="ja-GB" altLang="en-US" dirty="0">
              <a:solidFill>
                <a:schemeClr val="tx1">
                  <a:lumMod val="50000"/>
                  <a:lumOff val="50000"/>
                </a:schemeClr>
              </a:solidFill>
            </a:endParaRPr>
          </a:p>
        </p:txBody>
      </p:sp>
      <p:sp>
        <p:nvSpPr>
          <p:cNvPr id="25" name="正方形/長方形 24">
            <a:extLst>
              <a:ext uri="{FF2B5EF4-FFF2-40B4-BE49-F238E27FC236}">
                <a16:creationId xmlns:a16="http://schemas.microsoft.com/office/drawing/2014/main" id="{879E471C-D614-8A8C-8872-E5DF2D4FA682}"/>
              </a:ext>
            </a:extLst>
          </p:cNvPr>
          <p:cNvSpPr/>
          <p:nvPr/>
        </p:nvSpPr>
        <p:spPr>
          <a:xfrm>
            <a:off x="2803035" y="2711018"/>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26" name="正方形/長方形 25">
            <a:extLst>
              <a:ext uri="{FF2B5EF4-FFF2-40B4-BE49-F238E27FC236}">
                <a16:creationId xmlns:a16="http://schemas.microsoft.com/office/drawing/2014/main" id="{3B67C499-DC2F-406D-E06F-D3D94B7C40D8}"/>
              </a:ext>
            </a:extLst>
          </p:cNvPr>
          <p:cNvSpPr/>
          <p:nvPr/>
        </p:nvSpPr>
        <p:spPr>
          <a:xfrm>
            <a:off x="3479545"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8</a:t>
            </a:r>
            <a:endParaRPr kumimoji="1" lang="ja-GB" altLang="en-US" dirty="0">
              <a:solidFill>
                <a:schemeClr val="tx1">
                  <a:lumMod val="50000"/>
                  <a:lumOff val="50000"/>
                </a:schemeClr>
              </a:solidFill>
            </a:endParaRPr>
          </a:p>
        </p:txBody>
      </p:sp>
      <p:sp>
        <p:nvSpPr>
          <p:cNvPr id="27" name="正方形/長方形 26">
            <a:extLst>
              <a:ext uri="{FF2B5EF4-FFF2-40B4-BE49-F238E27FC236}">
                <a16:creationId xmlns:a16="http://schemas.microsoft.com/office/drawing/2014/main" id="{D335CEAF-880C-425F-23DB-3430EDD813FA}"/>
              </a:ext>
            </a:extLst>
          </p:cNvPr>
          <p:cNvSpPr/>
          <p:nvPr/>
        </p:nvSpPr>
        <p:spPr>
          <a:xfrm>
            <a:off x="3957218"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28" name="正方形/長方形 27">
            <a:extLst>
              <a:ext uri="{FF2B5EF4-FFF2-40B4-BE49-F238E27FC236}">
                <a16:creationId xmlns:a16="http://schemas.microsoft.com/office/drawing/2014/main" id="{53644F1B-666B-E17C-51FE-5B50118FDE74}"/>
              </a:ext>
            </a:extLst>
          </p:cNvPr>
          <p:cNvSpPr/>
          <p:nvPr/>
        </p:nvSpPr>
        <p:spPr>
          <a:xfrm>
            <a:off x="4673727"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29" name="正方形/長方形 28">
            <a:extLst>
              <a:ext uri="{FF2B5EF4-FFF2-40B4-BE49-F238E27FC236}">
                <a16:creationId xmlns:a16="http://schemas.microsoft.com/office/drawing/2014/main" id="{0E07AB5B-C3B5-2A10-B091-8A35367C0125}"/>
              </a:ext>
            </a:extLst>
          </p:cNvPr>
          <p:cNvSpPr/>
          <p:nvPr/>
        </p:nvSpPr>
        <p:spPr>
          <a:xfrm>
            <a:off x="5151400"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30" name="正方形/長方形 29">
            <a:extLst>
              <a:ext uri="{FF2B5EF4-FFF2-40B4-BE49-F238E27FC236}">
                <a16:creationId xmlns:a16="http://schemas.microsoft.com/office/drawing/2014/main" id="{937E8C1A-ED38-84A1-5937-3EA9D3F9E874}"/>
              </a:ext>
            </a:extLst>
          </p:cNvPr>
          <p:cNvSpPr/>
          <p:nvPr/>
        </p:nvSpPr>
        <p:spPr>
          <a:xfrm>
            <a:off x="5864217"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10</a:t>
            </a:r>
            <a:endParaRPr kumimoji="1" lang="ja-GB" altLang="en-US" dirty="0">
              <a:solidFill>
                <a:schemeClr val="tx1">
                  <a:lumMod val="50000"/>
                  <a:lumOff val="50000"/>
                </a:schemeClr>
              </a:solidFill>
            </a:endParaRPr>
          </a:p>
        </p:txBody>
      </p:sp>
      <p:sp>
        <p:nvSpPr>
          <p:cNvPr id="31" name="正方形/長方形 30">
            <a:extLst>
              <a:ext uri="{FF2B5EF4-FFF2-40B4-BE49-F238E27FC236}">
                <a16:creationId xmlns:a16="http://schemas.microsoft.com/office/drawing/2014/main" id="{2FF82BF2-70AE-BCBA-4578-F6AFA1D97216}"/>
              </a:ext>
            </a:extLst>
          </p:cNvPr>
          <p:cNvSpPr/>
          <p:nvPr/>
        </p:nvSpPr>
        <p:spPr>
          <a:xfrm>
            <a:off x="6341890"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32" name="正方形/長方形 31">
            <a:extLst>
              <a:ext uri="{FF2B5EF4-FFF2-40B4-BE49-F238E27FC236}">
                <a16:creationId xmlns:a16="http://schemas.microsoft.com/office/drawing/2014/main" id="{C3387D51-4953-FCAA-BE81-96EF51D6BE0B}"/>
              </a:ext>
            </a:extLst>
          </p:cNvPr>
          <p:cNvSpPr/>
          <p:nvPr/>
        </p:nvSpPr>
        <p:spPr>
          <a:xfrm>
            <a:off x="2324438"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5</a:t>
            </a:r>
            <a:endParaRPr kumimoji="1" lang="ja-GB" altLang="en-US" dirty="0">
              <a:solidFill>
                <a:schemeClr val="tx1">
                  <a:lumMod val="50000"/>
                  <a:lumOff val="50000"/>
                </a:schemeClr>
              </a:solidFill>
            </a:endParaRPr>
          </a:p>
        </p:txBody>
      </p:sp>
      <p:sp>
        <p:nvSpPr>
          <p:cNvPr id="33" name="正方形/長方形 32">
            <a:extLst>
              <a:ext uri="{FF2B5EF4-FFF2-40B4-BE49-F238E27FC236}">
                <a16:creationId xmlns:a16="http://schemas.microsoft.com/office/drawing/2014/main" id="{DE0BE504-AD50-AD5B-1C6D-0586F082EA1A}"/>
              </a:ext>
            </a:extLst>
          </p:cNvPr>
          <p:cNvSpPr/>
          <p:nvPr/>
        </p:nvSpPr>
        <p:spPr>
          <a:xfrm>
            <a:off x="2839519"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34" name="正方形/長方形 33">
            <a:extLst>
              <a:ext uri="{FF2B5EF4-FFF2-40B4-BE49-F238E27FC236}">
                <a16:creationId xmlns:a16="http://schemas.microsoft.com/office/drawing/2014/main" id="{1AD3B460-D4A2-3463-857E-E705488D674E}"/>
              </a:ext>
            </a:extLst>
          </p:cNvPr>
          <p:cNvSpPr/>
          <p:nvPr/>
        </p:nvSpPr>
        <p:spPr>
          <a:xfrm>
            <a:off x="3445888"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8</a:t>
            </a:r>
            <a:endParaRPr kumimoji="1" lang="ja-GB" altLang="en-US" dirty="0">
              <a:solidFill>
                <a:schemeClr val="tx1">
                  <a:lumMod val="50000"/>
                  <a:lumOff val="50000"/>
                </a:schemeClr>
              </a:solidFill>
            </a:endParaRPr>
          </a:p>
        </p:txBody>
      </p:sp>
      <p:sp>
        <p:nvSpPr>
          <p:cNvPr id="35" name="正方形/長方形 34">
            <a:extLst>
              <a:ext uri="{FF2B5EF4-FFF2-40B4-BE49-F238E27FC236}">
                <a16:creationId xmlns:a16="http://schemas.microsoft.com/office/drawing/2014/main" id="{09F6B16F-D2F8-DC35-45BB-A3B37950DB01}"/>
              </a:ext>
            </a:extLst>
          </p:cNvPr>
          <p:cNvSpPr/>
          <p:nvPr/>
        </p:nvSpPr>
        <p:spPr>
          <a:xfrm>
            <a:off x="4001349"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36" name="正方形/長方形 35">
            <a:extLst>
              <a:ext uri="{FF2B5EF4-FFF2-40B4-BE49-F238E27FC236}">
                <a16:creationId xmlns:a16="http://schemas.microsoft.com/office/drawing/2014/main" id="{8025CFD0-B18D-299F-CF4A-8BEE17665746}"/>
              </a:ext>
            </a:extLst>
          </p:cNvPr>
          <p:cNvSpPr/>
          <p:nvPr/>
        </p:nvSpPr>
        <p:spPr>
          <a:xfrm>
            <a:off x="4603836"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37" name="正方形/長方形 36">
            <a:extLst>
              <a:ext uri="{FF2B5EF4-FFF2-40B4-BE49-F238E27FC236}">
                <a16:creationId xmlns:a16="http://schemas.microsoft.com/office/drawing/2014/main" id="{487FDF68-F36E-759F-FDED-565074D0027D}"/>
              </a:ext>
            </a:extLst>
          </p:cNvPr>
          <p:cNvSpPr/>
          <p:nvPr/>
        </p:nvSpPr>
        <p:spPr>
          <a:xfrm>
            <a:off x="5204542"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38" name="正方形/長方形 37">
            <a:extLst>
              <a:ext uri="{FF2B5EF4-FFF2-40B4-BE49-F238E27FC236}">
                <a16:creationId xmlns:a16="http://schemas.microsoft.com/office/drawing/2014/main" id="{64800DC1-E471-3DF8-96B3-9832A6A86DCC}"/>
              </a:ext>
            </a:extLst>
          </p:cNvPr>
          <p:cNvSpPr/>
          <p:nvPr/>
        </p:nvSpPr>
        <p:spPr>
          <a:xfrm>
            <a:off x="5792805"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10</a:t>
            </a:r>
            <a:endParaRPr kumimoji="1" lang="ja-GB" altLang="en-US" dirty="0">
              <a:solidFill>
                <a:schemeClr val="tx1">
                  <a:lumMod val="50000"/>
                  <a:lumOff val="50000"/>
                </a:schemeClr>
              </a:solidFill>
            </a:endParaRPr>
          </a:p>
        </p:txBody>
      </p:sp>
      <p:sp>
        <p:nvSpPr>
          <p:cNvPr id="39" name="正方形/長方形 38">
            <a:extLst>
              <a:ext uri="{FF2B5EF4-FFF2-40B4-BE49-F238E27FC236}">
                <a16:creationId xmlns:a16="http://schemas.microsoft.com/office/drawing/2014/main" id="{9D65C75C-0DF8-DFE3-8BD6-E69248A56377}"/>
              </a:ext>
            </a:extLst>
          </p:cNvPr>
          <p:cNvSpPr/>
          <p:nvPr/>
        </p:nvSpPr>
        <p:spPr>
          <a:xfrm>
            <a:off x="6395292"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40" name="正方形/長方形 39">
            <a:extLst>
              <a:ext uri="{FF2B5EF4-FFF2-40B4-BE49-F238E27FC236}">
                <a16:creationId xmlns:a16="http://schemas.microsoft.com/office/drawing/2014/main" id="{B06BEB40-DAA2-BD68-1F3C-7AE470F2DBA9}"/>
              </a:ext>
            </a:extLst>
          </p:cNvPr>
          <p:cNvSpPr/>
          <p:nvPr/>
        </p:nvSpPr>
        <p:spPr>
          <a:xfrm>
            <a:off x="2271035"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5</a:t>
            </a:r>
            <a:endParaRPr kumimoji="1" lang="ja-GB" altLang="en-US" dirty="0">
              <a:solidFill>
                <a:schemeClr val="tx1">
                  <a:lumMod val="50000"/>
                  <a:lumOff val="50000"/>
                </a:schemeClr>
              </a:solidFill>
            </a:endParaRPr>
          </a:p>
        </p:txBody>
      </p:sp>
      <p:sp>
        <p:nvSpPr>
          <p:cNvPr id="4" name="正方形/長方形 3">
            <a:extLst>
              <a:ext uri="{FF2B5EF4-FFF2-40B4-BE49-F238E27FC236}">
                <a16:creationId xmlns:a16="http://schemas.microsoft.com/office/drawing/2014/main" id="{0E8743D2-07E2-BFC2-CA66-C9D2FC66C5EC}"/>
              </a:ext>
            </a:extLst>
          </p:cNvPr>
          <p:cNvSpPr/>
          <p:nvPr/>
        </p:nvSpPr>
        <p:spPr>
          <a:xfrm>
            <a:off x="2324383" y="3889373"/>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12" name="正方形/長方形 11">
            <a:extLst>
              <a:ext uri="{FF2B5EF4-FFF2-40B4-BE49-F238E27FC236}">
                <a16:creationId xmlns:a16="http://schemas.microsoft.com/office/drawing/2014/main" id="{DBBEC467-497F-5C3C-D50B-4D79721755D6}"/>
              </a:ext>
            </a:extLst>
          </p:cNvPr>
          <p:cNvSpPr/>
          <p:nvPr/>
        </p:nvSpPr>
        <p:spPr>
          <a:xfrm>
            <a:off x="2803035" y="3889375"/>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5</a:t>
            </a:r>
            <a:endParaRPr kumimoji="1" lang="ja-GB" altLang="en-US" dirty="0">
              <a:solidFill>
                <a:srgbClr val="2F2523"/>
              </a:solidFill>
            </a:endParaRPr>
          </a:p>
        </p:txBody>
      </p:sp>
      <p:sp>
        <p:nvSpPr>
          <p:cNvPr id="13" name="正方形/長方形 12">
            <a:extLst>
              <a:ext uri="{FF2B5EF4-FFF2-40B4-BE49-F238E27FC236}">
                <a16:creationId xmlns:a16="http://schemas.microsoft.com/office/drawing/2014/main" id="{9CC638A8-8287-4A80-F741-16C33EC3FC8A}"/>
              </a:ext>
            </a:extLst>
          </p:cNvPr>
          <p:cNvSpPr/>
          <p:nvPr/>
        </p:nvSpPr>
        <p:spPr>
          <a:xfrm>
            <a:off x="3479544" y="3889373"/>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16" name="正方形/長方形 15">
            <a:extLst>
              <a:ext uri="{FF2B5EF4-FFF2-40B4-BE49-F238E27FC236}">
                <a16:creationId xmlns:a16="http://schemas.microsoft.com/office/drawing/2014/main" id="{94DDC7F3-6CAA-DBFC-139F-67CBA55DA78B}"/>
              </a:ext>
            </a:extLst>
          </p:cNvPr>
          <p:cNvSpPr/>
          <p:nvPr/>
        </p:nvSpPr>
        <p:spPr>
          <a:xfrm>
            <a:off x="3957217" y="3889373"/>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41" name="正方形/長方形 40">
            <a:extLst>
              <a:ext uri="{FF2B5EF4-FFF2-40B4-BE49-F238E27FC236}">
                <a16:creationId xmlns:a16="http://schemas.microsoft.com/office/drawing/2014/main" id="{6E619998-E0D7-9A78-9426-3CC41903327E}"/>
              </a:ext>
            </a:extLst>
          </p:cNvPr>
          <p:cNvSpPr/>
          <p:nvPr/>
        </p:nvSpPr>
        <p:spPr>
          <a:xfrm>
            <a:off x="4673726" y="3889373"/>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42" name="正方形/長方形 41">
            <a:extLst>
              <a:ext uri="{FF2B5EF4-FFF2-40B4-BE49-F238E27FC236}">
                <a16:creationId xmlns:a16="http://schemas.microsoft.com/office/drawing/2014/main" id="{43E33183-5E98-0E9F-25D7-85C0FF05C373}"/>
              </a:ext>
            </a:extLst>
          </p:cNvPr>
          <p:cNvSpPr/>
          <p:nvPr/>
        </p:nvSpPr>
        <p:spPr>
          <a:xfrm>
            <a:off x="5151400" y="3889373"/>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43" name="正方形/長方形 42">
            <a:extLst>
              <a:ext uri="{FF2B5EF4-FFF2-40B4-BE49-F238E27FC236}">
                <a16:creationId xmlns:a16="http://schemas.microsoft.com/office/drawing/2014/main" id="{9B3C8376-5BB0-5B35-5F98-9A59E62E072F}"/>
              </a:ext>
            </a:extLst>
          </p:cNvPr>
          <p:cNvSpPr/>
          <p:nvPr/>
        </p:nvSpPr>
        <p:spPr>
          <a:xfrm>
            <a:off x="5864217" y="3889373"/>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44" name="正方形/長方形 43">
            <a:extLst>
              <a:ext uri="{FF2B5EF4-FFF2-40B4-BE49-F238E27FC236}">
                <a16:creationId xmlns:a16="http://schemas.microsoft.com/office/drawing/2014/main" id="{1EB92132-4A83-6EB8-A0B5-F7948F33E1D5}"/>
              </a:ext>
            </a:extLst>
          </p:cNvPr>
          <p:cNvSpPr/>
          <p:nvPr/>
        </p:nvSpPr>
        <p:spPr>
          <a:xfrm>
            <a:off x="6341890" y="3889373"/>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45" name="テキスト ボックス 44">
            <a:extLst>
              <a:ext uri="{FF2B5EF4-FFF2-40B4-BE49-F238E27FC236}">
                <a16:creationId xmlns:a16="http://schemas.microsoft.com/office/drawing/2014/main" id="{6C6B1338-7E39-A79A-33DC-7B7E2FE3C982}"/>
              </a:ext>
            </a:extLst>
          </p:cNvPr>
          <p:cNvSpPr txBox="1"/>
          <p:nvPr/>
        </p:nvSpPr>
        <p:spPr>
          <a:xfrm>
            <a:off x="377445" y="3801879"/>
            <a:ext cx="1569660" cy="646331"/>
          </a:xfrm>
          <a:prstGeom prst="rect">
            <a:avLst/>
          </a:prstGeom>
          <a:noFill/>
        </p:spPr>
        <p:txBody>
          <a:bodyPr wrap="none" rtlCol="0">
            <a:spAutoFit/>
          </a:bodyPr>
          <a:lstStyle/>
          <a:p>
            <a:pPr algn="ctr"/>
            <a:r>
              <a:rPr kumimoji="1" lang="ja-GB" altLang="en-US" dirty="0"/>
              <a:t>グループ内で</a:t>
            </a:r>
            <a:endParaRPr kumimoji="1" lang="en-US" altLang="ja-GB" dirty="0"/>
          </a:p>
          <a:p>
            <a:pPr algn="ctr"/>
            <a:r>
              <a:rPr kumimoji="1" lang="ja-GB" altLang="en-US" dirty="0"/>
              <a:t>順番をつける</a:t>
            </a:r>
          </a:p>
        </p:txBody>
      </p:sp>
    </p:spTree>
    <p:extLst>
      <p:ext uri="{BB962C8B-B14F-4D97-AF65-F5344CB8AC3E}">
        <p14:creationId xmlns:p14="http://schemas.microsoft.com/office/powerpoint/2010/main" val="10277867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426B1-328A-FA2F-2A88-9A9FA55B63B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9D0AC9E-064C-5C1E-6AFE-46B90D77F08F}"/>
              </a:ext>
            </a:extLst>
          </p:cNvPr>
          <p:cNvSpPr>
            <a:spLocks noGrp="1"/>
          </p:cNvSpPr>
          <p:nvPr>
            <p:ph type="title"/>
          </p:nvPr>
        </p:nvSpPr>
        <p:spPr/>
        <p:txBody>
          <a:bodyPr/>
          <a:lstStyle/>
          <a:p>
            <a:r>
              <a:rPr kumimoji="1" lang="ja-GB" altLang="en-US" dirty="0"/>
              <a:t>マージソート（直訳：統合ソート）</a:t>
            </a:r>
          </a:p>
        </p:txBody>
      </p:sp>
      <p:sp>
        <p:nvSpPr>
          <p:cNvPr id="3" name="コンテンツ プレースホルダー 2">
            <a:extLst>
              <a:ext uri="{FF2B5EF4-FFF2-40B4-BE49-F238E27FC236}">
                <a16:creationId xmlns:a16="http://schemas.microsoft.com/office/drawing/2014/main" id="{E612FFEC-54F5-3EF3-D608-C60CE592633B}"/>
              </a:ext>
            </a:extLst>
          </p:cNvPr>
          <p:cNvSpPr>
            <a:spLocks noGrp="1"/>
          </p:cNvSpPr>
          <p:nvPr>
            <p:ph idx="1"/>
          </p:nvPr>
        </p:nvSpPr>
        <p:spPr/>
        <p:txBody>
          <a:bodyPr/>
          <a:lstStyle/>
          <a:p>
            <a:pPr marL="0" indent="0">
              <a:buNone/>
            </a:pPr>
            <a:r>
              <a:rPr kumimoji="1" lang="en-US" altLang="ja-GB" dirty="0"/>
              <a:t>(1)</a:t>
            </a:r>
            <a:r>
              <a:rPr kumimoji="1" lang="ja-GB" altLang="en-US" dirty="0"/>
              <a:t>データを半分に分割して，</a:t>
            </a:r>
            <a:r>
              <a:rPr kumimoji="1" lang="en-US" altLang="ja-GB" dirty="0"/>
              <a:t>(2)</a:t>
            </a:r>
            <a:r>
              <a:rPr kumimoji="1" lang="ja-GB" altLang="en-US" dirty="0"/>
              <a:t>決まった規則で統合していく</a:t>
            </a:r>
          </a:p>
        </p:txBody>
      </p:sp>
      <p:grpSp>
        <p:nvGrpSpPr>
          <p:cNvPr id="15" name="グループ化 14">
            <a:extLst>
              <a:ext uri="{FF2B5EF4-FFF2-40B4-BE49-F238E27FC236}">
                <a16:creationId xmlns:a16="http://schemas.microsoft.com/office/drawing/2014/main" id="{469547D8-8344-77E0-B43E-1B69AD2A7EA7}"/>
              </a:ext>
            </a:extLst>
          </p:cNvPr>
          <p:cNvGrpSpPr/>
          <p:nvPr/>
        </p:nvGrpSpPr>
        <p:grpSpPr>
          <a:xfrm>
            <a:off x="2651419" y="1524260"/>
            <a:ext cx="3831735" cy="471346"/>
            <a:chOff x="2534668" y="1543114"/>
            <a:chExt cx="3831735" cy="471346"/>
          </a:xfrm>
          <a:noFill/>
        </p:grpSpPr>
        <p:sp>
          <p:nvSpPr>
            <p:cNvPr id="5" name="正方形/長方形 4">
              <a:extLst>
                <a:ext uri="{FF2B5EF4-FFF2-40B4-BE49-F238E27FC236}">
                  <a16:creationId xmlns:a16="http://schemas.microsoft.com/office/drawing/2014/main" id="{6917BEC4-C58B-0919-5827-246FC4E573AD}"/>
                </a:ext>
              </a:extLst>
            </p:cNvPr>
            <p:cNvSpPr/>
            <p:nvPr/>
          </p:nvSpPr>
          <p:spPr>
            <a:xfrm>
              <a:off x="3013265" y="1543116"/>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6" name="正方形/長方形 5">
              <a:extLst>
                <a:ext uri="{FF2B5EF4-FFF2-40B4-BE49-F238E27FC236}">
                  <a16:creationId xmlns:a16="http://schemas.microsoft.com/office/drawing/2014/main" id="{B7F7A838-81C3-C099-4C1A-DE75B7C14781}"/>
                </a:ext>
              </a:extLst>
            </p:cNvPr>
            <p:cNvSpPr/>
            <p:nvPr/>
          </p:nvSpPr>
          <p:spPr>
            <a:xfrm>
              <a:off x="3496672"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8</a:t>
              </a:r>
              <a:endParaRPr kumimoji="1" lang="ja-GB" altLang="en-US" dirty="0">
                <a:solidFill>
                  <a:schemeClr val="tx1">
                    <a:lumMod val="50000"/>
                    <a:lumOff val="50000"/>
                  </a:schemeClr>
                </a:solidFill>
              </a:endParaRPr>
            </a:p>
          </p:txBody>
        </p:sp>
        <p:sp>
          <p:nvSpPr>
            <p:cNvPr id="7" name="正方形/長方形 6">
              <a:extLst>
                <a:ext uri="{FF2B5EF4-FFF2-40B4-BE49-F238E27FC236}">
                  <a16:creationId xmlns:a16="http://schemas.microsoft.com/office/drawing/2014/main" id="{DCA066C9-50B1-A1D1-62D7-EAC2770BAFDF}"/>
                </a:ext>
              </a:extLst>
            </p:cNvPr>
            <p:cNvSpPr/>
            <p:nvPr/>
          </p:nvSpPr>
          <p:spPr>
            <a:xfrm>
              <a:off x="3974345"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8" name="正方形/長方形 7">
              <a:extLst>
                <a:ext uri="{FF2B5EF4-FFF2-40B4-BE49-F238E27FC236}">
                  <a16:creationId xmlns:a16="http://schemas.microsoft.com/office/drawing/2014/main" id="{84C5A94E-61A4-3181-F521-C95D6F4F5A72}"/>
                </a:ext>
              </a:extLst>
            </p:cNvPr>
            <p:cNvSpPr/>
            <p:nvPr/>
          </p:nvSpPr>
          <p:spPr>
            <a:xfrm>
              <a:off x="4453864"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B013E3FB-43E1-FB33-E886-5D586189063C}"/>
                </a:ext>
              </a:extLst>
            </p:cNvPr>
            <p:cNvSpPr/>
            <p:nvPr/>
          </p:nvSpPr>
          <p:spPr>
            <a:xfrm>
              <a:off x="4931537"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10" name="正方形/長方形 9">
              <a:extLst>
                <a:ext uri="{FF2B5EF4-FFF2-40B4-BE49-F238E27FC236}">
                  <a16:creationId xmlns:a16="http://schemas.microsoft.com/office/drawing/2014/main" id="{DF400B88-B8BD-15DE-30D3-D7355BAEBCDE}"/>
                </a:ext>
              </a:extLst>
            </p:cNvPr>
            <p:cNvSpPr/>
            <p:nvPr/>
          </p:nvSpPr>
          <p:spPr>
            <a:xfrm>
              <a:off x="5411057"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10</a:t>
              </a:r>
              <a:endParaRPr kumimoji="1" lang="ja-GB" altLang="en-US" dirty="0">
                <a:solidFill>
                  <a:schemeClr val="tx1">
                    <a:lumMod val="50000"/>
                    <a:lumOff val="50000"/>
                  </a:schemeClr>
                </a:solidFill>
              </a:endParaRPr>
            </a:p>
          </p:txBody>
        </p:sp>
        <p:sp>
          <p:nvSpPr>
            <p:cNvPr id="11" name="正方形/長方形 10">
              <a:extLst>
                <a:ext uri="{FF2B5EF4-FFF2-40B4-BE49-F238E27FC236}">
                  <a16:creationId xmlns:a16="http://schemas.microsoft.com/office/drawing/2014/main" id="{870ADEE8-8E58-1BB8-553A-E7879D3D78E0}"/>
                </a:ext>
              </a:extLst>
            </p:cNvPr>
            <p:cNvSpPr/>
            <p:nvPr/>
          </p:nvSpPr>
          <p:spPr>
            <a:xfrm>
              <a:off x="5888730"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1DE65751-5220-52BF-C255-523DC4EA825D}"/>
                </a:ext>
              </a:extLst>
            </p:cNvPr>
            <p:cNvSpPr/>
            <p:nvPr/>
          </p:nvSpPr>
          <p:spPr>
            <a:xfrm>
              <a:off x="2534668"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5</a:t>
              </a:r>
              <a:endParaRPr kumimoji="1" lang="ja-GB" altLang="en-US" dirty="0">
                <a:solidFill>
                  <a:schemeClr val="tx1">
                    <a:lumMod val="50000"/>
                    <a:lumOff val="50000"/>
                  </a:schemeClr>
                </a:solidFill>
              </a:endParaRPr>
            </a:p>
          </p:txBody>
        </p:sp>
      </p:grpSp>
      <p:sp>
        <p:nvSpPr>
          <p:cNvPr id="17" name="正方形/長方形 16">
            <a:extLst>
              <a:ext uri="{FF2B5EF4-FFF2-40B4-BE49-F238E27FC236}">
                <a16:creationId xmlns:a16="http://schemas.microsoft.com/office/drawing/2014/main" id="{AB51E906-6F5C-17DE-4308-66238C9F51AD}"/>
              </a:ext>
            </a:extLst>
          </p:cNvPr>
          <p:cNvSpPr/>
          <p:nvPr/>
        </p:nvSpPr>
        <p:spPr>
          <a:xfrm>
            <a:off x="2900606" y="2127770"/>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18" name="正方形/長方形 17">
            <a:extLst>
              <a:ext uri="{FF2B5EF4-FFF2-40B4-BE49-F238E27FC236}">
                <a16:creationId xmlns:a16="http://schemas.microsoft.com/office/drawing/2014/main" id="{3404BAAF-7DDE-C897-B067-BEB0076005E4}"/>
              </a:ext>
            </a:extLst>
          </p:cNvPr>
          <p:cNvSpPr/>
          <p:nvPr/>
        </p:nvSpPr>
        <p:spPr>
          <a:xfrm>
            <a:off x="3374586" y="2127768"/>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8</a:t>
            </a:r>
            <a:endParaRPr kumimoji="1" lang="ja-GB" altLang="en-US" dirty="0">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53C1618B-721D-AE16-7CDD-A952E82D8F5E}"/>
              </a:ext>
            </a:extLst>
          </p:cNvPr>
          <p:cNvSpPr/>
          <p:nvPr/>
        </p:nvSpPr>
        <p:spPr>
          <a:xfrm>
            <a:off x="3852259" y="2127768"/>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20" name="正方形/長方形 19">
            <a:extLst>
              <a:ext uri="{FF2B5EF4-FFF2-40B4-BE49-F238E27FC236}">
                <a16:creationId xmlns:a16="http://schemas.microsoft.com/office/drawing/2014/main" id="{08AE435D-403E-1E1A-1E8C-7BCA7D6A684F}"/>
              </a:ext>
            </a:extLst>
          </p:cNvPr>
          <p:cNvSpPr/>
          <p:nvPr/>
        </p:nvSpPr>
        <p:spPr>
          <a:xfrm>
            <a:off x="4809451" y="212776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21" name="正方形/長方形 20">
            <a:extLst>
              <a:ext uri="{FF2B5EF4-FFF2-40B4-BE49-F238E27FC236}">
                <a16:creationId xmlns:a16="http://schemas.microsoft.com/office/drawing/2014/main" id="{5A573796-170C-7548-ECEA-A1831013D4C6}"/>
              </a:ext>
            </a:extLst>
          </p:cNvPr>
          <p:cNvSpPr/>
          <p:nvPr/>
        </p:nvSpPr>
        <p:spPr>
          <a:xfrm>
            <a:off x="5287124" y="212776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22" name="正方形/長方形 21">
            <a:extLst>
              <a:ext uri="{FF2B5EF4-FFF2-40B4-BE49-F238E27FC236}">
                <a16:creationId xmlns:a16="http://schemas.microsoft.com/office/drawing/2014/main" id="{DC2A3922-9DAE-ED73-D07A-3415B8C64A98}"/>
              </a:ext>
            </a:extLst>
          </p:cNvPr>
          <p:cNvSpPr/>
          <p:nvPr/>
        </p:nvSpPr>
        <p:spPr>
          <a:xfrm>
            <a:off x="5766644" y="212776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10</a:t>
            </a:r>
            <a:endParaRPr kumimoji="1" lang="ja-GB" altLang="en-US" dirty="0">
              <a:solidFill>
                <a:schemeClr val="tx1">
                  <a:lumMod val="50000"/>
                  <a:lumOff val="50000"/>
                </a:schemeClr>
              </a:solidFill>
            </a:endParaRPr>
          </a:p>
        </p:txBody>
      </p:sp>
      <p:sp>
        <p:nvSpPr>
          <p:cNvPr id="23" name="正方形/長方形 22">
            <a:extLst>
              <a:ext uri="{FF2B5EF4-FFF2-40B4-BE49-F238E27FC236}">
                <a16:creationId xmlns:a16="http://schemas.microsoft.com/office/drawing/2014/main" id="{1CD080D7-513A-371B-DEEE-7C65E9513BCE}"/>
              </a:ext>
            </a:extLst>
          </p:cNvPr>
          <p:cNvSpPr/>
          <p:nvPr/>
        </p:nvSpPr>
        <p:spPr>
          <a:xfrm>
            <a:off x="6244317" y="212776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24" name="正方形/長方形 23">
            <a:extLst>
              <a:ext uri="{FF2B5EF4-FFF2-40B4-BE49-F238E27FC236}">
                <a16:creationId xmlns:a16="http://schemas.microsoft.com/office/drawing/2014/main" id="{8964B2B9-63A5-1039-15A6-5729447345EE}"/>
              </a:ext>
            </a:extLst>
          </p:cNvPr>
          <p:cNvSpPr/>
          <p:nvPr/>
        </p:nvSpPr>
        <p:spPr>
          <a:xfrm>
            <a:off x="2422009" y="2127768"/>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5</a:t>
            </a:r>
            <a:endParaRPr kumimoji="1" lang="ja-GB" altLang="en-US" dirty="0">
              <a:solidFill>
                <a:schemeClr val="tx1">
                  <a:lumMod val="50000"/>
                  <a:lumOff val="50000"/>
                </a:schemeClr>
              </a:solidFill>
            </a:endParaRPr>
          </a:p>
        </p:txBody>
      </p:sp>
      <p:sp>
        <p:nvSpPr>
          <p:cNvPr id="25" name="正方形/長方形 24">
            <a:extLst>
              <a:ext uri="{FF2B5EF4-FFF2-40B4-BE49-F238E27FC236}">
                <a16:creationId xmlns:a16="http://schemas.microsoft.com/office/drawing/2014/main" id="{CED16D38-FB82-13C4-FD78-A3EBC823B526}"/>
              </a:ext>
            </a:extLst>
          </p:cNvPr>
          <p:cNvSpPr/>
          <p:nvPr/>
        </p:nvSpPr>
        <p:spPr>
          <a:xfrm>
            <a:off x="2803035" y="2711018"/>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26" name="正方形/長方形 25">
            <a:extLst>
              <a:ext uri="{FF2B5EF4-FFF2-40B4-BE49-F238E27FC236}">
                <a16:creationId xmlns:a16="http://schemas.microsoft.com/office/drawing/2014/main" id="{35C022C0-3B15-5011-A388-65592E5E793E}"/>
              </a:ext>
            </a:extLst>
          </p:cNvPr>
          <p:cNvSpPr/>
          <p:nvPr/>
        </p:nvSpPr>
        <p:spPr>
          <a:xfrm>
            <a:off x="3479545"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8</a:t>
            </a:r>
            <a:endParaRPr kumimoji="1" lang="ja-GB" altLang="en-US" dirty="0">
              <a:solidFill>
                <a:schemeClr val="tx1">
                  <a:lumMod val="50000"/>
                  <a:lumOff val="50000"/>
                </a:schemeClr>
              </a:solidFill>
            </a:endParaRPr>
          </a:p>
        </p:txBody>
      </p:sp>
      <p:sp>
        <p:nvSpPr>
          <p:cNvPr id="27" name="正方形/長方形 26">
            <a:extLst>
              <a:ext uri="{FF2B5EF4-FFF2-40B4-BE49-F238E27FC236}">
                <a16:creationId xmlns:a16="http://schemas.microsoft.com/office/drawing/2014/main" id="{0AD86673-A2C1-C032-457A-8A1D7162DC24}"/>
              </a:ext>
            </a:extLst>
          </p:cNvPr>
          <p:cNvSpPr/>
          <p:nvPr/>
        </p:nvSpPr>
        <p:spPr>
          <a:xfrm>
            <a:off x="3957218"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28" name="正方形/長方形 27">
            <a:extLst>
              <a:ext uri="{FF2B5EF4-FFF2-40B4-BE49-F238E27FC236}">
                <a16:creationId xmlns:a16="http://schemas.microsoft.com/office/drawing/2014/main" id="{2D1E2116-CAAB-2CA5-F56C-DC7A06031295}"/>
              </a:ext>
            </a:extLst>
          </p:cNvPr>
          <p:cNvSpPr/>
          <p:nvPr/>
        </p:nvSpPr>
        <p:spPr>
          <a:xfrm>
            <a:off x="4673727"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29" name="正方形/長方形 28">
            <a:extLst>
              <a:ext uri="{FF2B5EF4-FFF2-40B4-BE49-F238E27FC236}">
                <a16:creationId xmlns:a16="http://schemas.microsoft.com/office/drawing/2014/main" id="{C863351D-246D-B554-EA1C-10B26F1DDD66}"/>
              </a:ext>
            </a:extLst>
          </p:cNvPr>
          <p:cNvSpPr/>
          <p:nvPr/>
        </p:nvSpPr>
        <p:spPr>
          <a:xfrm>
            <a:off x="5151400"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30" name="正方形/長方形 29">
            <a:extLst>
              <a:ext uri="{FF2B5EF4-FFF2-40B4-BE49-F238E27FC236}">
                <a16:creationId xmlns:a16="http://schemas.microsoft.com/office/drawing/2014/main" id="{F42C9261-5FFC-3AF4-A56B-71FF18F9E610}"/>
              </a:ext>
            </a:extLst>
          </p:cNvPr>
          <p:cNvSpPr/>
          <p:nvPr/>
        </p:nvSpPr>
        <p:spPr>
          <a:xfrm>
            <a:off x="5864217"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10</a:t>
            </a:r>
            <a:endParaRPr kumimoji="1" lang="ja-GB" altLang="en-US" dirty="0">
              <a:solidFill>
                <a:schemeClr val="tx1">
                  <a:lumMod val="50000"/>
                  <a:lumOff val="50000"/>
                </a:schemeClr>
              </a:solidFill>
            </a:endParaRPr>
          </a:p>
        </p:txBody>
      </p:sp>
      <p:sp>
        <p:nvSpPr>
          <p:cNvPr id="31" name="正方形/長方形 30">
            <a:extLst>
              <a:ext uri="{FF2B5EF4-FFF2-40B4-BE49-F238E27FC236}">
                <a16:creationId xmlns:a16="http://schemas.microsoft.com/office/drawing/2014/main" id="{66DFE8F6-2577-857E-F72B-9292B61D924A}"/>
              </a:ext>
            </a:extLst>
          </p:cNvPr>
          <p:cNvSpPr/>
          <p:nvPr/>
        </p:nvSpPr>
        <p:spPr>
          <a:xfrm>
            <a:off x="6341890"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32" name="正方形/長方形 31">
            <a:extLst>
              <a:ext uri="{FF2B5EF4-FFF2-40B4-BE49-F238E27FC236}">
                <a16:creationId xmlns:a16="http://schemas.microsoft.com/office/drawing/2014/main" id="{433813E0-84F7-ADFC-797D-B73D53D51510}"/>
              </a:ext>
            </a:extLst>
          </p:cNvPr>
          <p:cNvSpPr/>
          <p:nvPr/>
        </p:nvSpPr>
        <p:spPr>
          <a:xfrm>
            <a:off x="2324438"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5</a:t>
            </a:r>
            <a:endParaRPr kumimoji="1" lang="ja-GB" altLang="en-US" dirty="0">
              <a:solidFill>
                <a:schemeClr val="tx1">
                  <a:lumMod val="50000"/>
                  <a:lumOff val="50000"/>
                </a:schemeClr>
              </a:solidFill>
            </a:endParaRPr>
          </a:p>
        </p:txBody>
      </p:sp>
      <p:sp>
        <p:nvSpPr>
          <p:cNvPr id="33" name="正方形/長方形 32">
            <a:extLst>
              <a:ext uri="{FF2B5EF4-FFF2-40B4-BE49-F238E27FC236}">
                <a16:creationId xmlns:a16="http://schemas.microsoft.com/office/drawing/2014/main" id="{4495E3F4-5205-C244-57C4-AA61B1D019F8}"/>
              </a:ext>
            </a:extLst>
          </p:cNvPr>
          <p:cNvSpPr/>
          <p:nvPr/>
        </p:nvSpPr>
        <p:spPr>
          <a:xfrm>
            <a:off x="2839519"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34" name="正方形/長方形 33">
            <a:extLst>
              <a:ext uri="{FF2B5EF4-FFF2-40B4-BE49-F238E27FC236}">
                <a16:creationId xmlns:a16="http://schemas.microsoft.com/office/drawing/2014/main" id="{97AAB2EA-8ADA-4EFA-0D63-87065EFE36DF}"/>
              </a:ext>
            </a:extLst>
          </p:cNvPr>
          <p:cNvSpPr/>
          <p:nvPr/>
        </p:nvSpPr>
        <p:spPr>
          <a:xfrm>
            <a:off x="3445888"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8</a:t>
            </a:r>
            <a:endParaRPr kumimoji="1" lang="ja-GB" altLang="en-US" dirty="0">
              <a:solidFill>
                <a:schemeClr val="tx1">
                  <a:lumMod val="50000"/>
                  <a:lumOff val="50000"/>
                </a:schemeClr>
              </a:solidFill>
            </a:endParaRPr>
          </a:p>
        </p:txBody>
      </p:sp>
      <p:sp>
        <p:nvSpPr>
          <p:cNvPr id="35" name="正方形/長方形 34">
            <a:extLst>
              <a:ext uri="{FF2B5EF4-FFF2-40B4-BE49-F238E27FC236}">
                <a16:creationId xmlns:a16="http://schemas.microsoft.com/office/drawing/2014/main" id="{F414805B-E2E8-1826-7D07-1D3E5344F5EB}"/>
              </a:ext>
            </a:extLst>
          </p:cNvPr>
          <p:cNvSpPr/>
          <p:nvPr/>
        </p:nvSpPr>
        <p:spPr>
          <a:xfrm>
            <a:off x="4001349"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36" name="正方形/長方形 35">
            <a:extLst>
              <a:ext uri="{FF2B5EF4-FFF2-40B4-BE49-F238E27FC236}">
                <a16:creationId xmlns:a16="http://schemas.microsoft.com/office/drawing/2014/main" id="{B0C271B8-3A97-D36B-40FE-0DF25EE9E5D5}"/>
              </a:ext>
            </a:extLst>
          </p:cNvPr>
          <p:cNvSpPr/>
          <p:nvPr/>
        </p:nvSpPr>
        <p:spPr>
          <a:xfrm>
            <a:off x="4603836"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37" name="正方形/長方形 36">
            <a:extLst>
              <a:ext uri="{FF2B5EF4-FFF2-40B4-BE49-F238E27FC236}">
                <a16:creationId xmlns:a16="http://schemas.microsoft.com/office/drawing/2014/main" id="{A6E199D6-6B94-0BC8-D503-C15163739B53}"/>
              </a:ext>
            </a:extLst>
          </p:cNvPr>
          <p:cNvSpPr/>
          <p:nvPr/>
        </p:nvSpPr>
        <p:spPr>
          <a:xfrm>
            <a:off x="5204542"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38" name="正方形/長方形 37">
            <a:extLst>
              <a:ext uri="{FF2B5EF4-FFF2-40B4-BE49-F238E27FC236}">
                <a16:creationId xmlns:a16="http://schemas.microsoft.com/office/drawing/2014/main" id="{81C9C5CB-2B7F-64D3-0D85-AC45C89B5595}"/>
              </a:ext>
            </a:extLst>
          </p:cNvPr>
          <p:cNvSpPr/>
          <p:nvPr/>
        </p:nvSpPr>
        <p:spPr>
          <a:xfrm>
            <a:off x="5792805"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10</a:t>
            </a:r>
            <a:endParaRPr kumimoji="1" lang="ja-GB" altLang="en-US" dirty="0">
              <a:solidFill>
                <a:schemeClr val="tx1">
                  <a:lumMod val="50000"/>
                  <a:lumOff val="50000"/>
                </a:schemeClr>
              </a:solidFill>
            </a:endParaRPr>
          </a:p>
        </p:txBody>
      </p:sp>
      <p:sp>
        <p:nvSpPr>
          <p:cNvPr id="39" name="正方形/長方形 38">
            <a:extLst>
              <a:ext uri="{FF2B5EF4-FFF2-40B4-BE49-F238E27FC236}">
                <a16:creationId xmlns:a16="http://schemas.microsoft.com/office/drawing/2014/main" id="{6F170531-B58B-B5FB-64FF-8F6F8CCDC44F}"/>
              </a:ext>
            </a:extLst>
          </p:cNvPr>
          <p:cNvSpPr/>
          <p:nvPr/>
        </p:nvSpPr>
        <p:spPr>
          <a:xfrm>
            <a:off x="6395292"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40" name="正方形/長方形 39">
            <a:extLst>
              <a:ext uri="{FF2B5EF4-FFF2-40B4-BE49-F238E27FC236}">
                <a16:creationId xmlns:a16="http://schemas.microsoft.com/office/drawing/2014/main" id="{D7FACC68-EE0D-1748-80A8-AC5314D80C17}"/>
              </a:ext>
            </a:extLst>
          </p:cNvPr>
          <p:cNvSpPr/>
          <p:nvPr/>
        </p:nvSpPr>
        <p:spPr>
          <a:xfrm>
            <a:off x="2271035"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5</a:t>
            </a:r>
            <a:endParaRPr kumimoji="1" lang="ja-GB" altLang="en-US" dirty="0">
              <a:solidFill>
                <a:schemeClr val="tx1">
                  <a:lumMod val="50000"/>
                  <a:lumOff val="50000"/>
                </a:schemeClr>
              </a:solidFill>
            </a:endParaRPr>
          </a:p>
        </p:txBody>
      </p:sp>
      <p:sp>
        <p:nvSpPr>
          <p:cNvPr id="4" name="正方形/長方形 3">
            <a:extLst>
              <a:ext uri="{FF2B5EF4-FFF2-40B4-BE49-F238E27FC236}">
                <a16:creationId xmlns:a16="http://schemas.microsoft.com/office/drawing/2014/main" id="{054F3AC3-B9B6-BF56-EF90-9A5EC897B3A0}"/>
              </a:ext>
            </a:extLst>
          </p:cNvPr>
          <p:cNvSpPr/>
          <p:nvPr/>
        </p:nvSpPr>
        <p:spPr>
          <a:xfrm>
            <a:off x="2324383" y="3889373"/>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12" name="正方形/長方形 11">
            <a:extLst>
              <a:ext uri="{FF2B5EF4-FFF2-40B4-BE49-F238E27FC236}">
                <a16:creationId xmlns:a16="http://schemas.microsoft.com/office/drawing/2014/main" id="{E36075C9-359C-5C3D-AE53-EF27909A3B9A}"/>
              </a:ext>
            </a:extLst>
          </p:cNvPr>
          <p:cNvSpPr/>
          <p:nvPr/>
        </p:nvSpPr>
        <p:spPr>
          <a:xfrm>
            <a:off x="2803035" y="3889375"/>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5</a:t>
            </a:r>
            <a:endParaRPr kumimoji="1" lang="ja-GB" altLang="en-US" dirty="0">
              <a:solidFill>
                <a:srgbClr val="2F2523"/>
              </a:solidFill>
            </a:endParaRPr>
          </a:p>
        </p:txBody>
      </p:sp>
      <p:sp>
        <p:nvSpPr>
          <p:cNvPr id="13" name="正方形/長方形 12">
            <a:extLst>
              <a:ext uri="{FF2B5EF4-FFF2-40B4-BE49-F238E27FC236}">
                <a16:creationId xmlns:a16="http://schemas.microsoft.com/office/drawing/2014/main" id="{870254D5-8E5B-CFCB-8969-8B40735A3B7F}"/>
              </a:ext>
            </a:extLst>
          </p:cNvPr>
          <p:cNvSpPr/>
          <p:nvPr/>
        </p:nvSpPr>
        <p:spPr>
          <a:xfrm>
            <a:off x="3479544" y="3889373"/>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16" name="正方形/長方形 15">
            <a:extLst>
              <a:ext uri="{FF2B5EF4-FFF2-40B4-BE49-F238E27FC236}">
                <a16:creationId xmlns:a16="http://schemas.microsoft.com/office/drawing/2014/main" id="{DF3FDD0B-FD0B-3032-1626-D835D05D545D}"/>
              </a:ext>
            </a:extLst>
          </p:cNvPr>
          <p:cNvSpPr/>
          <p:nvPr/>
        </p:nvSpPr>
        <p:spPr>
          <a:xfrm>
            <a:off x="3957217" y="3889373"/>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41" name="正方形/長方形 40">
            <a:extLst>
              <a:ext uri="{FF2B5EF4-FFF2-40B4-BE49-F238E27FC236}">
                <a16:creationId xmlns:a16="http://schemas.microsoft.com/office/drawing/2014/main" id="{330CB3C0-2BB5-E38B-D245-4969B12B1372}"/>
              </a:ext>
            </a:extLst>
          </p:cNvPr>
          <p:cNvSpPr/>
          <p:nvPr/>
        </p:nvSpPr>
        <p:spPr>
          <a:xfrm>
            <a:off x="4673726" y="3889373"/>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42" name="正方形/長方形 41">
            <a:extLst>
              <a:ext uri="{FF2B5EF4-FFF2-40B4-BE49-F238E27FC236}">
                <a16:creationId xmlns:a16="http://schemas.microsoft.com/office/drawing/2014/main" id="{1EE50E3A-BE4E-C62D-9ADF-68B28B0BAA39}"/>
              </a:ext>
            </a:extLst>
          </p:cNvPr>
          <p:cNvSpPr/>
          <p:nvPr/>
        </p:nvSpPr>
        <p:spPr>
          <a:xfrm>
            <a:off x="5151400" y="3889373"/>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43" name="正方形/長方形 42">
            <a:extLst>
              <a:ext uri="{FF2B5EF4-FFF2-40B4-BE49-F238E27FC236}">
                <a16:creationId xmlns:a16="http://schemas.microsoft.com/office/drawing/2014/main" id="{48F71A72-C100-B50E-86E2-77C06412A05A}"/>
              </a:ext>
            </a:extLst>
          </p:cNvPr>
          <p:cNvSpPr/>
          <p:nvPr/>
        </p:nvSpPr>
        <p:spPr>
          <a:xfrm>
            <a:off x="5864217" y="3889373"/>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44" name="正方形/長方形 43">
            <a:extLst>
              <a:ext uri="{FF2B5EF4-FFF2-40B4-BE49-F238E27FC236}">
                <a16:creationId xmlns:a16="http://schemas.microsoft.com/office/drawing/2014/main" id="{A91C5F3B-FF08-DDAD-AA0E-61E4EF40C5D2}"/>
              </a:ext>
            </a:extLst>
          </p:cNvPr>
          <p:cNvSpPr/>
          <p:nvPr/>
        </p:nvSpPr>
        <p:spPr>
          <a:xfrm>
            <a:off x="6341890" y="3889373"/>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45" name="正方形/長方形 44">
            <a:extLst>
              <a:ext uri="{FF2B5EF4-FFF2-40B4-BE49-F238E27FC236}">
                <a16:creationId xmlns:a16="http://schemas.microsoft.com/office/drawing/2014/main" id="{2F93EF4D-2021-8625-4719-42A45F5D37A9}"/>
              </a:ext>
            </a:extLst>
          </p:cNvPr>
          <p:cNvSpPr/>
          <p:nvPr/>
        </p:nvSpPr>
        <p:spPr>
          <a:xfrm>
            <a:off x="2422009" y="4492882"/>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46" name="正方形/長方形 45">
            <a:extLst>
              <a:ext uri="{FF2B5EF4-FFF2-40B4-BE49-F238E27FC236}">
                <a16:creationId xmlns:a16="http://schemas.microsoft.com/office/drawing/2014/main" id="{0B256153-DA6A-2824-D82D-4980D751E947}"/>
              </a:ext>
            </a:extLst>
          </p:cNvPr>
          <p:cNvSpPr/>
          <p:nvPr/>
        </p:nvSpPr>
        <p:spPr>
          <a:xfrm>
            <a:off x="2899682" y="4492882"/>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47" name="正方形/長方形 46">
            <a:extLst>
              <a:ext uri="{FF2B5EF4-FFF2-40B4-BE49-F238E27FC236}">
                <a16:creationId xmlns:a16="http://schemas.microsoft.com/office/drawing/2014/main" id="{149961F8-3269-8E73-F917-04436C5359C3}"/>
              </a:ext>
            </a:extLst>
          </p:cNvPr>
          <p:cNvSpPr/>
          <p:nvPr/>
        </p:nvSpPr>
        <p:spPr>
          <a:xfrm>
            <a:off x="3374585" y="4492882"/>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5</a:t>
            </a:r>
            <a:endParaRPr kumimoji="1" lang="ja-GB" altLang="en-US" dirty="0">
              <a:solidFill>
                <a:srgbClr val="2F2523"/>
              </a:solidFill>
            </a:endParaRPr>
          </a:p>
        </p:txBody>
      </p:sp>
      <p:sp>
        <p:nvSpPr>
          <p:cNvPr id="48" name="正方形/長方形 47">
            <a:extLst>
              <a:ext uri="{FF2B5EF4-FFF2-40B4-BE49-F238E27FC236}">
                <a16:creationId xmlns:a16="http://schemas.microsoft.com/office/drawing/2014/main" id="{09AB3DF5-0ED1-02CF-A125-269EAEF6305C}"/>
              </a:ext>
            </a:extLst>
          </p:cNvPr>
          <p:cNvSpPr/>
          <p:nvPr/>
        </p:nvSpPr>
        <p:spPr>
          <a:xfrm>
            <a:off x="3852258" y="4492882"/>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49" name="正方形/長方形 48">
            <a:extLst>
              <a:ext uri="{FF2B5EF4-FFF2-40B4-BE49-F238E27FC236}">
                <a16:creationId xmlns:a16="http://schemas.microsoft.com/office/drawing/2014/main" id="{CA128F27-DD65-57E6-A466-526F35F39205}"/>
              </a:ext>
            </a:extLst>
          </p:cNvPr>
          <p:cNvSpPr/>
          <p:nvPr/>
        </p:nvSpPr>
        <p:spPr>
          <a:xfrm>
            <a:off x="4809451" y="4495999"/>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50" name="正方形/長方形 49">
            <a:extLst>
              <a:ext uri="{FF2B5EF4-FFF2-40B4-BE49-F238E27FC236}">
                <a16:creationId xmlns:a16="http://schemas.microsoft.com/office/drawing/2014/main" id="{EEE4DFA0-957D-59FE-C75F-010C362AF669}"/>
              </a:ext>
            </a:extLst>
          </p:cNvPr>
          <p:cNvSpPr/>
          <p:nvPr/>
        </p:nvSpPr>
        <p:spPr>
          <a:xfrm>
            <a:off x="5287123" y="4492882"/>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51" name="正方形/長方形 50">
            <a:extLst>
              <a:ext uri="{FF2B5EF4-FFF2-40B4-BE49-F238E27FC236}">
                <a16:creationId xmlns:a16="http://schemas.microsoft.com/office/drawing/2014/main" id="{EC988395-C177-1A55-396A-41AF1FF5CBFC}"/>
              </a:ext>
            </a:extLst>
          </p:cNvPr>
          <p:cNvSpPr/>
          <p:nvPr/>
        </p:nvSpPr>
        <p:spPr>
          <a:xfrm>
            <a:off x="5766643" y="4492882"/>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52" name="正方形/長方形 51">
            <a:extLst>
              <a:ext uri="{FF2B5EF4-FFF2-40B4-BE49-F238E27FC236}">
                <a16:creationId xmlns:a16="http://schemas.microsoft.com/office/drawing/2014/main" id="{779D229E-81A6-6AC6-AEFA-037BE98A6F51}"/>
              </a:ext>
            </a:extLst>
          </p:cNvPr>
          <p:cNvSpPr/>
          <p:nvPr/>
        </p:nvSpPr>
        <p:spPr>
          <a:xfrm>
            <a:off x="6239700" y="4492882"/>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53" name="テキスト ボックス 52">
            <a:extLst>
              <a:ext uri="{FF2B5EF4-FFF2-40B4-BE49-F238E27FC236}">
                <a16:creationId xmlns:a16="http://schemas.microsoft.com/office/drawing/2014/main" id="{595CC108-AD2D-D542-396A-ED9DF1CE7FB1}"/>
              </a:ext>
            </a:extLst>
          </p:cNvPr>
          <p:cNvSpPr txBox="1"/>
          <p:nvPr/>
        </p:nvSpPr>
        <p:spPr>
          <a:xfrm>
            <a:off x="111360" y="4169716"/>
            <a:ext cx="2031325" cy="646331"/>
          </a:xfrm>
          <a:prstGeom prst="rect">
            <a:avLst/>
          </a:prstGeom>
          <a:noFill/>
        </p:spPr>
        <p:txBody>
          <a:bodyPr wrap="none" rtlCol="0">
            <a:spAutoFit/>
          </a:bodyPr>
          <a:lstStyle/>
          <a:p>
            <a:pPr algn="ctr"/>
            <a:r>
              <a:rPr kumimoji="1" lang="en-US" altLang="ja-GB" dirty="0"/>
              <a:t>①</a:t>
            </a:r>
            <a:r>
              <a:rPr kumimoji="1" lang="ja-GB" altLang="en-US" dirty="0"/>
              <a:t>青色同士を比較</a:t>
            </a:r>
            <a:endParaRPr kumimoji="1" lang="en-US" altLang="ja-GB" dirty="0"/>
          </a:p>
          <a:p>
            <a:pPr algn="ctr"/>
            <a:r>
              <a:rPr kumimoji="1" lang="en-US" altLang="ja-GB" dirty="0"/>
              <a:t>②</a:t>
            </a:r>
            <a:r>
              <a:rPr kumimoji="1" lang="ja-GB" altLang="en-US" dirty="0"/>
              <a:t>橙色同士を比較</a:t>
            </a:r>
          </a:p>
        </p:txBody>
      </p:sp>
    </p:spTree>
    <p:extLst>
      <p:ext uri="{BB962C8B-B14F-4D97-AF65-F5344CB8AC3E}">
        <p14:creationId xmlns:p14="http://schemas.microsoft.com/office/powerpoint/2010/main" val="5413696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0258F-F9D3-FD8F-3868-6D30B1F892E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812759-51CB-725A-64A3-9DAF7E316549}"/>
              </a:ext>
            </a:extLst>
          </p:cNvPr>
          <p:cNvSpPr>
            <a:spLocks noGrp="1"/>
          </p:cNvSpPr>
          <p:nvPr>
            <p:ph type="title"/>
          </p:nvPr>
        </p:nvSpPr>
        <p:spPr/>
        <p:txBody>
          <a:bodyPr/>
          <a:lstStyle/>
          <a:p>
            <a:r>
              <a:rPr kumimoji="1" lang="ja-GB" altLang="en-US" dirty="0"/>
              <a:t>マージソート（直訳：統合ソート）</a:t>
            </a:r>
          </a:p>
        </p:txBody>
      </p:sp>
      <p:sp>
        <p:nvSpPr>
          <p:cNvPr id="3" name="コンテンツ プレースホルダー 2">
            <a:extLst>
              <a:ext uri="{FF2B5EF4-FFF2-40B4-BE49-F238E27FC236}">
                <a16:creationId xmlns:a16="http://schemas.microsoft.com/office/drawing/2014/main" id="{A7D59CB7-236A-9B55-B5F1-BC70DC0B373F}"/>
              </a:ext>
            </a:extLst>
          </p:cNvPr>
          <p:cNvSpPr>
            <a:spLocks noGrp="1"/>
          </p:cNvSpPr>
          <p:nvPr>
            <p:ph idx="1"/>
          </p:nvPr>
        </p:nvSpPr>
        <p:spPr/>
        <p:txBody>
          <a:bodyPr/>
          <a:lstStyle/>
          <a:p>
            <a:pPr marL="0" indent="0">
              <a:buNone/>
            </a:pPr>
            <a:r>
              <a:rPr kumimoji="1" lang="en-US" altLang="ja-GB" dirty="0"/>
              <a:t>(1)</a:t>
            </a:r>
            <a:r>
              <a:rPr kumimoji="1" lang="ja-GB" altLang="en-US" dirty="0"/>
              <a:t>データを半分に分割して，</a:t>
            </a:r>
            <a:r>
              <a:rPr kumimoji="1" lang="en-US" altLang="ja-GB" dirty="0"/>
              <a:t>(2)</a:t>
            </a:r>
            <a:r>
              <a:rPr kumimoji="1" lang="ja-GB" altLang="en-US" dirty="0"/>
              <a:t>決まった規則で統合していく</a:t>
            </a:r>
          </a:p>
        </p:txBody>
      </p:sp>
      <p:grpSp>
        <p:nvGrpSpPr>
          <p:cNvPr id="15" name="グループ化 14">
            <a:extLst>
              <a:ext uri="{FF2B5EF4-FFF2-40B4-BE49-F238E27FC236}">
                <a16:creationId xmlns:a16="http://schemas.microsoft.com/office/drawing/2014/main" id="{406649AF-CB75-4D29-1DE2-BDA6EEB95A13}"/>
              </a:ext>
            </a:extLst>
          </p:cNvPr>
          <p:cNvGrpSpPr/>
          <p:nvPr/>
        </p:nvGrpSpPr>
        <p:grpSpPr>
          <a:xfrm>
            <a:off x="2651419" y="1524260"/>
            <a:ext cx="3831735" cy="471346"/>
            <a:chOff x="2534668" y="1543114"/>
            <a:chExt cx="3831735" cy="471346"/>
          </a:xfrm>
          <a:noFill/>
        </p:grpSpPr>
        <p:sp>
          <p:nvSpPr>
            <p:cNvPr id="5" name="正方形/長方形 4">
              <a:extLst>
                <a:ext uri="{FF2B5EF4-FFF2-40B4-BE49-F238E27FC236}">
                  <a16:creationId xmlns:a16="http://schemas.microsoft.com/office/drawing/2014/main" id="{A10ADC8B-784E-42C7-E0C4-FE522136FED5}"/>
                </a:ext>
              </a:extLst>
            </p:cNvPr>
            <p:cNvSpPr/>
            <p:nvPr/>
          </p:nvSpPr>
          <p:spPr>
            <a:xfrm>
              <a:off x="3013265" y="1543116"/>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6" name="正方形/長方形 5">
              <a:extLst>
                <a:ext uri="{FF2B5EF4-FFF2-40B4-BE49-F238E27FC236}">
                  <a16:creationId xmlns:a16="http://schemas.microsoft.com/office/drawing/2014/main" id="{9CD92251-5130-A9FA-EFAA-3963BEFCC54D}"/>
                </a:ext>
              </a:extLst>
            </p:cNvPr>
            <p:cNvSpPr/>
            <p:nvPr/>
          </p:nvSpPr>
          <p:spPr>
            <a:xfrm>
              <a:off x="3496672"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8</a:t>
              </a:r>
              <a:endParaRPr kumimoji="1" lang="ja-GB" altLang="en-US" dirty="0">
                <a:solidFill>
                  <a:schemeClr val="tx1">
                    <a:lumMod val="50000"/>
                    <a:lumOff val="50000"/>
                  </a:schemeClr>
                </a:solidFill>
              </a:endParaRPr>
            </a:p>
          </p:txBody>
        </p:sp>
        <p:sp>
          <p:nvSpPr>
            <p:cNvPr id="7" name="正方形/長方形 6">
              <a:extLst>
                <a:ext uri="{FF2B5EF4-FFF2-40B4-BE49-F238E27FC236}">
                  <a16:creationId xmlns:a16="http://schemas.microsoft.com/office/drawing/2014/main" id="{FC1F4DED-9682-E2B4-B2C9-93EB2280F8E9}"/>
                </a:ext>
              </a:extLst>
            </p:cNvPr>
            <p:cNvSpPr/>
            <p:nvPr/>
          </p:nvSpPr>
          <p:spPr>
            <a:xfrm>
              <a:off x="3974345"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8" name="正方形/長方形 7">
              <a:extLst>
                <a:ext uri="{FF2B5EF4-FFF2-40B4-BE49-F238E27FC236}">
                  <a16:creationId xmlns:a16="http://schemas.microsoft.com/office/drawing/2014/main" id="{FE2AEDFA-0009-9A6B-3FCA-59512A5F0FF6}"/>
                </a:ext>
              </a:extLst>
            </p:cNvPr>
            <p:cNvSpPr/>
            <p:nvPr/>
          </p:nvSpPr>
          <p:spPr>
            <a:xfrm>
              <a:off x="4453864"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BD03A7FC-92BC-F964-1583-38247EB3B537}"/>
                </a:ext>
              </a:extLst>
            </p:cNvPr>
            <p:cNvSpPr/>
            <p:nvPr/>
          </p:nvSpPr>
          <p:spPr>
            <a:xfrm>
              <a:off x="4931537"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10" name="正方形/長方形 9">
              <a:extLst>
                <a:ext uri="{FF2B5EF4-FFF2-40B4-BE49-F238E27FC236}">
                  <a16:creationId xmlns:a16="http://schemas.microsoft.com/office/drawing/2014/main" id="{6B0D8CD9-3906-9B39-06C7-C759B44862B7}"/>
                </a:ext>
              </a:extLst>
            </p:cNvPr>
            <p:cNvSpPr/>
            <p:nvPr/>
          </p:nvSpPr>
          <p:spPr>
            <a:xfrm>
              <a:off x="5411057"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10</a:t>
              </a:r>
              <a:endParaRPr kumimoji="1" lang="ja-GB" altLang="en-US" dirty="0">
                <a:solidFill>
                  <a:schemeClr val="tx1">
                    <a:lumMod val="50000"/>
                    <a:lumOff val="50000"/>
                  </a:schemeClr>
                </a:solidFill>
              </a:endParaRPr>
            </a:p>
          </p:txBody>
        </p:sp>
        <p:sp>
          <p:nvSpPr>
            <p:cNvPr id="11" name="正方形/長方形 10">
              <a:extLst>
                <a:ext uri="{FF2B5EF4-FFF2-40B4-BE49-F238E27FC236}">
                  <a16:creationId xmlns:a16="http://schemas.microsoft.com/office/drawing/2014/main" id="{8904F56F-1786-946F-95BE-97AC63BF77F3}"/>
                </a:ext>
              </a:extLst>
            </p:cNvPr>
            <p:cNvSpPr/>
            <p:nvPr/>
          </p:nvSpPr>
          <p:spPr>
            <a:xfrm>
              <a:off x="5888730"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A75D6D2E-F42F-90B3-5F1C-5CCF25F2FB41}"/>
                </a:ext>
              </a:extLst>
            </p:cNvPr>
            <p:cNvSpPr/>
            <p:nvPr/>
          </p:nvSpPr>
          <p:spPr>
            <a:xfrm>
              <a:off x="2534668"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5</a:t>
              </a:r>
              <a:endParaRPr kumimoji="1" lang="ja-GB" altLang="en-US" dirty="0">
                <a:solidFill>
                  <a:schemeClr val="tx1">
                    <a:lumMod val="50000"/>
                    <a:lumOff val="50000"/>
                  </a:schemeClr>
                </a:solidFill>
              </a:endParaRPr>
            </a:p>
          </p:txBody>
        </p:sp>
      </p:grpSp>
      <p:sp>
        <p:nvSpPr>
          <p:cNvPr id="17" name="正方形/長方形 16">
            <a:extLst>
              <a:ext uri="{FF2B5EF4-FFF2-40B4-BE49-F238E27FC236}">
                <a16:creationId xmlns:a16="http://schemas.microsoft.com/office/drawing/2014/main" id="{E38244C5-E213-20F9-2B79-AA3B4D791F21}"/>
              </a:ext>
            </a:extLst>
          </p:cNvPr>
          <p:cNvSpPr/>
          <p:nvPr/>
        </p:nvSpPr>
        <p:spPr>
          <a:xfrm>
            <a:off x="2900606" y="2127770"/>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18" name="正方形/長方形 17">
            <a:extLst>
              <a:ext uri="{FF2B5EF4-FFF2-40B4-BE49-F238E27FC236}">
                <a16:creationId xmlns:a16="http://schemas.microsoft.com/office/drawing/2014/main" id="{4882EDC8-B792-649F-6D9B-ECF83EEA0B67}"/>
              </a:ext>
            </a:extLst>
          </p:cNvPr>
          <p:cNvSpPr/>
          <p:nvPr/>
        </p:nvSpPr>
        <p:spPr>
          <a:xfrm>
            <a:off x="3374586" y="2127768"/>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8</a:t>
            </a:r>
            <a:endParaRPr kumimoji="1" lang="ja-GB" altLang="en-US" dirty="0">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A297AD1D-F981-A4DF-B6F5-6E98C9DB3145}"/>
              </a:ext>
            </a:extLst>
          </p:cNvPr>
          <p:cNvSpPr/>
          <p:nvPr/>
        </p:nvSpPr>
        <p:spPr>
          <a:xfrm>
            <a:off x="3852259" y="2127768"/>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20" name="正方形/長方形 19">
            <a:extLst>
              <a:ext uri="{FF2B5EF4-FFF2-40B4-BE49-F238E27FC236}">
                <a16:creationId xmlns:a16="http://schemas.microsoft.com/office/drawing/2014/main" id="{2F6E434C-72DF-71DC-D5CF-1DD47EADA52D}"/>
              </a:ext>
            </a:extLst>
          </p:cNvPr>
          <p:cNvSpPr/>
          <p:nvPr/>
        </p:nvSpPr>
        <p:spPr>
          <a:xfrm>
            <a:off x="4809451" y="212776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21" name="正方形/長方形 20">
            <a:extLst>
              <a:ext uri="{FF2B5EF4-FFF2-40B4-BE49-F238E27FC236}">
                <a16:creationId xmlns:a16="http://schemas.microsoft.com/office/drawing/2014/main" id="{36A7D2B6-2878-7FB8-FD1E-D09DB35FBA47}"/>
              </a:ext>
            </a:extLst>
          </p:cNvPr>
          <p:cNvSpPr/>
          <p:nvPr/>
        </p:nvSpPr>
        <p:spPr>
          <a:xfrm>
            <a:off x="5287124" y="212776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22" name="正方形/長方形 21">
            <a:extLst>
              <a:ext uri="{FF2B5EF4-FFF2-40B4-BE49-F238E27FC236}">
                <a16:creationId xmlns:a16="http://schemas.microsoft.com/office/drawing/2014/main" id="{51373D60-04FA-2CED-4BFF-0494BABE8DC1}"/>
              </a:ext>
            </a:extLst>
          </p:cNvPr>
          <p:cNvSpPr/>
          <p:nvPr/>
        </p:nvSpPr>
        <p:spPr>
          <a:xfrm>
            <a:off x="5766644" y="212776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10</a:t>
            </a:r>
            <a:endParaRPr kumimoji="1" lang="ja-GB" altLang="en-US" dirty="0">
              <a:solidFill>
                <a:schemeClr val="tx1">
                  <a:lumMod val="50000"/>
                  <a:lumOff val="50000"/>
                </a:schemeClr>
              </a:solidFill>
            </a:endParaRPr>
          </a:p>
        </p:txBody>
      </p:sp>
      <p:sp>
        <p:nvSpPr>
          <p:cNvPr id="23" name="正方形/長方形 22">
            <a:extLst>
              <a:ext uri="{FF2B5EF4-FFF2-40B4-BE49-F238E27FC236}">
                <a16:creationId xmlns:a16="http://schemas.microsoft.com/office/drawing/2014/main" id="{39D7AF59-7E9E-CC28-1CAB-BB6E8D014E00}"/>
              </a:ext>
            </a:extLst>
          </p:cNvPr>
          <p:cNvSpPr/>
          <p:nvPr/>
        </p:nvSpPr>
        <p:spPr>
          <a:xfrm>
            <a:off x="6244317" y="212776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24" name="正方形/長方形 23">
            <a:extLst>
              <a:ext uri="{FF2B5EF4-FFF2-40B4-BE49-F238E27FC236}">
                <a16:creationId xmlns:a16="http://schemas.microsoft.com/office/drawing/2014/main" id="{1374EE24-7B29-8DA4-973F-D4DE0F8A8CF3}"/>
              </a:ext>
            </a:extLst>
          </p:cNvPr>
          <p:cNvSpPr/>
          <p:nvPr/>
        </p:nvSpPr>
        <p:spPr>
          <a:xfrm>
            <a:off x="2422009" y="2127768"/>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5</a:t>
            </a:r>
            <a:endParaRPr kumimoji="1" lang="ja-GB" altLang="en-US" dirty="0">
              <a:solidFill>
                <a:schemeClr val="tx1">
                  <a:lumMod val="50000"/>
                  <a:lumOff val="50000"/>
                </a:schemeClr>
              </a:solidFill>
            </a:endParaRPr>
          </a:p>
        </p:txBody>
      </p:sp>
      <p:sp>
        <p:nvSpPr>
          <p:cNvPr id="25" name="正方形/長方形 24">
            <a:extLst>
              <a:ext uri="{FF2B5EF4-FFF2-40B4-BE49-F238E27FC236}">
                <a16:creationId xmlns:a16="http://schemas.microsoft.com/office/drawing/2014/main" id="{A7FA4A3A-9B24-6362-2FD7-A103DD180EDB}"/>
              </a:ext>
            </a:extLst>
          </p:cNvPr>
          <p:cNvSpPr/>
          <p:nvPr/>
        </p:nvSpPr>
        <p:spPr>
          <a:xfrm>
            <a:off x="2803035" y="2711018"/>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26" name="正方形/長方形 25">
            <a:extLst>
              <a:ext uri="{FF2B5EF4-FFF2-40B4-BE49-F238E27FC236}">
                <a16:creationId xmlns:a16="http://schemas.microsoft.com/office/drawing/2014/main" id="{7B61CD3A-B198-FD2E-EA3D-A745DEE32E5C}"/>
              </a:ext>
            </a:extLst>
          </p:cNvPr>
          <p:cNvSpPr/>
          <p:nvPr/>
        </p:nvSpPr>
        <p:spPr>
          <a:xfrm>
            <a:off x="3479545"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8</a:t>
            </a:r>
            <a:endParaRPr kumimoji="1" lang="ja-GB" altLang="en-US" dirty="0">
              <a:solidFill>
                <a:schemeClr val="tx1">
                  <a:lumMod val="50000"/>
                  <a:lumOff val="50000"/>
                </a:schemeClr>
              </a:solidFill>
            </a:endParaRPr>
          </a:p>
        </p:txBody>
      </p:sp>
      <p:sp>
        <p:nvSpPr>
          <p:cNvPr id="27" name="正方形/長方形 26">
            <a:extLst>
              <a:ext uri="{FF2B5EF4-FFF2-40B4-BE49-F238E27FC236}">
                <a16:creationId xmlns:a16="http://schemas.microsoft.com/office/drawing/2014/main" id="{ED78C786-8552-C7BF-EB41-4CD2EF49B6A7}"/>
              </a:ext>
            </a:extLst>
          </p:cNvPr>
          <p:cNvSpPr/>
          <p:nvPr/>
        </p:nvSpPr>
        <p:spPr>
          <a:xfrm>
            <a:off x="3957218"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28" name="正方形/長方形 27">
            <a:extLst>
              <a:ext uri="{FF2B5EF4-FFF2-40B4-BE49-F238E27FC236}">
                <a16:creationId xmlns:a16="http://schemas.microsoft.com/office/drawing/2014/main" id="{134C854E-F220-0A3F-0B05-B83653DAF641}"/>
              </a:ext>
            </a:extLst>
          </p:cNvPr>
          <p:cNvSpPr/>
          <p:nvPr/>
        </p:nvSpPr>
        <p:spPr>
          <a:xfrm>
            <a:off x="4673727"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29" name="正方形/長方形 28">
            <a:extLst>
              <a:ext uri="{FF2B5EF4-FFF2-40B4-BE49-F238E27FC236}">
                <a16:creationId xmlns:a16="http://schemas.microsoft.com/office/drawing/2014/main" id="{A36995A7-BF5A-250F-B1CE-DF8377FF8CE2}"/>
              </a:ext>
            </a:extLst>
          </p:cNvPr>
          <p:cNvSpPr/>
          <p:nvPr/>
        </p:nvSpPr>
        <p:spPr>
          <a:xfrm>
            <a:off x="5151400"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30" name="正方形/長方形 29">
            <a:extLst>
              <a:ext uri="{FF2B5EF4-FFF2-40B4-BE49-F238E27FC236}">
                <a16:creationId xmlns:a16="http://schemas.microsoft.com/office/drawing/2014/main" id="{01CB41B6-A382-100E-B0BB-A3D06969FBB9}"/>
              </a:ext>
            </a:extLst>
          </p:cNvPr>
          <p:cNvSpPr/>
          <p:nvPr/>
        </p:nvSpPr>
        <p:spPr>
          <a:xfrm>
            <a:off x="5864217"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10</a:t>
            </a:r>
            <a:endParaRPr kumimoji="1" lang="ja-GB" altLang="en-US" dirty="0">
              <a:solidFill>
                <a:schemeClr val="tx1">
                  <a:lumMod val="50000"/>
                  <a:lumOff val="50000"/>
                </a:schemeClr>
              </a:solidFill>
            </a:endParaRPr>
          </a:p>
        </p:txBody>
      </p:sp>
      <p:sp>
        <p:nvSpPr>
          <p:cNvPr id="31" name="正方形/長方形 30">
            <a:extLst>
              <a:ext uri="{FF2B5EF4-FFF2-40B4-BE49-F238E27FC236}">
                <a16:creationId xmlns:a16="http://schemas.microsoft.com/office/drawing/2014/main" id="{B7E82CEA-D4AE-BC77-8B2A-749F92013F59}"/>
              </a:ext>
            </a:extLst>
          </p:cNvPr>
          <p:cNvSpPr/>
          <p:nvPr/>
        </p:nvSpPr>
        <p:spPr>
          <a:xfrm>
            <a:off x="6341890"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32" name="正方形/長方形 31">
            <a:extLst>
              <a:ext uri="{FF2B5EF4-FFF2-40B4-BE49-F238E27FC236}">
                <a16:creationId xmlns:a16="http://schemas.microsoft.com/office/drawing/2014/main" id="{137A5107-1C87-B327-258A-465442988FF8}"/>
              </a:ext>
            </a:extLst>
          </p:cNvPr>
          <p:cNvSpPr/>
          <p:nvPr/>
        </p:nvSpPr>
        <p:spPr>
          <a:xfrm>
            <a:off x="2324438"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5</a:t>
            </a:r>
            <a:endParaRPr kumimoji="1" lang="ja-GB" altLang="en-US" dirty="0">
              <a:solidFill>
                <a:schemeClr val="tx1">
                  <a:lumMod val="50000"/>
                  <a:lumOff val="50000"/>
                </a:schemeClr>
              </a:solidFill>
            </a:endParaRPr>
          </a:p>
        </p:txBody>
      </p:sp>
      <p:sp>
        <p:nvSpPr>
          <p:cNvPr id="33" name="正方形/長方形 32">
            <a:extLst>
              <a:ext uri="{FF2B5EF4-FFF2-40B4-BE49-F238E27FC236}">
                <a16:creationId xmlns:a16="http://schemas.microsoft.com/office/drawing/2014/main" id="{CE1ADAFF-ABCC-50E8-1689-91164E92E142}"/>
              </a:ext>
            </a:extLst>
          </p:cNvPr>
          <p:cNvSpPr/>
          <p:nvPr/>
        </p:nvSpPr>
        <p:spPr>
          <a:xfrm>
            <a:off x="2839519"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34" name="正方形/長方形 33">
            <a:extLst>
              <a:ext uri="{FF2B5EF4-FFF2-40B4-BE49-F238E27FC236}">
                <a16:creationId xmlns:a16="http://schemas.microsoft.com/office/drawing/2014/main" id="{364B5027-C7AE-BA2A-5C8F-B91B89FCA3E3}"/>
              </a:ext>
            </a:extLst>
          </p:cNvPr>
          <p:cNvSpPr/>
          <p:nvPr/>
        </p:nvSpPr>
        <p:spPr>
          <a:xfrm>
            <a:off x="3445888"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8</a:t>
            </a:r>
            <a:endParaRPr kumimoji="1" lang="ja-GB" altLang="en-US" dirty="0">
              <a:solidFill>
                <a:schemeClr val="tx1">
                  <a:lumMod val="50000"/>
                  <a:lumOff val="50000"/>
                </a:schemeClr>
              </a:solidFill>
            </a:endParaRPr>
          </a:p>
        </p:txBody>
      </p:sp>
      <p:sp>
        <p:nvSpPr>
          <p:cNvPr id="35" name="正方形/長方形 34">
            <a:extLst>
              <a:ext uri="{FF2B5EF4-FFF2-40B4-BE49-F238E27FC236}">
                <a16:creationId xmlns:a16="http://schemas.microsoft.com/office/drawing/2014/main" id="{76145020-EF8A-9E46-E9F0-806577C66EF3}"/>
              </a:ext>
            </a:extLst>
          </p:cNvPr>
          <p:cNvSpPr/>
          <p:nvPr/>
        </p:nvSpPr>
        <p:spPr>
          <a:xfrm>
            <a:off x="4001349"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36" name="正方形/長方形 35">
            <a:extLst>
              <a:ext uri="{FF2B5EF4-FFF2-40B4-BE49-F238E27FC236}">
                <a16:creationId xmlns:a16="http://schemas.microsoft.com/office/drawing/2014/main" id="{8272BC69-4AF9-42B5-2226-6FB1F2673F2C}"/>
              </a:ext>
            </a:extLst>
          </p:cNvPr>
          <p:cNvSpPr/>
          <p:nvPr/>
        </p:nvSpPr>
        <p:spPr>
          <a:xfrm>
            <a:off x="4603836"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37" name="正方形/長方形 36">
            <a:extLst>
              <a:ext uri="{FF2B5EF4-FFF2-40B4-BE49-F238E27FC236}">
                <a16:creationId xmlns:a16="http://schemas.microsoft.com/office/drawing/2014/main" id="{9D7E63D5-F858-1BDB-C5A0-EE67E1081335}"/>
              </a:ext>
            </a:extLst>
          </p:cNvPr>
          <p:cNvSpPr/>
          <p:nvPr/>
        </p:nvSpPr>
        <p:spPr>
          <a:xfrm>
            <a:off x="5204542"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38" name="正方形/長方形 37">
            <a:extLst>
              <a:ext uri="{FF2B5EF4-FFF2-40B4-BE49-F238E27FC236}">
                <a16:creationId xmlns:a16="http://schemas.microsoft.com/office/drawing/2014/main" id="{45119699-C1F8-EE79-5CD9-9A7F51D6C13D}"/>
              </a:ext>
            </a:extLst>
          </p:cNvPr>
          <p:cNvSpPr/>
          <p:nvPr/>
        </p:nvSpPr>
        <p:spPr>
          <a:xfrm>
            <a:off x="5792805"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10</a:t>
            </a:r>
            <a:endParaRPr kumimoji="1" lang="ja-GB" altLang="en-US" dirty="0">
              <a:solidFill>
                <a:schemeClr val="tx1">
                  <a:lumMod val="50000"/>
                  <a:lumOff val="50000"/>
                </a:schemeClr>
              </a:solidFill>
            </a:endParaRPr>
          </a:p>
        </p:txBody>
      </p:sp>
      <p:sp>
        <p:nvSpPr>
          <p:cNvPr id="39" name="正方形/長方形 38">
            <a:extLst>
              <a:ext uri="{FF2B5EF4-FFF2-40B4-BE49-F238E27FC236}">
                <a16:creationId xmlns:a16="http://schemas.microsoft.com/office/drawing/2014/main" id="{26C8762B-0D88-692C-96CC-E2E5D4D8A1BC}"/>
              </a:ext>
            </a:extLst>
          </p:cNvPr>
          <p:cNvSpPr/>
          <p:nvPr/>
        </p:nvSpPr>
        <p:spPr>
          <a:xfrm>
            <a:off x="6395292"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40" name="正方形/長方形 39">
            <a:extLst>
              <a:ext uri="{FF2B5EF4-FFF2-40B4-BE49-F238E27FC236}">
                <a16:creationId xmlns:a16="http://schemas.microsoft.com/office/drawing/2014/main" id="{825822D8-4C48-2E65-7820-70085C56235A}"/>
              </a:ext>
            </a:extLst>
          </p:cNvPr>
          <p:cNvSpPr/>
          <p:nvPr/>
        </p:nvSpPr>
        <p:spPr>
          <a:xfrm>
            <a:off x="2271035"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5</a:t>
            </a:r>
            <a:endParaRPr kumimoji="1" lang="ja-GB" altLang="en-US" dirty="0">
              <a:solidFill>
                <a:schemeClr val="tx1">
                  <a:lumMod val="50000"/>
                  <a:lumOff val="50000"/>
                </a:schemeClr>
              </a:solidFill>
            </a:endParaRPr>
          </a:p>
        </p:txBody>
      </p:sp>
      <p:sp>
        <p:nvSpPr>
          <p:cNvPr id="4" name="正方形/長方形 3">
            <a:extLst>
              <a:ext uri="{FF2B5EF4-FFF2-40B4-BE49-F238E27FC236}">
                <a16:creationId xmlns:a16="http://schemas.microsoft.com/office/drawing/2014/main" id="{057E6CDF-9D17-96BB-C7F9-36246D6793B8}"/>
              </a:ext>
            </a:extLst>
          </p:cNvPr>
          <p:cNvSpPr/>
          <p:nvPr/>
        </p:nvSpPr>
        <p:spPr>
          <a:xfrm>
            <a:off x="2324383" y="3889373"/>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12" name="正方形/長方形 11">
            <a:extLst>
              <a:ext uri="{FF2B5EF4-FFF2-40B4-BE49-F238E27FC236}">
                <a16:creationId xmlns:a16="http://schemas.microsoft.com/office/drawing/2014/main" id="{AA6A6430-0277-440E-2236-1F56E0DE4234}"/>
              </a:ext>
            </a:extLst>
          </p:cNvPr>
          <p:cNvSpPr/>
          <p:nvPr/>
        </p:nvSpPr>
        <p:spPr>
          <a:xfrm>
            <a:off x="2803035" y="3889375"/>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5</a:t>
            </a:r>
            <a:endParaRPr kumimoji="1" lang="ja-GB" altLang="en-US" dirty="0">
              <a:solidFill>
                <a:schemeClr val="tx1">
                  <a:lumMod val="50000"/>
                  <a:lumOff val="50000"/>
                </a:schemeClr>
              </a:solidFill>
            </a:endParaRPr>
          </a:p>
        </p:txBody>
      </p:sp>
      <p:sp>
        <p:nvSpPr>
          <p:cNvPr id="13" name="正方形/長方形 12">
            <a:extLst>
              <a:ext uri="{FF2B5EF4-FFF2-40B4-BE49-F238E27FC236}">
                <a16:creationId xmlns:a16="http://schemas.microsoft.com/office/drawing/2014/main" id="{5A0ABA45-19F4-04B5-1ACC-9A40C5D5BA72}"/>
              </a:ext>
            </a:extLst>
          </p:cNvPr>
          <p:cNvSpPr/>
          <p:nvPr/>
        </p:nvSpPr>
        <p:spPr>
          <a:xfrm>
            <a:off x="3479544" y="3889373"/>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16" name="正方形/長方形 15">
            <a:extLst>
              <a:ext uri="{FF2B5EF4-FFF2-40B4-BE49-F238E27FC236}">
                <a16:creationId xmlns:a16="http://schemas.microsoft.com/office/drawing/2014/main" id="{85300052-655F-5724-E8DD-B655CA28FDC8}"/>
              </a:ext>
            </a:extLst>
          </p:cNvPr>
          <p:cNvSpPr/>
          <p:nvPr/>
        </p:nvSpPr>
        <p:spPr>
          <a:xfrm>
            <a:off x="3957217" y="3889373"/>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8</a:t>
            </a:r>
            <a:endParaRPr kumimoji="1" lang="ja-GB" altLang="en-US" dirty="0">
              <a:solidFill>
                <a:schemeClr val="tx1">
                  <a:lumMod val="50000"/>
                  <a:lumOff val="50000"/>
                </a:schemeClr>
              </a:solidFill>
            </a:endParaRPr>
          </a:p>
        </p:txBody>
      </p:sp>
      <p:sp>
        <p:nvSpPr>
          <p:cNvPr id="41" name="正方形/長方形 40">
            <a:extLst>
              <a:ext uri="{FF2B5EF4-FFF2-40B4-BE49-F238E27FC236}">
                <a16:creationId xmlns:a16="http://schemas.microsoft.com/office/drawing/2014/main" id="{B8E53EB6-446D-7BB4-C1EE-4A3BE432613C}"/>
              </a:ext>
            </a:extLst>
          </p:cNvPr>
          <p:cNvSpPr/>
          <p:nvPr/>
        </p:nvSpPr>
        <p:spPr>
          <a:xfrm>
            <a:off x="4673726" y="3889373"/>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42" name="正方形/長方形 41">
            <a:extLst>
              <a:ext uri="{FF2B5EF4-FFF2-40B4-BE49-F238E27FC236}">
                <a16:creationId xmlns:a16="http://schemas.microsoft.com/office/drawing/2014/main" id="{61CA9B3B-2995-E6FD-6FE6-B37F3410BE33}"/>
              </a:ext>
            </a:extLst>
          </p:cNvPr>
          <p:cNvSpPr/>
          <p:nvPr/>
        </p:nvSpPr>
        <p:spPr>
          <a:xfrm>
            <a:off x="5151400" y="3889373"/>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43" name="正方形/長方形 42">
            <a:extLst>
              <a:ext uri="{FF2B5EF4-FFF2-40B4-BE49-F238E27FC236}">
                <a16:creationId xmlns:a16="http://schemas.microsoft.com/office/drawing/2014/main" id="{5807FB5D-04B0-9582-FA6B-3D603CFF546A}"/>
              </a:ext>
            </a:extLst>
          </p:cNvPr>
          <p:cNvSpPr/>
          <p:nvPr/>
        </p:nvSpPr>
        <p:spPr>
          <a:xfrm>
            <a:off x="5864217" y="3889373"/>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44" name="正方形/長方形 43">
            <a:extLst>
              <a:ext uri="{FF2B5EF4-FFF2-40B4-BE49-F238E27FC236}">
                <a16:creationId xmlns:a16="http://schemas.microsoft.com/office/drawing/2014/main" id="{6B72E7B9-EE04-AB9B-A77A-7F26220FAA13}"/>
              </a:ext>
            </a:extLst>
          </p:cNvPr>
          <p:cNvSpPr/>
          <p:nvPr/>
        </p:nvSpPr>
        <p:spPr>
          <a:xfrm>
            <a:off x="6341890" y="3889373"/>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10</a:t>
            </a:r>
            <a:endParaRPr kumimoji="1" lang="ja-GB" altLang="en-US" dirty="0">
              <a:solidFill>
                <a:schemeClr val="tx1">
                  <a:lumMod val="50000"/>
                  <a:lumOff val="50000"/>
                </a:schemeClr>
              </a:solidFill>
            </a:endParaRPr>
          </a:p>
        </p:txBody>
      </p:sp>
      <p:sp>
        <p:nvSpPr>
          <p:cNvPr id="45" name="正方形/長方形 44">
            <a:extLst>
              <a:ext uri="{FF2B5EF4-FFF2-40B4-BE49-F238E27FC236}">
                <a16:creationId xmlns:a16="http://schemas.microsoft.com/office/drawing/2014/main" id="{B0DF6540-67FD-ECE1-44DE-157BFD018EEA}"/>
              </a:ext>
            </a:extLst>
          </p:cNvPr>
          <p:cNvSpPr/>
          <p:nvPr/>
        </p:nvSpPr>
        <p:spPr>
          <a:xfrm>
            <a:off x="2422009" y="4492882"/>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46" name="正方形/長方形 45">
            <a:extLst>
              <a:ext uri="{FF2B5EF4-FFF2-40B4-BE49-F238E27FC236}">
                <a16:creationId xmlns:a16="http://schemas.microsoft.com/office/drawing/2014/main" id="{B600EF14-1D79-651F-B23F-897DC6F8201E}"/>
              </a:ext>
            </a:extLst>
          </p:cNvPr>
          <p:cNvSpPr/>
          <p:nvPr/>
        </p:nvSpPr>
        <p:spPr>
          <a:xfrm>
            <a:off x="2899682" y="4492882"/>
            <a:ext cx="477673" cy="471344"/>
          </a:xfrm>
          <a:prstGeom prst="rect">
            <a:avLst/>
          </a:prstGeom>
          <a:solidFill>
            <a:schemeClr val="accent6">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47" name="正方形/長方形 46">
            <a:extLst>
              <a:ext uri="{FF2B5EF4-FFF2-40B4-BE49-F238E27FC236}">
                <a16:creationId xmlns:a16="http://schemas.microsoft.com/office/drawing/2014/main" id="{355B47FB-6714-CE8C-FF95-85115FEEFF50}"/>
              </a:ext>
            </a:extLst>
          </p:cNvPr>
          <p:cNvSpPr/>
          <p:nvPr/>
        </p:nvSpPr>
        <p:spPr>
          <a:xfrm>
            <a:off x="3374585" y="4492882"/>
            <a:ext cx="477673" cy="471344"/>
          </a:xfrm>
          <a:prstGeom prst="rect">
            <a:avLst/>
          </a:prstGeom>
          <a:solidFill>
            <a:schemeClr val="accent4">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5</a:t>
            </a:r>
            <a:endParaRPr kumimoji="1" lang="ja-GB" altLang="en-US" dirty="0">
              <a:solidFill>
                <a:srgbClr val="2F2523"/>
              </a:solidFill>
            </a:endParaRPr>
          </a:p>
        </p:txBody>
      </p:sp>
      <p:sp>
        <p:nvSpPr>
          <p:cNvPr id="48" name="正方形/長方形 47">
            <a:extLst>
              <a:ext uri="{FF2B5EF4-FFF2-40B4-BE49-F238E27FC236}">
                <a16:creationId xmlns:a16="http://schemas.microsoft.com/office/drawing/2014/main" id="{01691979-396C-62A7-562C-943058E5906B}"/>
              </a:ext>
            </a:extLst>
          </p:cNvPr>
          <p:cNvSpPr/>
          <p:nvPr/>
        </p:nvSpPr>
        <p:spPr>
          <a:xfrm>
            <a:off x="3852258" y="4492882"/>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49" name="正方形/長方形 48">
            <a:extLst>
              <a:ext uri="{FF2B5EF4-FFF2-40B4-BE49-F238E27FC236}">
                <a16:creationId xmlns:a16="http://schemas.microsoft.com/office/drawing/2014/main" id="{2EF21209-D2DA-478F-5648-B4419E329DC0}"/>
              </a:ext>
            </a:extLst>
          </p:cNvPr>
          <p:cNvSpPr/>
          <p:nvPr/>
        </p:nvSpPr>
        <p:spPr>
          <a:xfrm>
            <a:off x="4809451" y="4495999"/>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50" name="正方形/長方形 49">
            <a:extLst>
              <a:ext uri="{FF2B5EF4-FFF2-40B4-BE49-F238E27FC236}">
                <a16:creationId xmlns:a16="http://schemas.microsoft.com/office/drawing/2014/main" id="{F4EC48AB-8A92-2022-78E3-2F1FC2BBC882}"/>
              </a:ext>
            </a:extLst>
          </p:cNvPr>
          <p:cNvSpPr/>
          <p:nvPr/>
        </p:nvSpPr>
        <p:spPr>
          <a:xfrm>
            <a:off x="5287123" y="4492882"/>
            <a:ext cx="477673" cy="471344"/>
          </a:xfrm>
          <a:prstGeom prst="rect">
            <a:avLst/>
          </a:prstGeom>
          <a:solidFill>
            <a:schemeClr val="accent6">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51" name="正方形/長方形 50">
            <a:extLst>
              <a:ext uri="{FF2B5EF4-FFF2-40B4-BE49-F238E27FC236}">
                <a16:creationId xmlns:a16="http://schemas.microsoft.com/office/drawing/2014/main" id="{6D546B77-7A4A-A5DA-8ECD-8D9D955B6858}"/>
              </a:ext>
            </a:extLst>
          </p:cNvPr>
          <p:cNvSpPr/>
          <p:nvPr/>
        </p:nvSpPr>
        <p:spPr>
          <a:xfrm>
            <a:off x="5766643" y="4492882"/>
            <a:ext cx="477673" cy="471344"/>
          </a:xfrm>
          <a:prstGeom prst="rect">
            <a:avLst/>
          </a:prstGeom>
          <a:solidFill>
            <a:schemeClr val="accent4">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52" name="正方形/長方形 51">
            <a:extLst>
              <a:ext uri="{FF2B5EF4-FFF2-40B4-BE49-F238E27FC236}">
                <a16:creationId xmlns:a16="http://schemas.microsoft.com/office/drawing/2014/main" id="{59C2AEE6-41FE-E1EF-1609-53858227937D}"/>
              </a:ext>
            </a:extLst>
          </p:cNvPr>
          <p:cNvSpPr/>
          <p:nvPr/>
        </p:nvSpPr>
        <p:spPr>
          <a:xfrm>
            <a:off x="6239700" y="4492882"/>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53" name="テキスト ボックス 52">
            <a:extLst>
              <a:ext uri="{FF2B5EF4-FFF2-40B4-BE49-F238E27FC236}">
                <a16:creationId xmlns:a16="http://schemas.microsoft.com/office/drawing/2014/main" id="{D1015F02-FE74-4479-AB84-367D2B37B21E}"/>
              </a:ext>
            </a:extLst>
          </p:cNvPr>
          <p:cNvSpPr txBox="1"/>
          <p:nvPr/>
        </p:nvSpPr>
        <p:spPr>
          <a:xfrm>
            <a:off x="372829" y="4405388"/>
            <a:ext cx="1569660" cy="646331"/>
          </a:xfrm>
          <a:prstGeom prst="rect">
            <a:avLst/>
          </a:prstGeom>
          <a:noFill/>
        </p:spPr>
        <p:txBody>
          <a:bodyPr wrap="none" rtlCol="0">
            <a:spAutoFit/>
          </a:bodyPr>
          <a:lstStyle/>
          <a:p>
            <a:pPr algn="ctr"/>
            <a:r>
              <a:rPr kumimoji="1" lang="ja-GB" altLang="en-US" dirty="0"/>
              <a:t>グループ内で</a:t>
            </a:r>
            <a:endParaRPr kumimoji="1" lang="en-US" altLang="ja-GB" dirty="0"/>
          </a:p>
          <a:p>
            <a:pPr algn="ctr"/>
            <a:r>
              <a:rPr kumimoji="1" lang="ja-GB" altLang="en-US" dirty="0"/>
              <a:t>順番をつける</a:t>
            </a:r>
          </a:p>
        </p:txBody>
      </p:sp>
    </p:spTree>
    <p:extLst>
      <p:ext uri="{BB962C8B-B14F-4D97-AF65-F5344CB8AC3E}">
        <p14:creationId xmlns:p14="http://schemas.microsoft.com/office/powerpoint/2010/main" val="13794998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FBBAE-2867-A1F0-5A81-65EC5030FA2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F8C8785-85CF-2E41-9F53-706F272FC4CC}"/>
              </a:ext>
            </a:extLst>
          </p:cNvPr>
          <p:cNvSpPr>
            <a:spLocks noGrp="1"/>
          </p:cNvSpPr>
          <p:nvPr>
            <p:ph type="title"/>
          </p:nvPr>
        </p:nvSpPr>
        <p:spPr/>
        <p:txBody>
          <a:bodyPr/>
          <a:lstStyle/>
          <a:p>
            <a:r>
              <a:rPr kumimoji="1" lang="ja-GB" altLang="en-US" dirty="0"/>
              <a:t>マージソート（直訳：統合ソート）</a:t>
            </a:r>
          </a:p>
        </p:txBody>
      </p:sp>
      <p:sp>
        <p:nvSpPr>
          <p:cNvPr id="3" name="コンテンツ プレースホルダー 2">
            <a:extLst>
              <a:ext uri="{FF2B5EF4-FFF2-40B4-BE49-F238E27FC236}">
                <a16:creationId xmlns:a16="http://schemas.microsoft.com/office/drawing/2014/main" id="{0A5E4EF2-0AFD-870B-96E5-3B78F869C71B}"/>
              </a:ext>
            </a:extLst>
          </p:cNvPr>
          <p:cNvSpPr>
            <a:spLocks noGrp="1"/>
          </p:cNvSpPr>
          <p:nvPr>
            <p:ph idx="1"/>
          </p:nvPr>
        </p:nvSpPr>
        <p:spPr/>
        <p:txBody>
          <a:bodyPr/>
          <a:lstStyle/>
          <a:p>
            <a:pPr marL="0" indent="0">
              <a:buNone/>
            </a:pPr>
            <a:r>
              <a:rPr kumimoji="1" lang="en-US" altLang="ja-GB" dirty="0"/>
              <a:t>(1)</a:t>
            </a:r>
            <a:r>
              <a:rPr kumimoji="1" lang="ja-GB" altLang="en-US" dirty="0"/>
              <a:t>データを半分に分割して，</a:t>
            </a:r>
            <a:r>
              <a:rPr kumimoji="1" lang="en-US" altLang="ja-GB" dirty="0"/>
              <a:t>(2)</a:t>
            </a:r>
            <a:r>
              <a:rPr kumimoji="1" lang="ja-GB" altLang="en-US" dirty="0"/>
              <a:t>決まった規則で統合していく</a:t>
            </a:r>
          </a:p>
        </p:txBody>
      </p:sp>
      <p:grpSp>
        <p:nvGrpSpPr>
          <p:cNvPr id="15" name="グループ化 14">
            <a:extLst>
              <a:ext uri="{FF2B5EF4-FFF2-40B4-BE49-F238E27FC236}">
                <a16:creationId xmlns:a16="http://schemas.microsoft.com/office/drawing/2014/main" id="{455B06C8-52C7-D59A-24A1-7DA98EE3931F}"/>
              </a:ext>
            </a:extLst>
          </p:cNvPr>
          <p:cNvGrpSpPr/>
          <p:nvPr/>
        </p:nvGrpSpPr>
        <p:grpSpPr>
          <a:xfrm>
            <a:off x="2651419" y="1524260"/>
            <a:ext cx="3831735" cy="471346"/>
            <a:chOff x="2534668" y="1543114"/>
            <a:chExt cx="3831735" cy="471346"/>
          </a:xfrm>
          <a:noFill/>
        </p:grpSpPr>
        <p:sp>
          <p:nvSpPr>
            <p:cNvPr id="5" name="正方形/長方形 4">
              <a:extLst>
                <a:ext uri="{FF2B5EF4-FFF2-40B4-BE49-F238E27FC236}">
                  <a16:creationId xmlns:a16="http://schemas.microsoft.com/office/drawing/2014/main" id="{32DFB358-8FA3-A2D5-6F2E-F3A6849253A1}"/>
                </a:ext>
              </a:extLst>
            </p:cNvPr>
            <p:cNvSpPr/>
            <p:nvPr/>
          </p:nvSpPr>
          <p:spPr>
            <a:xfrm>
              <a:off x="3013265" y="1543116"/>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6" name="正方形/長方形 5">
              <a:extLst>
                <a:ext uri="{FF2B5EF4-FFF2-40B4-BE49-F238E27FC236}">
                  <a16:creationId xmlns:a16="http://schemas.microsoft.com/office/drawing/2014/main" id="{EB7125C1-19A8-069C-44A6-FA3405EBA188}"/>
                </a:ext>
              </a:extLst>
            </p:cNvPr>
            <p:cNvSpPr/>
            <p:nvPr/>
          </p:nvSpPr>
          <p:spPr>
            <a:xfrm>
              <a:off x="3496672"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8</a:t>
              </a:r>
              <a:endParaRPr kumimoji="1" lang="ja-GB" altLang="en-US" dirty="0">
                <a:solidFill>
                  <a:schemeClr val="tx1">
                    <a:lumMod val="50000"/>
                    <a:lumOff val="50000"/>
                  </a:schemeClr>
                </a:solidFill>
              </a:endParaRPr>
            </a:p>
          </p:txBody>
        </p:sp>
        <p:sp>
          <p:nvSpPr>
            <p:cNvPr id="7" name="正方形/長方形 6">
              <a:extLst>
                <a:ext uri="{FF2B5EF4-FFF2-40B4-BE49-F238E27FC236}">
                  <a16:creationId xmlns:a16="http://schemas.microsoft.com/office/drawing/2014/main" id="{A9F40644-B6EC-65CC-1FAB-6A75FCF009A6}"/>
                </a:ext>
              </a:extLst>
            </p:cNvPr>
            <p:cNvSpPr/>
            <p:nvPr/>
          </p:nvSpPr>
          <p:spPr>
            <a:xfrm>
              <a:off x="3974345"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8" name="正方形/長方形 7">
              <a:extLst>
                <a:ext uri="{FF2B5EF4-FFF2-40B4-BE49-F238E27FC236}">
                  <a16:creationId xmlns:a16="http://schemas.microsoft.com/office/drawing/2014/main" id="{8B6E8532-FD99-FAC2-AC53-3EBDAFC6AC47}"/>
                </a:ext>
              </a:extLst>
            </p:cNvPr>
            <p:cNvSpPr/>
            <p:nvPr/>
          </p:nvSpPr>
          <p:spPr>
            <a:xfrm>
              <a:off x="4453864"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4E79337A-1BCD-6489-0AC1-1C6823E37BC8}"/>
                </a:ext>
              </a:extLst>
            </p:cNvPr>
            <p:cNvSpPr/>
            <p:nvPr/>
          </p:nvSpPr>
          <p:spPr>
            <a:xfrm>
              <a:off x="4931537"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10" name="正方形/長方形 9">
              <a:extLst>
                <a:ext uri="{FF2B5EF4-FFF2-40B4-BE49-F238E27FC236}">
                  <a16:creationId xmlns:a16="http://schemas.microsoft.com/office/drawing/2014/main" id="{D0E7CE95-BFE4-604F-D08C-9D09F507C3D8}"/>
                </a:ext>
              </a:extLst>
            </p:cNvPr>
            <p:cNvSpPr/>
            <p:nvPr/>
          </p:nvSpPr>
          <p:spPr>
            <a:xfrm>
              <a:off x="5411057"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10</a:t>
              </a:r>
              <a:endParaRPr kumimoji="1" lang="ja-GB" altLang="en-US" dirty="0">
                <a:solidFill>
                  <a:schemeClr val="tx1">
                    <a:lumMod val="50000"/>
                    <a:lumOff val="50000"/>
                  </a:schemeClr>
                </a:solidFill>
              </a:endParaRPr>
            </a:p>
          </p:txBody>
        </p:sp>
        <p:sp>
          <p:nvSpPr>
            <p:cNvPr id="11" name="正方形/長方形 10">
              <a:extLst>
                <a:ext uri="{FF2B5EF4-FFF2-40B4-BE49-F238E27FC236}">
                  <a16:creationId xmlns:a16="http://schemas.microsoft.com/office/drawing/2014/main" id="{9A87A61E-DD1B-B2BD-37FB-24CDA1E174B1}"/>
                </a:ext>
              </a:extLst>
            </p:cNvPr>
            <p:cNvSpPr/>
            <p:nvPr/>
          </p:nvSpPr>
          <p:spPr>
            <a:xfrm>
              <a:off x="5888730"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C0BDC0C9-B658-F82F-055C-6346D9C47AFB}"/>
                </a:ext>
              </a:extLst>
            </p:cNvPr>
            <p:cNvSpPr/>
            <p:nvPr/>
          </p:nvSpPr>
          <p:spPr>
            <a:xfrm>
              <a:off x="2534668" y="1543114"/>
              <a:ext cx="477673" cy="471344"/>
            </a:xfrm>
            <a:prstGeom prst="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5</a:t>
              </a:r>
              <a:endParaRPr kumimoji="1" lang="ja-GB" altLang="en-US" dirty="0">
                <a:solidFill>
                  <a:schemeClr val="tx1">
                    <a:lumMod val="50000"/>
                    <a:lumOff val="50000"/>
                  </a:schemeClr>
                </a:solidFill>
              </a:endParaRPr>
            </a:p>
          </p:txBody>
        </p:sp>
      </p:grpSp>
      <p:sp>
        <p:nvSpPr>
          <p:cNvPr id="17" name="正方形/長方形 16">
            <a:extLst>
              <a:ext uri="{FF2B5EF4-FFF2-40B4-BE49-F238E27FC236}">
                <a16:creationId xmlns:a16="http://schemas.microsoft.com/office/drawing/2014/main" id="{4525AAFA-7934-398A-531F-7150E8A51855}"/>
              </a:ext>
            </a:extLst>
          </p:cNvPr>
          <p:cNvSpPr/>
          <p:nvPr/>
        </p:nvSpPr>
        <p:spPr>
          <a:xfrm>
            <a:off x="2900606" y="2127770"/>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18" name="正方形/長方形 17">
            <a:extLst>
              <a:ext uri="{FF2B5EF4-FFF2-40B4-BE49-F238E27FC236}">
                <a16:creationId xmlns:a16="http://schemas.microsoft.com/office/drawing/2014/main" id="{027C787F-2725-4057-9DF6-ACA091699294}"/>
              </a:ext>
            </a:extLst>
          </p:cNvPr>
          <p:cNvSpPr/>
          <p:nvPr/>
        </p:nvSpPr>
        <p:spPr>
          <a:xfrm>
            <a:off x="3374586" y="2127768"/>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8</a:t>
            </a:r>
            <a:endParaRPr kumimoji="1" lang="ja-GB" altLang="en-US" dirty="0">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67302CBD-F1ED-97C2-316A-61C2E6E7F331}"/>
              </a:ext>
            </a:extLst>
          </p:cNvPr>
          <p:cNvSpPr/>
          <p:nvPr/>
        </p:nvSpPr>
        <p:spPr>
          <a:xfrm>
            <a:off x="3852259" y="2127768"/>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20" name="正方形/長方形 19">
            <a:extLst>
              <a:ext uri="{FF2B5EF4-FFF2-40B4-BE49-F238E27FC236}">
                <a16:creationId xmlns:a16="http://schemas.microsoft.com/office/drawing/2014/main" id="{05162596-A512-9472-7255-4F40FE565373}"/>
              </a:ext>
            </a:extLst>
          </p:cNvPr>
          <p:cNvSpPr/>
          <p:nvPr/>
        </p:nvSpPr>
        <p:spPr>
          <a:xfrm>
            <a:off x="4809451" y="212776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21" name="正方形/長方形 20">
            <a:extLst>
              <a:ext uri="{FF2B5EF4-FFF2-40B4-BE49-F238E27FC236}">
                <a16:creationId xmlns:a16="http://schemas.microsoft.com/office/drawing/2014/main" id="{7DA5C1BA-0C6F-AB21-B986-3537EAE371F1}"/>
              </a:ext>
            </a:extLst>
          </p:cNvPr>
          <p:cNvSpPr/>
          <p:nvPr/>
        </p:nvSpPr>
        <p:spPr>
          <a:xfrm>
            <a:off x="5287124" y="212776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22" name="正方形/長方形 21">
            <a:extLst>
              <a:ext uri="{FF2B5EF4-FFF2-40B4-BE49-F238E27FC236}">
                <a16:creationId xmlns:a16="http://schemas.microsoft.com/office/drawing/2014/main" id="{EA94D2D5-D0D6-75C7-E08D-85D15EEFB162}"/>
              </a:ext>
            </a:extLst>
          </p:cNvPr>
          <p:cNvSpPr/>
          <p:nvPr/>
        </p:nvSpPr>
        <p:spPr>
          <a:xfrm>
            <a:off x="5766644" y="212776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10</a:t>
            </a:r>
            <a:endParaRPr kumimoji="1" lang="ja-GB" altLang="en-US" dirty="0">
              <a:solidFill>
                <a:schemeClr val="tx1">
                  <a:lumMod val="50000"/>
                  <a:lumOff val="50000"/>
                </a:schemeClr>
              </a:solidFill>
            </a:endParaRPr>
          </a:p>
        </p:txBody>
      </p:sp>
      <p:sp>
        <p:nvSpPr>
          <p:cNvPr id="23" name="正方形/長方形 22">
            <a:extLst>
              <a:ext uri="{FF2B5EF4-FFF2-40B4-BE49-F238E27FC236}">
                <a16:creationId xmlns:a16="http://schemas.microsoft.com/office/drawing/2014/main" id="{8DF7F3E7-F1F9-1788-3274-487D713C3F2E}"/>
              </a:ext>
            </a:extLst>
          </p:cNvPr>
          <p:cNvSpPr/>
          <p:nvPr/>
        </p:nvSpPr>
        <p:spPr>
          <a:xfrm>
            <a:off x="6244317" y="2127769"/>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24" name="正方形/長方形 23">
            <a:extLst>
              <a:ext uri="{FF2B5EF4-FFF2-40B4-BE49-F238E27FC236}">
                <a16:creationId xmlns:a16="http://schemas.microsoft.com/office/drawing/2014/main" id="{9D20F5CD-4312-CC39-F131-C05F7A94275F}"/>
              </a:ext>
            </a:extLst>
          </p:cNvPr>
          <p:cNvSpPr/>
          <p:nvPr/>
        </p:nvSpPr>
        <p:spPr>
          <a:xfrm>
            <a:off x="2422009" y="2127768"/>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5</a:t>
            </a:r>
            <a:endParaRPr kumimoji="1" lang="ja-GB" altLang="en-US" dirty="0">
              <a:solidFill>
                <a:schemeClr val="tx1">
                  <a:lumMod val="50000"/>
                  <a:lumOff val="50000"/>
                </a:schemeClr>
              </a:solidFill>
            </a:endParaRPr>
          </a:p>
        </p:txBody>
      </p:sp>
      <p:sp>
        <p:nvSpPr>
          <p:cNvPr id="25" name="正方形/長方形 24">
            <a:extLst>
              <a:ext uri="{FF2B5EF4-FFF2-40B4-BE49-F238E27FC236}">
                <a16:creationId xmlns:a16="http://schemas.microsoft.com/office/drawing/2014/main" id="{3046635E-C8C6-8595-E403-F344696405B5}"/>
              </a:ext>
            </a:extLst>
          </p:cNvPr>
          <p:cNvSpPr/>
          <p:nvPr/>
        </p:nvSpPr>
        <p:spPr>
          <a:xfrm>
            <a:off x="2803035" y="2711018"/>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26" name="正方形/長方形 25">
            <a:extLst>
              <a:ext uri="{FF2B5EF4-FFF2-40B4-BE49-F238E27FC236}">
                <a16:creationId xmlns:a16="http://schemas.microsoft.com/office/drawing/2014/main" id="{51E13285-15AD-5B32-F592-DD5682676BDE}"/>
              </a:ext>
            </a:extLst>
          </p:cNvPr>
          <p:cNvSpPr/>
          <p:nvPr/>
        </p:nvSpPr>
        <p:spPr>
          <a:xfrm>
            <a:off x="3479545"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8</a:t>
            </a:r>
            <a:endParaRPr kumimoji="1" lang="ja-GB" altLang="en-US" dirty="0">
              <a:solidFill>
                <a:schemeClr val="tx1">
                  <a:lumMod val="50000"/>
                  <a:lumOff val="50000"/>
                </a:schemeClr>
              </a:solidFill>
            </a:endParaRPr>
          </a:p>
        </p:txBody>
      </p:sp>
      <p:sp>
        <p:nvSpPr>
          <p:cNvPr id="27" name="正方形/長方形 26">
            <a:extLst>
              <a:ext uri="{FF2B5EF4-FFF2-40B4-BE49-F238E27FC236}">
                <a16:creationId xmlns:a16="http://schemas.microsoft.com/office/drawing/2014/main" id="{93D1A14D-F3F6-04DB-7239-9299B1A09B60}"/>
              </a:ext>
            </a:extLst>
          </p:cNvPr>
          <p:cNvSpPr/>
          <p:nvPr/>
        </p:nvSpPr>
        <p:spPr>
          <a:xfrm>
            <a:off x="3957218"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28" name="正方形/長方形 27">
            <a:extLst>
              <a:ext uri="{FF2B5EF4-FFF2-40B4-BE49-F238E27FC236}">
                <a16:creationId xmlns:a16="http://schemas.microsoft.com/office/drawing/2014/main" id="{A148DE19-52E8-AF0A-A4D3-15D271EA11A8}"/>
              </a:ext>
            </a:extLst>
          </p:cNvPr>
          <p:cNvSpPr/>
          <p:nvPr/>
        </p:nvSpPr>
        <p:spPr>
          <a:xfrm>
            <a:off x="4673727"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29" name="正方形/長方形 28">
            <a:extLst>
              <a:ext uri="{FF2B5EF4-FFF2-40B4-BE49-F238E27FC236}">
                <a16:creationId xmlns:a16="http://schemas.microsoft.com/office/drawing/2014/main" id="{41F6EA55-401B-D151-ACE6-1A86B8D2CDAC}"/>
              </a:ext>
            </a:extLst>
          </p:cNvPr>
          <p:cNvSpPr/>
          <p:nvPr/>
        </p:nvSpPr>
        <p:spPr>
          <a:xfrm>
            <a:off x="5151400"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30" name="正方形/長方形 29">
            <a:extLst>
              <a:ext uri="{FF2B5EF4-FFF2-40B4-BE49-F238E27FC236}">
                <a16:creationId xmlns:a16="http://schemas.microsoft.com/office/drawing/2014/main" id="{2A4B07F2-FEB2-687E-94AA-B277918FD9D7}"/>
              </a:ext>
            </a:extLst>
          </p:cNvPr>
          <p:cNvSpPr/>
          <p:nvPr/>
        </p:nvSpPr>
        <p:spPr>
          <a:xfrm>
            <a:off x="5864217"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10</a:t>
            </a:r>
            <a:endParaRPr kumimoji="1" lang="ja-GB" altLang="en-US" dirty="0">
              <a:solidFill>
                <a:schemeClr val="tx1">
                  <a:lumMod val="50000"/>
                  <a:lumOff val="50000"/>
                </a:schemeClr>
              </a:solidFill>
            </a:endParaRPr>
          </a:p>
        </p:txBody>
      </p:sp>
      <p:sp>
        <p:nvSpPr>
          <p:cNvPr id="31" name="正方形/長方形 30">
            <a:extLst>
              <a:ext uri="{FF2B5EF4-FFF2-40B4-BE49-F238E27FC236}">
                <a16:creationId xmlns:a16="http://schemas.microsoft.com/office/drawing/2014/main" id="{ADC45ABF-328D-6748-F1D5-FFAF332A22F8}"/>
              </a:ext>
            </a:extLst>
          </p:cNvPr>
          <p:cNvSpPr/>
          <p:nvPr/>
        </p:nvSpPr>
        <p:spPr>
          <a:xfrm>
            <a:off x="6341890"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32" name="正方形/長方形 31">
            <a:extLst>
              <a:ext uri="{FF2B5EF4-FFF2-40B4-BE49-F238E27FC236}">
                <a16:creationId xmlns:a16="http://schemas.microsoft.com/office/drawing/2014/main" id="{E2047639-5134-7811-AB43-1C7C0EE81250}"/>
              </a:ext>
            </a:extLst>
          </p:cNvPr>
          <p:cNvSpPr/>
          <p:nvPr/>
        </p:nvSpPr>
        <p:spPr>
          <a:xfrm>
            <a:off x="2324438" y="2711016"/>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5</a:t>
            </a:r>
            <a:endParaRPr kumimoji="1" lang="ja-GB" altLang="en-US" dirty="0">
              <a:solidFill>
                <a:schemeClr val="tx1">
                  <a:lumMod val="50000"/>
                  <a:lumOff val="50000"/>
                </a:schemeClr>
              </a:solidFill>
            </a:endParaRPr>
          </a:p>
        </p:txBody>
      </p:sp>
      <p:sp>
        <p:nvSpPr>
          <p:cNvPr id="33" name="正方形/長方形 32">
            <a:extLst>
              <a:ext uri="{FF2B5EF4-FFF2-40B4-BE49-F238E27FC236}">
                <a16:creationId xmlns:a16="http://schemas.microsoft.com/office/drawing/2014/main" id="{14AE3B88-DB7C-690E-9EA8-74DBC0D30EBA}"/>
              </a:ext>
            </a:extLst>
          </p:cNvPr>
          <p:cNvSpPr/>
          <p:nvPr/>
        </p:nvSpPr>
        <p:spPr>
          <a:xfrm>
            <a:off x="2839519"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34" name="正方形/長方形 33">
            <a:extLst>
              <a:ext uri="{FF2B5EF4-FFF2-40B4-BE49-F238E27FC236}">
                <a16:creationId xmlns:a16="http://schemas.microsoft.com/office/drawing/2014/main" id="{0101E646-4C7D-D6A4-68B9-69AAF7261581}"/>
              </a:ext>
            </a:extLst>
          </p:cNvPr>
          <p:cNvSpPr/>
          <p:nvPr/>
        </p:nvSpPr>
        <p:spPr>
          <a:xfrm>
            <a:off x="3445888"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8</a:t>
            </a:r>
            <a:endParaRPr kumimoji="1" lang="ja-GB" altLang="en-US" dirty="0">
              <a:solidFill>
                <a:schemeClr val="tx1">
                  <a:lumMod val="50000"/>
                  <a:lumOff val="50000"/>
                </a:schemeClr>
              </a:solidFill>
            </a:endParaRPr>
          </a:p>
        </p:txBody>
      </p:sp>
      <p:sp>
        <p:nvSpPr>
          <p:cNvPr id="35" name="正方形/長方形 34">
            <a:extLst>
              <a:ext uri="{FF2B5EF4-FFF2-40B4-BE49-F238E27FC236}">
                <a16:creationId xmlns:a16="http://schemas.microsoft.com/office/drawing/2014/main" id="{2AA96054-4BE1-8F19-672B-30C7EEEA8E06}"/>
              </a:ext>
            </a:extLst>
          </p:cNvPr>
          <p:cNvSpPr/>
          <p:nvPr/>
        </p:nvSpPr>
        <p:spPr>
          <a:xfrm>
            <a:off x="4001349"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36" name="正方形/長方形 35">
            <a:extLst>
              <a:ext uri="{FF2B5EF4-FFF2-40B4-BE49-F238E27FC236}">
                <a16:creationId xmlns:a16="http://schemas.microsoft.com/office/drawing/2014/main" id="{ED758667-6EAD-778D-94AE-D95FE048794C}"/>
              </a:ext>
            </a:extLst>
          </p:cNvPr>
          <p:cNvSpPr/>
          <p:nvPr/>
        </p:nvSpPr>
        <p:spPr>
          <a:xfrm>
            <a:off x="4603836"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37" name="正方形/長方形 36">
            <a:extLst>
              <a:ext uri="{FF2B5EF4-FFF2-40B4-BE49-F238E27FC236}">
                <a16:creationId xmlns:a16="http://schemas.microsoft.com/office/drawing/2014/main" id="{04CC9DE0-4089-B911-DA30-691AB96240B6}"/>
              </a:ext>
            </a:extLst>
          </p:cNvPr>
          <p:cNvSpPr/>
          <p:nvPr/>
        </p:nvSpPr>
        <p:spPr>
          <a:xfrm>
            <a:off x="5204542"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38" name="正方形/長方形 37">
            <a:extLst>
              <a:ext uri="{FF2B5EF4-FFF2-40B4-BE49-F238E27FC236}">
                <a16:creationId xmlns:a16="http://schemas.microsoft.com/office/drawing/2014/main" id="{E1548FB3-2B75-6DEF-A2FF-483CF5CCEC63}"/>
              </a:ext>
            </a:extLst>
          </p:cNvPr>
          <p:cNvSpPr/>
          <p:nvPr/>
        </p:nvSpPr>
        <p:spPr>
          <a:xfrm>
            <a:off x="5792805"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10</a:t>
            </a:r>
            <a:endParaRPr kumimoji="1" lang="ja-GB" altLang="en-US" dirty="0">
              <a:solidFill>
                <a:schemeClr val="tx1">
                  <a:lumMod val="50000"/>
                  <a:lumOff val="50000"/>
                </a:schemeClr>
              </a:solidFill>
            </a:endParaRPr>
          </a:p>
        </p:txBody>
      </p:sp>
      <p:sp>
        <p:nvSpPr>
          <p:cNvPr id="39" name="正方形/長方形 38">
            <a:extLst>
              <a:ext uri="{FF2B5EF4-FFF2-40B4-BE49-F238E27FC236}">
                <a16:creationId xmlns:a16="http://schemas.microsoft.com/office/drawing/2014/main" id="{E8CEB469-DCED-3D0F-68DA-5696A9AAB0CD}"/>
              </a:ext>
            </a:extLst>
          </p:cNvPr>
          <p:cNvSpPr/>
          <p:nvPr/>
        </p:nvSpPr>
        <p:spPr>
          <a:xfrm>
            <a:off x="6395292"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40" name="正方形/長方形 39">
            <a:extLst>
              <a:ext uri="{FF2B5EF4-FFF2-40B4-BE49-F238E27FC236}">
                <a16:creationId xmlns:a16="http://schemas.microsoft.com/office/drawing/2014/main" id="{8C1F72B9-77CD-429F-818B-12DE2117985F}"/>
              </a:ext>
            </a:extLst>
          </p:cNvPr>
          <p:cNvSpPr/>
          <p:nvPr/>
        </p:nvSpPr>
        <p:spPr>
          <a:xfrm>
            <a:off x="2271035" y="3306774"/>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5</a:t>
            </a:r>
            <a:endParaRPr kumimoji="1" lang="ja-GB" altLang="en-US" dirty="0">
              <a:solidFill>
                <a:schemeClr val="tx1">
                  <a:lumMod val="50000"/>
                  <a:lumOff val="50000"/>
                </a:schemeClr>
              </a:solidFill>
            </a:endParaRPr>
          </a:p>
        </p:txBody>
      </p:sp>
      <p:sp>
        <p:nvSpPr>
          <p:cNvPr id="4" name="正方形/長方形 3">
            <a:extLst>
              <a:ext uri="{FF2B5EF4-FFF2-40B4-BE49-F238E27FC236}">
                <a16:creationId xmlns:a16="http://schemas.microsoft.com/office/drawing/2014/main" id="{679456F6-CC83-261F-C139-2A7606AB241E}"/>
              </a:ext>
            </a:extLst>
          </p:cNvPr>
          <p:cNvSpPr/>
          <p:nvPr/>
        </p:nvSpPr>
        <p:spPr>
          <a:xfrm>
            <a:off x="2324383" y="3889373"/>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4</a:t>
            </a:r>
            <a:endParaRPr kumimoji="1" lang="ja-GB" altLang="en-US" dirty="0">
              <a:solidFill>
                <a:schemeClr val="tx1">
                  <a:lumMod val="50000"/>
                  <a:lumOff val="50000"/>
                </a:schemeClr>
              </a:solidFill>
            </a:endParaRPr>
          </a:p>
        </p:txBody>
      </p:sp>
      <p:sp>
        <p:nvSpPr>
          <p:cNvPr id="12" name="正方形/長方形 11">
            <a:extLst>
              <a:ext uri="{FF2B5EF4-FFF2-40B4-BE49-F238E27FC236}">
                <a16:creationId xmlns:a16="http://schemas.microsoft.com/office/drawing/2014/main" id="{D5A3767E-DFE3-4596-4192-D0E5909EE88D}"/>
              </a:ext>
            </a:extLst>
          </p:cNvPr>
          <p:cNvSpPr/>
          <p:nvPr/>
        </p:nvSpPr>
        <p:spPr>
          <a:xfrm>
            <a:off x="2803035" y="3889375"/>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5</a:t>
            </a:r>
            <a:endParaRPr kumimoji="1" lang="ja-GB" altLang="en-US" dirty="0">
              <a:solidFill>
                <a:schemeClr val="tx1">
                  <a:lumMod val="50000"/>
                  <a:lumOff val="50000"/>
                </a:schemeClr>
              </a:solidFill>
            </a:endParaRPr>
          </a:p>
        </p:txBody>
      </p:sp>
      <p:sp>
        <p:nvSpPr>
          <p:cNvPr id="13" name="正方形/長方形 12">
            <a:extLst>
              <a:ext uri="{FF2B5EF4-FFF2-40B4-BE49-F238E27FC236}">
                <a16:creationId xmlns:a16="http://schemas.microsoft.com/office/drawing/2014/main" id="{703EFD7E-1374-886B-8CFB-3812D432EEDA}"/>
              </a:ext>
            </a:extLst>
          </p:cNvPr>
          <p:cNvSpPr/>
          <p:nvPr/>
        </p:nvSpPr>
        <p:spPr>
          <a:xfrm>
            <a:off x="3479544" y="3889373"/>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2</a:t>
            </a:r>
            <a:endParaRPr kumimoji="1" lang="ja-GB" altLang="en-US" dirty="0">
              <a:solidFill>
                <a:schemeClr val="tx1">
                  <a:lumMod val="50000"/>
                  <a:lumOff val="50000"/>
                </a:schemeClr>
              </a:solidFill>
            </a:endParaRPr>
          </a:p>
        </p:txBody>
      </p:sp>
      <p:sp>
        <p:nvSpPr>
          <p:cNvPr id="16" name="正方形/長方形 15">
            <a:extLst>
              <a:ext uri="{FF2B5EF4-FFF2-40B4-BE49-F238E27FC236}">
                <a16:creationId xmlns:a16="http://schemas.microsoft.com/office/drawing/2014/main" id="{6D4CBAB1-A2FF-87D7-55D0-6AD7C5BD0497}"/>
              </a:ext>
            </a:extLst>
          </p:cNvPr>
          <p:cNvSpPr/>
          <p:nvPr/>
        </p:nvSpPr>
        <p:spPr>
          <a:xfrm>
            <a:off x="3957217" y="3889373"/>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8</a:t>
            </a:r>
            <a:endParaRPr kumimoji="1" lang="ja-GB" altLang="en-US" dirty="0">
              <a:solidFill>
                <a:schemeClr val="tx1">
                  <a:lumMod val="50000"/>
                  <a:lumOff val="50000"/>
                </a:schemeClr>
              </a:solidFill>
            </a:endParaRPr>
          </a:p>
        </p:txBody>
      </p:sp>
      <p:sp>
        <p:nvSpPr>
          <p:cNvPr id="41" name="正方形/長方形 40">
            <a:extLst>
              <a:ext uri="{FF2B5EF4-FFF2-40B4-BE49-F238E27FC236}">
                <a16:creationId xmlns:a16="http://schemas.microsoft.com/office/drawing/2014/main" id="{8A73E686-959C-E390-E6C8-47C1CFE2795E}"/>
              </a:ext>
            </a:extLst>
          </p:cNvPr>
          <p:cNvSpPr/>
          <p:nvPr/>
        </p:nvSpPr>
        <p:spPr>
          <a:xfrm>
            <a:off x="4673726" y="3889373"/>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3</a:t>
            </a:r>
            <a:endParaRPr kumimoji="1" lang="ja-GB" altLang="en-US" dirty="0">
              <a:solidFill>
                <a:schemeClr val="tx1">
                  <a:lumMod val="50000"/>
                  <a:lumOff val="50000"/>
                </a:schemeClr>
              </a:solidFill>
            </a:endParaRPr>
          </a:p>
        </p:txBody>
      </p:sp>
      <p:sp>
        <p:nvSpPr>
          <p:cNvPr id="42" name="正方形/長方形 41">
            <a:extLst>
              <a:ext uri="{FF2B5EF4-FFF2-40B4-BE49-F238E27FC236}">
                <a16:creationId xmlns:a16="http://schemas.microsoft.com/office/drawing/2014/main" id="{0B5AD80A-1C9C-B69B-7332-CD37216B9199}"/>
              </a:ext>
            </a:extLst>
          </p:cNvPr>
          <p:cNvSpPr/>
          <p:nvPr/>
        </p:nvSpPr>
        <p:spPr>
          <a:xfrm>
            <a:off x="5151400" y="3889373"/>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7</a:t>
            </a:r>
            <a:endParaRPr kumimoji="1" lang="ja-GB" altLang="en-US" dirty="0">
              <a:solidFill>
                <a:schemeClr val="tx1">
                  <a:lumMod val="50000"/>
                  <a:lumOff val="50000"/>
                </a:schemeClr>
              </a:solidFill>
            </a:endParaRPr>
          </a:p>
        </p:txBody>
      </p:sp>
      <p:sp>
        <p:nvSpPr>
          <p:cNvPr id="43" name="正方形/長方形 42">
            <a:extLst>
              <a:ext uri="{FF2B5EF4-FFF2-40B4-BE49-F238E27FC236}">
                <a16:creationId xmlns:a16="http://schemas.microsoft.com/office/drawing/2014/main" id="{2BC74160-EEE9-BBEE-6E9D-C92C99089A12}"/>
              </a:ext>
            </a:extLst>
          </p:cNvPr>
          <p:cNvSpPr/>
          <p:nvPr/>
        </p:nvSpPr>
        <p:spPr>
          <a:xfrm>
            <a:off x="5864217" y="3889373"/>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a:t>
            </a:r>
            <a:endParaRPr kumimoji="1" lang="ja-GB" altLang="en-US" dirty="0">
              <a:solidFill>
                <a:schemeClr val="tx1">
                  <a:lumMod val="50000"/>
                  <a:lumOff val="50000"/>
                </a:schemeClr>
              </a:solidFill>
            </a:endParaRPr>
          </a:p>
        </p:txBody>
      </p:sp>
      <p:sp>
        <p:nvSpPr>
          <p:cNvPr id="44" name="正方形/長方形 43">
            <a:extLst>
              <a:ext uri="{FF2B5EF4-FFF2-40B4-BE49-F238E27FC236}">
                <a16:creationId xmlns:a16="http://schemas.microsoft.com/office/drawing/2014/main" id="{8AE531F0-EB06-6482-3956-D83D7E5E388F}"/>
              </a:ext>
            </a:extLst>
          </p:cNvPr>
          <p:cNvSpPr/>
          <p:nvPr/>
        </p:nvSpPr>
        <p:spPr>
          <a:xfrm>
            <a:off x="6341890" y="3889373"/>
            <a:ext cx="477673" cy="471344"/>
          </a:xfrm>
          <a:prstGeom prst="rect">
            <a:avLst/>
          </a:prstGeom>
          <a:no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chemeClr val="tx1">
                    <a:lumMod val="50000"/>
                    <a:lumOff val="50000"/>
                  </a:schemeClr>
                </a:solidFill>
              </a:rPr>
              <a:t>10</a:t>
            </a:r>
            <a:endParaRPr kumimoji="1" lang="ja-GB" altLang="en-US" dirty="0">
              <a:solidFill>
                <a:schemeClr val="tx1">
                  <a:lumMod val="50000"/>
                  <a:lumOff val="50000"/>
                </a:schemeClr>
              </a:solidFill>
            </a:endParaRPr>
          </a:p>
        </p:txBody>
      </p:sp>
      <p:sp>
        <p:nvSpPr>
          <p:cNvPr id="45" name="正方形/長方形 44">
            <a:extLst>
              <a:ext uri="{FF2B5EF4-FFF2-40B4-BE49-F238E27FC236}">
                <a16:creationId xmlns:a16="http://schemas.microsoft.com/office/drawing/2014/main" id="{D166841B-55D4-99AC-56D3-CA5C6BF30A1F}"/>
              </a:ext>
            </a:extLst>
          </p:cNvPr>
          <p:cNvSpPr/>
          <p:nvPr/>
        </p:nvSpPr>
        <p:spPr>
          <a:xfrm>
            <a:off x="2422009" y="4492882"/>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46" name="正方形/長方形 45">
            <a:extLst>
              <a:ext uri="{FF2B5EF4-FFF2-40B4-BE49-F238E27FC236}">
                <a16:creationId xmlns:a16="http://schemas.microsoft.com/office/drawing/2014/main" id="{D9C3DF05-3C54-B519-4854-F4CB516975AC}"/>
              </a:ext>
            </a:extLst>
          </p:cNvPr>
          <p:cNvSpPr/>
          <p:nvPr/>
        </p:nvSpPr>
        <p:spPr>
          <a:xfrm>
            <a:off x="2899682" y="4492882"/>
            <a:ext cx="477673" cy="471344"/>
          </a:xfrm>
          <a:prstGeom prst="rect">
            <a:avLst/>
          </a:prstGeom>
          <a:solidFill>
            <a:schemeClr val="accent6">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47" name="正方形/長方形 46">
            <a:extLst>
              <a:ext uri="{FF2B5EF4-FFF2-40B4-BE49-F238E27FC236}">
                <a16:creationId xmlns:a16="http://schemas.microsoft.com/office/drawing/2014/main" id="{B5828387-C60A-6168-D0C2-3EC9741BDB34}"/>
              </a:ext>
            </a:extLst>
          </p:cNvPr>
          <p:cNvSpPr/>
          <p:nvPr/>
        </p:nvSpPr>
        <p:spPr>
          <a:xfrm>
            <a:off x="3374585" y="4492882"/>
            <a:ext cx="477673" cy="471344"/>
          </a:xfrm>
          <a:prstGeom prst="rect">
            <a:avLst/>
          </a:prstGeom>
          <a:solidFill>
            <a:schemeClr val="accent4">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5</a:t>
            </a:r>
            <a:endParaRPr kumimoji="1" lang="ja-GB" altLang="en-US" dirty="0">
              <a:solidFill>
                <a:srgbClr val="2F2523"/>
              </a:solidFill>
            </a:endParaRPr>
          </a:p>
        </p:txBody>
      </p:sp>
      <p:sp>
        <p:nvSpPr>
          <p:cNvPr id="48" name="正方形/長方形 47">
            <a:extLst>
              <a:ext uri="{FF2B5EF4-FFF2-40B4-BE49-F238E27FC236}">
                <a16:creationId xmlns:a16="http://schemas.microsoft.com/office/drawing/2014/main" id="{07B4D2F5-6121-0E9E-7072-0EBF07FF4B33}"/>
              </a:ext>
            </a:extLst>
          </p:cNvPr>
          <p:cNvSpPr/>
          <p:nvPr/>
        </p:nvSpPr>
        <p:spPr>
          <a:xfrm>
            <a:off x="3852258" y="4492882"/>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49" name="正方形/長方形 48">
            <a:extLst>
              <a:ext uri="{FF2B5EF4-FFF2-40B4-BE49-F238E27FC236}">
                <a16:creationId xmlns:a16="http://schemas.microsoft.com/office/drawing/2014/main" id="{0F0A1E3A-87B0-02E7-AE5B-086BA148067E}"/>
              </a:ext>
            </a:extLst>
          </p:cNvPr>
          <p:cNvSpPr/>
          <p:nvPr/>
        </p:nvSpPr>
        <p:spPr>
          <a:xfrm>
            <a:off x="4809451" y="4495999"/>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50" name="正方形/長方形 49">
            <a:extLst>
              <a:ext uri="{FF2B5EF4-FFF2-40B4-BE49-F238E27FC236}">
                <a16:creationId xmlns:a16="http://schemas.microsoft.com/office/drawing/2014/main" id="{4A34FB2C-F508-D1E2-E726-3D4331D12FF5}"/>
              </a:ext>
            </a:extLst>
          </p:cNvPr>
          <p:cNvSpPr/>
          <p:nvPr/>
        </p:nvSpPr>
        <p:spPr>
          <a:xfrm>
            <a:off x="5287123" y="4492882"/>
            <a:ext cx="477673" cy="471344"/>
          </a:xfrm>
          <a:prstGeom prst="rect">
            <a:avLst/>
          </a:prstGeom>
          <a:solidFill>
            <a:schemeClr val="accent6">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51" name="正方形/長方形 50">
            <a:extLst>
              <a:ext uri="{FF2B5EF4-FFF2-40B4-BE49-F238E27FC236}">
                <a16:creationId xmlns:a16="http://schemas.microsoft.com/office/drawing/2014/main" id="{7B4715F5-5ACF-8917-3D36-09513E177377}"/>
              </a:ext>
            </a:extLst>
          </p:cNvPr>
          <p:cNvSpPr/>
          <p:nvPr/>
        </p:nvSpPr>
        <p:spPr>
          <a:xfrm>
            <a:off x="5766643" y="4492882"/>
            <a:ext cx="477673" cy="471344"/>
          </a:xfrm>
          <a:prstGeom prst="rect">
            <a:avLst/>
          </a:prstGeom>
          <a:solidFill>
            <a:schemeClr val="accent4">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52" name="正方形/長方形 51">
            <a:extLst>
              <a:ext uri="{FF2B5EF4-FFF2-40B4-BE49-F238E27FC236}">
                <a16:creationId xmlns:a16="http://schemas.microsoft.com/office/drawing/2014/main" id="{26263EDF-A2EE-CA7E-9E7E-3A9ED43A8AC5}"/>
              </a:ext>
            </a:extLst>
          </p:cNvPr>
          <p:cNvSpPr/>
          <p:nvPr/>
        </p:nvSpPr>
        <p:spPr>
          <a:xfrm>
            <a:off x="6239700" y="4492882"/>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53" name="正方形/長方形 52">
            <a:extLst>
              <a:ext uri="{FF2B5EF4-FFF2-40B4-BE49-F238E27FC236}">
                <a16:creationId xmlns:a16="http://schemas.microsoft.com/office/drawing/2014/main" id="{FAAE2A0A-DCDF-F7D6-1C88-2BF44575D30E}"/>
              </a:ext>
            </a:extLst>
          </p:cNvPr>
          <p:cNvSpPr/>
          <p:nvPr/>
        </p:nvSpPr>
        <p:spPr>
          <a:xfrm>
            <a:off x="2651419" y="5098066"/>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54" name="正方形/長方形 53">
            <a:extLst>
              <a:ext uri="{FF2B5EF4-FFF2-40B4-BE49-F238E27FC236}">
                <a16:creationId xmlns:a16="http://schemas.microsoft.com/office/drawing/2014/main" id="{A110B0B2-8DCC-4DDC-836F-6BFE8DF9F490}"/>
              </a:ext>
            </a:extLst>
          </p:cNvPr>
          <p:cNvSpPr/>
          <p:nvPr/>
        </p:nvSpPr>
        <p:spPr>
          <a:xfrm>
            <a:off x="3129091" y="5098066"/>
            <a:ext cx="477673" cy="471344"/>
          </a:xfrm>
          <a:prstGeom prst="rect">
            <a:avLst/>
          </a:prstGeom>
          <a:solidFill>
            <a:schemeClr val="accent5">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55" name="正方形/長方形 54">
            <a:extLst>
              <a:ext uri="{FF2B5EF4-FFF2-40B4-BE49-F238E27FC236}">
                <a16:creationId xmlns:a16="http://schemas.microsoft.com/office/drawing/2014/main" id="{B2E7B3CE-BBE3-5F69-6B3F-181C12C38A90}"/>
              </a:ext>
            </a:extLst>
          </p:cNvPr>
          <p:cNvSpPr/>
          <p:nvPr/>
        </p:nvSpPr>
        <p:spPr>
          <a:xfrm>
            <a:off x="3603994" y="5098066"/>
            <a:ext cx="477673" cy="471344"/>
          </a:xfrm>
          <a:prstGeom prst="rect">
            <a:avLst/>
          </a:prstGeom>
          <a:solidFill>
            <a:schemeClr val="accent6">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56" name="正方形/長方形 55">
            <a:extLst>
              <a:ext uri="{FF2B5EF4-FFF2-40B4-BE49-F238E27FC236}">
                <a16:creationId xmlns:a16="http://schemas.microsoft.com/office/drawing/2014/main" id="{B86798B7-1186-F442-9F1E-75A46DAD1FAB}"/>
              </a:ext>
            </a:extLst>
          </p:cNvPr>
          <p:cNvSpPr/>
          <p:nvPr/>
        </p:nvSpPr>
        <p:spPr>
          <a:xfrm>
            <a:off x="4081667" y="5098066"/>
            <a:ext cx="477673" cy="471344"/>
          </a:xfrm>
          <a:prstGeom prst="rect">
            <a:avLst/>
          </a:prstGeom>
          <a:solidFill>
            <a:schemeClr val="accent6">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57" name="正方形/長方形 56">
            <a:extLst>
              <a:ext uri="{FF2B5EF4-FFF2-40B4-BE49-F238E27FC236}">
                <a16:creationId xmlns:a16="http://schemas.microsoft.com/office/drawing/2014/main" id="{15E1DE6E-F127-C203-4A79-EE3A710305CD}"/>
              </a:ext>
            </a:extLst>
          </p:cNvPr>
          <p:cNvSpPr/>
          <p:nvPr/>
        </p:nvSpPr>
        <p:spPr>
          <a:xfrm>
            <a:off x="4555412" y="5098066"/>
            <a:ext cx="477673" cy="471344"/>
          </a:xfrm>
          <a:prstGeom prst="rect">
            <a:avLst/>
          </a:prstGeom>
          <a:solidFill>
            <a:schemeClr val="accent4">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5</a:t>
            </a:r>
            <a:endParaRPr kumimoji="1" lang="ja-GB" altLang="en-US" dirty="0">
              <a:solidFill>
                <a:srgbClr val="2F2523"/>
              </a:solidFill>
            </a:endParaRPr>
          </a:p>
        </p:txBody>
      </p:sp>
      <p:sp>
        <p:nvSpPr>
          <p:cNvPr id="58" name="正方形/長方形 57">
            <a:extLst>
              <a:ext uri="{FF2B5EF4-FFF2-40B4-BE49-F238E27FC236}">
                <a16:creationId xmlns:a16="http://schemas.microsoft.com/office/drawing/2014/main" id="{025FF456-2D26-BDC0-3360-F40529E1595B}"/>
              </a:ext>
            </a:extLst>
          </p:cNvPr>
          <p:cNvSpPr/>
          <p:nvPr/>
        </p:nvSpPr>
        <p:spPr>
          <a:xfrm>
            <a:off x="5033085" y="5098066"/>
            <a:ext cx="477673" cy="471344"/>
          </a:xfrm>
          <a:prstGeom prst="rect">
            <a:avLst/>
          </a:prstGeom>
          <a:solidFill>
            <a:schemeClr val="accent4">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7</a:t>
            </a:r>
            <a:endParaRPr kumimoji="1" lang="ja-GB" altLang="en-US" dirty="0">
              <a:solidFill>
                <a:srgbClr val="2F2523"/>
              </a:solidFill>
            </a:endParaRPr>
          </a:p>
        </p:txBody>
      </p:sp>
      <p:sp>
        <p:nvSpPr>
          <p:cNvPr id="59" name="正方形/長方形 58">
            <a:extLst>
              <a:ext uri="{FF2B5EF4-FFF2-40B4-BE49-F238E27FC236}">
                <a16:creationId xmlns:a16="http://schemas.microsoft.com/office/drawing/2014/main" id="{9F8B4EE2-C30C-14B1-3714-25C7C0B09DE6}"/>
              </a:ext>
            </a:extLst>
          </p:cNvPr>
          <p:cNvSpPr/>
          <p:nvPr/>
        </p:nvSpPr>
        <p:spPr>
          <a:xfrm>
            <a:off x="5510788" y="5098066"/>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8</a:t>
            </a:r>
            <a:endParaRPr kumimoji="1" lang="ja-GB" altLang="en-US" dirty="0">
              <a:solidFill>
                <a:srgbClr val="2F2523"/>
              </a:solidFill>
            </a:endParaRPr>
          </a:p>
        </p:txBody>
      </p:sp>
      <p:sp>
        <p:nvSpPr>
          <p:cNvPr id="60" name="正方形/長方形 59">
            <a:extLst>
              <a:ext uri="{FF2B5EF4-FFF2-40B4-BE49-F238E27FC236}">
                <a16:creationId xmlns:a16="http://schemas.microsoft.com/office/drawing/2014/main" id="{1E3ABA74-A266-BCBF-3926-DE2C9E453BE7}"/>
              </a:ext>
            </a:extLst>
          </p:cNvPr>
          <p:cNvSpPr/>
          <p:nvPr/>
        </p:nvSpPr>
        <p:spPr>
          <a:xfrm>
            <a:off x="5988431" y="5098066"/>
            <a:ext cx="477673" cy="471344"/>
          </a:xfrm>
          <a:prstGeom prst="rect">
            <a:avLst/>
          </a:prstGeom>
          <a:solidFill>
            <a:schemeClr val="accent2">
              <a:lumMod val="20000"/>
              <a:lumOff val="80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10</a:t>
            </a:r>
            <a:endParaRPr kumimoji="1" lang="ja-GB" altLang="en-US" dirty="0">
              <a:solidFill>
                <a:srgbClr val="2F2523"/>
              </a:solidFill>
            </a:endParaRPr>
          </a:p>
        </p:txBody>
      </p:sp>
      <p:sp>
        <p:nvSpPr>
          <p:cNvPr id="61" name="テキスト ボックス 60">
            <a:extLst>
              <a:ext uri="{FF2B5EF4-FFF2-40B4-BE49-F238E27FC236}">
                <a16:creationId xmlns:a16="http://schemas.microsoft.com/office/drawing/2014/main" id="{62482E6C-F66F-AB5B-A32E-108420F6381F}"/>
              </a:ext>
            </a:extLst>
          </p:cNvPr>
          <p:cNvSpPr txBox="1"/>
          <p:nvPr/>
        </p:nvSpPr>
        <p:spPr>
          <a:xfrm>
            <a:off x="140574" y="4497901"/>
            <a:ext cx="2031325" cy="1200329"/>
          </a:xfrm>
          <a:prstGeom prst="rect">
            <a:avLst/>
          </a:prstGeom>
          <a:noFill/>
        </p:spPr>
        <p:txBody>
          <a:bodyPr wrap="none" rtlCol="0">
            <a:spAutoFit/>
          </a:bodyPr>
          <a:lstStyle/>
          <a:p>
            <a:pPr algn="ctr"/>
            <a:r>
              <a:rPr kumimoji="1" lang="en-US" altLang="ja-GB" dirty="0"/>
              <a:t>①</a:t>
            </a:r>
            <a:r>
              <a:rPr kumimoji="1" lang="ja-GB" altLang="en-US" dirty="0"/>
              <a:t>青色同士を比較</a:t>
            </a:r>
            <a:endParaRPr kumimoji="1" lang="en-US" altLang="ja-GB" dirty="0"/>
          </a:p>
          <a:p>
            <a:pPr algn="ctr"/>
            <a:r>
              <a:rPr kumimoji="1" lang="en-US" altLang="ja-GB" dirty="0"/>
              <a:t>②</a:t>
            </a:r>
            <a:r>
              <a:rPr kumimoji="1" lang="ja-GB" altLang="en-US" dirty="0"/>
              <a:t>緑色同士を比較</a:t>
            </a:r>
            <a:endParaRPr kumimoji="1" lang="en-US" altLang="ja-GB" dirty="0"/>
          </a:p>
          <a:p>
            <a:pPr algn="ctr"/>
            <a:r>
              <a:rPr kumimoji="1" lang="en-US" altLang="ja-GB" dirty="0"/>
              <a:t>③</a:t>
            </a:r>
            <a:r>
              <a:rPr kumimoji="1" lang="ja-GB" altLang="en-US" dirty="0"/>
              <a:t>黄色同士を比較</a:t>
            </a:r>
          </a:p>
          <a:p>
            <a:pPr algn="ctr"/>
            <a:r>
              <a:rPr kumimoji="1" lang="en-US" altLang="ja-GB" dirty="0"/>
              <a:t>④</a:t>
            </a:r>
            <a:r>
              <a:rPr kumimoji="1" lang="ja-GB" altLang="en-US" dirty="0"/>
              <a:t>橙色同士を比較</a:t>
            </a:r>
          </a:p>
        </p:txBody>
      </p:sp>
    </p:spTree>
    <p:extLst>
      <p:ext uri="{BB962C8B-B14F-4D97-AF65-F5344CB8AC3E}">
        <p14:creationId xmlns:p14="http://schemas.microsoft.com/office/powerpoint/2010/main" val="3800479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E4BC2-06E7-8F5B-91C1-B115D48C296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7433603-6B5A-A6D6-6460-2F15ED514DB9}"/>
              </a:ext>
            </a:extLst>
          </p:cNvPr>
          <p:cNvSpPr>
            <a:spLocks noGrp="1"/>
          </p:cNvSpPr>
          <p:nvPr>
            <p:ph type="title"/>
          </p:nvPr>
        </p:nvSpPr>
        <p:spPr/>
        <p:txBody>
          <a:bodyPr>
            <a:normAutofit/>
          </a:bodyPr>
          <a:lstStyle/>
          <a:p>
            <a:r>
              <a:rPr kumimoji="1" lang="ja-GB" altLang="en-US" dirty="0"/>
              <a:t>第</a:t>
            </a:r>
            <a:r>
              <a:rPr kumimoji="1" lang="en-US" altLang="ja-GB" dirty="0"/>
              <a:t>8</a:t>
            </a:r>
            <a:r>
              <a:rPr kumimoji="1" lang="ja-GB" altLang="en-US" dirty="0"/>
              <a:t>回：アルゴリズム</a:t>
            </a:r>
          </a:p>
        </p:txBody>
      </p:sp>
      <p:sp>
        <p:nvSpPr>
          <p:cNvPr id="3" name="コンテンツ プレースホルダー 2">
            <a:extLst>
              <a:ext uri="{FF2B5EF4-FFF2-40B4-BE49-F238E27FC236}">
                <a16:creationId xmlns:a16="http://schemas.microsoft.com/office/drawing/2014/main" id="{00F89D46-E82F-EAD1-FFCF-1046B749C069}"/>
              </a:ext>
            </a:extLst>
          </p:cNvPr>
          <p:cNvSpPr>
            <a:spLocks noGrp="1"/>
          </p:cNvSpPr>
          <p:nvPr>
            <p:ph idx="1"/>
          </p:nvPr>
        </p:nvSpPr>
        <p:spPr/>
        <p:txBody>
          <a:bodyPr/>
          <a:lstStyle/>
          <a:p>
            <a:pPr marL="0" indent="0">
              <a:buNone/>
            </a:pPr>
            <a:r>
              <a:rPr kumimoji="1" lang="ja-GB" altLang="en-US" dirty="0"/>
              <a:t>アルゴリズムを使うとき同じ機能でも様々な方式から選ぶ必要がある</a:t>
            </a:r>
            <a:endParaRPr kumimoji="1" lang="en-US" altLang="ja-GB" dirty="0"/>
          </a:p>
          <a:p>
            <a:pPr marL="914400" lvl="1" indent="-457200">
              <a:buFont typeface="+mj-lt"/>
              <a:buAutoNum type="arabicPeriod"/>
            </a:pPr>
            <a:r>
              <a:rPr kumimoji="1" lang="ja-GB" altLang="en-US" dirty="0"/>
              <a:t>状況に応じたアルゴリズム選定の重要性</a:t>
            </a:r>
            <a:endParaRPr kumimoji="1" lang="en-US" altLang="ja-GB" dirty="0"/>
          </a:p>
          <a:p>
            <a:pPr lvl="2"/>
            <a:r>
              <a:rPr lang="ja-GB" altLang="en-US" dirty="0"/>
              <a:t>同じ機能でも処理速度が異なるアルゴリズムが存在する</a:t>
            </a:r>
            <a:endParaRPr lang="en-US" altLang="ja-GB" dirty="0"/>
          </a:p>
          <a:p>
            <a:pPr lvl="2"/>
            <a:r>
              <a:rPr kumimoji="1" lang="ja-GB" altLang="en-US" dirty="0"/>
              <a:t>計算手順の少なさと考えやすさのトレードオフ</a:t>
            </a:r>
            <a:endParaRPr kumimoji="1" lang="en-US" altLang="ja-GB" dirty="0"/>
          </a:p>
          <a:p>
            <a:pPr lvl="2"/>
            <a:r>
              <a:rPr lang="ja-GB" altLang="en-US" dirty="0"/>
              <a:t>アルゴリズムの速さを見積もる数式</a:t>
            </a:r>
            <a:endParaRPr lang="en-US" altLang="ja-GB" dirty="0"/>
          </a:p>
          <a:p>
            <a:pPr lvl="2"/>
            <a:endParaRPr lang="en-US" altLang="ja-GB" dirty="0"/>
          </a:p>
          <a:p>
            <a:pPr marL="914400" lvl="1" indent="-457200">
              <a:buFont typeface="+mj-lt"/>
              <a:buAutoNum type="arabicPeriod"/>
            </a:pPr>
            <a:r>
              <a:rPr kumimoji="1" lang="ja-GB" altLang="en-US" dirty="0"/>
              <a:t>「考えやすさ</a:t>
            </a:r>
            <a:r>
              <a:rPr kumimoji="1" lang="en-US" altLang="ja-GB" dirty="0"/>
              <a:t> vs </a:t>
            </a:r>
            <a:r>
              <a:rPr kumimoji="1" lang="ja-GB" altLang="en-US" dirty="0"/>
              <a:t>速さ」の具体例</a:t>
            </a:r>
            <a:endParaRPr kumimoji="1" lang="en-US" altLang="ja-GB" dirty="0"/>
          </a:p>
          <a:p>
            <a:pPr lvl="2"/>
            <a:r>
              <a:rPr lang="ja-GB" altLang="en-US" dirty="0"/>
              <a:t>並び替えアルゴリズムの比較</a:t>
            </a:r>
            <a:endParaRPr lang="en-US" altLang="ja-GB" dirty="0"/>
          </a:p>
          <a:p>
            <a:pPr lvl="2"/>
            <a:r>
              <a:rPr kumimoji="1" lang="ja-GB" altLang="en-US" dirty="0"/>
              <a:t>考えやすいアルゴリズム（挿入ソート，選択ソート）</a:t>
            </a:r>
            <a:endParaRPr kumimoji="1" lang="en-US" altLang="ja-GB" dirty="0"/>
          </a:p>
          <a:p>
            <a:pPr lvl="2"/>
            <a:r>
              <a:rPr lang="ja-GB" altLang="en-US" dirty="0"/>
              <a:t>大きなデータを少ない手順で捌けるアルゴリズム（クイックソート）</a:t>
            </a:r>
            <a:endParaRPr lang="en-US" altLang="ja-GB" dirty="0"/>
          </a:p>
          <a:p>
            <a:pPr lvl="2"/>
            <a:endParaRPr lang="en-US" altLang="ja-GB" dirty="0"/>
          </a:p>
          <a:p>
            <a:pPr marL="914400" lvl="1" indent="-457200">
              <a:buFont typeface="+mj-lt"/>
              <a:buAutoNum type="arabicPeriod"/>
            </a:pPr>
            <a:r>
              <a:rPr kumimoji="1" lang="ja-GB" altLang="en-US" dirty="0"/>
              <a:t>状況に応じたアルゴリズム選定</a:t>
            </a:r>
            <a:endParaRPr kumimoji="1" lang="en-US" altLang="ja-GB" dirty="0"/>
          </a:p>
          <a:p>
            <a:pPr lvl="2"/>
            <a:r>
              <a:rPr kumimoji="1" lang="ja-GB" altLang="en-US" dirty="0"/>
              <a:t>メモリ使用量の違い（</a:t>
            </a:r>
            <a:r>
              <a:rPr lang="ja-GB" altLang="en-US" dirty="0"/>
              <a:t>空間計算量</a:t>
            </a:r>
            <a:r>
              <a:rPr kumimoji="1" lang="ja-GB" altLang="en-US" dirty="0"/>
              <a:t>）</a:t>
            </a:r>
            <a:endParaRPr kumimoji="1" lang="en-US" altLang="ja-GB" dirty="0"/>
          </a:p>
          <a:p>
            <a:pPr lvl="2"/>
            <a:r>
              <a:rPr kumimoji="1" lang="ja-GB" altLang="en-US" dirty="0"/>
              <a:t>問題条件の違い（ソートの安定性）</a:t>
            </a:r>
            <a:endParaRPr kumimoji="1" lang="en-US" altLang="ja-GB" dirty="0"/>
          </a:p>
          <a:p>
            <a:pPr lvl="2"/>
            <a:endParaRPr kumimoji="1" lang="ja-GB" altLang="en-US" dirty="0"/>
          </a:p>
        </p:txBody>
      </p:sp>
    </p:spTree>
    <p:extLst>
      <p:ext uri="{BB962C8B-B14F-4D97-AF65-F5344CB8AC3E}">
        <p14:creationId xmlns:p14="http://schemas.microsoft.com/office/powerpoint/2010/main" val="19212755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391D5-E77F-AFAC-8F70-840D540C5392}"/>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30D765E4-81FC-97BA-FC5C-A5054A338A01}"/>
              </a:ext>
            </a:extLst>
          </p:cNvPr>
          <p:cNvSpPr/>
          <p:nvPr/>
        </p:nvSpPr>
        <p:spPr>
          <a:xfrm>
            <a:off x="0" y="1"/>
            <a:ext cx="9144000" cy="440463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sp>
        <p:nvSpPr>
          <p:cNvPr id="5" name="タイトル 1">
            <a:extLst>
              <a:ext uri="{FF2B5EF4-FFF2-40B4-BE49-F238E27FC236}">
                <a16:creationId xmlns:a16="http://schemas.microsoft.com/office/drawing/2014/main" id="{F5981685-5323-6E31-67BC-1ACBF1095AE3}"/>
              </a:ext>
            </a:extLst>
          </p:cNvPr>
          <p:cNvSpPr>
            <a:spLocks noGrp="1"/>
          </p:cNvSpPr>
          <p:nvPr>
            <p:ph type="ctrTitle"/>
          </p:nvPr>
        </p:nvSpPr>
        <p:spPr>
          <a:xfrm>
            <a:off x="342901" y="1666380"/>
            <a:ext cx="8458198" cy="2738260"/>
          </a:xfrm>
        </p:spPr>
        <p:txBody>
          <a:bodyPr anchor="b">
            <a:normAutofit/>
          </a:bodyPr>
          <a:lstStyle/>
          <a:p>
            <a:pPr algn="l">
              <a:lnSpc>
                <a:spcPct val="100000"/>
              </a:lnSpc>
            </a:pPr>
            <a:r>
              <a:rPr kumimoji="1" lang="en-US" altLang="ja-JP" sz="3200" dirty="0">
                <a:solidFill>
                  <a:schemeClr val="bg1"/>
                </a:solidFill>
              </a:rPr>
              <a:t>2025</a:t>
            </a:r>
            <a:r>
              <a:rPr kumimoji="1" lang="ja-JP" altLang="en-US" sz="3200">
                <a:solidFill>
                  <a:schemeClr val="bg1"/>
                </a:solidFill>
              </a:rPr>
              <a:t>年度</a:t>
            </a:r>
            <a:r>
              <a:rPr lang="en-US" altLang="ja-JP" sz="3200" dirty="0">
                <a:solidFill>
                  <a:schemeClr val="bg1"/>
                </a:solidFill>
              </a:rPr>
              <a:t> </a:t>
            </a:r>
            <a:r>
              <a:rPr kumimoji="1" lang="ja-JP" altLang="en-US" sz="3200">
                <a:solidFill>
                  <a:schemeClr val="bg1"/>
                </a:solidFill>
              </a:rPr>
              <a:t>コンピュータシステム</a:t>
            </a:r>
            <a:br>
              <a:rPr lang="en-US" altLang="ja-JP" sz="3200" dirty="0">
                <a:solidFill>
                  <a:schemeClr val="bg1"/>
                </a:solidFill>
              </a:rPr>
            </a:br>
            <a:r>
              <a:rPr kumimoji="1" lang="ja-GB" altLang="en-US" sz="3200" dirty="0">
                <a:solidFill>
                  <a:schemeClr val="bg1"/>
                </a:solidFill>
              </a:rPr>
              <a:t>第</a:t>
            </a:r>
            <a:r>
              <a:rPr kumimoji="1" lang="en-US" altLang="ja-GB" sz="3200" dirty="0">
                <a:solidFill>
                  <a:schemeClr val="bg1"/>
                </a:solidFill>
              </a:rPr>
              <a:t>9</a:t>
            </a:r>
            <a:r>
              <a:rPr kumimoji="1" lang="ja-GB" altLang="en-US" sz="3200" dirty="0">
                <a:solidFill>
                  <a:schemeClr val="bg1"/>
                </a:solidFill>
              </a:rPr>
              <a:t>回：演習（データ構造とアルゴリズム）</a:t>
            </a:r>
            <a:br>
              <a:rPr kumimoji="1" lang="en-US" altLang="ja-JP" sz="2400" dirty="0">
                <a:solidFill>
                  <a:schemeClr val="bg1"/>
                </a:solidFill>
              </a:rPr>
            </a:br>
            <a:endParaRPr kumimoji="1" lang="ja-JP" altLang="en-US" sz="2400">
              <a:solidFill>
                <a:schemeClr val="bg1"/>
              </a:solidFill>
            </a:endParaRPr>
          </a:p>
        </p:txBody>
      </p:sp>
    </p:spTree>
    <p:extLst>
      <p:ext uri="{BB962C8B-B14F-4D97-AF65-F5344CB8AC3E}">
        <p14:creationId xmlns:p14="http://schemas.microsoft.com/office/powerpoint/2010/main" val="5141260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950A4-A7C8-02B0-F71D-3CA762BEE2A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B8AE28A-578B-FACE-420C-C375CE8CDF45}"/>
              </a:ext>
            </a:extLst>
          </p:cNvPr>
          <p:cNvSpPr>
            <a:spLocks noGrp="1"/>
          </p:cNvSpPr>
          <p:nvPr>
            <p:ph type="title"/>
          </p:nvPr>
        </p:nvSpPr>
        <p:spPr/>
        <p:txBody>
          <a:bodyPr>
            <a:normAutofit/>
          </a:bodyPr>
          <a:lstStyle/>
          <a:p>
            <a:r>
              <a:rPr kumimoji="1" lang="ja-GB" altLang="en-US" dirty="0"/>
              <a:t>第</a:t>
            </a:r>
            <a:r>
              <a:rPr lang="en-US" altLang="ja-GB" dirty="0"/>
              <a:t>9</a:t>
            </a:r>
            <a:r>
              <a:rPr kumimoji="1" lang="ja-GB" altLang="en-US" dirty="0"/>
              <a:t>回：演習</a:t>
            </a:r>
            <a:r>
              <a:rPr kumimoji="1" lang="en-US" altLang="ja-GB" dirty="0"/>
              <a:t> </a:t>
            </a:r>
            <a:r>
              <a:rPr kumimoji="1" lang="ja-GB" altLang="en-US" dirty="0"/>
              <a:t>データ構造とアルゴリズム</a:t>
            </a:r>
          </a:p>
        </p:txBody>
      </p:sp>
      <p:sp>
        <p:nvSpPr>
          <p:cNvPr id="3" name="コンテンツ プレースホルダー 2">
            <a:extLst>
              <a:ext uri="{FF2B5EF4-FFF2-40B4-BE49-F238E27FC236}">
                <a16:creationId xmlns:a16="http://schemas.microsoft.com/office/drawing/2014/main" id="{20B60840-02E0-F0B9-E50B-D4754AEB58BF}"/>
              </a:ext>
            </a:extLst>
          </p:cNvPr>
          <p:cNvSpPr>
            <a:spLocks noGrp="1"/>
          </p:cNvSpPr>
          <p:nvPr>
            <p:ph idx="1"/>
          </p:nvPr>
        </p:nvSpPr>
        <p:spPr/>
        <p:txBody>
          <a:bodyPr/>
          <a:lstStyle/>
          <a:p>
            <a:pPr marL="0" indent="0">
              <a:buNone/>
            </a:pPr>
            <a:r>
              <a:rPr kumimoji="1" lang="ja-GB" altLang="en-US" dirty="0"/>
              <a:t>アルゴリズムを使うとき同じ機能でも様々な方式から選ぶ必要がある</a:t>
            </a:r>
            <a:endParaRPr kumimoji="1" lang="en-US" altLang="ja-GB" dirty="0"/>
          </a:p>
          <a:p>
            <a:pPr marL="914400" lvl="1" indent="-457200">
              <a:buFont typeface="+mj-lt"/>
              <a:buAutoNum type="arabicPeriod"/>
            </a:pPr>
            <a:r>
              <a:rPr lang="ja-JP" altLang="en-US"/>
              <a:t>既知のアルゴリズムを</a:t>
            </a:r>
            <a:r>
              <a:rPr lang="ja-GB" altLang="en-US" dirty="0"/>
              <a:t>利用する</a:t>
            </a:r>
            <a:r>
              <a:rPr lang="ja-JP" altLang="en-US"/>
              <a:t>問題</a:t>
            </a:r>
            <a:endParaRPr kumimoji="1" lang="en-US" altLang="ja-GB" dirty="0"/>
          </a:p>
          <a:p>
            <a:pPr lvl="2"/>
            <a:r>
              <a:rPr lang="ja-JP" altLang="en-US"/>
              <a:t>授業で紹介したアルゴリズムを扱う</a:t>
            </a:r>
            <a:r>
              <a:rPr lang="ja-GB" altLang="en-US" dirty="0"/>
              <a:t>練習</a:t>
            </a:r>
            <a:endParaRPr lang="en-US" altLang="ja-GB" dirty="0"/>
          </a:p>
          <a:p>
            <a:pPr lvl="2"/>
            <a:r>
              <a:rPr lang="ja-JP" altLang="en-US"/>
              <a:t>例示されたデータに対する実際の動作を自分で再現する</a:t>
            </a:r>
            <a:endParaRPr kumimoji="1" lang="en-US" altLang="ja-GB" dirty="0"/>
          </a:p>
          <a:p>
            <a:pPr lvl="2"/>
            <a:r>
              <a:rPr lang="ja-JP" altLang="en-US"/>
              <a:t>アルゴリズムから計算量を求める（</a:t>
            </a:r>
            <a:r>
              <a:rPr lang="ja-GB" altLang="en-US" dirty="0"/>
              <a:t>条件分岐，繰り返し</a:t>
            </a:r>
            <a:r>
              <a:rPr lang="ja-JP" altLang="en-US"/>
              <a:t>）</a:t>
            </a:r>
            <a:endParaRPr lang="en-US" altLang="ja-GB" dirty="0"/>
          </a:p>
          <a:p>
            <a:pPr lvl="2"/>
            <a:endParaRPr lang="en-US" altLang="ja-GB" dirty="0"/>
          </a:p>
          <a:p>
            <a:pPr marL="914400" lvl="1" indent="-457200">
              <a:buFont typeface="+mj-lt"/>
              <a:buAutoNum type="arabicPeriod"/>
            </a:pPr>
            <a:r>
              <a:rPr lang="ja-JP" altLang="en-US"/>
              <a:t>既知のアルゴリズムを応用する問題</a:t>
            </a:r>
            <a:endParaRPr kumimoji="1" lang="en-US" altLang="ja-GB" dirty="0"/>
          </a:p>
          <a:p>
            <a:pPr lvl="2"/>
            <a:r>
              <a:rPr lang="ja-JP" altLang="en-US"/>
              <a:t>文章で説明された状況に適切なアルゴリズムを選び，問題を解決する</a:t>
            </a:r>
            <a:endParaRPr lang="en-US" altLang="ja-JP" dirty="0"/>
          </a:p>
          <a:p>
            <a:pPr lvl="2"/>
            <a:r>
              <a:rPr lang="ja-GB" altLang="en-US" dirty="0"/>
              <a:t>アルゴリズムを組み合わせて問題を解決する練習</a:t>
            </a:r>
            <a:endParaRPr lang="en-US" altLang="ja-GB" dirty="0"/>
          </a:p>
          <a:p>
            <a:pPr lvl="2"/>
            <a:endParaRPr lang="en-US" altLang="ja-GB" dirty="0"/>
          </a:p>
          <a:p>
            <a:pPr marL="914400" lvl="1" indent="-457200">
              <a:buFont typeface="+mj-lt"/>
              <a:buAutoNum type="arabicPeriod"/>
            </a:pPr>
            <a:r>
              <a:rPr lang="ja-JP" altLang="en-US"/>
              <a:t>未知のアルゴリズムの</a:t>
            </a:r>
            <a:r>
              <a:rPr lang="ja-GB" altLang="en-US" dirty="0"/>
              <a:t>動作をプログラムから読み解く</a:t>
            </a:r>
            <a:r>
              <a:rPr lang="ja-JP" altLang="en-US"/>
              <a:t>問題</a:t>
            </a:r>
            <a:endParaRPr lang="en-US" altLang="ja-JP" dirty="0"/>
          </a:p>
          <a:p>
            <a:pPr lvl="2"/>
            <a:r>
              <a:rPr kumimoji="1" lang="ja-GB" altLang="en-US" dirty="0"/>
              <a:t>提示されたアルゴリズムを解読して，</a:t>
            </a:r>
            <a:r>
              <a:rPr lang="ja-JP" altLang="en-US"/>
              <a:t>例示されたデータの</a:t>
            </a:r>
            <a:r>
              <a:rPr lang="ja-GB" altLang="en-US" dirty="0"/>
              <a:t>処理を行う</a:t>
            </a:r>
            <a:br>
              <a:rPr lang="en-US" altLang="ja-GB" dirty="0"/>
            </a:br>
            <a:r>
              <a:rPr lang="ja-JP" altLang="en-US"/>
              <a:t>（</a:t>
            </a:r>
            <a:r>
              <a:rPr lang="ja-GB" altLang="en-US" dirty="0"/>
              <a:t>条件分岐，繰り返し，関数</a:t>
            </a:r>
            <a:r>
              <a:rPr lang="ja-JP" altLang="en-US"/>
              <a:t>）</a:t>
            </a:r>
            <a:endParaRPr lang="en-US" altLang="ja-GB" dirty="0"/>
          </a:p>
          <a:p>
            <a:pPr lvl="2"/>
            <a:r>
              <a:rPr kumimoji="1" lang="ja-GB" altLang="en-US" dirty="0"/>
              <a:t>アルゴリズムに基づくプログラムや</a:t>
            </a:r>
            <a:r>
              <a:rPr kumimoji="1" lang="en-US" altLang="ja-GB" dirty="0"/>
              <a:t>IT</a:t>
            </a:r>
            <a:r>
              <a:rPr kumimoji="1" lang="ja-GB" altLang="en-US" dirty="0"/>
              <a:t>システムの仕組みや使い方が，</a:t>
            </a:r>
            <a:br>
              <a:rPr kumimoji="1" lang="en-US" altLang="ja-GB" dirty="0"/>
            </a:br>
            <a:r>
              <a:rPr kumimoji="1" lang="ja-GB" altLang="en-US" dirty="0"/>
              <a:t>具体的な操作手順として書かれた難解な記述から理解する練習</a:t>
            </a:r>
            <a:endParaRPr kumimoji="1" lang="en-US" altLang="ja-GB" dirty="0"/>
          </a:p>
        </p:txBody>
      </p:sp>
    </p:spTree>
    <p:extLst>
      <p:ext uri="{BB962C8B-B14F-4D97-AF65-F5344CB8AC3E}">
        <p14:creationId xmlns:p14="http://schemas.microsoft.com/office/powerpoint/2010/main" val="30174780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9DBC9-E553-2BA6-D1D9-462A7E1A33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0B58936-38FC-8FFB-AF84-96F0E98F854B}"/>
              </a:ext>
            </a:extLst>
          </p:cNvPr>
          <p:cNvSpPr>
            <a:spLocks noGrp="1"/>
          </p:cNvSpPr>
          <p:nvPr>
            <p:ph type="title"/>
          </p:nvPr>
        </p:nvSpPr>
        <p:spPr/>
        <p:txBody>
          <a:bodyPr/>
          <a:lstStyle/>
          <a:p>
            <a:r>
              <a:rPr lang="ja-GB" altLang="en-US" dirty="0"/>
              <a:t>演習背景</a:t>
            </a:r>
            <a:r>
              <a:rPr kumimoji="1" lang="ja-GB" altLang="en-US" dirty="0"/>
              <a:t>：アルゴリズムを学ぶ理由</a:t>
            </a:r>
          </a:p>
        </p:txBody>
      </p:sp>
      <p:sp>
        <p:nvSpPr>
          <p:cNvPr id="3" name="コンテンツ プレースホルダー 2">
            <a:extLst>
              <a:ext uri="{FF2B5EF4-FFF2-40B4-BE49-F238E27FC236}">
                <a16:creationId xmlns:a16="http://schemas.microsoft.com/office/drawing/2014/main" id="{A0FE2567-93FD-A9BE-5213-0F548E993325}"/>
              </a:ext>
            </a:extLst>
          </p:cNvPr>
          <p:cNvSpPr>
            <a:spLocks noGrp="1"/>
          </p:cNvSpPr>
          <p:nvPr>
            <p:ph idx="1"/>
          </p:nvPr>
        </p:nvSpPr>
        <p:spPr/>
        <p:txBody>
          <a:bodyPr/>
          <a:lstStyle/>
          <a:p>
            <a:pPr marL="0" indent="0">
              <a:buNone/>
            </a:pPr>
            <a:r>
              <a:rPr kumimoji="1" lang="ja-GB" altLang="en-US" dirty="0"/>
              <a:t>アルゴリズムを使って問題を解決するため</a:t>
            </a:r>
            <a:endParaRPr kumimoji="1" lang="en-US" altLang="ja-GB" dirty="0"/>
          </a:p>
          <a:p>
            <a:pPr marL="914400" lvl="1" indent="-457200">
              <a:buFont typeface="+mj-lt"/>
              <a:buAutoNum type="arabicPeriod"/>
            </a:pPr>
            <a:r>
              <a:rPr kumimoji="1" lang="ja-GB" altLang="en-US" dirty="0"/>
              <a:t>既存アルゴリズムをそのまま使って問題を解決する</a:t>
            </a:r>
            <a:endParaRPr kumimoji="1" lang="en-US" altLang="ja-GB" dirty="0"/>
          </a:p>
          <a:p>
            <a:pPr marL="914400" lvl="1" indent="-457200">
              <a:buFont typeface="+mj-lt"/>
              <a:buAutoNum type="arabicPeriod"/>
            </a:pPr>
            <a:r>
              <a:rPr lang="ja-GB" altLang="en-US" dirty="0"/>
              <a:t>頻出アルゴリズムを組み合わせて，状況に応じたアルゴリズムを作る</a:t>
            </a:r>
            <a:endParaRPr lang="en-US" altLang="ja-GB" dirty="0"/>
          </a:p>
          <a:p>
            <a:pPr marL="914400" lvl="1" indent="-457200">
              <a:buFont typeface="+mj-lt"/>
              <a:buAutoNum type="arabicPeriod"/>
            </a:pPr>
            <a:r>
              <a:rPr kumimoji="1" lang="ja-GB" altLang="en-US" strike="sngStrike" dirty="0">
                <a:solidFill>
                  <a:schemeClr val="tx1">
                    <a:lumMod val="50000"/>
                    <a:lumOff val="50000"/>
                  </a:schemeClr>
                </a:solidFill>
              </a:rPr>
              <a:t>革新的なアルゴリズムを開発する</a:t>
            </a:r>
            <a:endParaRPr kumimoji="1" lang="en-US" altLang="ja-GB" strike="sngStrike" dirty="0">
              <a:solidFill>
                <a:schemeClr val="tx1">
                  <a:lumMod val="50000"/>
                  <a:lumOff val="50000"/>
                </a:schemeClr>
              </a:solidFill>
            </a:endParaRPr>
          </a:p>
          <a:p>
            <a:pPr lvl="2"/>
            <a:r>
              <a:rPr lang="ja-GB" altLang="en-US" sz="1400" dirty="0">
                <a:solidFill>
                  <a:schemeClr val="tx1">
                    <a:lumMod val="50000"/>
                    <a:lumOff val="50000"/>
                  </a:schemeClr>
                </a:solidFill>
              </a:rPr>
              <a:t>これまで解決不能だった問題が解ける（高度な専門家の仕事）</a:t>
            </a:r>
          </a:p>
          <a:p>
            <a:pPr lvl="2"/>
            <a:endParaRPr lang="ja-GB" altLang="en-US" dirty="0">
              <a:solidFill>
                <a:schemeClr val="tx1">
                  <a:lumMod val="50000"/>
                  <a:lumOff val="50000"/>
                </a:schemeClr>
              </a:solidFill>
            </a:endParaRPr>
          </a:p>
        </p:txBody>
      </p:sp>
      <p:sp>
        <p:nvSpPr>
          <p:cNvPr id="4" name="正方形/長方形 3">
            <a:extLst>
              <a:ext uri="{FF2B5EF4-FFF2-40B4-BE49-F238E27FC236}">
                <a16:creationId xmlns:a16="http://schemas.microsoft.com/office/drawing/2014/main" id="{BB063893-0167-A6D7-8638-6CBDDE27260E}"/>
              </a:ext>
            </a:extLst>
          </p:cNvPr>
          <p:cNvSpPr/>
          <p:nvPr/>
        </p:nvSpPr>
        <p:spPr>
          <a:xfrm>
            <a:off x="4138000" y="2941982"/>
            <a:ext cx="2203201" cy="337492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5" name="正方形/長方形 4">
            <a:extLst>
              <a:ext uri="{FF2B5EF4-FFF2-40B4-BE49-F238E27FC236}">
                <a16:creationId xmlns:a16="http://schemas.microsoft.com/office/drawing/2014/main" id="{0ADECF3E-5F3D-1C6A-53C2-744593450D7D}"/>
              </a:ext>
            </a:extLst>
          </p:cNvPr>
          <p:cNvSpPr/>
          <p:nvPr/>
        </p:nvSpPr>
        <p:spPr>
          <a:xfrm>
            <a:off x="1928482" y="2941982"/>
            <a:ext cx="2203201" cy="3374928"/>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6" name="テキスト ボックス 5">
            <a:extLst>
              <a:ext uri="{FF2B5EF4-FFF2-40B4-BE49-F238E27FC236}">
                <a16:creationId xmlns:a16="http://schemas.microsoft.com/office/drawing/2014/main" id="{D1471669-6ACF-D6CD-6D2D-F59C2F09F480}"/>
              </a:ext>
            </a:extLst>
          </p:cNvPr>
          <p:cNvSpPr txBox="1"/>
          <p:nvPr/>
        </p:nvSpPr>
        <p:spPr>
          <a:xfrm>
            <a:off x="2290197" y="3244334"/>
            <a:ext cx="646331" cy="369332"/>
          </a:xfrm>
          <a:prstGeom prst="rect">
            <a:avLst/>
          </a:prstGeom>
          <a:noFill/>
        </p:spPr>
        <p:txBody>
          <a:bodyPr wrap="none" rtlCol="0">
            <a:spAutoFit/>
          </a:bodyPr>
          <a:lstStyle/>
          <a:p>
            <a:pPr algn="ctr"/>
            <a:r>
              <a:rPr kumimoji="1" lang="ja-GB" altLang="en-US" dirty="0"/>
              <a:t>現状</a:t>
            </a:r>
          </a:p>
        </p:txBody>
      </p:sp>
      <p:sp>
        <p:nvSpPr>
          <p:cNvPr id="7" name="テキスト ボックス 6">
            <a:extLst>
              <a:ext uri="{FF2B5EF4-FFF2-40B4-BE49-F238E27FC236}">
                <a16:creationId xmlns:a16="http://schemas.microsoft.com/office/drawing/2014/main" id="{CB4F2959-A398-C121-0C84-AD9A98B482C5}"/>
              </a:ext>
            </a:extLst>
          </p:cNvPr>
          <p:cNvSpPr txBox="1"/>
          <p:nvPr/>
        </p:nvSpPr>
        <p:spPr>
          <a:xfrm>
            <a:off x="2174778" y="5426870"/>
            <a:ext cx="877164" cy="369332"/>
          </a:xfrm>
          <a:prstGeom prst="rect">
            <a:avLst/>
          </a:prstGeom>
          <a:noFill/>
        </p:spPr>
        <p:txBody>
          <a:bodyPr wrap="none" rtlCol="0">
            <a:spAutoFit/>
          </a:bodyPr>
          <a:lstStyle/>
          <a:p>
            <a:pPr algn="ctr"/>
            <a:r>
              <a:rPr kumimoji="1" lang="ja-GB" altLang="en-US" dirty="0"/>
              <a:t>ゴール</a:t>
            </a:r>
          </a:p>
        </p:txBody>
      </p:sp>
      <p:sp>
        <p:nvSpPr>
          <p:cNvPr id="8" name="テキスト ボックス 7">
            <a:extLst>
              <a:ext uri="{FF2B5EF4-FFF2-40B4-BE49-F238E27FC236}">
                <a16:creationId xmlns:a16="http://schemas.microsoft.com/office/drawing/2014/main" id="{E4706B7D-494B-CA0E-EE47-FA9FF55CE6DC}"/>
              </a:ext>
            </a:extLst>
          </p:cNvPr>
          <p:cNvSpPr txBox="1"/>
          <p:nvPr/>
        </p:nvSpPr>
        <p:spPr>
          <a:xfrm>
            <a:off x="5121359" y="3244334"/>
            <a:ext cx="646331" cy="369332"/>
          </a:xfrm>
          <a:prstGeom prst="rect">
            <a:avLst/>
          </a:prstGeom>
          <a:noFill/>
        </p:spPr>
        <p:txBody>
          <a:bodyPr wrap="none" rtlCol="0">
            <a:spAutoFit/>
          </a:bodyPr>
          <a:lstStyle/>
          <a:p>
            <a:pPr algn="ctr"/>
            <a:r>
              <a:rPr kumimoji="1" lang="ja-GB" altLang="en-US" dirty="0"/>
              <a:t>問題</a:t>
            </a:r>
          </a:p>
        </p:txBody>
      </p:sp>
      <p:sp>
        <p:nvSpPr>
          <p:cNvPr id="9" name="テキスト ボックス 8">
            <a:extLst>
              <a:ext uri="{FF2B5EF4-FFF2-40B4-BE49-F238E27FC236}">
                <a16:creationId xmlns:a16="http://schemas.microsoft.com/office/drawing/2014/main" id="{8B357C5C-722E-DF9F-8FA3-965F4DF0230E}"/>
              </a:ext>
            </a:extLst>
          </p:cNvPr>
          <p:cNvSpPr txBox="1"/>
          <p:nvPr/>
        </p:nvSpPr>
        <p:spPr>
          <a:xfrm>
            <a:off x="5121356" y="5426870"/>
            <a:ext cx="646331" cy="369332"/>
          </a:xfrm>
          <a:prstGeom prst="rect">
            <a:avLst/>
          </a:prstGeom>
          <a:noFill/>
        </p:spPr>
        <p:txBody>
          <a:bodyPr wrap="none" rtlCol="0">
            <a:spAutoFit/>
          </a:bodyPr>
          <a:lstStyle/>
          <a:p>
            <a:pPr algn="ctr"/>
            <a:r>
              <a:rPr kumimoji="1" lang="ja-GB" altLang="en-US" dirty="0"/>
              <a:t>解決</a:t>
            </a:r>
          </a:p>
        </p:txBody>
      </p:sp>
      <p:cxnSp>
        <p:nvCxnSpPr>
          <p:cNvPr id="10" name="直線矢印コネクタ 9">
            <a:extLst>
              <a:ext uri="{FF2B5EF4-FFF2-40B4-BE49-F238E27FC236}">
                <a16:creationId xmlns:a16="http://schemas.microsoft.com/office/drawing/2014/main" id="{1F44B707-9719-FA23-39D6-1AF4D0BBFD23}"/>
              </a:ext>
            </a:extLst>
          </p:cNvPr>
          <p:cNvCxnSpPr>
            <a:cxnSpLocks/>
            <a:stCxn id="6" idx="3"/>
            <a:endCxn id="8" idx="1"/>
          </p:cNvCxnSpPr>
          <p:nvPr/>
        </p:nvCxnSpPr>
        <p:spPr>
          <a:xfrm>
            <a:off x="2936528" y="3429000"/>
            <a:ext cx="2184831" cy="0"/>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8492FEFC-0A53-F090-A9B2-A3F10A1AF47C}"/>
              </a:ext>
            </a:extLst>
          </p:cNvPr>
          <p:cNvCxnSpPr>
            <a:cxnSpLocks/>
            <a:stCxn id="8" idx="2"/>
            <a:endCxn id="9" idx="0"/>
          </p:cNvCxnSpPr>
          <p:nvPr/>
        </p:nvCxnSpPr>
        <p:spPr>
          <a:xfrm flipH="1">
            <a:off x="5444522" y="3613666"/>
            <a:ext cx="3" cy="1813204"/>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53616A7E-6EF0-A0A8-E6F7-9FC8159F5B0F}"/>
              </a:ext>
            </a:extLst>
          </p:cNvPr>
          <p:cNvCxnSpPr>
            <a:cxnSpLocks/>
            <a:stCxn id="9" idx="1"/>
            <a:endCxn id="7" idx="3"/>
          </p:cNvCxnSpPr>
          <p:nvPr/>
        </p:nvCxnSpPr>
        <p:spPr>
          <a:xfrm flipH="1">
            <a:off x="3051942" y="5611536"/>
            <a:ext cx="2069414" cy="0"/>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B40B55CE-1800-F964-DDB6-AD8989D807BC}"/>
              </a:ext>
            </a:extLst>
          </p:cNvPr>
          <p:cNvSpPr txBox="1"/>
          <p:nvPr/>
        </p:nvSpPr>
        <p:spPr>
          <a:xfrm>
            <a:off x="2476084" y="6359042"/>
            <a:ext cx="1107996" cy="369332"/>
          </a:xfrm>
          <a:prstGeom prst="rect">
            <a:avLst/>
          </a:prstGeom>
          <a:noFill/>
        </p:spPr>
        <p:txBody>
          <a:bodyPr wrap="none" rtlCol="0">
            <a:spAutoFit/>
          </a:bodyPr>
          <a:lstStyle/>
          <a:p>
            <a:pPr algn="ctr"/>
            <a:r>
              <a:rPr kumimoji="1" lang="ja-GB" altLang="en-US" b="1" dirty="0">
                <a:solidFill>
                  <a:schemeClr val="tx1">
                    <a:lumMod val="65000"/>
                    <a:lumOff val="35000"/>
                  </a:schemeClr>
                </a:solidFill>
              </a:rPr>
              <a:t>現実世界</a:t>
            </a:r>
          </a:p>
        </p:txBody>
      </p:sp>
      <p:sp>
        <p:nvSpPr>
          <p:cNvPr id="16" name="テキスト ボックス 15">
            <a:extLst>
              <a:ext uri="{FF2B5EF4-FFF2-40B4-BE49-F238E27FC236}">
                <a16:creationId xmlns:a16="http://schemas.microsoft.com/office/drawing/2014/main" id="{0282E93B-B20D-CF79-73A6-484F85E25207}"/>
              </a:ext>
            </a:extLst>
          </p:cNvPr>
          <p:cNvSpPr txBox="1"/>
          <p:nvPr/>
        </p:nvSpPr>
        <p:spPr>
          <a:xfrm>
            <a:off x="4570188" y="6359042"/>
            <a:ext cx="1338828" cy="369332"/>
          </a:xfrm>
          <a:prstGeom prst="rect">
            <a:avLst/>
          </a:prstGeom>
          <a:noFill/>
        </p:spPr>
        <p:txBody>
          <a:bodyPr wrap="none" rtlCol="0">
            <a:spAutoFit/>
          </a:bodyPr>
          <a:lstStyle/>
          <a:p>
            <a:pPr algn="ctr"/>
            <a:r>
              <a:rPr kumimoji="1" lang="ja-GB" altLang="en-US" b="1" dirty="0">
                <a:solidFill>
                  <a:schemeClr val="tx1">
                    <a:lumMod val="65000"/>
                    <a:lumOff val="35000"/>
                  </a:schemeClr>
                </a:solidFill>
              </a:rPr>
              <a:t>情報の世界</a:t>
            </a:r>
          </a:p>
        </p:txBody>
      </p:sp>
    </p:spTree>
    <p:extLst>
      <p:ext uri="{BB962C8B-B14F-4D97-AF65-F5344CB8AC3E}">
        <p14:creationId xmlns:p14="http://schemas.microsoft.com/office/powerpoint/2010/main" val="40259298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F6B36-F58E-D266-EC8A-F16E06434D0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483C405-2E80-B264-50D8-7B73F1826A8D}"/>
              </a:ext>
            </a:extLst>
          </p:cNvPr>
          <p:cNvSpPr>
            <a:spLocks noGrp="1"/>
          </p:cNvSpPr>
          <p:nvPr>
            <p:ph type="title"/>
          </p:nvPr>
        </p:nvSpPr>
        <p:spPr/>
        <p:txBody>
          <a:bodyPr>
            <a:normAutofit/>
          </a:bodyPr>
          <a:lstStyle/>
          <a:p>
            <a:r>
              <a:rPr kumimoji="1" lang="ja-GB" altLang="en-US" dirty="0"/>
              <a:t>第</a:t>
            </a:r>
            <a:r>
              <a:rPr lang="en-US" altLang="ja-GB" dirty="0"/>
              <a:t>9</a:t>
            </a:r>
            <a:r>
              <a:rPr kumimoji="1" lang="ja-GB" altLang="en-US" dirty="0"/>
              <a:t>回：演習</a:t>
            </a:r>
            <a:r>
              <a:rPr kumimoji="1" lang="en-US" altLang="ja-GB" dirty="0"/>
              <a:t> </a:t>
            </a:r>
            <a:r>
              <a:rPr kumimoji="1" lang="ja-GB" altLang="en-US" dirty="0"/>
              <a:t>データ構造とアルゴリズム</a:t>
            </a:r>
          </a:p>
        </p:txBody>
      </p:sp>
      <p:sp>
        <p:nvSpPr>
          <p:cNvPr id="3" name="コンテンツ プレースホルダー 2">
            <a:extLst>
              <a:ext uri="{FF2B5EF4-FFF2-40B4-BE49-F238E27FC236}">
                <a16:creationId xmlns:a16="http://schemas.microsoft.com/office/drawing/2014/main" id="{4EAA0EEC-5439-B2AE-2BD7-A01568AD739D}"/>
              </a:ext>
            </a:extLst>
          </p:cNvPr>
          <p:cNvSpPr>
            <a:spLocks noGrp="1"/>
          </p:cNvSpPr>
          <p:nvPr>
            <p:ph idx="1"/>
          </p:nvPr>
        </p:nvSpPr>
        <p:spPr/>
        <p:txBody>
          <a:bodyPr/>
          <a:lstStyle/>
          <a:p>
            <a:pPr marL="0" indent="0">
              <a:buNone/>
            </a:pPr>
            <a:r>
              <a:rPr kumimoji="1" lang="ja-GB" altLang="en-US" dirty="0"/>
              <a:t>アルゴリズムを使うとき同じ機能でも様々な方式から選ぶ必要がある</a:t>
            </a:r>
            <a:endParaRPr kumimoji="1" lang="en-US" altLang="ja-GB" dirty="0"/>
          </a:p>
          <a:p>
            <a:pPr marL="914400" lvl="1" indent="-457200">
              <a:buFont typeface="+mj-lt"/>
              <a:buAutoNum type="arabicPeriod"/>
            </a:pPr>
            <a:r>
              <a:rPr lang="ja-JP" altLang="en-US"/>
              <a:t>既知のアルゴリズムを</a:t>
            </a:r>
            <a:r>
              <a:rPr lang="ja-GB" altLang="en-US" dirty="0"/>
              <a:t>利用する</a:t>
            </a:r>
            <a:r>
              <a:rPr lang="ja-JP" altLang="en-US"/>
              <a:t>問題</a:t>
            </a:r>
            <a:endParaRPr kumimoji="1" lang="en-US" altLang="ja-GB" dirty="0"/>
          </a:p>
          <a:p>
            <a:pPr lvl="2"/>
            <a:r>
              <a:rPr lang="ja-JP" altLang="en-US"/>
              <a:t>授業で紹介したアルゴリズムを扱う</a:t>
            </a:r>
            <a:r>
              <a:rPr lang="ja-GB" altLang="en-US" dirty="0"/>
              <a:t>練習</a:t>
            </a:r>
            <a:endParaRPr lang="en-US" altLang="ja-GB" dirty="0"/>
          </a:p>
          <a:p>
            <a:pPr lvl="2"/>
            <a:r>
              <a:rPr lang="ja-JP" altLang="en-US"/>
              <a:t>例示されたデータに対する実際の動作を自分で再現する</a:t>
            </a:r>
            <a:endParaRPr kumimoji="1" lang="en-US" altLang="ja-GB" dirty="0"/>
          </a:p>
          <a:p>
            <a:pPr lvl="2"/>
            <a:r>
              <a:rPr lang="ja-JP" altLang="en-US"/>
              <a:t>アルゴリズムから計算量を求める（</a:t>
            </a:r>
            <a:r>
              <a:rPr lang="ja-GB" altLang="en-US" dirty="0"/>
              <a:t>条件分岐，繰り返し</a:t>
            </a:r>
            <a:r>
              <a:rPr lang="ja-JP" altLang="en-US"/>
              <a:t>）</a:t>
            </a:r>
            <a:endParaRPr lang="en-US" altLang="ja-GB" dirty="0"/>
          </a:p>
          <a:p>
            <a:pPr lvl="2"/>
            <a:endParaRPr lang="en-US" altLang="ja-GB" dirty="0"/>
          </a:p>
          <a:p>
            <a:pPr marL="914400" lvl="1" indent="-457200">
              <a:buFont typeface="+mj-lt"/>
              <a:buAutoNum type="arabicPeriod"/>
            </a:pPr>
            <a:r>
              <a:rPr lang="ja-JP" altLang="en-US"/>
              <a:t>既知のアルゴリズムを応用する問題</a:t>
            </a:r>
            <a:endParaRPr kumimoji="1" lang="en-US" altLang="ja-GB" dirty="0"/>
          </a:p>
          <a:p>
            <a:pPr lvl="2"/>
            <a:r>
              <a:rPr lang="ja-JP" altLang="en-US"/>
              <a:t>文章で説明された状況に適切なアルゴリズムを選び，問題を解決する</a:t>
            </a:r>
            <a:endParaRPr lang="en-US" altLang="ja-JP" dirty="0"/>
          </a:p>
          <a:p>
            <a:pPr lvl="2"/>
            <a:r>
              <a:rPr lang="ja-GB" altLang="en-US" dirty="0"/>
              <a:t>アルゴリズムを組み合わせて問題を解決する練習</a:t>
            </a:r>
            <a:endParaRPr lang="en-US" altLang="ja-GB" dirty="0"/>
          </a:p>
          <a:p>
            <a:pPr lvl="2"/>
            <a:endParaRPr lang="en-US" altLang="ja-GB" dirty="0"/>
          </a:p>
          <a:p>
            <a:pPr marL="914400" lvl="1" indent="-457200">
              <a:buFont typeface="+mj-lt"/>
              <a:buAutoNum type="arabicPeriod"/>
            </a:pPr>
            <a:r>
              <a:rPr lang="ja-JP" altLang="en-US"/>
              <a:t>未知のアルゴリズムの</a:t>
            </a:r>
            <a:r>
              <a:rPr lang="ja-GB" altLang="en-US" dirty="0"/>
              <a:t>動作をプログラムから読み解く</a:t>
            </a:r>
            <a:r>
              <a:rPr lang="ja-JP" altLang="en-US"/>
              <a:t>問題</a:t>
            </a:r>
            <a:endParaRPr lang="en-US" altLang="ja-JP" dirty="0"/>
          </a:p>
          <a:p>
            <a:pPr lvl="2"/>
            <a:r>
              <a:rPr kumimoji="1" lang="ja-GB" altLang="en-US" dirty="0"/>
              <a:t>提示されたアルゴリズムを解読して，</a:t>
            </a:r>
            <a:r>
              <a:rPr lang="ja-JP" altLang="en-US"/>
              <a:t>例示されたデータの</a:t>
            </a:r>
            <a:r>
              <a:rPr lang="ja-GB" altLang="en-US" dirty="0"/>
              <a:t>処理を行う</a:t>
            </a:r>
            <a:br>
              <a:rPr lang="en-US" altLang="ja-GB" dirty="0"/>
            </a:br>
            <a:r>
              <a:rPr lang="ja-JP" altLang="en-US"/>
              <a:t>（</a:t>
            </a:r>
            <a:r>
              <a:rPr lang="ja-GB" altLang="en-US" dirty="0"/>
              <a:t>条件分岐，繰り返し，関数</a:t>
            </a:r>
            <a:r>
              <a:rPr lang="ja-JP" altLang="en-US"/>
              <a:t>）</a:t>
            </a:r>
            <a:endParaRPr lang="en-US" altLang="ja-GB" dirty="0"/>
          </a:p>
          <a:p>
            <a:pPr lvl="2"/>
            <a:r>
              <a:rPr kumimoji="1" lang="ja-GB" altLang="en-US" dirty="0"/>
              <a:t>アルゴリズムに基づくプログラムや</a:t>
            </a:r>
            <a:r>
              <a:rPr kumimoji="1" lang="en-US" altLang="ja-GB" dirty="0"/>
              <a:t>IT</a:t>
            </a:r>
            <a:r>
              <a:rPr kumimoji="1" lang="ja-GB" altLang="en-US" dirty="0"/>
              <a:t>システムの仕組みや使い方が，</a:t>
            </a:r>
            <a:br>
              <a:rPr kumimoji="1" lang="en-US" altLang="ja-GB" dirty="0"/>
            </a:br>
            <a:r>
              <a:rPr kumimoji="1" lang="ja-GB" altLang="en-US" dirty="0"/>
              <a:t>具体的な操作手順として書かれた難解な記述から理解する練習</a:t>
            </a:r>
            <a:endParaRPr kumimoji="1" lang="en-US" altLang="ja-GB" dirty="0"/>
          </a:p>
        </p:txBody>
      </p:sp>
    </p:spTree>
    <p:extLst>
      <p:ext uri="{BB962C8B-B14F-4D97-AF65-F5344CB8AC3E}">
        <p14:creationId xmlns:p14="http://schemas.microsoft.com/office/powerpoint/2010/main" val="24273381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1016CE-682B-9DD5-85C4-4CF64090CE41}"/>
              </a:ext>
            </a:extLst>
          </p:cNvPr>
          <p:cNvSpPr>
            <a:spLocks noGrp="1"/>
          </p:cNvSpPr>
          <p:nvPr>
            <p:ph type="title"/>
          </p:nvPr>
        </p:nvSpPr>
        <p:spPr/>
        <p:txBody>
          <a:bodyPr>
            <a:normAutofit/>
          </a:bodyPr>
          <a:lstStyle/>
          <a:p>
            <a:r>
              <a:rPr kumimoji="1" lang="ja-GB" altLang="en-US" dirty="0"/>
              <a:t>ハノイの塔：関数の中で関数を使う複雑なパズル</a:t>
            </a:r>
          </a:p>
        </p:txBody>
      </p:sp>
      <p:sp>
        <p:nvSpPr>
          <p:cNvPr id="3" name="コンテンツ プレースホルダー 2">
            <a:extLst>
              <a:ext uri="{FF2B5EF4-FFF2-40B4-BE49-F238E27FC236}">
                <a16:creationId xmlns:a16="http://schemas.microsoft.com/office/drawing/2014/main" id="{93528FDA-48E6-6646-E46E-35ACD22F38EB}"/>
              </a:ext>
            </a:extLst>
          </p:cNvPr>
          <p:cNvSpPr>
            <a:spLocks noGrp="1"/>
          </p:cNvSpPr>
          <p:nvPr>
            <p:ph idx="1"/>
          </p:nvPr>
        </p:nvSpPr>
        <p:spPr/>
        <p:txBody>
          <a:bodyPr>
            <a:normAutofit/>
          </a:bodyPr>
          <a:lstStyle/>
          <a:p>
            <a:pPr marL="0" indent="0">
              <a:buNone/>
            </a:pPr>
            <a:r>
              <a:rPr kumimoji="1" lang="ja-GB" altLang="en-US" sz="1600" dirty="0">
                <a:solidFill>
                  <a:srgbClr val="2F2523"/>
                </a:solidFill>
              </a:rPr>
              <a:t>関数</a:t>
            </a:r>
            <a:r>
              <a:rPr kumimoji="1" lang="en-US" altLang="ja-GB" sz="1600" dirty="0">
                <a:solidFill>
                  <a:srgbClr val="2F2523"/>
                </a:solidFill>
              </a:rPr>
              <a:t> </a:t>
            </a:r>
            <a:r>
              <a:rPr lang="ja-GB" altLang="en-US" sz="1600" dirty="0">
                <a:solidFill>
                  <a:srgbClr val="2F2523"/>
                </a:solidFill>
              </a:rPr>
              <a:t>ディスク移動</a:t>
            </a:r>
            <a:r>
              <a:rPr kumimoji="1" lang="ja-GB" altLang="en-US" sz="1600" dirty="0">
                <a:solidFill>
                  <a:srgbClr val="2F2523"/>
                </a:solidFill>
              </a:rPr>
              <a:t>（整数</a:t>
            </a:r>
            <a:r>
              <a:rPr kumimoji="1" lang="en-US" altLang="ja-GB" sz="1600" dirty="0">
                <a:solidFill>
                  <a:srgbClr val="2F2523"/>
                </a:solidFill>
              </a:rPr>
              <a:t> </a:t>
            </a:r>
            <a:r>
              <a:rPr kumimoji="1" lang="ja-GB" altLang="en-US" sz="1600" dirty="0">
                <a:solidFill>
                  <a:srgbClr val="2F2523"/>
                </a:solidFill>
              </a:rPr>
              <a:t>ディスク数，文字</a:t>
            </a:r>
            <a:r>
              <a:rPr kumimoji="1" lang="en-US" altLang="ja-GB" sz="1600" dirty="0">
                <a:solidFill>
                  <a:srgbClr val="2F2523"/>
                </a:solidFill>
              </a:rPr>
              <a:t> </a:t>
            </a:r>
            <a:r>
              <a:rPr kumimoji="1" lang="ja-GB" altLang="en-US" sz="1600" dirty="0">
                <a:solidFill>
                  <a:srgbClr val="2F2523"/>
                </a:solidFill>
              </a:rPr>
              <a:t>出発の棒，文字</a:t>
            </a:r>
            <a:r>
              <a:rPr kumimoji="1" lang="en-US" altLang="ja-GB" sz="1600" dirty="0">
                <a:solidFill>
                  <a:srgbClr val="2F2523"/>
                </a:solidFill>
              </a:rPr>
              <a:t> </a:t>
            </a:r>
            <a:r>
              <a:rPr kumimoji="1" lang="ja-GB" altLang="en-US" sz="1600" dirty="0">
                <a:solidFill>
                  <a:srgbClr val="2F2523"/>
                </a:solidFill>
              </a:rPr>
              <a:t>目的の棒，文字</a:t>
            </a:r>
            <a:r>
              <a:rPr kumimoji="1" lang="en-US" altLang="ja-GB" sz="1600" dirty="0">
                <a:solidFill>
                  <a:srgbClr val="2F2523"/>
                </a:solidFill>
              </a:rPr>
              <a:t> </a:t>
            </a:r>
            <a:r>
              <a:rPr kumimoji="1" lang="ja-GB" altLang="en-US" sz="1600" dirty="0">
                <a:solidFill>
                  <a:srgbClr val="2F2523"/>
                </a:solidFill>
              </a:rPr>
              <a:t>補助の棒）</a:t>
            </a:r>
            <a:r>
              <a:rPr kumimoji="1" lang="en-US" altLang="ja-GB" sz="1600" dirty="0">
                <a:solidFill>
                  <a:srgbClr val="2F2523"/>
                </a:solidFill>
              </a:rPr>
              <a:t>{</a:t>
            </a:r>
          </a:p>
          <a:p>
            <a:pPr marL="0" indent="0">
              <a:buNone/>
            </a:pPr>
            <a:r>
              <a:rPr kumimoji="1" lang="ja-GB" altLang="en-US" sz="1600" dirty="0">
                <a:solidFill>
                  <a:srgbClr val="2F2523"/>
                </a:solidFill>
              </a:rPr>
              <a:t>　　もし（ディスク数</a:t>
            </a:r>
            <a:r>
              <a:rPr lang="en-US" altLang="ja-GB" sz="1600" dirty="0">
                <a:solidFill>
                  <a:srgbClr val="2F2523"/>
                </a:solidFill>
              </a:rPr>
              <a:t>==1</a:t>
            </a:r>
            <a:r>
              <a:rPr kumimoji="1" lang="ja-GB" altLang="en-US" sz="1600" dirty="0">
                <a:solidFill>
                  <a:srgbClr val="2F2523"/>
                </a:solidFill>
              </a:rPr>
              <a:t>）ならば</a:t>
            </a:r>
            <a:r>
              <a:rPr kumimoji="1" lang="en-US" altLang="ja-GB" sz="1600" dirty="0">
                <a:solidFill>
                  <a:srgbClr val="2F2523"/>
                </a:solidFill>
              </a:rPr>
              <a:t>{</a:t>
            </a:r>
          </a:p>
          <a:p>
            <a:pPr marL="0" indent="0">
              <a:buNone/>
            </a:pPr>
            <a:r>
              <a:rPr lang="ja-GB" altLang="en-US" sz="1600" dirty="0">
                <a:solidFill>
                  <a:srgbClr val="2F2523"/>
                </a:solidFill>
              </a:rPr>
              <a:t>　　　　出発の棒</a:t>
            </a:r>
            <a:r>
              <a:rPr lang="en-US" altLang="ja-GB" sz="1600" dirty="0">
                <a:solidFill>
                  <a:srgbClr val="2F2523"/>
                </a:solidFill>
              </a:rPr>
              <a:t> </a:t>
            </a:r>
            <a:r>
              <a:rPr lang="ja-GB" altLang="en-US" sz="1600" dirty="0">
                <a:solidFill>
                  <a:srgbClr val="2F2523"/>
                </a:solidFill>
              </a:rPr>
              <a:t>から</a:t>
            </a:r>
            <a:r>
              <a:rPr lang="en-US" altLang="ja-GB" sz="1600" dirty="0">
                <a:solidFill>
                  <a:srgbClr val="2F2523"/>
                </a:solidFill>
              </a:rPr>
              <a:t> </a:t>
            </a:r>
            <a:r>
              <a:rPr lang="ja-GB" altLang="en-US" sz="1600" dirty="0">
                <a:solidFill>
                  <a:srgbClr val="2F2523"/>
                </a:solidFill>
              </a:rPr>
              <a:t>目的の棒</a:t>
            </a:r>
            <a:r>
              <a:rPr lang="en-US" altLang="ja-GB" sz="1600" dirty="0">
                <a:solidFill>
                  <a:srgbClr val="2F2523"/>
                </a:solidFill>
              </a:rPr>
              <a:t> </a:t>
            </a:r>
            <a:r>
              <a:rPr lang="ja-GB" altLang="en-US" sz="1600" dirty="0">
                <a:solidFill>
                  <a:srgbClr val="2F2523"/>
                </a:solidFill>
              </a:rPr>
              <a:t>へ一番上のディスクを移動する</a:t>
            </a:r>
            <a:endParaRPr lang="en-US" altLang="ja-GB" sz="1600" dirty="0">
              <a:solidFill>
                <a:srgbClr val="2F2523"/>
              </a:solidFill>
            </a:endParaRPr>
          </a:p>
          <a:p>
            <a:pPr marL="0" indent="0">
              <a:buNone/>
            </a:pPr>
            <a:r>
              <a:rPr lang="ja-JP" altLang="en-US" sz="1600">
                <a:solidFill>
                  <a:srgbClr val="2F2523"/>
                </a:solidFill>
              </a:rPr>
              <a:t>　　</a:t>
            </a:r>
            <a:r>
              <a:rPr lang="en-US" altLang="ja-GB" sz="1600" dirty="0">
                <a:solidFill>
                  <a:srgbClr val="2F2523"/>
                </a:solidFill>
              </a:rPr>
              <a:t>}</a:t>
            </a:r>
          </a:p>
          <a:p>
            <a:pPr marL="0" indent="0">
              <a:buNone/>
            </a:pPr>
            <a:r>
              <a:rPr lang="ja-GB" altLang="en-US" sz="1600" dirty="0">
                <a:solidFill>
                  <a:srgbClr val="2F2523"/>
                </a:solidFill>
              </a:rPr>
              <a:t>　　 もし（ディスク数≠</a:t>
            </a:r>
            <a:r>
              <a:rPr lang="en-US" altLang="ja-GB" sz="1600" dirty="0">
                <a:solidFill>
                  <a:srgbClr val="2F2523"/>
                </a:solidFill>
              </a:rPr>
              <a:t>1</a:t>
            </a:r>
            <a:r>
              <a:rPr lang="ja-GB" altLang="en-US" sz="1600" dirty="0">
                <a:solidFill>
                  <a:srgbClr val="2F2523"/>
                </a:solidFill>
              </a:rPr>
              <a:t>）ならば</a:t>
            </a:r>
            <a:r>
              <a:rPr kumimoji="1" lang="en-US" altLang="ja-GB" sz="1600" dirty="0">
                <a:solidFill>
                  <a:srgbClr val="2F2523"/>
                </a:solidFill>
              </a:rPr>
              <a:t>{</a:t>
            </a:r>
          </a:p>
          <a:p>
            <a:pPr marL="0" indent="0">
              <a:buNone/>
            </a:pPr>
            <a:r>
              <a:rPr lang="ja-GB" altLang="en-US" sz="1600" dirty="0">
                <a:solidFill>
                  <a:srgbClr val="2F2523"/>
                </a:solidFill>
              </a:rPr>
              <a:t>　　　　ディスク移動（ディスク数</a:t>
            </a:r>
            <a:r>
              <a:rPr lang="en-US" altLang="ja-GB" sz="1600" dirty="0">
                <a:solidFill>
                  <a:srgbClr val="2F2523"/>
                </a:solidFill>
              </a:rPr>
              <a:t>-1</a:t>
            </a:r>
            <a:r>
              <a:rPr lang="ja-GB" altLang="en-US" sz="1600" dirty="0">
                <a:solidFill>
                  <a:srgbClr val="2F2523"/>
                </a:solidFill>
              </a:rPr>
              <a:t>，出発の棒，補助の棒，目的の棒）</a:t>
            </a:r>
            <a:endParaRPr lang="en-US" altLang="ja-GB" sz="1600" dirty="0">
              <a:solidFill>
                <a:srgbClr val="2F2523"/>
              </a:solidFill>
            </a:endParaRPr>
          </a:p>
          <a:p>
            <a:pPr marL="0" indent="0">
              <a:buNone/>
            </a:pPr>
            <a:r>
              <a:rPr kumimoji="1" lang="ja-GB" altLang="en-US" sz="1600" dirty="0">
                <a:solidFill>
                  <a:srgbClr val="2F2523"/>
                </a:solidFill>
              </a:rPr>
              <a:t>　　　　出発の棒から目的の棒へ一番上のディスクを移動する</a:t>
            </a:r>
            <a:endParaRPr kumimoji="1" lang="en-US" altLang="ja-GB" sz="1600" dirty="0">
              <a:solidFill>
                <a:srgbClr val="2F2523"/>
              </a:solidFill>
            </a:endParaRPr>
          </a:p>
          <a:p>
            <a:pPr marL="0" indent="0">
              <a:buNone/>
            </a:pPr>
            <a:r>
              <a:rPr lang="ja-GB" altLang="en-US" sz="1600" dirty="0">
                <a:solidFill>
                  <a:srgbClr val="2F2523"/>
                </a:solidFill>
              </a:rPr>
              <a:t>　　　　ディスク移動（ディスク数</a:t>
            </a:r>
            <a:r>
              <a:rPr lang="en-US" altLang="ja-GB" sz="1600" dirty="0">
                <a:solidFill>
                  <a:srgbClr val="2F2523"/>
                </a:solidFill>
              </a:rPr>
              <a:t>-1</a:t>
            </a:r>
            <a:r>
              <a:rPr lang="ja-GB" altLang="en-US" sz="1600" dirty="0">
                <a:solidFill>
                  <a:srgbClr val="2F2523"/>
                </a:solidFill>
              </a:rPr>
              <a:t>，補助の棒，目的の棒，出発の棒）</a:t>
            </a:r>
            <a:endParaRPr lang="en-US" altLang="ja-GB" sz="1600" dirty="0">
              <a:solidFill>
                <a:srgbClr val="2F2523"/>
              </a:solidFill>
            </a:endParaRPr>
          </a:p>
          <a:p>
            <a:pPr marL="0" indent="0">
              <a:buNone/>
            </a:pPr>
            <a:r>
              <a:rPr kumimoji="1" lang="ja-JP" altLang="en-US" sz="1600">
                <a:solidFill>
                  <a:srgbClr val="2F2523"/>
                </a:solidFill>
              </a:rPr>
              <a:t>　　</a:t>
            </a:r>
            <a:r>
              <a:rPr kumimoji="1" lang="en-US" altLang="ja-GB" sz="1600" dirty="0">
                <a:solidFill>
                  <a:srgbClr val="2F2523"/>
                </a:solidFill>
              </a:rPr>
              <a:t>}</a:t>
            </a:r>
          </a:p>
          <a:p>
            <a:pPr marL="0" indent="0">
              <a:buNone/>
            </a:pPr>
            <a:r>
              <a:rPr lang="en-US" altLang="ja-GB" sz="1600" dirty="0">
                <a:solidFill>
                  <a:srgbClr val="2F2523"/>
                </a:solidFill>
              </a:rPr>
              <a:t>}</a:t>
            </a:r>
            <a:endParaRPr kumimoji="1" lang="ja-GB" altLang="en-US" sz="1600" dirty="0">
              <a:solidFill>
                <a:srgbClr val="2F2523"/>
              </a:solidFill>
            </a:endParaRPr>
          </a:p>
        </p:txBody>
      </p:sp>
      <p:sp>
        <p:nvSpPr>
          <p:cNvPr id="4" name="正方形/長方形 3">
            <a:extLst>
              <a:ext uri="{FF2B5EF4-FFF2-40B4-BE49-F238E27FC236}">
                <a16:creationId xmlns:a16="http://schemas.microsoft.com/office/drawing/2014/main" id="{A46D1D97-9D15-7C26-E4D1-3251DC6EA885}"/>
              </a:ext>
            </a:extLst>
          </p:cNvPr>
          <p:cNvSpPr/>
          <p:nvPr/>
        </p:nvSpPr>
        <p:spPr>
          <a:xfrm>
            <a:off x="2145671" y="4626321"/>
            <a:ext cx="235390" cy="1837853"/>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GB" altLang="en-US"/>
          </a:p>
        </p:txBody>
      </p:sp>
      <p:sp>
        <p:nvSpPr>
          <p:cNvPr id="5" name="正方形/長方形 4">
            <a:extLst>
              <a:ext uri="{FF2B5EF4-FFF2-40B4-BE49-F238E27FC236}">
                <a16:creationId xmlns:a16="http://schemas.microsoft.com/office/drawing/2014/main" id="{E6F520B6-D651-1266-32D2-97516DF96EA9}"/>
              </a:ext>
            </a:extLst>
          </p:cNvPr>
          <p:cNvSpPr/>
          <p:nvPr/>
        </p:nvSpPr>
        <p:spPr>
          <a:xfrm>
            <a:off x="4093810" y="4626321"/>
            <a:ext cx="235390" cy="1837853"/>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GB" altLang="en-US"/>
          </a:p>
        </p:txBody>
      </p:sp>
      <p:sp>
        <p:nvSpPr>
          <p:cNvPr id="6" name="正方形/長方形 5">
            <a:extLst>
              <a:ext uri="{FF2B5EF4-FFF2-40B4-BE49-F238E27FC236}">
                <a16:creationId xmlns:a16="http://schemas.microsoft.com/office/drawing/2014/main" id="{ECC76BAB-B1B8-9335-90DE-66B906F74010}"/>
              </a:ext>
            </a:extLst>
          </p:cNvPr>
          <p:cNvSpPr/>
          <p:nvPr/>
        </p:nvSpPr>
        <p:spPr>
          <a:xfrm>
            <a:off x="6226352" y="4626321"/>
            <a:ext cx="235390" cy="1837853"/>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GB" altLang="en-US"/>
          </a:p>
        </p:txBody>
      </p:sp>
      <p:sp>
        <p:nvSpPr>
          <p:cNvPr id="7" name="正方形/長方形 6">
            <a:extLst>
              <a:ext uri="{FF2B5EF4-FFF2-40B4-BE49-F238E27FC236}">
                <a16:creationId xmlns:a16="http://schemas.microsoft.com/office/drawing/2014/main" id="{D0A4767C-15C2-0DCE-43A5-0BF409C1943B}"/>
              </a:ext>
            </a:extLst>
          </p:cNvPr>
          <p:cNvSpPr/>
          <p:nvPr/>
        </p:nvSpPr>
        <p:spPr>
          <a:xfrm>
            <a:off x="1430447" y="6092982"/>
            <a:ext cx="1665837" cy="3711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8" name="正方形/長方形 7">
            <a:extLst>
              <a:ext uri="{FF2B5EF4-FFF2-40B4-BE49-F238E27FC236}">
                <a16:creationId xmlns:a16="http://schemas.microsoft.com/office/drawing/2014/main" id="{66FBC103-4A2A-F69C-1191-39973E95BB35}"/>
              </a:ext>
            </a:extLst>
          </p:cNvPr>
          <p:cNvSpPr/>
          <p:nvPr/>
        </p:nvSpPr>
        <p:spPr>
          <a:xfrm>
            <a:off x="1575304" y="5721790"/>
            <a:ext cx="1376122" cy="3711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9" name="正方形/長方形 8">
            <a:extLst>
              <a:ext uri="{FF2B5EF4-FFF2-40B4-BE49-F238E27FC236}">
                <a16:creationId xmlns:a16="http://schemas.microsoft.com/office/drawing/2014/main" id="{9700E587-6879-1636-0FB7-A614505E3E0C}"/>
              </a:ext>
            </a:extLst>
          </p:cNvPr>
          <p:cNvSpPr/>
          <p:nvPr/>
        </p:nvSpPr>
        <p:spPr>
          <a:xfrm>
            <a:off x="1801641" y="5359652"/>
            <a:ext cx="923446" cy="3711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0" name="テキスト ボックス 9">
            <a:extLst>
              <a:ext uri="{FF2B5EF4-FFF2-40B4-BE49-F238E27FC236}">
                <a16:creationId xmlns:a16="http://schemas.microsoft.com/office/drawing/2014/main" id="{68E757A5-AA74-C282-91E1-A91EE0DA7352}"/>
              </a:ext>
            </a:extLst>
          </p:cNvPr>
          <p:cNvSpPr txBox="1"/>
          <p:nvPr/>
        </p:nvSpPr>
        <p:spPr>
          <a:xfrm>
            <a:off x="2104506" y="6455120"/>
            <a:ext cx="317716" cy="369332"/>
          </a:xfrm>
          <a:prstGeom prst="rect">
            <a:avLst/>
          </a:prstGeom>
          <a:noFill/>
        </p:spPr>
        <p:txBody>
          <a:bodyPr wrap="none" rtlCol="0">
            <a:spAutoFit/>
          </a:bodyPr>
          <a:lstStyle/>
          <a:p>
            <a:r>
              <a:rPr kumimoji="1" lang="en-US" altLang="ja-GB" dirty="0"/>
              <a:t>A</a:t>
            </a:r>
            <a:endParaRPr kumimoji="1" lang="ja-GB" altLang="en-US" dirty="0"/>
          </a:p>
        </p:txBody>
      </p:sp>
      <p:sp>
        <p:nvSpPr>
          <p:cNvPr id="11" name="テキスト ボックス 10">
            <a:extLst>
              <a:ext uri="{FF2B5EF4-FFF2-40B4-BE49-F238E27FC236}">
                <a16:creationId xmlns:a16="http://schemas.microsoft.com/office/drawing/2014/main" id="{8F050041-E495-BF75-11D1-3DDFE00E16A2}"/>
              </a:ext>
            </a:extLst>
          </p:cNvPr>
          <p:cNvSpPr txBox="1"/>
          <p:nvPr/>
        </p:nvSpPr>
        <p:spPr>
          <a:xfrm>
            <a:off x="4058395" y="6455120"/>
            <a:ext cx="309700" cy="369332"/>
          </a:xfrm>
          <a:prstGeom prst="rect">
            <a:avLst/>
          </a:prstGeom>
          <a:noFill/>
        </p:spPr>
        <p:txBody>
          <a:bodyPr wrap="none" rtlCol="0">
            <a:spAutoFit/>
          </a:bodyPr>
          <a:lstStyle/>
          <a:p>
            <a:r>
              <a:rPr kumimoji="1" lang="en-US" altLang="ja-GB" dirty="0"/>
              <a:t>B</a:t>
            </a:r>
            <a:endParaRPr kumimoji="1" lang="ja-GB" altLang="en-US" dirty="0"/>
          </a:p>
        </p:txBody>
      </p:sp>
      <p:sp>
        <p:nvSpPr>
          <p:cNvPr id="12" name="テキスト ボックス 11">
            <a:extLst>
              <a:ext uri="{FF2B5EF4-FFF2-40B4-BE49-F238E27FC236}">
                <a16:creationId xmlns:a16="http://schemas.microsoft.com/office/drawing/2014/main" id="{D14D77C3-4A77-EDC6-7AF5-F3B4DDE17DD3}"/>
              </a:ext>
            </a:extLst>
          </p:cNvPr>
          <p:cNvSpPr txBox="1"/>
          <p:nvPr/>
        </p:nvSpPr>
        <p:spPr>
          <a:xfrm>
            <a:off x="6185189" y="6455120"/>
            <a:ext cx="308098" cy="369332"/>
          </a:xfrm>
          <a:prstGeom prst="rect">
            <a:avLst/>
          </a:prstGeom>
          <a:noFill/>
        </p:spPr>
        <p:txBody>
          <a:bodyPr wrap="none" rtlCol="0">
            <a:spAutoFit/>
          </a:bodyPr>
          <a:lstStyle/>
          <a:p>
            <a:r>
              <a:rPr kumimoji="1" lang="en-US" altLang="ja-GB" dirty="0"/>
              <a:t>C</a:t>
            </a:r>
            <a:endParaRPr kumimoji="1" lang="ja-GB" altLang="en-US" dirty="0"/>
          </a:p>
        </p:txBody>
      </p:sp>
    </p:spTree>
    <p:extLst>
      <p:ext uri="{BB962C8B-B14F-4D97-AF65-F5344CB8AC3E}">
        <p14:creationId xmlns:p14="http://schemas.microsoft.com/office/powerpoint/2010/main" val="9565365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25FE9B-EC09-9A16-1A41-EDD0E7FE7476}"/>
              </a:ext>
            </a:extLst>
          </p:cNvPr>
          <p:cNvSpPr>
            <a:spLocks noGrp="1"/>
          </p:cNvSpPr>
          <p:nvPr>
            <p:ph type="title"/>
          </p:nvPr>
        </p:nvSpPr>
        <p:spPr/>
        <p:txBody>
          <a:bodyPr/>
          <a:lstStyle/>
          <a:p>
            <a:r>
              <a:rPr kumimoji="1" lang="ja-GB" altLang="en-US" dirty="0"/>
              <a:t>線形探索：配列から要素を探す基本的な方法</a:t>
            </a:r>
          </a:p>
        </p:txBody>
      </p:sp>
      <p:sp>
        <p:nvSpPr>
          <p:cNvPr id="3" name="コンテンツ プレースホルダー 2">
            <a:extLst>
              <a:ext uri="{FF2B5EF4-FFF2-40B4-BE49-F238E27FC236}">
                <a16:creationId xmlns:a16="http://schemas.microsoft.com/office/drawing/2014/main" id="{92F3814B-00D3-E1DF-568B-DF58943AA967}"/>
              </a:ext>
            </a:extLst>
          </p:cNvPr>
          <p:cNvSpPr>
            <a:spLocks noGrp="1"/>
          </p:cNvSpPr>
          <p:nvPr>
            <p:ph idx="1"/>
          </p:nvPr>
        </p:nvSpPr>
        <p:spPr/>
        <p:txBody>
          <a:bodyPr>
            <a:normAutofit/>
          </a:bodyPr>
          <a:lstStyle/>
          <a:p>
            <a:pPr marL="0" indent="0">
              <a:buNone/>
            </a:pPr>
            <a:r>
              <a:rPr lang="ja-GB" altLang="en-US" sz="1600" dirty="0">
                <a:solidFill>
                  <a:srgbClr val="2F2523"/>
                </a:solidFill>
              </a:rPr>
              <a:t>関数　</a:t>
            </a:r>
            <a:r>
              <a:rPr lang="ja-JP" altLang="en-US" sz="1600">
                <a:solidFill>
                  <a:srgbClr val="2F2523"/>
                </a:solidFill>
              </a:rPr>
              <a:t>線形探索</a:t>
            </a:r>
            <a:r>
              <a:rPr lang="en-US" altLang="ja-JP" sz="1600" dirty="0">
                <a:solidFill>
                  <a:srgbClr val="2F2523"/>
                </a:solidFill>
              </a:rPr>
              <a:t>(</a:t>
            </a:r>
            <a:r>
              <a:rPr lang="ja-GB" altLang="en-US" sz="1600" dirty="0">
                <a:solidFill>
                  <a:srgbClr val="2F2523"/>
                </a:solidFill>
              </a:rPr>
              <a:t>配列</a:t>
            </a:r>
            <a:r>
              <a:rPr lang="en-US" altLang="ja-GB" sz="1600" dirty="0">
                <a:solidFill>
                  <a:srgbClr val="2F2523"/>
                </a:solidFill>
              </a:rPr>
              <a:t> </a:t>
            </a:r>
            <a:r>
              <a:rPr lang="ja-GB" altLang="en-US" sz="1600" dirty="0">
                <a:solidFill>
                  <a:srgbClr val="2F2523"/>
                </a:solidFill>
              </a:rPr>
              <a:t>探索対象</a:t>
            </a:r>
            <a:r>
              <a:rPr lang="en-US" altLang="ja-JP" sz="1600" dirty="0">
                <a:solidFill>
                  <a:srgbClr val="2F2523"/>
                </a:solidFill>
              </a:rPr>
              <a:t>, </a:t>
            </a:r>
            <a:r>
              <a:rPr lang="ja-GB" altLang="en-US" sz="1600" dirty="0">
                <a:solidFill>
                  <a:srgbClr val="2F2523"/>
                </a:solidFill>
              </a:rPr>
              <a:t>整数</a:t>
            </a:r>
            <a:r>
              <a:rPr lang="en-US" altLang="ja-GB" sz="1600" dirty="0">
                <a:solidFill>
                  <a:srgbClr val="2F2523"/>
                </a:solidFill>
              </a:rPr>
              <a:t> </a:t>
            </a:r>
            <a:r>
              <a:rPr lang="ja-GB" altLang="en-US" sz="1600" dirty="0">
                <a:solidFill>
                  <a:srgbClr val="2F2523"/>
                </a:solidFill>
              </a:rPr>
              <a:t>探索</a:t>
            </a:r>
            <a:r>
              <a:rPr lang="ja-JP" altLang="en-US" sz="1600">
                <a:solidFill>
                  <a:srgbClr val="2F2523"/>
                </a:solidFill>
              </a:rPr>
              <a:t>値</a:t>
            </a:r>
            <a:r>
              <a:rPr lang="en-US" altLang="ja-JP" sz="1600" dirty="0">
                <a:solidFill>
                  <a:srgbClr val="2F2523"/>
                </a:solidFill>
              </a:rPr>
              <a:t>){</a:t>
            </a:r>
          </a:p>
          <a:p>
            <a:pPr marL="0" indent="0">
              <a:buNone/>
            </a:pPr>
            <a:r>
              <a:rPr lang="ja-JP" altLang="en-US" sz="1600">
                <a:solidFill>
                  <a:srgbClr val="2F2523"/>
                </a:solidFill>
              </a:rPr>
              <a:t>　　</a:t>
            </a:r>
            <a:r>
              <a:rPr lang="ja-GB" altLang="en-US" sz="1600" dirty="0">
                <a:solidFill>
                  <a:srgbClr val="2F2523"/>
                </a:solidFill>
              </a:rPr>
              <a:t>整数</a:t>
            </a:r>
            <a:r>
              <a:rPr lang="en-US" altLang="ja-GB" sz="1600" dirty="0">
                <a:solidFill>
                  <a:srgbClr val="2F2523"/>
                </a:solidFill>
              </a:rPr>
              <a:t> </a:t>
            </a:r>
            <a:r>
              <a:rPr lang="ja-GB" altLang="en-US" sz="1600" dirty="0">
                <a:solidFill>
                  <a:srgbClr val="2F2523"/>
                </a:solidFill>
              </a:rPr>
              <a:t>長さ</a:t>
            </a:r>
            <a:r>
              <a:rPr lang="en-US" altLang="ja-GB" sz="1600" dirty="0">
                <a:solidFill>
                  <a:srgbClr val="2F2523"/>
                </a:solidFill>
              </a:rPr>
              <a:t> = </a:t>
            </a:r>
            <a:r>
              <a:rPr lang="ja-GB" altLang="en-US" sz="1600" dirty="0">
                <a:solidFill>
                  <a:srgbClr val="2F2523"/>
                </a:solidFill>
              </a:rPr>
              <a:t>配列の要素数を取得する関数（探索対象）</a:t>
            </a:r>
            <a:endParaRPr lang="en-US" altLang="ja-GB" sz="1600" dirty="0">
              <a:solidFill>
                <a:srgbClr val="2F2523"/>
              </a:solidFill>
            </a:endParaRPr>
          </a:p>
          <a:p>
            <a:pPr marL="0" indent="0">
              <a:buNone/>
            </a:pPr>
            <a:r>
              <a:rPr lang="ja-GB" altLang="en-US" sz="1600" dirty="0">
                <a:solidFill>
                  <a:srgbClr val="2F2523"/>
                </a:solidFill>
              </a:rPr>
              <a:t>　　整数</a:t>
            </a:r>
            <a:r>
              <a:rPr lang="en-US" altLang="ja-GB" sz="1600" dirty="0">
                <a:solidFill>
                  <a:srgbClr val="2F2523"/>
                </a:solidFill>
              </a:rPr>
              <a:t> </a:t>
            </a:r>
            <a:r>
              <a:rPr lang="ja-GB" altLang="en-US" sz="1600" dirty="0">
                <a:solidFill>
                  <a:srgbClr val="2F2523"/>
                </a:solidFill>
              </a:rPr>
              <a:t>繰り返し数</a:t>
            </a:r>
            <a:r>
              <a:rPr lang="en-US" altLang="ja-GB" sz="1600" dirty="0">
                <a:solidFill>
                  <a:srgbClr val="2F2523"/>
                </a:solidFill>
              </a:rPr>
              <a:t> = 0</a:t>
            </a:r>
            <a:endParaRPr lang="en-US" altLang="ja-JP" sz="1600" dirty="0">
              <a:solidFill>
                <a:srgbClr val="2F2523"/>
              </a:solidFill>
            </a:endParaRPr>
          </a:p>
          <a:p>
            <a:pPr marL="0" indent="0">
              <a:buNone/>
            </a:pPr>
            <a:r>
              <a:rPr lang="ja-JP" altLang="en-US" sz="1600">
                <a:solidFill>
                  <a:srgbClr val="2F2523"/>
                </a:solidFill>
              </a:rPr>
              <a:t>　　（</a:t>
            </a:r>
            <a:r>
              <a:rPr lang="ja-GB" altLang="en-US" sz="1600" dirty="0">
                <a:solidFill>
                  <a:srgbClr val="2F2523"/>
                </a:solidFill>
              </a:rPr>
              <a:t>長さ）回だけ繰り返す</a:t>
            </a:r>
            <a:r>
              <a:rPr lang="en-US" altLang="ja-GB" sz="1600" dirty="0">
                <a:solidFill>
                  <a:srgbClr val="2F2523"/>
                </a:solidFill>
              </a:rPr>
              <a:t>{</a:t>
            </a:r>
            <a:endParaRPr lang="ja-JP" altLang="en-US" sz="1600">
              <a:solidFill>
                <a:srgbClr val="2F2523"/>
              </a:solidFill>
            </a:endParaRPr>
          </a:p>
          <a:p>
            <a:pPr marL="0" indent="0">
              <a:buNone/>
            </a:pPr>
            <a:r>
              <a:rPr lang="ja-JP" altLang="en-US" sz="1600">
                <a:solidFill>
                  <a:srgbClr val="2F2523"/>
                </a:solidFill>
              </a:rPr>
              <a:t>　　　　もし（ 配列</a:t>
            </a:r>
            <a:r>
              <a:rPr lang="en-US" altLang="ja-JP" sz="1600" dirty="0">
                <a:solidFill>
                  <a:srgbClr val="2F2523"/>
                </a:solidFill>
              </a:rPr>
              <a:t>[</a:t>
            </a:r>
            <a:r>
              <a:rPr lang="ja-GB" altLang="en-US" sz="1600" dirty="0">
                <a:solidFill>
                  <a:srgbClr val="2F2523"/>
                </a:solidFill>
              </a:rPr>
              <a:t>繰り返し数</a:t>
            </a:r>
            <a:r>
              <a:rPr lang="en-GB" altLang="ja-GB" sz="1600" dirty="0">
                <a:solidFill>
                  <a:srgbClr val="2F2523"/>
                </a:solidFill>
              </a:rPr>
              <a:t>] </a:t>
            </a:r>
            <a:r>
              <a:rPr lang="ja-JP" altLang="en-US" sz="1600">
                <a:solidFill>
                  <a:srgbClr val="2F2523"/>
                </a:solidFill>
              </a:rPr>
              <a:t>が 探したい値 ）と等しいとき</a:t>
            </a:r>
            <a:r>
              <a:rPr lang="en-US" altLang="ja-JP" sz="1600" dirty="0">
                <a:solidFill>
                  <a:srgbClr val="2F2523"/>
                </a:solidFill>
              </a:rPr>
              <a:t>{</a:t>
            </a:r>
          </a:p>
          <a:p>
            <a:pPr marL="0" indent="0">
              <a:buNone/>
            </a:pPr>
            <a:r>
              <a:rPr lang="ja-JP" altLang="en-US" sz="1600">
                <a:solidFill>
                  <a:srgbClr val="2F2523"/>
                </a:solidFill>
              </a:rPr>
              <a:t>　　　　　　</a:t>
            </a:r>
            <a:r>
              <a:rPr lang="ja-GB" altLang="en-US" sz="1600" dirty="0">
                <a:solidFill>
                  <a:srgbClr val="2F2523"/>
                </a:solidFill>
              </a:rPr>
              <a:t>整数</a:t>
            </a:r>
            <a:r>
              <a:rPr lang="en-US" altLang="ja-GB" sz="1600" dirty="0">
                <a:solidFill>
                  <a:srgbClr val="2F2523"/>
                </a:solidFill>
              </a:rPr>
              <a:t> </a:t>
            </a:r>
            <a:r>
              <a:rPr lang="ja-GB" altLang="en-US" sz="1600" dirty="0">
                <a:solidFill>
                  <a:srgbClr val="2F2523"/>
                </a:solidFill>
              </a:rPr>
              <a:t>探索値の場所</a:t>
            </a:r>
            <a:r>
              <a:rPr lang="en-US" altLang="ja-GB" sz="1600" dirty="0">
                <a:solidFill>
                  <a:srgbClr val="2F2523"/>
                </a:solidFill>
              </a:rPr>
              <a:t> == </a:t>
            </a:r>
            <a:r>
              <a:rPr lang="ja-GB" altLang="en-US" sz="1600" dirty="0">
                <a:solidFill>
                  <a:srgbClr val="2F2523"/>
                </a:solidFill>
              </a:rPr>
              <a:t>繰り返し数</a:t>
            </a:r>
            <a:endParaRPr lang="en-US" altLang="ja-GB" sz="1600" dirty="0">
              <a:solidFill>
                <a:srgbClr val="2F2523"/>
              </a:solidFill>
            </a:endParaRPr>
          </a:p>
          <a:p>
            <a:pPr marL="0" indent="0">
              <a:buNone/>
            </a:pPr>
            <a:r>
              <a:rPr lang="ja-GB" altLang="en-US" sz="1600" dirty="0">
                <a:solidFill>
                  <a:srgbClr val="2F2523"/>
                </a:solidFill>
              </a:rPr>
              <a:t>　　　　　　プログラムを終了</a:t>
            </a:r>
            <a:endParaRPr lang="en-US" altLang="ja-JP" sz="1600" dirty="0">
              <a:solidFill>
                <a:srgbClr val="2F2523"/>
              </a:solidFill>
            </a:endParaRPr>
          </a:p>
          <a:p>
            <a:pPr marL="0" indent="0">
              <a:buNone/>
            </a:pPr>
            <a:r>
              <a:rPr lang="ja-JP" altLang="en-US" sz="1600">
                <a:solidFill>
                  <a:srgbClr val="2F2523"/>
                </a:solidFill>
              </a:rPr>
              <a:t>　　　　</a:t>
            </a:r>
            <a:r>
              <a:rPr lang="en-US" altLang="ja-JP" sz="1600" dirty="0">
                <a:solidFill>
                  <a:srgbClr val="2F2523"/>
                </a:solidFill>
              </a:rPr>
              <a:t>}</a:t>
            </a:r>
          </a:p>
          <a:p>
            <a:pPr marL="0" indent="0">
              <a:buNone/>
            </a:pPr>
            <a:r>
              <a:rPr lang="ja-JP" altLang="en-US" sz="1600">
                <a:solidFill>
                  <a:srgbClr val="2F2523"/>
                </a:solidFill>
              </a:rPr>
              <a:t>　　</a:t>
            </a:r>
            <a:r>
              <a:rPr lang="en-US" altLang="ja-JP" sz="1600" dirty="0">
                <a:solidFill>
                  <a:srgbClr val="2F2523"/>
                </a:solidFill>
              </a:rPr>
              <a:t>}</a:t>
            </a:r>
          </a:p>
          <a:p>
            <a:pPr marL="0" indent="0">
              <a:buNone/>
            </a:pPr>
            <a:r>
              <a:rPr lang="ja-JP" altLang="en-US" sz="1600">
                <a:solidFill>
                  <a:srgbClr val="2F2523"/>
                </a:solidFill>
              </a:rPr>
              <a:t>　　</a:t>
            </a:r>
            <a:r>
              <a:rPr lang="ja-GB" altLang="en-US" sz="1600" dirty="0">
                <a:solidFill>
                  <a:srgbClr val="2F2523"/>
                </a:solidFill>
              </a:rPr>
              <a:t>繰り返しが終了したら，探したい値はないと判断する</a:t>
            </a:r>
            <a:endParaRPr lang="en-US" altLang="ja-JP" sz="1600" dirty="0">
              <a:solidFill>
                <a:srgbClr val="2F2523"/>
              </a:solidFill>
            </a:endParaRPr>
          </a:p>
          <a:p>
            <a:pPr marL="0" indent="0">
              <a:buNone/>
            </a:pPr>
            <a:r>
              <a:rPr lang="en-US" altLang="ja-JP" sz="1600" dirty="0">
                <a:solidFill>
                  <a:srgbClr val="2F2523"/>
                </a:solidFill>
              </a:rPr>
              <a:t>}</a:t>
            </a:r>
            <a:endParaRPr lang="ja-JP" altLang="en-US" sz="1600">
              <a:solidFill>
                <a:srgbClr val="2F2523"/>
              </a:solidFill>
            </a:endParaRPr>
          </a:p>
        </p:txBody>
      </p:sp>
    </p:spTree>
    <p:extLst>
      <p:ext uri="{BB962C8B-B14F-4D97-AF65-F5344CB8AC3E}">
        <p14:creationId xmlns:p14="http://schemas.microsoft.com/office/powerpoint/2010/main" val="35040568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126B0A-02F5-2837-4939-141D71C827DE}"/>
              </a:ext>
            </a:extLst>
          </p:cNvPr>
          <p:cNvSpPr>
            <a:spLocks noGrp="1"/>
          </p:cNvSpPr>
          <p:nvPr>
            <p:ph type="title"/>
          </p:nvPr>
        </p:nvSpPr>
        <p:spPr/>
        <p:txBody>
          <a:bodyPr/>
          <a:lstStyle/>
          <a:p>
            <a:r>
              <a:rPr kumimoji="1" lang="ja-GB" altLang="en-US" dirty="0"/>
              <a:t>二分探索：ソートされた配列を高速に探索する方法</a:t>
            </a:r>
          </a:p>
        </p:txBody>
      </p:sp>
      <p:sp>
        <p:nvSpPr>
          <p:cNvPr id="3" name="コンテンツ プレースホルダー 2">
            <a:extLst>
              <a:ext uri="{FF2B5EF4-FFF2-40B4-BE49-F238E27FC236}">
                <a16:creationId xmlns:a16="http://schemas.microsoft.com/office/drawing/2014/main" id="{97AE1C1D-B1EB-2DF2-0869-A2E852F1C205}"/>
              </a:ext>
            </a:extLst>
          </p:cNvPr>
          <p:cNvSpPr>
            <a:spLocks noGrp="1"/>
          </p:cNvSpPr>
          <p:nvPr>
            <p:ph idx="1"/>
          </p:nvPr>
        </p:nvSpPr>
        <p:spPr/>
        <p:txBody>
          <a:bodyPr>
            <a:normAutofit/>
          </a:bodyPr>
          <a:lstStyle/>
          <a:p>
            <a:pPr marL="0" indent="0">
              <a:buNone/>
            </a:pPr>
            <a:r>
              <a:rPr kumimoji="1" lang="ja-GB" altLang="en-US" sz="1800" dirty="0">
                <a:solidFill>
                  <a:srgbClr val="2F2523"/>
                </a:solidFill>
              </a:rPr>
              <a:t>探索の開始位置を配列の先頭とする</a:t>
            </a:r>
            <a:endParaRPr kumimoji="1" lang="en-US" altLang="ja-GB" sz="1800" dirty="0">
              <a:solidFill>
                <a:srgbClr val="2F2523"/>
              </a:solidFill>
            </a:endParaRPr>
          </a:p>
          <a:p>
            <a:pPr marL="0" indent="0">
              <a:buNone/>
            </a:pPr>
            <a:r>
              <a:rPr kumimoji="1" lang="ja-GB" altLang="en-US" sz="1800" dirty="0">
                <a:solidFill>
                  <a:srgbClr val="2F2523"/>
                </a:solidFill>
              </a:rPr>
              <a:t>探索の終了位置を配列の末尾とする</a:t>
            </a:r>
            <a:endParaRPr kumimoji="1" lang="en-US" altLang="ja-GB" sz="1800" dirty="0">
              <a:solidFill>
                <a:srgbClr val="2F2523"/>
              </a:solidFill>
            </a:endParaRPr>
          </a:p>
          <a:p>
            <a:pPr marL="0" indent="0">
              <a:buNone/>
            </a:pPr>
            <a:r>
              <a:rPr lang="ja-GB" altLang="en-US" sz="1800" dirty="0">
                <a:solidFill>
                  <a:srgbClr val="2F2523"/>
                </a:solidFill>
              </a:rPr>
              <a:t>（開始位置</a:t>
            </a:r>
            <a:r>
              <a:rPr lang="en-US" altLang="ja-GB" sz="1800" dirty="0">
                <a:solidFill>
                  <a:srgbClr val="2F2523"/>
                </a:solidFill>
              </a:rPr>
              <a:t> ≦ </a:t>
            </a:r>
            <a:r>
              <a:rPr lang="ja-GB" altLang="en-US" sz="1800" dirty="0">
                <a:solidFill>
                  <a:srgbClr val="2F2523"/>
                </a:solidFill>
              </a:rPr>
              <a:t>終了位置）の間，以下を繰り返す</a:t>
            </a:r>
            <a:r>
              <a:rPr lang="en-US" altLang="ja-GB" sz="1800" dirty="0">
                <a:solidFill>
                  <a:srgbClr val="2F2523"/>
                </a:solidFill>
              </a:rPr>
              <a:t>{</a:t>
            </a:r>
          </a:p>
          <a:p>
            <a:pPr marL="0" indent="0">
              <a:buNone/>
            </a:pPr>
            <a:r>
              <a:rPr kumimoji="1" lang="ja-GB" altLang="en-US" sz="1800" dirty="0">
                <a:solidFill>
                  <a:srgbClr val="2F2523"/>
                </a:solidFill>
              </a:rPr>
              <a:t>　　探索範囲の中央を計算する</a:t>
            </a:r>
            <a:r>
              <a:rPr lang="ja-GB" altLang="en-US" sz="1800" dirty="0">
                <a:solidFill>
                  <a:srgbClr val="2F2523"/>
                </a:solidFill>
              </a:rPr>
              <a:t>．ただし，中央が少数なら切り捨てる．</a:t>
            </a:r>
            <a:endParaRPr kumimoji="1" lang="en-US" altLang="ja-GB" sz="1800" dirty="0">
              <a:solidFill>
                <a:srgbClr val="2F2523"/>
              </a:solidFill>
            </a:endParaRPr>
          </a:p>
          <a:p>
            <a:pPr marL="0" indent="0">
              <a:buNone/>
            </a:pPr>
            <a:r>
              <a:rPr kumimoji="1" lang="ja-GB" altLang="en-US" sz="1800" dirty="0">
                <a:solidFill>
                  <a:srgbClr val="2F2523"/>
                </a:solidFill>
              </a:rPr>
              <a:t>　　中央の位置にある値と探している値を比べる</a:t>
            </a:r>
            <a:endParaRPr kumimoji="1" lang="en-US" altLang="ja-GB" sz="1800" dirty="0">
              <a:solidFill>
                <a:srgbClr val="2F2523"/>
              </a:solidFill>
            </a:endParaRPr>
          </a:p>
          <a:p>
            <a:pPr marL="0" indent="0">
              <a:buNone/>
            </a:pPr>
            <a:r>
              <a:rPr kumimoji="1" lang="ja-GB" altLang="en-US" sz="1800" dirty="0">
                <a:solidFill>
                  <a:srgbClr val="2F2523"/>
                </a:solidFill>
              </a:rPr>
              <a:t>　　もし（中央の値</a:t>
            </a:r>
            <a:r>
              <a:rPr kumimoji="1" lang="en-US" altLang="ja-GB" sz="1800" dirty="0">
                <a:solidFill>
                  <a:srgbClr val="2F2523"/>
                </a:solidFill>
              </a:rPr>
              <a:t> == </a:t>
            </a:r>
            <a:r>
              <a:rPr lang="ja-GB" altLang="en-US" sz="1800" dirty="0">
                <a:solidFill>
                  <a:srgbClr val="2F2523"/>
                </a:solidFill>
              </a:rPr>
              <a:t>探している値</a:t>
            </a:r>
            <a:r>
              <a:rPr kumimoji="1" lang="ja-GB" altLang="en-US" sz="1800" dirty="0">
                <a:solidFill>
                  <a:srgbClr val="2F2523"/>
                </a:solidFill>
              </a:rPr>
              <a:t>）ならば，</a:t>
            </a:r>
            <a:r>
              <a:rPr kumimoji="1" lang="en-US" altLang="ja-GB" sz="1800" dirty="0">
                <a:solidFill>
                  <a:srgbClr val="2F2523"/>
                </a:solidFill>
              </a:rPr>
              <a:t>{</a:t>
            </a:r>
          </a:p>
          <a:p>
            <a:pPr marL="0" indent="0">
              <a:buNone/>
            </a:pPr>
            <a:r>
              <a:rPr lang="ja-GB" altLang="en-US" sz="1800" dirty="0">
                <a:solidFill>
                  <a:srgbClr val="2F2523"/>
                </a:solidFill>
              </a:rPr>
              <a:t>　　　　探している値の位置を中央の値として動作終了</a:t>
            </a:r>
            <a:endParaRPr lang="en-US" altLang="ja-GB" sz="1800" dirty="0">
              <a:solidFill>
                <a:srgbClr val="2F2523"/>
              </a:solidFill>
            </a:endParaRPr>
          </a:p>
          <a:p>
            <a:pPr marL="0" indent="0">
              <a:buNone/>
            </a:pPr>
            <a:r>
              <a:rPr lang="ja-JP" altLang="en-US" sz="1800">
                <a:solidFill>
                  <a:srgbClr val="2F2523"/>
                </a:solidFill>
              </a:rPr>
              <a:t>　　</a:t>
            </a:r>
            <a:r>
              <a:rPr lang="en-US" altLang="ja-GB" sz="1800" dirty="0">
                <a:solidFill>
                  <a:srgbClr val="2F2523"/>
                </a:solidFill>
              </a:rPr>
              <a:t>}</a:t>
            </a:r>
          </a:p>
          <a:p>
            <a:pPr marL="0" indent="0">
              <a:buNone/>
            </a:pPr>
            <a:r>
              <a:rPr kumimoji="1" lang="ja-GB" altLang="en-US" sz="1800" dirty="0">
                <a:solidFill>
                  <a:srgbClr val="2F2523"/>
                </a:solidFill>
              </a:rPr>
              <a:t>　　もし（中央の値</a:t>
            </a:r>
            <a:r>
              <a:rPr kumimoji="1" lang="en-US" altLang="ja-GB" sz="1800" dirty="0">
                <a:solidFill>
                  <a:srgbClr val="2F2523"/>
                </a:solidFill>
              </a:rPr>
              <a:t> </a:t>
            </a:r>
            <a:r>
              <a:rPr kumimoji="1" lang="ja-GB" altLang="en-US" sz="1800" dirty="0">
                <a:solidFill>
                  <a:srgbClr val="2F2523"/>
                </a:solidFill>
              </a:rPr>
              <a:t>＜</a:t>
            </a:r>
            <a:r>
              <a:rPr kumimoji="1" lang="en-US" altLang="ja-GB" sz="1800" dirty="0">
                <a:solidFill>
                  <a:srgbClr val="2F2523"/>
                </a:solidFill>
              </a:rPr>
              <a:t> </a:t>
            </a:r>
            <a:r>
              <a:rPr kumimoji="1" lang="ja-GB" altLang="en-US" sz="1800" dirty="0">
                <a:solidFill>
                  <a:srgbClr val="2F2523"/>
                </a:solidFill>
              </a:rPr>
              <a:t>探している値）ならば</a:t>
            </a:r>
            <a:r>
              <a:rPr kumimoji="1" lang="en-US" altLang="ja-GB" sz="1800" dirty="0">
                <a:solidFill>
                  <a:srgbClr val="2F2523"/>
                </a:solidFill>
              </a:rPr>
              <a:t>{</a:t>
            </a:r>
          </a:p>
          <a:p>
            <a:pPr marL="0" indent="0">
              <a:buNone/>
            </a:pPr>
            <a:r>
              <a:rPr lang="ja-GB" altLang="en-US" sz="1800" dirty="0">
                <a:solidFill>
                  <a:srgbClr val="2F2523"/>
                </a:solidFill>
              </a:rPr>
              <a:t>　　　　終了位置を中央の一つ後ろに変更する</a:t>
            </a:r>
            <a:endParaRPr lang="en-US" altLang="ja-GB" sz="1800" dirty="0">
              <a:solidFill>
                <a:srgbClr val="2F2523"/>
              </a:solidFill>
            </a:endParaRPr>
          </a:p>
          <a:p>
            <a:pPr marL="0" indent="0">
              <a:buNone/>
            </a:pPr>
            <a:r>
              <a:rPr lang="ja-JP" altLang="en-US" sz="1800">
                <a:solidFill>
                  <a:srgbClr val="2F2523"/>
                </a:solidFill>
              </a:rPr>
              <a:t>　　</a:t>
            </a:r>
            <a:r>
              <a:rPr lang="en-US" altLang="ja-GB" sz="1800" dirty="0">
                <a:solidFill>
                  <a:srgbClr val="2F2523"/>
                </a:solidFill>
              </a:rPr>
              <a:t>}</a:t>
            </a:r>
          </a:p>
          <a:p>
            <a:pPr marL="0" indent="0">
              <a:buNone/>
            </a:pPr>
            <a:r>
              <a:rPr kumimoji="1" lang="ja-GB" altLang="en-US" sz="1800" dirty="0">
                <a:solidFill>
                  <a:srgbClr val="2F2523"/>
                </a:solidFill>
              </a:rPr>
              <a:t>　　もし（中央の値</a:t>
            </a:r>
            <a:r>
              <a:rPr kumimoji="1" lang="en-US" altLang="ja-GB" sz="1800" dirty="0">
                <a:solidFill>
                  <a:srgbClr val="2F2523"/>
                </a:solidFill>
              </a:rPr>
              <a:t> &gt; </a:t>
            </a:r>
            <a:r>
              <a:rPr kumimoji="1" lang="ja-GB" altLang="en-US" sz="1800" dirty="0">
                <a:solidFill>
                  <a:srgbClr val="2F2523"/>
                </a:solidFill>
              </a:rPr>
              <a:t>探している値）ならば</a:t>
            </a:r>
            <a:r>
              <a:rPr kumimoji="1" lang="en-US" altLang="ja-GB" sz="1800" dirty="0">
                <a:solidFill>
                  <a:srgbClr val="2F2523"/>
                </a:solidFill>
              </a:rPr>
              <a:t>{</a:t>
            </a:r>
          </a:p>
          <a:p>
            <a:pPr marL="0" indent="0">
              <a:buNone/>
            </a:pPr>
            <a:r>
              <a:rPr kumimoji="1" lang="ja-GB" altLang="en-US" sz="1800" dirty="0">
                <a:solidFill>
                  <a:srgbClr val="2F2523"/>
                </a:solidFill>
              </a:rPr>
              <a:t>　　　　開始位置を中央の一つ後ろに変更する</a:t>
            </a:r>
            <a:endParaRPr kumimoji="1" lang="en-US" altLang="ja-GB" sz="1800" dirty="0">
              <a:solidFill>
                <a:srgbClr val="2F2523"/>
              </a:solidFill>
            </a:endParaRPr>
          </a:p>
          <a:p>
            <a:pPr marL="0" indent="0">
              <a:buNone/>
            </a:pPr>
            <a:r>
              <a:rPr kumimoji="1" lang="ja-JP" altLang="en-US" sz="1800">
                <a:solidFill>
                  <a:srgbClr val="2F2523"/>
                </a:solidFill>
              </a:rPr>
              <a:t>　　</a:t>
            </a:r>
            <a:r>
              <a:rPr kumimoji="1" lang="en-US" altLang="ja-GB" sz="1800" dirty="0">
                <a:solidFill>
                  <a:srgbClr val="2F2523"/>
                </a:solidFill>
              </a:rPr>
              <a:t>}</a:t>
            </a:r>
          </a:p>
          <a:p>
            <a:pPr marL="0" indent="0">
              <a:buNone/>
            </a:pPr>
            <a:r>
              <a:rPr kumimoji="1" lang="en-US" altLang="ja-GB" sz="1800" dirty="0">
                <a:solidFill>
                  <a:srgbClr val="2F2523"/>
                </a:solidFill>
              </a:rPr>
              <a:t>}</a:t>
            </a:r>
          </a:p>
          <a:p>
            <a:pPr marL="0" indent="0">
              <a:buNone/>
            </a:pPr>
            <a:r>
              <a:rPr kumimoji="1" lang="ja-GB" altLang="en-US" sz="1800" dirty="0">
                <a:solidFill>
                  <a:srgbClr val="2F2523"/>
                </a:solidFill>
              </a:rPr>
              <a:t>繰り返しが終了したら，探したい値は存在しないと判断する</a:t>
            </a:r>
          </a:p>
        </p:txBody>
      </p:sp>
    </p:spTree>
    <p:extLst>
      <p:ext uri="{BB962C8B-B14F-4D97-AF65-F5344CB8AC3E}">
        <p14:creationId xmlns:p14="http://schemas.microsoft.com/office/powerpoint/2010/main" val="36758486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B09B97-06A7-C82D-0DF9-03D0119889AB}"/>
              </a:ext>
            </a:extLst>
          </p:cNvPr>
          <p:cNvSpPr>
            <a:spLocks noGrp="1"/>
          </p:cNvSpPr>
          <p:nvPr>
            <p:ph type="title"/>
          </p:nvPr>
        </p:nvSpPr>
        <p:spPr/>
        <p:txBody>
          <a:bodyPr/>
          <a:lstStyle/>
          <a:p>
            <a:r>
              <a:rPr kumimoji="1" lang="ja-GB" altLang="en-US" dirty="0"/>
              <a:t>アルゴリズムの解説</a:t>
            </a:r>
          </a:p>
        </p:txBody>
      </p:sp>
      <p:sp>
        <p:nvSpPr>
          <p:cNvPr id="3" name="コンテンツ プレースホルダー 2">
            <a:extLst>
              <a:ext uri="{FF2B5EF4-FFF2-40B4-BE49-F238E27FC236}">
                <a16:creationId xmlns:a16="http://schemas.microsoft.com/office/drawing/2014/main" id="{19746227-AB90-2D3F-ED95-75E8AECE7229}"/>
              </a:ext>
            </a:extLst>
          </p:cNvPr>
          <p:cNvSpPr>
            <a:spLocks noGrp="1"/>
          </p:cNvSpPr>
          <p:nvPr>
            <p:ph idx="1"/>
          </p:nvPr>
        </p:nvSpPr>
        <p:spPr/>
        <p:txBody>
          <a:bodyPr/>
          <a:lstStyle/>
          <a:p>
            <a:pPr marL="0" indent="0">
              <a:buNone/>
            </a:pPr>
            <a:r>
              <a:rPr kumimoji="1" lang="ja-GB" altLang="en-US" dirty="0"/>
              <a:t>今回はアルゴリズムのみをみて問題を解いてみてください</a:t>
            </a:r>
            <a:endParaRPr kumimoji="1" lang="en-US" altLang="ja-GB" dirty="0"/>
          </a:p>
          <a:p>
            <a:pPr lvl="1"/>
            <a:r>
              <a:rPr kumimoji="1" lang="ja-GB" altLang="en-US" dirty="0"/>
              <a:t>次回（第</a:t>
            </a:r>
            <a:r>
              <a:rPr kumimoji="1" lang="en-US" altLang="ja-GB" dirty="0"/>
              <a:t>10</a:t>
            </a:r>
            <a:r>
              <a:rPr kumimoji="1" lang="ja-GB" altLang="en-US" dirty="0"/>
              <a:t>回）の授業で，スライドなどを用いた動きの解説を行います</a:t>
            </a:r>
          </a:p>
        </p:txBody>
      </p:sp>
    </p:spTree>
    <p:extLst>
      <p:ext uri="{BB962C8B-B14F-4D97-AF65-F5344CB8AC3E}">
        <p14:creationId xmlns:p14="http://schemas.microsoft.com/office/powerpoint/2010/main" val="55351550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87F13-32E2-4678-521E-DF0B91325513}"/>
              </a:ext>
            </a:extLst>
          </p:cNvPr>
          <p:cNvSpPr>
            <a:spLocks noGrp="1"/>
          </p:cNvSpPr>
          <p:nvPr>
            <p:ph type="title"/>
          </p:nvPr>
        </p:nvSpPr>
        <p:spPr/>
        <p:txBody>
          <a:bodyPr/>
          <a:lstStyle/>
          <a:p>
            <a:r>
              <a:rPr kumimoji="1" lang="ja-GB" altLang="en-US" dirty="0"/>
              <a:t>演習と期末試験の位置付け</a:t>
            </a:r>
          </a:p>
        </p:txBody>
      </p:sp>
      <p:sp>
        <p:nvSpPr>
          <p:cNvPr id="3" name="コンテンツ プレースホルダー 2">
            <a:extLst>
              <a:ext uri="{FF2B5EF4-FFF2-40B4-BE49-F238E27FC236}">
                <a16:creationId xmlns:a16="http://schemas.microsoft.com/office/drawing/2014/main" id="{F97A716B-07FB-8272-0ABB-81AE26ED2A3C}"/>
              </a:ext>
            </a:extLst>
          </p:cNvPr>
          <p:cNvSpPr>
            <a:spLocks noGrp="1"/>
          </p:cNvSpPr>
          <p:nvPr>
            <p:ph idx="1"/>
          </p:nvPr>
        </p:nvSpPr>
        <p:spPr/>
        <p:txBody>
          <a:bodyPr/>
          <a:lstStyle/>
          <a:p>
            <a:pPr marL="0" indent="0">
              <a:buNone/>
            </a:pPr>
            <a:r>
              <a:rPr lang="ja-GB" altLang="en-US"/>
              <a:t>「未知のアルゴリズムに対する対応」は演習での練習を基本とします</a:t>
            </a:r>
            <a:endParaRPr lang="en-US" altLang="ja-GB"/>
          </a:p>
          <a:p>
            <a:pPr lvl="1"/>
            <a:r>
              <a:rPr lang="ja-GB" altLang="en-US"/>
              <a:t>本授業は，授業時間内で対応可能な範囲を基本に設計しています</a:t>
            </a:r>
            <a:endParaRPr lang="en-US" altLang="ja-GB"/>
          </a:p>
          <a:p>
            <a:pPr lvl="1"/>
            <a:r>
              <a:rPr lang="ja-GB" altLang="en-US"/>
              <a:t>アルゴリズムを読解できるようになるための時間としては十分ではないですが，</a:t>
            </a:r>
            <a:br>
              <a:rPr lang="en-US" altLang="ja-GB"/>
            </a:br>
            <a:r>
              <a:rPr lang="ja-GB" altLang="en-US"/>
              <a:t>必要になった際の自力習得に必要な前提知識と練習方法を提示します</a:t>
            </a:r>
            <a:endParaRPr lang="en-US" altLang="ja-GB"/>
          </a:p>
          <a:p>
            <a:pPr lvl="1"/>
            <a:r>
              <a:rPr lang="ja-GB" altLang="en-US"/>
              <a:t>エンジニア就職を考える人などは授業外でもアルゴリズムを読解・構築する</a:t>
            </a:r>
            <a:br>
              <a:rPr lang="en-US" altLang="ja-GB"/>
            </a:br>
            <a:r>
              <a:rPr lang="ja-GB" altLang="en-US"/>
              <a:t>練習を積むことを推奨します（授業を超えた発展的な質問も対応します）</a:t>
            </a:r>
            <a:endParaRPr lang="en-US" altLang="ja-GB"/>
          </a:p>
        </p:txBody>
      </p:sp>
      <p:graphicFrame>
        <p:nvGraphicFramePr>
          <p:cNvPr id="4" name="コンテンツ プレースホルダー 3">
            <a:extLst>
              <a:ext uri="{FF2B5EF4-FFF2-40B4-BE49-F238E27FC236}">
                <a16:creationId xmlns:a16="http://schemas.microsoft.com/office/drawing/2014/main" id="{F6038C70-2E4B-9F86-F411-5C30782EB203}"/>
              </a:ext>
            </a:extLst>
          </p:cNvPr>
          <p:cNvGraphicFramePr>
            <a:graphicFrameLocks/>
          </p:cNvGraphicFramePr>
          <p:nvPr/>
        </p:nvGraphicFramePr>
        <p:xfrm>
          <a:off x="314327" y="3624546"/>
          <a:ext cx="8515348" cy="2565400"/>
        </p:xfrm>
        <a:graphic>
          <a:graphicData uri="http://schemas.openxmlformats.org/drawingml/2006/table">
            <a:tbl>
              <a:tblPr firstRow="1" bandRow="1">
                <a:tableStyleId>{93296810-A885-4BE3-A3E7-6D5BEEA58F35}</a:tableStyleId>
              </a:tblPr>
              <a:tblGrid>
                <a:gridCol w="750903">
                  <a:extLst>
                    <a:ext uri="{9D8B030D-6E8A-4147-A177-3AD203B41FA5}">
                      <a16:colId xmlns:a16="http://schemas.microsoft.com/office/drawing/2014/main" val="1745461526"/>
                    </a:ext>
                  </a:extLst>
                </a:gridCol>
                <a:gridCol w="2243579">
                  <a:extLst>
                    <a:ext uri="{9D8B030D-6E8A-4147-A177-3AD203B41FA5}">
                      <a16:colId xmlns:a16="http://schemas.microsoft.com/office/drawing/2014/main" val="1858733927"/>
                    </a:ext>
                  </a:extLst>
                </a:gridCol>
                <a:gridCol w="716437">
                  <a:extLst>
                    <a:ext uri="{9D8B030D-6E8A-4147-A177-3AD203B41FA5}">
                      <a16:colId xmlns:a16="http://schemas.microsoft.com/office/drawing/2014/main" val="2824087048"/>
                    </a:ext>
                  </a:extLst>
                </a:gridCol>
                <a:gridCol w="4804429">
                  <a:extLst>
                    <a:ext uri="{9D8B030D-6E8A-4147-A177-3AD203B41FA5}">
                      <a16:colId xmlns:a16="http://schemas.microsoft.com/office/drawing/2014/main" val="4235137985"/>
                    </a:ext>
                  </a:extLst>
                </a:gridCol>
              </a:tblGrid>
              <a:tr h="370840">
                <a:tc>
                  <a:txBody>
                    <a:bodyPr/>
                    <a:lstStyle/>
                    <a:p>
                      <a:r>
                        <a:rPr lang="ja-GB" altLang="en-US"/>
                        <a:t>項番</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6">
                        <a:lumMod val="50000"/>
                      </a:schemeClr>
                    </a:solidFill>
                  </a:tcPr>
                </a:tc>
                <a:tc>
                  <a:txBody>
                    <a:bodyPr/>
                    <a:lstStyle/>
                    <a:p>
                      <a:r>
                        <a:rPr lang="ja-GB" altLang="en-US"/>
                        <a:t>内容</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6">
                        <a:lumMod val="50000"/>
                      </a:schemeClr>
                    </a:solidFill>
                  </a:tcPr>
                </a:tc>
                <a:tc>
                  <a:txBody>
                    <a:bodyPr/>
                    <a:lstStyle/>
                    <a:p>
                      <a:r>
                        <a:rPr lang="ja-GB" altLang="en-US"/>
                        <a:t>対象</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6">
                        <a:lumMod val="50000"/>
                      </a:schemeClr>
                    </a:solidFill>
                  </a:tcPr>
                </a:tc>
                <a:tc>
                  <a:txBody>
                    <a:bodyPr/>
                    <a:lstStyle/>
                    <a:p>
                      <a:r>
                        <a:rPr lang="ja-GB" altLang="en-US"/>
                        <a:t>到達目標</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423495269"/>
                  </a:ext>
                </a:extLst>
              </a:tr>
              <a:tr h="370840">
                <a:tc>
                  <a:txBody>
                    <a:bodyPr/>
                    <a:lstStyle/>
                    <a:p>
                      <a:r>
                        <a:rPr lang="en-US" altLang="ja-GB"/>
                        <a:t>DP1</a:t>
                      </a:r>
                      <a:endParaRPr lang="ja-GB" altLang="en-US"/>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tcPr>
                </a:tc>
                <a:tc>
                  <a:txBody>
                    <a:bodyPr/>
                    <a:lstStyle/>
                    <a:p>
                      <a:r>
                        <a:rPr lang="ja-GB" altLang="en-US"/>
                        <a:t>知識</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tcPr>
                </a:tc>
                <a:tc>
                  <a:txBody>
                    <a:bodyPr/>
                    <a:lstStyle/>
                    <a:p>
                      <a:r>
                        <a:rPr lang="en-US" altLang="ja-GB"/>
                        <a:t>○</a:t>
                      </a:r>
                      <a:endParaRPr lang="ja-GB" altLang="en-US"/>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tcPr>
                </a:tc>
                <a:tc>
                  <a:txBody>
                    <a:bodyPr/>
                    <a:lstStyle/>
                    <a:p>
                      <a:r>
                        <a:rPr lang="ja-GB" altLang="en-US"/>
                        <a:t>コンピュータシステムに関する基礎的な知識を体系的かつ総合的に身につけている</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tcPr>
                </a:tc>
                <a:extLst>
                  <a:ext uri="{0D108BD9-81ED-4DB2-BD59-A6C34878D82A}">
                    <a16:rowId xmlns:a16="http://schemas.microsoft.com/office/drawing/2014/main" val="261181858"/>
                  </a:ext>
                </a:extLst>
              </a:tr>
              <a:tr h="370840">
                <a:tc>
                  <a:txBody>
                    <a:bodyPr/>
                    <a:lstStyle/>
                    <a:p>
                      <a:r>
                        <a:rPr lang="en-US" altLang="ja-GB"/>
                        <a:t>DP2</a:t>
                      </a:r>
                      <a:endParaRPr lang="ja-GB" altLang="en-US"/>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tcPr>
                </a:tc>
                <a:tc>
                  <a:txBody>
                    <a:bodyPr/>
                    <a:lstStyle/>
                    <a:p>
                      <a:r>
                        <a:rPr lang="ja-GB" altLang="en-US"/>
                        <a:t>技能</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tcPr>
                </a:tc>
                <a:tc>
                  <a:txBody>
                    <a:bodyPr/>
                    <a:lstStyle/>
                    <a:p>
                      <a:r>
                        <a:rPr lang="ja-GB" altLang="en-US"/>
                        <a:t>◎</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tcPr>
                </a:tc>
                <a:tc>
                  <a:txBody>
                    <a:bodyPr/>
                    <a:lstStyle/>
                    <a:p>
                      <a:r>
                        <a:rPr lang="ja-GB" altLang="en-US"/>
                        <a:t>コンピュータシステムの分析と設計に関する手法を身につけている</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tcPr>
                </a:tc>
                <a:extLst>
                  <a:ext uri="{0D108BD9-81ED-4DB2-BD59-A6C34878D82A}">
                    <a16:rowId xmlns:a16="http://schemas.microsoft.com/office/drawing/2014/main" val="3599521330"/>
                  </a:ext>
                </a:extLst>
              </a:tr>
              <a:tr h="370840">
                <a:tc>
                  <a:txBody>
                    <a:bodyPr/>
                    <a:lstStyle/>
                    <a:p>
                      <a:r>
                        <a:rPr lang="en-US" altLang="ja-GB"/>
                        <a:t>DP3</a:t>
                      </a:r>
                      <a:endParaRPr lang="ja-GB" altLang="en-US"/>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tcPr>
                </a:tc>
                <a:tc>
                  <a:txBody>
                    <a:bodyPr/>
                    <a:lstStyle/>
                    <a:p>
                      <a:r>
                        <a:rPr lang="ja-GB" altLang="en-US"/>
                        <a:t>思考・判断・表現力</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tcPr>
                </a:tc>
                <a:tc>
                  <a:txBody>
                    <a:bodyPr/>
                    <a:lstStyle/>
                    <a:p>
                      <a:r>
                        <a:rPr lang="en-US" altLang="ja-GB"/>
                        <a:t>○</a:t>
                      </a:r>
                      <a:endParaRPr lang="ja-GB" altLang="en-US"/>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tcPr>
                </a:tc>
                <a:tc>
                  <a:txBody>
                    <a:bodyPr/>
                    <a:lstStyle/>
                    <a:p>
                      <a:r>
                        <a:rPr lang="ja-GB" altLang="en-US"/>
                        <a:t>コンピュータシステムについて，論理的に思考して解決策を探求し，専門的検知から論理的に表現することができる</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tcPr>
                </a:tc>
                <a:extLst>
                  <a:ext uri="{0D108BD9-81ED-4DB2-BD59-A6C34878D82A}">
                    <a16:rowId xmlns:a16="http://schemas.microsoft.com/office/drawing/2014/main" val="1412964416"/>
                  </a:ext>
                </a:extLst>
              </a:tr>
            </a:tbl>
          </a:graphicData>
        </a:graphic>
      </p:graphicFrame>
      <p:sp>
        <p:nvSpPr>
          <p:cNvPr id="5" name="テキスト ボックス 4">
            <a:extLst>
              <a:ext uri="{FF2B5EF4-FFF2-40B4-BE49-F238E27FC236}">
                <a16:creationId xmlns:a16="http://schemas.microsoft.com/office/drawing/2014/main" id="{A076B89B-31E0-96BC-9B54-AD5D83872373}"/>
              </a:ext>
            </a:extLst>
          </p:cNvPr>
          <p:cNvSpPr txBox="1"/>
          <p:nvPr/>
        </p:nvSpPr>
        <p:spPr>
          <a:xfrm>
            <a:off x="670940" y="6287719"/>
            <a:ext cx="7802137" cy="369332"/>
          </a:xfrm>
          <a:prstGeom prst="rect">
            <a:avLst/>
          </a:prstGeom>
          <a:noFill/>
        </p:spPr>
        <p:txBody>
          <a:bodyPr wrap="none" rtlCol="0">
            <a:spAutoFit/>
          </a:bodyPr>
          <a:lstStyle/>
          <a:p>
            <a:pPr algn="ctr"/>
            <a:r>
              <a:rPr kumimoji="1" lang="ja-GB" altLang="en-US">
                <a:solidFill>
                  <a:srgbClr val="2F2523"/>
                </a:solidFill>
              </a:rPr>
              <a:t>大学の定める本講義のディプロマポリシー・到達目標（シラバスより）</a:t>
            </a:r>
          </a:p>
        </p:txBody>
      </p:sp>
    </p:spTree>
    <p:extLst>
      <p:ext uri="{BB962C8B-B14F-4D97-AF65-F5344CB8AC3E}">
        <p14:creationId xmlns:p14="http://schemas.microsoft.com/office/powerpoint/2010/main" val="30901862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9881B9-62C7-1F66-A51A-DB51247E9D98}"/>
              </a:ext>
            </a:extLst>
          </p:cNvPr>
          <p:cNvSpPr>
            <a:spLocks noGrp="1"/>
          </p:cNvSpPr>
          <p:nvPr>
            <p:ph type="title"/>
          </p:nvPr>
        </p:nvSpPr>
        <p:spPr/>
        <p:txBody>
          <a:bodyPr/>
          <a:lstStyle/>
          <a:p>
            <a:r>
              <a:rPr kumimoji="1" lang="ja-GB" altLang="en-US"/>
              <a:t>書籍例（講師が参考にした書籍）</a:t>
            </a:r>
          </a:p>
        </p:txBody>
      </p:sp>
      <p:sp>
        <p:nvSpPr>
          <p:cNvPr id="6" name="コンテンツ プレースホルダー 5">
            <a:extLst>
              <a:ext uri="{FF2B5EF4-FFF2-40B4-BE49-F238E27FC236}">
                <a16:creationId xmlns:a16="http://schemas.microsoft.com/office/drawing/2014/main" id="{026B7B06-D43F-F774-E1B3-C3AF39248170}"/>
              </a:ext>
            </a:extLst>
          </p:cNvPr>
          <p:cNvSpPr>
            <a:spLocks noGrp="1"/>
          </p:cNvSpPr>
          <p:nvPr>
            <p:ph idx="1"/>
          </p:nvPr>
        </p:nvSpPr>
        <p:spPr/>
        <p:txBody>
          <a:bodyPr/>
          <a:lstStyle/>
          <a:p>
            <a:pPr marL="0" indent="0">
              <a:buNone/>
            </a:pPr>
            <a:r>
              <a:rPr lang="ja-JP" altLang="en-US"/>
              <a:t>新・明解</a:t>
            </a:r>
            <a:r>
              <a:rPr lang="en-GB" altLang="ja-GB"/>
              <a:t>Java</a:t>
            </a:r>
            <a:r>
              <a:rPr lang="ja-JP" altLang="en-US"/>
              <a:t>で学ぶアルゴリズムとデータ構造</a:t>
            </a:r>
            <a:endParaRPr lang="en-US" altLang="ja-JP"/>
          </a:p>
          <a:p>
            <a:pPr lvl="1"/>
            <a:r>
              <a:rPr lang="ja-GB" altLang="en-US"/>
              <a:t>著者：</a:t>
            </a:r>
            <a:r>
              <a:rPr lang="ja-JP" altLang="en-US"/>
              <a:t>柴田</a:t>
            </a:r>
            <a:r>
              <a:rPr lang="en-US" altLang="ja-JP"/>
              <a:t> </a:t>
            </a:r>
            <a:r>
              <a:rPr lang="ja-JP" altLang="en-US"/>
              <a:t>望洋</a:t>
            </a:r>
            <a:endParaRPr lang="en-US" altLang="ja-JP"/>
          </a:p>
          <a:p>
            <a:pPr lvl="1"/>
            <a:r>
              <a:rPr lang="en-US" altLang="ja-JP"/>
              <a:t>SB Creative</a:t>
            </a:r>
            <a:r>
              <a:rPr lang="ja-JP" altLang="en-US"/>
              <a:t>（</a:t>
            </a:r>
            <a:r>
              <a:rPr lang="en-US" altLang="ja-JP"/>
              <a:t>2020</a:t>
            </a:r>
            <a:r>
              <a:rPr lang="ja-JP" altLang="en-US"/>
              <a:t>）</a:t>
            </a:r>
            <a:r>
              <a:rPr lang="en-US" altLang="ja-JP"/>
              <a:t> 2,500</a:t>
            </a:r>
            <a:r>
              <a:rPr lang="ja-JP" altLang="en-US"/>
              <a:t>円</a:t>
            </a:r>
            <a:r>
              <a:rPr lang="en-US" altLang="ja-JP"/>
              <a:t> + </a:t>
            </a:r>
            <a:r>
              <a:rPr lang="ja-JP" altLang="en-US"/>
              <a:t>税</a:t>
            </a:r>
            <a:endParaRPr lang="en-US" altLang="ja-JP"/>
          </a:p>
          <a:p>
            <a:pPr lvl="1"/>
            <a:r>
              <a:rPr lang="en-GB" altLang="ja-GB">
                <a:solidFill>
                  <a:schemeClr val="tx1">
                    <a:lumMod val="50000"/>
                    <a:lumOff val="50000"/>
                  </a:schemeClr>
                </a:solidFill>
                <a:hlinkClick r:id="rId2">
                  <a:extLst>
                    <a:ext uri="{A12FA001-AC4F-418D-AE19-62706E023703}">
                      <ahyp:hlinkClr xmlns:ahyp="http://schemas.microsoft.com/office/drawing/2018/hyperlinkcolor" val="tx"/>
                    </a:ext>
                  </a:extLst>
                </a:hlinkClick>
              </a:rPr>
              <a:t>https://www.sbcr.jp/product/4815606008/</a:t>
            </a:r>
            <a:endParaRPr lang="en-GB" altLang="ja-GB">
              <a:solidFill>
                <a:schemeClr val="tx1">
                  <a:lumMod val="50000"/>
                  <a:lumOff val="50000"/>
                </a:schemeClr>
              </a:solidFill>
            </a:endParaRPr>
          </a:p>
          <a:p>
            <a:endParaRPr lang="en-US" altLang="ja-GB"/>
          </a:p>
          <a:p>
            <a:pPr marL="0" indent="0">
              <a:buNone/>
            </a:pPr>
            <a:r>
              <a:rPr lang="ja-JP" altLang="en-US"/>
              <a:t>世界標準</a:t>
            </a:r>
            <a:r>
              <a:rPr lang="en-GB" altLang="ja-GB"/>
              <a:t>MIT</a:t>
            </a:r>
            <a:r>
              <a:rPr lang="ja-JP" altLang="en-US"/>
              <a:t>教科書</a:t>
            </a:r>
            <a:r>
              <a:rPr lang="en-US" altLang="ja-JP"/>
              <a:t> </a:t>
            </a:r>
            <a:r>
              <a:rPr lang="ja-JP" altLang="en-US"/>
              <a:t>アルゴリズムイントロダクション</a:t>
            </a:r>
            <a:r>
              <a:rPr lang="en-US" altLang="ja-JP"/>
              <a:t> </a:t>
            </a:r>
            <a:r>
              <a:rPr lang="ja-JP" altLang="en-US"/>
              <a:t>第</a:t>
            </a:r>
            <a:r>
              <a:rPr lang="en-US" altLang="ja-JP"/>
              <a:t>4</a:t>
            </a:r>
            <a:r>
              <a:rPr lang="ja-JP" altLang="en-US"/>
              <a:t>版総合版</a:t>
            </a:r>
            <a:endParaRPr lang="en-US" altLang="ja-JP"/>
          </a:p>
          <a:p>
            <a:pPr lvl="1"/>
            <a:r>
              <a:rPr lang="ja-JP" altLang="en-US"/>
              <a:t>著者：</a:t>
            </a:r>
            <a:r>
              <a:rPr lang="en-US" altLang="ja-GB"/>
              <a:t>T. </a:t>
            </a:r>
            <a:r>
              <a:rPr lang="ja-JP" altLang="en-US"/>
              <a:t>コルメン，</a:t>
            </a:r>
            <a:r>
              <a:rPr lang="en-US" altLang="ja-GB"/>
              <a:t>C. </a:t>
            </a:r>
            <a:r>
              <a:rPr lang="ja-JP" altLang="en-US"/>
              <a:t>ライザーソン，</a:t>
            </a:r>
            <a:r>
              <a:rPr lang="en-US" altLang="ja-GB"/>
              <a:t>R. </a:t>
            </a:r>
            <a:r>
              <a:rPr lang="ja-JP" altLang="en-US"/>
              <a:t>リベスト，</a:t>
            </a:r>
            <a:r>
              <a:rPr lang="en-US" altLang="ja-GB"/>
              <a:t>C. </a:t>
            </a:r>
            <a:r>
              <a:rPr lang="ja-JP" altLang="en-US"/>
              <a:t>シュタイン</a:t>
            </a:r>
          </a:p>
          <a:p>
            <a:pPr lvl="1"/>
            <a:r>
              <a:rPr lang="ja-JP" altLang="en-US"/>
              <a:t>翻訳：浅野 哲夫，岩野 和生，梅尾 博司，小山 透，山下 雅史，</a:t>
            </a:r>
            <a:br>
              <a:rPr lang="en-US" altLang="ja-JP"/>
            </a:br>
            <a:r>
              <a:rPr lang="ja-JP" altLang="en-US"/>
              <a:t>　　　和田 幸一</a:t>
            </a:r>
            <a:endParaRPr lang="en-US" altLang="ja-GB"/>
          </a:p>
          <a:p>
            <a:pPr lvl="1"/>
            <a:r>
              <a:rPr lang="ja-GB" altLang="en-US"/>
              <a:t>近代科学社（</a:t>
            </a:r>
            <a:r>
              <a:rPr lang="en-US" altLang="ja-GB"/>
              <a:t>2024</a:t>
            </a:r>
            <a:r>
              <a:rPr lang="ja-GB" altLang="en-US"/>
              <a:t>）</a:t>
            </a:r>
            <a:r>
              <a:rPr lang="en-US" altLang="ja-JP"/>
              <a:t>18,000</a:t>
            </a:r>
            <a:r>
              <a:rPr lang="ja-JP" altLang="en-US"/>
              <a:t>円</a:t>
            </a:r>
            <a:r>
              <a:rPr lang="en-US" altLang="ja-JP"/>
              <a:t> + </a:t>
            </a:r>
            <a:r>
              <a:rPr lang="ja-GB" altLang="en-US"/>
              <a:t>税</a:t>
            </a:r>
            <a:endParaRPr lang="en-US" altLang="ja-JP"/>
          </a:p>
          <a:p>
            <a:pPr lvl="1"/>
            <a:r>
              <a:rPr lang="en-GB" altLang="ja-GB">
                <a:solidFill>
                  <a:schemeClr val="tx1">
                    <a:lumMod val="50000"/>
                    <a:lumOff val="50000"/>
                  </a:schemeClr>
                </a:solidFill>
                <a:hlinkClick r:id="rId3">
                  <a:extLst>
                    <a:ext uri="{A12FA001-AC4F-418D-AE19-62706E023703}">
                      <ahyp:hlinkClr xmlns:ahyp="http://schemas.microsoft.com/office/drawing/2018/hyperlinkcolor" val="tx"/>
                    </a:ext>
                  </a:extLst>
                </a:hlinkClick>
              </a:rPr>
              <a:t>https://www.kindaikagaku.co.jp/book_list/detail/9784764906495/</a:t>
            </a:r>
            <a:endParaRPr lang="en-GB" altLang="ja-GB">
              <a:solidFill>
                <a:schemeClr val="tx1">
                  <a:lumMod val="50000"/>
                  <a:lumOff val="50000"/>
                </a:schemeClr>
              </a:solidFill>
            </a:endParaRPr>
          </a:p>
          <a:p>
            <a:pPr lvl="1"/>
            <a:endParaRPr lang="en-GB" altLang="ja-GB"/>
          </a:p>
          <a:p>
            <a:endParaRPr lang="ja-GB" altLang="en-US"/>
          </a:p>
        </p:txBody>
      </p:sp>
    </p:spTree>
    <p:extLst>
      <p:ext uri="{BB962C8B-B14F-4D97-AF65-F5344CB8AC3E}">
        <p14:creationId xmlns:p14="http://schemas.microsoft.com/office/powerpoint/2010/main" val="26176303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9C79BA-24E8-B50E-B870-CA22A616857B}"/>
              </a:ext>
            </a:extLst>
          </p:cNvPr>
          <p:cNvSpPr>
            <a:spLocks noGrp="1"/>
          </p:cNvSpPr>
          <p:nvPr>
            <p:ph type="ctrTitle"/>
          </p:nvPr>
        </p:nvSpPr>
        <p:spPr/>
        <p:txBody>
          <a:bodyPr/>
          <a:lstStyle/>
          <a:p>
            <a:r>
              <a:rPr kumimoji="1" lang="en-US" altLang="ja-GB" dirty="0">
                <a:solidFill>
                  <a:schemeClr val="bg1"/>
                </a:solidFill>
              </a:rPr>
              <a:t>V. </a:t>
            </a:r>
            <a:r>
              <a:rPr kumimoji="1" lang="ja-GB" altLang="en-US" dirty="0">
                <a:solidFill>
                  <a:schemeClr val="bg1"/>
                </a:solidFill>
              </a:rPr>
              <a:t>計算機のハードウェア構成を知る</a:t>
            </a:r>
          </a:p>
        </p:txBody>
      </p:sp>
      <p:sp>
        <p:nvSpPr>
          <p:cNvPr id="3" name="字幕 2">
            <a:extLst>
              <a:ext uri="{FF2B5EF4-FFF2-40B4-BE49-F238E27FC236}">
                <a16:creationId xmlns:a16="http://schemas.microsoft.com/office/drawing/2014/main" id="{42755BB9-67C6-CEF8-A04E-2EB0ECD8FF50}"/>
              </a:ext>
            </a:extLst>
          </p:cNvPr>
          <p:cNvSpPr>
            <a:spLocks noGrp="1"/>
          </p:cNvSpPr>
          <p:nvPr>
            <p:ph type="subTitle" idx="1"/>
          </p:nvPr>
        </p:nvSpPr>
        <p:spPr/>
        <p:txBody>
          <a:bodyPr/>
          <a:lstStyle/>
          <a:p>
            <a:r>
              <a:rPr kumimoji="1" lang="en-US" altLang="ja-GB" dirty="0">
                <a:solidFill>
                  <a:schemeClr val="bg1"/>
                </a:solidFill>
              </a:rPr>
              <a:t>10. </a:t>
            </a:r>
            <a:r>
              <a:rPr kumimoji="1" lang="ja-GB" altLang="en-US" dirty="0">
                <a:solidFill>
                  <a:schemeClr val="bg1"/>
                </a:solidFill>
              </a:rPr>
              <a:t>計算機の中の情報表現</a:t>
            </a:r>
            <a:endParaRPr kumimoji="1" lang="en-US" altLang="ja-GB" dirty="0">
              <a:solidFill>
                <a:schemeClr val="bg1"/>
              </a:solidFill>
            </a:endParaRPr>
          </a:p>
          <a:p>
            <a:r>
              <a:rPr lang="en-US" altLang="ja-GB" dirty="0">
                <a:solidFill>
                  <a:schemeClr val="bg1"/>
                </a:solidFill>
              </a:rPr>
              <a:t>11. </a:t>
            </a:r>
            <a:r>
              <a:rPr lang="ja-GB" altLang="en-US" dirty="0">
                <a:solidFill>
                  <a:schemeClr val="bg1"/>
                </a:solidFill>
              </a:rPr>
              <a:t>演算とハードウェア構成</a:t>
            </a:r>
            <a:endParaRPr kumimoji="1" lang="ja-GB" altLang="en-US" dirty="0">
              <a:solidFill>
                <a:schemeClr val="bg1"/>
              </a:solidFill>
            </a:endParaRPr>
          </a:p>
        </p:txBody>
      </p:sp>
    </p:spTree>
    <p:extLst>
      <p:ext uri="{BB962C8B-B14F-4D97-AF65-F5344CB8AC3E}">
        <p14:creationId xmlns:p14="http://schemas.microsoft.com/office/powerpoint/2010/main" val="9461738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1F6B0-8899-81D2-1280-2080969C907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8219905-150C-85BD-A569-6901DA39C36F}"/>
              </a:ext>
            </a:extLst>
          </p:cNvPr>
          <p:cNvSpPr>
            <a:spLocks noGrp="1"/>
          </p:cNvSpPr>
          <p:nvPr>
            <p:ph type="title"/>
          </p:nvPr>
        </p:nvSpPr>
        <p:spPr/>
        <p:txBody>
          <a:bodyPr/>
          <a:lstStyle/>
          <a:p>
            <a:r>
              <a:rPr lang="ja-GB" dirty="0"/>
              <a:t>授業内容</a:t>
            </a:r>
          </a:p>
        </p:txBody>
      </p:sp>
      <p:sp>
        <p:nvSpPr>
          <p:cNvPr id="4" name="コンテンツ プレースホルダー 2">
            <a:extLst>
              <a:ext uri="{FF2B5EF4-FFF2-40B4-BE49-F238E27FC236}">
                <a16:creationId xmlns:a16="http://schemas.microsoft.com/office/drawing/2014/main" id="{84B43EB0-04B5-5865-EFCC-D98200074DF0}"/>
              </a:ext>
            </a:extLst>
          </p:cNvPr>
          <p:cNvSpPr txBox="1">
            <a:spLocks/>
          </p:cNvSpPr>
          <p:nvPr/>
        </p:nvSpPr>
        <p:spPr>
          <a:xfrm>
            <a:off x="4572000" y="854766"/>
            <a:ext cx="4257675" cy="60032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1" kern="1200">
                <a:solidFill>
                  <a:srgbClr val="002060"/>
                </a:solidFill>
                <a:latin typeface="Yu Gothic UI" panose="020B0500000000000000" pitchFamily="34" charset="-128"/>
                <a:ea typeface="Yu Gothic UI"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1" kern="1200">
                <a:solidFill>
                  <a:srgbClr val="2F2624"/>
                </a:solidFill>
                <a:latin typeface="Yu Gothic UI" panose="020B0500000000000000" pitchFamily="34" charset="-128"/>
                <a:ea typeface="Yu Gothic UI"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1" kern="1200">
                <a:solidFill>
                  <a:srgbClr val="2F2624"/>
                </a:solidFill>
                <a:latin typeface="Yu Gothic UI" panose="020B0500000000000000" pitchFamily="34" charset="-128"/>
                <a:ea typeface="Yu Gothic UI"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1" kern="1200">
                <a:solidFill>
                  <a:srgbClr val="2F2624"/>
                </a:solidFill>
                <a:latin typeface="Yu Gothic UI" panose="020B0500000000000000" pitchFamily="34" charset="-128"/>
                <a:ea typeface="Yu Gothic UI"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700" b="1" kern="1200">
                <a:solidFill>
                  <a:srgbClr val="2F2624"/>
                </a:solidFill>
                <a:latin typeface="Yu Gothic UI" panose="020B0500000000000000" pitchFamily="34" charset="-128"/>
                <a:ea typeface="Yu Gothic UI"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GB" sz="1800" dirty="0"/>
              <a:t>V. </a:t>
            </a:r>
            <a:r>
              <a:rPr lang="ja-JP" altLang="en-US" sz="1800"/>
              <a:t>計算機のハードウェア構成を知る</a:t>
            </a:r>
          </a:p>
          <a:p>
            <a:pPr marL="0" indent="0">
              <a:buFont typeface="Arial" panose="020B0604020202020204" pitchFamily="34" charset="0"/>
              <a:buNone/>
            </a:pPr>
            <a:r>
              <a:rPr lang="ja-JP" altLang="en-US" sz="1800">
                <a:solidFill>
                  <a:srgbClr val="2F2523"/>
                </a:solidFill>
              </a:rPr>
              <a:t>　</a:t>
            </a:r>
            <a:r>
              <a:rPr lang="en-US" altLang="ja-JP" sz="1800" dirty="0">
                <a:solidFill>
                  <a:srgbClr val="2F2523"/>
                </a:solidFill>
              </a:rPr>
              <a:t>10. </a:t>
            </a:r>
            <a:r>
              <a:rPr lang="ja-JP" altLang="en-US" sz="1800">
                <a:solidFill>
                  <a:srgbClr val="2F2523"/>
                </a:solidFill>
              </a:rPr>
              <a:t>計算機の中の情報表現</a:t>
            </a:r>
          </a:p>
          <a:p>
            <a:pPr marL="0" indent="0">
              <a:buFont typeface="Arial" panose="020B0604020202020204" pitchFamily="34" charset="0"/>
              <a:buNone/>
            </a:pPr>
            <a:r>
              <a:rPr lang="ja-JP" altLang="en-US" sz="1800">
                <a:solidFill>
                  <a:srgbClr val="2F2523"/>
                </a:solidFill>
              </a:rPr>
              <a:t>　</a:t>
            </a:r>
            <a:r>
              <a:rPr lang="en-US" altLang="ja-JP" sz="1800" dirty="0">
                <a:solidFill>
                  <a:srgbClr val="2F2523"/>
                </a:solidFill>
              </a:rPr>
              <a:t>11. </a:t>
            </a:r>
            <a:r>
              <a:rPr lang="ja-GB" altLang="en-US" sz="1800" dirty="0">
                <a:solidFill>
                  <a:srgbClr val="2F2523"/>
                </a:solidFill>
              </a:rPr>
              <a:t>演算とハードウェア構成</a:t>
            </a:r>
            <a:endParaRPr lang="en-US" altLang="ja-JP" sz="1800" dirty="0">
              <a:solidFill>
                <a:srgbClr val="2F2523"/>
              </a:solidFill>
            </a:endParaRPr>
          </a:p>
          <a:p>
            <a:pPr marL="0" indent="0">
              <a:buFont typeface="Arial" panose="020B0604020202020204" pitchFamily="34" charset="0"/>
              <a:buNone/>
            </a:pPr>
            <a:endParaRPr lang="ja-JP" altLang="en-US" sz="800">
              <a:solidFill>
                <a:srgbClr val="2F2523"/>
              </a:solidFill>
            </a:endParaRPr>
          </a:p>
          <a:p>
            <a:pPr marL="0" indent="0">
              <a:buFont typeface="Arial" panose="020B0604020202020204" pitchFamily="34" charset="0"/>
              <a:buNone/>
            </a:pPr>
            <a:r>
              <a:rPr lang="en-GB" sz="1800" dirty="0">
                <a:solidFill>
                  <a:schemeClr val="bg1">
                    <a:lumMod val="75000"/>
                  </a:schemeClr>
                </a:solidFill>
              </a:rPr>
              <a:t>VI. </a:t>
            </a:r>
            <a:r>
              <a:rPr lang="ja-JP" altLang="en-US" sz="1800">
                <a:solidFill>
                  <a:schemeClr val="bg1">
                    <a:lumMod val="75000"/>
                  </a:schemeClr>
                </a:solidFill>
              </a:rPr>
              <a:t>計算機特有の数値表現に慣れる</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12. </a:t>
            </a:r>
            <a:r>
              <a:rPr lang="ja-JP" altLang="en-US" sz="1800">
                <a:solidFill>
                  <a:schemeClr val="bg1">
                    <a:lumMod val="75000"/>
                  </a:schemeClr>
                </a:solidFill>
              </a:rPr>
              <a:t>演習（基数と論理演算）</a:t>
            </a:r>
            <a:endParaRPr lang="en-US" altLang="ja-JP" sz="1800" dirty="0">
              <a:solidFill>
                <a:schemeClr val="bg1">
                  <a:lumMod val="75000"/>
                </a:schemeClr>
              </a:solidFill>
            </a:endParaRPr>
          </a:p>
          <a:p>
            <a:pPr marL="0" indent="0">
              <a:buFont typeface="Arial" panose="020B0604020202020204" pitchFamily="34" charset="0"/>
              <a:buNone/>
            </a:pPr>
            <a:endParaRPr lang="ja-JP" altLang="en-US" sz="800">
              <a:solidFill>
                <a:schemeClr val="bg1">
                  <a:lumMod val="75000"/>
                </a:schemeClr>
              </a:solidFill>
            </a:endParaRPr>
          </a:p>
          <a:p>
            <a:pPr marL="0" indent="0">
              <a:buFont typeface="Arial" panose="020B0604020202020204" pitchFamily="34" charset="0"/>
              <a:buNone/>
            </a:pPr>
            <a:r>
              <a:rPr lang="en-GB" sz="1800" dirty="0">
                <a:solidFill>
                  <a:schemeClr val="bg1">
                    <a:lumMod val="75000"/>
                  </a:schemeClr>
                </a:solidFill>
              </a:rPr>
              <a:t>VII. </a:t>
            </a:r>
            <a:r>
              <a:rPr lang="ja-JP" altLang="en-US" sz="1800">
                <a:solidFill>
                  <a:schemeClr val="bg1">
                    <a:lumMod val="75000"/>
                  </a:schemeClr>
                </a:solidFill>
              </a:rPr>
              <a:t>計算論的思考</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13. </a:t>
            </a:r>
            <a:r>
              <a:rPr lang="ja-JP" altLang="en-US" sz="1800">
                <a:solidFill>
                  <a:schemeClr val="bg1">
                    <a:lumMod val="75000"/>
                  </a:schemeClr>
                </a:solidFill>
              </a:rPr>
              <a:t>問題解決のためのモデル：</a:t>
            </a:r>
            <a:r>
              <a:rPr lang="en-GB" sz="1800" dirty="0">
                <a:solidFill>
                  <a:schemeClr val="bg1">
                    <a:lumMod val="75000"/>
                  </a:schemeClr>
                </a:solidFill>
              </a:rPr>
              <a:t>PERT</a:t>
            </a:r>
            <a:r>
              <a:rPr lang="ja-JP" altLang="en-US" sz="1800">
                <a:solidFill>
                  <a:schemeClr val="bg1">
                    <a:lumMod val="75000"/>
                  </a:schemeClr>
                </a:solidFill>
              </a:rPr>
              <a:t>図</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14. </a:t>
            </a:r>
            <a:r>
              <a:rPr lang="ja-JP" altLang="en-US" sz="1800">
                <a:solidFill>
                  <a:schemeClr val="bg1">
                    <a:lumMod val="75000"/>
                  </a:schemeClr>
                </a:solidFill>
              </a:rPr>
              <a:t>問題解決のためのモデル：決定表</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15. </a:t>
            </a:r>
            <a:r>
              <a:rPr lang="ja-JP" altLang="en-US" sz="1800">
                <a:solidFill>
                  <a:schemeClr val="bg1">
                    <a:lumMod val="75000"/>
                  </a:schemeClr>
                </a:solidFill>
              </a:rPr>
              <a:t>まとめ </a:t>
            </a:r>
            <a:r>
              <a:rPr lang="en-US" altLang="ja-JP" sz="1800" dirty="0">
                <a:solidFill>
                  <a:schemeClr val="bg1">
                    <a:lumMod val="75000"/>
                  </a:schemeClr>
                </a:solidFill>
              </a:rPr>
              <a:t>+ </a:t>
            </a:r>
            <a:r>
              <a:rPr lang="ja-JP" altLang="en-US" sz="1800">
                <a:solidFill>
                  <a:schemeClr val="bg1">
                    <a:lumMod val="75000"/>
                  </a:schemeClr>
                </a:solidFill>
              </a:rPr>
              <a:t>演習（</a:t>
            </a:r>
            <a:r>
              <a:rPr lang="en-US" altLang="ja-JP" sz="1800" dirty="0">
                <a:solidFill>
                  <a:schemeClr val="bg1">
                    <a:lumMod val="75000"/>
                  </a:schemeClr>
                </a:solidFill>
              </a:rPr>
              <a:t>PERT</a:t>
            </a:r>
            <a:r>
              <a:rPr lang="ja-JP" altLang="en-US" sz="1800">
                <a:solidFill>
                  <a:schemeClr val="bg1">
                    <a:lumMod val="75000"/>
                  </a:schemeClr>
                </a:solidFill>
              </a:rPr>
              <a:t>図，決定表）</a:t>
            </a:r>
            <a:endParaRPr lang="ja-GB" sz="1800" dirty="0">
              <a:solidFill>
                <a:schemeClr val="bg1">
                  <a:lumMod val="75000"/>
                </a:schemeClr>
              </a:solidFill>
            </a:endParaRPr>
          </a:p>
        </p:txBody>
      </p:sp>
      <p:sp>
        <p:nvSpPr>
          <p:cNvPr id="7" name="コンテンツ プレースホルダー 2">
            <a:extLst>
              <a:ext uri="{FF2B5EF4-FFF2-40B4-BE49-F238E27FC236}">
                <a16:creationId xmlns:a16="http://schemas.microsoft.com/office/drawing/2014/main" id="{EC69DD8C-B3C8-3321-33C4-736FC14ACF11}"/>
              </a:ext>
            </a:extLst>
          </p:cNvPr>
          <p:cNvSpPr>
            <a:spLocks noGrp="1"/>
          </p:cNvSpPr>
          <p:nvPr>
            <p:ph idx="1"/>
          </p:nvPr>
        </p:nvSpPr>
        <p:spPr>
          <a:xfrm>
            <a:off x="314325" y="854765"/>
            <a:ext cx="4257675" cy="6003234"/>
          </a:xfrm>
        </p:spPr>
        <p:txBody>
          <a:bodyPr>
            <a:normAutofit/>
          </a:bodyPr>
          <a:lstStyle/>
          <a:p>
            <a:pPr marL="0" indent="0">
              <a:buNone/>
            </a:pPr>
            <a:r>
              <a:rPr lang="en-GB" sz="1800" dirty="0">
                <a:solidFill>
                  <a:schemeClr val="bg1">
                    <a:lumMod val="75000"/>
                  </a:schemeClr>
                </a:solidFill>
              </a:rPr>
              <a:t>I. </a:t>
            </a:r>
            <a:r>
              <a:rPr lang="ja-JP" altLang="en-US" sz="1800">
                <a:solidFill>
                  <a:schemeClr val="bg1">
                    <a:lumMod val="75000"/>
                  </a:schemeClr>
                </a:solidFill>
              </a:rPr>
              <a:t>計算機システムを学ぶ意味を見つける</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1. </a:t>
            </a:r>
            <a:r>
              <a:rPr lang="ja-GB" altLang="en-US" sz="1800" dirty="0">
                <a:solidFill>
                  <a:schemeClr val="bg1">
                    <a:lumMod val="75000"/>
                  </a:schemeClr>
                </a:solidFill>
              </a:rPr>
              <a:t>計算機とプログラムによる自動化</a:t>
            </a:r>
            <a:endParaRPr lang="ja-JP" altLang="en-US" sz="1800">
              <a:solidFill>
                <a:schemeClr val="bg1">
                  <a:lumMod val="75000"/>
                </a:schemeClr>
              </a:solidFill>
            </a:endParaRPr>
          </a:p>
          <a:p>
            <a:pPr marL="0" indent="0">
              <a:buNone/>
            </a:pPr>
            <a:r>
              <a:rPr lang="ja-JP" altLang="en-US" sz="1800">
                <a:solidFill>
                  <a:schemeClr val="bg1">
                    <a:lumMod val="75000"/>
                  </a:schemeClr>
                </a:solidFill>
              </a:rPr>
              <a:t>　</a:t>
            </a:r>
            <a:r>
              <a:rPr lang="en-US" altLang="ja-JP" sz="1800" dirty="0">
                <a:solidFill>
                  <a:schemeClr val="bg1">
                    <a:lumMod val="75000"/>
                  </a:schemeClr>
                </a:solidFill>
              </a:rPr>
              <a:t>2. </a:t>
            </a:r>
            <a:r>
              <a:rPr lang="ja-GB" altLang="en-US" sz="1800" dirty="0">
                <a:solidFill>
                  <a:schemeClr val="bg1">
                    <a:lumMod val="75000"/>
                  </a:schemeClr>
                </a:solidFill>
              </a:rPr>
              <a:t>計算機，インターネット，情報システム</a:t>
            </a:r>
            <a:endParaRPr lang="en-US" altLang="ja-JP" sz="1800" dirty="0">
              <a:solidFill>
                <a:schemeClr val="bg1">
                  <a:lumMod val="75000"/>
                </a:schemeClr>
              </a:solidFill>
            </a:endParaRPr>
          </a:p>
          <a:p>
            <a:pPr marL="0" indent="0">
              <a:buNone/>
            </a:pPr>
            <a:endParaRPr lang="ja-JP" altLang="en-US" sz="800">
              <a:solidFill>
                <a:schemeClr val="bg1">
                  <a:lumMod val="75000"/>
                </a:schemeClr>
              </a:solidFill>
            </a:endParaRPr>
          </a:p>
          <a:p>
            <a:pPr marL="0" indent="0">
              <a:buNone/>
            </a:pPr>
            <a:r>
              <a:rPr lang="en-GB" sz="1800" dirty="0">
                <a:solidFill>
                  <a:schemeClr val="bg1">
                    <a:lumMod val="75000"/>
                  </a:schemeClr>
                </a:solidFill>
              </a:rPr>
              <a:t>II. </a:t>
            </a:r>
            <a:r>
              <a:rPr lang="ja-JP" altLang="en-US" sz="1800">
                <a:solidFill>
                  <a:schemeClr val="bg1">
                    <a:lumMod val="75000"/>
                  </a:schemeClr>
                </a:solidFill>
              </a:rPr>
              <a:t>計算機やデータ，</a:t>
            </a:r>
            <a:r>
              <a:rPr lang="en-GB" sz="1800" dirty="0">
                <a:solidFill>
                  <a:schemeClr val="bg1">
                    <a:lumMod val="75000"/>
                  </a:schemeClr>
                </a:solidFill>
              </a:rPr>
              <a:t>AI</a:t>
            </a:r>
            <a:r>
              <a:rPr lang="ja-JP" altLang="en-US" sz="1800">
                <a:solidFill>
                  <a:schemeClr val="bg1">
                    <a:lumMod val="75000"/>
                  </a:schemeClr>
                </a:solidFill>
              </a:rPr>
              <a:t>にできることを知る</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3. </a:t>
            </a:r>
            <a:r>
              <a:rPr lang="ja-JP" altLang="en-US" sz="1800">
                <a:solidFill>
                  <a:schemeClr val="bg1">
                    <a:lumMod val="75000"/>
                  </a:schemeClr>
                </a:solidFill>
              </a:rPr>
              <a:t>計算機の基本原理</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4. </a:t>
            </a:r>
            <a:r>
              <a:rPr lang="ja-JP" altLang="en-US" sz="1800">
                <a:solidFill>
                  <a:schemeClr val="bg1">
                    <a:lumMod val="75000"/>
                  </a:schemeClr>
                </a:solidFill>
              </a:rPr>
              <a:t>計算機と統計</a:t>
            </a:r>
            <a:endParaRPr lang="en-US" altLang="ja-JP" sz="1800" dirty="0">
              <a:solidFill>
                <a:schemeClr val="bg1">
                  <a:lumMod val="75000"/>
                </a:schemeClr>
              </a:solidFill>
            </a:endParaRPr>
          </a:p>
          <a:p>
            <a:pPr marL="0" indent="0">
              <a:buNone/>
            </a:pPr>
            <a:endParaRPr lang="ja-JP" altLang="en-US" sz="800">
              <a:solidFill>
                <a:schemeClr val="bg1">
                  <a:lumMod val="75000"/>
                </a:schemeClr>
              </a:solidFill>
            </a:endParaRPr>
          </a:p>
          <a:p>
            <a:pPr marL="0" indent="0">
              <a:buNone/>
            </a:pPr>
            <a:r>
              <a:rPr lang="en-GB" sz="1800" dirty="0">
                <a:solidFill>
                  <a:schemeClr val="bg1">
                    <a:lumMod val="75000"/>
                  </a:schemeClr>
                </a:solidFill>
              </a:rPr>
              <a:t>III. </a:t>
            </a:r>
            <a:r>
              <a:rPr lang="ja-JP" altLang="en-US" sz="1800">
                <a:solidFill>
                  <a:schemeClr val="bg1">
                    <a:lumMod val="75000"/>
                  </a:schemeClr>
                </a:solidFill>
              </a:rPr>
              <a:t>問題を「計算機の使える形」に整理する</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5. </a:t>
            </a:r>
            <a:r>
              <a:rPr lang="ja-JP" altLang="en-US" sz="1800">
                <a:solidFill>
                  <a:schemeClr val="bg1">
                    <a:lumMod val="75000"/>
                  </a:schemeClr>
                </a:solidFill>
              </a:rPr>
              <a:t>情報システムのデザイン</a:t>
            </a:r>
            <a:endParaRPr lang="en-US" altLang="ja-JP" sz="1800" dirty="0">
              <a:solidFill>
                <a:schemeClr val="bg1">
                  <a:lumMod val="75000"/>
                </a:schemeClr>
              </a:solidFill>
            </a:endParaRPr>
          </a:p>
          <a:p>
            <a:pPr marL="0" indent="0">
              <a:buNone/>
            </a:pPr>
            <a:endParaRPr lang="ja-JP" altLang="en-US" sz="800">
              <a:solidFill>
                <a:schemeClr val="bg1">
                  <a:lumMod val="75000"/>
                </a:schemeClr>
              </a:solidFill>
            </a:endParaRPr>
          </a:p>
          <a:p>
            <a:pPr marL="0" indent="0">
              <a:buNone/>
            </a:pPr>
            <a:r>
              <a:rPr lang="en-GB" sz="1800" dirty="0">
                <a:solidFill>
                  <a:schemeClr val="bg1">
                    <a:lumMod val="75000"/>
                  </a:schemeClr>
                </a:solidFill>
              </a:rPr>
              <a:t>IV. </a:t>
            </a:r>
            <a:r>
              <a:rPr lang="ja-JP" altLang="en-US" sz="1800">
                <a:solidFill>
                  <a:schemeClr val="bg1">
                    <a:lumMod val="75000"/>
                  </a:schemeClr>
                </a:solidFill>
              </a:rPr>
              <a:t>計算機の考え方を体感する</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6. </a:t>
            </a:r>
            <a:r>
              <a:rPr lang="ja-JP" altLang="en-US" sz="1800">
                <a:solidFill>
                  <a:schemeClr val="bg1">
                    <a:lumMod val="75000"/>
                  </a:schemeClr>
                </a:solidFill>
              </a:rPr>
              <a:t>プログラムの基本</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7. </a:t>
            </a:r>
            <a:r>
              <a:rPr lang="ja-JP" altLang="en-US" sz="1800">
                <a:solidFill>
                  <a:schemeClr val="bg1">
                    <a:lumMod val="75000"/>
                  </a:schemeClr>
                </a:solidFill>
              </a:rPr>
              <a:t>データ構造</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8. </a:t>
            </a:r>
            <a:r>
              <a:rPr lang="ja-JP" altLang="en-US" sz="1800">
                <a:solidFill>
                  <a:schemeClr val="bg1">
                    <a:lumMod val="75000"/>
                  </a:schemeClr>
                </a:solidFill>
              </a:rPr>
              <a:t>アルゴリズム</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9. </a:t>
            </a:r>
            <a:r>
              <a:rPr lang="ja-JP" altLang="en-US" sz="1800">
                <a:solidFill>
                  <a:schemeClr val="bg1">
                    <a:lumMod val="75000"/>
                  </a:schemeClr>
                </a:solidFill>
              </a:rPr>
              <a:t>演習（データ構造とアルゴリズム）</a:t>
            </a:r>
          </a:p>
        </p:txBody>
      </p:sp>
    </p:spTree>
    <p:extLst>
      <p:ext uri="{BB962C8B-B14F-4D97-AF65-F5344CB8AC3E}">
        <p14:creationId xmlns:p14="http://schemas.microsoft.com/office/powerpoint/2010/main" val="89515723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2C138-69E6-2EA3-9BBB-0FFC3B8A6EB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AC79493-0501-DA93-0F07-E7A86F0B7F6B}"/>
              </a:ext>
            </a:extLst>
          </p:cNvPr>
          <p:cNvSpPr>
            <a:spLocks noGrp="1"/>
          </p:cNvSpPr>
          <p:nvPr>
            <p:ph type="title"/>
          </p:nvPr>
        </p:nvSpPr>
        <p:spPr/>
        <p:txBody>
          <a:bodyPr/>
          <a:lstStyle/>
          <a:p>
            <a:r>
              <a:rPr lang="ja-GB" dirty="0"/>
              <a:t>授業の流れ</a:t>
            </a:r>
          </a:p>
        </p:txBody>
      </p:sp>
      <p:sp>
        <p:nvSpPr>
          <p:cNvPr id="3" name="コンテンツ プレースホルダー 2">
            <a:extLst>
              <a:ext uri="{FF2B5EF4-FFF2-40B4-BE49-F238E27FC236}">
                <a16:creationId xmlns:a16="http://schemas.microsoft.com/office/drawing/2014/main" id="{6F730A00-386B-9580-B210-5F4BBE785C6A}"/>
              </a:ext>
            </a:extLst>
          </p:cNvPr>
          <p:cNvSpPr>
            <a:spLocks noGrp="1"/>
          </p:cNvSpPr>
          <p:nvPr>
            <p:ph idx="1"/>
          </p:nvPr>
        </p:nvSpPr>
        <p:spPr/>
        <p:txBody>
          <a:bodyPr>
            <a:normAutofit/>
          </a:bodyPr>
          <a:lstStyle/>
          <a:p>
            <a:pPr marL="457200" indent="-457200">
              <a:buFont typeface="+mj-lt"/>
              <a:buAutoNum type="arabicPeriod"/>
            </a:pPr>
            <a:r>
              <a:rPr lang="ja-GB" sz="2000" dirty="0">
                <a:solidFill>
                  <a:schemeClr val="tx1">
                    <a:lumMod val="50000"/>
                    <a:lumOff val="50000"/>
                  </a:schemeClr>
                </a:solidFill>
              </a:rPr>
              <a:t>日本政府や学科の教育方針を知り，現状や将来像に基づいて</a:t>
            </a:r>
            <a:br>
              <a:rPr lang="ja-GB" sz="2000" dirty="0">
                <a:solidFill>
                  <a:schemeClr val="tx1">
                    <a:lumMod val="50000"/>
                    <a:lumOff val="50000"/>
                  </a:schemeClr>
                </a:solidFill>
              </a:rPr>
            </a:br>
            <a:r>
              <a:rPr lang="ja-GB" sz="2000" dirty="0">
                <a:solidFill>
                  <a:schemeClr val="tx1">
                    <a:lumMod val="50000"/>
                    <a:lumOff val="50000"/>
                  </a:schemeClr>
                </a:solidFill>
              </a:rPr>
              <a:t>自分が計算機を学ぶ意味を見つける</a:t>
            </a:r>
          </a:p>
          <a:p>
            <a:pPr marL="1828800" lvl="3" indent="-457200">
              <a:buFont typeface="+mj-lt"/>
              <a:buAutoNum type="arabicPeriod"/>
            </a:pPr>
            <a:endParaRPr lang="ja-GB" sz="1200" dirty="0">
              <a:solidFill>
                <a:schemeClr val="tx1">
                  <a:lumMod val="50000"/>
                  <a:lumOff val="50000"/>
                </a:schemeClr>
              </a:solidFill>
            </a:endParaRPr>
          </a:p>
          <a:p>
            <a:pPr marL="457200" indent="-457200">
              <a:buFont typeface="+mj-lt"/>
              <a:buAutoNum type="arabicPeriod"/>
            </a:pPr>
            <a:r>
              <a:rPr lang="ja-JP" altLang="en-US" sz="2000">
                <a:solidFill>
                  <a:schemeClr val="tx1">
                    <a:lumMod val="50000"/>
                    <a:lumOff val="50000"/>
                  </a:schemeClr>
                </a:solidFill>
              </a:rPr>
              <a:t>計算機やデータ・</a:t>
            </a:r>
            <a:r>
              <a:rPr lang="en-GB" sz="2000" dirty="0">
                <a:solidFill>
                  <a:schemeClr val="tx1">
                    <a:lumMod val="50000"/>
                    <a:lumOff val="50000"/>
                  </a:schemeClr>
                </a:solidFill>
              </a:rPr>
              <a:t>AI</a:t>
            </a:r>
            <a:r>
              <a:rPr lang="ja-JP" altLang="en-US" sz="2000">
                <a:solidFill>
                  <a:schemeClr val="tx1">
                    <a:lumMod val="50000"/>
                    <a:lumOff val="50000"/>
                  </a:schemeClr>
                </a:solidFill>
              </a:rPr>
              <a:t>にできることを</a:t>
            </a:r>
            <a:r>
              <a:rPr lang="ja-GB" altLang="en-US" sz="2000" dirty="0">
                <a:solidFill>
                  <a:schemeClr val="tx1">
                    <a:lumMod val="50000"/>
                    <a:lumOff val="50000"/>
                  </a:schemeClr>
                </a:solidFill>
              </a:rPr>
              <a:t>知り</a:t>
            </a:r>
            <a:r>
              <a:rPr lang="ja-JP" altLang="en-US" sz="2000">
                <a:solidFill>
                  <a:schemeClr val="tx1">
                    <a:lumMod val="50000"/>
                    <a:lumOff val="50000"/>
                  </a:schemeClr>
                </a:solidFill>
              </a:rPr>
              <a:t>，</a:t>
            </a:r>
            <a:br>
              <a:rPr lang="en-US" altLang="ja-JP" sz="2000" dirty="0">
                <a:solidFill>
                  <a:schemeClr val="tx1">
                    <a:lumMod val="50000"/>
                    <a:lumOff val="50000"/>
                  </a:schemeClr>
                </a:solidFill>
              </a:rPr>
            </a:br>
            <a:r>
              <a:rPr lang="ja-JP" altLang="en-US" sz="2000">
                <a:solidFill>
                  <a:schemeClr val="tx1">
                    <a:lumMod val="50000"/>
                    <a:lumOff val="50000"/>
                  </a:schemeClr>
                </a:solidFill>
              </a:rPr>
              <a:t>目的達成に</a:t>
            </a:r>
            <a:r>
              <a:rPr lang="ja-GB" altLang="en-US" sz="2000" dirty="0">
                <a:solidFill>
                  <a:schemeClr val="tx1">
                    <a:lumMod val="50000"/>
                    <a:lumOff val="50000"/>
                  </a:schemeClr>
                </a:solidFill>
              </a:rPr>
              <a:t>向けた人間と</a:t>
            </a:r>
            <a:r>
              <a:rPr lang="ja-JP" altLang="en-US" sz="2000">
                <a:solidFill>
                  <a:schemeClr val="tx1">
                    <a:lumMod val="50000"/>
                    <a:lumOff val="50000"/>
                  </a:schemeClr>
                </a:solidFill>
              </a:rPr>
              <a:t>計算機，</a:t>
            </a:r>
            <a:r>
              <a:rPr lang="en-GB" sz="2000" dirty="0">
                <a:solidFill>
                  <a:schemeClr val="tx1">
                    <a:lumMod val="50000"/>
                    <a:lumOff val="50000"/>
                  </a:schemeClr>
                </a:solidFill>
              </a:rPr>
              <a:t>AI</a:t>
            </a:r>
            <a:r>
              <a:rPr lang="ja-JP" altLang="en-US" sz="2000">
                <a:solidFill>
                  <a:schemeClr val="tx1">
                    <a:lumMod val="50000"/>
                    <a:lumOff val="50000"/>
                  </a:schemeClr>
                </a:solidFill>
              </a:rPr>
              <a:t>の効果的な分業を想像できるようになる</a:t>
            </a:r>
            <a:endParaRPr lang="en-US" altLang="ja-JP" sz="2000" dirty="0">
              <a:solidFill>
                <a:schemeClr val="tx1">
                  <a:lumMod val="50000"/>
                  <a:lumOff val="50000"/>
                </a:schemeClr>
              </a:solidFill>
            </a:endParaRPr>
          </a:p>
          <a:p>
            <a:pPr marL="1828800" lvl="3" indent="-457200">
              <a:buFont typeface="+mj-lt"/>
              <a:buAutoNum type="arabicPeriod"/>
            </a:pPr>
            <a:endParaRPr lang="ja-GB" sz="1200" dirty="0">
              <a:solidFill>
                <a:schemeClr val="tx1">
                  <a:lumMod val="50000"/>
                  <a:lumOff val="50000"/>
                </a:schemeClr>
              </a:solidFill>
            </a:endParaRPr>
          </a:p>
          <a:p>
            <a:pPr marL="457200" indent="-457200">
              <a:buFont typeface="+mj-lt"/>
              <a:buAutoNum type="arabicPeriod"/>
            </a:pPr>
            <a:r>
              <a:rPr lang="ja-GB" sz="2000" dirty="0">
                <a:solidFill>
                  <a:schemeClr val="tx1">
                    <a:lumMod val="50000"/>
                    <a:lumOff val="50000"/>
                  </a:schemeClr>
                </a:solidFill>
              </a:rPr>
              <a:t>ITシステムの構造や仕組みを学び，</a:t>
            </a:r>
            <a:br>
              <a:rPr lang="ja-GB" sz="2000" dirty="0">
                <a:solidFill>
                  <a:schemeClr val="tx1">
                    <a:lumMod val="50000"/>
                    <a:lumOff val="50000"/>
                  </a:schemeClr>
                </a:solidFill>
              </a:rPr>
            </a:br>
            <a:r>
              <a:rPr lang="ja-GB" sz="2000" dirty="0">
                <a:solidFill>
                  <a:schemeClr val="tx1">
                    <a:lumMod val="50000"/>
                    <a:lumOff val="50000"/>
                  </a:schemeClr>
                </a:solidFill>
              </a:rPr>
              <a:t>問題を計算機が使える形に整理したり，エンジニアに伝えたりできるようになる</a:t>
            </a:r>
          </a:p>
          <a:p>
            <a:pPr marL="1828800" lvl="3" indent="-457200">
              <a:buFont typeface="+mj-lt"/>
              <a:buAutoNum type="arabicPeriod"/>
            </a:pPr>
            <a:endParaRPr lang="ja-GB" sz="1200" dirty="0">
              <a:solidFill>
                <a:srgbClr val="2F2523"/>
              </a:solidFill>
            </a:endParaRPr>
          </a:p>
          <a:p>
            <a:pPr marL="457200" indent="-457200">
              <a:buFont typeface="+mj-lt"/>
              <a:buAutoNum type="arabicPeriod"/>
            </a:pPr>
            <a:r>
              <a:rPr lang="ja-GB" sz="2000" dirty="0">
                <a:solidFill>
                  <a:srgbClr val="2F2523"/>
                </a:solidFill>
              </a:rPr>
              <a:t>計算機のハードウェア構成を</a:t>
            </a:r>
            <a:r>
              <a:rPr lang="ja-GB" altLang="en-US" sz="2000" dirty="0">
                <a:solidFill>
                  <a:srgbClr val="2F2523"/>
                </a:solidFill>
              </a:rPr>
              <a:t>知り</a:t>
            </a:r>
            <a:r>
              <a:rPr lang="ja-GB" sz="2000" dirty="0">
                <a:solidFill>
                  <a:srgbClr val="2F2523"/>
                </a:solidFill>
              </a:rPr>
              <a:t>，</a:t>
            </a:r>
            <a:br>
              <a:rPr lang="ja-GB" sz="2000" dirty="0">
                <a:solidFill>
                  <a:srgbClr val="2F2523"/>
                </a:solidFill>
              </a:rPr>
            </a:br>
            <a:r>
              <a:rPr lang="ja-GB" sz="2000" dirty="0"/>
              <a:t>目的達成に必要な装置の見積もりや購入</a:t>
            </a:r>
            <a:r>
              <a:rPr lang="ja-GB" sz="2000" dirty="0">
                <a:solidFill>
                  <a:srgbClr val="2F2523"/>
                </a:solidFill>
              </a:rPr>
              <a:t>ができるようになる</a:t>
            </a:r>
          </a:p>
          <a:p>
            <a:pPr marL="1828800" lvl="3" indent="-457200">
              <a:buFont typeface="+mj-lt"/>
              <a:buAutoNum type="arabicPeriod"/>
            </a:pPr>
            <a:endParaRPr lang="ja-GB" sz="1200" dirty="0">
              <a:solidFill>
                <a:srgbClr val="2F2523"/>
              </a:solidFill>
            </a:endParaRPr>
          </a:p>
          <a:p>
            <a:pPr marL="457200" indent="-457200">
              <a:buFont typeface="+mj-lt"/>
              <a:buAutoNum type="arabicPeriod"/>
            </a:pPr>
            <a:r>
              <a:rPr lang="ja-JP" altLang="en-US" sz="2000">
                <a:solidFill>
                  <a:schemeClr val="tx1">
                    <a:lumMod val="50000"/>
                    <a:lumOff val="50000"/>
                  </a:schemeClr>
                </a:solidFill>
              </a:rPr>
              <a:t>計算機に特有のデータ表現を学び，</a:t>
            </a:r>
            <a:br>
              <a:rPr lang="en-US" altLang="ja-JP" sz="2000" dirty="0">
                <a:solidFill>
                  <a:schemeClr val="tx1">
                    <a:lumMod val="50000"/>
                    <a:lumOff val="50000"/>
                  </a:schemeClr>
                </a:solidFill>
              </a:rPr>
            </a:br>
            <a:r>
              <a:rPr lang="ja-JP" altLang="en-US" sz="2000">
                <a:solidFill>
                  <a:schemeClr val="tx1">
                    <a:lumMod val="50000"/>
                    <a:lumOff val="50000"/>
                  </a:schemeClr>
                </a:solidFill>
              </a:rPr>
              <a:t>機器設定や開発でしばしば遭遇する数値・記号の意味を理解できるようになる</a:t>
            </a:r>
            <a:endParaRPr lang="en-US" altLang="ja-JP" sz="2000" dirty="0">
              <a:solidFill>
                <a:schemeClr val="tx1">
                  <a:lumMod val="50000"/>
                  <a:lumOff val="50000"/>
                </a:schemeClr>
              </a:solidFill>
            </a:endParaRPr>
          </a:p>
          <a:p>
            <a:pPr marL="1828800" lvl="3" indent="-457200">
              <a:buFont typeface="+mj-lt"/>
              <a:buAutoNum type="arabicPeriod"/>
            </a:pPr>
            <a:endParaRPr lang="en-US" altLang="ja-JP" sz="1200" dirty="0">
              <a:solidFill>
                <a:schemeClr val="tx1">
                  <a:lumMod val="50000"/>
                  <a:lumOff val="50000"/>
                </a:schemeClr>
              </a:solidFill>
            </a:endParaRPr>
          </a:p>
          <a:p>
            <a:pPr marL="457200" indent="-457200">
              <a:buFont typeface="+mj-lt"/>
              <a:buAutoNum type="arabicPeriod"/>
            </a:pPr>
            <a:r>
              <a:rPr lang="ja-JP" altLang="en-US" sz="2000">
                <a:solidFill>
                  <a:schemeClr val="tx1">
                    <a:lumMod val="50000"/>
                    <a:lumOff val="50000"/>
                  </a:schemeClr>
                </a:solidFill>
              </a:rPr>
              <a:t>計算機を使うための思考を計算機と無関係な場面で役立てる計算論的思考を体験する</a:t>
            </a:r>
            <a:endParaRPr lang="ja-GB" sz="2000" dirty="0">
              <a:solidFill>
                <a:schemeClr val="tx1">
                  <a:lumMod val="50000"/>
                  <a:lumOff val="50000"/>
                </a:schemeClr>
              </a:solidFill>
            </a:endParaRPr>
          </a:p>
        </p:txBody>
      </p:sp>
    </p:spTree>
    <p:extLst>
      <p:ext uri="{BB962C8B-B14F-4D97-AF65-F5344CB8AC3E}">
        <p14:creationId xmlns:p14="http://schemas.microsoft.com/office/powerpoint/2010/main" val="14621693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06017-D6BB-2815-2908-BA66154192D9}"/>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EFBF0A7B-B340-BB79-B547-95A3DBC04374}"/>
              </a:ext>
            </a:extLst>
          </p:cNvPr>
          <p:cNvSpPr/>
          <p:nvPr/>
        </p:nvSpPr>
        <p:spPr>
          <a:xfrm>
            <a:off x="0" y="1"/>
            <a:ext cx="9144000" cy="440463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sp>
        <p:nvSpPr>
          <p:cNvPr id="5" name="タイトル 1">
            <a:extLst>
              <a:ext uri="{FF2B5EF4-FFF2-40B4-BE49-F238E27FC236}">
                <a16:creationId xmlns:a16="http://schemas.microsoft.com/office/drawing/2014/main" id="{6731878D-C757-B3F1-A605-43392085A5E4}"/>
              </a:ext>
            </a:extLst>
          </p:cNvPr>
          <p:cNvSpPr>
            <a:spLocks noGrp="1"/>
          </p:cNvSpPr>
          <p:nvPr>
            <p:ph type="ctrTitle"/>
          </p:nvPr>
        </p:nvSpPr>
        <p:spPr>
          <a:xfrm>
            <a:off x="342901" y="1666380"/>
            <a:ext cx="8458198" cy="2738260"/>
          </a:xfrm>
        </p:spPr>
        <p:txBody>
          <a:bodyPr anchor="b">
            <a:normAutofit/>
          </a:bodyPr>
          <a:lstStyle/>
          <a:p>
            <a:pPr algn="l">
              <a:lnSpc>
                <a:spcPct val="100000"/>
              </a:lnSpc>
            </a:pPr>
            <a:r>
              <a:rPr kumimoji="1" lang="en-US" altLang="ja-JP" sz="3200" dirty="0">
                <a:solidFill>
                  <a:schemeClr val="bg1"/>
                </a:solidFill>
              </a:rPr>
              <a:t>2025</a:t>
            </a:r>
            <a:r>
              <a:rPr kumimoji="1" lang="ja-JP" altLang="en-US" sz="3200">
                <a:solidFill>
                  <a:schemeClr val="bg1"/>
                </a:solidFill>
              </a:rPr>
              <a:t>年度</a:t>
            </a:r>
            <a:r>
              <a:rPr lang="en-US" altLang="ja-JP" sz="3200" dirty="0">
                <a:solidFill>
                  <a:schemeClr val="bg1"/>
                </a:solidFill>
              </a:rPr>
              <a:t> </a:t>
            </a:r>
            <a:r>
              <a:rPr kumimoji="1" lang="ja-JP" altLang="en-US" sz="3200">
                <a:solidFill>
                  <a:schemeClr val="bg1"/>
                </a:solidFill>
              </a:rPr>
              <a:t>コンピュータシステム</a:t>
            </a:r>
            <a:br>
              <a:rPr lang="en-US" altLang="ja-JP" sz="3200" dirty="0">
                <a:solidFill>
                  <a:schemeClr val="bg1"/>
                </a:solidFill>
              </a:rPr>
            </a:br>
            <a:r>
              <a:rPr kumimoji="1" lang="ja-GB" altLang="en-US" sz="3200" dirty="0">
                <a:solidFill>
                  <a:schemeClr val="bg1"/>
                </a:solidFill>
              </a:rPr>
              <a:t>第</a:t>
            </a:r>
            <a:r>
              <a:rPr kumimoji="1" lang="en-US" altLang="ja-GB" sz="3200" dirty="0">
                <a:solidFill>
                  <a:schemeClr val="bg1"/>
                </a:solidFill>
              </a:rPr>
              <a:t>1</a:t>
            </a:r>
            <a:r>
              <a:rPr lang="en-US" altLang="ja-GB" sz="3200" dirty="0">
                <a:solidFill>
                  <a:schemeClr val="bg1"/>
                </a:solidFill>
              </a:rPr>
              <a:t>0</a:t>
            </a:r>
            <a:r>
              <a:rPr kumimoji="1" lang="ja-GB" altLang="en-US" sz="3200" dirty="0">
                <a:solidFill>
                  <a:schemeClr val="bg1"/>
                </a:solidFill>
              </a:rPr>
              <a:t>回：計算機の中の情報表現</a:t>
            </a:r>
            <a:br>
              <a:rPr kumimoji="1" lang="en-US" altLang="ja-JP" sz="2400" dirty="0">
                <a:solidFill>
                  <a:schemeClr val="bg1"/>
                </a:solidFill>
              </a:rPr>
            </a:br>
            <a:endParaRPr kumimoji="1" lang="ja-JP" altLang="en-US" sz="2400">
              <a:solidFill>
                <a:schemeClr val="bg1"/>
              </a:solidFill>
            </a:endParaRPr>
          </a:p>
        </p:txBody>
      </p:sp>
    </p:spTree>
    <p:extLst>
      <p:ext uri="{BB962C8B-B14F-4D97-AF65-F5344CB8AC3E}">
        <p14:creationId xmlns:p14="http://schemas.microsoft.com/office/powerpoint/2010/main" val="338062909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1991EB-C306-9DA0-6D60-154F639B14D8}"/>
              </a:ext>
            </a:extLst>
          </p:cNvPr>
          <p:cNvSpPr>
            <a:spLocks noGrp="1"/>
          </p:cNvSpPr>
          <p:nvPr>
            <p:ph type="title"/>
          </p:nvPr>
        </p:nvSpPr>
        <p:spPr/>
        <p:txBody>
          <a:bodyPr/>
          <a:lstStyle/>
          <a:p>
            <a:r>
              <a:rPr kumimoji="1" lang="ja-GB" altLang="en-US"/>
              <a:t>第</a:t>
            </a:r>
            <a:r>
              <a:rPr kumimoji="1" lang="en-US" altLang="ja-GB"/>
              <a:t>10</a:t>
            </a:r>
            <a:r>
              <a:rPr kumimoji="1" lang="ja-GB" altLang="en-US"/>
              <a:t>回：計算機の中の情報表現</a:t>
            </a:r>
          </a:p>
        </p:txBody>
      </p:sp>
      <p:sp>
        <p:nvSpPr>
          <p:cNvPr id="3" name="コンテンツ プレースホルダー 2">
            <a:extLst>
              <a:ext uri="{FF2B5EF4-FFF2-40B4-BE49-F238E27FC236}">
                <a16:creationId xmlns:a16="http://schemas.microsoft.com/office/drawing/2014/main" id="{C9C49ADD-7216-B2D4-A0BE-5420F4C28DF5}"/>
              </a:ext>
            </a:extLst>
          </p:cNvPr>
          <p:cNvSpPr>
            <a:spLocks noGrp="1"/>
          </p:cNvSpPr>
          <p:nvPr>
            <p:ph idx="1"/>
          </p:nvPr>
        </p:nvSpPr>
        <p:spPr/>
        <p:txBody>
          <a:bodyPr/>
          <a:lstStyle/>
          <a:p>
            <a:pPr marL="457200" indent="-457200">
              <a:buFont typeface="+mj-lt"/>
              <a:buAutoNum type="arabicPeriod"/>
            </a:pPr>
            <a:r>
              <a:rPr lang="ja-GB" altLang="en-US"/>
              <a:t>計算機の中の情報表現（基数）</a:t>
            </a:r>
            <a:endParaRPr lang="en-US" altLang="ja-GB"/>
          </a:p>
          <a:p>
            <a:pPr lvl="1"/>
            <a:r>
              <a:rPr kumimoji="1" lang="en-US" altLang="ja-GB"/>
              <a:t>10</a:t>
            </a:r>
            <a:r>
              <a:rPr kumimoji="1" lang="ja-GB" altLang="en-US"/>
              <a:t>進数</a:t>
            </a:r>
            <a:r>
              <a:rPr lang="ja-GB" altLang="en-US"/>
              <a:t>，</a:t>
            </a:r>
            <a:r>
              <a:rPr lang="en-US" altLang="ja-GB"/>
              <a:t>2</a:t>
            </a:r>
            <a:r>
              <a:rPr lang="ja-GB" altLang="en-US"/>
              <a:t>進数，</a:t>
            </a:r>
            <a:r>
              <a:rPr lang="en-US" altLang="ja-GB"/>
              <a:t>16</a:t>
            </a:r>
            <a:r>
              <a:rPr lang="ja-GB" altLang="en-US"/>
              <a:t>進数</a:t>
            </a:r>
            <a:endParaRPr kumimoji="1" lang="en-US" altLang="ja-GB"/>
          </a:p>
          <a:p>
            <a:pPr marL="914400" lvl="1" indent="-457200">
              <a:buFont typeface="+mj-lt"/>
              <a:buAutoNum type="arabicPeriod"/>
            </a:pPr>
            <a:endParaRPr kumimoji="1" lang="en-US" altLang="ja-GB"/>
          </a:p>
          <a:p>
            <a:pPr marL="457200" indent="-457200">
              <a:buFont typeface="+mj-lt"/>
              <a:buAutoNum type="arabicPeriod"/>
            </a:pPr>
            <a:r>
              <a:rPr lang="ja-GB" altLang="en-US"/>
              <a:t>基数表現の使用場面</a:t>
            </a:r>
            <a:endParaRPr kumimoji="1" lang="en-US" altLang="ja-GB"/>
          </a:p>
          <a:p>
            <a:pPr lvl="1"/>
            <a:r>
              <a:rPr kumimoji="1" lang="ja-GB" altLang="en-US"/>
              <a:t>情報の単位（</a:t>
            </a:r>
            <a:r>
              <a:rPr kumimoji="1" lang="en-US" altLang="ja-GB"/>
              <a:t>2</a:t>
            </a:r>
            <a:r>
              <a:rPr kumimoji="1" lang="ja-GB" altLang="en-US"/>
              <a:t>進数），カラーコード（</a:t>
            </a:r>
            <a:r>
              <a:rPr kumimoji="1" lang="en-US" altLang="ja-GB"/>
              <a:t>16</a:t>
            </a:r>
            <a:r>
              <a:rPr kumimoji="1" lang="ja-GB" altLang="en-US"/>
              <a:t>進数）</a:t>
            </a:r>
            <a:endParaRPr kumimoji="1" lang="en-US" altLang="ja-GB"/>
          </a:p>
          <a:p>
            <a:pPr lvl="1"/>
            <a:endParaRPr kumimoji="1" lang="en-US" altLang="ja-GB"/>
          </a:p>
          <a:p>
            <a:pPr marL="457200" indent="-457200">
              <a:buFont typeface="+mj-lt"/>
              <a:buAutoNum type="arabicPeriod"/>
            </a:pPr>
            <a:r>
              <a:rPr lang="ja-GB" altLang="en-US"/>
              <a:t>第</a:t>
            </a:r>
            <a:r>
              <a:rPr lang="en-US" altLang="ja-GB"/>
              <a:t>9</a:t>
            </a:r>
            <a:r>
              <a:rPr lang="ja-GB" altLang="en-US"/>
              <a:t>回</a:t>
            </a:r>
            <a:r>
              <a:rPr lang="en-US" altLang="ja-GB"/>
              <a:t> </a:t>
            </a:r>
            <a:r>
              <a:rPr lang="ja-GB" altLang="en-US"/>
              <a:t>演習の解説</a:t>
            </a:r>
            <a:endParaRPr lang="en-US" altLang="ja-GB"/>
          </a:p>
          <a:p>
            <a:pPr lvl="1"/>
            <a:r>
              <a:rPr kumimoji="1" lang="ja-GB" altLang="en-US"/>
              <a:t>アルゴリズムの動作を理解するときのコツ</a:t>
            </a:r>
            <a:endParaRPr kumimoji="1" lang="en-US" altLang="ja-GB"/>
          </a:p>
          <a:p>
            <a:pPr lvl="1"/>
            <a:r>
              <a:rPr lang="ja-GB" altLang="en-US"/>
              <a:t>線形探索，二分探索，ハノイの塔の解説</a:t>
            </a:r>
            <a:endParaRPr kumimoji="1" lang="ja-GB" altLang="en-US"/>
          </a:p>
        </p:txBody>
      </p:sp>
    </p:spTree>
    <p:extLst>
      <p:ext uri="{BB962C8B-B14F-4D97-AF65-F5344CB8AC3E}">
        <p14:creationId xmlns:p14="http://schemas.microsoft.com/office/powerpoint/2010/main" val="202194177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213E1-92C3-C002-2F19-A326E38E882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BB0DE7-18F9-35DC-8A90-3E822BFB153F}"/>
              </a:ext>
            </a:extLst>
          </p:cNvPr>
          <p:cNvSpPr>
            <a:spLocks noGrp="1"/>
          </p:cNvSpPr>
          <p:nvPr>
            <p:ph type="title"/>
          </p:nvPr>
        </p:nvSpPr>
        <p:spPr/>
        <p:txBody>
          <a:bodyPr/>
          <a:lstStyle/>
          <a:p>
            <a:r>
              <a:rPr kumimoji="1" lang="ja-GB" altLang="en-US"/>
              <a:t>第</a:t>
            </a:r>
            <a:r>
              <a:rPr kumimoji="1" lang="en-US" altLang="ja-GB"/>
              <a:t>10</a:t>
            </a:r>
            <a:r>
              <a:rPr kumimoji="1" lang="ja-GB" altLang="en-US"/>
              <a:t>回：計算機の中の情報表現</a:t>
            </a:r>
          </a:p>
        </p:txBody>
      </p:sp>
      <p:sp>
        <p:nvSpPr>
          <p:cNvPr id="3" name="コンテンツ プレースホルダー 2">
            <a:extLst>
              <a:ext uri="{FF2B5EF4-FFF2-40B4-BE49-F238E27FC236}">
                <a16:creationId xmlns:a16="http://schemas.microsoft.com/office/drawing/2014/main" id="{00CB0234-6EE8-0D1A-F136-6989FFF22C6E}"/>
              </a:ext>
            </a:extLst>
          </p:cNvPr>
          <p:cNvSpPr>
            <a:spLocks noGrp="1"/>
          </p:cNvSpPr>
          <p:nvPr>
            <p:ph idx="1"/>
          </p:nvPr>
        </p:nvSpPr>
        <p:spPr/>
        <p:txBody>
          <a:bodyPr/>
          <a:lstStyle/>
          <a:p>
            <a:pPr marL="457200" indent="-457200">
              <a:buFont typeface="+mj-lt"/>
              <a:buAutoNum type="arabicPeriod"/>
            </a:pPr>
            <a:r>
              <a:rPr lang="ja-GB" altLang="en-US"/>
              <a:t>計算機の中の情報表現（基数）</a:t>
            </a:r>
            <a:endParaRPr lang="en-US" altLang="ja-GB"/>
          </a:p>
          <a:p>
            <a:pPr lvl="1"/>
            <a:r>
              <a:rPr kumimoji="1" lang="en-US" altLang="ja-GB"/>
              <a:t>10</a:t>
            </a:r>
            <a:r>
              <a:rPr kumimoji="1" lang="ja-GB" altLang="en-US"/>
              <a:t>進数</a:t>
            </a:r>
            <a:r>
              <a:rPr lang="ja-GB" altLang="en-US"/>
              <a:t>，</a:t>
            </a:r>
            <a:r>
              <a:rPr lang="en-US" altLang="ja-GB"/>
              <a:t>2</a:t>
            </a:r>
            <a:r>
              <a:rPr lang="ja-GB" altLang="en-US"/>
              <a:t>進数，</a:t>
            </a:r>
            <a:r>
              <a:rPr lang="en-US" altLang="ja-GB"/>
              <a:t>16</a:t>
            </a:r>
            <a:r>
              <a:rPr lang="ja-GB" altLang="en-US"/>
              <a:t>進数</a:t>
            </a:r>
            <a:endParaRPr kumimoji="1" lang="en-US" altLang="ja-GB"/>
          </a:p>
          <a:p>
            <a:pPr marL="914400" lvl="1" indent="-457200">
              <a:buFont typeface="+mj-lt"/>
              <a:buAutoNum type="arabicPeriod"/>
            </a:pPr>
            <a:endParaRPr kumimoji="1" lang="en-US" altLang="ja-GB"/>
          </a:p>
          <a:p>
            <a:pPr marL="457200" indent="-457200">
              <a:buFont typeface="+mj-lt"/>
              <a:buAutoNum type="arabicPeriod"/>
            </a:pPr>
            <a:r>
              <a:rPr lang="ja-GB" altLang="en-US">
                <a:solidFill>
                  <a:schemeClr val="tx1">
                    <a:lumMod val="50000"/>
                    <a:lumOff val="50000"/>
                  </a:schemeClr>
                </a:solidFill>
              </a:rPr>
              <a:t>基数表現の使用場面</a:t>
            </a:r>
            <a:endParaRPr kumimoji="1" lang="en-US" altLang="ja-GB">
              <a:solidFill>
                <a:schemeClr val="tx1">
                  <a:lumMod val="50000"/>
                  <a:lumOff val="50000"/>
                </a:schemeClr>
              </a:solidFill>
            </a:endParaRPr>
          </a:p>
          <a:p>
            <a:pPr lvl="1"/>
            <a:r>
              <a:rPr kumimoji="1" lang="ja-GB" altLang="en-US">
                <a:solidFill>
                  <a:schemeClr val="tx1">
                    <a:lumMod val="50000"/>
                    <a:lumOff val="50000"/>
                  </a:schemeClr>
                </a:solidFill>
              </a:rPr>
              <a:t>情報の単位（</a:t>
            </a:r>
            <a:r>
              <a:rPr kumimoji="1" lang="en-US" altLang="ja-GB">
                <a:solidFill>
                  <a:schemeClr val="tx1">
                    <a:lumMod val="50000"/>
                    <a:lumOff val="50000"/>
                  </a:schemeClr>
                </a:solidFill>
              </a:rPr>
              <a:t>2</a:t>
            </a:r>
            <a:r>
              <a:rPr kumimoji="1" lang="ja-GB" altLang="en-US">
                <a:solidFill>
                  <a:schemeClr val="tx1">
                    <a:lumMod val="50000"/>
                    <a:lumOff val="50000"/>
                  </a:schemeClr>
                </a:solidFill>
              </a:rPr>
              <a:t>進数），カラーコード（</a:t>
            </a:r>
            <a:r>
              <a:rPr kumimoji="1" lang="en-US" altLang="ja-GB">
                <a:solidFill>
                  <a:schemeClr val="tx1">
                    <a:lumMod val="50000"/>
                    <a:lumOff val="50000"/>
                  </a:schemeClr>
                </a:solidFill>
              </a:rPr>
              <a:t>16</a:t>
            </a:r>
            <a:r>
              <a:rPr kumimoji="1" lang="ja-GB" altLang="en-US">
                <a:solidFill>
                  <a:schemeClr val="tx1">
                    <a:lumMod val="50000"/>
                    <a:lumOff val="50000"/>
                  </a:schemeClr>
                </a:solidFill>
              </a:rPr>
              <a:t>進数）</a:t>
            </a:r>
            <a:endParaRPr kumimoji="1" lang="en-US" altLang="ja-GB">
              <a:solidFill>
                <a:schemeClr val="tx1">
                  <a:lumMod val="50000"/>
                  <a:lumOff val="50000"/>
                </a:schemeClr>
              </a:solidFill>
            </a:endParaRPr>
          </a:p>
          <a:p>
            <a:pPr lvl="1"/>
            <a:endParaRPr kumimoji="1" lang="en-US" altLang="ja-GB">
              <a:solidFill>
                <a:schemeClr val="tx1">
                  <a:lumMod val="50000"/>
                  <a:lumOff val="50000"/>
                </a:schemeClr>
              </a:solidFill>
            </a:endParaRPr>
          </a:p>
          <a:p>
            <a:pPr marL="457200" indent="-457200">
              <a:buFont typeface="+mj-lt"/>
              <a:buAutoNum type="arabicPeriod"/>
            </a:pPr>
            <a:r>
              <a:rPr lang="ja-GB" altLang="en-US">
                <a:solidFill>
                  <a:schemeClr val="tx1">
                    <a:lumMod val="50000"/>
                    <a:lumOff val="50000"/>
                  </a:schemeClr>
                </a:solidFill>
              </a:rPr>
              <a:t>第</a:t>
            </a:r>
            <a:r>
              <a:rPr lang="en-US" altLang="ja-GB">
                <a:solidFill>
                  <a:schemeClr val="tx1">
                    <a:lumMod val="50000"/>
                    <a:lumOff val="50000"/>
                  </a:schemeClr>
                </a:solidFill>
              </a:rPr>
              <a:t>9</a:t>
            </a:r>
            <a:r>
              <a:rPr lang="ja-GB" altLang="en-US">
                <a:solidFill>
                  <a:schemeClr val="tx1">
                    <a:lumMod val="50000"/>
                    <a:lumOff val="50000"/>
                  </a:schemeClr>
                </a:solidFill>
              </a:rPr>
              <a:t>回</a:t>
            </a:r>
            <a:r>
              <a:rPr lang="en-US" altLang="ja-GB">
                <a:solidFill>
                  <a:schemeClr val="tx1">
                    <a:lumMod val="50000"/>
                    <a:lumOff val="50000"/>
                  </a:schemeClr>
                </a:solidFill>
              </a:rPr>
              <a:t> </a:t>
            </a:r>
            <a:r>
              <a:rPr lang="ja-GB" altLang="en-US">
                <a:solidFill>
                  <a:schemeClr val="tx1">
                    <a:lumMod val="50000"/>
                    <a:lumOff val="50000"/>
                  </a:schemeClr>
                </a:solidFill>
              </a:rPr>
              <a:t>演習の解説</a:t>
            </a:r>
            <a:endParaRPr lang="en-US" altLang="ja-GB">
              <a:solidFill>
                <a:schemeClr val="tx1">
                  <a:lumMod val="50000"/>
                  <a:lumOff val="50000"/>
                </a:schemeClr>
              </a:solidFill>
            </a:endParaRPr>
          </a:p>
          <a:p>
            <a:pPr lvl="1"/>
            <a:r>
              <a:rPr kumimoji="1" lang="ja-GB" altLang="en-US">
                <a:solidFill>
                  <a:schemeClr val="tx1">
                    <a:lumMod val="50000"/>
                    <a:lumOff val="50000"/>
                  </a:schemeClr>
                </a:solidFill>
              </a:rPr>
              <a:t>アルゴリズムの動作を理解するときのコツ</a:t>
            </a:r>
            <a:endParaRPr kumimoji="1" lang="en-US" altLang="ja-GB">
              <a:solidFill>
                <a:schemeClr val="tx1">
                  <a:lumMod val="50000"/>
                  <a:lumOff val="50000"/>
                </a:schemeClr>
              </a:solidFill>
            </a:endParaRPr>
          </a:p>
          <a:p>
            <a:pPr lvl="1"/>
            <a:r>
              <a:rPr lang="ja-GB" altLang="en-US">
                <a:solidFill>
                  <a:schemeClr val="tx1">
                    <a:lumMod val="50000"/>
                    <a:lumOff val="50000"/>
                  </a:schemeClr>
                </a:solidFill>
              </a:rPr>
              <a:t>線形探索，二分探索，ハノイの塔の解説</a:t>
            </a:r>
            <a:endParaRPr kumimoji="1" lang="ja-GB" altLang="en-US">
              <a:solidFill>
                <a:schemeClr val="tx1">
                  <a:lumMod val="50000"/>
                  <a:lumOff val="50000"/>
                </a:schemeClr>
              </a:solidFill>
            </a:endParaRPr>
          </a:p>
        </p:txBody>
      </p:sp>
    </p:spTree>
    <p:extLst>
      <p:ext uri="{BB962C8B-B14F-4D97-AF65-F5344CB8AC3E}">
        <p14:creationId xmlns:p14="http://schemas.microsoft.com/office/powerpoint/2010/main" val="148783854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0C1F84-4CEB-234A-509A-BEBCC71C04BE}"/>
              </a:ext>
            </a:extLst>
          </p:cNvPr>
          <p:cNvSpPr>
            <a:spLocks noGrp="1"/>
          </p:cNvSpPr>
          <p:nvPr>
            <p:ph type="title"/>
          </p:nvPr>
        </p:nvSpPr>
        <p:spPr/>
        <p:txBody>
          <a:bodyPr/>
          <a:lstStyle/>
          <a:p>
            <a:r>
              <a:rPr kumimoji="1" lang="ja-GB" altLang="en-US"/>
              <a:t>計算機内の情報表現</a:t>
            </a:r>
          </a:p>
        </p:txBody>
      </p:sp>
      <p:sp>
        <p:nvSpPr>
          <p:cNvPr id="3" name="コンテンツ プレースホルダー 2">
            <a:extLst>
              <a:ext uri="{FF2B5EF4-FFF2-40B4-BE49-F238E27FC236}">
                <a16:creationId xmlns:a16="http://schemas.microsoft.com/office/drawing/2014/main" id="{5F172219-C554-A452-8C8F-E756D8AC758D}"/>
              </a:ext>
            </a:extLst>
          </p:cNvPr>
          <p:cNvSpPr>
            <a:spLocks noGrp="1"/>
          </p:cNvSpPr>
          <p:nvPr>
            <p:ph idx="1"/>
          </p:nvPr>
        </p:nvSpPr>
        <p:spPr/>
        <p:txBody>
          <a:bodyPr/>
          <a:lstStyle/>
          <a:p>
            <a:pPr marL="0" indent="0">
              <a:buNone/>
            </a:pPr>
            <a:r>
              <a:rPr kumimoji="1" lang="ja-GB" altLang="en-US"/>
              <a:t>文字，画像，音声</a:t>
            </a:r>
            <a:r>
              <a:rPr lang="ja-GB" altLang="en-US"/>
              <a:t>など様々な情報はすべて数値として表現される</a:t>
            </a:r>
            <a:endParaRPr lang="en-US" altLang="ja-GB"/>
          </a:p>
          <a:p>
            <a:pPr lvl="1"/>
            <a:endParaRPr kumimoji="1" lang="ja-GB" altLang="en-US"/>
          </a:p>
        </p:txBody>
      </p:sp>
      <p:pic>
        <p:nvPicPr>
          <p:cNvPr id="12" name="図 11" descr="グラフ, 折れ線グラフ&#10;&#10;AI によって生成されたコンテンツは間違っている可能性があります。">
            <a:extLst>
              <a:ext uri="{FF2B5EF4-FFF2-40B4-BE49-F238E27FC236}">
                <a16:creationId xmlns:a16="http://schemas.microsoft.com/office/drawing/2014/main" id="{90332A6E-05B3-B5A4-8F0A-F77AE8B6E229}"/>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534595" y="4570241"/>
            <a:ext cx="4378205" cy="1751282"/>
          </a:xfrm>
          <a:prstGeom prst="rect">
            <a:avLst/>
          </a:prstGeom>
        </p:spPr>
      </p:pic>
      <p:grpSp>
        <p:nvGrpSpPr>
          <p:cNvPr id="17" name="グループ化 16">
            <a:extLst>
              <a:ext uri="{FF2B5EF4-FFF2-40B4-BE49-F238E27FC236}">
                <a16:creationId xmlns:a16="http://schemas.microsoft.com/office/drawing/2014/main" id="{A6B24670-5999-F409-66B7-FABAE1E72D0B}"/>
              </a:ext>
            </a:extLst>
          </p:cNvPr>
          <p:cNvGrpSpPr/>
          <p:nvPr/>
        </p:nvGrpSpPr>
        <p:grpSpPr>
          <a:xfrm>
            <a:off x="258212" y="1590203"/>
            <a:ext cx="8571463" cy="1898790"/>
            <a:chOff x="258212" y="4479982"/>
            <a:chExt cx="8571463" cy="1898790"/>
          </a:xfrm>
        </p:grpSpPr>
        <p:sp>
          <p:nvSpPr>
            <p:cNvPr id="13" name="正方形/長方形 12">
              <a:extLst>
                <a:ext uri="{FF2B5EF4-FFF2-40B4-BE49-F238E27FC236}">
                  <a16:creationId xmlns:a16="http://schemas.microsoft.com/office/drawing/2014/main" id="{AB1E0F91-1342-0B2F-69F8-DB9A781DD73B}"/>
                </a:ext>
              </a:extLst>
            </p:cNvPr>
            <p:cNvSpPr/>
            <p:nvPr/>
          </p:nvSpPr>
          <p:spPr>
            <a:xfrm>
              <a:off x="5599108" y="4503361"/>
              <a:ext cx="3230567" cy="172230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GB"/>
            </a:p>
          </p:txBody>
        </p:sp>
        <p:pic>
          <p:nvPicPr>
            <p:cNvPr id="14" name="図 13">
              <a:extLst>
                <a:ext uri="{FF2B5EF4-FFF2-40B4-BE49-F238E27FC236}">
                  <a16:creationId xmlns:a16="http://schemas.microsoft.com/office/drawing/2014/main" id="{EC771372-82AF-6B73-1B1C-032323929D8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58212" y="4479982"/>
              <a:ext cx="5202543" cy="1898790"/>
            </a:xfrm>
            <a:prstGeom prst="rect">
              <a:avLst/>
            </a:prstGeom>
          </p:spPr>
        </p:pic>
        <p:pic>
          <p:nvPicPr>
            <p:cNvPr id="15" name="図 14">
              <a:extLst>
                <a:ext uri="{FF2B5EF4-FFF2-40B4-BE49-F238E27FC236}">
                  <a16:creationId xmlns:a16="http://schemas.microsoft.com/office/drawing/2014/main" id="{BA4836D9-AB55-83F4-B054-BCF0984018A8}"/>
                </a:ext>
              </a:extLst>
            </p:cNvPr>
            <p:cNvPicPr>
              <a:picLocks noChangeAspect="1"/>
            </p:cNvPicPr>
            <p:nvPr/>
          </p:nvPicPr>
          <p:blipFill>
            <a:blip r:embed="rId4"/>
            <a:stretch>
              <a:fillRect/>
            </a:stretch>
          </p:blipFill>
          <p:spPr>
            <a:xfrm>
              <a:off x="7161815" y="4645700"/>
              <a:ext cx="1515355" cy="1515355"/>
            </a:xfrm>
            <a:prstGeom prst="rect">
              <a:avLst/>
            </a:prstGeom>
          </p:spPr>
        </p:pic>
        <p:sp>
          <p:nvSpPr>
            <p:cNvPr id="16" name="テキスト ボックス 15">
              <a:extLst>
                <a:ext uri="{FF2B5EF4-FFF2-40B4-BE49-F238E27FC236}">
                  <a16:creationId xmlns:a16="http://schemas.microsoft.com/office/drawing/2014/main" id="{F01CC00A-8995-3203-BB7E-87042D9B4708}"/>
                </a:ext>
              </a:extLst>
            </p:cNvPr>
            <p:cNvSpPr txBox="1"/>
            <p:nvPr/>
          </p:nvSpPr>
          <p:spPr>
            <a:xfrm>
              <a:off x="5749776" y="4625230"/>
              <a:ext cx="1305165" cy="1600438"/>
            </a:xfrm>
            <a:prstGeom prst="rect">
              <a:avLst/>
            </a:prstGeom>
            <a:noFill/>
          </p:spPr>
          <p:txBody>
            <a:bodyPr wrap="none" rtlCol="0">
              <a:spAutoFit/>
            </a:bodyPr>
            <a:lstStyle/>
            <a:p>
              <a:r>
                <a:rPr lang="ja-GB" sz="1400"/>
                <a:t>0  0  1  1  0  0  0</a:t>
              </a:r>
            </a:p>
            <a:p>
              <a:r>
                <a:rPr lang="ja-GB" sz="1400"/>
                <a:t>0  1  0  0  1  0  0</a:t>
              </a:r>
            </a:p>
            <a:p>
              <a:r>
                <a:rPr lang="ja-GB" sz="1400"/>
                <a:t>0  0  1  1  1  0  0</a:t>
              </a:r>
            </a:p>
            <a:p>
              <a:r>
                <a:rPr lang="ja-GB" sz="1400"/>
                <a:t>0  1  0  0  1  0  0</a:t>
              </a:r>
            </a:p>
            <a:p>
              <a:r>
                <a:rPr lang="ja-GB" sz="1400"/>
                <a:t>0  1  0  0  1  0  0</a:t>
              </a:r>
            </a:p>
            <a:p>
              <a:r>
                <a:rPr lang="ja-GB" sz="1400"/>
                <a:t>0  0  1  1  0  1  0</a:t>
              </a:r>
            </a:p>
            <a:p>
              <a:r>
                <a:rPr lang="ja-GB" sz="1400"/>
                <a:t>0  0  0  0  0  0  0</a:t>
              </a:r>
            </a:p>
          </p:txBody>
        </p:sp>
      </p:grpSp>
      <p:sp>
        <p:nvSpPr>
          <p:cNvPr id="18" name="テキスト ボックス 17">
            <a:extLst>
              <a:ext uri="{FF2B5EF4-FFF2-40B4-BE49-F238E27FC236}">
                <a16:creationId xmlns:a16="http://schemas.microsoft.com/office/drawing/2014/main" id="{0C10392B-C1FD-63FE-327A-6B6367C0E374}"/>
              </a:ext>
            </a:extLst>
          </p:cNvPr>
          <p:cNvSpPr txBox="1"/>
          <p:nvPr/>
        </p:nvSpPr>
        <p:spPr>
          <a:xfrm>
            <a:off x="3325508" y="3515472"/>
            <a:ext cx="2492990" cy="369332"/>
          </a:xfrm>
          <a:prstGeom prst="rect">
            <a:avLst/>
          </a:prstGeom>
          <a:noFill/>
        </p:spPr>
        <p:txBody>
          <a:bodyPr wrap="none" rtlCol="0">
            <a:spAutoFit/>
          </a:bodyPr>
          <a:lstStyle/>
          <a:p>
            <a:pPr algn="ctr"/>
            <a:r>
              <a:rPr kumimoji="1" lang="ja-GB" altLang="en-US" b="1">
                <a:solidFill>
                  <a:srgbClr val="2F2523"/>
                </a:solidFill>
              </a:rPr>
              <a:t>文字コードとフォント</a:t>
            </a:r>
          </a:p>
        </p:txBody>
      </p:sp>
      <p:sp>
        <p:nvSpPr>
          <p:cNvPr id="19" name="テキスト ボックス 18">
            <a:extLst>
              <a:ext uri="{FF2B5EF4-FFF2-40B4-BE49-F238E27FC236}">
                <a16:creationId xmlns:a16="http://schemas.microsoft.com/office/drawing/2014/main" id="{3AC8079E-63C2-2390-9227-85C8DCA94683}"/>
              </a:ext>
            </a:extLst>
          </p:cNvPr>
          <p:cNvSpPr txBox="1"/>
          <p:nvPr/>
        </p:nvSpPr>
        <p:spPr>
          <a:xfrm>
            <a:off x="1427146" y="6277125"/>
            <a:ext cx="1338829" cy="369332"/>
          </a:xfrm>
          <a:prstGeom prst="rect">
            <a:avLst/>
          </a:prstGeom>
          <a:noFill/>
        </p:spPr>
        <p:txBody>
          <a:bodyPr wrap="none" rtlCol="0">
            <a:spAutoFit/>
          </a:bodyPr>
          <a:lstStyle/>
          <a:p>
            <a:pPr algn="ctr"/>
            <a:r>
              <a:rPr kumimoji="1" lang="ja-GB" altLang="en-US" b="1">
                <a:solidFill>
                  <a:srgbClr val="2F2523"/>
                </a:solidFill>
              </a:rPr>
              <a:t>画像データ</a:t>
            </a:r>
          </a:p>
        </p:txBody>
      </p:sp>
      <p:sp>
        <p:nvSpPr>
          <p:cNvPr id="20" name="テキスト ボックス 19">
            <a:extLst>
              <a:ext uri="{FF2B5EF4-FFF2-40B4-BE49-F238E27FC236}">
                <a16:creationId xmlns:a16="http://schemas.microsoft.com/office/drawing/2014/main" id="{263FB391-C84E-057A-F6CB-45DFAF5F5F66}"/>
              </a:ext>
            </a:extLst>
          </p:cNvPr>
          <p:cNvSpPr txBox="1"/>
          <p:nvPr/>
        </p:nvSpPr>
        <p:spPr>
          <a:xfrm>
            <a:off x="5708038" y="6274023"/>
            <a:ext cx="2031325" cy="615553"/>
          </a:xfrm>
          <a:prstGeom prst="rect">
            <a:avLst/>
          </a:prstGeom>
          <a:noFill/>
        </p:spPr>
        <p:txBody>
          <a:bodyPr wrap="none" rtlCol="0">
            <a:spAutoFit/>
          </a:bodyPr>
          <a:lstStyle/>
          <a:p>
            <a:pPr algn="ctr"/>
            <a:r>
              <a:rPr kumimoji="1" lang="ja-GB" altLang="en-US" b="1">
                <a:solidFill>
                  <a:srgbClr val="2F2523"/>
                </a:solidFill>
              </a:rPr>
              <a:t>音声波形の数列化</a:t>
            </a:r>
            <a:endParaRPr kumimoji="1" lang="en-US" altLang="ja-GB" b="1">
              <a:solidFill>
                <a:srgbClr val="2F2523"/>
              </a:solidFill>
            </a:endParaRPr>
          </a:p>
          <a:p>
            <a:pPr algn="ctr"/>
            <a:r>
              <a:rPr kumimoji="1" lang="ja-GB" altLang="en-US" sz="1600" b="1">
                <a:solidFill>
                  <a:schemeClr val="tx1">
                    <a:lumMod val="50000"/>
                    <a:lumOff val="50000"/>
                  </a:schemeClr>
                </a:solidFill>
              </a:rPr>
              <a:t>（後で説明）</a:t>
            </a:r>
          </a:p>
        </p:txBody>
      </p:sp>
      <p:sp>
        <p:nvSpPr>
          <p:cNvPr id="21" name="テキスト ボックス 20">
            <a:extLst>
              <a:ext uri="{FF2B5EF4-FFF2-40B4-BE49-F238E27FC236}">
                <a16:creationId xmlns:a16="http://schemas.microsoft.com/office/drawing/2014/main" id="{B217C1E1-F711-574B-DAF9-06E04BC90BD6}"/>
              </a:ext>
            </a:extLst>
          </p:cNvPr>
          <p:cNvSpPr txBox="1"/>
          <p:nvPr/>
        </p:nvSpPr>
        <p:spPr>
          <a:xfrm>
            <a:off x="175656" y="4602632"/>
            <a:ext cx="2317656" cy="1569660"/>
          </a:xfrm>
          <a:prstGeom prst="rect">
            <a:avLst/>
          </a:prstGeom>
          <a:noFill/>
        </p:spPr>
        <p:txBody>
          <a:bodyPr wrap="square" rtlCol="0">
            <a:spAutoFit/>
          </a:bodyPr>
          <a:lstStyle/>
          <a:p>
            <a:pPr algn="l"/>
            <a:r>
              <a:rPr lang="en-GB" sz="1200">
                <a:solidFill>
                  <a:srgbClr val="000000"/>
                </a:solidFill>
                <a:latin typeface="ui-monospace"/>
              </a:rPr>
              <a:t>00</a:t>
            </a:r>
            <a:r>
              <a:rPr lang="en-GB" sz="1200" b="0" i="0">
                <a:solidFill>
                  <a:srgbClr val="000000"/>
                </a:solidFill>
                <a:effectLst/>
                <a:latin typeface="ui-monospace"/>
              </a:rPr>
              <a:t>0 030 060 090 120 150 180 210 </a:t>
            </a:r>
          </a:p>
          <a:p>
            <a:pPr algn="l"/>
            <a:r>
              <a:rPr lang="en-GB" sz="1200">
                <a:solidFill>
                  <a:srgbClr val="000000"/>
                </a:solidFill>
                <a:latin typeface="ui-monospace"/>
              </a:rPr>
              <a:t>0</a:t>
            </a:r>
            <a:r>
              <a:rPr lang="en-GB" sz="1200" b="0" i="0">
                <a:solidFill>
                  <a:srgbClr val="000000"/>
                </a:solidFill>
                <a:effectLst/>
                <a:latin typeface="ui-monospace"/>
              </a:rPr>
              <a:t>30 060 090 120 150 180 210 240 </a:t>
            </a:r>
          </a:p>
          <a:p>
            <a:pPr algn="l"/>
            <a:r>
              <a:rPr lang="en-GB" sz="1200">
                <a:solidFill>
                  <a:srgbClr val="000000"/>
                </a:solidFill>
                <a:latin typeface="ui-monospace"/>
              </a:rPr>
              <a:t>0</a:t>
            </a:r>
            <a:r>
              <a:rPr lang="en-GB" sz="1200" b="0" i="0">
                <a:solidFill>
                  <a:srgbClr val="000000"/>
                </a:solidFill>
                <a:effectLst/>
                <a:latin typeface="ui-monospace"/>
              </a:rPr>
              <a:t>60 090 120 150 180 210 240 255 </a:t>
            </a:r>
          </a:p>
          <a:p>
            <a:pPr algn="l"/>
            <a:r>
              <a:rPr lang="en-GB" sz="1200">
                <a:solidFill>
                  <a:srgbClr val="000000"/>
                </a:solidFill>
                <a:latin typeface="ui-monospace"/>
              </a:rPr>
              <a:t>0</a:t>
            </a:r>
            <a:r>
              <a:rPr lang="en-GB" sz="1200" b="0" i="0">
                <a:solidFill>
                  <a:srgbClr val="000000"/>
                </a:solidFill>
                <a:effectLst/>
                <a:latin typeface="ui-monospace"/>
              </a:rPr>
              <a:t>90 120 150 180 210 240 255 225 </a:t>
            </a:r>
          </a:p>
          <a:p>
            <a:pPr algn="l"/>
            <a:r>
              <a:rPr lang="en-GB" sz="1200" b="0" i="0">
                <a:solidFill>
                  <a:srgbClr val="000000"/>
                </a:solidFill>
                <a:effectLst/>
                <a:latin typeface="ui-monospace"/>
              </a:rPr>
              <a:t>120 150 180 210 240 255 225 195 </a:t>
            </a:r>
          </a:p>
          <a:p>
            <a:pPr algn="l"/>
            <a:r>
              <a:rPr lang="en-GB" sz="1200" b="0" i="0">
                <a:solidFill>
                  <a:srgbClr val="000000"/>
                </a:solidFill>
                <a:effectLst/>
                <a:latin typeface="ui-monospace"/>
              </a:rPr>
              <a:t>150 180 210 240 255 225 195 165 </a:t>
            </a:r>
          </a:p>
          <a:p>
            <a:pPr algn="l"/>
            <a:r>
              <a:rPr lang="en-GB" sz="1200" b="0" i="0">
                <a:solidFill>
                  <a:srgbClr val="000000"/>
                </a:solidFill>
                <a:effectLst/>
                <a:latin typeface="ui-monospace"/>
              </a:rPr>
              <a:t>180 210 240 255 225 195 165 135 </a:t>
            </a:r>
          </a:p>
          <a:p>
            <a:pPr algn="l"/>
            <a:r>
              <a:rPr lang="en-GB" sz="1200" b="0" i="0">
                <a:solidFill>
                  <a:srgbClr val="000000"/>
                </a:solidFill>
                <a:effectLst/>
                <a:latin typeface="ui-monospace"/>
              </a:rPr>
              <a:t>210 240 255 225 195 165 135 105</a:t>
            </a:r>
          </a:p>
        </p:txBody>
      </p:sp>
      <p:pic>
        <p:nvPicPr>
          <p:cNvPr id="22" name="Picture 2">
            <a:extLst>
              <a:ext uri="{FF2B5EF4-FFF2-40B4-BE49-F238E27FC236}">
                <a16:creationId xmlns:a16="http://schemas.microsoft.com/office/drawing/2014/main" id="{DB50D5F8-C3AE-B176-4B29-7438EC9C7910}"/>
              </a:ext>
            </a:extLst>
          </p:cNvPr>
          <p:cNvPicPr>
            <a:picLocks noChangeAspect="1" noChangeArrowheads="1"/>
          </p:cNvPicPr>
          <p:nvPr/>
        </p:nvPicPr>
        <p:blipFill rotWithShape="1">
          <a:blip r:embed="rId5" cstate="print">
            <a:extLst>
              <a:ext uri="{28A0092B-C50C-407E-A947-70E740481C1C}">
                <a14:useLocalDpi xmlns:a14="http://schemas.microsoft.com/office/drawing/2010/main"/>
              </a:ext>
            </a:extLst>
          </a:blip>
          <a:srcRect/>
          <a:stretch/>
        </p:blipFill>
        <p:spPr bwMode="auto">
          <a:xfrm>
            <a:off x="2493312" y="4599187"/>
            <a:ext cx="1461655" cy="1459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165617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45C775-D02F-70F1-B0C5-810C570E40A7}"/>
              </a:ext>
            </a:extLst>
          </p:cNvPr>
          <p:cNvSpPr>
            <a:spLocks noGrp="1"/>
          </p:cNvSpPr>
          <p:nvPr>
            <p:ph type="title"/>
          </p:nvPr>
        </p:nvSpPr>
        <p:spPr/>
        <p:txBody>
          <a:bodyPr>
            <a:normAutofit fontScale="90000"/>
          </a:bodyPr>
          <a:lstStyle/>
          <a:p>
            <a:r>
              <a:rPr kumimoji="1" lang="ja-GB" altLang="en-US"/>
              <a:t>数値化された情報はどのように計算機に入っているか？</a:t>
            </a:r>
          </a:p>
        </p:txBody>
      </p:sp>
      <p:sp>
        <p:nvSpPr>
          <p:cNvPr id="3" name="コンテンツ プレースホルダー 2">
            <a:extLst>
              <a:ext uri="{FF2B5EF4-FFF2-40B4-BE49-F238E27FC236}">
                <a16:creationId xmlns:a16="http://schemas.microsoft.com/office/drawing/2014/main" id="{D519CC0B-232F-D386-7349-AD38F9E14ED4}"/>
              </a:ext>
            </a:extLst>
          </p:cNvPr>
          <p:cNvSpPr>
            <a:spLocks noGrp="1"/>
          </p:cNvSpPr>
          <p:nvPr>
            <p:ph idx="1"/>
          </p:nvPr>
        </p:nvSpPr>
        <p:spPr/>
        <p:txBody>
          <a:bodyPr/>
          <a:lstStyle/>
          <a:p>
            <a:pPr marL="0" indent="0">
              <a:buNone/>
            </a:pPr>
            <a:r>
              <a:rPr lang="ja-GB" altLang="en-US"/>
              <a:t>ハードウェアの中で物理的に表現される</a:t>
            </a:r>
            <a:endParaRPr lang="en-US" altLang="ja-GB"/>
          </a:p>
          <a:p>
            <a:pPr marL="457200" lvl="1" indent="0">
              <a:buNone/>
            </a:pPr>
            <a:r>
              <a:rPr lang="ja-GB" altLang="en-US">
                <a:solidFill>
                  <a:srgbClr val="0070C0"/>
                </a:solidFill>
              </a:rPr>
              <a:t>　計算機の設計によって色々な表現が可能</a:t>
            </a:r>
            <a:endParaRPr lang="en-US" altLang="ja-GB">
              <a:solidFill>
                <a:srgbClr val="0070C0"/>
              </a:solidFill>
            </a:endParaRPr>
          </a:p>
          <a:p>
            <a:pPr marL="914400" lvl="2" indent="0">
              <a:buNone/>
            </a:pPr>
            <a:r>
              <a:rPr kumimoji="1" lang="ja-GB" altLang="en-US">
                <a:solidFill>
                  <a:srgbClr val="2F2523"/>
                </a:solidFill>
              </a:rPr>
              <a:t>例：</a:t>
            </a:r>
            <a:r>
              <a:rPr kumimoji="1" lang="en-US" altLang="ja-GB">
                <a:solidFill>
                  <a:srgbClr val="2F2523"/>
                </a:solidFill>
              </a:rPr>
              <a:t>ENIAC</a:t>
            </a:r>
            <a:r>
              <a:rPr kumimoji="1" lang="ja-GB" altLang="en-US">
                <a:solidFill>
                  <a:srgbClr val="2F2523"/>
                </a:solidFill>
              </a:rPr>
              <a:t>は</a:t>
            </a:r>
            <a:r>
              <a:rPr kumimoji="1" lang="en-US" altLang="ja-GB">
                <a:solidFill>
                  <a:srgbClr val="2F2523"/>
                </a:solidFill>
              </a:rPr>
              <a:t>10</a:t>
            </a:r>
            <a:r>
              <a:rPr kumimoji="1" lang="ja-GB" altLang="en-US">
                <a:solidFill>
                  <a:srgbClr val="2F2523"/>
                </a:solidFill>
              </a:rPr>
              <a:t>進数，アナログ時計は</a:t>
            </a:r>
            <a:r>
              <a:rPr lang="en-US" altLang="ja-GB">
                <a:solidFill>
                  <a:srgbClr val="2F2523"/>
                </a:solidFill>
              </a:rPr>
              <a:t>12</a:t>
            </a:r>
            <a:r>
              <a:rPr lang="ja-GB" altLang="en-US">
                <a:solidFill>
                  <a:srgbClr val="2F2523"/>
                </a:solidFill>
              </a:rPr>
              <a:t>進数と</a:t>
            </a:r>
            <a:r>
              <a:rPr lang="en-US" altLang="ja-GB">
                <a:solidFill>
                  <a:srgbClr val="2F2523"/>
                </a:solidFill>
              </a:rPr>
              <a:t>60</a:t>
            </a:r>
            <a:r>
              <a:rPr lang="ja-GB" altLang="en-US">
                <a:solidFill>
                  <a:srgbClr val="2F2523"/>
                </a:solidFill>
              </a:rPr>
              <a:t>進数の併用</a:t>
            </a:r>
            <a:endParaRPr lang="en-US" altLang="ja-GB">
              <a:solidFill>
                <a:srgbClr val="2F2523"/>
              </a:solidFill>
            </a:endParaRPr>
          </a:p>
          <a:p>
            <a:pPr marL="457200" lvl="1" indent="0">
              <a:buNone/>
            </a:pPr>
            <a:endParaRPr lang="ja-GB" altLang="en-US">
              <a:solidFill>
                <a:srgbClr val="2F2523"/>
              </a:solidFill>
            </a:endParaRPr>
          </a:p>
          <a:p>
            <a:pPr marL="0" indent="0" algn="ctr">
              <a:buNone/>
            </a:pPr>
            <a:endParaRPr kumimoji="1" lang="ja-GB" altLang="en-US">
              <a:solidFill>
                <a:srgbClr val="2F2523"/>
              </a:solidFill>
            </a:endParaRPr>
          </a:p>
        </p:txBody>
      </p:sp>
      <p:grpSp>
        <p:nvGrpSpPr>
          <p:cNvPr id="11" name="グループ化 10">
            <a:extLst>
              <a:ext uri="{FF2B5EF4-FFF2-40B4-BE49-F238E27FC236}">
                <a16:creationId xmlns:a16="http://schemas.microsoft.com/office/drawing/2014/main" id="{4C1DB1B0-C4FE-0B1C-4ADA-D5EC2A16CCAA}"/>
              </a:ext>
            </a:extLst>
          </p:cNvPr>
          <p:cNvGrpSpPr/>
          <p:nvPr/>
        </p:nvGrpSpPr>
        <p:grpSpPr>
          <a:xfrm>
            <a:off x="836839" y="2942112"/>
            <a:ext cx="6925374" cy="2631428"/>
            <a:chOff x="753712" y="3001489"/>
            <a:chExt cx="6925374" cy="2631428"/>
          </a:xfrm>
        </p:grpSpPr>
        <p:pic>
          <p:nvPicPr>
            <p:cNvPr id="6" name="図 5" descr="そろばんが並んでいる&#10;&#10;AI によって生成されたコンテンツは間違っている可能性があります。">
              <a:extLst>
                <a:ext uri="{FF2B5EF4-FFF2-40B4-BE49-F238E27FC236}">
                  <a16:creationId xmlns:a16="http://schemas.microsoft.com/office/drawing/2014/main" id="{BCC5566A-1D81-0B32-4CBA-8BCEB140C340}"/>
                </a:ext>
              </a:extLst>
            </p:cNvPr>
            <p:cNvPicPr>
              <a:picLocks noChangeAspect="1"/>
            </p:cNvPicPr>
            <p:nvPr/>
          </p:nvPicPr>
          <p:blipFill>
            <a:blip r:embed="rId2"/>
            <a:stretch>
              <a:fillRect/>
            </a:stretch>
          </p:blipFill>
          <p:spPr>
            <a:xfrm>
              <a:off x="1176031" y="3001489"/>
              <a:ext cx="2776856" cy="1848345"/>
            </a:xfrm>
            <a:prstGeom prst="rect">
              <a:avLst/>
            </a:prstGeom>
            <a:ln>
              <a:noFill/>
            </a:ln>
            <a:effectLst>
              <a:outerShdw blurRad="292100" dist="139700" dir="2700000" algn="tl" rotWithShape="0">
                <a:srgbClr val="333333">
                  <a:alpha val="65000"/>
                </a:srgbClr>
              </a:outerShdw>
            </a:effectLst>
          </p:spPr>
        </p:pic>
        <p:sp>
          <p:nvSpPr>
            <p:cNvPr id="7" name="テキスト ボックス 6">
              <a:extLst>
                <a:ext uri="{FF2B5EF4-FFF2-40B4-BE49-F238E27FC236}">
                  <a16:creationId xmlns:a16="http://schemas.microsoft.com/office/drawing/2014/main" id="{2DA29F69-8A6B-F40C-963D-8CF8DA805BE8}"/>
                </a:ext>
              </a:extLst>
            </p:cNvPr>
            <p:cNvSpPr txBox="1"/>
            <p:nvPr/>
          </p:nvSpPr>
          <p:spPr>
            <a:xfrm>
              <a:off x="753712" y="5048142"/>
              <a:ext cx="3621504" cy="584775"/>
            </a:xfrm>
            <a:prstGeom prst="rect">
              <a:avLst/>
            </a:prstGeom>
            <a:noFill/>
          </p:spPr>
          <p:txBody>
            <a:bodyPr wrap="none" rtlCol="0">
              <a:spAutoFit/>
            </a:bodyPr>
            <a:lstStyle/>
            <a:p>
              <a:pPr algn="ctr"/>
              <a:r>
                <a:rPr kumimoji="1" lang="ja-GB" altLang="en-US" b="1">
                  <a:solidFill>
                    <a:srgbClr val="2F2523"/>
                  </a:solidFill>
                </a:rPr>
                <a:t>そろばん：二・五進法</a:t>
              </a:r>
              <a:endParaRPr kumimoji="1" lang="en-US" altLang="ja-GB" b="1">
                <a:solidFill>
                  <a:srgbClr val="2F2523"/>
                </a:solidFill>
              </a:endParaRPr>
            </a:p>
            <a:p>
              <a:pPr algn="ctr"/>
              <a:r>
                <a:rPr kumimoji="1" lang="en-US" altLang="ja-GB" sz="1400" b="1">
                  <a:solidFill>
                    <a:srgbClr val="2F2523"/>
                  </a:solidFill>
                </a:rPr>
                <a:t>(+5</a:t>
              </a:r>
              <a:r>
                <a:rPr kumimoji="1" lang="ja-GB" altLang="en-US" sz="1400" b="1">
                  <a:solidFill>
                    <a:srgbClr val="2F2523"/>
                  </a:solidFill>
                </a:rPr>
                <a:t>で一段階進み，</a:t>
              </a:r>
              <a:r>
                <a:rPr kumimoji="1" lang="en-US" altLang="ja-GB" sz="1400" b="1">
                  <a:solidFill>
                    <a:srgbClr val="2F2523"/>
                  </a:solidFill>
                </a:rPr>
                <a:t>2</a:t>
              </a:r>
              <a:r>
                <a:rPr kumimoji="1" lang="ja-GB" altLang="en-US" sz="1400" b="1">
                  <a:solidFill>
                    <a:srgbClr val="2F2523"/>
                  </a:solidFill>
                </a:rPr>
                <a:t>段階進むと桁が上がる</a:t>
              </a:r>
              <a:r>
                <a:rPr kumimoji="1" lang="en-US" altLang="ja-GB" sz="1400" b="1">
                  <a:solidFill>
                    <a:srgbClr val="2F2523"/>
                  </a:solidFill>
                </a:rPr>
                <a:t>)</a:t>
              </a:r>
              <a:endParaRPr kumimoji="1" lang="ja-GB" altLang="en-US" sz="1400" b="1">
                <a:solidFill>
                  <a:srgbClr val="2F2523"/>
                </a:solidFill>
              </a:endParaRPr>
            </a:p>
          </p:txBody>
        </p:sp>
        <p:pic>
          <p:nvPicPr>
            <p:cNvPr id="9" name="図 8" descr="ドアのノブ&#10;&#10;AI によって生成されたコンテンツは間違っている可能性があります。">
              <a:extLst>
                <a:ext uri="{FF2B5EF4-FFF2-40B4-BE49-F238E27FC236}">
                  <a16:creationId xmlns:a16="http://schemas.microsoft.com/office/drawing/2014/main" id="{6342E26D-562B-CE5A-D966-F4EC771C18E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129826" y="3001489"/>
              <a:ext cx="2464460" cy="1848345"/>
            </a:xfrm>
            <a:prstGeom prst="rect">
              <a:avLst/>
            </a:prstGeom>
            <a:ln>
              <a:noFill/>
            </a:ln>
            <a:effectLst>
              <a:outerShdw blurRad="292100" dist="139700" dir="2700000" algn="tl" rotWithShape="0">
                <a:srgbClr val="333333">
                  <a:alpha val="65000"/>
                </a:srgbClr>
              </a:outerShdw>
            </a:effectLst>
          </p:spPr>
        </p:pic>
        <p:sp>
          <p:nvSpPr>
            <p:cNvPr id="10" name="テキスト ボックス 9">
              <a:extLst>
                <a:ext uri="{FF2B5EF4-FFF2-40B4-BE49-F238E27FC236}">
                  <a16:creationId xmlns:a16="http://schemas.microsoft.com/office/drawing/2014/main" id="{7065E93B-D8BD-01C6-B760-F716DD23A64D}"/>
                </a:ext>
              </a:extLst>
            </p:cNvPr>
            <p:cNvSpPr txBox="1"/>
            <p:nvPr/>
          </p:nvSpPr>
          <p:spPr>
            <a:xfrm>
              <a:off x="5045032" y="5048142"/>
              <a:ext cx="2634054" cy="584775"/>
            </a:xfrm>
            <a:prstGeom prst="rect">
              <a:avLst/>
            </a:prstGeom>
            <a:noFill/>
          </p:spPr>
          <p:txBody>
            <a:bodyPr wrap="none" rtlCol="0">
              <a:spAutoFit/>
            </a:bodyPr>
            <a:lstStyle/>
            <a:p>
              <a:pPr algn="ctr"/>
              <a:r>
                <a:rPr kumimoji="1" lang="ja-GB" altLang="en-US" b="1">
                  <a:solidFill>
                    <a:srgbClr val="2F2523"/>
                  </a:solidFill>
                </a:rPr>
                <a:t>スイッチ：二進数</a:t>
              </a:r>
              <a:endParaRPr kumimoji="1" lang="en-US" altLang="ja-GB" b="1">
                <a:solidFill>
                  <a:srgbClr val="2F2523"/>
                </a:solidFill>
              </a:endParaRPr>
            </a:p>
            <a:p>
              <a:pPr algn="ctr"/>
              <a:r>
                <a:rPr kumimoji="1" lang="en-US" altLang="ja-GB" sz="1400" b="1">
                  <a:solidFill>
                    <a:srgbClr val="2F2523"/>
                  </a:solidFill>
                </a:rPr>
                <a:t>(0</a:t>
              </a:r>
              <a:r>
                <a:rPr kumimoji="1" lang="ja-GB" altLang="en-US" sz="1400" b="1">
                  <a:solidFill>
                    <a:srgbClr val="2F2523"/>
                  </a:solidFill>
                </a:rPr>
                <a:t>と</a:t>
              </a:r>
              <a:r>
                <a:rPr kumimoji="1" lang="en-US" altLang="ja-GB" sz="1400" b="1">
                  <a:solidFill>
                    <a:srgbClr val="2F2523"/>
                  </a:solidFill>
                </a:rPr>
                <a:t>1</a:t>
              </a:r>
              <a:r>
                <a:rPr kumimoji="1" lang="ja-GB" altLang="en-US" sz="1400" b="1">
                  <a:solidFill>
                    <a:srgbClr val="2F2523"/>
                  </a:solidFill>
                </a:rPr>
                <a:t>の二つの状態のみ表せる</a:t>
              </a:r>
              <a:r>
                <a:rPr kumimoji="1" lang="en-US" altLang="ja-GB" sz="1400" b="1">
                  <a:solidFill>
                    <a:srgbClr val="2F2523"/>
                  </a:solidFill>
                </a:rPr>
                <a:t>)</a:t>
              </a:r>
              <a:endParaRPr kumimoji="1" lang="ja-GB" altLang="en-US" sz="1400" b="1">
                <a:solidFill>
                  <a:srgbClr val="2F2523"/>
                </a:solidFill>
              </a:endParaRPr>
            </a:p>
          </p:txBody>
        </p:sp>
      </p:grpSp>
    </p:spTree>
    <p:extLst>
      <p:ext uri="{BB962C8B-B14F-4D97-AF65-F5344CB8AC3E}">
        <p14:creationId xmlns:p14="http://schemas.microsoft.com/office/powerpoint/2010/main" val="127291331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47534-26A5-0BBE-3CED-E021A195A3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2DC8B8-7270-3F42-D7CC-3EB2DB11ABD2}"/>
              </a:ext>
            </a:extLst>
          </p:cNvPr>
          <p:cNvSpPr>
            <a:spLocks noGrp="1"/>
          </p:cNvSpPr>
          <p:nvPr>
            <p:ph type="title"/>
          </p:nvPr>
        </p:nvSpPr>
        <p:spPr/>
        <p:txBody>
          <a:bodyPr>
            <a:normAutofit fontScale="90000"/>
          </a:bodyPr>
          <a:lstStyle/>
          <a:p>
            <a:r>
              <a:rPr kumimoji="1" lang="ja-GB" altLang="en-US"/>
              <a:t>数値化された情報はどのように計算機に入っているか？</a:t>
            </a:r>
          </a:p>
        </p:txBody>
      </p:sp>
      <p:sp>
        <p:nvSpPr>
          <p:cNvPr id="3" name="コンテンツ プレースホルダー 2">
            <a:extLst>
              <a:ext uri="{FF2B5EF4-FFF2-40B4-BE49-F238E27FC236}">
                <a16:creationId xmlns:a16="http://schemas.microsoft.com/office/drawing/2014/main" id="{4E1CDAF3-F222-FD42-E924-1880E28BEEB3}"/>
              </a:ext>
            </a:extLst>
          </p:cNvPr>
          <p:cNvSpPr>
            <a:spLocks noGrp="1"/>
          </p:cNvSpPr>
          <p:nvPr>
            <p:ph idx="1"/>
          </p:nvPr>
        </p:nvSpPr>
        <p:spPr/>
        <p:txBody>
          <a:bodyPr/>
          <a:lstStyle/>
          <a:p>
            <a:pPr marL="0" indent="0">
              <a:buNone/>
            </a:pPr>
            <a:r>
              <a:rPr kumimoji="1" lang="ja-GB" altLang="en-US"/>
              <a:t>現在の電子計算機では，</a:t>
            </a:r>
            <a:r>
              <a:rPr kumimoji="1" lang="en-US" altLang="ja-GB"/>
              <a:t>2</a:t>
            </a:r>
            <a:r>
              <a:rPr kumimoji="1" lang="ja-GB" altLang="en-US"/>
              <a:t>進数のデジタル表現が標準的</a:t>
            </a:r>
            <a:endParaRPr kumimoji="1" lang="en-US" altLang="ja-GB"/>
          </a:p>
          <a:p>
            <a:pPr lvl="1"/>
            <a:r>
              <a:rPr lang="ja-GB" altLang="en-US">
                <a:solidFill>
                  <a:srgbClr val="2F2523"/>
                </a:solidFill>
              </a:rPr>
              <a:t>あらゆる情報（数値）は</a:t>
            </a:r>
            <a:r>
              <a:rPr lang="ja-GB" altLang="en-US">
                <a:solidFill>
                  <a:srgbClr val="0070C0"/>
                </a:solidFill>
              </a:rPr>
              <a:t>デジタル化</a:t>
            </a:r>
            <a:r>
              <a:rPr lang="ja-GB" altLang="en-US">
                <a:solidFill>
                  <a:srgbClr val="2F2523"/>
                </a:solidFill>
              </a:rPr>
              <a:t>されて離散的に近似される</a:t>
            </a:r>
            <a:endParaRPr lang="en-US" altLang="ja-GB">
              <a:solidFill>
                <a:srgbClr val="2F2523"/>
              </a:solidFill>
            </a:endParaRPr>
          </a:p>
          <a:p>
            <a:pPr lvl="1"/>
            <a:r>
              <a:rPr lang="ja-GB" altLang="en-US">
                <a:solidFill>
                  <a:srgbClr val="2F2523"/>
                </a:solidFill>
              </a:rPr>
              <a:t>あらゆる情報（数値）は</a:t>
            </a:r>
            <a:r>
              <a:rPr lang="en-US" altLang="ja-GB">
                <a:solidFill>
                  <a:srgbClr val="0070C0"/>
                </a:solidFill>
              </a:rPr>
              <a:t>2</a:t>
            </a:r>
            <a:r>
              <a:rPr lang="ja-GB" altLang="en-US">
                <a:solidFill>
                  <a:srgbClr val="0070C0"/>
                </a:solidFill>
              </a:rPr>
              <a:t>進数で表現</a:t>
            </a:r>
            <a:r>
              <a:rPr lang="ja-GB" altLang="en-US">
                <a:solidFill>
                  <a:srgbClr val="2F2523"/>
                </a:solidFill>
              </a:rPr>
              <a:t>されて</a:t>
            </a:r>
            <a:r>
              <a:rPr lang="en-US" altLang="ja-GB">
                <a:solidFill>
                  <a:srgbClr val="2F2523"/>
                </a:solidFill>
              </a:rPr>
              <a:t>0</a:t>
            </a:r>
            <a:r>
              <a:rPr lang="ja-GB" altLang="en-US">
                <a:solidFill>
                  <a:srgbClr val="2F2523"/>
                </a:solidFill>
              </a:rPr>
              <a:t>と</a:t>
            </a:r>
            <a:r>
              <a:rPr lang="en-US" altLang="ja-GB">
                <a:solidFill>
                  <a:srgbClr val="2F2523"/>
                </a:solidFill>
              </a:rPr>
              <a:t>1</a:t>
            </a:r>
            <a:r>
              <a:rPr lang="ja-GB" altLang="en-US">
                <a:solidFill>
                  <a:srgbClr val="2F2523"/>
                </a:solidFill>
              </a:rPr>
              <a:t>のみで記述される</a:t>
            </a:r>
            <a:endParaRPr lang="en-US" altLang="ja-GB">
              <a:solidFill>
                <a:srgbClr val="2F2523"/>
              </a:solidFill>
            </a:endParaRPr>
          </a:p>
          <a:p>
            <a:pPr lvl="2"/>
            <a:endParaRPr lang="ja-GB" altLang="en-US">
              <a:solidFill>
                <a:srgbClr val="2F2523"/>
              </a:solidFill>
            </a:endParaRPr>
          </a:p>
          <a:p>
            <a:pPr marL="0" indent="0" algn="ctr">
              <a:buNone/>
            </a:pPr>
            <a:endParaRPr kumimoji="1" lang="ja-GB" altLang="en-US">
              <a:solidFill>
                <a:srgbClr val="2F2523"/>
              </a:solidFill>
            </a:endParaRPr>
          </a:p>
        </p:txBody>
      </p:sp>
      <p:pic>
        <p:nvPicPr>
          <p:cNvPr id="16" name="コンテンツ プレースホルダー 22" descr="キーボードとマウス&#10;&#10;AI によって生成されたコンテンツは間違っている可能性があります。">
            <a:extLst>
              <a:ext uri="{FF2B5EF4-FFF2-40B4-BE49-F238E27FC236}">
                <a16:creationId xmlns:a16="http://schemas.microsoft.com/office/drawing/2014/main" id="{7DF17FBF-9135-D1AB-54A4-3E7ECFA2975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14325" y="2779840"/>
            <a:ext cx="2028957" cy="1521718"/>
          </a:xfrm>
          <a:prstGeom prst="rect">
            <a:avLst/>
          </a:prstGeom>
          <a:ln>
            <a:noFill/>
          </a:ln>
          <a:effectLst>
            <a:outerShdw blurRad="292100" dist="139700" dir="2700000" algn="tl" rotWithShape="0">
              <a:srgbClr val="333333">
                <a:alpha val="65000"/>
              </a:srgbClr>
            </a:outerShdw>
          </a:effectLst>
        </p:spPr>
      </p:pic>
      <p:pic>
        <p:nvPicPr>
          <p:cNvPr id="17" name="図 16" descr="駅のホーム&#10;&#10;AI によって生成されたコンテンツは間違っている可能性があります。">
            <a:extLst>
              <a:ext uri="{FF2B5EF4-FFF2-40B4-BE49-F238E27FC236}">
                <a16:creationId xmlns:a16="http://schemas.microsoft.com/office/drawing/2014/main" id="{F9C854B6-37E5-28FB-212D-2A5183F80A18}"/>
              </a:ext>
            </a:extLst>
          </p:cNvPr>
          <p:cNvPicPr>
            <a:picLocks noChangeAspect="1"/>
          </p:cNvPicPr>
          <p:nvPr/>
        </p:nvPicPr>
        <p:blipFill>
          <a:blip r:embed="rId3"/>
          <a:stretch>
            <a:fillRect/>
          </a:stretch>
        </p:blipFill>
        <p:spPr>
          <a:xfrm>
            <a:off x="3096950" y="2779840"/>
            <a:ext cx="2950099" cy="1530364"/>
          </a:xfrm>
          <a:prstGeom prst="rect">
            <a:avLst/>
          </a:prstGeom>
          <a:ln>
            <a:noFill/>
          </a:ln>
          <a:effectLst>
            <a:outerShdw blurRad="292100" dist="139700" dir="2700000" algn="tl" rotWithShape="0">
              <a:srgbClr val="333333">
                <a:alpha val="65000"/>
              </a:srgbClr>
            </a:outerShdw>
          </a:effectLst>
        </p:spPr>
      </p:pic>
      <p:pic>
        <p:nvPicPr>
          <p:cNvPr id="18" name="図 17" descr="リモコン, コンピュータ, 携帯電話 が含まれている画像&#10;&#10;AI によって生成されたコンテンツは間違っている可能性があります。">
            <a:extLst>
              <a:ext uri="{FF2B5EF4-FFF2-40B4-BE49-F238E27FC236}">
                <a16:creationId xmlns:a16="http://schemas.microsoft.com/office/drawing/2014/main" id="{9CFD8197-35EC-DD6A-0FB4-42B1F395049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800717" y="2779840"/>
            <a:ext cx="2028957" cy="1521718"/>
          </a:xfrm>
          <a:prstGeom prst="rect">
            <a:avLst/>
          </a:prstGeom>
          <a:ln>
            <a:noFill/>
          </a:ln>
          <a:effectLst>
            <a:outerShdw blurRad="292100" dist="139700" dir="2700000" algn="tl" rotWithShape="0">
              <a:srgbClr val="333333">
                <a:alpha val="65000"/>
              </a:srgbClr>
            </a:outerShdw>
          </a:effectLst>
        </p:spPr>
      </p:pic>
      <p:pic>
        <p:nvPicPr>
          <p:cNvPr id="22" name="図 21" descr="テレビのリモコン&#10;&#10;AI によって生成されたコンテンツは間違っている可能性があります。">
            <a:extLst>
              <a:ext uri="{FF2B5EF4-FFF2-40B4-BE49-F238E27FC236}">
                <a16:creationId xmlns:a16="http://schemas.microsoft.com/office/drawing/2014/main" id="{06834B9D-2B56-A1DF-D1D2-21C00EBB588D}"/>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710271" y="4545613"/>
            <a:ext cx="1937732" cy="1453299"/>
          </a:xfrm>
          <a:prstGeom prst="rect">
            <a:avLst/>
          </a:prstGeom>
          <a:ln>
            <a:noFill/>
          </a:ln>
          <a:effectLst>
            <a:outerShdw blurRad="292100" dist="139700" dir="2700000" algn="tl" rotWithShape="0">
              <a:srgbClr val="333333">
                <a:alpha val="65000"/>
              </a:srgbClr>
            </a:outerShdw>
          </a:effectLst>
        </p:spPr>
      </p:pic>
      <p:pic>
        <p:nvPicPr>
          <p:cNvPr id="23" name="図 22" descr="回路, ケーブル, ブルー, コンピュータ が含まれている画像&#10;&#10;AI によって生成されたコンテンツは間違っている可能性があります。">
            <a:extLst>
              <a:ext uri="{FF2B5EF4-FFF2-40B4-BE49-F238E27FC236}">
                <a16:creationId xmlns:a16="http://schemas.microsoft.com/office/drawing/2014/main" id="{3CC09F6D-F73A-3294-8D79-1B70E2162D32}"/>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5250368" y="4549936"/>
            <a:ext cx="2183361" cy="145329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145077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84F04-563F-142A-84A4-2C22F9AD4AA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B5979EC-15B4-4679-C058-8DB453FA227A}"/>
              </a:ext>
            </a:extLst>
          </p:cNvPr>
          <p:cNvSpPr>
            <a:spLocks noGrp="1"/>
          </p:cNvSpPr>
          <p:nvPr>
            <p:ph type="title"/>
          </p:nvPr>
        </p:nvSpPr>
        <p:spPr/>
        <p:txBody>
          <a:bodyPr>
            <a:normAutofit fontScale="90000"/>
          </a:bodyPr>
          <a:lstStyle/>
          <a:p>
            <a:r>
              <a:rPr kumimoji="1" lang="ja-GB" altLang="en-US"/>
              <a:t>数値化された情報はどのように計算機に入っているか？</a:t>
            </a:r>
          </a:p>
        </p:txBody>
      </p:sp>
      <p:sp>
        <p:nvSpPr>
          <p:cNvPr id="3" name="コンテンツ プレースホルダー 2">
            <a:extLst>
              <a:ext uri="{FF2B5EF4-FFF2-40B4-BE49-F238E27FC236}">
                <a16:creationId xmlns:a16="http://schemas.microsoft.com/office/drawing/2014/main" id="{3A7FEBA0-C3FC-07B3-D91D-C0EA3BE1C307}"/>
              </a:ext>
            </a:extLst>
          </p:cNvPr>
          <p:cNvSpPr>
            <a:spLocks noGrp="1"/>
          </p:cNvSpPr>
          <p:nvPr>
            <p:ph idx="1"/>
          </p:nvPr>
        </p:nvSpPr>
        <p:spPr/>
        <p:txBody>
          <a:bodyPr/>
          <a:lstStyle/>
          <a:p>
            <a:pPr marL="0" indent="0">
              <a:buNone/>
            </a:pPr>
            <a:r>
              <a:rPr lang="ja-GB" altLang="en-US"/>
              <a:t>ハードウェアの中で物理的に表現される</a:t>
            </a:r>
            <a:endParaRPr lang="en-US" altLang="ja-GB"/>
          </a:p>
          <a:p>
            <a:pPr marL="457200" lvl="1" indent="0">
              <a:buNone/>
            </a:pPr>
            <a:r>
              <a:rPr lang="ja-GB" altLang="en-US">
                <a:solidFill>
                  <a:schemeClr val="tx1">
                    <a:lumMod val="50000"/>
                    <a:lumOff val="50000"/>
                  </a:schemeClr>
                </a:solidFill>
              </a:rPr>
              <a:t>（計算機の設計によって色々な表現が可能）</a:t>
            </a:r>
            <a:endParaRPr lang="en-US" altLang="ja-GB">
              <a:solidFill>
                <a:schemeClr val="tx1">
                  <a:lumMod val="50000"/>
                  <a:lumOff val="50000"/>
                </a:schemeClr>
              </a:solidFill>
            </a:endParaRPr>
          </a:p>
          <a:p>
            <a:pPr marL="914400" lvl="2" indent="0">
              <a:buNone/>
            </a:pPr>
            <a:r>
              <a:rPr kumimoji="1" lang="ja-GB" altLang="en-US">
                <a:solidFill>
                  <a:schemeClr val="tx1">
                    <a:lumMod val="50000"/>
                    <a:lumOff val="50000"/>
                  </a:schemeClr>
                </a:solidFill>
              </a:rPr>
              <a:t>例：</a:t>
            </a:r>
            <a:r>
              <a:rPr kumimoji="1" lang="en-US" altLang="ja-GB">
                <a:solidFill>
                  <a:schemeClr val="tx1">
                    <a:lumMod val="50000"/>
                    <a:lumOff val="50000"/>
                  </a:schemeClr>
                </a:solidFill>
              </a:rPr>
              <a:t>ENIAC</a:t>
            </a:r>
            <a:r>
              <a:rPr kumimoji="1" lang="ja-GB" altLang="en-US">
                <a:solidFill>
                  <a:schemeClr val="tx1">
                    <a:lumMod val="50000"/>
                    <a:lumOff val="50000"/>
                  </a:schemeClr>
                </a:solidFill>
              </a:rPr>
              <a:t>は</a:t>
            </a:r>
            <a:r>
              <a:rPr kumimoji="1" lang="en-US" altLang="ja-GB">
                <a:solidFill>
                  <a:schemeClr val="tx1">
                    <a:lumMod val="50000"/>
                    <a:lumOff val="50000"/>
                  </a:schemeClr>
                </a:solidFill>
              </a:rPr>
              <a:t>10</a:t>
            </a:r>
            <a:r>
              <a:rPr kumimoji="1" lang="ja-GB" altLang="en-US">
                <a:solidFill>
                  <a:schemeClr val="tx1">
                    <a:lumMod val="50000"/>
                    <a:lumOff val="50000"/>
                  </a:schemeClr>
                </a:solidFill>
              </a:rPr>
              <a:t>進数，アナログ時計は</a:t>
            </a:r>
            <a:r>
              <a:rPr lang="en-US" altLang="ja-GB">
                <a:solidFill>
                  <a:schemeClr val="tx1">
                    <a:lumMod val="50000"/>
                    <a:lumOff val="50000"/>
                  </a:schemeClr>
                </a:solidFill>
              </a:rPr>
              <a:t>12</a:t>
            </a:r>
            <a:r>
              <a:rPr lang="ja-GB" altLang="en-US">
                <a:solidFill>
                  <a:schemeClr val="tx1">
                    <a:lumMod val="50000"/>
                    <a:lumOff val="50000"/>
                  </a:schemeClr>
                </a:solidFill>
              </a:rPr>
              <a:t>進数と</a:t>
            </a:r>
            <a:r>
              <a:rPr lang="en-US" altLang="ja-GB">
                <a:solidFill>
                  <a:schemeClr val="tx1">
                    <a:lumMod val="50000"/>
                    <a:lumOff val="50000"/>
                  </a:schemeClr>
                </a:solidFill>
              </a:rPr>
              <a:t>60</a:t>
            </a:r>
            <a:r>
              <a:rPr lang="ja-GB" altLang="en-US">
                <a:solidFill>
                  <a:schemeClr val="tx1">
                    <a:lumMod val="50000"/>
                    <a:lumOff val="50000"/>
                  </a:schemeClr>
                </a:solidFill>
              </a:rPr>
              <a:t>進数の併用</a:t>
            </a:r>
            <a:endParaRPr lang="en-US" altLang="ja-GB">
              <a:solidFill>
                <a:schemeClr val="tx1">
                  <a:lumMod val="50000"/>
                  <a:lumOff val="50000"/>
                </a:schemeClr>
              </a:solidFill>
            </a:endParaRPr>
          </a:p>
          <a:p>
            <a:pPr marL="457200" lvl="1" indent="0">
              <a:buNone/>
            </a:pPr>
            <a:r>
              <a:rPr kumimoji="1" lang="ja-GB" altLang="en-US">
                <a:solidFill>
                  <a:srgbClr val="2F2523"/>
                </a:solidFill>
              </a:rPr>
              <a:t>現在の電子計算機では，</a:t>
            </a:r>
            <a:r>
              <a:rPr kumimoji="1" lang="en-US" altLang="ja-GB">
                <a:solidFill>
                  <a:srgbClr val="2F2523"/>
                </a:solidFill>
              </a:rPr>
              <a:t>2</a:t>
            </a:r>
            <a:r>
              <a:rPr kumimoji="1" lang="ja-GB" altLang="en-US">
                <a:solidFill>
                  <a:srgbClr val="2F2523"/>
                </a:solidFill>
              </a:rPr>
              <a:t>進数のデジタル表現が標準的</a:t>
            </a:r>
            <a:endParaRPr kumimoji="1" lang="en-US" altLang="ja-GB">
              <a:solidFill>
                <a:srgbClr val="2F2523"/>
              </a:solidFill>
            </a:endParaRPr>
          </a:p>
          <a:p>
            <a:pPr lvl="2"/>
            <a:r>
              <a:rPr lang="ja-GB" altLang="en-US">
                <a:solidFill>
                  <a:srgbClr val="2F2523"/>
                </a:solidFill>
              </a:rPr>
              <a:t>あらゆる情報（数値）は</a:t>
            </a:r>
            <a:r>
              <a:rPr lang="ja-GB" altLang="en-US">
                <a:solidFill>
                  <a:srgbClr val="0070C0"/>
                </a:solidFill>
              </a:rPr>
              <a:t>デジタル化</a:t>
            </a:r>
            <a:r>
              <a:rPr lang="ja-GB" altLang="en-US">
                <a:solidFill>
                  <a:srgbClr val="2F2523"/>
                </a:solidFill>
              </a:rPr>
              <a:t>されて離散的に近似される</a:t>
            </a:r>
            <a:endParaRPr lang="en-US" altLang="ja-GB">
              <a:solidFill>
                <a:srgbClr val="2F2523"/>
              </a:solidFill>
            </a:endParaRPr>
          </a:p>
          <a:p>
            <a:pPr lvl="2"/>
            <a:r>
              <a:rPr lang="ja-GB" altLang="en-US">
                <a:solidFill>
                  <a:srgbClr val="2F2523"/>
                </a:solidFill>
              </a:rPr>
              <a:t>あらゆる情報（数値）は</a:t>
            </a:r>
            <a:r>
              <a:rPr lang="en-US" altLang="ja-GB">
                <a:solidFill>
                  <a:srgbClr val="0070C0"/>
                </a:solidFill>
              </a:rPr>
              <a:t>2</a:t>
            </a:r>
            <a:r>
              <a:rPr lang="ja-GB" altLang="en-US">
                <a:solidFill>
                  <a:srgbClr val="0070C0"/>
                </a:solidFill>
              </a:rPr>
              <a:t>進数で表現</a:t>
            </a:r>
            <a:r>
              <a:rPr lang="ja-GB" altLang="en-US">
                <a:solidFill>
                  <a:srgbClr val="2F2523"/>
                </a:solidFill>
              </a:rPr>
              <a:t>されて</a:t>
            </a:r>
            <a:r>
              <a:rPr lang="en-US" altLang="ja-GB">
                <a:solidFill>
                  <a:srgbClr val="2F2523"/>
                </a:solidFill>
              </a:rPr>
              <a:t>0</a:t>
            </a:r>
            <a:r>
              <a:rPr lang="ja-GB" altLang="en-US">
                <a:solidFill>
                  <a:srgbClr val="2F2523"/>
                </a:solidFill>
              </a:rPr>
              <a:t>と</a:t>
            </a:r>
            <a:r>
              <a:rPr lang="en-US" altLang="ja-GB">
                <a:solidFill>
                  <a:srgbClr val="2F2523"/>
                </a:solidFill>
              </a:rPr>
              <a:t>1</a:t>
            </a:r>
            <a:r>
              <a:rPr lang="ja-GB" altLang="en-US">
                <a:solidFill>
                  <a:srgbClr val="2F2523"/>
                </a:solidFill>
              </a:rPr>
              <a:t>のみで表現される</a:t>
            </a:r>
          </a:p>
          <a:p>
            <a:pPr marL="0" indent="0" algn="ctr">
              <a:buNone/>
            </a:pPr>
            <a:r>
              <a:rPr lang="en-US" altLang="ja-GB">
                <a:solidFill>
                  <a:srgbClr val="2F2523"/>
                </a:solidFill>
              </a:rPr>
              <a:t>↓</a:t>
            </a:r>
          </a:p>
          <a:p>
            <a:pPr marL="0" indent="0" algn="ctr">
              <a:buNone/>
            </a:pPr>
            <a:r>
              <a:rPr kumimoji="1" lang="ja-GB" altLang="en-US">
                <a:solidFill>
                  <a:schemeClr val="accent2"/>
                </a:solidFill>
              </a:rPr>
              <a:t>デジタルとは何か</a:t>
            </a:r>
            <a:r>
              <a:rPr lang="ja-GB" altLang="en-US">
                <a:solidFill>
                  <a:schemeClr val="accent2"/>
                </a:solidFill>
              </a:rPr>
              <a:t>？</a:t>
            </a:r>
            <a:endParaRPr kumimoji="1" lang="en-US" altLang="ja-GB">
              <a:solidFill>
                <a:schemeClr val="accent2"/>
              </a:solidFill>
            </a:endParaRPr>
          </a:p>
          <a:p>
            <a:pPr marL="0" indent="0" algn="ctr">
              <a:buNone/>
            </a:pPr>
            <a:r>
              <a:rPr kumimoji="1" lang="en-US" altLang="ja-GB">
                <a:solidFill>
                  <a:schemeClr val="tx1">
                    <a:lumMod val="50000"/>
                    <a:lumOff val="50000"/>
                  </a:schemeClr>
                </a:solidFill>
              </a:rPr>
              <a:t>2</a:t>
            </a:r>
            <a:r>
              <a:rPr kumimoji="1" lang="ja-GB" altLang="en-US">
                <a:solidFill>
                  <a:schemeClr val="tx1">
                    <a:lumMod val="50000"/>
                    <a:lumOff val="50000"/>
                  </a:schemeClr>
                </a:solidFill>
              </a:rPr>
              <a:t>進数とは何か</a:t>
            </a:r>
            <a:r>
              <a:rPr lang="ja-GB" altLang="en-US">
                <a:solidFill>
                  <a:schemeClr val="tx1">
                    <a:lumMod val="50000"/>
                    <a:lumOff val="50000"/>
                  </a:schemeClr>
                </a:solidFill>
              </a:rPr>
              <a:t>？</a:t>
            </a:r>
            <a:endParaRPr kumimoji="1" lang="ja-GB" altLang="en-US">
              <a:solidFill>
                <a:schemeClr val="tx1">
                  <a:lumMod val="50000"/>
                  <a:lumOff val="50000"/>
                </a:schemeClr>
              </a:solidFill>
            </a:endParaRPr>
          </a:p>
        </p:txBody>
      </p:sp>
    </p:spTree>
    <p:extLst>
      <p:ext uri="{BB962C8B-B14F-4D97-AF65-F5344CB8AC3E}">
        <p14:creationId xmlns:p14="http://schemas.microsoft.com/office/powerpoint/2010/main" val="209817043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30D71-BE7C-F89F-7918-C68D8F55CB3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E848F22-C00B-36C3-4BAF-B3D1B641B5DA}"/>
              </a:ext>
            </a:extLst>
          </p:cNvPr>
          <p:cNvSpPr>
            <a:spLocks noGrp="1"/>
          </p:cNvSpPr>
          <p:nvPr>
            <p:ph type="title"/>
          </p:nvPr>
        </p:nvSpPr>
        <p:spPr/>
        <p:txBody>
          <a:bodyPr/>
          <a:lstStyle/>
          <a:p>
            <a:r>
              <a:rPr lang="ja-GB" altLang="en-US"/>
              <a:t>アナログとデジタル</a:t>
            </a:r>
            <a:endParaRPr kumimoji="1" lang="ja-GB" altLang="en-US"/>
          </a:p>
        </p:txBody>
      </p:sp>
      <p:sp>
        <p:nvSpPr>
          <p:cNvPr id="3" name="コンテンツ プレースホルダー 2">
            <a:extLst>
              <a:ext uri="{FF2B5EF4-FFF2-40B4-BE49-F238E27FC236}">
                <a16:creationId xmlns:a16="http://schemas.microsoft.com/office/drawing/2014/main" id="{DB1F49B2-0B5F-03DC-A43B-5D92E5BFE351}"/>
              </a:ext>
            </a:extLst>
          </p:cNvPr>
          <p:cNvSpPr>
            <a:spLocks noGrp="1"/>
          </p:cNvSpPr>
          <p:nvPr>
            <p:ph idx="1"/>
          </p:nvPr>
        </p:nvSpPr>
        <p:spPr/>
        <p:txBody>
          <a:bodyPr/>
          <a:lstStyle/>
          <a:p>
            <a:pPr marL="0" indent="0">
              <a:buNone/>
            </a:pPr>
            <a:r>
              <a:rPr kumimoji="1" lang="ja-GB" altLang="en-US"/>
              <a:t>パソコンやスマホ，ゲーム機，電卓などは全て</a:t>
            </a:r>
            <a:r>
              <a:rPr lang="ja-GB" altLang="en-US"/>
              <a:t>「</a:t>
            </a:r>
            <a:r>
              <a:rPr kumimoji="1" lang="ja-GB" altLang="en-US"/>
              <a:t>デジタル」な計算機</a:t>
            </a:r>
            <a:endParaRPr kumimoji="1" lang="en-US" altLang="ja-GB"/>
          </a:p>
          <a:p>
            <a:pPr marL="457200" lvl="1" indent="0">
              <a:buNone/>
            </a:pPr>
            <a:r>
              <a:rPr kumimoji="1" lang="ja-GB" altLang="en-US">
                <a:solidFill>
                  <a:srgbClr val="0070C0"/>
                </a:solidFill>
              </a:rPr>
              <a:t>デジタル：数字式</a:t>
            </a:r>
            <a:endParaRPr kumimoji="1" lang="en-US" altLang="ja-GB">
              <a:solidFill>
                <a:srgbClr val="0070C0"/>
              </a:solidFill>
            </a:endParaRPr>
          </a:p>
          <a:p>
            <a:pPr lvl="2"/>
            <a:r>
              <a:rPr lang="en-US" altLang="ja-GB"/>
              <a:t>dig</a:t>
            </a:r>
            <a:r>
              <a:rPr kumimoji="1" lang="en-US" altLang="ja-GB"/>
              <a:t>it + al</a:t>
            </a:r>
            <a:r>
              <a:rPr kumimoji="1" lang="ja-GB" altLang="en-US"/>
              <a:t>：数字</a:t>
            </a:r>
            <a:r>
              <a:rPr lang="ja-GB" altLang="en-US"/>
              <a:t>の</a:t>
            </a:r>
            <a:r>
              <a:rPr kumimoji="1" lang="en-US" altLang="ja-GB"/>
              <a:t>+</a:t>
            </a:r>
            <a:r>
              <a:rPr kumimoji="1" lang="ja-GB" altLang="en-US"/>
              <a:t>方式</a:t>
            </a:r>
            <a:endParaRPr kumimoji="1" lang="en-US" altLang="ja-GB"/>
          </a:p>
          <a:p>
            <a:pPr lvl="2"/>
            <a:r>
              <a:rPr lang="ja-GB" altLang="en-US"/>
              <a:t>物理量を</a:t>
            </a:r>
            <a:r>
              <a:rPr lang="ja-GB" altLang="en-US">
                <a:solidFill>
                  <a:schemeClr val="accent2"/>
                </a:solidFill>
              </a:rPr>
              <a:t>数字</a:t>
            </a:r>
            <a:r>
              <a:rPr lang="ja-GB" altLang="en-US"/>
              <a:t>で記述</a:t>
            </a:r>
            <a:endParaRPr lang="en-US" altLang="ja-GB"/>
          </a:p>
          <a:p>
            <a:pPr lvl="3"/>
            <a:r>
              <a:rPr kumimoji="1" lang="ja-GB" altLang="en-US"/>
              <a:t>結び目の数，デジタル温度計，チャットなど</a:t>
            </a:r>
            <a:endParaRPr kumimoji="1" lang="en-US" altLang="ja-GB"/>
          </a:p>
          <a:p>
            <a:pPr lvl="2"/>
            <a:endParaRPr kumimoji="1" lang="en-US" altLang="ja-GB"/>
          </a:p>
          <a:p>
            <a:pPr marL="457200" lvl="1" indent="0">
              <a:buNone/>
            </a:pPr>
            <a:r>
              <a:rPr lang="ja-GB" altLang="en-US">
                <a:solidFill>
                  <a:srgbClr val="0070C0"/>
                </a:solidFill>
              </a:rPr>
              <a:t>アナログ：相似式</a:t>
            </a:r>
            <a:endParaRPr lang="en-US" altLang="ja-GB">
              <a:solidFill>
                <a:srgbClr val="0070C0"/>
              </a:solidFill>
            </a:endParaRPr>
          </a:p>
          <a:p>
            <a:pPr lvl="2"/>
            <a:r>
              <a:rPr lang="en-US" altLang="ja-GB"/>
              <a:t>analog</a:t>
            </a:r>
            <a:r>
              <a:rPr lang="ja-GB" altLang="en-US"/>
              <a:t>：語源は</a:t>
            </a:r>
            <a:r>
              <a:rPr lang="en-US" altLang="ja-GB"/>
              <a:t>a</a:t>
            </a:r>
            <a:r>
              <a:rPr kumimoji="1" lang="en-US" altLang="ja-GB"/>
              <a:t>nalogy</a:t>
            </a:r>
            <a:r>
              <a:rPr kumimoji="1" lang="ja-GB" altLang="en-US"/>
              <a:t>（類似・相似）</a:t>
            </a:r>
            <a:endParaRPr kumimoji="1" lang="en-US" altLang="ja-GB"/>
          </a:p>
          <a:p>
            <a:pPr lvl="2"/>
            <a:r>
              <a:rPr lang="ja-GB" altLang="en-US"/>
              <a:t>物理量を別の</a:t>
            </a:r>
            <a:r>
              <a:rPr lang="ja-GB" altLang="en-US">
                <a:solidFill>
                  <a:schemeClr val="accent2"/>
                </a:solidFill>
              </a:rPr>
              <a:t>物理量との対応</a:t>
            </a:r>
            <a:r>
              <a:rPr lang="ja-GB" altLang="en-US"/>
              <a:t>で表現</a:t>
            </a:r>
            <a:endParaRPr lang="en-US" altLang="ja-GB"/>
          </a:p>
          <a:p>
            <a:pPr lvl="3"/>
            <a:r>
              <a:rPr kumimoji="1" lang="ja-GB" altLang="en-US"/>
              <a:t>紐の長さ，水銀温度計，糸電話など</a:t>
            </a:r>
            <a:endParaRPr kumimoji="1" lang="en-US" altLang="ja-GB"/>
          </a:p>
          <a:p>
            <a:pPr lvl="2"/>
            <a:endParaRPr lang="en-US" altLang="ja-GB"/>
          </a:p>
          <a:p>
            <a:pPr marL="457200" lvl="1" indent="0">
              <a:buNone/>
            </a:pPr>
            <a:r>
              <a:rPr kumimoji="1" lang="ja-GB" altLang="en-US">
                <a:solidFill>
                  <a:schemeClr val="accent2"/>
                </a:solidFill>
              </a:rPr>
              <a:t>デジタルは情報を完全に表現できないが，ノイズに強くて伝達しやすい</a:t>
            </a:r>
            <a:endParaRPr kumimoji="1" lang="en-US" altLang="ja-GB">
              <a:solidFill>
                <a:schemeClr val="accent2"/>
              </a:solidFill>
            </a:endParaRPr>
          </a:p>
          <a:p>
            <a:pPr lvl="2"/>
            <a:r>
              <a:rPr lang="ja-GB" altLang="en-US"/>
              <a:t>量を正しく</a:t>
            </a:r>
            <a:r>
              <a:rPr kumimoji="1" lang="ja-GB" altLang="en-US"/>
              <a:t>表すには無限桁の数値が必要</a:t>
            </a:r>
            <a:endParaRPr kumimoji="1" lang="en-US" altLang="ja-GB"/>
          </a:p>
          <a:p>
            <a:pPr lvl="2"/>
            <a:r>
              <a:rPr lang="ja-GB" altLang="en-US"/>
              <a:t>数値は量よりも</a:t>
            </a:r>
            <a:r>
              <a:rPr lang="en-US" altLang="ja-GB"/>
              <a:t>“</a:t>
            </a:r>
            <a:r>
              <a:rPr lang="ja-GB" altLang="en-US"/>
              <a:t>伝達ミス</a:t>
            </a:r>
            <a:r>
              <a:rPr lang="en-US" altLang="ja-GB"/>
              <a:t>”</a:t>
            </a:r>
            <a:r>
              <a:rPr lang="ja-GB" altLang="en-US"/>
              <a:t>が起きにくい</a:t>
            </a:r>
            <a:endParaRPr kumimoji="1" lang="en-US" altLang="ja-GB"/>
          </a:p>
          <a:p>
            <a:pPr marL="1371600" lvl="3" indent="0">
              <a:buNone/>
            </a:pPr>
            <a:r>
              <a:rPr kumimoji="1" lang="ja-GB" altLang="en-US"/>
              <a:t>例</a:t>
            </a:r>
            <a:r>
              <a:rPr kumimoji="1" lang="en-US" altLang="ja-GB"/>
              <a:t>1</a:t>
            </a:r>
            <a:r>
              <a:rPr lang="ja-GB" altLang="en-US"/>
              <a:t>）</a:t>
            </a:r>
            <a:r>
              <a:rPr kumimoji="1" lang="ja-GB" altLang="en-US"/>
              <a:t>水銀温度計の結果を</a:t>
            </a:r>
            <a:r>
              <a:rPr lang="en-US" altLang="ja-GB"/>
              <a:t>“</a:t>
            </a:r>
            <a:r>
              <a:rPr kumimoji="1" lang="ja-GB" altLang="en-US"/>
              <a:t>正しく</a:t>
            </a:r>
            <a:r>
              <a:rPr kumimoji="1" lang="en-US" altLang="ja-GB"/>
              <a:t>”</a:t>
            </a:r>
            <a:r>
              <a:rPr kumimoji="1" lang="ja-GB" altLang="en-US"/>
              <a:t>伝えることは難しいが，数値を伝えるのは簡単</a:t>
            </a:r>
            <a:endParaRPr kumimoji="1" lang="en-US" altLang="ja-GB"/>
          </a:p>
          <a:p>
            <a:pPr marL="1371600" lvl="3" indent="0">
              <a:buNone/>
            </a:pPr>
            <a:r>
              <a:rPr lang="ja-GB" altLang="en-US"/>
              <a:t>例</a:t>
            </a:r>
            <a:r>
              <a:rPr lang="en-US" altLang="ja-GB"/>
              <a:t>2</a:t>
            </a:r>
            <a:r>
              <a:rPr lang="ja-GB" altLang="en-US"/>
              <a:t>）紐の長さを正確に伝えることは難しいが，結び目の数を伝えるのは簡単</a:t>
            </a:r>
            <a:endParaRPr kumimoji="1" lang="ja-GB" altLang="en-US"/>
          </a:p>
        </p:txBody>
      </p:sp>
    </p:spTree>
    <p:extLst>
      <p:ext uri="{BB962C8B-B14F-4D97-AF65-F5344CB8AC3E}">
        <p14:creationId xmlns:p14="http://schemas.microsoft.com/office/powerpoint/2010/main" val="2835283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1" end="1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2" end="1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3" end="1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4" end="1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5BA253-F099-CF84-C860-8FAE90C9BED0}"/>
              </a:ext>
            </a:extLst>
          </p:cNvPr>
          <p:cNvSpPr>
            <a:spLocks noGrp="1"/>
          </p:cNvSpPr>
          <p:nvPr>
            <p:ph type="title"/>
          </p:nvPr>
        </p:nvSpPr>
        <p:spPr/>
        <p:txBody>
          <a:bodyPr/>
          <a:lstStyle/>
          <a:p>
            <a:r>
              <a:rPr kumimoji="1" lang="ja-GB" altLang="en-US"/>
              <a:t>デジタル符号化の例：音声</a:t>
            </a:r>
          </a:p>
        </p:txBody>
      </p:sp>
      <p:sp>
        <p:nvSpPr>
          <p:cNvPr id="3" name="コンテンツ プレースホルダー 2">
            <a:extLst>
              <a:ext uri="{FF2B5EF4-FFF2-40B4-BE49-F238E27FC236}">
                <a16:creationId xmlns:a16="http://schemas.microsoft.com/office/drawing/2014/main" id="{4F55FD0A-40FB-5727-7628-E21EEA7375BB}"/>
              </a:ext>
            </a:extLst>
          </p:cNvPr>
          <p:cNvSpPr>
            <a:spLocks noGrp="1"/>
          </p:cNvSpPr>
          <p:nvPr>
            <p:ph idx="1"/>
          </p:nvPr>
        </p:nvSpPr>
        <p:spPr/>
        <p:txBody>
          <a:bodyPr/>
          <a:lstStyle/>
          <a:p>
            <a:pPr marL="0" indent="0">
              <a:buNone/>
            </a:pPr>
            <a:r>
              <a:rPr kumimoji="1" lang="ja-GB" altLang="en-US"/>
              <a:t>縦横に適当な間隔で区切り，棒状にすることで波形を数列に変換</a:t>
            </a:r>
          </a:p>
        </p:txBody>
      </p:sp>
      <p:pic>
        <p:nvPicPr>
          <p:cNvPr id="4" name="図 3" descr="グラフ, 折れ線グラフ&#10;&#10;AI によって生成されたコンテンツは間違っている可能性があります。">
            <a:extLst>
              <a:ext uri="{FF2B5EF4-FFF2-40B4-BE49-F238E27FC236}">
                <a16:creationId xmlns:a16="http://schemas.microsoft.com/office/drawing/2014/main" id="{A71921D1-A185-08DE-4382-8E9FCCA2536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695783" y="1595742"/>
            <a:ext cx="4832268" cy="1932907"/>
          </a:xfrm>
          <a:prstGeom prst="rect">
            <a:avLst/>
          </a:prstGeom>
        </p:spPr>
      </p:pic>
      <p:pic>
        <p:nvPicPr>
          <p:cNvPr id="7" name="図 6">
            <a:extLst>
              <a:ext uri="{FF2B5EF4-FFF2-40B4-BE49-F238E27FC236}">
                <a16:creationId xmlns:a16="http://schemas.microsoft.com/office/drawing/2014/main" id="{DFB72791-8B58-00C1-8A8E-A60B5EC612B7}"/>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314325" y="4990096"/>
            <a:ext cx="8687062" cy="544323"/>
          </a:xfrm>
          <a:prstGeom prst="rect">
            <a:avLst/>
          </a:prstGeom>
        </p:spPr>
      </p:pic>
      <p:cxnSp>
        <p:nvCxnSpPr>
          <p:cNvPr id="9" name="直線コネクタ 8">
            <a:extLst>
              <a:ext uri="{FF2B5EF4-FFF2-40B4-BE49-F238E27FC236}">
                <a16:creationId xmlns:a16="http://schemas.microsoft.com/office/drawing/2014/main" id="{3C9D03F8-7FD9-2A24-5FF3-B78840124B83}"/>
              </a:ext>
            </a:extLst>
          </p:cNvPr>
          <p:cNvCxnSpPr>
            <a:cxnSpLocks/>
          </p:cNvCxnSpPr>
          <p:nvPr/>
        </p:nvCxnSpPr>
        <p:spPr>
          <a:xfrm flipH="1">
            <a:off x="904775" y="2416629"/>
            <a:ext cx="1172219" cy="2573467"/>
          </a:xfrm>
          <a:prstGeom prst="line">
            <a:avLst/>
          </a:prstGeom>
          <a:ln w="19050">
            <a:solidFill>
              <a:schemeClr val="accent6">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EF1D42DC-2273-6AFE-ADFC-60CF5ECC2085}"/>
              </a:ext>
            </a:extLst>
          </p:cNvPr>
          <p:cNvCxnSpPr>
            <a:cxnSpLocks/>
          </p:cNvCxnSpPr>
          <p:nvPr/>
        </p:nvCxnSpPr>
        <p:spPr>
          <a:xfrm>
            <a:off x="2365930" y="2097365"/>
            <a:ext cx="386895" cy="2892731"/>
          </a:xfrm>
          <a:prstGeom prst="line">
            <a:avLst/>
          </a:prstGeom>
          <a:ln w="22225">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16DB887B-A821-D121-D0FA-BB16FD699EA8}"/>
              </a:ext>
            </a:extLst>
          </p:cNvPr>
          <p:cNvCxnSpPr>
            <a:cxnSpLocks/>
          </p:cNvCxnSpPr>
          <p:nvPr/>
        </p:nvCxnSpPr>
        <p:spPr>
          <a:xfrm>
            <a:off x="2471088" y="2052604"/>
            <a:ext cx="1124181" cy="2937492"/>
          </a:xfrm>
          <a:prstGeom prst="line">
            <a:avLst/>
          </a:prstGeom>
          <a:ln w="22225">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704C2A82-DE18-90CB-08B4-62A4F079FACA}"/>
              </a:ext>
            </a:extLst>
          </p:cNvPr>
          <p:cNvCxnSpPr>
            <a:cxnSpLocks/>
          </p:cNvCxnSpPr>
          <p:nvPr/>
        </p:nvCxnSpPr>
        <p:spPr>
          <a:xfrm>
            <a:off x="3004819" y="1867904"/>
            <a:ext cx="4314240" cy="3122192"/>
          </a:xfrm>
          <a:prstGeom prst="line">
            <a:avLst/>
          </a:prstGeom>
          <a:ln w="22225">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円/楕円 5">
            <a:extLst>
              <a:ext uri="{FF2B5EF4-FFF2-40B4-BE49-F238E27FC236}">
                <a16:creationId xmlns:a16="http://schemas.microsoft.com/office/drawing/2014/main" id="{78578813-5A98-5008-3894-CAE1C2FAB524}"/>
              </a:ext>
            </a:extLst>
          </p:cNvPr>
          <p:cNvSpPr>
            <a:spLocks noChangeAspect="1"/>
          </p:cNvSpPr>
          <p:nvPr/>
        </p:nvSpPr>
        <p:spPr>
          <a:xfrm flipH="1">
            <a:off x="2023656" y="2371489"/>
            <a:ext cx="90280" cy="9028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Tree>
    <p:extLst>
      <p:ext uri="{BB962C8B-B14F-4D97-AF65-F5344CB8AC3E}">
        <p14:creationId xmlns:p14="http://schemas.microsoft.com/office/powerpoint/2010/main" val="416034299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8CB8E-D852-84E7-FC4B-5E24E2744F6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C926B61-5406-E1B0-BA17-D5D9A6E609C6}"/>
              </a:ext>
            </a:extLst>
          </p:cNvPr>
          <p:cNvSpPr>
            <a:spLocks noGrp="1"/>
          </p:cNvSpPr>
          <p:nvPr>
            <p:ph type="title"/>
          </p:nvPr>
        </p:nvSpPr>
        <p:spPr/>
        <p:txBody>
          <a:bodyPr>
            <a:normAutofit fontScale="90000"/>
          </a:bodyPr>
          <a:lstStyle/>
          <a:p>
            <a:r>
              <a:rPr kumimoji="1" lang="ja-GB" altLang="en-US"/>
              <a:t>数値化された情報はどのように計算機に入っているか？</a:t>
            </a:r>
          </a:p>
        </p:txBody>
      </p:sp>
      <p:sp>
        <p:nvSpPr>
          <p:cNvPr id="3" name="コンテンツ プレースホルダー 2">
            <a:extLst>
              <a:ext uri="{FF2B5EF4-FFF2-40B4-BE49-F238E27FC236}">
                <a16:creationId xmlns:a16="http://schemas.microsoft.com/office/drawing/2014/main" id="{7E31D50E-D166-A773-6352-EC014A859B84}"/>
              </a:ext>
            </a:extLst>
          </p:cNvPr>
          <p:cNvSpPr>
            <a:spLocks noGrp="1"/>
          </p:cNvSpPr>
          <p:nvPr>
            <p:ph idx="1"/>
          </p:nvPr>
        </p:nvSpPr>
        <p:spPr/>
        <p:txBody>
          <a:bodyPr/>
          <a:lstStyle/>
          <a:p>
            <a:pPr marL="0" indent="0">
              <a:buNone/>
            </a:pPr>
            <a:r>
              <a:rPr lang="ja-GB" altLang="en-US"/>
              <a:t>ハードウェアの中で物理的に表現される</a:t>
            </a:r>
            <a:endParaRPr lang="en-US" altLang="ja-GB"/>
          </a:p>
          <a:p>
            <a:pPr marL="457200" lvl="1" indent="0">
              <a:buNone/>
            </a:pPr>
            <a:r>
              <a:rPr lang="ja-GB" altLang="en-US">
                <a:solidFill>
                  <a:schemeClr val="bg1">
                    <a:lumMod val="75000"/>
                  </a:schemeClr>
                </a:solidFill>
              </a:rPr>
              <a:t>（計算機の設計によって色々な表現が可能）</a:t>
            </a:r>
            <a:endParaRPr lang="en-US" altLang="ja-GB">
              <a:solidFill>
                <a:schemeClr val="bg1">
                  <a:lumMod val="75000"/>
                </a:schemeClr>
              </a:solidFill>
            </a:endParaRPr>
          </a:p>
          <a:p>
            <a:pPr marL="914400" lvl="2" indent="0">
              <a:buNone/>
            </a:pPr>
            <a:r>
              <a:rPr kumimoji="1" lang="ja-GB" altLang="en-US">
                <a:solidFill>
                  <a:schemeClr val="bg1">
                    <a:lumMod val="75000"/>
                  </a:schemeClr>
                </a:solidFill>
              </a:rPr>
              <a:t>例：</a:t>
            </a:r>
            <a:r>
              <a:rPr kumimoji="1" lang="en-US" altLang="ja-GB">
                <a:solidFill>
                  <a:schemeClr val="bg1">
                    <a:lumMod val="75000"/>
                  </a:schemeClr>
                </a:solidFill>
              </a:rPr>
              <a:t>ENIAC</a:t>
            </a:r>
            <a:r>
              <a:rPr kumimoji="1" lang="ja-GB" altLang="en-US">
                <a:solidFill>
                  <a:schemeClr val="bg1">
                    <a:lumMod val="75000"/>
                  </a:schemeClr>
                </a:solidFill>
              </a:rPr>
              <a:t>は</a:t>
            </a:r>
            <a:r>
              <a:rPr kumimoji="1" lang="en-US" altLang="ja-GB">
                <a:solidFill>
                  <a:schemeClr val="bg1">
                    <a:lumMod val="75000"/>
                  </a:schemeClr>
                </a:solidFill>
              </a:rPr>
              <a:t>10</a:t>
            </a:r>
            <a:r>
              <a:rPr kumimoji="1" lang="ja-GB" altLang="en-US">
                <a:solidFill>
                  <a:schemeClr val="bg1">
                    <a:lumMod val="75000"/>
                  </a:schemeClr>
                </a:solidFill>
              </a:rPr>
              <a:t>進数，アナログ時計は</a:t>
            </a:r>
            <a:r>
              <a:rPr lang="en-US" altLang="ja-GB">
                <a:solidFill>
                  <a:schemeClr val="bg1">
                    <a:lumMod val="75000"/>
                  </a:schemeClr>
                </a:solidFill>
              </a:rPr>
              <a:t>12</a:t>
            </a:r>
            <a:r>
              <a:rPr lang="ja-GB" altLang="en-US">
                <a:solidFill>
                  <a:schemeClr val="bg1">
                    <a:lumMod val="75000"/>
                  </a:schemeClr>
                </a:solidFill>
              </a:rPr>
              <a:t>進数と</a:t>
            </a:r>
            <a:r>
              <a:rPr lang="en-US" altLang="ja-GB">
                <a:solidFill>
                  <a:schemeClr val="bg1">
                    <a:lumMod val="75000"/>
                  </a:schemeClr>
                </a:solidFill>
              </a:rPr>
              <a:t>60</a:t>
            </a:r>
            <a:r>
              <a:rPr lang="ja-GB" altLang="en-US">
                <a:solidFill>
                  <a:schemeClr val="bg1">
                    <a:lumMod val="75000"/>
                  </a:schemeClr>
                </a:solidFill>
              </a:rPr>
              <a:t>進数の併用</a:t>
            </a:r>
            <a:endParaRPr lang="en-US" altLang="ja-GB">
              <a:solidFill>
                <a:schemeClr val="bg1">
                  <a:lumMod val="75000"/>
                </a:schemeClr>
              </a:solidFill>
            </a:endParaRPr>
          </a:p>
          <a:p>
            <a:pPr marL="457200" lvl="1" indent="0">
              <a:buNone/>
            </a:pPr>
            <a:r>
              <a:rPr kumimoji="1" lang="ja-GB" altLang="en-US">
                <a:solidFill>
                  <a:srgbClr val="2F2523"/>
                </a:solidFill>
              </a:rPr>
              <a:t>現在の電子計算機では，</a:t>
            </a:r>
            <a:r>
              <a:rPr kumimoji="1" lang="en-US" altLang="ja-GB">
                <a:solidFill>
                  <a:srgbClr val="2F2523"/>
                </a:solidFill>
              </a:rPr>
              <a:t>2</a:t>
            </a:r>
            <a:r>
              <a:rPr kumimoji="1" lang="ja-GB" altLang="en-US">
                <a:solidFill>
                  <a:srgbClr val="2F2523"/>
                </a:solidFill>
              </a:rPr>
              <a:t>進数のデジタル表現が標準的</a:t>
            </a:r>
            <a:endParaRPr kumimoji="1" lang="en-US" altLang="ja-GB">
              <a:solidFill>
                <a:srgbClr val="2F2523"/>
              </a:solidFill>
            </a:endParaRPr>
          </a:p>
          <a:p>
            <a:pPr lvl="2"/>
            <a:r>
              <a:rPr lang="ja-GB" altLang="en-US">
                <a:solidFill>
                  <a:schemeClr val="tx1">
                    <a:lumMod val="65000"/>
                    <a:lumOff val="35000"/>
                  </a:schemeClr>
                </a:solidFill>
              </a:rPr>
              <a:t>あらゆる情報（数値）はデジタル化されて離散的に近似される</a:t>
            </a:r>
            <a:endParaRPr lang="en-US" altLang="ja-GB">
              <a:solidFill>
                <a:schemeClr val="tx1">
                  <a:lumMod val="65000"/>
                  <a:lumOff val="35000"/>
                </a:schemeClr>
              </a:solidFill>
            </a:endParaRPr>
          </a:p>
          <a:p>
            <a:pPr lvl="2"/>
            <a:r>
              <a:rPr lang="ja-GB" altLang="en-US">
                <a:solidFill>
                  <a:schemeClr val="tx1">
                    <a:lumMod val="65000"/>
                    <a:lumOff val="35000"/>
                  </a:schemeClr>
                </a:solidFill>
              </a:rPr>
              <a:t>あらゆる情報（数値）は</a:t>
            </a:r>
            <a:r>
              <a:rPr lang="en-US" altLang="ja-GB">
                <a:solidFill>
                  <a:schemeClr val="tx1">
                    <a:lumMod val="65000"/>
                    <a:lumOff val="35000"/>
                  </a:schemeClr>
                </a:solidFill>
              </a:rPr>
              <a:t>2</a:t>
            </a:r>
            <a:r>
              <a:rPr lang="ja-GB" altLang="en-US">
                <a:solidFill>
                  <a:schemeClr val="tx1">
                    <a:lumMod val="65000"/>
                    <a:lumOff val="35000"/>
                  </a:schemeClr>
                </a:solidFill>
              </a:rPr>
              <a:t>進数で表現されて</a:t>
            </a:r>
            <a:r>
              <a:rPr lang="en-US" altLang="ja-GB">
                <a:solidFill>
                  <a:schemeClr val="tx1">
                    <a:lumMod val="65000"/>
                    <a:lumOff val="35000"/>
                  </a:schemeClr>
                </a:solidFill>
              </a:rPr>
              <a:t>0</a:t>
            </a:r>
            <a:r>
              <a:rPr lang="ja-GB" altLang="en-US">
                <a:solidFill>
                  <a:schemeClr val="tx1">
                    <a:lumMod val="65000"/>
                    <a:lumOff val="35000"/>
                  </a:schemeClr>
                </a:solidFill>
              </a:rPr>
              <a:t>と</a:t>
            </a:r>
            <a:r>
              <a:rPr lang="en-US" altLang="ja-GB">
                <a:solidFill>
                  <a:schemeClr val="tx1">
                    <a:lumMod val="65000"/>
                    <a:lumOff val="35000"/>
                  </a:schemeClr>
                </a:solidFill>
              </a:rPr>
              <a:t>1</a:t>
            </a:r>
            <a:r>
              <a:rPr lang="ja-GB" altLang="en-US">
                <a:solidFill>
                  <a:schemeClr val="tx1">
                    <a:lumMod val="65000"/>
                    <a:lumOff val="35000"/>
                  </a:schemeClr>
                </a:solidFill>
              </a:rPr>
              <a:t>のみで表現される</a:t>
            </a:r>
          </a:p>
          <a:p>
            <a:pPr marL="0" indent="0" algn="ctr">
              <a:buNone/>
            </a:pPr>
            <a:r>
              <a:rPr lang="en-US" altLang="ja-GB">
                <a:solidFill>
                  <a:srgbClr val="2F2523"/>
                </a:solidFill>
              </a:rPr>
              <a:t>↓</a:t>
            </a:r>
          </a:p>
          <a:p>
            <a:pPr marL="0" indent="0" algn="ctr">
              <a:buNone/>
            </a:pPr>
            <a:r>
              <a:rPr kumimoji="1" lang="ja-GB" altLang="en-US">
                <a:solidFill>
                  <a:schemeClr val="tx1">
                    <a:lumMod val="65000"/>
                    <a:lumOff val="35000"/>
                  </a:schemeClr>
                </a:solidFill>
              </a:rPr>
              <a:t>デジタル：情報を数値で表現すること</a:t>
            </a:r>
            <a:endParaRPr kumimoji="1" lang="en-US" altLang="ja-GB">
              <a:solidFill>
                <a:schemeClr val="tx1">
                  <a:lumMod val="65000"/>
                  <a:lumOff val="35000"/>
                </a:schemeClr>
              </a:solidFill>
            </a:endParaRPr>
          </a:p>
          <a:p>
            <a:pPr marL="0" indent="0" algn="ctr">
              <a:buNone/>
            </a:pPr>
            <a:r>
              <a:rPr kumimoji="1" lang="en-US" altLang="ja-GB">
                <a:solidFill>
                  <a:schemeClr val="accent2"/>
                </a:solidFill>
              </a:rPr>
              <a:t>2</a:t>
            </a:r>
            <a:r>
              <a:rPr kumimoji="1" lang="ja-GB" altLang="en-US">
                <a:solidFill>
                  <a:schemeClr val="accent2"/>
                </a:solidFill>
              </a:rPr>
              <a:t>進数とは何か</a:t>
            </a:r>
            <a:r>
              <a:rPr lang="ja-GB" altLang="en-US">
                <a:solidFill>
                  <a:schemeClr val="accent2"/>
                </a:solidFill>
              </a:rPr>
              <a:t>？</a:t>
            </a:r>
            <a:endParaRPr kumimoji="1" lang="ja-GB" altLang="en-US">
              <a:solidFill>
                <a:schemeClr val="accent2"/>
              </a:solidFill>
            </a:endParaRPr>
          </a:p>
        </p:txBody>
      </p:sp>
    </p:spTree>
    <p:extLst>
      <p:ext uri="{BB962C8B-B14F-4D97-AF65-F5344CB8AC3E}">
        <p14:creationId xmlns:p14="http://schemas.microsoft.com/office/powerpoint/2010/main" val="354921776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2797D-F10E-299A-5F07-3C2D6AF81A4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1641AB9-6488-22E5-409E-656D1684BF50}"/>
              </a:ext>
            </a:extLst>
          </p:cNvPr>
          <p:cNvSpPr>
            <a:spLocks noGrp="1"/>
          </p:cNvSpPr>
          <p:nvPr>
            <p:ph type="title"/>
          </p:nvPr>
        </p:nvSpPr>
        <p:spPr/>
        <p:txBody>
          <a:bodyPr/>
          <a:lstStyle/>
          <a:p>
            <a:r>
              <a:rPr kumimoji="1" lang="en-US" altLang="ja-GB"/>
              <a:t>2</a:t>
            </a:r>
            <a:r>
              <a:rPr lang="ja-GB" altLang="en-US"/>
              <a:t>進数</a:t>
            </a:r>
            <a:endParaRPr kumimoji="1" lang="ja-GB" altLang="en-US"/>
          </a:p>
        </p:txBody>
      </p:sp>
      <p:sp>
        <p:nvSpPr>
          <p:cNvPr id="3" name="コンテンツ プレースホルダー 2">
            <a:extLst>
              <a:ext uri="{FF2B5EF4-FFF2-40B4-BE49-F238E27FC236}">
                <a16:creationId xmlns:a16="http://schemas.microsoft.com/office/drawing/2014/main" id="{F1B69D75-B8A8-BF7F-1184-95A23844A86D}"/>
              </a:ext>
            </a:extLst>
          </p:cNvPr>
          <p:cNvSpPr>
            <a:spLocks noGrp="1"/>
          </p:cNvSpPr>
          <p:nvPr>
            <p:ph idx="1"/>
          </p:nvPr>
        </p:nvSpPr>
        <p:spPr/>
        <p:txBody>
          <a:bodyPr/>
          <a:lstStyle/>
          <a:p>
            <a:pPr marL="0" indent="0">
              <a:buNone/>
            </a:pPr>
            <a:r>
              <a:rPr kumimoji="1" lang="ja-GB" altLang="en-US"/>
              <a:t>通常の計算機は情報（</a:t>
            </a:r>
            <a:r>
              <a:rPr kumimoji="1" lang="en-US" altLang="ja-GB"/>
              <a:t>=</a:t>
            </a:r>
            <a:r>
              <a:rPr kumimoji="1" lang="ja-GB" altLang="en-US"/>
              <a:t>数値）を</a:t>
            </a:r>
            <a:r>
              <a:rPr kumimoji="1" lang="en-US" altLang="ja-GB"/>
              <a:t>”0”</a:t>
            </a:r>
            <a:r>
              <a:rPr kumimoji="1" lang="ja-GB" altLang="en-US"/>
              <a:t>と</a:t>
            </a:r>
            <a:r>
              <a:rPr kumimoji="1" lang="en-US" altLang="ja-GB"/>
              <a:t>”1”</a:t>
            </a:r>
            <a:r>
              <a:rPr kumimoji="1" lang="ja-GB" altLang="en-US"/>
              <a:t>で表現する</a:t>
            </a:r>
            <a:endParaRPr lang="en-US" altLang="ja-GB"/>
          </a:p>
          <a:p>
            <a:pPr marL="457200" lvl="1" indent="0">
              <a:buNone/>
            </a:pPr>
            <a:r>
              <a:rPr kumimoji="1" lang="en-US" altLang="ja-GB">
                <a:solidFill>
                  <a:srgbClr val="2F2523"/>
                </a:solidFill>
              </a:rPr>
              <a:t>10</a:t>
            </a:r>
            <a:r>
              <a:rPr kumimoji="1" lang="ja-GB" altLang="en-US">
                <a:solidFill>
                  <a:srgbClr val="2F2523"/>
                </a:solidFill>
              </a:rPr>
              <a:t>進数：</a:t>
            </a:r>
            <a:r>
              <a:rPr kumimoji="1" lang="en-US" altLang="ja-GB">
                <a:solidFill>
                  <a:srgbClr val="2F2523"/>
                </a:solidFill>
              </a:rPr>
              <a:t>10</a:t>
            </a:r>
            <a:r>
              <a:rPr kumimoji="1" lang="ja-GB" altLang="en-US">
                <a:solidFill>
                  <a:srgbClr val="2F2523"/>
                </a:solidFill>
              </a:rPr>
              <a:t>種類の数字を用いて</a:t>
            </a:r>
            <a:r>
              <a:rPr lang="ja-GB" altLang="en-US">
                <a:solidFill>
                  <a:srgbClr val="2F2523"/>
                </a:solidFill>
              </a:rPr>
              <a:t>，</a:t>
            </a:r>
            <a:r>
              <a:rPr lang="en-US" altLang="ja-GB">
                <a:solidFill>
                  <a:srgbClr val="2F2523"/>
                </a:solidFill>
              </a:rPr>
              <a:t>10</a:t>
            </a:r>
            <a:r>
              <a:rPr lang="ja-GB" altLang="en-US">
                <a:solidFill>
                  <a:srgbClr val="2F2523"/>
                </a:solidFill>
              </a:rPr>
              <a:t>ごとに桁が上がる</a:t>
            </a:r>
            <a:endParaRPr lang="en-US" altLang="ja-GB">
              <a:solidFill>
                <a:srgbClr val="2F2523"/>
              </a:solidFill>
            </a:endParaRPr>
          </a:p>
          <a:p>
            <a:pPr marL="457200" lvl="1" indent="0">
              <a:buNone/>
            </a:pPr>
            <a:r>
              <a:rPr kumimoji="1" lang="en-US" altLang="ja-GB">
                <a:solidFill>
                  <a:srgbClr val="2F2523"/>
                </a:solidFill>
              </a:rPr>
              <a:t>2</a:t>
            </a:r>
            <a:r>
              <a:rPr kumimoji="1" lang="ja-GB" altLang="en-US">
                <a:solidFill>
                  <a:srgbClr val="2F2523"/>
                </a:solidFill>
              </a:rPr>
              <a:t>進数：</a:t>
            </a:r>
            <a:r>
              <a:rPr kumimoji="1" lang="en-US" altLang="ja-GB">
                <a:solidFill>
                  <a:srgbClr val="2F2523"/>
                </a:solidFill>
              </a:rPr>
              <a:t>2</a:t>
            </a:r>
            <a:r>
              <a:rPr kumimoji="1" lang="ja-GB" altLang="en-US">
                <a:solidFill>
                  <a:srgbClr val="2F2523"/>
                </a:solidFill>
              </a:rPr>
              <a:t>種類の数字を用いて，</a:t>
            </a:r>
            <a:r>
              <a:rPr kumimoji="1" lang="en-US" altLang="ja-GB">
                <a:solidFill>
                  <a:srgbClr val="2F2523"/>
                </a:solidFill>
              </a:rPr>
              <a:t>2</a:t>
            </a:r>
            <a:r>
              <a:rPr kumimoji="1" lang="ja-GB" altLang="en-US">
                <a:solidFill>
                  <a:srgbClr val="2F2523"/>
                </a:solidFill>
              </a:rPr>
              <a:t>ごとに桁が上がる</a:t>
            </a:r>
            <a:endParaRPr kumimoji="1" lang="en-US" altLang="ja-GB">
              <a:solidFill>
                <a:srgbClr val="2F2523"/>
              </a:solidFill>
            </a:endParaRPr>
          </a:p>
          <a:p>
            <a:pPr lvl="1"/>
            <a:endParaRPr kumimoji="1" lang="en-US" altLang="ja-GB"/>
          </a:p>
          <a:p>
            <a:pPr lvl="2"/>
            <a:endParaRPr kumimoji="1" lang="en-US" altLang="ja-GB"/>
          </a:p>
          <a:p>
            <a:pPr lvl="2"/>
            <a:endParaRPr lang="en-US" altLang="ja-GB"/>
          </a:p>
          <a:p>
            <a:pPr lvl="2"/>
            <a:endParaRPr kumimoji="1" lang="en-US" altLang="ja-GB"/>
          </a:p>
          <a:p>
            <a:pPr marL="457200" lvl="1" indent="0">
              <a:buNone/>
            </a:pPr>
            <a:r>
              <a:rPr lang="en-US" altLang="ja-GB">
                <a:solidFill>
                  <a:srgbClr val="0070C0"/>
                </a:solidFill>
              </a:rPr>
              <a:t>2</a:t>
            </a:r>
            <a:r>
              <a:rPr lang="ja-GB" altLang="en-US">
                <a:solidFill>
                  <a:srgbClr val="0070C0"/>
                </a:solidFill>
              </a:rPr>
              <a:t>進数は機械の仕組みとして表現しやすい</a:t>
            </a:r>
            <a:endParaRPr lang="en-US" altLang="ja-GB">
              <a:solidFill>
                <a:srgbClr val="0070C0"/>
              </a:solidFill>
            </a:endParaRPr>
          </a:p>
          <a:p>
            <a:pPr lvl="2"/>
            <a:r>
              <a:rPr lang="ja-GB" altLang="en-US"/>
              <a:t>スイッチ：オン</a:t>
            </a:r>
            <a:r>
              <a:rPr lang="en-US" altLang="ja-GB"/>
              <a:t>(1)</a:t>
            </a:r>
            <a:r>
              <a:rPr lang="ja-GB" altLang="en-US"/>
              <a:t>，オフ</a:t>
            </a:r>
            <a:r>
              <a:rPr lang="en-US" altLang="ja-GB"/>
              <a:t>(0)</a:t>
            </a:r>
          </a:p>
          <a:p>
            <a:pPr lvl="2"/>
            <a:r>
              <a:rPr lang="ja-GB" altLang="en-US"/>
              <a:t>電圧：高い</a:t>
            </a:r>
            <a:r>
              <a:rPr lang="en-US" altLang="ja-GB"/>
              <a:t>(1)</a:t>
            </a:r>
            <a:r>
              <a:rPr lang="ja-GB" altLang="en-US"/>
              <a:t>，低い</a:t>
            </a:r>
            <a:r>
              <a:rPr lang="en-US" altLang="ja-GB"/>
              <a:t>(0)</a:t>
            </a:r>
          </a:p>
          <a:p>
            <a:pPr lvl="1"/>
            <a:endParaRPr kumimoji="1" lang="en-US" altLang="ja-GB"/>
          </a:p>
          <a:p>
            <a:pPr lvl="1"/>
            <a:endParaRPr kumimoji="1" lang="ja-GB" altLang="en-US"/>
          </a:p>
        </p:txBody>
      </p:sp>
      <p:graphicFrame>
        <p:nvGraphicFramePr>
          <p:cNvPr id="5" name="表 4">
            <a:extLst>
              <a:ext uri="{FF2B5EF4-FFF2-40B4-BE49-F238E27FC236}">
                <a16:creationId xmlns:a16="http://schemas.microsoft.com/office/drawing/2014/main" id="{DFF6E4F8-DAC6-517D-5C61-18FF6A290001}"/>
              </a:ext>
            </a:extLst>
          </p:cNvPr>
          <p:cNvGraphicFramePr>
            <a:graphicFrameLocks noGrp="1"/>
          </p:cNvGraphicFramePr>
          <p:nvPr/>
        </p:nvGraphicFramePr>
        <p:xfrm>
          <a:off x="713343" y="2178273"/>
          <a:ext cx="7717313" cy="741680"/>
        </p:xfrm>
        <a:graphic>
          <a:graphicData uri="http://schemas.openxmlformats.org/drawingml/2006/table">
            <a:tbl>
              <a:tblPr bandRow="1">
                <a:tableStyleId>{073A0DAA-6AF3-43AB-8588-CEC1D06C72B9}</a:tableStyleId>
              </a:tblPr>
              <a:tblGrid>
                <a:gridCol w="946829">
                  <a:extLst>
                    <a:ext uri="{9D8B030D-6E8A-4147-A177-3AD203B41FA5}">
                      <a16:colId xmlns:a16="http://schemas.microsoft.com/office/drawing/2014/main" val="2977301118"/>
                    </a:ext>
                  </a:extLst>
                </a:gridCol>
                <a:gridCol w="439329">
                  <a:extLst>
                    <a:ext uri="{9D8B030D-6E8A-4147-A177-3AD203B41FA5}">
                      <a16:colId xmlns:a16="http://schemas.microsoft.com/office/drawing/2014/main" val="426665724"/>
                    </a:ext>
                  </a:extLst>
                </a:gridCol>
                <a:gridCol w="439329">
                  <a:extLst>
                    <a:ext uri="{9D8B030D-6E8A-4147-A177-3AD203B41FA5}">
                      <a16:colId xmlns:a16="http://schemas.microsoft.com/office/drawing/2014/main" val="3392244070"/>
                    </a:ext>
                  </a:extLst>
                </a:gridCol>
                <a:gridCol w="439329">
                  <a:extLst>
                    <a:ext uri="{9D8B030D-6E8A-4147-A177-3AD203B41FA5}">
                      <a16:colId xmlns:a16="http://schemas.microsoft.com/office/drawing/2014/main" val="684123504"/>
                    </a:ext>
                  </a:extLst>
                </a:gridCol>
                <a:gridCol w="439329">
                  <a:extLst>
                    <a:ext uri="{9D8B030D-6E8A-4147-A177-3AD203B41FA5}">
                      <a16:colId xmlns:a16="http://schemas.microsoft.com/office/drawing/2014/main" val="2271912422"/>
                    </a:ext>
                  </a:extLst>
                </a:gridCol>
                <a:gridCol w="568098">
                  <a:extLst>
                    <a:ext uri="{9D8B030D-6E8A-4147-A177-3AD203B41FA5}">
                      <a16:colId xmlns:a16="http://schemas.microsoft.com/office/drawing/2014/main" val="3236871333"/>
                    </a:ext>
                  </a:extLst>
                </a:gridCol>
                <a:gridCol w="568098">
                  <a:extLst>
                    <a:ext uri="{9D8B030D-6E8A-4147-A177-3AD203B41FA5}">
                      <a16:colId xmlns:a16="http://schemas.microsoft.com/office/drawing/2014/main" val="2552087232"/>
                    </a:ext>
                  </a:extLst>
                </a:gridCol>
                <a:gridCol w="568098">
                  <a:extLst>
                    <a:ext uri="{9D8B030D-6E8A-4147-A177-3AD203B41FA5}">
                      <a16:colId xmlns:a16="http://schemas.microsoft.com/office/drawing/2014/main" val="4160794725"/>
                    </a:ext>
                  </a:extLst>
                </a:gridCol>
                <a:gridCol w="568098">
                  <a:extLst>
                    <a:ext uri="{9D8B030D-6E8A-4147-A177-3AD203B41FA5}">
                      <a16:colId xmlns:a16="http://schemas.microsoft.com/office/drawing/2014/main" val="3263163271"/>
                    </a:ext>
                  </a:extLst>
                </a:gridCol>
                <a:gridCol w="685194">
                  <a:extLst>
                    <a:ext uri="{9D8B030D-6E8A-4147-A177-3AD203B41FA5}">
                      <a16:colId xmlns:a16="http://schemas.microsoft.com/office/drawing/2014/main" val="1087786331"/>
                    </a:ext>
                  </a:extLst>
                </a:gridCol>
                <a:gridCol w="685194">
                  <a:extLst>
                    <a:ext uri="{9D8B030D-6E8A-4147-A177-3AD203B41FA5}">
                      <a16:colId xmlns:a16="http://schemas.microsoft.com/office/drawing/2014/main" val="2078913996"/>
                    </a:ext>
                  </a:extLst>
                </a:gridCol>
                <a:gridCol w="685194">
                  <a:extLst>
                    <a:ext uri="{9D8B030D-6E8A-4147-A177-3AD203B41FA5}">
                      <a16:colId xmlns:a16="http://schemas.microsoft.com/office/drawing/2014/main" val="3122294020"/>
                    </a:ext>
                  </a:extLst>
                </a:gridCol>
                <a:gridCol w="685194">
                  <a:extLst>
                    <a:ext uri="{9D8B030D-6E8A-4147-A177-3AD203B41FA5}">
                      <a16:colId xmlns:a16="http://schemas.microsoft.com/office/drawing/2014/main" val="1911492955"/>
                    </a:ext>
                  </a:extLst>
                </a:gridCol>
              </a:tblGrid>
              <a:tr h="370840">
                <a:tc>
                  <a:txBody>
                    <a:bodyPr/>
                    <a:lstStyle/>
                    <a:p>
                      <a:pPr algn="ctr"/>
                      <a:r>
                        <a:rPr lang="en-US" altLang="ja-GB">
                          <a:solidFill>
                            <a:srgbClr val="2F2523"/>
                          </a:solidFill>
                        </a:rPr>
                        <a:t>10</a:t>
                      </a:r>
                      <a:r>
                        <a:rPr lang="ja-GB" altLang="en-US">
                          <a:solidFill>
                            <a:srgbClr val="2F2523"/>
                          </a:solidFill>
                        </a:rPr>
                        <a:t>進数</a:t>
                      </a: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0</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2</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3</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4</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5</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6</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7</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8</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9</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10</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11</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49705180"/>
                  </a:ext>
                </a:extLst>
              </a:tr>
              <a:tr h="370840">
                <a:tc>
                  <a:txBody>
                    <a:bodyPr/>
                    <a:lstStyle/>
                    <a:p>
                      <a:pPr algn="ctr"/>
                      <a:r>
                        <a:rPr lang="en-US" altLang="ja-GB">
                          <a:solidFill>
                            <a:srgbClr val="2F2523"/>
                          </a:solidFill>
                        </a:rPr>
                        <a:t>2</a:t>
                      </a:r>
                      <a:r>
                        <a:rPr lang="ja-GB" altLang="en-US">
                          <a:solidFill>
                            <a:srgbClr val="2F2523"/>
                          </a:solidFill>
                        </a:rPr>
                        <a:t>進数</a:t>
                      </a: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0</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10</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11</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100</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101</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110</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111</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1000</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1001</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1010</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1011</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93458688"/>
                  </a:ext>
                </a:extLst>
              </a:tr>
            </a:tbl>
          </a:graphicData>
        </a:graphic>
      </p:graphicFrame>
      <p:pic>
        <p:nvPicPr>
          <p:cNvPr id="7" name="図 6">
            <a:extLst>
              <a:ext uri="{FF2B5EF4-FFF2-40B4-BE49-F238E27FC236}">
                <a16:creationId xmlns:a16="http://schemas.microsoft.com/office/drawing/2014/main" id="{D3738C25-ED8B-B6F8-0ED6-5FE019E2561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91777" y="4625171"/>
            <a:ext cx="4212940" cy="1378064"/>
          </a:xfrm>
          <a:prstGeom prst="rect">
            <a:avLst/>
          </a:prstGeom>
          <a:ln>
            <a:noFill/>
          </a:ln>
          <a:effectLst>
            <a:outerShdw blurRad="292100" dist="139700" dir="2700000" algn="tl" rotWithShape="0">
              <a:srgbClr val="333333">
                <a:alpha val="65000"/>
              </a:srgbClr>
            </a:outerShdw>
          </a:effectLst>
        </p:spPr>
      </p:pic>
      <p:sp>
        <p:nvSpPr>
          <p:cNvPr id="8" name="テキスト ボックス 7">
            <a:extLst>
              <a:ext uri="{FF2B5EF4-FFF2-40B4-BE49-F238E27FC236}">
                <a16:creationId xmlns:a16="http://schemas.microsoft.com/office/drawing/2014/main" id="{F3650BFF-4DD5-5C3D-E6DC-FC782B0DF74B}"/>
              </a:ext>
            </a:extLst>
          </p:cNvPr>
          <p:cNvSpPr txBox="1"/>
          <p:nvPr/>
        </p:nvSpPr>
        <p:spPr>
          <a:xfrm>
            <a:off x="949160" y="6167139"/>
            <a:ext cx="2698176" cy="523220"/>
          </a:xfrm>
          <a:prstGeom prst="rect">
            <a:avLst/>
          </a:prstGeom>
          <a:noFill/>
        </p:spPr>
        <p:txBody>
          <a:bodyPr wrap="none" rtlCol="0">
            <a:spAutoFit/>
          </a:bodyPr>
          <a:lstStyle/>
          <a:p>
            <a:pPr algn="ctr"/>
            <a:r>
              <a:rPr kumimoji="1" lang="ja-GB" altLang="en-US" sz="1400"/>
              <a:t>電圧による数値表現のイメージ</a:t>
            </a:r>
            <a:endParaRPr kumimoji="1" lang="en-US" altLang="ja-GB" sz="1400"/>
          </a:p>
          <a:p>
            <a:pPr algn="ctr"/>
            <a:r>
              <a:rPr kumimoji="1" lang="en-US" altLang="ja-GB" sz="1400" b="1"/>
              <a:t>(2</a:t>
            </a:r>
            <a:r>
              <a:rPr kumimoji="1" lang="ja-GB" altLang="en-US" sz="1400" b="1"/>
              <a:t>進数</a:t>
            </a:r>
            <a:r>
              <a:rPr kumimoji="1" lang="en-US" altLang="ja-GB" sz="1400" b="1"/>
              <a:t>)</a:t>
            </a:r>
            <a:endParaRPr kumimoji="1" lang="ja-GB" altLang="en-US" sz="1400" b="1"/>
          </a:p>
        </p:txBody>
      </p:sp>
      <p:pic>
        <p:nvPicPr>
          <p:cNvPr id="10" name="図 9" descr="グラフ, 棒グラフ&#10;&#10;AI によって生成されたコンテンツは間違っている可能性があります。">
            <a:extLst>
              <a:ext uri="{FF2B5EF4-FFF2-40B4-BE49-F238E27FC236}">
                <a16:creationId xmlns:a16="http://schemas.microsoft.com/office/drawing/2014/main" id="{5794A84C-2B89-ABA2-F899-99E0C6C6174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61470" y="4625171"/>
            <a:ext cx="4212940" cy="1378064"/>
          </a:xfrm>
          <a:prstGeom prst="rect">
            <a:avLst/>
          </a:prstGeom>
          <a:ln>
            <a:noFill/>
          </a:ln>
          <a:effectLst>
            <a:outerShdw blurRad="292100" dist="139700" dir="2700000" algn="tl" rotWithShape="0">
              <a:srgbClr val="333333">
                <a:alpha val="65000"/>
              </a:srgbClr>
            </a:outerShdw>
          </a:effectLst>
        </p:spPr>
      </p:pic>
      <p:sp>
        <p:nvSpPr>
          <p:cNvPr id="11" name="テキスト ボックス 10">
            <a:extLst>
              <a:ext uri="{FF2B5EF4-FFF2-40B4-BE49-F238E27FC236}">
                <a16:creationId xmlns:a16="http://schemas.microsoft.com/office/drawing/2014/main" id="{A50237F1-D770-38B3-7666-5E04CF9B27D1}"/>
              </a:ext>
            </a:extLst>
          </p:cNvPr>
          <p:cNvSpPr txBox="1"/>
          <p:nvPr/>
        </p:nvSpPr>
        <p:spPr>
          <a:xfrm>
            <a:off x="5418853" y="6167139"/>
            <a:ext cx="2698176" cy="523220"/>
          </a:xfrm>
          <a:prstGeom prst="rect">
            <a:avLst/>
          </a:prstGeom>
          <a:noFill/>
        </p:spPr>
        <p:txBody>
          <a:bodyPr wrap="none" rtlCol="0">
            <a:spAutoFit/>
          </a:bodyPr>
          <a:lstStyle/>
          <a:p>
            <a:pPr algn="ctr"/>
            <a:r>
              <a:rPr kumimoji="1" lang="ja-GB" altLang="en-US" sz="1400"/>
              <a:t>電圧による数値表現のイメージ</a:t>
            </a:r>
            <a:endParaRPr kumimoji="1" lang="en-US" altLang="ja-GB" sz="1400"/>
          </a:p>
          <a:p>
            <a:pPr algn="ctr"/>
            <a:r>
              <a:rPr kumimoji="1" lang="en-US" altLang="ja-GB" sz="1400" b="1"/>
              <a:t>(10</a:t>
            </a:r>
            <a:r>
              <a:rPr kumimoji="1" lang="ja-GB" altLang="en-US" sz="1400" b="1"/>
              <a:t>進数</a:t>
            </a:r>
            <a:r>
              <a:rPr kumimoji="1" lang="en-US" altLang="ja-GB" sz="1400" b="1"/>
              <a:t>)</a:t>
            </a:r>
            <a:endParaRPr kumimoji="1" lang="ja-GB" altLang="en-US" sz="1400" b="1"/>
          </a:p>
        </p:txBody>
      </p:sp>
    </p:spTree>
    <p:extLst>
      <p:ext uri="{BB962C8B-B14F-4D97-AF65-F5344CB8AC3E}">
        <p14:creationId xmlns:p14="http://schemas.microsoft.com/office/powerpoint/2010/main" val="2702843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CB372-AAA1-EAA7-82DE-C0A4E9D402F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0E55392-5557-CC76-832F-6E2932980213}"/>
              </a:ext>
            </a:extLst>
          </p:cNvPr>
          <p:cNvSpPr>
            <a:spLocks noGrp="1"/>
          </p:cNvSpPr>
          <p:nvPr>
            <p:ph type="title"/>
          </p:nvPr>
        </p:nvSpPr>
        <p:spPr/>
        <p:txBody>
          <a:bodyPr/>
          <a:lstStyle/>
          <a:p>
            <a:r>
              <a:rPr kumimoji="1" lang="ja-GB" altLang="en-US"/>
              <a:t>デジタル電子計算機と</a:t>
            </a:r>
            <a:r>
              <a:rPr kumimoji="1" lang="en-US" altLang="ja-GB"/>
              <a:t>2</a:t>
            </a:r>
            <a:r>
              <a:rPr kumimoji="1" lang="ja-GB" altLang="en-US"/>
              <a:t>進数表現</a:t>
            </a:r>
          </a:p>
        </p:txBody>
      </p:sp>
      <p:sp>
        <p:nvSpPr>
          <p:cNvPr id="3" name="コンテンツ プレースホルダー 2">
            <a:extLst>
              <a:ext uri="{FF2B5EF4-FFF2-40B4-BE49-F238E27FC236}">
                <a16:creationId xmlns:a16="http://schemas.microsoft.com/office/drawing/2014/main" id="{24EE98C6-3BF1-D44B-9586-9616CD3EBF89}"/>
              </a:ext>
            </a:extLst>
          </p:cNvPr>
          <p:cNvSpPr>
            <a:spLocks noGrp="1"/>
          </p:cNvSpPr>
          <p:nvPr>
            <p:ph idx="1"/>
          </p:nvPr>
        </p:nvSpPr>
        <p:spPr/>
        <p:txBody>
          <a:bodyPr>
            <a:normAutofit/>
          </a:bodyPr>
          <a:lstStyle/>
          <a:p>
            <a:pPr marL="0" indent="0">
              <a:buNone/>
            </a:pPr>
            <a:r>
              <a:rPr lang="ja-GB" altLang="en-US" sz="2000"/>
              <a:t>微細な電圧スイッチで</a:t>
            </a:r>
            <a:r>
              <a:rPr lang="en-US" altLang="ja-GB" sz="2000"/>
              <a:t>0</a:t>
            </a:r>
            <a:r>
              <a:rPr lang="ja-GB" altLang="en-US" sz="2000"/>
              <a:t>と</a:t>
            </a:r>
            <a:r>
              <a:rPr lang="en-US" altLang="ja-GB" sz="2000"/>
              <a:t>1</a:t>
            </a:r>
            <a:r>
              <a:rPr lang="ja-GB" altLang="en-US" sz="2000"/>
              <a:t>を表現</a:t>
            </a:r>
            <a:endParaRPr kumimoji="1" lang="en-US" altLang="ja-GB" sz="2000"/>
          </a:p>
          <a:p>
            <a:pPr marL="457200" lvl="1" indent="0">
              <a:buNone/>
            </a:pPr>
            <a:r>
              <a:rPr kumimoji="1" lang="ja-GB" altLang="en-US" sz="1800">
                <a:solidFill>
                  <a:srgbClr val="0070C0"/>
                </a:solidFill>
              </a:rPr>
              <a:t>半導体：導体（電気を通す）と絶縁体（通さない）の中間的な物質</a:t>
            </a:r>
            <a:endParaRPr kumimoji="1" lang="en-US" altLang="ja-GB" sz="1800">
              <a:solidFill>
                <a:srgbClr val="0070C0"/>
              </a:solidFill>
            </a:endParaRPr>
          </a:p>
          <a:p>
            <a:pPr lvl="2"/>
            <a:r>
              <a:rPr lang="ja-GB" altLang="en-US" sz="1600">
                <a:solidFill>
                  <a:srgbClr val="2F2523"/>
                </a:solidFill>
              </a:rPr>
              <a:t>電気抵抗が導体と絶縁体の中間程度の物質</a:t>
            </a:r>
            <a:endParaRPr lang="en-US" altLang="ja-GB" sz="1600">
              <a:solidFill>
                <a:srgbClr val="2F2523"/>
              </a:solidFill>
            </a:endParaRPr>
          </a:p>
          <a:p>
            <a:pPr lvl="3"/>
            <a:r>
              <a:rPr lang="ja-GB" altLang="en-US" sz="1400">
                <a:solidFill>
                  <a:srgbClr val="2F2523"/>
                </a:solidFill>
              </a:rPr>
              <a:t>例：シリコン，ゲルマニウム</a:t>
            </a:r>
            <a:endParaRPr lang="en-US" altLang="ja-GB" sz="1400">
              <a:solidFill>
                <a:srgbClr val="2F2523"/>
              </a:solidFill>
            </a:endParaRPr>
          </a:p>
          <a:p>
            <a:pPr lvl="2"/>
            <a:r>
              <a:rPr kumimoji="1" lang="ja-GB" altLang="en-US" sz="1600">
                <a:solidFill>
                  <a:srgbClr val="2F2523"/>
                </a:solidFill>
              </a:rPr>
              <a:t>不純物や外部刺激の有無によって，電気を通したり通さなかったりする</a:t>
            </a:r>
            <a:endParaRPr lang="en-US" altLang="ja-GB" sz="1600">
              <a:solidFill>
                <a:srgbClr val="2F2523"/>
              </a:solidFill>
            </a:endParaRPr>
          </a:p>
          <a:p>
            <a:pPr marL="1371600" lvl="3" indent="0">
              <a:buNone/>
            </a:pPr>
            <a:r>
              <a:rPr lang="en-US" altLang="ja-GB" sz="1400">
                <a:solidFill>
                  <a:srgbClr val="2F2523"/>
                </a:solidFill>
              </a:rPr>
              <a:t>→ </a:t>
            </a:r>
            <a:r>
              <a:rPr lang="ja-GB" altLang="en-US" sz="1400">
                <a:solidFill>
                  <a:srgbClr val="2F2523"/>
                </a:solidFill>
              </a:rPr>
              <a:t>スイッチとして</a:t>
            </a:r>
            <a:r>
              <a:rPr lang="en-US" altLang="ja-GB" sz="1400">
                <a:solidFill>
                  <a:srgbClr val="2F2523"/>
                </a:solidFill>
              </a:rPr>
              <a:t>0/1</a:t>
            </a:r>
            <a:r>
              <a:rPr lang="ja-GB" altLang="en-US" sz="1400">
                <a:solidFill>
                  <a:srgbClr val="2F2523"/>
                </a:solidFill>
              </a:rPr>
              <a:t>を表現可能</a:t>
            </a:r>
            <a:endParaRPr lang="en-US" altLang="ja-GB" sz="1400">
              <a:solidFill>
                <a:srgbClr val="2F2523"/>
              </a:solidFill>
            </a:endParaRPr>
          </a:p>
          <a:p>
            <a:pPr lvl="2"/>
            <a:endParaRPr lang="en-US" altLang="ja-GB" sz="1600"/>
          </a:p>
          <a:p>
            <a:pPr marL="457200" lvl="1" indent="0">
              <a:buNone/>
            </a:pPr>
            <a:r>
              <a:rPr kumimoji="1" lang="en-US" altLang="ja-GB" sz="1800">
                <a:solidFill>
                  <a:srgbClr val="0070C0"/>
                </a:solidFill>
              </a:rPr>
              <a:t>IC</a:t>
            </a:r>
            <a:r>
              <a:rPr kumimoji="1" lang="ja-GB" altLang="en-US" sz="1800">
                <a:solidFill>
                  <a:srgbClr val="0070C0"/>
                </a:solidFill>
              </a:rPr>
              <a:t>チップ：大量のスイッチを並べた装置（集積回路，</a:t>
            </a:r>
            <a:r>
              <a:rPr kumimoji="1" lang="en-US" altLang="ja-GB" sz="1800">
                <a:solidFill>
                  <a:srgbClr val="0070C0"/>
                </a:solidFill>
              </a:rPr>
              <a:t>Integrated Circuit</a:t>
            </a:r>
            <a:r>
              <a:rPr kumimoji="1" lang="ja-GB" altLang="en-US" sz="1800">
                <a:solidFill>
                  <a:srgbClr val="0070C0"/>
                </a:solidFill>
              </a:rPr>
              <a:t>）</a:t>
            </a:r>
            <a:endParaRPr kumimoji="1" lang="en-US" altLang="ja-GB" sz="1800">
              <a:solidFill>
                <a:srgbClr val="0070C0"/>
              </a:solidFill>
            </a:endParaRPr>
          </a:p>
          <a:p>
            <a:pPr lvl="2"/>
            <a:r>
              <a:rPr kumimoji="1" lang="ja-GB" altLang="en-US" sz="1600"/>
              <a:t>微細な半導体装置を大量に並べたデバイス</a:t>
            </a:r>
            <a:endParaRPr kumimoji="1" lang="en-US" altLang="ja-GB" sz="1600"/>
          </a:p>
          <a:p>
            <a:pPr lvl="2"/>
            <a:r>
              <a:rPr lang="ja-GB" altLang="en-US" sz="1600"/>
              <a:t>各半導体装置は電気信号の「遮断</a:t>
            </a:r>
            <a:r>
              <a:rPr lang="en-US" altLang="ja-GB" sz="1600"/>
              <a:t> or </a:t>
            </a:r>
            <a:r>
              <a:rPr lang="ja-GB" altLang="en-US" sz="1600"/>
              <a:t>通過」で「</a:t>
            </a:r>
            <a:r>
              <a:rPr lang="en-US" altLang="ja-GB" sz="1600"/>
              <a:t>0 or 1</a:t>
            </a:r>
            <a:r>
              <a:rPr lang="ja-GB" altLang="en-US" sz="1600"/>
              <a:t>」を表現</a:t>
            </a:r>
            <a:endParaRPr lang="en-US" altLang="ja-GB" sz="1600"/>
          </a:p>
          <a:p>
            <a:pPr lvl="2"/>
            <a:endParaRPr kumimoji="1" lang="ja-GB" altLang="en-US" sz="1600"/>
          </a:p>
        </p:txBody>
      </p:sp>
      <p:sp>
        <p:nvSpPr>
          <p:cNvPr id="8" name="テキスト ボックス 7">
            <a:extLst>
              <a:ext uri="{FF2B5EF4-FFF2-40B4-BE49-F238E27FC236}">
                <a16:creationId xmlns:a16="http://schemas.microsoft.com/office/drawing/2014/main" id="{D771939E-3695-50FE-86CF-B564F03943A3}"/>
              </a:ext>
            </a:extLst>
          </p:cNvPr>
          <p:cNvSpPr txBox="1"/>
          <p:nvPr/>
        </p:nvSpPr>
        <p:spPr>
          <a:xfrm>
            <a:off x="1460550" y="6312945"/>
            <a:ext cx="5302734" cy="461665"/>
          </a:xfrm>
          <a:prstGeom prst="rect">
            <a:avLst/>
          </a:prstGeom>
          <a:noFill/>
        </p:spPr>
        <p:txBody>
          <a:bodyPr wrap="none" rtlCol="0">
            <a:spAutoFit/>
          </a:bodyPr>
          <a:lstStyle/>
          <a:p>
            <a:pPr algn="ctr"/>
            <a:r>
              <a:rPr kumimoji="1" lang="ja-GB" altLang="en-US" sz="1200" b="1">
                <a:solidFill>
                  <a:schemeClr val="tx1">
                    <a:lumMod val="50000"/>
                    <a:lumOff val="50000"/>
                  </a:schemeClr>
                </a:solidFill>
              </a:rPr>
              <a:t>左：シリコン単結晶のインゴット</a:t>
            </a:r>
            <a:endParaRPr kumimoji="1" lang="en-US" altLang="ja-GB" sz="1200" b="1">
              <a:solidFill>
                <a:schemeClr val="tx1">
                  <a:lumMod val="50000"/>
                  <a:lumOff val="50000"/>
                </a:schemeClr>
              </a:solidFill>
            </a:endParaRPr>
          </a:p>
          <a:p>
            <a:pPr algn="ctr"/>
            <a:r>
              <a:rPr kumimoji="1" lang="en-GB" altLang="ja-GB" sz="1200" b="1">
                <a:solidFill>
                  <a:schemeClr val="tx1">
                    <a:lumMod val="50000"/>
                    <a:lumOff val="50000"/>
                  </a:schemeClr>
                </a:solidFill>
              </a:rPr>
              <a:t>CC </a:t>
            </a:r>
            <a:r>
              <a:rPr kumimoji="1" lang="ja-JP" altLang="en-US" sz="1200" b="1">
                <a:solidFill>
                  <a:schemeClr val="tx1">
                    <a:lumMod val="50000"/>
                    <a:lumOff val="50000"/>
                  </a:schemeClr>
                </a:solidFill>
              </a:rPr>
              <a:t>表示</a:t>
            </a:r>
            <a:r>
              <a:rPr kumimoji="1" lang="en-US" altLang="ja-JP" sz="1200" b="1">
                <a:solidFill>
                  <a:schemeClr val="tx1">
                    <a:lumMod val="50000"/>
                    <a:lumOff val="50000"/>
                  </a:schemeClr>
                </a:solidFill>
              </a:rPr>
              <a:t>-</a:t>
            </a:r>
            <a:r>
              <a:rPr kumimoji="1" lang="ja-JP" altLang="en-US" sz="1200" b="1">
                <a:solidFill>
                  <a:schemeClr val="tx1">
                    <a:lumMod val="50000"/>
                    <a:lumOff val="50000"/>
                  </a:schemeClr>
                </a:solidFill>
              </a:rPr>
              <a:t>継承 </a:t>
            </a:r>
            <a:r>
              <a:rPr kumimoji="1" lang="en-US" altLang="ja-JP" sz="1200" b="1">
                <a:solidFill>
                  <a:schemeClr val="tx1">
                    <a:lumMod val="50000"/>
                    <a:lumOff val="50000"/>
                  </a:schemeClr>
                </a:solidFill>
              </a:rPr>
              <a:t>3.0, </a:t>
            </a:r>
            <a:r>
              <a:rPr kumimoji="1" lang="en-GB" altLang="ja-GB" sz="1200" b="1">
                <a:solidFill>
                  <a:schemeClr val="tx1">
                    <a:lumMod val="50000"/>
                    <a:lumOff val="50000"/>
                  </a:schemeClr>
                </a:solidFill>
                <a:hlinkClick r:id="rId2">
                  <a:extLst>
                    <a:ext uri="{A12FA001-AC4F-418D-AE19-62706E023703}">
                      <ahyp:hlinkClr xmlns:ahyp="http://schemas.microsoft.com/office/drawing/2018/hyperlinkcolor" val="tx"/>
                    </a:ext>
                  </a:extLst>
                </a:hlinkClick>
              </a:rPr>
              <a:t>https://commons.wikimedia.org/w/index.php?curid=314282</a:t>
            </a:r>
            <a:r>
              <a:rPr kumimoji="1" lang="en-GB" altLang="ja-GB" sz="1200" b="1">
                <a:solidFill>
                  <a:schemeClr val="tx1">
                    <a:lumMod val="50000"/>
                    <a:lumOff val="50000"/>
                  </a:schemeClr>
                </a:solidFill>
              </a:rPr>
              <a:t> </a:t>
            </a:r>
            <a:endParaRPr kumimoji="1" lang="ja-GB" altLang="en-US" sz="1200" b="1">
              <a:solidFill>
                <a:schemeClr val="tx1">
                  <a:lumMod val="50000"/>
                  <a:lumOff val="50000"/>
                </a:schemeClr>
              </a:solidFill>
            </a:endParaRPr>
          </a:p>
        </p:txBody>
      </p:sp>
      <p:grpSp>
        <p:nvGrpSpPr>
          <p:cNvPr id="11" name="グループ化 10">
            <a:extLst>
              <a:ext uri="{FF2B5EF4-FFF2-40B4-BE49-F238E27FC236}">
                <a16:creationId xmlns:a16="http://schemas.microsoft.com/office/drawing/2014/main" id="{E588D220-01D1-F65D-6957-D375650B3AAD}"/>
              </a:ext>
            </a:extLst>
          </p:cNvPr>
          <p:cNvGrpSpPr/>
          <p:nvPr/>
        </p:nvGrpSpPr>
        <p:grpSpPr>
          <a:xfrm>
            <a:off x="582033" y="4091457"/>
            <a:ext cx="7979934" cy="2025942"/>
            <a:chOff x="1045050" y="4030497"/>
            <a:chExt cx="7979934" cy="2025942"/>
          </a:xfrm>
        </p:grpSpPr>
        <p:pic>
          <p:nvPicPr>
            <p:cNvPr id="5" name="図 4" descr="電子機器, 回路 が含まれている画像&#10;&#10;AI によって生成されたコンテンツは間違っている可能性があります。">
              <a:extLst>
                <a:ext uri="{FF2B5EF4-FFF2-40B4-BE49-F238E27FC236}">
                  <a16:creationId xmlns:a16="http://schemas.microsoft.com/office/drawing/2014/main" id="{159B3C4E-3A9E-DDE7-7771-1A48ECAFB63C}"/>
                </a:ext>
              </a:extLst>
            </p:cNvPr>
            <p:cNvPicPr>
              <a:picLocks noChangeAspect="1"/>
            </p:cNvPicPr>
            <p:nvPr/>
          </p:nvPicPr>
          <p:blipFill>
            <a:blip r:embed="rId3"/>
            <a:stretch>
              <a:fillRect/>
            </a:stretch>
          </p:blipFill>
          <p:spPr>
            <a:xfrm>
              <a:off x="5981316" y="4030497"/>
              <a:ext cx="3043668" cy="2025942"/>
            </a:xfrm>
            <a:prstGeom prst="rect">
              <a:avLst/>
            </a:prstGeom>
            <a:ln>
              <a:noFill/>
            </a:ln>
            <a:effectLst>
              <a:outerShdw blurRad="292100" dist="139700" dir="2700000" algn="tl" rotWithShape="0">
                <a:srgbClr val="333333">
                  <a:alpha val="65000"/>
                </a:srgbClr>
              </a:outerShdw>
            </a:effectLst>
          </p:spPr>
        </p:pic>
        <p:pic>
          <p:nvPicPr>
            <p:cNvPr id="7" name="図 6" descr="屋内, 人, 座る, テーブル が含まれている画像&#10;&#10;AI によって生成されたコンテンツは間違っている可能性があります。">
              <a:extLst>
                <a:ext uri="{FF2B5EF4-FFF2-40B4-BE49-F238E27FC236}">
                  <a16:creationId xmlns:a16="http://schemas.microsoft.com/office/drawing/2014/main" id="{A20DF834-3673-962B-0515-749F6898A841}"/>
                </a:ext>
              </a:extLst>
            </p:cNvPr>
            <p:cNvPicPr>
              <a:picLocks noChangeAspect="1"/>
            </p:cNvPicPr>
            <p:nvPr/>
          </p:nvPicPr>
          <p:blipFill>
            <a:blip r:embed="rId4"/>
            <a:stretch>
              <a:fillRect/>
            </a:stretch>
          </p:blipFill>
          <p:spPr>
            <a:xfrm>
              <a:off x="2577416" y="4030497"/>
              <a:ext cx="3043669" cy="2025942"/>
            </a:xfrm>
            <a:prstGeom prst="rect">
              <a:avLst/>
            </a:prstGeom>
            <a:ln>
              <a:noFill/>
            </a:ln>
            <a:effectLst>
              <a:outerShdw blurRad="292100" dist="139700" dir="2700000" algn="tl" rotWithShape="0">
                <a:srgbClr val="333333">
                  <a:alpha val="65000"/>
                </a:srgbClr>
              </a:outerShdw>
            </a:effectLst>
          </p:spPr>
        </p:pic>
        <p:pic>
          <p:nvPicPr>
            <p:cNvPr id="10" name="図 9" descr="ガラスの瓶&#10;&#10;AI によって生成されたコンテンツは間違っている可能性があります。">
              <a:extLst>
                <a:ext uri="{FF2B5EF4-FFF2-40B4-BE49-F238E27FC236}">
                  <a16:creationId xmlns:a16="http://schemas.microsoft.com/office/drawing/2014/main" id="{EA844CCF-D251-0D2F-EB77-D725312DF8F0}"/>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a:off x="1045050" y="4030497"/>
              <a:ext cx="1172135" cy="2025942"/>
            </a:xfrm>
            <a:prstGeom prst="rect">
              <a:avLst/>
            </a:prstGeom>
            <a:ln>
              <a:noFill/>
            </a:ln>
            <a:effectLst>
              <a:outerShdw blurRad="292100" dist="139700" dir="2700000" algn="tl" rotWithShape="0">
                <a:srgbClr val="333333">
                  <a:alpha val="65000"/>
                </a:srgbClr>
              </a:outerShdw>
            </a:effectLst>
          </p:spPr>
        </p:pic>
      </p:grpSp>
    </p:spTree>
    <p:extLst>
      <p:ext uri="{BB962C8B-B14F-4D97-AF65-F5344CB8AC3E}">
        <p14:creationId xmlns:p14="http://schemas.microsoft.com/office/powerpoint/2010/main" val="235232477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D8952-744E-EBE0-091B-F3212350EDC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67751DB-4861-4E53-39D4-7735A085E0FF}"/>
              </a:ext>
            </a:extLst>
          </p:cNvPr>
          <p:cNvSpPr>
            <a:spLocks noGrp="1"/>
          </p:cNvSpPr>
          <p:nvPr>
            <p:ph type="title"/>
          </p:nvPr>
        </p:nvSpPr>
        <p:spPr/>
        <p:txBody>
          <a:bodyPr>
            <a:normAutofit fontScale="90000"/>
          </a:bodyPr>
          <a:lstStyle/>
          <a:p>
            <a:r>
              <a:rPr kumimoji="1" lang="ja-GB" altLang="en-US"/>
              <a:t>数値化された情報はどのように計算機に入っているか？</a:t>
            </a:r>
          </a:p>
        </p:txBody>
      </p:sp>
      <p:sp>
        <p:nvSpPr>
          <p:cNvPr id="3" name="コンテンツ プレースホルダー 2">
            <a:extLst>
              <a:ext uri="{FF2B5EF4-FFF2-40B4-BE49-F238E27FC236}">
                <a16:creationId xmlns:a16="http://schemas.microsoft.com/office/drawing/2014/main" id="{C693F9C9-59C5-D9CF-7BED-23F9F3D93DB9}"/>
              </a:ext>
            </a:extLst>
          </p:cNvPr>
          <p:cNvSpPr>
            <a:spLocks noGrp="1"/>
          </p:cNvSpPr>
          <p:nvPr>
            <p:ph idx="1"/>
          </p:nvPr>
        </p:nvSpPr>
        <p:spPr/>
        <p:txBody>
          <a:bodyPr/>
          <a:lstStyle/>
          <a:p>
            <a:pPr marL="0" indent="0">
              <a:buNone/>
            </a:pPr>
            <a:r>
              <a:rPr kumimoji="1" lang="ja-GB" altLang="en-US"/>
              <a:t>現在の電子計算機では，</a:t>
            </a:r>
            <a:r>
              <a:rPr kumimoji="1" lang="en-US" altLang="ja-GB"/>
              <a:t>2</a:t>
            </a:r>
            <a:r>
              <a:rPr kumimoji="1" lang="ja-GB" altLang="en-US"/>
              <a:t>進数のデジタル表現が標準的</a:t>
            </a:r>
            <a:endParaRPr kumimoji="1" lang="en-US" altLang="ja-GB"/>
          </a:p>
          <a:p>
            <a:pPr lvl="1"/>
            <a:r>
              <a:rPr lang="ja-GB" altLang="en-US">
                <a:solidFill>
                  <a:srgbClr val="2F2523"/>
                </a:solidFill>
              </a:rPr>
              <a:t>あらゆる情報（数値）はデジタル化されて離散的に近似される</a:t>
            </a:r>
            <a:endParaRPr lang="en-US" altLang="ja-GB">
              <a:solidFill>
                <a:srgbClr val="2F2523"/>
              </a:solidFill>
            </a:endParaRPr>
          </a:p>
          <a:p>
            <a:pPr lvl="1"/>
            <a:r>
              <a:rPr lang="ja-GB" altLang="en-US">
                <a:solidFill>
                  <a:srgbClr val="2F2523"/>
                </a:solidFill>
              </a:rPr>
              <a:t>あらゆる情報（数値）は</a:t>
            </a:r>
            <a:r>
              <a:rPr lang="en-US" altLang="ja-GB">
                <a:solidFill>
                  <a:srgbClr val="2F2523"/>
                </a:solidFill>
              </a:rPr>
              <a:t>2</a:t>
            </a:r>
            <a:r>
              <a:rPr lang="ja-GB" altLang="en-US">
                <a:solidFill>
                  <a:srgbClr val="2F2523"/>
                </a:solidFill>
              </a:rPr>
              <a:t>進数で表現されて</a:t>
            </a:r>
            <a:r>
              <a:rPr lang="en-US" altLang="ja-GB">
                <a:solidFill>
                  <a:srgbClr val="2F2523"/>
                </a:solidFill>
              </a:rPr>
              <a:t>0</a:t>
            </a:r>
            <a:r>
              <a:rPr lang="ja-GB" altLang="en-US">
                <a:solidFill>
                  <a:srgbClr val="2F2523"/>
                </a:solidFill>
              </a:rPr>
              <a:t>と</a:t>
            </a:r>
            <a:r>
              <a:rPr lang="en-US" altLang="ja-GB">
                <a:solidFill>
                  <a:srgbClr val="2F2523"/>
                </a:solidFill>
              </a:rPr>
              <a:t>1</a:t>
            </a:r>
            <a:r>
              <a:rPr lang="ja-GB" altLang="en-US">
                <a:solidFill>
                  <a:srgbClr val="2F2523"/>
                </a:solidFill>
              </a:rPr>
              <a:t>のみで記述される</a:t>
            </a:r>
            <a:endParaRPr lang="en-US" altLang="ja-GB">
              <a:solidFill>
                <a:srgbClr val="2F2523"/>
              </a:solidFill>
            </a:endParaRPr>
          </a:p>
          <a:p>
            <a:pPr marL="0" indent="0" algn="ctr">
              <a:buNone/>
            </a:pPr>
            <a:endParaRPr lang="en-US" altLang="ja-GB" sz="1600">
              <a:solidFill>
                <a:srgbClr val="2F2523"/>
              </a:solidFill>
            </a:endParaRPr>
          </a:p>
          <a:p>
            <a:pPr marL="0" indent="0" algn="ctr">
              <a:buNone/>
            </a:pPr>
            <a:endParaRPr lang="en-US" altLang="ja-GB" sz="1600">
              <a:solidFill>
                <a:srgbClr val="2F2523"/>
              </a:solidFill>
            </a:endParaRPr>
          </a:p>
          <a:p>
            <a:pPr marL="0" indent="0" algn="ctr">
              <a:buNone/>
            </a:pPr>
            <a:r>
              <a:rPr kumimoji="1" lang="ja-GB" altLang="en-US">
                <a:solidFill>
                  <a:schemeClr val="accent2"/>
                </a:solidFill>
              </a:rPr>
              <a:t>デジタル：情報を数値で表現する方法，保持・伝達しやすい</a:t>
            </a:r>
            <a:endParaRPr kumimoji="1" lang="en-US" altLang="ja-GB">
              <a:solidFill>
                <a:schemeClr val="accent2"/>
              </a:solidFill>
            </a:endParaRPr>
          </a:p>
          <a:p>
            <a:pPr marL="0" indent="0" algn="ctr">
              <a:buNone/>
            </a:pPr>
            <a:r>
              <a:rPr kumimoji="1" lang="en-US" altLang="ja-GB">
                <a:solidFill>
                  <a:schemeClr val="accent2"/>
                </a:solidFill>
              </a:rPr>
              <a:t>2</a:t>
            </a:r>
            <a:r>
              <a:rPr kumimoji="1" lang="ja-GB" altLang="en-US">
                <a:solidFill>
                  <a:schemeClr val="accent2"/>
                </a:solidFill>
              </a:rPr>
              <a:t>進数：</a:t>
            </a:r>
            <a:r>
              <a:rPr lang="en-US" altLang="ja-GB">
                <a:solidFill>
                  <a:schemeClr val="accent2"/>
                </a:solidFill>
              </a:rPr>
              <a:t>2</a:t>
            </a:r>
            <a:r>
              <a:rPr lang="ja-GB" altLang="en-US">
                <a:solidFill>
                  <a:schemeClr val="accent2"/>
                </a:solidFill>
              </a:rPr>
              <a:t>で桁の上がる数値表現，機械で表現しやすい</a:t>
            </a:r>
            <a:endParaRPr kumimoji="1" lang="ja-GB" altLang="en-US">
              <a:solidFill>
                <a:schemeClr val="accent2"/>
              </a:solidFill>
            </a:endParaRPr>
          </a:p>
        </p:txBody>
      </p:sp>
      <p:graphicFrame>
        <p:nvGraphicFramePr>
          <p:cNvPr id="4" name="表 3">
            <a:extLst>
              <a:ext uri="{FF2B5EF4-FFF2-40B4-BE49-F238E27FC236}">
                <a16:creationId xmlns:a16="http://schemas.microsoft.com/office/drawing/2014/main" id="{BAE45B3D-DE05-4B5A-BB23-5E7ABDF7D333}"/>
              </a:ext>
            </a:extLst>
          </p:cNvPr>
          <p:cNvGraphicFramePr>
            <a:graphicFrameLocks noGrp="1"/>
          </p:cNvGraphicFramePr>
          <p:nvPr/>
        </p:nvGraphicFramePr>
        <p:xfrm>
          <a:off x="713343" y="3959224"/>
          <a:ext cx="7717313" cy="741680"/>
        </p:xfrm>
        <a:graphic>
          <a:graphicData uri="http://schemas.openxmlformats.org/drawingml/2006/table">
            <a:tbl>
              <a:tblPr bandRow="1">
                <a:tableStyleId>{073A0DAA-6AF3-43AB-8588-CEC1D06C72B9}</a:tableStyleId>
              </a:tblPr>
              <a:tblGrid>
                <a:gridCol w="946829">
                  <a:extLst>
                    <a:ext uri="{9D8B030D-6E8A-4147-A177-3AD203B41FA5}">
                      <a16:colId xmlns:a16="http://schemas.microsoft.com/office/drawing/2014/main" val="2977301118"/>
                    </a:ext>
                  </a:extLst>
                </a:gridCol>
                <a:gridCol w="439329">
                  <a:extLst>
                    <a:ext uri="{9D8B030D-6E8A-4147-A177-3AD203B41FA5}">
                      <a16:colId xmlns:a16="http://schemas.microsoft.com/office/drawing/2014/main" val="426665724"/>
                    </a:ext>
                  </a:extLst>
                </a:gridCol>
                <a:gridCol w="439329">
                  <a:extLst>
                    <a:ext uri="{9D8B030D-6E8A-4147-A177-3AD203B41FA5}">
                      <a16:colId xmlns:a16="http://schemas.microsoft.com/office/drawing/2014/main" val="3392244070"/>
                    </a:ext>
                  </a:extLst>
                </a:gridCol>
                <a:gridCol w="439329">
                  <a:extLst>
                    <a:ext uri="{9D8B030D-6E8A-4147-A177-3AD203B41FA5}">
                      <a16:colId xmlns:a16="http://schemas.microsoft.com/office/drawing/2014/main" val="684123504"/>
                    </a:ext>
                  </a:extLst>
                </a:gridCol>
                <a:gridCol w="439329">
                  <a:extLst>
                    <a:ext uri="{9D8B030D-6E8A-4147-A177-3AD203B41FA5}">
                      <a16:colId xmlns:a16="http://schemas.microsoft.com/office/drawing/2014/main" val="2271912422"/>
                    </a:ext>
                  </a:extLst>
                </a:gridCol>
                <a:gridCol w="568098">
                  <a:extLst>
                    <a:ext uri="{9D8B030D-6E8A-4147-A177-3AD203B41FA5}">
                      <a16:colId xmlns:a16="http://schemas.microsoft.com/office/drawing/2014/main" val="3236871333"/>
                    </a:ext>
                  </a:extLst>
                </a:gridCol>
                <a:gridCol w="568098">
                  <a:extLst>
                    <a:ext uri="{9D8B030D-6E8A-4147-A177-3AD203B41FA5}">
                      <a16:colId xmlns:a16="http://schemas.microsoft.com/office/drawing/2014/main" val="2552087232"/>
                    </a:ext>
                  </a:extLst>
                </a:gridCol>
                <a:gridCol w="568098">
                  <a:extLst>
                    <a:ext uri="{9D8B030D-6E8A-4147-A177-3AD203B41FA5}">
                      <a16:colId xmlns:a16="http://schemas.microsoft.com/office/drawing/2014/main" val="4160794725"/>
                    </a:ext>
                  </a:extLst>
                </a:gridCol>
                <a:gridCol w="568098">
                  <a:extLst>
                    <a:ext uri="{9D8B030D-6E8A-4147-A177-3AD203B41FA5}">
                      <a16:colId xmlns:a16="http://schemas.microsoft.com/office/drawing/2014/main" val="3263163271"/>
                    </a:ext>
                  </a:extLst>
                </a:gridCol>
                <a:gridCol w="685194">
                  <a:extLst>
                    <a:ext uri="{9D8B030D-6E8A-4147-A177-3AD203B41FA5}">
                      <a16:colId xmlns:a16="http://schemas.microsoft.com/office/drawing/2014/main" val="1087786331"/>
                    </a:ext>
                  </a:extLst>
                </a:gridCol>
                <a:gridCol w="685194">
                  <a:extLst>
                    <a:ext uri="{9D8B030D-6E8A-4147-A177-3AD203B41FA5}">
                      <a16:colId xmlns:a16="http://schemas.microsoft.com/office/drawing/2014/main" val="2078913996"/>
                    </a:ext>
                  </a:extLst>
                </a:gridCol>
                <a:gridCol w="685194">
                  <a:extLst>
                    <a:ext uri="{9D8B030D-6E8A-4147-A177-3AD203B41FA5}">
                      <a16:colId xmlns:a16="http://schemas.microsoft.com/office/drawing/2014/main" val="3122294020"/>
                    </a:ext>
                  </a:extLst>
                </a:gridCol>
                <a:gridCol w="685194">
                  <a:extLst>
                    <a:ext uri="{9D8B030D-6E8A-4147-A177-3AD203B41FA5}">
                      <a16:colId xmlns:a16="http://schemas.microsoft.com/office/drawing/2014/main" val="1911492955"/>
                    </a:ext>
                  </a:extLst>
                </a:gridCol>
              </a:tblGrid>
              <a:tr h="370840">
                <a:tc>
                  <a:txBody>
                    <a:bodyPr/>
                    <a:lstStyle/>
                    <a:p>
                      <a:pPr algn="ctr"/>
                      <a:r>
                        <a:rPr lang="en-US" altLang="ja-GB">
                          <a:solidFill>
                            <a:srgbClr val="2F2523"/>
                          </a:solidFill>
                        </a:rPr>
                        <a:t>10</a:t>
                      </a:r>
                      <a:r>
                        <a:rPr lang="ja-GB" altLang="en-US">
                          <a:solidFill>
                            <a:srgbClr val="2F2523"/>
                          </a:solidFill>
                        </a:rPr>
                        <a:t>進数</a:t>
                      </a: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0</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2</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3</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4</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5</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6</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7</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8</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9</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10</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11</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49705180"/>
                  </a:ext>
                </a:extLst>
              </a:tr>
              <a:tr h="370840">
                <a:tc>
                  <a:txBody>
                    <a:bodyPr/>
                    <a:lstStyle/>
                    <a:p>
                      <a:pPr algn="ctr"/>
                      <a:r>
                        <a:rPr lang="en-US" altLang="ja-GB">
                          <a:solidFill>
                            <a:srgbClr val="2F2523"/>
                          </a:solidFill>
                        </a:rPr>
                        <a:t>2</a:t>
                      </a:r>
                      <a:r>
                        <a:rPr lang="ja-GB" altLang="en-US">
                          <a:solidFill>
                            <a:srgbClr val="2F2523"/>
                          </a:solidFill>
                        </a:rPr>
                        <a:t>進数</a:t>
                      </a: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0</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10</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11</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100</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101</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110</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111</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1000</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1001</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1010</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a:solidFill>
                            <a:srgbClr val="2F2523"/>
                          </a:solidFill>
                        </a:rPr>
                        <a:t>1011</a:t>
                      </a:r>
                      <a:endParaRPr lang="ja-GB" altLang="en-US">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93458688"/>
                  </a:ext>
                </a:extLst>
              </a:tr>
            </a:tbl>
          </a:graphicData>
        </a:graphic>
      </p:graphicFrame>
      <p:grpSp>
        <p:nvGrpSpPr>
          <p:cNvPr id="9" name="グループ化 8">
            <a:extLst>
              <a:ext uri="{FF2B5EF4-FFF2-40B4-BE49-F238E27FC236}">
                <a16:creationId xmlns:a16="http://schemas.microsoft.com/office/drawing/2014/main" id="{76D98516-71FD-26C4-BA13-34CF6C08B9E0}"/>
              </a:ext>
            </a:extLst>
          </p:cNvPr>
          <p:cNvGrpSpPr/>
          <p:nvPr/>
        </p:nvGrpSpPr>
        <p:grpSpPr>
          <a:xfrm>
            <a:off x="713343" y="5050715"/>
            <a:ext cx="7717313" cy="1045825"/>
            <a:chOff x="753983" y="5480322"/>
            <a:chExt cx="7717313" cy="1045825"/>
          </a:xfrm>
        </p:grpSpPr>
        <p:pic>
          <p:nvPicPr>
            <p:cNvPr id="5" name="図 4">
              <a:extLst>
                <a:ext uri="{FF2B5EF4-FFF2-40B4-BE49-F238E27FC236}">
                  <a16:creationId xmlns:a16="http://schemas.microsoft.com/office/drawing/2014/main" id="{A7882AEF-AC59-3173-4E52-D3A7E13C870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53983" y="5480322"/>
              <a:ext cx="3197239" cy="1045825"/>
            </a:xfrm>
            <a:prstGeom prst="rect">
              <a:avLst/>
            </a:prstGeom>
            <a:ln>
              <a:noFill/>
            </a:ln>
            <a:effectLst>
              <a:outerShdw blurRad="292100" dist="139700" dir="2700000" algn="tl" rotWithShape="0">
                <a:srgbClr val="333333">
                  <a:alpha val="65000"/>
                </a:srgbClr>
              </a:outerShdw>
            </a:effectLst>
          </p:spPr>
        </p:pic>
        <p:pic>
          <p:nvPicPr>
            <p:cNvPr id="7" name="図 6" descr="電子機器, 回路 が含まれている画像&#10;&#10;AI によって生成されたコンテンツは間違っている可能性があります。">
              <a:extLst>
                <a:ext uri="{FF2B5EF4-FFF2-40B4-BE49-F238E27FC236}">
                  <a16:creationId xmlns:a16="http://schemas.microsoft.com/office/drawing/2014/main" id="{90367CD0-2ED0-1F11-7044-4A32A7B1049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734152" y="5480322"/>
              <a:ext cx="1563976" cy="1041022"/>
            </a:xfrm>
            <a:prstGeom prst="rect">
              <a:avLst/>
            </a:prstGeom>
            <a:ln>
              <a:noFill/>
            </a:ln>
            <a:effectLst>
              <a:outerShdw blurRad="292100" dist="139700" dir="2700000" algn="tl" rotWithShape="0">
                <a:srgbClr val="333333">
                  <a:alpha val="65000"/>
                </a:srgbClr>
              </a:outerShdw>
            </a:effectLst>
          </p:spPr>
        </p:pic>
        <p:pic>
          <p:nvPicPr>
            <p:cNvPr id="8" name="図 7" descr="ドアのノブ&#10;&#10;AI によって生成されたコンテンツは間違っている可能性があります。">
              <a:extLst>
                <a:ext uri="{FF2B5EF4-FFF2-40B4-BE49-F238E27FC236}">
                  <a16:creationId xmlns:a16="http://schemas.microsoft.com/office/drawing/2014/main" id="{89A67954-37F3-BCE3-B86E-0AF13BB2FE8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081058" y="5480322"/>
              <a:ext cx="1390238" cy="1042679"/>
            </a:xfrm>
            <a:prstGeom prst="rect">
              <a:avLst/>
            </a:prstGeom>
            <a:ln>
              <a:noFill/>
            </a:ln>
            <a:effectLst>
              <a:outerShdw blurRad="292100" dist="139700" dir="2700000" algn="tl" rotWithShape="0">
                <a:srgbClr val="333333">
                  <a:alpha val="65000"/>
                </a:srgbClr>
              </a:outerShdw>
            </a:effectLst>
          </p:spPr>
        </p:pic>
      </p:grpSp>
    </p:spTree>
    <p:extLst>
      <p:ext uri="{BB962C8B-B14F-4D97-AF65-F5344CB8AC3E}">
        <p14:creationId xmlns:p14="http://schemas.microsoft.com/office/powerpoint/2010/main" val="75335126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BD4186-99F0-7E66-2EDF-75D50F370A5F}"/>
              </a:ext>
            </a:extLst>
          </p:cNvPr>
          <p:cNvSpPr>
            <a:spLocks noGrp="1"/>
          </p:cNvSpPr>
          <p:nvPr>
            <p:ph type="title"/>
          </p:nvPr>
        </p:nvSpPr>
        <p:spPr/>
        <p:txBody>
          <a:bodyPr/>
          <a:lstStyle/>
          <a:p>
            <a:r>
              <a:rPr kumimoji="1" lang="en-US" altLang="ja-GB"/>
              <a:t>10</a:t>
            </a:r>
            <a:r>
              <a:rPr kumimoji="1" lang="ja-GB" altLang="en-US"/>
              <a:t>進数と</a:t>
            </a:r>
            <a:r>
              <a:rPr kumimoji="1" lang="en-US" altLang="ja-GB"/>
              <a:t>2</a:t>
            </a:r>
            <a:r>
              <a:rPr kumimoji="1" lang="ja-GB" altLang="en-US"/>
              <a:t>進数の比較</a:t>
            </a:r>
          </a:p>
        </p:txBody>
      </p:sp>
      <p:sp>
        <p:nvSpPr>
          <p:cNvPr id="3" name="コンテンツ プレースホルダー 2">
            <a:extLst>
              <a:ext uri="{FF2B5EF4-FFF2-40B4-BE49-F238E27FC236}">
                <a16:creationId xmlns:a16="http://schemas.microsoft.com/office/drawing/2014/main" id="{023AF5E9-6778-6828-DB1C-A93B3DBF6D46}"/>
              </a:ext>
            </a:extLst>
          </p:cNvPr>
          <p:cNvSpPr>
            <a:spLocks noGrp="1"/>
          </p:cNvSpPr>
          <p:nvPr>
            <p:ph idx="1"/>
          </p:nvPr>
        </p:nvSpPr>
        <p:spPr/>
        <p:txBody>
          <a:bodyPr/>
          <a:lstStyle/>
          <a:p>
            <a:pPr marL="0" indent="0">
              <a:buNone/>
            </a:pPr>
            <a:r>
              <a:rPr kumimoji="1" lang="ja-GB" altLang="en-US"/>
              <a:t>文字の種類</a:t>
            </a:r>
            <a:endParaRPr kumimoji="1" lang="en-US" altLang="ja-GB"/>
          </a:p>
          <a:p>
            <a:pPr marL="457200" lvl="1" indent="0">
              <a:buNone/>
            </a:pPr>
            <a:r>
              <a:rPr kumimoji="1" lang="en-US" altLang="ja-GB"/>
              <a:t>10</a:t>
            </a:r>
            <a:r>
              <a:rPr kumimoji="1" lang="ja-GB" altLang="en-US"/>
              <a:t>進数は</a:t>
            </a:r>
            <a:r>
              <a:rPr kumimoji="1" lang="en-US" altLang="ja-GB"/>
              <a:t>10</a:t>
            </a:r>
            <a:r>
              <a:rPr kumimoji="1" lang="ja-GB" altLang="en-US"/>
              <a:t>種類：</a:t>
            </a:r>
            <a:r>
              <a:rPr kumimoji="1" lang="en-US" altLang="ja-GB"/>
              <a:t>{0,1,2,3,4,5,6,7,8,9}</a:t>
            </a:r>
          </a:p>
          <a:p>
            <a:pPr marL="457200" lvl="1" indent="0">
              <a:buNone/>
            </a:pPr>
            <a:r>
              <a:rPr lang="en-US" altLang="ja-GB"/>
              <a:t>2</a:t>
            </a:r>
            <a:r>
              <a:rPr lang="ja-GB" altLang="en-US"/>
              <a:t>進数は</a:t>
            </a:r>
            <a:r>
              <a:rPr lang="en-US" altLang="ja-GB"/>
              <a:t>2</a:t>
            </a:r>
            <a:r>
              <a:rPr lang="ja-GB" altLang="en-US"/>
              <a:t>種類：</a:t>
            </a:r>
            <a:r>
              <a:rPr lang="en-US" altLang="ja-GB"/>
              <a:t>{0,1}</a:t>
            </a:r>
          </a:p>
          <a:p>
            <a:pPr lvl="4"/>
            <a:endParaRPr lang="en-US" altLang="ja-GB"/>
          </a:p>
          <a:p>
            <a:pPr marL="0" indent="0">
              <a:buNone/>
            </a:pPr>
            <a:r>
              <a:rPr lang="ja-GB" altLang="en-US"/>
              <a:t>桁上がり</a:t>
            </a:r>
            <a:endParaRPr lang="en-US" altLang="ja-GB"/>
          </a:p>
          <a:p>
            <a:pPr marL="457200" lvl="1" indent="0">
              <a:buNone/>
            </a:pPr>
            <a:r>
              <a:rPr lang="en-US" altLang="ja-GB"/>
              <a:t>10</a:t>
            </a:r>
            <a:r>
              <a:rPr lang="ja-GB" altLang="en-US"/>
              <a:t>進数：桁が</a:t>
            </a:r>
            <a:r>
              <a:rPr lang="en-US" altLang="ja-GB"/>
              <a:t>10</a:t>
            </a:r>
            <a:r>
              <a:rPr lang="ja-GB" altLang="en-US"/>
              <a:t>に到達したら（対応文字がなくなるので）繰り上がる</a:t>
            </a:r>
            <a:endParaRPr lang="en-US" altLang="ja-GB"/>
          </a:p>
          <a:p>
            <a:pPr marL="914400" lvl="2" indent="0">
              <a:buNone/>
            </a:pPr>
            <a:r>
              <a:rPr lang="en-US" altLang="ja-GB"/>
              <a:t>…→8→</a:t>
            </a:r>
            <a:r>
              <a:rPr lang="en-US" altLang="ja-GB">
                <a:solidFill>
                  <a:srgbClr val="0070C0"/>
                </a:solidFill>
              </a:rPr>
              <a:t>9→10→11</a:t>
            </a:r>
            <a:r>
              <a:rPr lang="en-US" altLang="ja-GB"/>
              <a:t>→12</a:t>
            </a:r>
          </a:p>
          <a:p>
            <a:pPr marL="457200" lvl="1" indent="0">
              <a:buNone/>
            </a:pPr>
            <a:r>
              <a:rPr kumimoji="1" lang="en-US" altLang="ja-GB"/>
              <a:t>2</a:t>
            </a:r>
            <a:r>
              <a:rPr kumimoji="1" lang="ja-GB" altLang="en-US"/>
              <a:t>進数：桁が</a:t>
            </a:r>
            <a:r>
              <a:rPr kumimoji="1" lang="en-US" altLang="ja-GB"/>
              <a:t>2</a:t>
            </a:r>
            <a:r>
              <a:rPr kumimoji="1" lang="ja-GB" altLang="en-US"/>
              <a:t>に到達したら繰り上がる</a:t>
            </a:r>
            <a:endParaRPr kumimoji="1" lang="en-US" altLang="ja-GB"/>
          </a:p>
          <a:p>
            <a:pPr marL="914400" lvl="2" indent="0">
              <a:buNone/>
            </a:pPr>
            <a:r>
              <a:rPr lang="en-US" altLang="ja-GB"/>
              <a:t>…→0→</a:t>
            </a:r>
            <a:r>
              <a:rPr lang="en-US" altLang="ja-GB">
                <a:solidFill>
                  <a:srgbClr val="0070C0"/>
                </a:solidFill>
              </a:rPr>
              <a:t>1→10→11</a:t>
            </a:r>
            <a:r>
              <a:rPr lang="en-US" altLang="ja-GB"/>
              <a:t>→100→…</a:t>
            </a:r>
          </a:p>
          <a:p>
            <a:pPr lvl="4"/>
            <a:endParaRPr kumimoji="1" lang="en-US" altLang="ja-GB"/>
          </a:p>
          <a:p>
            <a:pPr lvl="4"/>
            <a:endParaRPr kumimoji="1" lang="en-US" altLang="ja-GB"/>
          </a:p>
          <a:p>
            <a:pPr marL="0" indent="0">
              <a:buNone/>
            </a:pPr>
            <a:r>
              <a:rPr lang="ja-GB" altLang="en-US"/>
              <a:t>数値の大きさ</a:t>
            </a:r>
            <a:endParaRPr lang="en-US" altLang="ja-GB"/>
          </a:p>
          <a:p>
            <a:pPr marL="457200" lvl="1" indent="0">
              <a:buNone/>
            </a:pPr>
            <a:r>
              <a:rPr lang="en-US" altLang="ja-GB"/>
              <a:t>10</a:t>
            </a:r>
            <a:r>
              <a:rPr lang="ja-GB" altLang="en-US"/>
              <a:t>進数：末尾</a:t>
            </a:r>
            <a:r>
              <a:rPr kumimoji="1" lang="ja-GB" altLang="en-US"/>
              <a:t>は</a:t>
            </a:r>
            <a:r>
              <a:rPr kumimoji="1" lang="en-US" altLang="ja-GB"/>
              <a:t>1</a:t>
            </a:r>
            <a:r>
              <a:rPr kumimoji="1" lang="ja-GB" altLang="en-US"/>
              <a:t>の数</a:t>
            </a:r>
            <a:r>
              <a:rPr kumimoji="1" lang="en-US" altLang="ja-GB"/>
              <a:t>(10</a:t>
            </a:r>
            <a:r>
              <a:rPr kumimoji="1" lang="en-US" altLang="ja-GB" baseline="30000"/>
              <a:t>0</a:t>
            </a:r>
            <a:r>
              <a:rPr kumimoji="1" lang="en-US" altLang="ja-GB"/>
              <a:t>)</a:t>
            </a:r>
            <a:r>
              <a:rPr kumimoji="1" lang="ja-GB" altLang="en-US"/>
              <a:t>，その上は</a:t>
            </a:r>
            <a:r>
              <a:rPr kumimoji="1" lang="en-US" altLang="ja-GB"/>
              <a:t>10</a:t>
            </a:r>
            <a:r>
              <a:rPr kumimoji="1" lang="ja-GB" altLang="en-US"/>
              <a:t>の数</a:t>
            </a:r>
            <a:r>
              <a:rPr kumimoji="1" lang="en-US" altLang="ja-GB"/>
              <a:t>(10</a:t>
            </a:r>
            <a:r>
              <a:rPr kumimoji="1" lang="en-US" altLang="ja-GB" baseline="30000"/>
              <a:t>1</a:t>
            </a:r>
            <a:r>
              <a:rPr kumimoji="1" lang="en-US" altLang="ja-GB"/>
              <a:t>)</a:t>
            </a:r>
            <a:r>
              <a:rPr kumimoji="1" lang="ja-GB" altLang="en-US"/>
              <a:t>，その上は</a:t>
            </a:r>
            <a:r>
              <a:rPr kumimoji="1" lang="en-US" altLang="ja-GB"/>
              <a:t>100</a:t>
            </a:r>
            <a:r>
              <a:rPr kumimoji="1" lang="ja-GB" altLang="en-US"/>
              <a:t>の数</a:t>
            </a:r>
            <a:r>
              <a:rPr lang="en-US" altLang="ja-GB"/>
              <a:t>(</a:t>
            </a:r>
            <a:r>
              <a:rPr kumimoji="1" lang="en-US" altLang="ja-GB"/>
              <a:t>10</a:t>
            </a:r>
            <a:r>
              <a:rPr kumimoji="1" lang="en-US" altLang="ja-GB" baseline="30000"/>
              <a:t>2</a:t>
            </a:r>
            <a:r>
              <a:rPr kumimoji="1" lang="en-US" altLang="ja-GB"/>
              <a:t>)</a:t>
            </a:r>
          </a:p>
          <a:p>
            <a:pPr marL="914400" lvl="2" indent="0">
              <a:buNone/>
            </a:pPr>
            <a:r>
              <a:rPr kumimoji="1" lang="ja-GB" altLang="en-US"/>
              <a:t>例</a:t>
            </a:r>
            <a:r>
              <a:rPr lang="ja-GB" altLang="en-US"/>
              <a:t>）</a:t>
            </a:r>
            <a:r>
              <a:rPr kumimoji="1" lang="en-US" altLang="ja-GB"/>
              <a:t>3282</a:t>
            </a:r>
            <a:r>
              <a:rPr kumimoji="1" lang="en-US" altLang="ja-GB" baseline="-25000">
                <a:solidFill>
                  <a:schemeClr val="accent2"/>
                </a:solidFill>
              </a:rPr>
              <a:t>(10)</a:t>
            </a:r>
            <a:r>
              <a:rPr kumimoji="1" lang="en-US" altLang="ja-GB">
                <a:solidFill>
                  <a:schemeClr val="accent2"/>
                </a:solidFill>
              </a:rPr>
              <a:t> </a:t>
            </a:r>
            <a:r>
              <a:rPr kumimoji="1" lang="en-US" altLang="ja-GB"/>
              <a:t>= 3×10</a:t>
            </a:r>
            <a:r>
              <a:rPr kumimoji="1" lang="en-US" altLang="ja-GB" baseline="30000"/>
              <a:t>3</a:t>
            </a:r>
            <a:r>
              <a:rPr kumimoji="1" lang="en-US" altLang="ja-GB"/>
              <a:t> + 2×10</a:t>
            </a:r>
            <a:r>
              <a:rPr lang="en-US" altLang="ja-GB" baseline="30000"/>
              <a:t>2</a:t>
            </a:r>
            <a:r>
              <a:rPr lang="en-US" altLang="ja-GB"/>
              <a:t> + 8×10 + 2×1</a:t>
            </a:r>
          </a:p>
          <a:p>
            <a:pPr marL="457200" lvl="1" indent="0">
              <a:buNone/>
            </a:pPr>
            <a:r>
              <a:rPr kumimoji="1" lang="en-US" altLang="ja-GB"/>
              <a:t>2</a:t>
            </a:r>
            <a:r>
              <a:rPr kumimoji="1" lang="ja-GB" altLang="en-US"/>
              <a:t>進数：末尾は</a:t>
            </a:r>
            <a:r>
              <a:rPr lang="en-US" altLang="ja-GB"/>
              <a:t>1</a:t>
            </a:r>
            <a:r>
              <a:rPr lang="ja-GB" altLang="en-US"/>
              <a:t>の数</a:t>
            </a:r>
            <a:r>
              <a:rPr lang="en-US" altLang="ja-GB"/>
              <a:t>(2</a:t>
            </a:r>
            <a:r>
              <a:rPr lang="en-US" altLang="ja-GB" baseline="30000"/>
              <a:t>0</a:t>
            </a:r>
            <a:r>
              <a:rPr lang="en-US" altLang="ja-GB"/>
              <a:t>)</a:t>
            </a:r>
            <a:r>
              <a:rPr lang="ja-GB" altLang="en-US"/>
              <a:t>，その上は</a:t>
            </a:r>
            <a:r>
              <a:rPr lang="en-US" altLang="ja-GB"/>
              <a:t>2</a:t>
            </a:r>
            <a:r>
              <a:rPr lang="ja-GB" altLang="en-US"/>
              <a:t>の数</a:t>
            </a:r>
            <a:r>
              <a:rPr lang="en-US" altLang="ja-GB"/>
              <a:t>(2</a:t>
            </a:r>
            <a:r>
              <a:rPr lang="en-US" altLang="ja-GB" baseline="30000"/>
              <a:t>1</a:t>
            </a:r>
            <a:r>
              <a:rPr lang="en-US" altLang="ja-GB"/>
              <a:t>)</a:t>
            </a:r>
            <a:r>
              <a:rPr lang="ja-GB" altLang="en-US"/>
              <a:t>，その上は</a:t>
            </a:r>
            <a:r>
              <a:rPr lang="en-US" altLang="ja-GB"/>
              <a:t>4</a:t>
            </a:r>
            <a:r>
              <a:rPr lang="ja-GB" altLang="en-US"/>
              <a:t>の数</a:t>
            </a:r>
            <a:r>
              <a:rPr lang="en-US" altLang="ja-GB"/>
              <a:t>(2</a:t>
            </a:r>
            <a:r>
              <a:rPr lang="en-US" altLang="ja-GB" baseline="30000"/>
              <a:t>2</a:t>
            </a:r>
            <a:r>
              <a:rPr lang="en-US" altLang="ja-GB"/>
              <a:t>)</a:t>
            </a:r>
          </a:p>
          <a:p>
            <a:pPr marL="914400" lvl="2" indent="0">
              <a:buNone/>
            </a:pPr>
            <a:r>
              <a:rPr kumimoji="1" lang="ja-GB" altLang="en-US"/>
              <a:t>例）</a:t>
            </a:r>
            <a:r>
              <a:rPr kumimoji="1" lang="en-US" altLang="ja-GB"/>
              <a:t>1011</a:t>
            </a:r>
            <a:r>
              <a:rPr kumimoji="1" lang="en-US" altLang="ja-GB" baseline="-25000">
                <a:solidFill>
                  <a:schemeClr val="accent2"/>
                </a:solidFill>
              </a:rPr>
              <a:t>(2)</a:t>
            </a:r>
            <a:r>
              <a:rPr kumimoji="1" lang="en-US" altLang="ja-GB"/>
              <a:t> = 1×2</a:t>
            </a:r>
            <a:r>
              <a:rPr kumimoji="1" lang="en-US" altLang="ja-GB" baseline="30000"/>
              <a:t>3</a:t>
            </a:r>
            <a:r>
              <a:rPr kumimoji="1" lang="en-US" altLang="ja-GB"/>
              <a:t> + 0×2</a:t>
            </a:r>
            <a:r>
              <a:rPr kumimoji="1" lang="en-US" altLang="ja-GB" baseline="30000"/>
              <a:t>2</a:t>
            </a:r>
            <a:r>
              <a:rPr kumimoji="1" lang="en-US" altLang="ja-GB"/>
              <a:t> + 1×2 + 1×</a:t>
            </a:r>
            <a:r>
              <a:rPr lang="en-US" altLang="ja-GB"/>
              <a:t>1</a:t>
            </a:r>
          </a:p>
          <a:p>
            <a:pPr lvl="1"/>
            <a:endParaRPr kumimoji="1" lang="en-US" altLang="ja-GB"/>
          </a:p>
        </p:txBody>
      </p:sp>
      <p:sp>
        <p:nvSpPr>
          <p:cNvPr id="4" name="テキスト ボックス 3">
            <a:extLst>
              <a:ext uri="{FF2B5EF4-FFF2-40B4-BE49-F238E27FC236}">
                <a16:creationId xmlns:a16="http://schemas.microsoft.com/office/drawing/2014/main" id="{9748C644-1456-2A6F-E3DA-14E3FEFDC6AD}"/>
              </a:ext>
            </a:extLst>
          </p:cNvPr>
          <p:cNvSpPr txBox="1"/>
          <p:nvPr/>
        </p:nvSpPr>
        <p:spPr>
          <a:xfrm>
            <a:off x="294226" y="6351374"/>
            <a:ext cx="8555547" cy="369332"/>
          </a:xfrm>
          <a:prstGeom prst="rect">
            <a:avLst/>
          </a:prstGeom>
          <a:noFill/>
        </p:spPr>
        <p:txBody>
          <a:bodyPr wrap="none" rtlCol="0">
            <a:spAutoFit/>
          </a:bodyPr>
          <a:lstStyle/>
          <a:p>
            <a:r>
              <a:rPr kumimoji="1" lang="en-US" altLang="ja-GB"/>
              <a:t>※</a:t>
            </a:r>
            <a:r>
              <a:rPr kumimoji="1" lang="ja-GB" altLang="en-US"/>
              <a:t>本講義では，</a:t>
            </a:r>
            <a:r>
              <a:rPr kumimoji="1" lang="en-US" altLang="ja-GB"/>
              <a:t>2</a:t>
            </a:r>
            <a:r>
              <a:rPr kumimoji="1" lang="ja-GB" altLang="en-US"/>
              <a:t>進数は添字に</a:t>
            </a:r>
            <a:r>
              <a:rPr kumimoji="1" lang="en-US" altLang="ja-GB"/>
              <a:t>(2)</a:t>
            </a:r>
            <a:r>
              <a:rPr kumimoji="1" lang="ja-GB" altLang="en-US"/>
              <a:t>をつけて，</a:t>
            </a:r>
            <a:r>
              <a:rPr kumimoji="1" lang="en-US" altLang="ja-GB"/>
              <a:t>10</a:t>
            </a:r>
            <a:r>
              <a:rPr kumimoji="1" lang="ja-GB" altLang="en-US"/>
              <a:t>進数は添字に</a:t>
            </a:r>
            <a:r>
              <a:rPr kumimoji="1" lang="en-US" altLang="ja-GB"/>
              <a:t>(10)</a:t>
            </a:r>
            <a:r>
              <a:rPr kumimoji="1" lang="ja-GB" altLang="en-US"/>
              <a:t>をつけて表記する</a:t>
            </a:r>
          </a:p>
        </p:txBody>
      </p:sp>
    </p:spTree>
    <p:extLst>
      <p:ext uri="{BB962C8B-B14F-4D97-AF65-F5344CB8AC3E}">
        <p14:creationId xmlns:p14="http://schemas.microsoft.com/office/powerpoint/2010/main" val="992759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27FEBC-3B2A-6AF3-DB60-02D7D4BD23BA}"/>
              </a:ext>
            </a:extLst>
          </p:cNvPr>
          <p:cNvSpPr>
            <a:spLocks noGrp="1"/>
          </p:cNvSpPr>
          <p:nvPr>
            <p:ph type="title"/>
          </p:nvPr>
        </p:nvSpPr>
        <p:spPr/>
        <p:txBody>
          <a:bodyPr/>
          <a:lstStyle/>
          <a:p>
            <a:r>
              <a:rPr kumimoji="1" lang="en-US" altLang="ja-GB"/>
              <a:t>2</a:t>
            </a:r>
            <a:r>
              <a:rPr kumimoji="1" lang="ja-GB" altLang="en-US"/>
              <a:t>進数</a:t>
            </a:r>
            <a:r>
              <a:rPr kumimoji="1" lang="en-US" altLang="ja-GB"/>
              <a:t>→10</a:t>
            </a:r>
            <a:r>
              <a:rPr kumimoji="1" lang="ja-GB" altLang="en-US"/>
              <a:t>進数の変換</a:t>
            </a:r>
          </a:p>
        </p:txBody>
      </p:sp>
      <p:sp>
        <p:nvSpPr>
          <p:cNvPr id="3" name="コンテンツ プレースホルダー 2">
            <a:extLst>
              <a:ext uri="{FF2B5EF4-FFF2-40B4-BE49-F238E27FC236}">
                <a16:creationId xmlns:a16="http://schemas.microsoft.com/office/drawing/2014/main" id="{54DC2D29-9649-31AF-F8E9-1FF607DF40F3}"/>
              </a:ext>
            </a:extLst>
          </p:cNvPr>
          <p:cNvSpPr>
            <a:spLocks noGrp="1"/>
          </p:cNvSpPr>
          <p:nvPr>
            <p:ph idx="1"/>
          </p:nvPr>
        </p:nvSpPr>
        <p:spPr/>
        <p:txBody>
          <a:bodyPr/>
          <a:lstStyle/>
          <a:p>
            <a:pPr marL="0" indent="0">
              <a:buNone/>
            </a:pPr>
            <a:r>
              <a:rPr lang="ja-GB" altLang="en-US"/>
              <a:t>桁に応じた</a:t>
            </a:r>
            <a:r>
              <a:rPr lang="en-US" altLang="ja-GB"/>
              <a:t>2</a:t>
            </a:r>
            <a:r>
              <a:rPr lang="ja-GB" altLang="en-US"/>
              <a:t>の冪乗を掛け算する</a:t>
            </a:r>
            <a:endParaRPr lang="en-US" altLang="ja-GB"/>
          </a:p>
          <a:p>
            <a:pPr marL="457200" lvl="1" indent="0">
              <a:buNone/>
            </a:pPr>
            <a:r>
              <a:rPr lang="ja-GB" altLang="en-US"/>
              <a:t>例）</a:t>
            </a:r>
            <a:r>
              <a:rPr lang="en-US" altLang="ja-GB"/>
              <a:t>1001111</a:t>
            </a:r>
            <a:r>
              <a:rPr lang="en-US" altLang="ja-GB" baseline="-25000"/>
              <a:t>(2) </a:t>
            </a:r>
            <a:r>
              <a:rPr lang="en-US" altLang="ja-GB"/>
              <a:t>= 1×2</a:t>
            </a:r>
            <a:r>
              <a:rPr lang="en-US" altLang="ja-GB" baseline="30000"/>
              <a:t>6</a:t>
            </a:r>
            <a:r>
              <a:rPr lang="en-US" altLang="ja-GB"/>
              <a:t> + 0×2</a:t>
            </a:r>
            <a:r>
              <a:rPr lang="en-US" altLang="ja-GB" baseline="30000"/>
              <a:t>5</a:t>
            </a:r>
            <a:r>
              <a:rPr lang="en-US" altLang="ja-GB"/>
              <a:t> + 0×2</a:t>
            </a:r>
            <a:r>
              <a:rPr lang="en-US" altLang="ja-GB" baseline="30000"/>
              <a:t>4</a:t>
            </a:r>
            <a:r>
              <a:rPr lang="en-US" altLang="ja-GB"/>
              <a:t> + 1×2</a:t>
            </a:r>
            <a:r>
              <a:rPr lang="en-US" altLang="ja-GB" baseline="30000"/>
              <a:t>3</a:t>
            </a:r>
            <a:r>
              <a:rPr lang="en-US" altLang="ja-GB"/>
              <a:t> + 1×2</a:t>
            </a:r>
            <a:r>
              <a:rPr lang="en-US" altLang="ja-GB" baseline="30000"/>
              <a:t>2</a:t>
            </a:r>
            <a:r>
              <a:rPr lang="en-US" altLang="ja-GB"/>
              <a:t> + 1×2</a:t>
            </a:r>
            <a:r>
              <a:rPr lang="en-US" altLang="ja-GB" baseline="30000"/>
              <a:t>1</a:t>
            </a:r>
            <a:r>
              <a:rPr lang="en-US" altLang="ja-GB"/>
              <a:t> + 1×2</a:t>
            </a:r>
            <a:r>
              <a:rPr lang="en-US" altLang="ja-GB" baseline="30000"/>
              <a:t>0</a:t>
            </a:r>
            <a:r>
              <a:rPr lang="en-US" altLang="ja-GB"/>
              <a:t> </a:t>
            </a:r>
          </a:p>
          <a:p>
            <a:pPr marL="457200" lvl="1" indent="0">
              <a:buNone/>
            </a:pPr>
            <a:r>
              <a:rPr lang="ja-JP" altLang="en-US"/>
              <a:t>　　　　　　</a:t>
            </a:r>
            <a:r>
              <a:rPr lang="en-US" altLang="ja-JP"/>
              <a:t>= 64    + 0       + 0       + 8      +  4      + 2      + 1</a:t>
            </a:r>
          </a:p>
          <a:p>
            <a:pPr marL="457200" lvl="1" indent="0">
              <a:buNone/>
            </a:pPr>
            <a:r>
              <a:rPr lang="ja-JP" altLang="en-US"/>
              <a:t>　　　　　　</a:t>
            </a:r>
            <a:r>
              <a:rPr lang="en-US" altLang="ja-JP"/>
              <a:t>= 79</a:t>
            </a:r>
            <a:r>
              <a:rPr lang="en-US" altLang="ja-JP" baseline="-25000"/>
              <a:t>(10)</a:t>
            </a:r>
            <a:endParaRPr lang="en-US" altLang="ja-GB" baseline="-25000"/>
          </a:p>
        </p:txBody>
      </p:sp>
      <p:graphicFrame>
        <p:nvGraphicFramePr>
          <p:cNvPr id="5" name="表 4">
            <a:extLst>
              <a:ext uri="{FF2B5EF4-FFF2-40B4-BE49-F238E27FC236}">
                <a16:creationId xmlns:a16="http://schemas.microsoft.com/office/drawing/2014/main" id="{F8A0386C-3746-2B49-B303-9DF033920D97}"/>
              </a:ext>
            </a:extLst>
          </p:cNvPr>
          <p:cNvGraphicFramePr>
            <a:graphicFrameLocks noGrp="1"/>
          </p:cNvGraphicFramePr>
          <p:nvPr/>
        </p:nvGraphicFramePr>
        <p:xfrm>
          <a:off x="1112108" y="3429000"/>
          <a:ext cx="7020000" cy="1112520"/>
        </p:xfrm>
        <a:graphic>
          <a:graphicData uri="http://schemas.openxmlformats.org/drawingml/2006/table">
            <a:tbl>
              <a:tblPr firstRow="1" firstCol="1" bandRow="1">
                <a:tableStyleId>{5C22544A-7EE6-4342-B048-85BDC9FD1C3A}</a:tableStyleId>
              </a:tblPr>
              <a:tblGrid>
                <a:gridCol w="877500">
                  <a:extLst>
                    <a:ext uri="{9D8B030D-6E8A-4147-A177-3AD203B41FA5}">
                      <a16:colId xmlns:a16="http://schemas.microsoft.com/office/drawing/2014/main" val="1441583760"/>
                    </a:ext>
                  </a:extLst>
                </a:gridCol>
                <a:gridCol w="877500">
                  <a:extLst>
                    <a:ext uri="{9D8B030D-6E8A-4147-A177-3AD203B41FA5}">
                      <a16:colId xmlns:a16="http://schemas.microsoft.com/office/drawing/2014/main" val="3486079635"/>
                    </a:ext>
                  </a:extLst>
                </a:gridCol>
                <a:gridCol w="877500">
                  <a:extLst>
                    <a:ext uri="{9D8B030D-6E8A-4147-A177-3AD203B41FA5}">
                      <a16:colId xmlns:a16="http://schemas.microsoft.com/office/drawing/2014/main" val="3714247940"/>
                    </a:ext>
                  </a:extLst>
                </a:gridCol>
                <a:gridCol w="877500">
                  <a:extLst>
                    <a:ext uri="{9D8B030D-6E8A-4147-A177-3AD203B41FA5}">
                      <a16:colId xmlns:a16="http://schemas.microsoft.com/office/drawing/2014/main" val="933044373"/>
                    </a:ext>
                  </a:extLst>
                </a:gridCol>
                <a:gridCol w="877500">
                  <a:extLst>
                    <a:ext uri="{9D8B030D-6E8A-4147-A177-3AD203B41FA5}">
                      <a16:colId xmlns:a16="http://schemas.microsoft.com/office/drawing/2014/main" val="2627047301"/>
                    </a:ext>
                  </a:extLst>
                </a:gridCol>
                <a:gridCol w="877500">
                  <a:extLst>
                    <a:ext uri="{9D8B030D-6E8A-4147-A177-3AD203B41FA5}">
                      <a16:colId xmlns:a16="http://schemas.microsoft.com/office/drawing/2014/main" val="2455451275"/>
                    </a:ext>
                  </a:extLst>
                </a:gridCol>
                <a:gridCol w="877500">
                  <a:extLst>
                    <a:ext uri="{9D8B030D-6E8A-4147-A177-3AD203B41FA5}">
                      <a16:colId xmlns:a16="http://schemas.microsoft.com/office/drawing/2014/main" val="3918346198"/>
                    </a:ext>
                  </a:extLst>
                </a:gridCol>
                <a:gridCol w="877500">
                  <a:extLst>
                    <a:ext uri="{9D8B030D-6E8A-4147-A177-3AD203B41FA5}">
                      <a16:colId xmlns:a16="http://schemas.microsoft.com/office/drawing/2014/main" val="2526903477"/>
                    </a:ext>
                  </a:extLst>
                </a:gridCol>
              </a:tblGrid>
              <a:tr h="370840">
                <a:tc>
                  <a:txBody>
                    <a:bodyPr/>
                    <a:lstStyle/>
                    <a:p>
                      <a:r>
                        <a:rPr lang="ja-GB" altLang="en-US"/>
                        <a:t>数値</a:t>
                      </a:r>
                    </a:p>
                  </a:txBody>
                  <a:tcPr/>
                </a:tc>
                <a:tc>
                  <a:txBody>
                    <a:bodyPr/>
                    <a:lstStyle/>
                    <a:p>
                      <a:pPr algn="ctr"/>
                      <a:r>
                        <a:rPr lang="en-US" altLang="ja-GB"/>
                        <a:t>1</a:t>
                      </a:r>
                      <a:endParaRPr lang="ja-GB" altLang="en-US"/>
                    </a:p>
                  </a:txBody>
                  <a:tcPr/>
                </a:tc>
                <a:tc>
                  <a:txBody>
                    <a:bodyPr/>
                    <a:lstStyle/>
                    <a:p>
                      <a:pPr algn="ctr"/>
                      <a:r>
                        <a:rPr lang="en-US" altLang="ja-GB"/>
                        <a:t>0</a:t>
                      </a:r>
                      <a:endParaRPr lang="ja-GB" altLang="en-US"/>
                    </a:p>
                  </a:txBody>
                  <a:tcPr/>
                </a:tc>
                <a:tc>
                  <a:txBody>
                    <a:bodyPr/>
                    <a:lstStyle/>
                    <a:p>
                      <a:pPr algn="ctr"/>
                      <a:r>
                        <a:rPr lang="en-US" altLang="ja-GB"/>
                        <a:t>0</a:t>
                      </a:r>
                      <a:endParaRPr lang="ja-GB" altLang="en-US"/>
                    </a:p>
                  </a:txBody>
                  <a:tcPr/>
                </a:tc>
                <a:tc>
                  <a:txBody>
                    <a:bodyPr/>
                    <a:lstStyle/>
                    <a:p>
                      <a:pPr algn="ctr"/>
                      <a:r>
                        <a:rPr lang="en-US" altLang="ja-GB"/>
                        <a:t>1</a:t>
                      </a:r>
                      <a:endParaRPr lang="ja-GB" altLang="en-US"/>
                    </a:p>
                  </a:txBody>
                  <a:tcPr/>
                </a:tc>
                <a:tc>
                  <a:txBody>
                    <a:bodyPr/>
                    <a:lstStyle/>
                    <a:p>
                      <a:pPr algn="ctr"/>
                      <a:r>
                        <a:rPr lang="en-US" altLang="ja-GB"/>
                        <a:t>1</a:t>
                      </a:r>
                      <a:endParaRPr lang="ja-GB" altLang="en-US"/>
                    </a:p>
                  </a:txBody>
                  <a:tcPr/>
                </a:tc>
                <a:tc>
                  <a:txBody>
                    <a:bodyPr/>
                    <a:lstStyle/>
                    <a:p>
                      <a:pPr algn="ctr"/>
                      <a:r>
                        <a:rPr lang="en-US" altLang="ja-GB"/>
                        <a:t>1</a:t>
                      </a:r>
                      <a:endParaRPr lang="ja-GB" altLang="en-US"/>
                    </a:p>
                  </a:txBody>
                  <a:tcPr/>
                </a:tc>
                <a:tc>
                  <a:txBody>
                    <a:bodyPr/>
                    <a:lstStyle/>
                    <a:p>
                      <a:pPr algn="ctr"/>
                      <a:r>
                        <a:rPr lang="en-US" altLang="ja-GB"/>
                        <a:t>1</a:t>
                      </a:r>
                      <a:endParaRPr lang="ja-GB" altLang="en-US"/>
                    </a:p>
                  </a:txBody>
                  <a:tcPr/>
                </a:tc>
                <a:extLst>
                  <a:ext uri="{0D108BD9-81ED-4DB2-BD59-A6C34878D82A}">
                    <a16:rowId xmlns:a16="http://schemas.microsoft.com/office/drawing/2014/main" val="1724113796"/>
                  </a:ext>
                </a:extLst>
              </a:tr>
              <a:tr h="370840">
                <a:tc>
                  <a:txBody>
                    <a:bodyPr/>
                    <a:lstStyle/>
                    <a:p>
                      <a:r>
                        <a:rPr lang="ja-GB" altLang="en-US"/>
                        <a:t>桁</a:t>
                      </a:r>
                      <a:endParaRPr lang="en-US" altLang="ja-JP"/>
                    </a:p>
                  </a:txBody>
                  <a:tcPr/>
                </a:tc>
                <a:tc>
                  <a:txBody>
                    <a:bodyPr/>
                    <a:lstStyle/>
                    <a:p>
                      <a:pPr algn="ctr"/>
                      <a:r>
                        <a:rPr lang="en-US" altLang="ja-GB"/>
                        <a:t>2</a:t>
                      </a:r>
                      <a:r>
                        <a:rPr lang="en-US" altLang="ja-GB" baseline="30000"/>
                        <a:t>6</a:t>
                      </a:r>
                      <a:endParaRPr lang="ja-GB" altLang="en-US"/>
                    </a:p>
                  </a:txBody>
                  <a:tcPr/>
                </a:tc>
                <a:tc>
                  <a:txBody>
                    <a:bodyPr/>
                    <a:lstStyle/>
                    <a:p>
                      <a:pPr algn="ctr"/>
                      <a:r>
                        <a:rPr lang="en-US" altLang="ja-GB"/>
                        <a:t>2</a:t>
                      </a:r>
                      <a:r>
                        <a:rPr lang="en-US" altLang="ja-GB" baseline="30000"/>
                        <a:t>5</a:t>
                      </a:r>
                      <a:endParaRPr lang="ja-GB" altLang="en-US"/>
                    </a:p>
                  </a:txBody>
                  <a:tcPr/>
                </a:tc>
                <a:tc>
                  <a:txBody>
                    <a:bodyPr/>
                    <a:lstStyle/>
                    <a:p>
                      <a:pPr algn="ctr"/>
                      <a:r>
                        <a:rPr lang="en-US" altLang="ja-GB"/>
                        <a:t>2</a:t>
                      </a:r>
                      <a:r>
                        <a:rPr lang="en-US" altLang="ja-GB" baseline="30000"/>
                        <a:t>4</a:t>
                      </a:r>
                      <a:endParaRPr lang="ja-GB" altLang="en-US"/>
                    </a:p>
                  </a:txBody>
                  <a:tcPr/>
                </a:tc>
                <a:tc>
                  <a:txBody>
                    <a:bodyPr/>
                    <a:lstStyle/>
                    <a:p>
                      <a:pPr algn="ctr"/>
                      <a:r>
                        <a:rPr lang="en-US" altLang="ja-GB"/>
                        <a:t>2</a:t>
                      </a:r>
                      <a:r>
                        <a:rPr lang="en-US" altLang="ja-GB" baseline="30000"/>
                        <a:t>3</a:t>
                      </a:r>
                      <a:endParaRPr lang="ja-GB" altLang="en-US"/>
                    </a:p>
                  </a:txBody>
                  <a:tcPr/>
                </a:tc>
                <a:tc>
                  <a:txBody>
                    <a:bodyPr/>
                    <a:lstStyle/>
                    <a:p>
                      <a:pPr algn="ctr"/>
                      <a:r>
                        <a:rPr lang="en-US" altLang="ja-GB"/>
                        <a:t>2</a:t>
                      </a:r>
                      <a:r>
                        <a:rPr lang="en-US" altLang="ja-GB" baseline="30000"/>
                        <a:t>2</a:t>
                      </a:r>
                      <a:endParaRPr lang="ja-GB" altLang="en-US"/>
                    </a:p>
                  </a:txBody>
                  <a:tcPr/>
                </a:tc>
                <a:tc>
                  <a:txBody>
                    <a:bodyPr/>
                    <a:lstStyle/>
                    <a:p>
                      <a:pPr algn="ctr"/>
                      <a:r>
                        <a:rPr lang="en-US" altLang="ja-GB"/>
                        <a:t>2</a:t>
                      </a:r>
                      <a:r>
                        <a:rPr lang="en-US" altLang="ja-GB" baseline="30000"/>
                        <a:t>1</a:t>
                      </a:r>
                      <a:endParaRPr lang="ja-GB" altLang="en-US"/>
                    </a:p>
                  </a:txBody>
                  <a:tcPr/>
                </a:tc>
                <a:tc>
                  <a:txBody>
                    <a:bodyPr/>
                    <a:lstStyle/>
                    <a:p>
                      <a:pPr algn="ctr"/>
                      <a:r>
                        <a:rPr lang="en-US" altLang="ja-GB"/>
                        <a:t>2</a:t>
                      </a:r>
                      <a:r>
                        <a:rPr lang="en-US" altLang="ja-GB" baseline="30000"/>
                        <a:t>0</a:t>
                      </a:r>
                      <a:endParaRPr lang="ja-GB" altLang="en-US"/>
                    </a:p>
                  </a:txBody>
                  <a:tcPr/>
                </a:tc>
                <a:extLst>
                  <a:ext uri="{0D108BD9-81ED-4DB2-BD59-A6C34878D82A}">
                    <a16:rowId xmlns:a16="http://schemas.microsoft.com/office/drawing/2014/main" val="2526597730"/>
                  </a:ext>
                </a:extLst>
              </a:tr>
              <a:tr h="370840">
                <a:tc>
                  <a:txBody>
                    <a:bodyPr/>
                    <a:lstStyle/>
                    <a:p>
                      <a:r>
                        <a:rPr lang="ja-GB" altLang="en-US"/>
                        <a:t>大きさ</a:t>
                      </a:r>
                      <a:endParaRPr lang="en-US" altLang="ja-JP"/>
                    </a:p>
                  </a:txBody>
                  <a:tcPr/>
                </a:tc>
                <a:tc>
                  <a:txBody>
                    <a:bodyPr/>
                    <a:lstStyle/>
                    <a:p>
                      <a:pPr algn="ctr"/>
                      <a:r>
                        <a:rPr lang="en-US" altLang="ja-GB"/>
                        <a:t>64</a:t>
                      </a:r>
                      <a:endParaRPr lang="ja-GB" altLang="en-US"/>
                    </a:p>
                  </a:txBody>
                  <a:tcPr/>
                </a:tc>
                <a:tc>
                  <a:txBody>
                    <a:bodyPr/>
                    <a:lstStyle/>
                    <a:p>
                      <a:pPr algn="ctr"/>
                      <a:r>
                        <a:rPr lang="en-US" altLang="ja-GB"/>
                        <a:t>32</a:t>
                      </a:r>
                      <a:endParaRPr lang="ja-GB" altLang="en-US"/>
                    </a:p>
                  </a:txBody>
                  <a:tcPr/>
                </a:tc>
                <a:tc>
                  <a:txBody>
                    <a:bodyPr/>
                    <a:lstStyle/>
                    <a:p>
                      <a:pPr algn="ctr"/>
                      <a:r>
                        <a:rPr lang="en-US" altLang="ja-GB"/>
                        <a:t>16</a:t>
                      </a:r>
                      <a:endParaRPr lang="ja-GB" altLang="en-US"/>
                    </a:p>
                  </a:txBody>
                  <a:tcPr/>
                </a:tc>
                <a:tc>
                  <a:txBody>
                    <a:bodyPr/>
                    <a:lstStyle/>
                    <a:p>
                      <a:pPr algn="ctr"/>
                      <a:r>
                        <a:rPr lang="en-US" altLang="ja-GB"/>
                        <a:t>8</a:t>
                      </a:r>
                      <a:endParaRPr lang="ja-GB" altLang="en-US"/>
                    </a:p>
                  </a:txBody>
                  <a:tcPr/>
                </a:tc>
                <a:tc>
                  <a:txBody>
                    <a:bodyPr/>
                    <a:lstStyle/>
                    <a:p>
                      <a:pPr algn="ctr"/>
                      <a:r>
                        <a:rPr lang="en-US" altLang="ja-GB"/>
                        <a:t>4</a:t>
                      </a:r>
                      <a:endParaRPr lang="ja-GB" altLang="en-US"/>
                    </a:p>
                  </a:txBody>
                  <a:tcPr/>
                </a:tc>
                <a:tc>
                  <a:txBody>
                    <a:bodyPr/>
                    <a:lstStyle/>
                    <a:p>
                      <a:pPr algn="ctr"/>
                      <a:r>
                        <a:rPr lang="en-US" altLang="ja-GB"/>
                        <a:t>2</a:t>
                      </a:r>
                      <a:endParaRPr lang="ja-GB" altLang="en-US"/>
                    </a:p>
                  </a:txBody>
                  <a:tcPr/>
                </a:tc>
                <a:tc>
                  <a:txBody>
                    <a:bodyPr/>
                    <a:lstStyle/>
                    <a:p>
                      <a:pPr algn="ctr"/>
                      <a:r>
                        <a:rPr lang="en-US" altLang="ja-GB"/>
                        <a:t>1</a:t>
                      </a:r>
                      <a:endParaRPr lang="ja-GB" altLang="en-US"/>
                    </a:p>
                  </a:txBody>
                  <a:tcPr/>
                </a:tc>
                <a:extLst>
                  <a:ext uri="{0D108BD9-81ED-4DB2-BD59-A6C34878D82A}">
                    <a16:rowId xmlns:a16="http://schemas.microsoft.com/office/drawing/2014/main" val="3106289364"/>
                  </a:ext>
                </a:extLst>
              </a:tr>
            </a:tbl>
          </a:graphicData>
        </a:graphic>
      </p:graphicFrame>
      <p:sp>
        <p:nvSpPr>
          <p:cNvPr id="7" name="上カーブ矢印 6">
            <a:extLst>
              <a:ext uri="{FF2B5EF4-FFF2-40B4-BE49-F238E27FC236}">
                <a16:creationId xmlns:a16="http://schemas.microsoft.com/office/drawing/2014/main" id="{B6892381-5DE2-A741-9811-C23470CAC52B}"/>
              </a:ext>
            </a:extLst>
          </p:cNvPr>
          <p:cNvSpPr/>
          <p:nvPr/>
        </p:nvSpPr>
        <p:spPr>
          <a:xfrm flipH="1">
            <a:off x="6890076" y="4613774"/>
            <a:ext cx="926758" cy="332534"/>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chemeClr val="tx1"/>
              </a:solidFill>
            </a:endParaRPr>
          </a:p>
        </p:txBody>
      </p:sp>
      <p:sp>
        <p:nvSpPr>
          <p:cNvPr id="8" name="上カーブ矢印 7">
            <a:extLst>
              <a:ext uri="{FF2B5EF4-FFF2-40B4-BE49-F238E27FC236}">
                <a16:creationId xmlns:a16="http://schemas.microsoft.com/office/drawing/2014/main" id="{DD8BA5A0-0FC6-A5E9-588B-C91703EAA365}"/>
              </a:ext>
            </a:extLst>
          </p:cNvPr>
          <p:cNvSpPr/>
          <p:nvPr/>
        </p:nvSpPr>
        <p:spPr>
          <a:xfrm flipH="1">
            <a:off x="5963318" y="4613774"/>
            <a:ext cx="926758" cy="332534"/>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chemeClr val="tx1"/>
              </a:solidFill>
            </a:endParaRPr>
          </a:p>
        </p:txBody>
      </p:sp>
      <p:sp>
        <p:nvSpPr>
          <p:cNvPr id="9" name="上カーブ矢印 8">
            <a:extLst>
              <a:ext uri="{FF2B5EF4-FFF2-40B4-BE49-F238E27FC236}">
                <a16:creationId xmlns:a16="http://schemas.microsoft.com/office/drawing/2014/main" id="{39B210E1-C59D-9A86-E2CF-956FFC926D89}"/>
              </a:ext>
            </a:extLst>
          </p:cNvPr>
          <p:cNvSpPr/>
          <p:nvPr/>
        </p:nvSpPr>
        <p:spPr>
          <a:xfrm flipH="1">
            <a:off x="5043152" y="4613774"/>
            <a:ext cx="926758" cy="332534"/>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chemeClr val="tx1"/>
              </a:solidFill>
            </a:endParaRPr>
          </a:p>
        </p:txBody>
      </p:sp>
      <p:sp>
        <p:nvSpPr>
          <p:cNvPr id="10" name="上カーブ矢印 9">
            <a:extLst>
              <a:ext uri="{FF2B5EF4-FFF2-40B4-BE49-F238E27FC236}">
                <a16:creationId xmlns:a16="http://schemas.microsoft.com/office/drawing/2014/main" id="{9F9A947F-BDFC-B3A7-5FDC-9D3D40FE1FFE}"/>
              </a:ext>
            </a:extLst>
          </p:cNvPr>
          <p:cNvSpPr/>
          <p:nvPr/>
        </p:nvSpPr>
        <p:spPr>
          <a:xfrm flipH="1">
            <a:off x="4116394" y="4613774"/>
            <a:ext cx="926758" cy="332534"/>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chemeClr val="tx1"/>
              </a:solidFill>
            </a:endParaRPr>
          </a:p>
        </p:txBody>
      </p:sp>
      <p:sp>
        <p:nvSpPr>
          <p:cNvPr id="11" name="上カーブ矢印 10">
            <a:extLst>
              <a:ext uri="{FF2B5EF4-FFF2-40B4-BE49-F238E27FC236}">
                <a16:creationId xmlns:a16="http://schemas.microsoft.com/office/drawing/2014/main" id="{B7529167-A57E-7B0F-96FF-C2F344C6B873}"/>
              </a:ext>
            </a:extLst>
          </p:cNvPr>
          <p:cNvSpPr/>
          <p:nvPr/>
        </p:nvSpPr>
        <p:spPr>
          <a:xfrm flipH="1">
            <a:off x="3189636" y="4613774"/>
            <a:ext cx="926758" cy="332534"/>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chemeClr val="tx1"/>
              </a:solidFill>
            </a:endParaRPr>
          </a:p>
        </p:txBody>
      </p:sp>
      <p:sp>
        <p:nvSpPr>
          <p:cNvPr id="12" name="上カーブ矢印 11">
            <a:extLst>
              <a:ext uri="{FF2B5EF4-FFF2-40B4-BE49-F238E27FC236}">
                <a16:creationId xmlns:a16="http://schemas.microsoft.com/office/drawing/2014/main" id="{15C5B6BC-1BBD-9E4F-EC03-EB60EE12839C}"/>
              </a:ext>
            </a:extLst>
          </p:cNvPr>
          <p:cNvSpPr/>
          <p:nvPr/>
        </p:nvSpPr>
        <p:spPr>
          <a:xfrm flipH="1">
            <a:off x="2262878" y="4613774"/>
            <a:ext cx="926758" cy="332534"/>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chemeClr val="tx1"/>
              </a:solidFill>
            </a:endParaRPr>
          </a:p>
        </p:txBody>
      </p:sp>
      <p:sp>
        <p:nvSpPr>
          <p:cNvPr id="13" name="テキスト ボックス 12">
            <a:extLst>
              <a:ext uri="{FF2B5EF4-FFF2-40B4-BE49-F238E27FC236}">
                <a16:creationId xmlns:a16="http://schemas.microsoft.com/office/drawing/2014/main" id="{009908EE-ACC4-4948-31B3-6E805DD06732}"/>
              </a:ext>
            </a:extLst>
          </p:cNvPr>
          <p:cNvSpPr txBox="1"/>
          <p:nvPr/>
        </p:nvSpPr>
        <p:spPr>
          <a:xfrm>
            <a:off x="7087196" y="4957188"/>
            <a:ext cx="532518" cy="369332"/>
          </a:xfrm>
          <a:prstGeom prst="rect">
            <a:avLst/>
          </a:prstGeom>
          <a:noFill/>
        </p:spPr>
        <p:txBody>
          <a:bodyPr wrap="none" rtlCol="0">
            <a:spAutoFit/>
          </a:bodyPr>
          <a:lstStyle/>
          <a:p>
            <a:r>
              <a:rPr kumimoji="1" lang="en-US" altLang="ja-GB"/>
              <a:t>×2</a:t>
            </a:r>
            <a:endParaRPr kumimoji="1" lang="ja-GB" altLang="en-US"/>
          </a:p>
        </p:txBody>
      </p:sp>
      <p:sp>
        <p:nvSpPr>
          <p:cNvPr id="14" name="テキスト ボックス 13">
            <a:extLst>
              <a:ext uri="{FF2B5EF4-FFF2-40B4-BE49-F238E27FC236}">
                <a16:creationId xmlns:a16="http://schemas.microsoft.com/office/drawing/2014/main" id="{2188D2D5-51BC-CE34-0F36-35DDC8E81544}"/>
              </a:ext>
            </a:extLst>
          </p:cNvPr>
          <p:cNvSpPr txBox="1"/>
          <p:nvPr/>
        </p:nvSpPr>
        <p:spPr>
          <a:xfrm>
            <a:off x="6160438" y="4957188"/>
            <a:ext cx="532518" cy="369332"/>
          </a:xfrm>
          <a:prstGeom prst="rect">
            <a:avLst/>
          </a:prstGeom>
          <a:noFill/>
        </p:spPr>
        <p:txBody>
          <a:bodyPr wrap="none" rtlCol="0">
            <a:spAutoFit/>
          </a:bodyPr>
          <a:lstStyle/>
          <a:p>
            <a:r>
              <a:rPr kumimoji="1" lang="en-US" altLang="ja-GB"/>
              <a:t>×2</a:t>
            </a:r>
            <a:endParaRPr kumimoji="1" lang="ja-GB" altLang="en-US"/>
          </a:p>
        </p:txBody>
      </p:sp>
      <p:sp>
        <p:nvSpPr>
          <p:cNvPr id="15" name="テキスト ボックス 14">
            <a:extLst>
              <a:ext uri="{FF2B5EF4-FFF2-40B4-BE49-F238E27FC236}">
                <a16:creationId xmlns:a16="http://schemas.microsoft.com/office/drawing/2014/main" id="{B3BD11B6-96EF-8F82-7ACC-A4968AAB0507}"/>
              </a:ext>
            </a:extLst>
          </p:cNvPr>
          <p:cNvSpPr txBox="1"/>
          <p:nvPr/>
        </p:nvSpPr>
        <p:spPr>
          <a:xfrm>
            <a:off x="5233680" y="4957188"/>
            <a:ext cx="532518" cy="369332"/>
          </a:xfrm>
          <a:prstGeom prst="rect">
            <a:avLst/>
          </a:prstGeom>
          <a:noFill/>
        </p:spPr>
        <p:txBody>
          <a:bodyPr wrap="none" rtlCol="0">
            <a:spAutoFit/>
          </a:bodyPr>
          <a:lstStyle/>
          <a:p>
            <a:r>
              <a:rPr kumimoji="1" lang="en-US" altLang="ja-GB"/>
              <a:t>×2</a:t>
            </a:r>
            <a:endParaRPr kumimoji="1" lang="ja-GB" altLang="en-US"/>
          </a:p>
        </p:txBody>
      </p:sp>
      <p:sp>
        <p:nvSpPr>
          <p:cNvPr id="16" name="テキスト ボックス 15">
            <a:extLst>
              <a:ext uri="{FF2B5EF4-FFF2-40B4-BE49-F238E27FC236}">
                <a16:creationId xmlns:a16="http://schemas.microsoft.com/office/drawing/2014/main" id="{F94160E8-2E42-640C-3178-C596DB13C8FF}"/>
              </a:ext>
            </a:extLst>
          </p:cNvPr>
          <p:cNvSpPr txBox="1"/>
          <p:nvPr/>
        </p:nvSpPr>
        <p:spPr>
          <a:xfrm>
            <a:off x="4313514" y="4957188"/>
            <a:ext cx="532518" cy="369332"/>
          </a:xfrm>
          <a:prstGeom prst="rect">
            <a:avLst/>
          </a:prstGeom>
          <a:noFill/>
        </p:spPr>
        <p:txBody>
          <a:bodyPr wrap="none" rtlCol="0">
            <a:spAutoFit/>
          </a:bodyPr>
          <a:lstStyle/>
          <a:p>
            <a:r>
              <a:rPr kumimoji="1" lang="en-US" altLang="ja-GB"/>
              <a:t>×2</a:t>
            </a:r>
            <a:endParaRPr kumimoji="1" lang="ja-GB" altLang="en-US"/>
          </a:p>
        </p:txBody>
      </p:sp>
      <p:sp>
        <p:nvSpPr>
          <p:cNvPr id="17" name="テキスト ボックス 16">
            <a:extLst>
              <a:ext uri="{FF2B5EF4-FFF2-40B4-BE49-F238E27FC236}">
                <a16:creationId xmlns:a16="http://schemas.microsoft.com/office/drawing/2014/main" id="{5065A50E-A29C-0B88-6E6E-EBEAC2F169AD}"/>
              </a:ext>
            </a:extLst>
          </p:cNvPr>
          <p:cNvSpPr txBox="1"/>
          <p:nvPr/>
        </p:nvSpPr>
        <p:spPr>
          <a:xfrm>
            <a:off x="3393348" y="4957188"/>
            <a:ext cx="532518" cy="369332"/>
          </a:xfrm>
          <a:prstGeom prst="rect">
            <a:avLst/>
          </a:prstGeom>
          <a:noFill/>
        </p:spPr>
        <p:txBody>
          <a:bodyPr wrap="none" rtlCol="0">
            <a:spAutoFit/>
          </a:bodyPr>
          <a:lstStyle/>
          <a:p>
            <a:r>
              <a:rPr kumimoji="1" lang="en-US" altLang="ja-GB"/>
              <a:t>×2</a:t>
            </a:r>
            <a:endParaRPr kumimoji="1" lang="ja-GB" altLang="en-US"/>
          </a:p>
        </p:txBody>
      </p:sp>
      <p:sp>
        <p:nvSpPr>
          <p:cNvPr id="18" name="テキスト ボックス 17">
            <a:extLst>
              <a:ext uri="{FF2B5EF4-FFF2-40B4-BE49-F238E27FC236}">
                <a16:creationId xmlns:a16="http://schemas.microsoft.com/office/drawing/2014/main" id="{23891635-2FAF-0327-E6F0-397777636FCA}"/>
              </a:ext>
            </a:extLst>
          </p:cNvPr>
          <p:cNvSpPr txBox="1"/>
          <p:nvPr/>
        </p:nvSpPr>
        <p:spPr>
          <a:xfrm>
            <a:off x="2397451" y="4957188"/>
            <a:ext cx="532518" cy="369332"/>
          </a:xfrm>
          <a:prstGeom prst="rect">
            <a:avLst/>
          </a:prstGeom>
          <a:noFill/>
        </p:spPr>
        <p:txBody>
          <a:bodyPr wrap="none" rtlCol="0">
            <a:spAutoFit/>
          </a:bodyPr>
          <a:lstStyle/>
          <a:p>
            <a:r>
              <a:rPr kumimoji="1" lang="en-US" altLang="ja-GB"/>
              <a:t>×2</a:t>
            </a:r>
            <a:endParaRPr kumimoji="1" lang="ja-GB" altLang="en-US"/>
          </a:p>
        </p:txBody>
      </p:sp>
    </p:spTree>
    <p:extLst>
      <p:ext uri="{BB962C8B-B14F-4D97-AF65-F5344CB8AC3E}">
        <p14:creationId xmlns:p14="http://schemas.microsoft.com/office/powerpoint/2010/main" val="360459608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99BDDE-4599-D819-5A56-ED2EE8CF8878}"/>
              </a:ext>
            </a:extLst>
          </p:cNvPr>
          <p:cNvSpPr>
            <a:spLocks noGrp="1"/>
          </p:cNvSpPr>
          <p:nvPr>
            <p:ph type="title"/>
          </p:nvPr>
        </p:nvSpPr>
        <p:spPr/>
        <p:txBody>
          <a:bodyPr/>
          <a:lstStyle/>
          <a:p>
            <a:r>
              <a:rPr kumimoji="1" lang="en-US" altLang="ja-GB"/>
              <a:t>10</a:t>
            </a:r>
            <a:r>
              <a:rPr kumimoji="1" lang="ja-GB" altLang="en-US"/>
              <a:t>進数</a:t>
            </a:r>
            <a:r>
              <a:rPr kumimoji="1" lang="en-US" altLang="ja-GB"/>
              <a:t>→2</a:t>
            </a:r>
            <a:r>
              <a:rPr kumimoji="1" lang="ja-GB" altLang="en-US"/>
              <a:t>進数の変換</a:t>
            </a:r>
          </a:p>
        </p:txBody>
      </p:sp>
      <p:pic>
        <p:nvPicPr>
          <p:cNvPr id="6" name="コンテンツ プレースホルダー 5" descr="グラフィカル ユーザー インターフェイス, アプリケーション&#10;&#10;AI 生成コンテンツは誤りを含む可能性があります。">
            <a:extLst>
              <a:ext uri="{FF2B5EF4-FFF2-40B4-BE49-F238E27FC236}">
                <a16:creationId xmlns:a16="http://schemas.microsoft.com/office/drawing/2014/main" id="{BC652223-D663-BC9C-0ACF-61712C964608}"/>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2003303" y="495861"/>
            <a:ext cx="5137391" cy="5866277"/>
          </a:xfrm>
        </p:spPr>
      </p:pic>
      <p:sp>
        <p:nvSpPr>
          <p:cNvPr id="4" name="テキスト ボックス 3">
            <a:extLst>
              <a:ext uri="{FF2B5EF4-FFF2-40B4-BE49-F238E27FC236}">
                <a16:creationId xmlns:a16="http://schemas.microsoft.com/office/drawing/2014/main" id="{0BD4B879-86EF-1F39-E14E-EAB89162173F}"/>
              </a:ext>
            </a:extLst>
          </p:cNvPr>
          <p:cNvSpPr txBox="1"/>
          <p:nvPr/>
        </p:nvSpPr>
        <p:spPr>
          <a:xfrm>
            <a:off x="956809" y="6059572"/>
            <a:ext cx="7230377" cy="369332"/>
          </a:xfrm>
          <a:prstGeom prst="rect">
            <a:avLst/>
          </a:prstGeom>
          <a:noFill/>
        </p:spPr>
        <p:txBody>
          <a:bodyPr wrap="none" rtlCol="0">
            <a:spAutoFit/>
          </a:bodyPr>
          <a:lstStyle/>
          <a:p>
            <a:r>
              <a:rPr kumimoji="1" lang="en-GB" altLang="ja-GB" dirty="0">
                <a:hlinkClick r:id="rId3"/>
              </a:rPr>
              <a:t>https://claude.ai/public/artifacts/0dfe2ebd-3e1a-45ab-95c1-c3c7174ea2ce</a:t>
            </a:r>
            <a:r>
              <a:rPr kumimoji="1" lang="en-GB" altLang="ja-GB" dirty="0"/>
              <a:t> </a:t>
            </a:r>
            <a:endParaRPr kumimoji="1" lang="ja-GB" altLang="en-US" dirty="0"/>
          </a:p>
        </p:txBody>
      </p:sp>
      <p:sp>
        <p:nvSpPr>
          <p:cNvPr id="3" name="テキスト ボックス 2">
            <a:extLst>
              <a:ext uri="{FF2B5EF4-FFF2-40B4-BE49-F238E27FC236}">
                <a16:creationId xmlns:a16="http://schemas.microsoft.com/office/drawing/2014/main" id="{3E9778CF-612A-BA38-0D85-63EC6DFB0A35}"/>
              </a:ext>
            </a:extLst>
          </p:cNvPr>
          <p:cNvSpPr txBox="1"/>
          <p:nvPr/>
        </p:nvSpPr>
        <p:spPr>
          <a:xfrm>
            <a:off x="903347" y="6428904"/>
            <a:ext cx="6417142" cy="369332"/>
          </a:xfrm>
          <a:prstGeom prst="rect">
            <a:avLst/>
          </a:prstGeom>
          <a:noFill/>
        </p:spPr>
        <p:txBody>
          <a:bodyPr wrap="none" rtlCol="0">
            <a:spAutoFit/>
          </a:bodyPr>
          <a:lstStyle/>
          <a:p>
            <a:pPr algn="ctr"/>
            <a:r>
              <a:rPr kumimoji="1" lang="ja-GB" altLang="en-US" dirty="0">
                <a:solidFill>
                  <a:schemeClr val="tx1">
                    <a:lumMod val="50000"/>
                    <a:lumOff val="50000"/>
                  </a:schemeClr>
                </a:solidFill>
              </a:rPr>
              <a:t>アプリに不具合や間違いがあれば講師までご連絡ください</a:t>
            </a:r>
          </a:p>
        </p:txBody>
      </p:sp>
    </p:spTree>
    <p:extLst>
      <p:ext uri="{BB962C8B-B14F-4D97-AF65-F5344CB8AC3E}">
        <p14:creationId xmlns:p14="http://schemas.microsoft.com/office/powerpoint/2010/main" val="265706999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312875-9239-3602-9897-C9AE4D075202}"/>
              </a:ext>
            </a:extLst>
          </p:cNvPr>
          <p:cNvSpPr>
            <a:spLocks noGrp="1"/>
          </p:cNvSpPr>
          <p:nvPr>
            <p:ph type="title"/>
          </p:nvPr>
        </p:nvSpPr>
        <p:spPr/>
        <p:txBody>
          <a:bodyPr/>
          <a:lstStyle/>
          <a:p>
            <a:r>
              <a:rPr kumimoji="1" lang="en-US" altLang="ja-GB"/>
              <a:t>16</a:t>
            </a:r>
            <a:r>
              <a:rPr kumimoji="1" lang="ja-GB" altLang="en-US"/>
              <a:t>進数</a:t>
            </a:r>
          </a:p>
        </p:txBody>
      </p:sp>
      <p:sp>
        <p:nvSpPr>
          <p:cNvPr id="3" name="コンテンツ プレースホルダー 2">
            <a:extLst>
              <a:ext uri="{FF2B5EF4-FFF2-40B4-BE49-F238E27FC236}">
                <a16:creationId xmlns:a16="http://schemas.microsoft.com/office/drawing/2014/main" id="{6F8D04A8-A1F9-B750-536E-7CE668BF1710}"/>
              </a:ext>
            </a:extLst>
          </p:cNvPr>
          <p:cNvSpPr>
            <a:spLocks noGrp="1"/>
          </p:cNvSpPr>
          <p:nvPr>
            <p:ph idx="1"/>
          </p:nvPr>
        </p:nvSpPr>
        <p:spPr/>
        <p:txBody>
          <a:bodyPr/>
          <a:lstStyle/>
          <a:p>
            <a:pPr marL="0" indent="0">
              <a:buNone/>
            </a:pPr>
            <a:r>
              <a:rPr lang="ja-GB" altLang="en-US" dirty="0"/>
              <a:t>桁数の多い</a:t>
            </a:r>
            <a:r>
              <a:rPr lang="en-US" altLang="ja-GB" dirty="0"/>
              <a:t>2</a:t>
            </a:r>
            <a:r>
              <a:rPr lang="ja-GB" altLang="en-US" dirty="0"/>
              <a:t>進数</a:t>
            </a:r>
            <a:r>
              <a:rPr kumimoji="1" lang="ja-GB" altLang="en-US" dirty="0"/>
              <a:t>を簡単な仕組みでコンパクトに表記する方法</a:t>
            </a:r>
            <a:endParaRPr kumimoji="1" lang="en-US" altLang="ja-GB" dirty="0"/>
          </a:p>
          <a:p>
            <a:pPr marL="457200" lvl="1" indent="0">
              <a:buNone/>
            </a:pPr>
            <a:r>
              <a:rPr kumimoji="1" lang="en-US" altLang="ja-GB" dirty="0"/>
              <a:t>2</a:t>
            </a:r>
            <a:r>
              <a:rPr kumimoji="1" lang="ja-GB" altLang="en-US" dirty="0"/>
              <a:t>進数の</a:t>
            </a:r>
            <a:r>
              <a:rPr kumimoji="1" lang="en-US" altLang="ja-GB" dirty="0"/>
              <a:t>4</a:t>
            </a:r>
            <a:r>
              <a:rPr kumimoji="1" lang="ja-GB" altLang="en-US" dirty="0"/>
              <a:t>桁分を一つの記号で表現する</a:t>
            </a:r>
            <a:endParaRPr kumimoji="1" lang="en-US" altLang="ja-GB" dirty="0"/>
          </a:p>
          <a:p>
            <a:pPr lvl="2"/>
            <a:r>
              <a:rPr lang="en-US" altLang="ja-GB" dirty="0"/>
              <a:t>2</a:t>
            </a:r>
            <a:r>
              <a:rPr lang="en-US" altLang="ja-GB" baseline="30000" dirty="0"/>
              <a:t>4</a:t>
            </a:r>
            <a:r>
              <a:rPr lang="en-US" altLang="ja-GB" dirty="0"/>
              <a:t>=16</a:t>
            </a:r>
            <a:r>
              <a:rPr lang="ja-GB" altLang="en-US" dirty="0"/>
              <a:t>なので，</a:t>
            </a:r>
            <a:r>
              <a:rPr lang="en-US" altLang="ja-GB" dirty="0"/>
              <a:t>16</a:t>
            </a:r>
            <a:r>
              <a:rPr lang="ja-GB" altLang="en-US" dirty="0"/>
              <a:t>種類の記号がある</a:t>
            </a:r>
            <a:r>
              <a:rPr lang="en-US" altLang="ja-GB" dirty="0"/>
              <a:t>→16</a:t>
            </a:r>
            <a:r>
              <a:rPr lang="ja-GB" altLang="en-US" dirty="0"/>
              <a:t>進数</a:t>
            </a:r>
            <a:endParaRPr lang="en-US" altLang="ja-GB" dirty="0"/>
          </a:p>
          <a:p>
            <a:pPr lvl="2"/>
            <a:endParaRPr lang="en-US" altLang="ja-GB" dirty="0"/>
          </a:p>
          <a:p>
            <a:pPr lvl="2"/>
            <a:endParaRPr lang="en-US" altLang="ja-GB" dirty="0"/>
          </a:p>
          <a:p>
            <a:pPr lvl="2"/>
            <a:endParaRPr lang="en-US" altLang="ja-GB" dirty="0"/>
          </a:p>
          <a:p>
            <a:pPr lvl="2"/>
            <a:endParaRPr lang="en-US" altLang="ja-GB" dirty="0"/>
          </a:p>
          <a:p>
            <a:pPr marL="457200" lvl="1" indent="0">
              <a:buNone/>
            </a:pPr>
            <a:endParaRPr lang="en-US" altLang="ja-GB" dirty="0"/>
          </a:p>
          <a:p>
            <a:pPr marL="457200" lvl="1" indent="0">
              <a:buNone/>
            </a:pPr>
            <a:r>
              <a:rPr lang="en-US" altLang="ja-GB" dirty="0"/>
              <a:t>2</a:t>
            </a:r>
            <a:r>
              <a:rPr lang="ja-GB" altLang="en-US" dirty="0"/>
              <a:t>進数と</a:t>
            </a:r>
            <a:r>
              <a:rPr lang="en-US" altLang="ja-GB" dirty="0"/>
              <a:t>16</a:t>
            </a:r>
            <a:r>
              <a:rPr lang="ja-GB" altLang="en-US" dirty="0"/>
              <a:t>進数の変換：</a:t>
            </a:r>
            <a:r>
              <a:rPr lang="en-US" altLang="ja-GB" dirty="0"/>
              <a:t>2</a:t>
            </a:r>
            <a:r>
              <a:rPr lang="ja-GB" altLang="en-US" dirty="0"/>
              <a:t>進数を</a:t>
            </a:r>
            <a:r>
              <a:rPr lang="en-US" altLang="ja-GB" dirty="0"/>
              <a:t>4</a:t>
            </a:r>
            <a:r>
              <a:rPr lang="ja-GB" altLang="en-US" dirty="0"/>
              <a:t>桁に区切り，対応する記号に変える</a:t>
            </a:r>
            <a:endParaRPr lang="en-US" altLang="ja-GB" dirty="0"/>
          </a:p>
          <a:p>
            <a:pPr lvl="2"/>
            <a:r>
              <a:rPr lang="ja-GB" altLang="en-US" dirty="0"/>
              <a:t>例</a:t>
            </a:r>
            <a:r>
              <a:rPr lang="en-US" altLang="ja-GB" dirty="0"/>
              <a:t>1</a:t>
            </a:r>
            <a:r>
              <a:rPr lang="ja-GB" altLang="en-US" dirty="0"/>
              <a:t>）</a:t>
            </a:r>
            <a:r>
              <a:rPr lang="en-US" altLang="ja-GB" dirty="0"/>
              <a:t>10101100</a:t>
            </a:r>
            <a:r>
              <a:rPr lang="en-US" altLang="ja-GB" baseline="-25000" dirty="0"/>
              <a:t>(2)</a:t>
            </a:r>
            <a:r>
              <a:rPr lang="en-US" altLang="ja-GB" dirty="0"/>
              <a:t>→ 1010 | 1100 → A|E           → AE</a:t>
            </a:r>
            <a:r>
              <a:rPr lang="en-US" altLang="ja-GB" baseline="-25000" dirty="0"/>
              <a:t>(16)</a:t>
            </a:r>
          </a:p>
          <a:p>
            <a:pPr lvl="2"/>
            <a:r>
              <a:rPr lang="ja-GB" altLang="en-US" dirty="0"/>
              <a:t>例</a:t>
            </a:r>
            <a:r>
              <a:rPr lang="en-US" altLang="ja-GB" dirty="0"/>
              <a:t>2</a:t>
            </a:r>
            <a:r>
              <a:rPr lang="ja-GB" altLang="en-US" dirty="0"/>
              <a:t>）</a:t>
            </a:r>
            <a:r>
              <a:rPr lang="en-US" altLang="ja-GB" dirty="0"/>
              <a:t>5F</a:t>
            </a:r>
            <a:r>
              <a:rPr lang="en-US" altLang="ja-GB" baseline="-25000" dirty="0"/>
              <a:t>(16)</a:t>
            </a:r>
            <a:r>
              <a:rPr lang="ja-JP" altLang="en-US"/>
              <a:t>　</a:t>
            </a:r>
            <a:r>
              <a:rPr lang="en-US" altLang="ja-JP" dirty="0"/>
              <a:t>     → 5|F             → 0101 | 1111 → 1011111</a:t>
            </a:r>
            <a:r>
              <a:rPr lang="en-US" altLang="ja-JP" baseline="-25000" dirty="0"/>
              <a:t>(2)</a:t>
            </a:r>
            <a:endParaRPr lang="en-US" altLang="ja-GB" baseline="-25000" dirty="0"/>
          </a:p>
          <a:p>
            <a:pPr lvl="2"/>
            <a:endParaRPr lang="en-US" altLang="ja-GB" dirty="0"/>
          </a:p>
          <a:p>
            <a:pPr lvl="1"/>
            <a:endParaRPr kumimoji="1" lang="ja-GB" altLang="en-US" dirty="0"/>
          </a:p>
        </p:txBody>
      </p:sp>
      <p:pic>
        <p:nvPicPr>
          <p:cNvPr id="8" name="図 7">
            <a:extLst>
              <a:ext uri="{FF2B5EF4-FFF2-40B4-BE49-F238E27FC236}">
                <a16:creationId xmlns:a16="http://schemas.microsoft.com/office/drawing/2014/main" id="{0828F559-F5EF-7436-1EE7-5591BD8BE438}"/>
              </a:ext>
            </a:extLst>
          </p:cNvPr>
          <p:cNvPicPr>
            <a:picLocks noChangeAspect="1"/>
          </p:cNvPicPr>
          <p:nvPr/>
        </p:nvPicPr>
        <p:blipFill>
          <a:blip r:embed="rId2"/>
          <a:stretch>
            <a:fillRect/>
          </a:stretch>
        </p:blipFill>
        <p:spPr>
          <a:xfrm>
            <a:off x="692946" y="2091895"/>
            <a:ext cx="7758108" cy="824299"/>
          </a:xfrm>
          <a:prstGeom prst="rect">
            <a:avLst/>
          </a:prstGeom>
        </p:spPr>
      </p:pic>
    </p:spTree>
    <p:extLst>
      <p:ext uri="{BB962C8B-B14F-4D97-AF65-F5344CB8AC3E}">
        <p14:creationId xmlns:p14="http://schemas.microsoft.com/office/powerpoint/2010/main" val="317911738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CD6008-56F6-3C13-E977-9BBE02A700B8}"/>
              </a:ext>
            </a:extLst>
          </p:cNvPr>
          <p:cNvSpPr>
            <a:spLocks noGrp="1"/>
          </p:cNvSpPr>
          <p:nvPr>
            <p:ph type="title"/>
          </p:nvPr>
        </p:nvSpPr>
        <p:spPr/>
        <p:txBody>
          <a:bodyPr/>
          <a:lstStyle/>
          <a:p>
            <a:r>
              <a:rPr kumimoji="1" lang="en-US" altLang="ja-GB"/>
              <a:t>16</a:t>
            </a:r>
            <a:r>
              <a:rPr kumimoji="1" lang="ja-GB" altLang="en-US"/>
              <a:t>進数⇄</a:t>
            </a:r>
            <a:r>
              <a:rPr kumimoji="1" lang="en-US" altLang="ja-GB"/>
              <a:t>2</a:t>
            </a:r>
            <a:r>
              <a:rPr kumimoji="1" lang="ja-GB" altLang="en-US"/>
              <a:t>進数変換を説明する</a:t>
            </a:r>
            <a:r>
              <a:rPr kumimoji="1" lang="en-US" altLang="ja-GB"/>
              <a:t>web</a:t>
            </a:r>
            <a:r>
              <a:rPr kumimoji="1" lang="ja-GB" altLang="en-US"/>
              <a:t>アプリ</a:t>
            </a:r>
          </a:p>
        </p:txBody>
      </p:sp>
      <p:pic>
        <p:nvPicPr>
          <p:cNvPr id="4" name="図 3" descr="コンピューターのスクリーンショット&#10;&#10;AI 生成コンテンツは誤りを含む可能性があります。">
            <a:extLst>
              <a:ext uri="{FF2B5EF4-FFF2-40B4-BE49-F238E27FC236}">
                <a16:creationId xmlns:a16="http://schemas.microsoft.com/office/drawing/2014/main" id="{97DA44DA-F54D-0200-EF59-390F5A76360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561954" y="580277"/>
            <a:ext cx="6020092" cy="5744439"/>
          </a:xfrm>
          <a:prstGeom prst="rect">
            <a:avLst/>
          </a:prstGeom>
        </p:spPr>
      </p:pic>
      <p:sp>
        <p:nvSpPr>
          <p:cNvPr id="5" name="テキスト ボックス 4">
            <a:extLst>
              <a:ext uri="{FF2B5EF4-FFF2-40B4-BE49-F238E27FC236}">
                <a16:creationId xmlns:a16="http://schemas.microsoft.com/office/drawing/2014/main" id="{7DC3764C-D726-BA43-E191-28260A162DEC}"/>
              </a:ext>
            </a:extLst>
          </p:cNvPr>
          <p:cNvSpPr txBox="1"/>
          <p:nvPr/>
        </p:nvSpPr>
        <p:spPr>
          <a:xfrm>
            <a:off x="936774" y="6028084"/>
            <a:ext cx="7270452" cy="369332"/>
          </a:xfrm>
          <a:prstGeom prst="rect">
            <a:avLst/>
          </a:prstGeom>
          <a:noFill/>
        </p:spPr>
        <p:txBody>
          <a:bodyPr wrap="none" rtlCol="0">
            <a:spAutoFit/>
          </a:bodyPr>
          <a:lstStyle/>
          <a:p>
            <a:r>
              <a:rPr kumimoji="1" lang="en-GB" altLang="ja-GB">
                <a:hlinkClick r:id="rId3"/>
              </a:rPr>
              <a:t>https://claude.ai/public/artifacts/aba4536b-0ce9-4646-8732-47ea2cd625f9</a:t>
            </a:r>
            <a:r>
              <a:rPr kumimoji="1" lang="en-GB" altLang="ja-GB"/>
              <a:t> </a:t>
            </a:r>
            <a:endParaRPr kumimoji="1" lang="ja-GB" altLang="en-US"/>
          </a:p>
        </p:txBody>
      </p:sp>
      <p:sp>
        <p:nvSpPr>
          <p:cNvPr id="3" name="テキスト ボックス 2">
            <a:extLst>
              <a:ext uri="{FF2B5EF4-FFF2-40B4-BE49-F238E27FC236}">
                <a16:creationId xmlns:a16="http://schemas.microsoft.com/office/drawing/2014/main" id="{BA12148F-86EA-49F4-8904-074EC4A5E486}"/>
              </a:ext>
            </a:extLst>
          </p:cNvPr>
          <p:cNvSpPr txBox="1"/>
          <p:nvPr/>
        </p:nvSpPr>
        <p:spPr>
          <a:xfrm>
            <a:off x="1363429" y="6444069"/>
            <a:ext cx="6417142" cy="369332"/>
          </a:xfrm>
          <a:prstGeom prst="rect">
            <a:avLst/>
          </a:prstGeom>
          <a:noFill/>
        </p:spPr>
        <p:txBody>
          <a:bodyPr wrap="none" rtlCol="0">
            <a:spAutoFit/>
          </a:bodyPr>
          <a:lstStyle/>
          <a:p>
            <a:pPr algn="ctr"/>
            <a:r>
              <a:rPr kumimoji="1" lang="ja-GB" altLang="en-US" dirty="0">
                <a:solidFill>
                  <a:schemeClr val="tx1">
                    <a:lumMod val="50000"/>
                    <a:lumOff val="50000"/>
                  </a:schemeClr>
                </a:solidFill>
              </a:rPr>
              <a:t>アプリに不具合や間違いがあれば講師までご連絡ください</a:t>
            </a:r>
          </a:p>
        </p:txBody>
      </p:sp>
    </p:spTree>
    <p:extLst>
      <p:ext uri="{BB962C8B-B14F-4D97-AF65-F5344CB8AC3E}">
        <p14:creationId xmlns:p14="http://schemas.microsoft.com/office/powerpoint/2010/main" val="327209151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FDCDA-3C4C-9F56-0900-347BD6F5872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732BD3E-2CFB-1E15-1D71-D1B749CE5C75}"/>
              </a:ext>
            </a:extLst>
          </p:cNvPr>
          <p:cNvSpPr>
            <a:spLocks noGrp="1"/>
          </p:cNvSpPr>
          <p:nvPr>
            <p:ph type="title"/>
          </p:nvPr>
        </p:nvSpPr>
        <p:spPr/>
        <p:txBody>
          <a:bodyPr/>
          <a:lstStyle/>
          <a:p>
            <a:r>
              <a:rPr lang="en-US" altLang="ja-GB"/>
              <a:t>16</a:t>
            </a:r>
            <a:r>
              <a:rPr kumimoji="1" lang="ja-GB" altLang="en-US"/>
              <a:t>進数</a:t>
            </a:r>
            <a:r>
              <a:rPr kumimoji="1" lang="en-US" altLang="ja-GB"/>
              <a:t>→10</a:t>
            </a:r>
            <a:r>
              <a:rPr kumimoji="1" lang="ja-GB" altLang="en-US"/>
              <a:t>進数の変換</a:t>
            </a:r>
          </a:p>
        </p:txBody>
      </p:sp>
      <p:sp>
        <p:nvSpPr>
          <p:cNvPr id="3" name="コンテンツ プレースホルダー 2">
            <a:extLst>
              <a:ext uri="{FF2B5EF4-FFF2-40B4-BE49-F238E27FC236}">
                <a16:creationId xmlns:a16="http://schemas.microsoft.com/office/drawing/2014/main" id="{767FA8F7-035C-879C-F8D8-194D5FD88828}"/>
              </a:ext>
            </a:extLst>
          </p:cNvPr>
          <p:cNvSpPr>
            <a:spLocks noGrp="1"/>
          </p:cNvSpPr>
          <p:nvPr>
            <p:ph idx="1"/>
          </p:nvPr>
        </p:nvSpPr>
        <p:spPr/>
        <p:txBody>
          <a:bodyPr/>
          <a:lstStyle/>
          <a:p>
            <a:pPr marL="0" indent="0">
              <a:buNone/>
            </a:pPr>
            <a:r>
              <a:rPr lang="ja-GB" altLang="en-US"/>
              <a:t>桁に応じた</a:t>
            </a:r>
            <a:r>
              <a:rPr lang="en-US" altLang="ja-GB"/>
              <a:t>16</a:t>
            </a:r>
            <a:r>
              <a:rPr lang="ja-GB" altLang="en-US"/>
              <a:t>の冪乗を掛け算する</a:t>
            </a:r>
            <a:endParaRPr lang="en-US" altLang="ja-GB"/>
          </a:p>
          <a:p>
            <a:pPr marL="457200" lvl="1" indent="0">
              <a:buNone/>
            </a:pPr>
            <a:r>
              <a:rPr lang="ja-GB" altLang="en-US"/>
              <a:t>例）</a:t>
            </a:r>
            <a:r>
              <a:rPr lang="en-US" altLang="ja-GB"/>
              <a:t>1F3</a:t>
            </a:r>
            <a:r>
              <a:rPr lang="en-US" altLang="ja-GB" baseline="-25000"/>
              <a:t>(16)</a:t>
            </a:r>
            <a:r>
              <a:rPr lang="en-US" altLang="ja-GB"/>
              <a:t>= 1×16</a:t>
            </a:r>
            <a:r>
              <a:rPr lang="en-US" altLang="ja-GB" baseline="30000"/>
              <a:t>2</a:t>
            </a:r>
            <a:r>
              <a:rPr lang="en-US" altLang="ja-GB"/>
              <a:t>   + F×16  + 3×1</a:t>
            </a:r>
          </a:p>
          <a:p>
            <a:pPr marL="457200" lvl="1" indent="0">
              <a:buNone/>
            </a:pPr>
            <a:r>
              <a:rPr lang="en-US" altLang="ja-GB"/>
              <a:t>                 = 1×256 + 15×16 + 3×1</a:t>
            </a:r>
          </a:p>
          <a:p>
            <a:pPr marL="457200" lvl="1" indent="0">
              <a:buNone/>
            </a:pPr>
            <a:r>
              <a:rPr lang="en-US" altLang="ja-GB"/>
              <a:t>                 = 499</a:t>
            </a:r>
            <a:r>
              <a:rPr lang="en-US" altLang="ja-GB" baseline="-25000"/>
              <a:t>(10)</a:t>
            </a:r>
          </a:p>
        </p:txBody>
      </p:sp>
      <p:graphicFrame>
        <p:nvGraphicFramePr>
          <p:cNvPr id="5" name="表 4">
            <a:extLst>
              <a:ext uri="{FF2B5EF4-FFF2-40B4-BE49-F238E27FC236}">
                <a16:creationId xmlns:a16="http://schemas.microsoft.com/office/drawing/2014/main" id="{3EE95F45-D035-39FB-88DB-C3D3A195DEDF}"/>
              </a:ext>
            </a:extLst>
          </p:cNvPr>
          <p:cNvGraphicFramePr>
            <a:graphicFrameLocks noGrp="1"/>
          </p:cNvGraphicFramePr>
          <p:nvPr/>
        </p:nvGraphicFramePr>
        <p:xfrm>
          <a:off x="2817000" y="3300122"/>
          <a:ext cx="3510000" cy="1112520"/>
        </p:xfrm>
        <a:graphic>
          <a:graphicData uri="http://schemas.openxmlformats.org/drawingml/2006/table">
            <a:tbl>
              <a:tblPr firstRow="1" firstCol="1" bandRow="1">
                <a:tableStyleId>{5C22544A-7EE6-4342-B048-85BDC9FD1C3A}</a:tableStyleId>
              </a:tblPr>
              <a:tblGrid>
                <a:gridCol w="877500">
                  <a:extLst>
                    <a:ext uri="{9D8B030D-6E8A-4147-A177-3AD203B41FA5}">
                      <a16:colId xmlns:a16="http://schemas.microsoft.com/office/drawing/2014/main" val="1441583760"/>
                    </a:ext>
                  </a:extLst>
                </a:gridCol>
                <a:gridCol w="877500">
                  <a:extLst>
                    <a:ext uri="{9D8B030D-6E8A-4147-A177-3AD203B41FA5}">
                      <a16:colId xmlns:a16="http://schemas.microsoft.com/office/drawing/2014/main" val="2455451275"/>
                    </a:ext>
                  </a:extLst>
                </a:gridCol>
                <a:gridCol w="877500">
                  <a:extLst>
                    <a:ext uri="{9D8B030D-6E8A-4147-A177-3AD203B41FA5}">
                      <a16:colId xmlns:a16="http://schemas.microsoft.com/office/drawing/2014/main" val="3918346198"/>
                    </a:ext>
                  </a:extLst>
                </a:gridCol>
                <a:gridCol w="877500">
                  <a:extLst>
                    <a:ext uri="{9D8B030D-6E8A-4147-A177-3AD203B41FA5}">
                      <a16:colId xmlns:a16="http://schemas.microsoft.com/office/drawing/2014/main" val="2526903477"/>
                    </a:ext>
                  </a:extLst>
                </a:gridCol>
              </a:tblGrid>
              <a:tr h="370840">
                <a:tc>
                  <a:txBody>
                    <a:bodyPr/>
                    <a:lstStyle/>
                    <a:p>
                      <a:r>
                        <a:rPr lang="ja-GB" altLang="en-US"/>
                        <a:t>数値</a:t>
                      </a:r>
                    </a:p>
                  </a:txBody>
                  <a:tcPr/>
                </a:tc>
                <a:tc>
                  <a:txBody>
                    <a:bodyPr/>
                    <a:lstStyle/>
                    <a:p>
                      <a:pPr algn="ctr"/>
                      <a:r>
                        <a:rPr lang="en-US" altLang="ja-GB"/>
                        <a:t>1</a:t>
                      </a:r>
                      <a:endParaRPr lang="ja-GB" altLang="en-US"/>
                    </a:p>
                  </a:txBody>
                  <a:tcPr/>
                </a:tc>
                <a:tc>
                  <a:txBody>
                    <a:bodyPr/>
                    <a:lstStyle/>
                    <a:p>
                      <a:pPr algn="ctr"/>
                      <a:r>
                        <a:rPr lang="en-US" altLang="ja-GB"/>
                        <a:t>1</a:t>
                      </a:r>
                      <a:endParaRPr lang="ja-GB" altLang="en-US"/>
                    </a:p>
                  </a:txBody>
                  <a:tcPr/>
                </a:tc>
                <a:tc>
                  <a:txBody>
                    <a:bodyPr/>
                    <a:lstStyle/>
                    <a:p>
                      <a:pPr algn="ctr"/>
                      <a:r>
                        <a:rPr lang="en-US" altLang="ja-GB"/>
                        <a:t>1</a:t>
                      </a:r>
                      <a:endParaRPr lang="ja-GB" altLang="en-US"/>
                    </a:p>
                  </a:txBody>
                  <a:tcPr/>
                </a:tc>
                <a:extLst>
                  <a:ext uri="{0D108BD9-81ED-4DB2-BD59-A6C34878D82A}">
                    <a16:rowId xmlns:a16="http://schemas.microsoft.com/office/drawing/2014/main" val="1724113796"/>
                  </a:ext>
                </a:extLst>
              </a:tr>
              <a:tr h="370840">
                <a:tc>
                  <a:txBody>
                    <a:bodyPr/>
                    <a:lstStyle/>
                    <a:p>
                      <a:r>
                        <a:rPr lang="ja-GB" altLang="en-US"/>
                        <a:t>桁</a:t>
                      </a:r>
                      <a:endParaRPr lang="en-US" altLang="ja-JP"/>
                    </a:p>
                  </a:txBody>
                  <a:tcPr/>
                </a:tc>
                <a:tc>
                  <a:txBody>
                    <a:bodyPr/>
                    <a:lstStyle/>
                    <a:p>
                      <a:pPr algn="ctr"/>
                      <a:r>
                        <a:rPr lang="en-US" altLang="ja-GB"/>
                        <a:t>16</a:t>
                      </a:r>
                      <a:r>
                        <a:rPr lang="en-US" altLang="ja-GB" baseline="30000"/>
                        <a:t>2</a:t>
                      </a:r>
                      <a:endParaRPr lang="ja-GB" altLang="en-US"/>
                    </a:p>
                  </a:txBody>
                  <a:tcPr/>
                </a:tc>
                <a:tc>
                  <a:txBody>
                    <a:bodyPr/>
                    <a:lstStyle/>
                    <a:p>
                      <a:pPr algn="ctr"/>
                      <a:r>
                        <a:rPr lang="en-US" altLang="ja-GB"/>
                        <a:t>16</a:t>
                      </a:r>
                      <a:r>
                        <a:rPr lang="en-US" altLang="ja-GB" baseline="30000"/>
                        <a:t>1</a:t>
                      </a:r>
                      <a:endParaRPr lang="ja-GB" altLang="en-US"/>
                    </a:p>
                  </a:txBody>
                  <a:tcPr/>
                </a:tc>
                <a:tc>
                  <a:txBody>
                    <a:bodyPr/>
                    <a:lstStyle/>
                    <a:p>
                      <a:pPr algn="ctr"/>
                      <a:r>
                        <a:rPr lang="en-US" altLang="ja-GB"/>
                        <a:t>16</a:t>
                      </a:r>
                      <a:r>
                        <a:rPr lang="en-US" altLang="ja-GB" baseline="30000"/>
                        <a:t>0</a:t>
                      </a:r>
                      <a:endParaRPr lang="ja-GB" altLang="en-US"/>
                    </a:p>
                  </a:txBody>
                  <a:tcPr/>
                </a:tc>
                <a:extLst>
                  <a:ext uri="{0D108BD9-81ED-4DB2-BD59-A6C34878D82A}">
                    <a16:rowId xmlns:a16="http://schemas.microsoft.com/office/drawing/2014/main" val="2526597730"/>
                  </a:ext>
                </a:extLst>
              </a:tr>
              <a:tr h="370840">
                <a:tc>
                  <a:txBody>
                    <a:bodyPr/>
                    <a:lstStyle/>
                    <a:p>
                      <a:r>
                        <a:rPr lang="ja-GB" altLang="en-US"/>
                        <a:t>大きさ</a:t>
                      </a:r>
                      <a:endParaRPr lang="en-US" altLang="ja-JP"/>
                    </a:p>
                  </a:txBody>
                  <a:tcPr/>
                </a:tc>
                <a:tc>
                  <a:txBody>
                    <a:bodyPr/>
                    <a:lstStyle/>
                    <a:p>
                      <a:pPr algn="ctr"/>
                      <a:r>
                        <a:rPr lang="en-US" altLang="ja-GB"/>
                        <a:t>256</a:t>
                      </a:r>
                      <a:endParaRPr lang="ja-GB" altLang="en-US"/>
                    </a:p>
                  </a:txBody>
                  <a:tcPr/>
                </a:tc>
                <a:tc>
                  <a:txBody>
                    <a:bodyPr/>
                    <a:lstStyle/>
                    <a:p>
                      <a:pPr algn="ctr"/>
                      <a:r>
                        <a:rPr lang="en-US" altLang="ja-GB"/>
                        <a:t>16</a:t>
                      </a:r>
                      <a:endParaRPr lang="ja-GB" altLang="en-US"/>
                    </a:p>
                  </a:txBody>
                  <a:tcPr/>
                </a:tc>
                <a:tc>
                  <a:txBody>
                    <a:bodyPr/>
                    <a:lstStyle/>
                    <a:p>
                      <a:pPr algn="ctr"/>
                      <a:r>
                        <a:rPr lang="en-US" altLang="ja-GB"/>
                        <a:t>1</a:t>
                      </a:r>
                      <a:endParaRPr lang="ja-GB" altLang="en-US"/>
                    </a:p>
                  </a:txBody>
                  <a:tcPr/>
                </a:tc>
                <a:extLst>
                  <a:ext uri="{0D108BD9-81ED-4DB2-BD59-A6C34878D82A}">
                    <a16:rowId xmlns:a16="http://schemas.microsoft.com/office/drawing/2014/main" val="3106289364"/>
                  </a:ext>
                </a:extLst>
              </a:tr>
            </a:tbl>
          </a:graphicData>
        </a:graphic>
      </p:graphicFrame>
      <p:sp>
        <p:nvSpPr>
          <p:cNvPr id="10" name="上カーブ矢印 9">
            <a:extLst>
              <a:ext uri="{FF2B5EF4-FFF2-40B4-BE49-F238E27FC236}">
                <a16:creationId xmlns:a16="http://schemas.microsoft.com/office/drawing/2014/main" id="{4006BB06-2F0B-C5B5-6D5F-CFE09B232BF8}"/>
              </a:ext>
            </a:extLst>
          </p:cNvPr>
          <p:cNvSpPr/>
          <p:nvPr/>
        </p:nvSpPr>
        <p:spPr>
          <a:xfrm flipH="1">
            <a:off x="4943455" y="4469652"/>
            <a:ext cx="926758" cy="332534"/>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chemeClr val="tx1"/>
              </a:solidFill>
            </a:endParaRPr>
          </a:p>
        </p:txBody>
      </p:sp>
      <p:sp>
        <p:nvSpPr>
          <p:cNvPr id="11" name="上カーブ矢印 10">
            <a:extLst>
              <a:ext uri="{FF2B5EF4-FFF2-40B4-BE49-F238E27FC236}">
                <a16:creationId xmlns:a16="http://schemas.microsoft.com/office/drawing/2014/main" id="{7866F396-55FD-847D-CBE7-B8D20C977AE6}"/>
              </a:ext>
            </a:extLst>
          </p:cNvPr>
          <p:cNvSpPr/>
          <p:nvPr/>
        </p:nvSpPr>
        <p:spPr>
          <a:xfrm flipH="1">
            <a:off x="4016697" y="4469652"/>
            <a:ext cx="926758" cy="332534"/>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chemeClr val="tx1"/>
              </a:solidFill>
            </a:endParaRPr>
          </a:p>
        </p:txBody>
      </p:sp>
      <p:sp>
        <p:nvSpPr>
          <p:cNvPr id="16" name="テキスト ボックス 15">
            <a:extLst>
              <a:ext uri="{FF2B5EF4-FFF2-40B4-BE49-F238E27FC236}">
                <a16:creationId xmlns:a16="http://schemas.microsoft.com/office/drawing/2014/main" id="{0C434598-FE5A-1B04-603D-BED87CAF5701}"/>
              </a:ext>
            </a:extLst>
          </p:cNvPr>
          <p:cNvSpPr txBox="1"/>
          <p:nvPr/>
        </p:nvSpPr>
        <p:spPr>
          <a:xfrm>
            <a:off x="5140575" y="4813066"/>
            <a:ext cx="649537" cy="369332"/>
          </a:xfrm>
          <a:prstGeom prst="rect">
            <a:avLst/>
          </a:prstGeom>
          <a:noFill/>
        </p:spPr>
        <p:txBody>
          <a:bodyPr wrap="none" rtlCol="0">
            <a:spAutoFit/>
          </a:bodyPr>
          <a:lstStyle/>
          <a:p>
            <a:r>
              <a:rPr kumimoji="1" lang="en-US" altLang="ja-GB"/>
              <a:t>×16</a:t>
            </a:r>
            <a:endParaRPr kumimoji="1" lang="ja-GB" altLang="en-US"/>
          </a:p>
        </p:txBody>
      </p:sp>
      <p:sp>
        <p:nvSpPr>
          <p:cNvPr id="17" name="テキスト ボックス 16">
            <a:extLst>
              <a:ext uri="{FF2B5EF4-FFF2-40B4-BE49-F238E27FC236}">
                <a16:creationId xmlns:a16="http://schemas.microsoft.com/office/drawing/2014/main" id="{39E18B46-6B74-5CBA-0EF2-7E0CA02AC1D5}"/>
              </a:ext>
            </a:extLst>
          </p:cNvPr>
          <p:cNvSpPr txBox="1"/>
          <p:nvPr/>
        </p:nvSpPr>
        <p:spPr>
          <a:xfrm>
            <a:off x="4155307" y="4826181"/>
            <a:ext cx="649537" cy="369332"/>
          </a:xfrm>
          <a:prstGeom prst="rect">
            <a:avLst/>
          </a:prstGeom>
          <a:noFill/>
        </p:spPr>
        <p:txBody>
          <a:bodyPr wrap="none" rtlCol="0">
            <a:spAutoFit/>
          </a:bodyPr>
          <a:lstStyle/>
          <a:p>
            <a:r>
              <a:rPr kumimoji="1" lang="en-US" altLang="ja-GB"/>
              <a:t>×16</a:t>
            </a:r>
            <a:endParaRPr kumimoji="1" lang="ja-GB" altLang="en-US"/>
          </a:p>
        </p:txBody>
      </p:sp>
    </p:spTree>
    <p:extLst>
      <p:ext uri="{BB962C8B-B14F-4D97-AF65-F5344CB8AC3E}">
        <p14:creationId xmlns:p14="http://schemas.microsoft.com/office/powerpoint/2010/main" val="74571523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EBB1C4-3E6B-C3B2-3110-96FD332BA3FC}"/>
              </a:ext>
            </a:extLst>
          </p:cNvPr>
          <p:cNvSpPr>
            <a:spLocks noGrp="1"/>
          </p:cNvSpPr>
          <p:nvPr>
            <p:ph type="title"/>
          </p:nvPr>
        </p:nvSpPr>
        <p:spPr/>
        <p:txBody>
          <a:bodyPr/>
          <a:lstStyle/>
          <a:p>
            <a:r>
              <a:rPr lang="en-US" altLang="ja-GB"/>
              <a:t>10</a:t>
            </a:r>
            <a:r>
              <a:rPr lang="ja-GB" altLang="en-US"/>
              <a:t>進数</a:t>
            </a:r>
            <a:r>
              <a:rPr lang="en-US" altLang="ja-GB"/>
              <a:t>→16</a:t>
            </a:r>
            <a:r>
              <a:rPr lang="ja-GB" altLang="en-US"/>
              <a:t>進数変換を説明する</a:t>
            </a:r>
            <a:r>
              <a:rPr lang="en-US" altLang="ja-GB"/>
              <a:t>web</a:t>
            </a:r>
            <a:r>
              <a:rPr lang="ja-GB" altLang="en-US"/>
              <a:t>アプリ</a:t>
            </a:r>
            <a:endParaRPr kumimoji="1" lang="ja-GB" altLang="en-US"/>
          </a:p>
        </p:txBody>
      </p:sp>
      <p:pic>
        <p:nvPicPr>
          <p:cNvPr id="6" name="コンテンツ プレースホルダー 5" descr="グラフィカル ユーザー インターフェイス, アプリケーション&#10;&#10;AI 生成コンテンツは誤りを含む可能性があります。">
            <a:extLst>
              <a:ext uri="{FF2B5EF4-FFF2-40B4-BE49-F238E27FC236}">
                <a16:creationId xmlns:a16="http://schemas.microsoft.com/office/drawing/2014/main" id="{B87ECAEB-0622-6E82-6B63-5F76252D1669}"/>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1683186" y="600631"/>
            <a:ext cx="5777628" cy="5656737"/>
          </a:xfrm>
        </p:spPr>
      </p:pic>
      <p:sp>
        <p:nvSpPr>
          <p:cNvPr id="4" name="テキスト ボックス 3">
            <a:extLst>
              <a:ext uri="{FF2B5EF4-FFF2-40B4-BE49-F238E27FC236}">
                <a16:creationId xmlns:a16="http://schemas.microsoft.com/office/drawing/2014/main" id="{5651C678-E2BC-70F0-6C89-E7357E65D8AD}"/>
              </a:ext>
            </a:extLst>
          </p:cNvPr>
          <p:cNvSpPr txBox="1"/>
          <p:nvPr/>
        </p:nvSpPr>
        <p:spPr>
          <a:xfrm>
            <a:off x="972713" y="6140050"/>
            <a:ext cx="7198574" cy="369332"/>
          </a:xfrm>
          <a:prstGeom prst="rect">
            <a:avLst/>
          </a:prstGeom>
          <a:noFill/>
        </p:spPr>
        <p:txBody>
          <a:bodyPr wrap="none" rtlCol="0">
            <a:spAutoFit/>
          </a:bodyPr>
          <a:lstStyle/>
          <a:p>
            <a:r>
              <a:rPr kumimoji="1" lang="en-GB" altLang="ja-GB">
                <a:hlinkClick r:id="rId3"/>
              </a:rPr>
              <a:t>https://claude.ai/public/artifacts/af79b8ae-17da-4597-8c2e-477c036c482f</a:t>
            </a:r>
            <a:r>
              <a:rPr kumimoji="1" lang="en-GB" altLang="ja-GB"/>
              <a:t> </a:t>
            </a:r>
            <a:endParaRPr kumimoji="1" lang="ja-GB" altLang="en-US"/>
          </a:p>
        </p:txBody>
      </p:sp>
      <p:sp>
        <p:nvSpPr>
          <p:cNvPr id="3" name="テキスト ボックス 2">
            <a:extLst>
              <a:ext uri="{FF2B5EF4-FFF2-40B4-BE49-F238E27FC236}">
                <a16:creationId xmlns:a16="http://schemas.microsoft.com/office/drawing/2014/main" id="{8B171226-FD38-E3BF-319F-97B5F081BF77}"/>
              </a:ext>
            </a:extLst>
          </p:cNvPr>
          <p:cNvSpPr txBox="1"/>
          <p:nvPr/>
        </p:nvSpPr>
        <p:spPr>
          <a:xfrm>
            <a:off x="1363429" y="6462730"/>
            <a:ext cx="6417142" cy="369332"/>
          </a:xfrm>
          <a:prstGeom prst="rect">
            <a:avLst/>
          </a:prstGeom>
          <a:noFill/>
        </p:spPr>
        <p:txBody>
          <a:bodyPr wrap="none" rtlCol="0">
            <a:spAutoFit/>
          </a:bodyPr>
          <a:lstStyle/>
          <a:p>
            <a:pPr algn="ctr"/>
            <a:r>
              <a:rPr kumimoji="1" lang="ja-GB" altLang="en-US" dirty="0">
                <a:solidFill>
                  <a:schemeClr val="tx1">
                    <a:lumMod val="50000"/>
                    <a:lumOff val="50000"/>
                  </a:schemeClr>
                </a:solidFill>
              </a:rPr>
              <a:t>アプリに不具合や間違いがあれば講師までご連絡ください</a:t>
            </a:r>
          </a:p>
        </p:txBody>
      </p:sp>
    </p:spTree>
    <p:extLst>
      <p:ext uri="{BB962C8B-B14F-4D97-AF65-F5344CB8AC3E}">
        <p14:creationId xmlns:p14="http://schemas.microsoft.com/office/powerpoint/2010/main" val="316990147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2E7F7-521C-3B17-64FD-8C257C818C3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47AB72E-E7AB-FF1E-A397-72E2EE91A363}"/>
              </a:ext>
            </a:extLst>
          </p:cNvPr>
          <p:cNvSpPr>
            <a:spLocks noGrp="1"/>
          </p:cNvSpPr>
          <p:nvPr>
            <p:ph type="title"/>
          </p:nvPr>
        </p:nvSpPr>
        <p:spPr/>
        <p:txBody>
          <a:bodyPr/>
          <a:lstStyle/>
          <a:p>
            <a:r>
              <a:rPr kumimoji="1" lang="ja-GB" altLang="en-US"/>
              <a:t>第</a:t>
            </a:r>
            <a:r>
              <a:rPr kumimoji="1" lang="en-US" altLang="ja-GB"/>
              <a:t>10</a:t>
            </a:r>
            <a:r>
              <a:rPr kumimoji="1" lang="ja-GB" altLang="en-US"/>
              <a:t>回：計算機の中の情報表現</a:t>
            </a:r>
          </a:p>
        </p:txBody>
      </p:sp>
      <p:sp>
        <p:nvSpPr>
          <p:cNvPr id="3" name="コンテンツ プレースホルダー 2">
            <a:extLst>
              <a:ext uri="{FF2B5EF4-FFF2-40B4-BE49-F238E27FC236}">
                <a16:creationId xmlns:a16="http://schemas.microsoft.com/office/drawing/2014/main" id="{0F65260A-7D9A-D7CE-9C82-90FCD28AAA6F}"/>
              </a:ext>
            </a:extLst>
          </p:cNvPr>
          <p:cNvSpPr>
            <a:spLocks noGrp="1"/>
          </p:cNvSpPr>
          <p:nvPr>
            <p:ph idx="1"/>
          </p:nvPr>
        </p:nvSpPr>
        <p:spPr/>
        <p:txBody>
          <a:bodyPr/>
          <a:lstStyle/>
          <a:p>
            <a:pPr marL="457200" indent="-457200">
              <a:buFont typeface="+mj-lt"/>
              <a:buAutoNum type="arabicPeriod"/>
            </a:pPr>
            <a:r>
              <a:rPr lang="ja-GB" altLang="en-US">
                <a:solidFill>
                  <a:schemeClr val="tx1">
                    <a:lumMod val="50000"/>
                    <a:lumOff val="50000"/>
                  </a:schemeClr>
                </a:solidFill>
              </a:rPr>
              <a:t>計算機の中の情報表現（基数）</a:t>
            </a:r>
            <a:endParaRPr lang="en-US" altLang="ja-GB">
              <a:solidFill>
                <a:schemeClr val="tx1">
                  <a:lumMod val="50000"/>
                  <a:lumOff val="50000"/>
                </a:schemeClr>
              </a:solidFill>
            </a:endParaRPr>
          </a:p>
          <a:p>
            <a:pPr lvl="1"/>
            <a:r>
              <a:rPr kumimoji="1" lang="en-US" altLang="ja-GB">
                <a:solidFill>
                  <a:schemeClr val="tx1">
                    <a:lumMod val="50000"/>
                    <a:lumOff val="50000"/>
                  </a:schemeClr>
                </a:solidFill>
              </a:rPr>
              <a:t>10</a:t>
            </a:r>
            <a:r>
              <a:rPr kumimoji="1" lang="ja-GB" altLang="en-US">
                <a:solidFill>
                  <a:schemeClr val="tx1">
                    <a:lumMod val="50000"/>
                    <a:lumOff val="50000"/>
                  </a:schemeClr>
                </a:solidFill>
              </a:rPr>
              <a:t>進数</a:t>
            </a:r>
            <a:r>
              <a:rPr lang="ja-GB" altLang="en-US">
                <a:solidFill>
                  <a:schemeClr val="tx1">
                    <a:lumMod val="50000"/>
                    <a:lumOff val="50000"/>
                  </a:schemeClr>
                </a:solidFill>
              </a:rPr>
              <a:t>，</a:t>
            </a:r>
            <a:r>
              <a:rPr lang="en-US" altLang="ja-GB">
                <a:solidFill>
                  <a:schemeClr val="tx1">
                    <a:lumMod val="50000"/>
                    <a:lumOff val="50000"/>
                  </a:schemeClr>
                </a:solidFill>
              </a:rPr>
              <a:t>2</a:t>
            </a:r>
            <a:r>
              <a:rPr lang="ja-GB" altLang="en-US">
                <a:solidFill>
                  <a:schemeClr val="tx1">
                    <a:lumMod val="50000"/>
                    <a:lumOff val="50000"/>
                  </a:schemeClr>
                </a:solidFill>
              </a:rPr>
              <a:t>進数，</a:t>
            </a:r>
            <a:r>
              <a:rPr lang="en-US" altLang="ja-GB">
                <a:solidFill>
                  <a:schemeClr val="tx1">
                    <a:lumMod val="50000"/>
                    <a:lumOff val="50000"/>
                  </a:schemeClr>
                </a:solidFill>
              </a:rPr>
              <a:t>16</a:t>
            </a:r>
            <a:r>
              <a:rPr lang="ja-GB" altLang="en-US">
                <a:solidFill>
                  <a:schemeClr val="tx1">
                    <a:lumMod val="50000"/>
                    <a:lumOff val="50000"/>
                  </a:schemeClr>
                </a:solidFill>
              </a:rPr>
              <a:t>進数</a:t>
            </a:r>
            <a:endParaRPr kumimoji="1" lang="en-US" altLang="ja-GB">
              <a:solidFill>
                <a:schemeClr val="tx1">
                  <a:lumMod val="50000"/>
                  <a:lumOff val="50000"/>
                </a:schemeClr>
              </a:solidFill>
            </a:endParaRPr>
          </a:p>
          <a:p>
            <a:pPr marL="914400" lvl="1" indent="-457200">
              <a:buFont typeface="+mj-lt"/>
              <a:buAutoNum type="arabicPeriod"/>
            </a:pPr>
            <a:endParaRPr kumimoji="1" lang="en-US" altLang="ja-GB"/>
          </a:p>
          <a:p>
            <a:pPr marL="457200" indent="-457200">
              <a:buFont typeface="+mj-lt"/>
              <a:buAutoNum type="arabicPeriod"/>
            </a:pPr>
            <a:r>
              <a:rPr lang="ja-GB" altLang="en-US"/>
              <a:t>基数表現の使用場面</a:t>
            </a:r>
            <a:endParaRPr kumimoji="1" lang="en-US" altLang="ja-GB"/>
          </a:p>
          <a:p>
            <a:pPr lvl="1"/>
            <a:r>
              <a:rPr kumimoji="1" lang="ja-GB" altLang="en-US"/>
              <a:t>情報の単位（</a:t>
            </a:r>
            <a:r>
              <a:rPr kumimoji="1" lang="en-US" altLang="ja-GB"/>
              <a:t>2</a:t>
            </a:r>
            <a:r>
              <a:rPr kumimoji="1" lang="ja-GB" altLang="en-US"/>
              <a:t>進数），カラーコード（</a:t>
            </a:r>
            <a:r>
              <a:rPr kumimoji="1" lang="en-US" altLang="ja-GB"/>
              <a:t>16</a:t>
            </a:r>
            <a:r>
              <a:rPr kumimoji="1" lang="ja-GB" altLang="en-US"/>
              <a:t>進数）</a:t>
            </a:r>
            <a:endParaRPr kumimoji="1" lang="en-US" altLang="ja-GB"/>
          </a:p>
          <a:p>
            <a:pPr lvl="1"/>
            <a:endParaRPr kumimoji="1" lang="en-US" altLang="ja-GB"/>
          </a:p>
          <a:p>
            <a:pPr marL="457200" indent="-457200">
              <a:buFont typeface="+mj-lt"/>
              <a:buAutoNum type="arabicPeriod"/>
            </a:pPr>
            <a:r>
              <a:rPr lang="ja-GB" altLang="en-US">
                <a:solidFill>
                  <a:schemeClr val="tx1">
                    <a:lumMod val="50000"/>
                    <a:lumOff val="50000"/>
                  </a:schemeClr>
                </a:solidFill>
              </a:rPr>
              <a:t>第</a:t>
            </a:r>
            <a:r>
              <a:rPr lang="en-US" altLang="ja-GB">
                <a:solidFill>
                  <a:schemeClr val="tx1">
                    <a:lumMod val="50000"/>
                    <a:lumOff val="50000"/>
                  </a:schemeClr>
                </a:solidFill>
              </a:rPr>
              <a:t>9</a:t>
            </a:r>
            <a:r>
              <a:rPr lang="ja-GB" altLang="en-US">
                <a:solidFill>
                  <a:schemeClr val="tx1">
                    <a:lumMod val="50000"/>
                    <a:lumOff val="50000"/>
                  </a:schemeClr>
                </a:solidFill>
              </a:rPr>
              <a:t>回</a:t>
            </a:r>
            <a:r>
              <a:rPr lang="en-US" altLang="ja-GB">
                <a:solidFill>
                  <a:schemeClr val="tx1">
                    <a:lumMod val="50000"/>
                    <a:lumOff val="50000"/>
                  </a:schemeClr>
                </a:solidFill>
              </a:rPr>
              <a:t> </a:t>
            </a:r>
            <a:r>
              <a:rPr lang="ja-GB" altLang="en-US">
                <a:solidFill>
                  <a:schemeClr val="tx1">
                    <a:lumMod val="50000"/>
                    <a:lumOff val="50000"/>
                  </a:schemeClr>
                </a:solidFill>
              </a:rPr>
              <a:t>演習の解説</a:t>
            </a:r>
            <a:endParaRPr lang="en-US" altLang="ja-GB">
              <a:solidFill>
                <a:schemeClr val="tx1">
                  <a:lumMod val="50000"/>
                  <a:lumOff val="50000"/>
                </a:schemeClr>
              </a:solidFill>
            </a:endParaRPr>
          </a:p>
          <a:p>
            <a:pPr lvl="1"/>
            <a:r>
              <a:rPr kumimoji="1" lang="ja-GB" altLang="en-US">
                <a:solidFill>
                  <a:schemeClr val="tx1">
                    <a:lumMod val="50000"/>
                    <a:lumOff val="50000"/>
                  </a:schemeClr>
                </a:solidFill>
              </a:rPr>
              <a:t>アルゴリズムの動作を理解するときのコツ</a:t>
            </a:r>
            <a:endParaRPr kumimoji="1" lang="en-US" altLang="ja-GB">
              <a:solidFill>
                <a:schemeClr val="tx1">
                  <a:lumMod val="50000"/>
                  <a:lumOff val="50000"/>
                </a:schemeClr>
              </a:solidFill>
            </a:endParaRPr>
          </a:p>
          <a:p>
            <a:pPr lvl="1"/>
            <a:r>
              <a:rPr lang="ja-GB" altLang="en-US">
                <a:solidFill>
                  <a:schemeClr val="tx1">
                    <a:lumMod val="50000"/>
                    <a:lumOff val="50000"/>
                  </a:schemeClr>
                </a:solidFill>
              </a:rPr>
              <a:t>線形探索，二分探索，ハノイの塔の解説</a:t>
            </a:r>
            <a:endParaRPr kumimoji="1" lang="ja-GB" altLang="en-US">
              <a:solidFill>
                <a:schemeClr val="tx1">
                  <a:lumMod val="50000"/>
                  <a:lumOff val="50000"/>
                </a:schemeClr>
              </a:solidFill>
            </a:endParaRPr>
          </a:p>
        </p:txBody>
      </p:sp>
    </p:spTree>
    <p:extLst>
      <p:ext uri="{BB962C8B-B14F-4D97-AF65-F5344CB8AC3E}">
        <p14:creationId xmlns:p14="http://schemas.microsoft.com/office/powerpoint/2010/main" val="303490415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D03AAA-02BB-8F48-B7FF-F60CE02ABD6F}"/>
              </a:ext>
            </a:extLst>
          </p:cNvPr>
          <p:cNvSpPr>
            <a:spLocks noGrp="1"/>
          </p:cNvSpPr>
          <p:nvPr>
            <p:ph type="title"/>
          </p:nvPr>
        </p:nvSpPr>
        <p:spPr/>
        <p:txBody>
          <a:bodyPr/>
          <a:lstStyle/>
          <a:p>
            <a:r>
              <a:rPr lang="en-US" altLang="ja-GB"/>
              <a:t>2</a:t>
            </a:r>
            <a:r>
              <a:rPr lang="ja-GB" altLang="en-US"/>
              <a:t>進数の使用例：</a:t>
            </a:r>
            <a:r>
              <a:rPr lang="en-US" altLang="ja-GB"/>
              <a:t>2</a:t>
            </a:r>
            <a:r>
              <a:rPr lang="ja-GB" altLang="en-US"/>
              <a:t>進接頭辞</a:t>
            </a:r>
            <a:endParaRPr kumimoji="1" lang="ja-GB" altLang="en-US"/>
          </a:p>
        </p:txBody>
      </p:sp>
      <p:pic>
        <p:nvPicPr>
          <p:cNvPr id="4" name="コンテンツ プレースホルダー 4" descr="テーブル&#10;&#10;AI 生成コンテンツは誤りを含む可能性があります。">
            <a:extLst>
              <a:ext uri="{FF2B5EF4-FFF2-40B4-BE49-F238E27FC236}">
                <a16:creationId xmlns:a16="http://schemas.microsoft.com/office/drawing/2014/main" id="{7D1869BF-39D2-969A-FB03-0353D0005AAE}"/>
              </a:ext>
            </a:extLst>
          </p:cNvPr>
          <p:cNvPicPr>
            <a:picLocks noChangeAspect="1"/>
          </p:cNvPicPr>
          <p:nvPr/>
        </p:nvPicPr>
        <p:blipFill>
          <a:blip r:embed="rId2"/>
          <a:stretch>
            <a:fillRect/>
          </a:stretch>
        </p:blipFill>
        <p:spPr>
          <a:xfrm>
            <a:off x="674227" y="1855168"/>
            <a:ext cx="7920456" cy="3351466"/>
          </a:xfrm>
          <a:prstGeom prst="rect">
            <a:avLst/>
          </a:prstGeom>
        </p:spPr>
      </p:pic>
      <p:sp>
        <p:nvSpPr>
          <p:cNvPr id="5" name="テキスト ボックス 4">
            <a:extLst>
              <a:ext uri="{FF2B5EF4-FFF2-40B4-BE49-F238E27FC236}">
                <a16:creationId xmlns:a16="http://schemas.microsoft.com/office/drawing/2014/main" id="{EFC30829-F523-2AE5-8773-05E1D022C2D1}"/>
              </a:ext>
            </a:extLst>
          </p:cNvPr>
          <p:cNvSpPr txBox="1"/>
          <p:nvPr/>
        </p:nvSpPr>
        <p:spPr>
          <a:xfrm>
            <a:off x="439237" y="5402180"/>
            <a:ext cx="8390438" cy="307777"/>
          </a:xfrm>
          <a:prstGeom prst="rect">
            <a:avLst/>
          </a:prstGeom>
          <a:noFill/>
        </p:spPr>
        <p:txBody>
          <a:bodyPr wrap="none" rtlCol="0">
            <a:spAutoFit/>
          </a:bodyPr>
          <a:lstStyle/>
          <a:p>
            <a:pPr algn="ctr"/>
            <a:r>
              <a:rPr kumimoji="1" lang="en-US" altLang="ja-GB" sz="1400"/>
              <a:t>※</a:t>
            </a:r>
            <a:r>
              <a:rPr kumimoji="1" lang="ja-GB" altLang="en-US" sz="1400"/>
              <a:t>厳密には，</a:t>
            </a:r>
            <a:r>
              <a:rPr kumimoji="1" lang="en-US" altLang="ja-GB" sz="1400"/>
              <a:t>SI</a:t>
            </a:r>
            <a:r>
              <a:rPr kumimoji="1" lang="ja-GB" altLang="en-US" sz="1400"/>
              <a:t>記号で表記することは混同を招くため推奨されないが，慣例的には多く用いられている</a:t>
            </a:r>
          </a:p>
        </p:txBody>
      </p:sp>
    </p:spTree>
    <p:extLst>
      <p:ext uri="{BB962C8B-B14F-4D97-AF65-F5344CB8AC3E}">
        <p14:creationId xmlns:p14="http://schemas.microsoft.com/office/powerpoint/2010/main" val="207988695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F78482-D963-4507-AFDC-4D9865B6DDBF}"/>
              </a:ext>
            </a:extLst>
          </p:cNvPr>
          <p:cNvSpPr>
            <a:spLocks noGrp="1"/>
          </p:cNvSpPr>
          <p:nvPr>
            <p:ph type="title"/>
          </p:nvPr>
        </p:nvSpPr>
        <p:spPr/>
        <p:txBody>
          <a:bodyPr/>
          <a:lstStyle/>
          <a:p>
            <a:r>
              <a:rPr lang="en-US" altLang="ja-GB"/>
              <a:t>2</a:t>
            </a:r>
            <a:r>
              <a:rPr lang="ja-GB" altLang="en-US"/>
              <a:t>進数の使用例：</a:t>
            </a:r>
            <a:r>
              <a:rPr lang="en-US" altLang="ja-GB"/>
              <a:t>iPhone 16 Plus</a:t>
            </a:r>
            <a:r>
              <a:rPr lang="ja-GB" altLang="en-US"/>
              <a:t>の性能</a:t>
            </a:r>
            <a:endParaRPr kumimoji="1" lang="ja-GB" altLang="en-US"/>
          </a:p>
        </p:txBody>
      </p:sp>
      <p:sp>
        <p:nvSpPr>
          <p:cNvPr id="3" name="コンテンツ プレースホルダー 2">
            <a:extLst>
              <a:ext uri="{FF2B5EF4-FFF2-40B4-BE49-F238E27FC236}">
                <a16:creationId xmlns:a16="http://schemas.microsoft.com/office/drawing/2014/main" id="{C4029E62-9BC5-73F1-CFE4-5076362CE93D}"/>
              </a:ext>
            </a:extLst>
          </p:cNvPr>
          <p:cNvSpPr>
            <a:spLocks noGrp="1"/>
          </p:cNvSpPr>
          <p:nvPr>
            <p:ph idx="1"/>
          </p:nvPr>
        </p:nvSpPr>
        <p:spPr/>
        <p:txBody>
          <a:bodyPr/>
          <a:lstStyle/>
          <a:p>
            <a:pPr marL="0" indent="0">
              <a:buNone/>
            </a:pPr>
            <a:r>
              <a:rPr kumimoji="1" lang="en-US" altLang="ja-GB"/>
              <a:t>CPU</a:t>
            </a:r>
            <a:r>
              <a:rPr kumimoji="1" lang="ja-GB" altLang="en-US"/>
              <a:t>（</a:t>
            </a:r>
            <a:r>
              <a:rPr kumimoji="1" lang="en-US" altLang="ja-GB"/>
              <a:t>A16</a:t>
            </a:r>
            <a:r>
              <a:rPr kumimoji="1" lang="ja-GB" altLang="en-US"/>
              <a:t>チップ）</a:t>
            </a:r>
            <a:endParaRPr kumimoji="1" lang="en-US" altLang="ja-GB"/>
          </a:p>
          <a:p>
            <a:pPr lvl="1"/>
            <a:r>
              <a:rPr kumimoji="1" lang="en-US" altLang="ja-GB"/>
              <a:t>CPU</a:t>
            </a:r>
            <a:r>
              <a:rPr kumimoji="1" lang="ja-GB" altLang="en-US"/>
              <a:t>のクロック周波数（</a:t>
            </a:r>
            <a:r>
              <a:rPr kumimoji="1" lang="en-US" altLang="ja-GB"/>
              <a:t>SI</a:t>
            </a:r>
            <a:r>
              <a:rPr kumimoji="1" lang="ja-GB" altLang="en-US"/>
              <a:t>表記）</a:t>
            </a:r>
            <a:endParaRPr kumimoji="1" lang="en-US" altLang="ja-GB"/>
          </a:p>
          <a:p>
            <a:pPr lvl="2"/>
            <a:r>
              <a:rPr lang="ja-GB" altLang="en-US"/>
              <a:t>高性能コア（</a:t>
            </a:r>
            <a:r>
              <a:rPr lang="en-US" altLang="ja-GB"/>
              <a:t>2</a:t>
            </a:r>
            <a:r>
              <a:rPr lang="ja-GB" altLang="en-US"/>
              <a:t>コア）：</a:t>
            </a:r>
            <a:r>
              <a:rPr lang="en-US" altLang="ja-GB"/>
              <a:t>3.46GHz</a:t>
            </a:r>
          </a:p>
          <a:p>
            <a:pPr lvl="2"/>
            <a:r>
              <a:rPr kumimoji="1" lang="ja-GB" altLang="en-US"/>
              <a:t>高効率コア（</a:t>
            </a:r>
            <a:r>
              <a:rPr kumimoji="1" lang="en-US" altLang="ja-GB"/>
              <a:t>4</a:t>
            </a:r>
            <a:r>
              <a:rPr kumimoji="1" lang="ja-GB" altLang="en-US"/>
              <a:t>コア）：</a:t>
            </a:r>
            <a:r>
              <a:rPr kumimoji="1" lang="en-US" altLang="ja-GB"/>
              <a:t>2.02GHz</a:t>
            </a:r>
          </a:p>
          <a:p>
            <a:pPr lvl="1"/>
            <a:r>
              <a:rPr kumimoji="1" lang="ja-GB" altLang="en-US"/>
              <a:t>（画像処理用の</a:t>
            </a:r>
            <a:r>
              <a:rPr kumimoji="1" lang="en-US" altLang="ja-GB"/>
              <a:t>GPU</a:t>
            </a:r>
            <a:r>
              <a:rPr kumimoji="1" lang="ja-GB" altLang="en-US"/>
              <a:t>と</a:t>
            </a:r>
            <a:r>
              <a:rPr kumimoji="1" lang="en-US" altLang="ja-GB"/>
              <a:t>AI</a:t>
            </a:r>
            <a:r>
              <a:rPr kumimoji="1" lang="ja-GB" altLang="en-US"/>
              <a:t>処理用の</a:t>
            </a:r>
            <a:r>
              <a:rPr kumimoji="1" lang="en-US" altLang="ja-GB"/>
              <a:t>Neural Englin</a:t>
            </a:r>
            <a:r>
              <a:rPr kumimoji="1" lang="ja-GB" altLang="en-US"/>
              <a:t>もあるがここでは省略）</a:t>
            </a:r>
            <a:endParaRPr kumimoji="1" lang="en-US" altLang="ja-GB"/>
          </a:p>
          <a:p>
            <a:pPr marL="0" indent="0">
              <a:buNone/>
            </a:pPr>
            <a:r>
              <a:rPr lang="ja-GB" altLang="en-US"/>
              <a:t>メモリ（</a:t>
            </a:r>
            <a:r>
              <a:rPr lang="en-US" altLang="ja-GB"/>
              <a:t>RAM</a:t>
            </a:r>
            <a:r>
              <a:rPr lang="ja-GB" altLang="en-US"/>
              <a:t>）</a:t>
            </a:r>
            <a:endParaRPr lang="en-US" altLang="ja-GB"/>
          </a:p>
          <a:p>
            <a:pPr lvl="1"/>
            <a:r>
              <a:rPr kumimoji="1" lang="en-US" altLang="ja-GB"/>
              <a:t>8GB</a:t>
            </a:r>
            <a:r>
              <a:rPr kumimoji="1" lang="ja-GB" altLang="en-US"/>
              <a:t>（</a:t>
            </a:r>
            <a:r>
              <a:rPr lang="en-US" altLang="ja-GB"/>
              <a:t>2</a:t>
            </a:r>
            <a:r>
              <a:rPr lang="ja-GB" altLang="en-US"/>
              <a:t>進接頭辞</a:t>
            </a:r>
            <a:r>
              <a:rPr kumimoji="1" lang="ja-GB" altLang="en-US"/>
              <a:t>）</a:t>
            </a:r>
            <a:endParaRPr kumimoji="1" lang="en-US" altLang="ja-GB"/>
          </a:p>
          <a:p>
            <a:pPr marL="0" indent="0">
              <a:buNone/>
            </a:pPr>
            <a:r>
              <a:rPr lang="ja-GB" altLang="en-US"/>
              <a:t>ストレージ</a:t>
            </a:r>
            <a:endParaRPr lang="en-US" altLang="ja-GB"/>
          </a:p>
          <a:p>
            <a:pPr lvl="1"/>
            <a:r>
              <a:rPr kumimoji="1" lang="en-US" altLang="ja-GB"/>
              <a:t>128GB</a:t>
            </a:r>
            <a:r>
              <a:rPr kumimoji="1" lang="ja-GB" altLang="en-US"/>
              <a:t>（</a:t>
            </a:r>
            <a:r>
              <a:rPr lang="en-US" altLang="ja-GB"/>
              <a:t>2</a:t>
            </a:r>
            <a:r>
              <a:rPr lang="ja-GB" altLang="en-US"/>
              <a:t>進接頭辞</a:t>
            </a:r>
            <a:r>
              <a:rPr kumimoji="1" lang="ja-GB" altLang="en-US"/>
              <a:t>）</a:t>
            </a:r>
            <a:endParaRPr kumimoji="1" lang="en-US" altLang="ja-GB"/>
          </a:p>
          <a:p>
            <a:pPr lvl="1"/>
            <a:r>
              <a:rPr lang="en-US" altLang="ja-GB"/>
              <a:t>256GB</a:t>
            </a:r>
          </a:p>
          <a:p>
            <a:pPr lvl="1"/>
            <a:r>
              <a:rPr kumimoji="1" lang="en-US" altLang="ja-GB"/>
              <a:t>512GB</a:t>
            </a:r>
            <a:endParaRPr kumimoji="1" lang="ja-GB" altLang="en-US"/>
          </a:p>
        </p:txBody>
      </p:sp>
      <p:pic>
        <p:nvPicPr>
          <p:cNvPr id="5" name="図 4" descr="テーブル&#10;&#10;AI 生成コンテンツは誤りを含む可能性があります。">
            <a:extLst>
              <a:ext uri="{FF2B5EF4-FFF2-40B4-BE49-F238E27FC236}">
                <a16:creationId xmlns:a16="http://schemas.microsoft.com/office/drawing/2014/main" id="{2656007C-B22A-E77F-D259-7688ED683FDD}"/>
              </a:ext>
            </a:extLst>
          </p:cNvPr>
          <p:cNvPicPr>
            <a:picLocks noChangeAspect="1"/>
          </p:cNvPicPr>
          <p:nvPr/>
        </p:nvPicPr>
        <p:blipFill>
          <a:blip r:embed="rId2"/>
          <a:stretch>
            <a:fillRect/>
          </a:stretch>
        </p:blipFill>
        <p:spPr>
          <a:xfrm>
            <a:off x="2176272" y="4130096"/>
            <a:ext cx="6653403" cy="2440893"/>
          </a:xfrm>
          <a:prstGeom prst="rect">
            <a:avLst/>
          </a:prstGeom>
        </p:spPr>
      </p:pic>
    </p:spTree>
    <p:extLst>
      <p:ext uri="{BB962C8B-B14F-4D97-AF65-F5344CB8AC3E}">
        <p14:creationId xmlns:p14="http://schemas.microsoft.com/office/powerpoint/2010/main" val="76268625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1D3B8F-38FA-1B4F-5108-A6D8CEB5BAFF}"/>
              </a:ext>
            </a:extLst>
          </p:cNvPr>
          <p:cNvSpPr>
            <a:spLocks noGrp="1"/>
          </p:cNvSpPr>
          <p:nvPr>
            <p:ph type="title"/>
          </p:nvPr>
        </p:nvSpPr>
        <p:spPr/>
        <p:txBody>
          <a:bodyPr/>
          <a:lstStyle/>
          <a:p>
            <a:r>
              <a:rPr kumimoji="1" lang="en-US" altLang="ja-GB"/>
              <a:t>16</a:t>
            </a:r>
            <a:r>
              <a:rPr kumimoji="1" lang="ja-GB" altLang="en-US"/>
              <a:t>進数の使用例：カラーコード</a:t>
            </a:r>
          </a:p>
        </p:txBody>
      </p:sp>
      <p:pic>
        <p:nvPicPr>
          <p:cNvPr id="4" name="図 3" descr="グラフィカル ユーザー インターフェイス, アプリケーション&#10;&#10;AI 生成コンテンツは誤りを含む可能性があります。">
            <a:extLst>
              <a:ext uri="{FF2B5EF4-FFF2-40B4-BE49-F238E27FC236}">
                <a16:creationId xmlns:a16="http://schemas.microsoft.com/office/drawing/2014/main" id="{F603B264-72B6-63A4-906B-3E01E9E029A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963424" y="921415"/>
            <a:ext cx="5217151" cy="5015169"/>
          </a:xfrm>
          <a:prstGeom prst="rect">
            <a:avLst/>
          </a:prstGeom>
        </p:spPr>
      </p:pic>
      <p:sp>
        <p:nvSpPr>
          <p:cNvPr id="5" name="テキスト ボックス 4">
            <a:extLst>
              <a:ext uri="{FF2B5EF4-FFF2-40B4-BE49-F238E27FC236}">
                <a16:creationId xmlns:a16="http://schemas.microsoft.com/office/drawing/2014/main" id="{9FB338A7-5C31-6CFB-1DB6-D77D1719EC62}"/>
              </a:ext>
            </a:extLst>
          </p:cNvPr>
          <p:cNvSpPr txBox="1"/>
          <p:nvPr/>
        </p:nvSpPr>
        <p:spPr>
          <a:xfrm>
            <a:off x="942833" y="5892139"/>
            <a:ext cx="7258334" cy="369332"/>
          </a:xfrm>
          <a:prstGeom prst="rect">
            <a:avLst/>
          </a:prstGeom>
          <a:noFill/>
        </p:spPr>
        <p:txBody>
          <a:bodyPr wrap="none" rtlCol="0">
            <a:spAutoFit/>
          </a:bodyPr>
          <a:lstStyle/>
          <a:p>
            <a:r>
              <a:rPr kumimoji="1" lang="en-GB" altLang="ja-GB">
                <a:hlinkClick r:id="rId3"/>
              </a:rPr>
              <a:t>https://claude.ai/public/artifacts/41aaac6d-a888-40be-8020-3441e40fc942</a:t>
            </a:r>
            <a:r>
              <a:rPr kumimoji="1" lang="en-GB" altLang="ja-GB"/>
              <a:t> </a:t>
            </a:r>
            <a:endParaRPr kumimoji="1" lang="ja-GB" altLang="en-US"/>
          </a:p>
        </p:txBody>
      </p:sp>
      <p:sp>
        <p:nvSpPr>
          <p:cNvPr id="3" name="テキスト ボックス 2">
            <a:extLst>
              <a:ext uri="{FF2B5EF4-FFF2-40B4-BE49-F238E27FC236}">
                <a16:creationId xmlns:a16="http://schemas.microsoft.com/office/drawing/2014/main" id="{A892E779-E0B8-2430-9B05-6BAA0D15DA21}"/>
              </a:ext>
            </a:extLst>
          </p:cNvPr>
          <p:cNvSpPr txBox="1"/>
          <p:nvPr/>
        </p:nvSpPr>
        <p:spPr>
          <a:xfrm>
            <a:off x="1363429" y="6332103"/>
            <a:ext cx="6417142" cy="369332"/>
          </a:xfrm>
          <a:prstGeom prst="rect">
            <a:avLst/>
          </a:prstGeom>
          <a:noFill/>
        </p:spPr>
        <p:txBody>
          <a:bodyPr wrap="none" rtlCol="0">
            <a:spAutoFit/>
          </a:bodyPr>
          <a:lstStyle/>
          <a:p>
            <a:pPr algn="ctr"/>
            <a:r>
              <a:rPr kumimoji="1" lang="ja-GB" altLang="en-US" dirty="0">
                <a:solidFill>
                  <a:schemeClr val="tx1">
                    <a:lumMod val="50000"/>
                    <a:lumOff val="50000"/>
                  </a:schemeClr>
                </a:solidFill>
              </a:rPr>
              <a:t>アプリに不具合や間違いがあれば講師までご連絡ください</a:t>
            </a:r>
          </a:p>
        </p:txBody>
      </p:sp>
    </p:spTree>
    <p:extLst>
      <p:ext uri="{BB962C8B-B14F-4D97-AF65-F5344CB8AC3E}">
        <p14:creationId xmlns:p14="http://schemas.microsoft.com/office/powerpoint/2010/main" val="144753001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C7C6A-ABFC-23A1-085F-E6F676CD7C7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20ACD47-0AE0-DF7E-D551-C3828998933B}"/>
              </a:ext>
            </a:extLst>
          </p:cNvPr>
          <p:cNvSpPr>
            <a:spLocks noGrp="1"/>
          </p:cNvSpPr>
          <p:nvPr>
            <p:ph type="title"/>
          </p:nvPr>
        </p:nvSpPr>
        <p:spPr/>
        <p:txBody>
          <a:bodyPr/>
          <a:lstStyle/>
          <a:p>
            <a:r>
              <a:rPr kumimoji="1" lang="ja-GB" altLang="en-US"/>
              <a:t>第</a:t>
            </a:r>
            <a:r>
              <a:rPr kumimoji="1" lang="en-US" altLang="ja-GB"/>
              <a:t>10</a:t>
            </a:r>
            <a:r>
              <a:rPr kumimoji="1" lang="ja-GB" altLang="en-US"/>
              <a:t>回：計算機の中の情報表現</a:t>
            </a:r>
          </a:p>
        </p:txBody>
      </p:sp>
      <p:sp>
        <p:nvSpPr>
          <p:cNvPr id="3" name="コンテンツ プレースホルダー 2">
            <a:extLst>
              <a:ext uri="{FF2B5EF4-FFF2-40B4-BE49-F238E27FC236}">
                <a16:creationId xmlns:a16="http://schemas.microsoft.com/office/drawing/2014/main" id="{6AB975D1-F808-1508-8E70-27606FF9FAC8}"/>
              </a:ext>
            </a:extLst>
          </p:cNvPr>
          <p:cNvSpPr>
            <a:spLocks noGrp="1"/>
          </p:cNvSpPr>
          <p:nvPr>
            <p:ph idx="1"/>
          </p:nvPr>
        </p:nvSpPr>
        <p:spPr/>
        <p:txBody>
          <a:bodyPr/>
          <a:lstStyle/>
          <a:p>
            <a:pPr marL="457200" indent="-457200">
              <a:buFont typeface="+mj-lt"/>
              <a:buAutoNum type="arabicPeriod"/>
            </a:pPr>
            <a:r>
              <a:rPr lang="ja-GB" altLang="en-US">
                <a:solidFill>
                  <a:schemeClr val="tx1">
                    <a:lumMod val="50000"/>
                    <a:lumOff val="50000"/>
                  </a:schemeClr>
                </a:solidFill>
              </a:rPr>
              <a:t>計算機の中の情報表現（基数）</a:t>
            </a:r>
            <a:endParaRPr lang="en-US" altLang="ja-GB">
              <a:solidFill>
                <a:schemeClr val="tx1">
                  <a:lumMod val="50000"/>
                  <a:lumOff val="50000"/>
                </a:schemeClr>
              </a:solidFill>
            </a:endParaRPr>
          </a:p>
          <a:p>
            <a:pPr lvl="1"/>
            <a:r>
              <a:rPr kumimoji="1" lang="en-US" altLang="ja-GB">
                <a:solidFill>
                  <a:schemeClr val="tx1">
                    <a:lumMod val="50000"/>
                    <a:lumOff val="50000"/>
                  </a:schemeClr>
                </a:solidFill>
              </a:rPr>
              <a:t>10</a:t>
            </a:r>
            <a:r>
              <a:rPr kumimoji="1" lang="ja-GB" altLang="en-US">
                <a:solidFill>
                  <a:schemeClr val="tx1">
                    <a:lumMod val="50000"/>
                    <a:lumOff val="50000"/>
                  </a:schemeClr>
                </a:solidFill>
              </a:rPr>
              <a:t>進数</a:t>
            </a:r>
            <a:r>
              <a:rPr lang="ja-GB" altLang="en-US">
                <a:solidFill>
                  <a:schemeClr val="tx1">
                    <a:lumMod val="50000"/>
                    <a:lumOff val="50000"/>
                  </a:schemeClr>
                </a:solidFill>
              </a:rPr>
              <a:t>，</a:t>
            </a:r>
            <a:r>
              <a:rPr lang="en-US" altLang="ja-GB">
                <a:solidFill>
                  <a:schemeClr val="tx1">
                    <a:lumMod val="50000"/>
                    <a:lumOff val="50000"/>
                  </a:schemeClr>
                </a:solidFill>
              </a:rPr>
              <a:t>2</a:t>
            </a:r>
            <a:r>
              <a:rPr lang="ja-GB" altLang="en-US">
                <a:solidFill>
                  <a:schemeClr val="tx1">
                    <a:lumMod val="50000"/>
                    <a:lumOff val="50000"/>
                  </a:schemeClr>
                </a:solidFill>
              </a:rPr>
              <a:t>進数，</a:t>
            </a:r>
            <a:r>
              <a:rPr lang="en-US" altLang="ja-GB">
                <a:solidFill>
                  <a:schemeClr val="tx1">
                    <a:lumMod val="50000"/>
                    <a:lumOff val="50000"/>
                  </a:schemeClr>
                </a:solidFill>
              </a:rPr>
              <a:t>16</a:t>
            </a:r>
            <a:r>
              <a:rPr lang="ja-GB" altLang="en-US">
                <a:solidFill>
                  <a:schemeClr val="tx1">
                    <a:lumMod val="50000"/>
                    <a:lumOff val="50000"/>
                  </a:schemeClr>
                </a:solidFill>
              </a:rPr>
              <a:t>進数</a:t>
            </a:r>
            <a:endParaRPr kumimoji="1" lang="en-US" altLang="ja-GB">
              <a:solidFill>
                <a:schemeClr val="tx1">
                  <a:lumMod val="50000"/>
                  <a:lumOff val="50000"/>
                </a:schemeClr>
              </a:solidFill>
            </a:endParaRPr>
          </a:p>
          <a:p>
            <a:pPr marL="914400" lvl="1" indent="-457200">
              <a:buFont typeface="+mj-lt"/>
              <a:buAutoNum type="arabicPeriod"/>
            </a:pPr>
            <a:endParaRPr kumimoji="1" lang="en-US" altLang="ja-GB">
              <a:solidFill>
                <a:schemeClr val="tx1">
                  <a:lumMod val="50000"/>
                  <a:lumOff val="50000"/>
                </a:schemeClr>
              </a:solidFill>
            </a:endParaRPr>
          </a:p>
          <a:p>
            <a:pPr marL="457200" indent="-457200">
              <a:buFont typeface="+mj-lt"/>
              <a:buAutoNum type="arabicPeriod"/>
            </a:pPr>
            <a:r>
              <a:rPr lang="ja-GB" altLang="en-US">
                <a:solidFill>
                  <a:schemeClr val="tx1">
                    <a:lumMod val="50000"/>
                    <a:lumOff val="50000"/>
                  </a:schemeClr>
                </a:solidFill>
              </a:rPr>
              <a:t>基数表現の使用場面</a:t>
            </a:r>
            <a:endParaRPr kumimoji="1" lang="en-US" altLang="ja-GB">
              <a:solidFill>
                <a:schemeClr val="tx1">
                  <a:lumMod val="50000"/>
                  <a:lumOff val="50000"/>
                </a:schemeClr>
              </a:solidFill>
            </a:endParaRPr>
          </a:p>
          <a:p>
            <a:pPr lvl="1"/>
            <a:r>
              <a:rPr kumimoji="1" lang="ja-GB" altLang="en-US">
                <a:solidFill>
                  <a:schemeClr val="tx1">
                    <a:lumMod val="50000"/>
                    <a:lumOff val="50000"/>
                  </a:schemeClr>
                </a:solidFill>
              </a:rPr>
              <a:t>情報の単位（</a:t>
            </a:r>
            <a:r>
              <a:rPr kumimoji="1" lang="en-US" altLang="ja-GB">
                <a:solidFill>
                  <a:schemeClr val="tx1">
                    <a:lumMod val="50000"/>
                    <a:lumOff val="50000"/>
                  </a:schemeClr>
                </a:solidFill>
              </a:rPr>
              <a:t>2</a:t>
            </a:r>
            <a:r>
              <a:rPr kumimoji="1" lang="ja-GB" altLang="en-US">
                <a:solidFill>
                  <a:schemeClr val="tx1">
                    <a:lumMod val="50000"/>
                    <a:lumOff val="50000"/>
                  </a:schemeClr>
                </a:solidFill>
              </a:rPr>
              <a:t>進数），カラーコード（</a:t>
            </a:r>
            <a:r>
              <a:rPr kumimoji="1" lang="en-US" altLang="ja-GB">
                <a:solidFill>
                  <a:schemeClr val="tx1">
                    <a:lumMod val="50000"/>
                    <a:lumOff val="50000"/>
                  </a:schemeClr>
                </a:solidFill>
              </a:rPr>
              <a:t>16</a:t>
            </a:r>
            <a:r>
              <a:rPr kumimoji="1" lang="ja-GB" altLang="en-US">
                <a:solidFill>
                  <a:schemeClr val="tx1">
                    <a:lumMod val="50000"/>
                    <a:lumOff val="50000"/>
                  </a:schemeClr>
                </a:solidFill>
              </a:rPr>
              <a:t>進数）</a:t>
            </a:r>
            <a:endParaRPr kumimoji="1" lang="en-US" altLang="ja-GB">
              <a:solidFill>
                <a:schemeClr val="tx1">
                  <a:lumMod val="50000"/>
                  <a:lumOff val="50000"/>
                </a:schemeClr>
              </a:solidFill>
            </a:endParaRPr>
          </a:p>
          <a:p>
            <a:pPr lvl="1"/>
            <a:endParaRPr kumimoji="1" lang="en-US" altLang="ja-GB"/>
          </a:p>
          <a:p>
            <a:pPr marL="457200" indent="-457200">
              <a:buFont typeface="+mj-lt"/>
              <a:buAutoNum type="arabicPeriod"/>
            </a:pPr>
            <a:r>
              <a:rPr lang="ja-GB" altLang="en-US"/>
              <a:t>第</a:t>
            </a:r>
            <a:r>
              <a:rPr lang="en-US" altLang="ja-GB"/>
              <a:t>9</a:t>
            </a:r>
            <a:r>
              <a:rPr lang="ja-GB" altLang="en-US"/>
              <a:t>回</a:t>
            </a:r>
            <a:r>
              <a:rPr lang="en-US" altLang="ja-GB"/>
              <a:t> </a:t>
            </a:r>
            <a:r>
              <a:rPr lang="ja-GB" altLang="en-US"/>
              <a:t>演習の解説</a:t>
            </a:r>
            <a:endParaRPr lang="en-US" altLang="ja-GB"/>
          </a:p>
          <a:p>
            <a:pPr lvl="1"/>
            <a:r>
              <a:rPr kumimoji="1" lang="ja-GB" altLang="en-US"/>
              <a:t>アルゴリズムの動作を理解するときのコツ</a:t>
            </a:r>
            <a:endParaRPr kumimoji="1" lang="en-US" altLang="ja-GB"/>
          </a:p>
          <a:p>
            <a:pPr lvl="1"/>
            <a:r>
              <a:rPr lang="ja-GB" altLang="en-US"/>
              <a:t>線形探索，二分探索，ハノイの塔の解説</a:t>
            </a:r>
            <a:endParaRPr kumimoji="1" lang="ja-GB" altLang="en-US"/>
          </a:p>
        </p:txBody>
      </p:sp>
    </p:spTree>
    <p:extLst>
      <p:ext uri="{BB962C8B-B14F-4D97-AF65-F5344CB8AC3E}">
        <p14:creationId xmlns:p14="http://schemas.microsoft.com/office/powerpoint/2010/main" val="298204220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426335-D347-FD19-D689-28D7D1CD5353}"/>
              </a:ext>
            </a:extLst>
          </p:cNvPr>
          <p:cNvSpPr>
            <a:spLocks noGrp="1"/>
          </p:cNvSpPr>
          <p:nvPr>
            <p:ph type="title"/>
          </p:nvPr>
        </p:nvSpPr>
        <p:spPr/>
        <p:txBody>
          <a:bodyPr/>
          <a:lstStyle/>
          <a:p>
            <a:r>
              <a:rPr kumimoji="1" lang="ja-GB" altLang="en-US"/>
              <a:t>アルゴリズムを解読するときのコツ（一例）</a:t>
            </a:r>
          </a:p>
        </p:txBody>
      </p:sp>
      <p:sp>
        <p:nvSpPr>
          <p:cNvPr id="3" name="コンテンツ プレースホルダー 2">
            <a:extLst>
              <a:ext uri="{FF2B5EF4-FFF2-40B4-BE49-F238E27FC236}">
                <a16:creationId xmlns:a16="http://schemas.microsoft.com/office/drawing/2014/main" id="{03FE7470-CE96-F9B8-2015-E9DB3727382E}"/>
              </a:ext>
            </a:extLst>
          </p:cNvPr>
          <p:cNvSpPr>
            <a:spLocks noGrp="1"/>
          </p:cNvSpPr>
          <p:nvPr>
            <p:ph idx="1"/>
          </p:nvPr>
        </p:nvSpPr>
        <p:spPr/>
        <p:txBody>
          <a:bodyPr/>
          <a:lstStyle/>
          <a:p>
            <a:pPr marL="0" indent="0">
              <a:buNone/>
            </a:pPr>
            <a:r>
              <a:rPr lang="ja-GB" altLang="en-US"/>
              <a:t>前回示したアルゴリズムは，比較的単純な動きをする</a:t>
            </a:r>
            <a:endParaRPr lang="en-US" altLang="ja-GB"/>
          </a:p>
          <a:p>
            <a:pPr marL="457200" lvl="1" indent="0">
              <a:buNone/>
            </a:pPr>
            <a:r>
              <a:rPr lang="ja-GB" altLang="en-US">
                <a:solidFill>
                  <a:srgbClr val="0070C0"/>
                </a:solidFill>
              </a:rPr>
              <a:t>記述は複雑に見える</a:t>
            </a:r>
            <a:endParaRPr lang="en-US" altLang="ja-GB">
              <a:solidFill>
                <a:srgbClr val="0070C0"/>
              </a:solidFill>
            </a:endParaRPr>
          </a:p>
          <a:p>
            <a:pPr lvl="2"/>
            <a:r>
              <a:rPr lang="ja-GB" altLang="en-US"/>
              <a:t>具体的な操作が細かく厳密に書かれているので</a:t>
            </a:r>
            <a:r>
              <a:rPr lang="ja-GB" altLang="en-US" u="sng"/>
              <a:t>全体像が見えにくい</a:t>
            </a:r>
            <a:endParaRPr lang="en-US" altLang="ja-GB" u="sng"/>
          </a:p>
          <a:p>
            <a:pPr marL="1371600" lvl="3" indent="0">
              <a:buNone/>
            </a:pPr>
            <a:r>
              <a:rPr lang="en-US" altLang="ja-GB"/>
              <a:t>→</a:t>
            </a:r>
            <a:r>
              <a:rPr lang="ja-GB" altLang="en-US">
                <a:solidFill>
                  <a:schemeClr val="accent2"/>
                </a:solidFill>
              </a:rPr>
              <a:t>図やアニメーションにして全体像を概観すると手順を追いやすい</a:t>
            </a:r>
            <a:endParaRPr lang="en-US" altLang="ja-GB">
              <a:solidFill>
                <a:schemeClr val="accent2"/>
              </a:solidFill>
            </a:endParaRPr>
          </a:p>
          <a:p>
            <a:pPr lvl="2"/>
            <a:r>
              <a:rPr lang="ja-GB" altLang="en-US" u="sng"/>
              <a:t>変数や繰り返し，関数で記述が圧縮されている</a:t>
            </a:r>
            <a:r>
              <a:rPr lang="ja-GB" altLang="en-US"/>
              <a:t>ため手順を見失いやすい</a:t>
            </a:r>
            <a:endParaRPr lang="en-US" altLang="ja-GB"/>
          </a:p>
          <a:p>
            <a:pPr marL="1371600" lvl="3" indent="0">
              <a:buNone/>
            </a:pPr>
            <a:r>
              <a:rPr lang="en-US" altLang="ja-GB"/>
              <a:t>→</a:t>
            </a:r>
            <a:r>
              <a:rPr lang="ja-GB" altLang="en-US">
                <a:solidFill>
                  <a:schemeClr val="accent2"/>
                </a:solidFill>
              </a:rPr>
              <a:t>変数や繰り返し，関数を具体的な手順に展開すると分かりやすい</a:t>
            </a:r>
            <a:endParaRPr lang="en-US" altLang="ja-GB">
              <a:solidFill>
                <a:schemeClr val="accent2"/>
              </a:solidFill>
            </a:endParaRPr>
          </a:p>
          <a:p>
            <a:pPr lvl="1"/>
            <a:endParaRPr lang="en-US" altLang="ja-GB"/>
          </a:p>
          <a:p>
            <a:pPr marL="457200" lvl="1" indent="0">
              <a:buNone/>
            </a:pPr>
            <a:r>
              <a:rPr lang="ja-GB" altLang="en-US">
                <a:solidFill>
                  <a:srgbClr val="0070C0"/>
                </a:solidFill>
              </a:rPr>
              <a:t>操作自体はシンプルなルールに基づく</a:t>
            </a:r>
            <a:endParaRPr lang="en-US" altLang="ja-GB">
              <a:solidFill>
                <a:srgbClr val="0070C0"/>
              </a:solidFill>
            </a:endParaRPr>
          </a:p>
          <a:p>
            <a:pPr lvl="2"/>
            <a:r>
              <a:rPr lang="ja-GB" altLang="en-US">
                <a:solidFill>
                  <a:srgbClr val="2F2523"/>
                </a:solidFill>
              </a:rPr>
              <a:t>プログラムの分量は少ない（≒規則としては単純に書けている）</a:t>
            </a:r>
            <a:endParaRPr lang="en-US" altLang="ja-GB">
              <a:solidFill>
                <a:srgbClr val="2F2523"/>
              </a:solidFill>
            </a:endParaRPr>
          </a:p>
          <a:p>
            <a:pPr lvl="2"/>
            <a:r>
              <a:rPr lang="ja-GB" altLang="en-US">
                <a:solidFill>
                  <a:srgbClr val="2F2523"/>
                </a:solidFill>
              </a:rPr>
              <a:t>手を動かして確認すると直感的に理解しやすい</a:t>
            </a:r>
            <a:endParaRPr lang="en-US" altLang="ja-GB">
              <a:solidFill>
                <a:srgbClr val="2F2523"/>
              </a:solidFill>
            </a:endParaRPr>
          </a:p>
          <a:p>
            <a:pPr marL="1371600" lvl="3" indent="0">
              <a:buNone/>
            </a:pPr>
            <a:r>
              <a:rPr lang="ja-GB" altLang="en-US"/>
              <a:t>例</a:t>
            </a:r>
            <a:r>
              <a:rPr lang="en-US" altLang="ja-GB"/>
              <a:t>1</a:t>
            </a:r>
            <a:r>
              <a:rPr lang="ja-GB" altLang="en-US"/>
              <a:t>）インターネットで図解や動画，動作を確認できるアプリを調べる</a:t>
            </a:r>
            <a:endParaRPr lang="en-US" altLang="ja-GB"/>
          </a:p>
          <a:p>
            <a:pPr marL="1371600" lvl="3" indent="0">
              <a:buNone/>
            </a:pPr>
            <a:r>
              <a:rPr lang="ja-GB" altLang="en-US"/>
              <a:t>例</a:t>
            </a:r>
            <a:r>
              <a:rPr lang="en-US" altLang="ja-GB"/>
              <a:t>2</a:t>
            </a:r>
            <a:r>
              <a:rPr lang="ja-GB" altLang="en-US"/>
              <a:t>）紙に手順を</a:t>
            </a:r>
            <a:r>
              <a:rPr lang="en-US" altLang="ja-GB"/>
              <a:t>1</a:t>
            </a:r>
            <a:r>
              <a:rPr lang="ja-GB" altLang="en-US"/>
              <a:t>ステップごとの状態を絵に描いて確認する</a:t>
            </a:r>
            <a:endParaRPr lang="en-US" altLang="ja-GB"/>
          </a:p>
          <a:p>
            <a:pPr marL="1371600" lvl="3" indent="0">
              <a:buNone/>
            </a:pPr>
            <a:r>
              <a:rPr lang="ja-GB" altLang="en-US"/>
              <a:t>例</a:t>
            </a:r>
            <a:r>
              <a:rPr lang="en-US" altLang="ja-GB"/>
              <a:t>3</a:t>
            </a:r>
            <a:r>
              <a:rPr lang="ja-GB" altLang="en-US"/>
              <a:t>）繰り返しや関数の部分を展開して，上から下への逐次的な手順として書き下す</a:t>
            </a:r>
            <a:br>
              <a:rPr lang="en-US" altLang="ja-GB"/>
            </a:br>
            <a:r>
              <a:rPr lang="ja-JP" altLang="en-US"/>
              <a:t>　　　（</a:t>
            </a:r>
            <a:r>
              <a:rPr lang="ja-GB" altLang="en-US"/>
              <a:t>必要に応じて，変数に具体的な値を入れるとより分かりやすい</a:t>
            </a:r>
            <a:r>
              <a:rPr lang="ja-JP" altLang="en-US"/>
              <a:t>）</a:t>
            </a:r>
            <a:endParaRPr lang="en-US" altLang="ja-GB"/>
          </a:p>
          <a:p>
            <a:pPr marL="1371600" lvl="3" indent="0">
              <a:buNone/>
            </a:pPr>
            <a:endParaRPr lang="en-US" altLang="ja-GB"/>
          </a:p>
          <a:p>
            <a:pPr lvl="2"/>
            <a:endParaRPr lang="en-US" altLang="ja-GB"/>
          </a:p>
          <a:p>
            <a:pPr lvl="1"/>
            <a:endParaRPr lang="en-US" altLang="ja-GB"/>
          </a:p>
        </p:txBody>
      </p:sp>
    </p:spTree>
    <p:extLst>
      <p:ext uri="{BB962C8B-B14F-4D97-AF65-F5344CB8AC3E}">
        <p14:creationId xmlns:p14="http://schemas.microsoft.com/office/powerpoint/2010/main" val="45227125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79983-4099-754C-F312-6254B15AE1B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4C36014-950A-4813-56E4-402C1F33C8DC}"/>
              </a:ext>
            </a:extLst>
          </p:cNvPr>
          <p:cNvSpPr>
            <a:spLocks noGrp="1"/>
          </p:cNvSpPr>
          <p:nvPr>
            <p:ph type="title"/>
          </p:nvPr>
        </p:nvSpPr>
        <p:spPr/>
        <p:txBody>
          <a:bodyPr/>
          <a:lstStyle/>
          <a:p>
            <a:r>
              <a:rPr kumimoji="1" lang="ja-GB" altLang="en-US"/>
              <a:t>線形探索：配列から要素を探す基本的な方法</a:t>
            </a:r>
          </a:p>
        </p:txBody>
      </p:sp>
      <p:sp>
        <p:nvSpPr>
          <p:cNvPr id="3" name="コンテンツ プレースホルダー 2">
            <a:extLst>
              <a:ext uri="{FF2B5EF4-FFF2-40B4-BE49-F238E27FC236}">
                <a16:creationId xmlns:a16="http://schemas.microsoft.com/office/drawing/2014/main" id="{B682FA16-CE3F-A3BA-F0B1-B40423098E7F}"/>
              </a:ext>
            </a:extLst>
          </p:cNvPr>
          <p:cNvSpPr>
            <a:spLocks noGrp="1"/>
          </p:cNvSpPr>
          <p:nvPr>
            <p:ph idx="1"/>
          </p:nvPr>
        </p:nvSpPr>
        <p:spPr/>
        <p:txBody>
          <a:bodyPr vert="horz" lIns="91440" tIns="45720" rIns="91440" bIns="45720" rtlCol="0" anchor="t">
            <a:normAutofit/>
          </a:bodyPr>
          <a:lstStyle/>
          <a:p>
            <a:pPr marL="0" indent="0">
              <a:buNone/>
            </a:pPr>
            <a:r>
              <a:rPr lang="ja-GB" altLang="en-US" sz="1800" err="1">
                <a:solidFill>
                  <a:srgbClr val="2F2523"/>
                </a:solidFill>
                <a:latin typeface="Yu Gothic UI"/>
                <a:ea typeface="Yu Gothic UI"/>
              </a:rPr>
              <a:t>関数</a:t>
            </a:r>
            <a:r>
              <a:rPr lang="ja-GB" altLang="en-US" sz="1800">
                <a:solidFill>
                  <a:srgbClr val="2F2523"/>
                </a:solidFill>
                <a:latin typeface="Yu Gothic UI"/>
                <a:ea typeface="Yu Gothic UI"/>
              </a:rPr>
              <a:t>　</a:t>
            </a:r>
            <a:r>
              <a:rPr lang="ja-JP" altLang="en-US" sz="1800">
                <a:solidFill>
                  <a:srgbClr val="2F2523"/>
                </a:solidFill>
                <a:latin typeface="Yu Gothic UI"/>
                <a:ea typeface="Yu Gothic UI"/>
              </a:rPr>
              <a:t>線形探索</a:t>
            </a:r>
            <a:r>
              <a:rPr lang="en-US" altLang="ja-JP" sz="1800">
                <a:solidFill>
                  <a:srgbClr val="2F2523"/>
                </a:solidFill>
                <a:latin typeface="Yu Gothic UI"/>
                <a:ea typeface="Yu Gothic UI"/>
              </a:rPr>
              <a:t>(</a:t>
            </a:r>
            <a:r>
              <a:rPr lang="ja-GB" altLang="en-US" sz="1800" err="1">
                <a:solidFill>
                  <a:srgbClr val="2F2523"/>
                </a:solidFill>
                <a:latin typeface="Yu Gothic UI"/>
                <a:ea typeface="Yu Gothic UI"/>
              </a:rPr>
              <a:t>配列</a:t>
            </a:r>
            <a:r>
              <a:rPr lang="en-US" sz="1800">
                <a:solidFill>
                  <a:srgbClr val="2F2523"/>
                </a:solidFill>
                <a:latin typeface="Yu Gothic UI"/>
                <a:ea typeface="Yu Gothic UI"/>
              </a:rPr>
              <a:t> </a:t>
            </a:r>
            <a:r>
              <a:rPr lang="ja-GB" altLang="en-US" sz="1800" err="1">
                <a:solidFill>
                  <a:srgbClr val="2F2523"/>
                </a:solidFill>
                <a:latin typeface="Yu Gothic UI"/>
                <a:ea typeface="Yu Gothic UI"/>
              </a:rPr>
              <a:t>探索対象</a:t>
            </a:r>
            <a:r>
              <a:rPr lang="en-US" altLang="ja-JP" sz="1800">
                <a:solidFill>
                  <a:srgbClr val="2F2523"/>
                </a:solidFill>
                <a:latin typeface="Yu Gothic UI"/>
                <a:ea typeface="Yu Gothic UI"/>
              </a:rPr>
              <a:t>, </a:t>
            </a:r>
            <a:r>
              <a:rPr lang="ja-GB" altLang="en-US" sz="1800" err="1">
                <a:solidFill>
                  <a:srgbClr val="2F2523"/>
                </a:solidFill>
                <a:latin typeface="Yu Gothic UI"/>
                <a:ea typeface="Yu Gothic UI"/>
              </a:rPr>
              <a:t>整数</a:t>
            </a:r>
            <a:r>
              <a:rPr lang="en-US" sz="1800">
                <a:solidFill>
                  <a:srgbClr val="2F2523"/>
                </a:solidFill>
                <a:latin typeface="Yu Gothic UI"/>
                <a:ea typeface="Yu Gothic UI"/>
              </a:rPr>
              <a:t> </a:t>
            </a:r>
            <a:r>
              <a:rPr lang="ja-GB" altLang="en-US" sz="1800" err="1">
                <a:solidFill>
                  <a:srgbClr val="2F2523"/>
                </a:solidFill>
                <a:latin typeface="Yu Gothic UI"/>
                <a:ea typeface="Yu Gothic UI"/>
              </a:rPr>
              <a:t>探索</a:t>
            </a:r>
            <a:r>
              <a:rPr lang="ja-JP" altLang="en-US" sz="1800">
                <a:solidFill>
                  <a:srgbClr val="2F2523"/>
                </a:solidFill>
                <a:latin typeface="Yu Gothic UI"/>
                <a:ea typeface="Yu Gothic UI"/>
              </a:rPr>
              <a:t>値</a:t>
            </a:r>
            <a:r>
              <a:rPr lang="en-US" altLang="ja-JP" sz="1800">
                <a:solidFill>
                  <a:srgbClr val="2F2523"/>
                </a:solidFill>
                <a:latin typeface="Yu Gothic UI"/>
                <a:ea typeface="Yu Gothic UI"/>
              </a:rPr>
              <a:t>){</a:t>
            </a:r>
          </a:p>
          <a:p>
            <a:pPr marL="0" indent="0">
              <a:buNone/>
            </a:pPr>
            <a:r>
              <a:rPr lang="ja-JP" altLang="en-US" sz="1800">
                <a:solidFill>
                  <a:srgbClr val="2F2523"/>
                </a:solidFill>
                <a:latin typeface="Yu Gothic UI"/>
                <a:ea typeface="Yu Gothic UI"/>
              </a:rPr>
              <a:t>　　</a:t>
            </a:r>
            <a:r>
              <a:rPr lang="ja-GB" altLang="en-US" sz="1800">
                <a:solidFill>
                  <a:srgbClr val="2F2523"/>
                </a:solidFill>
                <a:latin typeface="Yu Gothic UI"/>
                <a:ea typeface="Yu Gothic UI"/>
              </a:rPr>
              <a:t>整数</a:t>
            </a:r>
            <a:r>
              <a:rPr lang="en-US" sz="1800">
                <a:solidFill>
                  <a:srgbClr val="2F2523"/>
                </a:solidFill>
                <a:latin typeface="Yu Gothic UI"/>
                <a:ea typeface="Yu Gothic UI"/>
              </a:rPr>
              <a:t> </a:t>
            </a:r>
            <a:r>
              <a:rPr lang="ja-GB" altLang="en-US" sz="1800">
                <a:solidFill>
                  <a:srgbClr val="2F2523"/>
                </a:solidFill>
                <a:latin typeface="Yu Gothic UI"/>
                <a:ea typeface="Yu Gothic UI"/>
              </a:rPr>
              <a:t>長さ</a:t>
            </a:r>
            <a:r>
              <a:rPr lang="en-US" sz="1800">
                <a:solidFill>
                  <a:srgbClr val="2F2523"/>
                </a:solidFill>
                <a:latin typeface="Yu Gothic UI"/>
                <a:ea typeface="Yu Gothic UI"/>
              </a:rPr>
              <a:t> = </a:t>
            </a:r>
            <a:r>
              <a:rPr lang="ja-GB" altLang="en-US" sz="1800">
                <a:solidFill>
                  <a:srgbClr val="2F2523"/>
                </a:solidFill>
                <a:latin typeface="Yu Gothic UI"/>
                <a:ea typeface="Yu Gothic UI"/>
              </a:rPr>
              <a:t>配列の要素数を取得する関数（探索対象）</a:t>
            </a:r>
            <a:endParaRPr lang="en-US" sz="1800">
              <a:solidFill>
                <a:srgbClr val="2F2523"/>
              </a:solidFill>
              <a:latin typeface="Yu Gothic UI"/>
              <a:ea typeface="Yu Gothic UI"/>
            </a:endParaRPr>
          </a:p>
          <a:p>
            <a:pPr marL="0" indent="0">
              <a:buNone/>
            </a:pPr>
            <a:r>
              <a:rPr lang="ja-GB" altLang="en-US" sz="1800">
                <a:solidFill>
                  <a:srgbClr val="2F2523"/>
                </a:solidFill>
                <a:latin typeface="Yu Gothic UI"/>
                <a:ea typeface="Yu Gothic UI"/>
              </a:rPr>
              <a:t>　　整数</a:t>
            </a:r>
            <a:r>
              <a:rPr lang="en-US" sz="1800">
                <a:solidFill>
                  <a:srgbClr val="2F2523"/>
                </a:solidFill>
                <a:latin typeface="Yu Gothic UI"/>
                <a:ea typeface="Yu Gothic UI"/>
              </a:rPr>
              <a:t> </a:t>
            </a:r>
            <a:r>
              <a:rPr lang="ja-GB" altLang="en-US" sz="1800">
                <a:solidFill>
                  <a:srgbClr val="2F2523"/>
                </a:solidFill>
                <a:latin typeface="Yu Gothic UI"/>
                <a:ea typeface="Yu Gothic UI"/>
              </a:rPr>
              <a:t>繰り返し数</a:t>
            </a:r>
            <a:r>
              <a:rPr lang="en-US" sz="1800">
                <a:solidFill>
                  <a:srgbClr val="2F2523"/>
                </a:solidFill>
                <a:latin typeface="Yu Gothic UI"/>
                <a:ea typeface="Yu Gothic UI"/>
              </a:rPr>
              <a:t> = 0</a:t>
            </a:r>
          </a:p>
          <a:p>
            <a:pPr marL="0" indent="0">
              <a:buNone/>
            </a:pPr>
            <a:r>
              <a:rPr lang="ja-JP" altLang="en-US" sz="1800">
                <a:solidFill>
                  <a:srgbClr val="2F2523"/>
                </a:solidFill>
                <a:latin typeface="Yu Gothic UI"/>
                <a:ea typeface="Yu Gothic UI"/>
              </a:rPr>
              <a:t>　　（</a:t>
            </a:r>
            <a:r>
              <a:rPr lang="ja-GB" altLang="en-US" sz="1800">
                <a:solidFill>
                  <a:srgbClr val="2F2523"/>
                </a:solidFill>
                <a:latin typeface="Yu Gothic UI"/>
                <a:ea typeface="Yu Gothic UI"/>
              </a:rPr>
              <a:t>長さ）回だけ繰り返す</a:t>
            </a:r>
            <a:r>
              <a:rPr lang="en-US" sz="1800">
                <a:solidFill>
                  <a:srgbClr val="2F2523"/>
                </a:solidFill>
                <a:latin typeface="Yu Gothic UI"/>
                <a:ea typeface="Yu Gothic UI"/>
              </a:rPr>
              <a:t>{</a:t>
            </a:r>
            <a:endParaRPr lang="ja-JP" sz="1800">
              <a:solidFill>
                <a:srgbClr val="2F2523"/>
              </a:solidFill>
              <a:latin typeface="Yu Gothic UI"/>
              <a:ea typeface="Yu Gothic UI"/>
            </a:endParaRPr>
          </a:p>
          <a:p>
            <a:pPr marL="0" indent="0">
              <a:buNone/>
            </a:pPr>
            <a:r>
              <a:rPr lang="ja-JP" altLang="en-US" sz="1800">
                <a:solidFill>
                  <a:srgbClr val="2F2523"/>
                </a:solidFill>
                <a:latin typeface="Yu Gothic UI"/>
                <a:ea typeface="Yu Gothic UI"/>
              </a:rPr>
              <a:t>　　　　もし（ 配列</a:t>
            </a:r>
            <a:r>
              <a:rPr lang="en-US" altLang="ja-JP" sz="1800">
                <a:solidFill>
                  <a:srgbClr val="2F2523"/>
                </a:solidFill>
                <a:latin typeface="Yu Gothic UI"/>
                <a:ea typeface="Yu Gothic UI"/>
              </a:rPr>
              <a:t>[</a:t>
            </a:r>
            <a:r>
              <a:rPr lang="ja-GB" altLang="en-US" sz="1800" err="1">
                <a:solidFill>
                  <a:srgbClr val="2F2523"/>
                </a:solidFill>
                <a:latin typeface="Yu Gothic UI"/>
                <a:ea typeface="Yu Gothic UI"/>
              </a:rPr>
              <a:t>繰り返し数</a:t>
            </a:r>
            <a:r>
              <a:rPr lang="en-GB" sz="1800">
                <a:solidFill>
                  <a:srgbClr val="2F2523"/>
                </a:solidFill>
                <a:latin typeface="Yu Gothic UI"/>
                <a:ea typeface="Yu Gothic UI"/>
              </a:rPr>
              <a:t>] </a:t>
            </a:r>
            <a:r>
              <a:rPr lang="ja-JP" altLang="en-US" sz="1800">
                <a:solidFill>
                  <a:srgbClr val="2F2523"/>
                </a:solidFill>
                <a:latin typeface="Yu Gothic UI"/>
                <a:ea typeface="Yu Gothic UI"/>
              </a:rPr>
              <a:t>が 探したい値 ）と等しいとき</a:t>
            </a:r>
            <a:r>
              <a:rPr lang="en-US" altLang="ja-JP" sz="1800">
                <a:solidFill>
                  <a:srgbClr val="2F2523"/>
                </a:solidFill>
                <a:latin typeface="Yu Gothic UI"/>
                <a:ea typeface="Yu Gothic UI"/>
              </a:rPr>
              <a:t>{</a:t>
            </a:r>
          </a:p>
          <a:p>
            <a:pPr marL="0" indent="0">
              <a:buNone/>
            </a:pPr>
            <a:r>
              <a:rPr lang="ja-JP" altLang="en-US" sz="1800">
                <a:solidFill>
                  <a:srgbClr val="2F2523"/>
                </a:solidFill>
                <a:latin typeface="Yu Gothic UI"/>
                <a:ea typeface="Yu Gothic UI"/>
              </a:rPr>
              <a:t>　　　　　　</a:t>
            </a:r>
            <a:r>
              <a:rPr lang="ja-GB" altLang="en-US" sz="1800">
                <a:solidFill>
                  <a:srgbClr val="2F2523"/>
                </a:solidFill>
                <a:latin typeface="Yu Gothic UI"/>
                <a:ea typeface="Yu Gothic UI"/>
              </a:rPr>
              <a:t>整数</a:t>
            </a:r>
            <a:r>
              <a:rPr lang="en-US" sz="1800">
                <a:solidFill>
                  <a:srgbClr val="2F2523"/>
                </a:solidFill>
                <a:latin typeface="Yu Gothic UI"/>
                <a:ea typeface="Yu Gothic UI"/>
              </a:rPr>
              <a:t> </a:t>
            </a:r>
            <a:r>
              <a:rPr lang="ja-GB" altLang="en-US" sz="1800">
                <a:solidFill>
                  <a:srgbClr val="2F2523"/>
                </a:solidFill>
                <a:latin typeface="Yu Gothic UI"/>
                <a:ea typeface="Yu Gothic UI"/>
              </a:rPr>
              <a:t>探索値の場所</a:t>
            </a:r>
            <a:r>
              <a:rPr lang="en-US" sz="1800">
                <a:solidFill>
                  <a:srgbClr val="2F2523"/>
                </a:solidFill>
                <a:latin typeface="Yu Gothic UI"/>
                <a:ea typeface="Yu Gothic UI"/>
              </a:rPr>
              <a:t> == </a:t>
            </a:r>
            <a:r>
              <a:rPr lang="ja-GB" altLang="en-US" sz="1800">
                <a:solidFill>
                  <a:srgbClr val="2F2523"/>
                </a:solidFill>
                <a:latin typeface="Yu Gothic UI"/>
                <a:ea typeface="Yu Gothic UI"/>
              </a:rPr>
              <a:t>繰り返し数</a:t>
            </a:r>
            <a:endParaRPr lang="en-US" sz="1800">
              <a:solidFill>
                <a:srgbClr val="2F2523"/>
              </a:solidFill>
              <a:latin typeface="Yu Gothic UI"/>
              <a:ea typeface="Yu Gothic UI"/>
            </a:endParaRPr>
          </a:p>
          <a:p>
            <a:pPr marL="0" indent="0">
              <a:buNone/>
            </a:pPr>
            <a:r>
              <a:rPr lang="ja-GB" altLang="en-US" sz="1800">
                <a:solidFill>
                  <a:srgbClr val="2F2523"/>
                </a:solidFill>
                <a:latin typeface="Yu Gothic UI"/>
                <a:ea typeface="Yu Gothic UI"/>
              </a:rPr>
              <a:t>　　　　　　プログラムを終了</a:t>
            </a:r>
            <a:endParaRPr lang="en-US" altLang="ja-JP" sz="1800">
              <a:solidFill>
                <a:srgbClr val="2F2523"/>
              </a:solidFill>
              <a:latin typeface="Yu Gothic UI"/>
              <a:ea typeface="Yu Gothic UI"/>
            </a:endParaRPr>
          </a:p>
          <a:p>
            <a:pPr marL="0" indent="0">
              <a:buNone/>
            </a:pPr>
            <a:r>
              <a:rPr lang="ja-JP" altLang="en-US" sz="1800">
                <a:solidFill>
                  <a:srgbClr val="2F2523"/>
                </a:solidFill>
                <a:latin typeface="Yu Gothic UI"/>
                <a:ea typeface="Yu Gothic UI"/>
              </a:rPr>
              <a:t>　　　　</a:t>
            </a:r>
            <a:r>
              <a:rPr lang="en-US" altLang="ja-JP" sz="1800">
                <a:solidFill>
                  <a:srgbClr val="2F2523"/>
                </a:solidFill>
                <a:latin typeface="Yu Gothic UI"/>
                <a:ea typeface="Yu Gothic UI"/>
              </a:rPr>
              <a:t>}</a:t>
            </a:r>
          </a:p>
          <a:p>
            <a:pPr marL="0" indent="0">
              <a:buNone/>
            </a:pPr>
            <a:r>
              <a:rPr lang="ja-JP" altLang="en-US" sz="1800">
                <a:solidFill>
                  <a:srgbClr val="2F2523"/>
                </a:solidFill>
                <a:latin typeface="Yu Gothic UI"/>
                <a:ea typeface="Yu Gothic UI"/>
              </a:rPr>
              <a:t>　　</a:t>
            </a:r>
            <a:r>
              <a:rPr lang="en-US" altLang="ja-JP" sz="1800">
                <a:solidFill>
                  <a:srgbClr val="2F2523"/>
                </a:solidFill>
                <a:latin typeface="Yu Gothic UI"/>
                <a:ea typeface="Yu Gothic UI"/>
              </a:rPr>
              <a:t>}</a:t>
            </a:r>
          </a:p>
          <a:p>
            <a:pPr marL="0" indent="0">
              <a:buNone/>
            </a:pPr>
            <a:r>
              <a:rPr lang="ja-JP" altLang="en-US" sz="1800">
                <a:solidFill>
                  <a:srgbClr val="2F2523"/>
                </a:solidFill>
                <a:latin typeface="Yu Gothic UI"/>
                <a:ea typeface="Yu Gothic UI"/>
              </a:rPr>
              <a:t>　　</a:t>
            </a:r>
            <a:r>
              <a:rPr lang="ja-GB" altLang="en-US" sz="1800">
                <a:solidFill>
                  <a:srgbClr val="2F2523"/>
                </a:solidFill>
                <a:latin typeface="Yu Gothic UI"/>
                <a:ea typeface="Yu Gothic UI"/>
              </a:rPr>
              <a:t>繰り返しが終了したら，探したい値はないと判断する</a:t>
            </a:r>
            <a:endParaRPr lang="en-US" altLang="ja-JP" sz="1800">
              <a:solidFill>
                <a:srgbClr val="2F2523"/>
              </a:solidFill>
              <a:latin typeface="Yu Gothic UI"/>
              <a:ea typeface="Yu Gothic UI"/>
            </a:endParaRPr>
          </a:p>
          <a:p>
            <a:pPr marL="0" indent="0">
              <a:buNone/>
            </a:pPr>
            <a:r>
              <a:rPr lang="en-US" altLang="ja-JP" sz="1800">
                <a:solidFill>
                  <a:srgbClr val="2F2523"/>
                </a:solidFill>
                <a:latin typeface="Yu Gothic UI"/>
                <a:ea typeface="Yu Gothic UI"/>
              </a:rPr>
              <a:t>}</a:t>
            </a:r>
            <a:endParaRPr lang="ja-JP" altLang="en-US" sz="1800">
              <a:solidFill>
                <a:srgbClr val="2F2523"/>
              </a:solidFill>
              <a:latin typeface="Yu Gothic UI"/>
              <a:ea typeface="Yu Gothic UI"/>
            </a:endParaRPr>
          </a:p>
        </p:txBody>
      </p:sp>
    </p:spTree>
    <p:extLst>
      <p:ext uri="{BB962C8B-B14F-4D97-AF65-F5344CB8AC3E}">
        <p14:creationId xmlns:p14="http://schemas.microsoft.com/office/powerpoint/2010/main" val="372480587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FAD6A2-406A-9B05-9CF0-1060404E9C9A}"/>
              </a:ext>
            </a:extLst>
          </p:cNvPr>
          <p:cNvSpPr>
            <a:spLocks noGrp="1"/>
          </p:cNvSpPr>
          <p:nvPr>
            <p:ph type="title"/>
          </p:nvPr>
        </p:nvSpPr>
        <p:spPr/>
        <p:txBody>
          <a:bodyPr/>
          <a:lstStyle/>
          <a:p>
            <a:r>
              <a:rPr kumimoji="1" lang="en-US" altLang="ja-GB"/>
              <a:t>Web</a:t>
            </a:r>
            <a:r>
              <a:rPr kumimoji="1" lang="ja-GB" altLang="en-US"/>
              <a:t>アプリでの動作説明</a:t>
            </a:r>
          </a:p>
        </p:txBody>
      </p:sp>
      <p:pic>
        <p:nvPicPr>
          <p:cNvPr id="6" name="コンテンツ プレースホルダー 5" descr="グラフィカル ユーザー インターフェイス&#10;&#10;AI 生成コンテンツは誤りを含む可能性があります。">
            <a:extLst>
              <a:ext uri="{FF2B5EF4-FFF2-40B4-BE49-F238E27FC236}">
                <a16:creationId xmlns:a16="http://schemas.microsoft.com/office/drawing/2014/main" id="{5EFE34CD-3C9F-AEF1-46E2-021B32577C73}"/>
              </a:ext>
            </a:extLst>
          </p:cNvPr>
          <p:cNvPicPr>
            <a:picLocks noGrp="1" noChangeAspect="1"/>
          </p:cNvPicPr>
          <p:nvPr>
            <p:ph idx="1"/>
          </p:nvPr>
        </p:nvPicPr>
        <p:blipFill>
          <a:blip r:embed="rId3" cstate="print">
            <a:extLst>
              <a:ext uri="{28A0092B-C50C-407E-A947-70E740481C1C}">
                <a14:useLocalDpi xmlns:a14="http://schemas.microsoft.com/office/drawing/2010/main"/>
              </a:ext>
            </a:extLst>
          </a:blip>
          <a:stretch>
            <a:fillRect/>
          </a:stretch>
        </p:blipFill>
        <p:spPr>
          <a:xfrm>
            <a:off x="2129609" y="1204800"/>
            <a:ext cx="4884782" cy="4798435"/>
          </a:xfrm>
        </p:spPr>
      </p:pic>
      <p:sp>
        <p:nvSpPr>
          <p:cNvPr id="4" name="テキスト ボックス 3">
            <a:extLst>
              <a:ext uri="{FF2B5EF4-FFF2-40B4-BE49-F238E27FC236}">
                <a16:creationId xmlns:a16="http://schemas.microsoft.com/office/drawing/2014/main" id="{14BC4967-F470-6E60-2AC1-0B4B90E144B1}"/>
              </a:ext>
            </a:extLst>
          </p:cNvPr>
          <p:cNvSpPr txBox="1"/>
          <p:nvPr/>
        </p:nvSpPr>
        <p:spPr>
          <a:xfrm>
            <a:off x="930362" y="6003235"/>
            <a:ext cx="7283276" cy="369332"/>
          </a:xfrm>
          <a:prstGeom prst="rect">
            <a:avLst/>
          </a:prstGeom>
          <a:noFill/>
        </p:spPr>
        <p:txBody>
          <a:bodyPr wrap="none" rtlCol="0">
            <a:spAutoFit/>
          </a:bodyPr>
          <a:lstStyle/>
          <a:p>
            <a:r>
              <a:rPr kumimoji="1" lang="en-GB" altLang="ja-GB" dirty="0">
                <a:hlinkClick r:id="rId4"/>
              </a:rPr>
              <a:t>https://claude.ai/public/artifacts/d07b7208-44e6-4d47-8f54-079161fe30eb</a:t>
            </a:r>
            <a:r>
              <a:rPr kumimoji="1" lang="en-GB" altLang="ja-GB" dirty="0"/>
              <a:t> </a:t>
            </a:r>
            <a:endParaRPr kumimoji="1" lang="ja-GB" altLang="en-US" dirty="0"/>
          </a:p>
        </p:txBody>
      </p:sp>
      <p:sp>
        <p:nvSpPr>
          <p:cNvPr id="7" name="テキスト ボックス 6">
            <a:extLst>
              <a:ext uri="{FF2B5EF4-FFF2-40B4-BE49-F238E27FC236}">
                <a16:creationId xmlns:a16="http://schemas.microsoft.com/office/drawing/2014/main" id="{D7DEA4F7-2593-D7A0-2E9F-3992E891ACFB}"/>
              </a:ext>
            </a:extLst>
          </p:cNvPr>
          <p:cNvSpPr txBox="1"/>
          <p:nvPr/>
        </p:nvSpPr>
        <p:spPr>
          <a:xfrm>
            <a:off x="780737" y="6427447"/>
            <a:ext cx="7582525" cy="369332"/>
          </a:xfrm>
          <a:prstGeom prst="rect">
            <a:avLst/>
          </a:prstGeom>
          <a:noFill/>
        </p:spPr>
        <p:txBody>
          <a:bodyPr wrap="none" rtlCol="0">
            <a:spAutoFit/>
          </a:bodyPr>
          <a:lstStyle/>
          <a:p>
            <a:r>
              <a:rPr kumimoji="1" lang="en-US" altLang="ja-GB"/>
              <a:t>※PC</a:t>
            </a:r>
            <a:r>
              <a:rPr kumimoji="1" lang="ja-GB" altLang="en-US"/>
              <a:t>・タブレット推奨，スマホはレイアウトが崩れる可能性が高いです</a:t>
            </a:r>
          </a:p>
        </p:txBody>
      </p:sp>
    </p:spTree>
    <p:extLst>
      <p:ext uri="{BB962C8B-B14F-4D97-AF65-F5344CB8AC3E}">
        <p14:creationId xmlns:p14="http://schemas.microsoft.com/office/powerpoint/2010/main" val="203578433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851B9-05EA-54D7-F8A5-A4439B67C89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8392448-F69A-E63F-0D16-AA6EBF76A82C}"/>
              </a:ext>
            </a:extLst>
          </p:cNvPr>
          <p:cNvSpPr>
            <a:spLocks noGrp="1"/>
          </p:cNvSpPr>
          <p:nvPr>
            <p:ph type="title"/>
          </p:nvPr>
        </p:nvSpPr>
        <p:spPr/>
        <p:txBody>
          <a:bodyPr/>
          <a:lstStyle/>
          <a:p>
            <a:r>
              <a:rPr kumimoji="1" lang="ja-GB" altLang="en-US"/>
              <a:t>二分探索：ソートされた配列を高速に探索する方法</a:t>
            </a:r>
          </a:p>
        </p:txBody>
      </p:sp>
      <p:sp>
        <p:nvSpPr>
          <p:cNvPr id="3" name="コンテンツ プレースホルダー 2">
            <a:extLst>
              <a:ext uri="{FF2B5EF4-FFF2-40B4-BE49-F238E27FC236}">
                <a16:creationId xmlns:a16="http://schemas.microsoft.com/office/drawing/2014/main" id="{B0F90F51-C1C1-B8C5-43B4-1B0244DEF1EF}"/>
              </a:ext>
            </a:extLst>
          </p:cNvPr>
          <p:cNvSpPr>
            <a:spLocks noGrp="1"/>
          </p:cNvSpPr>
          <p:nvPr>
            <p:ph idx="1"/>
          </p:nvPr>
        </p:nvSpPr>
        <p:spPr/>
        <p:txBody>
          <a:bodyPr>
            <a:normAutofit/>
          </a:bodyPr>
          <a:lstStyle/>
          <a:p>
            <a:pPr marL="0" indent="0">
              <a:buNone/>
            </a:pPr>
            <a:r>
              <a:rPr kumimoji="1" lang="ja-GB" altLang="en-US" sz="1800">
                <a:solidFill>
                  <a:srgbClr val="2F2523"/>
                </a:solidFill>
              </a:rPr>
              <a:t>探索の開始位置を配列の先頭とする</a:t>
            </a:r>
            <a:endParaRPr kumimoji="1" lang="en-US" altLang="ja-GB" sz="1800">
              <a:solidFill>
                <a:srgbClr val="2F2523"/>
              </a:solidFill>
            </a:endParaRPr>
          </a:p>
          <a:p>
            <a:pPr marL="0" indent="0">
              <a:buNone/>
            </a:pPr>
            <a:r>
              <a:rPr kumimoji="1" lang="ja-GB" altLang="en-US" sz="1800">
                <a:solidFill>
                  <a:srgbClr val="2F2523"/>
                </a:solidFill>
              </a:rPr>
              <a:t>探索の終了位置を配列の末尾とする</a:t>
            </a:r>
            <a:endParaRPr kumimoji="1" lang="en-US" altLang="ja-GB" sz="1800">
              <a:solidFill>
                <a:srgbClr val="2F2523"/>
              </a:solidFill>
            </a:endParaRPr>
          </a:p>
          <a:p>
            <a:pPr marL="0" indent="0">
              <a:buNone/>
            </a:pPr>
            <a:r>
              <a:rPr lang="ja-GB" altLang="en-US" sz="1800">
                <a:solidFill>
                  <a:srgbClr val="2F2523"/>
                </a:solidFill>
              </a:rPr>
              <a:t>（開始位置</a:t>
            </a:r>
            <a:r>
              <a:rPr lang="en-US" altLang="ja-GB" sz="1800">
                <a:solidFill>
                  <a:srgbClr val="2F2523"/>
                </a:solidFill>
              </a:rPr>
              <a:t> ≦ </a:t>
            </a:r>
            <a:r>
              <a:rPr lang="ja-GB" altLang="en-US" sz="1800">
                <a:solidFill>
                  <a:srgbClr val="2F2523"/>
                </a:solidFill>
              </a:rPr>
              <a:t>終了位置）の間，以下を繰り返す</a:t>
            </a:r>
            <a:r>
              <a:rPr lang="en-US" altLang="ja-GB" sz="1800">
                <a:solidFill>
                  <a:srgbClr val="2F2523"/>
                </a:solidFill>
              </a:rPr>
              <a:t>{</a:t>
            </a:r>
          </a:p>
          <a:p>
            <a:pPr marL="0" indent="0">
              <a:buNone/>
            </a:pPr>
            <a:r>
              <a:rPr kumimoji="1" lang="ja-GB" altLang="en-US" sz="1800">
                <a:solidFill>
                  <a:srgbClr val="2F2523"/>
                </a:solidFill>
              </a:rPr>
              <a:t>　　探索範囲の中央を計算する</a:t>
            </a:r>
            <a:r>
              <a:rPr lang="ja-GB" altLang="en-US" sz="1800">
                <a:solidFill>
                  <a:srgbClr val="2F2523"/>
                </a:solidFill>
              </a:rPr>
              <a:t>．ただし，中央が少数なら切り捨てる．</a:t>
            </a:r>
            <a:endParaRPr kumimoji="1" lang="en-US" altLang="ja-GB" sz="1800">
              <a:solidFill>
                <a:srgbClr val="2F2523"/>
              </a:solidFill>
            </a:endParaRPr>
          </a:p>
          <a:p>
            <a:pPr marL="0" indent="0">
              <a:buNone/>
            </a:pPr>
            <a:r>
              <a:rPr kumimoji="1" lang="ja-GB" altLang="en-US" sz="1800">
                <a:solidFill>
                  <a:srgbClr val="2F2523"/>
                </a:solidFill>
              </a:rPr>
              <a:t>　　中央の位置にある値と探している値を比べる</a:t>
            </a:r>
            <a:endParaRPr kumimoji="1" lang="en-US" altLang="ja-GB" sz="1800">
              <a:solidFill>
                <a:srgbClr val="2F2523"/>
              </a:solidFill>
            </a:endParaRPr>
          </a:p>
          <a:p>
            <a:pPr marL="0" indent="0">
              <a:buNone/>
            </a:pPr>
            <a:r>
              <a:rPr kumimoji="1" lang="ja-GB" altLang="en-US" sz="1800">
                <a:solidFill>
                  <a:srgbClr val="2F2523"/>
                </a:solidFill>
              </a:rPr>
              <a:t>　　もし（中央の値</a:t>
            </a:r>
            <a:r>
              <a:rPr kumimoji="1" lang="en-US" altLang="ja-GB" sz="1800">
                <a:solidFill>
                  <a:srgbClr val="2F2523"/>
                </a:solidFill>
              </a:rPr>
              <a:t> == </a:t>
            </a:r>
            <a:r>
              <a:rPr lang="ja-GB" altLang="en-US" sz="1800">
                <a:solidFill>
                  <a:srgbClr val="2F2523"/>
                </a:solidFill>
              </a:rPr>
              <a:t>探している値</a:t>
            </a:r>
            <a:r>
              <a:rPr kumimoji="1" lang="ja-GB" altLang="en-US" sz="1800">
                <a:solidFill>
                  <a:srgbClr val="2F2523"/>
                </a:solidFill>
              </a:rPr>
              <a:t>）ならば，</a:t>
            </a:r>
            <a:r>
              <a:rPr kumimoji="1" lang="en-US" altLang="ja-GB" sz="1800">
                <a:solidFill>
                  <a:srgbClr val="2F2523"/>
                </a:solidFill>
              </a:rPr>
              <a:t>{</a:t>
            </a:r>
          </a:p>
          <a:p>
            <a:pPr marL="0" indent="0">
              <a:buNone/>
            </a:pPr>
            <a:r>
              <a:rPr lang="ja-GB" altLang="en-US" sz="1800">
                <a:solidFill>
                  <a:srgbClr val="2F2523"/>
                </a:solidFill>
              </a:rPr>
              <a:t>　　　　探している値の位置を中央の値として動作終了</a:t>
            </a:r>
            <a:endParaRPr lang="en-US" altLang="ja-GB" sz="1800">
              <a:solidFill>
                <a:srgbClr val="2F2523"/>
              </a:solidFill>
            </a:endParaRPr>
          </a:p>
          <a:p>
            <a:pPr marL="0" indent="0">
              <a:buNone/>
            </a:pPr>
            <a:r>
              <a:rPr lang="ja-JP" altLang="en-US" sz="1800">
                <a:solidFill>
                  <a:srgbClr val="2F2523"/>
                </a:solidFill>
              </a:rPr>
              <a:t>　　</a:t>
            </a:r>
            <a:r>
              <a:rPr lang="en-US" altLang="ja-GB" sz="1800">
                <a:solidFill>
                  <a:srgbClr val="2F2523"/>
                </a:solidFill>
              </a:rPr>
              <a:t>}</a:t>
            </a:r>
          </a:p>
          <a:p>
            <a:pPr marL="0" indent="0">
              <a:buNone/>
            </a:pPr>
            <a:r>
              <a:rPr kumimoji="1" lang="ja-GB" altLang="en-US" sz="1800">
                <a:solidFill>
                  <a:srgbClr val="2F2523"/>
                </a:solidFill>
              </a:rPr>
              <a:t>　　もし（中央の値</a:t>
            </a:r>
            <a:r>
              <a:rPr kumimoji="1" lang="en-US" altLang="ja-GB" sz="1800">
                <a:solidFill>
                  <a:srgbClr val="2F2523"/>
                </a:solidFill>
              </a:rPr>
              <a:t> </a:t>
            </a:r>
            <a:r>
              <a:rPr kumimoji="1" lang="ja-GB" altLang="en-US" sz="1800">
                <a:solidFill>
                  <a:srgbClr val="2F2523"/>
                </a:solidFill>
              </a:rPr>
              <a:t>＜</a:t>
            </a:r>
            <a:r>
              <a:rPr kumimoji="1" lang="en-US" altLang="ja-GB" sz="1800">
                <a:solidFill>
                  <a:srgbClr val="2F2523"/>
                </a:solidFill>
              </a:rPr>
              <a:t> </a:t>
            </a:r>
            <a:r>
              <a:rPr kumimoji="1" lang="ja-GB" altLang="en-US" sz="1800">
                <a:solidFill>
                  <a:srgbClr val="2F2523"/>
                </a:solidFill>
              </a:rPr>
              <a:t>探している値）ならば</a:t>
            </a:r>
            <a:r>
              <a:rPr kumimoji="1" lang="en-US" altLang="ja-GB" sz="1800">
                <a:solidFill>
                  <a:srgbClr val="2F2523"/>
                </a:solidFill>
              </a:rPr>
              <a:t>{</a:t>
            </a:r>
          </a:p>
          <a:p>
            <a:pPr marL="0" indent="0">
              <a:buNone/>
            </a:pPr>
            <a:r>
              <a:rPr lang="ja-GB" altLang="en-US" sz="1800">
                <a:solidFill>
                  <a:srgbClr val="2F2523"/>
                </a:solidFill>
              </a:rPr>
              <a:t>　　　　終了位置を中央の一つ後ろに変更する</a:t>
            </a:r>
            <a:endParaRPr lang="en-US" altLang="ja-GB" sz="1800">
              <a:solidFill>
                <a:srgbClr val="2F2523"/>
              </a:solidFill>
            </a:endParaRPr>
          </a:p>
          <a:p>
            <a:pPr marL="0" indent="0">
              <a:buNone/>
            </a:pPr>
            <a:r>
              <a:rPr lang="ja-JP" altLang="en-US" sz="1800">
                <a:solidFill>
                  <a:srgbClr val="2F2523"/>
                </a:solidFill>
              </a:rPr>
              <a:t>　　</a:t>
            </a:r>
            <a:r>
              <a:rPr lang="en-US" altLang="ja-GB" sz="1800">
                <a:solidFill>
                  <a:srgbClr val="2F2523"/>
                </a:solidFill>
              </a:rPr>
              <a:t>}</a:t>
            </a:r>
          </a:p>
          <a:p>
            <a:pPr marL="0" indent="0">
              <a:buNone/>
            </a:pPr>
            <a:r>
              <a:rPr kumimoji="1" lang="ja-GB" altLang="en-US" sz="1800">
                <a:solidFill>
                  <a:srgbClr val="2F2523"/>
                </a:solidFill>
              </a:rPr>
              <a:t>　　もし（中央の値</a:t>
            </a:r>
            <a:r>
              <a:rPr kumimoji="1" lang="en-US" altLang="ja-GB" sz="1800">
                <a:solidFill>
                  <a:srgbClr val="2F2523"/>
                </a:solidFill>
              </a:rPr>
              <a:t> &gt; </a:t>
            </a:r>
            <a:r>
              <a:rPr kumimoji="1" lang="ja-GB" altLang="en-US" sz="1800">
                <a:solidFill>
                  <a:srgbClr val="2F2523"/>
                </a:solidFill>
              </a:rPr>
              <a:t>探している値）ならば</a:t>
            </a:r>
            <a:r>
              <a:rPr kumimoji="1" lang="en-US" altLang="ja-GB" sz="1800">
                <a:solidFill>
                  <a:srgbClr val="2F2523"/>
                </a:solidFill>
              </a:rPr>
              <a:t>{</a:t>
            </a:r>
          </a:p>
          <a:p>
            <a:pPr marL="0" indent="0">
              <a:buNone/>
            </a:pPr>
            <a:r>
              <a:rPr kumimoji="1" lang="ja-GB" altLang="en-US" sz="1800">
                <a:solidFill>
                  <a:srgbClr val="2F2523"/>
                </a:solidFill>
              </a:rPr>
              <a:t>　　　　開始位置を中央の一つ後ろに変更する</a:t>
            </a:r>
            <a:endParaRPr kumimoji="1" lang="en-US" altLang="ja-GB" sz="1800">
              <a:solidFill>
                <a:srgbClr val="2F2523"/>
              </a:solidFill>
            </a:endParaRPr>
          </a:p>
          <a:p>
            <a:pPr marL="0" indent="0">
              <a:buNone/>
            </a:pPr>
            <a:r>
              <a:rPr kumimoji="1" lang="ja-JP" altLang="en-US" sz="1800">
                <a:solidFill>
                  <a:srgbClr val="2F2523"/>
                </a:solidFill>
              </a:rPr>
              <a:t>　　</a:t>
            </a:r>
            <a:r>
              <a:rPr kumimoji="1" lang="en-US" altLang="ja-GB" sz="1800">
                <a:solidFill>
                  <a:srgbClr val="2F2523"/>
                </a:solidFill>
              </a:rPr>
              <a:t>}</a:t>
            </a:r>
          </a:p>
          <a:p>
            <a:pPr marL="0" indent="0">
              <a:buNone/>
            </a:pPr>
            <a:r>
              <a:rPr kumimoji="1" lang="en-US" altLang="ja-GB" sz="1800">
                <a:solidFill>
                  <a:srgbClr val="2F2523"/>
                </a:solidFill>
              </a:rPr>
              <a:t>}</a:t>
            </a:r>
          </a:p>
          <a:p>
            <a:pPr marL="0" indent="0">
              <a:buNone/>
            </a:pPr>
            <a:r>
              <a:rPr kumimoji="1" lang="ja-GB" altLang="en-US" sz="1800">
                <a:solidFill>
                  <a:srgbClr val="2F2523"/>
                </a:solidFill>
              </a:rPr>
              <a:t>繰り返しが終了したら，探したい値は存在しないと判断する</a:t>
            </a:r>
          </a:p>
        </p:txBody>
      </p:sp>
    </p:spTree>
    <p:extLst>
      <p:ext uri="{BB962C8B-B14F-4D97-AF65-F5344CB8AC3E}">
        <p14:creationId xmlns:p14="http://schemas.microsoft.com/office/powerpoint/2010/main" val="287150674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ACD1DB-C90F-7CD5-AA78-F865A8CB00A0}"/>
              </a:ext>
            </a:extLst>
          </p:cNvPr>
          <p:cNvSpPr>
            <a:spLocks noGrp="1"/>
          </p:cNvSpPr>
          <p:nvPr>
            <p:ph type="title"/>
          </p:nvPr>
        </p:nvSpPr>
        <p:spPr/>
        <p:txBody>
          <a:bodyPr/>
          <a:lstStyle/>
          <a:p>
            <a:r>
              <a:rPr kumimoji="1" lang="en-US" altLang="ja-GB"/>
              <a:t>Web</a:t>
            </a:r>
            <a:r>
              <a:rPr kumimoji="1" lang="ja-GB" altLang="en-US"/>
              <a:t>アプリでの動作説明</a:t>
            </a:r>
          </a:p>
        </p:txBody>
      </p:sp>
      <p:pic>
        <p:nvPicPr>
          <p:cNvPr id="6" name="コンテンツ プレースホルダー 5">
            <a:extLst>
              <a:ext uri="{FF2B5EF4-FFF2-40B4-BE49-F238E27FC236}">
                <a16:creationId xmlns:a16="http://schemas.microsoft.com/office/drawing/2014/main" id="{A27E35A4-5536-2C59-3848-1689DC864FDC}"/>
              </a:ext>
            </a:extLst>
          </p:cNvPr>
          <p:cNvPicPr>
            <a:picLocks noGrp="1" noChangeAspect="1"/>
          </p:cNvPicPr>
          <p:nvPr>
            <p:ph idx="1"/>
          </p:nvPr>
        </p:nvPicPr>
        <p:blipFill>
          <a:blip r:embed="rId2"/>
          <a:srcRect/>
          <a:stretch/>
        </p:blipFill>
        <p:spPr>
          <a:xfrm>
            <a:off x="944623" y="659219"/>
            <a:ext cx="7254754" cy="5747657"/>
          </a:xfrm>
        </p:spPr>
      </p:pic>
      <p:sp>
        <p:nvSpPr>
          <p:cNvPr id="4" name="テキスト ボックス 3">
            <a:extLst>
              <a:ext uri="{FF2B5EF4-FFF2-40B4-BE49-F238E27FC236}">
                <a16:creationId xmlns:a16="http://schemas.microsoft.com/office/drawing/2014/main" id="{90C18E97-361F-CBE9-40C8-4FAB6499F9B6}"/>
              </a:ext>
            </a:extLst>
          </p:cNvPr>
          <p:cNvSpPr txBox="1"/>
          <p:nvPr/>
        </p:nvSpPr>
        <p:spPr>
          <a:xfrm>
            <a:off x="993937" y="6135126"/>
            <a:ext cx="7156126" cy="369332"/>
          </a:xfrm>
          <a:prstGeom prst="rect">
            <a:avLst/>
          </a:prstGeom>
          <a:noFill/>
        </p:spPr>
        <p:txBody>
          <a:bodyPr wrap="none" rtlCol="0">
            <a:spAutoFit/>
          </a:bodyPr>
          <a:lstStyle/>
          <a:p>
            <a:r>
              <a:rPr kumimoji="1" lang="en-GB" altLang="ja-GB">
                <a:hlinkClick r:id="rId3"/>
              </a:rPr>
              <a:t>https://claude.ai/public/artifacts/4ac68507-ef42-4c2e-9a05-9af4fa555d5e</a:t>
            </a:r>
            <a:r>
              <a:rPr kumimoji="1" lang="en-GB" altLang="ja-GB"/>
              <a:t> </a:t>
            </a:r>
            <a:endParaRPr kumimoji="1" lang="ja-GB" altLang="en-US"/>
          </a:p>
        </p:txBody>
      </p:sp>
      <p:sp>
        <p:nvSpPr>
          <p:cNvPr id="9" name="テキスト ボックス 8">
            <a:extLst>
              <a:ext uri="{FF2B5EF4-FFF2-40B4-BE49-F238E27FC236}">
                <a16:creationId xmlns:a16="http://schemas.microsoft.com/office/drawing/2014/main" id="{C6D0EC12-4A9F-E3D6-049E-541E84B12A1C}"/>
              </a:ext>
            </a:extLst>
          </p:cNvPr>
          <p:cNvSpPr txBox="1"/>
          <p:nvPr/>
        </p:nvSpPr>
        <p:spPr>
          <a:xfrm>
            <a:off x="780737" y="6427447"/>
            <a:ext cx="7582525" cy="369332"/>
          </a:xfrm>
          <a:prstGeom prst="rect">
            <a:avLst/>
          </a:prstGeom>
          <a:noFill/>
        </p:spPr>
        <p:txBody>
          <a:bodyPr wrap="none" rtlCol="0">
            <a:spAutoFit/>
          </a:bodyPr>
          <a:lstStyle/>
          <a:p>
            <a:r>
              <a:rPr kumimoji="1" lang="en-US" altLang="ja-GB"/>
              <a:t>※PC</a:t>
            </a:r>
            <a:r>
              <a:rPr kumimoji="1" lang="ja-GB" altLang="en-US"/>
              <a:t>・タブレット推奨，スマホはレイアウトが崩れる可能性が高いです</a:t>
            </a:r>
          </a:p>
        </p:txBody>
      </p:sp>
    </p:spTree>
    <p:extLst>
      <p:ext uri="{BB962C8B-B14F-4D97-AF65-F5344CB8AC3E}">
        <p14:creationId xmlns:p14="http://schemas.microsoft.com/office/powerpoint/2010/main" val="36060801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8E2FF-57E0-B330-AAC8-FD21FF9149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86F4DF8-D7A5-2246-CD90-0E98210E742F}"/>
              </a:ext>
            </a:extLst>
          </p:cNvPr>
          <p:cNvSpPr>
            <a:spLocks noGrp="1"/>
          </p:cNvSpPr>
          <p:nvPr>
            <p:ph type="title"/>
          </p:nvPr>
        </p:nvSpPr>
        <p:spPr/>
        <p:txBody>
          <a:bodyPr>
            <a:normAutofit/>
          </a:bodyPr>
          <a:lstStyle/>
          <a:p>
            <a:r>
              <a:rPr kumimoji="1" lang="ja-GB" altLang="en-US"/>
              <a:t>ハノイの塔：関数の中で関数を使う複雑なパズル</a:t>
            </a:r>
          </a:p>
        </p:txBody>
      </p:sp>
      <p:sp>
        <p:nvSpPr>
          <p:cNvPr id="3" name="コンテンツ プレースホルダー 2">
            <a:extLst>
              <a:ext uri="{FF2B5EF4-FFF2-40B4-BE49-F238E27FC236}">
                <a16:creationId xmlns:a16="http://schemas.microsoft.com/office/drawing/2014/main" id="{D87AB4FB-249D-9DE2-3949-7A518DB6B821}"/>
              </a:ext>
            </a:extLst>
          </p:cNvPr>
          <p:cNvSpPr>
            <a:spLocks noGrp="1"/>
          </p:cNvSpPr>
          <p:nvPr>
            <p:ph idx="1"/>
          </p:nvPr>
        </p:nvSpPr>
        <p:spPr/>
        <p:txBody>
          <a:bodyPr>
            <a:normAutofit/>
          </a:bodyPr>
          <a:lstStyle/>
          <a:p>
            <a:pPr marL="0" indent="0">
              <a:buNone/>
            </a:pPr>
            <a:r>
              <a:rPr kumimoji="1" lang="ja-GB" altLang="en-US" sz="1600">
                <a:solidFill>
                  <a:srgbClr val="2F2523"/>
                </a:solidFill>
              </a:rPr>
              <a:t>関数</a:t>
            </a:r>
            <a:r>
              <a:rPr kumimoji="1" lang="en-US" altLang="ja-GB" sz="1600">
                <a:solidFill>
                  <a:srgbClr val="2F2523"/>
                </a:solidFill>
              </a:rPr>
              <a:t> </a:t>
            </a:r>
            <a:r>
              <a:rPr lang="ja-GB" altLang="en-US" sz="1600">
                <a:solidFill>
                  <a:srgbClr val="2F2523"/>
                </a:solidFill>
              </a:rPr>
              <a:t>ディスク移動</a:t>
            </a:r>
            <a:r>
              <a:rPr kumimoji="1" lang="ja-GB" altLang="en-US" sz="1600">
                <a:solidFill>
                  <a:srgbClr val="2F2523"/>
                </a:solidFill>
              </a:rPr>
              <a:t>（整数</a:t>
            </a:r>
            <a:r>
              <a:rPr kumimoji="1" lang="en-US" altLang="ja-GB" sz="1600">
                <a:solidFill>
                  <a:srgbClr val="2F2523"/>
                </a:solidFill>
              </a:rPr>
              <a:t> </a:t>
            </a:r>
            <a:r>
              <a:rPr kumimoji="1" lang="ja-GB" altLang="en-US" sz="1600">
                <a:solidFill>
                  <a:srgbClr val="2F2523"/>
                </a:solidFill>
              </a:rPr>
              <a:t>ディスク数，文字</a:t>
            </a:r>
            <a:r>
              <a:rPr kumimoji="1" lang="en-US" altLang="ja-GB" sz="1600">
                <a:solidFill>
                  <a:srgbClr val="2F2523"/>
                </a:solidFill>
              </a:rPr>
              <a:t> </a:t>
            </a:r>
            <a:r>
              <a:rPr kumimoji="1" lang="ja-GB" altLang="en-US" sz="1600">
                <a:solidFill>
                  <a:srgbClr val="2F2523"/>
                </a:solidFill>
              </a:rPr>
              <a:t>出発の棒，文字</a:t>
            </a:r>
            <a:r>
              <a:rPr kumimoji="1" lang="en-US" altLang="ja-GB" sz="1600">
                <a:solidFill>
                  <a:srgbClr val="2F2523"/>
                </a:solidFill>
              </a:rPr>
              <a:t> </a:t>
            </a:r>
            <a:r>
              <a:rPr kumimoji="1" lang="ja-GB" altLang="en-US" sz="1600">
                <a:solidFill>
                  <a:srgbClr val="2F2523"/>
                </a:solidFill>
              </a:rPr>
              <a:t>目的の棒，文字</a:t>
            </a:r>
            <a:r>
              <a:rPr kumimoji="1" lang="en-US" altLang="ja-GB" sz="1600">
                <a:solidFill>
                  <a:srgbClr val="2F2523"/>
                </a:solidFill>
              </a:rPr>
              <a:t> </a:t>
            </a:r>
            <a:r>
              <a:rPr kumimoji="1" lang="ja-GB" altLang="en-US" sz="1600">
                <a:solidFill>
                  <a:srgbClr val="2F2523"/>
                </a:solidFill>
              </a:rPr>
              <a:t>補助の棒）</a:t>
            </a:r>
            <a:r>
              <a:rPr kumimoji="1" lang="en-US" altLang="ja-GB" sz="1600">
                <a:solidFill>
                  <a:srgbClr val="2F2523"/>
                </a:solidFill>
              </a:rPr>
              <a:t>{</a:t>
            </a:r>
          </a:p>
          <a:p>
            <a:pPr marL="0" indent="0">
              <a:buNone/>
            </a:pPr>
            <a:r>
              <a:rPr kumimoji="1" lang="ja-GB" altLang="en-US" sz="1600">
                <a:solidFill>
                  <a:srgbClr val="2F2523"/>
                </a:solidFill>
              </a:rPr>
              <a:t>　　もし（ディスク数</a:t>
            </a:r>
            <a:r>
              <a:rPr lang="en-US" altLang="ja-GB" sz="1600">
                <a:solidFill>
                  <a:srgbClr val="2F2523"/>
                </a:solidFill>
              </a:rPr>
              <a:t>==1</a:t>
            </a:r>
            <a:r>
              <a:rPr kumimoji="1" lang="ja-GB" altLang="en-US" sz="1600">
                <a:solidFill>
                  <a:srgbClr val="2F2523"/>
                </a:solidFill>
              </a:rPr>
              <a:t>）ならば</a:t>
            </a:r>
            <a:r>
              <a:rPr kumimoji="1" lang="en-US" altLang="ja-GB" sz="1600">
                <a:solidFill>
                  <a:srgbClr val="2F2523"/>
                </a:solidFill>
              </a:rPr>
              <a:t>{</a:t>
            </a:r>
          </a:p>
          <a:p>
            <a:pPr marL="0" indent="0">
              <a:buNone/>
            </a:pPr>
            <a:r>
              <a:rPr lang="ja-GB" altLang="en-US" sz="1600">
                <a:solidFill>
                  <a:srgbClr val="2F2523"/>
                </a:solidFill>
              </a:rPr>
              <a:t>　　　　出発の棒</a:t>
            </a:r>
            <a:r>
              <a:rPr lang="en-US" altLang="ja-GB" sz="1600">
                <a:solidFill>
                  <a:srgbClr val="2F2523"/>
                </a:solidFill>
              </a:rPr>
              <a:t> </a:t>
            </a:r>
            <a:r>
              <a:rPr lang="ja-GB" altLang="en-US" sz="1600">
                <a:solidFill>
                  <a:srgbClr val="2F2523"/>
                </a:solidFill>
              </a:rPr>
              <a:t>から</a:t>
            </a:r>
            <a:r>
              <a:rPr lang="en-US" altLang="ja-GB" sz="1600">
                <a:solidFill>
                  <a:srgbClr val="2F2523"/>
                </a:solidFill>
              </a:rPr>
              <a:t> </a:t>
            </a:r>
            <a:r>
              <a:rPr lang="ja-GB" altLang="en-US" sz="1600">
                <a:solidFill>
                  <a:srgbClr val="2F2523"/>
                </a:solidFill>
              </a:rPr>
              <a:t>目的の棒</a:t>
            </a:r>
            <a:r>
              <a:rPr lang="en-US" altLang="ja-GB" sz="1600">
                <a:solidFill>
                  <a:srgbClr val="2F2523"/>
                </a:solidFill>
              </a:rPr>
              <a:t> </a:t>
            </a:r>
            <a:r>
              <a:rPr lang="ja-GB" altLang="en-US" sz="1600">
                <a:solidFill>
                  <a:srgbClr val="2F2523"/>
                </a:solidFill>
              </a:rPr>
              <a:t>へ一番上のディスクを移動する</a:t>
            </a:r>
            <a:endParaRPr lang="en-US" altLang="ja-GB" sz="1600">
              <a:solidFill>
                <a:srgbClr val="2F2523"/>
              </a:solidFill>
            </a:endParaRPr>
          </a:p>
          <a:p>
            <a:pPr marL="0" indent="0">
              <a:buNone/>
            </a:pPr>
            <a:r>
              <a:rPr lang="ja-JP" altLang="en-US" sz="1600">
                <a:solidFill>
                  <a:srgbClr val="2F2523"/>
                </a:solidFill>
              </a:rPr>
              <a:t>　　</a:t>
            </a:r>
            <a:r>
              <a:rPr lang="en-US" altLang="ja-GB" sz="1600">
                <a:solidFill>
                  <a:srgbClr val="2F2523"/>
                </a:solidFill>
              </a:rPr>
              <a:t>}</a:t>
            </a:r>
          </a:p>
          <a:p>
            <a:pPr marL="0" indent="0">
              <a:buNone/>
            </a:pPr>
            <a:r>
              <a:rPr lang="ja-GB" altLang="en-US" sz="1600">
                <a:solidFill>
                  <a:srgbClr val="2F2523"/>
                </a:solidFill>
              </a:rPr>
              <a:t>　　 もし（ディスク数≠</a:t>
            </a:r>
            <a:r>
              <a:rPr lang="en-US" altLang="ja-GB" sz="1600">
                <a:solidFill>
                  <a:srgbClr val="2F2523"/>
                </a:solidFill>
              </a:rPr>
              <a:t>1</a:t>
            </a:r>
            <a:r>
              <a:rPr lang="ja-GB" altLang="en-US" sz="1600">
                <a:solidFill>
                  <a:srgbClr val="2F2523"/>
                </a:solidFill>
              </a:rPr>
              <a:t>）ならば</a:t>
            </a:r>
            <a:r>
              <a:rPr kumimoji="1" lang="en-US" altLang="ja-GB" sz="1600">
                <a:solidFill>
                  <a:srgbClr val="2F2523"/>
                </a:solidFill>
              </a:rPr>
              <a:t>{</a:t>
            </a:r>
          </a:p>
          <a:p>
            <a:pPr marL="0" indent="0">
              <a:buNone/>
            </a:pPr>
            <a:r>
              <a:rPr lang="ja-GB" altLang="en-US" sz="1600">
                <a:solidFill>
                  <a:srgbClr val="2F2523"/>
                </a:solidFill>
              </a:rPr>
              <a:t>　　　　ディスク移動（ディスク数</a:t>
            </a:r>
            <a:r>
              <a:rPr lang="en-US" altLang="ja-GB" sz="1600">
                <a:solidFill>
                  <a:srgbClr val="2F2523"/>
                </a:solidFill>
              </a:rPr>
              <a:t>-1</a:t>
            </a:r>
            <a:r>
              <a:rPr lang="ja-GB" altLang="en-US" sz="1600">
                <a:solidFill>
                  <a:srgbClr val="2F2523"/>
                </a:solidFill>
              </a:rPr>
              <a:t>，出発の棒，補助の棒，目的の棒）</a:t>
            </a:r>
            <a:endParaRPr lang="en-US" altLang="ja-GB" sz="1600">
              <a:solidFill>
                <a:srgbClr val="2F2523"/>
              </a:solidFill>
            </a:endParaRPr>
          </a:p>
          <a:p>
            <a:pPr marL="0" indent="0">
              <a:buNone/>
            </a:pPr>
            <a:r>
              <a:rPr kumimoji="1" lang="ja-GB" altLang="en-US" sz="1600">
                <a:solidFill>
                  <a:srgbClr val="2F2523"/>
                </a:solidFill>
              </a:rPr>
              <a:t>　　　　出発の棒から目的の棒へ一番上のディスクを移動する</a:t>
            </a:r>
            <a:endParaRPr kumimoji="1" lang="en-US" altLang="ja-GB" sz="1600">
              <a:solidFill>
                <a:srgbClr val="2F2523"/>
              </a:solidFill>
            </a:endParaRPr>
          </a:p>
          <a:p>
            <a:pPr marL="0" indent="0">
              <a:buNone/>
            </a:pPr>
            <a:r>
              <a:rPr lang="ja-GB" altLang="en-US" sz="1600">
                <a:solidFill>
                  <a:srgbClr val="2F2523"/>
                </a:solidFill>
              </a:rPr>
              <a:t>　　　　ディスク移動（ディスク数</a:t>
            </a:r>
            <a:r>
              <a:rPr lang="en-US" altLang="ja-GB" sz="1600">
                <a:solidFill>
                  <a:srgbClr val="2F2523"/>
                </a:solidFill>
              </a:rPr>
              <a:t>-1</a:t>
            </a:r>
            <a:r>
              <a:rPr lang="ja-GB" altLang="en-US" sz="1600">
                <a:solidFill>
                  <a:srgbClr val="2F2523"/>
                </a:solidFill>
              </a:rPr>
              <a:t>，補助の棒，目的の棒，出発の棒）</a:t>
            </a:r>
            <a:endParaRPr lang="en-US" altLang="ja-GB" sz="1600">
              <a:solidFill>
                <a:srgbClr val="2F2523"/>
              </a:solidFill>
            </a:endParaRPr>
          </a:p>
          <a:p>
            <a:pPr marL="0" indent="0">
              <a:buNone/>
            </a:pPr>
            <a:r>
              <a:rPr kumimoji="1" lang="ja-JP" altLang="en-US" sz="1600">
                <a:solidFill>
                  <a:srgbClr val="2F2523"/>
                </a:solidFill>
              </a:rPr>
              <a:t>　　</a:t>
            </a:r>
            <a:r>
              <a:rPr kumimoji="1" lang="en-US" altLang="ja-GB" sz="1600">
                <a:solidFill>
                  <a:srgbClr val="2F2523"/>
                </a:solidFill>
              </a:rPr>
              <a:t>}</a:t>
            </a:r>
          </a:p>
          <a:p>
            <a:pPr marL="0" indent="0">
              <a:buNone/>
            </a:pPr>
            <a:r>
              <a:rPr lang="en-US" altLang="ja-GB" sz="1600">
                <a:solidFill>
                  <a:srgbClr val="2F2523"/>
                </a:solidFill>
              </a:rPr>
              <a:t>}</a:t>
            </a:r>
            <a:endParaRPr kumimoji="1" lang="ja-GB" altLang="en-US" sz="1600">
              <a:solidFill>
                <a:srgbClr val="2F2523"/>
              </a:solidFill>
            </a:endParaRPr>
          </a:p>
        </p:txBody>
      </p:sp>
      <p:sp>
        <p:nvSpPr>
          <p:cNvPr id="4" name="正方形/長方形 3">
            <a:extLst>
              <a:ext uri="{FF2B5EF4-FFF2-40B4-BE49-F238E27FC236}">
                <a16:creationId xmlns:a16="http://schemas.microsoft.com/office/drawing/2014/main" id="{7F084936-7FAA-CFA2-BA26-8DDC5729EFB1}"/>
              </a:ext>
            </a:extLst>
          </p:cNvPr>
          <p:cNvSpPr/>
          <p:nvPr/>
        </p:nvSpPr>
        <p:spPr>
          <a:xfrm>
            <a:off x="2145671" y="4626321"/>
            <a:ext cx="235390" cy="1837853"/>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GB" altLang="en-US"/>
          </a:p>
        </p:txBody>
      </p:sp>
      <p:sp>
        <p:nvSpPr>
          <p:cNvPr id="5" name="正方形/長方形 4">
            <a:extLst>
              <a:ext uri="{FF2B5EF4-FFF2-40B4-BE49-F238E27FC236}">
                <a16:creationId xmlns:a16="http://schemas.microsoft.com/office/drawing/2014/main" id="{3FE56869-3680-CB3E-D54F-F9AE7707E135}"/>
              </a:ext>
            </a:extLst>
          </p:cNvPr>
          <p:cNvSpPr/>
          <p:nvPr/>
        </p:nvSpPr>
        <p:spPr>
          <a:xfrm>
            <a:off x="4093810" y="4626321"/>
            <a:ext cx="235390" cy="1837853"/>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GB" altLang="en-US"/>
          </a:p>
        </p:txBody>
      </p:sp>
      <p:sp>
        <p:nvSpPr>
          <p:cNvPr id="6" name="正方形/長方形 5">
            <a:extLst>
              <a:ext uri="{FF2B5EF4-FFF2-40B4-BE49-F238E27FC236}">
                <a16:creationId xmlns:a16="http://schemas.microsoft.com/office/drawing/2014/main" id="{5C4C13DA-A51E-11B7-7FA2-DAD27DEC8D7E}"/>
              </a:ext>
            </a:extLst>
          </p:cNvPr>
          <p:cNvSpPr/>
          <p:nvPr/>
        </p:nvSpPr>
        <p:spPr>
          <a:xfrm>
            <a:off x="6226352" y="4626321"/>
            <a:ext cx="235390" cy="1837853"/>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GB" altLang="en-US"/>
          </a:p>
        </p:txBody>
      </p:sp>
      <p:sp>
        <p:nvSpPr>
          <p:cNvPr id="7" name="正方形/長方形 6">
            <a:extLst>
              <a:ext uri="{FF2B5EF4-FFF2-40B4-BE49-F238E27FC236}">
                <a16:creationId xmlns:a16="http://schemas.microsoft.com/office/drawing/2014/main" id="{96FB882E-F85C-4A6A-6F50-EDE563262F5D}"/>
              </a:ext>
            </a:extLst>
          </p:cNvPr>
          <p:cNvSpPr/>
          <p:nvPr/>
        </p:nvSpPr>
        <p:spPr>
          <a:xfrm>
            <a:off x="1430447" y="6092982"/>
            <a:ext cx="1665837" cy="3711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8" name="正方形/長方形 7">
            <a:extLst>
              <a:ext uri="{FF2B5EF4-FFF2-40B4-BE49-F238E27FC236}">
                <a16:creationId xmlns:a16="http://schemas.microsoft.com/office/drawing/2014/main" id="{88002367-9FD1-D909-AF04-93EDD4BA76A0}"/>
              </a:ext>
            </a:extLst>
          </p:cNvPr>
          <p:cNvSpPr/>
          <p:nvPr/>
        </p:nvSpPr>
        <p:spPr>
          <a:xfrm>
            <a:off x="1575304" y="5721790"/>
            <a:ext cx="1376122" cy="3711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9" name="正方形/長方形 8">
            <a:extLst>
              <a:ext uri="{FF2B5EF4-FFF2-40B4-BE49-F238E27FC236}">
                <a16:creationId xmlns:a16="http://schemas.microsoft.com/office/drawing/2014/main" id="{05E8D335-E340-0311-19BD-C4850C615422}"/>
              </a:ext>
            </a:extLst>
          </p:cNvPr>
          <p:cNvSpPr/>
          <p:nvPr/>
        </p:nvSpPr>
        <p:spPr>
          <a:xfrm>
            <a:off x="1801641" y="5359652"/>
            <a:ext cx="923446" cy="3711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0" name="テキスト ボックス 9">
            <a:extLst>
              <a:ext uri="{FF2B5EF4-FFF2-40B4-BE49-F238E27FC236}">
                <a16:creationId xmlns:a16="http://schemas.microsoft.com/office/drawing/2014/main" id="{ADE262B9-6D88-14C2-9B35-BBECE44D9734}"/>
              </a:ext>
            </a:extLst>
          </p:cNvPr>
          <p:cNvSpPr txBox="1"/>
          <p:nvPr/>
        </p:nvSpPr>
        <p:spPr>
          <a:xfrm>
            <a:off x="2104506" y="6455120"/>
            <a:ext cx="317716" cy="369332"/>
          </a:xfrm>
          <a:prstGeom prst="rect">
            <a:avLst/>
          </a:prstGeom>
          <a:noFill/>
        </p:spPr>
        <p:txBody>
          <a:bodyPr wrap="none" rtlCol="0">
            <a:spAutoFit/>
          </a:bodyPr>
          <a:lstStyle/>
          <a:p>
            <a:r>
              <a:rPr kumimoji="1" lang="en-US" altLang="ja-GB"/>
              <a:t>A</a:t>
            </a:r>
            <a:endParaRPr kumimoji="1" lang="ja-GB" altLang="en-US"/>
          </a:p>
        </p:txBody>
      </p:sp>
      <p:sp>
        <p:nvSpPr>
          <p:cNvPr id="11" name="テキスト ボックス 10">
            <a:extLst>
              <a:ext uri="{FF2B5EF4-FFF2-40B4-BE49-F238E27FC236}">
                <a16:creationId xmlns:a16="http://schemas.microsoft.com/office/drawing/2014/main" id="{87B6A1B1-08E1-5161-150F-8C992149F982}"/>
              </a:ext>
            </a:extLst>
          </p:cNvPr>
          <p:cNvSpPr txBox="1"/>
          <p:nvPr/>
        </p:nvSpPr>
        <p:spPr>
          <a:xfrm>
            <a:off x="4058395" y="6455120"/>
            <a:ext cx="309700" cy="369332"/>
          </a:xfrm>
          <a:prstGeom prst="rect">
            <a:avLst/>
          </a:prstGeom>
          <a:noFill/>
        </p:spPr>
        <p:txBody>
          <a:bodyPr wrap="none" rtlCol="0">
            <a:spAutoFit/>
          </a:bodyPr>
          <a:lstStyle/>
          <a:p>
            <a:r>
              <a:rPr kumimoji="1" lang="en-US" altLang="ja-GB"/>
              <a:t>B</a:t>
            </a:r>
            <a:endParaRPr kumimoji="1" lang="ja-GB" altLang="en-US"/>
          </a:p>
        </p:txBody>
      </p:sp>
      <p:sp>
        <p:nvSpPr>
          <p:cNvPr id="12" name="テキスト ボックス 11">
            <a:extLst>
              <a:ext uri="{FF2B5EF4-FFF2-40B4-BE49-F238E27FC236}">
                <a16:creationId xmlns:a16="http://schemas.microsoft.com/office/drawing/2014/main" id="{F763A5E6-D210-B9B2-B9D9-99093A17D259}"/>
              </a:ext>
            </a:extLst>
          </p:cNvPr>
          <p:cNvSpPr txBox="1"/>
          <p:nvPr/>
        </p:nvSpPr>
        <p:spPr>
          <a:xfrm>
            <a:off x="6185189" y="6455120"/>
            <a:ext cx="308098" cy="369332"/>
          </a:xfrm>
          <a:prstGeom prst="rect">
            <a:avLst/>
          </a:prstGeom>
          <a:noFill/>
        </p:spPr>
        <p:txBody>
          <a:bodyPr wrap="none" rtlCol="0">
            <a:spAutoFit/>
          </a:bodyPr>
          <a:lstStyle/>
          <a:p>
            <a:r>
              <a:rPr kumimoji="1" lang="en-US" altLang="ja-GB"/>
              <a:t>C</a:t>
            </a:r>
            <a:endParaRPr kumimoji="1" lang="ja-GB" altLang="en-US"/>
          </a:p>
        </p:txBody>
      </p:sp>
    </p:spTree>
    <p:extLst>
      <p:ext uri="{BB962C8B-B14F-4D97-AF65-F5344CB8AC3E}">
        <p14:creationId xmlns:p14="http://schemas.microsoft.com/office/powerpoint/2010/main" val="391723457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0E744-02C7-BEB8-38EF-F82C1C40E2A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4149C22-E523-F3FB-54A9-A4E9971498C9}"/>
              </a:ext>
            </a:extLst>
          </p:cNvPr>
          <p:cNvSpPr>
            <a:spLocks noGrp="1"/>
          </p:cNvSpPr>
          <p:nvPr>
            <p:ph type="title"/>
          </p:nvPr>
        </p:nvSpPr>
        <p:spPr/>
        <p:txBody>
          <a:bodyPr>
            <a:normAutofit/>
          </a:bodyPr>
          <a:lstStyle/>
          <a:p>
            <a:r>
              <a:rPr kumimoji="1" lang="ja-GB" altLang="en-US"/>
              <a:t>ハノイの塔：関数の中で関数を使う複雑なパズル</a:t>
            </a:r>
          </a:p>
        </p:txBody>
      </p:sp>
      <p:sp>
        <p:nvSpPr>
          <p:cNvPr id="3" name="コンテンツ プレースホルダー 2">
            <a:extLst>
              <a:ext uri="{FF2B5EF4-FFF2-40B4-BE49-F238E27FC236}">
                <a16:creationId xmlns:a16="http://schemas.microsoft.com/office/drawing/2014/main" id="{4C0819DA-1AAB-6BAE-D3F7-2C6FA71FC7F0}"/>
              </a:ext>
            </a:extLst>
          </p:cNvPr>
          <p:cNvSpPr>
            <a:spLocks noGrp="1"/>
          </p:cNvSpPr>
          <p:nvPr>
            <p:ph idx="1"/>
          </p:nvPr>
        </p:nvSpPr>
        <p:spPr/>
        <p:txBody>
          <a:bodyPr>
            <a:normAutofit/>
          </a:bodyPr>
          <a:lstStyle/>
          <a:p>
            <a:pPr marL="0" indent="0">
              <a:buNone/>
            </a:pPr>
            <a:r>
              <a:rPr kumimoji="1" lang="ja-GB" altLang="en-US" sz="1600">
                <a:solidFill>
                  <a:srgbClr val="2F2523"/>
                </a:solidFill>
              </a:rPr>
              <a:t>関数</a:t>
            </a:r>
            <a:r>
              <a:rPr kumimoji="1" lang="en-US" altLang="ja-GB" sz="1600">
                <a:solidFill>
                  <a:srgbClr val="2F2523"/>
                </a:solidFill>
              </a:rPr>
              <a:t> </a:t>
            </a:r>
            <a:r>
              <a:rPr lang="ja-GB" altLang="en-US" sz="1600">
                <a:solidFill>
                  <a:srgbClr val="0070C0"/>
                </a:solidFill>
              </a:rPr>
              <a:t>ディスク移動</a:t>
            </a:r>
            <a:r>
              <a:rPr kumimoji="1" lang="ja-GB" altLang="en-US" sz="1600">
                <a:solidFill>
                  <a:srgbClr val="2F2523"/>
                </a:solidFill>
              </a:rPr>
              <a:t>（整数</a:t>
            </a:r>
            <a:r>
              <a:rPr kumimoji="1" lang="en-US" altLang="ja-GB" sz="1600">
                <a:solidFill>
                  <a:srgbClr val="2F2523"/>
                </a:solidFill>
              </a:rPr>
              <a:t> </a:t>
            </a:r>
            <a:r>
              <a:rPr kumimoji="1" lang="ja-GB" altLang="en-US" sz="1600">
                <a:solidFill>
                  <a:srgbClr val="2F2523"/>
                </a:solidFill>
              </a:rPr>
              <a:t>ディスク数，文字</a:t>
            </a:r>
            <a:r>
              <a:rPr kumimoji="1" lang="en-US" altLang="ja-GB" sz="1600">
                <a:solidFill>
                  <a:srgbClr val="2F2523"/>
                </a:solidFill>
              </a:rPr>
              <a:t> </a:t>
            </a:r>
            <a:r>
              <a:rPr kumimoji="1" lang="ja-GB" altLang="en-US" sz="1600">
                <a:solidFill>
                  <a:srgbClr val="2F2523"/>
                </a:solidFill>
              </a:rPr>
              <a:t>出発の棒，文字</a:t>
            </a:r>
            <a:r>
              <a:rPr kumimoji="1" lang="en-US" altLang="ja-GB" sz="1600">
                <a:solidFill>
                  <a:srgbClr val="2F2523"/>
                </a:solidFill>
              </a:rPr>
              <a:t> </a:t>
            </a:r>
            <a:r>
              <a:rPr kumimoji="1" lang="ja-GB" altLang="en-US" sz="1600">
                <a:solidFill>
                  <a:srgbClr val="2F2523"/>
                </a:solidFill>
              </a:rPr>
              <a:t>目的の棒，文字</a:t>
            </a:r>
            <a:r>
              <a:rPr kumimoji="1" lang="en-US" altLang="ja-GB" sz="1600">
                <a:solidFill>
                  <a:srgbClr val="2F2523"/>
                </a:solidFill>
              </a:rPr>
              <a:t> </a:t>
            </a:r>
            <a:r>
              <a:rPr kumimoji="1" lang="ja-GB" altLang="en-US" sz="1600">
                <a:solidFill>
                  <a:srgbClr val="2F2523"/>
                </a:solidFill>
              </a:rPr>
              <a:t>補助の棒）</a:t>
            </a:r>
            <a:r>
              <a:rPr kumimoji="1" lang="en-US" altLang="ja-GB" sz="1600">
                <a:solidFill>
                  <a:srgbClr val="2F2523"/>
                </a:solidFill>
              </a:rPr>
              <a:t>{</a:t>
            </a:r>
          </a:p>
          <a:p>
            <a:pPr marL="0" indent="0">
              <a:buNone/>
            </a:pPr>
            <a:r>
              <a:rPr kumimoji="1" lang="ja-GB" altLang="en-US" sz="1600">
                <a:solidFill>
                  <a:srgbClr val="2F2523"/>
                </a:solidFill>
              </a:rPr>
              <a:t>　　もし（ディスク数</a:t>
            </a:r>
            <a:r>
              <a:rPr lang="en-US" altLang="ja-GB" sz="1600">
                <a:solidFill>
                  <a:srgbClr val="2F2523"/>
                </a:solidFill>
              </a:rPr>
              <a:t>==1</a:t>
            </a:r>
            <a:r>
              <a:rPr kumimoji="1" lang="ja-GB" altLang="en-US" sz="1600">
                <a:solidFill>
                  <a:srgbClr val="2F2523"/>
                </a:solidFill>
              </a:rPr>
              <a:t>）ならば</a:t>
            </a:r>
            <a:r>
              <a:rPr kumimoji="1" lang="en-US" altLang="ja-GB" sz="1600">
                <a:solidFill>
                  <a:srgbClr val="2F2523"/>
                </a:solidFill>
              </a:rPr>
              <a:t>{</a:t>
            </a:r>
          </a:p>
          <a:p>
            <a:pPr marL="0" indent="0">
              <a:buNone/>
            </a:pPr>
            <a:r>
              <a:rPr lang="ja-GB" altLang="en-US" sz="1600">
                <a:solidFill>
                  <a:srgbClr val="2F2523"/>
                </a:solidFill>
              </a:rPr>
              <a:t>　　　　出発の棒</a:t>
            </a:r>
            <a:r>
              <a:rPr lang="en-US" altLang="ja-GB" sz="1600">
                <a:solidFill>
                  <a:srgbClr val="2F2523"/>
                </a:solidFill>
              </a:rPr>
              <a:t> </a:t>
            </a:r>
            <a:r>
              <a:rPr lang="ja-GB" altLang="en-US" sz="1600">
                <a:solidFill>
                  <a:srgbClr val="2F2523"/>
                </a:solidFill>
              </a:rPr>
              <a:t>から</a:t>
            </a:r>
            <a:r>
              <a:rPr lang="en-US" altLang="ja-GB" sz="1600">
                <a:solidFill>
                  <a:srgbClr val="2F2523"/>
                </a:solidFill>
              </a:rPr>
              <a:t> </a:t>
            </a:r>
            <a:r>
              <a:rPr lang="ja-GB" altLang="en-US" sz="1600">
                <a:solidFill>
                  <a:srgbClr val="2F2523"/>
                </a:solidFill>
              </a:rPr>
              <a:t>目的の棒</a:t>
            </a:r>
            <a:r>
              <a:rPr lang="en-US" altLang="ja-GB" sz="1600">
                <a:solidFill>
                  <a:srgbClr val="2F2523"/>
                </a:solidFill>
              </a:rPr>
              <a:t> </a:t>
            </a:r>
            <a:r>
              <a:rPr lang="ja-GB" altLang="en-US" sz="1600">
                <a:solidFill>
                  <a:srgbClr val="2F2523"/>
                </a:solidFill>
              </a:rPr>
              <a:t>へ一番上のディスクを移動する</a:t>
            </a:r>
            <a:endParaRPr lang="en-US" altLang="ja-GB" sz="1600">
              <a:solidFill>
                <a:srgbClr val="2F2523"/>
              </a:solidFill>
            </a:endParaRPr>
          </a:p>
          <a:p>
            <a:pPr marL="0" indent="0">
              <a:buNone/>
            </a:pPr>
            <a:r>
              <a:rPr lang="ja-JP" altLang="en-US" sz="1600">
                <a:solidFill>
                  <a:srgbClr val="2F2523"/>
                </a:solidFill>
              </a:rPr>
              <a:t>　　</a:t>
            </a:r>
            <a:r>
              <a:rPr lang="en-US" altLang="ja-GB" sz="1600">
                <a:solidFill>
                  <a:srgbClr val="2F2523"/>
                </a:solidFill>
              </a:rPr>
              <a:t>}</a:t>
            </a:r>
          </a:p>
          <a:p>
            <a:pPr marL="0" indent="0">
              <a:buNone/>
            </a:pPr>
            <a:r>
              <a:rPr lang="ja-GB" altLang="en-US" sz="1600">
                <a:solidFill>
                  <a:srgbClr val="2F2523"/>
                </a:solidFill>
              </a:rPr>
              <a:t>　　 もし（ディスク数≠</a:t>
            </a:r>
            <a:r>
              <a:rPr lang="en-US" altLang="ja-GB" sz="1600">
                <a:solidFill>
                  <a:srgbClr val="2F2523"/>
                </a:solidFill>
              </a:rPr>
              <a:t>1</a:t>
            </a:r>
            <a:r>
              <a:rPr lang="ja-GB" altLang="en-US" sz="1600">
                <a:solidFill>
                  <a:srgbClr val="2F2523"/>
                </a:solidFill>
              </a:rPr>
              <a:t>）ならば</a:t>
            </a:r>
            <a:r>
              <a:rPr kumimoji="1" lang="en-US" altLang="ja-GB" sz="1600">
                <a:solidFill>
                  <a:srgbClr val="2F2523"/>
                </a:solidFill>
              </a:rPr>
              <a:t>{</a:t>
            </a:r>
          </a:p>
          <a:p>
            <a:pPr marL="0" indent="0">
              <a:buNone/>
            </a:pPr>
            <a:r>
              <a:rPr lang="ja-GB" altLang="en-US" sz="1600">
                <a:solidFill>
                  <a:srgbClr val="2F2523"/>
                </a:solidFill>
              </a:rPr>
              <a:t>　　　　</a:t>
            </a:r>
            <a:r>
              <a:rPr lang="ja-GB" altLang="en-US" sz="1600">
                <a:solidFill>
                  <a:schemeClr val="accent2"/>
                </a:solidFill>
              </a:rPr>
              <a:t>ディスク移動（ディスク数</a:t>
            </a:r>
            <a:r>
              <a:rPr lang="en-US" altLang="ja-GB" sz="1600">
                <a:solidFill>
                  <a:schemeClr val="accent2"/>
                </a:solidFill>
              </a:rPr>
              <a:t>-1</a:t>
            </a:r>
            <a:r>
              <a:rPr lang="ja-GB" altLang="en-US" sz="1600">
                <a:solidFill>
                  <a:schemeClr val="accent2"/>
                </a:solidFill>
              </a:rPr>
              <a:t>，出発の棒，補助の棒，目的の棒）</a:t>
            </a:r>
            <a:endParaRPr lang="en-US" altLang="ja-GB" sz="1600">
              <a:solidFill>
                <a:schemeClr val="accent2"/>
              </a:solidFill>
            </a:endParaRPr>
          </a:p>
          <a:p>
            <a:pPr marL="0" indent="0">
              <a:buNone/>
            </a:pPr>
            <a:r>
              <a:rPr kumimoji="1" lang="ja-GB" altLang="en-US" sz="1600">
                <a:solidFill>
                  <a:srgbClr val="2F2523"/>
                </a:solidFill>
              </a:rPr>
              <a:t>　　　　出発の棒から目的の棒へ一番上のディスクを移動する</a:t>
            </a:r>
            <a:endParaRPr kumimoji="1" lang="en-US" altLang="ja-GB" sz="1600">
              <a:solidFill>
                <a:srgbClr val="2F2523"/>
              </a:solidFill>
            </a:endParaRPr>
          </a:p>
          <a:p>
            <a:pPr marL="0" indent="0">
              <a:buNone/>
            </a:pPr>
            <a:r>
              <a:rPr lang="ja-GB" altLang="en-US" sz="1600">
                <a:solidFill>
                  <a:srgbClr val="2F2523"/>
                </a:solidFill>
              </a:rPr>
              <a:t>　　　　</a:t>
            </a:r>
            <a:r>
              <a:rPr lang="ja-GB" altLang="en-US" sz="1600">
                <a:solidFill>
                  <a:schemeClr val="accent2"/>
                </a:solidFill>
              </a:rPr>
              <a:t>ディスク移動（ディスク数</a:t>
            </a:r>
            <a:r>
              <a:rPr lang="en-US" altLang="ja-GB" sz="1600">
                <a:solidFill>
                  <a:schemeClr val="accent2"/>
                </a:solidFill>
              </a:rPr>
              <a:t>-1</a:t>
            </a:r>
            <a:r>
              <a:rPr lang="ja-GB" altLang="en-US" sz="1600">
                <a:solidFill>
                  <a:schemeClr val="accent2"/>
                </a:solidFill>
              </a:rPr>
              <a:t>，補助の棒，目的の棒，出発の棒）</a:t>
            </a:r>
            <a:endParaRPr lang="en-US" altLang="ja-GB" sz="1600">
              <a:solidFill>
                <a:schemeClr val="accent2"/>
              </a:solidFill>
            </a:endParaRPr>
          </a:p>
          <a:p>
            <a:pPr marL="0" indent="0">
              <a:buNone/>
            </a:pPr>
            <a:r>
              <a:rPr kumimoji="1" lang="ja-JP" altLang="en-US" sz="1600">
                <a:solidFill>
                  <a:srgbClr val="2F2523"/>
                </a:solidFill>
              </a:rPr>
              <a:t>　　</a:t>
            </a:r>
            <a:r>
              <a:rPr kumimoji="1" lang="en-US" altLang="ja-GB" sz="1600">
                <a:solidFill>
                  <a:srgbClr val="2F2523"/>
                </a:solidFill>
              </a:rPr>
              <a:t>}</a:t>
            </a:r>
          </a:p>
          <a:p>
            <a:pPr marL="0" indent="0">
              <a:buNone/>
            </a:pPr>
            <a:r>
              <a:rPr lang="en-US" altLang="ja-GB" sz="1600">
                <a:solidFill>
                  <a:srgbClr val="2F2523"/>
                </a:solidFill>
              </a:rPr>
              <a:t>}</a:t>
            </a:r>
            <a:endParaRPr kumimoji="1" lang="ja-GB" altLang="en-US" sz="1600">
              <a:solidFill>
                <a:srgbClr val="2F2523"/>
              </a:solidFill>
            </a:endParaRPr>
          </a:p>
        </p:txBody>
      </p:sp>
      <p:sp>
        <p:nvSpPr>
          <p:cNvPr id="4" name="正方形/長方形 3">
            <a:extLst>
              <a:ext uri="{FF2B5EF4-FFF2-40B4-BE49-F238E27FC236}">
                <a16:creationId xmlns:a16="http://schemas.microsoft.com/office/drawing/2014/main" id="{BB3157BF-DAD8-A850-AA42-0A94624E3F98}"/>
              </a:ext>
            </a:extLst>
          </p:cNvPr>
          <p:cNvSpPr/>
          <p:nvPr/>
        </p:nvSpPr>
        <p:spPr>
          <a:xfrm>
            <a:off x="2145671" y="4626321"/>
            <a:ext cx="235390" cy="1837853"/>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GB" altLang="en-US"/>
          </a:p>
        </p:txBody>
      </p:sp>
      <p:sp>
        <p:nvSpPr>
          <p:cNvPr id="5" name="正方形/長方形 4">
            <a:extLst>
              <a:ext uri="{FF2B5EF4-FFF2-40B4-BE49-F238E27FC236}">
                <a16:creationId xmlns:a16="http://schemas.microsoft.com/office/drawing/2014/main" id="{D1806F79-F606-58E7-75B6-98D34BD5EED8}"/>
              </a:ext>
            </a:extLst>
          </p:cNvPr>
          <p:cNvSpPr/>
          <p:nvPr/>
        </p:nvSpPr>
        <p:spPr>
          <a:xfrm>
            <a:off x="4093810" y="4626321"/>
            <a:ext cx="235390" cy="1837853"/>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GB" altLang="en-US"/>
          </a:p>
        </p:txBody>
      </p:sp>
      <p:sp>
        <p:nvSpPr>
          <p:cNvPr id="6" name="正方形/長方形 5">
            <a:extLst>
              <a:ext uri="{FF2B5EF4-FFF2-40B4-BE49-F238E27FC236}">
                <a16:creationId xmlns:a16="http://schemas.microsoft.com/office/drawing/2014/main" id="{C50DB924-E095-65AB-947D-910005A7956D}"/>
              </a:ext>
            </a:extLst>
          </p:cNvPr>
          <p:cNvSpPr/>
          <p:nvPr/>
        </p:nvSpPr>
        <p:spPr>
          <a:xfrm>
            <a:off x="6226352" y="4626321"/>
            <a:ext cx="235390" cy="1837853"/>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GB" altLang="en-US"/>
          </a:p>
        </p:txBody>
      </p:sp>
      <p:sp>
        <p:nvSpPr>
          <p:cNvPr id="7" name="正方形/長方形 6">
            <a:extLst>
              <a:ext uri="{FF2B5EF4-FFF2-40B4-BE49-F238E27FC236}">
                <a16:creationId xmlns:a16="http://schemas.microsoft.com/office/drawing/2014/main" id="{DA6370F5-5879-0640-4441-F65393FDD7A3}"/>
              </a:ext>
            </a:extLst>
          </p:cNvPr>
          <p:cNvSpPr/>
          <p:nvPr/>
        </p:nvSpPr>
        <p:spPr>
          <a:xfrm>
            <a:off x="1430447" y="6092982"/>
            <a:ext cx="1665837" cy="3711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8" name="正方形/長方形 7">
            <a:extLst>
              <a:ext uri="{FF2B5EF4-FFF2-40B4-BE49-F238E27FC236}">
                <a16:creationId xmlns:a16="http://schemas.microsoft.com/office/drawing/2014/main" id="{6C36930D-5BCB-3C65-B7ED-B65583B1118D}"/>
              </a:ext>
            </a:extLst>
          </p:cNvPr>
          <p:cNvSpPr/>
          <p:nvPr/>
        </p:nvSpPr>
        <p:spPr>
          <a:xfrm>
            <a:off x="1575304" y="5721790"/>
            <a:ext cx="1376122" cy="3711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9" name="正方形/長方形 8">
            <a:extLst>
              <a:ext uri="{FF2B5EF4-FFF2-40B4-BE49-F238E27FC236}">
                <a16:creationId xmlns:a16="http://schemas.microsoft.com/office/drawing/2014/main" id="{74A6160A-C6CC-75FA-1484-27435A99E698}"/>
              </a:ext>
            </a:extLst>
          </p:cNvPr>
          <p:cNvSpPr/>
          <p:nvPr/>
        </p:nvSpPr>
        <p:spPr>
          <a:xfrm>
            <a:off x="1801641" y="5359652"/>
            <a:ext cx="923446" cy="3711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0" name="テキスト ボックス 9">
            <a:extLst>
              <a:ext uri="{FF2B5EF4-FFF2-40B4-BE49-F238E27FC236}">
                <a16:creationId xmlns:a16="http://schemas.microsoft.com/office/drawing/2014/main" id="{5761FFAD-E3D2-3D1C-432E-2ADD456FAC15}"/>
              </a:ext>
            </a:extLst>
          </p:cNvPr>
          <p:cNvSpPr txBox="1"/>
          <p:nvPr/>
        </p:nvSpPr>
        <p:spPr>
          <a:xfrm>
            <a:off x="2104506" y="6455120"/>
            <a:ext cx="317716" cy="369332"/>
          </a:xfrm>
          <a:prstGeom prst="rect">
            <a:avLst/>
          </a:prstGeom>
          <a:noFill/>
        </p:spPr>
        <p:txBody>
          <a:bodyPr wrap="none" rtlCol="0">
            <a:spAutoFit/>
          </a:bodyPr>
          <a:lstStyle/>
          <a:p>
            <a:r>
              <a:rPr kumimoji="1" lang="en-US" altLang="ja-GB"/>
              <a:t>A</a:t>
            </a:r>
            <a:endParaRPr kumimoji="1" lang="ja-GB" altLang="en-US"/>
          </a:p>
        </p:txBody>
      </p:sp>
      <p:sp>
        <p:nvSpPr>
          <p:cNvPr id="11" name="テキスト ボックス 10">
            <a:extLst>
              <a:ext uri="{FF2B5EF4-FFF2-40B4-BE49-F238E27FC236}">
                <a16:creationId xmlns:a16="http://schemas.microsoft.com/office/drawing/2014/main" id="{25BDDB7F-8F6C-9E5E-B9F5-E99004394BF1}"/>
              </a:ext>
            </a:extLst>
          </p:cNvPr>
          <p:cNvSpPr txBox="1"/>
          <p:nvPr/>
        </p:nvSpPr>
        <p:spPr>
          <a:xfrm>
            <a:off x="4058395" y="6455120"/>
            <a:ext cx="309700" cy="369332"/>
          </a:xfrm>
          <a:prstGeom prst="rect">
            <a:avLst/>
          </a:prstGeom>
          <a:noFill/>
        </p:spPr>
        <p:txBody>
          <a:bodyPr wrap="none" rtlCol="0">
            <a:spAutoFit/>
          </a:bodyPr>
          <a:lstStyle/>
          <a:p>
            <a:r>
              <a:rPr kumimoji="1" lang="en-US" altLang="ja-GB"/>
              <a:t>B</a:t>
            </a:r>
            <a:endParaRPr kumimoji="1" lang="ja-GB" altLang="en-US"/>
          </a:p>
        </p:txBody>
      </p:sp>
      <p:sp>
        <p:nvSpPr>
          <p:cNvPr id="12" name="テキスト ボックス 11">
            <a:extLst>
              <a:ext uri="{FF2B5EF4-FFF2-40B4-BE49-F238E27FC236}">
                <a16:creationId xmlns:a16="http://schemas.microsoft.com/office/drawing/2014/main" id="{A81D5453-27EF-25F3-EEF1-D4F642B75DB0}"/>
              </a:ext>
            </a:extLst>
          </p:cNvPr>
          <p:cNvSpPr txBox="1"/>
          <p:nvPr/>
        </p:nvSpPr>
        <p:spPr>
          <a:xfrm>
            <a:off x="6185189" y="6455120"/>
            <a:ext cx="308098" cy="369332"/>
          </a:xfrm>
          <a:prstGeom prst="rect">
            <a:avLst/>
          </a:prstGeom>
          <a:noFill/>
        </p:spPr>
        <p:txBody>
          <a:bodyPr wrap="none" rtlCol="0">
            <a:spAutoFit/>
          </a:bodyPr>
          <a:lstStyle/>
          <a:p>
            <a:r>
              <a:rPr kumimoji="1" lang="en-US" altLang="ja-GB"/>
              <a:t>C</a:t>
            </a:r>
            <a:endParaRPr kumimoji="1" lang="ja-GB" altLang="en-US"/>
          </a:p>
        </p:txBody>
      </p:sp>
      <p:sp>
        <p:nvSpPr>
          <p:cNvPr id="13" name="テキスト ボックス 12">
            <a:extLst>
              <a:ext uri="{FF2B5EF4-FFF2-40B4-BE49-F238E27FC236}">
                <a16:creationId xmlns:a16="http://schemas.microsoft.com/office/drawing/2014/main" id="{2AFC3D76-5702-01AA-A2ED-1410AD237272}"/>
              </a:ext>
            </a:extLst>
          </p:cNvPr>
          <p:cNvSpPr txBox="1"/>
          <p:nvPr/>
        </p:nvSpPr>
        <p:spPr>
          <a:xfrm>
            <a:off x="1495902" y="3974550"/>
            <a:ext cx="5426486" cy="369332"/>
          </a:xfrm>
          <a:prstGeom prst="rect">
            <a:avLst/>
          </a:prstGeom>
          <a:noFill/>
        </p:spPr>
        <p:txBody>
          <a:bodyPr wrap="none" rtlCol="0">
            <a:spAutoFit/>
          </a:bodyPr>
          <a:lstStyle/>
          <a:p>
            <a:r>
              <a:rPr kumimoji="1" lang="ja-GB" altLang="en-US" b="1">
                <a:solidFill>
                  <a:schemeClr val="bg1"/>
                </a:solidFill>
                <a:highlight>
                  <a:srgbClr val="000080"/>
                </a:highlight>
              </a:rPr>
              <a:t>関数の中で関数自身が呼び出されている（再帰）</a:t>
            </a:r>
            <a:r>
              <a:rPr kumimoji="1" lang="en-US" altLang="ja-GB" b="1">
                <a:solidFill>
                  <a:schemeClr val="bg1"/>
                </a:solidFill>
                <a:highlight>
                  <a:srgbClr val="000080"/>
                </a:highlight>
              </a:rPr>
              <a:t> </a:t>
            </a:r>
            <a:endParaRPr kumimoji="1" lang="ja-GB" altLang="en-US" b="1">
              <a:solidFill>
                <a:schemeClr val="bg1"/>
              </a:solidFill>
              <a:highlight>
                <a:srgbClr val="000080"/>
              </a:highlight>
            </a:endParaRPr>
          </a:p>
        </p:txBody>
      </p:sp>
    </p:spTree>
    <p:extLst>
      <p:ext uri="{BB962C8B-B14F-4D97-AF65-F5344CB8AC3E}">
        <p14:creationId xmlns:p14="http://schemas.microsoft.com/office/powerpoint/2010/main" val="74665365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966220-64AA-68C6-886F-FD8C386E5704}"/>
              </a:ext>
            </a:extLst>
          </p:cNvPr>
          <p:cNvSpPr>
            <a:spLocks noGrp="1"/>
          </p:cNvSpPr>
          <p:nvPr>
            <p:ph type="title"/>
          </p:nvPr>
        </p:nvSpPr>
        <p:spPr/>
        <p:txBody>
          <a:bodyPr/>
          <a:lstStyle/>
          <a:p>
            <a:r>
              <a:rPr lang="en-US" altLang="ja-GB"/>
              <a:t>Web</a:t>
            </a:r>
            <a:r>
              <a:rPr lang="ja-GB" altLang="en-US"/>
              <a:t>アプリでの動作説明</a:t>
            </a:r>
            <a:endParaRPr kumimoji="1" lang="ja-GB" altLang="en-US"/>
          </a:p>
        </p:txBody>
      </p:sp>
      <p:pic>
        <p:nvPicPr>
          <p:cNvPr id="6" name="コンテンツ プレースホルダー 5" descr="グラフィカル ユーザー インターフェイス&#10;&#10;AI 生成コンテンツは誤りを含む可能性があります。">
            <a:extLst>
              <a:ext uri="{FF2B5EF4-FFF2-40B4-BE49-F238E27FC236}">
                <a16:creationId xmlns:a16="http://schemas.microsoft.com/office/drawing/2014/main" id="{183A9E67-F56C-018B-D7E1-F7B79A721F9C}"/>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1439218" y="852497"/>
            <a:ext cx="6265563" cy="4920533"/>
          </a:xfrm>
        </p:spPr>
      </p:pic>
      <p:sp>
        <p:nvSpPr>
          <p:cNvPr id="4" name="テキスト ボックス 3">
            <a:extLst>
              <a:ext uri="{FF2B5EF4-FFF2-40B4-BE49-F238E27FC236}">
                <a16:creationId xmlns:a16="http://schemas.microsoft.com/office/drawing/2014/main" id="{CA3356ED-5398-B833-B32E-EBAB44684EF7}"/>
              </a:ext>
            </a:extLst>
          </p:cNvPr>
          <p:cNvSpPr txBox="1"/>
          <p:nvPr/>
        </p:nvSpPr>
        <p:spPr>
          <a:xfrm>
            <a:off x="946615" y="5625285"/>
            <a:ext cx="7250767" cy="369332"/>
          </a:xfrm>
          <a:prstGeom prst="rect">
            <a:avLst/>
          </a:prstGeom>
          <a:noFill/>
        </p:spPr>
        <p:txBody>
          <a:bodyPr wrap="none" rtlCol="0">
            <a:spAutoFit/>
          </a:bodyPr>
          <a:lstStyle/>
          <a:p>
            <a:r>
              <a:rPr kumimoji="1" lang="en-GB" altLang="ja-GB">
                <a:hlinkClick r:id="rId3"/>
              </a:rPr>
              <a:t>https://claude.ai/public/artifacts/8262c434-ed2f-4991-8bb8-e1cb54b8022f</a:t>
            </a:r>
            <a:r>
              <a:rPr kumimoji="1" lang="en-GB" altLang="ja-GB"/>
              <a:t> </a:t>
            </a:r>
            <a:endParaRPr kumimoji="1" lang="ja-GB" altLang="en-US"/>
          </a:p>
        </p:txBody>
      </p:sp>
      <p:sp>
        <p:nvSpPr>
          <p:cNvPr id="7" name="テキスト ボックス 6">
            <a:extLst>
              <a:ext uri="{FF2B5EF4-FFF2-40B4-BE49-F238E27FC236}">
                <a16:creationId xmlns:a16="http://schemas.microsoft.com/office/drawing/2014/main" id="{2A2B0863-B1BB-173C-3F50-A3399BADC607}"/>
              </a:ext>
            </a:extLst>
          </p:cNvPr>
          <p:cNvSpPr txBox="1"/>
          <p:nvPr/>
        </p:nvSpPr>
        <p:spPr>
          <a:xfrm>
            <a:off x="780737" y="5948480"/>
            <a:ext cx="7582525" cy="923330"/>
          </a:xfrm>
          <a:prstGeom prst="rect">
            <a:avLst/>
          </a:prstGeom>
          <a:noFill/>
        </p:spPr>
        <p:txBody>
          <a:bodyPr wrap="none" rtlCol="0">
            <a:spAutoFit/>
          </a:bodyPr>
          <a:lstStyle/>
          <a:p>
            <a:r>
              <a:rPr kumimoji="1" lang="en-US" altLang="ja-GB"/>
              <a:t>※PC</a:t>
            </a:r>
            <a:r>
              <a:rPr kumimoji="1" lang="ja-GB" altLang="en-US"/>
              <a:t>・タブレット推奨，スマホはレイアウトが崩れる可能性が高いです</a:t>
            </a:r>
            <a:endParaRPr kumimoji="1" lang="en-US" altLang="ja-GB"/>
          </a:p>
          <a:p>
            <a:r>
              <a:rPr kumimoji="1" lang="ja-GB" altLang="en-US"/>
              <a:t>　小ウィンドウの「最大ディスク移動」は「一番上のディスクを移動」</a:t>
            </a:r>
            <a:br>
              <a:rPr kumimoji="1" lang="en-US" altLang="ja-GB"/>
            </a:br>
            <a:r>
              <a:rPr kumimoji="1" lang="ja-JP" altLang="en-US"/>
              <a:t>　の</a:t>
            </a:r>
            <a:r>
              <a:rPr kumimoji="1" lang="ja-GB" altLang="en-US"/>
              <a:t>誤植です</a:t>
            </a:r>
          </a:p>
        </p:txBody>
      </p:sp>
    </p:spTree>
    <p:extLst>
      <p:ext uri="{BB962C8B-B14F-4D97-AF65-F5344CB8AC3E}">
        <p14:creationId xmlns:p14="http://schemas.microsoft.com/office/powerpoint/2010/main" val="81400575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C4426-A3DF-7521-6C78-154F8003F547}"/>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A281339B-CD4D-4EEC-5216-FF7D72A5CD2D}"/>
              </a:ext>
            </a:extLst>
          </p:cNvPr>
          <p:cNvSpPr/>
          <p:nvPr/>
        </p:nvSpPr>
        <p:spPr>
          <a:xfrm>
            <a:off x="0" y="1"/>
            <a:ext cx="9144000" cy="440463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sp>
        <p:nvSpPr>
          <p:cNvPr id="5" name="タイトル 1">
            <a:extLst>
              <a:ext uri="{FF2B5EF4-FFF2-40B4-BE49-F238E27FC236}">
                <a16:creationId xmlns:a16="http://schemas.microsoft.com/office/drawing/2014/main" id="{C8F1B32E-C873-4D2A-9897-5B1B2DDAF62B}"/>
              </a:ext>
            </a:extLst>
          </p:cNvPr>
          <p:cNvSpPr>
            <a:spLocks noGrp="1"/>
          </p:cNvSpPr>
          <p:nvPr>
            <p:ph type="ctrTitle"/>
          </p:nvPr>
        </p:nvSpPr>
        <p:spPr>
          <a:xfrm>
            <a:off x="342901" y="1666380"/>
            <a:ext cx="8458198" cy="2738260"/>
          </a:xfrm>
        </p:spPr>
        <p:txBody>
          <a:bodyPr anchor="b">
            <a:normAutofit/>
          </a:bodyPr>
          <a:lstStyle/>
          <a:p>
            <a:pPr algn="l">
              <a:lnSpc>
                <a:spcPct val="100000"/>
              </a:lnSpc>
            </a:pPr>
            <a:r>
              <a:rPr kumimoji="1" lang="en-US" altLang="ja-JP" sz="3200" dirty="0">
                <a:solidFill>
                  <a:schemeClr val="bg1"/>
                </a:solidFill>
              </a:rPr>
              <a:t>2025</a:t>
            </a:r>
            <a:r>
              <a:rPr kumimoji="1" lang="ja-JP" altLang="en-US" sz="3200">
                <a:solidFill>
                  <a:schemeClr val="bg1"/>
                </a:solidFill>
              </a:rPr>
              <a:t>年度</a:t>
            </a:r>
            <a:r>
              <a:rPr lang="en-US" altLang="ja-JP" sz="3200" dirty="0">
                <a:solidFill>
                  <a:schemeClr val="bg1"/>
                </a:solidFill>
              </a:rPr>
              <a:t> </a:t>
            </a:r>
            <a:r>
              <a:rPr kumimoji="1" lang="ja-JP" altLang="en-US" sz="3200">
                <a:solidFill>
                  <a:schemeClr val="bg1"/>
                </a:solidFill>
              </a:rPr>
              <a:t>コンピュータシステム</a:t>
            </a:r>
            <a:br>
              <a:rPr lang="en-US" altLang="ja-JP" sz="3200" dirty="0">
                <a:solidFill>
                  <a:schemeClr val="bg1"/>
                </a:solidFill>
              </a:rPr>
            </a:br>
            <a:r>
              <a:rPr kumimoji="1" lang="ja-GB" altLang="en-US" sz="3200" dirty="0">
                <a:solidFill>
                  <a:schemeClr val="bg1"/>
                </a:solidFill>
              </a:rPr>
              <a:t>第</a:t>
            </a:r>
            <a:r>
              <a:rPr kumimoji="1" lang="en-US" altLang="ja-GB" sz="3200" dirty="0">
                <a:solidFill>
                  <a:schemeClr val="bg1"/>
                </a:solidFill>
              </a:rPr>
              <a:t>1</a:t>
            </a:r>
            <a:r>
              <a:rPr lang="en-US" altLang="ja-GB" sz="3200" dirty="0">
                <a:solidFill>
                  <a:schemeClr val="bg1"/>
                </a:solidFill>
              </a:rPr>
              <a:t>1</a:t>
            </a:r>
            <a:r>
              <a:rPr kumimoji="1" lang="ja-GB" altLang="en-US" sz="3200" dirty="0">
                <a:solidFill>
                  <a:schemeClr val="bg1"/>
                </a:solidFill>
              </a:rPr>
              <a:t>回：演算とハードウェア構成</a:t>
            </a:r>
            <a:br>
              <a:rPr kumimoji="1" lang="en-US" altLang="ja-JP" sz="2400" dirty="0">
                <a:solidFill>
                  <a:schemeClr val="bg1"/>
                </a:solidFill>
              </a:rPr>
            </a:br>
            <a:endParaRPr kumimoji="1" lang="ja-JP" altLang="en-US" sz="2400">
              <a:solidFill>
                <a:schemeClr val="bg1"/>
              </a:solidFill>
            </a:endParaRPr>
          </a:p>
        </p:txBody>
      </p:sp>
    </p:spTree>
    <p:extLst>
      <p:ext uri="{BB962C8B-B14F-4D97-AF65-F5344CB8AC3E}">
        <p14:creationId xmlns:p14="http://schemas.microsoft.com/office/powerpoint/2010/main" val="224474878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9F77E-0893-06A5-B98E-17DAC7BF1CC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E3843F5-BC84-8B8D-D9A7-8051E1685867}"/>
              </a:ext>
            </a:extLst>
          </p:cNvPr>
          <p:cNvSpPr>
            <a:spLocks noGrp="1"/>
          </p:cNvSpPr>
          <p:nvPr>
            <p:ph type="title"/>
          </p:nvPr>
        </p:nvSpPr>
        <p:spPr/>
        <p:txBody>
          <a:bodyPr/>
          <a:lstStyle/>
          <a:p>
            <a:r>
              <a:rPr kumimoji="1" lang="ja-GB" altLang="en-US" dirty="0"/>
              <a:t>本日の内容</a:t>
            </a:r>
          </a:p>
        </p:txBody>
      </p:sp>
      <p:sp>
        <p:nvSpPr>
          <p:cNvPr id="3" name="コンテンツ プレースホルダー 2">
            <a:extLst>
              <a:ext uri="{FF2B5EF4-FFF2-40B4-BE49-F238E27FC236}">
                <a16:creationId xmlns:a16="http://schemas.microsoft.com/office/drawing/2014/main" id="{ABAAC343-8801-E4A3-60D2-8E11AE42C134}"/>
              </a:ext>
            </a:extLst>
          </p:cNvPr>
          <p:cNvSpPr>
            <a:spLocks noGrp="1"/>
          </p:cNvSpPr>
          <p:nvPr>
            <p:ph idx="1"/>
          </p:nvPr>
        </p:nvSpPr>
        <p:spPr/>
        <p:txBody>
          <a:bodyPr/>
          <a:lstStyle/>
          <a:p>
            <a:pPr marL="457200" indent="-457200">
              <a:buFont typeface="+mj-lt"/>
              <a:buAutoNum type="arabicPeriod"/>
            </a:pPr>
            <a:r>
              <a:rPr kumimoji="1" lang="ja-GB" altLang="en-US" dirty="0"/>
              <a:t>コンピュータのハードウェア構成</a:t>
            </a:r>
            <a:endParaRPr kumimoji="1" lang="en-US" altLang="ja-GB" dirty="0"/>
          </a:p>
          <a:p>
            <a:pPr lvl="1"/>
            <a:r>
              <a:rPr kumimoji="1" lang="en-US" altLang="ja-GB" dirty="0"/>
              <a:t>CPU</a:t>
            </a:r>
            <a:r>
              <a:rPr kumimoji="1" lang="ja-GB" altLang="en-US" dirty="0"/>
              <a:t>，メモリ，ストレージ</a:t>
            </a:r>
            <a:endParaRPr kumimoji="1" lang="en-US" altLang="ja-GB" dirty="0"/>
          </a:p>
          <a:p>
            <a:pPr lvl="1"/>
            <a:endParaRPr lang="en-US" altLang="ja-GB" dirty="0"/>
          </a:p>
          <a:p>
            <a:pPr marL="457200" indent="-457200">
              <a:buFont typeface="+mj-lt"/>
              <a:buAutoNum type="arabicPeriod"/>
            </a:pPr>
            <a:r>
              <a:rPr kumimoji="1" lang="ja-GB" altLang="en-US" dirty="0">
                <a:solidFill>
                  <a:schemeClr val="tx1">
                    <a:lumMod val="50000"/>
                    <a:lumOff val="50000"/>
                  </a:schemeClr>
                </a:solidFill>
              </a:rPr>
              <a:t>計算機の行う演算</a:t>
            </a:r>
            <a:endParaRPr kumimoji="1" lang="en-US" altLang="ja-GB" dirty="0">
              <a:solidFill>
                <a:schemeClr val="tx1">
                  <a:lumMod val="50000"/>
                  <a:lumOff val="50000"/>
                </a:schemeClr>
              </a:solidFill>
            </a:endParaRPr>
          </a:p>
          <a:p>
            <a:pPr lvl="1"/>
            <a:r>
              <a:rPr lang="ja-GB" altLang="en-US" dirty="0">
                <a:solidFill>
                  <a:schemeClr val="tx1">
                    <a:lumMod val="50000"/>
                    <a:lumOff val="50000"/>
                  </a:schemeClr>
                </a:solidFill>
              </a:rPr>
              <a:t>二進数に対する操作（論理演算）</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四則演算の実装</a:t>
            </a:r>
            <a:endParaRPr lang="en-US" altLang="ja-GB" dirty="0">
              <a:solidFill>
                <a:schemeClr val="tx1">
                  <a:lumMod val="50000"/>
                  <a:lumOff val="50000"/>
                </a:schemeClr>
              </a:solidFill>
            </a:endParaRPr>
          </a:p>
          <a:p>
            <a:pPr lvl="1"/>
            <a:endParaRPr kumimoji="1" lang="en-US" altLang="ja-GB" dirty="0">
              <a:solidFill>
                <a:schemeClr val="tx1">
                  <a:lumMod val="50000"/>
                  <a:lumOff val="50000"/>
                </a:schemeClr>
              </a:solidFill>
            </a:endParaRPr>
          </a:p>
          <a:p>
            <a:pPr marL="457200" indent="-457200">
              <a:buFont typeface="+mj-lt"/>
              <a:buAutoNum type="arabicPeriod"/>
            </a:pPr>
            <a:r>
              <a:rPr lang="ja-GB" altLang="en-US" dirty="0">
                <a:solidFill>
                  <a:schemeClr val="tx1">
                    <a:lumMod val="50000"/>
                    <a:lumOff val="50000"/>
                  </a:schemeClr>
                </a:solidFill>
              </a:rPr>
              <a:t>身近に遭遇するかもしれない</a:t>
            </a:r>
            <a:r>
              <a:rPr lang="en-US" altLang="ja-GB" dirty="0">
                <a:solidFill>
                  <a:schemeClr val="tx1">
                    <a:lumMod val="50000"/>
                    <a:lumOff val="50000"/>
                  </a:schemeClr>
                </a:solidFill>
              </a:rPr>
              <a:t>2</a:t>
            </a:r>
            <a:r>
              <a:rPr lang="ja-GB" altLang="en-US" dirty="0">
                <a:solidFill>
                  <a:schemeClr val="tx1">
                    <a:lumMod val="50000"/>
                    <a:lumOff val="50000"/>
                  </a:schemeClr>
                </a:solidFill>
              </a:rPr>
              <a:t>進数に由来する現象</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アプリケーションの操作</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パソコンの設定項目</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計算誤差</a:t>
            </a:r>
            <a:endParaRPr lang="en-US" altLang="ja-GB" dirty="0">
              <a:solidFill>
                <a:schemeClr val="tx1">
                  <a:lumMod val="50000"/>
                  <a:lumOff val="50000"/>
                </a:schemeClr>
              </a:solidFill>
            </a:endParaRPr>
          </a:p>
          <a:p>
            <a:pPr marL="914400" lvl="1" indent="-457200">
              <a:buFont typeface="+mj-lt"/>
              <a:buAutoNum type="arabicPeriod"/>
            </a:pPr>
            <a:endParaRPr kumimoji="1" lang="en-US" altLang="ja-GB" dirty="0"/>
          </a:p>
        </p:txBody>
      </p:sp>
    </p:spTree>
    <p:extLst>
      <p:ext uri="{BB962C8B-B14F-4D97-AF65-F5344CB8AC3E}">
        <p14:creationId xmlns:p14="http://schemas.microsoft.com/office/powerpoint/2010/main" val="17220441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AEE2A-C8E5-4417-F846-6DB58C968D1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C7E3074-BCDB-ADB0-9ECC-BDFD39AE306D}"/>
              </a:ext>
            </a:extLst>
          </p:cNvPr>
          <p:cNvSpPr>
            <a:spLocks noGrp="1"/>
          </p:cNvSpPr>
          <p:nvPr>
            <p:ph type="title"/>
          </p:nvPr>
        </p:nvSpPr>
        <p:spPr/>
        <p:txBody>
          <a:bodyPr/>
          <a:lstStyle/>
          <a:p>
            <a:r>
              <a:rPr lang="ja-GB" dirty="0"/>
              <a:t>コンピュータ</a:t>
            </a:r>
            <a:r>
              <a:rPr lang="ja-GB" altLang="en-US" dirty="0"/>
              <a:t>の意味</a:t>
            </a:r>
            <a:endParaRPr lang="ja-GB" dirty="0"/>
          </a:p>
        </p:txBody>
      </p:sp>
      <p:sp>
        <p:nvSpPr>
          <p:cNvPr id="3" name="コンテンツ プレースホルダー 2">
            <a:extLst>
              <a:ext uri="{FF2B5EF4-FFF2-40B4-BE49-F238E27FC236}">
                <a16:creationId xmlns:a16="http://schemas.microsoft.com/office/drawing/2014/main" id="{53693718-2A68-4DE5-8C62-1988C95F9752}"/>
              </a:ext>
            </a:extLst>
          </p:cNvPr>
          <p:cNvSpPr>
            <a:spLocks noGrp="1"/>
          </p:cNvSpPr>
          <p:nvPr>
            <p:ph idx="1"/>
          </p:nvPr>
        </p:nvSpPr>
        <p:spPr/>
        <p:txBody>
          <a:bodyPr/>
          <a:lstStyle/>
          <a:p>
            <a:pPr marL="0" indent="0">
              <a:buNone/>
            </a:pPr>
            <a:r>
              <a:rPr lang="ja-GB" dirty="0"/>
              <a:t>コンピュータ（計算機）</a:t>
            </a:r>
          </a:p>
          <a:p>
            <a:pPr marL="457200" lvl="1" indent="0">
              <a:buNone/>
            </a:pPr>
            <a:r>
              <a:rPr lang="ja-GB" dirty="0">
                <a:solidFill>
                  <a:srgbClr val="0070C0"/>
                </a:solidFill>
              </a:rPr>
              <a:t>Compute + er：計算する人・もの</a:t>
            </a:r>
          </a:p>
          <a:p>
            <a:pPr lvl="1"/>
            <a:endParaRPr lang="ja-GB" dirty="0"/>
          </a:p>
          <a:p>
            <a:pPr marL="0" indent="0">
              <a:buNone/>
            </a:pPr>
            <a:r>
              <a:rPr lang="ja-JP" altLang="en-US"/>
              <a:t>計算</a:t>
            </a:r>
            <a:endParaRPr lang="en-US" altLang="ja-JP" dirty="0"/>
          </a:p>
          <a:p>
            <a:pPr marL="457200" lvl="1" indent="0">
              <a:buNone/>
            </a:pPr>
            <a:r>
              <a:rPr lang="ja-JP" altLang="en-US">
                <a:solidFill>
                  <a:srgbClr val="0070C0"/>
                </a:solidFill>
              </a:rPr>
              <a:t>情報を決められた方法で処理すること</a:t>
            </a:r>
            <a:r>
              <a:rPr lang="en-US" altLang="ja-JP" dirty="0">
                <a:solidFill>
                  <a:srgbClr val="0070C0"/>
                </a:solidFill>
              </a:rPr>
              <a:t>(</a:t>
            </a:r>
            <a:r>
              <a:rPr lang="ja-JP" altLang="en-US">
                <a:solidFill>
                  <a:srgbClr val="0070C0"/>
                </a:solidFill>
              </a:rPr>
              <a:t>演算</a:t>
            </a:r>
            <a:r>
              <a:rPr lang="en-US" altLang="ja-JP" dirty="0">
                <a:solidFill>
                  <a:srgbClr val="0070C0"/>
                </a:solidFill>
              </a:rPr>
              <a:t>)</a:t>
            </a:r>
            <a:r>
              <a:rPr lang="ja-JP" altLang="en-US">
                <a:solidFill>
                  <a:srgbClr val="0070C0"/>
                </a:solidFill>
              </a:rPr>
              <a:t>，その結果を求めること</a:t>
            </a:r>
            <a:r>
              <a:rPr lang="en-US" altLang="ja-JP" dirty="0">
                <a:solidFill>
                  <a:srgbClr val="0070C0"/>
                </a:solidFill>
              </a:rPr>
              <a:t>(</a:t>
            </a:r>
            <a:r>
              <a:rPr lang="ja-JP" altLang="en-US">
                <a:solidFill>
                  <a:srgbClr val="0070C0"/>
                </a:solidFill>
              </a:rPr>
              <a:t>算出</a:t>
            </a:r>
            <a:r>
              <a:rPr lang="en-US" altLang="ja-JP" dirty="0">
                <a:solidFill>
                  <a:srgbClr val="0070C0"/>
                </a:solidFill>
              </a:rPr>
              <a:t>)</a:t>
            </a:r>
          </a:p>
          <a:p>
            <a:pPr marL="914400" lvl="2" indent="0">
              <a:buNone/>
            </a:pPr>
            <a:r>
              <a:rPr lang="en-US" dirty="0"/>
              <a:t>例1）四則演算</a:t>
            </a:r>
          </a:p>
          <a:p>
            <a:pPr lvl="3"/>
            <a:r>
              <a:rPr lang="ja-GB" dirty="0"/>
              <a:t>3+5=8，10-3=7，4×8=32，7÷2=3.5（3あまり1）</a:t>
            </a:r>
          </a:p>
          <a:p>
            <a:pPr lvl="3"/>
            <a:endParaRPr lang="ja-GB" dirty="0"/>
          </a:p>
          <a:p>
            <a:pPr marL="914400" lvl="2" indent="0">
              <a:buNone/>
            </a:pPr>
            <a:r>
              <a:rPr lang="ja-GB" dirty="0"/>
              <a:t>例2）数学の計算問題 </a:t>
            </a:r>
          </a:p>
          <a:p>
            <a:pPr lvl="3"/>
            <a:endParaRPr lang="ja-GB" dirty="0"/>
          </a:p>
          <a:p>
            <a:endParaRPr lang="ja-GB" dirty="0"/>
          </a:p>
          <a:p>
            <a:endParaRPr lang="ja-GB" dirty="0"/>
          </a:p>
        </p:txBody>
      </p:sp>
      <p:pic>
        <p:nvPicPr>
          <p:cNvPr id="4" name="図 3">
            <a:extLst>
              <a:ext uri="{FF2B5EF4-FFF2-40B4-BE49-F238E27FC236}">
                <a16:creationId xmlns:a16="http://schemas.microsoft.com/office/drawing/2014/main" id="{F8602B92-AD94-0295-EECC-EE1E7245AE0F}"/>
              </a:ext>
            </a:extLst>
          </p:cNvPr>
          <p:cNvPicPr>
            <a:picLocks noChangeAspect="1"/>
          </p:cNvPicPr>
          <p:nvPr/>
        </p:nvPicPr>
        <p:blipFill>
          <a:blip r:embed="rId2"/>
          <a:stretch>
            <a:fillRect/>
          </a:stretch>
        </p:blipFill>
        <p:spPr>
          <a:xfrm>
            <a:off x="1975125" y="3953618"/>
            <a:ext cx="1811395" cy="536476"/>
          </a:xfrm>
          <a:prstGeom prst="rect">
            <a:avLst/>
          </a:prstGeom>
        </p:spPr>
      </p:pic>
      <p:pic>
        <p:nvPicPr>
          <p:cNvPr id="5" name="図 4">
            <a:extLst>
              <a:ext uri="{FF2B5EF4-FFF2-40B4-BE49-F238E27FC236}">
                <a16:creationId xmlns:a16="http://schemas.microsoft.com/office/drawing/2014/main" id="{FFB447C0-9FFC-2054-0F6C-217B81BB56F9}"/>
              </a:ext>
            </a:extLst>
          </p:cNvPr>
          <p:cNvPicPr>
            <a:picLocks noChangeAspect="1"/>
          </p:cNvPicPr>
          <p:nvPr/>
        </p:nvPicPr>
        <p:blipFill>
          <a:blip r:embed="rId3"/>
          <a:stretch>
            <a:fillRect/>
          </a:stretch>
        </p:blipFill>
        <p:spPr>
          <a:xfrm>
            <a:off x="4111917" y="3953618"/>
            <a:ext cx="2106165" cy="536476"/>
          </a:xfrm>
          <a:prstGeom prst="rect">
            <a:avLst/>
          </a:prstGeom>
        </p:spPr>
      </p:pic>
      <p:pic>
        <p:nvPicPr>
          <p:cNvPr id="6" name="図 5">
            <a:extLst>
              <a:ext uri="{FF2B5EF4-FFF2-40B4-BE49-F238E27FC236}">
                <a16:creationId xmlns:a16="http://schemas.microsoft.com/office/drawing/2014/main" id="{CE334D0B-DBA2-0855-E348-0E046DC1BF9B}"/>
              </a:ext>
            </a:extLst>
          </p:cNvPr>
          <p:cNvPicPr>
            <a:picLocks noChangeAspect="1"/>
          </p:cNvPicPr>
          <p:nvPr/>
        </p:nvPicPr>
        <p:blipFill>
          <a:blip r:embed="rId4"/>
          <a:stretch>
            <a:fillRect/>
          </a:stretch>
        </p:blipFill>
        <p:spPr>
          <a:xfrm>
            <a:off x="6448612" y="3948980"/>
            <a:ext cx="2298073" cy="541998"/>
          </a:xfrm>
          <a:prstGeom prst="rect">
            <a:avLst/>
          </a:prstGeom>
        </p:spPr>
      </p:pic>
    </p:spTree>
    <p:extLst>
      <p:ext uri="{BB962C8B-B14F-4D97-AF65-F5344CB8AC3E}">
        <p14:creationId xmlns:p14="http://schemas.microsoft.com/office/powerpoint/2010/main" val="78772125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B68AE-EA61-C815-ABFD-AFF4E43BCD3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7B627F5-DB9D-D9E3-8FAF-2DBFE4192BC0}"/>
              </a:ext>
            </a:extLst>
          </p:cNvPr>
          <p:cNvSpPr>
            <a:spLocks noGrp="1"/>
          </p:cNvSpPr>
          <p:nvPr>
            <p:ph type="title"/>
          </p:nvPr>
        </p:nvSpPr>
        <p:spPr/>
        <p:txBody>
          <a:bodyPr>
            <a:normAutofit/>
          </a:bodyPr>
          <a:lstStyle/>
          <a:p>
            <a:r>
              <a:rPr lang="ja-GB" altLang="en-US" dirty="0"/>
              <a:t>計算機の中身：自動で</a:t>
            </a:r>
            <a:r>
              <a:rPr lang="ja-GB" dirty="0"/>
              <a:t>計算する</a:t>
            </a:r>
            <a:r>
              <a:rPr lang="ja-GB" altLang="en-US" dirty="0"/>
              <a:t>装置</a:t>
            </a:r>
            <a:endParaRPr lang="ja-GB" dirty="0"/>
          </a:p>
        </p:txBody>
      </p:sp>
      <p:sp>
        <p:nvSpPr>
          <p:cNvPr id="3" name="コンテンツ プレースホルダー 2">
            <a:extLst>
              <a:ext uri="{FF2B5EF4-FFF2-40B4-BE49-F238E27FC236}">
                <a16:creationId xmlns:a16="http://schemas.microsoft.com/office/drawing/2014/main" id="{6F679E0B-49EB-0FBB-C3B7-A6998201EFFD}"/>
              </a:ext>
            </a:extLst>
          </p:cNvPr>
          <p:cNvSpPr>
            <a:spLocks noGrp="1"/>
          </p:cNvSpPr>
          <p:nvPr>
            <p:ph idx="1"/>
          </p:nvPr>
        </p:nvSpPr>
        <p:spPr/>
        <p:txBody>
          <a:bodyPr/>
          <a:lstStyle/>
          <a:p>
            <a:pPr marL="0" indent="0">
              <a:buNone/>
            </a:pPr>
            <a:r>
              <a:rPr lang="ja-GB" altLang="en-US" dirty="0"/>
              <a:t>自動で</a:t>
            </a:r>
            <a:r>
              <a:rPr lang="ja-GB" dirty="0"/>
              <a:t>計算をする</a:t>
            </a:r>
            <a:r>
              <a:rPr lang="ja-GB" altLang="en-US" dirty="0"/>
              <a:t>装置は次の仕組みで実現可能</a:t>
            </a:r>
            <a:endParaRPr lang="ja-GB" dirty="0"/>
          </a:p>
          <a:p>
            <a:pPr lvl="1"/>
            <a:r>
              <a:rPr lang="ja-GB" altLang="ja-GB" dirty="0"/>
              <a:t>入力装置：数値や計算方法を入力する装置</a:t>
            </a:r>
            <a:endParaRPr lang="en-US" altLang="ja-GB" dirty="0"/>
          </a:p>
          <a:p>
            <a:pPr lvl="1"/>
            <a:r>
              <a:rPr lang="ja-GB" altLang="en-US" dirty="0">
                <a:solidFill>
                  <a:srgbClr val="2F2523"/>
                </a:solidFill>
              </a:rPr>
              <a:t>記憶装置：演算過程の情報を一時的に保持</a:t>
            </a:r>
            <a:endParaRPr lang="en-US" altLang="ja-GB" dirty="0">
              <a:solidFill>
                <a:srgbClr val="2F2523"/>
              </a:solidFill>
            </a:endParaRPr>
          </a:p>
          <a:p>
            <a:pPr lvl="1"/>
            <a:r>
              <a:rPr lang="ja-GB" dirty="0"/>
              <a:t>演算装置：足し算や掛け算などを行う回路</a:t>
            </a:r>
          </a:p>
          <a:p>
            <a:pPr lvl="1"/>
            <a:r>
              <a:rPr lang="ja-GB" altLang="ja-GB" dirty="0">
                <a:solidFill>
                  <a:srgbClr val="2F2523"/>
                </a:solidFill>
              </a:rPr>
              <a:t>出力装置：計算結果を出力する装置</a:t>
            </a:r>
            <a:endParaRPr lang="en-US" altLang="ja-JP" dirty="0"/>
          </a:p>
          <a:p>
            <a:pPr lvl="1"/>
            <a:r>
              <a:rPr lang="ja-JP" altLang="en-US"/>
              <a:t>制御装置：計算を行うために装置同士を連携</a:t>
            </a:r>
            <a:endParaRPr lang="en-US" altLang="ja-JP" dirty="0"/>
          </a:p>
          <a:p>
            <a:pPr lvl="1"/>
            <a:endParaRPr lang="ja-GB" altLang="ja-GB" dirty="0"/>
          </a:p>
        </p:txBody>
      </p:sp>
      <p:sp>
        <p:nvSpPr>
          <p:cNvPr id="9" name="テキスト ボックス 8">
            <a:extLst>
              <a:ext uri="{FF2B5EF4-FFF2-40B4-BE49-F238E27FC236}">
                <a16:creationId xmlns:a16="http://schemas.microsoft.com/office/drawing/2014/main" id="{3B93FD4A-9016-670B-F467-51A352597DCE}"/>
              </a:ext>
            </a:extLst>
          </p:cNvPr>
          <p:cNvSpPr txBox="1"/>
          <p:nvPr/>
        </p:nvSpPr>
        <p:spPr>
          <a:xfrm>
            <a:off x="5866642" y="4547278"/>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出力装置</a:t>
            </a:r>
          </a:p>
        </p:txBody>
      </p:sp>
      <p:cxnSp>
        <p:nvCxnSpPr>
          <p:cNvPr id="11" name="直線矢印コネクタ 10">
            <a:extLst>
              <a:ext uri="{FF2B5EF4-FFF2-40B4-BE49-F238E27FC236}">
                <a16:creationId xmlns:a16="http://schemas.microsoft.com/office/drawing/2014/main" id="{BC7C77BD-244B-B179-3039-10B84E13F546}"/>
              </a:ext>
            </a:extLst>
          </p:cNvPr>
          <p:cNvCxnSpPr>
            <a:cxnSpLocks/>
          </p:cNvCxnSpPr>
          <p:nvPr/>
        </p:nvCxnSpPr>
        <p:spPr>
          <a:xfrm>
            <a:off x="5161039" y="4731944"/>
            <a:ext cx="70560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曲線コネクタ 11">
            <a:extLst>
              <a:ext uri="{FF2B5EF4-FFF2-40B4-BE49-F238E27FC236}">
                <a16:creationId xmlns:a16="http://schemas.microsoft.com/office/drawing/2014/main" id="{6F503C31-5018-A6D4-E446-2166110AD6B2}"/>
              </a:ext>
            </a:extLst>
          </p:cNvPr>
          <p:cNvCxnSpPr>
            <a:cxnSpLocks/>
            <a:stCxn id="23" idx="2"/>
            <a:endCxn id="9" idx="0"/>
          </p:cNvCxnSpPr>
          <p:nvPr/>
        </p:nvCxnSpPr>
        <p:spPr>
          <a:xfrm rot="16200000" flipH="1">
            <a:off x="4438713" y="2565350"/>
            <a:ext cx="336657" cy="3627197"/>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2C5F5432-7708-7545-E893-FA7B7DAEF189}"/>
              </a:ext>
            </a:extLst>
          </p:cNvPr>
          <p:cNvSpPr txBox="1"/>
          <p:nvPr/>
        </p:nvSpPr>
        <p:spPr>
          <a:xfrm>
            <a:off x="2239445" y="3841289"/>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制御装置</a:t>
            </a:r>
          </a:p>
        </p:txBody>
      </p:sp>
      <p:sp>
        <p:nvSpPr>
          <p:cNvPr id="25" name="テキスト ボックス 24">
            <a:extLst>
              <a:ext uri="{FF2B5EF4-FFF2-40B4-BE49-F238E27FC236}">
                <a16:creationId xmlns:a16="http://schemas.microsoft.com/office/drawing/2014/main" id="{38D91D3D-390F-5809-4911-30FDF1AC3A3F}"/>
              </a:ext>
            </a:extLst>
          </p:cNvPr>
          <p:cNvSpPr txBox="1"/>
          <p:nvPr/>
        </p:nvSpPr>
        <p:spPr>
          <a:xfrm>
            <a:off x="4053043" y="3841289"/>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sp>
        <p:nvSpPr>
          <p:cNvPr id="26" name="テキスト ボックス 25">
            <a:extLst>
              <a:ext uri="{FF2B5EF4-FFF2-40B4-BE49-F238E27FC236}">
                <a16:creationId xmlns:a16="http://schemas.microsoft.com/office/drawing/2014/main" id="{3A8EC08B-9B74-F2CC-A53D-018F3726ACA3}"/>
              </a:ext>
            </a:extLst>
          </p:cNvPr>
          <p:cNvSpPr txBox="1"/>
          <p:nvPr/>
        </p:nvSpPr>
        <p:spPr>
          <a:xfrm>
            <a:off x="2239444" y="4547278"/>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cxnSp>
        <p:nvCxnSpPr>
          <p:cNvPr id="27" name="直線矢印コネクタ 26">
            <a:extLst>
              <a:ext uri="{FF2B5EF4-FFF2-40B4-BE49-F238E27FC236}">
                <a16:creationId xmlns:a16="http://schemas.microsoft.com/office/drawing/2014/main" id="{53B758B8-AD01-BBB5-D626-1EE7D78FACCF}"/>
              </a:ext>
            </a:extLst>
          </p:cNvPr>
          <p:cNvCxnSpPr>
            <a:cxnSpLocks/>
          </p:cNvCxnSpPr>
          <p:nvPr/>
        </p:nvCxnSpPr>
        <p:spPr>
          <a:xfrm>
            <a:off x="3347440" y="4731944"/>
            <a:ext cx="70560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440FBD52-F11C-4D3E-BF03-57F9AFD8757B}"/>
              </a:ext>
            </a:extLst>
          </p:cNvPr>
          <p:cNvCxnSpPr>
            <a:cxnSpLocks/>
            <a:stCxn id="25" idx="2"/>
            <a:endCxn id="32" idx="0"/>
          </p:cNvCxnSpPr>
          <p:nvPr/>
        </p:nvCxnSpPr>
        <p:spPr>
          <a:xfrm>
            <a:off x="4607041" y="4210621"/>
            <a:ext cx="0" cy="336657"/>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曲線コネクタ 28">
            <a:extLst>
              <a:ext uri="{FF2B5EF4-FFF2-40B4-BE49-F238E27FC236}">
                <a16:creationId xmlns:a16="http://schemas.microsoft.com/office/drawing/2014/main" id="{30551F37-13DE-1B7A-5757-1C823955661F}"/>
              </a:ext>
            </a:extLst>
          </p:cNvPr>
          <p:cNvCxnSpPr>
            <a:cxnSpLocks/>
            <a:stCxn id="23" idx="2"/>
            <a:endCxn id="32" idx="0"/>
          </p:cNvCxnSpPr>
          <p:nvPr/>
        </p:nvCxnSpPr>
        <p:spPr>
          <a:xfrm rot="16200000" flipH="1">
            <a:off x="3531914" y="3472150"/>
            <a:ext cx="336657" cy="1813598"/>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52FE7915-B5EC-EBF4-4115-D880B32221C8}"/>
              </a:ext>
            </a:extLst>
          </p:cNvPr>
          <p:cNvCxnSpPr>
            <a:cxnSpLocks/>
            <a:stCxn id="23" idx="2"/>
            <a:endCxn id="26" idx="0"/>
          </p:cNvCxnSpPr>
          <p:nvPr/>
        </p:nvCxnSpPr>
        <p:spPr>
          <a:xfrm flipH="1">
            <a:off x="2793442" y="4210621"/>
            <a:ext cx="1" cy="336657"/>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8034468D-9D70-FCDE-DA3D-EF25AD019FFF}"/>
              </a:ext>
            </a:extLst>
          </p:cNvPr>
          <p:cNvCxnSpPr>
            <a:cxnSpLocks/>
            <a:stCxn id="23" idx="3"/>
            <a:endCxn id="25" idx="1"/>
          </p:cNvCxnSpPr>
          <p:nvPr/>
        </p:nvCxnSpPr>
        <p:spPr>
          <a:xfrm>
            <a:off x="3347441" y="4025955"/>
            <a:ext cx="705602"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A39CB439-EB1F-F605-73E8-BF1E7FA65D8C}"/>
              </a:ext>
            </a:extLst>
          </p:cNvPr>
          <p:cNvSpPr txBox="1"/>
          <p:nvPr/>
        </p:nvSpPr>
        <p:spPr>
          <a:xfrm>
            <a:off x="4053043" y="4547278"/>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記憶装置</a:t>
            </a:r>
          </a:p>
        </p:txBody>
      </p:sp>
      <p:sp>
        <p:nvSpPr>
          <p:cNvPr id="4" name="テキスト ボックス 3">
            <a:extLst>
              <a:ext uri="{FF2B5EF4-FFF2-40B4-BE49-F238E27FC236}">
                <a16:creationId xmlns:a16="http://schemas.microsoft.com/office/drawing/2014/main" id="{1CC392FC-0D4B-8B28-B619-FD110DABB907}"/>
              </a:ext>
            </a:extLst>
          </p:cNvPr>
          <p:cNvSpPr txBox="1"/>
          <p:nvPr/>
        </p:nvSpPr>
        <p:spPr>
          <a:xfrm>
            <a:off x="5953204" y="4916610"/>
            <a:ext cx="934871" cy="307777"/>
          </a:xfrm>
          <a:prstGeom prst="rect">
            <a:avLst/>
          </a:prstGeom>
          <a:noFill/>
        </p:spPr>
        <p:txBody>
          <a:bodyPr wrap="none" rtlCol="0">
            <a:spAutoFit/>
          </a:bodyPr>
          <a:lstStyle/>
          <a:p>
            <a:pPr algn="ctr"/>
            <a:r>
              <a:rPr lang="ja-GB" sz="1400" dirty="0">
                <a:solidFill>
                  <a:schemeClr val="accent5"/>
                </a:solidFill>
                <a:latin typeface="Yu Gothic UI" panose="020B0500000000000000" pitchFamily="34" charset="-128"/>
                <a:ea typeface="Yu Gothic UI" panose="020B0500000000000000" pitchFamily="34" charset="-128"/>
              </a:rPr>
              <a:t>⑤答えは8</a:t>
            </a:r>
          </a:p>
        </p:txBody>
      </p:sp>
      <p:sp>
        <p:nvSpPr>
          <p:cNvPr id="5" name="テキスト ボックス 4">
            <a:extLst>
              <a:ext uri="{FF2B5EF4-FFF2-40B4-BE49-F238E27FC236}">
                <a16:creationId xmlns:a16="http://schemas.microsoft.com/office/drawing/2014/main" id="{FE48BFCA-19F8-615A-92BC-1EB7B1A5E57B}"/>
              </a:ext>
            </a:extLst>
          </p:cNvPr>
          <p:cNvSpPr txBox="1"/>
          <p:nvPr/>
        </p:nvSpPr>
        <p:spPr>
          <a:xfrm>
            <a:off x="2180134" y="4921076"/>
            <a:ext cx="1226618" cy="307777"/>
          </a:xfrm>
          <a:prstGeom prst="rect">
            <a:avLst/>
          </a:prstGeom>
          <a:noFill/>
        </p:spPr>
        <p:txBody>
          <a:bodyPr wrap="none" rtlCol="0">
            <a:spAutoFit/>
          </a:bodyPr>
          <a:lstStyle/>
          <a:p>
            <a:pPr algn="ctr"/>
            <a:r>
              <a:rPr lang="ja-GB" sz="1400" dirty="0">
                <a:solidFill>
                  <a:schemeClr val="accent5"/>
                </a:solidFill>
                <a:latin typeface="Yu Gothic UI" panose="020B0500000000000000" pitchFamily="34" charset="-128"/>
                <a:ea typeface="Yu Gothic UI" panose="020B0500000000000000" pitchFamily="34" charset="-128"/>
              </a:rPr>
              <a:t>①3+5</a:t>
            </a:r>
            <a:r>
              <a:rPr lang="ja-GB" altLang="en-US" sz="1400" dirty="0">
                <a:solidFill>
                  <a:schemeClr val="accent5"/>
                </a:solidFill>
                <a:latin typeface="Yu Gothic UI" panose="020B0500000000000000" pitchFamily="34" charset="-128"/>
                <a:ea typeface="Yu Gothic UI" panose="020B0500000000000000" pitchFamily="34" charset="-128"/>
              </a:rPr>
              <a:t>をしたい</a:t>
            </a:r>
            <a:endParaRPr lang="ja-GB" sz="1400" dirty="0">
              <a:solidFill>
                <a:schemeClr val="accent5"/>
              </a:solidFill>
              <a:latin typeface="Yu Gothic UI" panose="020B0500000000000000" pitchFamily="34" charset="-128"/>
              <a:ea typeface="Yu Gothic UI" panose="020B0500000000000000" pitchFamily="34" charset="-128"/>
            </a:endParaRPr>
          </a:p>
        </p:txBody>
      </p:sp>
      <p:sp>
        <p:nvSpPr>
          <p:cNvPr id="6" name="テキスト ボックス 5">
            <a:extLst>
              <a:ext uri="{FF2B5EF4-FFF2-40B4-BE49-F238E27FC236}">
                <a16:creationId xmlns:a16="http://schemas.microsoft.com/office/drawing/2014/main" id="{4D72A821-0B24-7BF8-1A07-B29881050964}"/>
              </a:ext>
            </a:extLst>
          </p:cNvPr>
          <p:cNvSpPr txBox="1"/>
          <p:nvPr/>
        </p:nvSpPr>
        <p:spPr>
          <a:xfrm>
            <a:off x="3489200" y="4927491"/>
            <a:ext cx="1178528" cy="307777"/>
          </a:xfrm>
          <a:prstGeom prst="rect">
            <a:avLst/>
          </a:prstGeom>
          <a:noFill/>
        </p:spPr>
        <p:txBody>
          <a:bodyPr wrap="none" rtlCol="0">
            <a:spAutoFit/>
          </a:bodyPr>
          <a:lstStyle/>
          <a:p>
            <a:r>
              <a:rPr lang="ja-GB" sz="1400" dirty="0">
                <a:solidFill>
                  <a:schemeClr val="accent5"/>
                </a:solidFill>
                <a:latin typeface="Yu Gothic UI" panose="020B0500000000000000" pitchFamily="34" charset="-128"/>
                <a:ea typeface="Yu Gothic UI" panose="020B0500000000000000" pitchFamily="34" charset="-128"/>
              </a:rPr>
              <a:t>②3と5を記憶</a:t>
            </a:r>
          </a:p>
        </p:txBody>
      </p:sp>
      <p:sp>
        <p:nvSpPr>
          <p:cNvPr id="7" name="テキスト ボックス 6">
            <a:extLst>
              <a:ext uri="{FF2B5EF4-FFF2-40B4-BE49-F238E27FC236}">
                <a16:creationId xmlns:a16="http://schemas.microsoft.com/office/drawing/2014/main" id="{BD358EEC-3CB7-E624-DE0A-CC9574D1DA62}"/>
              </a:ext>
            </a:extLst>
          </p:cNvPr>
          <p:cNvSpPr txBox="1"/>
          <p:nvPr/>
        </p:nvSpPr>
        <p:spPr>
          <a:xfrm>
            <a:off x="4132391" y="3540310"/>
            <a:ext cx="949299" cy="307777"/>
          </a:xfrm>
          <a:prstGeom prst="rect">
            <a:avLst/>
          </a:prstGeom>
          <a:noFill/>
        </p:spPr>
        <p:txBody>
          <a:bodyPr wrap="none" rtlCol="0">
            <a:spAutoFit/>
          </a:bodyPr>
          <a:lstStyle/>
          <a:p>
            <a:pPr algn="ctr"/>
            <a:r>
              <a:rPr lang="ja-GB" sz="1400" dirty="0">
                <a:solidFill>
                  <a:schemeClr val="accent5"/>
                </a:solidFill>
                <a:latin typeface="Yu Gothic UI" panose="020B0500000000000000" pitchFamily="34" charset="-128"/>
                <a:ea typeface="Yu Gothic UI" panose="020B0500000000000000" pitchFamily="34" charset="-128"/>
              </a:rPr>
              <a:t>③3</a:t>
            </a:r>
            <a:r>
              <a:rPr lang="en-US" altLang="ja-GB" sz="1400" dirty="0">
                <a:solidFill>
                  <a:schemeClr val="accent5"/>
                </a:solidFill>
                <a:latin typeface="Yu Gothic UI" panose="020B0500000000000000" pitchFamily="34" charset="-128"/>
                <a:ea typeface="Yu Gothic UI" panose="020B0500000000000000" pitchFamily="34" charset="-128"/>
              </a:rPr>
              <a:t> +</a:t>
            </a:r>
            <a:r>
              <a:rPr lang="ja-GB" sz="1400" dirty="0">
                <a:solidFill>
                  <a:schemeClr val="accent5"/>
                </a:solidFill>
                <a:latin typeface="Yu Gothic UI" panose="020B0500000000000000" pitchFamily="34" charset="-128"/>
                <a:ea typeface="Yu Gothic UI" panose="020B0500000000000000" pitchFamily="34" charset="-128"/>
              </a:rPr>
              <a:t>5</a:t>
            </a:r>
            <a:r>
              <a:rPr lang="en-US" altLang="ja-GB" sz="1400" dirty="0">
                <a:solidFill>
                  <a:schemeClr val="accent5"/>
                </a:solidFill>
                <a:latin typeface="Yu Gothic UI" panose="020B0500000000000000" pitchFamily="34" charset="-128"/>
                <a:ea typeface="Yu Gothic UI" panose="020B0500000000000000" pitchFamily="34" charset="-128"/>
              </a:rPr>
              <a:t>=</a:t>
            </a:r>
            <a:r>
              <a:rPr lang="ja-GB" sz="1400" dirty="0">
                <a:solidFill>
                  <a:schemeClr val="accent5"/>
                </a:solidFill>
                <a:latin typeface="Yu Gothic UI" panose="020B0500000000000000" pitchFamily="34" charset="-128"/>
                <a:ea typeface="Yu Gothic UI" panose="020B0500000000000000" pitchFamily="34" charset="-128"/>
              </a:rPr>
              <a:t>8</a:t>
            </a:r>
          </a:p>
        </p:txBody>
      </p:sp>
      <p:sp>
        <p:nvSpPr>
          <p:cNvPr id="8" name="テキスト ボックス 7">
            <a:extLst>
              <a:ext uri="{FF2B5EF4-FFF2-40B4-BE49-F238E27FC236}">
                <a16:creationId xmlns:a16="http://schemas.microsoft.com/office/drawing/2014/main" id="{EDAAFD82-38BA-6125-0EF1-AE2DE180B4A7}"/>
              </a:ext>
            </a:extLst>
          </p:cNvPr>
          <p:cNvSpPr txBox="1"/>
          <p:nvPr/>
        </p:nvSpPr>
        <p:spPr>
          <a:xfrm>
            <a:off x="4640493" y="4932224"/>
            <a:ext cx="957313" cy="307777"/>
          </a:xfrm>
          <a:prstGeom prst="rect">
            <a:avLst/>
          </a:prstGeom>
          <a:noFill/>
        </p:spPr>
        <p:txBody>
          <a:bodyPr wrap="none" rtlCol="0">
            <a:spAutoFit/>
          </a:bodyPr>
          <a:lstStyle/>
          <a:p>
            <a:r>
              <a:rPr lang="ja-GB" sz="1400" dirty="0">
                <a:solidFill>
                  <a:schemeClr val="accent5"/>
                </a:solidFill>
                <a:latin typeface="Yu Gothic UI" panose="020B0500000000000000" pitchFamily="34" charset="-128"/>
                <a:ea typeface="Yu Gothic UI" panose="020B0500000000000000" pitchFamily="34" charset="-128"/>
              </a:rPr>
              <a:t>④8を記憶</a:t>
            </a:r>
          </a:p>
        </p:txBody>
      </p:sp>
    </p:spTree>
    <p:extLst>
      <p:ext uri="{BB962C8B-B14F-4D97-AF65-F5344CB8AC3E}">
        <p14:creationId xmlns:p14="http://schemas.microsoft.com/office/powerpoint/2010/main" val="262665811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C166C-A7CE-4271-A23B-5A6857DF192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B155DA8-4FC1-0887-3499-7451099B096D}"/>
              </a:ext>
            </a:extLst>
          </p:cNvPr>
          <p:cNvSpPr>
            <a:spLocks noGrp="1"/>
          </p:cNvSpPr>
          <p:nvPr>
            <p:ph type="title"/>
          </p:nvPr>
        </p:nvSpPr>
        <p:spPr/>
        <p:txBody>
          <a:bodyPr/>
          <a:lstStyle/>
          <a:p>
            <a:r>
              <a:rPr lang="ja-GB" altLang="en-US" dirty="0"/>
              <a:t>補足説明</a:t>
            </a:r>
            <a:endParaRPr kumimoji="1" lang="ja-GB" altLang="en-US" dirty="0"/>
          </a:p>
        </p:txBody>
      </p:sp>
      <p:sp>
        <p:nvSpPr>
          <p:cNvPr id="3" name="コンテンツ プレースホルダー 2">
            <a:extLst>
              <a:ext uri="{FF2B5EF4-FFF2-40B4-BE49-F238E27FC236}">
                <a16:creationId xmlns:a16="http://schemas.microsoft.com/office/drawing/2014/main" id="{1BB354F4-C34B-1A31-1CE4-4F59BED47E63}"/>
              </a:ext>
            </a:extLst>
          </p:cNvPr>
          <p:cNvSpPr>
            <a:spLocks noGrp="1"/>
          </p:cNvSpPr>
          <p:nvPr>
            <p:ph idx="1"/>
          </p:nvPr>
        </p:nvSpPr>
        <p:spPr/>
        <p:txBody>
          <a:bodyPr>
            <a:normAutofit/>
          </a:bodyPr>
          <a:lstStyle/>
          <a:p>
            <a:pPr marL="0" indent="0">
              <a:buNone/>
            </a:pPr>
            <a:r>
              <a:rPr lang="ja-GB" altLang="en-US" sz="1200" dirty="0">
                <a:solidFill>
                  <a:schemeClr val="tx1">
                    <a:lumMod val="65000"/>
                    <a:lumOff val="35000"/>
                  </a:schemeClr>
                </a:solidFill>
              </a:rPr>
              <a:t>自動で計算をする装置は図に示すようなハードウェア構成で実現できる</a:t>
            </a:r>
            <a:endParaRPr lang="en-US" altLang="ja-GB" sz="1200" dirty="0">
              <a:solidFill>
                <a:schemeClr val="tx1">
                  <a:lumMod val="65000"/>
                  <a:lumOff val="35000"/>
                </a:schemeClr>
              </a:solidFill>
            </a:endParaRPr>
          </a:p>
          <a:p>
            <a:pPr marL="0" indent="0">
              <a:buNone/>
            </a:pPr>
            <a:endParaRPr lang="en-US" altLang="ja-JP" sz="1200" dirty="0">
              <a:solidFill>
                <a:schemeClr val="tx1">
                  <a:lumMod val="65000"/>
                  <a:lumOff val="35000"/>
                </a:schemeClr>
              </a:solidFill>
            </a:endParaRPr>
          </a:p>
          <a:p>
            <a:pPr marL="0" indent="0">
              <a:buNone/>
            </a:pPr>
            <a:r>
              <a:rPr lang="ja-GB" altLang="en-US" sz="1200" dirty="0">
                <a:solidFill>
                  <a:schemeClr val="tx1">
                    <a:lumMod val="65000"/>
                    <a:lumOff val="35000"/>
                  </a:schemeClr>
                </a:solidFill>
              </a:rPr>
              <a:t>まず，計算をするは入力装置が必要．例えば，キーボードのようなもの</a:t>
            </a:r>
            <a:endParaRPr lang="en-US" altLang="ja-GB" sz="1200" dirty="0">
              <a:solidFill>
                <a:schemeClr val="tx1">
                  <a:lumMod val="65000"/>
                  <a:lumOff val="35000"/>
                </a:schemeClr>
              </a:solidFill>
            </a:endParaRPr>
          </a:p>
          <a:p>
            <a:pPr marL="0" indent="0">
              <a:buNone/>
            </a:pPr>
            <a:r>
              <a:rPr lang="ja-GB" altLang="en-US" sz="1200" dirty="0">
                <a:solidFill>
                  <a:schemeClr val="tx1">
                    <a:lumMod val="65000"/>
                    <a:lumOff val="35000"/>
                  </a:schemeClr>
                </a:solidFill>
              </a:rPr>
              <a:t>そして，結果を出力する装置が必要．例えば，ディスプレイのようなもの</a:t>
            </a:r>
            <a:endParaRPr lang="en-US" altLang="ja-GB" sz="1200" dirty="0">
              <a:solidFill>
                <a:schemeClr val="tx1">
                  <a:lumMod val="65000"/>
                  <a:lumOff val="35000"/>
                </a:schemeClr>
              </a:solidFill>
            </a:endParaRPr>
          </a:p>
          <a:p>
            <a:pPr marL="0" indent="0">
              <a:buNone/>
            </a:pPr>
            <a:r>
              <a:rPr lang="ja-GB" altLang="en-US" sz="1200" dirty="0">
                <a:solidFill>
                  <a:schemeClr val="tx1">
                    <a:lumMod val="65000"/>
                    <a:lumOff val="35000"/>
                  </a:schemeClr>
                </a:solidFill>
              </a:rPr>
              <a:t>当然，数値同士の足し算や掛け算など，演算を行う装置が必要．</a:t>
            </a:r>
            <a:endParaRPr lang="en-US" altLang="ja-GB" sz="1200" dirty="0">
              <a:solidFill>
                <a:schemeClr val="tx1">
                  <a:lumMod val="65000"/>
                  <a:lumOff val="35000"/>
                </a:schemeClr>
              </a:solidFill>
            </a:endParaRPr>
          </a:p>
          <a:p>
            <a:pPr marL="0" indent="0">
              <a:buNone/>
            </a:pPr>
            <a:r>
              <a:rPr lang="ja-GB" altLang="en-US" sz="1200" dirty="0">
                <a:solidFill>
                  <a:schemeClr val="tx1">
                    <a:lumMod val="65000"/>
                    <a:lumOff val="35000"/>
                  </a:schemeClr>
                </a:solidFill>
              </a:rPr>
              <a:t>また，筆算をするときに書いておかないと分からなくなるように，計算過程の数値を覚えておくためのメモのような記憶装置が必要</a:t>
            </a:r>
            <a:endParaRPr lang="en-US" altLang="ja-GB" sz="1200" dirty="0">
              <a:solidFill>
                <a:schemeClr val="tx1">
                  <a:lumMod val="65000"/>
                  <a:lumOff val="35000"/>
                </a:schemeClr>
              </a:solidFill>
            </a:endParaRPr>
          </a:p>
          <a:p>
            <a:pPr marL="0" indent="0">
              <a:buNone/>
            </a:pPr>
            <a:r>
              <a:rPr lang="ja-GB" altLang="en-US" sz="1200" dirty="0">
                <a:solidFill>
                  <a:schemeClr val="tx1">
                    <a:lumMod val="65000"/>
                    <a:lumOff val="35000"/>
                  </a:schemeClr>
                </a:solidFill>
              </a:rPr>
              <a:t>最後に，これらがバラバラにあっても自動で計算ができることにはならないので，これら</a:t>
            </a:r>
            <a:r>
              <a:rPr lang="en-US" altLang="ja-GB" sz="1200" dirty="0">
                <a:solidFill>
                  <a:schemeClr val="tx1">
                    <a:lumMod val="65000"/>
                    <a:lumOff val="35000"/>
                  </a:schemeClr>
                </a:solidFill>
              </a:rPr>
              <a:t>4</a:t>
            </a:r>
            <a:r>
              <a:rPr lang="ja-GB" altLang="en-US" sz="1200" dirty="0">
                <a:solidFill>
                  <a:schemeClr val="tx1">
                    <a:lumMod val="65000"/>
                    <a:lumOff val="35000"/>
                  </a:schemeClr>
                </a:solidFill>
              </a:rPr>
              <a:t>つの装置を連携させて動作させるための制御装置が必要</a:t>
            </a:r>
            <a:endParaRPr lang="en-US" altLang="ja-GB" sz="1200" dirty="0">
              <a:solidFill>
                <a:schemeClr val="tx1">
                  <a:lumMod val="65000"/>
                  <a:lumOff val="35000"/>
                </a:schemeClr>
              </a:solidFill>
            </a:endParaRPr>
          </a:p>
          <a:p>
            <a:pPr marL="0" indent="0">
              <a:buNone/>
            </a:pPr>
            <a:endParaRPr lang="en-US" altLang="ja-JP" sz="1200" dirty="0">
              <a:solidFill>
                <a:schemeClr val="tx1">
                  <a:lumMod val="65000"/>
                  <a:lumOff val="35000"/>
                </a:schemeClr>
              </a:solidFill>
            </a:endParaRPr>
          </a:p>
          <a:p>
            <a:pPr marL="0" indent="0">
              <a:buNone/>
            </a:pPr>
            <a:r>
              <a:rPr lang="ja-GB" altLang="en-US" sz="1200" dirty="0">
                <a:solidFill>
                  <a:schemeClr val="tx1">
                    <a:lumMod val="65000"/>
                    <a:lumOff val="35000"/>
                  </a:schemeClr>
                </a:solidFill>
              </a:rPr>
              <a:t>これら</a:t>
            </a:r>
            <a:r>
              <a:rPr lang="en-US" altLang="ja-GB" sz="1200" dirty="0">
                <a:solidFill>
                  <a:schemeClr val="tx1">
                    <a:lumMod val="65000"/>
                    <a:lumOff val="35000"/>
                  </a:schemeClr>
                </a:solidFill>
              </a:rPr>
              <a:t>5</a:t>
            </a:r>
            <a:r>
              <a:rPr lang="ja-GB" altLang="en-US" sz="1200" dirty="0">
                <a:solidFill>
                  <a:schemeClr val="tx1">
                    <a:lumMod val="65000"/>
                    <a:lumOff val="35000"/>
                  </a:schemeClr>
                </a:solidFill>
              </a:rPr>
              <a:t>つの装置があれば，「計算」を自動実行する機械を作ることができる</a:t>
            </a:r>
            <a:endParaRPr lang="en-US" altLang="ja-GB" sz="1200" dirty="0">
              <a:solidFill>
                <a:schemeClr val="tx1">
                  <a:lumMod val="65000"/>
                  <a:lumOff val="35000"/>
                </a:schemeClr>
              </a:solidFill>
            </a:endParaRPr>
          </a:p>
          <a:p>
            <a:pPr marL="0" indent="0">
              <a:buNone/>
            </a:pPr>
            <a:endParaRPr lang="en-US" altLang="ja-JP" sz="1200" dirty="0">
              <a:solidFill>
                <a:schemeClr val="tx1">
                  <a:lumMod val="65000"/>
                  <a:lumOff val="35000"/>
                </a:schemeClr>
              </a:solidFill>
            </a:endParaRPr>
          </a:p>
          <a:p>
            <a:pPr marL="0" indent="0">
              <a:buNone/>
            </a:pPr>
            <a:r>
              <a:rPr lang="ja-GB" altLang="en-US" sz="1200" dirty="0">
                <a:solidFill>
                  <a:schemeClr val="tx1">
                    <a:lumMod val="65000"/>
                    <a:lumOff val="35000"/>
                  </a:schemeClr>
                </a:solidFill>
              </a:rPr>
              <a:t>例えば，</a:t>
            </a:r>
            <a:r>
              <a:rPr lang="en-US" altLang="ja-GB" sz="1200" dirty="0">
                <a:solidFill>
                  <a:schemeClr val="tx1">
                    <a:lumMod val="65000"/>
                    <a:lumOff val="35000"/>
                  </a:schemeClr>
                </a:solidFill>
              </a:rPr>
              <a:t>3+5</a:t>
            </a:r>
            <a:r>
              <a:rPr lang="ja-GB" altLang="en-US" sz="1200" dirty="0">
                <a:solidFill>
                  <a:schemeClr val="tx1">
                    <a:lumMod val="65000"/>
                    <a:lumOff val="35000"/>
                  </a:schemeClr>
                </a:solidFill>
              </a:rPr>
              <a:t>という演算を考える</a:t>
            </a:r>
            <a:endParaRPr lang="en-US" altLang="ja-GB" sz="1200" dirty="0">
              <a:solidFill>
                <a:schemeClr val="tx1">
                  <a:lumMod val="65000"/>
                  <a:lumOff val="35000"/>
                </a:schemeClr>
              </a:solidFill>
            </a:endParaRPr>
          </a:p>
          <a:p>
            <a:pPr>
              <a:buAutoNum type="arabicPeriod"/>
            </a:pPr>
            <a:r>
              <a:rPr lang="ja-GB" altLang="en-US" sz="1200" dirty="0">
                <a:solidFill>
                  <a:schemeClr val="tx1">
                    <a:lumMod val="65000"/>
                    <a:lumOff val="35000"/>
                  </a:schemeClr>
                </a:solidFill>
              </a:rPr>
              <a:t>入力装置で数値と行いたい演算を入力する</a:t>
            </a:r>
            <a:endParaRPr lang="en-US" altLang="ja-GB" sz="1200" dirty="0">
              <a:solidFill>
                <a:schemeClr val="tx1">
                  <a:lumMod val="65000"/>
                  <a:lumOff val="35000"/>
                </a:schemeClr>
              </a:solidFill>
            </a:endParaRPr>
          </a:p>
          <a:p>
            <a:pPr>
              <a:buAutoNum type="arabicPeriod"/>
            </a:pPr>
            <a:r>
              <a:rPr lang="ja-GB" altLang="en-US" sz="1200" dirty="0">
                <a:solidFill>
                  <a:schemeClr val="tx1">
                    <a:lumMod val="65000"/>
                    <a:lumOff val="35000"/>
                  </a:schemeClr>
                </a:solidFill>
              </a:rPr>
              <a:t>記憶装置に入力情報が記憶される</a:t>
            </a:r>
            <a:endParaRPr lang="en-US" altLang="ja-GB" sz="1200" dirty="0">
              <a:solidFill>
                <a:schemeClr val="tx1">
                  <a:lumMod val="65000"/>
                  <a:lumOff val="35000"/>
                </a:schemeClr>
              </a:solidFill>
            </a:endParaRPr>
          </a:p>
          <a:p>
            <a:pPr>
              <a:buAutoNum type="arabicPeriod"/>
            </a:pPr>
            <a:r>
              <a:rPr lang="ja-GB" altLang="en-US" sz="1200" dirty="0">
                <a:solidFill>
                  <a:schemeClr val="tx1">
                    <a:lumMod val="65000"/>
                    <a:lumOff val="35000"/>
                  </a:schemeClr>
                </a:solidFill>
              </a:rPr>
              <a:t>記憶した情報に基づいて，演算装置で足し算されて，その結果が導出される</a:t>
            </a:r>
            <a:endParaRPr lang="en-US" altLang="ja-GB" sz="1200" dirty="0">
              <a:solidFill>
                <a:schemeClr val="tx1">
                  <a:lumMod val="65000"/>
                  <a:lumOff val="35000"/>
                </a:schemeClr>
              </a:solidFill>
            </a:endParaRPr>
          </a:p>
          <a:p>
            <a:pPr>
              <a:buAutoNum type="arabicPeriod"/>
            </a:pPr>
            <a:r>
              <a:rPr lang="ja-GB" altLang="en-US" sz="1200" dirty="0">
                <a:solidFill>
                  <a:schemeClr val="tx1">
                    <a:lumMod val="65000"/>
                    <a:lumOff val="35000"/>
                  </a:schemeClr>
                </a:solidFill>
              </a:rPr>
              <a:t>導出された結果は記憶装置に記憶される</a:t>
            </a:r>
            <a:endParaRPr lang="en-US" altLang="ja-GB" sz="1200" dirty="0">
              <a:solidFill>
                <a:schemeClr val="tx1">
                  <a:lumMod val="65000"/>
                  <a:lumOff val="35000"/>
                </a:schemeClr>
              </a:solidFill>
            </a:endParaRPr>
          </a:p>
          <a:p>
            <a:pPr>
              <a:buAutoNum type="arabicPeriod"/>
            </a:pPr>
            <a:r>
              <a:rPr lang="ja-GB" altLang="en-US" sz="1200" dirty="0">
                <a:solidFill>
                  <a:schemeClr val="tx1">
                    <a:lumMod val="65000"/>
                    <a:lumOff val="35000"/>
                  </a:schemeClr>
                </a:solidFill>
              </a:rPr>
              <a:t>最後に，その結果がディスプレイから出力される</a:t>
            </a:r>
            <a:endParaRPr lang="en-US" altLang="ja-GB" sz="1200" dirty="0">
              <a:solidFill>
                <a:schemeClr val="tx1">
                  <a:lumMod val="65000"/>
                  <a:lumOff val="35000"/>
                </a:schemeClr>
              </a:solidFill>
            </a:endParaRPr>
          </a:p>
          <a:p>
            <a:pPr marL="0" indent="0">
              <a:buNone/>
            </a:pPr>
            <a:r>
              <a:rPr lang="ja-GB" altLang="en-US" sz="1200" dirty="0">
                <a:solidFill>
                  <a:schemeClr val="tx1">
                    <a:lumMod val="65000"/>
                    <a:lumOff val="35000"/>
                  </a:schemeClr>
                </a:solidFill>
              </a:rPr>
              <a:t>制御装置はこれら一連の動作を自動で取り持ってくれる</a:t>
            </a:r>
            <a:endParaRPr lang="en-US" altLang="ja-GB" sz="1200" dirty="0">
              <a:solidFill>
                <a:schemeClr val="tx1">
                  <a:lumMod val="65000"/>
                  <a:lumOff val="35000"/>
                </a:schemeClr>
              </a:solidFill>
            </a:endParaRPr>
          </a:p>
          <a:p>
            <a:pPr marL="0" indent="0">
              <a:buNone/>
            </a:pPr>
            <a:endParaRPr lang="en-US" altLang="ja-JP" sz="1200" dirty="0">
              <a:solidFill>
                <a:schemeClr val="tx1">
                  <a:lumMod val="65000"/>
                  <a:lumOff val="35000"/>
                </a:schemeClr>
              </a:solidFill>
            </a:endParaRPr>
          </a:p>
          <a:p>
            <a:pPr marL="0" indent="0">
              <a:buNone/>
            </a:pPr>
            <a:r>
              <a:rPr lang="ja-GB" altLang="en-US" sz="1200" dirty="0">
                <a:solidFill>
                  <a:schemeClr val="tx1">
                    <a:lumMod val="65000"/>
                    <a:lumOff val="35000"/>
                  </a:schemeClr>
                </a:solidFill>
              </a:rPr>
              <a:t>このように，</a:t>
            </a:r>
            <a:r>
              <a:rPr lang="en-US" altLang="ja-GB" sz="1200" dirty="0">
                <a:solidFill>
                  <a:schemeClr val="tx1">
                    <a:lumMod val="65000"/>
                    <a:lumOff val="35000"/>
                  </a:schemeClr>
                </a:solidFill>
              </a:rPr>
              <a:t>5</a:t>
            </a:r>
            <a:r>
              <a:rPr lang="ja-GB" altLang="en-US" sz="1200" dirty="0">
                <a:solidFill>
                  <a:schemeClr val="tx1">
                    <a:lumMod val="65000"/>
                    <a:lumOff val="35000"/>
                  </a:schemeClr>
                </a:solidFill>
              </a:rPr>
              <a:t>つの装置があれば計算は人間が介在することなく自動で実行される．</a:t>
            </a:r>
            <a:endParaRPr lang="en-US" altLang="ja-GB" sz="1200" dirty="0">
              <a:solidFill>
                <a:schemeClr val="tx1">
                  <a:lumMod val="65000"/>
                  <a:lumOff val="35000"/>
                </a:schemeClr>
              </a:solidFill>
            </a:endParaRPr>
          </a:p>
          <a:p>
            <a:pPr marL="0" indent="0">
              <a:buNone/>
            </a:pPr>
            <a:r>
              <a:rPr lang="ja-GB" altLang="en-US" sz="1200" dirty="0">
                <a:solidFill>
                  <a:schemeClr val="tx1">
                    <a:lumMod val="65000"/>
                    <a:lumOff val="35000"/>
                  </a:schemeClr>
                </a:solidFill>
              </a:rPr>
              <a:t>これまでをまとめると，計算機とはこのようなもので，「自動で計算する機械」である．そして，これがあれば色々な仕事ができる</a:t>
            </a:r>
            <a:endParaRPr lang="ja-JP" altLang="en-US" sz="1200">
              <a:solidFill>
                <a:schemeClr val="tx1">
                  <a:lumMod val="65000"/>
                  <a:lumOff val="35000"/>
                </a:schemeClr>
              </a:solidFill>
            </a:endParaRPr>
          </a:p>
        </p:txBody>
      </p:sp>
    </p:spTree>
    <p:extLst>
      <p:ext uri="{BB962C8B-B14F-4D97-AF65-F5344CB8AC3E}">
        <p14:creationId xmlns:p14="http://schemas.microsoft.com/office/powerpoint/2010/main" val="277389927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0A5985-8072-A9F5-411D-488DAC3B35DE}"/>
              </a:ext>
            </a:extLst>
          </p:cNvPr>
          <p:cNvSpPr>
            <a:spLocks noGrp="1"/>
          </p:cNvSpPr>
          <p:nvPr>
            <p:ph type="title"/>
          </p:nvPr>
        </p:nvSpPr>
        <p:spPr/>
        <p:txBody>
          <a:bodyPr/>
          <a:lstStyle/>
          <a:p>
            <a:r>
              <a:rPr kumimoji="1" lang="ja-GB" altLang="en-US" dirty="0"/>
              <a:t>五大装置によるプログラム実行の流れ</a:t>
            </a:r>
          </a:p>
        </p:txBody>
      </p:sp>
      <p:sp>
        <p:nvSpPr>
          <p:cNvPr id="3" name="コンテンツ プレースホルダー 2">
            <a:extLst>
              <a:ext uri="{FF2B5EF4-FFF2-40B4-BE49-F238E27FC236}">
                <a16:creationId xmlns:a16="http://schemas.microsoft.com/office/drawing/2014/main" id="{978F76F2-3265-66D3-C39E-9BB93A6F95EE}"/>
              </a:ext>
            </a:extLst>
          </p:cNvPr>
          <p:cNvSpPr>
            <a:spLocks noGrp="1"/>
          </p:cNvSpPr>
          <p:nvPr>
            <p:ph idx="1"/>
          </p:nvPr>
        </p:nvSpPr>
        <p:spPr/>
        <p:txBody>
          <a:bodyPr/>
          <a:lstStyle/>
          <a:p>
            <a:endParaRPr lang="ja-GB" altLang="en-US"/>
          </a:p>
        </p:txBody>
      </p:sp>
      <p:cxnSp>
        <p:nvCxnSpPr>
          <p:cNvPr id="6" name="直線矢印コネクタ 5">
            <a:extLst>
              <a:ext uri="{FF2B5EF4-FFF2-40B4-BE49-F238E27FC236}">
                <a16:creationId xmlns:a16="http://schemas.microsoft.com/office/drawing/2014/main" id="{6ADF256E-7CD1-0280-69F4-52E176EF52FF}"/>
              </a:ext>
            </a:extLst>
          </p:cNvPr>
          <p:cNvCxnSpPr>
            <a:cxnSpLocks/>
            <a:stCxn id="17" idx="3"/>
            <a:endCxn id="28" idx="1"/>
          </p:cNvCxnSpPr>
          <p:nvPr/>
        </p:nvCxnSpPr>
        <p:spPr>
          <a:xfrm>
            <a:off x="5104478" y="5196912"/>
            <a:ext cx="131834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 name="曲線コネクタ 6">
            <a:extLst>
              <a:ext uri="{FF2B5EF4-FFF2-40B4-BE49-F238E27FC236}">
                <a16:creationId xmlns:a16="http://schemas.microsoft.com/office/drawing/2014/main" id="{3D2ED9D7-7927-394C-AD00-6AEA7316C87F}"/>
              </a:ext>
            </a:extLst>
          </p:cNvPr>
          <p:cNvCxnSpPr>
            <a:cxnSpLocks/>
            <a:stCxn id="8" idx="2"/>
            <a:endCxn id="28" idx="0"/>
          </p:cNvCxnSpPr>
          <p:nvPr/>
        </p:nvCxnSpPr>
        <p:spPr>
          <a:xfrm rot="16200000" flipH="1">
            <a:off x="3646768" y="1682192"/>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B953E0C3-9F89-3A28-8D6F-D8E7434F8862}"/>
              </a:ext>
            </a:extLst>
          </p:cNvPr>
          <p:cNvSpPr txBox="1"/>
          <p:nvPr/>
        </p:nvSpPr>
        <p:spPr>
          <a:xfrm>
            <a:off x="1570141"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制御装置</a:t>
            </a:r>
          </a:p>
        </p:txBody>
      </p:sp>
      <p:sp>
        <p:nvSpPr>
          <p:cNvPr id="10" name="テキスト ボックス 9">
            <a:extLst>
              <a:ext uri="{FF2B5EF4-FFF2-40B4-BE49-F238E27FC236}">
                <a16:creationId xmlns:a16="http://schemas.microsoft.com/office/drawing/2014/main" id="{94D98CAF-5DFE-CB1B-C872-0281A93548BC}"/>
              </a:ext>
            </a:extLst>
          </p:cNvPr>
          <p:cNvSpPr txBox="1"/>
          <p:nvPr/>
        </p:nvSpPr>
        <p:spPr>
          <a:xfrm>
            <a:off x="3996482"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cxnSp>
        <p:nvCxnSpPr>
          <p:cNvPr id="12" name="直線矢印コネクタ 11">
            <a:extLst>
              <a:ext uri="{FF2B5EF4-FFF2-40B4-BE49-F238E27FC236}">
                <a16:creationId xmlns:a16="http://schemas.microsoft.com/office/drawing/2014/main" id="{9933F117-6E46-F621-D91E-02D870D214C7}"/>
              </a:ext>
            </a:extLst>
          </p:cNvPr>
          <p:cNvCxnSpPr>
            <a:cxnSpLocks/>
            <a:stCxn id="29" idx="3"/>
            <a:endCxn id="17" idx="1"/>
          </p:cNvCxnSpPr>
          <p:nvPr/>
        </p:nvCxnSpPr>
        <p:spPr>
          <a:xfrm>
            <a:off x="2678136" y="5196912"/>
            <a:ext cx="131834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6C1EFCE3-5DDC-42A1-DC3A-43D7ACD4B5B5}"/>
              </a:ext>
            </a:extLst>
          </p:cNvPr>
          <p:cNvCxnSpPr>
            <a:cxnSpLocks/>
            <a:stCxn id="10" idx="2"/>
            <a:endCxn id="17" idx="0"/>
          </p:cNvCxnSpPr>
          <p:nvPr/>
        </p:nvCxnSpPr>
        <p:spPr>
          <a:xfrm>
            <a:off x="4550480" y="3204822"/>
            <a:ext cx="0" cy="1807424"/>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曲線コネクタ 13">
            <a:extLst>
              <a:ext uri="{FF2B5EF4-FFF2-40B4-BE49-F238E27FC236}">
                <a16:creationId xmlns:a16="http://schemas.microsoft.com/office/drawing/2014/main" id="{7B7AA29F-C489-857C-7B27-3AF18E19FF7D}"/>
              </a:ext>
            </a:extLst>
          </p:cNvPr>
          <p:cNvCxnSpPr>
            <a:cxnSpLocks/>
            <a:stCxn id="8" idx="2"/>
            <a:endCxn id="17" idx="1"/>
          </p:cNvCxnSpPr>
          <p:nvPr/>
        </p:nvCxnSpPr>
        <p:spPr>
          <a:xfrm rot="16200000" flipH="1">
            <a:off x="2064265" y="3264695"/>
            <a:ext cx="1992090" cy="187234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8692006D-48FC-F5CB-A503-71D28485BA4F}"/>
              </a:ext>
            </a:extLst>
          </p:cNvPr>
          <p:cNvCxnSpPr>
            <a:cxnSpLocks/>
            <a:stCxn id="8" idx="2"/>
            <a:endCxn id="29" idx="0"/>
          </p:cNvCxnSpPr>
          <p:nvPr/>
        </p:nvCxnSpPr>
        <p:spPr>
          <a:xfrm flipH="1">
            <a:off x="2124138" y="3204822"/>
            <a:ext cx="1" cy="1807424"/>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94848DB1-1F5B-1BBC-885E-093D3E14E28C}"/>
              </a:ext>
            </a:extLst>
          </p:cNvPr>
          <p:cNvCxnSpPr>
            <a:cxnSpLocks/>
            <a:stCxn id="8" idx="3"/>
            <a:endCxn id="10" idx="1"/>
          </p:cNvCxnSpPr>
          <p:nvPr/>
        </p:nvCxnSpPr>
        <p:spPr>
          <a:xfrm>
            <a:off x="2678137" y="3020156"/>
            <a:ext cx="1318345"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05F5A0A4-3AC8-A36E-9357-63C014E79872}"/>
              </a:ext>
            </a:extLst>
          </p:cNvPr>
          <p:cNvSpPr txBox="1"/>
          <p:nvPr/>
        </p:nvSpPr>
        <p:spPr>
          <a:xfrm>
            <a:off x="3996482"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記憶装置</a:t>
            </a:r>
          </a:p>
        </p:txBody>
      </p:sp>
      <p:sp>
        <p:nvSpPr>
          <p:cNvPr id="28" name="テキスト ボックス 27">
            <a:extLst>
              <a:ext uri="{FF2B5EF4-FFF2-40B4-BE49-F238E27FC236}">
                <a16:creationId xmlns:a16="http://schemas.microsoft.com/office/drawing/2014/main" id="{0B7CA3D0-14A8-21E9-919C-7F87B6BD0B40}"/>
              </a:ext>
            </a:extLst>
          </p:cNvPr>
          <p:cNvSpPr txBox="1"/>
          <p:nvPr/>
        </p:nvSpPr>
        <p:spPr>
          <a:xfrm>
            <a:off x="6422824"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出力装置</a:t>
            </a:r>
          </a:p>
        </p:txBody>
      </p:sp>
      <p:sp>
        <p:nvSpPr>
          <p:cNvPr id="29" name="テキスト ボックス 28">
            <a:extLst>
              <a:ext uri="{FF2B5EF4-FFF2-40B4-BE49-F238E27FC236}">
                <a16:creationId xmlns:a16="http://schemas.microsoft.com/office/drawing/2014/main" id="{983F9CA4-31D6-8E63-DEFC-ABD8B1106CD3}"/>
              </a:ext>
            </a:extLst>
          </p:cNvPr>
          <p:cNvSpPr txBox="1"/>
          <p:nvPr/>
        </p:nvSpPr>
        <p:spPr>
          <a:xfrm>
            <a:off x="1570140"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spTree>
    <p:extLst>
      <p:ext uri="{BB962C8B-B14F-4D97-AF65-F5344CB8AC3E}">
        <p14:creationId xmlns:p14="http://schemas.microsoft.com/office/powerpoint/2010/main" val="150246286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5221F-31FD-4178-C214-39D382536AB8}"/>
            </a:ext>
          </a:extLst>
        </p:cNvPr>
        <p:cNvGrpSpPr/>
        <p:nvPr/>
      </p:nvGrpSpPr>
      <p:grpSpPr>
        <a:xfrm>
          <a:off x="0" y="0"/>
          <a:ext cx="0" cy="0"/>
          <a:chOff x="0" y="0"/>
          <a:chExt cx="0" cy="0"/>
        </a:xfrm>
      </p:grpSpPr>
      <p:sp>
        <p:nvSpPr>
          <p:cNvPr id="20" name="角丸四角形 19">
            <a:extLst>
              <a:ext uri="{FF2B5EF4-FFF2-40B4-BE49-F238E27FC236}">
                <a16:creationId xmlns:a16="http://schemas.microsoft.com/office/drawing/2014/main" id="{9FA56E96-65D4-3FB5-8936-085A58ED6A63}"/>
              </a:ext>
            </a:extLst>
          </p:cNvPr>
          <p:cNvSpPr/>
          <p:nvPr/>
        </p:nvSpPr>
        <p:spPr>
          <a:xfrm>
            <a:off x="3219781" y="4177535"/>
            <a:ext cx="2676422" cy="138925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 name="タイトル 1">
            <a:extLst>
              <a:ext uri="{FF2B5EF4-FFF2-40B4-BE49-F238E27FC236}">
                <a16:creationId xmlns:a16="http://schemas.microsoft.com/office/drawing/2014/main" id="{C3FDBEEB-732F-2D55-6A18-A36485C23212}"/>
              </a:ext>
            </a:extLst>
          </p:cNvPr>
          <p:cNvSpPr>
            <a:spLocks noGrp="1"/>
          </p:cNvSpPr>
          <p:nvPr>
            <p:ph type="title"/>
          </p:nvPr>
        </p:nvSpPr>
        <p:spPr/>
        <p:txBody>
          <a:bodyPr/>
          <a:lstStyle/>
          <a:p>
            <a:r>
              <a:rPr kumimoji="1" lang="ja-GB" altLang="en-US" dirty="0"/>
              <a:t>プログラム実行の流れ</a:t>
            </a:r>
          </a:p>
        </p:txBody>
      </p:sp>
      <p:sp>
        <p:nvSpPr>
          <p:cNvPr id="4" name="コンテンツ プレースホルダー 3">
            <a:extLst>
              <a:ext uri="{FF2B5EF4-FFF2-40B4-BE49-F238E27FC236}">
                <a16:creationId xmlns:a16="http://schemas.microsoft.com/office/drawing/2014/main" id="{06FD876D-F0D5-7F55-ABAD-D9B7C6C1411E}"/>
              </a:ext>
            </a:extLst>
          </p:cNvPr>
          <p:cNvSpPr>
            <a:spLocks noGrp="1"/>
          </p:cNvSpPr>
          <p:nvPr>
            <p:ph idx="1"/>
          </p:nvPr>
        </p:nvSpPr>
        <p:spPr/>
        <p:txBody>
          <a:bodyPr/>
          <a:lstStyle/>
          <a:p>
            <a:endParaRPr lang="ja-GB" altLang="en-US"/>
          </a:p>
        </p:txBody>
      </p:sp>
      <p:sp>
        <p:nvSpPr>
          <p:cNvPr id="5" name="テキスト ボックス 4">
            <a:extLst>
              <a:ext uri="{FF2B5EF4-FFF2-40B4-BE49-F238E27FC236}">
                <a16:creationId xmlns:a16="http://schemas.microsoft.com/office/drawing/2014/main" id="{23F37259-9894-6051-4B0A-A22155F680FC}"/>
              </a:ext>
            </a:extLst>
          </p:cNvPr>
          <p:cNvSpPr txBox="1"/>
          <p:nvPr/>
        </p:nvSpPr>
        <p:spPr>
          <a:xfrm>
            <a:off x="6422824"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出力装置</a:t>
            </a:r>
          </a:p>
        </p:txBody>
      </p:sp>
      <p:sp>
        <p:nvSpPr>
          <p:cNvPr id="8" name="テキスト ボックス 7">
            <a:extLst>
              <a:ext uri="{FF2B5EF4-FFF2-40B4-BE49-F238E27FC236}">
                <a16:creationId xmlns:a16="http://schemas.microsoft.com/office/drawing/2014/main" id="{1686771A-B16C-4FAF-331F-7CD7179A770F}"/>
              </a:ext>
            </a:extLst>
          </p:cNvPr>
          <p:cNvSpPr txBox="1"/>
          <p:nvPr/>
        </p:nvSpPr>
        <p:spPr>
          <a:xfrm>
            <a:off x="1570141"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制御装置</a:t>
            </a:r>
          </a:p>
        </p:txBody>
      </p:sp>
      <p:sp>
        <p:nvSpPr>
          <p:cNvPr id="10" name="テキスト ボックス 9">
            <a:extLst>
              <a:ext uri="{FF2B5EF4-FFF2-40B4-BE49-F238E27FC236}">
                <a16:creationId xmlns:a16="http://schemas.microsoft.com/office/drawing/2014/main" id="{418A8B93-F214-8E83-C538-1BE36880C9C4}"/>
              </a:ext>
            </a:extLst>
          </p:cNvPr>
          <p:cNvSpPr txBox="1"/>
          <p:nvPr/>
        </p:nvSpPr>
        <p:spPr>
          <a:xfrm>
            <a:off x="3996482"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sp>
        <p:nvSpPr>
          <p:cNvPr id="11" name="テキスト ボックス 10">
            <a:extLst>
              <a:ext uri="{FF2B5EF4-FFF2-40B4-BE49-F238E27FC236}">
                <a16:creationId xmlns:a16="http://schemas.microsoft.com/office/drawing/2014/main" id="{9CEAE354-F768-42AF-D0BF-9F9177C38C2D}"/>
              </a:ext>
            </a:extLst>
          </p:cNvPr>
          <p:cNvSpPr txBox="1"/>
          <p:nvPr/>
        </p:nvSpPr>
        <p:spPr>
          <a:xfrm>
            <a:off x="1570140"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sp>
        <p:nvSpPr>
          <p:cNvPr id="19" name="テキスト ボックス 18">
            <a:extLst>
              <a:ext uri="{FF2B5EF4-FFF2-40B4-BE49-F238E27FC236}">
                <a16:creationId xmlns:a16="http://schemas.microsoft.com/office/drawing/2014/main" id="{370B2343-B867-B3A7-6691-F4DE12401538}"/>
              </a:ext>
            </a:extLst>
          </p:cNvPr>
          <p:cNvSpPr txBox="1"/>
          <p:nvPr/>
        </p:nvSpPr>
        <p:spPr>
          <a:xfrm>
            <a:off x="4112662" y="5547499"/>
            <a:ext cx="800219" cy="276999"/>
          </a:xfrm>
          <a:prstGeom prst="rect">
            <a:avLst/>
          </a:prstGeom>
          <a:noFill/>
        </p:spPr>
        <p:txBody>
          <a:bodyPr wrap="none" rtlCol="0">
            <a:spAutoFit/>
          </a:bodyPr>
          <a:lstStyle/>
          <a:p>
            <a:pPr algn="ctr"/>
            <a:r>
              <a:rPr kumimoji="1" lang="ja-GB" altLang="en-US" sz="1200" b="1" dirty="0">
                <a:solidFill>
                  <a:schemeClr val="tx1">
                    <a:lumMod val="50000"/>
                    <a:lumOff val="50000"/>
                  </a:schemeClr>
                </a:solidFill>
              </a:rPr>
              <a:t>記憶装置</a:t>
            </a:r>
          </a:p>
        </p:txBody>
      </p:sp>
      <p:cxnSp>
        <p:nvCxnSpPr>
          <p:cNvPr id="21" name="曲線コネクタ 20">
            <a:extLst>
              <a:ext uri="{FF2B5EF4-FFF2-40B4-BE49-F238E27FC236}">
                <a16:creationId xmlns:a16="http://schemas.microsoft.com/office/drawing/2014/main" id="{EF1FC434-1772-742A-B755-7A474DE888FB}"/>
              </a:ext>
            </a:extLst>
          </p:cNvPr>
          <p:cNvCxnSpPr>
            <a:cxnSpLocks/>
            <a:stCxn id="8" idx="2"/>
            <a:endCxn id="5" idx="0"/>
          </p:cNvCxnSpPr>
          <p:nvPr/>
        </p:nvCxnSpPr>
        <p:spPr>
          <a:xfrm rot="16200000" flipH="1">
            <a:off x="3646768" y="1682192"/>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4" name="曲線コネクタ 23">
            <a:extLst>
              <a:ext uri="{FF2B5EF4-FFF2-40B4-BE49-F238E27FC236}">
                <a16:creationId xmlns:a16="http://schemas.microsoft.com/office/drawing/2014/main" id="{B355725A-44DB-BA10-6AC0-E5DD2EBB2375}"/>
              </a:ext>
            </a:extLst>
          </p:cNvPr>
          <p:cNvCxnSpPr>
            <a:cxnSpLocks/>
            <a:stCxn id="8" idx="2"/>
            <a:endCxn id="44" idx="1"/>
          </p:cNvCxnSpPr>
          <p:nvPr/>
        </p:nvCxnSpPr>
        <p:spPr>
          <a:xfrm rot="16200000" flipH="1">
            <a:off x="2116605" y="3212355"/>
            <a:ext cx="1322421"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5FA7924C-B0D8-A05F-A080-D082049B610B}"/>
              </a:ext>
            </a:extLst>
          </p:cNvPr>
          <p:cNvCxnSpPr>
            <a:cxnSpLocks/>
            <a:endCxn id="11" idx="0"/>
          </p:cNvCxnSpPr>
          <p:nvPr/>
        </p:nvCxnSpPr>
        <p:spPr>
          <a:xfrm flipH="1">
            <a:off x="2124138" y="3204822"/>
            <a:ext cx="1" cy="1807424"/>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76719BA5-264F-37AF-0BFF-6D6937C8F781}"/>
              </a:ext>
            </a:extLst>
          </p:cNvPr>
          <p:cNvCxnSpPr>
            <a:cxnSpLocks/>
          </p:cNvCxnSpPr>
          <p:nvPr/>
        </p:nvCxnSpPr>
        <p:spPr>
          <a:xfrm>
            <a:off x="2678137" y="3020156"/>
            <a:ext cx="1318345"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C8C8A6C8-75B1-D3BA-F743-0AB43905B4A6}"/>
              </a:ext>
            </a:extLst>
          </p:cNvPr>
          <p:cNvSpPr txBox="1"/>
          <p:nvPr/>
        </p:nvSpPr>
        <p:spPr>
          <a:xfrm>
            <a:off x="3431492" y="5012246"/>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プログラム</a:t>
            </a:r>
            <a:r>
              <a:rPr lang="ja-GB" dirty="0"/>
              <a:t>記憶装置</a:t>
            </a:r>
          </a:p>
        </p:txBody>
      </p:sp>
      <p:sp>
        <p:nvSpPr>
          <p:cNvPr id="44" name="テキスト ボックス 43">
            <a:extLst>
              <a:ext uri="{FF2B5EF4-FFF2-40B4-BE49-F238E27FC236}">
                <a16:creationId xmlns:a16="http://schemas.microsoft.com/office/drawing/2014/main" id="{BB1C8A14-0149-162A-6743-8F070459C8A5}"/>
              </a:ext>
            </a:extLst>
          </p:cNvPr>
          <p:cNvSpPr txBox="1"/>
          <p:nvPr/>
        </p:nvSpPr>
        <p:spPr>
          <a:xfrm>
            <a:off x="3431492" y="4342577"/>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　データ</a:t>
            </a:r>
            <a:r>
              <a:rPr lang="ja-GB" dirty="0"/>
              <a:t>記憶装置</a:t>
            </a:r>
            <a:r>
              <a:rPr lang="ja-GB" altLang="en-US" dirty="0"/>
              <a:t>　</a:t>
            </a:r>
            <a:endParaRPr lang="ja-GB" dirty="0"/>
          </a:p>
        </p:txBody>
      </p:sp>
      <p:cxnSp>
        <p:nvCxnSpPr>
          <p:cNvPr id="54" name="曲線コネクタ 53">
            <a:extLst>
              <a:ext uri="{FF2B5EF4-FFF2-40B4-BE49-F238E27FC236}">
                <a16:creationId xmlns:a16="http://schemas.microsoft.com/office/drawing/2014/main" id="{2189681C-D2DF-7FF8-41F0-AF8283531E43}"/>
              </a:ext>
            </a:extLst>
          </p:cNvPr>
          <p:cNvCxnSpPr>
            <a:cxnSpLocks/>
            <a:stCxn id="8" idx="2"/>
            <a:endCxn id="43" idx="1"/>
          </p:cNvCxnSpPr>
          <p:nvPr/>
        </p:nvCxnSpPr>
        <p:spPr>
          <a:xfrm rot="16200000" flipH="1">
            <a:off x="1781770" y="3547190"/>
            <a:ext cx="1992090"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3" name="テキスト ボックス 2">
            <a:extLst>
              <a:ext uri="{FF2B5EF4-FFF2-40B4-BE49-F238E27FC236}">
                <a16:creationId xmlns:a16="http://schemas.microsoft.com/office/drawing/2014/main" id="{5D6A7D2A-42D7-3D76-571B-AE9E8AB3B794}"/>
              </a:ext>
            </a:extLst>
          </p:cNvPr>
          <p:cNvSpPr txBox="1"/>
          <p:nvPr/>
        </p:nvSpPr>
        <p:spPr>
          <a:xfrm>
            <a:off x="3470697" y="6388769"/>
            <a:ext cx="2159566" cy="307777"/>
          </a:xfrm>
          <a:prstGeom prst="rect">
            <a:avLst/>
          </a:prstGeom>
          <a:noFill/>
        </p:spPr>
        <p:txBody>
          <a:bodyPr wrap="none" rtlCol="0">
            <a:spAutoFit/>
          </a:bodyPr>
          <a:lstStyle/>
          <a:p>
            <a:pPr algn="ctr"/>
            <a:r>
              <a:rPr kumimoji="1" lang="ja-GB" altLang="en-US" sz="1400" b="1" dirty="0">
                <a:solidFill>
                  <a:schemeClr val="tx1">
                    <a:lumMod val="50000"/>
                    <a:lumOff val="50000"/>
                  </a:schemeClr>
                </a:solidFill>
              </a:rPr>
              <a:t>参考：計算システム入門</a:t>
            </a:r>
          </a:p>
        </p:txBody>
      </p:sp>
    </p:spTree>
    <p:extLst>
      <p:ext uri="{BB962C8B-B14F-4D97-AF65-F5344CB8AC3E}">
        <p14:creationId xmlns:p14="http://schemas.microsoft.com/office/powerpoint/2010/main" val="131406046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268972-B329-42F4-0D8A-F67860505DCE}"/>
              </a:ext>
            </a:extLst>
          </p:cNvPr>
          <p:cNvSpPr>
            <a:spLocks noGrp="1"/>
          </p:cNvSpPr>
          <p:nvPr>
            <p:ph type="title"/>
          </p:nvPr>
        </p:nvSpPr>
        <p:spPr/>
        <p:txBody>
          <a:bodyPr/>
          <a:lstStyle/>
          <a:p>
            <a:r>
              <a:rPr kumimoji="1" lang="ja-GB" altLang="en-US" dirty="0"/>
              <a:t>プログラム実行の流れ（例</a:t>
            </a:r>
            <a:r>
              <a:rPr kumimoji="1" lang="en-US" altLang="ja-GB" dirty="0"/>
              <a:t> A+B</a:t>
            </a:r>
            <a:r>
              <a:rPr kumimoji="1" lang="ja-GB" altLang="en-US" dirty="0"/>
              <a:t>）</a:t>
            </a:r>
          </a:p>
        </p:txBody>
      </p:sp>
      <p:sp>
        <p:nvSpPr>
          <p:cNvPr id="3" name="コンテンツ プレースホルダー 2">
            <a:extLst>
              <a:ext uri="{FF2B5EF4-FFF2-40B4-BE49-F238E27FC236}">
                <a16:creationId xmlns:a16="http://schemas.microsoft.com/office/drawing/2014/main" id="{9EC8C6B2-9514-3995-86CA-C79C79A4B82B}"/>
              </a:ext>
            </a:extLst>
          </p:cNvPr>
          <p:cNvSpPr>
            <a:spLocks noGrp="1"/>
          </p:cNvSpPr>
          <p:nvPr>
            <p:ph idx="1"/>
          </p:nvPr>
        </p:nvSpPr>
        <p:spPr/>
        <p:txBody>
          <a:bodyPr>
            <a:normAutofit/>
          </a:bodyPr>
          <a:lstStyle/>
          <a:p>
            <a:pPr marL="0" indent="0">
              <a:buNone/>
            </a:pPr>
            <a:r>
              <a:rPr kumimoji="1" lang="en-US" altLang="ja-GB" sz="2000" dirty="0"/>
              <a:t>①</a:t>
            </a:r>
            <a:r>
              <a:rPr kumimoji="1" lang="ja-GB" altLang="en-US" sz="2000" dirty="0"/>
              <a:t>事前準備：プログラム転送命令</a:t>
            </a:r>
            <a:endParaRPr kumimoji="1" lang="en-US" altLang="ja-GB" sz="2000" dirty="0"/>
          </a:p>
          <a:p>
            <a:pPr marL="0" indent="0">
              <a:buNone/>
            </a:pPr>
            <a:r>
              <a:rPr lang="en-US" altLang="ja-GB" sz="2000" dirty="0">
                <a:solidFill>
                  <a:schemeClr val="bg1">
                    <a:lumMod val="75000"/>
                  </a:schemeClr>
                </a:solidFill>
              </a:rPr>
              <a:t>②</a:t>
            </a:r>
            <a:r>
              <a:rPr lang="ja-GB" altLang="en-US" sz="2000" dirty="0">
                <a:solidFill>
                  <a:schemeClr val="bg1">
                    <a:lumMod val="75000"/>
                  </a:schemeClr>
                </a:solidFill>
              </a:rPr>
              <a:t>入力受付：入力命令，データ転送命令</a:t>
            </a:r>
            <a:endParaRPr lang="en-US" altLang="ja-GB" sz="2000" dirty="0">
              <a:solidFill>
                <a:schemeClr val="bg1">
                  <a:lumMod val="75000"/>
                </a:schemeClr>
              </a:solidFill>
            </a:endParaRPr>
          </a:p>
          <a:p>
            <a:pPr marL="0" indent="0">
              <a:buNone/>
            </a:pPr>
            <a:r>
              <a:rPr kumimoji="1" lang="en-US" altLang="ja-GB" sz="2000" dirty="0">
                <a:solidFill>
                  <a:schemeClr val="bg1">
                    <a:lumMod val="75000"/>
                  </a:schemeClr>
                </a:solidFill>
              </a:rPr>
              <a:t>③</a:t>
            </a:r>
            <a:r>
              <a:rPr kumimoji="1" lang="ja-GB" altLang="en-US" sz="2000" dirty="0">
                <a:solidFill>
                  <a:schemeClr val="bg1">
                    <a:lumMod val="75000"/>
                  </a:schemeClr>
                </a:solidFill>
              </a:rPr>
              <a:t>演算実行：演算命令，データ転送命令</a:t>
            </a:r>
            <a:endParaRPr kumimoji="1" lang="en-US" altLang="ja-GB" sz="2000" dirty="0">
              <a:solidFill>
                <a:schemeClr val="bg1">
                  <a:lumMod val="75000"/>
                </a:schemeClr>
              </a:solidFill>
            </a:endParaRPr>
          </a:p>
          <a:p>
            <a:pPr marL="0" indent="0">
              <a:buNone/>
            </a:pPr>
            <a:r>
              <a:rPr lang="en-US" altLang="ja-GB" sz="2000" dirty="0">
                <a:solidFill>
                  <a:schemeClr val="bg1">
                    <a:lumMod val="75000"/>
                  </a:schemeClr>
                </a:solidFill>
              </a:rPr>
              <a:t>④</a:t>
            </a:r>
            <a:r>
              <a:rPr lang="ja-GB" altLang="en-US" sz="2000" dirty="0">
                <a:solidFill>
                  <a:schemeClr val="bg1">
                    <a:lumMod val="75000"/>
                  </a:schemeClr>
                </a:solidFill>
              </a:rPr>
              <a:t>結果出力：データ転送命令，出力命令</a:t>
            </a:r>
            <a:endParaRPr kumimoji="1" lang="ja-GB" altLang="en-US" sz="2000" dirty="0">
              <a:solidFill>
                <a:schemeClr val="bg1">
                  <a:lumMod val="75000"/>
                </a:schemeClr>
              </a:solidFill>
            </a:endParaRPr>
          </a:p>
        </p:txBody>
      </p:sp>
      <p:sp>
        <p:nvSpPr>
          <p:cNvPr id="4" name="角丸四角形 3">
            <a:extLst>
              <a:ext uri="{FF2B5EF4-FFF2-40B4-BE49-F238E27FC236}">
                <a16:creationId xmlns:a16="http://schemas.microsoft.com/office/drawing/2014/main" id="{5909E143-E3D1-F8A7-E1A5-F8B572D089CD}"/>
              </a:ext>
            </a:extLst>
          </p:cNvPr>
          <p:cNvSpPr/>
          <p:nvPr/>
        </p:nvSpPr>
        <p:spPr>
          <a:xfrm>
            <a:off x="3219781" y="4177535"/>
            <a:ext cx="2676422" cy="138925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 name="テキスト ボックス 4">
            <a:extLst>
              <a:ext uri="{FF2B5EF4-FFF2-40B4-BE49-F238E27FC236}">
                <a16:creationId xmlns:a16="http://schemas.microsoft.com/office/drawing/2014/main" id="{15F822FA-C9EE-45EA-A504-5E0BF094D66F}"/>
              </a:ext>
            </a:extLst>
          </p:cNvPr>
          <p:cNvSpPr txBox="1"/>
          <p:nvPr/>
        </p:nvSpPr>
        <p:spPr>
          <a:xfrm>
            <a:off x="6422824"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出力装置</a:t>
            </a:r>
          </a:p>
        </p:txBody>
      </p:sp>
      <p:sp>
        <p:nvSpPr>
          <p:cNvPr id="6" name="テキスト ボックス 5">
            <a:extLst>
              <a:ext uri="{FF2B5EF4-FFF2-40B4-BE49-F238E27FC236}">
                <a16:creationId xmlns:a16="http://schemas.microsoft.com/office/drawing/2014/main" id="{B181BE98-19D6-388D-B501-751E776CD5F5}"/>
              </a:ext>
            </a:extLst>
          </p:cNvPr>
          <p:cNvSpPr txBox="1"/>
          <p:nvPr/>
        </p:nvSpPr>
        <p:spPr>
          <a:xfrm>
            <a:off x="1570141" y="2835490"/>
            <a:ext cx="1107996"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dirty="0"/>
              <a:t>制御装置</a:t>
            </a:r>
          </a:p>
        </p:txBody>
      </p:sp>
      <p:sp>
        <p:nvSpPr>
          <p:cNvPr id="7" name="テキスト ボックス 6">
            <a:extLst>
              <a:ext uri="{FF2B5EF4-FFF2-40B4-BE49-F238E27FC236}">
                <a16:creationId xmlns:a16="http://schemas.microsoft.com/office/drawing/2014/main" id="{E0FE21A6-025C-5A6F-01B4-A2CC4F01E520}"/>
              </a:ext>
            </a:extLst>
          </p:cNvPr>
          <p:cNvSpPr txBox="1"/>
          <p:nvPr/>
        </p:nvSpPr>
        <p:spPr>
          <a:xfrm>
            <a:off x="3996482"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sp>
        <p:nvSpPr>
          <p:cNvPr id="8" name="テキスト ボックス 7">
            <a:extLst>
              <a:ext uri="{FF2B5EF4-FFF2-40B4-BE49-F238E27FC236}">
                <a16:creationId xmlns:a16="http://schemas.microsoft.com/office/drawing/2014/main" id="{9408014D-5922-71C2-288E-6730C7D04F27}"/>
              </a:ext>
            </a:extLst>
          </p:cNvPr>
          <p:cNvSpPr txBox="1"/>
          <p:nvPr/>
        </p:nvSpPr>
        <p:spPr>
          <a:xfrm>
            <a:off x="1570140"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sp>
        <p:nvSpPr>
          <p:cNvPr id="9" name="テキスト ボックス 8">
            <a:extLst>
              <a:ext uri="{FF2B5EF4-FFF2-40B4-BE49-F238E27FC236}">
                <a16:creationId xmlns:a16="http://schemas.microsoft.com/office/drawing/2014/main" id="{C88ECE92-6137-16DC-07D3-A5018B451652}"/>
              </a:ext>
            </a:extLst>
          </p:cNvPr>
          <p:cNvSpPr txBox="1"/>
          <p:nvPr/>
        </p:nvSpPr>
        <p:spPr>
          <a:xfrm>
            <a:off x="4112662" y="5547499"/>
            <a:ext cx="800219" cy="276999"/>
          </a:xfrm>
          <a:prstGeom prst="rect">
            <a:avLst/>
          </a:prstGeom>
          <a:noFill/>
        </p:spPr>
        <p:txBody>
          <a:bodyPr wrap="none" rtlCol="0">
            <a:spAutoFit/>
          </a:bodyPr>
          <a:lstStyle/>
          <a:p>
            <a:pPr algn="ctr"/>
            <a:r>
              <a:rPr kumimoji="1" lang="ja-GB" altLang="en-US" sz="1200" b="1" dirty="0">
                <a:solidFill>
                  <a:schemeClr val="tx1">
                    <a:lumMod val="50000"/>
                    <a:lumOff val="50000"/>
                  </a:schemeClr>
                </a:solidFill>
              </a:rPr>
              <a:t>記憶装置</a:t>
            </a:r>
          </a:p>
        </p:txBody>
      </p:sp>
      <p:cxnSp>
        <p:nvCxnSpPr>
          <p:cNvPr id="10" name="曲線コネクタ 9">
            <a:extLst>
              <a:ext uri="{FF2B5EF4-FFF2-40B4-BE49-F238E27FC236}">
                <a16:creationId xmlns:a16="http://schemas.microsoft.com/office/drawing/2014/main" id="{F274DE30-FF5C-F27F-1B35-73F5F98DEA37}"/>
              </a:ext>
            </a:extLst>
          </p:cNvPr>
          <p:cNvCxnSpPr>
            <a:cxnSpLocks/>
            <a:stCxn id="6" idx="2"/>
            <a:endCxn id="5" idx="0"/>
          </p:cNvCxnSpPr>
          <p:nvPr/>
        </p:nvCxnSpPr>
        <p:spPr>
          <a:xfrm rot="16200000" flipH="1">
            <a:off x="3646768" y="1682192"/>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1" name="曲線コネクタ 10">
            <a:extLst>
              <a:ext uri="{FF2B5EF4-FFF2-40B4-BE49-F238E27FC236}">
                <a16:creationId xmlns:a16="http://schemas.microsoft.com/office/drawing/2014/main" id="{AFD6E2CB-8AF9-B4D0-495E-40D39D26B1E5}"/>
              </a:ext>
            </a:extLst>
          </p:cNvPr>
          <p:cNvCxnSpPr>
            <a:cxnSpLocks/>
            <a:stCxn id="6" idx="2"/>
            <a:endCxn id="15" idx="1"/>
          </p:cNvCxnSpPr>
          <p:nvPr/>
        </p:nvCxnSpPr>
        <p:spPr>
          <a:xfrm rot="16200000" flipH="1">
            <a:off x="2116605" y="3212355"/>
            <a:ext cx="1322421"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156F188B-57ED-A9F9-3E8F-728BB02C26C5}"/>
              </a:ext>
            </a:extLst>
          </p:cNvPr>
          <p:cNvCxnSpPr>
            <a:cxnSpLocks/>
            <a:endCxn id="8" idx="0"/>
          </p:cNvCxnSpPr>
          <p:nvPr/>
        </p:nvCxnSpPr>
        <p:spPr>
          <a:xfrm flipH="1">
            <a:off x="2124138" y="3204822"/>
            <a:ext cx="1" cy="1807424"/>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68A883F6-C376-F04F-13EE-DF761092F8F8}"/>
              </a:ext>
            </a:extLst>
          </p:cNvPr>
          <p:cNvCxnSpPr>
            <a:cxnSpLocks/>
          </p:cNvCxnSpPr>
          <p:nvPr/>
        </p:nvCxnSpPr>
        <p:spPr>
          <a:xfrm>
            <a:off x="2678137" y="3020156"/>
            <a:ext cx="1318345"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505F103A-0221-F926-67A7-66094B909BD2}"/>
              </a:ext>
            </a:extLst>
          </p:cNvPr>
          <p:cNvSpPr txBox="1"/>
          <p:nvPr/>
        </p:nvSpPr>
        <p:spPr>
          <a:xfrm>
            <a:off x="3431492" y="5012246"/>
            <a:ext cx="2262158"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altLang="en-US" dirty="0"/>
              <a:t>プログラム</a:t>
            </a:r>
            <a:r>
              <a:rPr lang="ja-GB" dirty="0"/>
              <a:t>記憶装置</a:t>
            </a:r>
          </a:p>
        </p:txBody>
      </p:sp>
      <p:sp>
        <p:nvSpPr>
          <p:cNvPr id="15" name="テキスト ボックス 14">
            <a:extLst>
              <a:ext uri="{FF2B5EF4-FFF2-40B4-BE49-F238E27FC236}">
                <a16:creationId xmlns:a16="http://schemas.microsoft.com/office/drawing/2014/main" id="{78DC847B-789C-6688-5393-44049AF55EDB}"/>
              </a:ext>
            </a:extLst>
          </p:cNvPr>
          <p:cNvSpPr txBox="1"/>
          <p:nvPr/>
        </p:nvSpPr>
        <p:spPr>
          <a:xfrm>
            <a:off x="3431492" y="4342577"/>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　データ</a:t>
            </a:r>
            <a:r>
              <a:rPr lang="ja-GB" dirty="0"/>
              <a:t>記憶装置</a:t>
            </a:r>
            <a:r>
              <a:rPr lang="ja-GB" altLang="en-US" dirty="0"/>
              <a:t>　</a:t>
            </a:r>
            <a:endParaRPr lang="ja-GB" dirty="0"/>
          </a:p>
        </p:txBody>
      </p:sp>
      <p:cxnSp>
        <p:nvCxnSpPr>
          <p:cNvPr id="16" name="曲線コネクタ 15">
            <a:extLst>
              <a:ext uri="{FF2B5EF4-FFF2-40B4-BE49-F238E27FC236}">
                <a16:creationId xmlns:a16="http://schemas.microsoft.com/office/drawing/2014/main" id="{2B7785DD-F3E9-F1D2-7184-8A77BDF94136}"/>
              </a:ext>
            </a:extLst>
          </p:cNvPr>
          <p:cNvCxnSpPr>
            <a:cxnSpLocks/>
            <a:stCxn id="6" idx="2"/>
            <a:endCxn id="14" idx="1"/>
          </p:cNvCxnSpPr>
          <p:nvPr/>
        </p:nvCxnSpPr>
        <p:spPr>
          <a:xfrm rot="16200000" flipH="1">
            <a:off x="1781770" y="3547190"/>
            <a:ext cx="1992090" cy="1307353"/>
          </a:xfrm>
          <a:prstGeom prst="curvedConnector2">
            <a:avLst/>
          </a:prstGeom>
          <a:ln w="50800" cap="flat">
            <a:solidFill>
              <a:schemeClr val="accent2"/>
            </a:solidFill>
            <a:prstDash val="sysDot"/>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BDEEC999-72DB-F9AD-78DC-8BDD912C5D2A}"/>
              </a:ext>
            </a:extLst>
          </p:cNvPr>
          <p:cNvCxnSpPr>
            <a:cxnSpLocks/>
            <a:stCxn id="14" idx="1"/>
            <a:endCxn id="6" idx="2"/>
          </p:cNvCxnSpPr>
          <p:nvPr/>
        </p:nvCxnSpPr>
        <p:spPr>
          <a:xfrm flipH="1" flipV="1">
            <a:off x="2124139" y="3204822"/>
            <a:ext cx="1307353" cy="1992090"/>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B009CEEE-CBEB-8B26-382D-14A2D9EA8A11}"/>
              </a:ext>
            </a:extLst>
          </p:cNvPr>
          <p:cNvSpPr txBox="1"/>
          <p:nvPr/>
        </p:nvSpPr>
        <p:spPr>
          <a:xfrm>
            <a:off x="619446" y="4149930"/>
            <a:ext cx="1800493" cy="307777"/>
          </a:xfrm>
          <a:prstGeom prst="rect">
            <a:avLst/>
          </a:prstGeom>
          <a:noFill/>
        </p:spPr>
        <p:txBody>
          <a:bodyPr wrap="none" rtlCol="0">
            <a:spAutoFit/>
          </a:bodyPr>
          <a:lstStyle/>
          <a:p>
            <a:r>
              <a:rPr kumimoji="1" lang="ja-GB" altLang="en-US" sz="1400" b="1" dirty="0">
                <a:solidFill>
                  <a:schemeClr val="accent2"/>
                </a:solidFill>
              </a:rPr>
              <a:t>プログラム転送命令</a:t>
            </a:r>
          </a:p>
        </p:txBody>
      </p:sp>
      <p:sp>
        <p:nvSpPr>
          <p:cNvPr id="21" name="テキスト ボックス 20">
            <a:extLst>
              <a:ext uri="{FF2B5EF4-FFF2-40B4-BE49-F238E27FC236}">
                <a16:creationId xmlns:a16="http://schemas.microsoft.com/office/drawing/2014/main" id="{393E85EB-D191-82A9-24C8-BE1639F73877}"/>
              </a:ext>
            </a:extLst>
          </p:cNvPr>
          <p:cNvSpPr txBox="1"/>
          <p:nvPr/>
        </p:nvSpPr>
        <p:spPr>
          <a:xfrm>
            <a:off x="2349145" y="3389486"/>
            <a:ext cx="1561646" cy="307777"/>
          </a:xfrm>
          <a:prstGeom prst="rect">
            <a:avLst/>
          </a:prstGeom>
          <a:noFill/>
        </p:spPr>
        <p:txBody>
          <a:bodyPr wrap="none" rtlCol="0">
            <a:spAutoFit/>
          </a:bodyPr>
          <a:lstStyle/>
          <a:p>
            <a:r>
              <a:rPr kumimoji="1" lang="ja-GB" altLang="en-US" sz="1400" b="1" dirty="0">
                <a:solidFill>
                  <a:srgbClr val="0070C0"/>
                </a:solidFill>
              </a:rPr>
              <a:t>プログラム：</a:t>
            </a:r>
            <a:r>
              <a:rPr kumimoji="1" lang="en-US" altLang="ja-GB" sz="1400" b="1" dirty="0">
                <a:solidFill>
                  <a:srgbClr val="0070C0"/>
                </a:solidFill>
              </a:rPr>
              <a:t>A+B</a:t>
            </a:r>
            <a:endParaRPr kumimoji="1" lang="ja-GB" altLang="en-US" sz="1400" b="1" dirty="0">
              <a:solidFill>
                <a:srgbClr val="0070C0"/>
              </a:solidFill>
            </a:endParaRPr>
          </a:p>
        </p:txBody>
      </p:sp>
      <p:sp>
        <p:nvSpPr>
          <p:cNvPr id="18" name="テキスト ボックス 17">
            <a:extLst>
              <a:ext uri="{FF2B5EF4-FFF2-40B4-BE49-F238E27FC236}">
                <a16:creationId xmlns:a16="http://schemas.microsoft.com/office/drawing/2014/main" id="{0C6E93C7-0102-BDE2-59DD-784327C577EC}"/>
              </a:ext>
            </a:extLst>
          </p:cNvPr>
          <p:cNvSpPr txBox="1"/>
          <p:nvPr/>
        </p:nvSpPr>
        <p:spPr>
          <a:xfrm>
            <a:off x="940149" y="2835490"/>
            <a:ext cx="558166" cy="369332"/>
          </a:xfrm>
          <a:prstGeom prst="rect">
            <a:avLst/>
          </a:prstGeom>
          <a:noFill/>
        </p:spPr>
        <p:txBody>
          <a:bodyPr wrap="none" rtlCol="0">
            <a:spAutoFit/>
          </a:bodyPr>
          <a:lstStyle/>
          <a:p>
            <a:r>
              <a:rPr kumimoji="1" lang="en-US" altLang="ja-GB" dirty="0">
                <a:solidFill>
                  <a:srgbClr val="0070C0"/>
                </a:solidFill>
              </a:rPr>
              <a:t>A+B</a:t>
            </a:r>
            <a:endParaRPr kumimoji="1" lang="ja-GB" altLang="en-US" dirty="0">
              <a:solidFill>
                <a:srgbClr val="0070C0"/>
              </a:solidFill>
            </a:endParaRPr>
          </a:p>
        </p:txBody>
      </p:sp>
    </p:spTree>
    <p:extLst>
      <p:ext uri="{BB962C8B-B14F-4D97-AF65-F5344CB8AC3E}">
        <p14:creationId xmlns:p14="http://schemas.microsoft.com/office/powerpoint/2010/main" val="161543656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28572-AA3E-BE1E-92DE-75086C9BF5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16C9A42-1EB1-CED5-A0A7-49438F971D00}"/>
              </a:ext>
            </a:extLst>
          </p:cNvPr>
          <p:cNvSpPr>
            <a:spLocks noGrp="1"/>
          </p:cNvSpPr>
          <p:nvPr>
            <p:ph type="title"/>
          </p:nvPr>
        </p:nvSpPr>
        <p:spPr/>
        <p:txBody>
          <a:bodyPr/>
          <a:lstStyle/>
          <a:p>
            <a:r>
              <a:rPr kumimoji="1" lang="ja-GB" altLang="en-US" dirty="0"/>
              <a:t>プログラム実行の流れ（例</a:t>
            </a:r>
            <a:r>
              <a:rPr kumimoji="1" lang="en-US" altLang="ja-GB" dirty="0"/>
              <a:t> A+B</a:t>
            </a:r>
            <a:r>
              <a:rPr kumimoji="1" lang="ja-GB" altLang="en-US" dirty="0"/>
              <a:t>）</a:t>
            </a:r>
          </a:p>
        </p:txBody>
      </p:sp>
      <p:sp>
        <p:nvSpPr>
          <p:cNvPr id="3" name="コンテンツ プレースホルダー 2">
            <a:extLst>
              <a:ext uri="{FF2B5EF4-FFF2-40B4-BE49-F238E27FC236}">
                <a16:creationId xmlns:a16="http://schemas.microsoft.com/office/drawing/2014/main" id="{9BDD5F44-6FC7-2F29-4FCF-0F3F64581B34}"/>
              </a:ext>
            </a:extLst>
          </p:cNvPr>
          <p:cNvSpPr>
            <a:spLocks noGrp="1"/>
          </p:cNvSpPr>
          <p:nvPr>
            <p:ph idx="1"/>
          </p:nvPr>
        </p:nvSpPr>
        <p:spPr/>
        <p:txBody>
          <a:bodyPr>
            <a:normAutofit/>
          </a:bodyPr>
          <a:lstStyle/>
          <a:p>
            <a:pPr marL="0" indent="0">
              <a:buNone/>
            </a:pPr>
            <a:r>
              <a:rPr kumimoji="1" lang="en-US" altLang="ja-GB" sz="2000" dirty="0">
                <a:solidFill>
                  <a:schemeClr val="bg1">
                    <a:lumMod val="75000"/>
                  </a:schemeClr>
                </a:solidFill>
              </a:rPr>
              <a:t>①</a:t>
            </a:r>
            <a:r>
              <a:rPr kumimoji="1" lang="ja-GB" altLang="en-US" sz="2000" dirty="0">
                <a:solidFill>
                  <a:schemeClr val="bg1">
                    <a:lumMod val="75000"/>
                  </a:schemeClr>
                </a:solidFill>
              </a:rPr>
              <a:t>事前準備：プログラム転送命令</a:t>
            </a:r>
            <a:endParaRPr kumimoji="1" lang="en-US" altLang="ja-GB" sz="2000" dirty="0">
              <a:solidFill>
                <a:schemeClr val="bg1">
                  <a:lumMod val="75000"/>
                </a:schemeClr>
              </a:solidFill>
            </a:endParaRPr>
          </a:p>
          <a:p>
            <a:pPr marL="0" indent="0">
              <a:buNone/>
            </a:pPr>
            <a:r>
              <a:rPr lang="en-US" altLang="ja-GB" sz="2000" dirty="0"/>
              <a:t>②</a:t>
            </a:r>
            <a:r>
              <a:rPr lang="ja-GB" altLang="en-US" sz="2000" dirty="0"/>
              <a:t>入力受付：入力命令，データ転送命令</a:t>
            </a:r>
            <a:endParaRPr lang="en-US" altLang="ja-GB" sz="2000" dirty="0"/>
          </a:p>
          <a:p>
            <a:pPr marL="0" indent="0">
              <a:buNone/>
            </a:pPr>
            <a:r>
              <a:rPr kumimoji="1" lang="en-US" altLang="ja-GB" sz="2000" dirty="0">
                <a:solidFill>
                  <a:schemeClr val="bg1">
                    <a:lumMod val="75000"/>
                  </a:schemeClr>
                </a:solidFill>
              </a:rPr>
              <a:t>③</a:t>
            </a:r>
            <a:r>
              <a:rPr kumimoji="1" lang="ja-GB" altLang="en-US" sz="2000" dirty="0">
                <a:solidFill>
                  <a:schemeClr val="bg1">
                    <a:lumMod val="75000"/>
                  </a:schemeClr>
                </a:solidFill>
              </a:rPr>
              <a:t>演算実行：演算命令，データ転送命令</a:t>
            </a:r>
            <a:endParaRPr kumimoji="1" lang="en-US" altLang="ja-GB" sz="2000" dirty="0">
              <a:solidFill>
                <a:schemeClr val="bg1">
                  <a:lumMod val="75000"/>
                </a:schemeClr>
              </a:solidFill>
            </a:endParaRPr>
          </a:p>
          <a:p>
            <a:pPr marL="0" indent="0">
              <a:buNone/>
            </a:pPr>
            <a:r>
              <a:rPr lang="en-US" altLang="ja-GB" sz="2000" dirty="0">
                <a:solidFill>
                  <a:schemeClr val="bg1">
                    <a:lumMod val="75000"/>
                  </a:schemeClr>
                </a:solidFill>
              </a:rPr>
              <a:t>④</a:t>
            </a:r>
            <a:r>
              <a:rPr lang="ja-GB" altLang="en-US" sz="2000" dirty="0">
                <a:solidFill>
                  <a:schemeClr val="bg1">
                    <a:lumMod val="75000"/>
                  </a:schemeClr>
                </a:solidFill>
              </a:rPr>
              <a:t>結果出力：データ転送命令，出力命令</a:t>
            </a:r>
            <a:endParaRPr kumimoji="1" lang="ja-GB" altLang="en-US" sz="2000" dirty="0">
              <a:solidFill>
                <a:schemeClr val="bg1">
                  <a:lumMod val="75000"/>
                </a:schemeClr>
              </a:solidFill>
            </a:endParaRPr>
          </a:p>
        </p:txBody>
      </p:sp>
      <p:sp>
        <p:nvSpPr>
          <p:cNvPr id="18" name="角丸四角形 17">
            <a:extLst>
              <a:ext uri="{FF2B5EF4-FFF2-40B4-BE49-F238E27FC236}">
                <a16:creationId xmlns:a16="http://schemas.microsoft.com/office/drawing/2014/main" id="{A651EDA7-EA2B-0B91-A0F8-49A1CE55A1FD}"/>
              </a:ext>
            </a:extLst>
          </p:cNvPr>
          <p:cNvSpPr/>
          <p:nvPr/>
        </p:nvSpPr>
        <p:spPr>
          <a:xfrm>
            <a:off x="3219781" y="4177535"/>
            <a:ext cx="2676422" cy="138925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9" name="テキスト ボックス 18">
            <a:extLst>
              <a:ext uri="{FF2B5EF4-FFF2-40B4-BE49-F238E27FC236}">
                <a16:creationId xmlns:a16="http://schemas.microsoft.com/office/drawing/2014/main" id="{D988CE13-15D5-932D-568D-E8DE831D7763}"/>
              </a:ext>
            </a:extLst>
          </p:cNvPr>
          <p:cNvSpPr txBox="1"/>
          <p:nvPr/>
        </p:nvSpPr>
        <p:spPr>
          <a:xfrm>
            <a:off x="6422824"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出力装置</a:t>
            </a:r>
          </a:p>
        </p:txBody>
      </p:sp>
      <p:sp>
        <p:nvSpPr>
          <p:cNvPr id="22" name="テキスト ボックス 21">
            <a:extLst>
              <a:ext uri="{FF2B5EF4-FFF2-40B4-BE49-F238E27FC236}">
                <a16:creationId xmlns:a16="http://schemas.microsoft.com/office/drawing/2014/main" id="{EC2873AE-23F2-95C3-4540-B72219972CA9}"/>
              </a:ext>
            </a:extLst>
          </p:cNvPr>
          <p:cNvSpPr txBox="1"/>
          <p:nvPr/>
        </p:nvSpPr>
        <p:spPr>
          <a:xfrm>
            <a:off x="1570141" y="2835490"/>
            <a:ext cx="1107996"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dirty="0"/>
              <a:t>制御装置</a:t>
            </a:r>
          </a:p>
        </p:txBody>
      </p:sp>
      <p:sp>
        <p:nvSpPr>
          <p:cNvPr id="23" name="テキスト ボックス 22">
            <a:extLst>
              <a:ext uri="{FF2B5EF4-FFF2-40B4-BE49-F238E27FC236}">
                <a16:creationId xmlns:a16="http://schemas.microsoft.com/office/drawing/2014/main" id="{89B9D846-C1BB-B75F-14D8-A9B221733ABA}"/>
              </a:ext>
            </a:extLst>
          </p:cNvPr>
          <p:cNvSpPr txBox="1"/>
          <p:nvPr/>
        </p:nvSpPr>
        <p:spPr>
          <a:xfrm>
            <a:off x="3996482"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sp>
        <p:nvSpPr>
          <p:cNvPr id="24" name="テキスト ボックス 23">
            <a:extLst>
              <a:ext uri="{FF2B5EF4-FFF2-40B4-BE49-F238E27FC236}">
                <a16:creationId xmlns:a16="http://schemas.microsoft.com/office/drawing/2014/main" id="{3ECB7C76-6768-96D1-7EC7-2F40B2339009}"/>
              </a:ext>
            </a:extLst>
          </p:cNvPr>
          <p:cNvSpPr txBox="1"/>
          <p:nvPr/>
        </p:nvSpPr>
        <p:spPr>
          <a:xfrm>
            <a:off x="1570140" y="5012246"/>
            <a:ext cx="1107996"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dirty="0"/>
              <a:t>入力装置</a:t>
            </a:r>
          </a:p>
        </p:txBody>
      </p:sp>
      <p:sp>
        <p:nvSpPr>
          <p:cNvPr id="25" name="テキスト ボックス 24">
            <a:extLst>
              <a:ext uri="{FF2B5EF4-FFF2-40B4-BE49-F238E27FC236}">
                <a16:creationId xmlns:a16="http://schemas.microsoft.com/office/drawing/2014/main" id="{964A2521-5DBA-F3E7-42F3-0C35610A44C1}"/>
              </a:ext>
            </a:extLst>
          </p:cNvPr>
          <p:cNvSpPr txBox="1"/>
          <p:nvPr/>
        </p:nvSpPr>
        <p:spPr>
          <a:xfrm>
            <a:off x="4112662" y="5547499"/>
            <a:ext cx="800219" cy="276999"/>
          </a:xfrm>
          <a:prstGeom prst="rect">
            <a:avLst/>
          </a:prstGeom>
          <a:noFill/>
        </p:spPr>
        <p:txBody>
          <a:bodyPr wrap="none" rtlCol="0">
            <a:spAutoFit/>
          </a:bodyPr>
          <a:lstStyle/>
          <a:p>
            <a:pPr algn="ctr"/>
            <a:r>
              <a:rPr kumimoji="1" lang="ja-GB" altLang="en-US" sz="1200" b="1" dirty="0">
                <a:solidFill>
                  <a:schemeClr val="tx1">
                    <a:lumMod val="50000"/>
                    <a:lumOff val="50000"/>
                  </a:schemeClr>
                </a:solidFill>
              </a:rPr>
              <a:t>記憶装置</a:t>
            </a:r>
          </a:p>
        </p:txBody>
      </p:sp>
      <p:cxnSp>
        <p:nvCxnSpPr>
          <p:cNvPr id="26" name="曲線コネクタ 25">
            <a:extLst>
              <a:ext uri="{FF2B5EF4-FFF2-40B4-BE49-F238E27FC236}">
                <a16:creationId xmlns:a16="http://schemas.microsoft.com/office/drawing/2014/main" id="{F192D56C-D8D3-5AA0-054E-52C075008497}"/>
              </a:ext>
            </a:extLst>
          </p:cNvPr>
          <p:cNvCxnSpPr>
            <a:cxnSpLocks/>
            <a:stCxn id="22" idx="2"/>
            <a:endCxn id="19" idx="0"/>
          </p:cNvCxnSpPr>
          <p:nvPr/>
        </p:nvCxnSpPr>
        <p:spPr>
          <a:xfrm rot="16200000" flipH="1">
            <a:off x="3646768" y="1682192"/>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7" name="曲線コネクタ 26">
            <a:extLst>
              <a:ext uri="{FF2B5EF4-FFF2-40B4-BE49-F238E27FC236}">
                <a16:creationId xmlns:a16="http://schemas.microsoft.com/office/drawing/2014/main" id="{710456F3-E8C4-83A8-44F4-8BBD86FF7B88}"/>
              </a:ext>
            </a:extLst>
          </p:cNvPr>
          <p:cNvCxnSpPr>
            <a:cxnSpLocks/>
            <a:stCxn id="22" idx="2"/>
            <a:endCxn id="31" idx="1"/>
          </p:cNvCxnSpPr>
          <p:nvPr/>
        </p:nvCxnSpPr>
        <p:spPr>
          <a:xfrm rot="16200000" flipH="1">
            <a:off x="2116605" y="3212355"/>
            <a:ext cx="1322421"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E8F3F67B-A72B-1352-8968-B3A9BDB63609}"/>
              </a:ext>
            </a:extLst>
          </p:cNvPr>
          <p:cNvCxnSpPr>
            <a:cxnSpLocks/>
            <a:endCxn id="24" idx="0"/>
          </p:cNvCxnSpPr>
          <p:nvPr/>
        </p:nvCxnSpPr>
        <p:spPr>
          <a:xfrm flipH="1">
            <a:off x="2124138" y="3204822"/>
            <a:ext cx="1" cy="1807424"/>
          </a:xfrm>
          <a:prstGeom prst="straightConnector1">
            <a:avLst/>
          </a:prstGeom>
          <a:ln w="50800" cap="flat">
            <a:solidFill>
              <a:schemeClr val="accent2"/>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576A3C03-F6A7-4AB5-8B2D-53AC8F2DE245}"/>
              </a:ext>
            </a:extLst>
          </p:cNvPr>
          <p:cNvCxnSpPr>
            <a:cxnSpLocks/>
          </p:cNvCxnSpPr>
          <p:nvPr/>
        </p:nvCxnSpPr>
        <p:spPr>
          <a:xfrm>
            <a:off x="2678137" y="3020156"/>
            <a:ext cx="1318345"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34174885-8ABF-A90B-FC4B-E8CA0FF5A307}"/>
              </a:ext>
            </a:extLst>
          </p:cNvPr>
          <p:cNvSpPr txBox="1"/>
          <p:nvPr/>
        </p:nvSpPr>
        <p:spPr>
          <a:xfrm>
            <a:off x="3431492" y="5012246"/>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プログラム</a:t>
            </a:r>
            <a:r>
              <a:rPr lang="ja-GB" dirty="0"/>
              <a:t>記憶装置</a:t>
            </a:r>
          </a:p>
        </p:txBody>
      </p:sp>
      <p:sp>
        <p:nvSpPr>
          <p:cNvPr id="31" name="テキスト ボックス 30">
            <a:extLst>
              <a:ext uri="{FF2B5EF4-FFF2-40B4-BE49-F238E27FC236}">
                <a16:creationId xmlns:a16="http://schemas.microsoft.com/office/drawing/2014/main" id="{1048B4DF-DA77-C4DC-C721-AAD1A5EE28F3}"/>
              </a:ext>
            </a:extLst>
          </p:cNvPr>
          <p:cNvSpPr txBox="1"/>
          <p:nvPr/>
        </p:nvSpPr>
        <p:spPr>
          <a:xfrm>
            <a:off x="3431492" y="4342577"/>
            <a:ext cx="2262158"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altLang="en-US" dirty="0"/>
              <a:t>　データ</a:t>
            </a:r>
            <a:r>
              <a:rPr lang="ja-GB" dirty="0"/>
              <a:t>記憶装置</a:t>
            </a:r>
            <a:r>
              <a:rPr lang="ja-GB" altLang="en-US" dirty="0"/>
              <a:t>　</a:t>
            </a:r>
            <a:endParaRPr lang="ja-GB" dirty="0"/>
          </a:p>
        </p:txBody>
      </p:sp>
      <p:cxnSp>
        <p:nvCxnSpPr>
          <p:cNvPr id="32" name="曲線コネクタ 31">
            <a:extLst>
              <a:ext uri="{FF2B5EF4-FFF2-40B4-BE49-F238E27FC236}">
                <a16:creationId xmlns:a16="http://schemas.microsoft.com/office/drawing/2014/main" id="{A684E7A3-12F5-72ED-63E4-57F04FE5BB26}"/>
              </a:ext>
            </a:extLst>
          </p:cNvPr>
          <p:cNvCxnSpPr>
            <a:cxnSpLocks/>
            <a:stCxn id="22" idx="2"/>
            <a:endCxn id="30" idx="1"/>
          </p:cNvCxnSpPr>
          <p:nvPr/>
        </p:nvCxnSpPr>
        <p:spPr>
          <a:xfrm rot="16200000" flipH="1">
            <a:off x="1781770" y="3547190"/>
            <a:ext cx="1992090"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 name="直線矢印コネクタ 3">
            <a:extLst>
              <a:ext uri="{FF2B5EF4-FFF2-40B4-BE49-F238E27FC236}">
                <a16:creationId xmlns:a16="http://schemas.microsoft.com/office/drawing/2014/main" id="{89DDEB98-208D-6A8F-D45A-7343F968727F}"/>
              </a:ext>
            </a:extLst>
          </p:cNvPr>
          <p:cNvCxnSpPr>
            <a:cxnSpLocks/>
            <a:endCxn id="24" idx="2"/>
          </p:cNvCxnSpPr>
          <p:nvPr/>
        </p:nvCxnSpPr>
        <p:spPr>
          <a:xfrm flipH="1" flipV="1">
            <a:off x="2124138" y="5381578"/>
            <a:ext cx="12560" cy="534100"/>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B2EDAAA5-2873-807A-A635-5726313F60C9}"/>
              </a:ext>
            </a:extLst>
          </p:cNvPr>
          <p:cNvSpPr txBox="1"/>
          <p:nvPr/>
        </p:nvSpPr>
        <p:spPr>
          <a:xfrm>
            <a:off x="615686" y="3939256"/>
            <a:ext cx="1441420" cy="523220"/>
          </a:xfrm>
          <a:prstGeom prst="rect">
            <a:avLst/>
          </a:prstGeom>
          <a:noFill/>
        </p:spPr>
        <p:txBody>
          <a:bodyPr wrap="none" rtlCol="0">
            <a:spAutoFit/>
          </a:bodyPr>
          <a:lstStyle/>
          <a:p>
            <a:pPr algn="ctr"/>
            <a:r>
              <a:rPr kumimoji="1" lang="ja-GB" altLang="en-US" sz="1400" b="1" dirty="0">
                <a:solidFill>
                  <a:schemeClr val="accent2"/>
                </a:solidFill>
              </a:rPr>
              <a:t>入力命令</a:t>
            </a:r>
            <a:endParaRPr kumimoji="1" lang="en-US" altLang="ja-GB" sz="1400" b="1" dirty="0">
              <a:solidFill>
                <a:schemeClr val="accent2"/>
              </a:solidFill>
            </a:endParaRPr>
          </a:p>
          <a:p>
            <a:pPr algn="ctr"/>
            <a:r>
              <a:rPr kumimoji="1" lang="ja-GB" altLang="en-US" sz="1400" b="1" dirty="0">
                <a:solidFill>
                  <a:schemeClr val="accent2"/>
                </a:solidFill>
              </a:rPr>
              <a:t>データ転送命令</a:t>
            </a:r>
          </a:p>
        </p:txBody>
      </p:sp>
      <p:sp>
        <p:nvSpPr>
          <p:cNvPr id="8" name="テキスト ボックス 7">
            <a:extLst>
              <a:ext uri="{FF2B5EF4-FFF2-40B4-BE49-F238E27FC236}">
                <a16:creationId xmlns:a16="http://schemas.microsoft.com/office/drawing/2014/main" id="{49D1C8D8-D2C9-995A-DFF2-AF76D4CC9254}"/>
              </a:ext>
            </a:extLst>
          </p:cNvPr>
          <p:cNvSpPr txBox="1"/>
          <p:nvPr/>
        </p:nvSpPr>
        <p:spPr>
          <a:xfrm>
            <a:off x="2162603" y="5420846"/>
            <a:ext cx="474810" cy="523220"/>
          </a:xfrm>
          <a:prstGeom prst="rect">
            <a:avLst/>
          </a:prstGeom>
          <a:noFill/>
        </p:spPr>
        <p:txBody>
          <a:bodyPr wrap="none" rtlCol="0">
            <a:spAutoFit/>
          </a:bodyPr>
          <a:lstStyle/>
          <a:p>
            <a:r>
              <a:rPr kumimoji="1" lang="en-US" altLang="ja-GB" sz="1400" b="1" dirty="0">
                <a:solidFill>
                  <a:srgbClr val="0070C0"/>
                </a:solidFill>
              </a:rPr>
              <a:t>A=2</a:t>
            </a:r>
          </a:p>
          <a:p>
            <a:r>
              <a:rPr kumimoji="1" lang="en-US" altLang="ja-GB" sz="1400" b="1" dirty="0">
                <a:solidFill>
                  <a:srgbClr val="0070C0"/>
                </a:solidFill>
              </a:rPr>
              <a:t>B=3</a:t>
            </a:r>
            <a:endParaRPr kumimoji="1" lang="ja-GB" altLang="en-US" sz="1400" b="1" dirty="0">
              <a:solidFill>
                <a:srgbClr val="0070C0"/>
              </a:solidFill>
            </a:endParaRPr>
          </a:p>
        </p:txBody>
      </p:sp>
      <p:cxnSp>
        <p:nvCxnSpPr>
          <p:cNvPr id="15" name="直線矢印コネクタ 14">
            <a:extLst>
              <a:ext uri="{FF2B5EF4-FFF2-40B4-BE49-F238E27FC236}">
                <a16:creationId xmlns:a16="http://schemas.microsoft.com/office/drawing/2014/main" id="{FFC4B2B5-3163-9223-E29D-0C15049D39BB}"/>
              </a:ext>
            </a:extLst>
          </p:cNvPr>
          <p:cNvCxnSpPr>
            <a:cxnSpLocks/>
            <a:stCxn id="24" idx="3"/>
            <a:endCxn id="31" idx="1"/>
          </p:cNvCxnSpPr>
          <p:nvPr/>
        </p:nvCxnSpPr>
        <p:spPr>
          <a:xfrm flipV="1">
            <a:off x="2678136" y="4527243"/>
            <a:ext cx="753356" cy="669669"/>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47B25B64-376A-30EA-85D3-7011916647E3}"/>
              </a:ext>
            </a:extLst>
          </p:cNvPr>
          <p:cNvSpPr txBox="1"/>
          <p:nvPr/>
        </p:nvSpPr>
        <p:spPr>
          <a:xfrm>
            <a:off x="940149" y="2835490"/>
            <a:ext cx="558166" cy="369332"/>
          </a:xfrm>
          <a:prstGeom prst="rect">
            <a:avLst/>
          </a:prstGeom>
          <a:noFill/>
        </p:spPr>
        <p:txBody>
          <a:bodyPr wrap="none" rtlCol="0">
            <a:spAutoFit/>
          </a:bodyPr>
          <a:lstStyle/>
          <a:p>
            <a:r>
              <a:rPr kumimoji="1" lang="en-US" altLang="ja-GB" dirty="0">
                <a:solidFill>
                  <a:srgbClr val="2F2523"/>
                </a:solidFill>
              </a:rPr>
              <a:t>A+B</a:t>
            </a:r>
            <a:endParaRPr kumimoji="1" lang="ja-GB" altLang="en-US" dirty="0">
              <a:solidFill>
                <a:srgbClr val="2F2523"/>
              </a:solidFill>
            </a:endParaRPr>
          </a:p>
        </p:txBody>
      </p:sp>
      <p:pic>
        <p:nvPicPr>
          <p:cNvPr id="35" name="グラフィックス 34" descr="キーボード 単色塗りつぶし">
            <a:extLst>
              <a:ext uri="{FF2B5EF4-FFF2-40B4-BE49-F238E27FC236}">
                <a16:creationId xmlns:a16="http://schemas.microsoft.com/office/drawing/2014/main" id="{5CBBDFD3-47AD-2859-9BC8-79BEEBC1693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79498" y="5662588"/>
            <a:ext cx="914400" cy="914400"/>
          </a:xfrm>
          <a:prstGeom prst="rect">
            <a:avLst/>
          </a:prstGeom>
        </p:spPr>
      </p:pic>
    </p:spTree>
    <p:extLst>
      <p:ext uri="{BB962C8B-B14F-4D97-AF65-F5344CB8AC3E}">
        <p14:creationId xmlns:p14="http://schemas.microsoft.com/office/powerpoint/2010/main" val="42608563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283C0-C850-A4B2-0DD8-4F359D44B8A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C15379E-8E12-7482-DB02-20BE68D68E2A}"/>
              </a:ext>
            </a:extLst>
          </p:cNvPr>
          <p:cNvSpPr>
            <a:spLocks noGrp="1"/>
          </p:cNvSpPr>
          <p:nvPr>
            <p:ph type="title"/>
          </p:nvPr>
        </p:nvSpPr>
        <p:spPr/>
        <p:txBody>
          <a:bodyPr/>
          <a:lstStyle/>
          <a:p>
            <a:r>
              <a:rPr kumimoji="1" lang="ja-GB" altLang="en-US" dirty="0"/>
              <a:t>プログラム実行の流れ（例</a:t>
            </a:r>
            <a:r>
              <a:rPr kumimoji="1" lang="en-US" altLang="ja-GB" dirty="0"/>
              <a:t> A+B</a:t>
            </a:r>
            <a:r>
              <a:rPr kumimoji="1" lang="ja-GB" altLang="en-US" dirty="0"/>
              <a:t>）</a:t>
            </a:r>
          </a:p>
        </p:txBody>
      </p:sp>
      <p:sp>
        <p:nvSpPr>
          <p:cNvPr id="3" name="コンテンツ プレースホルダー 2">
            <a:extLst>
              <a:ext uri="{FF2B5EF4-FFF2-40B4-BE49-F238E27FC236}">
                <a16:creationId xmlns:a16="http://schemas.microsoft.com/office/drawing/2014/main" id="{AFFD2A26-7AD5-F5E4-E8DE-0A236AF18C91}"/>
              </a:ext>
            </a:extLst>
          </p:cNvPr>
          <p:cNvSpPr>
            <a:spLocks noGrp="1"/>
          </p:cNvSpPr>
          <p:nvPr>
            <p:ph idx="1"/>
          </p:nvPr>
        </p:nvSpPr>
        <p:spPr/>
        <p:txBody>
          <a:bodyPr>
            <a:normAutofit/>
          </a:bodyPr>
          <a:lstStyle/>
          <a:p>
            <a:pPr marL="0" indent="0">
              <a:buNone/>
            </a:pPr>
            <a:r>
              <a:rPr kumimoji="1" lang="en-US" altLang="ja-GB" sz="2000" dirty="0">
                <a:solidFill>
                  <a:schemeClr val="bg1">
                    <a:lumMod val="75000"/>
                  </a:schemeClr>
                </a:solidFill>
              </a:rPr>
              <a:t>①</a:t>
            </a:r>
            <a:r>
              <a:rPr kumimoji="1" lang="ja-GB" altLang="en-US" sz="2000" dirty="0">
                <a:solidFill>
                  <a:schemeClr val="bg1">
                    <a:lumMod val="75000"/>
                  </a:schemeClr>
                </a:solidFill>
              </a:rPr>
              <a:t>事前準備：プログラム転送命令</a:t>
            </a:r>
            <a:endParaRPr kumimoji="1" lang="en-US" altLang="ja-GB" sz="2000" dirty="0">
              <a:solidFill>
                <a:schemeClr val="bg1">
                  <a:lumMod val="75000"/>
                </a:schemeClr>
              </a:solidFill>
            </a:endParaRPr>
          </a:p>
          <a:p>
            <a:pPr marL="0" indent="0">
              <a:buNone/>
            </a:pPr>
            <a:r>
              <a:rPr lang="en-US" altLang="ja-GB" sz="2000" dirty="0">
                <a:solidFill>
                  <a:schemeClr val="bg1">
                    <a:lumMod val="75000"/>
                  </a:schemeClr>
                </a:solidFill>
              </a:rPr>
              <a:t>②</a:t>
            </a:r>
            <a:r>
              <a:rPr lang="ja-GB" altLang="en-US" sz="2000" dirty="0">
                <a:solidFill>
                  <a:schemeClr val="bg1">
                    <a:lumMod val="75000"/>
                  </a:schemeClr>
                </a:solidFill>
              </a:rPr>
              <a:t>入力受付：入力命令，データ転送命令</a:t>
            </a:r>
            <a:endParaRPr lang="en-US" altLang="ja-GB" sz="2000" dirty="0">
              <a:solidFill>
                <a:schemeClr val="bg1">
                  <a:lumMod val="75000"/>
                </a:schemeClr>
              </a:solidFill>
            </a:endParaRPr>
          </a:p>
          <a:p>
            <a:pPr marL="0" indent="0">
              <a:buNone/>
            </a:pPr>
            <a:r>
              <a:rPr kumimoji="1" lang="en-US" altLang="ja-GB" sz="2000" dirty="0"/>
              <a:t>③</a:t>
            </a:r>
            <a:r>
              <a:rPr kumimoji="1" lang="ja-GB" altLang="en-US" sz="2000" dirty="0"/>
              <a:t>演算実行：演算命令，データ転送命令</a:t>
            </a:r>
            <a:endParaRPr kumimoji="1" lang="en-US" altLang="ja-GB" sz="2000" dirty="0"/>
          </a:p>
          <a:p>
            <a:pPr marL="0" indent="0">
              <a:buNone/>
            </a:pPr>
            <a:r>
              <a:rPr lang="en-US" altLang="ja-GB" sz="2000" dirty="0">
                <a:solidFill>
                  <a:schemeClr val="bg1">
                    <a:lumMod val="75000"/>
                  </a:schemeClr>
                </a:solidFill>
              </a:rPr>
              <a:t>④</a:t>
            </a:r>
            <a:r>
              <a:rPr lang="ja-GB" altLang="en-US" sz="2000" dirty="0">
                <a:solidFill>
                  <a:schemeClr val="bg1">
                    <a:lumMod val="75000"/>
                  </a:schemeClr>
                </a:solidFill>
              </a:rPr>
              <a:t>結果出力：データ転送命令，出力命令</a:t>
            </a:r>
            <a:endParaRPr kumimoji="1" lang="ja-GB" altLang="en-US" sz="2000" dirty="0">
              <a:solidFill>
                <a:schemeClr val="bg1">
                  <a:lumMod val="75000"/>
                </a:schemeClr>
              </a:solidFill>
            </a:endParaRPr>
          </a:p>
        </p:txBody>
      </p:sp>
      <p:sp>
        <p:nvSpPr>
          <p:cNvPr id="18" name="角丸四角形 17">
            <a:extLst>
              <a:ext uri="{FF2B5EF4-FFF2-40B4-BE49-F238E27FC236}">
                <a16:creationId xmlns:a16="http://schemas.microsoft.com/office/drawing/2014/main" id="{0FB758AD-69DE-B2B8-224D-48B404538BFB}"/>
              </a:ext>
            </a:extLst>
          </p:cNvPr>
          <p:cNvSpPr/>
          <p:nvPr/>
        </p:nvSpPr>
        <p:spPr>
          <a:xfrm>
            <a:off x="3219781" y="4177535"/>
            <a:ext cx="2676422" cy="138925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9" name="テキスト ボックス 18">
            <a:extLst>
              <a:ext uri="{FF2B5EF4-FFF2-40B4-BE49-F238E27FC236}">
                <a16:creationId xmlns:a16="http://schemas.microsoft.com/office/drawing/2014/main" id="{6AA36675-4978-E8A8-8C5C-EFB21E1DB39E}"/>
              </a:ext>
            </a:extLst>
          </p:cNvPr>
          <p:cNvSpPr txBox="1"/>
          <p:nvPr/>
        </p:nvSpPr>
        <p:spPr>
          <a:xfrm>
            <a:off x="6422824"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出力装置</a:t>
            </a:r>
          </a:p>
        </p:txBody>
      </p:sp>
      <p:sp>
        <p:nvSpPr>
          <p:cNvPr id="22" name="テキスト ボックス 21">
            <a:extLst>
              <a:ext uri="{FF2B5EF4-FFF2-40B4-BE49-F238E27FC236}">
                <a16:creationId xmlns:a16="http://schemas.microsoft.com/office/drawing/2014/main" id="{E3940A8A-BB4D-9F9C-A0FA-C4BC12E66BBF}"/>
              </a:ext>
            </a:extLst>
          </p:cNvPr>
          <p:cNvSpPr txBox="1"/>
          <p:nvPr/>
        </p:nvSpPr>
        <p:spPr>
          <a:xfrm>
            <a:off x="1570141" y="2835490"/>
            <a:ext cx="1107996"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dirty="0"/>
              <a:t>制御装置</a:t>
            </a:r>
          </a:p>
        </p:txBody>
      </p:sp>
      <p:sp>
        <p:nvSpPr>
          <p:cNvPr id="23" name="テキスト ボックス 22">
            <a:extLst>
              <a:ext uri="{FF2B5EF4-FFF2-40B4-BE49-F238E27FC236}">
                <a16:creationId xmlns:a16="http://schemas.microsoft.com/office/drawing/2014/main" id="{E1C47AFD-EA43-665D-BD2B-2B6A12D9386C}"/>
              </a:ext>
            </a:extLst>
          </p:cNvPr>
          <p:cNvSpPr txBox="1"/>
          <p:nvPr/>
        </p:nvSpPr>
        <p:spPr>
          <a:xfrm>
            <a:off x="3996482" y="2835490"/>
            <a:ext cx="1107996"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dirty="0"/>
              <a:t>演算装置</a:t>
            </a:r>
          </a:p>
        </p:txBody>
      </p:sp>
      <p:sp>
        <p:nvSpPr>
          <p:cNvPr id="24" name="テキスト ボックス 23">
            <a:extLst>
              <a:ext uri="{FF2B5EF4-FFF2-40B4-BE49-F238E27FC236}">
                <a16:creationId xmlns:a16="http://schemas.microsoft.com/office/drawing/2014/main" id="{770CF92B-2510-378E-9D07-0BF4F337332C}"/>
              </a:ext>
            </a:extLst>
          </p:cNvPr>
          <p:cNvSpPr txBox="1"/>
          <p:nvPr/>
        </p:nvSpPr>
        <p:spPr>
          <a:xfrm>
            <a:off x="1570140"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sp>
        <p:nvSpPr>
          <p:cNvPr id="25" name="テキスト ボックス 24">
            <a:extLst>
              <a:ext uri="{FF2B5EF4-FFF2-40B4-BE49-F238E27FC236}">
                <a16:creationId xmlns:a16="http://schemas.microsoft.com/office/drawing/2014/main" id="{29E0F9EB-01ED-D577-E794-9FFF09841B4F}"/>
              </a:ext>
            </a:extLst>
          </p:cNvPr>
          <p:cNvSpPr txBox="1"/>
          <p:nvPr/>
        </p:nvSpPr>
        <p:spPr>
          <a:xfrm>
            <a:off x="4112662" y="5547499"/>
            <a:ext cx="800219" cy="276999"/>
          </a:xfrm>
          <a:prstGeom prst="rect">
            <a:avLst/>
          </a:prstGeom>
          <a:noFill/>
        </p:spPr>
        <p:txBody>
          <a:bodyPr wrap="none" rtlCol="0">
            <a:spAutoFit/>
          </a:bodyPr>
          <a:lstStyle/>
          <a:p>
            <a:pPr algn="ctr"/>
            <a:r>
              <a:rPr kumimoji="1" lang="ja-GB" altLang="en-US" sz="1200" b="1" dirty="0">
                <a:solidFill>
                  <a:schemeClr val="tx1">
                    <a:lumMod val="50000"/>
                    <a:lumOff val="50000"/>
                  </a:schemeClr>
                </a:solidFill>
              </a:rPr>
              <a:t>記憶装置</a:t>
            </a:r>
          </a:p>
        </p:txBody>
      </p:sp>
      <p:cxnSp>
        <p:nvCxnSpPr>
          <p:cNvPr id="26" name="曲線コネクタ 25">
            <a:extLst>
              <a:ext uri="{FF2B5EF4-FFF2-40B4-BE49-F238E27FC236}">
                <a16:creationId xmlns:a16="http://schemas.microsoft.com/office/drawing/2014/main" id="{AADF4507-7CE0-00E7-8FFA-B24ED15F4473}"/>
              </a:ext>
            </a:extLst>
          </p:cNvPr>
          <p:cNvCxnSpPr>
            <a:cxnSpLocks/>
            <a:stCxn id="22" idx="2"/>
            <a:endCxn id="19" idx="0"/>
          </p:cNvCxnSpPr>
          <p:nvPr/>
        </p:nvCxnSpPr>
        <p:spPr>
          <a:xfrm rot="16200000" flipH="1">
            <a:off x="3646768" y="1682192"/>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7" name="曲線コネクタ 26">
            <a:extLst>
              <a:ext uri="{FF2B5EF4-FFF2-40B4-BE49-F238E27FC236}">
                <a16:creationId xmlns:a16="http://schemas.microsoft.com/office/drawing/2014/main" id="{7F0A406A-9F7F-89F2-B06A-3AD052218A41}"/>
              </a:ext>
            </a:extLst>
          </p:cNvPr>
          <p:cNvCxnSpPr>
            <a:cxnSpLocks/>
            <a:stCxn id="22" idx="2"/>
            <a:endCxn id="31" idx="1"/>
          </p:cNvCxnSpPr>
          <p:nvPr/>
        </p:nvCxnSpPr>
        <p:spPr>
          <a:xfrm rot="16200000" flipH="1">
            <a:off x="2116605" y="3212355"/>
            <a:ext cx="1322421"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F56E8A25-4330-0AE0-7E39-7C1670737D34}"/>
              </a:ext>
            </a:extLst>
          </p:cNvPr>
          <p:cNvCxnSpPr>
            <a:cxnSpLocks/>
            <a:endCxn id="24" idx="0"/>
          </p:cNvCxnSpPr>
          <p:nvPr/>
        </p:nvCxnSpPr>
        <p:spPr>
          <a:xfrm flipH="1">
            <a:off x="2124138" y="3204822"/>
            <a:ext cx="1" cy="1807424"/>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D240E214-2F21-58CC-F6D9-158716577CA3}"/>
              </a:ext>
            </a:extLst>
          </p:cNvPr>
          <p:cNvCxnSpPr>
            <a:cxnSpLocks/>
          </p:cNvCxnSpPr>
          <p:nvPr/>
        </p:nvCxnSpPr>
        <p:spPr>
          <a:xfrm>
            <a:off x="2678137" y="3020156"/>
            <a:ext cx="1318345"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85E1857F-9E14-E8C3-C0C6-5233515989D7}"/>
              </a:ext>
            </a:extLst>
          </p:cNvPr>
          <p:cNvSpPr txBox="1"/>
          <p:nvPr/>
        </p:nvSpPr>
        <p:spPr>
          <a:xfrm>
            <a:off x="3431492" y="5012246"/>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プログラム</a:t>
            </a:r>
            <a:r>
              <a:rPr lang="ja-GB" dirty="0"/>
              <a:t>記憶装置</a:t>
            </a:r>
          </a:p>
        </p:txBody>
      </p:sp>
      <p:sp>
        <p:nvSpPr>
          <p:cNvPr id="31" name="テキスト ボックス 30">
            <a:extLst>
              <a:ext uri="{FF2B5EF4-FFF2-40B4-BE49-F238E27FC236}">
                <a16:creationId xmlns:a16="http://schemas.microsoft.com/office/drawing/2014/main" id="{A6D06E19-DF14-495F-CE79-2416C3D6AD44}"/>
              </a:ext>
            </a:extLst>
          </p:cNvPr>
          <p:cNvSpPr txBox="1"/>
          <p:nvPr/>
        </p:nvSpPr>
        <p:spPr>
          <a:xfrm>
            <a:off x="3431492" y="4342577"/>
            <a:ext cx="2262158"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altLang="en-US" dirty="0"/>
              <a:t>　データ</a:t>
            </a:r>
            <a:r>
              <a:rPr lang="ja-GB" dirty="0"/>
              <a:t>記憶装置</a:t>
            </a:r>
            <a:r>
              <a:rPr lang="ja-GB" altLang="en-US" dirty="0"/>
              <a:t>　</a:t>
            </a:r>
            <a:endParaRPr lang="ja-GB" dirty="0"/>
          </a:p>
        </p:txBody>
      </p:sp>
      <p:cxnSp>
        <p:nvCxnSpPr>
          <p:cNvPr id="32" name="曲線コネクタ 31">
            <a:extLst>
              <a:ext uri="{FF2B5EF4-FFF2-40B4-BE49-F238E27FC236}">
                <a16:creationId xmlns:a16="http://schemas.microsoft.com/office/drawing/2014/main" id="{DDE940C9-D3BA-4589-BEFD-26A33E9ADE85}"/>
              </a:ext>
            </a:extLst>
          </p:cNvPr>
          <p:cNvCxnSpPr>
            <a:cxnSpLocks/>
            <a:stCxn id="22" idx="2"/>
            <a:endCxn id="30" idx="1"/>
          </p:cNvCxnSpPr>
          <p:nvPr/>
        </p:nvCxnSpPr>
        <p:spPr>
          <a:xfrm rot="16200000" flipH="1">
            <a:off x="1781770" y="3547190"/>
            <a:ext cx="1992090"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8" name="曲線コネクタ 7">
            <a:extLst>
              <a:ext uri="{FF2B5EF4-FFF2-40B4-BE49-F238E27FC236}">
                <a16:creationId xmlns:a16="http://schemas.microsoft.com/office/drawing/2014/main" id="{3F588EFD-3CFD-D1A3-6681-F45D347D796B}"/>
              </a:ext>
            </a:extLst>
          </p:cNvPr>
          <p:cNvCxnSpPr>
            <a:cxnSpLocks/>
          </p:cNvCxnSpPr>
          <p:nvPr/>
        </p:nvCxnSpPr>
        <p:spPr>
          <a:xfrm rot="16200000" flipH="1">
            <a:off x="2116605" y="3212355"/>
            <a:ext cx="1322421" cy="1307353"/>
          </a:xfrm>
          <a:prstGeom prst="curvedConnector2">
            <a:avLst/>
          </a:prstGeom>
          <a:ln w="50800" cap="flat">
            <a:solidFill>
              <a:schemeClr val="accent2"/>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9B408396-9980-6E44-6C22-B5692B7187E1}"/>
              </a:ext>
            </a:extLst>
          </p:cNvPr>
          <p:cNvSpPr txBox="1"/>
          <p:nvPr/>
        </p:nvSpPr>
        <p:spPr>
          <a:xfrm>
            <a:off x="2456032" y="3857725"/>
            <a:ext cx="1441420" cy="307777"/>
          </a:xfrm>
          <a:prstGeom prst="rect">
            <a:avLst/>
          </a:prstGeom>
          <a:noFill/>
        </p:spPr>
        <p:txBody>
          <a:bodyPr wrap="none" rtlCol="0">
            <a:spAutoFit/>
          </a:bodyPr>
          <a:lstStyle/>
          <a:p>
            <a:r>
              <a:rPr kumimoji="1" lang="ja-GB" altLang="en-US" sz="1400" b="1" dirty="0">
                <a:solidFill>
                  <a:schemeClr val="accent2"/>
                </a:solidFill>
              </a:rPr>
              <a:t>データ転送命令</a:t>
            </a:r>
          </a:p>
        </p:txBody>
      </p:sp>
      <p:cxnSp>
        <p:nvCxnSpPr>
          <p:cNvPr id="12" name="直線矢印コネクタ 11">
            <a:extLst>
              <a:ext uri="{FF2B5EF4-FFF2-40B4-BE49-F238E27FC236}">
                <a16:creationId xmlns:a16="http://schemas.microsoft.com/office/drawing/2014/main" id="{E6C237A3-0DF0-8B37-1B30-5D2BEDE72298}"/>
              </a:ext>
            </a:extLst>
          </p:cNvPr>
          <p:cNvCxnSpPr>
            <a:cxnSpLocks/>
          </p:cNvCxnSpPr>
          <p:nvPr/>
        </p:nvCxnSpPr>
        <p:spPr>
          <a:xfrm flipH="1" flipV="1">
            <a:off x="4427930" y="3204822"/>
            <a:ext cx="12091" cy="1137755"/>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2886BE8D-A05B-44DF-9433-BC8FF4B3D5A8}"/>
              </a:ext>
            </a:extLst>
          </p:cNvPr>
          <p:cNvSpPr txBox="1"/>
          <p:nvPr/>
        </p:nvSpPr>
        <p:spPr>
          <a:xfrm>
            <a:off x="940149" y="2835490"/>
            <a:ext cx="558166" cy="369332"/>
          </a:xfrm>
          <a:prstGeom prst="rect">
            <a:avLst/>
          </a:prstGeom>
          <a:noFill/>
        </p:spPr>
        <p:txBody>
          <a:bodyPr wrap="none" rtlCol="0">
            <a:spAutoFit/>
          </a:bodyPr>
          <a:lstStyle/>
          <a:p>
            <a:r>
              <a:rPr kumimoji="1" lang="en-US" altLang="ja-GB" dirty="0">
                <a:solidFill>
                  <a:srgbClr val="2F2523"/>
                </a:solidFill>
              </a:rPr>
              <a:t>A+B</a:t>
            </a:r>
            <a:endParaRPr kumimoji="1" lang="ja-GB" altLang="en-US" dirty="0">
              <a:solidFill>
                <a:srgbClr val="2F2523"/>
              </a:solidFill>
            </a:endParaRPr>
          </a:p>
        </p:txBody>
      </p:sp>
      <p:sp>
        <p:nvSpPr>
          <p:cNvPr id="15" name="テキスト ボックス 14">
            <a:extLst>
              <a:ext uri="{FF2B5EF4-FFF2-40B4-BE49-F238E27FC236}">
                <a16:creationId xmlns:a16="http://schemas.microsoft.com/office/drawing/2014/main" id="{869D9E8B-C8DE-8D81-ACAE-7D7A0D5272C7}"/>
              </a:ext>
            </a:extLst>
          </p:cNvPr>
          <p:cNvSpPr txBox="1"/>
          <p:nvPr/>
        </p:nvSpPr>
        <p:spPr>
          <a:xfrm>
            <a:off x="3959165" y="3594772"/>
            <a:ext cx="474810" cy="523220"/>
          </a:xfrm>
          <a:prstGeom prst="rect">
            <a:avLst/>
          </a:prstGeom>
          <a:noFill/>
        </p:spPr>
        <p:txBody>
          <a:bodyPr wrap="none" rtlCol="0">
            <a:spAutoFit/>
          </a:bodyPr>
          <a:lstStyle/>
          <a:p>
            <a:r>
              <a:rPr kumimoji="1" lang="en-US" altLang="ja-GB" sz="1400" b="1" dirty="0">
                <a:solidFill>
                  <a:srgbClr val="0070C0"/>
                </a:solidFill>
              </a:rPr>
              <a:t>A=2</a:t>
            </a:r>
          </a:p>
          <a:p>
            <a:r>
              <a:rPr kumimoji="1" lang="en-US" altLang="ja-GB" sz="1400" b="1" dirty="0">
                <a:solidFill>
                  <a:srgbClr val="0070C0"/>
                </a:solidFill>
              </a:rPr>
              <a:t>B=3</a:t>
            </a:r>
            <a:endParaRPr kumimoji="1" lang="ja-GB" altLang="en-US" sz="1400" b="1" dirty="0">
              <a:solidFill>
                <a:srgbClr val="0070C0"/>
              </a:solidFill>
            </a:endParaRPr>
          </a:p>
        </p:txBody>
      </p:sp>
      <p:pic>
        <p:nvPicPr>
          <p:cNvPr id="17" name="グラフィックス 16" descr="キーボード 単色塗りつぶし">
            <a:extLst>
              <a:ext uri="{FF2B5EF4-FFF2-40B4-BE49-F238E27FC236}">
                <a16:creationId xmlns:a16="http://schemas.microsoft.com/office/drawing/2014/main" id="{3F65D793-7DAE-72C3-E17E-ABDA597CECC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79498" y="5662588"/>
            <a:ext cx="914400" cy="914400"/>
          </a:xfrm>
          <a:prstGeom prst="rect">
            <a:avLst/>
          </a:prstGeom>
        </p:spPr>
      </p:pic>
    </p:spTree>
    <p:extLst>
      <p:ext uri="{BB962C8B-B14F-4D97-AF65-F5344CB8AC3E}">
        <p14:creationId xmlns:p14="http://schemas.microsoft.com/office/powerpoint/2010/main" val="319286029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F37DF-4713-8542-4ABD-C2D3F9BBDC4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8DDA3D7-76F7-29D5-4E1B-A5F7B894FC36}"/>
              </a:ext>
            </a:extLst>
          </p:cNvPr>
          <p:cNvSpPr>
            <a:spLocks noGrp="1"/>
          </p:cNvSpPr>
          <p:nvPr>
            <p:ph type="title"/>
          </p:nvPr>
        </p:nvSpPr>
        <p:spPr/>
        <p:txBody>
          <a:bodyPr/>
          <a:lstStyle/>
          <a:p>
            <a:r>
              <a:rPr kumimoji="1" lang="ja-GB" altLang="en-US" dirty="0"/>
              <a:t>プログラム実行の流れ（例</a:t>
            </a:r>
            <a:r>
              <a:rPr kumimoji="1" lang="en-US" altLang="ja-GB" dirty="0"/>
              <a:t> A+B</a:t>
            </a:r>
            <a:r>
              <a:rPr kumimoji="1" lang="ja-GB" altLang="en-US" dirty="0"/>
              <a:t>）</a:t>
            </a:r>
          </a:p>
        </p:txBody>
      </p:sp>
      <p:sp>
        <p:nvSpPr>
          <p:cNvPr id="3" name="コンテンツ プレースホルダー 2">
            <a:extLst>
              <a:ext uri="{FF2B5EF4-FFF2-40B4-BE49-F238E27FC236}">
                <a16:creationId xmlns:a16="http://schemas.microsoft.com/office/drawing/2014/main" id="{E95063EE-C978-9590-26E7-A7C629E742C7}"/>
              </a:ext>
            </a:extLst>
          </p:cNvPr>
          <p:cNvSpPr>
            <a:spLocks noGrp="1"/>
          </p:cNvSpPr>
          <p:nvPr>
            <p:ph idx="1"/>
          </p:nvPr>
        </p:nvSpPr>
        <p:spPr/>
        <p:txBody>
          <a:bodyPr>
            <a:normAutofit/>
          </a:bodyPr>
          <a:lstStyle/>
          <a:p>
            <a:pPr marL="0" indent="0">
              <a:buNone/>
            </a:pPr>
            <a:r>
              <a:rPr kumimoji="1" lang="en-US" altLang="ja-GB" sz="2000" dirty="0">
                <a:solidFill>
                  <a:schemeClr val="bg1">
                    <a:lumMod val="75000"/>
                  </a:schemeClr>
                </a:solidFill>
              </a:rPr>
              <a:t>①</a:t>
            </a:r>
            <a:r>
              <a:rPr kumimoji="1" lang="ja-GB" altLang="en-US" sz="2000" dirty="0">
                <a:solidFill>
                  <a:schemeClr val="bg1">
                    <a:lumMod val="75000"/>
                  </a:schemeClr>
                </a:solidFill>
              </a:rPr>
              <a:t>事前準備：プログラム転送命令</a:t>
            </a:r>
            <a:endParaRPr kumimoji="1" lang="en-US" altLang="ja-GB" sz="2000" dirty="0">
              <a:solidFill>
                <a:schemeClr val="bg1">
                  <a:lumMod val="75000"/>
                </a:schemeClr>
              </a:solidFill>
            </a:endParaRPr>
          </a:p>
          <a:p>
            <a:pPr marL="0" indent="0">
              <a:buNone/>
            </a:pPr>
            <a:r>
              <a:rPr lang="en-US" altLang="ja-GB" sz="2000" dirty="0">
                <a:solidFill>
                  <a:schemeClr val="bg1">
                    <a:lumMod val="75000"/>
                  </a:schemeClr>
                </a:solidFill>
              </a:rPr>
              <a:t>②</a:t>
            </a:r>
            <a:r>
              <a:rPr lang="ja-GB" altLang="en-US" sz="2000" dirty="0">
                <a:solidFill>
                  <a:schemeClr val="bg1">
                    <a:lumMod val="75000"/>
                  </a:schemeClr>
                </a:solidFill>
              </a:rPr>
              <a:t>入力受付：入力命令，データ転送命令</a:t>
            </a:r>
            <a:endParaRPr lang="en-US" altLang="ja-GB" sz="2000" dirty="0">
              <a:solidFill>
                <a:schemeClr val="bg1">
                  <a:lumMod val="75000"/>
                </a:schemeClr>
              </a:solidFill>
            </a:endParaRPr>
          </a:p>
          <a:p>
            <a:pPr marL="0" indent="0">
              <a:buNone/>
            </a:pPr>
            <a:r>
              <a:rPr kumimoji="1" lang="en-US" altLang="ja-GB" sz="2000" dirty="0"/>
              <a:t>③</a:t>
            </a:r>
            <a:r>
              <a:rPr kumimoji="1" lang="ja-GB" altLang="en-US" sz="2000" dirty="0"/>
              <a:t>演算実行：演算命令，データ転送命令</a:t>
            </a:r>
            <a:endParaRPr kumimoji="1" lang="en-US" altLang="ja-GB" sz="2000" dirty="0"/>
          </a:p>
          <a:p>
            <a:pPr marL="0" indent="0">
              <a:buNone/>
            </a:pPr>
            <a:r>
              <a:rPr lang="en-US" altLang="ja-GB" sz="2000" dirty="0">
                <a:solidFill>
                  <a:schemeClr val="bg1">
                    <a:lumMod val="75000"/>
                  </a:schemeClr>
                </a:solidFill>
              </a:rPr>
              <a:t>④</a:t>
            </a:r>
            <a:r>
              <a:rPr lang="ja-GB" altLang="en-US" sz="2000" dirty="0">
                <a:solidFill>
                  <a:schemeClr val="bg1">
                    <a:lumMod val="75000"/>
                  </a:schemeClr>
                </a:solidFill>
              </a:rPr>
              <a:t>結果出力：データ転送命令，出力命令</a:t>
            </a:r>
            <a:endParaRPr kumimoji="1" lang="ja-GB" altLang="en-US" sz="2000" dirty="0">
              <a:solidFill>
                <a:schemeClr val="bg1">
                  <a:lumMod val="75000"/>
                </a:schemeClr>
              </a:solidFill>
            </a:endParaRPr>
          </a:p>
        </p:txBody>
      </p:sp>
      <p:sp>
        <p:nvSpPr>
          <p:cNvPr id="18" name="角丸四角形 17">
            <a:extLst>
              <a:ext uri="{FF2B5EF4-FFF2-40B4-BE49-F238E27FC236}">
                <a16:creationId xmlns:a16="http://schemas.microsoft.com/office/drawing/2014/main" id="{4AE1D3A1-8730-BB9C-07FB-9417816DB50D}"/>
              </a:ext>
            </a:extLst>
          </p:cNvPr>
          <p:cNvSpPr/>
          <p:nvPr/>
        </p:nvSpPr>
        <p:spPr>
          <a:xfrm>
            <a:off x="3219781" y="4177535"/>
            <a:ext cx="2676422" cy="138925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9" name="テキスト ボックス 18">
            <a:extLst>
              <a:ext uri="{FF2B5EF4-FFF2-40B4-BE49-F238E27FC236}">
                <a16:creationId xmlns:a16="http://schemas.microsoft.com/office/drawing/2014/main" id="{2B59ACA7-B359-8660-B1EB-CE64ABFEB671}"/>
              </a:ext>
            </a:extLst>
          </p:cNvPr>
          <p:cNvSpPr txBox="1"/>
          <p:nvPr/>
        </p:nvSpPr>
        <p:spPr>
          <a:xfrm>
            <a:off x="6422824"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出力装置</a:t>
            </a:r>
          </a:p>
        </p:txBody>
      </p:sp>
      <p:sp>
        <p:nvSpPr>
          <p:cNvPr id="22" name="テキスト ボックス 21">
            <a:extLst>
              <a:ext uri="{FF2B5EF4-FFF2-40B4-BE49-F238E27FC236}">
                <a16:creationId xmlns:a16="http://schemas.microsoft.com/office/drawing/2014/main" id="{3AD78576-EC1C-17B1-7864-6C7DDDE851C4}"/>
              </a:ext>
            </a:extLst>
          </p:cNvPr>
          <p:cNvSpPr txBox="1"/>
          <p:nvPr/>
        </p:nvSpPr>
        <p:spPr>
          <a:xfrm>
            <a:off x="1570141" y="2835490"/>
            <a:ext cx="1107996"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dirty="0"/>
              <a:t>制御装置</a:t>
            </a:r>
          </a:p>
        </p:txBody>
      </p:sp>
      <p:sp>
        <p:nvSpPr>
          <p:cNvPr id="23" name="テキスト ボックス 22">
            <a:extLst>
              <a:ext uri="{FF2B5EF4-FFF2-40B4-BE49-F238E27FC236}">
                <a16:creationId xmlns:a16="http://schemas.microsoft.com/office/drawing/2014/main" id="{AC7F41A9-AECD-4A74-00EE-13F7627CA900}"/>
              </a:ext>
            </a:extLst>
          </p:cNvPr>
          <p:cNvSpPr txBox="1"/>
          <p:nvPr/>
        </p:nvSpPr>
        <p:spPr>
          <a:xfrm>
            <a:off x="3996482" y="2835490"/>
            <a:ext cx="1107996"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dirty="0"/>
              <a:t>演算装置</a:t>
            </a:r>
          </a:p>
        </p:txBody>
      </p:sp>
      <p:sp>
        <p:nvSpPr>
          <p:cNvPr id="24" name="テキスト ボックス 23">
            <a:extLst>
              <a:ext uri="{FF2B5EF4-FFF2-40B4-BE49-F238E27FC236}">
                <a16:creationId xmlns:a16="http://schemas.microsoft.com/office/drawing/2014/main" id="{B20526EB-9CF0-7E27-7517-C5EA722065B6}"/>
              </a:ext>
            </a:extLst>
          </p:cNvPr>
          <p:cNvSpPr txBox="1"/>
          <p:nvPr/>
        </p:nvSpPr>
        <p:spPr>
          <a:xfrm>
            <a:off x="1570140"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sp>
        <p:nvSpPr>
          <p:cNvPr id="25" name="テキスト ボックス 24">
            <a:extLst>
              <a:ext uri="{FF2B5EF4-FFF2-40B4-BE49-F238E27FC236}">
                <a16:creationId xmlns:a16="http://schemas.microsoft.com/office/drawing/2014/main" id="{8A601D5B-D5C0-9F31-F3C7-1A41FB730B20}"/>
              </a:ext>
            </a:extLst>
          </p:cNvPr>
          <p:cNvSpPr txBox="1"/>
          <p:nvPr/>
        </p:nvSpPr>
        <p:spPr>
          <a:xfrm>
            <a:off x="4112662" y="5547499"/>
            <a:ext cx="800219" cy="276999"/>
          </a:xfrm>
          <a:prstGeom prst="rect">
            <a:avLst/>
          </a:prstGeom>
          <a:noFill/>
        </p:spPr>
        <p:txBody>
          <a:bodyPr wrap="none" rtlCol="0">
            <a:spAutoFit/>
          </a:bodyPr>
          <a:lstStyle/>
          <a:p>
            <a:pPr algn="ctr"/>
            <a:r>
              <a:rPr kumimoji="1" lang="ja-GB" altLang="en-US" sz="1200" b="1" dirty="0">
                <a:solidFill>
                  <a:schemeClr val="tx1">
                    <a:lumMod val="50000"/>
                    <a:lumOff val="50000"/>
                  </a:schemeClr>
                </a:solidFill>
              </a:rPr>
              <a:t>記憶装置</a:t>
            </a:r>
          </a:p>
        </p:txBody>
      </p:sp>
      <p:cxnSp>
        <p:nvCxnSpPr>
          <p:cNvPr id="26" name="曲線コネクタ 25">
            <a:extLst>
              <a:ext uri="{FF2B5EF4-FFF2-40B4-BE49-F238E27FC236}">
                <a16:creationId xmlns:a16="http://schemas.microsoft.com/office/drawing/2014/main" id="{FE8DBFBA-82A8-2926-1A26-1498E06FCB31}"/>
              </a:ext>
            </a:extLst>
          </p:cNvPr>
          <p:cNvCxnSpPr>
            <a:cxnSpLocks/>
            <a:stCxn id="22" idx="2"/>
            <a:endCxn id="19" idx="0"/>
          </p:cNvCxnSpPr>
          <p:nvPr/>
        </p:nvCxnSpPr>
        <p:spPr>
          <a:xfrm rot="16200000" flipH="1">
            <a:off x="3646768" y="1682192"/>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7" name="曲線コネクタ 26">
            <a:extLst>
              <a:ext uri="{FF2B5EF4-FFF2-40B4-BE49-F238E27FC236}">
                <a16:creationId xmlns:a16="http://schemas.microsoft.com/office/drawing/2014/main" id="{CC2A6E41-9CD9-F1A9-E20F-383AB36712A7}"/>
              </a:ext>
            </a:extLst>
          </p:cNvPr>
          <p:cNvCxnSpPr>
            <a:cxnSpLocks/>
            <a:stCxn id="22" idx="2"/>
            <a:endCxn id="31" idx="1"/>
          </p:cNvCxnSpPr>
          <p:nvPr/>
        </p:nvCxnSpPr>
        <p:spPr>
          <a:xfrm rot="16200000" flipH="1">
            <a:off x="2116605" y="3212355"/>
            <a:ext cx="1322421"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5A7983CC-056F-0530-C519-47738E11A2A0}"/>
              </a:ext>
            </a:extLst>
          </p:cNvPr>
          <p:cNvCxnSpPr>
            <a:cxnSpLocks/>
            <a:endCxn id="24" idx="0"/>
          </p:cNvCxnSpPr>
          <p:nvPr/>
        </p:nvCxnSpPr>
        <p:spPr>
          <a:xfrm flipH="1">
            <a:off x="2124138" y="3204822"/>
            <a:ext cx="1" cy="1807424"/>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B2B60318-0C9B-ED03-F788-A634E7DEB1E1}"/>
              </a:ext>
            </a:extLst>
          </p:cNvPr>
          <p:cNvCxnSpPr>
            <a:cxnSpLocks/>
          </p:cNvCxnSpPr>
          <p:nvPr/>
        </p:nvCxnSpPr>
        <p:spPr>
          <a:xfrm>
            <a:off x="2678137" y="3020156"/>
            <a:ext cx="1318345"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A3B1C517-CB6E-81FF-D90C-3DD26258A0ED}"/>
              </a:ext>
            </a:extLst>
          </p:cNvPr>
          <p:cNvSpPr txBox="1"/>
          <p:nvPr/>
        </p:nvSpPr>
        <p:spPr>
          <a:xfrm>
            <a:off x="3431492" y="5012246"/>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プログラム</a:t>
            </a:r>
            <a:r>
              <a:rPr lang="ja-GB" dirty="0"/>
              <a:t>記憶装置</a:t>
            </a:r>
          </a:p>
        </p:txBody>
      </p:sp>
      <p:sp>
        <p:nvSpPr>
          <p:cNvPr id="31" name="テキスト ボックス 30">
            <a:extLst>
              <a:ext uri="{FF2B5EF4-FFF2-40B4-BE49-F238E27FC236}">
                <a16:creationId xmlns:a16="http://schemas.microsoft.com/office/drawing/2014/main" id="{C4085C7B-B8A6-7440-8272-7582261222D1}"/>
              </a:ext>
            </a:extLst>
          </p:cNvPr>
          <p:cNvSpPr txBox="1"/>
          <p:nvPr/>
        </p:nvSpPr>
        <p:spPr>
          <a:xfrm>
            <a:off x="3431492" y="4342577"/>
            <a:ext cx="2262158"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altLang="en-US" dirty="0"/>
              <a:t>　データ</a:t>
            </a:r>
            <a:r>
              <a:rPr lang="ja-GB" dirty="0"/>
              <a:t>記憶装置</a:t>
            </a:r>
            <a:r>
              <a:rPr lang="ja-GB" altLang="en-US" dirty="0"/>
              <a:t>　</a:t>
            </a:r>
            <a:endParaRPr lang="ja-GB" dirty="0"/>
          </a:p>
        </p:txBody>
      </p:sp>
      <p:cxnSp>
        <p:nvCxnSpPr>
          <p:cNvPr id="32" name="曲線コネクタ 31">
            <a:extLst>
              <a:ext uri="{FF2B5EF4-FFF2-40B4-BE49-F238E27FC236}">
                <a16:creationId xmlns:a16="http://schemas.microsoft.com/office/drawing/2014/main" id="{27B37451-EC12-20CC-298E-976A0D003308}"/>
              </a:ext>
            </a:extLst>
          </p:cNvPr>
          <p:cNvCxnSpPr>
            <a:cxnSpLocks/>
            <a:stCxn id="22" idx="2"/>
            <a:endCxn id="30" idx="1"/>
          </p:cNvCxnSpPr>
          <p:nvPr/>
        </p:nvCxnSpPr>
        <p:spPr>
          <a:xfrm rot="16200000" flipH="1">
            <a:off x="1781770" y="3547190"/>
            <a:ext cx="1992090"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8" name="曲線コネクタ 7">
            <a:extLst>
              <a:ext uri="{FF2B5EF4-FFF2-40B4-BE49-F238E27FC236}">
                <a16:creationId xmlns:a16="http://schemas.microsoft.com/office/drawing/2014/main" id="{E04EA539-5E15-A7F0-ABA1-7D59ABE26D92}"/>
              </a:ext>
            </a:extLst>
          </p:cNvPr>
          <p:cNvCxnSpPr>
            <a:cxnSpLocks/>
          </p:cNvCxnSpPr>
          <p:nvPr/>
        </p:nvCxnSpPr>
        <p:spPr>
          <a:xfrm rot="16200000" flipH="1">
            <a:off x="2116605" y="3212355"/>
            <a:ext cx="1322421" cy="1307353"/>
          </a:xfrm>
          <a:prstGeom prst="curvedConnector2">
            <a:avLst/>
          </a:prstGeom>
          <a:ln w="50800" cap="flat">
            <a:solidFill>
              <a:srgbClr val="2F2523"/>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D0BAB3A3-1157-D298-9F2A-D32F4DDADAEB}"/>
              </a:ext>
            </a:extLst>
          </p:cNvPr>
          <p:cNvCxnSpPr>
            <a:cxnSpLocks/>
          </p:cNvCxnSpPr>
          <p:nvPr/>
        </p:nvCxnSpPr>
        <p:spPr>
          <a:xfrm flipH="1" flipV="1">
            <a:off x="4427930" y="3204822"/>
            <a:ext cx="12091" cy="1137755"/>
          </a:xfrm>
          <a:prstGeom prst="straightConnector1">
            <a:avLst/>
          </a:prstGeom>
          <a:ln w="50800">
            <a:solidFill>
              <a:srgbClr val="2F2523"/>
            </a:solidFill>
            <a:tailEnd type="triangle"/>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3AD13D4D-CB38-262D-E535-4EA7EC2EA31E}"/>
              </a:ext>
            </a:extLst>
          </p:cNvPr>
          <p:cNvSpPr txBox="1"/>
          <p:nvPr/>
        </p:nvSpPr>
        <p:spPr>
          <a:xfrm>
            <a:off x="2456032" y="3857725"/>
            <a:ext cx="1441420" cy="307777"/>
          </a:xfrm>
          <a:prstGeom prst="rect">
            <a:avLst/>
          </a:prstGeom>
          <a:noFill/>
        </p:spPr>
        <p:txBody>
          <a:bodyPr wrap="none" rtlCol="0">
            <a:spAutoFit/>
          </a:bodyPr>
          <a:lstStyle/>
          <a:p>
            <a:r>
              <a:rPr kumimoji="1" lang="ja-GB" altLang="en-US" sz="1400" b="1" dirty="0">
                <a:solidFill>
                  <a:srgbClr val="2F2523"/>
                </a:solidFill>
              </a:rPr>
              <a:t>データ転送命令</a:t>
            </a:r>
          </a:p>
        </p:txBody>
      </p:sp>
      <p:cxnSp>
        <p:nvCxnSpPr>
          <p:cNvPr id="4" name="曲線コネクタ 3">
            <a:extLst>
              <a:ext uri="{FF2B5EF4-FFF2-40B4-BE49-F238E27FC236}">
                <a16:creationId xmlns:a16="http://schemas.microsoft.com/office/drawing/2014/main" id="{4478F9B8-807C-AEA1-C338-F3936A86FEC5}"/>
              </a:ext>
            </a:extLst>
          </p:cNvPr>
          <p:cNvCxnSpPr>
            <a:cxnSpLocks/>
            <a:stCxn id="22" idx="3"/>
            <a:endCxn id="23" idx="1"/>
          </p:cNvCxnSpPr>
          <p:nvPr/>
        </p:nvCxnSpPr>
        <p:spPr>
          <a:xfrm>
            <a:off x="2678137" y="3020156"/>
            <a:ext cx="1318345" cy="12700"/>
          </a:xfrm>
          <a:prstGeom prst="curvedConnector3">
            <a:avLst>
              <a:gd name="adj1" fmla="val 50000"/>
            </a:avLst>
          </a:prstGeom>
          <a:ln w="50800" cap="flat">
            <a:solidFill>
              <a:schemeClr val="accent2"/>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A30D4000-F240-5866-A187-4E465135FE6F}"/>
              </a:ext>
            </a:extLst>
          </p:cNvPr>
          <p:cNvSpPr txBox="1"/>
          <p:nvPr/>
        </p:nvSpPr>
        <p:spPr>
          <a:xfrm>
            <a:off x="2618469" y="3071583"/>
            <a:ext cx="1441420" cy="523220"/>
          </a:xfrm>
          <a:prstGeom prst="rect">
            <a:avLst/>
          </a:prstGeom>
          <a:noFill/>
        </p:spPr>
        <p:txBody>
          <a:bodyPr wrap="none" rtlCol="0">
            <a:spAutoFit/>
          </a:bodyPr>
          <a:lstStyle/>
          <a:p>
            <a:pPr algn="ctr"/>
            <a:r>
              <a:rPr kumimoji="1" lang="ja-GB" altLang="en-US" sz="1400" b="1" dirty="0">
                <a:solidFill>
                  <a:schemeClr val="accent2"/>
                </a:solidFill>
              </a:rPr>
              <a:t>演算命令</a:t>
            </a:r>
            <a:endParaRPr kumimoji="1" lang="en-US" altLang="ja-GB" sz="1400" b="1" dirty="0">
              <a:solidFill>
                <a:schemeClr val="accent2"/>
              </a:solidFill>
            </a:endParaRPr>
          </a:p>
          <a:p>
            <a:pPr algn="ctr"/>
            <a:r>
              <a:rPr kumimoji="1" lang="ja-GB" altLang="en-US" sz="1400" b="1" dirty="0">
                <a:solidFill>
                  <a:schemeClr val="accent2"/>
                </a:solidFill>
              </a:rPr>
              <a:t>データ転送命令</a:t>
            </a:r>
          </a:p>
        </p:txBody>
      </p:sp>
      <p:cxnSp>
        <p:nvCxnSpPr>
          <p:cNvPr id="12" name="直線矢印コネクタ 11">
            <a:extLst>
              <a:ext uri="{FF2B5EF4-FFF2-40B4-BE49-F238E27FC236}">
                <a16:creationId xmlns:a16="http://schemas.microsoft.com/office/drawing/2014/main" id="{2BA61717-06DC-D76B-6AE8-5CBAB66B0D97}"/>
              </a:ext>
            </a:extLst>
          </p:cNvPr>
          <p:cNvCxnSpPr>
            <a:cxnSpLocks/>
          </p:cNvCxnSpPr>
          <p:nvPr/>
        </p:nvCxnSpPr>
        <p:spPr>
          <a:xfrm>
            <a:off x="4597615" y="3204822"/>
            <a:ext cx="12091" cy="1137755"/>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17DB2EF9-90B5-2B2D-F1A0-0356972B627A}"/>
              </a:ext>
            </a:extLst>
          </p:cNvPr>
          <p:cNvSpPr txBox="1"/>
          <p:nvPr/>
        </p:nvSpPr>
        <p:spPr>
          <a:xfrm>
            <a:off x="4607938" y="3715869"/>
            <a:ext cx="814647" cy="307777"/>
          </a:xfrm>
          <a:prstGeom prst="rect">
            <a:avLst/>
          </a:prstGeom>
          <a:noFill/>
        </p:spPr>
        <p:txBody>
          <a:bodyPr wrap="none" rtlCol="0">
            <a:spAutoFit/>
          </a:bodyPr>
          <a:lstStyle/>
          <a:p>
            <a:r>
              <a:rPr kumimoji="1" lang="ja-GB" altLang="en-US" sz="1400" b="1" dirty="0">
                <a:solidFill>
                  <a:srgbClr val="0070C0"/>
                </a:solidFill>
              </a:rPr>
              <a:t>結果：</a:t>
            </a:r>
            <a:r>
              <a:rPr kumimoji="1" lang="en-US" altLang="ja-GB" sz="1400" b="1" dirty="0">
                <a:solidFill>
                  <a:srgbClr val="0070C0"/>
                </a:solidFill>
              </a:rPr>
              <a:t>5</a:t>
            </a:r>
            <a:endParaRPr kumimoji="1" lang="ja-GB" altLang="en-US" sz="1400" b="1" dirty="0">
              <a:solidFill>
                <a:srgbClr val="0070C0"/>
              </a:solidFill>
            </a:endParaRPr>
          </a:p>
        </p:txBody>
      </p:sp>
      <p:sp>
        <p:nvSpPr>
          <p:cNvPr id="17" name="テキスト ボックス 16">
            <a:extLst>
              <a:ext uri="{FF2B5EF4-FFF2-40B4-BE49-F238E27FC236}">
                <a16:creationId xmlns:a16="http://schemas.microsoft.com/office/drawing/2014/main" id="{BE337D8A-9CB4-5DFC-D532-95A00EAD9579}"/>
              </a:ext>
            </a:extLst>
          </p:cNvPr>
          <p:cNvSpPr txBox="1"/>
          <p:nvPr/>
        </p:nvSpPr>
        <p:spPr>
          <a:xfrm>
            <a:off x="940149" y="2835490"/>
            <a:ext cx="558166" cy="369332"/>
          </a:xfrm>
          <a:prstGeom prst="rect">
            <a:avLst/>
          </a:prstGeom>
          <a:noFill/>
        </p:spPr>
        <p:txBody>
          <a:bodyPr wrap="none" rtlCol="0">
            <a:spAutoFit/>
          </a:bodyPr>
          <a:lstStyle/>
          <a:p>
            <a:r>
              <a:rPr kumimoji="1" lang="en-US" altLang="ja-GB" dirty="0">
                <a:solidFill>
                  <a:srgbClr val="2F2523"/>
                </a:solidFill>
              </a:rPr>
              <a:t>A+B</a:t>
            </a:r>
            <a:endParaRPr kumimoji="1" lang="ja-GB" altLang="en-US" dirty="0">
              <a:solidFill>
                <a:srgbClr val="2F2523"/>
              </a:solidFill>
            </a:endParaRPr>
          </a:p>
        </p:txBody>
      </p:sp>
      <p:sp>
        <p:nvSpPr>
          <p:cNvPr id="20" name="テキスト ボックス 19">
            <a:extLst>
              <a:ext uri="{FF2B5EF4-FFF2-40B4-BE49-F238E27FC236}">
                <a16:creationId xmlns:a16="http://schemas.microsoft.com/office/drawing/2014/main" id="{A3FC62E7-9116-FA65-36B8-820B22E3417A}"/>
              </a:ext>
            </a:extLst>
          </p:cNvPr>
          <p:cNvSpPr txBox="1"/>
          <p:nvPr/>
        </p:nvSpPr>
        <p:spPr>
          <a:xfrm>
            <a:off x="5160146" y="2764896"/>
            <a:ext cx="474810" cy="523220"/>
          </a:xfrm>
          <a:prstGeom prst="rect">
            <a:avLst/>
          </a:prstGeom>
          <a:noFill/>
        </p:spPr>
        <p:txBody>
          <a:bodyPr wrap="none" rtlCol="0">
            <a:spAutoFit/>
          </a:bodyPr>
          <a:lstStyle/>
          <a:p>
            <a:r>
              <a:rPr kumimoji="1" lang="en-US" altLang="ja-GB" sz="1400" b="1" dirty="0">
                <a:solidFill>
                  <a:srgbClr val="0070C0"/>
                </a:solidFill>
              </a:rPr>
              <a:t>A=2</a:t>
            </a:r>
          </a:p>
          <a:p>
            <a:r>
              <a:rPr kumimoji="1" lang="en-US" altLang="ja-GB" sz="1400" b="1" dirty="0">
                <a:solidFill>
                  <a:srgbClr val="0070C0"/>
                </a:solidFill>
              </a:rPr>
              <a:t>B=3</a:t>
            </a:r>
            <a:endParaRPr kumimoji="1" lang="ja-GB" altLang="en-US" sz="1400" b="1" dirty="0">
              <a:solidFill>
                <a:srgbClr val="0070C0"/>
              </a:solidFill>
            </a:endParaRPr>
          </a:p>
        </p:txBody>
      </p:sp>
      <p:sp>
        <p:nvSpPr>
          <p:cNvPr id="21" name="テキスト ボックス 20">
            <a:extLst>
              <a:ext uri="{FF2B5EF4-FFF2-40B4-BE49-F238E27FC236}">
                <a16:creationId xmlns:a16="http://schemas.microsoft.com/office/drawing/2014/main" id="{42953D47-2805-A58C-1991-FB77F9D12C45}"/>
              </a:ext>
            </a:extLst>
          </p:cNvPr>
          <p:cNvSpPr txBox="1"/>
          <p:nvPr/>
        </p:nvSpPr>
        <p:spPr>
          <a:xfrm>
            <a:off x="5690624" y="2878967"/>
            <a:ext cx="665567" cy="307777"/>
          </a:xfrm>
          <a:prstGeom prst="rect">
            <a:avLst/>
          </a:prstGeom>
          <a:noFill/>
        </p:spPr>
        <p:txBody>
          <a:bodyPr wrap="none" rtlCol="0">
            <a:spAutoFit/>
          </a:bodyPr>
          <a:lstStyle/>
          <a:p>
            <a:r>
              <a:rPr kumimoji="1" lang="en-US" altLang="ja-GB" sz="1400" b="1" dirty="0">
                <a:solidFill>
                  <a:srgbClr val="0070C0"/>
                </a:solidFill>
              </a:rPr>
              <a:t>A+B=5</a:t>
            </a:r>
            <a:endParaRPr kumimoji="1" lang="ja-GB" altLang="en-US" sz="1400" b="1" dirty="0">
              <a:solidFill>
                <a:srgbClr val="0070C0"/>
              </a:solidFill>
            </a:endParaRPr>
          </a:p>
        </p:txBody>
      </p:sp>
      <p:pic>
        <p:nvPicPr>
          <p:cNvPr id="34" name="グラフィックス 33" descr="キーボード 単色塗りつぶし">
            <a:extLst>
              <a:ext uri="{FF2B5EF4-FFF2-40B4-BE49-F238E27FC236}">
                <a16:creationId xmlns:a16="http://schemas.microsoft.com/office/drawing/2014/main" id="{0050B08D-4157-9CEA-C196-64FE8A09DA4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79498" y="5662588"/>
            <a:ext cx="914400" cy="914400"/>
          </a:xfrm>
          <a:prstGeom prst="rect">
            <a:avLst/>
          </a:prstGeom>
        </p:spPr>
      </p:pic>
      <p:sp>
        <p:nvSpPr>
          <p:cNvPr id="35" name="テキスト ボックス 34">
            <a:extLst>
              <a:ext uri="{FF2B5EF4-FFF2-40B4-BE49-F238E27FC236}">
                <a16:creationId xmlns:a16="http://schemas.microsoft.com/office/drawing/2014/main" id="{4B8E6E6D-BF5B-78DD-9109-22C3C2DE6200}"/>
              </a:ext>
            </a:extLst>
          </p:cNvPr>
          <p:cNvSpPr txBox="1"/>
          <p:nvPr/>
        </p:nvSpPr>
        <p:spPr>
          <a:xfrm>
            <a:off x="3959165" y="3594772"/>
            <a:ext cx="474810" cy="523220"/>
          </a:xfrm>
          <a:prstGeom prst="rect">
            <a:avLst/>
          </a:prstGeom>
          <a:noFill/>
        </p:spPr>
        <p:txBody>
          <a:bodyPr wrap="none" rtlCol="0">
            <a:spAutoFit/>
          </a:bodyPr>
          <a:lstStyle/>
          <a:p>
            <a:r>
              <a:rPr kumimoji="1" lang="en-US" altLang="ja-GB" sz="1400" b="1" dirty="0">
                <a:solidFill>
                  <a:srgbClr val="2F2523"/>
                </a:solidFill>
              </a:rPr>
              <a:t>A=2</a:t>
            </a:r>
          </a:p>
          <a:p>
            <a:r>
              <a:rPr kumimoji="1" lang="en-US" altLang="ja-GB" sz="1400" b="1" dirty="0">
                <a:solidFill>
                  <a:srgbClr val="2F2523"/>
                </a:solidFill>
              </a:rPr>
              <a:t>B=3</a:t>
            </a:r>
            <a:endParaRPr kumimoji="1" lang="ja-GB" altLang="en-US" sz="1400" b="1" dirty="0">
              <a:solidFill>
                <a:srgbClr val="2F2523"/>
              </a:solidFill>
            </a:endParaRPr>
          </a:p>
        </p:txBody>
      </p:sp>
    </p:spTree>
    <p:extLst>
      <p:ext uri="{BB962C8B-B14F-4D97-AF65-F5344CB8AC3E}">
        <p14:creationId xmlns:p14="http://schemas.microsoft.com/office/powerpoint/2010/main" val="362849172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50A41-FD70-4D9F-9A0C-31366C5DA52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C91BCBA-8696-7D3C-6A20-95B0AC6716B6}"/>
              </a:ext>
            </a:extLst>
          </p:cNvPr>
          <p:cNvSpPr>
            <a:spLocks noGrp="1"/>
          </p:cNvSpPr>
          <p:nvPr>
            <p:ph type="title"/>
          </p:nvPr>
        </p:nvSpPr>
        <p:spPr/>
        <p:txBody>
          <a:bodyPr/>
          <a:lstStyle/>
          <a:p>
            <a:r>
              <a:rPr kumimoji="1" lang="ja-GB" altLang="en-US" dirty="0"/>
              <a:t>プログラム実行の流れ（例</a:t>
            </a:r>
            <a:r>
              <a:rPr kumimoji="1" lang="en-US" altLang="ja-GB" dirty="0"/>
              <a:t> A+B</a:t>
            </a:r>
            <a:r>
              <a:rPr kumimoji="1" lang="ja-GB" altLang="en-US" dirty="0"/>
              <a:t>）</a:t>
            </a:r>
          </a:p>
        </p:txBody>
      </p:sp>
      <p:sp>
        <p:nvSpPr>
          <p:cNvPr id="3" name="コンテンツ プレースホルダー 2">
            <a:extLst>
              <a:ext uri="{FF2B5EF4-FFF2-40B4-BE49-F238E27FC236}">
                <a16:creationId xmlns:a16="http://schemas.microsoft.com/office/drawing/2014/main" id="{47A57CA7-9A32-FB3D-68A3-D3259FB74343}"/>
              </a:ext>
            </a:extLst>
          </p:cNvPr>
          <p:cNvSpPr>
            <a:spLocks noGrp="1"/>
          </p:cNvSpPr>
          <p:nvPr>
            <p:ph idx="1"/>
          </p:nvPr>
        </p:nvSpPr>
        <p:spPr/>
        <p:txBody>
          <a:bodyPr>
            <a:normAutofit/>
          </a:bodyPr>
          <a:lstStyle/>
          <a:p>
            <a:pPr marL="0" indent="0">
              <a:buNone/>
            </a:pPr>
            <a:r>
              <a:rPr kumimoji="1" lang="en-US" altLang="ja-GB" sz="2000" dirty="0">
                <a:solidFill>
                  <a:schemeClr val="bg1">
                    <a:lumMod val="75000"/>
                  </a:schemeClr>
                </a:solidFill>
              </a:rPr>
              <a:t>①</a:t>
            </a:r>
            <a:r>
              <a:rPr kumimoji="1" lang="ja-GB" altLang="en-US" sz="2000" dirty="0">
                <a:solidFill>
                  <a:schemeClr val="bg1">
                    <a:lumMod val="75000"/>
                  </a:schemeClr>
                </a:solidFill>
              </a:rPr>
              <a:t>事前準備：プログラム転送命令</a:t>
            </a:r>
            <a:endParaRPr kumimoji="1" lang="en-US" altLang="ja-GB" sz="2000" dirty="0">
              <a:solidFill>
                <a:schemeClr val="bg1">
                  <a:lumMod val="75000"/>
                </a:schemeClr>
              </a:solidFill>
            </a:endParaRPr>
          </a:p>
          <a:p>
            <a:pPr marL="0" indent="0">
              <a:buNone/>
            </a:pPr>
            <a:r>
              <a:rPr lang="en-US" altLang="ja-GB" sz="2000" dirty="0">
                <a:solidFill>
                  <a:schemeClr val="bg1">
                    <a:lumMod val="75000"/>
                  </a:schemeClr>
                </a:solidFill>
              </a:rPr>
              <a:t>②</a:t>
            </a:r>
            <a:r>
              <a:rPr lang="ja-GB" altLang="en-US" sz="2000" dirty="0">
                <a:solidFill>
                  <a:schemeClr val="bg1">
                    <a:lumMod val="75000"/>
                  </a:schemeClr>
                </a:solidFill>
              </a:rPr>
              <a:t>入力受付：入力命令，データ転送命令</a:t>
            </a:r>
            <a:endParaRPr lang="en-US" altLang="ja-GB" sz="2000" dirty="0">
              <a:solidFill>
                <a:schemeClr val="bg1">
                  <a:lumMod val="75000"/>
                </a:schemeClr>
              </a:solidFill>
            </a:endParaRPr>
          </a:p>
          <a:p>
            <a:pPr marL="0" indent="0">
              <a:buNone/>
            </a:pPr>
            <a:r>
              <a:rPr kumimoji="1" lang="en-US" altLang="ja-GB" sz="2000" dirty="0">
                <a:solidFill>
                  <a:schemeClr val="bg1">
                    <a:lumMod val="75000"/>
                  </a:schemeClr>
                </a:solidFill>
              </a:rPr>
              <a:t>③</a:t>
            </a:r>
            <a:r>
              <a:rPr kumimoji="1" lang="ja-GB" altLang="en-US" sz="2000" dirty="0">
                <a:solidFill>
                  <a:schemeClr val="bg1">
                    <a:lumMod val="75000"/>
                  </a:schemeClr>
                </a:solidFill>
              </a:rPr>
              <a:t>演算実行：演算命令，データ転送命令</a:t>
            </a:r>
            <a:endParaRPr kumimoji="1" lang="en-US" altLang="ja-GB" sz="2000" dirty="0">
              <a:solidFill>
                <a:schemeClr val="bg1">
                  <a:lumMod val="75000"/>
                </a:schemeClr>
              </a:solidFill>
            </a:endParaRPr>
          </a:p>
          <a:p>
            <a:pPr marL="0" indent="0">
              <a:buNone/>
            </a:pPr>
            <a:r>
              <a:rPr lang="en-US" altLang="ja-GB" sz="2000" dirty="0"/>
              <a:t>④</a:t>
            </a:r>
            <a:r>
              <a:rPr lang="ja-GB" altLang="en-US" sz="2000" dirty="0"/>
              <a:t>結果出力：データ転送命令，出力命令</a:t>
            </a:r>
            <a:endParaRPr kumimoji="1" lang="ja-GB" altLang="en-US" sz="2000" dirty="0"/>
          </a:p>
        </p:txBody>
      </p:sp>
      <p:sp>
        <p:nvSpPr>
          <p:cNvPr id="18" name="角丸四角形 17">
            <a:extLst>
              <a:ext uri="{FF2B5EF4-FFF2-40B4-BE49-F238E27FC236}">
                <a16:creationId xmlns:a16="http://schemas.microsoft.com/office/drawing/2014/main" id="{1FB98757-79B7-5270-2526-6693F6665751}"/>
              </a:ext>
            </a:extLst>
          </p:cNvPr>
          <p:cNvSpPr/>
          <p:nvPr/>
        </p:nvSpPr>
        <p:spPr>
          <a:xfrm>
            <a:off x="3219781" y="4177535"/>
            <a:ext cx="2676422" cy="138925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9" name="テキスト ボックス 18">
            <a:extLst>
              <a:ext uri="{FF2B5EF4-FFF2-40B4-BE49-F238E27FC236}">
                <a16:creationId xmlns:a16="http://schemas.microsoft.com/office/drawing/2014/main" id="{FED8D833-388E-1A42-69DC-D8EA2667E997}"/>
              </a:ext>
            </a:extLst>
          </p:cNvPr>
          <p:cNvSpPr txBox="1"/>
          <p:nvPr/>
        </p:nvSpPr>
        <p:spPr>
          <a:xfrm>
            <a:off x="6422824" y="5012246"/>
            <a:ext cx="1107996"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dirty="0"/>
              <a:t>出力装置</a:t>
            </a:r>
          </a:p>
        </p:txBody>
      </p:sp>
      <p:sp>
        <p:nvSpPr>
          <p:cNvPr id="22" name="テキスト ボックス 21">
            <a:extLst>
              <a:ext uri="{FF2B5EF4-FFF2-40B4-BE49-F238E27FC236}">
                <a16:creationId xmlns:a16="http://schemas.microsoft.com/office/drawing/2014/main" id="{5060959B-DAF4-836B-2431-ABD9F7349D3B}"/>
              </a:ext>
            </a:extLst>
          </p:cNvPr>
          <p:cNvSpPr txBox="1"/>
          <p:nvPr/>
        </p:nvSpPr>
        <p:spPr>
          <a:xfrm>
            <a:off x="1570141" y="2835490"/>
            <a:ext cx="1107996"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dirty="0"/>
              <a:t>制御装置</a:t>
            </a:r>
          </a:p>
        </p:txBody>
      </p:sp>
      <p:sp>
        <p:nvSpPr>
          <p:cNvPr id="23" name="テキスト ボックス 22">
            <a:extLst>
              <a:ext uri="{FF2B5EF4-FFF2-40B4-BE49-F238E27FC236}">
                <a16:creationId xmlns:a16="http://schemas.microsoft.com/office/drawing/2014/main" id="{7654DE2E-FF86-93D9-6E98-599172E49478}"/>
              </a:ext>
            </a:extLst>
          </p:cNvPr>
          <p:cNvSpPr txBox="1"/>
          <p:nvPr/>
        </p:nvSpPr>
        <p:spPr>
          <a:xfrm>
            <a:off x="3996482"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sp>
        <p:nvSpPr>
          <p:cNvPr id="24" name="テキスト ボックス 23">
            <a:extLst>
              <a:ext uri="{FF2B5EF4-FFF2-40B4-BE49-F238E27FC236}">
                <a16:creationId xmlns:a16="http://schemas.microsoft.com/office/drawing/2014/main" id="{89676766-5AD5-3135-B142-46FE4CB45477}"/>
              </a:ext>
            </a:extLst>
          </p:cNvPr>
          <p:cNvSpPr txBox="1"/>
          <p:nvPr/>
        </p:nvSpPr>
        <p:spPr>
          <a:xfrm>
            <a:off x="1570140"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sp>
        <p:nvSpPr>
          <p:cNvPr id="25" name="テキスト ボックス 24">
            <a:extLst>
              <a:ext uri="{FF2B5EF4-FFF2-40B4-BE49-F238E27FC236}">
                <a16:creationId xmlns:a16="http://schemas.microsoft.com/office/drawing/2014/main" id="{A78E0D86-EB4F-C8D4-2C18-C1B5670EC969}"/>
              </a:ext>
            </a:extLst>
          </p:cNvPr>
          <p:cNvSpPr txBox="1"/>
          <p:nvPr/>
        </p:nvSpPr>
        <p:spPr>
          <a:xfrm>
            <a:off x="4112662" y="5547499"/>
            <a:ext cx="800219" cy="276999"/>
          </a:xfrm>
          <a:prstGeom prst="rect">
            <a:avLst/>
          </a:prstGeom>
          <a:noFill/>
        </p:spPr>
        <p:txBody>
          <a:bodyPr wrap="none" rtlCol="0">
            <a:spAutoFit/>
          </a:bodyPr>
          <a:lstStyle/>
          <a:p>
            <a:pPr algn="ctr"/>
            <a:r>
              <a:rPr kumimoji="1" lang="ja-GB" altLang="en-US" sz="1200" b="1" dirty="0">
                <a:solidFill>
                  <a:schemeClr val="tx1">
                    <a:lumMod val="50000"/>
                    <a:lumOff val="50000"/>
                  </a:schemeClr>
                </a:solidFill>
              </a:rPr>
              <a:t>記憶装置</a:t>
            </a:r>
          </a:p>
        </p:txBody>
      </p:sp>
      <p:cxnSp>
        <p:nvCxnSpPr>
          <p:cNvPr id="26" name="曲線コネクタ 25">
            <a:extLst>
              <a:ext uri="{FF2B5EF4-FFF2-40B4-BE49-F238E27FC236}">
                <a16:creationId xmlns:a16="http://schemas.microsoft.com/office/drawing/2014/main" id="{CC84CBC3-A5F9-5E41-51C1-0A9307817E2D}"/>
              </a:ext>
            </a:extLst>
          </p:cNvPr>
          <p:cNvCxnSpPr>
            <a:cxnSpLocks/>
            <a:stCxn id="22" idx="2"/>
            <a:endCxn id="19" idx="0"/>
          </p:cNvCxnSpPr>
          <p:nvPr/>
        </p:nvCxnSpPr>
        <p:spPr>
          <a:xfrm rot="16200000" flipH="1">
            <a:off x="3646768" y="1682192"/>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7" name="曲線コネクタ 26">
            <a:extLst>
              <a:ext uri="{FF2B5EF4-FFF2-40B4-BE49-F238E27FC236}">
                <a16:creationId xmlns:a16="http://schemas.microsoft.com/office/drawing/2014/main" id="{82BD0694-C191-2842-B699-97AA98DB79E7}"/>
              </a:ext>
            </a:extLst>
          </p:cNvPr>
          <p:cNvCxnSpPr>
            <a:cxnSpLocks/>
            <a:stCxn id="22" idx="2"/>
            <a:endCxn id="31" idx="1"/>
          </p:cNvCxnSpPr>
          <p:nvPr/>
        </p:nvCxnSpPr>
        <p:spPr>
          <a:xfrm rot="16200000" flipH="1">
            <a:off x="2116605" y="3212355"/>
            <a:ext cx="1322421"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0E7DD708-2887-A13D-DA94-DF5239A80BD5}"/>
              </a:ext>
            </a:extLst>
          </p:cNvPr>
          <p:cNvCxnSpPr>
            <a:cxnSpLocks/>
            <a:endCxn id="24" idx="0"/>
          </p:cNvCxnSpPr>
          <p:nvPr/>
        </p:nvCxnSpPr>
        <p:spPr>
          <a:xfrm flipH="1">
            <a:off x="2124138" y="3204822"/>
            <a:ext cx="1" cy="1807424"/>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85905D0C-B382-8E45-ABA8-98585835B60E}"/>
              </a:ext>
            </a:extLst>
          </p:cNvPr>
          <p:cNvCxnSpPr>
            <a:cxnSpLocks/>
          </p:cNvCxnSpPr>
          <p:nvPr/>
        </p:nvCxnSpPr>
        <p:spPr>
          <a:xfrm>
            <a:off x="2678137" y="3020156"/>
            <a:ext cx="1318345"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6F415770-F44F-C8BE-D08B-145A1EC35910}"/>
              </a:ext>
            </a:extLst>
          </p:cNvPr>
          <p:cNvSpPr txBox="1"/>
          <p:nvPr/>
        </p:nvSpPr>
        <p:spPr>
          <a:xfrm>
            <a:off x="3431492" y="5012246"/>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プログラム</a:t>
            </a:r>
            <a:r>
              <a:rPr lang="ja-GB" dirty="0"/>
              <a:t>記憶装置</a:t>
            </a:r>
          </a:p>
        </p:txBody>
      </p:sp>
      <p:sp>
        <p:nvSpPr>
          <p:cNvPr id="31" name="テキスト ボックス 30">
            <a:extLst>
              <a:ext uri="{FF2B5EF4-FFF2-40B4-BE49-F238E27FC236}">
                <a16:creationId xmlns:a16="http://schemas.microsoft.com/office/drawing/2014/main" id="{8C25EE33-A0A6-EB00-0D09-299D394F4EE3}"/>
              </a:ext>
            </a:extLst>
          </p:cNvPr>
          <p:cNvSpPr txBox="1"/>
          <p:nvPr/>
        </p:nvSpPr>
        <p:spPr>
          <a:xfrm>
            <a:off x="3431492" y="4342577"/>
            <a:ext cx="2262158"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altLang="en-US" dirty="0"/>
              <a:t>　データ</a:t>
            </a:r>
            <a:r>
              <a:rPr lang="ja-GB" dirty="0"/>
              <a:t>記憶装置</a:t>
            </a:r>
            <a:r>
              <a:rPr lang="ja-GB" altLang="en-US" dirty="0"/>
              <a:t>　</a:t>
            </a:r>
            <a:endParaRPr lang="ja-GB" dirty="0"/>
          </a:p>
        </p:txBody>
      </p:sp>
      <p:cxnSp>
        <p:nvCxnSpPr>
          <p:cNvPr id="32" name="曲線コネクタ 31">
            <a:extLst>
              <a:ext uri="{FF2B5EF4-FFF2-40B4-BE49-F238E27FC236}">
                <a16:creationId xmlns:a16="http://schemas.microsoft.com/office/drawing/2014/main" id="{83518B68-9663-A49B-028B-F7C3229F415B}"/>
              </a:ext>
            </a:extLst>
          </p:cNvPr>
          <p:cNvCxnSpPr>
            <a:cxnSpLocks/>
            <a:stCxn id="22" idx="2"/>
            <a:endCxn id="30" idx="1"/>
          </p:cNvCxnSpPr>
          <p:nvPr/>
        </p:nvCxnSpPr>
        <p:spPr>
          <a:xfrm rot="16200000" flipH="1">
            <a:off x="1781770" y="3547190"/>
            <a:ext cx="1992090"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 name="曲線コネクタ 3">
            <a:extLst>
              <a:ext uri="{FF2B5EF4-FFF2-40B4-BE49-F238E27FC236}">
                <a16:creationId xmlns:a16="http://schemas.microsoft.com/office/drawing/2014/main" id="{B6965285-8B1F-5F1A-7509-E7D0006C49FD}"/>
              </a:ext>
            </a:extLst>
          </p:cNvPr>
          <p:cNvCxnSpPr>
            <a:cxnSpLocks/>
          </p:cNvCxnSpPr>
          <p:nvPr/>
        </p:nvCxnSpPr>
        <p:spPr>
          <a:xfrm rot="16200000" flipH="1">
            <a:off x="2116605" y="3212355"/>
            <a:ext cx="1322421" cy="1307353"/>
          </a:xfrm>
          <a:prstGeom prst="curvedConnector2">
            <a:avLst/>
          </a:prstGeom>
          <a:ln w="50800" cap="flat">
            <a:solidFill>
              <a:schemeClr val="accent2"/>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EA60A881-0065-AAB6-3EEA-29E42AE36990}"/>
              </a:ext>
            </a:extLst>
          </p:cNvPr>
          <p:cNvSpPr txBox="1"/>
          <p:nvPr/>
        </p:nvSpPr>
        <p:spPr>
          <a:xfrm>
            <a:off x="2456032" y="3857725"/>
            <a:ext cx="1441420" cy="307777"/>
          </a:xfrm>
          <a:prstGeom prst="rect">
            <a:avLst/>
          </a:prstGeom>
          <a:noFill/>
        </p:spPr>
        <p:txBody>
          <a:bodyPr wrap="none" rtlCol="0">
            <a:spAutoFit/>
          </a:bodyPr>
          <a:lstStyle/>
          <a:p>
            <a:r>
              <a:rPr kumimoji="1" lang="ja-GB" altLang="en-US" sz="1400" b="1" dirty="0">
                <a:solidFill>
                  <a:schemeClr val="accent2"/>
                </a:solidFill>
              </a:rPr>
              <a:t>データ転送命令</a:t>
            </a:r>
          </a:p>
        </p:txBody>
      </p:sp>
      <p:cxnSp>
        <p:nvCxnSpPr>
          <p:cNvPr id="6" name="直線矢印コネクタ 5">
            <a:extLst>
              <a:ext uri="{FF2B5EF4-FFF2-40B4-BE49-F238E27FC236}">
                <a16:creationId xmlns:a16="http://schemas.microsoft.com/office/drawing/2014/main" id="{3F6A92A6-1D1E-4A47-1E5A-91CFC600A467}"/>
              </a:ext>
            </a:extLst>
          </p:cNvPr>
          <p:cNvCxnSpPr>
            <a:cxnSpLocks/>
            <a:stCxn id="31" idx="3"/>
            <a:endCxn id="19" idx="1"/>
          </p:cNvCxnSpPr>
          <p:nvPr/>
        </p:nvCxnSpPr>
        <p:spPr>
          <a:xfrm>
            <a:off x="5693650" y="4527243"/>
            <a:ext cx="729174" cy="669669"/>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28709ADD-6FFC-6915-1DB7-75C8E5207678}"/>
              </a:ext>
            </a:extLst>
          </p:cNvPr>
          <p:cNvSpPr txBox="1"/>
          <p:nvPr/>
        </p:nvSpPr>
        <p:spPr>
          <a:xfrm>
            <a:off x="6007021" y="4615856"/>
            <a:ext cx="276038" cy="307777"/>
          </a:xfrm>
          <a:prstGeom prst="rect">
            <a:avLst/>
          </a:prstGeom>
          <a:noFill/>
        </p:spPr>
        <p:txBody>
          <a:bodyPr wrap="none" rtlCol="0">
            <a:spAutoFit/>
          </a:bodyPr>
          <a:lstStyle/>
          <a:p>
            <a:r>
              <a:rPr kumimoji="1" lang="en-US" altLang="ja-GB" sz="1400" b="1" dirty="0">
                <a:solidFill>
                  <a:srgbClr val="0070C0"/>
                </a:solidFill>
              </a:rPr>
              <a:t>5</a:t>
            </a:r>
            <a:endParaRPr kumimoji="1" lang="ja-GB" altLang="en-US" sz="1400" b="1" dirty="0">
              <a:solidFill>
                <a:srgbClr val="0070C0"/>
              </a:solidFill>
            </a:endParaRPr>
          </a:p>
        </p:txBody>
      </p:sp>
      <p:sp>
        <p:nvSpPr>
          <p:cNvPr id="10" name="テキスト ボックス 9">
            <a:extLst>
              <a:ext uri="{FF2B5EF4-FFF2-40B4-BE49-F238E27FC236}">
                <a16:creationId xmlns:a16="http://schemas.microsoft.com/office/drawing/2014/main" id="{80E225D1-44F2-F318-FEE8-A56E50C2A7CC}"/>
              </a:ext>
            </a:extLst>
          </p:cNvPr>
          <p:cNvSpPr txBox="1"/>
          <p:nvPr/>
        </p:nvSpPr>
        <p:spPr>
          <a:xfrm>
            <a:off x="940149" y="2835490"/>
            <a:ext cx="558166" cy="369332"/>
          </a:xfrm>
          <a:prstGeom prst="rect">
            <a:avLst/>
          </a:prstGeom>
          <a:noFill/>
        </p:spPr>
        <p:txBody>
          <a:bodyPr wrap="none" rtlCol="0">
            <a:spAutoFit/>
          </a:bodyPr>
          <a:lstStyle/>
          <a:p>
            <a:r>
              <a:rPr kumimoji="1" lang="en-US" altLang="ja-GB" dirty="0">
                <a:solidFill>
                  <a:srgbClr val="2F2523"/>
                </a:solidFill>
              </a:rPr>
              <a:t>A+B</a:t>
            </a:r>
            <a:endParaRPr kumimoji="1" lang="ja-GB" altLang="en-US" dirty="0">
              <a:solidFill>
                <a:srgbClr val="2F2523"/>
              </a:solidFill>
            </a:endParaRPr>
          </a:p>
        </p:txBody>
      </p:sp>
      <p:pic>
        <p:nvPicPr>
          <p:cNvPr id="13" name="グラフィックス 12" descr="キーボード 単色塗りつぶし">
            <a:extLst>
              <a:ext uri="{FF2B5EF4-FFF2-40B4-BE49-F238E27FC236}">
                <a16:creationId xmlns:a16="http://schemas.microsoft.com/office/drawing/2014/main" id="{86C88C28-BDEF-C105-0DB4-AD3AB405CB7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79498" y="5662588"/>
            <a:ext cx="914400" cy="914400"/>
          </a:xfrm>
          <a:prstGeom prst="rect">
            <a:avLst/>
          </a:prstGeom>
        </p:spPr>
      </p:pic>
    </p:spTree>
    <p:extLst>
      <p:ext uri="{BB962C8B-B14F-4D97-AF65-F5344CB8AC3E}">
        <p14:creationId xmlns:p14="http://schemas.microsoft.com/office/powerpoint/2010/main" val="381468806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4DACF-AF73-FDAA-ED7B-DB459B1FFA7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0B09C55-0B57-A86C-7DC2-2EA9BBF7AD41}"/>
              </a:ext>
            </a:extLst>
          </p:cNvPr>
          <p:cNvSpPr>
            <a:spLocks noGrp="1"/>
          </p:cNvSpPr>
          <p:nvPr>
            <p:ph type="title"/>
          </p:nvPr>
        </p:nvSpPr>
        <p:spPr/>
        <p:txBody>
          <a:bodyPr/>
          <a:lstStyle/>
          <a:p>
            <a:r>
              <a:rPr kumimoji="1" lang="ja-GB" altLang="en-US" dirty="0"/>
              <a:t>プログラム実行の流れ（例</a:t>
            </a:r>
            <a:r>
              <a:rPr kumimoji="1" lang="en-US" altLang="ja-GB" dirty="0"/>
              <a:t> A+B</a:t>
            </a:r>
            <a:r>
              <a:rPr kumimoji="1" lang="ja-GB" altLang="en-US" dirty="0"/>
              <a:t>）</a:t>
            </a:r>
          </a:p>
        </p:txBody>
      </p:sp>
      <p:sp>
        <p:nvSpPr>
          <p:cNvPr id="3" name="コンテンツ プレースホルダー 2">
            <a:extLst>
              <a:ext uri="{FF2B5EF4-FFF2-40B4-BE49-F238E27FC236}">
                <a16:creationId xmlns:a16="http://schemas.microsoft.com/office/drawing/2014/main" id="{F1AA2A71-F12D-0AB5-FCFD-EE255F4B5680}"/>
              </a:ext>
            </a:extLst>
          </p:cNvPr>
          <p:cNvSpPr>
            <a:spLocks noGrp="1"/>
          </p:cNvSpPr>
          <p:nvPr>
            <p:ph idx="1"/>
          </p:nvPr>
        </p:nvSpPr>
        <p:spPr/>
        <p:txBody>
          <a:bodyPr>
            <a:normAutofit/>
          </a:bodyPr>
          <a:lstStyle/>
          <a:p>
            <a:pPr marL="0" indent="0">
              <a:buNone/>
            </a:pPr>
            <a:r>
              <a:rPr kumimoji="1" lang="en-US" altLang="ja-GB" sz="2000" dirty="0">
                <a:solidFill>
                  <a:schemeClr val="bg1">
                    <a:lumMod val="75000"/>
                  </a:schemeClr>
                </a:solidFill>
              </a:rPr>
              <a:t>①</a:t>
            </a:r>
            <a:r>
              <a:rPr kumimoji="1" lang="ja-GB" altLang="en-US" sz="2000" dirty="0">
                <a:solidFill>
                  <a:schemeClr val="bg1">
                    <a:lumMod val="75000"/>
                  </a:schemeClr>
                </a:solidFill>
              </a:rPr>
              <a:t>事前準備：プログラム転送命令</a:t>
            </a:r>
            <a:endParaRPr kumimoji="1" lang="en-US" altLang="ja-GB" sz="2000" dirty="0">
              <a:solidFill>
                <a:schemeClr val="bg1">
                  <a:lumMod val="75000"/>
                </a:schemeClr>
              </a:solidFill>
            </a:endParaRPr>
          </a:p>
          <a:p>
            <a:pPr marL="0" indent="0">
              <a:buNone/>
            </a:pPr>
            <a:r>
              <a:rPr lang="en-US" altLang="ja-GB" sz="2000" dirty="0">
                <a:solidFill>
                  <a:schemeClr val="bg1">
                    <a:lumMod val="75000"/>
                  </a:schemeClr>
                </a:solidFill>
              </a:rPr>
              <a:t>②</a:t>
            </a:r>
            <a:r>
              <a:rPr lang="ja-GB" altLang="en-US" sz="2000" dirty="0">
                <a:solidFill>
                  <a:schemeClr val="bg1">
                    <a:lumMod val="75000"/>
                  </a:schemeClr>
                </a:solidFill>
              </a:rPr>
              <a:t>入力受付：入力命令，データ転送命令</a:t>
            </a:r>
            <a:endParaRPr lang="en-US" altLang="ja-GB" sz="2000" dirty="0">
              <a:solidFill>
                <a:schemeClr val="bg1">
                  <a:lumMod val="75000"/>
                </a:schemeClr>
              </a:solidFill>
            </a:endParaRPr>
          </a:p>
          <a:p>
            <a:pPr marL="0" indent="0">
              <a:buNone/>
            </a:pPr>
            <a:r>
              <a:rPr kumimoji="1" lang="en-US" altLang="ja-GB" sz="2000" dirty="0">
                <a:solidFill>
                  <a:schemeClr val="bg1">
                    <a:lumMod val="75000"/>
                  </a:schemeClr>
                </a:solidFill>
              </a:rPr>
              <a:t>③</a:t>
            </a:r>
            <a:r>
              <a:rPr kumimoji="1" lang="ja-GB" altLang="en-US" sz="2000" dirty="0">
                <a:solidFill>
                  <a:schemeClr val="bg1">
                    <a:lumMod val="75000"/>
                  </a:schemeClr>
                </a:solidFill>
              </a:rPr>
              <a:t>演算実行：演算命令，データ転送命令</a:t>
            </a:r>
            <a:endParaRPr kumimoji="1" lang="en-US" altLang="ja-GB" sz="2000" dirty="0">
              <a:solidFill>
                <a:schemeClr val="bg1">
                  <a:lumMod val="75000"/>
                </a:schemeClr>
              </a:solidFill>
            </a:endParaRPr>
          </a:p>
          <a:p>
            <a:pPr marL="0" indent="0">
              <a:buNone/>
            </a:pPr>
            <a:r>
              <a:rPr lang="en-US" altLang="ja-GB" sz="2000" dirty="0"/>
              <a:t>④</a:t>
            </a:r>
            <a:r>
              <a:rPr lang="ja-GB" altLang="en-US" sz="2000" dirty="0"/>
              <a:t>結果出力：データ転送命令，出力命令</a:t>
            </a:r>
            <a:endParaRPr kumimoji="1" lang="ja-GB" altLang="en-US" sz="2000" dirty="0"/>
          </a:p>
        </p:txBody>
      </p:sp>
      <p:sp>
        <p:nvSpPr>
          <p:cNvPr id="7" name="角丸四角形 6">
            <a:extLst>
              <a:ext uri="{FF2B5EF4-FFF2-40B4-BE49-F238E27FC236}">
                <a16:creationId xmlns:a16="http://schemas.microsoft.com/office/drawing/2014/main" id="{AA6D5DD7-68BD-4FFF-B07C-F4F5E9A4ED29}"/>
              </a:ext>
            </a:extLst>
          </p:cNvPr>
          <p:cNvSpPr/>
          <p:nvPr/>
        </p:nvSpPr>
        <p:spPr>
          <a:xfrm>
            <a:off x="3219781" y="4177535"/>
            <a:ext cx="2676422" cy="138925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8" name="テキスト ボックス 7">
            <a:extLst>
              <a:ext uri="{FF2B5EF4-FFF2-40B4-BE49-F238E27FC236}">
                <a16:creationId xmlns:a16="http://schemas.microsoft.com/office/drawing/2014/main" id="{1EB2B485-3BAC-3035-678C-25932692905D}"/>
              </a:ext>
            </a:extLst>
          </p:cNvPr>
          <p:cNvSpPr txBox="1"/>
          <p:nvPr/>
        </p:nvSpPr>
        <p:spPr>
          <a:xfrm>
            <a:off x="6422824" y="5012246"/>
            <a:ext cx="1107996"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dirty="0"/>
              <a:t>出力装置</a:t>
            </a:r>
          </a:p>
        </p:txBody>
      </p:sp>
      <p:sp>
        <p:nvSpPr>
          <p:cNvPr id="12" name="テキスト ボックス 11">
            <a:extLst>
              <a:ext uri="{FF2B5EF4-FFF2-40B4-BE49-F238E27FC236}">
                <a16:creationId xmlns:a16="http://schemas.microsoft.com/office/drawing/2014/main" id="{51CD8E07-5515-1D67-86F1-CBCEE2EB5EA2}"/>
              </a:ext>
            </a:extLst>
          </p:cNvPr>
          <p:cNvSpPr txBox="1"/>
          <p:nvPr/>
        </p:nvSpPr>
        <p:spPr>
          <a:xfrm>
            <a:off x="1570141" y="2835490"/>
            <a:ext cx="1107996"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dirty="0"/>
              <a:t>制御装置</a:t>
            </a:r>
          </a:p>
        </p:txBody>
      </p:sp>
      <p:sp>
        <p:nvSpPr>
          <p:cNvPr id="14" name="テキスト ボックス 13">
            <a:extLst>
              <a:ext uri="{FF2B5EF4-FFF2-40B4-BE49-F238E27FC236}">
                <a16:creationId xmlns:a16="http://schemas.microsoft.com/office/drawing/2014/main" id="{FC838A2C-25BF-D3F7-B950-C7A2FBC94F52}"/>
              </a:ext>
            </a:extLst>
          </p:cNvPr>
          <p:cNvSpPr txBox="1"/>
          <p:nvPr/>
        </p:nvSpPr>
        <p:spPr>
          <a:xfrm>
            <a:off x="3996482"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sp>
        <p:nvSpPr>
          <p:cNvPr id="15" name="テキスト ボックス 14">
            <a:extLst>
              <a:ext uri="{FF2B5EF4-FFF2-40B4-BE49-F238E27FC236}">
                <a16:creationId xmlns:a16="http://schemas.microsoft.com/office/drawing/2014/main" id="{DEE85614-D592-BBCF-60FC-D33BF25845D3}"/>
              </a:ext>
            </a:extLst>
          </p:cNvPr>
          <p:cNvSpPr txBox="1"/>
          <p:nvPr/>
        </p:nvSpPr>
        <p:spPr>
          <a:xfrm>
            <a:off x="1570140"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sp>
        <p:nvSpPr>
          <p:cNvPr id="16" name="テキスト ボックス 15">
            <a:extLst>
              <a:ext uri="{FF2B5EF4-FFF2-40B4-BE49-F238E27FC236}">
                <a16:creationId xmlns:a16="http://schemas.microsoft.com/office/drawing/2014/main" id="{CE62E793-1D7D-20E7-218F-7C8053FCA10C}"/>
              </a:ext>
            </a:extLst>
          </p:cNvPr>
          <p:cNvSpPr txBox="1"/>
          <p:nvPr/>
        </p:nvSpPr>
        <p:spPr>
          <a:xfrm>
            <a:off x="4112662" y="5547499"/>
            <a:ext cx="800219" cy="276999"/>
          </a:xfrm>
          <a:prstGeom prst="rect">
            <a:avLst/>
          </a:prstGeom>
          <a:noFill/>
        </p:spPr>
        <p:txBody>
          <a:bodyPr wrap="none" rtlCol="0">
            <a:spAutoFit/>
          </a:bodyPr>
          <a:lstStyle/>
          <a:p>
            <a:pPr algn="ctr"/>
            <a:r>
              <a:rPr kumimoji="1" lang="ja-GB" altLang="en-US" sz="1200" b="1" dirty="0">
                <a:solidFill>
                  <a:schemeClr val="tx1">
                    <a:lumMod val="50000"/>
                    <a:lumOff val="50000"/>
                  </a:schemeClr>
                </a:solidFill>
              </a:rPr>
              <a:t>記憶装置</a:t>
            </a:r>
          </a:p>
        </p:txBody>
      </p:sp>
      <p:cxnSp>
        <p:nvCxnSpPr>
          <p:cNvPr id="17" name="曲線コネクタ 16">
            <a:extLst>
              <a:ext uri="{FF2B5EF4-FFF2-40B4-BE49-F238E27FC236}">
                <a16:creationId xmlns:a16="http://schemas.microsoft.com/office/drawing/2014/main" id="{41287735-8236-12B5-1FEC-B9DCD4FC6163}"/>
              </a:ext>
            </a:extLst>
          </p:cNvPr>
          <p:cNvCxnSpPr>
            <a:cxnSpLocks/>
            <a:stCxn id="12" idx="2"/>
            <a:endCxn id="8" idx="0"/>
          </p:cNvCxnSpPr>
          <p:nvPr/>
        </p:nvCxnSpPr>
        <p:spPr>
          <a:xfrm rot="16200000" flipH="1">
            <a:off x="3646768" y="1682192"/>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0" name="曲線コネクタ 19">
            <a:extLst>
              <a:ext uri="{FF2B5EF4-FFF2-40B4-BE49-F238E27FC236}">
                <a16:creationId xmlns:a16="http://schemas.microsoft.com/office/drawing/2014/main" id="{46954A24-6B74-2DAE-A5EB-70E5F610554F}"/>
              </a:ext>
            </a:extLst>
          </p:cNvPr>
          <p:cNvCxnSpPr>
            <a:cxnSpLocks/>
            <a:stCxn id="12" idx="2"/>
            <a:endCxn id="35" idx="1"/>
          </p:cNvCxnSpPr>
          <p:nvPr/>
        </p:nvCxnSpPr>
        <p:spPr>
          <a:xfrm rot="16200000" flipH="1">
            <a:off x="2116605" y="3212355"/>
            <a:ext cx="1322421"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219DD9E0-A222-7CBE-A6F3-94112E4E0D18}"/>
              </a:ext>
            </a:extLst>
          </p:cNvPr>
          <p:cNvCxnSpPr>
            <a:cxnSpLocks/>
            <a:endCxn id="15" idx="0"/>
          </p:cNvCxnSpPr>
          <p:nvPr/>
        </p:nvCxnSpPr>
        <p:spPr>
          <a:xfrm flipH="1">
            <a:off x="2124138" y="3204822"/>
            <a:ext cx="1" cy="1807424"/>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673F9685-E815-2A62-4219-5675B6BBA940}"/>
              </a:ext>
            </a:extLst>
          </p:cNvPr>
          <p:cNvCxnSpPr>
            <a:cxnSpLocks/>
          </p:cNvCxnSpPr>
          <p:nvPr/>
        </p:nvCxnSpPr>
        <p:spPr>
          <a:xfrm>
            <a:off x="2678137" y="3020156"/>
            <a:ext cx="1318345"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9F774777-DC50-192D-9B1F-E47D5F97BE19}"/>
              </a:ext>
            </a:extLst>
          </p:cNvPr>
          <p:cNvSpPr txBox="1"/>
          <p:nvPr/>
        </p:nvSpPr>
        <p:spPr>
          <a:xfrm>
            <a:off x="3431492" y="5012246"/>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プログラム</a:t>
            </a:r>
            <a:r>
              <a:rPr lang="ja-GB" dirty="0"/>
              <a:t>記憶装置</a:t>
            </a:r>
          </a:p>
        </p:txBody>
      </p:sp>
      <p:sp>
        <p:nvSpPr>
          <p:cNvPr id="35" name="テキスト ボックス 34">
            <a:extLst>
              <a:ext uri="{FF2B5EF4-FFF2-40B4-BE49-F238E27FC236}">
                <a16:creationId xmlns:a16="http://schemas.microsoft.com/office/drawing/2014/main" id="{15CF2CF6-A7AE-DAE8-4DD8-A9C683FD4868}"/>
              </a:ext>
            </a:extLst>
          </p:cNvPr>
          <p:cNvSpPr txBox="1"/>
          <p:nvPr/>
        </p:nvSpPr>
        <p:spPr>
          <a:xfrm>
            <a:off x="3431492" y="4342577"/>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　データ</a:t>
            </a:r>
            <a:r>
              <a:rPr lang="ja-GB" dirty="0"/>
              <a:t>記憶装置</a:t>
            </a:r>
            <a:r>
              <a:rPr lang="ja-GB" altLang="en-US" dirty="0"/>
              <a:t>　</a:t>
            </a:r>
            <a:endParaRPr lang="ja-GB" dirty="0"/>
          </a:p>
        </p:txBody>
      </p:sp>
      <p:cxnSp>
        <p:nvCxnSpPr>
          <p:cNvPr id="36" name="曲線コネクタ 35">
            <a:extLst>
              <a:ext uri="{FF2B5EF4-FFF2-40B4-BE49-F238E27FC236}">
                <a16:creationId xmlns:a16="http://schemas.microsoft.com/office/drawing/2014/main" id="{1D5BCE48-BE29-E85D-6B1F-38124519AAF9}"/>
              </a:ext>
            </a:extLst>
          </p:cNvPr>
          <p:cNvCxnSpPr>
            <a:cxnSpLocks/>
            <a:stCxn id="12" idx="2"/>
            <a:endCxn id="34" idx="1"/>
          </p:cNvCxnSpPr>
          <p:nvPr/>
        </p:nvCxnSpPr>
        <p:spPr>
          <a:xfrm rot="16200000" flipH="1">
            <a:off x="1781770" y="3547190"/>
            <a:ext cx="1992090"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37" name="曲線コネクタ 36">
            <a:extLst>
              <a:ext uri="{FF2B5EF4-FFF2-40B4-BE49-F238E27FC236}">
                <a16:creationId xmlns:a16="http://schemas.microsoft.com/office/drawing/2014/main" id="{462CE488-0331-018B-5183-4F374D7D85F6}"/>
              </a:ext>
            </a:extLst>
          </p:cNvPr>
          <p:cNvCxnSpPr>
            <a:cxnSpLocks/>
          </p:cNvCxnSpPr>
          <p:nvPr/>
        </p:nvCxnSpPr>
        <p:spPr>
          <a:xfrm rot="16200000" flipH="1">
            <a:off x="2116605" y="3212355"/>
            <a:ext cx="1322421" cy="1307353"/>
          </a:xfrm>
          <a:prstGeom prst="curvedConnector2">
            <a:avLst/>
          </a:prstGeom>
          <a:ln w="50800" cap="flat">
            <a:solidFill>
              <a:srgbClr val="2F2523"/>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CCE73E5A-2ECE-B02C-28E5-63DA1C5237A8}"/>
              </a:ext>
            </a:extLst>
          </p:cNvPr>
          <p:cNvSpPr txBox="1"/>
          <p:nvPr/>
        </p:nvSpPr>
        <p:spPr>
          <a:xfrm>
            <a:off x="2456032" y="3857725"/>
            <a:ext cx="1441420" cy="307777"/>
          </a:xfrm>
          <a:prstGeom prst="rect">
            <a:avLst/>
          </a:prstGeom>
          <a:noFill/>
        </p:spPr>
        <p:txBody>
          <a:bodyPr wrap="none" rtlCol="0">
            <a:spAutoFit/>
          </a:bodyPr>
          <a:lstStyle/>
          <a:p>
            <a:r>
              <a:rPr kumimoji="1" lang="ja-GB" altLang="en-US" sz="1400" b="1" dirty="0">
                <a:solidFill>
                  <a:srgbClr val="2F2523"/>
                </a:solidFill>
              </a:rPr>
              <a:t>データ転送命令</a:t>
            </a:r>
          </a:p>
        </p:txBody>
      </p:sp>
      <p:cxnSp>
        <p:nvCxnSpPr>
          <p:cNvPr id="39" name="直線矢印コネクタ 38">
            <a:extLst>
              <a:ext uri="{FF2B5EF4-FFF2-40B4-BE49-F238E27FC236}">
                <a16:creationId xmlns:a16="http://schemas.microsoft.com/office/drawing/2014/main" id="{7FB9732D-2A08-AF0C-9213-B7AD741CFB61}"/>
              </a:ext>
            </a:extLst>
          </p:cNvPr>
          <p:cNvCxnSpPr>
            <a:cxnSpLocks/>
          </p:cNvCxnSpPr>
          <p:nvPr/>
        </p:nvCxnSpPr>
        <p:spPr>
          <a:xfrm>
            <a:off x="5693650" y="4527243"/>
            <a:ext cx="729174" cy="669669"/>
          </a:xfrm>
          <a:prstGeom prst="straightConnector1">
            <a:avLst/>
          </a:prstGeom>
          <a:ln w="50800">
            <a:solidFill>
              <a:srgbClr val="2F2523"/>
            </a:solidFill>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6555085E-9839-1D81-1B07-0493DC2B6C26}"/>
              </a:ext>
            </a:extLst>
          </p:cNvPr>
          <p:cNvSpPr txBox="1"/>
          <p:nvPr/>
        </p:nvSpPr>
        <p:spPr>
          <a:xfrm>
            <a:off x="6007021" y="4615856"/>
            <a:ext cx="276038" cy="307777"/>
          </a:xfrm>
          <a:prstGeom prst="rect">
            <a:avLst/>
          </a:prstGeom>
          <a:noFill/>
        </p:spPr>
        <p:txBody>
          <a:bodyPr wrap="none" rtlCol="0">
            <a:spAutoFit/>
          </a:bodyPr>
          <a:lstStyle/>
          <a:p>
            <a:r>
              <a:rPr kumimoji="1" lang="en-US" altLang="ja-GB" sz="1400" b="1" dirty="0">
                <a:solidFill>
                  <a:srgbClr val="2F2523"/>
                </a:solidFill>
              </a:rPr>
              <a:t>5</a:t>
            </a:r>
            <a:endParaRPr kumimoji="1" lang="ja-GB" altLang="en-US" sz="1400" b="1" dirty="0">
              <a:solidFill>
                <a:srgbClr val="2F2523"/>
              </a:solidFill>
            </a:endParaRPr>
          </a:p>
        </p:txBody>
      </p:sp>
      <p:cxnSp>
        <p:nvCxnSpPr>
          <p:cNvPr id="41" name="曲線コネクタ 40">
            <a:extLst>
              <a:ext uri="{FF2B5EF4-FFF2-40B4-BE49-F238E27FC236}">
                <a16:creationId xmlns:a16="http://schemas.microsoft.com/office/drawing/2014/main" id="{539E6822-B13C-3BA0-5890-1087EC3C2A11}"/>
              </a:ext>
            </a:extLst>
          </p:cNvPr>
          <p:cNvCxnSpPr>
            <a:cxnSpLocks/>
            <a:stCxn id="12" idx="2"/>
            <a:endCxn id="8" idx="0"/>
          </p:cNvCxnSpPr>
          <p:nvPr/>
        </p:nvCxnSpPr>
        <p:spPr>
          <a:xfrm rot="16200000" flipH="1">
            <a:off x="3646768" y="1682192"/>
            <a:ext cx="1807424" cy="4852683"/>
          </a:xfrm>
          <a:prstGeom prst="curvedConnector3">
            <a:avLst>
              <a:gd name="adj1" fmla="val 50000"/>
            </a:avLst>
          </a:prstGeom>
          <a:ln w="50800" cap="flat">
            <a:solidFill>
              <a:schemeClr val="accent2"/>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475E68F2-76B8-7BB2-AAAF-4017D8E6B046}"/>
              </a:ext>
            </a:extLst>
          </p:cNvPr>
          <p:cNvSpPr txBox="1"/>
          <p:nvPr/>
        </p:nvSpPr>
        <p:spPr>
          <a:xfrm>
            <a:off x="6107914" y="4109884"/>
            <a:ext cx="902811" cy="307777"/>
          </a:xfrm>
          <a:prstGeom prst="rect">
            <a:avLst/>
          </a:prstGeom>
          <a:noFill/>
        </p:spPr>
        <p:txBody>
          <a:bodyPr wrap="none" rtlCol="0">
            <a:spAutoFit/>
          </a:bodyPr>
          <a:lstStyle/>
          <a:p>
            <a:r>
              <a:rPr kumimoji="1" lang="ja-GB" altLang="en-US" sz="1400" b="1" dirty="0">
                <a:solidFill>
                  <a:schemeClr val="accent2"/>
                </a:solidFill>
              </a:rPr>
              <a:t>出力命令</a:t>
            </a:r>
          </a:p>
        </p:txBody>
      </p:sp>
      <p:sp>
        <p:nvSpPr>
          <p:cNvPr id="43" name="テキスト ボックス 42">
            <a:extLst>
              <a:ext uri="{FF2B5EF4-FFF2-40B4-BE49-F238E27FC236}">
                <a16:creationId xmlns:a16="http://schemas.microsoft.com/office/drawing/2014/main" id="{E30D123F-5682-811A-307A-CF0D41CAFFFB}"/>
              </a:ext>
            </a:extLst>
          </p:cNvPr>
          <p:cNvSpPr txBox="1"/>
          <p:nvPr/>
        </p:nvSpPr>
        <p:spPr>
          <a:xfrm>
            <a:off x="940149" y="2835490"/>
            <a:ext cx="558166" cy="369332"/>
          </a:xfrm>
          <a:prstGeom prst="rect">
            <a:avLst/>
          </a:prstGeom>
          <a:noFill/>
        </p:spPr>
        <p:txBody>
          <a:bodyPr wrap="none" rtlCol="0">
            <a:spAutoFit/>
          </a:bodyPr>
          <a:lstStyle/>
          <a:p>
            <a:r>
              <a:rPr kumimoji="1" lang="en-US" altLang="ja-GB" dirty="0">
                <a:solidFill>
                  <a:srgbClr val="2F2523"/>
                </a:solidFill>
              </a:rPr>
              <a:t>A+B</a:t>
            </a:r>
            <a:endParaRPr kumimoji="1" lang="ja-GB" altLang="en-US" dirty="0">
              <a:solidFill>
                <a:srgbClr val="2F2523"/>
              </a:solidFill>
            </a:endParaRPr>
          </a:p>
        </p:txBody>
      </p:sp>
      <p:pic>
        <p:nvPicPr>
          <p:cNvPr id="45" name="グラフィックス 44" descr="モニター 単色塗りつぶし">
            <a:extLst>
              <a:ext uri="{FF2B5EF4-FFF2-40B4-BE49-F238E27FC236}">
                <a16:creationId xmlns:a16="http://schemas.microsoft.com/office/drawing/2014/main" id="{5A1CBA75-55C3-FF30-E369-0E470D2852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19622" y="5460109"/>
            <a:ext cx="914400" cy="914400"/>
          </a:xfrm>
          <a:prstGeom prst="rect">
            <a:avLst/>
          </a:prstGeom>
        </p:spPr>
      </p:pic>
      <p:sp>
        <p:nvSpPr>
          <p:cNvPr id="46" name="テキスト ボックス 45">
            <a:extLst>
              <a:ext uri="{FF2B5EF4-FFF2-40B4-BE49-F238E27FC236}">
                <a16:creationId xmlns:a16="http://schemas.microsoft.com/office/drawing/2014/main" id="{C52C0AC1-43CA-22B0-8895-C0A380440071}"/>
              </a:ext>
            </a:extLst>
          </p:cNvPr>
          <p:cNvSpPr txBox="1"/>
          <p:nvPr/>
        </p:nvSpPr>
        <p:spPr>
          <a:xfrm>
            <a:off x="6806743" y="5624404"/>
            <a:ext cx="340158" cy="461665"/>
          </a:xfrm>
          <a:prstGeom prst="rect">
            <a:avLst/>
          </a:prstGeom>
          <a:noFill/>
        </p:spPr>
        <p:txBody>
          <a:bodyPr wrap="none" rtlCol="0">
            <a:spAutoFit/>
          </a:bodyPr>
          <a:lstStyle/>
          <a:p>
            <a:r>
              <a:rPr kumimoji="1" lang="en-US" altLang="ja-GB" sz="2400" dirty="0"/>
              <a:t>5</a:t>
            </a:r>
            <a:endParaRPr kumimoji="1" lang="ja-GB" altLang="en-US" sz="2400" dirty="0"/>
          </a:p>
        </p:txBody>
      </p:sp>
      <p:pic>
        <p:nvPicPr>
          <p:cNvPr id="47" name="グラフィックス 46" descr="キーボード 単色塗りつぶし">
            <a:extLst>
              <a:ext uri="{FF2B5EF4-FFF2-40B4-BE49-F238E27FC236}">
                <a16:creationId xmlns:a16="http://schemas.microsoft.com/office/drawing/2014/main" id="{EBDB4388-2D81-076B-0E47-CCFC2DCC58E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79498" y="5662588"/>
            <a:ext cx="914400" cy="914400"/>
          </a:xfrm>
          <a:prstGeom prst="rect">
            <a:avLst/>
          </a:prstGeom>
        </p:spPr>
      </p:pic>
      <p:cxnSp>
        <p:nvCxnSpPr>
          <p:cNvPr id="48" name="直線矢印コネクタ 47">
            <a:extLst>
              <a:ext uri="{FF2B5EF4-FFF2-40B4-BE49-F238E27FC236}">
                <a16:creationId xmlns:a16="http://schemas.microsoft.com/office/drawing/2014/main" id="{48A75585-55B8-2E06-A0F6-464DD66156F7}"/>
              </a:ext>
            </a:extLst>
          </p:cNvPr>
          <p:cNvCxnSpPr>
            <a:cxnSpLocks/>
            <a:stCxn id="8" idx="2"/>
            <a:endCxn id="46" idx="0"/>
          </p:cNvCxnSpPr>
          <p:nvPr/>
        </p:nvCxnSpPr>
        <p:spPr>
          <a:xfrm>
            <a:off x="6976822" y="5381578"/>
            <a:ext cx="0" cy="242826"/>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065318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CA5D2-07C2-D1E6-2D36-E97E03EB6E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9381EA6-714F-ABE1-305F-BE07F7E7CF15}"/>
              </a:ext>
            </a:extLst>
          </p:cNvPr>
          <p:cNvSpPr>
            <a:spLocks noGrp="1"/>
          </p:cNvSpPr>
          <p:nvPr>
            <p:ph type="title"/>
          </p:nvPr>
        </p:nvSpPr>
        <p:spPr/>
        <p:txBody>
          <a:bodyPr/>
          <a:lstStyle/>
          <a:p>
            <a:r>
              <a:rPr kumimoji="1" lang="ja-GB" altLang="en-US" dirty="0"/>
              <a:t>プログラム実行の流れ（例</a:t>
            </a:r>
            <a:r>
              <a:rPr kumimoji="1" lang="en-US" altLang="ja-GB" dirty="0"/>
              <a:t> A+B</a:t>
            </a:r>
            <a:r>
              <a:rPr kumimoji="1" lang="ja-GB" altLang="en-US" dirty="0"/>
              <a:t>）</a:t>
            </a:r>
          </a:p>
        </p:txBody>
      </p:sp>
      <p:sp>
        <p:nvSpPr>
          <p:cNvPr id="3" name="コンテンツ プレースホルダー 2">
            <a:extLst>
              <a:ext uri="{FF2B5EF4-FFF2-40B4-BE49-F238E27FC236}">
                <a16:creationId xmlns:a16="http://schemas.microsoft.com/office/drawing/2014/main" id="{67ADD58C-EC6D-1F38-43D3-399E0B82D329}"/>
              </a:ext>
            </a:extLst>
          </p:cNvPr>
          <p:cNvSpPr>
            <a:spLocks noGrp="1"/>
          </p:cNvSpPr>
          <p:nvPr>
            <p:ph idx="1"/>
          </p:nvPr>
        </p:nvSpPr>
        <p:spPr/>
        <p:txBody>
          <a:bodyPr>
            <a:normAutofit/>
          </a:bodyPr>
          <a:lstStyle/>
          <a:p>
            <a:pPr marL="0" indent="0">
              <a:buNone/>
            </a:pPr>
            <a:r>
              <a:rPr kumimoji="1" lang="en-US" altLang="ja-GB" sz="2000" dirty="0">
                <a:solidFill>
                  <a:srgbClr val="2F2523"/>
                </a:solidFill>
              </a:rPr>
              <a:t>①</a:t>
            </a:r>
            <a:r>
              <a:rPr kumimoji="1" lang="ja-GB" altLang="en-US" sz="2000" dirty="0">
                <a:solidFill>
                  <a:srgbClr val="2F2523"/>
                </a:solidFill>
              </a:rPr>
              <a:t>事前準備：プログラム転送命令</a:t>
            </a:r>
            <a:endParaRPr kumimoji="1" lang="en-US" altLang="ja-GB" sz="2000" dirty="0">
              <a:solidFill>
                <a:srgbClr val="2F2523"/>
              </a:solidFill>
            </a:endParaRPr>
          </a:p>
          <a:p>
            <a:pPr marL="0" indent="0">
              <a:buNone/>
            </a:pPr>
            <a:r>
              <a:rPr lang="en-US" altLang="ja-GB" sz="2000" dirty="0">
                <a:solidFill>
                  <a:srgbClr val="2F2523"/>
                </a:solidFill>
              </a:rPr>
              <a:t>②</a:t>
            </a:r>
            <a:r>
              <a:rPr lang="ja-GB" altLang="en-US" sz="2000" dirty="0">
                <a:solidFill>
                  <a:srgbClr val="2F2523"/>
                </a:solidFill>
              </a:rPr>
              <a:t>入力受付：入力命令，データ転送命令</a:t>
            </a:r>
            <a:endParaRPr lang="en-US" altLang="ja-GB" sz="2000" dirty="0">
              <a:solidFill>
                <a:srgbClr val="2F2523"/>
              </a:solidFill>
            </a:endParaRPr>
          </a:p>
          <a:p>
            <a:pPr marL="0" indent="0">
              <a:buNone/>
            </a:pPr>
            <a:r>
              <a:rPr kumimoji="1" lang="en-US" altLang="ja-GB" sz="2000" dirty="0">
                <a:solidFill>
                  <a:srgbClr val="2F2523"/>
                </a:solidFill>
              </a:rPr>
              <a:t>③</a:t>
            </a:r>
            <a:r>
              <a:rPr kumimoji="1" lang="ja-GB" altLang="en-US" sz="2000" dirty="0">
                <a:solidFill>
                  <a:srgbClr val="2F2523"/>
                </a:solidFill>
              </a:rPr>
              <a:t>演算実行：演算命令，データ転送命令</a:t>
            </a:r>
            <a:endParaRPr kumimoji="1" lang="en-US" altLang="ja-GB" sz="2000" dirty="0">
              <a:solidFill>
                <a:srgbClr val="2F2523"/>
              </a:solidFill>
            </a:endParaRPr>
          </a:p>
          <a:p>
            <a:pPr marL="0" indent="0">
              <a:buNone/>
            </a:pPr>
            <a:r>
              <a:rPr lang="en-US" altLang="ja-GB" sz="2000" dirty="0">
                <a:solidFill>
                  <a:srgbClr val="2F2523"/>
                </a:solidFill>
              </a:rPr>
              <a:t>④</a:t>
            </a:r>
            <a:r>
              <a:rPr lang="ja-GB" altLang="en-US" sz="2000" dirty="0">
                <a:solidFill>
                  <a:srgbClr val="2F2523"/>
                </a:solidFill>
              </a:rPr>
              <a:t>結果出力：データ転送命令，出力命令</a:t>
            </a:r>
            <a:endParaRPr kumimoji="1" lang="ja-GB" altLang="en-US" sz="2000" dirty="0">
              <a:solidFill>
                <a:srgbClr val="2F2523"/>
              </a:solidFill>
            </a:endParaRPr>
          </a:p>
        </p:txBody>
      </p:sp>
      <p:sp>
        <p:nvSpPr>
          <p:cNvPr id="18" name="角丸四角形 17">
            <a:extLst>
              <a:ext uri="{FF2B5EF4-FFF2-40B4-BE49-F238E27FC236}">
                <a16:creationId xmlns:a16="http://schemas.microsoft.com/office/drawing/2014/main" id="{B1733755-C868-FB6D-F2F8-6229C26A4447}"/>
              </a:ext>
            </a:extLst>
          </p:cNvPr>
          <p:cNvSpPr/>
          <p:nvPr/>
        </p:nvSpPr>
        <p:spPr>
          <a:xfrm>
            <a:off x="3219781" y="4177535"/>
            <a:ext cx="2676422" cy="138925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9" name="テキスト ボックス 18">
            <a:extLst>
              <a:ext uri="{FF2B5EF4-FFF2-40B4-BE49-F238E27FC236}">
                <a16:creationId xmlns:a16="http://schemas.microsoft.com/office/drawing/2014/main" id="{F3B06D7A-219E-8B59-1900-30EC337883AB}"/>
              </a:ext>
            </a:extLst>
          </p:cNvPr>
          <p:cNvSpPr txBox="1"/>
          <p:nvPr/>
        </p:nvSpPr>
        <p:spPr>
          <a:xfrm>
            <a:off x="6422824" y="5012246"/>
            <a:ext cx="1107996" cy="369332"/>
          </a:xfrm>
          <a:prstGeom prst="rect">
            <a:avLst/>
          </a:prstGeom>
          <a:solidFill>
            <a:schemeClr val="bg1">
              <a:alpha val="76120"/>
            </a:schemeClr>
          </a:solidFill>
          <a:ln>
            <a:solidFill>
              <a:schemeClr val="tx1">
                <a:lumMod val="50000"/>
                <a:lumOff val="50000"/>
              </a:schemeClr>
            </a:solidFill>
          </a:ln>
        </p:spPr>
        <p:txBody>
          <a:bodyPr wrap="none" rtlCol="0">
            <a:spAutoFit/>
          </a:bodyPr>
          <a:lstStyle/>
          <a:p>
            <a:r>
              <a:rPr lang="ja-GB" dirty="0"/>
              <a:t>出力装置</a:t>
            </a:r>
          </a:p>
        </p:txBody>
      </p:sp>
      <p:sp>
        <p:nvSpPr>
          <p:cNvPr id="22" name="テキスト ボックス 21">
            <a:extLst>
              <a:ext uri="{FF2B5EF4-FFF2-40B4-BE49-F238E27FC236}">
                <a16:creationId xmlns:a16="http://schemas.microsoft.com/office/drawing/2014/main" id="{2673E6AD-F065-A086-E120-173353FD19B0}"/>
              </a:ext>
            </a:extLst>
          </p:cNvPr>
          <p:cNvSpPr txBox="1"/>
          <p:nvPr/>
        </p:nvSpPr>
        <p:spPr>
          <a:xfrm>
            <a:off x="1570141" y="2835490"/>
            <a:ext cx="1107996" cy="369332"/>
          </a:xfrm>
          <a:prstGeom prst="rect">
            <a:avLst/>
          </a:prstGeom>
          <a:solidFill>
            <a:schemeClr val="bg1">
              <a:alpha val="76120"/>
            </a:schemeClr>
          </a:solidFill>
          <a:ln>
            <a:solidFill>
              <a:schemeClr val="tx1">
                <a:lumMod val="50000"/>
                <a:lumOff val="50000"/>
              </a:schemeClr>
            </a:solidFill>
          </a:ln>
        </p:spPr>
        <p:txBody>
          <a:bodyPr wrap="none" rtlCol="0">
            <a:spAutoFit/>
          </a:bodyPr>
          <a:lstStyle/>
          <a:p>
            <a:r>
              <a:rPr lang="ja-GB" dirty="0"/>
              <a:t>制御装置</a:t>
            </a:r>
          </a:p>
        </p:txBody>
      </p:sp>
      <p:sp>
        <p:nvSpPr>
          <p:cNvPr id="23" name="テキスト ボックス 22">
            <a:extLst>
              <a:ext uri="{FF2B5EF4-FFF2-40B4-BE49-F238E27FC236}">
                <a16:creationId xmlns:a16="http://schemas.microsoft.com/office/drawing/2014/main" id="{10881785-1626-8290-BA5E-0F3F98F2D88B}"/>
              </a:ext>
            </a:extLst>
          </p:cNvPr>
          <p:cNvSpPr txBox="1"/>
          <p:nvPr/>
        </p:nvSpPr>
        <p:spPr>
          <a:xfrm>
            <a:off x="3996482"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sp>
        <p:nvSpPr>
          <p:cNvPr id="24" name="テキスト ボックス 23">
            <a:extLst>
              <a:ext uri="{FF2B5EF4-FFF2-40B4-BE49-F238E27FC236}">
                <a16:creationId xmlns:a16="http://schemas.microsoft.com/office/drawing/2014/main" id="{66091CCF-E8C1-F4B7-6502-7DF87A2027E7}"/>
              </a:ext>
            </a:extLst>
          </p:cNvPr>
          <p:cNvSpPr txBox="1"/>
          <p:nvPr/>
        </p:nvSpPr>
        <p:spPr>
          <a:xfrm>
            <a:off x="1570140"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sp>
        <p:nvSpPr>
          <p:cNvPr id="25" name="テキスト ボックス 24">
            <a:extLst>
              <a:ext uri="{FF2B5EF4-FFF2-40B4-BE49-F238E27FC236}">
                <a16:creationId xmlns:a16="http://schemas.microsoft.com/office/drawing/2014/main" id="{47BA0134-A129-13D4-5C11-95D8435DF7C8}"/>
              </a:ext>
            </a:extLst>
          </p:cNvPr>
          <p:cNvSpPr txBox="1"/>
          <p:nvPr/>
        </p:nvSpPr>
        <p:spPr>
          <a:xfrm>
            <a:off x="4112662" y="5547499"/>
            <a:ext cx="800219" cy="276999"/>
          </a:xfrm>
          <a:prstGeom prst="rect">
            <a:avLst/>
          </a:prstGeom>
          <a:noFill/>
        </p:spPr>
        <p:txBody>
          <a:bodyPr wrap="none" rtlCol="0">
            <a:spAutoFit/>
          </a:bodyPr>
          <a:lstStyle/>
          <a:p>
            <a:pPr algn="ctr"/>
            <a:r>
              <a:rPr kumimoji="1" lang="ja-GB" altLang="en-US" sz="1200" b="1" dirty="0">
                <a:solidFill>
                  <a:schemeClr val="tx1">
                    <a:lumMod val="50000"/>
                    <a:lumOff val="50000"/>
                  </a:schemeClr>
                </a:solidFill>
              </a:rPr>
              <a:t>記憶装置</a:t>
            </a:r>
          </a:p>
        </p:txBody>
      </p:sp>
      <p:cxnSp>
        <p:nvCxnSpPr>
          <p:cNvPr id="26" name="曲線コネクタ 25">
            <a:extLst>
              <a:ext uri="{FF2B5EF4-FFF2-40B4-BE49-F238E27FC236}">
                <a16:creationId xmlns:a16="http://schemas.microsoft.com/office/drawing/2014/main" id="{8710CA78-0F69-E2EF-37F4-34E72E885FDE}"/>
              </a:ext>
            </a:extLst>
          </p:cNvPr>
          <p:cNvCxnSpPr>
            <a:cxnSpLocks/>
            <a:stCxn id="22" idx="2"/>
            <a:endCxn id="19" idx="0"/>
          </p:cNvCxnSpPr>
          <p:nvPr/>
        </p:nvCxnSpPr>
        <p:spPr>
          <a:xfrm rot="16200000" flipH="1">
            <a:off x="3646768" y="1682192"/>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7" name="曲線コネクタ 26">
            <a:extLst>
              <a:ext uri="{FF2B5EF4-FFF2-40B4-BE49-F238E27FC236}">
                <a16:creationId xmlns:a16="http://schemas.microsoft.com/office/drawing/2014/main" id="{63761231-EA5A-9877-D0E4-9D9F2E7EADA4}"/>
              </a:ext>
            </a:extLst>
          </p:cNvPr>
          <p:cNvCxnSpPr>
            <a:cxnSpLocks/>
            <a:stCxn id="22" idx="2"/>
            <a:endCxn id="31" idx="1"/>
          </p:cNvCxnSpPr>
          <p:nvPr/>
        </p:nvCxnSpPr>
        <p:spPr>
          <a:xfrm rot="16200000" flipH="1">
            <a:off x="2116605" y="3212355"/>
            <a:ext cx="1322421"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C64B5AE4-EC9A-8DFC-F02B-B3C877943A3D}"/>
              </a:ext>
            </a:extLst>
          </p:cNvPr>
          <p:cNvCxnSpPr>
            <a:cxnSpLocks/>
            <a:endCxn id="24" idx="0"/>
          </p:cNvCxnSpPr>
          <p:nvPr/>
        </p:nvCxnSpPr>
        <p:spPr>
          <a:xfrm flipH="1">
            <a:off x="2124138" y="3204822"/>
            <a:ext cx="1" cy="1807424"/>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6CDA1A1F-9E85-5BA6-3CF0-9D470873D943}"/>
              </a:ext>
            </a:extLst>
          </p:cNvPr>
          <p:cNvCxnSpPr>
            <a:cxnSpLocks/>
          </p:cNvCxnSpPr>
          <p:nvPr/>
        </p:nvCxnSpPr>
        <p:spPr>
          <a:xfrm>
            <a:off x="2678137" y="3020156"/>
            <a:ext cx="1318345"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95755861-9D01-F62D-DFA2-B949DB96C911}"/>
              </a:ext>
            </a:extLst>
          </p:cNvPr>
          <p:cNvSpPr txBox="1"/>
          <p:nvPr/>
        </p:nvSpPr>
        <p:spPr>
          <a:xfrm>
            <a:off x="3431492" y="5012246"/>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プログラム</a:t>
            </a:r>
            <a:r>
              <a:rPr lang="ja-GB" dirty="0"/>
              <a:t>記憶装置</a:t>
            </a:r>
          </a:p>
        </p:txBody>
      </p:sp>
      <p:sp>
        <p:nvSpPr>
          <p:cNvPr id="31" name="テキスト ボックス 30">
            <a:extLst>
              <a:ext uri="{FF2B5EF4-FFF2-40B4-BE49-F238E27FC236}">
                <a16:creationId xmlns:a16="http://schemas.microsoft.com/office/drawing/2014/main" id="{579FEDE2-473C-1511-72C6-3B48D3F40BA0}"/>
              </a:ext>
            </a:extLst>
          </p:cNvPr>
          <p:cNvSpPr txBox="1"/>
          <p:nvPr/>
        </p:nvSpPr>
        <p:spPr>
          <a:xfrm>
            <a:off x="3431492" y="4342577"/>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　データ</a:t>
            </a:r>
            <a:r>
              <a:rPr lang="ja-GB" dirty="0"/>
              <a:t>記憶装置</a:t>
            </a:r>
            <a:r>
              <a:rPr lang="ja-GB" altLang="en-US" dirty="0"/>
              <a:t>　</a:t>
            </a:r>
            <a:endParaRPr lang="ja-GB" dirty="0"/>
          </a:p>
        </p:txBody>
      </p:sp>
      <p:cxnSp>
        <p:nvCxnSpPr>
          <p:cNvPr id="32" name="曲線コネクタ 31">
            <a:extLst>
              <a:ext uri="{FF2B5EF4-FFF2-40B4-BE49-F238E27FC236}">
                <a16:creationId xmlns:a16="http://schemas.microsoft.com/office/drawing/2014/main" id="{92AB2F49-4DB9-7BD9-A6EE-2F8AA4E42D52}"/>
              </a:ext>
            </a:extLst>
          </p:cNvPr>
          <p:cNvCxnSpPr>
            <a:cxnSpLocks/>
            <a:stCxn id="22" idx="2"/>
            <a:endCxn id="30" idx="1"/>
          </p:cNvCxnSpPr>
          <p:nvPr/>
        </p:nvCxnSpPr>
        <p:spPr>
          <a:xfrm rot="16200000" flipH="1">
            <a:off x="1781770" y="3547190"/>
            <a:ext cx="1992090"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pic>
        <p:nvPicPr>
          <p:cNvPr id="21" name="グラフィックス 20" descr="モニター 単色塗りつぶし">
            <a:extLst>
              <a:ext uri="{FF2B5EF4-FFF2-40B4-BE49-F238E27FC236}">
                <a16:creationId xmlns:a16="http://schemas.microsoft.com/office/drawing/2014/main" id="{AB521822-02C9-3635-DBF3-84EACEAA8D9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19622" y="5460109"/>
            <a:ext cx="914400" cy="914400"/>
          </a:xfrm>
          <a:prstGeom prst="rect">
            <a:avLst/>
          </a:prstGeom>
        </p:spPr>
      </p:pic>
      <p:sp>
        <p:nvSpPr>
          <p:cNvPr id="33" name="テキスト ボックス 32">
            <a:extLst>
              <a:ext uri="{FF2B5EF4-FFF2-40B4-BE49-F238E27FC236}">
                <a16:creationId xmlns:a16="http://schemas.microsoft.com/office/drawing/2014/main" id="{66957FE5-EB2F-79FF-4B28-6FB07AFD5A1F}"/>
              </a:ext>
            </a:extLst>
          </p:cNvPr>
          <p:cNvSpPr txBox="1"/>
          <p:nvPr/>
        </p:nvSpPr>
        <p:spPr>
          <a:xfrm>
            <a:off x="6806743" y="5624404"/>
            <a:ext cx="340158" cy="461665"/>
          </a:xfrm>
          <a:prstGeom prst="rect">
            <a:avLst/>
          </a:prstGeom>
          <a:noFill/>
        </p:spPr>
        <p:txBody>
          <a:bodyPr wrap="none" rtlCol="0">
            <a:spAutoFit/>
          </a:bodyPr>
          <a:lstStyle/>
          <a:p>
            <a:r>
              <a:rPr kumimoji="1" lang="en-US" altLang="ja-GB" sz="2400" dirty="0"/>
              <a:t>5</a:t>
            </a:r>
            <a:endParaRPr kumimoji="1" lang="ja-GB" altLang="en-US" sz="2400" dirty="0"/>
          </a:p>
        </p:txBody>
      </p:sp>
      <p:pic>
        <p:nvPicPr>
          <p:cNvPr id="36" name="グラフィックス 35" descr="キーボード 単色塗りつぶし">
            <a:extLst>
              <a:ext uri="{FF2B5EF4-FFF2-40B4-BE49-F238E27FC236}">
                <a16:creationId xmlns:a16="http://schemas.microsoft.com/office/drawing/2014/main" id="{07957769-EF20-CECD-7FD7-DDFE32F2A27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79498" y="5662588"/>
            <a:ext cx="914400" cy="914400"/>
          </a:xfrm>
          <a:prstGeom prst="rect">
            <a:avLst/>
          </a:prstGeom>
        </p:spPr>
      </p:pic>
      <p:cxnSp>
        <p:nvCxnSpPr>
          <p:cNvPr id="37" name="直線矢印コネクタ 36">
            <a:extLst>
              <a:ext uri="{FF2B5EF4-FFF2-40B4-BE49-F238E27FC236}">
                <a16:creationId xmlns:a16="http://schemas.microsoft.com/office/drawing/2014/main" id="{8A6AE729-CF1B-4ED0-65FF-EA1E0F003C05}"/>
              </a:ext>
            </a:extLst>
          </p:cNvPr>
          <p:cNvCxnSpPr>
            <a:cxnSpLocks/>
          </p:cNvCxnSpPr>
          <p:nvPr/>
        </p:nvCxnSpPr>
        <p:spPr>
          <a:xfrm flipH="1" flipV="1">
            <a:off x="2124138" y="5381578"/>
            <a:ext cx="12560" cy="534100"/>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02047874-CB2F-E948-7301-FCA9DB419266}"/>
              </a:ext>
            </a:extLst>
          </p:cNvPr>
          <p:cNvSpPr txBox="1"/>
          <p:nvPr/>
        </p:nvSpPr>
        <p:spPr>
          <a:xfrm>
            <a:off x="2162603" y="5420846"/>
            <a:ext cx="474810" cy="523220"/>
          </a:xfrm>
          <a:prstGeom prst="rect">
            <a:avLst/>
          </a:prstGeom>
          <a:noFill/>
        </p:spPr>
        <p:txBody>
          <a:bodyPr wrap="none" rtlCol="0">
            <a:spAutoFit/>
          </a:bodyPr>
          <a:lstStyle/>
          <a:p>
            <a:r>
              <a:rPr kumimoji="1" lang="en-US" altLang="ja-GB" sz="1400" b="1" dirty="0">
                <a:solidFill>
                  <a:srgbClr val="0070C0"/>
                </a:solidFill>
              </a:rPr>
              <a:t>A=2</a:t>
            </a:r>
          </a:p>
          <a:p>
            <a:r>
              <a:rPr kumimoji="1" lang="en-US" altLang="ja-GB" sz="1400" b="1" dirty="0">
                <a:solidFill>
                  <a:srgbClr val="0070C0"/>
                </a:solidFill>
              </a:rPr>
              <a:t>B=3</a:t>
            </a:r>
            <a:endParaRPr kumimoji="1" lang="ja-GB" altLang="en-US" sz="1400" b="1" dirty="0">
              <a:solidFill>
                <a:srgbClr val="0070C0"/>
              </a:solidFill>
            </a:endParaRPr>
          </a:p>
        </p:txBody>
      </p:sp>
      <p:cxnSp>
        <p:nvCxnSpPr>
          <p:cNvPr id="39" name="直線矢印コネクタ 38">
            <a:extLst>
              <a:ext uri="{FF2B5EF4-FFF2-40B4-BE49-F238E27FC236}">
                <a16:creationId xmlns:a16="http://schemas.microsoft.com/office/drawing/2014/main" id="{A48B62DB-E3F2-F356-1231-826C5F9D6064}"/>
              </a:ext>
            </a:extLst>
          </p:cNvPr>
          <p:cNvCxnSpPr>
            <a:cxnSpLocks/>
          </p:cNvCxnSpPr>
          <p:nvPr/>
        </p:nvCxnSpPr>
        <p:spPr>
          <a:xfrm flipV="1">
            <a:off x="2678136" y="4527243"/>
            <a:ext cx="753356" cy="669669"/>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3812C32A-9979-31A0-8153-302C95A8905B}"/>
              </a:ext>
            </a:extLst>
          </p:cNvPr>
          <p:cNvCxnSpPr>
            <a:cxnSpLocks/>
          </p:cNvCxnSpPr>
          <p:nvPr/>
        </p:nvCxnSpPr>
        <p:spPr>
          <a:xfrm flipH="1" flipV="1">
            <a:off x="4427930" y="3204822"/>
            <a:ext cx="12091" cy="1137755"/>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F055D0CC-3478-DB42-465A-1056DD1BBA80}"/>
              </a:ext>
            </a:extLst>
          </p:cNvPr>
          <p:cNvSpPr txBox="1"/>
          <p:nvPr/>
        </p:nvSpPr>
        <p:spPr>
          <a:xfrm>
            <a:off x="5160146" y="2764896"/>
            <a:ext cx="474810" cy="523220"/>
          </a:xfrm>
          <a:prstGeom prst="rect">
            <a:avLst/>
          </a:prstGeom>
          <a:noFill/>
        </p:spPr>
        <p:txBody>
          <a:bodyPr wrap="none" rtlCol="0">
            <a:spAutoFit/>
          </a:bodyPr>
          <a:lstStyle/>
          <a:p>
            <a:r>
              <a:rPr kumimoji="1" lang="en-US" altLang="ja-GB" sz="1400" b="1" dirty="0">
                <a:solidFill>
                  <a:srgbClr val="0070C0"/>
                </a:solidFill>
              </a:rPr>
              <a:t>A=2</a:t>
            </a:r>
          </a:p>
          <a:p>
            <a:r>
              <a:rPr kumimoji="1" lang="en-US" altLang="ja-GB" sz="1400" b="1" dirty="0">
                <a:solidFill>
                  <a:srgbClr val="0070C0"/>
                </a:solidFill>
              </a:rPr>
              <a:t>B=3</a:t>
            </a:r>
            <a:endParaRPr kumimoji="1" lang="ja-GB" altLang="en-US" sz="1400" b="1" dirty="0">
              <a:solidFill>
                <a:srgbClr val="0070C0"/>
              </a:solidFill>
            </a:endParaRPr>
          </a:p>
        </p:txBody>
      </p:sp>
      <p:sp>
        <p:nvSpPr>
          <p:cNvPr id="44" name="テキスト ボックス 43">
            <a:extLst>
              <a:ext uri="{FF2B5EF4-FFF2-40B4-BE49-F238E27FC236}">
                <a16:creationId xmlns:a16="http://schemas.microsoft.com/office/drawing/2014/main" id="{FFC13A91-7BA1-84E7-3EC6-6E9002BFABE8}"/>
              </a:ext>
            </a:extLst>
          </p:cNvPr>
          <p:cNvSpPr txBox="1"/>
          <p:nvPr/>
        </p:nvSpPr>
        <p:spPr>
          <a:xfrm>
            <a:off x="5690624" y="2878967"/>
            <a:ext cx="665567" cy="307777"/>
          </a:xfrm>
          <a:prstGeom prst="rect">
            <a:avLst/>
          </a:prstGeom>
          <a:noFill/>
        </p:spPr>
        <p:txBody>
          <a:bodyPr wrap="none" rtlCol="0">
            <a:spAutoFit/>
          </a:bodyPr>
          <a:lstStyle/>
          <a:p>
            <a:r>
              <a:rPr kumimoji="1" lang="en-US" altLang="ja-GB" sz="1400" b="1" dirty="0">
                <a:solidFill>
                  <a:srgbClr val="0070C0"/>
                </a:solidFill>
              </a:rPr>
              <a:t>A+B=5</a:t>
            </a:r>
            <a:endParaRPr kumimoji="1" lang="ja-GB" altLang="en-US" sz="1400" b="1" dirty="0">
              <a:solidFill>
                <a:srgbClr val="0070C0"/>
              </a:solidFill>
            </a:endParaRPr>
          </a:p>
        </p:txBody>
      </p:sp>
      <p:cxnSp>
        <p:nvCxnSpPr>
          <p:cNvPr id="45" name="直線矢印コネクタ 44">
            <a:extLst>
              <a:ext uri="{FF2B5EF4-FFF2-40B4-BE49-F238E27FC236}">
                <a16:creationId xmlns:a16="http://schemas.microsoft.com/office/drawing/2014/main" id="{5CA54944-0A7F-D3C5-4CEA-1EBC5C69C2CB}"/>
              </a:ext>
            </a:extLst>
          </p:cNvPr>
          <p:cNvCxnSpPr>
            <a:cxnSpLocks/>
          </p:cNvCxnSpPr>
          <p:nvPr/>
        </p:nvCxnSpPr>
        <p:spPr>
          <a:xfrm>
            <a:off x="4597615" y="3204822"/>
            <a:ext cx="12091" cy="1137755"/>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6BA6F160-7EFC-6BF5-3FCE-26B9D5619C55}"/>
              </a:ext>
            </a:extLst>
          </p:cNvPr>
          <p:cNvCxnSpPr>
            <a:cxnSpLocks/>
          </p:cNvCxnSpPr>
          <p:nvPr/>
        </p:nvCxnSpPr>
        <p:spPr>
          <a:xfrm>
            <a:off x="5693650" y="4527243"/>
            <a:ext cx="729174" cy="669669"/>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矢印コネクタ 48">
            <a:extLst>
              <a:ext uri="{FF2B5EF4-FFF2-40B4-BE49-F238E27FC236}">
                <a16:creationId xmlns:a16="http://schemas.microsoft.com/office/drawing/2014/main" id="{9A9F4702-FD96-3F1D-DA6D-0686D354FA70}"/>
              </a:ext>
            </a:extLst>
          </p:cNvPr>
          <p:cNvCxnSpPr>
            <a:cxnSpLocks/>
          </p:cNvCxnSpPr>
          <p:nvPr/>
        </p:nvCxnSpPr>
        <p:spPr>
          <a:xfrm flipH="1" flipV="1">
            <a:off x="2124139" y="3204822"/>
            <a:ext cx="1307353" cy="1992090"/>
          </a:xfrm>
          <a:prstGeom prst="straightConnector1">
            <a:avLst/>
          </a:prstGeom>
          <a:ln w="508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596B5105-17AA-5237-EA4F-418EA57846F7}"/>
              </a:ext>
            </a:extLst>
          </p:cNvPr>
          <p:cNvSpPr txBox="1"/>
          <p:nvPr/>
        </p:nvSpPr>
        <p:spPr>
          <a:xfrm>
            <a:off x="2349145" y="3389486"/>
            <a:ext cx="1082348" cy="523220"/>
          </a:xfrm>
          <a:prstGeom prst="rect">
            <a:avLst/>
          </a:prstGeom>
          <a:noFill/>
        </p:spPr>
        <p:txBody>
          <a:bodyPr wrap="none" rtlCol="0">
            <a:spAutoFit/>
          </a:bodyPr>
          <a:lstStyle/>
          <a:p>
            <a:r>
              <a:rPr kumimoji="1" lang="ja-GB" altLang="en-US" sz="1400" b="1" dirty="0">
                <a:solidFill>
                  <a:srgbClr val="002060"/>
                </a:solidFill>
              </a:rPr>
              <a:t>プログラム</a:t>
            </a:r>
            <a:endParaRPr kumimoji="1" lang="en-US" altLang="ja-GB" sz="1400" b="1" dirty="0">
              <a:solidFill>
                <a:srgbClr val="002060"/>
              </a:solidFill>
            </a:endParaRPr>
          </a:p>
          <a:p>
            <a:pPr algn="ctr"/>
            <a:r>
              <a:rPr kumimoji="1" lang="en-US" altLang="ja-GB" sz="1400" b="1" dirty="0">
                <a:solidFill>
                  <a:srgbClr val="002060"/>
                </a:solidFill>
              </a:rPr>
              <a:t>A+B</a:t>
            </a:r>
            <a:endParaRPr kumimoji="1" lang="ja-GB" altLang="en-US" sz="1400" b="1" dirty="0">
              <a:solidFill>
                <a:srgbClr val="002060"/>
              </a:solidFill>
            </a:endParaRPr>
          </a:p>
        </p:txBody>
      </p:sp>
      <p:sp>
        <p:nvSpPr>
          <p:cNvPr id="51" name="テキスト ボックス 50">
            <a:extLst>
              <a:ext uri="{FF2B5EF4-FFF2-40B4-BE49-F238E27FC236}">
                <a16:creationId xmlns:a16="http://schemas.microsoft.com/office/drawing/2014/main" id="{EA182475-F686-F6AE-3ABF-BF4974C24A45}"/>
              </a:ext>
            </a:extLst>
          </p:cNvPr>
          <p:cNvSpPr txBox="1"/>
          <p:nvPr/>
        </p:nvSpPr>
        <p:spPr>
          <a:xfrm>
            <a:off x="499962" y="2878967"/>
            <a:ext cx="1023036" cy="307777"/>
          </a:xfrm>
          <a:prstGeom prst="rect">
            <a:avLst/>
          </a:prstGeom>
          <a:noFill/>
        </p:spPr>
        <p:txBody>
          <a:bodyPr wrap="none" rtlCol="0">
            <a:spAutoFit/>
          </a:bodyPr>
          <a:lstStyle/>
          <a:p>
            <a:pPr algn="r"/>
            <a:r>
              <a:rPr kumimoji="1" lang="en-US" altLang="ja-GB" sz="1400" b="1" dirty="0">
                <a:solidFill>
                  <a:srgbClr val="002060"/>
                </a:solidFill>
              </a:rPr>
              <a:t>A+B</a:t>
            </a:r>
            <a:r>
              <a:rPr kumimoji="1" lang="ja-GB" altLang="en-US" sz="1400" b="1" dirty="0">
                <a:solidFill>
                  <a:srgbClr val="002060"/>
                </a:solidFill>
              </a:rPr>
              <a:t>を実行</a:t>
            </a:r>
          </a:p>
        </p:txBody>
      </p:sp>
      <p:cxnSp>
        <p:nvCxnSpPr>
          <p:cNvPr id="52" name="直線矢印コネクタ 51">
            <a:extLst>
              <a:ext uri="{FF2B5EF4-FFF2-40B4-BE49-F238E27FC236}">
                <a16:creationId xmlns:a16="http://schemas.microsoft.com/office/drawing/2014/main" id="{E74EA841-BDAB-C2C4-FF73-7A9800C201EB}"/>
              </a:ext>
            </a:extLst>
          </p:cNvPr>
          <p:cNvCxnSpPr>
            <a:cxnSpLocks/>
          </p:cNvCxnSpPr>
          <p:nvPr/>
        </p:nvCxnSpPr>
        <p:spPr>
          <a:xfrm>
            <a:off x="6976822" y="5381578"/>
            <a:ext cx="0" cy="242826"/>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666790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87146-2FC5-30CD-718F-BB20ABFC698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D96424B-2082-A6DA-241D-4BFB84AACDB7}"/>
              </a:ext>
            </a:extLst>
          </p:cNvPr>
          <p:cNvSpPr>
            <a:spLocks noGrp="1"/>
          </p:cNvSpPr>
          <p:nvPr>
            <p:ph type="title"/>
          </p:nvPr>
        </p:nvSpPr>
        <p:spPr/>
        <p:txBody>
          <a:bodyPr/>
          <a:lstStyle/>
          <a:p>
            <a:r>
              <a:rPr lang="ja-GB" altLang="en-US" dirty="0"/>
              <a:t>実際の</a:t>
            </a:r>
            <a:r>
              <a:rPr kumimoji="1" lang="ja-GB" altLang="en-US" dirty="0"/>
              <a:t>ハードウェア構成</a:t>
            </a:r>
          </a:p>
        </p:txBody>
      </p:sp>
      <p:sp>
        <p:nvSpPr>
          <p:cNvPr id="7" name="コンテンツ プレースホルダー 6">
            <a:extLst>
              <a:ext uri="{FF2B5EF4-FFF2-40B4-BE49-F238E27FC236}">
                <a16:creationId xmlns:a16="http://schemas.microsoft.com/office/drawing/2014/main" id="{C2220A7B-C27F-AF8E-1C29-C0CD3CF001BF}"/>
              </a:ext>
            </a:extLst>
          </p:cNvPr>
          <p:cNvSpPr>
            <a:spLocks noGrp="1"/>
          </p:cNvSpPr>
          <p:nvPr>
            <p:ph idx="1"/>
          </p:nvPr>
        </p:nvSpPr>
        <p:spPr/>
        <p:txBody>
          <a:bodyPr/>
          <a:lstStyle/>
          <a:p>
            <a:endParaRPr lang="ja-GB" altLang="en-US"/>
          </a:p>
        </p:txBody>
      </p:sp>
      <p:grpSp>
        <p:nvGrpSpPr>
          <p:cNvPr id="6" name="グループ化 5">
            <a:extLst>
              <a:ext uri="{FF2B5EF4-FFF2-40B4-BE49-F238E27FC236}">
                <a16:creationId xmlns:a16="http://schemas.microsoft.com/office/drawing/2014/main" id="{CCE965BD-5334-93B2-1DDC-F078E4730D82}"/>
              </a:ext>
            </a:extLst>
          </p:cNvPr>
          <p:cNvGrpSpPr/>
          <p:nvPr/>
        </p:nvGrpSpPr>
        <p:grpSpPr>
          <a:xfrm>
            <a:off x="1432839" y="1105009"/>
            <a:ext cx="6277520" cy="4767289"/>
            <a:chOff x="1253300" y="1903594"/>
            <a:chExt cx="6277520" cy="4767289"/>
          </a:xfrm>
        </p:grpSpPr>
        <p:sp>
          <p:nvSpPr>
            <p:cNvPr id="3" name="角丸四角形 2">
              <a:extLst>
                <a:ext uri="{FF2B5EF4-FFF2-40B4-BE49-F238E27FC236}">
                  <a16:creationId xmlns:a16="http://schemas.microsoft.com/office/drawing/2014/main" id="{53A36C8F-AC98-1875-8DD3-A5EBD1420E7B}"/>
                </a:ext>
              </a:extLst>
            </p:cNvPr>
            <p:cNvSpPr/>
            <p:nvPr/>
          </p:nvSpPr>
          <p:spPr>
            <a:xfrm>
              <a:off x="1320058" y="2466643"/>
              <a:ext cx="4044421" cy="997192"/>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0" name="角丸四角形 19">
              <a:extLst>
                <a:ext uri="{FF2B5EF4-FFF2-40B4-BE49-F238E27FC236}">
                  <a16:creationId xmlns:a16="http://schemas.microsoft.com/office/drawing/2014/main" id="{F41563E1-D69B-DA78-A9EE-B8AB444A5481}"/>
                </a:ext>
              </a:extLst>
            </p:cNvPr>
            <p:cNvSpPr/>
            <p:nvPr/>
          </p:nvSpPr>
          <p:spPr>
            <a:xfrm>
              <a:off x="3219781" y="4177535"/>
              <a:ext cx="2676422" cy="1389250"/>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 name="テキスト ボックス 4">
              <a:extLst>
                <a:ext uri="{FF2B5EF4-FFF2-40B4-BE49-F238E27FC236}">
                  <a16:creationId xmlns:a16="http://schemas.microsoft.com/office/drawing/2014/main" id="{4B93E03A-B4B3-74E9-DFA0-0DF79B718823}"/>
                </a:ext>
              </a:extLst>
            </p:cNvPr>
            <p:cNvSpPr txBox="1"/>
            <p:nvPr/>
          </p:nvSpPr>
          <p:spPr>
            <a:xfrm>
              <a:off x="6422824"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出力装置</a:t>
              </a:r>
            </a:p>
          </p:txBody>
        </p:sp>
        <p:sp>
          <p:nvSpPr>
            <p:cNvPr id="8" name="テキスト ボックス 7">
              <a:extLst>
                <a:ext uri="{FF2B5EF4-FFF2-40B4-BE49-F238E27FC236}">
                  <a16:creationId xmlns:a16="http://schemas.microsoft.com/office/drawing/2014/main" id="{CFB3F968-4126-4C76-56B9-DBF9C8076526}"/>
                </a:ext>
              </a:extLst>
            </p:cNvPr>
            <p:cNvSpPr txBox="1"/>
            <p:nvPr/>
          </p:nvSpPr>
          <p:spPr>
            <a:xfrm>
              <a:off x="1570141"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制御装置</a:t>
              </a:r>
            </a:p>
          </p:txBody>
        </p:sp>
        <p:sp>
          <p:nvSpPr>
            <p:cNvPr id="10" name="テキスト ボックス 9">
              <a:extLst>
                <a:ext uri="{FF2B5EF4-FFF2-40B4-BE49-F238E27FC236}">
                  <a16:creationId xmlns:a16="http://schemas.microsoft.com/office/drawing/2014/main" id="{705FB3FB-4F9A-6889-D58F-9B4F60FEF158}"/>
                </a:ext>
              </a:extLst>
            </p:cNvPr>
            <p:cNvSpPr txBox="1"/>
            <p:nvPr/>
          </p:nvSpPr>
          <p:spPr>
            <a:xfrm>
              <a:off x="3996482"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sp>
          <p:nvSpPr>
            <p:cNvPr id="11" name="テキスト ボックス 10">
              <a:extLst>
                <a:ext uri="{FF2B5EF4-FFF2-40B4-BE49-F238E27FC236}">
                  <a16:creationId xmlns:a16="http://schemas.microsoft.com/office/drawing/2014/main" id="{983CC51D-7D9E-89A1-CE9E-476E2CAD8105}"/>
                </a:ext>
              </a:extLst>
            </p:cNvPr>
            <p:cNvSpPr txBox="1"/>
            <p:nvPr/>
          </p:nvSpPr>
          <p:spPr>
            <a:xfrm>
              <a:off x="1570140"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sp>
          <p:nvSpPr>
            <p:cNvPr id="19" name="テキスト ボックス 18">
              <a:extLst>
                <a:ext uri="{FF2B5EF4-FFF2-40B4-BE49-F238E27FC236}">
                  <a16:creationId xmlns:a16="http://schemas.microsoft.com/office/drawing/2014/main" id="{612D4423-C72B-F409-B3D7-1016D8CE975D}"/>
                </a:ext>
              </a:extLst>
            </p:cNvPr>
            <p:cNvSpPr txBox="1"/>
            <p:nvPr/>
          </p:nvSpPr>
          <p:spPr>
            <a:xfrm>
              <a:off x="3086743" y="5547499"/>
              <a:ext cx="2852063" cy="1123384"/>
            </a:xfrm>
            <a:prstGeom prst="rect">
              <a:avLst/>
            </a:prstGeom>
            <a:noFill/>
          </p:spPr>
          <p:txBody>
            <a:bodyPr wrap="none" rtlCol="0">
              <a:spAutoFit/>
            </a:bodyPr>
            <a:lstStyle/>
            <a:p>
              <a:pPr algn="ctr"/>
              <a:r>
                <a:rPr kumimoji="1" lang="ja-GB" altLang="en-US" sz="1600" b="1" dirty="0">
                  <a:solidFill>
                    <a:srgbClr val="0070C0"/>
                  </a:solidFill>
                </a:rPr>
                <a:t>主記憶装置（メモリ）</a:t>
              </a:r>
              <a:endParaRPr kumimoji="1" lang="en-US" altLang="ja-GB" sz="1600" b="1" dirty="0">
                <a:solidFill>
                  <a:srgbClr val="0070C0"/>
                </a:solidFill>
              </a:endParaRPr>
            </a:p>
            <a:p>
              <a:pPr algn="ctr"/>
              <a:r>
                <a:rPr kumimoji="1" lang="ja-GB" altLang="en-US" sz="1200" b="1" dirty="0">
                  <a:solidFill>
                    <a:srgbClr val="2F2523"/>
                  </a:solidFill>
                </a:rPr>
                <a:t>例：</a:t>
              </a:r>
              <a:r>
                <a:rPr kumimoji="1" lang="en-US" altLang="ja-GB" sz="1200" b="1" dirty="0">
                  <a:solidFill>
                    <a:srgbClr val="2F2523"/>
                  </a:solidFill>
                </a:rPr>
                <a:t>RAM (Random Access Memory)</a:t>
              </a:r>
              <a:endParaRPr kumimoji="1" lang="en-US" altLang="ja-GB" sz="1200" b="1" dirty="0">
                <a:solidFill>
                  <a:srgbClr val="0070C0"/>
                </a:solidFill>
              </a:endParaRPr>
            </a:p>
            <a:p>
              <a:pPr algn="ctr"/>
              <a:endParaRPr kumimoji="1" lang="en-US" altLang="ja-GB" sz="1100" b="1" dirty="0">
                <a:solidFill>
                  <a:srgbClr val="0070C0"/>
                </a:solidFill>
              </a:endParaRPr>
            </a:p>
            <a:p>
              <a:pPr algn="ctr"/>
              <a:r>
                <a:rPr kumimoji="1" lang="ja-GB" altLang="en-US" sz="1600" b="1" dirty="0">
                  <a:solidFill>
                    <a:srgbClr val="0070C0"/>
                  </a:solidFill>
                </a:rPr>
                <a:t>補助記憶装置（ストレージ）</a:t>
              </a:r>
              <a:endParaRPr kumimoji="1" lang="en-US" altLang="ja-GB" sz="1600" b="1" dirty="0">
                <a:solidFill>
                  <a:srgbClr val="0070C0"/>
                </a:solidFill>
              </a:endParaRPr>
            </a:p>
            <a:p>
              <a:pPr algn="ctr"/>
              <a:r>
                <a:rPr kumimoji="1" lang="ja-GB" altLang="en-US" sz="1200" b="1" dirty="0">
                  <a:solidFill>
                    <a:srgbClr val="2F2523"/>
                  </a:solidFill>
                </a:rPr>
                <a:t>例：</a:t>
              </a:r>
              <a:r>
                <a:rPr kumimoji="1" lang="en-US" altLang="ja-GB" sz="1200" b="1" dirty="0">
                  <a:solidFill>
                    <a:srgbClr val="2F2523"/>
                  </a:solidFill>
                </a:rPr>
                <a:t>HDD</a:t>
              </a:r>
              <a:r>
                <a:rPr kumimoji="1" lang="ja-GB" altLang="en-US" sz="1200" b="1" dirty="0">
                  <a:solidFill>
                    <a:srgbClr val="2F2523"/>
                  </a:solidFill>
                </a:rPr>
                <a:t>，</a:t>
              </a:r>
              <a:r>
                <a:rPr kumimoji="1" lang="en-US" altLang="ja-GB" sz="1200" b="1" dirty="0">
                  <a:solidFill>
                    <a:srgbClr val="2F2523"/>
                  </a:solidFill>
                </a:rPr>
                <a:t>SSD</a:t>
              </a:r>
              <a:r>
                <a:rPr kumimoji="1" lang="ja-GB" altLang="en-US" sz="1200" b="1" dirty="0">
                  <a:solidFill>
                    <a:srgbClr val="2F2523"/>
                  </a:solidFill>
                </a:rPr>
                <a:t>，</a:t>
              </a:r>
              <a:r>
                <a:rPr kumimoji="1" lang="en-US" altLang="ja-GB" sz="1200" b="1" dirty="0">
                  <a:solidFill>
                    <a:srgbClr val="2F2523"/>
                  </a:solidFill>
                </a:rPr>
                <a:t>USB</a:t>
              </a:r>
              <a:r>
                <a:rPr kumimoji="1" lang="ja-GB" altLang="en-US" sz="1200" b="1" dirty="0">
                  <a:solidFill>
                    <a:srgbClr val="2F2523"/>
                  </a:solidFill>
                </a:rPr>
                <a:t>，</a:t>
              </a:r>
              <a:r>
                <a:rPr kumimoji="1" lang="en-US" altLang="ja-GB" sz="1200" b="1" dirty="0">
                  <a:solidFill>
                    <a:srgbClr val="2F2523"/>
                  </a:solidFill>
                </a:rPr>
                <a:t>CD</a:t>
              </a:r>
              <a:r>
                <a:rPr kumimoji="1" lang="ja-GB" altLang="en-US" sz="1200" b="1" dirty="0">
                  <a:solidFill>
                    <a:srgbClr val="2F2523"/>
                  </a:solidFill>
                </a:rPr>
                <a:t>，</a:t>
              </a:r>
              <a:r>
                <a:rPr kumimoji="1" lang="en-US" altLang="ja-GB" sz="1200" b="1" dirty="0">
                  <a:solidFill>
                    <a:srgbClr val="2F2523"/>
                  </a:solidFill>
                </a:rPr>
                <a:t>DVD</a:t>
              </a:r>
              <a:r>
                <a:rPr kumimoji="1" lang="ja-GB" altLang="en-US" sz="1200" b="1" dirty="0">
                  <a:solidFill>
                    <a:srgbClr val="2F2523"/>
                  </a:solidFill>
                </a:rPr>
                <a:t>，</a:t>
              </a:r>
              <a:r>
                <a:rPr kumimoji="1" lang="en-US" altLang="ja-GB" sz="1200" b="1" dirty="0">
                  <a:solidFill>
                    <a:srgbClr val="2F2523"/>
                  </a:solidFill>
                </a:rPr>
                <a:t>BD</a:t>
              </a:r>
              <a:endParaRPr kumimoji="1" lang="en-US" altLang="ja-GB" sz="1200" b="1" dirty="0">
                <a:solidFill>
                  <a:srgbClr val="0070C0"/>
                </a:solidFill>
              </a:endParaRPr>
            </a:p>
          </p:txBody>
        </p:sp>
        <p:cxnSp>
          <p:nvCxnSpPr>
            <p:cNvPr id="21" name="曲線コネクタ 20">
              <a:extLst>
                <a:ext uri="{FF2B5EF4-FFF2-40B4-BE49-F238E27FC236}">
                  <a16:creationId xmlns:a16="http://schemas.microsoft.com/office/drawing/2014/main" id="{280546A2-B0B7-7276-3104-797A8613C109}"/>
                </a:ext>
              </a:extLst>
            </p:cNvPr>
            <p:cNvCxnSpPr>
              <a:cxnSpLocks/>
              <a:stCxn id="8" idx="2"/>
              <a:endCxn id="5" idx="0"/>
            </p:cNvCxnSpPr>
            <p:nvPr/>
          </p:nvCxnSpPr>
          <p:spPr>
            <a:xfrm rot="16200000" flipH="1">
              <a:off x="3646768" y="1682192"/>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4" name="曲線コネクタ 23">
              <a:extLst>
                <a:ext uri="{FF2B5EF4-FFF2-40B4-BE49-F238E27FC236}">
                  <a16:creationId xmlns:a16="http://schemas.microsoft.com/office/drawing/2014/main" id="{104CA35C-D32C-1283-04C3-DBCE8C6D24D4}"/>
                </a:ext>
              </a:extLst>
            </p:cNvPr>
            <p:cNvCxnSpPr>
              <a:cxnSpLocks/>
              <a:stCxn id="8" idx="2"/>
              <a:endCxn id="44" idx="1"/>
            </p:cNvCxnSpPr>
            <p:nvPr/>
          </p:nvCxnSpPr>
          <p:spPr>
            <a:xfrm rot="16200000" flipH="1">
              <a:off x="2116605" y="3212355"/>
              <a:ext cx="1322421"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D4705573-EF4E-51F7-2CD3-86973B216210}"/>
                </a:ext>
              </a:extLst>
            </p:cNvPr>
            <p:cNvCxnSpPr>
              <a:cxnSpLocks/>
              <a:endCxn id="11" idx="0"/>
            </p:cNvCxnSpPr>
            <p:nvPr/>
          </p:nvCxnSpPr>
          <p:spPr>
            <a:xfrm flipH="1">
              <a:off x="2124138" y="3204822"/>
              <a:ext cx="1" cy="1807424"/>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EE0E461C-17CC-6341-0800-7F9B06DCC864}"/>
                </a:ext>
              </a:extLst>
            </p:cNvPr>
            <p:cNvCxnSpPr>
              <a:cxnSpLocks/>
            </p:cNvCxnSpPr>
            <p:nvPr/>
          </p:nvCxnSpPr>
          <p:spPr>
            <a:xfrm>
              <a:off x="2678137" y="3020156"/>
              <a:ext cx="1318345"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4AABBC6D-7E8B-C121-45E4-122C5C614534}"/>
                </a:ext>
              </a:extLst>
            </p:cNvPr>
            <p:cNvSpPr txBox="1"/>
            <p:nvPr/>
          </p:nvSpPr>
          <p:spPr>
            <a:xfrm>
              <a:off x="3431492" y="5012246"/>
              <a:ext cx="2262158" cy="369332"/>
            </a:xfrm>
            <a:prstGeom prst="rect">
              <a:avLst/>
            </a:prstGeom>
            <a:solidFill>
              <a:schemeClr val="accent5">
                <a:lumMod val="40000"/>
                <a:lumOff val="60000"/>
                <a:alpha val="76120"/>
              </a:schemeClr>
            </a:solidFill>
            <a:ln>
              <a:noFill/>
            </a:ln>
          </p:spPr>
          <p:txBody>
            <a:bodyPr wrap="none" rtlCol="0">
              <a:spAutoFit/>
            </a:bodyPr>
            <a:lstStyle/>
            <a:p>
              <a:r>
                <a:rPr lang="ja-GB" altLang="en-US" strike="sngStrike" dirty="0">
                  <a:solidFill>
                    <a:schemeClr val="bg1">
                      <a:lumMod val="65000"/>
                    </a:schemeClr>
                  </a:solidFill>
                </a:rPr>
                <a:t>プログラム</a:t>
              </a:r>
              <a:r>
                <a:rPr lang="ja-GB" strike="sngStrike" dirty="0">
                  <a:solidFill>
                    <a:schemeClr val="bg1">
                      <a:lumMod val="65000"/>
                    </a:schemeClr>
                  </a:solidFill>
                </a:rPr>
                <a:t>記憶装置</a:t>
              </a:r>
            </a:p>
          </p:txBody>
        </p:sp>
        <p:sp>
          <p:nvSpPr>
            <p:cNvPr id="44" name="テキスト ボックス 43">
              <a:extLst>
                <a:ext uri="{FF2B5EF4-FFF2-40B4-BE49-F238E27FC236}">
                  <a16:creationId xmlns:a16="http://schemas.microsoft.com/office/drawing/2014/main" id="{7B9195D1-B36F-266C-DDFC-4E4990A21FB8}"/>
                </a:ext>
              </a:extLst>
            </p:cNvPr>
            <p:cNvSpPr txBox="1"/>
            <p:nvPr/>
          </p:nvSpPr>
          <p:spPr>
            <a:xfrm>
              <a:off x="3431492" y="4342577"/>
              <a:ext cx="2262158" cy="369332"/>
            </a:xfrm>
            <a:prstGeom prst="rect">
              <a:avLst/>
            </a:prstGeom>
            <a:solidFill>
              <a:schemeClr val="accent5">
                <a:lumMod val="40000"/>
                <a:lumOff val="60000"/>
                <a:alpha val="76120"/>
              </a:schemeClr>
            </a:solidFill>
            <a:ln>
              <a:noFill/>
            </a:ln>
          </p:spPr>
          <p:txBody>
            <a:bodyPr wrap="none" rtlCol="0">
              <a:spAutoFit/>
            </a:bodyPr>
            <a:lstStyle/>
            <a:p>
              <a:r>
                <a:rPr lang="ja-GB" altLang="en-US" dirty="0">
                  <a:solidFill>
                    <a:schemeClr val="bg1">
                      <a:lumMod val="65000"/>
                    </a:schemeClr>
                  </a:solidFill>
                </a:rPr>
                <a:t>　</a:t>
              </a:r>
              <a:r>
                <a:rPr lang="ja-GB" altLang="en-US" strike="sngStrike" dirty="0">
                  <a:solidFill>
                    <a:schemeClr val="bg1">
                      <a:lumMod val="65000"/>
                    </a:schemeClr>
                  </a:solidFill>
                </a:rPr>
                <a:t>データ</a:t>
              </a:r>
              <a:r>
                <a:rPr lang="ja-GB" strike="sngStrike" dirty="0">
                  <a:solidFill>
                    <a:schemeClr val="bg1">
                      <a:lumMod val="65000"/>
                    </a:schemeClr>
                  </a:solidFill>
                </a:rPr>
                <a:t>記憶装置</a:t>
              </a:r>
              <a:r>
                <a:rPr lang="ja-GB" altLang="en-US" strike="sngStrike" dirty="0">
                  <a:solidFill>
                    <a:schemeClr val="bg1">
                      <a:lumMod val="65000"/>
                    </a:schemeClr>
                  </a:solidFill>
                </a:rPr>
                <a:t>　</a:t>
              </a:r>
              <a:endParaRPr lang="ja-GB" strike="sngStrike" dirty="0">
                <a:solidFill>
                  <a:schemeClr val="bg1">
                    <a:lumMod val="65000"/>
                  </a:schemeClr>
                </a:solidFill>
              </a:endParaRPr>
            </a:p>
          </p:txBody>
        </p:sp>
        <p:cxnSp>
          <p:nvCxnSpPr>
            <p:cNvPr id="54" name="曲線コネクタ 53">
              <a:extLst>
                <a:ext uri="{FF2B5EF4-FFF2-40B4-BE49-F238E27FC236}">
                  <a16:creationId xmlns:a16="http://schemas.microsoft.com/office/drawing/2014/main" id="{62FAA68C-D408-4437-EB0E-EA943E473E26}"/>
                </a:ext>
              </a:extLst>
            </p:cNvPr>
            <p:cNvCxnSpPr>
              <a:cxnSpLocks/>
              <a:stCxn id="8" idx="2"/>
              <a:endCxn id="43" idx="1"/>
            </p:cNvCxnSpPr>
            <p:nvPr/>
          </p:nvCxnSpPr>
          <p:spPr>
            <a:xfrm rot="16200000" flipH="1">
              <a:off x="1781770" y="3547190"/>
              <a:ext cx="1992090"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7E12CA36-12A2-DEC6-D406-A6B80D6B300B}"/>
                </a:ext>
              </a:extLst>
            </p:cNvPr>
            <p:cNvSpPr txBox="1"/>
            <p:nvPr/>
          </p:nvSpPr>
          <p:spPr>
            <a:xfrm>
              <a:off x="1253300" y="1903594"/>
              <a:ext cx="4356384" cy="523220"/>
            </a:xfrm>
            <a:prstGeom prst="rect">
              <a:avLst/>
            </a:prstGeom>
            <a:noFill/>
          </p:spPr>
          <p:txBody>
            <a:bodyPr wrap="none" rtlCol="0">
              <a:spAutoFit/>
            </a:bodyPr>
            <a:lstStyle/>
            <a:p>
              <a:pPr algn="ctr"/>
              <a:r>
                <a:rPr kumimoji="1" lang="ja-GB" altLang="en-US" sz="1600" b="1" dirty="0">
                  <a:solidFill>
                    <a:schemeClr val="accent2"/>
                  </a:solidFill>
                </a:rPr>
                <a:t>中央処理装置（</a:t>
              </a:r>
              <a:r>
                <a:rPr kumimoji="1" lang="en-US" altLang="ja-GB" sz="1600" b="1" dirty="0">
                  <a:solidFill>
                    <a:schemeClr val="accent2"/>
                  </a:solidFill>
                </a:rPr>
                <a:t>CPU</a:t>
              </a:r>
              <a:r>
                <a:rPr kumimoji="1" lang="ja-GB" altLang="en-US" sz="1600" b="1" dirty="0">
                  <a:solidFill>
                    <a:schemeClr val="accent2"/>
                  </a:solidFill>
                </a:rPr>
                <a:t>，</a:t>
              </a:r>
              <a:r>
                <a:rPr kumimoji="1" lang="en-US" altLang="ja-GB" sz="1600" b="1" dirty="0">
                  <a:solidFill>
                    <a:schemeClr val="accent2"/>
                  </a:solidFill>
                </a:rPr>
                <a:t>Central Processing Unit</a:t>
              </a:r>
              <a:r>
                <a:rPr kumimoji="1" lang="ja-GB" altLang="en-US" sz="1600" b="1" dirty="0">
                  <a:solidFill>
                    <a:schemeClr val="accent2"/>
                  </a:solidFill>
                </a:rPr>
                <a:t>）</a:t>
              </a:r>
              <a:endParaRPr kumimoji="1" lang="en-US" altLang="ja-GB" sz="1600" b="1" dirty="0">
                <a:solidFill>
                  <a:schemeClr val="accent2"/>
                </a:solidFill>
              </a:endParaRPr>
            </a:p>
            <a:p>
              <a:pPr algn="ctr"/>
              <a:r>
                <a:rPr kumimoji="1" lang="ja-GB" altLang="en-US" sz="1200" b="1" dirty="0">
                  <a:solidFill>
                    <a:srgbClr val="2F2523"/>
                  </a:solidFill>
                </a:rPr>
                <a:t>例：</a:t>
              </a:r>
              <a:r>
                <a:rPr kumimoji="1" lang="en-US" altLang="ja-GB" sz="1200" b="1" dirty="0">
                  <a:solidFill>
                    <a:srgbClr val="2F2523"/>
                  </a:solidFill>
                </a:rPr>
                <a:t>Intel Core i5</a:t>
              </a:r>
              <a:r>
                <a:rPr kumimoji="1" lang="ja-GB" altLang="en-US" sz="1200" b="1" dirty="0">
                  <a:solidFill>
                    <a:srgbClr val="2F2523"/>
                  </a:solidFill>
                </a:rPr>
                <a:t>，</a:t>
              </a:r>
              <a:r>
                <a:rPr kumimoji="1" lang="en-US" altLang="ja-GB" sz="1200" b="1" dirty="0">
                  <a:solidFill>
                    <a:srgbClr val="2F2523"/>
                  </a:solidFill>
                </a:rPr>
                <a:t>Apple M1</a:t>
              </a:r>
              <a:r>
                <a:rPr kumimoji="1" lang="ja-GB" altLang="en-US" sz="1200" b="1" dirty="0">
                  <a:solidFill>
                    <a:srgbClr val="2F2523"/>
                  </a:solidFill>
                </a:rPr>
                <a:t>，</a:t>
              </a:r>
              <a:r>
                <a:rPr kumimoji="1" lang="en-US" altLang="ja-GB" sz="1200" b="1" dirty="0">
                  <a:solidFill>
                    <a:srgbClr val="2F2523"/>
                  </a:solidFill>
                </a:rPr>
                <a:t>Ryzen5 2500U</a:t>
              </a:r>
              <a:r>
                <a:rPr kumimoji="1" lang="ja-GB" altLang="en-US" sz="1200" b="1" dirty="0">
                  <a:solidFill>
                    <a:srgbClr val="2F2523"/>
                  </a:solidFill>
                </a:rPr>
                <a:t>，</a:t>
              </a:r>
              <a:r>
                <a:rPr kumimoji="1" lang="en-US" altLang="ja-GB" sz="1200" b="1" dirty="0">
                  <a:solidFill>
                    <a:srgbClr val="2F2523"/>
                  </a:solidFill>
                </a:rPr>
                <a:t>Snapdragon S2</a:t>
              </a:r>
            </a:p>
          </p:txBody>
        </p:sp>
      </p:grpSp>
      <p:pic>
        <p:nvPicPr>
          <p:cNvPr id="12" name="グラフィックス 11" descr="モニター 単色塗りつぶし">
            <a:extLst>
              <a:ext uri="{FF2B5EF4-FFF2-40B4-BE49-F238E27FC236}">
                <a16:creationId xmlns:a16="http://schemas.microsoft.com/office/drawing/2014/main" id="{DF6FB47F-8C8F-43C4-4FC2-46D02E38A8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78361" y="4582993"/>
            <a:ext cx="756000" cy="756000"/>
          </a:xfrm>
          <a:prstGeom prst="rect">
            <a:avLst/>
          </a:prstGeom>
        </p:spPr>
      </p:pic>
      <p:pic>
        <p:nvPicPr>
          <p:cNvPr id="13" name="グラフィックス 12" descr="キーボード 単色塗りつぶし">
            <a:extLst>
              <a:ext uri="{FF2B5EF4-FFF2-40B4-BE49-F238E27FC236}">
                <a16:creationId xmlns:a16="http://schemas.microsoft.com/office/drawing/2014/main" id="{7A40E95A-ED9A-B869-F488-50962D7C8FA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06499" y="4466835"/>
            <a:ext cx="756000" cy="756000"/>
          </a:xfrm>
          <a:prstGeom prst="rect">
            <a:avLst/>
          </a:prstGeom>
        </p:spPr>
      </p:pic>
    </p:spTree>
    <p:extLst>
      <p:ext uri="{BB962C8B-B14F-4D97-AF65-F5344CB8AC3E}">
        <p14:creationId xmlns:p14="http://schemas.microsoft.com/office/powerpoint/2010/main" val="30834617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2B2E4-D064-0D81-86A0-A27009E8BB7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D96A99E-7EB9-B041-A9D6-433BD82F6203}"/>
              </a:ext>
            </a:extLst>
          </p:cNvPr>
          <p:cNvSpPr>
            <a:spLocks noGrp="1"/>
          </p:cNvSpPr>
          <p:nvPr>
            <p:ph type="title"/>
          </p:nvPr>
        </p:nvSpPr>
        <p:spPr/>
        <p:txBody>
          <a:bodyPr/>
          <a:lstStyle/>
          <a:p>
            <a:r>
              <a:rPr lang="ja-GB" altLang="en-US" dirty="0"/>
              <a:t>実際の</a:t>
            </a:r>
            <a:r>
              <a:rPr kumimoji="1" lang="ja-GB" altLang="en-US" dirty="0"/>
              <a:t>ハードウェア構成</a:t>
            </a:r>
          </a:p>
        </p:txBody>
      </p:sp>
      <p:sp>
        <p:nvSpPr>
          <p:cNvPr id="7" name="コンテンツ プレースホルダー 6">
            <a:extLst>
              <a:ext uri="{FF2B5EF4-FFF2-40B4-BE49-F238E27FC236}">
                <a16:creationId xmlns:a16="http://schemas.microsoft.com/office/drawing/2014/main" id="{5A8CE576-4911-1C61-0972-45FDDB4A1411}"/>
              </a:ext>
            </a:extLst>
          </p:cNvPr>
          <p:cNvSpPr>
            <a:spLocks noGrp="1"/>
          </p:cNvSpPr>
          <p:nvPr>
            <p:ph idx="1"/>
          </p:nvPr>
        </p:nvSpPr>
        <p:spPr/>
        <p:txBody>
          <a:bodyPr/>
          <a:lstStyle/>
          <a:p>
            <a:endParaRPr lang="ja-GB" altLang="en-US"/>
          </a:p>
        </p:txBody>
      </p:sp>
      <p:grpSp>
        <p:nvGrpSpPr>
          <p:cNvPr id="6" name="グループ化 5">
            <a:extLst>
              <a:ext uri="{FF2B5EF4-FFF2-40B4-BE49-F238E27FC236}">
                <a16:creationId xmlns:a16="http://schemas.microsoft.com/office/drawing/2014/main" id="{11539292-BB8C-D36E-D54B-4DC6AC7C25ED}"/>
              </a:ext>
            </a:extLst>
          </p:cNvPr>
          <p:cNvGrpSpPr/>
          <p:nvPr/>
        </p:nvGrpSpPr>
        <p:grpSpPr>
          <a:xfrm>
            <a:off x="1432839" y="1105009"/>
            <a:ext cx="6277520" cy="4767289"/>
            <a:chOff x="1253300" y="1903594"/>
            <a:chExt cx="6277520" cy="4767289"/>
          </a:xfrm>
        </p:grpSpPr>
        <p:sp>
          <p:nvSpPr>
            <p:cNvPr id="3" name="角丸四角形 2">
              <a:extLst>
                <a:ext uri="{FF2B5EF4-FFF2-40B4-BE49-F238E27FC236}">
                  <a16:creationId xmlns:a16="http://schemas.microsoft.com/office/drawing/2014/main" id="{239999FD-4683-6FE1-B5B8-131DB9CDA68F}"/>
                </a:ext>
              </a:extLst>
            </p:cNvPr>
            <p:cNvSpPr/>
            <p:nvPr/>
          </p:nvSpPr>
          <p:spPr>
            <a:xfrm>
              <a:off x="1320058" y="2466643"/>
              <a:ext cx="4044421" cy="997192"/>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0" name="角丸四角形 19">
              <a:extLst>
                <a:ext uri="{FF2B5EF4-FFF2-40B4-BE49-F238E27FC236}">
                  <a16:creationId xmlns:a16="http://schemas.microsoft.com/office/drawing/2014/main" id="{265743F0-3613-B3CB-C3E6-042551340347}"/>
                </a:ext>
              </a:extLst>
            </p:cNvPr>
            <p:cNvSpPr/>
            <p:nvPr/>
          </p:nvSpPr>
          <p:spPr>
            <a:xfrm>
              <a:off x="3219781" y="4177535"/>
              <a:ext cx="2676422" cy="1389250"/>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 name="テキスト ボックス 4">
              <a:extLst>
                <a:ext uri="{FF2B5EF4-FFF2-40B4-BE49-F238E27FC236}">
                  <a16:creationId xmlns:a16="http://schemas.microsoft.com/office/drawing/2014/main" id="{2B4FCB22-FC61-B55C-55B7-BE20077E4FBA}"/>
                </a:ext>
              </a:extLst>
            </p:cNvPr>
            <p:cNvSpPr txBox="1"/>
            <p:nvPr/>
          </p:nvSpPr>
          <p:spPr>
            <a:xfrm>
              <a:off x="6422824"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solidFill>
                    <a:schemeClr val="bg1">
                      <a:lumMod val="65000"/>
                    </a:schemeClr>
                  </a:solidFill>
                </a:rPr>
                <a:t>出力装置</a:t>
              </a:r>
            </a:p>
          </p:txBody>
        </p:sp>
        <p:sp>
          <p:nvSpPr>
            <p:cNvPr id="8" name="テキスト ボックス 7">
              <a:extLst>
                <a:ext uri="{FF2B5EF4-FFF2-40B4-BE49-F238E27FC236}">
                  <a16:creationId xmlns:a16="http://schemas.microsoft.com/office/drawing/2014/main" id="{DEB0BE87-D74B-5FE6-10BF-89E6F4BA40E3}"/>
                </a:ext>
              </a:extLst>
            </p:cNvPr>
            <p:cNvSpPr txBox="1"/>
            <p:nvPr/>
          </p:nvSpPr>
          <p:spPr>
            <a:xfrm>
              <a:off x="1570141"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制御装置</a:t>
              </a:r>
            </a:p>
          </p:txBody>
        </p:sp>
        <p:sp>
          <p:nvSpPr>
            <p:cNvPr id="10" name="テキスト ボックス 9">
              <a:extLst>
                <a:ext uri="{FF2B5EF4-FFF2-40B4-BE49-F238E27FC236}">
                  <a16:creationId xmlns:a16="http://schemas.microsoft.com/office/drawing/2014/main" id="{655DB784-A4F7-C554-2884-70036DE0C188}"/>
                </a:ext>
              </a:extLst>
            </p:cNvPr>
            <p:cNvSpPr txBox="1"/>
            <p:nvPr/>
          </p:nvSpPr>
          <p:spPr>
            <a:xfrm>
              <a:off x="3996482"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sp>
          <p:nvSpPr>
            <p:cNvPr id="11" name="テキスト ボックス 10">
              <a:extLst>
                <a:ext uri="{FF2B5EF4-FFF2-40B4-BE49-F238E27FC236}">
                  <a16:creationId xmlns:a16="http://schemas.microsoft.com/office/drawing/2014/main" id="{91C6542B-B5F3-74E6-02B8-CBD473D1F1DB}"/>
                </a:ext>
              </a:extLst>
            </p:cNvPr>
            <p:cNvSpPr txBox="1"/>
            <p:nvPr/>
          </p:nvSpPr>
          <p:spPr>
            <a:xfrm>
              <a:off x="1570140"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solidFill>
                    <a:schemeClr val="bg1">
                      <a:lumMod val="65000"/>
                    </a:schemeClr>
                  </a:solidFill>
                </a:rPr>
                <a:t>入力装置</a:t>
              </a:r>
            </a:p>
          </p:txBody>
        </p:sp>
        <p:sp>
          <p:nvSpPr>
            <p:cNvPr id="19" name="テキスト ボックス 18">
              <a:extLst>
                <a:ext uri="{FF2B5EF4-FFF2-40B4-BE49-F238E27FC236}">
                  <a16:creationId xmlns:a16="http://schemas.microsoft.com/office/drawing/2014/main" id="{641B0CC6-EA3F-DA99-8AB2-73C4F5E575B0}"/>
                </a:ext>
              </a:extLst>
            </p:cNvPr>
            <p:cNvSpPr txBox="1"/>
            <p:nvPr/>
          </p:nvSpPr>
          <p:spPr>
            <a:xfrm>
              <a:off x="3086743" y="5547499"/>
              <a:ext cx="2852063" cy="1123384"/>
            </a:xfrm>
            <a:prstGeom prst="rect">
              <a:avLst/>
            </a:prstGeom>
            <a:noFill/>
          </p:spPr>
          <p:txBody>
            <a:bodyPr wrap="none" rtlCol="0">
              <a:spAutoFit/>
            </a:bodyPr>
            <a:lstStyle/>
            <a:p>
              <a:pPr algn="ctr"/>
              <a:r>
                <a:rPr kumimoji="1" lang="ja-GB" altLang="en-US" sz="1600" b="1" dirty="0">
                  <a:solidFill>
                    <a:schemeClr val="bg1">
                      <a:lumMod val="65000"/>
                    </a:schemeClr>
                  </a:solidFill>
                </a:rPr>
                <a:t>主記憶装置（メモリ）</a:t>
              </a:r>
              <a:endParaRPr kumimoji="1" lang="en-US" altLang="ja-GB" sz="1600" b="1" dirty="0">
                <a:solidFill>
                  <a:schemeClr val="bg1">
                    <a:lumMod val="65000"/>
                  </a:schemeClr>
                </a:solidFill>
              </a:endParaRPr>
            </a:p>
            <a:p>
              <a:pPr algn="ctr"/>
              <a:r>
                <a:rPr kumimoji="1" lang="ja-GB" altLang="en-US" sz="1200" b="1" dirty="0">
                  <a:solidFill>
                    <a:schemeClr val="bg1">
                      <a:lumMod val="65000"/>
                    </a:schemeClr>
                  </a:solidFill>
                </a:rPr>
                <a:t>例：</a:t>
              </a:r>
              <a:r>
                <a:rPr kumimoji="1" lang="en-US" altLang="ja-GB" sz="1200" b="1" dirty="0">
                  <a:solidFill>
                    <a:schemeClr val="bg1">
                      <a:lumMod val="65000"/>
                    </a:schemeClr>
                  </a:solidFill>
                </a:rPr>
                <a:t>RAM (Random Access Memory)</a:t>
              </a:r>
            </a:p>
            <a:p>
              <a:pPr algn="ctr"/>
              <a:endParaRPr kumimoji="1" lang="en-US" altLang="ja-GB" sz="1100" b="1" dirty="0">
                <a:solidFill>
                  <a:schemeClr val="bg1">
                    <a:lumMod val="65000"/>
                  </a:schemeClr>
                </a:solidFill>
              </a:endParaRPr>
            </a:p>
            <a:p>
              <a:pPr algn="ctr"/>
              <a:r>
                <a:rPr kumimoji="1" lang="ja-GB" altLang="en-US" sz="1600" b="1" dirty="0">
                  <a:solidFill>
                    <a:schemeClr val="bg1">
                      <a:lumMod val="65000"/>
                    </a:schemeClr>
                  </a:solidFill>
                </a:rPr>
                <a:t>補助記憶装置（ストレージ）</a:t>
              </a:r>
              <a:endParaRPr kumimoji="1" lang="en-US" altLang="ja-GB" sz="1600" b="1" dirty="0">
                <a:solidFill>
                  <a:schemeClr val="bg1">
                    <a:lumMod val="65000"/>
                  </a:schemeClr>
                </a:solidFill>
              </a:endParaRPr>
            </a:p>
            <a:p>
              <a:pPr algn="ctr"/>
              <a:r>
                <a:rPr kumimoji="1" lang="ja-GB" altLang="en-US" sz="1200" b="1" dirty="0">
                  <a:solidFill>
                    <a:schemeClr val="bg1">
                      <a:lumMod val="65000"/>
                    </a:schemeClr>
                  </a:solidFill>
                </a:rPr>
                <a:t>例：</a:t>
              </a:r>
              <a:r>
                <a:rPr kumimoji="1" lang="en-US" altLang="ja-GB" sz="1200" b="1" dirty="0">
                  <a:solidFill>
                    <a:schemeClr val="bg1">
                      <a:lumMod val="65000"/>
                    </a:schemeClr>
                  </a:solidFill>
                </a:rPr>
                <a:t>HDD</a:t>
              </a:r>
              <a:r>
                <a:rPr kumimoji="1" lang="ja-GB" altLang="en-US" sz="1200" b="1" dirty="0">
                  <a:solidFill>
                    <a:schemeClr val="bg1">
                      <a:lumMod val="65000"/>
                    </a:schemeClr>
                  </a:solidFill>
                </a:rPr>
                <a:t>，</a:t>
              </a:r>
              <a:r>
                <a:rPr kumimoji="1" lang="en-US" altLang="ja-GB" sz="1200" b="1" dirty="0">
                  <a:solidFill>
                    <a:schemeClr val="bg1">
                      <a:lumMod val="65000"/>
                    </a:schemeClr>
                  </a:solidFill>
                </a:rPr>
                <a:t>SSD</a:t>
              </a:r>
              <a:r>
                <a:rPr kumimoji="1" lang="ja-GB" altLang="en-US" sz="1200" b="1" dirty="0">
                  <a:solidFill>
                    <a:schemeClr val="bg1">
                      <a:lumMod val="65000"/>
                    </a:schemeClr>
                  </a:solidFill>
                </a:rPr>
                <a:t>，</a:t>
              </a:r>
              <a:r>
                <a:rPr kumimoji="1" lang="en-US" altLang="ja-GB" sz="1200" b="1" dirty="0">
                  <a:solidFill>
                    <a:schemeClr val="bg1">
                      <a:lumMod val="65000"/>
                    </a:schemeClr>
                  </a:solidFill>
                </a:rPr>
                <a:t>USB</a:t>
              </a:r>
              <a:r>
                <a:rPr kumimoji="1" lang="ja-GB" altLang="en-US" sz="1200" b="1" dirty="0">
                  <a:solidFill>
                    <a:schemeClr val="bg1">
                      <a:lumMod val="65000"/>
                    </a:schemeClr>
                  </a:solidFill>
                </a:rPr>
                <a:t>，</a:t>
              </a:r>
              <a:r>
                <a:rPr kumimoji="1" lang="en-US" altLang="ja-GB" sz="1200" b="1" dirty="0">
                  <a:solidFill>
                    <a:schemeClr val="bg1">
                      <a:lumMod val="65000"/>
                    </a:schemeClr>
                  </a:solidFill>
                </a:rPr>
                <a:t>CD</a:t>
              </a:r>
              <a:r>
                <a:rPr kumimoji="1" lang="ja-GB" altLang="en-US" sz="1200" b="1" dirty="0">
                  <a:solidFill>
                    <a:schemeClr val="bg1">
                      <a:lumMod val="65000"/>
                    </a:schemeClr>
                  </a:solidFill>
                </a:rPr>
                <a:t>，</a:t>
              </a:r>
              <a:r>
                <a:rPr kumimoji="1" lang="en-US" altLang="ja-GB" sz="1200" b="1" dirty="0">
                  <a:solidFill>
                    <a:schemeClr val="bg1">
                      <a:lumMod val="65000"/>
                    </a:schemeClr>
                  </a:solidFill>
                </a:rPr>
                <a:t>DVD</a:t>
              </a:r>
              <a:r>
                <a:rPr kumimoji="1" lang="ja-GB" altLang="en-US" sz="1200" b="1" dirty="0">
                  <a:solidFill>
                    <a:schemeClr val="bg1">
                      <a:lumMod val="65000"/>
                    </a:schemeClr>
                  </a:solidFill>
                </a:rPr>
                <a:t>，</a:t>
              </a:r>
              <a:r>
                <a:rPr kumimoji="1" lang="en-US" altLang="ja-GB" sz="1200" b="1" dirty="0">
                  <a:solidFill>
                    <a:schemeClr val="bg1">
                      <a:lumMod val="65000"/>
                    </a:schemeClr>
                  </a:solidFill>
                </a:rPr>
                <a:t>BD</a:t>
              </a:r>
            </a:p>
          </p:txBody>
        </p:sp>
        <p:cxnSp>
          <p:nvCxnSpPr>
            <p:cNvPr id="21" name="曲線コネクタ 20">
              <a:extLst>
                <a:ext uri="{FF2B5EF4-FFF2-40B4-BE49-F238E27FC236}">
                  <a16:creationId xmlns:a16="http://schemas.microsoft.com/office/drawing/2014/main" id="{189CF48A-86E2-F1BA-E7FD-4A036903DDC2}"/>
                </a:ext>
              </a:extLst>
            </p:cNvPr>
            <p:cNvCxnSpPr>
              <a:cxnSpLocks/>
              <a:stCxn id="8" idx="2"/>
              <a:endCxn id="5" idx="0"/>
            </p:cNvCxnSpPr>
            <p:nvPr/>
          </p:nvCxnSpPr>
          <p:spPr>
            <a:xfrm rot="16200000" flipH="1">
              <a:off x="3646768" y="1682192"/>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4" name="曲線コネクタ 23">
              <a:extLst>
                <a:ext uri="{FF2B5EF4-FFF2-40B4-BE49-F238E27FC236}">
                  <a16:creationId xmlns:a16="http://schemas.microsoft.com/office/drawing/2014/main" id="{F7C0C0C2-F256-FBCA-9CC9-7E8FA2C35556}"/>
                </a:ext>
              </a:extLst>
            </p:cNvPr>
            <p:cNvCxnSpPr>
              <a:cxnSpLocks/>
              <a:stCxn id="8" idx="2"/>
              <a:endCxn id="44" idx="1"/>
            </p:cNvCxnSpPr>
            <p:nvPr/>
          </p:nvCxnSpPr>
          <p:spPr>
            <a:xfrm rot="16200000" flipH="1">
              <a:off x="2116605" y="3212355"/>
              <a:ext cx="1322421"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6DE7CEE0-25BF-8BA5-CC21-120FF7F5D0AA}"/>
                </a:ext>
              </a:extLst>
            </p:cNvPr>
            <p:cNvCxnSpPr>
              <a:cxnSpLocks/>
              <a:endCxn id="11" idx="0"/>
            </p:cNvCxnSpPr>
            <p:nvPr/>
          </p:nvCxnSpPr>
          <p:spPr>
            <a:xfrm flipH="1">
              <a:off x="2124138" y="3204822"/>
              <a:ext cx="1" cy="1807424"/>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EC789EC8-8598-6000-3928-40845FC24622}"/>
                </a:ext>
              </a:extLst>
            </p:cNvPr>
            <p:cNvCxnSpPr>
              <a:cxnSpLocks/>
            </p:cNvCxnSpPr>
            <p:nvPr/>
          </p:nvCxnSpPr>
          <p:spPr>
            <a:xfrm>
              <a:off x="2678137" y="3020156"/>
              <a:ext cx="1318345"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4A530322-6EE1-7137-7653-185395FC54C4}"/>
                </a:ext>
              </a:extLst>
            </p:cNvPr>
            <p:cNvSpPr txBox="1"/>
            <p:nvPr/>
          </p:nvSpPr>
          <p:spPr>
            <a:xfrm>
              <a:off x="3431492" y="5012246"/>
              <a:ext cx="2262158" cy="369332"/>
            </a:xfrm>
            <a:prstGeom prst="rect">
              <a:avLst/>
            </a:prstGeom>
            <a:solidFill>
              <a:schemeClr val="bg1">
                <a:lumMod val="85000"/>
                <a:alpha val="76120"/>
              </a:schemeClr>
            </a:solidFill>
            <a:ln>
              <a:noFill/>
            </a:ln>
          </p:spPr>
          <p:txBody>
            <a:bodyPr wrap="none" rtlCol="0">
              <a:spAutoFit/>
            </a:bodyPr>
            <a:lstStyle/>
            <a:p>
              <a:r>
                <a:rPr lang="ja-GB" altLang="en-US" strike="sngStrike" dirty="0">
                  <a:solidFill>
                    <a:schemeClr val="bg1">
                      <a:lumMod val="65000"/>
                    </a:schemeClr>
                  </a:solidFill>
                </a:rPr>
                <a:t>プログラム</a:t>
              </a:r>
              <a:r>
                <a:rPr lang="ja-GB" strike="sngStrike" dirty="0">
                  <a:solidFill>
                    <a:schemeClr val="bg1">
                      <a:lumMod val="65000"/>
                    </a:schemeClr>
                  </a:solidFill>
                </a:rPr>
                <a:t>記憶装置</a:t>
              </a:r>
            </a:p>
          </p:txBody>
        </p:sp>
        <p:sp>
          <p:nvSpPr>
            <p:cNvPr id="44" name="テキスト ボックス 43">
              <a:extLst>
                <a:ext uri="{FF2B5EF4-FFF2-40B4-BE49-F238E27FC236}">
                  <a16:creationId xmlns:a16="http://schemas.microsoft.com/office/drawing/2014/main" id="{B876D273-7F17-FA53-043A-F70856F9653D}"/>
                </a:ext>
              </a:extLst>
            </p:cNvPr>
            <p:cNvSpPr txBox="1"/>
            <p:nvPr/>
          </p:nvSpPr>
          <p:spPr>
            <a:xfrm>
              <a:off x="3431492" y="4342577"/>
              <a:ext cx="2262158" cy="369332"/>
            </a:xfrm>
            <a:prstGeom prst="rect">
              <a:avLst/>
            </a:prstGeom>
            <a:solidFill>
              <a:schemeClr val="bg1">
                <a:lumMod val="85000"/>
                <a:alpha val="76120"/>
              </a:schemeClr>
            </a:solidFill>
            <a:ln>
              <a:noFill/>
            </a:ln>
          </p:spPr>
          <p:txBody>
            <a:bodyPr wrap="none" rtlCol="0">
              <a:spAutoFit/>
            </a:bodyPr>
            <a:lstStyle/>
            <a:p>
              <a:r>
                <a:rPr lang="ja-GB" altLang="en-US" dirty="0">
                  <a:solidFill>
                    <a:schemeClr val="bg1">
                      <a:lumMod val="65000"/>
                    </a:schemeClr>
                  </a:solidFill>
                </a:rPr>
                <a:t>　</a:t>
              </a:r>
              <a:r>
                <a:rPr lang="ja-GB" altLang="en-US" strike="sngStrike" dirty="0">
                  <a:solidFill>
                    <a:schemeClr val="bg1">
                      <a:lumMod val="65000"/>
                    </a:schemeClr>
                  </a:solidFill>
                </a:rPr>
                <a:t>データ</a:t>
              </a:r>
              <a:r>
                <a:rPr lang="ja-GB" strike="sngStrike" dirty="0">
                  <a:solidFill>
                    <a:schemeClr val="bg1">
                      <a:lumMod val="65000"/>
                    </a:schemeClr>
                  </a:solidFill>
                </a:rPr>
                <a:t>記憶装置</a:t>
              </a:r>
              <a:r>
                <a:rPr lang="ja-GB" altLang="en-US" strike="sngStrike" dirty="0">
                  <a:solidFill>
                    <a:schemeClr val="bg1">
                      <a:lumMod val="65000"/>
                    </a:schemeClr>
                  </a:solidFill>
                </a:rPr>
                <a:t>　</a:t>
              </a:r>
              <a:endParaRPr lang="ja-GB" strike="sngStrike" dirty="0">
                <a:solidFill>
                  <a:schemeClr val="bg1">
                    <a:lumMod val="65000"/>
                  </a:schemeClr>
                </a:solidFill>
              </a:endParaRPr>
            </a:p>
          </p:txBody>
        </p:sp>
        <p:cxnSp>
          <p:nvCxnSpPr>
            <p:cNvPr id="54" name="曲線コネクタ 53">
              <a:extLst>
                <a:ext uri="{FF2B5EF4-FFF2-40B4-BE49-F238E27FC236}">
                  <a16:creationId xmlns:a16="http://schemas.microsoft.com/office/drawing/2014/main" id="{DE1FA069-3138-AF4A-ACC9-1EA87B94D7FB}"/>
                </a:ext>
              </a:extLst>
            </p:cNvPr>
            <p:cNvCxnSpPr>
              <a:cxnSpLocks/>
              <a:stCxn id="8" idx="2"/>
              <a:endCxn id="43" idx="1"/>
            </p:cNvCxnSpPr>
            <p:nvPr/>
          </p:nvCxnSpPr>
          <p:spPr>
            <a:xfrm rot="16200000" flipH="1">
              <a:off x="1781770" y="3547190"/>
              <a:ext cx="1992090"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6B3DEAAE-D310-43B7-B4C9-520A49D437D7}"/>
                </a:ext>
              </a:extLst>
            </p:cNvPr>
            <p:cNvSpPr txBox="1"/>
            <p:nvPr/>
          </p:nvSpPr>
          <p:spPr>
            <a:xfrm>
              <a:off x="1253300" y="1903594"/>
              <a:ext cx="4356384" cy="523220"/>
            </a:xfrm>
            <a:prstGeom prst="rect">
              <a:avLst/>
            </a:prstGeom>
            <a:noFill/>
          </p:spPr>
          <p:txBody>
            <a:bodyPr wrap="none" rtlCol="0">
              <a:spAutoFit/>
            </a:bodyPr>
            <a:lstStyle/>
            <a:p>
              <a:pPr algn="ctr"/>
              <a:r>
                <a:rPr kumimoji="1" lang="ja-GB" altLang="en-US" sz="1600" b="1" dirty="0">
                  <a:solidFill>
                    <a:schemeClr val="accent2"/>
                  </a:solidFill>
                </a:rPr>
                <a:t>中央処理装置（</a:t>
              </a:r>
              <a:r>
                <a:rPr kumimoji="1" lang="en-US" altLang="ja-GB" sz="1600" b="1" dirty="0">
                  <a:solidFill>
                    <a:schemeClr val="accent2"/>
                  </a:solidFill>
                </a:rPr>
                <a:t>CPU</a:t>
              </a:r>
              <a:r>
                <a:rPr kumimoji="1" lang="ja-GB" altLang="en-US" sz="1600" b="1" dirty="0">
                  <a:solidFill>
                    <a:schemeClr val="accent2"/>
                  </a:solidFill>
                </a:rPr>
                <a:t>，</a:t>
              </a:r>
              <a:r>
                <a:rPr kumimoji="1" lang="en-US" altLang="ja-GB" sz="1600" b="1" dirty="0">
                  <a:solidFill>
                    <a:schemeClr val="accent2"/>
                  </a:solidFill>
                </a:rPr>
                <a:t>Central Processing Unit</a:t>
              </a:r>
              <a:r>
                <a:rPr kumimoji="1" lang="ja-GB" altLang="en-US" sz="1600" b="1" dirty="0">
                  <a:solidFill>
                    <a:schemeClr val="accent2"/>
                  </a:solidFill>
                </a:rPr>
                <a:t>）</a:t>
              </a:r>
              <a:endParaRPr kumimoji="1" lang="en-US" altLang="ja-GB" sz="1600" b="1" dirty="0">
                <a:solidFill>
                  <a:schemeClr val="accent2"/>
                </a:solidFill>
              </a:endParaRPr>
            </a:p>
            <a:p>
              <a:pPr algn="ctr"/>
              <a:r>
                <a:rPr kumimoji="1" lang="ja-GB" altLang="en-US" sz="1200" b="1" dirty="0">
                  <a:solidFill>
                    <a:srgbClr val="2F2523"/>
                  </a:solidFill>
                </a:rPr>
                <a:t>例：</a:t>
              </a:r>
              <a:r>
                <a:rPr kumimoji="1" lang="en-US" altLang="ja-GB" sz="1200" b="1" dirty="0">
                  <a:solidFill>
                    <a:srgbClr val="2F2523"/>
                  </a:solidFill>
                </a:rPr>
                <a:t>Intel Core i5</a:t>
              </a:r>
              <a:r>
                <a:rPr kumimoji="1" lang="ja-GB" altLang="en-US" sz="1200" b="1" dirty="0">
                  <a:solidFill>
                    <a:srgbClr val="2F2523"/>
                  </a:solidFill>
                </a:rPr>
                <a:t>，</a:t>
              </a:r>
              <a:r>
                <a:rPr kumimoji="1" lang="en-US" altLang="ja-GB" sz="1200" b="1" dirty="0">
                  <a:solidFill>
                    <a:srgbClr val="2F2523"/>
                  </a:solidFill>
                </a:rPr>
                <a:t>Apple M1</a:t>
              </a:r>
              <a:r>
                <a:rPr kumimoji="1" lang="ja-GB" altLang="en-US" sz="1200" b="1" dirty="0">
                  <a:solidFill>
                    <a:srgbClr val="2F2523"/>
                  </a:solidFill>
                </a:rPr>
                <a:t>，</a:t>
              </a:r>
              <a:r>
                <a:rPr kumimoji="1" lang="en-US" altLang="ja-GB" sz="1200" b="1" dirty="0">
                  <a:solidFill>
                    <a:srgbClr val="2F2523"/>
                  </a:solidFill>
                </a:rPr>
                <a:t>Ryzen5 2500U</a:t>
              </a:r>
              <a:r>
                <a:rPr kumimoji="1" lang="ja-GB" altLang="en-US" sz="1200" b="1" dirty="0">
                  <a:solidFill>
                    <a:srgbClr val="2F2523"/>
                  </a:solidFill>
                </a:rPr>
                <a:t>，</a:t>
              </a:r>
              <a:r>
                <a:rPr kumimoji="1" lang="en-US" altLang="ja-GB" sz="1200" b="1" dirty="0">
                  <a:solidFill>
                    <a:srgbClr val="2F2523"/>
                  </a:solidFill>
                </a:rPr>
                <a:t>Snapdragon S2</a:t>
              </a:r>
            </a:p>
          </p:txBody>
        </p:sp>
      </p:grpSp>
      <p:pic>
        <p:nvPicPr>
          <p:cNvPr id="12" name="グラフィックス 11" descr="モニター 単色塗りつぶし">
            <a:extLst>
              <a:ext uri="{FF2B5EF4-FFF2-40B4-BE49-F238E27FC236}">
                <a16:creationId xmlns:a16="http://schemas.microsoft.com/office/drawing/2014/main" id="{A26C7373-D288-CC55-B6AF-CB11DD7ECD0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78361" y="4582993"/>
            <a:ext cx="756000" cy="756000"/>
          </a:xfrm>
          <a:prstGeom prst="rect">
            <a:avLst/>
          </a:prstGeom>
        </p:spPr>
      </p:pic>
      <p:pic>
        <p:nvPicPr>
          <p:cNvPr id="13" name="グラフィックス 12" descr="キーボード 単色塗りつぶし">
            <a:extLst>
              <a:ext uri="{FF2B5EF4-FFF2-40B4-BE49-F238E27FC236}">
                <a16:creationId xmlns:a16="http://schemas.microsoft.com/office/drawing/2014/main" id="{979B9EB5-13D2-A6FD-E5D7-8915D3406AA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06499" y="4466835"/>
            <a:ext cx="756000" cy="756000"/>
          </a:xfrm>
          <a:prstGeom prst="rect">
            <a:avLst/>
          </a:prstGeom>
        </p:spPr>
      </p:pic>
    </p:spTree>
    <p:extLst>
      <p:ext uri="{BB962C8B-B14F-4D97-AF65-F5344CB8AC3E}">
        <p14:creationId xmlns:p14="http://schemas.microsoft.com/office/powerpoint/2010/main" val="331833917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E165E2-5960-020A-17ED-0019FB9DB730}"/>
              </a:ext>
            </a:extLst>
          </p:cNvPr>
          <p:cNvSpPr>
            <a:spLocks noGrp="1"/>
          </p:cNvSpPr>
          <p:nvPr>
            <p:ph type="title"/>
          </p:nvPr>
        </p:nvSpPr>
        <p:spPr/>
        <p:txBody>
          <a:bodyPr>
            <a:normAutofit fontScale="90000"/>
          </a:bodyPr>
          <a:lstStyle/>
          <a:p>
            <a:r>
              <a:rPr lang="ja-GB" altLang="en-US" dirty="0"/>
              <a:t>中央処理装置（</a:t>
            </a:r>
            <a:r>
              <a:rPr lang="en-US" altLang="ja-GB" dirty="0"/>
              <a:t>CPU</a:t>
            </a:r>
            <a:r>
              <a:rPr lang="ja-GB" altLang="en-US" dirty="0"/>
              <a:t>，</a:t>
            </a:r>
            <a:r>
              <a:rPr lang="en-US" altLang="ja-GB" dirty="0"/>
              <a:t>Central Processing Unit</a:t>
            </a:r>
            <a:r>
              <a:rPr lang="ja-GB" altLang="en-US" dirty="0"/>
              <a:t>）</a:t>
            </a:r>
            <a:endParaRPr kumimoji="1" lang="ja-GB" altLang="en-US" dirty="0"/>
          </a:p>
        </p:txBody>
      </p:sp>
      <p:sp>
        <p:nvSpPr>
          <p:cNvPr id="3" name="コンテンツ プレースホルダー 2">
            <a:extLst>
              <a:ext uri="{FF2B5EF4-FFF2-40B4-BE49-F238E27FC236}">
                <a16:creationId xmlns:a16="http://schemas.microsoft.com/office/drawing/2014/main" id="{B00010B9-FD54-6FB1-8B24-BC340E5F7DFF}"/>
              </a:ext>
            </a:extLst>
          </p:cNvPr>
          <p:cNvSpPr>
            <a:spLocks noGrp="1"/>
          </p:cNvSpPr>
          <p:nvPr>
            <p:ph idx="1"/>
          </p:nvPr>
        </p:nvSpPr>
        <p:spPr/>
        <p:txBody>
          <a:bodyPr/>
          <a:lstStyle/>
          <a:p>
            <a:pPr marL="0" indent="0">
              <a:buNone/>
            </a:pPr>
            <a:r>
              <a:rPr kumimoji="1" lang="ja-GB" altLang="en-US" dirty="0"/>
              <a:t>演算や計算機全体の制御を行う，中心的な役割を担う装置</a:t>
            </a:r>
            <a:endParaRPr kumimoji="1" lang="en-US" altLang="ja-GB" dirty="0"/>
          </a:p>
          <a:p>
            <a:pPr marL="457200" lvl="1" indent="0">
              <a:buNone/>
            </a:pPr>
            <a:r>
              <a:rPr lang="ja-GB" altLang="en-US" dirty="0"/>
              <a:t>クロック数</a:t>
            </a:r>
            <a:r>
              <a:rPr lang="en-US" altLang="ja-GB" dirty="0"/>
              <a:t>/</a:t>
            </a:r>
            <a:r>
              <a:rPr lang="ja-GB" altLang="en-US" dirty="0"/>
              <a:t>クロック周波数</a:t>
            </a:r>
            <a:endParaRPr lang="en-US" altLang="ja-GB" dirty="0"/>
          </a:p>
          <a:p>
            <a:pPr lvl="2"/>
            <a:r>
              <a:rPr kumimoji="1" lang="ja-GB" altLang="en-US" dirty="0"/>
              <a:t>一秒間に行える計算（処理できる命令）の数</a:t>
            </a:r>
            <a:endParaRPr kumimoji="1" lang="en-US" altLang="ja-GB" dirty="0"/>
          </a:p>
          <a:p>
            <a:pPr lvl="2"/>
            <a:r>
              <a:rPr kumimoji="1" lang="en-US" altLang="ja-GB" dirty="0"/>
              <a:t>2025</a:t>
            </a:r>
            <a:r>
              <a:rPr kumimoji="1" lang="ja-GB" altLang="en-US" dirty="0"/>
              <a:t>年現在では</a:t>
            </a:r>
            <a:r>
              <a:rPr kumimoji="1" lang="en-US" altLang="ja-GB" dirty="0"/>
              <a:t>1GHz</a:t>
            </a:r>
            <a:r>
              <a:rPr kumimoji="1" lang="ja-GB" altLang="en-US" dirty="0"/>
              <a:t>（</a:t>
            </a:r>
            <a:r>
              <a:rPr kumimoji="1" lang="en-US" altLang="ja-GB" dirty="0"/>
              <a:t>=10</a:t>
            </a:r>
            <a:r>
              <a:rPr kumimoji="1" lang="en-US" altLang="ja-GB" baseline="30000" dirty="0"/>
              <a:t>9</a:t>
            </a:r>
            <a:r>
              <a:rPr kumimoji="1" lang="en-US" altLang="ja-GB" dirty="0"/>
              <a:t>Hz → 10</a:t>
            </a:r>
            <a:r>
              <a:rPr kumimoji="1" lang="ja-GB" altLang="en-US" dirty="0"/>
              <a:t>億回</a:t>
            </a:r>
            <a:r>
              <a:rPr kumimoji="1" lang="en-US" altLang="ja-GB" dirty="0"/>
              <a:t>/</a:t>
            </a:r>
            <a:r>
              <a:rPr kumimoji="1" lang="ja-GB" altLang="en-US" dirty="0"/>
              <a:t>秒）以上のものが多い</a:t>
            </a:r>
            <a:endParaRPr kumimoji="1" lang="en-US" altLang="ja-GB" dirty="0"/>
          </a:p>
          <a:p>
            <a:pPr marL="457200" lvl="1" indent="0">
              <a:buNone/>
            </a:pPr>
            <a:r>
              <a:rPr lang="ja-GB" altLang="en-US" dirty="0"/>
              <a:t>コア数</a:t>
            </a:r>
            <a:endParaRPr lang="en-US" altLang="ja-GB" dirty="0"/>
          </a:p>
          <a:p>
            <a:pPr lvl="2"/>
            <a:r>
              <a:rPr kumimoji="1" lang="ja-GB" altLang="en-US" dirty="0"/>
              <a:t>一度に並列して動作する演算装置の数</a:t>
            </a:r>
            <a:endParaRPr kumimoji="1" lang="en-US" altLang="ja-GB" dirty="0"/>
          </a:p>
          <a:p>
            <a:pPr lvl="2"/>
            <a:r>
              <a:rPr kumimoji="1" lang="ja-GB" altLang="en-US" dirty="0"/>
              <a:t>多様なコアを搭載して使い分ける装置も多い</a:t>
            </a:r>
            <a:endParaRPr kumimoji="1" lang="en-US" altLang="ja-GB" dirty="0"/>
          </a:p>
          <a:p>
            <a:pPr lvl="3"/>
            <a:r>
              <a:rPr kumimoji="1" lang="ja-GB" altLang="en-US" dirty="0"/>
              <a:t>消費電力の少ないコア（待機中など），高速なコア（ゲーム時など）</a:t>
            </a:r>
            <a:endParaRPr kumimoji="1" lang="en-US" altLang="ja-GB" dirty="0"/>
          </a:p>
          <a:p>
            <a:pPr marL="457200" lvl="1" indent="0">
              <a:buNone/>
            </a:pPr>
            <a:r>
              <a:rPr kumimoji="1" lang="ja-GB" altLang="en-US" dirty="0"/>
              <a:t>スレッド数</a:t>
            </a:r>
            <a:endParaRPr kumimoji="1" lang="en-US" altLang="ja-GB" dirty="0"/>
          </a:p>
          <a:p>
            <a:pPr lvl="2"/>
            <a:r>
              <a:rPr kumimoji="1" lang="ja-GB" altLang="en-US" dirty="0"/>
              <a:t>一度に並列して処理できる計算の数</a:t>
            </a:r>
            <a:endParaRPr kumimoji="1" lang="en-US" altLang="ja-GB" dirty="0"/>
          </a:p>
          <a:p>
            <a:pPr lvl="2"/>
            <a:r>
              <a:rPr kumimoji="1" lang="ja-GB" altLang="en-US" dirty="0"/>
              <a:t>各コアに余力がある場合は，コア数を超えて並列動作できることがある</a:t>
            </a:r>
            <a:endParaRPr kumimoji="1" lang="en-US" altLang="ja-GB" dirty="0"/>
          </a:p>
          <a:p>
            <a:pPr lvl="1"/>
            <a:endParaRPr kumimoji="1" lang="en-US" altLang="ja-GB" dirty="0"/>
          </a:p>
          <a:p>
            <a:pPr lvl="1"/>
            <a:endParaRPr kumimoji="1" lang="ja-GB" altLang="en-US" dirty="0"/>
          </a:p>
        </p:txBody>
      </p:sp>
    </p:spTree>
    <p:extLst>
      <p:ext uri="{BB962C8B-B14F-4D97-AF65-F5344CB8AC3E}">
        <p14:creationId xmlns:p14="http://schemas.microsoft.com/office/powerpoint/2010/main" val="319022501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40F8BF-A98E-316B-8F09-69A7E392CA1E}"/>
              </a:ext>
            </a:extLst>
          </p:cNvPr>
          <p:cNvSpPr>
            <a:spLocks noGrp="1"/>
          </p:cNvSpPr>
          <p:nvPr>
            <p:ph type="title"/>
          </p:nvPr>
        </p:nvSpPr>
        <p:spPr/>
        <p:txBody>
          <a:bodyPr/>
          <a:lstStyle/>
          <a:p>
            <a:r>
              <a:rPr lang="ja-GB" altLang="en-US" dirty="0"/>
              <a:t>専用プロセッサ</a:t>
            </a:r>
            <a:endParaRPr kumimoji="1" lang="ja-GB" altLang="en-US" dirty="0"/>
          </a:p>
        </p:txBody>
      </p:sp>
      <p:sp>
        <p:nvSpPr>
          <p:cNvPr id="3" name="コンテンツ プレースホルダー 2">
            <a:extLst>
              <a:ext uri="{FF2B5EF4-FFF2-40B4-BE49-F238E27FC236}">
                <a16:creationId xmlns:a16="http://schemas.microsoft.com/office/drawing/2014/main" id="{BDBB5829-EC92-CED2-D041-19E40B01A082}"/>
              </a:ext>
            </a:extLst>
          </p:cNvPr>
          <p:cNvSpPr>
            <a:spLocks noGrp="1"/>
          </p:cNvSpPr>
          <p:nvPr>
            <p:ph idx="1"/>
          </p:nvPr>
        </p:nvSpPr>
        <p:spPr/>
        <p:txBody>
          <a:bodyPr/>
          <a:lstStyle/>
          <a:p>
            <a:pPr marL="0" indent="0">
              <a:buNone/>
            </a:pPr>
            <a:r>
              <a:rPr kumimoji="1" lang="ja-GB" altLang="en-US" dirty="0"/>
              <a:t>画像処理装置（</a:t>
            </a:r>
            <a:r>
              <a:rPr kumimoji="1" lang="en-US" altLang="ja-GB" dirty="0"/>
              <a:t>GPU</a:t>
            </a:r>
            <a:r>
              <a:rPr lang="ja-GB" altLang="en-US" dirty="0"/>
              <a:t>，</a:t>
            </a:r>
            <a:r>
              <a:rPr kumimoji="1" lang="en-US" altLang="ja-GB" dirty="0"/>
              <a:t>Graphic Processing Unit</a:t>
            </a:r>
            <a:r>
              <a:rPr kumimoji="1" lang="ja-GB" altLang="en-US" dirty="0"/>
              <a:t>）</a:t>
            </a:r>
            <a:endParaRPr kumimoji="1" lang="en-US" altLang="ja-GB" dirty="0"/>
          </a:p>
          <a:p>
            <a:pPr marL="457200" lvl="1" indent="0">
              <a:buNone/>
            </a:pPr>
            <a:r>
              <a:rPr kumimoji="1" lang="ja-GB" altLang="en-US" dirty="0"/>
              <a:t>画像描画のように</a:t>
            </a:r>
            <a:r>
              <a:rPr kumimoji="1" lang="ja-GB" altLang="en-US" dirty="0">
                <a:solidFill>
                  <a:srgbClr val="0070C0"/>
                </a:solidFill>
              </a:rPr>
              <a:t>複雑ではないが，並列的で</a:t>
            </a:r>
            <a:r>
              <a:rPr lang="ja-GB" altLang="en-US" dirty="0">
                <a:solidFill>
                  <a:srgbClr val="0070C0"/>
                </a:solidFill>
              </a:rPr>
              <a:t>高速さが求められる処理</a:t>
            </a:r>
            <a:r>
              <a:rPr lang="ja-GB" altLang="en-US" dirty="0"/>
              <a:t>を</a:t>
            </a:r>
            <a:br>
              <a:rPr lang="en-US" altLang="ja-GB" dirty="0"/>
            </a:br>
            <a:r>
              <a:rPr lang="ja-GB" altLang="en-US" dirty="0"/>
              <a:t>効率的に実行するための装置</a:t>
            </a:r>
            <a:endParaRPr kumimoji="1" lang="en-US" altLang="ja-GB" dirty="0"/>
          </a:p>
          <a:p>
            <a:pPr lvl="2"/>
            <a:r>
              <a:rPr lang="en-US" altLang="ja-GB" dirty="0"/>
              <a:t>CPU</a:t>
            </a:r>
            <a:r>
              <a:rPr lang="ja-GB" altLang="en-US" dirty="0"/>
              <a:t>：桁の多い数の演算を，次々と高速に処理できる</a:t>
            </a:r>
            <a:endParaRPr lang="en-US" altLang="ja-GB" dirty="0"/>
          </a:p>
          <a:p>
            <a:pPr lvl="2"/>
            <a:r>
              <a:rPr lang="en-US" altLang="ja-GB" dirty="0"/>
              <a:t>GPU</a:t>
            </a:r>
            <a:r>
              <a:rPr lang="ja-GB" altLang="en-US" dirty="0"/>
              <a:t>：桁の少ない数の演算を，同時並行で処理できる</a:t>
            </a:r>
            <a:endParaRPr lang="en-US" altLang="ja-GB" dirty="0"/>
          </a:p>
          <a:p>
            <a:pPr marL="1371600" lvl="3" indent="0">
              <a:buNone/>
            </a:pPr>
            <a:r>
              <a:rPr lang="ja-GB" altLang="en-US" dirty="0"/>
              <a:t>比喩）</a:t>
            </a:r>
            <a:r>
              <a:rPr lang="en-US" altLang="ja-GB" dirty="0"/>
              <a:t>100</a:t>
            </a:r>
            <a:r>
              <a:rPr lang="ja-GB" altLang="en-US" dirty="0"/>
              <a:t>マス計算は，大人</a:t>
            </a:r>
            <a:r>
              <a:rPr lang="en-US" altLang="ja-GB" dirty="0"/>
              <a:t>10</a:t>
            </a:r>
            <a:r>
              <a:rPr lang="ja-GB" altLang="en-US" dirty="0"/>
              <a:t>人より，小学生</a:t>
            </a:r>
            <a:r>
              <a:rPr lang="en-US" altLang="ja-GB" dirty="0"/>
              <a:t>100</a:t>
            </a:r>
            <a:r>
              <a:rPr lang="ja-GB" altLang="en-US" dirty="0"/>
              <a:t>人の方が速い</a:t>
            </a:r>
            <a:endParaRPr lang="en-US" altLang="ja-GB" dirty="0"/>
          </a:p>
          <a:p>
            <a:pPr lvl="1"/>
            <a:endParaRPr kumimoji="1" lang="en-US" altLang="ja-GB" dirty="0"/>
          </a:p>
          <a:p>
            <a:pPr lvl="1"/>
            <a:endParaRPr lang="en-US" altLang="ja-GB" dirty="0"/>
          </a:p>
          <a:p>
            <a:pPr lvl="1"/>
            <a:endParaRPr kumimoji="1" lang="en-US" altLang="ja-GB" dirty="0"/>
          </a:p>
          <a:p>
            <a:pPr lvl="1"/>
            <a:endParaRPr lang="en-US" altLang="ja-GB" dirty="0"/>
          </a:p>
          <a:p>
            <a:pPr lvl="1"/>
            <a:endParaRPr kumimoji="1" lang="en-US" altLang="ja-GB" dirty="0"/>
          </a:p>
          <a:p>
            <a:pPr lvl="1"/>
            <a:endParaRPr kumimoji="1" lang="en-US" altLang="ja-GB" dirty="0"/>
          </a:p>
          <a:p>
            <a:pPr marL="0" indent="0">
              <a:buNone/>
            </a:pPr>
            <a:r>
              <a:rPr lang="en-US" altLang="ja-GB" dirty="0"/>
              <a:t>AI</a:t>
            </a:r>
            <a:r>
              <a:rPr lang="ja-GB" altLang="en-US" dirty="0"/>
              <a:t>専用チップ</a:t>
            </a:r>
            <a:endParaRPr lang="en-US" altLang="ja-GB" dirty="0"/>
          </a:p>
          <a:p>
            <a:pPr marL="457200" lvl="1" indent="0">
              <a:buNone/>
            </a:pPr>
            <a:r>
              <a:rPr kumimoji="1" lang="ja-GB" altLang="en-US" dirty="0"/>
              <a:t>画像処理や音声処理，言語処理など，身近なアプリケーションとなりつつある</a:t>
            </a:r>
            <a:br>
              <a:rPr kumimoji="1" lang="en-US" altLang="ja-GB" dirty="0"/>
            </a:br>
            <a:r>
              <a:rPr lang="ja-GB" altLang="en-US" dirty="0"/>
              <a:t>人工知能（</a:t>
            </a:r>
            <a:r>
              <a:rPr lang="en-US" altLang="ja-GB" dirty="0"/>
              <a:t>AI</a:t>
            </a:r>
            <a:r>
              <a:rPr lang="ja-GB" altLang="en-US" dirty="0"/>
              <a:t>）演算を効率的に実行するための装置</a:t>
            </a:r>
            <a:endParaRPr lang="en-US" altLang="ja-GB" dirty="0"/>
          </a:p>
          <a:p>
            <a:pPr marL="914400" lvl="2" indent="0">
              <a:buNone/>
            </a:pPr>
            <a:r>
              <a:rPr lang="ja-GB" altLang="en-US" dirty="0"/>
              <a:t>例）</a:t>
            </a:r>
            <a:r>
              <a:rPr lang="en-US" altLang="ja-GB" dirty="0"/>
              <a:t>Apple</a:t>
            </a:r>
            <a:r>
              <a:rPr lang="ja-GB" altLang="en-US" dirty="0"/>
              <a:t>の</a:t>
            </a:r>
            <a:r>
              <a:rPr lang="en-US" altLang="ja-GB" dirty="0"/>
              <a:t>Neural Engine</a:t>
            </a:r>
            <a:r>
              <a:rPr lang="ja-GB" altLang="en-US" dirty="0"/>
              <a:t>，</a:t>
            </a:r>
            <a:r>
              <a:rPr lang="en-US" altLang="ja-GB" dirty="0"/>
              <a:t>Intel</a:t>
            </a:r>
            <a:r>
              <a:rPr lang="ja-GB" altLang="en-US" dirty="0"/>
              <a:t>や</a:t>
            </a:r>
            <a:r>
              <a:rPr lang="en-US" altLang="ja-GB" dirty="0"/>
              <a:t>AMD</a:t>
            </a:r>
            <a:r>
              <a:rPr lang="ja-GB" altLang="en-US" dirty="0"/>
              <a:t>の</a:t>
            </a:r>
            <a:r>
              <a:rPr lang="en-US" altLang="ja-GB" dirty="0"/>
              <a:t>NPU</a:t>
            </a:r>
            <a:r>
              <a:rPr lang="ja-GB" altLang="en-US" dirty="0"/>
              <a:t>，</a:t>
            </a:r>
            <a:r>
              <a:rPr lang="en-US" altLang="ja-GB" dirty="0"/>
              <a:t>Google</a:t>
            </a:r>
            <a:r>
              <a:rPr lang="ja-GB" altLang="en-US" dirty="0"/>
              <a:t>の</a:t>
            </a:r>
            <a:r>
              <a:rPr lang="en-US" altLang="ja-GB" dirty="0"/>
              <a:t>TPU</a:t>
            </a:r>
            <a:r>
              <a:rPr lang="ja-GB" altLang="en-US" dirty="0"/>
              <a:t>など</a:t>
            </a:r>
            <a:endParaRPr lang="en-US" altLang="ja-GB" dirty="0"/>
          </a:p>
          <a:p>
            <a:pPr marL="457200" lvl="1" indent="0">
              <a:buNone/>
            </a:pPr>
            <a:r>
              <a:rPr lang="ja-GB" altLang="en-US" dirty="0"/>
              <a:t>膨大な並列処理が基本となるため，</a:t>
            </a:r>
            <a:r>
              <a:rPr lang="en-US" altLang="ja-GB" dirty="0"/>
              <a:t>GPU</a:t>
            </a:r>
            <a:r>
              <a:rPr lang="ja-GB" altLang="en-US" dirty="0"/>
              <a:t>で代用されることもある</a:t>
            </a:r>
            <a:endParaRPr lang="en-US" altLang="ja-GB" dirty="0"/>
          </a:p>
          <a:p>
            <a:pPr lvl="1"/>
            <a:endParaRPr kumimoji="1" lang="ja-GB" altLang="en-US" dirty="0"/>
          </a:p>
        </p:txBody>
      </p:sp>
      <p:sp>
        <p:nvSpPr>
          <p:cNvPr id="4" name="テキスト ボックス 3">
            <a:extLst>
              <a:ext uri="{FF2B5EF4-FFF2-40B4-BE49-F238E27FC236}">
                <a16:creationId xmlns:a16="http://schemas.microsoft.com/office/drawing/2014/main" id="{48BC9A55-204F-3A66-9F04-776FDE91662F}"/>
              </a:ext>
            </a:extLst>
          </p:cNvPr>
          <p:cNvSpPr txBox="1"/>
          <p:nvPr/>
        </p:nvSpPr>
        <p:spPr>
          <a:xfrm>
            <a:off x="314325" y="3256750"/>
            <a:ext cx="2317656" cy="1384995"/>
          </a:xfrm>
          <a:prstGeom prst="rect">
            <a:avLst/>
          </a:prstGeom>
          <a:noFill/>
        </p:spPr>
        <p:txBody>
          <a:bodyPr wrap="square" rtlCol="0">
            <a:spAutoFit/>
          </a:bodyPr>
          <a:lstStyle/>
          <a:p>
            <a:pPr algn="l"/>
            <a:r>
              <a:rPr lang="en-GB" sz="1050" dirty="0">
                <a:solidFill>
                  <a:srgbClr val="000000"/>
                </a:solidFill>
                <a:latin typeface="ui-monospace"/>
              </a:rPr>
              <a:t>00</a:t>
            </a:r>
            <a:r>
              <a:rPr lang="en-GB" sz="1050" b="0" i="0" dirty="0">
                <a:solidFill>
                  <a:srgbClr val="000000"/>
                </a:solidFill>
                <a:effectLst/>
                <a:latin typeface="ui-monospace"/>
              </a:rPr>
              <a:t>0 030 060 090 120 150 180 210 </a:t>
            </a:r>
          </a:p>
          <a:p>
            <a:pPr algn="l"/>
            <a:r>
              <a:rPr lang="en-GB" sz="1050" dirty="0">
                <a:solidFill>
                  <a:srgbClr val="000000"/>
                </a:solidFill>
                <a:latin typeface="ui-monospace"/>
              </a:rPr>
              <a:t>0</a:t>
            </a:r>
            <a:r>
              <a:rPr lang="en-GB" sz="1050" b="0" i="0" dirty="0">
                <a:solidFill>
                  <a:srgbClr val="000000"/>
                </a:solidFill>
                <a:effectLst/>
                <a:latin typeface="ui-monospace"/>
              </a:rPr>
              <a:t>30 060 090 120 150 180 210 240 </a:t>
            </a:r>
          </a:p>
          <a:p>
            <a:pPr algn="l"/>
            <a:r>
              <a:rPr lang="en-GB" sz="1050" dirty="0">
                <a:solidFill>
                  <a:srgbClr val="000000"/>
                </a:solidFill>
                <a:latin typeface="ui-monospace"/>
              </a:rPr>
              <a:t>0</a:t>
            </a:r>
            <a:r>
              <a:rPr lang="en-GB" sz="1050" b="0" i="0" dirty="0">
                <a:solidFill>
                  <a:srgbClr val="000000"/>
                </a:solidFill>
                <a:effectLst/>
                <a:latin typeface="ui-monospace"/>
              </a:rPr>
              <a:t>60 090 120 150 180 210 240 255 </a:t>
            </a:r>
          </a:p>
          <a:p>
            <a:pPr algn="l"/>
            <a:r>
              <a:rPr lang="en-GB" sz="1050" dirty="0">
                <a:solidFill>
                  <a:srgbClr val="000000"/>
                </a:solidFill>
                <a:latin typeface="ui-monospace"/>
              </a:rPr>
              <a:t>0</a:t>
            </a:r>
            <a:r>
              <a:rPr lang="en-GB" sz="1050" b="0" i="0" dirty="0">
                <a:solidFill>
                  <a:srgbClr val="000000"/>
                </a:solidFill>
                <a:effectLst/>
                <a:latin typeface="ui-monospace"/>
              </a:rPr>
              <a:t>90 120 150 180 210 240 255 225 </a:t>
            </a:r>
          </a:p>
          <a:p>
            <a:pPr algn="l"/>
            <a:r>
              <a:rPr lang="en-GB" sz="1050" b="0" i="0" dirty="0">
                <a:solidFill>
                  <a:srgbClr val="000000"/>
                </a:solidFill>
                <a:effectLst/>
                <a:latin typeface="ui-monospace"/>
              </a:rPr>
              <a:t>120 150 180 210 240 255 225 195 </a:t>
            </a:r>
          </a:p>
          <a:p>
            <a:pPr algn="l"/>
            <a:r>
              <a:rPr lang="en-GB" sz="1050" b="0" i="0" dirty="0">
                <a:solidFill>
                  <a:srgbClr val="000000"/>
                </a:solidFill>
                <a:effectLst/>
                <a:latin typeface="ui-monospace"/>
              </a:rPr>
              <a:t>150 180 210 240 255 225 195 165 </a:t>
            </a:r>
          </a:p>
          <a:p>
            <a:pPr algn="l"/>
            <a:r>
              <a:rPr lang="en-GB" sz="1050" b="0" i="0" dirty="0">
                <a:solidFill>
                  <a:srgbClr val="000000"/>
                </a:solidFill>
                <a:effectLst/>
                <a:latin typeface="ui-monospace"/>
              </a:rPr>
              <a:t>180 210 240 255 225 195 165 135 </a:t>
            </a:r>
          </a:p>
          <a:p>
            <a:pPr algn="l"/>
            <a:r>
              <a:rPr lang="en-GB" sz="1050" b="0" i="0" dirty="0">
                <a:solidFill>
                  <a:srgbClr val="000000"/>
                </a:solidFill>
                <a:effectLst/>
                <a:latin typeface="ui-monospace"/>
              </a:rPr>
              <a:t>210 240 255 225 195 165 135 105</a:t>
            </a:r>
          </a:p>
        </p:txBody>
      </p:sp>
      <p:pic>
        <p:nvPicPr>
          <p:cNvPr id="5" name="Picture 2">
            <a:extLst>
              <a:ext uri="{FF2B5EF4-FFF2-40B4-BE49-F238E27FC236}">
                <a16:creationId xmlns:a16="http://schemas.microsoft.com/office/drawing/2014/main" id="{947D8709-6916-E48E-4A22-22C0988CDA0D}"/>
              </a:ext>
            </a:extLst>
          </p:cNvPr>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3435787" y="3300414"/>
            <a:ext cx="1248379" cy="124635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直線矢印コネクタ 5">
            <a:extLst>
              <a:ext uri="{FF2B5EF4-FFF2-40B4-BE49-F238E27FC236}">
                <a16:creationId xmlns:a16="http://schemas.microsoft.com/office/drawing/2014/main" id="{DF727DFB-33F4-3960-F898-D14ABC082AEF}"/>
              </a:ext>
            </a:extLst>
          </p:cNvPr>
          <p:cNvCxnSpPr>
            <a:cxnSpLocks/>
          </p:cNvCxnSpPr>
          <p:nvPr/>
        </p:nvCxnSpPr>
        <p:spPr>
          <a:xfrm>
            <a:off x="2366510" y="3923592"/>
            <a:ext cx="1066495" cy="0"/>
          </a:xfrm>
          <a:prstGeom prst="straightConnector1">
            <a:avLst/>
          </a:prstGeom>
          <a:ln w="57150">
            <a:solidFill>
              <a:srgbClr val="2F2523"/>
            </a:solidFill>
            <a:tailEnd type="triangle"/>
          </a:ln>
        </p:spPr>
        <p:style>
          <a:lnRef idx="1">
            <a:schemeClr val="accent1"/>
          </a:lnRef>
          <a:fillRef idx="0">
            <a:schemeClr val="accent1"/>
          </a:fillRef>
          <a:effectRef idx="0">
            <a:schemeClr val="accent1"/>
          </a:effectRef>
          <a:fontRef idx="minor">
            <a:schemeClr val="tx1"/>
          </a:fontRef>
        </p:style>
      </p:cxnSp>
      <p:pic>
        <p:nvPicPr>
          <p:cNvPr id="18" name="図 17">
            <a:extLst>
              <a:ext uri="{FF2B5EF4-FFF2-40B4-BE49-F238E27FC236}">
                <a16:creationId xmlns:a16="http://schemas.microsoft.com/office/drawing/2014/main" id="{EC96B923-D11C-96D0-7E05-129B3955C23E}"/>
              </a:ext>
            </a:extLst>
          </p:cNvPr>
          <p:cNvPicPr>
            <a:picLocks noChangeAspect="1"/>
          </p:cNvPicPr>
          <p:nvPr/>
        </p:nvPicPr>
        <p:blipFill>
          <a:blip r:embed="rId3"/>
          <a:stretch>
            <a:fillRect/>
          </a:stretch>
        </p:blipFill>
        <p:spPr>
          <a:xfrm>
            <a:off x="5087700" y="2726405"/>
            <a:ext cx="3743366" cy="2200961"/>
          </a:xfrm>
          <a:prstGeom prst="rect">
            <a:avLst/>
          </a:prstGeom>
        </p:spPr>
      </p:pic>
    </p:spTree>
    <p:extLst>
      <p:ext uri="{BB962C8B-B14F-4D97-AF65-F5344CB8AC3E}">
        <p14:creationId xmlns:p14="http://schemas.microsoft.com/office/powerpoint/2010/main" val="2648599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1" end="1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2" end="1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3" end="1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85FF4-062C-4EB5-DA8C-58BD5CA862F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6D8C9D2-731C-804A-E648-0080FF3C1A50}"/>
              </a:ext>
            </a:extLst>
          </p:cNvPr>
          <p:cNvSpPr>
            <a:spLocks noGrp="1"/>
          </p:cNvSpPr>
          <p:nvPr>
            <p:ph type="title"/>
          </p:nvPr>
        </p:nvSpPr>
        <p:spPr/>
        <p:txBody>
          <a:bodyPr/>
          <a:lstStyle/>
          <a:p>
            <a:r>
              <a:rPr lang="ja-GB" altLang="en-US" dirty="0"/>
              <a:t>実際の</a:t>
            </a:r>
            <a:r>
              <a:rPr kumimoji="1" lang="ja-GB" altLang="en-US" dirty="0"/>
              <a:t>ハードウェア構成</a:t>
            </a:r>
          </a:p>
        </p:txBody>
      </p:sp>
      <p:grpSp>
        <p:nvGrpSpPr>
          <p:cNvPr id="6" name="グループ化 5">
            <a:extLst>
              <a:ext uri="{FF2B5EF4-FFF2-40B4-BE49-F238E27FC236}">
                <a16:creationId xmlns:a16="http://schemas.microsoft.com/office/drawing/2014/main" id="{E4BAD733-9358-0BF0-DC57-93C781CF1303}"/>
              </a:ext>
            </a:extLst>
          </p:cNvPr>
          <p:cNvGrpSpPr/>
          <p:nvPr/>
        </p:nvGrpSpPr>
        <p:grpSpPr>
          <a:xfrm>
            <a:off x="1432839" y="1105009"/>
            <a:ext cx="6277520" cy="4767289"/>
            <a:chOff x="1253300" y="1903594"/>
            <a:chExt cx="6277520" cy="4767289"/>
          </a:xfrm>
        </p:grpSpPr>
        <p:sp>
          <p:nvSpPr>
            <p:cNvPr id="3" name="角丸四角形 2">
              <a:extLst>
                <a:ext uri="{FF2B5EF4-FFF2-40B4-BE49-F238E27FC236}">
                  <a16:creationId xmlns:a16="http://schemas.microsoft.com/office/drawing/2014/main" id="{2F976FBB-091F-D7A3-0AD7-FFF754B9F7D6}"/>
                </a:ext>
              </a:extLst>
            </p:cNvPr>
            <p:cNvSpPr/>
            <p:nvPr/>
          </p:nvSpPr>
          <p:spPr>
            <a:xfrm>
              <a:off x="1320058" y="2466643"/>
              <a:ext cx="4044421" cy="997192"/>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20" name="角丸四角形 19">
              <a:extLst>
                <a:ext uri="{FF2B5EF4-FFF2-40B4-BE49-F238E27FC236}">
                  <a16:creationId xmlns:a16="http://schemas.microsoft.com/office/drawing/2014/main" id="{C9D4E381-E308-E80C-21A9-0428B71A3F03}"/>
                </a:ext>
              </a:extLst>
            </p:cNvPr>
            <p:cNvSpPr/>
            <p:nvPr/>
          </p:nvSpPr>
          <p:spPr>
            <a:xfrm>
              <a:off x="3219781" y="4177535"/>
              <a:ext cx="2676422" cy="1389250"/>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 name="テキスト ボックス 4">
              <a:extLst>
                <a:ext uri="{FF2B5EF4-FFF2-40B4-BE49-F238E27FC236}">
                  <a16:creationId xmlns:a16="http://schemas.microsoft.com/office/drawing/2014/main" id="{4E41C732-5DDF-EF66-0A83-CFD6E47CEB73}"/>
                </a:ext>
              </a:extLst>
            </p:cNvPr>
            <p:cNvSpPr txBox="1"/>
            <p:nvPr/>
          </p:nvSpPr>
          <p:spPr>
            <a:xfrm>
              <a:off x="6422824"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solidFill>
                    <a:schemeClr val="tx1">
                      <a:lumMod val="65000"/>
                      <a:lumOff val="35000"/>
                    </a:schemeClr>
                  </a:solidFill>
                </a:rPr>
                <a:t>出力装置</a:t>
              </a:r>
            </a:p>
          </p:txBody>
        </p:sp>
        <p:sp>
          <p:nvSpPr>
            <p:cNvPr id="8" name="テキスト ボックス 7">
              <a:extLst>
                <a:ext uri="{FF2B5EF4-FFF2-40B4-BE49-F238E27FC236}">
                  <a16:creationId xmlns:a16="http://schemas.microsoft.com/office/drawing/2014/main" id="{1EB5EAA8-106D-2CEE-1C4D-57FC5B648CCC}"/>
                </a:ext>
              </a:extLst>
            </p:cNvPr>
            <p:cNvSpPr txBox="1"/>
            <p:nvPr/>
          </p:nvSpPr>
          <p:spPr>
            <a:xfrm>
              <a:off x="1570141"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solidFill>
                    <a:schemeClr val="tx1">
                      <a:lumMod val="65000"/>
                      <a:lumOff val="35000"/>
                    </a:schemeClr>
                  </a:solidFill>
                </a:rPr>
                <a:t>制御装置</a:t>
              </a:r>
            </a:p>
          </p:txBody>
        </p:sp>
        <p:sp>
          <p:nvSpPr>
            <p:cNvPr id="10" name="テキスト ボックス 9">
              <a:extLst>
                <a:ext uri="{FF2B5EF4-FFF2-40B4-BE49-F238E27FC236}">
                  <a16:creationId xmlns:a16="http://schemas.microsoft.com/office/drawing/2014/main" id="{0F433475-9B80-E138-E505-478538F8C206}"/>
                </a:ext>
              </a:extLst>
            </p:cNvPr>
            <p:cNvSpPr txBox="1"/>
            <p:nvPr/>
          </p:nvSpPr>
          <p:spPr>
            <a:xfrm>
              <a:off x="3996482"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solidFill>
                    <a:schemeClr val="tx1">
                      <a:lumMod val="65000"/>
                      <a:lumOff val="35000"/>
                    </a:schemeClr>
                  </a:solidFill>
                </a:rPr>
                <a:t>演算装置</a:t>
              </a:r>
            </a:p>
          </p:txBody>
        </p:sp>
        <p:sp>
          <p:nvSpPr>
            <p:cNvPr id="11" name="テキスト ボックス 10">
              <a:extLst>
                <a:ext uri="{FF2B5EF4-FFF2-40B4-BE49-F238E27FC236}">
                  <a16:creationId xmlns:a16="http://schemas.microsoft.com/office/drawing/2014/main" id="{DD2C5D42-D313-47DC-9DFB-C1199AEDCC05}"/>
                </a:ext>
              </a:extLst>
            </p:cNvPr>
            <p:cNvSpPr txBox="1"/>
            <p:nvPr/>
          </p:nvSpPr>
          <p:spPr>
            <a:xfrm>
              <a:off x="1570140"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solidFill>
                    <a:schemeClr val="tx1">
                      <a:lumMod val="65000"/>
                      <a:lumOff val="35000"/>
                    </a:schemeClr>
                  </a:solidFill>
                </a:rPr>
                <a:t>入力装置</a:t>
              </a:r>
            </a:p>
          </p:txBody>
        </p:sp>
        <p:sp>
          <p:nvSpPr>
            <p:cNvPr id="19" name="テキスト ボックス 18">
              <a:extLst>
                <a:ext uri="{FF2B5EF4-FFF2-40B4-BE49-F238E27FC236}">
                  <a16:creationId xmlns:a16="http://schemas.microsoft.com/office/drawing/2014/main" id="{C8E672E5-032F-C11E-F43D-7AF3B7D01007}"/>
                </a:ext>
              </a:extLst>
            </p:cNvPr>
            <p:cNvSpPr txBox="1"/>
            <p:nvPr/>
          </p:nvSpPr>
          <p:spPr>
            <a:xfrm>
              <a:off x="3086743" y="5547499"/>
              <a:ext cx="2852063" cy="1123384"/>
            </a:xfrm>
            <a:prstGeom prst="rect">
              <a:avLst/>
            </a:prstGeom>
            <a:noFill/>
          </p:spPr>
          <p:txBody>
            <a:bodyPr wrap="none" rtlCol="0">
              <a:spAutoFit/>
            </a:bodyPr>
            <a:lstStyle/>
            <a:p>
              <a:pPr algn="ctr"/>
              <a:r>
                <a:rPr kumimoji="1" lang="ja-GB" altLang="en-US" sz="1600" b="1" dirty="0">
                  <a:solidFill>
                    <a:srgbClr val="0070C0"/>
                  </a:solidFill>
                </a:rPr>
                <a:t>主記憶装置（メモリ）</a:t>
              </a:r>
              <a:endParaRPr kumimoji="1" lang="en-US" altLang="ja-GB" sz="1600" b="1" dirty="0">
                <a:solidFill>
                  <a:srgbClr val="0070C0"/>
                </a:solidFill>
              </a:endParaRPr>
            </a:p>
            <a:p>
              <a:pPr algn="ctr"/>
              <a:r>
                <a:rPr kumimoji="1" lang="ja-GB" altLang="en-US" sz="1200" b="1" dirty="0">
                  <a:solidFill>
                    <a:srgbClr val="2F2523"/>
                  </a:solidFill>
                </a:rPr>
                <a:t>例：</a:t>
              </a:r>
              <a:r>
                <a:rPr kumimoji="1" lang="en-US" altLang="ja-GB" sz="1200" b="1" dirty="0">
                  <a:solidFill>
                    <a:srgbClr val="2F2523"/>
                  </a:solidFill>
                </a:rPr>
                <a:t>RAM (Random Access Memory)</a:t>
              </a:r>
              <a:endParaRPr kumimoji="1" lang="en-US" altLang="ja-GB" sz="1200" b="1" dirty="0">
                <a:solidFill>
                  <a:srgbClr val="0070C0"/>
                </a:solidFill>
              </a:endParaRPr>
            </a:p>
            <a:p>
              <a:pPr algn="ctr"/>
              <a:endParaRPr kumimoji="1" lang="en-US" altLang="ja-GB" sz="1100" b="1" dirty="0">
                <a:solidFill>
                  <a:srgbClr val="0070C0"/>
                </a:solidFill>
              </a:endParaRPr>
            </a:p>
            <a:p>
              <a:pPr algn="ctr"/>
              <a:r>
                <a:rPr kumimoji="1" lang="ja-GB" altLang="en-US" sz="1600" b="1" dirty="0">
                  <a:solidFill>
                    <a:srgbClr val="0070C0"/>
                  </a:solidFill>
                </a:rPr>
                <a:t>補助記憶装置（ストレージ）</a:t>
              </a:r>
              <a:endParaRPr kumimoji="1" lang="en-US" altLang="ja-GB" sz="1600" b="1" dirty="0">
                <a:solidFill>
                  <a:srgbClr val="0070C0"/>
                </a:solidFill>
              </a:endParaRPr>
            </a:p>
            <a:p>
              <a:pPr algn="ctr"/>
              <a:r>
                <a:rPr kumimoji="1" lang="ja-GB" altLang="en-US" sz="1200" b="1" dirty="0">
                  <a:solidFill>
                    <a:srgbClr val="2F2523"/>
                  </a:solidFill>
                </a:rPr>
                <a:t>例：</a:t>
              </a:r>
              <a:r>
                <a:rPr kumimoji="1" lang="en-US" altLang="ja-GB" sz="1200" b="1" dirty="0">
                  <a:solidFill>
                    <a:srgbClr val="2F2523"/>
                  </a:solidFill>
                </a:rPr>
                <a:t>HDD</a:t>
              </a:r>
              <a:r>
                <a:rPr kumimoji="1" lang="ja-GB" altLang="en-US" sz="1200" b="1" dirty="0">
                  <a:solidFill>
                    <a:srgbClr val="2F2523"/>
                  </a:solidFill>
                </a:rPr>
                <a:t>，</a:t>
              </a:r>
              <a:r>
                <a:rPr kumimoji="1" lang="en-US" altLang="ja-GB" sz="1200" b="1" dirty="0">
                  <a:solidFill>
                    <a:srgbClr val="2F2523"/>
                  </a:solidFill>
                </a:rPr>
                <a:t>SSD</a:t>
              </a:r>
              <a:r>
                <a:rPr kumimoji="1" lang="ja-GB" altLang="en-US" sz="1200" b="1" dirty="0">
                  <a:solidFill>
                    <a:srgbClr val="2F2523"/>
                  </a:solidFill>
                </a:rPr>
                <a:t>，</a:t>
              </a:r>
              <a:r>
                <a:rPr kumimoji="1" lang="en-US" altLang="ja-GB" sz="1200" b="1" dirty="0">
                  <a:solidFill>
                    <a:srgbClr val="2F2523"/>
                  </a:solidFill>
                </a:rPr>
                <a:t>USB</a:t>
              </a:r>
              <a:r>
                <a:rPr kumimoji="1" lang="ja-GB" altLang="en-US" sz="1200" b="1" dirty="0">
                  <a:solidFill>
                    <a:srgbClr val="2F2523"/>
                  </a:solidFill>
                </a:rPr>
                <a:t>，</a:t>
              </a:r>
              <a:r>
                <a:rPr kumimoji="1" lang="en-US" altLang="ja-GB" sz="1200" b="1" dirty="0">
                  <a:solidFill>
                    <a:srgbClr val="2F2523"/>
                  </a:solidFill>
                </a:rPr>
                <a:t>CD</a:t>
              </a:r>
              <a:r>
                <a:rPr kumimoji="1" lang="ja-GB" altLang="en-US" sz="1200" b="1" dirty="0">
                  <a:solidFill>
                    <a:srgbClr val="2F2523"/>
                  </a:solidFill>
                </a:rPr>
                <a:t>，</a:t>
              </a:r>
              <a:r>
                <a:rPr kumimoji="1" lang="en-US" altLang="ja-GB" sz="1200" b="1" dirty="0">
                  <a:solidFill>
                    <a:srgbClr val="2F2523"/>
                  </a:solidFill>
                </a:rPr>
                <a:t>DVD</a:t>
              </a:r>
              <a:r>
                <a:rPr kumimoji="1" lang="ja-GB" altLang="en-US" sz="1200" b="1" dirty="0">
                  <a:solidFill>
                    <a:srgbClr val="2F2523"/>
                  </a:solidFill>
                </a:rPr>
                <a:t>，</a:t>
              </a:r>
              <a:r>
                <a:rPr kumimoji="1" lang="en-US" altLang="ja-GB" sz="1200" b="1" dirty="0">
                  <a:solidFill>
                    <a:srgbClr val="2F2523"/>
                  </a:solidFill>
                </a:rPr>
                <a:t>BD</a:t>
              </a:r>
              <a:endParaRPr kumimoji="1" lang="en-US" altLang="ja-GB" sz="1200" b="1" dirty="0">
                <a:solidFill>
                  <a:srgbClr val="0070C0"/>
                </a:solidFill>
              </a:endParaRPr>
            </a:p>
          </p:txBody>
        </p:sp>
        <p:cxnSp>
          <p:nvCxnSpPr>
            <p:cNvPr id="21" name="曲線コネクタ 20">
              <a:extLst>
                <a:ext uri="{FF2B5EF4-FFF2-40B4-BE49-F238E27FC236}">
                  <a16:creationId xmlns:a16="http://schemas.microsoft.com/office/drawing/2014/main" id="{FE88196E-BB5A-B5BE-50FD-E0B3E9051ADF}"/>
                </a:ext>
              </a:extLst>
            </p:cNvPr>
            <p:cNvCxnSpPr>
              <a:cxnSpLocks/>
              <a:stCxn id="8" idx="2"/>
              <a:endCxn id="5" idx="0"/>
            </p:cNvCxnSpPr>
            <p:nvPr/>
          </p:nvCxnSpPr>
          <p:spPr>
            <a:xfrm rot="16200000" flipH="1">
              <a:off x="3646768" y="1682192"/>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4" name="曲線コネクタ 23">
              <a:extLst>
                <a:ext uri="{FF2B5EF4-FFF2-40B4-BE49-F238E27FC236}">
                  <a16:creationId xmlns:a16="http://schemas.microsoft.com/office/drawing/2014/main" id="{F7F1A284-2866-6B39-3E59-61B368D930BC}"/>
                </a:ext>
              </a:extLst>
            </p:cNvPr>
            <p:cNvCxnSpPr>
              <a:cxnSpLocks/>
              <a:stCxn id="8" idx="2"/>
              <a:endCxn id="44" idx="1"/>
            </p:cNvCxnSpPr>
            <p:nvPr/>
          </p:nvCxnSpPr>
          <p:spPr>
            <a:xfrm rot="16200000" flipH="1">
              <a:off x="2116605" y="3212355"/>
              <a:ext cx="1322421"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1101EFF0-372A-A9DB-D79D-5DAB6510C2D0}"/>
                </a:ext>
              </a:extLst>
            </p:cNvPr>
            <p:cNvCxnSpPr>
              <a:cxnSpLocks/>
              <a:endCxn id="11" idx="0"/>
            </p:cNvCxnSpPr>
            <p:nvPr/>
          </p:nvCxnSpPr>
          <p:spPr>
            <a:xfrm flipH="1">
              <a:off x="2124138" y="3204822"/>
              <a:ext cx="1" cy="1807424"/>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EB60C3FF-88E2-A3C7-8BFD-5B127A37864F}"/>
                </a:ext>
              </a:extLst>
            </p:cNvPr>
            <p:cNvCxnSpPr>
              <a:cxnSpLocks/>
            </p:cNvCxnSpPr>
            <p:nvPr/>
          </p:nvCxnSpPr>
          <p:spPr>
            <a:xfrm>
              <a:off x="2678137" y="3020156"/>
              <a:ext cx="1318345"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B53262BC-F860-6823-44B5-AAE89383AA1A}"/>
                </a:ext>
              </a:extLst>
            </p:cNvPr>
            <p:cNvSpPr txBox="1"/>
            <p:nvPr/>
          </p:nvSpPr>
          <p:spPr>
            <a:xfrm>
              <a:off x="3431492" y="5012246"/>
              <a:ext cx="2262158" cy="369332"/>
            </a:xfrm>
            <a:prstGeom prst="rect">
              <a:avLst/>
            </a:prstGeom>
            <a:solidFill>
              <a:schemeClr val="accent5">
                <a:lumMod val="40000"/>
                <a:lumOff val="60000"/>
                <a:alpha val="76120"/>
              </a:schemeClr>
            </a:solidFill>
            <a:ln>
              <a:noFill/>
            </a:ln>
          </p:spPr>
          <p:txBody>
            <a:bodyPr wrap="none" rtlCol="0">
              <a:spAutoFit/>
            </a:bodyPr>
            <a:lstStyle/>
            <a:p>
              <a:r>
                <a:rPr lang="ja-GB" altLang="en-US" strike="sngStrike" dirty="0">
                  <a:solidFill>
                    <a:schemeClr val="bg1">
                      <a:lumMod val="65000"/>
                    </a:schemeClr>
                  </a:solidFill>
                </a:rPr>
                <a:t>プログラム</a:t>
              </a:r>
              <a:r>
                <a:rPr lang="ja-GB" strike="sngStrike" dirty="0">
                  <a:solidFill>
                    <a:schemeClr val="bg1">
                      <a:lumMod val="65000"/>
                    </a:schemeClr>
                  </a:solidFill>
                </a:rPr>
                <a:t>記憶装置</a:t>
              </a:r>
            </a:p>
          </p:txBody>
        </p:sp>
        <p:sp>
          <p:nvSpPr>
            <p:cNvPr id="44" name="テキスト ボックス 43">
              <a:extLst>
                <a:ext uri="{FF2B5EF4-FFF2-40B4-BE49-F238E27FC236}">
                  <a16:creationId xmlns:a16="http://schemas.microsoft.com/office/drawing/2014/main" id="{D0D988B2-03C9-1AE6-B390-9093FD4E0C7C}"/>
                </a:ext>
              </a:extLst>
            </p:cNvPr>
            <p:cNvSpPr txBox="1"/>
            <p:nvPr/>
          </p:nvSpPr>
          <p:spPr>
            <a:xfrm>
              <a:off x="3431492" y="4342577"/>
              <a:ext cx="2262158" cy="369332"/>
            </a:xfrm>
            <a:prstGeom prst="rect">
              <a:avLst/>
            </a:prstGeom>
            <a:solidFill>
              <a:schemeClr val="accent5">
                <a:lumMod val="40000"/>
                <a:lumOff val="60000"/>
                <a:alpha val="76120"/>
              </a:schemeClr>
            </a:solidFill>
            <a:ln>
              <a:noFill/>
            </a:ln>
          </p:spPr>
          <p:txBody>
            <a:bodyPr wrap="none" rtlCol="0">
              <a:spAutoFit/>
            </a:bodyPr>
            <a:lstStyle/>
            <a:p>
              <a:r>
                <a:rPr lang="ja-GB" altLang="en-US" dirty="0">
                  <a:solidFill>
                    <a:schemeClr val="bg1">
                      <a:lumMod val="65000"/>
                    </a:schemeClr>
                  </a:solidFill>
                </a:rPr>
                <a:t>　</a:t>
              </a:r>
              <a:r>
                <a:rPr lang="ja-GB" altLang="en-US" strike="sngStrike" dirty="0">
                  <a:solidFill>
                    <a:schemeClr val="bg1">
                      <a:lumMod val="65000"/>
                    </a:schemeClr>
                  </a:solidFill>
                </a:rPr>
                <a:t>データ</a:t>
              </a:r>
              <a:r>
                <a:rPr lang="ja-GB" strike="sngStrike" dirty="0">
                  <a:solidFill>
                    <a:schemeClr val="bg1">
                      <a:lumMod val="65000"/>
                    </a:schemeClr>
                  </a:solidFill>
                </a:rPr>
                <a:t>記憶装置</a:t>
              </a:r>
              <a:r>
                <a:rPr lang="ja-GB" altLang="en-US" strike="sngStrike" dirty="0">
                  <a:solidFill>
                    <a:schemeClr val="bg1">
                      <a:lumMod val="65000"/>
                    </a:schemeClr>
                  </a:solidFill>
                </a:rPr>
                <a:t>　</a:t>
              </a:r>
              <a:endParaRPr lang="ja-GB" strike="sngStrike" dirty="0">
                <a:solidFill>
                  <a:schemeClr val="bg1">
                    <a:lumMod val="65000"/>
                  </a:schemeClr>
                </a:solidFill>
              </a:endParaRPr>
            </a:p>
          </p:txBody>
        </p:sp>
        <p:cxnSp>
          <p:nvCxnSpPr>
            <p:cNvPr id="54" name="曲線コネクタ 53">
              <a:extLst>
                <a:ext uri="{FF2B5EF4-FFF2-40B4-BE49-F238E27FC236}">
                  <a16:creationId xmlns:a16="http://schemas.microsoft.com/office/drawing/2014/main" id="{4D81B104-61E9-CACA-7D07-0753AAC5EBC8}"/>
                </a:ext>
              </a:extLst>
            </p:cNvPr>
            <p:cNvCxnSpPr>
              <a:cxnSpLocks/>
              <a:stCxn id="8" idx="2"/>
              <a:endCxn id="43" idx="1"/>
            </p:cNvCxnSpPr>
            <p:nvPr/>
          </p:nvCxnSpPr>
          <p:spPr>
            <a:xfrm rot="16200000" flipH="1">
              <a:off x="1781770" y="3547190"/>
              <a:ext cx="1992090"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3FC4EF67-E15E-F661-2189-348ECA28917F}"/>
                </a:ext>
              </a:extLst>
            </p:cNvPr>
            <p:cNvSpPr txBox="1"/>
            <p:nvPr/>
          </p:nvSpPr>
          <p:spPr>
            <a:xfrm>
              <a:off x="1253300" y="1903594"/>
              <a:ext cx="4356384" cy="523220"/>
            </a:xfrm>
            <a:prstGeom prst="rect">
              <a:avLst/>
            </a:prstGeom>
            <a:noFill/>
          </p:spPr>
          <p:txBody>
            <a:bodyPr wrap="none" rtlCol="0">
              <a:spAutoFit/>
            </a:bodyPr>
            <a:lstStyle/>
            <a:p>
              <a:pPr algn="ctr"/>
              <a:r>
                <a:rPr kumimoji="1" lang="ja-GB" altLang="en-US" sz="1600" dirty="0">
                  <a:solidFill>
                    <a:schemeClr val="tx1">
                      <a:lumMod val="65000"/>
                      <a:lumOff val="35000"/>
                    </a:schemeClr>
                  </a:solidFill>
                </a:rPr>
                <a:t>中央処理装置（</a:t>
              </a:r>
              <a:r>
                <a:rPr kumimoji="1" lang="en-US" altLang="ja-GB" sz="1600" dirty="0">
                  <a:solidFill>
                    <a:schemeClr val="tx1">
                      <a:lumMod val="65000"/>
                      <a:lumOff val="35000"/>
                    </a:schemeClr>
                  </a:solidFill>
                </a:rPr>
                <a:t>CPU</a:t>
              </a:r>
              <a:r>
                <a:rPr kumimoji="1" lang="ja-GB" altLang="en-US" sz="1600" dirty="0">
                  <a:solidFill>
                    <a:schemeClr val="tx1">
                      <a:lumMod val="65000"/>
                      <a:lumOff val="35000"/>
                    </a:schemeClr>
                  </a:solidFill>
                </a:rPr>
                <a:t>，</a:t>
              </a:r>
              <a:r>
                <a:rPr kumimoji="1" lang="en-US" altLang="ja-GB" sz="1600" dirty="0">
                  <a:solidFill>
                    <a:schemeClr val="tx1">
                      <a:lumMod val="65000"/>
                      <a:lumOff val="35000"/>
                    </a:schemeClr>
                  </a:solidFill>
                </a:rPr>
                <a:t>Central Processing Unit</a:t>
              </a:r>
              <a:r>
                <a:rPr kumimoji="1" lang="ja-GB" altLang="en-US" sz="1600" dirty="0">
                  <a:solidFill>
                    <a:schemeClr val="tx1">
                      <a:lumMod val="65000"/>
                      <a:lumOff val="35000"/>
                    </a:schemeClr>
                  </a:solidFill>
                </a:rPr>
                <a:t>）</a:t>
              </a:r>
              <a:endParaRPr kumimoji="1" lang="en-US" altLang="ja-GB" sz="1600" dirty="0">
                <a:solidFill>
                  <a:schemeClr val="tx1">
                    <a:lumMod val="65000"/>
                    <a:lumOff val="35000"/>
                  </a:schemeClr>
                </a:solidFill>
              </a:endParaRPr>
            </a:p>
            <a:p>
              <a:pPr algn="ctr"/>
              <a:r>
                <a:rPr kumimoji="1" lang="ja-GB" altLang="en-US" sz="1200" dirty="0">
                  <a:solidFill>
                    <a:schemeClr val="tx1">
                      <a:lumMod val="65000"/>
                      <a:lumOff val="35000"/>
                    </a:schemeClr>
                  </a:solidFill>
                </a:rPr>
                <a:t>例：</a:t>
              </a:r>
              <a:r>
                <a:rPr kumimoji="1" lang="en-US" altLang="ja-GB" sz="1200" dirty="0">
                  <a:solidFill>
                    <a:schemeClr val="tx1">
                      <a:lumMod val="65000"/>
                      <a:lumOff val="35000"/>
                    </a:schemeClr>
                  </a:solidFill>
                </a:rPr>
                <a:t>Intel Core i5</a:t>
              </a:r>
              <a:r>
                <a:rPr kumimoji="1" lang="ja-GB" altLang="en-US" sz="1200" dirty="0">
                  <a:solidFill>
                    <a:schemeClr val="tx1">
                      <a:lumMod val="65000"/>
                      <a:lumOff val="35000"/>
                    </a:schemeClr>
                  </a:solidFill>
                </a:rPr>
                <a:t>，</a:t>
              </a:r>
              <a:r>
                <a:rPr kumimoji="1" lang="en-US" altLang="ja-GB" sz="1200" dirty="0">
                  <a:solidFill>
                    <a:schemeClr val="tx1">
                      <a:lumMod val="65000"/>
                      <a:lumOff val="35000"/>
                    </a:schemeClr>
                  </a:solidFill>
                </a:rPr>
                <a:t>Apple M1</a:t>
              </a:r>
              <a:r>
                <a:rPr kumimoji="1" lang="ja-GB" altLang="en-US" sz="1200" dirty="0">
                  <a:solidFill>
                    <a:schemeClr val="tx1">
                      <a:lumMod val="65000"/>
                      <a:lumOff val="35000"/>
                    </a:schemeClr>
                  </a:solidFill>
                </a:rPr>
                <a:t>，</a:t>
              </a:r>
              <a:r>
                <a:rPr kumimoji="1" lang="en-US" altLang="ja-GB" sz="1200" dirty="0">
                  <a:solidFill>
                    <a:schemeClr val="tx1">
                      <a:lumMod val="65000"/>
                      <a:lumOff val="35000"/>
                    </a:schemeClr>
                  </a:solidFill>
                </a:rPr>
                <a:t>Ryzen5 2500U</a:t>
              </a:r>
              <a:r>
                <a:rPr kumimoji="1" lang="ja-GB" altLang="en-US" sz="1200" dirty="0">
                  <a:solidFill>
                    <a:schemeClr val="tx1">
                      <a:lumMod val="65000"/>
                      <a:lumOff val="35000"/>
                    </a:schemeClr>
                  </a:solidFill>
                </a:rPr>
                <a:t>，</a:t>
              </a:r>
              <a:r>
                <a:rPr kumimoji="1" lang="en-US" altLang="ja-GB" sz="1200" dirty="0">
                  <a:solidFill>
                    <a:schemeClr val="tx1">
                      <a:lumMod val="65000"/>
                      <a:lumOff val="35000"/>
                    </a:schemeClr>
                  </a:solidFill>
                </a:rPr>
                <a:t>Snapdragon S2</a:t>
              </a:r>
            </a:p>
          </p:txBody>
        </p:sp>
      </p:grpSp>
      <p:pic>
        <p:nvPicPr>
          <p:cNvPr id="12" name="グラフィックス 11" descr="モニター 単色塗りつぶし">
            <a:extLst>
              <a:ext uri="{FF2B5EF4-FFF2-40B4-BE49-F238E27FC236}">
                <a16:creationId xmlns:a16="http://schemas.microsoft.com/office/drawing/2014/main" id="{26629150-65E0-46C6-1EDA-E4CB0E49CA5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78361" y="4582993"/>
            <a:ext cx="756000" cy="756000"/>
          </a:xfrm>
          <a:prstGeom prst="rect">
            <a:avLst/>
          </a:prstGeom>
        </p:spPr>
      </p:pic>
      <p:pic>
        <p:nvPicPr>
          <p:cNvPr id="13" name="グラフィックス 12" descr="キーボード 単色塗りつぶし">
            <a:extLst>
              <a:ext uri="{FF2B5EF4-FFF2-40B4-BE49-F238E27FC236}">
                <a16:creationId xmlns:a16="http://schemas.microsoft.com/office/drawing/2014/main" id="{623C9C15-176D-24DD-A3EE-A3841A3C89E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06499" y="4466835"/>
            <a:ext cx="756000" cy="756000"/>
          </a:xfrm>
          <a:prstGeom prst="rect">
            <a:avLst/>
          </a:prstGeom>
        </p:spPr>
      </p:pic>
    </p:spTree>
    <p:extLst>
      <p:ext uri="{BB962C8B-B14F-4D97-AF65-F5344CB8AC3E}">
        <p14:creationId xmlns:p14="http://schemas.microsoft.com/office/powerpoint/2010/main" val="273321363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69C059-F716-9431-1320-DD2F6C2B0732}"/>
              </a:ext>
            </a:extLst>
          </p:cNvPr>
          <p:cNvSpPr>
            <a:spLocks noGrp="1"/>
          </p:cNvSpPr>
          <p:nvPr>
            <p:ph type="title"/>
          </p:nvPr>
        </p:nvSpPr>
        <p:spPr/>
        <p:txBody>
          <a:bodyPr/>
          <a:lstStyle/>
          <a:p>
            <a:r>
              <a:rPr kumimoji="1" lang="ja-GB" altLang="en-US" dirty="0"/>
              <a:t>主記憶装置（メモリ，メインメモリ）</a:t>
            </a:r>
          </a:p>
        </p:txBody>
      </p:sp>
      <p:sp>
        <p:nvSpPr>
          <p:cNvPr id="3" name="コンテンツ プレースホルダー 2">
            <a:extLst>
              <a:ext uri="{FF2B5EF4-FFF2-40B4-BE49-F238E27FC236}">
                <a16:creationId xmlns:a16="http://schemas.microsoft.com/office/drawing/2014/main" id="{05A75453-463C-6D3C-B997-1245ED5DE7C6}"/>
              </a:ext>
            </a:extLst>
          </p:cNvPr>
          <p:cNvSpPr>
            <a:spLocks noGrp="1"/>
          </p:cNvSpPr>
          <p:nvPr>
            <p:ph idx="1"/>
          </p:nvPr>
        </p:nvSpPr>
        <p:spPr/>
        <p:txBody>
          <a:bodyPr/>
          <a:lstStyle/>
          <a:p>
            <a:pPr marL="0" indent="0">
              <a:buNone/>
            </a:pPr>
            <a:r>
              <a:rPr kumimoji="1" lang="en-US" altLang="ja-GB" dirty="0"/>
              <a:t>CPU</a:t>
            </a:r>
            <a:r>
              <a:rPr kumimoji="1" lang="ja-GB" altLang="en-US" dirty="0"/>
              <a:t>がデータを一時的に保存するための記憶装置</a:t>
            </a:r>
            <a:endParaRPr kumimoji="1" lang="en-US" altLang="ja-GB" dirty="0"/>
          </a:p>
          <a:p>
            <a:pPr marL="457200" lvl="1" indent="0">
              <a:buNone/>
            </a:pPr>
            <a:r>
              <a:rPr lang="ja-GB" altLang="en-US" dirty="0"/>
              <a:t>代表例）</a:t>
            </a:r>
            <a:r>
              <a:rPr lang="en-US" altLang="ja-GB" dirty="0"/>
              <a:t>Random Access Memory</a:t>
            </a:r>
            <a:r>
              <a:rPr lang="ja-GB" altLang="en-US" dirty="0"/>
              <a:t>（</a:t>
            </a:r>
            <a:r>
              <a:rPr lang="en-US" altLang="ja-GB" dirty="0"/>
              <a:t>RAM</a:t>
            </a:r>
            <a:r>
              <a:rPr lang="ja-GB" altLang="en-US" dirty="0"/>
              <a:t>）</a:t>
            </a:r>
            <a:endParaRPr lang="en-US" altLang="ja-GB" dirty="0"/>
          </a:p>
          <a:p>
            <a:pPr lvl="2"/>
            <a:r>
              <a:rPr kumimoji="1" lang="ja-GB" altLang="en-US" dirty="0"/>
              <a:t>一般に，後述するストレージより容量が小さいが，高速に読み書きできる</a:t>
            </a:r>
            <a:endParaRPr kumimoji="1" lang="en-US" altLang="ja-GB" dirty="0"/>
          </a:p>
          <a:p>
            <a:pPr marL="457200" lvl="1" indent="0">
              <a:buNone/>
            </a:pPr>
            <a:r>
              <a:rPr lang="ja-GB" altLang="en-US" dirty="0"/>
              <a:t>使用</a:t>
            </a:r>
            <a:r>
              <a:rPr kumimoji="1" lang="ja-GB" altLang="en-US" dirty="0"/>
              <a:t>例）</a:t>
            </a:r>
            <a:r>
              <a:rPr kumimoji="1" lang="en-US" altLang="ja-GB" dirty="0"/>
              <a:t>iPhone 16</a:t>
            </a:r>
            <a:r>
              <a:rPr kumimoji="1" lang="ja-GB" altLang="en-US" dirty="0"/>
              <a:t>のメモリ（</a:t>
            </a:r>
            <a:r>
              <a:rPr kumimoji="1" lang="en-US" altLang="ja-GB" dirty="0"/>
              <a:t>RAM</a:t>
            </a:r>
            <a:r>
              <a:rPr kumimoji="1" lang="ja-GB" altLang="en-US" dirty="0"/>
              <a:t>）容量は</a:t>
            </a:r>
            <a:r>
              <a:rPr lang="en-US" altLang="ja-GB" dirty="0"/>
              <a:t>8GB</a:t>
            </a:r>
            <a:endParaRPr kumimoji="1" lang="en-US" altLang="ja-GB" dirty="0"/>
          </a:p>
          <a:p>
            <a:endParaRPr kumimoji="1" lang="en-US" altLang="ja-GB" dirty="0"/>
          </a:p>
          <a:p>
            <a:pPr marL="0" indent="0">
              <a:buNone/>
            </a:pPr>
            <a:r>
              <a:rPr kumimoji="1" lang="ja-GB" altLang="en-US" dirty="0"/>
              <a:t>処理装置の種類に関係する特別なメモリ</a:t>
            </a:r>
            <a:endParaRPr kumimoji="1" lang="en-US" altLang="ja-GB" dirty="0"/>
          </a:p>
          <a:p>
            <a:pPr marL="457200" lvl="1" indent="0">
              <a:buNone/>
            </a:pPr>
            <a:r>
              <a:rPr kumimoji="1" lang="ja-GB" altLang="en-US" dirty="0"/>
              <a:t>キャッシュメモリ</a:t>
            </a:r>
            <a:endParaRPr kumimoji="1" lang="en-US" altLang="ja-GB" dirty="0"/>
          </a:p>
          <a:p>
            <a:pPr lvl="2"/>
            <a:r>
              <a:rPr lang="en-US" altLang="ja-GB" dirty="0"/>
              <a:t>CPU</a:t>
            </a:r>
            <a:r>
              <a:rPr lang="ja-GB" altLang="en-US" dirty="0"/>
              <a:t>に内蔵される小さくて高速なメモリ</a:t>
            </a:r>
            <a:endParaRPr lang="en-US" altLang="ja-GB" dirty="0"/>
          </a:p>
          <a:p>
            <a:pPr lvl="2"/>
            <a:r>
              <a:rPr kumimoji="1" lang="ja-GB" altLang="en-US" dirty="0"/>
              <a:t>この容量に収まる計算なら，</a:t>
            </a:r>
            <a:r>
              <a:rPr kumimoji="1" lang="en-US" altLang="ja-GB" dirty="0"/>
              <a:t>CPU</a:t>
            </a:r>
            <a:r>
              <a:rPr kumimoji="1" lang="ja-GB" altLang="en-US" dirty="0"/>
              <a:t>は</a:t>
            </a:r>
            <a:r>
              <a:rPr lang="ja-GB" altLang="en-US" dirty="0"/>
              <a:t>メインメモリを使う</a:t>
            </a:r>
            <a:r>
              <a:rPr kumimoji="1" lang="ja-GB" altLang="en-US" dirty="0"/>
              <a:t>よりも高速に動作する</a:t>
            </a:r>
            <a:endParaRPr kumimoji="1" lang="en-US" altLang="ja-GB" dirty="0"/>
          </a:p>
          <a:p>
            <a:pPr marL="457200" lvl="1" indent="0">
              <a:buNone/>
            </a:pPr>
            <a:r>
              <a:rPr kumimoji="1" lang="en-US" altLang="ja-GB" dirty="0"/>
              <a:t>GPU</a:t>
            </a:r>
            <a:r>
              <a:rPr kumimoji="1" lang="ja-GB" altLang="en-US" dirty="0"/>
              <a:t>メモリ（</a:t>
            </a:r>
            <a:r>
              <a:rPr kumimoji="1" lang="en-US" altLang="ja-GB" dirty="0"/>
              <a:t>VRAM</a:t>
            </a:r>
            <a:r>
              <a:rPr kumimoji="1" lang="ja-GB" altLang="en-US" dirty="0"/>
              <a:t>，</a:t>
            </a:r>
            <a:r>
              <a:rPr lang="en-GB" altLang="ja-GB" dirty="0"/>
              <a:t>Video RAM</a:t>
            </a:r>
            <a:r>
              <a:rPr kumimoji="1" lang="ja-GB" altLang="en-US" dirty="0"/>
              <a:t>）</a:t>
            </a:r>
            <a:endParaRPr kumimoji="1" lang="en-US" altLang="ja-GB" dirty="0"/>
          </a:p>
          <a:p>
            <a:pPr lvl="2"/>
            <a:r>
              <a:rPr lang="en-US" altLang="ja-GB" dirty="0"/>
              <a:t>GPU</a:t>
            </a:r>
            <a:r>
              <a:rPr lang="ja-GB" altLang="en-US" dirty="0"/>
              <a:t>が計算のために使うメモリ</a:t>
            </a:r>
            <a:endParaRPr lang="en-US" altLang="ja-GB" dirty="0"/>
          </a:p>
          <a:p>
            <a:pPr lvl="2"/>
            <a:r>
              <a:rPr kumimoji="1" lang="ja-GB" altLang="en-US" dirty="0"/>
              <a:t>この容量の範囲内であれば，</a:t>
            </a:r>
            <a:r>
              <a:rPr kumimoji="1" lang="en-US" altLang="ja-GB" dirty="0"/>
              <a:t>GPU</a:t>
            </a:r>
            <a:r>
              <a:rPr kumimoji="1" lang="ja-GB" altLang="en-US" dirty="0"/>
              <a:t>は高速に並列計算できる</a:t>
            </a:r>
            <a:endParaRPr kumimoji="1" lang="en-US" altLang="ja-GB" dirty="0"/>
          </a:p>
          <a:p>
            <a:pPr marL="457200" lvl="1" indent="0">
              <a:buNone/>
            </a:pPr>
            <a:r>
              <a:rPr lang="ja-GB" altLang="en-US" dirty="0"/>
              <a:t>ユニファイドメモリ</a:t>
            </a:r>
            <a:endParaRPr lang="en-US" altLang="ja-GB" dirty="0"/>
          </a:p>
          <a:p>
            <a:pPr lvl="2"/>
            <a:r>
              <a:rPr kumimoji="1" lang="ja-GB" altLang="en-US" dirty="0"/>
              <a:t>直訳：統合されたメモリ</a:t>
            </a:r>
            <a:endParaRPr kumimoji="1" lang="en-US" altLang="ja-GB" dirty="0"/>
          </a:p>
          <a:p>
            <a:pPr lvl="2"/>
            <a:r>
              <a:rPr lang="en-US" altLang="ja-GB" dirty="0"/>
              <a:t>GPU</a:t>
            </a:r>
            <a:r>
              <a:rPr lang="ja-GB" altLang="en-US" dirty="0"/>
              <a:t>も</a:t>
            </a:r>
            <a:r>
              <a:rPr lang="en-US" altLang="ja-GB" dirty="0"/>
              <a:t>CPU</a:t>
            </a:r>
            <a:r>
              <a:rPr lang="ja-GB" altLang="en-US" dirty="0"/>
              <a:t>も使うことのできるメモリ</a:t>
            </a:r>
            <a:endParaRPr kumimoji="1" lang="ja-GB" altLang="en-US" dirty="0"/>
          </a:p>
        </p:txBody>
      </p:sp>
    </p:spTree>
    <p:extLst>
      <p:ext uri="{BB962C8B-B14F-4D97-AF65-F5344CB8AC3E}">
        <p14:creationId xmlns:p14="http://schemas.microsoft.com/office/powerpoint/2010/main" val="3953358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110D41-5557-E1CB-FFC6-FFE1A18D41E5}"/>
              </a:ext>
            </a:extLst>
          </p:cNvPr>
          <p:cNvSpPr>
            <a:spLocks noGrp="1"/>
          </p:cNvSpPr>
          <p:nvPr>
            <p:ph type="title"/>
          </p:nvPr>
        </p:nvSpPr>
        <p:spPr/>
        <p:txBody>
          <a:bodyPr/>
          <a:lstStyle/>
          <a:p>
            <a:r>
              <a:rPr lang="ja-GB" altLang="en-US" dirty="0"/>
              <a:t>補助記憶装置（ストレージ）</a:t>
            </a:r>
            <a:endParaRPr kumimoji="1" lang="ja-GB" altLang="en-US" dirty="0"/>
          </a:p>
        </p:txBody>
      </p:sp>
      <p:sp>
        <p:nvSpPr>
          <p:cNvPr id="3" name="コンテンツ プレースホルダー 2">
            <a:extLst>
              <a:ext uri="{FF2B5EF4-FFF2-40B4-BE49-F238E27FC236}">
                <a16:creationId xmlns:a16="http://schemas.microsoft.com/office/drawing/2014/main" id="{7D6B035C-42FB-FF74-9875-1BB09BF177FA}"/>
              </a:ext>
            </a:extLst>
          </p:cNvPr>
          <p:cNvSpPr>
            <a:spLocks noGrp="1"/>
          </p:cNvSpPr>
          <p:nvPr>
            <p:ph idx="1"/>
          </p:nvPr>
        </p:nvSpPr>
        <p:spPr/>
        <p:txBody>
          <a:bodyPr/>
          <a:lstStyle/>
          <a:p>
            <a:pPr marL="0" indent="0">
              <a:buNone/>
            </a:pPr>
            <a:r>
              <a:rPr kumimoji="1" lang="ja-GB" altLang="en-US" dirty="0"/>
              <a:t>計算機がデータを長期的に保存するための部品</a:t>
            </a:r>
            <a:endParaRPr kumimoji="1" lang="en-US" altLang="ja-GB" dirty="0"/>
          </a:p>
          <a:p>
            <a:pPr marL="457200" lvl="1" indent="0">
              <a:buNone/>
            </a:pPr>
            <a:r>
              <a:rPr lang="ja-GB" altLang="en-US" dirty="0"/>
              <a:t>具体例）</a:t>
            </a:r>
            <a:r>
              <a:rPr lang="en-US" altLang="ja-GB" dirty="0"/>
              <a:t>SSD</a:t>
            </a:r>
            <a:r>
              <a:rPr lang="ja-GB" altLang="en-US" dirty="0"/>
              <a:t>，</a:t>
            </a:r>
            <a:r>
              <a:rPr lang="en-US" altLang="ja-GB" dirty="0"/>
              <a:t>HDD</a:t>
            </a:r>
            <a:r>
              <a:rPr lang="ja-GB" altLang="en-US" dirty="0"/>
              <a:t>，</a:t>
            </a:r>
            <a:r>
              <a:rPr lang="en-US" altLang="ja-GB" dirty="0"/>
              <a:t>USB</a:t>
            </a:r>
            <a:r>
              <a:rPr lang="ja-GB" altLang="en-US" dirty="0"/>
              <a:t>メモリ，</a:t>
            </a:r>
            <a:r>
              <a:rPr lang="en-US" altLang="ja-GB" dirty="0"/>
              <a:t>CD</a:t>
            </a:r>
            <a:r>
              <a:rPr lang="ja-GB" altLang="en-US" dirty="0"/>
              <a:t>，</a:t>
            </a:r>
            <a:r>
              <a:rPr lang="en-US" altLang="ja-GB" dirty="0"/>
              <a:t>DVD</a:t>
            </a:r>
            <a:r>
              <a:rPr lang="ja-GB" altLang="en-US" dirty="0"/>
              <a:t>，クラウドストレージ</a:t>
            </a:r>
            <a:endParaRPr lang="en-US" altLang="ja-GB" dirty="0"/>
          </a:p>
          <a:p>
            <a:pPr marL="457200" lvl="1" indent="0">
              <a:buNone/>
            </a:pPr>
            <a:r>
              <a:rPr kumimoji="1" lang="ja-GB" altLang="en-US" dirty="0"/>
              <a:t>使用例）</a:t>
            </a:r>
            <a:r>
              <a:rPr kumimoji="1" lang="en-US" altLang="ja-GB" dirty="0"/>
              <a:t>iPhone 16</a:t>
            </a:r>
            <a:r>
              <a:rPr kumimoji="1" lang="ja-GB" altLang="en-US" dirty="0"/>
              <a:t>のストレージは</a:t>
            </a:r>
            <a:r>
              <a:rPr kumimoji="1" lang="en-US" altLang="ja-GB" dirty="0"/>
              <a:t>128GB</a:t>
            </a:r>
            <a:r>
              <a:rPr kumimoji="1" lang="ja-GB" altLang="en-US" dirty="0"/>
              <a:t>，</a:t>
            </a:r>
            <a:r>
              <a:rPr kumimoji="1" lang="en-US" altLang="ja-GB" dirty="0"/>
              <a:t>256GB</a:t>
            </a:r>
            <a:r>
              <a:rPr kumimoji="1" lang="ja-GB" altLang="en-US" dirty="0"/>
              <a:t>，</a:t>
            </a:r>
            <a:r>
              <a:rPr kumimoji="1" lang="en-US" altLang="ja-GB" dirty="0"/>
              <a:t>512GB</a:t>
            </a:r>
            <a:r>
              <a:rPr kumimoji="1" lang="ja-GB" altLang="en-US" dirty="0"/>
              <a:t>のいずれか</a:t>
            </a:r>
            <a:endParaRPr kumimoji="1" lang="en-US" altLang="ja-GB" dirty="0"/>
          </a:p>
          <a:p>
            <a:pPr lvl="1"/>
            <a:endParaRPr kumimoji="1" lang="ja-GB" altLang="en-US" dirty="0"/>
          </a:p>
        </p:txBody>
      </p:sp>
      <p:pic>
        <p:nvPicPr>
          <p:cNvPr id="4" name="コンテンツ プレースホルダー 4" descr="テーブル&#10;&#10;AI 生成コンテンツは誤りを含む可能性があります。">
            <a:extLst>
              <a:ext uri="{FF2B5EF4-FFF2-40B4-BE49-F238E27FC236}">
                <a16:creationId xmlns:a16="http://schemas.microsoft.com/office/drawing/2014/main" id="{F074922D-3468-7628-67F1-608452161C89}"/>
              </a:ext>
            </a:extLst>
          </p:cNvPr>
          <p:cNvPicPr>
            <a:picLocks noChangeAspect="1"/>
          </p:cNvPicPr>
          <p:nvPr/>
        </p:nvPicPr>
        <p:blipFill>
          <a:blip r:embed="rId2"/>
          <a:stretch>
            <a:fillRect/>
          </a:stretch>
        </p:blipFill>
        <p:spPr>
          <a:xfrm>
            <a:off x="439237" y="2418735"/>
            <a:ext cx="8471181" cy="3584500"/>
          </a:xfrm>
          <a:prstGeom prst="rect">
            <a:avLst/>
          </a:prstGeom>
        </p:spPr>
      </p:pic>
      <p:sp>
        <p:nvSpPr>
          <p:cNvPr id="5" name="テキスト ボックス 4">
            <a:extLst>
              <a:ext uri="{FF2B5EF4-FFF2-40B4-BE49-F238E27FC236}">
                <a16:creationId xmlns:a16="http://schemas.microsoft.com/office/drawing/2014/main" id="{02F7C2A5-E865-024D-31E8-EE305DF5A537}"/>
              </a:ext>
            </a:extLst>
          </p:cNvPr>
          <p:cNvSpPr txBox="1"/>
          <p:nvPr/>
        </p:nvSpPr>
        <p:spPr>
          <a:xfrm>
            <a:off x="210810" y="6125041"/>
            <a:ext cx="8847295" cy="307777"/>
          </a:xfrm>
          <a:prstGeom prst="rect">
            <a:avLst/>
          </a:prstGeom>
          <a:noFill/>
        </p:spPr>
        <p:txBody>
          <a:bodyPr wrap="none" rtlCol="0">
            <a:spAutoFit/>
          </a:bodyPr>
          <a:lstStyle/>
          <a:p>
            <a:pPr algn="ctr"/>
            <a:r>
              <a:rPr kumimoji="1" lang="en-US" altLang="ja-GB" sz="1400" dirty="0">
                <a:solidFill>
                  <a:schemeClr val="tx1">
                    <a:lumMod val="50000"/>
                    <a:lumOff val="50000"/>
                  </a:schemeClr>
                </a:solidFill>
              </a:rPr>
              <a:t>※</a:t>
            </a:r>
            <a:r>
              <a:rPr kumimoji="1" lang="ja-GB" altLang="en-US" sz="1400" dirty="0">
                <a:solidFill>
                  <a:schemeClr val="tx1">
                    <a:lumMod val="50000"/>
                    <a:lumOff val="50000"/>
                  </a:schemeClr>
                </a:solidFill>
              </a:rPr>
              <a:t>厳密には，</a:t>
            </a:r>
            <a:r>
              <a:rPr kumimoji="1" lang="en-US" altLang="ja-GB" sz="1400" dirty="0">
                <a:solidFill>
                  <a:schemeClr val="tx1">
                    <a:lumMod val="50000"/>
                    <a:lumOff val="50000"/>
                  </a:schemeClr>
                </a:solidFill>
              </a:rPr>
              <a:t>SI</a:t>
            </a:r>
            <a:r>
              <a:rPr kumimoji="1" lang="ja-GB" altLang="en-US" sz="1400" dirty="0">
                <a:solidFill>
                  <a:schemeClr val="tx1">
                    <a:lumMod val="50000"/>
                    <a:lumOff val="50000"/>
                  </a:schemeClr>
                </a:solidFill>
              </a:rPr>
              <a:t>記号で表記することは</a:t>
            </a:r>
            <a:r>
              <a:rPr kumimoji="1" lang="en-US" altLang="ja-GB" sz="1400" dirty="0">
                <a:solidFill>
                  <a:schemeClr val="tx1">
                    <a:lumMod val="50000"/>
                    <a:lumOff val="50000"/>
                  </a:schemeClr>
                </a:solidFill>
              </a:rPr>
              <a:t>10</a:t>
            </a:r>
            <a:r>
              <a:rPr kumimoji="1" lang="ja-GB" altLang="en-US" sz="1400" dirty="0">
                <a:solidFill>
                  <a:schemeClr val="tx1">
                    <a:lumMod val="50000"/>
                    <a:lumOff val="50000"/>
                  </a:schemeClr>
                </a:solidFill>
              </a:rPr>
              <a:t>進法との混同を招くため推奨されないが，慣例的には多く用いられる</a:t>
            </a:r>
          </a:p>
        </p:txBody>
      </p:sp>
    </p:spTree>
    <p:extLst>
      <p:ext uri="{BB962C8B-B14F-4D97-AF65-F5344CB8AC3E}">
        <p14:creationId xmlns:p14="http://schemas.microsoft.com/office/powerpoint/2010/main" val="337029946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2EC80-64E1-BDEB-366F-60356001A01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635C30-0BC7-7237-FF71-8D36560DCBFF}"/>
              </a:ext>
            </a:extLst>
          </p:cNvPr>
          <p:cNvSpPr>
            <a:spLocks noGrp="1"/>
          </p:cNvSpPr>
          <p:nvPr>
            <p:ph type="title"/>
          </p:nvPr>
        </p:nvSpPr>
        <p:spPr/>
        <p:txBody>
          <a:bodyPr/>
          <a:lstStyle/>
          <a:p>
            <a:r>
              <a:rPr kumimoji="1" lang="ja-GB" altLang="en-US" dirty="0"/>
              <a:t>本日の内容</a:t>
            </a:r>
          </a:p>
        </p:txBody>
      </p:sp>
      <p:sp>
        <p:nvSpPr>
          <p:cNvPr id="3" name="コンテンツ プレースホルダー 2">
            <a:extLst>
              <a:ext uri="{FF2B5EF4-FFF2-40B4-BE49-F238E27FC236}">
                <a16:creationId xmlns:a16="http://schemas.microsoft.com/office/drawing/2014/main" id="{903A1831-BA13-C4C3-1F28-F04028CB5B67}"/>
              </a:ext>
            </a:extLst>
          </p:cNvPr>
          <p:cNvSpPr>
            <a:spLocks noGrp="1"/>
          </p:cNvSpPr>
          <p:nvPr>
            <p:ph idx="1"/>
          </p:nvPr>
        </p:nvSpPr>
        <p:spPr/>
        <p:txBody>
          <a:bodyPr/>
          <a:lstStyle/>
          <a:p>
            <a:pPr marL="457200" indent="-457200">
              <a:buFont typeface="+mj-lt"/>
              <a:buAutoNum type="arabicPeriod"/>
            </a:pPr>
            <a:r>
              <a:rPr kumimoji="1" lang="ja-GB" altLang="en-US" dirty="0">
                <a:solidFill>
                  <a:schemeClr val="tx1">
                    <a:lumMod val="50000"/>
                    <a:lumOff val="50000"/>
                  </a:schemeClr>
                </a:solidFill>
              </a:rPr>
              <a:t>コンピュータのハードウェア構成</a:t>
            </a:r>
            <a:endParaRPr kumimoji="1" lang="en-US" altLang="ja-GB" dirty="0">
              <a:solidFill>
                <a:schemeClr val="tx1">
                  <a:lumMod val="50000"/>
                  <a:lumOff val="50000"/>
                </a:schemeClr>
              </a:solidFill>
            </a:endParaRPr>
          </a:p>
          <a:p>
            <a:pPr lvl="1"/>
            <a:r>
              <a:rPr kumimoji="1" lang="en-US" altLang="ja-GB" dirty="0">
                <a:solidFill>
                  <a:schemeClr val="tx1">
                    <a:lumMod val="50000"/>
                    <a:lumOff val="50000"/>
                  </a:schemeClr>
                </a:solidFill>
              </a:rPr>
              <a:t>CPU</a:t>
            </a:r>
            <a:r>
              <a:rPr kumimoji="1" lang="ja-GB" altLang="en-US" dirty="0">
                <a:solidFill>
                  <a:schemeClr val="tx1">
                    <a:lumMod val="50000"/>
                    <a:lumOff val="50000"/>
                  </a:schemeClr>
                </a:solidFill>
              </a:rPr>
              <a:t>，メモリ，ストレージ</a:t>
            </a:r>
            <a:endParaRPr kumimoji="1" lang="en-US" altLang="ja-GB" dirty="0">
              <a:solidFill>
                <a:schemeClr val="tx1">
                  <a:lumMod val="50000"/>
                  <a:lumOff val="50000"/>
                </a:schemeClr>
              </a:solidFill>
            </a:endParaRPr>
          </a:p>
          <a:p>
            <a:pPr lvl="1"/>
            <a:endParaRPr lang="en-US" altLang="ja-GB" dirty="0"/>
          </a:p>
          <a:p>
            <a:pPr marL="457200" indent="-457200">
              <a:buFont typeface="+mj-lt"/>
              <a:buAutoNum type="arabicPeriod"/>
            </a:pPr>
            <a:r>
              <a:rPr kumimoji="1" lang="ja-GB" altLang="en-US" dirty="0"/>
              <a:t>計算機の行う演算</a:t>
            </a:r>
            <a:endParaRPr kumimoji="1" lang="en-US" altLang="ja-GB" dirty="0"/>
          </a:p>
          <a:p>
            <a:pPr lvl="1"/>
            <a:r>
              <a:rPr lang="ja-GB" altLang="en-US" dirty="0"/>
              <a:t>二進数に対する操作（論理演算）</a:t>
            </a:r>
            <a:endParaRPr lang="en-US" altLang="ja-GB" dirty="0"/>
          </a:p>
          <a:p>
            <a:pPr lvl="1"/>
            <a:r>
              <a:rPr lang="ja-GB" altLang="en-US" dirty="0"/>
              <a:t>四則演算の実装</a:t>
            </a:r>
            <a:endParaRPr lang="en-US" altLang="ja-GB" dirty="0"/>
          </a:p>
          <a:p>
            <a:pPr lvl="1"/>
            <a:endParaRPr kumimoji="1" lang="en-US" altLang="ja-GB" dirty="0"/>
          </a:p>
          <a:p>
            <a:pPr marL="457200" indent="-457200">
              <a:buFont typeface="+mj-lt"/>
              <a:buAutoNum type="arabicPeriod"/>
            </a:pPr>
            <a:r>
              <a:rPr lang="ja-GB" altLang="en-US" dirty="0">
                <a:solidFill>
                  <a:schemeClr val="tx1">
                    <a:lumMod val="50000"/>
                    <a:lumOff val="50000"/>
                  </a:schemeClr>
                </a:solidFill>
              </a:rPr>
              <a:t>身近に遭遇するかもしれない</a:t>
            </a:r>
            <a:r>
              <a:rPr lang="en-US" altLang="ja-GB" dirty="0">
                <a:solidFill>
                  <a:schemeClr val="tx1">
                    <a:lumMod val="50000"/>
                    <a:lumOff val="50000"/>
                  </a:schemeClr>
                </a:solidFill>
              </a:rPr>
              <a:t>2</a:t>
            </a:r>
            <a:r>
              <a:rPr lang="ja-GB" altLang="en-US" dirty="0">
                <a:solidFill>
                  <a:schemeClr val="tx1">
                    <a:lumMod val="50000"/>
                    <a:lumOff val="50000"/>
                  </a:schemeClr>
                </a:solidFill>
              </a:rPr>
              <a:t>進数に由来する現象</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アプリケーションの操作</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パソコンの設定項目</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計算誤差</a:t>
            </a:r>
            <a:endParaRPr lang="en-US" altLang="ja-GB" dirty="0">
              <a:solidFill>
                <a:schemeClr val="tx1">
                  <a:lumMod val="50000"/>
                  <a:lumOff val="50000"/>
                </a:schemeClr>
              </a:solidFill>
            </a:endParaRPr>
          </a:p>
          <a:p>
            <a:pPr marL="914400" lvl="1" indent="-457200">
              <a:buFont typeface="+mj-lt"/>
              <a:buAutoNum type="arabicPeriod"/>
            </a:pPr>
            <a:endParaRPr kumimoji="1" lang="en-US" altLang="ja-GB" dirty="0"/>
          </a:p>
        </p:txBody>
      </p:sp>
    </p:spTree>
    <p:extLst>
      <p:ext uri="{BB962C8B-B14F-4D97-AF65-F5344CB8AC3E}">
        <p14:creationId xmlns:p14="http://schemas.microsoft.com/office/powerpoint/2010/main" val="19663906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E11B9-9813-57BC-6529-E2C3813C4F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52F11E6-8B05-6055-3FF9-AD7500113567}"/>
              </a:ext>
            </a:extLst>
          </p:cNvPr>
          <p:cNvSpPr>
            <a:spLocks noGrp="1"/>
          </p:cNvSpPr>
          <p:nvPr>
            <p:ph type="title"/>
          </p:nvPr>
        </p:nvSpPr>
        <p:spPr/>
        <p:txBody>
          <a:bodyPr>
            <a:normAutofit/>
          </a:bodyPr>
          <a:lstStyle/>
          <a:p>
            <a:r>
              <a:rPr kumimoji="1" lang="ja-GB" altLang="en-US" dirty="0"/>
              <a:t>計算機内部の情報表現</a:t>
            </a:r>
          </a:p>
        </p:txBody>
      </p:sp>
      <p:sp>
        <p:nvSpPr>
          <p:cNvPr id="3" name="コンテンツ プレースホルダー 2">
            <a:extLst>
              <a:ext uri="{FF2B5EF4-FFF2-40B4-BE49-F238E27FC236}">
                <a16:creationId xmlns:a16="http://schemas.microsoft.com/office/drawing/2014/main" id="{23EC1449-F2AF-7BF5-2AA0-F8713E4CD3F0}"/>
              </a:ext>
            </a:extLst>
          </p:cNvPr>
          <p:cNvSpPr>
            <a:spLocks noGrp="1"/>
          </p:cNvSpPr>
          <p:nvPr>
            <p:ph idx="1"/>
          </p:nvPr>
        </p:nvSpPr>
        <p:spPr/>
        <p:txBody>
          <a:bodyPr/>
          <a:lstStyle/>
          <a:p>
            <a:pPr marL="0" indent="0">
              <a:buNone/>
            </a:pPr>
            <a:r>
              <a:rPr kumimoji="1" lang="ja-GB" altLang="en-US" dirty="0"/>
              <a:t>現在の電子計算機では，</a:t>
            </a:r>
            <a:r>
              <a:rPr kumimoji="1" lang="en-US" altLang="ja-GB" dirty="0"/>
              <a:t>2</a:t>
            </a:r>
            <a:r>
              <a:rPr kumimoji="1" lang="ja-GB" altLang="en-US" dirty="0"/>
              <a:t>進数のデジタル（数字式）表現が標準</a:t>
            </a:r>
            <a:endParaRPr kumimoji="1" lang="en-US" altLang="ja-GB" dirty="0"/>
          </a:p>
          <a:p>
            <a:pPr lvl="1"/>
            <a:r>
              <a:rPr lang="ja-GB" altLang="en-US" dirty="0">
                <a:solidFill>
                  <a:srgbClr val="2F2523"/>
                </a:solidFill>
              </a:rPr>
              <a:t>あらゆる情報は</a:t>
            </a:r>
            <a:r>
              <a:rPr lang="ja-GB" altLang="en-US" dirty="0">
                <a:solidFill>
                  <a:srgbClr val="0070C0"/>
                </a:solidFill>
              </a:rPr>
              <a:t>デジタル化</a:t>
            </a:r>
            <a:r>
              <a:rPr lang="ja-GB" altLang="en-US" dirty="0">
                <a:solidFill>
                  <a:srgbClr val="2F2523"/>
                </a:solidFill>
              </a:rPr>
              <a:t>されて有限桁の数字に近似される</a:t>
            </a:r>
            <a:endParaRPr lang="en-US" altLang="ja-GB" dirty="0">
              <a:solidFill>
                <a:srgbClr val="2F2523"/>
              </a:solidFill>
            </a:endParaRPr>
          </a:p>
          <a:p>
            <a:pPr lvl="1"/>
            <a:r>
              <a:rPr lang="ja-GB" altLang="en-US" dirty="0">
                <a:solidFill>
                  <a:srgbClr val="2F2523"/>
                </a:solidFill>
              </a:rPr>
              <a:t>数字化された情報は</a:t>
            </a:r>
            <a:r>
              <a:rPr lang="en-US" altLang="ja-GB" dirty="0">
                <a:solidFill>
                  <a:srgbClr val="0070C0"/>
                </a:solidFill>
              </a:rPr>
              <a:t>2</a:t>
            </a:r>
            <a:r>
              <a:rPr lang="ja-GB" altLang="en-US" dirty="0">
                <a:solidFill>
                  <a:srgbClr val="0070C0"/>
                </a:solidFill>
              </a:rPr>
              <a:t>進数で表現</a:t>
            </a:r>
            <a:r>
              <a:rPr lang="ja-GB" altLang="en-US" dirty="0">
                <a:solidFill>
                  <a:srgbClr val="2F2523"/>
                </a:solidFill>
              </a:rPr>
              <a:t>されて</a:t>
            </a:r>
            <a:r>
              <a:rPr lang="en-US" altLang="ja-GB" dirty="0">
                <a:solidFill>
                  <a:srgbClr val="2F2523"/>
                </a:solidFill>
              </a:rPr>
              <a:t>0</a:t>
            </a:r>
            <a:r>
              <a:rPr lang="ja-GB" altLang="en-US" dirty="0">
                <a:solidFill>
                  <a:srgbClr val="2F2523"/>
                </a:solidFill>
              </a:rPr>
              <a:t>と</a:t>
            </a:r>
            <a:r>
              <a:rPr lang="en-US" altLang="ja-GB" dirty="0">
                <a:solidFill>
                  <a:srgbClr val="2F2523"/>
                </a:solidFill>
              </a:rPr>
              <a:t>1</a:t>
            </a:r>
            <a:r>
              <a:rPr lang="ja-GB" altLang="en-US" dirty="0">
                <a:solidFill>
                  <a:srgbClr val="2F2523"/>
                </a:solidFill>
              </a:rPr>
              <a:t>のみで記述される</a:t>
            </a:r>
            <a:endParaRPr lang="en-US" altLang="ja-GB" dirty="0">
              <a:solidFill>
                <a:srgbClr val="2F2523"/>
              </a:solidFill>
            </a:endParaRPr>
          </a:p>
          <a:p>
            <a:pPr lvl="2"/>
            <a:endParaRPr lang="ja-GB" altLang="en-US" dirty="0">
              <a:solidFill>
                <a:srgbClr val="2F2523"/>
              </a:solidFill>
            </a:endParaRPr>
          </a:p>
          <a:p>
            <a:pPr marL="0" indent="0" algn="ctr">
              <a:buNone/>
            </a:pPr>
            <a:endParaRPr kumimoji="1" lang="ja-GB" altLang="en-US" dirty="0">
              <a:solidFill>
                <a:srgbClr val="2F2523"/>
              </a:solidFill>
            </a:endParaRPr>
          </a:p>
        </p:txBody>
      </p:sp>
      <p:graphicFrame>
        <p:nvGraphicFramePr>
          <p:cNvPr id="4" name="表 3">
            <a:extLst>
              <a:ext uri="{FF2B5EF4-FFF2-40B4-BE49-F238E27FC236}">
                <a16:creationId xmlns:a16="http://schemas.microsoft.com/office/drawing/2014/main" id="{F5C4C7EB-29B9-A3F4-9B91-8126558C2E8B}"/>
              </a:ext>
            </a:extLst>
          </p:cNvPr>
          <p:cNvGraphicFramePr>
            <a:graphicFrameLocks noGrp="1"/>
          </p:cNvGraphicFramePr>
          <p:nvPr/>
        </p:nvGraphicFramePr>
        <p:xfrm>
          <a:off x="665687" y="2868606"/>
          <a:ext cx="7717313" cy="741680"/>
        </p:xfrm>
        <a:graphic>
          <a:graphicData uri="http://schemas.openxmlformats.org/drawingml/2006/table">
            <a:tbl>
              <a:tblPr bandRow="1">
                <a:tableStyleId>{073A0DAA-6AF3-43AB-8588-CEC1D06C72B9}</a:tableStyleId>
              </a:tblPr>
              <a:tblGrid>
                <a:gridCol w="946829">
                  <a:extLst>
                    <a:ext uri="{9D8B030D-6E8A-4147-A177-3AD203B41FA5}">
                      <a16:colId xmlns:a16="http://schemas.microsoft.com/office/drawing/2014/main" val="2977301118"/>
                    </a:ext>
                  </a:extLst>
                </a:gridCol>
                <a:gridCol w="439329">
                  <a:extLst>
                    <a:ext uri="{9D8B030D-6E8A-4147-A177-3AD203B41FA5}">
                      <a16:colId xmlns:a16="http://schemas.microsoft.com/office/drawing/2014/main" val="426665724"/>
                    </a:ext>
                  </a:extLst>
                </a:gridCol>
                <a:gridCol w="439329">
                  <a:extLst>
                    <a:ext uri="{9D8B030D-6E8A-4147-A177-3AD203B41FA5}">
                      <a16:colId xmlns:a16="http://schemas.microsoft.com/office/drawing/2014/main" val="3392244070"/>
                    </a:ext>
                  </a:extLst>
                </a:gridCol>
                <a:gridCol w="439329">
                  <a:extLst>
                    <a:ext uri="{9D8B030D-6E8A-4147-A177-3AD203B41FA5}">
                      <a16:colId xmlns:a16="http://schemas.microsoft.com/office/drawing/2014/main" val="684123504"/>
                    </a:ext>
                  </a:extLst>
                </a:gridCol>
                <a:gridCol w="439329">
                  <a:extLst>
                    <a:ext uri="{9D8B030D-6E8A-4147-A177-3AD203B41FA5}">
                      <a16:colId xmlns:a16="http://schemas.microsoft.com/office/drawing/2014/main" val="2271912422"/>
                    </a:ext>
                  </a:extLst>
                </a:gridCol>
                <a:gridCol w="568098">
                  <a:extLst>
                    <a:ext uri="{9D8B030D-6E8A-4147-A177-3AD203B41FA5}">
                      <a16:colId xmlns:a16="http://schemas.microsoft.com/office/drawing/2014/main" val="3236871333"/>
                    </a:ext>
                  </a:extLst>
                </a:gridCol>
                <a:gridCol w="568098">
                  <a:extLst>
                    <a:ext uri="{9D8B030D-6E8A-4147-A177-3AD203B41FA5}">
                      <a16:colId xmlns:a16="http://schemas.microsoft.com/office/drawing/2014/main" val="2552087232"/>
                    </a:ext>
                  </a:extLst>
                </a:gridCol>
                <a:gridCol w="568098">
                  <a:extLst>
                    <a:ext uri="{9D8B030D-6E8A-4147-A177-3AD203B41FA5}">
                      <a16:colId xmlns:a16="http://schemas.microsoft.com/office/drawing/2014/main" val="4160794725"/>
                    </a:ext>
                  </a:extLst>
                </a:gridCol>
                <a:gridCol w="568098">
                  <a:extLst>
                    <a:ext uri="{9D8B030D-6E8A-4147-A177-3AD203B41FA5}">
                      <a16:colId xmlns:a16="http://schemas.microsoft.com/office/drawing/2014/main" val="3263163271"/>
                    </a:ext>
                  </a:extLst>
                </a:gridCol>
                <a:gridCol w="685194">
                  <a:extLst>
                    <a:ext uri="{9D8B030D-6E8A-4147-A177-3AD203B41FA5}">
                      <a16:colId xmlns:a16="http://schemas.microsoft.com/office/drawing/2014/main" val="1087786331"/>
                    </a:ext>
                  </a:extLst>
                </a:gridCol>
                <a:gridCol w="685194">
                  <a:extLst>
                    <a:ext uri="{9D8B030D-6E8A-4147-A177-3AD203B41FA5}">
                      <a16:colId xmlns:a16="http://schemas.microsoft.com/office/drawing/2014/main" val="2078913996"/>
                    </a:ext>
                  </a:extLst>
                </a:gridCol>
                <a:gridCol w="685194">
                  <a:extLst>
                    <a:ext uri="{9D8B030D-6E8A-4147-A177-3AD203B41FA5}">
                      <a16:colId xmlns:a16="http://schemas.microsoft.com/office/drawing/2014/main" val="3122294020"/>
                    </a:ext>
                  </a:extLst>
                </a:gridCol>
                <a:gridCol w="685194">
                  <a:extLst>
                    <a:ext uri="{9D8B030D-6E8A-4147-A177-3AD203B41FA5}">
                      <a16:colId xmlns:a16="http://schemas.microsoft.com/office/drawing/2014/main" val="1911492955"/>
                    </a:ext>
                  </a:extLst>
                </a:gridCol>
              </a:tblGrid>
              <a:tr h="370840">
                <a:tc>
                  <a:txBody>
                    <a:bodyPr/>
                    <a:lstStyle/>
                    <a:p>
                      <a:pPr algn="ctr"/>
                      <a:r>
                        <a:rPr lang="en-US" altLang="ja-GB" dirty="0">
                          <a:solidFill>
                            <a:srgbClr val="2F2523"/>
                          </a:solidFill>
                        </a:rPr>
                        <a:t>10</a:t>
                      </a:r>
                      <a:r>
                        <a:rPr lang="ja-GB" altLang="en-US" dirty="0">
                          <a:solidFill>
                            <a:srgbClr val="2F2523"/>
                          </a:solidFill>
                        </a:rPr>
                        <a:t>進数</a:t>
                      </a: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2</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3</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4</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5</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6</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7</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8</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9</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49705180"/>
                  </a:ext>
                </a:extLst>
              </a:tr>
              <a:tr h="370840">
                <a:tc>
                  <a:txBody>
                    <a:bodyPr/>
                    <a:lstStyle/>
                    <a:p>
                      <a:pPr algn="ctr"/>
                      <a:r>
                        <a:rPr lang="en-US" altLang="ja-GB" dirty="0">
                          <a:solidFill>
                            <a:srgbClr val="2F2523"/>
                          </a:solidFill>
                        </a:rPr>
                        <a:t>2</a:t>
                      </a:r>
                      <a:r>
                        <a:rPr lang="ja-GB" altLang="en-US" dirty="0">
                          <a:solidFill>
                            <a:srgbClr val="2F2523"/>
                          </a:solidFill>
                        </a:rPr>
                        <a:t>進数</a:t>
                      </a: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110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111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1000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1001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1010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1011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93458688"/>
                  </a:ext>
                </a:extLst>
              </a:tr>
            </a:tbl>
          </a:graphicData>
        </a:graphic>
      </p:graphicFrame>
      <p:grpSp>
        <p:nvGrpSpPr>
          <p:cNvPr id="5" name="グループ化 4">
            <a:extLst>
              <a:ext uri="{FF2B5EF4-FFF2-40B4-BE49-F238E27FC236}">
                <a16:creationId xmlns:a16="http://schemas.microsoft.com/office/drawing/2014/main" id="{F7FD6E04-2C7F-040E-2F2B-ECE55A9EA9A1}"/>
              </a:ext>
            </a:extLst>
          </p:cNvPr>
          <p:cNvGrpSpPr/>
          <p:nvPr/>
        </p:nvGrpSpPr>
        <p:grpSpPr>
          <a:xfrm>
            <a:off x="665686" y="4094294"/>
            <a:ext cx="7717313" cy="1045825"/>
            <a:chOff x="753983" y="5480322"/>
            <a:chExt cx="7717313" cy="1045825"/>
          </a:xfrm>
        </p:grpSpPr>
        <p:pic>
          <p:nvPicPr>
            <p:cNvPr id="6" name="図 5">
              <a:extLst>
                <a:ext uri="{FF2B5EF4-FFF2-40B4-BE49-F238E27FC236}">
                  <a16:creationId xmlns:a16="http://schemas.microsoft.com/office/drawing/2014/main" id="{80436514-5307-46BD-5565-23D9FBDACB9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53983" y="5480322"/>
              <a:ext cx="3197239" cy="1045825"/>
            </a:xfrm>
            <a:prstGeom prst="rect">
              <a:avLst/>
            </a:prstGeom>
            <a:ln>
              <a:noFill/>
            </a:ln>
            <a:effectLst>
              <a:outerShdw blurRad="292100" dist="139700" dir="2700000" algn="tl" rotWithShape="0">
                <a:srgbClr val="333333">
                  <a:alpha val="65000"/>
                </a:srgbClr>
              </a:outerShdw>
            </a:effectLst>
          </p:spPr>
        </p:pic>
        <p:pic>
          <p:nvPicPr>
            <p:cNvPr id="7" name="図 6" descr="電子機器, 回路 が含まれている画像&#10;&#10;AI によって生成されたコンテンツは間違っている可能性があります。">
              <a:extLst>
                <a:ext uri="{FF2B5EF4-FFF2-40B4-BE49-F238E27FC236}">
                  <a16:creationId xmlns:a16="http://schemas.microsoft.com/office/drawing/2014/main" id="{C7858D8B-1690-ED2E-E76E-BC0A8C26C2C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734152" y="5480322"/>
              <a:ext cx="1563976" cy="1041022"/>
            </a:xfrm>
            <a:prstGeom prst="rect">
              <a:avLst/>
            </a:prstGeom>
            <a:ln>
              <a:noFill/>
            </a:ln>
            <a:effectLst>
              <a:outerShdw blurRad="292100" dist="139700" dir="2700000" algn="tl" rotWithShape="0">
                <a:srgbClr val="333333">
                  <a:alpha val="65000"/>
                </a:srgbClr>
              </a:outerShdw>
            </a:effectLst>
          </p:spPr>
        </p:pic>
        <p:pic>
          <p:nvPicPr>
            <p:cNvPr id="8" name="図 7" descr="ドアのノブ&#10;&#10;AI によって生成されたコンテンツは間違っている可能性があります。">
              <a:extLst>
                <a:ext uri="{FF2B5EF4-FFF2-40B4-BE49-F238E27FC236}">
                  <a16:creationId xmlns:a16="http://schemas.microsoft.com/office/drawing/2014/main" id="{7B1BE135-4046-0018-822D-0B215DB17A6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081058" y="5480322"/>
              <a:ext cx="1390238" cy="1042679"/>
            </a:xfrm>
            <a:prstGeom prst="rect">
              <a:avLst/>
            </a:prstGeom>
            <a:ln>
              <a:noFill/>
            </a:ln>
            <a:effectLst>
              <a:outerShdw blurRad="292100" dist="139700" dir="2700000" algn="tl" rotWithShape="0">
                <a:srgbClr val="333333">
                  <a:alpha val="65000"/>
                </a:srgbClr>
              </a:outerShdw>
            </a:effectLst>
          </p:spPr>
        </p:pic>
      </p:grpSp>
      <p:sp>
        <p:nvSpPr>
          <p:cNvPr id="9" name="テキスト ボックス 8">
            <a:extLst>
              <a:ext uri="{FF2B5EF4-FFF2-40B4-BE49-F238E27FC236}">
                <a16:creationId xmlns:a16="http://schemas.microsoft.com/office/drawing/2014/main" id="{E44359C9-DA94-6F81-DBB7-54ACA7F7BC16}"/>
              </a:ext>
            </a:extLst>
          </p:cNvPr>
          <p:cNvSpPr txBox="1"/>
          <p:nvPr/>
        </p:nvSpPr>
        <p:spPr>
          <a:xfrm>
            <a:off x="2014366" y="5624127"/>
            <a:ext cx="5262979" cy="646331"/>
          </a:xfrm>
          <a:prstGeom prst="rect">
            <a:avLst/>
          </a:prstGeom>
          <a:noFill/>
        </p:spPr>
        <p:txBody>
          <a:bodyPr wrap="none" rtlCol="0">
            <a:spAutoFit/>
          </a:bodyPr>
          <a:lstStyle/>
          <a:p>
            <a:r>
              <a:rPr kumimoji="1" lang="ja-GB" altLang="en-US" b="1" dirty="0"/>
              <a:t>デジタル（数字式）：情報を保持・伝達しやすい</a:t>
            </a:r>
            <a:endParaRPr kumimoji="1" lang="en-US" altLang="ja-GB" b="1" dirty="0"/>
          </a:p>
          <a:p>
            <a:r>
              <a:rPr kumimoji="1" lang="ja-GB" altLang="en-US" b="1" dirty="0"/>
              <a:t>２進数（</a:t>
            </a:r>
            <a:r>
              <a:rPr kumimoji="1" lang="en-US" altLang="ja-GB" b="1" dirty="0"/>
              <a:t>0</a:t>
            </a:r>
            <a:r>
              <a:rPr kumimoji="1" lang="ja-GB" altLang="en-US" b="1" dirty="0"/>
              <a:t>と</a:t>
            </a:r>
            <a:r>
              <a:rPr kumimoji="1" lang="en-US" altLang="ja-GB" b="1" dirty="0"/>
              <a:t>1</a:t>
            </a:r>
            <a:r>
              <a:rPr kumimoji="1" lang="ja-GB" altLang="en-US" b="1" dirty="0"/>
              <a:t>のみ）：機械で表現しやすい</a:t>
            </a:r>
          </a:p>
        </p:txBody>
      </p:sp>
    </p:spTree>
    <p:extLst>
      <p:ext uri="{BB962C8B-B14F-4D97-AF65-F5344CB8AC3E}">
        <p14:creationId xmlns:p14="http://schemas.microsoft.com/office/powerpoint/2010/main" val="234471321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8A6E8-055A-C0B6-DB07-B83F83E72B5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A7802D4-A1B1-5247-8DEE-1477D7E880E0}"/>
              </a:ext>
            </a:extLst>
          </p:cNvPr>
          <p:cNvSpPr>
            <a:spLocks noGrp="1"/>
          </p:cNvSpPr>
          <p:nvPr>
            <p:ph type="title"/>
          </p:nvPr>
        </p:nvSpPr>
        <p:spPr/>
        <p:txBody>
          <a:bodyPr/>
          <a:lstStyle/>
          <a:p>
            <a:r>
              <a:rPr kumimoji="1" lang="ja-GB" altLang="en-US" dirty="0"/>
              <a:t>デジタル電子計算機と</a:t>
            </a:r>
            <a:r>
              <a:rPr kumimoji="1" lang="en-US" altLang="ja-GB" dirty="0"/>
              <a:t>2</a:t>
            </a:r>
            <a:r>
              <a:rPr kumimoji="1" lang="ja-GB" altLang="en-US" dirty="0"/>
              <a:t>進数表現</a:t>
            </a:r>
          </a:p>
        </p:txBody>
      </p:sp>
      <p:sp>
        <p:nvSpPr>
          <p:cNvPr id="3" name="コンテンツ プレースホルダー 2">
            <a:extLst>
              <a:ext uri="{FF2B5EF4-FFF2-40B4-BE49-F238E27FC236}">
                <a16:creationId xmlns:a16="http://schemas.microsoft.com/office/drawing/2014/main" id="{FDD72E7E-684A-0F54-4705-6F619AE487C5}"/>
              </a:ext>
            </a:extLst>
          </p:cNvPr>
          <p:cNvSpPr>
            <a:spLocks noGrp="1"/>
          </p:cNvSpPr>
          <p:nvPr>
            <p:ph idx="1"/>
          </p:nvPr>
        </p:nvSpPr>
        <p:spPr/>
        <p:txBody>
          <a:bodyPr>
            <a:normAutofit/>
          </a:bodyPr>
          <a:lstStyle/>
          <a:p>
            <a:pPr marL="0" indent="0">
              <a:buNone/>
            </a:pPr>
            <a:r>
              <a:rPr lang="ja-GB" altLang="en-US" sz="2000" dirty="0"/>
              <a:t>微細な電圧スイッチで</a:t>
            </a:r>
            <a:r>
              <a:rPr lang="en-US" altLang="ja-GB" sz="2000" dirty="0"/>
              <a:t>0</a:t>
            </a:r>
            <a:r>
              <a:rPr lang="ja-GB" altLang="en-US" sz="2000" dirty="0"/>
              <a:t>と</a:t>
            </a:r>
            <a:r>
              <a:rPr lang="en-US" altLang="ja-GB" sz="2000" dirty="0"/>
              <a:t>1</a:t>
            </a:r>
            <a:r>
              <a:rPr lang="ja-GB" altLang="en-US" sz="2000" dirty="0"/>
              <a:t>を表現</a:t>
            </a:r>
            <a:endParaRPr kumimoji="1" lang="en-US" altLang="ja-GB" sz="2000" dirty="0"/>
          </a:p>
          <a:p>
            <a:pPr marL="457200" lvl="1" indent="0">
              <a:buNone/>
            </a:pPr>
            <a:r>
              <a:rPr kumimoji="1" lang="ja-GB" altLang="en-US" sz="1800" dirty="0">
                <a:solidFill>
                  <a:srgbClr val="2F2523"/>
                </a:solidFill>
              </a:rPr>
              <a:t>半導体：導体（電気を通す）と絶縁体（通さない）の中間的な物質</a:t>
            </a:r>
            <a:endParaRPr kumimoji="1" lang="en-US" altLang="ja-GB" sz="1800" dirty="0">
              <a:solidFill>
                <a:srgbClr val="2F2523"/>
              </a:solidFill>
            </a:endParaRPr>
          </a:p>
          <a:p>
            <a:pPr lvl="2"/>
            <a:r>
              <a:rPr lang="ja-GB" altLang="en-US" sz="1600" dirty="0">
                <a:solidFill>
                  <a:srgbClr val="2F2523"/>
                </a:solidFill>
              </a:rPr>
              <a:t>電気抵抗が導体と絶縁体の中間程度の物質</a:t>
            </a:r>
            <a:endParaRPr lang="en-US" altLang="ja-GB" sz="1600" dirty="0">
              <a:solidFill>
                <a:srgbClr val="2F2523"/>
              </a:solidFill>
            </a:endParaRPr>
          </a:p>
          <a:p>
            <a:pPr lvl="3"/>
            <a:r>
              <a:rPr lang="ja-GB" altLang="en-US" sz="1400" dirty="0">
                <a:solidFill>
                  <a:srgbClr val="2F2523"/>
                </a:solidFill>
              </a:rPr>
              <a:t>例：シリコン，ゲルマニウム</a:t>
            </a:r>
            <a:endParaRPr lang="en-US" altLang="ja-GB" sz="1400" dirty="0">
              <a:solidFill>
                <a:srgbClr val="2F2523"/>
              </a:solidFill>
            </a:endParaRPr>
          </a:p>
          <a:p>
            <a:pPr lvl="2"/>
            <a:r>
              <a:rPr kumimoji="1" lang="ja-GB" altLang="en-US" sz="1600" dirty="0">
                <a:solidFill>
                  <a:srgbClr val="2F2523"/>
                </a:solidFill>
              </a:rPr>
              <a:t>不純物や外部刺激の有無によって，電気を通したり通さなかったりする</a:t>
            </a:r>
            <a:endParaRPr lang="en-US" altLang="ja-GB" sz="1600" dirty="0">
              <a:solidFill>
                <a:srgbClr val="2F2523"/>
              </a:solidFill>
            </a:endParaRPr>
          </a:p>
          <a:p>
            <a:pPr marL="1371600" lvl="3" indent="0">
              <a:buNone/>
            </a:pPr>
            <a:r>
              <a:rPr lang="en-US" altLang="ja-GB" sz="1400" dirty="0">
                <a:solidFill>
                  <a:srgbClr val="2F2523"/>
                </a:solidFill>
              </a:rPr>
              <a:t>→ </a:t>
            </a:r>
            <a:r>
              <a:rPr lang="ja-GB" altLang="en-US" sz="1400" dirty="0">
                <a:solidFill>
                  <a:srgbClr val="2F2523"/>
                </a:solidFill>
              </a:rPr>
              <a:t>スイッチとして</a:t>
            </a:r>
            <a:r>
              <a:rPr lang="en-US" altLang="ja-GB" sz="1400" dirty="0">
                <a:solidFill>
                  <a:srgbClr val="2F2523"/>
                </a:solidFill>
              </a:rPr>
              <a:t>0/1</a:t>
            </a:r>
            <a:r>
              <a:rPr lang="ja-GB" altLang="en-US" sz="1400" dirty="0">
                <a:solidFill>
                  <a:srgbClr val="2F2523"/>
                </a:solidFill>
              </a:rPr>
              <a:t>を表現可能</a:t>
            </a:r>
            <a:endParaRPr lang="en-US" altLang="ja-GB" sz="1400" dirty="0">
              <a:solidFill>
                <a:srgbClr val="2F2523"/>
              </a:solidFill>
            </a:endParaRPr>
          </a:p>
          <a:p>
            <a:pPr lvl="2"/>
            <a:endParaRPr lang="en-US" altLang="ja-GB" sz="1600" dirty="0"/>
          </a:p>
          <a:p>
            <a:pPr marL="457200" lvl="1" indent="0">
              <a:buNone/>
            </a:pPr>
            <a:r>
              <a:rPr kumimoji="1" lang="en-US" altLang="ja-GB" sz="1800" dirty="0">
                <a:solidFill>
                  <a:srgbClr val="2F2523"/>
                </a:solidFill>
              </a:rPr>
              <a:t>IC</a:t>
            </a:r>
            <a:r>
              <a:rPr kumimoji="1" lang="ja-GB" altLang="en-US" sz="1800" dirty="0">
                <a:solidFill>
                  <a:srgbClr val="2F2523"/>
                </a:solidFill>
              </a:rPr>
              <a:t>チップ：大量のスイッチを並べた装置（集積回路，</a:t>
            </a:r>
            <a:r>
              <a:rPr kumimoji="1" lang="en-US" altLang="ja-GB" sz="1800" dirty="0">
                <a:solidFill>
                  <a:srgbClr val="2F2523"/>
                </a:solidFill>
              </a:rPr>
              <a:t>Integrated Circuit</a:t>
            </a:r>
            <a:r>
              <a:rPr kumimoji="1" lang="ja-GB" altLang="en-US" sz="1800" dirty="0">
                <a:solidFill>
                  <a:srgbClr val="2F2523"/>
                </a:solidFill>
              </a:rPr>
              <a:t>）</a:t>
            </a:r>
            <a:endParaRPr kumimoji="1" lang="en-US" altLang="ja-GB" sz="1800" dirty="0">
              <a:solidFill>
                <a:srgbClr val="2F2523"/>
              </a:solidFill>
            </a:endParaRPr>
          </a:p>
          <a:p>
            <a:pPr lvl="2"/>
            <a:r>
              <a:rPr kumimoji="1" lang="ja-GB" altLang="en-US" sz="1600" dirty="0"/>
              <a:t>微細な半導体装置を大量に並べたデバイス</a:t>
            </a:r>
            <a:endParaRPr kumimoji="1" lang="en-US" altLang="ja-GB" sz="1600" dirty="0"/>
          </a:p>
          <a:p>
            <a:pPr lvl="2"/>
            <a:r>
              <a:rPr lang="ja-GB" altLang="en-US" sz="1600" dirty="0"/>
              <a:t>各半導体装置は電気信号の「遮断</a:t>
            </a:r>
            <a:r>
              <a:rPr lang="en-US" altLang="ja-GB" sz="1600" dirty="0"/>
              <a:t> or </a:t>
            </a:r>
            <a:r>
              <a:rPr lang="ja-GB" altLang="en-US" sz="1600" dirty="0"/>
              <a:t>通過」で「</a:t>
            </a:r>
            <a:r>
              <a:rPr lang="en-US" altLang="ja-GB" sz="1600" dirty="0"/>
              <a:t>0 or 1</a:t>
            </a:r>
            <a:r>
              <a:rPr lang="ja-GB" altLang="en-US" sz="1600" dirty="0"/>
              <a:t>」を表現</a:t>
            </a:r>
            <a:endParaRPr lang="en-US" altLang="ja-GB" sz="1600" dirty="0"/>
          </a:p>
          <a:p>
            <a:pPr lvl="2"/>
            <a:endParaRPr kumimoji="1" lang="ja-GB" altLang="en-US" sz="1600" dirty="0"/>
          </a:p>
        </p:txBody>
      </p:sp>
      <p:sp>
        <p:nvSpPr>
          <p:cNvPr id="8" name="テキスト ボックス 7">
            <a:extLst>
              <a:ext uri="{FF2B5EF4-FFF2-40B4-BE49-F238E27FC236}">
                <a16:creationId xmlns:a16="http://schemas.microsoft.com/office/drawing/2014/main" id="{A8ABE331-35DB-F73D-9CC0-2958A542EB2B}"/>
              </a:ext>
            </a:extLst>
          </p:cNvPr>
          <p:cNvSpPr txBox="1"/>
          <p:nvPr/>
        </p:nvSpPr>
        <p:spPr>
          <a:xfrm>
            <a:off x="1460550" y="6312945"/>
            <a:ext cx="5302734" cy="461665"/>
          </a:xfrm>
          <a:prstGeom prst="rect">
            <a:avLst/>
          </a:prstGeom>
          <a:noFill/>
        </p:spPr>
        <p:txBody>
          <a:bodyPr wrap="none" rtlCol="0">
            <a:spAutoFit/>
          </a:bodyPr>
          <a:lstStyle/>
          <a:p>
            <a:pPr algn="ctr"/>
            <a:r>
              <a:rPr kumimoji="1" lang="ja-GB" altLang="en-US" sz="1200" b="1" dirty="0">
                <a:solidFill>
                  <a:schemeClr val="tx1">
                    <a:lumMod val="50000"/>
                    <a:lumOff val="50000"/>
                  </a:schemeClr>
                </a:solidFill>
              </a:rPr>
              <a:t>左：シリコン単結晶のインゴット</a:t>
            </a:r>
            <a:endParaRPr kumimoji="1" lang="en-US" altLang="ja-GB" sz="1200" b="1" dirty="0">
              <a:solidFill>
                <a:schemeClr val="tx1">
                  <a:lumMod val="50000"/>
                  <a:lumOff val="50000"/>
                </a:schemeClr>
              </a:solidFill>
            </a:endParaRPr>
          </a:p>
          <a:p>
            <a:pPr algn="ctr"/>
            <a:r>
              <a:rPr kumimoji="1" lang="en-GB" altLang="ja-GB" sz="1200" b="1" dirty="0">
                <a:solidFill>
                  <a:schemeClr val="tx1">
                    <a:lumMod val="50000"/>
                    <a:lumOff val="50000"/>
                  </a:schemeClr>
                </a:solidFill>
              </a:rPr>
              <a:t>CC </a:t>
            </a:r>
            <a:r>
              <a:rPr kumimoji="1" lang="ja-JP" altLang="en-US" sz="1200" b="1">
                <a:solidFill>
                  <a:schemeClr val="tx1">
                    <a:lumMod val="50000"/>
                    <a:lumOff val="50000"/>
                  </a:schemeClr>
                </a:solidFill>
              </a:rPr>
              <a:t>表示</a:t>
            </a:r>
            <a:r>
              <a:rPr kumimoji="1" lang="en-US" altLang="ja-JP" sz="1200" b="1" dirty="0">
                <a:solidFill>
                  <a:schemeClr val="tx1">
                    <a:lumMod val="50000"/>
                    <a:lumOff val="50000"/>
                  </a:schemeClr>
                </a:solidFill>
              </a:rPr>
              <a:t>-</a:t>
            </a:r>
            <a:r>
              <a:rPr kumimoji="1" lang="ja-JP" altLang="en-US" sz="1200" b="1">
                <a:solidFill>
                  <a:schemeClr val="tx1">
                    <a:lumMod val="50000"/>
                    <a:lumOff val="50000"/>
                  </a:schemeClr>
                </a:solidFill>
              </a:rPr>
              <a:t>継承 </a:t>
            </a:r>
            <a:r>
              <a:rPr kumimoji="1" lang="en-US" altLang="ja-JP" sz="1200" b="1" dirty="0">
                <a:solidFill>
                  <a:schemeClr val="tx1">
                    <a:lumMod val="50000"/>
                    <a:lumOff val="50000"/>
                  </a:schemeClr>
                </a:solidFill>
              </a:rPr>
              <a:t>3.0, </a:t>
            </a:r>
            <a:r>
              <a:rPr kumimoji="1" lang="en-GB" altLang="ja-GB" sz="1200" b="1" dirty="0">
                <a:solidFill>
                  <a:schemeClr val="tx1">
                    <a:lumMod val="50000"/>
                    <a:lumOff val="50000"/>
                  </a:schemeClr>
                </a:solidFill>
                <a:hlinkClick r:id="rId2">
                  <a:extLst>
                    <a:ext uri="{A12FA001-AC4F-418D-AE19-62706E023703}">
                      <ahyp:hlinkClr xmlns:ahyp="http://schemas.microsoft.com/office/drawing/2018/hyperlinkcolor" val="tx"/>
                    </a:ext>
                  </a:extLst>
                </a:hlinkClick>
              </a:rPr>
              <a:t>https://commons.wikimedia.org/w/index.php?curid=314282</a:t>
            </a:r>
            <a:r>
              <a:rPr kumimoji="1" lang="en-GB" altLang="ja-GB" sz="1200" b="1" dirty="0">
                <a:solidFill>
                  <a:schemeClr val="tx1">
                    <a:lumMod val="50000"/>
                    <a:lumOff val="50000"/>
                  </a:schemeClr>
                </a:solidFill>
              </a:rPr>
              <a:t> </a:t>
            </a:r>
            <a:endParaRPr kumimoji="1" lang="ja-GB" altLang="en-US" sz="1200" b="1" dirty="0">
              <a:solidFill>
                <a:schemeClr val="tx1">
                  <a:lumMod val="50000"/>
                  <a:lumOff val="50000"/>
                </a:schemeClr>
              </a:solidFill>
            </a:endParaRPr>
          </a:p>
        </p:txBody>
      </p:sp>
      <p:grpSp>
        <p:nvGrpSpPr>
          <p:cNvPr id="11" name="グループ化 10">
            <a:extLst>
              <a:ext uri="{FF2B5EF4-FFF2-40B4-BE49-F238E27FC236}">
                <a16:creationId xmlns:a16="http://schemas.microsoft.com/office/drawing/2014/main" id="{CECB2466-7E86-5A69-AB18-166A54F04452}"/>
              </a:ext>
            </a:extLst>
          </p:cNvPr>
          <p:cNvGrpSpPr/>
          <p:nvPr/>
        </p:nvGrpSpPr>
        <p:grpSpPr>
          <a:xfrm>
            <a:off x="582033" y="4091457"/>
            <a:ext cx="7979934" cy="2025942"/>
            <a:chOff x="1045050" y="4030497"/>
            <a:chExt cx="7979934" cy="2025942"/>
          </a:xfrm>
        </p:grpSpPr>
        <p:pic>
          <p:nvPicPr>
            <p:cNvPr id="5" name="図 4" descr="電子機器, 回路 が含まれている画像&#10;&#10;AI によって生成されたコンテンツは間違っている可能性があります。">
              <a:extLst>
                <a:ext uri="{FF2B5EF4-FFF2-40B4-BE49-F238E27FC236}">
                  <a16:creationId xmlns:a16="http://schemas.microsoft.com/office/drawing/2014/main" id="{18249F19-1C1C-DD9F-1ADC-BA5E7E4F1BF8}"/>
                </a:ext>
              </a:extLst>
            </p:cNvPr>
            <p:cNvPicPr>
              <a:picLocks noChangeAspect="1"/>
            </p:cNvPicPr>
            <p:nvPr/>
          </p:nvPicPr>
          <p:blipFill>
            <a:blip r:embed="rId3"/>
            <a:stretch>
              <a:fillRect/>
            </a:stretch>
          </p:blipFill>
          <p:spPr>
            <a:xfrm>
              <a:off x="5981316" y="4030497"/>
              <a:ext cx="3043668" cy="2025942"/>
            </a:xfrm>
            <a:prstGeom prst="rect">
              <a:avLst/>
            </a:prstGeom>
            <a:ln>
              <a:noFill/>
            </a:ln>
            <a:effectLst>
              <a:outerShdw blurRad="292100" dist="139700" dir="2700000" algn="tl" rotWithShape="0">
                <a:srgbClr val="333333">
                  <a:alpha val="65000"/>
                </a:srgbClr>
              </a:outerShdw>
            </a:effectLst>
          </p:spPr>
        </p:pic>
        <p:pic>
          <p:nvPicPr>
            <p:cNvPr id="7" name="図 6" descr="屋内, 人, 座る, テーブル が含まれている画像&#10;&#10;AI によって生成されたコンテンツは間違っている可能性があります。">
              <a:extLst>
                <a:ext uri="{FF2B5EF4-FFF2-40B4-BE49-F238E27FC236}">
                  <a16:creationId xmlns:a16="http://schemas.microsoft.com/office/drawing/2014/main" id="{D06F43BE-935B-1F57-5C33-6B186B9362B8}"/>
                </a:ext>
              </a:extLst>
            </p:cNvPr>
            <p:cNvPicPr>
              <a:picLocks noChangeAspect="1"/>
            </p:cNvPicPr>
            <p:nvPr/>
          </p:nvPicPr>
          <p:blipFill>
            <a:blip r:embed="rId4"/>
            <a:stretch>
              <a:fillRect/>
            </a:stretch>
          </p:blipFill>
          <p:spPr>
            <a:xfrm>
              <a:off x="2577416" y="4030497"/>
              <a:ext cx="3043669" cy="2025942"/>
            </a:xfrm>
            <a:prstGeom prst="rect">
              <a:avLst/>
            </a:prstGeom>
            <a:ln>
              <a:noFill/>
            </a:ln>
            <a:effectLst>
              <a:outerShdw blurRad="292100" dist="139700" dir="2700000" algn="tl" rotWithShape="0">
                <a:srgbClr val="333333">
                  <a:alpha val="65000"/>
                </a:srgbClr>
              </a:outerShdw>
            </a:effectLst>
          </p:spPr>
        </p:pic>
        <p:pic>
          <p:nvPicPr>
            <p:cNvPr id="10" name="図 9" descr="ガラスの瓶&#10;&#10;AI によって生成されたコンテンツは間違っている可能性があります。">
              <a:extLst>
                <a:ext uri="{FF2B5EF4-FFF2-40B4-BE49-F238E27FC236}">
                  <a16:creationId xmlns:a16="http://schemas.microsoft.com/office/drawing/2014/main" id="{EC6C6234-34FD-67B6-E862-953220611313}"/>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a:off x="1045050" y="4030497"/>
              <a:ext cx="1172135" cy="2025942"/>
            </a:xfrm>
            <a:prstGeom prst="rect">
              <a:avLst/>
            </a:prstGeom>
            <a:ln>
              <a:noFill/>
            </a:ln>
            <a:effectLst>
              <a:outerShdw blurRad="292100" dist="139700" dir="2700000" algn="tl" rotWithShape="0">
                <a:srgbClr val="333333">
                  <a:alpha val="65000"/>
                </a:srgbClr>
              </a:outerShdw>
            </a:effectLst>
          </p:spPr>
        </p:pic>
      </p:grpSp>
      <p:sp>
        <p:nvSpPr>
          <p:cNvPr id="4" name="正方形/長方形 3">
            <a:extLst>
              <a:ext uri="{FF2B5EF4-FFF2-40B4-BE49-F238E27FC236}">
                <a16:creationId xmlns:a16="http://schemas.microsoft.com/office/drawing/2014/main" id="{4F5F2673-F824-928A-D867-0B9B1F5056A2}"/>
              </a:ext>
            </a:extLst>
          </p:cNvPr>
          <p:cNvSpPr/>
          <p:nvPr/>
        </p:nvSpPr>
        <p:spPr>
          <a:xfrm>
            <a:off x="314325" y="3895910"/>
            <a:ext cx="8515350" cy="2878699"/>
          </a:xfrm>
          <a:prstGeom prst="rect">
            <a:avLst/>
          </a:prstGeom>
          <a:solidFill>
            <a:srgbClr val="F8FDFF">
              <a:alpha val="9117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6" name="テキスト ボックス 5">
            <a:extLst>
              <a:ext uri="{FF2B5EF4-FFF2-40B4-BE49-F238E27FC236}">
                <a16:creationId xmlns:a16="http://schemas.microsoft.com/office/drawing/2014/main" id="{4CEC7544-0F72-7784-8FEB-85882A0B7B0E}"/>
              </a:ext>
            </a:extLst>
          </p:cNvPr>
          <p:cNvSpPr txBox="1"/>
          <p:nvPr/>
        </p:nvSpPr>
        <p:spPr>
          <a:xfrm>
            <a:off x="974942" y="4288820"/>
            <a:ext cx="7096816" cy="1631216"/>
          </a:xfrm>
          <a:prstGeom prst="rect">
            <a:avLst/>
          </a:prstGeom>
          <a:noFill/>
        </p:spPr>
        <p:txBody>
          <a:bodyPr wrap="none" rtlCol="0">
            <a:spAutoFit/>
          </a:bodyPr>
          <a:lstStyle/>
          <a:p>
            <a:pPr algn="ctr"/>
            <a:r>
              <a:rPr kumimoji="1" lang="ja-GB" altLang="en-US" sz="2000" b="1" dirty="0">
                <a:solidFill>
                  <a:schemeClr val="accent2"/>
                </a:solidFill>
              </a:rPr>
              <a:t>計算機は</a:t>
            </a:r>
            <a:r>
              <a:rPr kumimoji="1" lang="en-US" altLang="ja-GB" sz="2000" b="1" dirty="0">
                <a:solidFill>
                  <a:schemeClr val="accent2"/>
                </a:solidFill>
              </a:rPr>
              <a:t>0</a:t>
            </a:r>
            <a:r>
              <a:rPr kumimoji="1" lang="ja-GB" altLang="en-US" sz="2000" b="1" dirty="0">
                <a:solidFill>
                  <a:schemeClr val="accent2"/>
                </a:solidFill>
              </a:rPr>
              <a:t>と</a:t>
            </a:r>
            <a:r>
              <a:rPr kumimoji="1" lang="en-US" altLang="ja-GB" sz="2000" b="1" dirty="0">
                <a:solidFill>
                  <a:schemeClr val="accent2"/>
                </a:solidFill>
              </a:rPr>
              <a:t>1</a:t>
            </a:r>
            <a:r>
              <a:rPr kumimoji="1" lang="ja-GB" altLang="en-US" sz="2000" b="1" dirty="0">
                <a:solidFill>
                  <a:schemeClr val="accent2"/>
                </a:solidFill>
              </a:rPr>
              <a:t>で情報を記憶（データ記憶装置）</a:t>
            </a:r>
            <a:endParaRPr kumimoji="1" lang="en-US" altLang="ja-GB" sz="2000" b="1" dirty="0">
              <a:solidFill>
                <a:schemeClr val="accent2"/>
              </a:solidFill>
            </a:endParaRPr>
          </a:p>
          <a:p>
            <a:pPr algn="ctr"/>
            <a:r>
              <a:rPr kumimoji="1" lang="en-US" altLang="ja-GB" sz="2000" b="1" dirty="0">
                <a:solidFill>
                  <a:srgbClr val="2F2523"/>
                </a:solidFill>
              </a:rPr>
              <a:t>↓</a:t>
            </a:r>
          </a:p>
          <a:p>
            <a:pPr algn="ctr"/>
            <a:r>
              <a:rPr kumimoji="1" lang="ja-GB" altLang="en-US" sz="2000" b="1" dirty="0">
                <a:solidFill>
                  <a:srgbClr val="2F2523"/>
                </a:solidFill>
              </a:rPr>
              <a:t>電圧の高低を切り替えて情報を更新（</a:t>
            </a:r>
            <a:r>
              <a:rPr kumimoji="1" lang="en-US" altLang="ja-GB" sz="2000" b="1" dirty="0">
                <a:solidFill>
                  <a:srgbClr val="2F2523"/>
                </a:solidFill>
              </a:rPr>
              <a:t>CPU</a:t>
            </a:r>
            <a:r>
              <a:rPr kumimoji="1" lang="ja-GB" altLang="en-US" sz="2000" b="1" dirty="0">
                <a:solidFill>
                  <a:srgbClr val="2F2523"/>
                </a:solidFill>
              </a:rPr>
              <a:t>）</a:t>
            </a:r>
            <a:endParaRPr kumimoji="1" lang="en-US" altLang="ja-GB" sz="2000" b="1" dirty="0">
              <a:solidFill>
                <a:srgbClr val="2F2523"/>
              </a:solidFill>
            </a:endParaRPr>
          </a:p>
          <a:p>
            <a:pPr algn="ctr"/>
            <a:r>
              <a:rPr kumimoji="1" lang="en-US" altLang="ja-GB" sz="2000" b="1" dirty="0">
                <a:solidFill>
                  <a:srgbClr val="2F2523"/>
                </a:solidFill>
              </a:rPr>
              <a:t>↑</a:t>
            </a:r>
          </a:p>
          <a:p>
            <a:pPr algn="ctr"/>
            <a:r>
              <a:rPr kumimoji="1" lang="en-US" altLang="ja-GB" sz="2000" b="1" dirty="0">
                <a:solidFill>
                  <a:schemeClr val="accent2"/>
                </a:solidFill>
              </a:rPr>
              <a:t>0</a:t>
            </a:r>
            <a:r>
              <a:rPr kumimoji="1" lang="ja-GB" altLang="en-US" sz="2000" b="1" dirty="0">
                <a:solidFill>
                  <a:schemeClr val="accent2"/>
                </a:solidFill>
              </a:rPr>
              <a:t>と</a:t>
            </a:r>
            <a:r>
              <a:rPr kumimoji="1" lang="en-US" altLang="ja-GB" sz="2000" b="1" dirty="0">
                <a:solidFill>
                  <a:schemeClr val="accent2"/>
                </a:solidFill>
              </a:rPr>
              <a:t>1</a:t>
            </a:r>
            <a:r>
              <a:rPr kumimoji="1" lang="ja-GB" altLang="en-US" sz="2000" b="1" dirty="0">
                <a:solidFill>
                  <a:schemeClr val="accent2"/>
                </a:solidFill>
              </a:rPr>
              <a:t>のパターンで</a:t>
            </a:r>
            <a:r>
              <a:rPr kumimoji="1" lang="en-US" altLang="ja-GB" sz="2000" b="1" dirty="0">
                <a:solidFill>
                  <a:schemeClr val="accent2"/>
                </a:solidFill>
              </a:rPr>
              <a:t>CPU</a:t>
            </a:r>
            <a:r>
              <a:rPr kumimoji="1" lang="ja-GB" altLang="en-US" sz="2000" b="1" dirty="0">
                <a:solidFill>
                  <a:schemeClr val="accent2"/>
                </a:solidFill>
              </a:rPr>
              <a:t>の動</a:t>
            </a:r>
            <a:r>
              <a:rPr kumimoji="1" lang="ja-JP" altLang="en-US" sz="2000" b="1" dirty="0">
                <a:solidFill>
                  <a:schemeClr val="accent2"/>
                </a:solidFill>
              </a:rPr>
              <a:t>き</a:t>
            </a:r>
            <a:r>
              <a:rPr kumimoji="1" lang="ja-GB" altLang="en-US" sz="2000" b="1" dirty="0">
                <a:solidFill>
                  <a:schemeClr val="accent2"/>
                </a:solidFill>
              </a:rPr>
              <a:t>を記述 （プログラム記憶装置）</a:t>
            </a:r>
          </a:p>
        </p:txBody>
      </p:sp>
    </p:spTree>
    <p:extLst>
      <p:ext uri="{BB962C8B-B14F-4D97-AF65-F5344CB8AC3E}">
        <p14:creationId xmlns:p14="http://schemas.microsoft.com/office/powerpoint/2010/main" val="3147030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C4A1C1-0204-B90C-1243-25E4268CB098}"/>
              </a:ext>
            </a:extLst>
          </p:cNvPr>
          <p:cNvSpPr>
            <a:spLocks noGrp="1"/>
          </p:cNvSpPr>
          <p:nvPr>
            <p:ph type="title"/>
          </p:nvPr>
        </p:nvSpPr>
        <p:spPr/>
        <p:txBody>
          <a:bodyPr/>
          <a:lstStyle/>
          <a:p>
            <a:r>
              <a:rPr kumimoji="1" lang="ja-GB" altLang="en-US" dirty="0"/>
              <a:t>機械語：</a:t>
            </a:r>
            <a:r>
              <a:rPr kumimoji="1" lang="en-US" altLang="ja-GB" dirty="0"/>
              <a:t>0</a:t>
            </a:r>
            <a:r>
              <a:rPr kumimoji="1" lang="ja-GB" altLang="en-US" dirty="0"/>
              <a:t>と</a:t>
            </a:r>
            <a:r>
              <a:rPr kumimoji="1" lang="en-US" altLang="ja-GB" dirty="0"/>
              <a:t>1</a:t>
            </a:r>
            <a:r>
              <a:rPr kumimoji="1" lang="ja-GB" altLang="en-US" dirty="0"/>
              <a:t>で書かれたプログラム</a:t>
            </a:r>
          </a:p>
        </p:txBody>
      </p:sp>
      <p:sp>
        <p:nvSpPr>
          <p:cNvPr id="3" name="コンテンツ プレースホルダー 2">
            <a:extLst>
              <a:ext uri="{FF2B5EF4-FFF2-40B4-BE49-F238E27FC236}">
                <a16:creationId xmlns:a16="http://schemas.microsoft.com/office/drawing/2014/main" id="{C78D8DCF-62E7-D591-CDA8-9A8707046600}"/>
              </a:ext>
            </a:extLst>
          </p:cNvPr>
          <p:cNvSpPr>
            <a:spLocks noGrp="1"/>
          </p:cNvSpPr>
          <p:nvPr>
            <p:ph idx="1"/>
          </p:nvPr>
        </p:nvSpPr>
        <p:spPr/>
        <p:txBody>
          <a:bodyPr/>
          <a:lstStyle/>
          <a:p>
            <a:pPr marL="0" indent="0">
              <a:buNone/>
            </a:pPr>
            <a:r>
              <a:rPr kumimoji="1" lang="en-US" altLang="ja-GB" dirty="0"/>
              <a:t>0</a:t>
            </a:r>
            <a:r>
              <a:rPr kumimoji="1" lang="ja-GB" altLang="en-US" dirty="0"/>
              <a:t>と</a:t>
            </a:r>
            <a:r>
              <a:rPr kumimoji="1" lang="en-US" altLang="ja-GB" dirty="0"/>
              <a:t>1</a:t>
            </a:r>
            <a:r>
              <a:rPr kumimoji="1" lang="ja-GB" altLang="en-US" dirty="0"/>
              <a:t>のパターンで</a:t>
            </a:r>
            <a:r>
              <a:rPr kumimoji="1" lang="en-US" altLang="ja-GB" dirty="0"/>
              <a:t>CPU</a:t>
            </a:r>
            <a:r>
              <a:rPr kumimoji="1" lang="ja-GB" altLang="en-US" dirty="0"/>
              <a:t>の動きを制御</a:t>
            </a:r>
          </a:p>
        </p:txBody>
      </p:sp>
      <p:grpSp>
        <p:nvGrpSpPr>
          <p:cNvPr id="34" name="グループ化 33">
            <a:extLst>
              <a:ext uri="{FF2B5EF4-FFF2-40B4-BE49-F238E27FC236}">
                <a16:creationId xmlns:a16="http://schemas.microsoft.com/office/drawing/2014/main" id="{E9B875A3-6F9F-5032-9AF0-F7ED272A474B}"/>
              </a:ext>
            </a:extLst>
          </p:cNvPr>
          <p:cNvGrpSpPr/>
          <p:nvPr/>
        </p:nvGrpSpPr>
        <p:grpSpPr>
          <a:xfrm>
            <a:off x="734093" y="1832345"/>
            <a:ext cx="7675813" cy="4170890"/>
            <a:chOff x="233696" y="1756393"/>
            <a:chExt cx="7675813" cy="4170890"/>
          </a:xfrm>
        </p:grpSpPr>
        <p:sp>
          <p:nvSpPr>
            <p:cNvPr id="4" name="角丸四角形 3">
              <a:extLst>
                <a:ext uri="{FF2B5EF4-FFF2-40B4-BE49-F238E27FC236}">
                  <a16:creationId xmlns:a16="http://schemas.microsoft.com/office/drawing/2014/main" id="{A377347A-A8F5-C08B-5576-B135B30C8926}"/>
                </a:ext>
              </a:extLst>
            </p:cNvPr>
            <p:cNvSpPr/>
            <p:nvPr/>
          </p:nvSpPr>
          <p:spPr>
            <a:xfrm>
              <a:off x="1788488" y="2070111"/>
              <a:ext cx="3904979" cy="64154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 name="角丸四角形吹き出し 4">
              <a:extLst>
                <a:ext uri="{FF2B5EF4-FFF2-40B4-BE49-F238E27FC236}">
                  <a16:creationId xmlns:a16="http://schemas.microsoft.com/office/drawing/2014/main" id="{931CFB43-33B4-169C-4C08-C590920639DC}"/>
                </a:ext>
              </a:extLst>
            </p:cNvPr>
            <p:cNvSpPr/>
            <p:nvPr/>
          </p:nvSpPr>
          <p:spPr>
            <a:xfrm>
              <a:off x="233696" y="2881217"/>
              <a:ext cx="1272693" cy="1095565"/>
            </a:xfrm>
            <a:prstGeom prst="wedgeRoundRectCallout">
              <a:avLst>
                <a:gd name="adj1" fmla="val 159731"/>
                <a:gd name="adj2" fmla="val -19866"/>
                <a:gd name="adj3" fmla="val 16667"/>
              </a:avLst>
            </a:prstGeom>
            <a:solidFill>
              <a:schemeClr val="accent2">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6" name="角丸四角形 5">
              <a:extLst>
                <a:ext uri="{FF2B5EF4-FFF2-40B4-BE49-F238E27FC236}">
                  <a16:creationId xmlns:a16="http://schemas.microsoft.com/office/drawing/2014/main" id="{96E7F7D1-C9C1-E424-DDD7-3674D753715E}"/>
                </a:ext>
              </a:extLst>
            </p:cNvPr>
            <p:cNvSpPr/>
            <p:nvPr/>
          </p:nvSpPr>
          <p:spPr>
            <a:xfrm>
              <a:off x="3598470" y="3527830"/>
              <a:ext cx="2676422" cy="138925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7" name="テキスト ボックス 6">
              <a:extLst>
                <a:ext uri="{FF2B5EF4-FFF2-40B4-BE49-F238E27FC236}">
                  <a16:creationId xmlns:a16="http://schemas.microsoft.com/office/drawing/2014/main" id="{F5C6B5B8-2080-F79D-19ED-67679001FE5A}"/>
                </a:ext>
              </a:extLst>
            </p:cNvPr>
            <p:cNvSpPr txBox="1"/>
            <p:nvPr/>
          </p:nvSpPr>
          <p:spPr>
            <a:xfrm>
              <a:off x="6801513" y="4362541"/>
              <a:ext cx="1107996" cy="369332"/>
            </a:xfrm>
            <a:prstGeom prst="rect">
              <a:avLst/>
            </a:prstGeom>
            <a:solidFill>
              <a:schemeClr val="bg1">
                <a:alpha val="76120"/>
              </a:schemeClr>
            </a:solidFill>
            <a:ln>
              <a:solidFill>
                <a:schemeClr val="tx1">
                  <a:lumMod val="50000"/>
                  <a:lumOff val="50000"/>
                </a:schemeClr>
              </a:solidFill>
            </a:ln>
          </p:spPr>
          <p:txBody>
            <a:bodyPr wrap="none" rtlCol="0">
              <a:spAutoFit/>
            </a:bodyPr>
            <a:lstStyle/>
            <a:p>
              <a:r>
                <a:rPr lang="ja-GB" dirty="0"/>
                <a:t>出力装置</a:t>
              </a:r>
            </a:p>
          </p:txBody>
        </p:sp>
        <p:sp>
          <p:nvSpPr>
            <p:cNvPr id="8" name="テキスト ボックス 7">
              <a:extLst>
                <a:ext uri="{FF2B5EF4-FFF2-40B4-BE49-F238E27FC236}">
                  <a16:creationId xmlns:a16="http://schemas.microsoft.com/office/drawing/2014/main" id="{11802D0F-E9EF-D7FB-B759-81E62C07B3FF}"/>
                </a:ext>
              </a:extLst>
            </p:cNvPr>
            <p:cNvSpPr txBox="1"/>
            <p:nvPr/>
          </p:nvSpPr>
          <p:spPr>
            <a:xfrm>
              <a:off x="1948830" y="2185785"/>
              <a:ext cx="1107996" cy="369332"/>
            </a:xfrm>
            <a:prstGeom prst="rect">
              <a:avLst/>
            </a:prstGeom>
            <a:solidFill>
              <a:schemeClr val="accent2">
                <a:lumMod val="20000"/>
                <a:lumOff val="80000"/>
              </a:schemeClr>
            </a:solidFill>
            <a:ln>
              <a:solidFill>
                <a:schemeClr val="tx1">
                  <a:lumMod val="50000"/>
                  <a:lumOff val="50000"/>
                </a:schemeClr>
              </a:solidFill>
            </a:ln>
          </p:spPr>
          <p:txBody>
            <a:bodyPr wrap="none" rtlCol="0">
              <a:spAutoFit/>
            </a:bodyPr>
            <a:lstStyle/>
            <a:p>
              <a:r>
                <a:rPr lang="ja-GB" dirty="0"/>
                <a:t>制御装置</a:t>
              </a:r>
            </a:p>
          </p:txBody>
        </p:sp>
        <p:sp>
          <p:nvSpPr>
            <p:cNvPr id="9" name="テキスト ボックス 8">
              <a:extLst>
                <a:ext uri="{FF2B5EF4-FFF2-40B4-BE49-F238E27FC236}">
                  <a16:creationId xmlns:a16="http://schemas.microsoft.com/office/drawing/2014/main" id="{9CEFCE8F-29B5-9E3D-66A0-7B658CB163FE}"/>
                </a:ext>
              </a:extLst>
            </p:cNvPr>
            <p:cNvSpPr txBox="1"/>
            <p:nvPr/>
          </p:nvSpPr>
          <p:spPr>
            <a:xfrm>
              <a:off x="4375171" y="2185785"/>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sp>
          <p:nvSpPr>
            <p:cNvPr id="10" name="テキスト ボックス 9">
              <a:extLst>
                <a:ext uri="{FF2B5EF4-FFF2-40B4-BE49-F238E27FC236}">
                  <a16:creationId xmlns:a16="http://schemas.microsoft.com/office/drawing/2014/main" id="{A7E29D38-EA13-125D-8D52-28E31905D55C}"/>
                </a:ext>
              </a:extLst>
            </p:cNvPr>
            <p:cNvSpPr txBox="1"/>
            <p:nvPr/>
          </p:nvSpPr>
          <p:spPr>
            <a:xfrm>
              <a:off x="1948829" y="4362541"/>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sp>
          <p:nvSpPr>
            <p:cNvPr id="11" name="テキスト ボックス 10">
              <a:extLst>
                <a:ext uri="{FF2B5EF4-FFF2-40B4-BE49-F238E27FC236}">
                  <a16:creationId xmlns:a16="http://schemas.microsoft.com/office/drawing/2014/main" id="{E4D43515-B2E2-1813-C21C-F8A6D9D69FCC}"/>
                </a:ext>
              </a:extLst>
            </p:cNvPr>
            <p:cNvSpPr txBox="1"/>
            <p:nvPr/>
          </p:nvSpPr>
          <p:spPr>
            <a:xfrm>
              <a:off x="4491351" y="4897794"/>
              <a:ext cx="800219" cy="276999"/>
            </a:xfrm>
            <a:prstGeom prst="rect">
              <a:avLst/>
            </a:prstGeom>
            <a:noFill/>
          </p:spPr>
          <p:txBody>
            <a:bodyPr wrap="none" rtlCol="0">
              <a:spAutoFit/>
            </a:bodyPr>
            <a:lstStyle/>
            <a:p>
              <a:pPr algn="ctr"/>
              <a:r>
                <a:rPr kumimoji="1" lang="ja-GB" altLang="en-US" sz="1200" b="1" dirty="0">
                  <a:solidFill>
                    <a:schemeClr val="tx1">
                      <a:lumMod val="50000"/>
                      <a:lumOff val="50000"/>
                    </a:schemeClr>
                  </a:solidFill>
                </a:rPr>
                <a:t>記憶装置</a:t>
              </a:r>
            </a:p>
          </p:txBody>
        </p:sp>
        <p:cxnSp>
          <p:nvCxnSpPr>
            <p:cNvPr id="12" name="曲線コネクタ 11">
              <a:extLst>
                <a:ext uri="{FF2B5EF4-FFF2-40B4-BE49-F238E27FC236}">
                  <a16:creationId xmlns:a16="http://schemas.microsoft.com/office/drawing/2014/main" id="{389110B3-3CD2-7437-89DF-BB5BB515A2CD}"/>
                </a:ext>
              </a:extLst>
            </p:cNvPr>
            <p:cNvCxnSpPr>
              <a:cxnSpLocks/>
              <a:stCxn id="8" idx="2"/>
              <a:endCxn id="7" idx="0"/>
            </p:cNvCxnSpPr>
            <p:nvPr/>
          </p:nvCxnSpPr>
          <p:spPr>
            <a:xfrm rot="16200000" flipH="1">
              <a:off x="4025457" y="1032487"/>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3" name="曲線コネクタ 12">
              <a:extLst>
                <a:ext uri="{FF2B5EF4-FFF2-40B4-BE49-F238E27FC236}">
                  <a16:creationId xmlns:a16="http://schemas.microsoft.com/office/drawing/2014/main" id="{43F97DF5-082B-18CA-2891-6D8DBE9907D7}"/>
                </a:ext>
              </a:extLst>
            </p:cNvPr>
            <p:cNvCxnSpPr>
              <a:cxnSpLocks/>
              <a:stCxn id="8" idx="2"/>
              <a:endCxn id="17" idx="1"/>
            </p:cNvCxnSpPr>
            <p:nvPr/>
          </p:nvCxnSpPr>
          <p:spPr>
            <a:xfrm rot="16200000" flipH="1">
              <a:off x="2495294" y="2562650"/>
              <a:ext cx="1322421"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2ED09F7D-95EB-48A2-21CB-626E5F5C5884}"/>
                </a:ext>
              </a:extLst>
            </p:cNvPr>
            <p:cNvCxnSpPr>
              <a:cxnSpLocks/>
              <a:endCxn id="10" idx="0"/>
            </p:cNvCxnSpPr>
            <p:nvPr/>
          </p:nvCxnSpPr>
          <p:spPr>
            <a:xfrm flipH="1">
              <a:off x="2502827" y="2555117"/>
              <a:ext cx="1" cy="1807424"/>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D4E297D6-EC5C-D269-0D56-1004A1A0CBC1}"/>
                </a:ext>
              </a:extLst>
            </p:cNvPr>
            <p:cNvCxnSpPr>
              <a:cxnSpLocks/>
            </p:cNvCxnSpPr>
            <p:nvPr/>
          </p:nvCxnSpPr>
          <p:spPr>
            <a:xfrm>
              <a:off x="3056826" y="2370451"/>
              <a:ext cx="1318345" cy="0"/>
            </a:xfrm>
            <a:prstGeom prst="straightConnector1">
              <a:avLst/>
            </a:prstGeom>
            <a:ln w="34925" cap="flat">
              <a:solidFill>
                <a:schemeClr val="accent2"/>
              </a:solidFill>
              <a:prstDash val="sysDot"/>
              <a:headEnd type="none"/>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F0513E3A-6FEE-6980-4FEC-4D649FBB9788}"/>
                </a:ext>
              </a:extLst>
            </p:cNvPr>
            <p:cNvSpPr txBox="1"/>
            <p:nvPr/>
          </p:nvSpPr>
          <p:spPr>
            <a:xfrm>
              <a:off x="3810181" y="4362541"/>
              <a:ext cx="2262158" cy="369332"/>
            </a:xfrm>
            <a:prstGeom prst="rect">
              <a:avLst/>
            </a:prstGeom>
            <a:solidFill>
              <a:schemeClr val="accent2">
                <a:lumMod val="20000"/>
                <a:lumOff val="80000"/>
              </a:schemeClr>
            </a:solidFill>
            <a:ln>
              <a:solidFill>
                <a:schemeClr val="tx1">
                  <a:lumMod val="50000"/>
                  <a:lumOff val="50000"/>
                </a:schemeClr>
              </a:solidFill>
            </a:ln>
          </p:spPr>
          <p:txBody>
            <a:bodyPr wrap="none" rtlCol="0">
              <a:spAutoFit/>
            </a:bodyPr>
            <a:lstStyle/>
            <a:p>
              <a:r>
                <a:rPr lang="ja-GB" altLang="en-US" dirty="0"/>
                <a:t>プログラム</a:t>
              </a:r>
              <a:r>
                <a:rPr lang="ja-GB" dirty="0"/>
                <a:t>記憶装置</a:t>
              </a:r>
            </a:p>
          </p:txBody>
        </p:sp>
        <p:sp>
          <p:nvSpPr>
            <p:cNvPr id="17" name="テキスト ボックス 16">
              <a:extLst>
                <a:ext uri="{FF2B5EF4-FFF2-40B4-BE49-F238E27FC236}">
                  <a16:creationId xmlns:a16="http://schemas.microsoft.com/office/drawing/2014/main" id="{0F4E4339-A555-C89A-FFE9-88A94F0376A3}"/>
                </a:ext>
              </a:extLst>
            </p:cNvPr>
            <p:cNvSpPr txBox="1"/>
            <p:nvPr/>
          </p:nvSpPr>
          <p:spPr>
            <a:xfrm>
              <a:off x="3810181" y="3692872"/>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　データ</a:t>
              </a:r>
              <a:r>
                <a:rPr lang="ja-GB" dirty="0"/>
                <a:t>記憶装置</a:t>
              </a:r>
              <a:r>
                <a:rPr lang="ja-GB" altLang="en-US" dirty="0"/>
                <a:t>　</a:t>
              </a:r>
              <a:endParaRPr lang="ja-GB" dirty="0"/>
            </a:p>
          </p:txBody>
        </p:sp>
        <p:cxnSp>
          <p:nvCxnSpPr>
            <p:cNvPr id="18" name="曲線コネクタ 17">
              <a:extLst>
                <a:ext uri="{FF2B5EF4-FFF2-40B4-BE49-F238E27FC236}">
                  <a16:creationId xmlns:a16="http://schemas.microsoft.com/office/drawing/2014/main" id="{7A4C9FCF-6549-D554-3EE5-BAD2010565B3}"/>
                </a:ext>
              </a:extLst>
            </p:cNvPr>
            <p:cNvCxnSpPr>
              <a:cxnSpLocks/>
              <a:stCxn id="8" idx="2"/>
              <a:endCxn id="16" idx="1"/>
            </p:cNvCxnSpPr>
            <p:nvPr/>
          </p:nvCxnSpPr>
          <p:spPr>
            <a:xfrm rot="16200000" flipH="1">
              <a:off x="2160459" y="2897485"/>
              <a:ext cx="1992090"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pic>
          <p:nvPicPr>
            <p:cNvPr id="19" name="グラフィックス 18" descr="モニター 単色塗りつぶし">
              <a:extLst>
                <a:ext uri="{FF2B5EF4-FFF2-40B4-BE49-F238E27FC236}">
                  <a16:creationId xmlns:a16="http://schemas.microsoft.com/office/drawing/2014/main" id="{FCB64FD7-D362-F692-8E60-C7D46293544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98311" y="4810404"/>
              <a:ext cx="914400" cy="914400"/>
            </a:xfrm>
            <a:prstGeom prst="rect">
              <a:avLst/>
            </a:prstGeom>
          </p:spPr>
        </p:pic>
        <p:sp>
          <p:nvSpPr>
            <p:cNvPr id="20" name="テキスト ボックス 19">
              <a:extLst>
                <a:ext uri="{FF2B5EF4-FFF2-40B4-BE49-F238E27FC236}">
                  <a16:creationId xmlns:a16="http://schemas.microsoft.com/office/drawing/2014/main" id="{D323F85C-082E-7D83-81ED-71796405F722}"/>
                </a:ext>
              </a:extLst>
            </p:cNvPr>
            <p:cNvSpPr txBox="1"/>
            <p:nvPr/>
          </p:nvSpPr>
          <p:spPr>
            <a:xfrm>
              <a:off x="7185432" y="4974699"/>
              <a:ext cx="340158" cy="461665"/>
            </a:xfrm>
            <a:prstGeom prst="rect">
              <a:avLst/>
            </a:prstGeom>
            <a:noFill/>
          </p:spPr>
          <p:txBody>
            <a:bodyPr wrap="none" rtlCol="0">
              <a:spAutoFit/>
            </a:bodyPr>
            <a:lstStyle/>
            <a:p>
              <a:r>
                <a:rPr kumimoji="1" lang="en-US" altLang="ja-GB" sz="2400" dirty="0"/>
                <a:t>5</a:t>
              </a:r>
              <a:endParaRPr kumimoji="1" lang="ja-GB" altLang="en-US" sz="2400" dirty="0"/>
            </a:p>
          </p:txBody>
        </p:sp>
        <p:pic>
          <p:nvPicPr>
            <p:cNvPr id="21" name="グラフィックス 20" descr="キーボード 単色塗りつぶし">
              <a:extLst>
                <a:ext uri="{FF2B5EF4-FFF2-40B4-BE49-F238E27FC236}">
                  <a16:creationId xmlns:a16="http://schemas.microsoft.com/office/drawing/2014/main" id="{117341D7-33D9-04D8-129D-8325E520130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58187" y="5012883"/>
              <a:ext cx="914400" cy="914400"/>
            </a:xfrm>
            <a:prstGeom prst="rect">
              <a:avLst/>
            </a:prstGeom>
          </p:spPr>
        </p:pic>
        <p:cxnSp>
          <p:nvCxnSpPr>
            <p:cNvPr id="22" name="直線矢印コネクタ 21">
              <a:extLst>
                <a:ext uri="{FF2B5EF4-FFF2-40B4-BE49-F238E27FC236}">
                  <a16:creationId xmlns:a16="http://schemas.microsoft.com/office/drawing/2014/main" id="{0D0DC75A-10B6-5B61-480F-EDD1C0C65DF1}"/>
                </a:ext>
              </a:extLst>
            </p:cNvPr>
            <p:cNvCxnSpPr>
              <a:cxnSpLocks/>
            </p:cNvCxnSpPr>
            <p:nvPr/>
          </p:nvCxnSpPr>
          <p:spPr>
            <a:xfrm flipH="1" flipV="1">
              <a:off x="2502827" y="4731873"/>
              <a:ext cx="12560" cy="534100"/>
            </a:xfrm>
            <a:prstGeom prst="straightConnector1">
              <a:avLst/>
            </a:prstGeom>
            <a:ln w="508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AF407036-5059-3605-BD39-E014306BD79B}"/>
                </a:ext>
              </a:extLst>
            </p:cNvPr>
            <p:cNvSpPr txBox="1"/>
            <p:nvPr/>
          </p:nvSpPr>
          <p:spPr>
            <a:xfrm>
              <a:off x="2541292" y="4771141"/>
              <a:ext cx="641522" cy="523220"/>
            </a:xfrm>
            <a:prstGeom prst="rect">
              <a:avLst/>
            </a:prstGeom>
            <a:noFill/>
          </p:spPr>
          <p:txBody>
            <a:bodyPr wrap="none" rtlCol="0">
              <a:spAutoFit/>
            </a:bodyPr>
            <a:lstStyle/>
            <a:p>
              <a:r>
                <a:rPr kumimoji="1" lang="en-US" altLang="ja-GB" sz="1400" b="1" dirty="0">
                  <a:solidFill>
                    <a:srgbClr val="002060"/>
                  </a:solidFill>
                </a:rPr>
                <a:t>00010</a:t>
              </a:r>
            </a:p>
            <a:p>
              <a:r>
                <a:rPr kumimoji="1" lang="en-US" altLang="ja-GB" sz="1400" b="1" dirty="0">
                  <a:solidFill>
                    <a:srgbClr val="002060"/>
                  </a:solidFill>
                </a:rPr>
                <a:t>00011</a:t>
              </a:r>
              <a:endParaRPr kumimoji="1" lang="ja-GB" altLang="en-US" sz="1400" b="1" dirty="0">
                <a:solidFill>
                  <a:srgbClr val="002060"/>
                </a:solidFill>
              </a:endParaRPr>
            </a:p>
          </p:txBody>
        </p:sp>
        <p:cxnSp>
          <p:nvCxnSpPr>
            <p:cNvPr id="24" name="直線矢印コネクタ 23">
              <a:extLst>
                <a:ext uri="{FF2B5EF4-FFF2-40B4-BE49-F238E27FC236}">
                  <a16:creationId xmlns:a16="http://schemas.microsoft.com/office/drawing/2014/main" id="{043CD2AB-CC7A-ED8D-A115-F3B843A56962}"/>
                </a:ext>
              </a:extLst>
            </p:cNvPr>
            <p:cNvCxnSpPr>
              <a:cxnSpLocks/>
            </p:cNvCxnSpPr>
            <p:nvPr/>
          </p:nvCxnSpPr>
          <p:spPr>
            <a:xfrm flipV="1">
              <a:off x="3056825" y="3877538"/>
              <a:ext cx="753356" cy="669669"/>
            </a:xfrm>
            <a:prstGeom prst="straightConnector1">
              <a:avLst/>
            </a:prstGeom>
            <a:ln w="508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51B94BF7-1A01-AB0F-5909-92360E994277}"/>
                </a:ext>
              </a:extLst>
            </p:cNvPr>
            <p:cNvCxnSpPr>
              <a:cxnSpLocks/>
            </p:cNvCxnSpPr>
            <p:nvPr/>
          </p:nvCxnSpPr>
          <p:spPr>
            <a:xfrm flipH="1" flipV="1">
              <a:off x="4806619" y="2555117"/>
              <a:ext cx="12091" cy="1137755"/>
            </a:xfrm>
            <a:prstGeom prst="straightConnector1">
              <a:avLst/>
            </a:prstGeom>
            <a:ln w="508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EF1FAA7E-EE69-41DE-416F-CFD0B8E31323}"/>
                </a:ext>
              </a:extLst>
            </p:cNvPr>
            <p:cNvCxnSpPr>
              <a:cxnSpLocks/>
            </p:cNvCxnSpPr>
            <p:nvPr/>
          </p:nvCxnSpPr>
          <p:spPr>
            <a:xfrm>
              <a:off x="4976304" y="2555117"/>
              <a:ext cx="12091" cy="1137755"/>
            </a:xfrm>
            <a:prstGeom prst="straightConnector1">
              <a:avLst/>
            </a:prstGeom>
            <a:ln w="508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8B29BEBB-EB26-33AE-71A5-7426BA03CDE0}"/>
                </a:ext>
              </a:extLst>
            </p:cNvPr>
            <p:cNvCxnSpPr>
              <a:cxnSpLocks/>
            </p:cNvCxnSpPr>
            <p:nvPr/>
          </p:nvCxnSpPr>
          <p:spPr>
            <a:xfrm>
              <a:off x="6072339" y="3877538"/>
              <a:ext cx="729174" cy="669669"/>
            </a:xfrm>
            <a:prstGeom prst="straightConnector1">
              <a:avLst/>
            </a:prstGeom>
            <a:ln w="508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2570A568-5C5C-64CD-FBCE-D9F116C198C1}"/>
                </a:ext>
              </a:extLst>
            </p:cNvPr>
            <p:cNvCxnSpPr>
              <a:cxnSpLocks/>
            </p:cNvCxnSpPr>
            <p:nvPr/>
          </p:nvCxnSpPr>
          <p:spPr>
            <a:xfrm flipH="1" flipV="1">
              <a:off x="2502828" y="2555117"/>
              <a:ext cx="1307353" cy="1992090"/>
            </a:xfrm>
            <a:prstGeom prst="straightConnector1">
              <a:avLst/>
            </a:prstGeom>
            <a:ln w="508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3BCBEECF-6A91-4004-7023-48615ED44B9D}"/>
                </a:ext>
              </a:extLst>
            </p:cNvPr>
            <p:cNvSpPr txBox="1"/>
            <p:nvPr/>
          </p:nvSpPr>
          <p:spPr>
            <a:xfrm>
              <a:off x="267285" y="2961120"/>
              <a:ext cx="1226618" cy="954107"/>
            </a:xfrm>
            <a:prstGeom prst="rect">
              <a:avLst/>
            </a:prstGeom>
            <a:noFill/>
          </p:spPr>
          <p:txBody>
            <a:bodyPr wrap="none" rtlCol="0">
              <a:spAutoFit/>
            </a:bodyPr>
            <a:lstStyle/>
            <a:p>
              <a:pPr algn="ctr"/>
              <a:r>
                <a:rPr kumimoji="1" lang="en-US" altLang="ja-GB" sz="1400" b="1" dirty="0">
                  <a:solidFill>
                    <a:schemeClr val="accent2"/>
                  </a:solidFill>
                </a:rPr>
                <a:t>…100011100</a:t>
              </a:r>
            </a:p>
            <a:p>
              <a:pPr algn="ctr"/>
              <a:r>
                <a:rPr kumimoji="1" lang="en-US" altLang="ja-GB" sz="1400" b="1" dirty="0">
                  <a:solidFill>
                    <a:schemeClr val="accent2"/>
                  </a:solidFill>
                </a:rPr>
                <a:t>11100011110</a:t>
              </a:r>
            </a:p>
            <a:p>
              <a:pPr algn="ctr"/>
              <a:r>
                <a:rPr kumimoji="1" lang="en-US" altLang="ja-GB" sz="1400" b="1" dirty="0">
                  <a:solidFill>
                    <a:schemeClr val="accent2"/>
                  </a:solidFill>
                </a:rPr>
                <a:t>00011110000</a:t>
              </a:r>
            </a:p>
            <a:p>
              <a:pPr algn="ctr"/>
              <a:r>
                <a:rPr kumimoji="1" lang="en-US" altLang="ja-GB" sz="1400" b="1" dirty="0">
                  <a:solidFill>
                    <a:schemeClr val="accent2"/>
                  </a:solidFill>
                </a:rPr>
                <a:t>0000111101…</a:t>
              </a:r>
              <a:endParaRPr kumimoji="1" lang="ja-GB" altLang="en-US" sz="1400" b="1" dirty="0">
                <a:solidFill>
                  <a:schemeClr val="accent2"/>
                </a:solidFill>
              </a:endParaRPr>
            </a:p>
          </p:txBody>
        </p:sp>
        <p:cxnSp>
          <p:nvCxnSpPr>
            <p:cNvPr id="30" name="直線矢印コネクタ 29">
              <a:extLst>
                <a:ext uri="{FF2B5EF4-FFF2-40B4-BE49-F238E27FC236}">
                  <a16:creationId xmlns:a16="http://schemas.microsoft.com/office/drawing/2014/main" id="{50FA51F1-7119-F80E-3955-8C3703FC8E8D}"/>
                </a:ext>
              </a:extLst>
            </p:cNvPr>
            <p:cNvCxnSpPr>
              <a:cxnSpLocks/>
            </p:cNvCxnSpPr>
            <p:nvPr/>
          </p:nvCxnSpPr>
          <p:spPr>
            <a:xfrm>
              <a:off x="7355511" y="4731873"/>
              <a:ext cx="0" cy="242826"/>
            </a:xfrm>
            <a:prstGeom prst="straightConnector1">
              <a:avLst/>
            </a:prstGeom>
            <a:ln w="508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83794828-FF84-CC54-4C00-EF5312F45C96}"/>
                </a:ext>
              </a:extLst>
            </p:cNvPr>
            <p:cNvSpPr txBox="1"/>
            <p:nvPr/>
          </p:nvSpPr>
          <p:spPr>
            <a:xfrm>
              <a:off x="5051946" y="2816217"/>
              <a:ext cx="641522" cy="307777"/>
            </a:xfrm>
            <a:prstGeom prst="rect">
              <a:avLst/>
            </a:prstGeom>
            <a:noFill/>
          </p:spPr>
          <p:txBody>
            <a:bodyPr wrap="none" rtlCol="0">
              <a:spAutoFit/>
            </a:bodyPr>
            <a:lstStyle/>
            <a:p>
              <a:r>
                <a:rPr kumimoji="1" lang="en-US" altLang="ja-GB" sz="1400" b="1" dirty="0">
                  <a:solidFill>
                    <a:srgbClr val="002060"/>
                  </a:solidFill>
                </a:rPr>
                <a:t>00101</a:t>
              </a:r>
              <a:endParaRPr kumimoji="1" lang="ja-GB" altLang="en-US" sz="1400" b="1" dirty="0">
                <a:solidFill>
                  <a:srgbClr val="002060"/>
                </a:solidFill>
              </a:endParaRPr>
            </a:p>
          </p:txBody>
        </p:sp>
        <p:sp>
          <p:nvSpPr>
            <p:cNvPr id="32" name="テキスト ボックス 31">
              <a:extLst>
                <a:ext uri="{FF2B5EF4-FFF2-40B4-BE49-F238E27FC236}">
                  <a16:creationId xmlns:a16="http://schemas.microsoft.com/office/drawing/2014/main" id="{BA996157-FE7C-3981-E733-521595CEDF28}"/>
                </a:ext>
              </a:extLst>
            </p:cNvPr>
            <p:cNvSpPr txBox="1"/>
            <p:nvPr/>
          </p:nvSpPr>
          <p:spPr>
            <a:xfrm>
              <a:off x="3541517" y="1756393"/>
              <a:ext cx="537327" cy="338554"/>
            </a:xfrm>
            <a:prstGeom prst="rect">
              <a:avLst/>
            </a:prstGeom>
            <a:noFill/>
          </p:spPr>
          <p:txBody>
            <a:bodyPr wrap="none" rtlCol="0">
              <a:spAutoFit/>
            </a:bodyPr>
            <a:lstStyle/>
            <a:p>
              <a:pPr algn="ctr"/>
              <a:r>
                <a:rPr kumimoji="1" lang="en-US" altLang="ja-GB" sz="1600" b="1" dirty="0">
                  <a:solidFill>
                    <a:schemeClr val="tx1">
                      <a:lumMod val="50000"/>
                      <a:lumOff val="50000"/>
                    </a:schemeClr>
                  </a:solidFill>
                </a:rPr>
                <a:t>CPU</a:t>
              </a:r>
              <a:endParaRPr kumimoji="1" lang="ja-GB" altLang="en-US" sz="1600" b="1" dirty="0">
                <a:solidFill>
                  <a:schemeClr val="tx1">
                    <a:lumMod val="50000"/>
                    <a:lumOff val="50000"/>
                  </a:schemeClr>
                </a:solidFill>
              </a:endParaRPr>
            </a:p>
          </p:txBody>
        </p:sp>
        <p:sp>
          <p:nvSpPr>
            <p:cNvPr id="33" name="テキスト ボックス 32">
              <a:extLst>
                <a:ext uri="{FF2B5EF4-FFF2-40B4-BE49-F238E27FC236}">
                  <a16:creationId xmlns:a16="http://schemas.microsoft.com/office/drawing/2014/main" id="{589A51AE-5FE6-3786-DD56-F6D6EC7A2D6E}"/>
                </a:ext>
              </a:extLst>
            </p:cNvPr>
            <p:cNvSpPr txBox="1"/>
            <p:nvPr/>
          </p:nvSpPr>
          <p:spPr>
            <a:xfrm>
              <a:off x="264750" y="2567431"/>
              <a:ext cx="1210588" cy="338554"/>
            </a:xfrm>
            <a:prstGeom prst="rect">
              <a:avLst/>
            </a:prstGeom>
            <a:noFill/>
          </p:spPr>
          <p:txBody>
            <a:bodyPr wrap="none" rtlCol="0">
              <a:spAutoFit/>
            </a:bodyPr>
            <a:lstStyle/>
            <a:p>
              <a:pPr algn="ctr"/>
              <a:r>
                <a:rPr kumimoji="1" lang="ja-GB" altLang="en-US" sz="1600" b="1" dirty="0">
                  <a:solidFill>
                    <a:schemeClr val="tx1">
                      <a:lumMod val="50000"/>
                      <a:lumOff val="50000"/>
                    </a:schemeClr>
                  </a:solidFill>
                </a:rPr>
                <a:t>プログラム</a:t>
              </a:r>
            </a:p>
          </p:txBody>
        </p:sp>
      </p:grpSp>
    </p:spTree>
    <p:extLst>
      <p:ext uri="{BB962C8B-B14F-4D97-AF65-F5344CB8AC3E}">
        <p14:creationId xmlns:p14="http://schemas.microsoft.com/office/powerpoint/2010/main" val="280927619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5E5960-03AF-C463-02D0-9C2585C469AD}"/>
              </a:ext>
            </a:extLst>
          </p:cNvPr>
          <p:cNvSpPr>
            <a:spLocks noGrp="1"/>
          </p:cNvSpPr>
          <p:nvPr>
            <p:ph type="title"/>
          </p:nvPr>
        </p:nvSpPr>
        <p:spPr/>
        <p:txBody>
          <a:bodyPr/>
          <a:lstStyle/>
          <a:p>
            <a:r>
              <a:rPr kumimoji="1" lang="en-US" altLang="ja-GB" dirty="0"/>
              <a:t>2</a:t>
            </a:r>
            <a:r>
              <a:rPr lang="ja-GB" altLang="en-US" dirty="0"/>
              <a:t>進数の演算</a:t>
            </a:r>
            <a:endParaRPr kumimoji="1" lang="ja-GB" altLang="en-US" dirty="0"/>
          </a:p>
        </p:txBody>
      </p:sp>
      <p:sp>
        <p:nvSpPr>
          <p:cNvPr id="3" name="コンテンツ プレースホルダー 2">
            <a:extLst>
              <a:ext uri="{FF2B5EF4-FFF2-40B4-BE49-F238E27FC236}">
                <a16:creationId xmlns:a16="http://schemas.microsoft.com/office/drawing/2014/main" id="{B782A2AF-3FD3-DC76-665A-24423910456C}"/>
              </a:ext>
            </a:extLst>
          </p:cNvPr>
          <p:cNvSpPr>
            <a:spLocks noGrp="1"/>
          </p:cNvSpPr>
          <p:nvPr>
            <p:ph idx="1"/>
          </p:nvPr>
        </p:nvSpPr>
        <p:spPr/>
        <p:txBody>
          <a:bodyPr/>
          <a:lstStyle/>
          <a:p>
            <a:pPr marL="0" indent="0">
              <a:buNone/>
            </a:pPr>
            <a:r>
              <a:rPr lang="en-US" altLang="ja-GB" dirty="0"/>
              <a:t>0</a:t>
            </a:r>
            <a:r>
              <a:rPr lang="ja-GB" altLang="en-US" dirty="0"/>
              <a:t>と</a:t>
            </a:r>
            <a:r>
              <a:rPr lang="en-US" altLang="ja-GB" dirty="0"/>
              <a:t>1</a:t>
            </a:r>
            <a:r>
              <a:rPr lang="ja-GB" altLang="en-US" dirty="0"/>
              <a:t>からなる数（真偽値）に対して定義される直感的な操作</a:t>
            </a:r>
            <a:endParaRPr lang="en-US" altLang="ja-GB" dirty="0"/>
          </a:p>
          <a:p>
            <a:pPr lvl="1"/>
            <a:r>
              <a:rPr lang="ja-GB" altLang="en-US" dirty="0"/>
              <a:t>論理演算（集合演算）</a:t>
            </a:r>
            <a:endParaRPr lang="en-US" altLang="ja-GB" dirty="0"/>
          </a:p>
          <a:p>
            <a:pPr lvl="1"/>
            <a:r>
              <a:rPr kumimoji="1" lang="ja-GB" altLang="en-US" dirty="0"/>
              <a:t>ビット反転</a:t>
            </a:r>
            <a:r>
              <a:rPr lang="ja-GB" altLang="en-US" dirty="0"/>
              <a:t>・</a:t>
            </a:r>
            <a:r>
              <a:rPr kumimoji="1" lang="ja-GB" altLang="en-US" dirty="0"/>
              <a:t>シフト演算</a:t>
            </a:r>
            <a:endParaRPr kumimoji="1" lang="en-US" altLang="ja-GB" dirty="0"/>
          </a:p>
          <a:p>
            <a:pPr lvl="1"/>
            <a:endParaRPr kumimoji="1" lang="en-US" altLang="ja-JP" dirty="0"/>
          </a:p>
          <a:p>
            <a:pPr marL="0" indent="0">
              <a:buNone/>
            </a:pPr>
            <a:r>
              <a:rPr kumimoji="1" lang="ja-JP" altLang="en-US">
                <a:solidFill>
                  <a:schemeClr val="tx1">
                    <a:lumMod val="50000"/>
                    <a:lumOff val="50000"/>
                  </a:schemeClr>
                </a:solidFill>
              </a:rPr>
              <a:t>四則演算</a:t>
            </a:r>
          </a:p>
          <a:p>
            <a:pPr lvl="1"/>
            <a:r>
              <a:rPr kumimoji="1" lang="ja-JP" altLang="en-US">
                <a:solidFill>
                  <a:schemeClr val="tx1">
                    <a:lumMod val="50000"/>
                    <a:lumOff val="50000"/>
                  </a:schemeClr>
                </a:solidFill>
              </a:rPr>
              <a:t>加算</a:t>
            </a:r>
          </a:p>
          <a:p>
            <a:pPr lvl="1"/>
            <a:r>
              <a:rPr kumimoji="1" lang="ja-JP" altLang="en-US">
                <a:solidFill>
                  <a:schemeClr val="tx1">
                    <a:lumMod val="50000"/>
                    <a:lumOff val="50000"/>
                  </a:schemeClr>
                </a:solidFill>
              </a:rPr>
              <a:t>減算（ビット反転と加算）</a:t>
            </a:r>
          </a:p>
          <a:p>
            <a:pPr lvl="1"/>
            <a:r>
              <a:rPr kumimoji="1" lang="ja-JP" altLang="en-US">
                <a:solidFill>
                  <a:schemeClr val="tx1">
                    <a:lumMod val="50000"/>
                    <a:lumOff val="50000"/>
                  </a:schemeClr>
                </a:solidFill>
              </a:rPr>
              <a:t>乗算（シフト演算と加算）</a:t>
            </a:r>
          </a:p>
          <a:p>
            <a:pPr lvl="1"/>
            <a:r>
              <a:rPr kumimoji="1" lang="ja-JP" altLang="en-US">
                <a:solidFill>
                  <a:schemeClr val="tx1">
                    <a:lumMod val="50000"/>
                    <a:lumOff val="50000"/>
                  </a:schemeClr>
                </a:solidFill>
              </a:rPr>
              <a:t>除算（シフト演算と減算）</a:t>
            </a:r>
          </a:p>
          <a:p>
            <a:endParaRPr kumimoji="1" lang="en-US" altLang="ja-GB" dirty="0"/>
          </a:p>
          <a:p>
            <a:pPr lvl="1"/>
            <a:endParaRPr lang="en-US" altLang="ja-GB" dirty="0"/>
          </a:p>
        </p:txBody>
      </p:sp>
    </p:spTree>
    <p:extLst>
      <p:ext uri="{BB962C8B-B14F-4D97-AF65-F5344CB8AC3E}">
        <p14:creationId xmlns:p14="http://schemas.microsoft.com/office/powerpoint/2010/main" val="423084513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6B80236D-2A8A-DDF6-1F25-EA6F7B1E43BC}"/>
              </a:ext>
            </a:extLst>
          </p:cNvPr>
          <p:cNvSpPr>
            <a:spLocks noGrp="1"/>
          </p:cNvSpPr>
          <p:nvPr>
            <p:ph idx="1"/>
          </p:nvPr>
        </p:nvSpPr>
        <p:spPr/>
        <p:txBody>
          <a:bodyPr/>
          <a:lstStyle/>
          <a:p>
            <a:pPr marL="0" indent="0">
              <a:buNone/>
            </a:pPr>
            <a:r>
              <a:rPr kumimoji="1" lang="en-US" altLang="ja-GB" dirty="0"/>
              <a:t>AND</a:t>
            </a:r>
            <a:r>
              <a:rPr kumimoji="1" lang="ja-GB" altLang="en-US" dirty="0"/>
              <a:t>（論理積，かつ）</a:t>
            </a:r>
            <a:endParaRPr kumimoji="1" lang="en-US" altLang="ja-GB" dirty="0"/>
          </a:p>
          <a:p>
            <a:pPr marL="457200" lvl="1" indent="0">
              <a:buNone/>
            </a:pPr>
            <a:r>
              <a:rPr lang="ja-GB" altLang="en-US" dirty="0"/>
              <a:t>どちらも真ならば真（どちらかが偽ならば偽）</a:t>
            </a:r>
            <a:endParaRPr lang="en-US" altLang="ja-GB" dirty="0"/>
          </a:p>
          <a:p>
            <a:pPr lvl="2"/>
            <a:endParaRPr kumimoji="1" lang="en-US" altLang="ja-GB" dirty="0"/>
          </a:p>
          <a:p>
            <a:pPr lvl="2"/>
            <a:endParaRPr kumimoji="1" lang="en-US" altLang="ja-GB" dirty="0"/>
          </a:p>
          <a:p>
            <a:pPr marL="0" indent="0">
              <a:buNone/>
            </a:pPr>
            <a:r>
              <a:rPr kumimoji="1" lang="en-US" altLang="ja-GB" dirty="0"/>
              <a:t>OR</a:t>
            </a:r>
            <a:r>
              <a:rPr kumimoji="1" lang="ja-GB" altLang="en-US" dirty="0"/>
              <a:t>（論理和，または）</a:t>
            </a:r>
            <a:endParaRPr kumimoji="1" lang="en-US" altLang="ja-GB" dirty="0"/>
          </a:p>
          <a:p>
            <a:pPr marL="457200" lvl="1" indent="0">
              <a:buNone/>
            </a:pPr>
            <a:r>
              <a:rPr lang="ja-GB" altLang="en-US" dirty="0"/>
              <a:t>どちらかが真であれば真（どちらも偽ならば偽）</a:t>
            </a:r>
            <a:endParaRPr lang="en-US" altLang="ja-GB" dirty="0"/>
          </a:p>
          <a:p>
            <a:pPr lvl="2"/>
            <a:endParaRPr lang="en-US" altLang="ja-GB" dirty="0"/>
          </a:p>
          <a:p>
            <a:pPr lvl="2"/>
            <a:endParaRPr lang="en-US" altLang="ja-GB" dirty="0"/>
          </a:p>
          <a:p>
            <a:pPr marL="0" indent="0">
              <a:buNone/>
            </a:pPr>
            <a:r>
              <a:rPr kumimoji="1" lang="en-US" altLang="ja-GB" dirty="0"/>
              <a:t>XOR</a:t>
            </a:r>
            <a:r>
              <a:rPr kumimoji="1" lang="ja-GB" altLang="en-US" dirty="0"/>
              <a:t>（排他的論理和）</a:t>
            </a:r>
            <a:endParaRPr kumimoji="1" lang="en-US" altLang="ja-GB" dirty="0"/>
          </a:p>
          <a:p>
            <a:pPr marL="457200" lvl="1" indent="0">
              <a:buNone/>
            </a:pPr>
            <a:r>
              <a:rPr lang="en-US" altLang="ja-GB" dirty="0"/>
              <a:t>2</a:t>
            </a:r>
            <a:r>
              <a:rPr lang="ja-GB" altLang="en-US" dirty="0"/>
              <a:t>つの真偽が異なれば真（どちらも真</a:t>
            </a:r>
            <a:r>
              <a:rPr lang="en-US" altLang="ja-GB" dirty="0"/>
              <a:t> or </a:t>
            </a:r>
            <a:r>
              <a:rPr lang="ja-GB" altLang="en-US" dirty="0"/>
              <a:t>どちらも偽なら偽）</a:t>
            </a:r>
            <a:endParaRPr lang="en-US" altLang="ja-GB" dirty="0"/>
          </a:p>
          <a:p>
            <a:pPr marL="914400" lvl="2" indent="0">
              <a:buNone/>
            </a:pPr>
            <a:r>
              <a:rPr kumimoji="1" lang="ja-GB" altLang="en-US" dirty="0">
                <a:solidFill>
                  <a:schemeClr val="tx1">
                    <a:lumMod val="50000"/>
                    <a:lumOff val="50000"/>
                  </a:schemeClr>
                </a:solidFill>
              </a:rPr>
              <a:t>例</a:t>
            </a:r>
            <a:r>
              <a:rPr kumimoji="1" lang="en-US" altLang="ja-GB" dirty="0">
                <a:solidFill>
                  <a:schemeClr val="tx1">
                    <a:lumMod val="50000"/>
                    <a:lumOff val="50000"/>
                  </a:schemeClr>
                </a:solidFill>
              </a:rPr>
              <a:t>: </a:t>
            </a:r>
            <a:r>
              <a:rPr lang="en-US" altLang="ja-GB" dirty="0">
                <a:solidFill>
                  <a:schemeClr val="tx1">
                    <a:lumMod val="50000"/>
                    <a:lumOff val="50000"/>
                  </a:schemeClr>
                </a:solidFill>
              </a:rPr>
              <a:t>2</a:t>
            </a:r>
            <a:r>
              <a:rPr lang="ja-GB" altLang="en-US" dirty="0">
                <a:solidFill>
                  <a:schemeClr val="tx1">
                    <a:lumMod val="50000"/>
                    <a:lumOff val="50000"/>
                  </a:schemeClr>
                </a:solidFill>
              </a:rPr>
              <a:t>つスイッチのある部屋</a:t>
            </a:r>
            <a:endParaRPr kumimoji="1" lang="en-US" altLang="ja-GB" dirty="0">
              <a:solidFill>
                <a:schemeClr val="tx1">
                  <a:lumMod val="50000"/>
                  <a:lumOff val="50000"/>
                </a:schemeClr>
              </a:solidFill>
            </a:endParaRPr>
          </a:p>
          <a:p>
            <a:pPr lvl="2"/>
            <a:endParaRPr kumimoji="1" lang="en-US" altLang="ja-GB" dirty="0"/>
          </a:p>
          <a:p>
            <a:pPr marL="0" indent="0">
              <a:buNone/>
            </a:pPr>
            <a:r>
              <a:rPr lang="en-US" altLang="ja-GB" dirty="0"/>
              <a:t>NOT</a:t>
            </a:r>
            <a:r>
              <a:rPr lang="ja-GB" altLang="en-US" dirty="0"/>
              <a:t>（否定）</a:t>
            </a:r>
            <a:endParaRPr lang="en-US" altLang="ja-GB" dirty="0"/>
          </a:p>
          <a:p>
            <a:pPr marL="457200" lvl="1" indent="0">
              <a:buNone/>
            </a:pPr>
            <a:r>
              <a:rPr lang="ja-GB" altLang="en-US" dirty="0"/>
              <a:t>真は偽に，偽は真に反転させる演算</a:t>
            </a:r>
            <a:endParaRPr lang="en-US" altLang="ja-GB" dirty="0"/>
          </a:p>
          <a:p>
            <a:pPr lvl="1"/>
            <a:endParaRPr kumimoji="1" lang="en-US" altLang="ja-GB" dirty="0"/>
          </a:p>
          <a:p>
            <a:endParaRPr kumimoji="1" lang="ja-GB" altLang="en-US" dirty="0"/>
          </a:p>
        </p:txBody>
      </p:sp>
      <p:sp>
        <p:nvSpPr>
          <p:cNvPr id="25" name="正方形/長方形 24">
            <a:extLst>
              <a:ext uri="{FF2B5EF4-FFF2-40B4-BE49-F238E27FC236}">
                <a16:creationId xmlns:a16="http://schemas.microsoft.com/office/drawing/2014/main" id="{D526CDE9-D624-3A75-2544-80E28142200B}"/>
              </a:ext>
            </a:extLst>
          </p:cNvPr>
          <p:cNvSpPr/>
          <p:nvPr/>
        </p:nvSpPr>
        <p:spPr>
          <a:xfrm>
            <a:off x="3714162" y="1574276"/>
            <a:ext cx="1564848" cy="1027522"/>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 name="タイトル 1">
            <a:extLst>
              <a:ext uri="{FF2B5EF4-FFF2-40B4-BE49-F238E27FC236}">
                <a16:creationId xmlns:a16="http://schemas.microsoft.com/office/drawing/2014/main" id="{86673C92-C882-981E-4D9C-79828AD6CEC8}"/>
              </a:ext>
            </a:extLst>
          </p:cNvPr>
          <p:cNvSpPr>
            <a:spLocks noGrp="1"/>
          </p:cNvSpPr>
          <p:nvPr>
            <p:ph type="title"/>
          </p:nvPr>
        </p:nvSpPr>
        <p:spPr/>
        <p:txBody>
          <a:bodyPr/>
          <a:lstStyle/>
          <a:p>
            <a:r>
              <a:rPr kumimoji="1" lang="ja-GB" altLang="en-US" dirty="0"/>
              <a:t>論理演算（集合演算）</a:t>
            </a:r>
          </a:p>
        </p:txBody>
      </p:sp>
      <p:sp>
        <p:nvSpPr>
          <p:cNvPr id="21" name="フリーフォーム 20">
            <a:extLst>
              <a:ext uri="{FF2B5EF4-FFF2-40B4-BE49-F238E27FC236}">
                <a16:creationId xmlns:a16="http://schemas.microsoft.com/office/drawing/2014/main" id="{FAFF0A37-6516-BB01-CAA1-C5F6F93BA2BE}"/>
              </a:ext>
            </a:extLst>
          </p:cNvPr>
          <p:cNvSpPr>
            <a:spLocks noChangeAspect="1"/>
          </p:cNvSpPr>
          <p:nvPr/>
        </p:nvSpPr>
        <p:spPr>
          <a:xfrm>
            <a:off x="4293912" y="1733039"/>
            <a:ext cx="419493" cy="722618"/>
          </a:xfrm>
          <a:custGeom>
            <a:avLst/>
            <a:gdLst>
              <a:gd name="connsiteX0" fmla="*/ 209747 w 419493"/>
              <a:gd name="connsiteY0" fmla="*/ 0 h 722618"/>
              <a:gd name="connsiteX1" fmla="*/ 234543 w 419493"/>
              <a:gd name="connsiteY1" fmla="*/ 13459 h 722618"/>
              <a:gd name="connsiteX2" fmla="*/ 419493 w 419493"/>
              <a:gd name="connsiteY2" fmla="*/ 361309 h 722618"/>
              <a:gd name="connsiteX3" fmla="*/ 234543 w 419493"/>
              <a:gd name="connsiteY3" fmla="*/ 709159 h 722618"/>
              <a:gd name="connsiteX4" fmla="*/ 209747 w 419493"/>
              <a:gd name="connsiteY4" fmla="*/ 722618 h 722618"/>
              <a:gd name="connsiteX5" fmla="*/ 184950 w 419493"/>
              <a:gd name="connsiteY5" fmla="*/ 709159 h 722618"/>
              <a:gd name="connsiteX6" fmla="*/ 0 w 419493"/>
              <a:gd name="connsiteY6" fmla="*/ 361309 h 722618"/>
              <a:gd name="connsiteX7" fmla="*/ 184950 w 419493"/>
              <a:gd name="connsiteY7" fmla="*/ 13459 h 722618"/>
              <a:gd name="connsiteX8" fmla="*/ 209747 w 419493"/>
              <a:gd name="connsiteY8" fmla="*/ 0 h 72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9493" h="722618">
                <a:moveTo>
                  <a:pt x="209747" y="0"/>
                </a:moveTo>
                <a:lnTo>
                  <a:pt x="234543" y="13459"/>
                </a:lnTo>
                <a:cubicBezTo>
                  <a:pt x="346129" y="88845"/>
                  <a:pt x="419493" y="216509"/>
                  <a:pt x="419493" y="361309"/>
                </a:cubicBezTo>
                <a:cubicBezTo>
                  <a:pt x="419493" y="506109"/>
                  <a:pt x="346129" y="633774"/>
                  <a:pt x="234543" y="709159"/>
                </a:cubicBezTo>
                <a:lnTo>
                  <a:pt x="209747" y="722618"/>
                </a:lnTo>
                <a:lnTo>
                  <a:pt x="184950" y="709159"/>
                </a:lnTo>
                <a:cubicBezTo>
                  <a:pt x="73365" y="633774"/>
                  <a:pt x="0" y="506109"/>
                  <a:pt x="0" y="361309"/>
                </a:cubicBezTo>
                <a:cubicBezTo>
                  <a:pt x="0" y="216509"/>
                  <a:pt x="73365" y="88845"/>
                  <a:pt x="184950" y="13459"/>
                </a:cubicBezTo>
                <a:lnTo>
                  <a:pt x="209747" y="0"/>
                </a:lnTo>
                <a:close/>
              </a:path>
            </a:pathLst>
          </a:custGeom>
          <a:solidFill>
            <a:srgbClr val="0070C0"/>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GB" altLang="en-US"/>
          </a:p>
        </p:txBody>
      </p:sp>
      <p:sp>
        <p:nvSpPr>
          <p:cNvPr id="20" name="フリーフォーム 19">
            <a:extLst>
              <a:ext uri="{FF2B5EF4-FFF2-40B4-BE49-F238E27FC236}">
                <a16:creationId xmlns:a16="http://schemas.microsoft.com/office/drawing/2014/main" id="{2A0D4631-3925-0562-371D-9BEA89DBAE45}"/>
              </a:ext>
            </a:extLst>
          </p:cNvPr>
          <p:cNvSpPr>
            <a:spLocks noChangeAspect="1"/>
          </p:cNvSpPr>
          <p:nvPr/>
        </p:nvSpPr>
        <p:spPr>
          <a:xfrm>
            <a:off x="3874418" y="1674855"/>
            <a:ext cx="629240" cy="838986"/>
          </a:xfrm>
          <a:custGeom>
            <a:avLst/>
            <a:gdLst>
              <a:gd name="connsiteX0" fmla="*/ 419493 w 629240"/>
              <a:gd name="connsiteY0" fmla="*/ 0 h 838986"/>
              <a:gd name="connsiteX1" fmla="*/ 582779 w 629240"/>
              <a:gd name="connsiteY1" fmla="*/ 32966 h 838986"/>
              <a:gd name="connsiteX2" fmla="*/ 629240 w 629240"/>
              <a:gd name="connsiteY2" fmla="*/ 58184 h 838986"/>
              <a:gd name="connsiteX3" fmla="*/ 604443 w 629240"/>
              <a:gd name="connsiteY3" fmla="*/ 71643 h 838986"/>
              <a:gd name="connsiteX4" fmla="*/ 419493 w 629240"/>
              <a:gd name="connsiteY4" fmla="*/ 419493 h 838986"/>
              <a:gd name="connsiteX5" fmla="*/ 604443 w 629240"/>
              <a:gd name="connsiteY5" fmla="*/ 767343 h 838986"/>
              <a:gd name="connsiteX6" fmla="*/ 629240 w 629240"/>
              <a:gd name="connsiteY6" fmla="*/ 780802 h 838986"/>
              <a:gd name="connsiteX7" fmla="*/ 582779 w 629240"/>
              <a:gd name="connsiteY7" fmla="*/ 806020 h 838986"/>
              <a:gd name="connsiteX8" fmla="*/ 419493 w 629240"/>
              <a:gd name="connsiteY8" fmla="*/ 838986 h 838986"/>
              <a:gd name="connsiteX9" fmla="*/ 0 w 629240"/>
              <a:gd name="connsiteY9" fmla="*/ 419493 h 838986"/>
              <a:gd name="connsiteX10" fmla="*/ 419493 w 629240"/>
              <a:gd name="connsiteY10" fmla="*/ 0 h 8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240" h="838986">
                <a:moveTo>
                  <a:pt x="419493" y="0"/>
                </a:moveTo>
                <a:cubicBezTo>
                  <a:pt x="477413" y="0"/>
                  <a:pt x="532591" y="11738"/>
                  <a:pt x="582779" y="32966"/>
                </a:cubicBezTo>
                <a:lnTo>
                  <a:pt x="629240" y="58184"/>
                </a:lnTo>
                <a:lnTo>
                  <a:pt x="604443" y="71643"/>
                </a:lnTo>
                <a:cubicBezTo>
                  <a:pt x="492858" y="147029"/>
                  <a:pt x="419493" y="274693"/>
                  <a:pt x="419493" y="419493"/>
                </a:cubicBezTo>
                <a:cubicBezTo>
                  <a:pt x="419493" y="564293"/>
                  <a:pt x="492858" y="691958"/>
                  <a:pt x="604443" y="767343"/>
                </a:cubicBezTo>
                <a:lnTo>
                  <a:pt x="629240" y="780802"/>
                </a:lnTo>
                <a:lnTo>
                  <a:pt x="582779" y="806020"/>
                </a:lnTo>
                <a:cubicBezTo>
                  <a:pt x="532591" y="827248"/>
                  <a:pt x="477413" y="838986"/>
                  <a:pt x="419493" y="838986"/>
                </a:cubicBezTo>
                <a:cubicBezTo>
                  <a:pt x="187813" y="838986"/>
                  <a:pt x="0" y="651173"/>
                  <a:pt x="0" y="419493"/>
                </a:cubicBezTo>
                <a:cubicBezTo>
                  <a:pt x="0" y="187813"/>
                  <a:pt x="187813" y="0"/>
                  <a:pt x="419493" y="0"/>
                </a:cubicBezTo>
                <a:close/>
              </a:path>
            </a:pathLst>
          </a:cu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kumimoji="1" lang="en-US" altLang="ja-GB" dirty="0">
                <a:solidFill>
                  <a:srgbClr val="2F2523"/>
                </a:solidFill>
              </a:rPr>
              <a:t>A</a:t>
            </a:r>
            <a:endParaRPr kumimoji="1" lang="ja-GB" altLang="en-US" dirty="0">
              <a:solidFill>
                <a:srgbClr val="2F2523"/>
              </a:solidFill>
            </a:endParaRPr>
          </a:p>
        </p:txBody>
      </p:sp>
      <p:sp>
        <p:nvSpPr>
          <p:cNvPr id="19" name="フリーフォーム 18">
            <a:extLst>
              <a:ext uri="{FF2B5EF4-FFF2-40B4-BE49-F238E27FC236}">
                <a16:creationId xmlns:a16="http://schemas.microsoft.com/office/drawing/2014/main" id="{0D316798-3518-AFAF-C65C-A02E01E9260C}"/>
              </a:ext>
            </a:extLst>
          </p:cNvPr>
          <p:cNvSpPr>
            <a:spLocks noChangeAspect="1"/>
          </p:cNvSpPr>
          <p:nvPr/>
        </p:nvSpPr>
        <p:spPr>
          <a:xfrm>
            <a:off x="4503659" y="1674855"/>
            <a:ext cx="629239" cy="838986"/>
          </a:xfrm>
          <a:custGeom>
            <a:avLst/>
            <a:gdLst>
              <a:gd name="connsiteX0" fmla="*/ 209746 w 629239"/>
              <a:gd name="connsiteY0" fmla="*/ 0 h 838986"/>
              <a:gd name="connsiteX1" fmla="*/ 629239 w 629239"/>
              <a:gd name="connsiteY1" fmla="*/ 419493 h 838986"/>
              <a:gd name="connsiteX2" fmla="*/ 209746 w 629239"/>
              <a:gd name="connsiteY2" fmla="*/ 838986 h 838986"/>
              <a:gd name="connsiteX3" fmla="*/ 46460 w 629239"/>
              <a:gd name="connsiteY3" fmla="*/ 806020 h 838986"/>
              <a:gd name="connsiteX4" fmla="*/ 0 w 629239"/>
              <a:gd name="connsiteY4" fmla="*/ 780802 h 838986"/>
              <a:gd name="connsiteX5" fmla="*/ 24796 w 629239"/>
              <a:gd name="connsiteY5" fmla="*/ 767343 h 838986"/>
              <a:gd name="connsiteX6" fmla="*/ 209746 w 629239"/>
              <a:gd name="connsiteY6" fmla="*/ 419493 h 838986"/>
              <a:gd name="connsiteX7" fmla="*/ 24796 w 629239"/>
              <a:gd name="connsiteY7" fmla="*/ 71643 h 838986"/>
              <a:gd name="connsiteX8" fmla="*/ 0 w 629239"/>
              <a:gd name="connsiteY8" fmla="*/ 58184 h 838986"/>
              <a:gd name="connsiteX9" fmla="*/ 46460 w 629239"/>
              <a:gd name="connsiteY9" fmla="*/ 32966 h 838986"/>
              <a:gd name="connsiteX10" fmla="*/ 209746 w 629239"/>
              <a:gd name="connsiteY10" fmla="*/ 0 h 8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239" h="838986">
                <a:moveTo>
                  <a:pt x="209746" y="0"/>
                </a:moveTo>
                <a:cubicBezTo>
                  <a:pt x="441426" y="0"/>
                  <a:pt x="629239" y="187813"/>
                  <a:pt x="629239" y="419493"/>
                </a:cubicBezTo>
                <a:cubicBezTo>
                  <a:pt x="629239" y="651173"/>
                  <a:pt x="441426" y="838986"/>
                  <a:pt x="209746" y="838986"/>
                </a:cubicBezTo>
                <a:cubicBezTo>
                  <a:pt x="151826" y="838986"/>
                  <a:pt x="96648" y="827248"/>
                  <a:pt x="46460" y="806020"/>
                </a:cubicBezTo>
                <a:lnTo>
                  <a:pt x="0" y="780802"/>
                </a:lnTo>
                <a:lnTo>
                  <a:pt x="24796" y="767343"/>
                </a:lnTo>
                <a:cubicBezTo>
                  <a:pt x="136382" y="691958"/>
                  <a:pt x="209746" y="564293"/>
                  <a:pt x="209746" y="419493"/>
                </a:cubicBezTo>
                <a:cubicBezTo>
                  <a:pt x="209746" y="274693"/>
                  <a:pt x="136382" y="147029"/>
                  <a:pt x="24796" y="71643"/>
                </a:cubicBezTo>
                <a:lnTo>
                  <a:pt x="0" y="58184"/>
                </a:lnTo>
                <a:lnTo>
                  <a:pt x="46460" y="32966"/>
                </a:lnTo>
                <a:cubicBezTo>
                  <a:pt x="96648" y="11738"/>
                  <a:pt x="151826" y="0"/>
                  <a:pt x="209746" y="0"/>
                </a:cubicBezTo>
                <a:close/>
              </a:path>
            </a:pathLst>
          </a:cu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kumimoji="1" lang="en-US" altLang="ja-GB" dirty="0">
                <a:solidFill>
                  <a:srgbClr val="2F2523"/>
                </a:solidFill>
              </a:rPr>
              <a:t>B</a:t>
            </a:r>
            <a:endParaRPr kumimoji="1" lang="ja-GB" altLang="en-US" dirty="0">
              <a:solidFill>
                <a:srgbClr val="2F2523"/>
              </a:solidFill>
            </a:endParaRPr>
          </a:p>
        </p:txBody>
      </p:sp>
      <p:sp>
        <p:nvSpPr>
          <p:cNvPr id="26" name="正方形/長方形 25">
            <a:extLst>
              <a:ext uri="{FF2B5EF4-FFF2-40B4-BE49-F238E27FC236}">
                <a16:creationId xmlns:a16="http://schemas.microsoft.com/office/drawing/2014/main" id="{BFA6F4FC-A075-2F72-9F7B-61FFCE8776FC}"/>
              </a:ext>
            </a:extLst>
          </p:cNvPr>
          <p:cNvSpPr/>
          <p:nvPr/>
        </p:nvSpPr>
        <p:spPr>
          <a:xfrm>
            <a:off x="3714162" y="3008719"/>
            <a:ext cx="1564848" cy="1027522"/>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7" name="フリーフォーム 26">
            <a:extLst>
              <a:ext uri="{FF2B5EF4-FFF2-40B4-BE49-F238E27FC236}">
                <a16:creationId xmlns:a16="http://schemas.microsoft.com/office/drawing/2014/main" id="{9C7C47DD-82D0-FE3B-A7DC-12A002BE24D2}"/>
              </a:ext>
            </a:extLst>
          </p:cNvPr>
          <p:cNvSpPr>
            <a:spLocks noChangeAspect="1"/>
          </p:cNvSpPr>
          <p:nvPr/>
        </p:nvSpPr>
        <p:spPr>
          <a:xfrm>
            <a:off x="4293912" y="3167482"/>
            <a:ext cx="419493" cy="722618"/>
          </a:xfrm>
          <a:custGeom>
            <a:avLst/>
            <a:gdLst>
              <a:gd name="connsiteX0" fmla="*/ 209747 w 419493"/>
              <a:gd name="connsiteY0" fmla="*/ 0 h 722618"/>
              <a:gd name="connsiteX1" fmla="*/ 234543 w 419493"/>
              <a:gd name="connsiteY1" fmla="*/ 13459 h 722618"/>
              <a:gd name="connsiteX2" fmla="*/ 419493 w 419493"/>
              <a:gd name="connsiteY2" fmla="*/ 361309 h 722618"/>
              <a:gd name="connsiteX3" fmla="*/ 234543 w 419493"/>
              <a:gd name="connsiteY3" fmla="*/ 709159 h 722618"/>
              <a:gd name="connsiteX4" fmla="*/ 209747 w 419493"/>
              <a:gd name="connsiteY4" fmla="*/ 722618 h 722618"/>
              <a:gd name="connsiteX5" fmla="*/ 184950 w 419493"/>
              <a:gd name="connsiteY5" fmla="*/ 709159 h 722618"/>
              <a:gd name="connsiteX6" fmla="*/ 0 w 419493"/>
              <a:gd name="connsiteY6" fmla="*/ 361309 h 722618"/>
              <a:gd name="connsiteX7" fmla="*/ 184950 w 419493"/>
              <a:gd name="connsiteY7" fmla="*/ 13459 h 722618"/>
              <a:gd name="connsiteX8" fmla="*/ 209747 w 419493"/>
              <a:gd name="connsiteY8" fmla="*/ 0 h 72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9493" h="722618">
                <a:moveTo>
                  <a:pt x="209747" y="0"/>
                </a:moveTo>
                <a:lnTo>
                  <a:pt x="234543" y="13459"/>
                </a:lnTo>
                <a:cubicBezTo>
                  <a:pt x="346129" y="88845"/>
                  <a:pt x="419493" y="216509"/>
                  <a:pt x="419493" y="361309"/>
                </a:cubicBezTo>
                <a:cubicBezTo>
                  <a:pt x="419493" y="506109"/>
                  <a:pt x="346129" y="633774"/>
                  <a:pt x="234543" y="709159"/>
                </a:cubicBezTo>
                <a:lnTo>
                  <a:pt x="209747" y="722618"/>
                </a:lnTo>
                <a:lnTo>
                  <a:pt x="184950" y="709159"/>
                </a:lnTo>
                <a:cubicBezTo>
                  <a:pt x="73365" y="633774"/>
                  <a:pt x="0" y="506109"/>
                  <a:pt x="0" y="361309"/>
                </a:cubicBezTo>
                <a:cubicBezTo>
                  <a:pt x="0" y="216509"/>
                  <a:pt x="73365" y="88845"/>
                  <a:pt x="184950" y="13459"/>
                </a:cubicBezTo>
                <a:lnTo>
                  <a:pt x="209747" y="0"/>
                </a:lnTo>
                <a:close/>
              </a:path>
            </a:pathLst>
          </a:custGeom>
          <a:solidFill>
            <a:srgbClr val="0070C0"/>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GB" altLang="en-US"/>
          </a:p>
        </p:txBody>
      </p:sp>
      <p:sp>
        <p:nvSpPr>
          <p:cNvPr id="28" name="フリーフォーム 27">
            <a:extLst>
              <a:ext uri="{FF2B5EF4-FFF2-40B4-BE49-F238E27FC236}">
                <a16:creationId xmlns:a16="http://schemas.microsoft.com/office/drawing/2014/main" id="{999F9ED1-B8ED-EB78-AF61-7E6B49BDDD0B}"/>
              </a:ext>
            </a:extLst>
          </p:cNvPr>
          <p:cNvSpPr>
            <a:spLocks noChangeAspect="1"/>
          </p:cNvSpPr>
          <p:nvPr/>
        </p:nvSpPr>
        <p:spPr>
          <a:xfrm>
            <a:off x="3874418" y="3109298"/>
            <a:ext cx="629240" cy="838986"/>
          </a:xfrm>
          <a:custGeom>
            <a:avLst/>
            <a:gdLst>
              <a:gd name="connsiteX0" fmla="*/ 419493 w 629240"/>
              <a:gd name="connsiteY0" fmla="*/ 0 h 838986"/>
              <a:gd name="connsiteX1" fmla="*/ 582779 w 629240"/>
              <a:gd name="connsiteY1" fmla="*/ 32966 h 838986"/>
              <a:gd name="connsiteX2" fmla="*/ 629240 w 629240"/>
              <a:gd name="connsiteY2" fmla="*/ 58184 h 838986"/>
              <a:gd name="connsiteX3" fmla="*/ 604443 w 629240"/>
              <a:gd name="connsiteY3" fmla="*/ 71643 h 838986"/>
              <a:gd name="connsiteX4" fmla="*/ 419493 w 629240"/>
              <a:gd name="connsiteY4" fmla="*/ 419493 h 838986"/>
              <a:gd name="connsiteX5" fmla="*/ 604443 w 629240"/>
              <a:gd name="connsiteY5" fmla="*/ 767343 h 838986"/>
              <a:gd name="connsiteX6" fmla="*/ 629240 w 629240"/>
              <a:gd name="connsiteY6" fmla="*/ 780802 h 838986"/>
              <a:gd name="connsiteX7" fmla="*/ 582779 w 629240"/>
              <a:gd name="connsiteY7" fmla="*/ 806020 h 838986"/>
              <a:gd name="connsiteX8" fmla="*/ 419493 w 629240"/>
              <a:gd name="connsiteY8" fmla="*/ 838986 h 838986"/>
              <a:gd name="connsiteX9" fmla="*/ 0 w 629240"/>
              <a:gd name="connsiteY9" fmla="*/ 419493 h 838986"/>
              <a:gd name="connsiteX10" fmla="*/ 419493 w 629240"/>
              <a:gd name="connsiteY10" fmla="*/ 0 h 8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240" h="838986">
                <a:moveTo>
                  <a:pt x="419493" y="0"/>
                </a:moveTo>
                <a:cubicBezTo>
                  <a:pt x="477413" y="0"/>
                  <a:pt x="532591" y="11738"/>
                  <a:pt x="582779" y="32966"/>
                </a:cubicBezTo>
                <a:lnTo>
                  <a:pt x="629240" y="58184"/>
                </a:lnTo>
                <a:lnTo>
                  <a:pt x="604443" y="71643"/>
                </a:lnTo>
                <a:cubicBezTo>
                  <a:pt x="492858" y="147029"/>
                  <a:pt x="419493" y="274693"/>
                  <a:pt x="419493" y="419493"/>
                </a:cubicBezTo>
                <a:cubicBezTo>
                  <a:pt x="419493" y="564293"/>
                  <a:pt x="492858" y="691958"/>
                  <a:pt x="604443" y="767343"/>
                </a:cubicBezTo>
                <a:lnTo>
                  <a:pt x="629240" y="780802"/>
                </a:lnTo>
                <a:lnTo>
                  <a:pt x="582779" y="806020"/>
                </a:lnTo>
                <a:cubicBezTo>
                  <a:pt x="532591" y="827248"/>
                  <a:pt x="477413" y="838986"/>
                  <a:pt x="419493" y="838986"/>
                </a:cubicBezTo>
                <a:cubicBezTo>
                  <a:pt x="187813" y="838986"/>
                  <a:pt x="0" y="651173"/>
                  <a:pt x="0" y="419493"/>
                </a:cubicBezTo>
                <a:cubicBezTo>
                  <a:pt x="0" y="187813"/>
                  <a:pt x="187813" y="0"/>
                  <a:pt x="419493" y="0"/>
                </a:cubicBezTo>
                <a:close/>
              </a:path>
            </a:pathLst>
          </a:cu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kumimoji="1" lang="en-US" altLang="ja-GB" dirty="0"/>
              <a:t>A</a:t>
            </a:r>
            <a:endParaRPr kumimoji="1" lang="ja-GB" altLang="en-US" dirty="0"/>
          </a:p>
        </p:txBody>
      </p:sp>
      <p:sp>
        <p:nvSpPr>
          <p:cNvPr id="29" name="フリーフォーム 28">
            <a:extLst>
              <a:ext uri="{FF2B5EF4-FFF2-40B4-BE49-F238E27FC236}">
                <a16:creationId xmlns:a16="http://schemas.microsoft.com/office/drawing/2014/main" id="{9F77605E-E9C1-4E02-B14D-07F2F22F716C}"/>
              </a:ext>
            </a:extLst>
          </p:cNvPr>
          <p:cNvSpPr>
            <a:spLocks noChangeAspect="1"/>
          </p:cNvSpPr>
          <p:nvPr/>
        </p:nvSpPr>
        <p:spPr>
          <a:xfrm>
            <a:off x="4503659" y="3109298"/>
            <a:ext cx="629239" cy="838986"/>
          </a:xfrm>
          <a:custGeom>
            <a:avLst/>
            <a:gdLst>
              <a:gd name="connsiteX0" fmla="*/ 209746 w 629239"/>
              <a:gd name="connsiteY0" fmla="*/ 0 h 838986"/>
              <a:gd name="connsiteX1" fmla="*/ 629239 w 629239"/>
              <a:gd name="connsiteY1" fmla="*/ 419493 h 838986"/>
              <a:gd name="connsiteX2" fmla="*/ 209746 w 629239"/>
              <a:gd name="connsiteY2" fmla="*/ 838986 h 838986"/>
              <a:gd name="connsiteX3" fmla="*/ 46460 w 629239"/>
              <a:gd name="connsiteY3" fmla="*/ 806020 h 838986"/>
              <a:gd name="connsiteX4" fmla="*/ 0 w 629239"/>
              <a:gd name="connsiteY4" fmla="*/ 780802 h 838986"/>
              <a:gd name="connsiteX5" fmla="*/ 24796 w 629239"/>
              <a:gd name="connsiteY5" fmla="*/ 767343 h 838986"/>
              <a:gd name="connsiteX6" fmla="*/ 209746 w 629239"/>
              <a:gd name="connsiteY6" fmla="*/ 419493 h 838986"/>
              <a:gd name="connsiteX7" fmla="*/ 24796 w 629239"/>
              <a:gd name="connsiteY7" fmla="*/ 71643 h 838986"/>
              <a:gd name="connsiteX8" fmla="*/ 0 w 629239"/>
              <a:gd name="connsiteY8" fmla="*/ 58184 h 838986"/>
              <a:gd name="connsiteX9" fmla="*/ 46460 w 629239"/>
              <a:gd name="connsiteY9" fmla="*/ 32966 h 838986"/>
              <a:gd name="connsiteX10" fmla="*/ 209746 w 629239"/>
              <a:gd name="connsiteY10" fmla="*/ 0 h 8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239" h="838986">
                <a:moveTo>
                  <a:pt x="209746" y="0"/>
                </a:moveTo>
                <a:cubicBezTo>
                  <a:pt x="441426" y="0"/>
                  <a:pt x="629239" y="187813"/>
                  <a:pt x="629239" y="419493"/>
                </a:cubicBezTo>
                <a:cubicBezTo>
                  <a:pt x="629239" y="651173"/>
                  <a:pt x="441426" y="838986"/>
                  <a:pt x="209746" y="838986"/>
                </a:cubicBezTo>
                <a:cubicBezTo>
                  <a:pt x="151826" y="838986"/>
                  <a:pt x="96648" y="827248"/>
                  <a:pt x="46460" y="806020"/>
                </a:cubicBezTo>
                <a:lnTo>
                  <a:pt x="0" y="780802"/>
                </a:lnTo>
                <a:lnTo>
                  <a:pt x="24796" y="767343"/>
                </a:lnTo>
                <a:cubicBezTo>
                  <a:pt x="136382" y="691958"/>
                  <a:pt x="209746" y="564293"/>
                  <a:pt x="209746" y="419493"/>
                </a:cubicBezTo>
                <a:cubicBezTo>
                  <a:pt x="209746" y="274693"/>
                  <a:pt x="136382" y="147029"/>
                  <a:pt x="24796" y="71643"/>
                </a:cubicBezTo>
                <a:lnTo>
                  <a:pt x="0" y="58184"/>
                </a:lnTo>
                <a:lnTo>
                  <a:pt x="46460" y="32966"/>
                </a:lnTo>
                <a:cubicBezTo>
                  <a:pt x="96648" y="11738"/>
                  <a:pt x="151826" y="0"/>
                  <a:pt x="209746" y="0"/>
                </a:cubicBezTo>
                <a:close/>
              </a:path>
            </a:pathLst>
          </a:cu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kumimoji="1" lang="en-US" altLang="ja-GB" dirty="0"/>
              <a:t>B</a:t>
            </a:r>
            <a:endParaRPr kumimoji="1" lang="ja-GB" altLang="en-US" dirty="0"/>
          </a:p>
        </p:txBody>
      </p:sp>
      <p:sp>
        <p:nvSpPr>
          <p:cNvPr id="30" name="正方形/長方形 29">
            <a:extLst>
              <a:ext uri="{FF2B5EF4-FFF2-40B4-BE49-F238E27FC236}">
                <a16:creationId xmlns:a16="http://schemas.microsoft.com/office/drawing/2014/main" id="{0B1BF2C1-40C3-49D0-6C2E-1E8DB2A16E75}"/>
              </a:ext>
            </a:extLst>
          </p:cNvPr>
          <p:cNvSpPr/>
          <p:nvPr/>
        </p:nvSpPr>
        <p:spPr>
          <a:xfrm>
            <a:off x="3714162" y="4443164"/>
            <a:ext cx="1564848" cy="1027522"/>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1" name="フリーフォーム 30">
            <a:extLst>
              <a:ext uri="{FF2B5EF4-FFF2-40B4-BE49-F238E27FC236}">
                <a16:creationId xmlns:a16="http://schemas.microsoft.com/office/drawing/2014/main" id="{3F0696F2-5A5B-E1C4-42FA-6BAE8D23C07C}"/>
              </a:ext>
            </a:extLst>
          </p:cNvPr>
          <p:cNvSpPr>
            <a:spLocks noChangeAspect="1"/>
          </p:cNvSpPr>
          <p:nvPr/>
        </p:nvSpPr>
        <p:spPr>
          <a:xfrm>
            <a:off x="4293912" y="4601927"/>
            <a:ext cx="419493" cy="722618"/>
          </a:xfrm>
          <a:custGeom>
            <a:avLst/>
            <a:gdLst>
              <a:gd name="connsiteX0" fmla="*/ 209747 w 419493"/>
              <a:gd name="connsiteY0" fmla="*/ 0 h 722618"/>
              <a:gd name="connsiteX1" fmla="*/ 234543 w 419493"/>
              <a:gd name="connsiteY1" fmla="*/ 13459 h 722618"/>
              <a:gd name="connsiteX2" fmla="*/ 419493 w 419493"/>
              <a:gd name="connsiteY2" fmla="*/ 361309 h 722618"/>
              <a:gd name="connsiteX3" fmla="*/ 234543 w 419493"/>
              <a:gd name="connsiteY3" fmla="*/ 709159 h 722618"/>
              <a:gd name="connsiteX4" fmla="*/ 209747 w 419493"/>
              <a:gd name="connsiteY4" fmla="*/ 722618 h 722618"/>
              <a:gd name="connsiteX5" fmla="*/ 184950 w 419493"/>
              <a:gd name="connsiteY5" fmla="*/ 709159 h 722618"/>
              <a:gd name="connsiteX6" fmla="*/ 0 w 419493"/>
              <a:gd name="connsiteY6" fmla="*/ 361309 h 722618"/>
              <a:gd name="connsiteX7" fmla="*/ 184950 w 419493"/>
              <a:gd name="connsiteY7" fmla="*/ 13459 h 722618"/>
              <a:gd name="connsiteX8" fmla="*/ 209747 w 419493"/>
              <a:gd name="connsiteY8" fmla="*/ 0 h 72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9493" h="722618">
                <a:moveTo>
                  <a:pt x="209747" y="0"/>
                </a:moveTo>
                <a:lnTo>
                  <a:pt x="234543" y="13459"/>
                </a:lnTo>
                <a:cubicBezTo>
                  <a:pt x="346129" y="88845"/>
                  <a:pt x="419493" y="216509"/>
                  <a:pt x="419493" y="361309"/>
                </a:cubicBezTo>
                <a:cubicBezTo>
                  <a:pt x="419493" y="506109"/>
                  <a:pt x="346129" y="633774"/>
                  <a:pt x="234543" y="709159"/>
                </a:cubicBezTo>
                <a:lnTo>
                  <a:pt x="209747" y="722618"/>
                </a:lnTo>
                <a:lnTo>
                  <a:pt x="184950" y="709159"/>
                </a:lnTo>
                <a:cubicBezTo>
                  <a:pt x="73365" y="633774"/>
                  <a:pt x="0" y="506109"/>
                  <a:pt x="0" y="361309"/>
                </a:cubicBezTo>
                <a:cubicBezTo>
                  <a:pt x="0" y="216509"/>
                  <a:pt x="73365" y="88845"/>
                  <a:pt x="184950" y="13459"/>
                </a:cubicBezTo>
                <a:lnTo>
                  <a:pt x="209747" y="0"/>
                </a:lnTo>
                <a:close/>
              </a:path>
            </a:pathLst>
          </a:cu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GB" altLang="en-US"/>
          </a:p>
        </p:txBody>
      </p:sp>
      <p:sp>
        <p:nvSpPr>
          <p:cNvPr id="32" name="フリーフォーム 31">
            <a:extLst>
              <a:ext uri="{FF2B5EF4-FFF2-40B4-BE49-F238E27FC236}">
                <a16:creationId xmlns:a16="http://schemas.microsoft.com/office/drawing/2014/main" id="{54BB0B53-33D0-14EC-A9EF-7FC4AC39C058}"/>
              </a:ext>
            </a:extLst>
          </p:cNvPr>
          <p:cNvSpPr>
            <a:spLocks noChangeAspect="1"/>
          </p:cNvSpPr>
          <p:nvPr/>
        </p:nvSpPr>
        <p:spPr>
          <a:xfrm>
            <a:off x="3874418" y="4543743"/>
            <a:ext cx="629240" cy="838986"/>
          </a:xfrm>
          <a:custGeom>
            <a:avLst/>
            <a:gdLst>
              <a:gd name="connsiteX0" fmla="*/ 419493 w 629240"/>
              <a:gd name="connsiteY0" fmla="*/ 0 h 838986"/>
              <a:gd name="connsiteX1" fmla="*/ 582779 w 629240"/>
              <a:gd name="connsiteY1" fmla="*/ 32966 h 838986"/>
              <a:gd name="connsiteX2" fmla="*/ 629240 w 629240"/>
              <a:gd name="connsiteY2" fmla="*/ 58184 h 838986"/>
              <a:gd name="connsiteX3" fmla="*/ 604443 w 629240"/>
              <a:gd name="connsiteY3" fmla="*/ 71643 h 838986"/>
              <a:gd name="connsiteX4" fmla="*/ 419493 w 629240"/>
              <a:gd name="connsiteY4" fmla="*/ 419493 h 838986"/>
              <a:gd name="connsiteX5" fmla="*/ 604443 w 629240"/>
              <a:gd name="connsiteY5" fmla="*/ 767343 h 838986"/>
              <a:gd name="connsiteX6" fmla="*/ 629240 w 629240"/>
              <a:gd name="connsiteY6" fmla="*/ 780802 h 838986"/>
              <a:gd name="connsiteX7" fmla="*/ 582779 w 629240"/>
              <a:gd name="connsiteY7" fmla="*/ 806020 h 838986"/>
              <a:gd name="connsiteX8" fmla="*/ 419493 w 629240"/>
              <a:gd name="connsiteY8" fmla="*/ 838986 h 838986"/>
              <a:gd name="connsiteX9" fmla="*/ 0 w 629240"/>
              <a:gd name="connsiteY9" fmla="*/ 419493 h 838986"/>
              <a:gd name="connsiteX10" fmla="*/ 419493 w 629240"/>
              <a:gd name="connsiteY10" fmla="*/ 0 h 8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240" h="838986">
                <a:moveTo>
                  <a:pt x="419493" y="0"/>
                </a:moveTo>
                <a:cubicBezTo>
                  <a:pt x="477413" y="0"/>
                  <a:pt x="532591" y="11738"/>
                  <a:pt x="582779" y="32966"/>
                </a:cubicBezTo>
                <a:lnTo>
                  <a:pt x="629240" y="58184"/>
                </a:lnTo>
                <a:lnTo>
                  <a:pt x="604443" y="71643"/>
                </a:lnTo>
                <a:cubicBezTo>
                  <a:pt x="492858" y="147029"/>
                  <a:pt x="419493" y="274693"/>
                  <a:pt x="419493" y="419493"/>
                </a:cubicBezTo>
                <a:cubicBezTo>
                  <a:pt x="419493" y="564293"/>
                  <a:pt x="492858" y="691958"/>
                  <a:pt x="604443" y="767343"/>
                </a:cubicBezTo>
                <a:lnTo>
                  <a:pt x="629240" y="780802"/>
                </a:lnTo>
                <a:lnTo>
                  <a:pt x="582779" y="806020"/>
                </a:lnTo>
                <a:cubicBezTo>
                  <a:pt x="532591" y="827248"/>
                  <a:pt x="477413" y="838986"/>
                  <a:pt x="419493" y="838986"/>
                </a:cubicBezTo>
                <a:cubicBezTo>
                  <a:pt x="187813" y="838986"/>
                  <a:pt x="0" y="651173"/>
                  <a:pt x="0" y="419493"/>
                </a:cubicBezTo>
                <a:cubicBezTo>
                  <a:pt x="0" y="187813"/>
                  <a:pt x="187813" y="0"/>
                  <a:pt x="419493" y="0"/>
                </a:cubicBezTo>
                <a:close/>
              </a:path>
            </a:pathLst>
          </a:custGeom>
          <a:solidFill>
            <a:srgbClr val="0070C0"/>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kumimoji="1" lang="en-US" altLang="ja-GB" dirty="0"/>
              <a:t>A</a:t>
            </a:r>
            <a:endParaRPr kumimoji="1" lang="ja-GB" altLang="en-US" dirty="0"/>
          </a:p>
        </p:txBody>
      </p:sp>
      <p:sp>
        <p:nvSpPr>
          <p:cNvPr id="33" name="フリーフォーム 32">
            <a:extLst>
              <a:ext uri="{FF2B5EF4-FFF2-40B4-BE49-F238E27FC236}">
                <a16:creationId xmlns:a16="http://schemas.microsoft.com/office/drawing/2014/main" id="{41E8433E-E7C8-C40B-D3C7-E84345A5FA32}"/>
              </a:ext>
            </a:extLst>
          </p:cNvPr>
          <p:cNvSpPr>
            <a:spLocks noChangeAspect="1"/>
          </p:cNvSpPr>
          <p:nvPr/>
        </p:nvSpPr>
        <p:spPr>
          <a:xfrm>
            <a:off x="4503659" y="4543743"/>
            <a:ext cx="629239" cy="838986"/>
          </a:xfrm>
          <a:custGeom>
            <a:avLst/>
            <a:gdLst>
              <a:gd name="connsiteX0" fmla="*/ 209746 w 629239"/>
              <a:gd name="connsiteY0" fmla="*/ 0 h 838986"/>
              <a:gd name="connsiteX1" fmla="*/ 629239 w 629239"/>
              <a:gd name="connsiteY1" fmla="*/ 419493 h 838986"/>
              <a:gd name="connsiteX2" fmla="*/ 209746 w 629239"/>
              <a:gd name="connsiteY2" fmla="*/ 838986 h 838986"/>
              <a:gd name="connsiteX3" fmla="*/ 46460 w 629239"/>
              <a:gd name="connsiteY3" fmla="*/ 806020 h 838986"/>
              <a:gd name="connsiteX4" fmla="*/ 0 w 629239"/>
              <a:gd name="connsiteY4" fmla="*/ 780802 h 838986"/>
              <a:gd name="connsiteX5" fmla="*/ 24796 w 629239"/>
              <a:gd name="connsiteY5" fmla="*/ 767343 h 838986"/>
              <a:gd name="connsiteX6" fmla="*/ 209746 w 629239"/>
              <a:gd name="connsiteY6" fmla="*/ 419493 h 838986"/>
              <a:gd name="connsiteX7" fmla="*/ 24796 w 629239"/>
              <a:gd name="connsiteY7" fmla="*/ 71643 h 838986"/>
              <a:gd name="connsiteX8" fmla="*/ 0 w 629239"/>
              <a:gd name="connsiteY8" fmla="*/ 58184 h 838986"/>
              <a:gd name="connsiteX9" fmla="*/ 46460 w 629239"/>
              <a:gd name="connsiteY9" fmla="*/ 32966 h 838986"/>
              <a:gd name="connsiteX10" fmla="*/ 209746 w 629239"/>
              <a:gd name="connsiteY10" fmla="*/ 0 h 8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239" h="838986">
                <a:moveTo>
                  <a:pt x="209746" y="0"/>
                </a:moveTo>
                <a:cubicBezTo>
                  <a:pt x="441426" y="0"/>
                  <a:pt x="629239" y="187813"/>
                  <a:pt x="629239" y="419493"/>
                </a:cubicBezTo>
                <a:cubicBezTo>
                  <a:pt x="629239" y="651173"/>
                  <a:pt x="441426" y="838986"/>
                  <a:pt x="209746" y="838986"/>
                </a:cubicBezTo>
                <a:cubicBezTo>
                  <a:pt x="151826" y="838986"/>
                  <a:pt x="96648" y="827248"/>
                  <a:pt x="46460" y="806020"/>
                </a:cubicBezTo>
                <a:lnTo>
                  <a:pt x="0" y="780802"/>
                </a:lnTo>
                <a:lnTo>
                  <a:pt x="24796" y="767343"/>
                </a:lnTo>
                <a:cubicBezTo>
                  <a:pt x="136382" y="691958"/>
                  <a:pt x="209746" y="564293"/>
                  <a:pt x="209746" y="419493"/>
                </a:cubicBezTo>
                <a:cubicBezTo>
                  <a:pt x="209746" y="274693"/>
                  <a:pt x="136382" y="147029"/>
                  <a:pt x="24796" y="71643"/>
                </a:cubicBezTo>
                <a:lnTo>
                  <a:pt x="0" y="58184"/>
                </a:lnTo>
                <a:lnTo>
                  <a:pt x="46460" y="32966"/>
                </a:lnTo>
                <a:cubicBezTo>
                  <a:pt x="96648" y="11738"/>
                  <a:pt x="151826" y="0"/>
                  <a:pt x="209746" y="0"/>
                </a:cubicBezTo>
                <a:close/>
              </a:path>
            </a:pathLst>
          </a:custGeom>
          <a:solidFill>
            <a:srgbClr val="0070C0"/>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kumimoji="1" lang="en-US" altLang="ja-GB" dirty="0"/>
              <a:t>B</a:t>
            </a:r>
            <a:endParaRPr kumimoji="1" lang="ja-GB" altLang="en-US" dirty="0"/>
          </a:p>
        </p:txBody>
      </p:sp>
      <p:sp>
        <p:nvSpPr>
          <p:cNvPr id="38" name="正方形/長方形 37">
            <a:extLst>
              <a:ext uri="{FF2B5EF4-FFF2-40B4-BE49-F238E27FC236}">
                <a16:creationId xmlns:a16="http://schemas.microsoft.com/office/drawing/2014/main" id="{9116C408-578E-CC05-0666-A383C6BCC62A}"/>
              </a:ext>
            </a:extLst>
          </p:cNvPr>
          <p:cNvSpPr/>
          <p:nvPr/>
        </p:nvSpPr>
        <p:spPr>
          <a:xfrm>
            <a:off x="4010819" y="5905890"/>
            <a:ext cx="932072" cy="837086"/>
          </a:xfrm>
          <a:prstGeom prst="rect">
            <a:avLst/>
          </a:prstGeom>
          <a:solidFill>
            <a:srgbClr val="0070C0"/>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9" name="円/楕円 38">
            <a:extLst>
              <a:ext uri="{FF2B5EF4-FFF2-40B4-BE49-F238E27FC236}">
                <a16:creationId xmlns:a16="http://schemas.microsoft.com/office/drawing/2014/main" id="{B265850F-0D12-B1E5-249D-EC43E3EA5930}"/>
              </a:ext>
            </a:extLst>
          </p:cNvPr>
          <p:cNvSpPr>
            <a:spLocks noChangeAspect="1"/>
          </p:cNvSpPr>
          <p:nvPr/>
        </p:nvSpPr>
        <p:spPr>
          <a:xfrm>
            <a:off x="4169908" y="6017486"/>
            <a:ext cx="613894" cy="613894"/>
          </a:xfrm>
          <a:prstGeom prst="ellipse">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A</a:t>
            </a:r>
            <a:endParaRPr kumimoji="1" lang="ja-GB" altLang="en-US" dirty="0">
              <a:solidFill>
                <a:srgbClr val="2F2523"/>
              </a:solidFill>
            </a:endParaRPr>
          </a:p>
        </p:txBody>
      </p:sp>
      <p:graphicFrame>
        <p:nvGraphicFramePr>
          <p:cNvPr id="47" name="表 46">
            <a:extLst>
              <a:ext uri="{FF2B5EF4-FFF2-40B4-BE49-F238E27FC236}">
                <a16:creationId xmlns:a16="http://schemas.microsoft.com/office/drawing/2014/main" id="{549F330D-0EEF-0A26-83AC-0EA49C28BE4C}"/>
              </a:ext>
            </a:extLst>
          </p:cNvPr>
          <p:cNvGraphicFramePr>
            <a:graphicFrameLocks noGrp="1"/>
          </p:cNvGraphicFramePr>
          <p:nvPr/>
        </p:nvGraphicFramePr>
        <p:xfrm>
          <a:off x="6437369" y="1047239"/>
          <a:ext cx="2241477" cy="1371600"/>
        </p:xfrm>
        <a:graphic>
          <a:graphicData uri="http://schemas.openxmlformats.org/drawingml/2006/table">
            <a:tbl>
              <a:tblPr firstRow="1" bandRow="1">
                <a:tableStyleId>{5C22544A-7EE6-4342-B048-85BDC9FD1C3A}</a:tableStyleId>
              </a:tblPr>
              <a:tblGrid>
                <a:gridCol w="747159">
                  <a:extLst>
                    <a:ext uri="{9D8B030D-6E8A-4147-A177-3AD203B41FA5}">
                      <a16:colId xmlns:a16="http://schemas.microsoft.com/office/drawing/2014/main" val="3858253604"/>
                    </a:ext>
                  </a:extLst>
                </a:gridCol>
                <a:gridCol w="747159">
                  <a:extLst>
                    <a:ext uri="{9D8B030D-6E8A-4147-A177-3AD203B41FA5}">
                      <a16:colId xmlns:a16="http://schemas.microsoft.com/office/drawing/2014/main" val="1587743710"/>
                    </a:ext>
                  </a:extLst>
                </a:gridCol>
                <a:gridCol w="747159">
                  <a:extLst>
                    <a:ext uri="{9D8B030D-6E8A-4147-A177-3AD203B41FA5}">
                      <a16:colId xmlns:a16="http://schemas.microsoft.com/office/drawing/2014/main" val="1053722571"/>
                    </a:ext>
                  </a:extLst>
                </a:gridCol>
              </a:tblGrid>
              <a:tr h="245128">
                <a:tc>
                  <a:txBody>
                    <a:bodyPr/>
                    <a:lstStyle/>
                    <a:p>
                      <a:pPr algn="ctr"/>
                      <a:r>
                        <a:rPr lang="en-US" altLang="ja-GB" sz="1200" dirty="0">
                          <a:ln>
                            <a:noFill/>
                          </a:ln>
                        </a:rPr>
                        <a:t>A</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noFill/>
                          </a:ln>
                        </a:rPr>
                        <a:t>B</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noFill/>
                          </a:ln>
                        </a:rPr>
                        <a:t>A and B</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6227256"/>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2749801"/>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7349891"/>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5343672"/>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8365678"/>
                  </a:ext>
                </a:extLst>
              </a:tr>
            </a:tbl>
          </a:graphicData>
        </a:graphic>
      </p:graphicFrame>
      <p:graphicFrame>
        <p:nvGraphicFramePr>
          <p:cNvPr id="48" name="表 47">
            <a:extLst>
              <a:ext uri="{FF2B5EF4-FFF2-40B4-BE49-F238E27FC236}">
                <a16:creationId xmlns:a16="http://schemas.microsoft.com/office/drawing/2014/main" id="{FFA7D9A7-7406-1D15-19B6-5D9888307058}"/>
              </a:ext>
            </a:extLst>
          </p:cNvPr>
          <p:cNvGraphicFramePr>
            <a:graphicFrameLocks noGrp="1"/>
          </p:cNvGraphicFramePr>
          <p:nvPr/>
        </p:nvGraphicFramePr>
        <p:xfrm>
          <a:off x="6437369" y="2672498"/>
          <a:ext cx="2241477" cy="1371600"/>
        </p:xfrm>
        <a:graphic>
          <a:graphicData uri="http://schemas.openxmlformats.org/drawingml/2006/table">
            <a:tbl>
              <a:tblPr firstRow="1" bandRow="1">
                <a:tableStyleId>{5C22544A-7EE6-4342-B048-85BDC9FD1C3A}</a:tableStyleId>
              </a:tblPr>
              <a:tblGrid>
                <a:gridCol w="747159">
                  <a:extLst>
                    <a:ext uri="{9D8B030D-6E8A-4147-A177-3AD203B41FA5}">
                      <a16:colId xmlns:a16="http://schemas.microsoft.com/office/drawing/2014/main" val="3858253604"/>
                    </a:ext>
                  </a:extLst>
                </a:gridCol>
                <a:gridCol w="747159">
                  <a:extLst>
                    <a:ext uri="{9D8B030D-6E8A-4147-A177-3AD203B41FA5}">
                      <a16:colId xmlns:a16="http://schemas.microsoft.com/office/drawing/2014/main" val="1587743710"/>
                    </a:ext>
                  </a:extLst>
                </a:gridCol>
                <a:gridCol w="747159">
                  <a:extLst>
                    <a:ext uri="{9D8B030D-6E8A-4147-A177-3AD203B41FA5}">
                      <a16:colId xmlns:a16="http://schemas.microsoft.com/office/drawing/2014/main" val="1053722571"/>
                    </a:ext>
                  </a:extLst>
                </a:gridCol>
              </a:tblGrid>
              <a:tr h="245128">
                <a:tc>
                  <a:txBody>
                    <a:bodyPr/>
                    <a:lstStyle/>
                    <a:p>
                      <a:pPr algn="ctr"/>
                      <a:r>
                        <a:rPr lang="en-US" altLang="ja-GB" sz="1200" dirty="0">
                          <a:ln>
                            <a:noFill/>
                          </a:ln>
                        </a:rPr>
                        <a:t>A</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noFill/>
                          </a:ln>
                        </a:rPr>
                        <a:t>B</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noFill/>
                          </a:ln>
                        </a:rPr>
                        <a:t>A or B</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6227256"/>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2749801"/>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7349891"/>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5343672"/>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8365678"/>
                  </a:ext>
                </a:extLst>
              </a:tr>
            </a:tbl>
          </a:graphicData>
        </a:graphic>
      </p:graphicFrame>
      <p:graphicFrame>
        <p:nvGraphicFramePr>
          <p:cNvPr id="49" name="表 48">
            <a:extLst>
              <a:ext uri="{FF2B5EF4-FFF2-40B4-BE49-F238E27FC236}">
                <a16:creationId xmlns:a16="http://schemas.microsoft.com/office/drawing/2014/main" id="{B5D03518-AF43-42FB-46AC-3731C6741812}"/>
              </a:ext>
            </a:extLst>
          </p:cNvPr>
          <p:cNvGraphicFramePr>
            <a:graphicFrameLocks noGrp="1"/>
          </p:cNvGraphicFramePr>
          <p:nvPr/>
        </p:nvGraphicFramePr>
        <p:xfrm>
          <a:off x="6437368" y="4439161"/>
          <a:ext cx="2241477" cy="1371600"/>
        </p:xfrm>
        <a:graphic>
          <a:graphicData uri="http://schemas.openxmlformats.org/drawingml/2006/table">
            <a:tbl>
              <a:tblPr firstRow="1" bandRow="1">
                <a:tableStyleId>{5C22544A-7EE6-4342-B048-85BDC9FD1C3A}</a:tableStyleId>
              </a:tblPr>
              <a:tblGrid>
                <a:gridCol w="747159">
                  <a:extLst>
                    <a:ext uri="{9D8B030D-6E8A-4147-A177-3AD203B41FA5}">
                      <a16:colId xmlns:a16="http://schemas.microsoft.com/office/drawing/2014/main" val="3858253604"/>
                    </a:ext>
                  </a:extLst>
                </a:gridCol>
                <a:gridCol w="747159">
                  <a:extLst>
                    <a:ext uri="{9D8B030D-6E8A-4147-A177-3AD203B41FA5}">
                      <a16:colId xmlns:a16="http://schemas.microsoft.com/office/drawing/2014/main" val="1587743710"/>
                    </a:ext>
                  </a:extLst>
                </a:gridCol>
                <a:gridCol w="747159">
                  <a:extLst>
                    <a:ext uri="{9D8B030D-6E8A-4147-A177-3AD203B41FA5}">
                      <a16:colId xmlns:a16="http://schemas.microsoft.com/office/drawing/2014/main" val="1053722571"/>
                    </a:ext>
                  </a:extLst>
                </a:gridCol>
              </a:tblGrid>
              <a:tr h="245128">
                <a:tc>
                  <a:txBody>
                    <a:bodyPr/>
                    <a:lstStyle/>
                    <a:p>
                      <a:pPr algn="ctr"/>
                      <a:r>
                        <a:rPr lang="en-US" altLang="ja-GB" sz="1200" dirty="0">
                          <a:ln>
                            <a:noFill/>
                          </a:ln>
                        </a:rPr>
                        <a:t>A</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noFill/>
                          </a:ln>
                        </a:rPr>
                        <a:t>B</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noFill/>
                          </a:ln>
                        </a:rPr>
                        <a:t>A </a:t>
                      </a:r>
                      <a:r>
                        <a:rPr lang="en-US" altLang="ja-GB" sz="1200" dirty="0" err="1">
                          <a:ln>
                            <a:noFill/>
                          </a:ln>
                        </a:rPr>
                        <a:t>xor</a:t>
                      </a:r>
                      <a:r>
                        <a:rPr lang="en-US" altLang="ja-GB" sz="1200" dirty="0">
                          <a:ln>
                            <a:noFill/>
                          </a:ln>
                        </a:rPr>
                        <a:t> B</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6227256"/>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2749801"/>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7349891"/>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5343672"/>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8365678"/>
                  </a:ext>
                </a:extLst>
              </a:tr>
            </a:tbl>
          </a:graphicData>
        </a:graphic>
      </p:graphicFrame>
      <p:graphicFrame>
        <p:nvGraphicFramePr>
          <p:cNvPr id="50" name="表 49">
            <a:extLst>
              <a:ext uri="{FF2B5EF4-FFF2-40B4-BE49-F238E27FC236}">
                <a16:creationId xmlns:a16="http://schemas.microsoft.com/office/drawing/2014/main" id="{16BA62B8-7909-78ED-9738-F473D02BDAB4}"/>
              </a:ext>
            </a:extLst>
          </p:cNvPr>
          <p:cNvGraphicFramePr>
            <a:graphicFrameLocks noGrp="1"/>
          </p:cNvGraphicFramePr>
          <p:nvPr/>
        </p:nvGraphicFramePr>
        <p:xfrm>
          <a:off x="6810947" y="5960908"/>
          <a:ext cx="1494318" cy="822960"/>
        </p:xfrm>
        <a:graphic>
          <a:graphicData uri="http://schemas.openxmlformats.org/drawingml/2006/table">
            <a:tbl>
              <a:tblPr firstRow="1" bandRow="1">
                <a:tableStyleId>{5C22544A-7EE6-4342-B048-85BDC9FD1C3A}</a:tableStyleId>
              </a:tblPr>
              <a:tblGrid>
                <a:gridCol w="747159">
                  <a:extLst>
                    <a:ext uri="{9D8B030D-6E8A-4147-A177-3AD203B41FA5}">
                      <a16:colId xmlns:a16="http://schemas.microsoft.com/office/drawing/2014/main" val="3858253604"/>
                    </a:ext>
                  </a:extLst>
                </a:gridCol>
                <a:gridCol w="747159">
                  <a:extLst>
                    <a:ext uri="{9D8B030D-6E8A-4147-A177-3AD203B41FA5}">
                      <a16:colId xmlns:a16="http://schemas.microsoft.com/office/drawing/2014/main" val="1053722571"/>
                    </a:ext>
                  </a:extLst>
                </a:gridCol>
              </a:tblGrid>
              <a:tr h="245128">
                <a:tc>
                  <a:txBody>
                    <a:bodyPr/>
                    <a:lstStyle/>
                    <a:p>
                      <a:pPr algn="ctr"/>
                      <a:r>
                        <a:rPr lang="en-US" altLang="ja-GB" sz="1200" dirty="0">
                          <a:ln>
                            <a:noFill/>
                          </a:ln>
                        </a:rPr>
                        <a:t>A</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noFill/>
                          </a:ln>
                        </a:rPr>
                        <a:t>Not A</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6227256"/>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2749801"/>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7349891"/>
                  </a:ext>
                </a:extLst>
              </a:tr>
            </a:tbl>
          </a:graphicData>
        </a:graphic>
      </p:graphicFrame>
      <p:pic>
        <p:nvPicPr>
          <p:cNvPr id="4" name="図 3">
            <a:extLst>
              <a:ext uri="{FF2B5EF4-FFF2-40B4-BE49-F238E27FC236}">
                <a16:creationId xmlns:a16="http://schemas.microsoft.com/office/drawing/2014/main" id="{BEE91657-1C92-A4A0-E6AF-5D341835085F}"/>
              </a:ext>
            </a:extLst>
          </p:cNvPr>
          <p:cNvPicPr>
            <a:picLocks noChangeAspect="1"/>
          </p:cNvPicPr>
          <p:nvPr/>
        </p:nvPicPr>
        <p:blipFill>
          <a:blip r:embed="rId2"/>
          <a:stretch>
            <a:fillRect/>
          </a:stretch>
        </p:blipFill>
        <p:spPr>
          <a:xfrm>
            <a:off x="380530" y="6003235"/>
            <a:ext cx="1939727" cy="797645"/>
          </a:xfrm>
          <a:prstGeom prst="rect">
            <a:avLst/>
          </a:prstGeom>
        </p:spPr>
      </p:pic>
    </p:spTree>
    <p:extLst>
      <p:ext uri="{BB962C8B-B14F-4D97-AF65-F5344CB8AC3E}">
        <p14:creationId xmlns:p14="http://schemas.microsoft.com/office/powerpoint/2010/main" val="266948306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0C42F7-FBDB-EBEE-567C-0B10BAAD742D}"/>
              </a:ext>
            </a:extLst>
          </p:cNvPr>
          <p:cNvSpPr>
            <a:spLocks noGrp="1"/>
          </p:cNvSpPr>
          <p:nvPr>
            <p:ph type="title"/>
          </p:nvPr>
        </p:nvSpPr>
        <p:spPr/>
        <p:txBody>
          <a:bodyPr/>
          <a:lstStyle/>
          <a:p>
            <a:r>
              <a:rPr kumimoji="1" lang="ja-GB" altLang="en-US" dirty="0"/>
              <a:t>その他の論理演算</a:t>
            </a:r>
          </a:p>
        </p:txBody>
      </p:sp>
      <p:sp>
        <p:nvSpPr>
          <p:cNvPr id="3" name="コンテンツ プレースホルダー 2">
            <a:extLst>
              <a:ext uri="{FF2B5EF4-FFF2-40B4-BE49-F238E27FC236}">
                <a16:creationId xmlns:a16="http://schemas.microsoft.com/office/drawing/2014/main" id="{E77BDE49-442D-65A8-FB2D-B74E3803DA4F}"/>
              </a:ext>
            </a:extLst>
          </p:cNvPr>
          <p:cNvSpPr>
            <a:spLocks noGrp="1"/>
          </p:cNvSpPr>
          <p:nvPr>
            <p:ph idx="1"/>
          </p:nvPr>
        </p:nvSpPr>
        <p:spPr/>
        <p:txBody>
          <a:bodyPr/>
          <a:lstStyle/>
          <a:p>
            <a:pPr marL="0" indent="0">
              <a:buNone/>
            </a:pPr>
            <a:r>
              <a:rPr lang="en-US" altLang="ja-GB" dirty="0"/>
              <a:t>NAND</a:t>
            </a:r>
            <a:r>
              <a:rPr lang="ja-GB" altLang="en-US" dirty="0"/>
              <a:t>（否定論理積）</a:t>
            </a:r>
            <a:endParaRPr lang="en-US" altLang="ja-GB" dirty="0"/>
          </a:p>
          <a:p>
            <a:pPr marL="457200" lvl="1" indent="0">
              <a:buNone/>
            </a:pPr>
            <a:r>
              <a:rPr lang="en-US" altLang="ja-GB" dirty="0"/>
              <a:t>AND</a:t>
            </a:r>
            <a:r>
              <a:rPr lang="ja-GB" altLang="en-US" dirty="0"/>
              <a:t>演算の否定</a:t>
            </a:r>
            <a:r>
              <a:rPr lang="en-US" altLang="ja-GB" dirty="0"/>
              <a:t>→NOT</a:t>
            </a:r>
            <a:r>
              <a:rPr lang="ja-GB" altLang="en-US" dirty="0"/>
              <a:t>（</a:t>
            </a:r>
            <a:r>
              <a:rPr lang="en-US" altLang="ja-GB" dirty="0"/>
              <a:t>AND</a:t>
            </a:r>
            <a:r>
              <a:rPr lang="ja-GB" altLang="en-US" dirty="0"/>
              <a:t>（</a:t>
            </a:r>
            <a:r>
              <a:rPr lang="en-US" altLang="ja-GB" dirty="0"/>
              <a:t>A, B</a:t>
            </a:r>
            <a:r>
              <a:rPr lang="ja-GB" altLang="en-US" dirty="0"/>
              <a:t>））</a:t>
            </a:r>
            <a:endParaRPr lang="en-US" altLang="ja-GB" dirty="0"/>
          </a:p>
          <a:p>
            <a:pPr lvl="1"/>
            <a:endParaRPr lang="en-US" altLang="ja-GB" dirty="0"/>
          </a:p>
          <a:p>
            <a:pPr lvl="1"/>
            <a:endParaRPr lang="en-US" altLang="ja-GB" dirty="0"/>
          </a:p>
          <a:p>
            <a:pPr lvl="1"/>
            <a:endParaRPr lang="en-US" altLang="ja-GB" dirty="0"/>
          </a:p>
          <a:p>
            <a:pPr lvl="1"/>
            <a:endParaRPr lang="en-US" altLang="ja-GB" dirty="0"/>
          </a:p>
          <a:p>
            <a:pPr marL="457200" lvl="1" indent="0">
              <a:buNone/>
            </a:pPr>
            <a:endParaRPr lang="en-US" altLang="ja-GB" dirty="0"/>
          </a:p>
          <a:p>
            <a:pPr marL="0" indent="0">
              <a:buNone/>
            </a:pPr>
            <a:r>
              <a:rPr lang="en-US" altLang="ja-GB" dirty="0"/>
              <a:t>NOR</a:t>
            </a:r>
            <a:r>
              <a:rPr lang="ja-GB" altLang="en-US" dirty="0"/>
              <a:t>（否定論理和）</a:t>
            </a:r>
            <a:endParaRPr lang="en-US" altLang="ja-GB" dirty="0"/>
          </a:p>
          <a:p>
            <a:pPr marL="457200" lvl="1" indent="0">
              <a:buNone/>
            </a:pPr>
            <a:r>
              <a:rPr kumimoji="1" lang="en-US" altLang="ja-GB" dirty="0"/>
              <a:t>OR</a:t>
            </a:r>
            <a:r>
              <a:rPr kumimoji="1" lang="ja-GB" altLang="en-US" dirty="0"/>
              <a:t>演算の否定</a:t>
            </a:r>
            <a:r>
              <a:rPr kumimoji="1" lang="en-US" altLang="ja-GB" dirty="0"/>
              <a:t>→NOT</a:t>
            </a:r>
            <a:r>
              <a:rPr kumimoji="1" lang="ja-GB" altLang="en-US" dirty="0"/>
              <a:t>（</a:t>
            </a:r>
            <a:r>
              <a:rPr kumimoji="1" lang="en-US" altLang="ja-GB" dirty="0"/>
              <a:t>OR</a:t>
            </a:r>
            <a:r>
              <a:rPr kumimoji="1" lang="ja-GB" altLang="en-US" dirty="0"/>
              <a:t>（</a:t>
            </a:r>
            <a:r>
              <a:rPr kumimoji="1" lang="en-US" altLang="ja-GB" dirty="0"/>
              <a:t>A, B</a:t>
            </a:r>
            <a:r>
              <a:rPr kumimoji="1" lang="ja-GB" altLang="en-US" dirty="0"/>
              <a:t>））</a:t>
            </a:r>
          </a:p>
        </p:txBody>
      </p:sp>
      <p:grpSp>
        <p:nvGrpSpPr>
          <p:cNvPr id="15" name="グループ化 14">
            <a:extLst>
              <a:ext uri="{FF2B5EF4-FFF2-40B4-BE49-F238E27FC236}">
                <a16:creationId xmlns:a16="http://schemas.microsoft.com/office/drawing/2014/main" id="{2FD9C6C8-1D03-9935-4A4C-3D247178AABA}"/>
              </a:ext>
            </a:extLst>
          </p:cNvPr>
          <p:cNvGrpSpPr/>
          <p:nvPr/>
        </p:nvGrpSpPr>
        <p:grpSpPr>
          <a:xfrm>
            <a:off x="777716" y="1983808"/>
            <a:ext cx="1564848" cy="1027522"/>
            <a:chOff x="3714162" y="1644976"/>
            <a:chExt cx="1564848" cy="1027522"/>
          </a:xfrm>
        </p:grpSpPr>
        <p:sp>
          <p:nvSpPr>
            <p:cNvPr id="4" name="正方形/長方形 3">
              <a:extLst>
                <a:ext uri="{FF2B5EF4-FFF2-40B4-BE49-F238E27FC236}">
                  <a16:creationId xmlns:a16="http://schemas.microsoft.com/office/drawing/2014/main" id="{85486DAF-3BF6-4D9A-9A33-068FA2460D43}"/>
                </a:ext>
              </a:extLst>
            </p:cNvPr>
            <p:cNvSpPr/>
            <p:nvPr/>
          </p:nvSpPr>
          <p:spPr>
            <a:xfrm>
              <a:off x="3714162" y="1644976"/>
              <a:ext cx="1564848" cy="1027522"/>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 name="フリーフォーム 4">
              <a:extLst>
                <a:ext uri="{FF2B5EF4-FFF2-40B4-BE49-F238E27FC236}">
                  <a16:creationId xmlns:a16="http://schemas.microsoft.com/office/drawing/2014/main" id="{F5758C55-B6A1-A811-0F94-6B547551294C}"/>
                </a:ext>
              </a:extLst>
            </p:cNvPr>
            <p:cNvSpPr>
              <a:spLocks noChangeAspect="1"/>
            </p:cNvSpPr>
            <p:nvPr/>
          </p:nvSpPr>
          <p:spPr>
            <a:xfrm>
              <a:off x="4293912" y="1803739"/>
              <a:ext cx="419493" cy="722618"/>
            </a:xfrm>
            <a:custGeom>
              <a:avLst/>
              <a:gdLst>
                <a:gd name="connsiteX0" fmla="*/ 209747 w 419493"/>
                <a:gd name="connsiteY0" fmla="*/ 0 h 722618"/>
                <a:gd name="connsiteX1" fmla="*/ 234543 w 419493"/>
                <a:gd name="connsiteY1" fmla="*/ 13459 h 722618"/>
                <a:gd name="connsiteX2" fmla="*/ 419493 w 419493"/>
                <a:gd name="connsiteY2" fmla="*/ 361309 h 722618"/>
                <a:gd name="connsiteX3" fmla="*/ 234543 w 419493"/>
                <a:gd name="connsiteY3" fmla="*/ 709159 h 722618"/>
                <a:gd name="connsiteX4" fmla="*/ 209747 w 419493"/>
                <a:gd name="connsiteY4" fmla="*/ 722618 h 722618"/>
                <a:gd name="connsiteX5" fmla="*/ 184950 w 419493"/>
                <a:gd name="connsiteY5" fmla="*/ 709159 h 722618"/>
                <a:gd name="connsiteX6" fmla="*/ 0 w 419493"/>
                <a:gd name="connsiteY6" fmla="*/ 361309 h 722618"/>
                <a:gd name="connsiteX7" fmla="*/ 184950 w 419493"/>
                <a:gd name="connsiteY7" fmla="*/ 13459 h 722618"/>
                <a:gd name="connsiteX8" fmla="*/ 209747 w 419493"/>
                <a:gd name="connsiteY8" fmla="*/ 0 h 72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9493" h="722618">
                  <a:moveTo>
                    <a:pt x="209747" y="0"/>
                  </a:moveTo>
                  <a:lnTo>
                    <a:pt x="234543" y="13459"/>
                  </a:lnTo>
                  <a:cubicBezTo>
                    <a:pt x="346129" y="88845"/>
                    <a:pt x="419493" y="216509"/>
                    <a:pt x="419493" y="361309"/>
                  </a:cubicBezTo>
                  <a:cubicBezTo>
                    <a:pt x="419493" y="506109"/>
                    <a:pt x="346129" y="633774"/>
                    <a:pt x="234543" y="709159"/>
                  </a:cubicBezTo>
                  <a:lnTo>
                    <a:pt x="209747" y="722618"/>
                  </a:lnTo>
                  <a:lnTo>
                    <a:pt x="184950" y="709159"/>
                  </a:lnTo>
                  <a:cubicBezTo>
                    <a:pt x="73365" y="633774"/>
                    <a:pt x="0" y="506109"/>
                    <a:pt x="0" y="361309"/>
                  </a:cubicBezTo>
                  <a:cubicBezTo>
                    <a:pt x="0" y="216509"/>
                    <a:pt x="73365" y="88845"/>
                    <a:pt x="184950" y="13459"/>
                  </a:cubicBezTo>
                  <a:lnTo>
                    <a:pt x="209747" y="0"/>
                  </a:lnTo>
                  <a:close/>
                </a:path>
              </a:pathLst>
            </a:cu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GB" altLang="en-US"/>
            </a:p>
          </p:txBody>
        </p:sp>
        <p:sp>
          <p:nvSpPr>
            <p:cNvPr id="6" name="フリーフォーム 5">
              <a:extLst>
                <a:ext uri="{FF2B5EF4-FFF2-40B4-BE49-F238E27FC236}">
                  <a16:creationId xmlns:a16="http://schemas.microsoft.com/office/drawing/2014/main" id="{43E9976F-9139-01EF-2D65-B3DF3750BC93}"/>
                </a:ext>
              </a:extLst>
            </p:cNvPr>
            <p:cNvSpPr>
              <a:spLocks noChangeAspect="1"/>
            </p:cNvSpPr>
            <p:nvPr/>
          </p:nvSpPr>
          <p:spPr>
            <a:xfrm>
              <a:off x="3874418" y="1745555"/>
              <a:ext cx="629240" cy="838986"/>
            </a:xfrm>
            <a:custGeom>
              <a:avLst/>
              <a:gdLst>
                <a:gd name="connsiteX0" fmla="*/ 419493 w 629240"/>
                <a:gd name="connsiteY0" fmla="*/ 0 h 838986"/>
                <a:gd name="connsiteX1" fmla="*/ 582779 w 629240"/>
                <a:gd name="connsiteY1" fmla="*/ 32966 h 838986"/>
                <a:gd name="connsiteX2" fmla="*/ 629240 w 629240"/>
                <a:gd name="connsiteY2" fmla="*/ 58184 h 838986"/>
                <a:gd name="connsiteX3" fmla="*/ 604443 w 629240"/>
                <a:gd name="connsiteY3" fmla="*/ 71643 h 838986"/>
                <a:gd name="connsiteX4" fmla="*/ 419493 w 629240"/>
                <a:gd name="connsiteY4" fmla="*/ 419493 h 838986"/>
                <a:gd name="connsiteX5" fmla="*/ 604443 w 629240"/>
                <a:gd name="connsiteY5" fmla="*/ 767343 h 838986"/>
                <a:gd name="connsiteX6" fmla="*/ 629240 w 629240"/>
                <a:gd name="connsiteY6" fmla="*/ 780802 h 838986"/>
                <a:gd name="connsiteX7" fmla="*/ 582779 w 629240"/>
                <a:gd name="connsiteY7" fmla="*/ 806020 h 838986"/>
                <a:gd name="connsiteX8" fmla="*/ 419493 w 629240"/>
                <a:gd name="connsiteY8" fmla="*/ 838986 h 838986"/>
                <a:gd name="connsiteX9" fmla="*/ 0 w 629240"/>
                <a:gd name="connsiteY9" fmla="*/ 419493 h 838986"/>
                <a:gd name="connsiteX10" fmla="*/ 419493 w 629240"/>
                <a:gd name="connsiteY10" fmla="*/ 0 h 8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240" h="838986">
                  <a:moveTo>
                    <a:pt x="419493" y="0"/>
                  </a:moveTo>
                  <a:cubicBezTo>
                    <a:pt x="477413" y="0"/>
                    <a:pt x="532591" y="11738"/>
                    <a:pt x="582779" y="32966"/>
                  </a:cubicBezTo>
                  <a:lnTo>
                    <a:pt x="629240" y="58184"/>
                  </a:lnTo>
                  <a:lnTo>
                    <a:pt x="604443" y="71643"/>
                  </a:lnTo>
                  <a:cubicBezTo>
                    <a:pt x="492858" y="147029"/>
                    <a:pt x="419493" y="274693"/>
                    <a:pt x="419493" y="419493"/>
                  </a:cubicBezTo>
                  <a:cubicBezTo>
                    <a:pt x="419493" y="564293"/>
                    <a:pt x="492858" y="691958"/>
                    <a:pt x="604443" y="767343"/>
                  </a:cubicBezTo>
                  <a:lnTo>
                    <a:pt x="629240" y="780802"/>
                  </a:lnTo>
                  <a:lnTo>
                    <a:pt x="582779" y="806020"/>
                  </a:lnTo>
                  <a:cubicBezTo>
                    <a:pt x="532591" y="827248"/>
                    <a:pt x="477413" y="838986"/>
                    <a:pt x="419493" y="838986"/>
                  </a:cubicBezTo>
                  <a:cubicBezTo>
                    <a:pt x="187813" y="838986"/>
                    <a:pt x="0" y="651173"/>
                    <a:pt x="0" y="419493"/>
                  </a:cubicBezTo>
                  <a:cubicBezTo>
                    <a:pt x="0" y="187813"/>
                    <a:pt x="187813" y="0"/>
                    <a:pt x="419493" y="0"/>
                  </a:cubicBezTo>
                  <a:close/>
                </a:path>
              </a:pathLst>
            </a:cu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GB" altLang="en-US"/>
            </a:p>
          </p:txBody>
        </p:sp>
        <p:sp>
          <p:nvSpPr>
            <p:cNvPr id="7" name="フリーフォーム 6">
              <a:extLst>
                <a:ext uri="{FF2B5EF4-FFF2-40B4-BE49-F238E27FC236}">
                  <a16:creationId xmlns:a16="http://schemas.microsoft.com/office/drawing/2014/main" id="{D8CF23F6-EB14-CF52-7C34-9EC6EC3CE3AC}"/>
                </a:ext>
              </a:extLst>
            </p:cNvPr>
            <p:cNvSpPr>
              <a:spLocks noChangeAspect="1"/>
            </p:cNvSpPr>
            <p:nvPr/>
          </p:nvSpPr>
          <p:spPr>
            <a:xfrm>
              <a:off x="4503659" y="1745555"/>
              <a:ext cx="629239" cy="838986"/>
            </a:xfrm>
            <a:custGeom>
              <a:avLst/>
              <a:gdLst>
                <a:gd name="connsiteX0" fmla="*/ 209746 w 629239"/>
                <a:gd name="connsiteY0" fmla="*/ 0 h 838986"/>
                <a:gd name="connsiteX1" fmla="*/ 629239 w 629239"/>
                <a:gd name="connsiteY1" fmla="*/ 419493 h 838986"/>
                <a:gd name="connsiteX2" fmla="*/ 209746 w 629239"/>
                <a:gd name="connsiteY2" fmla="*/ 838986 h 838986"/>
                <a:gd name="connsiteX3" fmla="*/ 46460 w 629239"/>
                <a:gd name="connsiteY3" fmla="*/ 806020 h 838986"/>
                <a:gd name="connsiteX4" fmla="*/ 0 w 629239"/>
                <a:gd name="connsiteY4" fmla="*/ 780802 h 838986"/>
                <a:gd name="connsiteX5" fmla="*/ 24796 w 629239"/>
                <a:gd name="connsiteY5" fmla="*/ 767343 h 838986"/>
                <a:gd name="connsiteX6" fmla="*/ 209746 w 629239"/>
                <a:gd name="connsiteY6" fmla="*/ 419493 h 838986"/>
                <a:gd name="connsiteX7" fmla="*/ 24796 w 629239"/>
                <a:gd name="connsiteY7" fmla="*/ 71643 h 838986"/>
                <a:gd name="connsiteX8" fmla="*/ 0 w 629239"/>
                <a:gd name="connsiteY8" fmla="*/ 58184 h 838986"/>
                <a:gd name="connsiteX9" fmla="*/ 46460 w 629239"/>
                <a:gd name="connsiteY9" fmla="*/ 32966 h 838986"/>
                <a:gd name="connsiteX10" fmla="*/ 209746 w 629239"/>
                <a:gd name="connsiteY10" fmla="*/ 0 h 8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239" h="838986">
                  <a:moveTo>
                    <a:pt x="209746" y="0"/>
                  </a:moveTo>
                  <a:cubicBezTo>
                    <a:pt x="441426" y="0"/>
                    <a:pt x="629239" y="187813"/>
                    <a:pt x="629239" y="419493"/>
                  </a:cubicBezTo>
                  <a:cubicBezTo>
                    <a:pt x="629239" y="651173"/>
                    <a:pt x="441426" y="838986"/>
                    <a:pt x="209746" y="838986"/>
                  </a:cubicBezTo>
                  <a:cubicBezTo>
                    <a:pt x="151826" y="838986"/>
                    <a:pt x="96648" y="827248"/>
                    <a:pt x="46460" y="806020"/>
                  </a:cubicBezTo>
                  <a:lnTo>
                    <a:pt x="0" y="780802"/>
                  </a:lnTo>
                  <a:lnTo>
                    <a:pt x="24796" y="767343"/>
                  </a:lnTo>
                  <a:cubicBezTo>
                    <a:pt x="136382" y="691958"/>
                    <a:pt x="209746" y="564293"/>
                    <a:pt x="209746" y="419493"/>
                  </a:cubicBezTo>
                  <a:cubicBezTo>
                    <a:pt x="209746" y="274693"/>
                    <a:pt x="136382" y="147029"/>
                    <a:pt x="24796" y="71643"/>
                  </a:cubicBezTo>
                  <a:lnTo>
                    <a:pt x="0" y="58184"/>
                  </a:lnTo>
                  <a:lnTo>
                    <a:pt x="46460" y="32966"/>
                  </a:lnTo>
                  <a:cubicBezTo>
                    <a:pt x="96648" y="11738"/>
                    <a:pt x="151826" y="0"/>
                    <a:pt x="209746" y="0"/>
                  </a:cubicBezTo>
                  <a:close/>
                </a:path>
              </a:pathLst>
            </a:cu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GB" altLang="en-US"/>
            </a:p>
          </p:txBody>
        </p:sp>
      </p:grpSp>
      <p:grpSp>
        <p:nvGrpSpPr>
          <p:cNvPr id="14" name="グループ化 13">
            <a:extLst>
              <a:ext uri="{FF2B5EF4-FFF2-40B4-BE49-F238E27FC236}">
                <a16:creationId xmlns:a16="http://schemas.microsoft.com/office/drawing/2014/main" id="{3DAA3820-8BD3-8CB8-42F3-2310A94D0C19}"/>
              </a:ext>
            </a:extLst>
          </p:cNvPr>
          <p:cNvGrpSpPr/>
          <p:nvPr/>
        </p:nvGrpSpPr>
        <p:grpSpPr>
          <a:xfrm>
            <a:off x="777716" y="4420903"/>
            <a:ext cx="1564848" cy="1027522"/>
            <a:chOff x="3714162" y="3530337"/>
            <a:chExt cx="1564848" cy="1027522"/>
          </a:xfrm>
        </p:grpSpPr>
        <p:sp>
          <p:nvSpPr>
            <p:cNvPr id="8" name="正方形/長方形 7">
              <a:extLst>
                <a:ext uri="{FF2B5EF4-FFF2-40B4-BE49-F238E27FC236}">
                  <a16:creationId xmlns:a16="http://schemas.microsoft.com/office/drawing/2014/main" id="{752622CF-93FF-F124-DDDA-74A390EF9292}"/>
                </a:ext>
              </a:extLst>
            </p:cNvPr>
            <p:cNvSpPr/>
            <p:nvPr/>
          </p:nvSpPr>
          <p:spPr>
            <a:xfrm>
              <a:off x="3714162" y="3530337"/>
              <a:ext cx="1564848" cy="1027522"/>
            </a:xfrm>
            <a:prstGeom prst="rect">
              <a:avLst/>
            </a:prstGeom>
            <a:solidFill>
              <a:srgbClr val="0070C0"/>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9" name="フリーフォーム 8">
              <a:extLst>
                <a:ext uri="{FF2B5EF4-FFF2-40B4-BE49-F238E27FC236}">
                  <a16:creationId xmlns:a16="http://schemas.microsoft.com/office/drawing/2014/main" id="{FFA17A0C-F6B3-7915-7AB6-1C6FB87A27C4}"/>
                </a:ext>
              </a:extLst>
            </p:cNvPr>
            <p:cNvSpPr>
              <a:spLocks noChangeAspect="1"/>
            </p:cNvSpPr>
            <p:nvPr/>
          </p:nvSpPr>
          <p:spPr>
            <a:xfrm>
              <a:off x="4293912" y="3689100"/>
              <a:ext cx="419493" cy="722618"/>
            </a:xfrm>
            <a:custGeom>
              <a:avLst/>
              <a:gdLst>
                <a:gd name="connsiteX0" fmla="*/ 209747 w 419493"/>
                <a:gd name="connsiteY0" fmla="*/ 0 h 722618"/>
                <a:gd name="connsiteX1" fmla="*/ 234543 w 419493"/>
                <a:gd name="connsiteY1" fmla="*/ 13459 h 722618"/>
                <a:gd name="connsiteX2" fmla="*/ 419493 w 419493"/>
                <a:gd name="connsiteY2" fmla="*/ 361309 h 722618"/>
                <a:gd name="connsiteX3" fmla="*/ 234543 w 419493"/>
                <a:gd name="connsiteY3" fmla="*/ 709159 h 722618"/>
                <a:gd name="connsiteX4" fmla="*/ 209747 w 419493"/>
                <a:gd name="connsiteY4" fmla="*/ 722618 h 722618"/>
                <a:gd name="connsiteX5" fmla="*/ 184950 w 419493"/>
                <a:gd name="connsiteY5" fmla="*/ 709159 h 722618"/>
                <a:gd name="connsiteX6" fmla="*/ 0 w 419493"/>
                <a:gd name="connsiteY6" fmla="*/ 361309 h 722618"/>
                <a:gd name="connsiteX7" fmla="*/ 184950 w 419493"/>
                <a:gd name="connsiteY7" fmla="*/ 13459 h 722618"/>
                <a:gd name="connsiteX8" fmla="*/ 209747 w 419493"/>
                <a:gd name="connsiteY8" fmla="*/ 0 h 72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9493" h="722618">
                  <a:moveTo>
                    <a:pt x="209747" y="0"/>
                  </a:moveTo>
                  <a:lnTo>
                    <a:pt x="234543" y="13459"/>
                  </a:lnTo>
                  <a:cubicBezTo>
                    <a:pt x="346129" y="88845"/>
                    <a:pt x="419493" y="216509"/>
                    <a:pt x="419493" y="361309"/>
                  </a:cubicBezTo>
                  <a:cubicBezTo>
                    <a:pt x="419493" y="506109"/>
                    <a:pt x="346129" y="633774"/>
                    <a:pt x="234543" y="709159"/>
                  </a:cubicBezTo>
                  <a:lnTo>
                    <a:pt x="209747" y="722618"/>
                  </a:lnTo>
                  <a:lnTo>
                    <a:pt x="184950" y="709159"/>
                  </a:lnTo>
                  <a:cubicBezTo>
                    <a:pt x="73365" y="633774"/>
                    <a:pt x="0" y="506109"/>
                    <a:pt x="0" y="361309"/>
                  </a:cubicBezTo>
                  <a:cubicBezTo>
                    <a:pt x="0" y="216509"/>
                    <a:pt x="73365" y="88845"/>
                    <a:pt x="184950" y="13459"/>
                  </a:cubicBezTo>
                  <a:lnTo>
                    <a:pt x="209747" y="0"/>
                  </a:lnTo>
                  <a:close/>
                </a:path>
              </a:pathLst>
            </a:cu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GB" altLang="en-US"/>
            </a:p>
          </p:txBody>
        </p:sp>
        <p:sp>
          <p:nvSpPr>
            <p:cNvPr id="10" name="フリーフォーム 9">
              <a:extLst>
                <a:ext uri="{FF2B5EF4-FFF2-40B4-BE49-F238E27FC236}">
                  <a16:creationId xmlns:a16="http://schemas.microsoft.com/office/drawing/2014/main" id="{8B9A0AC7-19BF-59A2-8468-2638153A911D}"/>
                </a:ext>
              </a:extLst>
            </p:cNvPr>
            <p:cNvSpPr>
              <a:spLocks noChangeAspect="1"/>
            </p:cNvSpPr>
            <p:nvPr/>
          </p:nvSpPr>
          <p:spPr>
            <a:xfrm>
              <a:off x="3874418" y="3630916"/>
              <a:ext cx="629240" cy="838986"/>
            </a:xfrm>
            <a:custGeom>
              <a:avLst/>
              <a:gdLst>
                <a:gd name="connsiteX0" fmla="*/ 419493 w 629240"/>
                <a:gd name="connsiteY0" fmla="*/ 0 h 838986"/>
                <a:gd name="connsiteX1" fmla="*/ 582779 w 629240"/>
                <a:gd name="connsiteY1" fmla="*/ 32966 h 838986"/>
                <a:gd name="connsiteX2" fmla="*/ 629240 w 629240"/>
                <a:gd name="connsiteY2" fmla="*/ 58184 h 838986"/>
                <a:gd name="connsiteX3" fmla="*/ 604443 w 629240"/>
                <a:gd name="connsiteY3" fmla="*/ 71643 h 838986"/>
                <a:gd name="connsiteX4" fmla="*/ 419493 w 629240"/>
                <a:gd name="connsiteY4" fmla="*/ 419493 h 838986"/>
                <a:gd name="connsiteX5" fmla="*/ 604443 w 629240"/>
                <a:gd name="connsiteY5" fmla="*/ 767343 h 838986"/>
                <a:gd name="connsiteX6" fmla="*/ 629240 w 629240"/>
                <a:gd name="connsiteY6" fmla="*/ 780802 h 838986"/>
                <a:gd name="connsiteX7" fmla="*/ 582779 w 629240"/>
                <a:gd name="connsiteY7" fmla="*/ 806020 h 838986"/>
                <a:gd name="connsiteX8" fmla="*/ 419493 w 629240"/>
                <a:gd name="connsiteY8" fmla="*/ 838986 h 838986"/>
                <a:gd name="connsiteX9" fmla="*/ 0 w 629240"/>
                <a:gd name="connsiteY9" fmla="*/ 419493 h 838986"/>
                <a:gd name="connsiteX10" fmla="*/ 419493 w 629240"/>
                <a:gd name="connsiteY10" fmla="*/ 0 h 8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240" h="838986">
                  <a:moveTo>
                    <a:pt x="419493" y="0"/>
                  </a:moveTo>
                  <a:cubicBezTo>
                    <a:pt x="477413" y="0"/>
                    <a:pt x="532591" y="11738"/>
                    <a:pt x="582779" y="32966"/>
                  </a:cubicBezTo>
                  <a:lnTo>
                    <a:pt x="629240" y="58184"/>
                  </a:lnTo>
                  <a:lnTo>
                    <a:pt x="604443" y="71643"/>
                  </a:lnTo>
                  <a:cubicBezTo>
                    <a:pt x="492858" y="147029"/>
                    <a:pt x="419493" y="274693"/>
                    <a:pt x="419493" y="419493"/>
                  </a:cubicBezTo>
                  <a:cubicBezTo>
                    <a:pt x="419493" y="564293"/>
                    <a:pt x="492858" y="691958"/>
                    <a:pt x="604443" y="767343"/>
                  </a:cubicBezTo>
                  <a:lnTo>
                    <a:pt x="629240" y="780802"/>
                  </a:lnTo>
                  <a:lnTo>
                    <a:pt x="582779" y="806020"/>
                  </a:lnTo>
                  <a:cubicBezTo>
                    <a:pt x="532591" y="827248"/>
                    <a:pt x="477413" y="838986"/>
                    <a:pt x="419493" y="838986"/>
                  </a:cubicBezTo>
                  <a:cubicBezTo>
                    <a:pt x="187813" y="838986"/>
                    <a:pt x="0" y="651173"/>
                    <a:pt x="0" y="419493"/>
                  </a:cubicBezTo>
                  <a:cubicBezTo>
                    <a:pt x="0" y="187813"/>
                    <a:pt x="187813" y="0"/>
                    <a:pt x="419493" y="0"/>
                  </a:cubicBezTo>
                  <a:close/>
                </a:path>
              </a:pathLst>
            </a:cu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GB" altLang="en-US"/>
            </a:p>
          </p:txBody>
        </p:sp>
        <p:sp>
          <p:nvSpPr>
            <p:cNvPr id="11" name="フリーフォーム 10">
              <a:extLst>
                <a:ext uri="{FF2B5EF4-FFF2-40B4-BE49-F238E27FC236}">
                  <a16:creationId xmlns:a16="http://schemas.microsoft.com/office/drawing/2014/main" id="{7A12CACE-C30B-085B-1C24-ABC7BAED7BE9}"/>
                </a:ext>
              </a:extLst>
            </p:cNvPr>
            <p:cNvSpPr>
              <a:spLocks noChangeAspect="1"/>
            </p:cNvSpPr>
            <p:nvPr/>
          </p:nvSpPr>
          <p:spPr>
            <a:xfrm>
              <a:off x="4503659" y="3630916"/>
              <a:ext cx="629239" cy="838986"/>
            </a:xfrm>
            <a:custGeom>
              <a:avLst/>
              <a:gdLst>
                <a:gd name="connsiteX0" fmla="*/ 209746 w 629239"/>
                <a:gd name="connsiteY0" fmla="*/ 0 h 838986"/>
                <a:gd name="connsiteX1" fmla="*/ 629239 w 629239"/>
                <a:gd name="connsiteY1" fmla="*/ 419493 h 838986"/>
                <a:gd name="connsiteX2" fmla="*/ 209746 w 629239"/>
                <a:gd name="connsiteY2" fmla="*/ 838986 h 838986"/>
                <a:gd name="connsiteX3" fmla="*/ 46460 w 629239"/>
                <a:gd name="connsiteY3" fmla="*/ 806020 h 838986"/>
                <a:gd name="connsiteX4" fmla="*/ 0 w 629239"/>
                <a:gd name="connsiteY4" fmla="*/ 780802 h 838986"/>
                <a:gd name="connsiteX5" fmla="*/ 24796 w 629239"/>
                <a:gd name="connsiteY5" fmla="*/ 767343 h 838986"/>
                <a:gd name="connsiteX6" fmla="*/ 209746 w 629239"/>
                <a:gd name="connsiteY6" fmla="*/ 419493 h 838986"/>
                <a:gd name="connsiteX7" fmla="*/ 24796 w 629239"/>
                <a:gd name="connsiteY7" fmla="*/ 71643 h 838986"/>
                <a:gd name="connsiteX8" fmla="*/ 0 w 629239"/>
                <a:gd name="connsiteY8" fmla="*/ 58184 h 838986"/>
                <a:gd name="connsiteX9" fmla="*/ 46460 w 629239"/>
                <a:gd name="connsiteY9" fmla="*/ 32966 h 838986"/>
                <a:gd name="connsiteX10" fmla="*/ 209746 w 629239"/>
                <a:gd name="connsiteY10" fmla="*/ 0 h 8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239" h="838986">
                  <a:moveTo>
                    <a:pt x="209746" y="0"/>
                  </a:moveTo>
                  <a:cubicBezTo>
                    <a:pt x="441426" y="0"/>
                    <a:pt x="629239" y="187813"/>
                    <a:pt x="629239" y="419493"/>
                  </a:cubicBezTo>
                  <a:cubicBezTo>
                    <a:pt x="629239" y="651173"/>
                    <a:pt x="441426" y="838986"/>
                    <a:pt x="209746" y="838986"/>
                  </a:cubicBezTo>
                  <a:cubicBezTo>
                    <a:pt x="151826" y="838986"/>
                    <a:pt x="96648" y="827248"/>
                    <a:pt x="46460" y="806020"/>
                  </a:cubicBezTo>
                  <a:lnTo>
                    <a:pt x="0" y="780802"/>
                  </a:lnTo>
                  <a:lnTo>
                    <a:pt x="24796" y="767343"/>
                  </a:lnTo>
                  <a:cubicBezTo>
                    <a:pt x="136382" y="691958"/>
                    <a:pt x="209746" y="564293"/>
                    <a:pt x="209746" y="419493"/>
                  </a:cubicBezTo>
                  <a:cubicBezTo>
                    <a:pt x="209746" y="274693"/>
                    <a:pt x="136382" y="147029"/>
                    <a:pt x="24796" y="71643"/>
                  </a:cubicBezTo>
                  <a:lnTo>
                    <a:pt x="0" y="58184"/>
                  </a:lnTo>
                  <a:lnTo>
                    <a:pt x="46460" y="32966"/>
                  </a:lnTo>
                  <a:cubicBezTo>
                    <a:pt x="96648" y="11738"/>
                    <a:pt x="151826" y="0"/>
                    <a:pt x="209746" y="0"/>
                  </a:cubicBezTo>
                  <a:close/>
                </a:path>
              </a:pathLst>
            </a:cu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GB" altLang="en-US"/>
            </a:p>
          </p:txBody>
        </p:sp>
      </p:grpSp>
      <p:graphicFrame>
        <p:nvGraphicFramePr>
          <p:cNvPr id="12" name="表 11">
            <a:extLst>
              <a:ext uri="{FF2B5EF4-FFF2-40B4-BE49-F238E27FC236}">
                <a16:creationId xmlns:a16="http://schemas.microsoft.com/office/drawing/2014/main" id="{4EDE2164-B9E7-EF58-2C53-94EABAB280AB}"/>
              </a:ext>
            </a:extLst>
          </p:cNvPr>
          <p:cNvGraphicFramePr>
            <a:graphicFrameLocks noGrp="1"/>
          </p:cNvGraphicFramePr>
          <p:nvPr/>
        </p:nvGraphicFramePr>
        <p:xfrm>
          <a:off x="5778631" y="1047239"/>
          <a:ext cx="2900216" cy="1356360"/>
        </p:xfrm>
        <a:graphic>
          <a:graphicData uri="http://schemas.openxmlformats.org/drawingml/2006/table">
            <a:tbl>
              <a:tblPr firstRow="1" bandRow="1">
                <a:tableStyleId>{5C22544A-7EE6-4342-B048-85BDC9FD1C3A}</a:tableStyleId>
              </a:tblPr>
              <a:tblGrid>
                <a:gridCol w="725054">
                  <a:extLst>
                    <a:ext uri="{9D8B030D-6E8A-4147-A177-3AD203B41FA5}">
                      <a16:colId xmlns:a16="http://schemas.microsoft.com/office/drawing/2014/main" val="3858253604"/>
                    </a:ext>
                  </a:extLst>
                </a:gridCol>
                <a:gridCol w="725054">
                  <a:extLst>
                    <a:ext uri="{9D8B030D-6E8A-4147-A177-3AD203B41FA5}">
                      <a16:colId xmlns:a16="http://schemas.microsoft.com/office/drawing/2014/main" val="1587743710"/>
                    </a:ext>
                  </a:extLst>
                </a:gridCol>
                <a:gridCol w="725054">
                  <a:extLst>
                    <a:ext uri="{9D8B030D-6E8A-4147-A177-3AD203B41FA5}">
                      <a16:colId xmlns:a16="http://schemas.microsoft.com/office/drawing/2014/main" val="1053722571"/>
                    </a:ext>
                  </a:extLst>
                </a:gridCol>
                <a:gridCol w="725054">
                  <a:extLst>
                    <a:ext uri="{9D8B030D-6E8A-4147-A177-3AD203B41FA5}">
                      <a16:colId xmlns:a16="http://schemas.microsoft.com/office/drawing/2014/main" val="3799327062"/>
                    </a:ext>
                  </a:extLst>
                </a:gridCol>
              </a:tblGrid>
              <a:tr h="245128">
                <a:tc>
                  <a:txBody>
                    <a:bodyPr/>
                    <a:lstStyle/>
                    <a:p>
                      <a:pPr algn="ctr"/>
                      <a:r>
                        <a:rPr lang="en-US" altLang="ja-GB" sz="1100" dirty="0">
                          <a:ln>
                            <a:noFill/>
                          </a:ln>
                        </a:rPr>
                        <a:t>A</a:t>
                      </a:r>
                      <a:endParaRPr lang="ja-GB" altLang="en-US" sz="11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100" dirty="0">
                          <a:ln>
                            <a:noFill/>
                          </a:ln>
                        </a:rPr>
                        <a:t>B</a:t>
                      </a:r>
                      <a:endParaRPr lang="ja-GB" altLang="en-US" sz="11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100" dirty="0">
                          <a:ln>
                            <a:noFill/>
                          </a:ln>
                        </a:rPr>
                        <a:t>A and B</a:t>
                      </a:r>
                      <a:endParaRPr lang="ja-GB" altLang="en-US" sz="11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100" dirty="0">
                          <a:ln>
                            <a:noFill/>
                          </a:ln>
                        </a:rPr>
                        <a:t>A </a:t>
                      </a:r>
                      <a:r>
                        <a:rPr lang="en-US" altLang="ja-GB" sz="1100" dirty="0" err="1">
                          <a:ln>
                            <a:noFill/>
                          </a:ln>
                        </a:rPr>
                        <a:t>nand</a:t>
                      </a:r>
                      <a:r>
                        <a:rPr lang="en-US" altLang="ja-GB" sz="1100" dirty="0">
                          <a:ln>
                            <a:noFill/>
                          </a:ln>
                        </a:rPr>
                        <a:t> B</a:t>
                      </a:r>
                      <a:endParaRPr lang="ja-GB" altLang="en-US" sz="11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6227256"/>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solidFill>
                            <a:schemeClr val="tx1">
                              <a:lumMod val="50000"/>
                              <a:lumOff val="50000"/>
                            </a:schemeClr>
                          </a:solidFill>
                        </a:rPr>
                        <a:t>0</a:t>
                      </a:r>
                      <a:endParaRPr lang="ja-GB" altLang="en-US" sz="1200" dirty="0">
                        <a:ln>
                          <a:solidFill>
                            <a:srgbClr val="002060"/>
                          </a:solidFill>
                        </a:ln>
                        <a:solidFill>
                          <a:schemeClr val="tx1">
                            <a:lumMod val="50000"/>
                            <a:lumOff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2749801"/>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solidFill>
                            <a:schemeClr val="tx1">
                              <a:lumMod val="50000"/>
                              <a:lumOff val="50000"/>
                            </a:schemeClr>
                          </a:solidFill>
                        </a:rPr>
                        <a:t>0</a:t>
                      </a:r>
                      <a:endParaRPr lang="ja-GB" altLang="en-US" sz="1200" dirty="0">
                        <a:ln>
                          <a:solidFill>
                            <a:srgbClr val="002060"/>
                          </a:solidFill>
                        </a:ln>
                        <a:solidFill>
                          <a:schemeClr val="tx1">
                            <a:lumMod val="50000"/>
                            <a:lumOff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7349891"/>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solidFill>
                            <a:schemeClr val="tx1">
                              <a:lumMod val="50000"/>
                              <a:lumOff val="50000"/>
                            </a:schemeClr>
                          </a:solidFill>
                        </a:rPr>
                        <a:t>0</a:t>
                      </a:r>
                      <a:endParaRPr lang="ja-GB" altLang="en-US" sz="1200" dirty="0">
                        <a:ln>
                          <a:solidFill>
                            <a:srgbClr val="002060"/>
                          </a:solidFill>
                        </a:ln>
                        <a:solidFill>
                          <a:schemeClr val="tx1">
                            <a:lumMod val="50000"/>
                            <a:lumOff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5343672"/>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solidFill>
                            <a:schemeClr val="tx1">
                              <a:lumMod val="50000"/>
                              <a:lumOff val="50000"/>
                            </a:schemeClr>
                          </a:solidFill>
                        </a:rPr>
                        <a:t>1</a:t>
                      </a:r>
                      <a:endParaRPr lang="ja-GB" altLang="en-US" sz="1200" dirty="0">
                        <a:ln>
                          <a:solidFill>
                            <a:srgbClr val="002060"/>
                          </a:solidFill>
                        </a:ln>
                        <a:solidFill>
                          <a:schemeClr val="tx1">
                            <a:lumMod val="50000"/>
                            <a:lumOff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8365678"/>
                  </a:ext>
                </a:extLst>
              </a:tr>
            </a:tbl>
          </a:graphicData>
        </a:graphic>
      </p:graphicFrame>
      <p:graphicFrame>
        <p:nvGraphicFramePr>
          <p:cNvPr id="13" name="表 12">
            <a:extLst>
              <a:ext uri="{FF2B5EF4-FFF2-40B4-BE49-F238E27FC236}">
                <a16:creationId xmlns:a16="http://schemas.microsoft.com/office/drawing/2014/main" id="{87EC66B9-D6CA-DE00-5995-F9ABCA99312B}"/>
              </a:ext>
            </a:extLst>
          </p:cNvPr>
          <p:cNvGraphicFramePr>
            <a:graphicFrameLocks noGrp="1"/>
          </p:cNvGraphicFramePr>
          <p:nvPr/>
        </p:nvGraphicFramePr>
        <p:xfrm>
          <a:off x="5778630" y="4092065"/>
          <a:ext cx="2900212" cy="1356360"/>
        </p:xfrm>
        <a:graphic>
          <a:graphicData uri="http://schemas.openxmlformats.org/drawingml/2006/table">
            <a:tbl>
              <a:tblPr firstRow="1" bandRow="1">
                <a:tableStyleId>{5C22544A-7EE6-4342-B048-85BDC9FD1C3A}</a:tableStyleId>
              </a:tblPr>
              <a:tblGrid>
                <a:gridCol w="725053">
                  <a:extLst>
                    <a:ext uri="{9D8B030D-6E8A-4147-A177-3AD203B41FA5}">
                      <a16:colId xmlns:a16="http://schemas.microsoft.com/office/drawing/2014/main" val="3858253604"/>
                    </a:ext>
                  </a:extLst>
                </a:gridCol>
                <a:gridCol w="725053">
                  <a:extLst>
                    <a:ext uri="{9D8B030D-6E8A-4147-A177-3AD203B41FA5}">
                      <a16:colId xmlns:a16="http://schemas.microsoft.com/office/drawing/2014/main" val="1587743710"/>
                    </a:ext>
                  </a:extLst>
                </a:gridCol>
                <a:gridCol w="725053">
                  <a:extLst>
                    <a:ext uri="{9D8B030D-6E8A-4147-A177-3AD203B41FA5}">
                      <a16:colId xmlns:a16="http://schemas.microsoft.com/office/drawing/2014/main" val="1053722571"/>
                    </a:ext>
                  </a:extLst>
                </a:gridCol>
                <a:gridCol w="725053">
                  <a:extLst>
                    <a:ext uri="{9D8B030D-6E8A-4147-A177-3AD203B41FA5}">
                      <a16:colId xmlns:a16="http://schemas.microsoft.com/office/drawing/2014/main" val="2822461469"/>
                    </a:ext>
                  </a:extLst>
                </a:gridCol>
              </a:tblGrid>
              <a:tr h="245128">
                <a:tc>
                  <a:txBody>
                    <a:bodyPr/>
                    <a:lstStyle/>
                    <a:p>
                      <a:pPr algn="ctr"/>
                      <a:r>
                        <a:rPr lang="en-US" altLang="ja-GB" sz="1100" dirty="0">
                          <a:ln>
                            <a:noFill/>
                          </a:ln>
                        </a:rPr>
                        <a:t>A</a:t>
                      </a:r>
                      <a:endParaRPr lang="ja-GB" altLang="en-US" sz="11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100" dirty="0">
                          <a:ln>
                            <a:noFill/>
                          </a:ln>
                        </a:rPr>
                        <a:t>B</a:t>
                      </a:r>
                      <a:endParaRPr lang="ja-GB" altLang="en-US" sz="11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100" dirty="0">
                          <a:ln>
                            <a:noFill/>
                          </a:ln>
                        </a:rPr>
                        <a:t>A or B</a:t>
                      </a:r>
                      <a:endParaRPr lang="ja-GB" altLang="en-US" sz="11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100" dirty="0">
                          <a:ln>
                            <a:noFill/>
                          </a:ln>
                        </a:rPr>
                        <a:t>A nor B</a:t>
                      </a:r>
                      <a:endParaRPr lang="ja-GB" altLang="en-US" sz="11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6227256"/>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2749801"/>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7349891"/>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5343672"/>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8365678"/>
                  </a:ext>
                </a:extLst>
              </a:tr>
            </a:tbl>
          </a:graphicData>
        </a:graphic>
      </p:graphicFrame>
      <p:pic>
        <p:nvPicPr>
          <p:cNvPr id="16" name="図 15">
            <a:extLst>
              <a:ext uri="{FF2B5EF4-FFF2-40B4-BE49-F238E27FC236}">
                <a16:creationId xmlns:a16="http://schemas.microsoft.com/office/drawing/2014/main" id="{B344BF9E-E9F2-D0B5-ECEB-9A2F3D5164E5}"/>
              </a:ext>
            </a:extLst>
          </p:cNvPr>
          <p:cNvPicPr>
            <a:picLocks noChangeAspect="1"/>
          </p:cNvPicPr>
          <p:nvPr/>
        </p:nvPicPr>
        <p:blipFill>
          <a:blip r:embed="rId2"/>
          <a:stretch>
            <a:fillRect/>
          </a:stretch>
        </p:blipFill>
        <p:spPr>
          <a:xfrm>
            <a:off x="380530" y="6003235"/>
            <a:ext cx="1939727" cy="797645"/>
          </a:xfrm>
          <a:prstGeom prst="rect">
            <a:avLst/>
          </a:prstGeom>
        </p:spPr>
      </p:pic>
      <p:sp>
        <p:nvSpPr>
          <p:cNvPr id="17" name="テキスト ボックス 16">
            <a:extLst>
              <a:ext uri="{FF2B5EF4-FFF2-40B4-BE49-F238E27FC236}">
                <a16:creationId xmlns:a16="http://schemas.microsoft.com/office/drawing/2014/main" id="{5D03A76A-54F1-E178-2870-0AE60213A67D}"/>
              </a:ext>
            </a:extLst>
          </p:cNvPr>
          <p:cNvSpPr txBox="1"/>
          <p:nvPr/>
        </p:nvSpPr>
        <p:spPr>
          <a:xfrm>
            <a:off x="2634180" y="2501004"/>
            <a:ext cx="6288901" cy="523220"/>
          </a:xfrm>
          <a:prstGeom prst="rect">
            <a:avLst/>
          </a:prstGeom>
          <a:noFill/>
        </p:spPr>
        <p:txBody>
          <a:bodyPr wrap="none" rtlCol="0">
            <a:spAutoFit/>
          </a:bodyPr>
          <a:lstStyle/>
          <a:p>
            <a:r>
              <a:rPr kumimoji="1" lang="en-US" altLang="ja-GB" sz="1400" dirty="0"/>
              <a:t>※NAND</a:t>
            </a:r>
            <a:r>
              <a:rPr kumimoji="1" lang="ja-GB" altLang="en-US" sz="1400" dirty="0"/>
              <a:t>演算を組み合わせると，あらゆる論理式を実装できる</a:t>
            </a:r>
            <a:endParaRPr kumimoji="1" lang="en-US" altLang="ja-GB" sz="1400" dirty="0"/>
          </a:p>
          <a:p>
            <a:r>
              <a:rPr kumimoji="1" lang="ja-GB" altLang="en-US" sz="1400" dirty="0"/>
              <a:t>　回路製造コストも低いため，計算機の基本部品として広く利用されている</a:t>
            </a:r>
          </a:p>
        </p:txBody>
      </p:sp>
    </p:spTree>
    <p:extLst>
      <p:ext uri="{BB962C8B-B14F-4D97-AF65-F5344CB8AC3E}">
        <p14:creationId xmlns:p14="http://schemas.microsoft.com/office/powerpoint/2010/main" val="290111703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857C5F-14DA-272E-DF39-6C00692B9327}"/>
              </a:ext>
            </a:extLst>
          </p:cNvPr>
          <p:cNvSpPr>
            <a:spLocks noGrp="1"/>
          </p:cNvSpPr>
          <p:nvPr>
            <p:ph type="title"/>
          </p:nvPr>
        </p:nvSpPr>
        <p:spPr/>
        <p:txBody>
          <a:bodyPr/>
          <a:lstStyle/>
          <a:p>
            <a:r>
              <a:rPr kumimoji="1" lang="ja-GB" altLang="en-US" dirty="0"/>
              <a:t>ビット反転・シフト演算</a:t>
            </a:r>
          </a:p>
        </p:txBody>
      </p:sp>
      <p:sp>
        <p:nvSpPr>
          <p:cNvPr id="3" name="コンテンツ プレースホルダー 2">
            <a:extLst>
              <a:ext uri="{FF2B5EF4-FFF2-40B4-BE49-F238E27FC236}">
                <a16:creationId xmlns:a16="http://schemas.microsoft.com/office/drawing/2014/main" id="{9E94192F-1B03-92D0-6D0C-9DC3C1CB162D}"/>
              </a:ext>
            </a:extLst>
          </p:cNvPr>
          <p:cNvSpPr>
            <a:spLocks noGrp="1"/>
          </p:cNvSpPr>
          <p:nvPr>
            <p:ph idx="1"/>
          </p:nvPr>
        </p:nvSpPr>
        <p:spPr/>
        <p:txBody>
          <a:bodyPr/>
          <a:lstStyle/>
          <a:p>
            <a:pPr marL="0" indent="0">
              <a:buNone/>
            </a:pPr>
            <a:r>
              <a:rPr kumimoji="1" lang="ja-GB" altLang="en-US" dirty="0"/>
              <a:t>ビット反転：</a:t>
            </a:r>
            <a:r>
              <a:rPr kumimoji="1" lang="en-US" altLang="ja-GB" dirty="0"/>
              <a:t>0</a:t>
            </a:r>
            <a:r>
              <a:rPr kumimoji="1" lang="ja-GB" altLang="en-US" dirty="0"/>
              <a:t>と</a:t>
            </a:r>
            <a:r>
              <a:rPr kumimoji="1" lang="en-US" altLang="ja-GB" dirty="0"/>
              <a:t>1</a:t>
            </a:r>
            <a:r>
              <a:rPr kumimoji="1" lang="ja-GB" altLang="en-US" dirty="0"/>
              <a:t>を逆にする</a:t>
            </a:r>
            <a:endParaRPr kumimoji="1" lang="en-US" altLang="ja-GB" dirty="0"/>
          </a:p>
          <a:p>
            <a:pPr marL="457200" lvl="1" indent="0">
              <a:buNone/>
            </a:pPr>
            <a:r>
              <a:rPr lang="ja-GB" altLang="en-US" dirty="0"/>
              <a:t>例）</a:t>
            </a:r>
            <a:r>
              <a:rPr lang="en-US" altLang="ja-GB" dirty="0"/>
              <a:t>0001→1110</a:t>
            </a:r>
            <a:r>
              <a:rPr lang="ja-GB" altLang="en-US" dirty="0"/>
              <a:t>，</a:t>
            </a:r>
            <a:r>
              <a:rPr lang="en-US" altLang="ja-GB" dirty="0"/>
              <a:t>0101→1010</a:t>
            </a:r>
          </a:p>
          <a:p>
            <a:pPr lvl="1"/>
            <a:endParaRPr kumimoji="1" lang="en-US" altLang="ja-GB" dirty="0"/>
          </a:p>
          <a:p>
            <a:pPr marL="0" indent="0">
              <a:buNone/>
            </a:pPr>
            <a:r>
              <a:rPr lang="ja-GB" altLang="en-US" dirty="0"/>
              <a:t>シフト演算</a:t>
            </a:r>
            <a:endParaRPr lang="en-US" altLang="ja-GB" dirty="0"/>
          </a:p>
          <a:p>
            <a:pPr marL="457200" lvl="1" indent="0">
              <a:buNone/>
            </a:pPr>
            <a:r>
              <a:rPr lang="ja-GB" altLang="en-US" dirty="0"/>
              <a:t>左シフト：ビットを左にずらして，上位を押し出し，下位に</a:t>
            </a:r>
            <a:r>
              <a:rPr lang="en-US" altLang="ja-GB" dirty="0"/>
              <a:t>0</a:t>
            </a:r>
            <a:r>
              <a:rPr lang="ja-GB" altLang="en-US" dirty="0"/>
              <a:t>を詰める</a:t>
            </a:r>
            <a:endParaRPr lang="en-US" altLang="ja-GB" dirty="0"/>
          </a:p>
          <a:p>
            <a:pPr lvl="2"/>
            <a:r>
              <a:rPr lang="en-US" altLang="ja-GB" dirty="0"/>
              <a:t>0</a:t>
            </a:r>
            <a:r>
              <a:rPr lang="en-US" altLang="ja-GB" dirty="0">
                <a:solidFill>
                  <a:srgbClr val="0070C0"/>
                </a:solidFill>
              </a:rPr>
              <a:t>0101100</a:t>
            </a:r>
            <a:r>
              <a:rPr lang="en-US" altLang="ja-GB" dirty="0"/>
              <a:t>→</a:t>
            </a:r>
            <a:r>
              <a:rPr lang="en-US" altLang="ja-GB" dirty="0">
                <a:solidFill>
                  <a:srgbClr val="0070C0"/>
                </a:solidFill>
              </a:rPr>
              <a:t>0101100</a:t>
            </a:r>
            <a:r>
              <a:rPr lang="en-US" altLang="ja-GB" dirty="0"/>
              <a:t>0</a:t>
            </a:r>
          </a:p>
          <a:p>
            <a:pPr marL="457200" lvl="1" indent="0">
              <a:buNone/>
            </a:pPr>
            <a:r>
              <a:rPr kumimoji="1" lang="ja-GB" altLang="en-US" dirty="0"/>
              <a:t>右シフト：ビットを右にずらして，下位を押し出し，上位に</a:t>
            </a:r>
            <a:r>
              <a:rPr kumimoji="1" lang="en-US" altLang="ja-GB" dirty="0"/>
              <a:t>0</a:t>
            </a:r>
            <a:r>
              <a:rPr kumimoji="1" lang="ja-GB" altLang="en-US" dirty="0"/>
              <a:t>を詰める</a:t>
            </a:r>
            <a:endParaRPr kumimoji="1" lang="en-US" altLang="ja-GB" dirty="0"/>
          </a:p>
          <a:p>
            <a:pPr lvl="2"/>
            <a:r>
              <a:rPr lang="en-US" altLang="ja-GB" dirty="0">
                <a:solidFill>
                  <a:srgbClr val="0070C0"/>
                </a:solidFill>
              </a:rPr>
              <a:t>1010110</a:t>
            </a:r>
            <a:r>
              <a:rPr lang="en-US" altLang="ja-GB" dirty="0"/>
              <a:t>1→0</a:t>
            </a:r>
            <a:r>
              <a:rPr lang="en-US" altLang="ja-GB" dirty="0">
                <a:solidFill>
                  <a:srgbClr val="0070C0"/>
                </a:solidFill>
              </a:rPr>
              <a:t>1010110</a:t>
            </a:r>
            <a:endParaRPr kumimoji="1" lang="en-US" altLang="ja-GB" dirty="0">
              <a:solidFill>
                <a:srgbClr val="0070C0"/>
              </a:solidFill>
            </a:endParaRPr>
          </a:p>
          <a:p>
            <a:pPr marL="457200" lvl="1" indent="0">
              <a:buNone/>
            </a:pPr>
            <a:r>
              <a:rPr lang="ja-GB" altLang="en-US" dirty="0"/>
              <a:t>循環シフト：ビットをずらして，押し出されたものを詰める</a:t>
            </a:r>
            <a:endParaRPr lang="en-US" altLang="ja-GB" dirty="0"/>
          </a:p>
          <a:p>
            <a:pPr lvl="2"/>
            <a:r>
              <a:rPr lang="ja-GB" altLang="en-US" dirty="0"/>
              <a:t>循環左シフトの例）</a:t>
            </a:r>
            <a:r>
              <a:rPr lang="en-US" altLang="ja-GB" dirty="0">
                <a:solidFill>
                  <a:schemeClr val="accent2"/>
                </a:solidFill>
              </a:rPr>
              <a:t>1</a:t>
            </a:r>
            <a:r>
              <a:rPr lang="en-US" altLang="ja-GB" dirty="0">
                <a:solidFill>
                  <a:srgbClr val="2F2523"/>
                </a:solidFill>
              </a:rPr>
              <a:t>0101100→0101100</a:t>
            </a:r>
            <a:r>
              <a:rPr lang="en-US" altLang="ja-GB" dirty="0">
                <a:solidFill>
                  <a:schemeClr val="accent2"/>
                </a:solidFill>
              </a:rPr>
              <a:t>1</a:t>
            </a:r>
          </a:p>
          <a:p>
            <a:pPr lvl="2"/>
            <a:r>
              <a:rPr lang="ja-GB" altLang="en-US" dirty="0">
                <a:solidFill>
                  <a:srgbClr val="2F2523"/>
                </a:solidFill>
              </a:rPr>
              <a:t>循環右シフトの例）</a:t>
            </a:r>
            <a:r>
              <a:rPr lang="en-US" altLang="ja-GB" dirty="0">
                <a:solidFill>
                  <a:srgbClr val="2F2523"/>
                </a:solidFill>
              </a:rPr>
              <a:t>1010110</a:t>
            </a:r>
            <a:r>
              <a:rPr lang="en-US" altLang="ja-GB" dirty="0">
                <a:solidFill>
                  <a:schemeClr val="accent2"/>
                </a:solidFill>
              </a:rPr>
              <a:t>1</a:t>
            </a:r>
            <a:r>
              <a:rPr lang="en-US" altLang="ja-GB" dirty="0">
                <a:solidFill>
                  <a:srgbClr val="2F2523"/>
                </a:solidFill>
              </a:rPr>
              <a:t>→</a:t>
            </a:r>
            <a:r>
              <a:rPr lang="en-US" altLang="ja-GB" dirty="0">
                <a:solidFill>
                  <a:schemeClr val="accent2"/>
                </a:solidFill>
              </a:rPr>
              <a:t>1</a:t>
            </a:r>
            <a:r>
              <a:rPr lang="en-US" altLang="ja-GB" dirty="0">
                <a:solidFill>
                  <a:srgbClr val="2F2523"/>
                </a:solidFill>
              </a:rPr>
              <a:t>1010110</a:t>
            </a:r>
          </a:p>
          <a:p>
            <a:pPr lvl="2"/>
            <a:endParaRPr lang="en-US" altLang="ja-GB" dirty="0">
              <a:solidFill>
                <a:srgbClr val="2F2523"/>
              </a:solidFill>
            </a:endParaRPr>
          </a:p>
          <a:p>
            <a:pPr lvl="2"/>
            <a:endParaRPr lang="en-US" altLang="ja-GB" dirty="0"/>
          </a:p>
        </p:txBody>
      </p:sp>
    </p:spTree>
    <p:extLst>
      <p:ext uri="{BB962C8B-B14F-4D97-AF65-F5344CB8AC3E}">
        <p14:creationId xmlns:p14="http://schemas.microsoft.com/office/powerpoint/2010/main" val="413958589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81C88-74AD-A76E-5818-F67BDAD1241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7B80D89-88EC-D496-3E1A-0E16946FE11A}"/>
              </a:ext>
            </a:extLst>
          </p:cNvPr>
          <p:cNvSpPr>
            <a:spLocks noGrp="1"/>
          </p:cNvSpPr>
          <p:nvPr>
            <p:ph type="title"/>
          </p:nvPr>
        </p:nvSpPr>
        <p:spPr/>
        <p:txBody>
          <a:bodyPr/>
          <a:lstStyle/>
          <a:p>
            <a:r>
              <a:rPr kumimoji="1" lang="en-US" altLang="ja-GB" dirty="0"/>
              <a:t>2</a:t>
            </a:r>
            <a:r>
              <a:rPr lang="ja-GB" altLang="en-US" dirty="0"/>
              <a:t>進数の演算</a:t>
            </a:r>
            <a:endParaRPr kumimoji="1" lang="ja-GB" altLang="en-US" dirty="0"/>
          </a:p>
        </p:txBody>
      </p:sp>
      <p:sp>
        <p:nvSpPr>
          <p:cNvPr id="3" name="コンテンツ プレースホルダー 2">
            <a:extLst>
              <a:ext uri="{FF2B5EF4-FFF2-40B4-BE49-F238E27FC236}">
                <a16:creationId xmlns:a16="http://schemas.microsoft.com/office/drawing/2014/main" id="{DA1B6996-FF9E-297A-228A-C844207C8BE6}"/>
              </a:ext>
            </a:extLst>
          </p:cNvPr>
          <p:cNvSpPr>
            <a:spLocks noGrp="1"/>
          </p:cNvSpPr>
          <p:nvPr>
            <p:ph idx="1"/>
          </p:nvPr>
        </p:nvSpPr>
        <p:spPr/>
        <p:txBody>
          <a:bodyPr/>
          <a:lstStyle/>
          <a:p>
            <a:pPr marL="0" indent="0">
              <a:buNone/>
            </a:pPr>
            <a:r>
              <a:rPr lang="en-US" altLang="ja-GB" dirty="0">
                <a:solidFill>
                  <a:schemeClr val="tx1">
                    <a:lumMod val="50000"/>
                    <a:lumOff val="50000"/>
                  </a:schemeClr>
                </a:solidFill>
              </a:rPr>
              <a:t>0</a:t>
            </a:r>
            <a:r>
              <a:rPr lang="ja-GB" altLang="en-US" dirty="0">
                <a:solidFill>
                  <a:schemeClr val="tx1">
                    <a:lumMod val="50000"/>
                    <a:lumOff val="50000"/>
                  </a:schemeClr>
                </a:solidFill>
              </a:rPr>
              <a:t>と</a:t>
            </a:r>
            <a:r>
              <a:rPr lang="en-US" altLang="ja-GB" dirty="0">
                <a:solidFill>
                  <a:schemeClr val="tx1">
                    <a:lumMod val="50000"/>
                    <a:lumOff val="50000"/>
                  </a:schemeClr>
                </a:solidFill>
              </a:rPr>
              <a:t>1</a:t>
            </a:r>
            <a:r>
              <a:rPr lang="ja-GB" altLang="en-US" dirty="0">
                <a:solidFill>
                  <a:schemeClr val="tx1">
                    <a:lumMod val="50000"/>
                    <a:lumOff val="50000"/>
                  </a:schemeClr>
                </a:solidFill>
              </a:rPr>
              <a:t>からなる数（真偽値）に対して定義される直感的な操作</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論理演算（集合演算）</a:t>
            </a:r>
            <a:endParaRPr lang="en-US" altLang="ja-GB" dirty="0">
              <a:solidFill>
                <a:schemeClr val="tx1">
                  <a:lumMod val="50000"/>
                  <a:lumOff val="50000"/>
                </a:schemeClr>
              </a:solidFill>
            </a:endParaRPr>
          </a:p>
          <a:p>
            <a:pPr lvl="1"/>
            <a:r>
              <a:rPr kumimoji="1" lang="ja-GB" altLang="en-US" dirty="0">
                <a:solidFill>
                  <a:schemeClr val="tx1">
                    <a:lumMod val="50000"/>
                    <a:lumOff val="50000"/>
                  </a:schemeClr>
                </a:solidFill>
              </a:rPr>
              <a:t>ビット反転</a:t>
            </a:r>
            <a:r>
              <a:rPr lang="ja-GB" altLang="en-US" dirty="0">
                <a:solidFill>
                  <a:schemeClr val="tx1">
                    <a:lumMod val="50000"/>
                    <a:lumOff val="50000"/>
                  </a:schemeClr>
                </a:solidFill>
              </a:rPr>
              <a:t>・</a:t>
            </a:r>
            <a:r>
              <a:rPr kumimoji="1" lang="ja-GB" altLang="en-US" dirty="0">
                <a:solidFill>
                  <a:schemeClr val="tx1">
                    <a:lumMod val="50000"/>
                    <a:lumOff val="50000"/>
                  </a:schemeClr>
                </a:solidFill>
              </a:rPr>
              <a:t>シフト演算</a:t>
            </a:r>
            <a:endParaRPr kumimoji="1" lang="en-US" altLang="ja-GB" dirty="0">
              <a:solidFill>
                <a:schemeClr val="tx1">
                  <a:lumMod val="50000"/>
                  <a:lumOff val="50000"/>
                </a:schemeClr>
              </a:solidFill>
            </a:endParaRPr>
          </a:p>
          <a:p>
            <a:pPr lvl="1"/>
            <a:endParaRPr kumimoji="1" lang="en-US" altLang="ja-JP" dirty="0"/>
          </a:p>
          <a:p>
            <a:pPr marL="0" indent="0">
              <a:buNone/>
            </a:pPr>
            <a:r>
              <a:rPr kumimoji="1" lang="ja-JP" altLang="en-US"/>
              <a:t>四則演算</a:t>
            </a:r>
          </a:p>
          <a:p>
            <a:pPr lvl="1"/>
            <a:r>
              <a:rPr kumimoji="1" lang="ja-JP" altLang="en-US"/>
              <a:t>加算</a:t>
            </a:r>
          </a:p>
          <a:p>
            <a:pPr lvl="1"/>
            <a:r>
              <a:rPr kumimoji="1" lang="ja-JP" altLang="en-US"/>
              <a:t>減算（ビット反転と加算）</a:t>
            </a:r>
          </a:p>
          <a:p>
            <a:pPr lvl="1"/>
            <a:r>
              <a:rPr kumimoji="1" lang="ja-JP" altLang="en-US"/>
              <a:t>乗算（シフト演算と加算）</a:t>
            </a:r>
          </a:p>
          <a:p>
            <a:pPr lvl="1"/>
            <a:r>
              <a:rPr kumimoji="1" lang="ja-JP" altLang="en-US"/>
              <a:t>除算（シフト演算と減算）</a:t>
            </a:r>
          </a:p>
          <a:p>
            <a:endParaRPr kumimoji="1" lang="en-US" altLang="ja-GB" dirty="0"/>
          </a:p>
          <a:p>
            <a:pPr lvl="1"/>
            <a:endParaRPr lang="en-US" altLang="ja-GB" dirty="0"/>
          </a:p>
        </p:txBody>
      </p:sp>
    </p:spTree>
    <p:extLst>
      <p:ext uri="{BB962C8B-B14F-4D97-AF65-F5344CB8AC3E}">
        <p14:creationId xmlns:p14="http://schemas.microsoft.com/office/powerpoint/2010/main" val="328186229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八角形 3">
            <a:extLst>
              <a:ext uri="{FF2B5EF4-FFF2-40B4-BE49-F238E27FC236}">
                <a16:creationId xmlns:a16="http://schemas.microsoft.com/office/drawing/2014/main" id="{0A0994EC-AD0F-15CE-30AF-B12CEE5BDDF5}"/>
              </a:ext>
            </a:extLst>
          </p:cNvPr>
          <p:cNvSpPr/>
          <p:nvPr/>
        </p:nvSpPr>
        <p:spPr>
          <a:xfrm>
            <a:off x="1754577" y="2690191"/>
            <a:ext cx="5507915" cy="3378753"/>
          </a:xfrm>
          <a:prstGeom prst="octagon">
            <a:avLst>
              <a:gd name="adj" fmla="val 14706"/>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 name="タイトル 1">
            <a:extLst>
              <a:ext uri="{FF2B5EF4-FFF2-40B4-BE49-F238E27FC236}">
                <a16:creationId xmlns:a16="http://schemas.microsoft.com/office/drawing/2014/main" id="{1D8D60A3-0495-D4A8-E6CC-72ADEFF428F7}"/>
              </a:ext>
            </a:extLst>
          </p:cNvPr>
          <p:cNvSpPr>
            <a:spLocks noGrp="1"/>
          </p:cNvSpPr>
          <p:nvPr>
            <p:ph type="title"/>
          </p:nvPr>
        </p:nvSpPr>
        <p:spPr/>
        <p:txBody>
          <a:bodyPr/>
          <a:lstStyle/>
          <a:p>
            <a:r>
              <a:rPr lang="ja-GB" altLang="en-US" dirty="0"/>
              <a:t>四則演算</a:t>
            </a:r>
            <a:endParaRPr kumimoji="1" lang="ja-GB" altLang="en-US" dirty="0"/>
          </a:p>
        </p:txBody>
      </p:sp>
      <p:sp>
        <p:nvSpPr>
          <p:cNvPr id="3" name="コンテンツ プレースホルダー 2">
            <a:extLst>
              <a:ext uri="{FF2B5EF4-FFF2-40B4-BE49-F238E27FC236}">
                <a16:creationId xmlns:a16="http://schemas.microsoft.com/office/drawing/2014/main" id="{3C0FBB7E-8B3A-A07A-3FAC-2B34BFD40AF2}"/>
              </a:ext>
            </a:extLst>
          </p:cNvPr>
          <p:cNvSpPr>
            <a:spLocks noGrp="1"/>
          </p:cNvSpPr>
          <p:nvPr>
            <p:ph idx="1"/>
          </p:nvPr>
        </p:nvSpPr>
        <p:spPr/>
        <p:txBody>
          <a:bodyPr/>
          <a:lstStyle/>
          <a:p>
            <a:pPr marL="0" indent="0">
              <a:buNone/>
            </a:pPr>
            <a:r>
              <a:rPr kumimoji="1" lang="ja-GB" altLang="en-US" dirty="0"/>
              <a:t>加算</a:t>
            </a:r>
            <a:endParaRPr kumimoji="1" lang="en-US" altLang="ja-GB" dirty="0"/>
          </a:p>
          <a:p>
            <a:pPr lvl="1"/>
            <a:r>
              <a:rPr lang="en-US" altLang="ja-GB" dirty="0"/>
              <a:t>10</a:t>
            </a:r>
            <a:r>
              <a:rPr lang="ja-GB" altLang="en-US" dirty="0"/>
              <a:t>進数と同様に筆算で計算できる</a:t>
            </a:r>
            <a:endParaRPr kumimoji="1" lang="en-US" altLang="ja-GB" dirty="0"/>
          </a:p>
          <a:p>
            <a:pPr lvl="1"/>
            <a:r>
              <a:rPr lang="en-US" altLang="ja-GB" dirty="0"/>
              <a:t>Web</a:t>
            </a:r>
            <a:r>
              <a:rPr lang="ja-GB" altLang="en-US" dirty="0"/>
              <a:t>アプリでの解説</a:t>
            </a:r>
            <a:endParaRPr lang="en-US" altLang="ja-GB" dirty="0"/>
          </a:p>
          <a:p>
            <a:pPr lvl="2"/>
            <a:r>
              <a:rPr lang="en-GB" altLang="ja-GB" dirty="0">
                <a:solidFill>
                  <a:schemeClr val="tx1">
                    <a:lumMod val="50000"/>
                    <a:lumOff val="50000"/>
                  </a:schemeClr>
                </a:solidFill>
                <a:hlinkClick r:id="rId2">
                  <a:extLst>
                    <a:ext uri="{A12FA001-AC4F-418D-AE19-62706E023703}">
                      <ahyp:hlinkClr xmlns:ahyp="http://schemas.microsoft.com/office/drawing/2018/hyperlinkcolor" val="tx"/>
                    </a:ext>
                  </a:extLst>
                </a:hlinkClick>
              </a:rPr>
              <a:t>https://claude.ai/public/artifacts/1dabe594-0783-405e-a1a4-0979ca0bd6fe</a:t>
            </a:r>
            <a:r>
              <a:rPr lang="en-GB" altLang="ja-GB" dirty="0">
                <a:solidFill>
                  <a:schemeClr val="tx1">
                    <a:lumMod val="50000"/>
                    <a:lumOff val="50000"/>
                  </a:schemeClr>
                </a:solidFill>
              </a:rPr>
              <a:t> </a:t>
            </a:r>
          </a:p>
          <a:p>
            <a:endParaRPr kumimoji="1" lang="ja-GB" altLang="en-US" dirty="0"/>
          </a:p>
        </p:txBody>
      </p:sp>
      <p:sp>
        <p:nvSpPr>
          <p:cNvPr id="6" name="テキスト ボックス 5">
            <a:extLst>
              <a:ext uri="{FF2B5EF4-FFF2-40B4-BE49-F238E27FC236}">
                <a16:creationId xmlns:a16="http://schemas.microsoft.com/office/drawing/2014/main" id="{7386FF9C-F351-E41D-B6CD-5893A692DA57}"/>
              </a:ext>
            </a:extLst>
          </p:cNvPr>
          <p:cNvSpPr txBox="1"/>
          <p:nvPr/>
        </p:nvSpPr>
        <p:spPr>
          <a:xfrm>
            <a:off x="3129937" y="6031982"/>
            <a:ext cx="2884123" cy="307777"/>
          </a:xfrm>
          <a:prstGeom prst="rect">
            <a:avLst/>
          </a:prstGeom>
          <a:noFill/>
        </p:spPr>
        <p:txBody>
          <a:bodyPr wrap="none" rtlCol="0">
            <a:spAutoFit/>
          </a:bodyPr>
          <a:lstStyle/>
          <a:p>
            <a:r>
              <a:rPr kumimoji="1" lang="en-US" altLang="ja-GB" sz="1400" dirty="0"/>
              <a:t>2024</a:t>
            </a:r>
            <a:r>
              <a:rPr kumimoji="1" lang="ja-GB" altLang="en-US" sz="1400" dirty="0"/>
              <a:t>年度資料より許可を得て引用</a:t>
            </a:r>
          </a:p>
        </p:txBody>
      </p:sp>
    </p:spTree>
    <p:extLst>
      <p:ext uri="{BB962C8B-B14F-4D97-AF65-F5344CB8AC3E}">
        <p14:creationId xmlns:p14="http://schemas.microsoft.com/office/powerpoint/2010/main" val="318203910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329B8-7279-69EF-73DE-C044C0721932}"/>
            </a:ext>
          </a:extLst>
        </p:cNvPr>
        <p:cNvGrpSpPr/>
        <p:nvPr/>
      </p:nvGrpSpPr>
      <p:grpSpPr>
        <a:xfrm>
          <a:off x="0" y="0"/>
          <a:ext cx="0" cy="0"/>
          <a:chOff x="0" y="0"/>
          <a:chExt cx="0" cy="0"/>
        </a:xfrm>
      </p:grpSpPr>
      <p:sp>
        <p:nvSpPr>
          <p:cNvPr id="4" name="八角形 3">
            <a:extLst>
              <a:ext uri="{FF2B5EF4-FFF2-40B4-BE49-F238E27FC236}">
                <a16:creationId xmlns:a16="http://schemas.microsoft.com/office/drawing/2014/main" id="{BEDA7B02-8D1C-A9B6-1238-973E4443B66E}"/>
              </a:ext>
            </a:extLst>
          </p:cNvPr>
          <p:cNvSpPr/>
          <p:nvPr/>
        </p:nvSpPr>
        <p:spPr>
          <a:xfrm>
            <a:off x="2119574" y="3763617"/>
            <a:ext cx="5045019" cy="2523696"/>
          </a:xfrm>
          <a:prstGeom prst="octagon">
            <a:avLst>
              <a:gd name="adj" fmla="val 14706"/>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 name="タイトル 1">
            <a:extLst>
              <a:ext uri="{FF2B5EF4-FFF2-40B4-BE49-F238E27FC236}">
                <a16:creationId xmlns:a16="http://schemas.microsoft.com/office/drawing/2014/main" id="{7EB18EEC-F975-CE56-BA03-142E786B342A}"/>
              </a:ext>
            </a:extLst>
          </p:cNvPr>
          <p:cNvSpPr>
            <a:spLocks noGrp="1"/>
          </p:cNvSpPr>
          <p:nvPr>
            <p:ph type="title"/>
          </p:nvPr>
        </p:nvSpPr>
        <p:spPr/>
        <p:txBody>
          <a:bodyPr/>
          <a:lstStyle/>
          <a:p>
            <a:r>
              <a:rPr lang="ja-GB" altLang="en-US" dirty="0"/>
              <a:t>四則演算</a:t>
            </a:r>
            <a:endParaRPr kumimoji="1" lang="ja-GB" altLang="en-US" dirty="0"/>
          </a:p>
        </p:txBody>
      </p:sp>
      <p:sp>
        <p:nvSpPr>
          <p:cNvPr id="3" name="コンテンツ プレースホルダー 2">
            <a:extLst>
              <a:ext uri="{FF2B5EF4-FFF2-40B4-BE49-F238E27FC236}">
                <a16:creationId xmlns:a16="http://schemas.microsoft.com/office/drawing/2014/main" id="{6670E710-1F75-1322-D033-DCEA22EF7487}"/>
              </a:ext>
            </a:extLst>
          </p:cNvPr>
          <p:cNvSpPr>
            <a:spLocks noGrp="1"/>
          </p:cNvSpPr>
          <p:nvPr>
            <p:ph idx="1"/>
          </p:nvPr>
        </p:nvSpPr>
        <p:spPr/>
        <p:txBody>
          <a:bodyPr/>
          <a:lstStyle/>
          <a:p>
            <a:pPr marL="0" indent="0">
              <a:buNone/>
            </a:pPr>
            <a:r>
              <a:rPr kumimoji="1" lang="ja-GB" altLang="en-US" dirty="0"/>
              <a:t>加算</a:t>
            </a:r>
            <a:endParaRPr kumimoji="1" lang="en-US" altLang="ja-GB" dirty="0"/>
          </a:p>
          <a:p>
            <a:pPr lvl="1"/>
            <a:r>
              <a:rPr lang="en-US" altLang="ja-GB" dirty="0"/>
              <a:t>10</a:t>
            </a:r>
            <a:r>
              <a:rPr lang="ja-GB" altLang="en-US" dirty="0"/>
              <a:t>進数と同様に筆算で計算できる</a:t>
            </a:r>
            <a:endParaRPr lang="en-US" altLang="ja-GB" dirty="0"/>
          </a:p>
          <a:p>
            <a:pPr lvl="1"/>
            <a:r>
              <a:rPr kumimoji="1" lang="en-US" altLang="ja-GB" dirty="0"/>
              <a:t>Web</a:t>
            </a:r>
            <a:r>
              <a:rPr kumimoji="1" lang="ja-GB" altLang="en-US" dirty="0"/>
              <a:t>アプリでの解説</a:t>
            </a:r>
            <a:endParaRPr kumimoji="1" lang="en-US" altLang="ja-GB" dirty="0"/>
          </a:p>
          <a:p>
            <a:pPr lvl="2"/>
            <a:r>
              <a:rPr lang="en-GB" altLang="ja-GB" dirty="0">
                <a:solidFill>
                  <a:schemeClr val="tx1">
                    <a:lumMod val="50000"/>
                    <a:lumOff val="50000"/>
                  </a:schemeClr>
                </a:solidFill>
                <a:hlinkClick r:id="rId2">
                  <a:extLst>
                    <a:ext uri="{A12FA001-AC4F-418D-AE19-62706E023703}">
                      <ahyp:hlinkClr xmlns:ahyp="http://schemas.microsoft.com/office/drawing/2018/hyperlinkcolor" val="tx"/>
                    </a:ext>
                  </a:extLst>
                </a:hlinkClick>
              </a:rPr>
              <a:t>https://claude.ai/public/artifacts/1dabe594-0783-405e-a1a4-0979ca0bd6fe</a:t>
            </a:r>
            <a:r>
              <a:rPr lang="en-GB" altLang="ja-GB" dirty="0">
                <a:solidFill>
                  <a:schemeClr val="tx1">
                    <a:lumMod val="50000"/>
                    <a:lumOff val="50000"/>
                  </a:schemeClr>
                </a:solidFill>
              </a:rPr>
              <a:t> </a:t>
            </a:r>
          </a:p>
          <a:p>
            <a:pPr marL="0" indent="0">
              <a:buNone/>
            </a:pPr>
            <a:r>
              <a:rPr kumimoji="1" lang="ja-GB" altLang="en-US" dirty="0"/>
              <a:t>減算</a:t>
            </a:r>
            <a:endParaRPr kumimoji="1" lang="en-US" altLang="ja-GB" dirty="0"/>
          </a:p>
          <a:p>
            <a:pPr lvl="1"/>
            <a:r>
              <a:rPr lang="en-US" altLang="ja-GB" dirty="0"/>
              <a:t>10</a:t>
            </a:r>
            <a:r>
              <a:rPr lang="ja-GB" altLang="en-US" dirty="0"/>
              <a:t>進数と同様に筆算で計算できる</a:t>
            </a:r>
            <a:endParaRPr lang="en-US" altLang="ja-GB" dirty="0"/>
          </a:p>
          <a:p>
            <a:pPr lvl="1"/>
            <a:r>
              <a:rPr lang="ja-GB" altLang="en-US" dirty="0">
                <a:solidFill>
                  <a:schemeClr val="accent2"/>
                </a:solidFill>
              </a:rPr>
              <a:t>「補数」という特殊な数値表現を用いれば加算回路を流用して実装できる</a:t>
            </a:r>
            <a:endParaRPr lang="en-US" altLang="ja-GB" dirty="0">
              <a:solidFill>
                <a:schemeClr val="accent2"/>
              </a:solidFill>
            </a:endParaRPr>
          </a:p>
        </p:txBody>
      </p:sp>
      <p:sp>
        <p:nvSpPr>
          <p:cNvPr id="6" name="テキスト ボックス 5">
            <a:extLst>
              <a:ext uri="{FF2B5EF4-FFF2-40B4-BE49-F238E27FC236}">
                <a16:creationId xmlns:a16="http://schemas.microsoft.com/office/drawing/2014/main" id="{8F4AB849-857A-3CE6-83B9-DDD734A1E4D2}"/>
              </a:ext>
            </a:extLst>
          </p:cNvPr>
          <p:cNvSpPr txBox="1"/>
          <p:nvPr/>
        </p:nvSpPr>
        <p:spPr>
          <a:xfrm>
            <a:off x="3129937" y="6287313"/>
            <a:ext cx="2884123" cy="307777"/>
          </a:xfrm>
          <a:prstGeom prst="rect">
            <a:avLst/>
          </a:prstGeom>
          <a:noFill/>
        </p:spPr>
        <p:txBody>
          <a:bodyPr wrap="none" rtlCol="0">
            <a:spAutoFit/>
          </a:bodyPr>
          <a:lstStyle/>
          <a:p>
            <a:r>
              <a:rPr kumimoji="1" lang="en-US" altLang="ja-GB" sz="1400" dirty="0"/>
              <a:t>2024</a:t>
            </a:r>
            <a:r>
              <a:rPr kumimoji="1" lang="ja-GB" altLang="en-US" sz="1400" dirty="0"/>
              <a:t>年度資料より許可を得て引用</a:t>
            </a:r>
          </a:p>
        </p:txBody>
      </p:sp>
    </p:spTree>
    <p:extLst>
      <p:ext uri="{BB962C8B-B14F-4D97-AF65-F5344CB8AC3E}">
        <p14:creationId xmlns:p14="http://schemas.microsoft.com/office/powerpoint/2010/main" val="321457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F50D89-BA50-4B1D-A70E-88251DF7D40C}"/>
              </a:ext>
            </a:extLst>
          </p:cNvPr>
          <p:cNvSpPr>
            <a:spLocks noGrp="1"/>
          </p:cNvSpPr>
          <p:nvPr>
            <p:ph type="title"/>
          </p:nvPr>
        </p:nvSpPr>
        <p:spPr/>
        <p:txBody>
          <a:bodyPr>
            <a:normAutofit/>
          </a:bodyPr>
          <a:lstStyle/>
          <a:p>
            <a:r>
              <a:rPr kumimoji="1" lang="ja-GB" altLang="en-US" dirty="0"/>
              <a:t>補数：減算を加算回路で行うための工夫</a:t>
            </a:r>
          </a:p>
        </p:txBody>
      </p:sp>
      <p:sp>
        <p:nvSpPr>
          <p:cNvPr id="3" name="コンテンツ プレースホルダー 2">
            <a:extLst>
              <a:ext uri="{FF2B5EF4-FFF2-40B4-BE49-F238E27FC236}">
                <a16:creationId xmlns:a16="http://schemas.microsoft.com/office/drawing/2014/main" id="{E9BF9050-B4F6-C0EC-DAB7-B54613C985F9}"/>
              </a:ext>
            </a:extLst>
          </p:cNvPr>
          <p:cNvSpPr>
            <a:spLocks noGrp="1"/>
          </p:cNvSpPr>
          <p:nvPr>
            <p:ph idx="1"/>
          </p:nvPr>
        </p:nvSpPr>
        <p:spPr/>
        <p:txBody>
          <a:bodyPr/>
          <a:lstStyle/>
          <a:p>
            <a:pPr marL="0" indent="0">
              <a:buNone/>
            </a:pPr>
            <a:r>
              <a:rPr kumimoji="1" lang="en-US" altLang="ja-GB" dirty="0"/>
              <a:t>1</a:t>
            </a:r>
            <a:r>
              <a:rPr kumimoji="1" lang="ja-GB" altLang="en-US" dirty="0"/>
              <a:t>の補数：</a:t>
            </a:r>
            <a:r>
              <a:rPr kumimoji="1" lang="en-US" altLang="ja-GB" dirty="0"/>
              <a:t>a + a</a:t>
            </a:r>
            <a:r>
              <a:rPr kumimoji="1" lang="en-US" altLang="ja-GB" baseline="-25000" dirty="0"/>
              <a:t>1</a:t>
            </a:r>
            <a:r>
              <a:rPr kumimoji="1" lang="ja-GB" altLang="en-US" dirty="0"/>
              <a:t>で全ての桁が</a:t>
            </a:r>
            <a:r>
              <a:rPr kumimoji="1" lang="en-US" altLang="ja-GB" dirty="0"/>
              <a:t>1</a:t>
            </a:r>
            <a:r>
              <a:rPr kumimoji="1" lang="ja-GB" altLang="en-US" dirty="0"/>
              <a:t>となる</a:t>
            </a:r>
            <a:r>
              <a:rPr kumimoji="1" lang="en-US" altLang="ja-GB" dirty="0"/>
              <a:t>a1</a:t>
            </a:r>
            <a:r>
              <a:rPr kumimoji="1" lang="ja-GB" altLang="en-US" dirty="0"/>
              <a:t>は，</a:t>
            </a:r>
            <a:r>
              <a:rPr kumimoji="1" lang="en-US" altLang="ja-GB" dirty="0"/>
              <a:t>a</a:t>
            </a:r>
            <a:r>
              <a:rPr lang="ja-GB" altLang="en-US" dirty="0"/>
              <a:t>に対する「</a:t>
            </a:r>
            <a:r>
              <a:rPr lang="en-US" altLang="ja-GB" dirty="0"/>
              <a:t>1</a:t>
            </a:r>
            <a:r>
              <a:rPr lang="ja-GB" altLang="en-US" dirty="0"/>
              <a:t>の補数」</a:t>
            </a:r>
            <a:endParaRPr lang="en-US" altLang="ja-GB" dirty="0"/>
          </a:p>
          <a:p>
            <a:pPr marL="457200" lvl="1" indent="0">
              <a:buNone/>
            </a:pPr>
            <a:r>
              <a:rPr kumimoji="1" lang="ja-GB" altLang="en-US" dirty="0">
                <a:solidFill>
                  <a:srgbClr val="0070C0"/>
                </a:solidFill>
              </a:rPr>
              <a:t>ビット反転で得られる</a:t>
            </a:r>
            <a:endParaRPr kumimoji="1" lang="en-US" altLang="ja-GB" dirty="0">
              <a:solidFill>
                <a:srgbClr val="0070C0"/>
              </a:solidFill>
            </a:endParaRPr>
          </a:p>
          <a:p>
            <a:pPr lvl="2"/>
            <a:r>
              <a:rPr lang="ja-GB" altLang="en-US" dirty="0"/>
              <a:t>例）</a:t>
            </a:r>
            <a:r>
              <a:rPr lang="en-US" altLang="ja-GB" dirty="0"/>
              <a:t>101→010</a:t>
            </a:r>
            <a:r>
              <a:rPr lang="ja-GB" altLang="en-US" dirty="0"/>
              <a:t>，検算：</a:t>
            </a:r>
            <a:r>
              <a:rPr lang="en-US" altLang="ja-GB" dirty="0"/>
              <a:t>101</a:t>
            </a:r>
            <a:r>
              <a:rPr lang="en-US" altLang="ja-GB" baseline="-25000" dirty="0"/>
              <a:t>(2)</a:t>
            </a:r>
            <a:r>
              <a:rPr lang="en-US" altLang="ja-GB" dirty="0"/>
              <a:t> + 010</a:t>
            </a:r>
            <a:r>
              <a:rPr lang="en-US" altLang="ja-GB" baseline="-25000" dirty="0"/>
              <a:t>(2)</a:t>
            </a:r>
            <a:r>
              <a:rPr lang="en-US" altLang="ja-GB" dirty="0"/>
              <a:t> = </a:t>
            </a:r>
            <a:r>
              <a:rPr lang="en-US" altLang="ja-GB" dirty="0">
                <a:solidFill>
                  <a:srgbClr val="0070C0"/>
                </a:solidFill>
              </a:rPr>
              <a:t>111</a:t>
            </a:r>
            <a:r>
              <a:rPr lang="en-US" altLang="ja-GB" baseline="-25000" dirty="0"/>
              <a:t>(2)</a:t>
            </a:r>
            <a:endParaRPr lang="en-US" altLang="ja-GB" dirty="0"/>
          </a:p>
          <a:p>
            <a:pPr lvl="1"/>
            <a:endParaRPr kumimoji="1" lang="en-US" altLang="ja-GB" dirty="0"/>
          </a:p>
          <a:p>
            <a:pPr marL="0" indent="0">
              <a:buNone/>
            </a:pPr>
            <a:r>
              <a:rPr lang="en-US" altLang="ja-GB" dirty="0"/>
              <a:t>2</a:t>
            </a:r>
            <a:r>
              <a:rPr lang="ja-GB" altLang="en-US" dirty="0"/>
              <a:t>の補数：</a:t>
            </a:r>
            <a:r>
              <a:rPr lang="en-US" altLang="ja-GB" dirty="0"/>
              <a:t> a + a</a:t>
            </a:r>
            <a:r>
              <a:rPr lang="en-US" altLang="ja-GB" baseline="-25000" dirty="0"/>
              <a:t>2</a:t>
            </a:r>
            <a:r>
              <a:rPr lang="en-US" altLang="ja-GB" dirty="0"/>
              <a:t> = 2</a:t>
            </a:r>
            <a:r>
              <a:rPr lang="en-US" altLang="ja-GB" baseline="30000" dirty="0"/>
              <a:t>n</a:t>
            </a:r>
            <a:r>
              <a:rPr lang="ja-GB" altLang="en-US" dirty="0"/>
              <a:t>となる</a:t>
            </a:r>
            <a:r>
              <a:rPr lang="en-US" altLang="ja-GB" dirty="0"/>
              <a:t>a</a:t>
            </a:r>
            <a:r>
              <a:rPr lang="en-US" altLang="ja-GB" baseline="-25000" dirty="0"/>
              <a:t>2</a:t>
            </a:r>
            <a:r>
              <a:rPr lang="ja-GB" altLang="en-US" dirty="0"/>
              <a:t>は，</a:t>
            </a:r>
            <a:r>
              <a:rPr lang="en-US" altLang="ja-GB" dirty="0"/>
              <a:t>a</a:t>
            </a:r>
            <a:r>
              <a:rPr lang="ja-GB" altLang="en-US" dirty="0"/>
              <a:t>に対する「</a:t>
            </a:r>
            <a:r>
              <a:rPr lang="en-US" altLang="ja-GB" dirty="0"/>
              <a:t>2</a:t>
            </a:r>
            <a:r>
              <a:rPr lang="ja-GB" altLang="en-US" dirty="0"/>
              <a:t>の補数」</a:t>
            </a:r>
            <a:endParaRPr lang="en-US" altLang="ja-GB" dirty="0"/>
          </a:p>
          <a:p>
            <a:pPr marL="457200" lvl="1" indent="0">
              <a:buNone/>
            </a:pPr>
            <a:r>
              <a:rPr lang="ja-GB" altLang="en-US" dirty="0">
                <a:solidFill>
                  <a:srgbClr val="0070C0"/>
                </a:solidFill>
              </a:rPr>
              <a:t>ビット反転と加算（</a:t>
            </a:r>
            <a:r>
              <a:rPr lang="en-US" altLang="ja-GB" dirty="0">
                <a:solidFill>
                  <a:srgbClr val="0070C0"/>
                </a:solidFill>
              </a:rPr>
              <a:t>+1</a:t>
            </a:r>
            <a:r>
              <a:rPr lang="ja-GB" altLang="en-US" dirty="0">
                <a:solidFill>
                  <a:srgbClr val="0070C0"/>
                </a:solidFill>
              </a:rPr>
              <a:t>）で得られる</a:t>
            </a:r>
            <a:endParaRPr lang="en-US" altLang="ja-GB" dirty="0">
              <a:solidFill>
                <a:srgbClr val="0070C0"/>
              </a:solidFill>
            </a:endParaRPr>
          </a:p>
          <a:p>
            <a:pPr lvl="2"/>
            <a:r>
              <a:rPr kumimoji="1" lang="ja-GB" altLang="en-US" dirty="0"/>
              <a:t>例</a:t>
            </a:r>
            <a:r>
              <a:rPr lang="ja-GB" altLang="en-US" dirty="0"/>
              <a:t>）</a:t>
            </a:r>
            <a:r>
              <a:rPr kumimoji="1" lang="en-US" altLang="ja-GB" dirty="0"/>
              <a:t>101→010→011</a:t>
            </a:r>
            <a:r>
              <a:rPr kumimoji="1" lang="ja-GB" altLang="en-US" dirty="0"/>
              <a:t>，検算：</a:t>
            </a:r>
            <a:r>
              <a:rPr kumimoji="1" lang="en-US" altLang="ja-GB" dirty="0"/>
              <a:t>101</a:t>
            </a:r>
            <a:r>
              <a:rPr kumimoji="1" lang="en-US" altLang="ja-GB" baseline="-25000" dirty="0"/>
              <a:t>(2)</a:t>
            </a:r>
            <a:r>
              <a:rPr kumimoji="1" lang="en-US" altLang="ja-GB" dirty="0"/>
              <a:t> + 011</a:t>
            </a:r>
            <a:r>
              <a:rPr kumimoji="1" lang="en-US" altLang="ja-GB" baseline="-25000" dirty="0"/>
              <a:t>(2)</a:t>
            </a:r>
            <a:r>
              <a:rPr kumimoji="1" lang="en-US" altLang="ja-GB" dirty="0"/>
              <a:t> = </a:t>
            </a:r>
            <a:r>
              <a:rPr kumimoji="1" lang="en-US" altLang="ja-GB" dirty="0">
                <a:solidFill>
                  <a:srgbClr val="0070C0"/>
                </a:solidFill>
              </a:rPr>
              <a:t>1000</a:t>
            </a:r>
            <a:r>
              <a:rPr kumimoji="1" lang="en-US" altLang="ja-GB" baseline="-25000" dirty="0"/>
              <a:t>(2)</a:t>
            </a:r>
            <a:r>
              <a:rPr kumimoji="1" lang="en-US" altLang="ja-GB" dirty="0"/>
              <a:t> = 2</a:t>
            </a:r>
            <a:r>
              <a:rPr kumimoji="1" lang="en-US" altLang="ja-GB" baseline="30000" dirty="0"/>
              <a:t>4</a:t>
            </a:r>
            <a:r>
              <a:rPr kumimoji="1" lang="en-US" altLang="ja-GB" baseline="-25000" dirty="0"/>
              <a:t>(10)</a:t>
            </a:r>
          </a:p>
          <a:p>
            <a:pPr marL="457200" lvl="1" indent="0">
              <a:buNone/>
            </a:pPr>
            <a:r>
              <a:rPr kumimoji="1" lang="ja-GB" altLang="en-US" dirty="0"/>
              <a:t>反対の操作で元に戻せる（</a:t>
            </a:r>
            <a:r>
              <a:rPr kumimoji="1" lang="en-US" altLang="ja-GB" dirty="0"/>
              <a:t>-1</a:t>
            </a:r>
            <a:r>
              <a:rPr kumimoji="1" lang="ja-GB" altLang="en-US" dirty="0"/>
              <a:t>してビット反転）</a:t>
            </a:r>
            <a:endParaRPr kumimoji="1" lang="en-US" altLang="ja-GB" dirty="0"/>
          </a:p>
          <a:p>
            <a:pPr lvl="2"/>
            <a:r>
              <a:rPr kumimoji="1" lang="ja-GB" altLang="en-US" dirty="0"/>
              <a:t>例）</a:t>
            </a:r>
            <a:r>
              <a:rPr lang="en-US" altLang="ja-GB" dirty="0"/>
              <a:t>011→010→101</a:t>
            </a:r>
            <a:endParaRPr kumimoji="1" lang="en-US" altLang="ja-GB" dirty="0"/>
          </a:p>
          <a:p>
            <a:pPr lvl="1"/>
            <a:endParaRPr lang="en-US" altLang="ja-GB" dirty="0"/>
          </a:p>
          <a:p>
            <a:pPr marL="0" indent="0">
              <a:buNone/>
            </a:pPr>
            <a:r>
              <a:rPr kumimoji="1" lang="ja-GB" altLang="en-US" dirty="0"/>
              <a:t>符号付き</a:t>
            </a:r>
            <a:r>
              <a:rPr kumimoji="1" lang="en-US" altLang="ja-GB" dirty="0"/>
              <a:t>2</a:t>
            </a:r>
            <a:r>
              <a:rPr kumimoji="1" lang="ja-GB" altLang="en-US" dirty="0"/>
              <a:t>の補数表現</a:t>
            </a:r>
            <a:endParaRPr kumimoji="1" lang="en-US" altLang="ja-GB" dirty="0"/>
          </a:p>
          <a:p>
            <a:pPr marL="457200" lvl="1" indent="0">
              <a:buNone/>
            </a:pPr>
            <a:r>
              <a:rPr kumimoji="1" lang="ja-GB" altLang="en-US" dirty="0"/>
              <a:t>最も大きい桁を正負の符号と解釈する方式</a:t>
            </a:r>
            <a:endParaRPr kumimoji="1" lang="en-US" altLang="ja-GB" dirty="0"/>
          </a:p>
          <a:p>
            <a:pPr marL="457200" lvl="1" indent="0">
              <a:buNone/>
            </a:pPr>
            <a:r>
              <a:rPr lang="ja-GB" altLang="en-US" dirty="0"/>
              <a:t>例）</a:t>
            </a:r>
            <a:r>
              <a:rPr lang="en-US" altLang="ja-GB" dirty="0"/>
              <a:t>1111 1111</a:t>
            </a:r>
          </a:p>
          <a:p>
            <a:pPr lvl="2"/>
            <a:r>
              <a:rPr lang="ja-GB" altLang="en-US" dirty="0"/>
              <a:t>符号付き</a:t>
            </a:r>
            <a:r>
              <a:rPr lang="en-US" altLang="ja-GB" dirty="0"/>
              <a:t>2</a:t>
            </a:r>
            <a:r>
              <a:rPr lang="ja-GB" altLang="en-US" dirty="0"/>
              <a:t>の補数：符号が</a:t>
            </a:r>
            <a:r>
              <a:rPr lang="en-US" altLang="ja-GB" dirty="0"/>
              <a:t>1</a:t>
            </a:r>
            <a:r>
              <a:rPr lang="ja-GB" altLang="en-US" dirty="0"/>
              <a:t>で，</a:t>
            </a:r>
            <a:r>
              <a:rPr lang="en-US" altLang="ja-GB" dirty="0"/>
              <a:t>2</a:t>
            </a:r>
            <a:r>
              <a:rPr lang="ja-GB" altLang="en-US" dirty="0"/>
              <a:t>の補数の「</a:t>
            </a:r>
            <a:r>
              <a:rPr lang="en-US" altLang="ja-GB" dirty="0"/>
              <a:t>111 1111</a:t>
            </a:r>
            <a:r>
              <a:rPr lang="ja-GB" altLang="en-US" dirty="0"/>
              <a:t>」</a:t>
            </a:r>
            <a:endParaRPr lang="en-US" altLang="ja-GB" dirty="0"/>
          </a:p>
          <a:p>
            <a:pPr lvl="3"/>
            <a:r>
              <a:rPr lang="en-US" altLang="ja-GB" dirty="0"/>
              <a:t>2</a:t>
            </a:r>
            <a:r>
              <a:rPr lang="ja-GB" altLang="en-US" dirty="0"/>
              <a:t>の補数の</a:t>
            </a:r>
            <a:r>
              <a:rPr lang="en-US" altLang="ja-GB" dirty="0"/>
              <a:t>111 1111→111 1110→000 0001</a:t>
            </a:r>
            <a:r>
              <a:rPr lang="en-US" altLang="ja-GB" baseline="-25000" dirty="0"/>
              <a:t>(2)</a:t>
            </a:r>
            <a:r>
              <a:rPr lang="en-US" altLang="ja-GB" dirty="0"/>
              <a:t>→1</a:t>
            </a:r>
            <a:r>
              <a:rPr lang="en-US" altLang="ja-GB" baseline="-25000" dirty="0"/>
              <a:t>(10)</a:t>
            </a:r>
          </a:p>
          <a:p>
            <a:pPr lvl="3"/>
            <a:r>
              <a:rPr lang="ja-GB" altLang="en-US" dirty="0"/>
              <a:t>答えは</a:t>
            </a:r>
            <a:r>
              <a:rPr lang="en-US" altLang="ja-GB" dirty="0"/>
              <a:t>-1</a:t>
            </a:r>
          </a:p>
          <a:p>
            <a:pPr lvl="2"/>
            <a:r>
              <a:rPr lang="ja-GB" altLang="en-US" dirty="0"/>
              <a:t>通常の</a:t>
            </a:r>
            <a:r>
              <a:rPr lang="en-US" altLang="ja-GB" dirty="0"/>
              <a:t>2</a:t>
            </a:r>
            <a:r>
              <a:rPr lang="ja-GB" altLang="en-US" dirty="0"/>
              <a:t>進数と解釈する場合：</a:t>
            </a:r>
            <a:r>
              <a:rPr lang="en-US" altLang="ja-GB" dirty="0"/>
              <a:t>2</a:t>
            </a:r>
            <a:r>
              <a:rPr lang="en-US" altLang="ja-GB" baseline="30000" dirty="0"/>
              <a:t>7</a:t>
            </a:r>
            <a:r>
              <a:rPr lang="en-US" altLang="ja-GB" dirty="0"/>
              <a:t>+2</a:t>
            </a:r>
            <a:r>
              <a:rPr lang="en-US" altLang="ja-GB" baseline="30000" dirty="0"/>
              <a:t>6</a:t>
            </a:r>
            <a:r>
              <a:rPr lang="en-US" altLang="ja-GB" dirty="0"/>
              <a:t>+2</a:t>
            </a:r>
            <a:r>
              <a:rPr lang="en-US" altLang="ja-GB" baseline="30000" dirty="0"/>
              <a:t>5</a:t>
            </a:r>
            <a:r>
              <a:rPr lang="en-US" altLang="ja-GB" dirty="0"/>
              <a:t>+2</a:t>
            </a:r>
            <a:r>
              <a:rPr lang="en-US" altLang="ja-GB" baseline="30000" dirty="0"/>
              <a:t>4</a:t>
            </a:r>
            <a:r>
              <a:rPr lang="en-US" altLang="ja-GB" dirty="0"/>
              <a:t> + 2</a:t>
            </a:r>
            <a:r>
              <a:rPr lang="en-US" altLang="ja-GB" baseline="30000" dirty="0"/>
              <a:t>3</a:t>
            </a:r>
            <a:r>
              <a:rPr lang="en-US" altLang="ja-GB" dirty="0"/>
              <a:t>+2</a:t>
            </a:r>
            <a:r>
              <a:rPr lang="en-US" altLang="ja-GB" baseline="30000" dirty="0"/>
              <a:t>2</a:t>
            </a:r>
            <a:r>
              <a:rPr lang="en-US" altLang="ja-GB" dirty="0"/>
              <a:t>+2</a:t>
            </a:r>
            <a:r>
              <a:rPr lang="en-US" altLang="ja-GB" baseline="30000" dirty="0"/>
              <a:t>1</a:t>
            </a:r>
            <a:r>
              <a:rPr lang="en-US" altLang="ja-GB" dirty="0"/>
              <a:t>+2</a:t>
            </a:r>
            <a:r>
              <a:rPr lang="en-US" altLang="ja-GB" baseline="30000" dirty="0"/>
              <a:t>0</a:t>
            </a:r>
            <a:r>
              <a:rPr lang="en-US" altLang="ja-GB" dirty="0"/>
              <a:t>=255</a:t>
            </a:r>
            <a:r>
              <a:rPr lang="en-US" altLang="ja-GB" baseline="-25000" dirty="0"/>
              <a:t>(10)</a:t>
            </a:r>
          </a:p>
          <a:p>
            <a:pPr lvl="3"/>
            <a:endParaRPr kumimoji="1" lang="en-US" altLang="ja-GB" dirty="0"/>
          </a:p>
        </p:txBody>
      </p:sp>
    </p:spTree>
    <p:extLst>
      <p:ext uri="{BB962C8B-B14F-4D97-AF65-F5344CB8AC3E}">
        <p14:creationId xmlns:p14="http://schemas.microsoft.com/office/powerpoint/2010/main" val="2533550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5" end="1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62C1D3-37B7-8FC7-ED6B-3ABC65497252}"/>
              </a:ext>
            </a:extLst>
          </p:cNvPr>
          <p:cNvSpPr>
            <a:spLocks noGrp="1"/>
          </p:cNvSpPr>
          <p:nvPr>
            <p:ph type="title"/>
          </p:nvPr>
        </p:nvSpPr>
        <p:spPr/>
        <p:txBody>
          <a:bodyPr/>
          <a:lstStyle/>
          <a:p>
            <a:r>
              <a:rPr kumimoji="1" lang="ja-GB" altLang="en-US" dirty="0"/>
              <a:t>減算の効率的な実装：加算とビット反転を流用</a:t>
            </a:r>
          </a:p>
        </p:txBody>
      </p:sp>
      <p:sp>
        <p:nvSpPr>
          <p:cNvPr id="3" name="コンテンツ プレースホルダー 2">
            <a:extLst>
              <a:ext uri="{FF2B5EF4-FFF2-40B4-BE49-F238E27FC236}">
                <a16:creationId xmlns:a16="http://schemas.microsoft.com/office/drawing/2014/main" id="{2E5D7410-7F37-8173-EF3B-7185BC23F6F5}"/>
              </a:ext>
            </a:extLst>
          </p:cNvPr>
          <p:cNvSpPr>
            <a:spLocks noGrp="1"/>
          </p:cNvSpPr>
          <p:nvPr>
            <p:ph idx="1"/>
          </p:nvPr>
        </p:nvSpPr>
        <p:spPr/>
        <p:txBody>
          <a:bodyPr/>
          <a:lstStyle/>
          <a:p>
            <a:pPr marL="0" indent="0">
              <a:buNone/>
            </a:pPr>
            <a:r>
              <a:rPr kumimoji="1" lang="ja-GB" altLang="en-US" dirty="0"/>
              <a:t>加算回路を用いた</a:t>
            </a:r>
            <a:r>
              <a:rPr kumimoji="1" lang="en-US" altLang="ja-GB" dirty="0"/>
              <a:t>A-B</a:t>
            </a:r>
            <a:r>
              <a:rPr kumimoji="1" lang="ja-GB" altLang="en-US" dirty="0"/>
              <a:t>の計算手順</a:t>
            </a:r>
            <a:endParaRPr kumimoji="1" lang="en-US" altLang="ja-GB" dirty="0"/>
          </a:p>
          <a:p>
            <a:pPr marL="914400" lvl="1" indent="-457200">
              <a:buFont typeface="+mj-lt"/>
              <a:buAutoNum type="arabicPeriod"/>
            </a:pPr>
            <a:r>
              <a:rPr kumimoji="1" lang="ja-GB" altLang="en-US" dirty="0"/>
              <a:t>「</a:t>
            </a:r>
            <a:r>
              <a:rPr kumimoji="1" lang="en-US" altLang="ja-GB" dirty="0"/>
              <a:t>B</a:t>
            </a:r>
            <a:r>
              <a:rPr kumimoji="1" lang="ja-GB" altLang="en-US" dirty="0"/>
              <a:t>の</a:t>
            </a:r>
            <a:r>
              <a:rPr lang="en-US" altLang="ja-GB" dirty="0"/>
              <a:t>2</a:t>
            </a:r>
            <a:r>
              <a:rPr kumimoji="1" lang="ja-GB" altLang="en-US" dirty="0"/>
              <a:t>の補数」を求める</a:t>
            </a:r>
            <a:endParaRPr kumimoji="1" lang="en-US" altLang="ja-GB" dirty="0"/>
          </a:p>
          <a:p>
            <a:pPr marL="914400" lvl="1" indent="-457200">
              <a:buFont typeface="+mj-lt"/>
              <a:buAutoNum type="arabicPeriod"/>
            </a:pPr>
            <a:r>
              <a:rPr kumimoji="1" lang="en-US" altLang="ja-GB" dirty="0"/>
              <a:t>A+</a:t>
            </a:r>
            <a:r>
              <a:rPr kumimoji="1" lang="ja-GB" altLang="en-US" dirty="0"/>
              <a:t>「</a:t>
            </a:r>
            <a:r>
              <a:rPr kumimoji="1" lang="en-US" altLang="ja-GB" dirty="0"/>
              <a:t>B</a:t>
            </a:r>
            <a:r>
              <a:rPr kumimoji="1" lang="ja-GB" altLang="en-US" dirty="0"/>
              <a:t>の</a:t>
            </a:r>
            <a:r>
              <a:rPr lang="en-US" altLang="ja-GB" dirty="0"/>
              <a:t>2</a:t>
            </a:r>
            <a:r>
              <a:rPr lang="ja-GB" altLang="en-US" dirty="0"/>
              <a:t>の補数」を計算する</a:t>
            </a:r>
            <a:endParaRPr lang="en-US" altLang="ja-GB" dirty="0"/>
          </a:p>
          <a:p>
            <a:pPr marL="914400" lvl="1" indent="-457200">
              <a:buFont typeface="+mj-lt"/>
              <a:buAutoNum type="arabicPeriod"/>
            </a:pPr>
            <a:r>
              <a:rPr kumimoji="1" lang="ja-GB" altLang="en-US" dirty="0"/>
              <a:t>計算結果の符号を確認する</a:t>
            </a:r>
            <a:endParaRPr kumimoji="1" lang="en-US" altLang="ja-GB" dirty="0"/>
          </a:p>
          <a:p>
            <a:pPr marL="914400" lvl="1" indent="-457200">
              <a:buFont typeface="+mj-lt"/>
              <a:buAutoNum type="arabicPeriod"/>
            </a:pPr>
            <a:r>
              <a:rPr lang="ja-GB" altLang="en-US" dirty="0"/>
              <a:t>もし</a:t>
            </a:r>
            <a:r>
              <a:rPr lang="ja-GB" altLang="en-US" dirty="0">
                <a:solidFill>
                  <a:srgbClr val="0070C0"/>
                </a:solidFill>
              </a:rPr>
              <a:t>符号が正</a:t>
            </a:r>
            <a:r>
              <a:rPr lang="ja-GB" altLang="en-US" dirty="0"/>
              <a:t>ならば，そのまま</a:t>
            </a:r>
            <a:r>
              <a:rPr lang="en-US" altLang="ja-GB" dirty="0">
                <a:solidFill>
                  <a:srgbClr val="0070C0"/>
                </a:solidFill>
              </a:rPr>
              <a:t>2</a:t>
            </a:r>
            <a:r>
              <a:rPr lang="ja-GB" altLang="en-US" dirty="0">
                <a:solidFill>
                  <a:srgbClr val="0070C0"/>
                </a:solidFill>
              </a:rPr>
              <a:t>進数</a:t>
            </a:r>
            <a:r>
              <a:rPr lang="ja-GB" altLang="en-US" dirty="0"/>
              <a:t>と解釈する</a:t>
            </a:r>
            <a:endParaRPr lang="en-US" altLang="ja-GB" dirty="0"/>
          </a:p>
          <a:p>
            <a:pPr marL="914400" lvl="1" indent="-457200">
              <a:buFont typeface="+mj-lt"/>
              <a:buAutoNum type="arabicPeriod"/>
            </a:pPr>
            <a:r>
              <a:rPr kumimoji="1" lang="ja-GB" altLang="en-US" dirty="0"/>
              <a:t>もし</a:t>
            </a:r>
            <a:r>
              <a:rPr kumimoji="1" lang="ja-GB" altLang="en-US" dirty="0">
                <a:solidFill>
                  <a:srgbClr val="0070C0"/>
                </a:solidFill>
              </a:rPr>
              <a:t>符号が負</a:t>
            </a:r>
            <a:r>
              <a:rPr kumimoji="1" lang="ja-GB" altLang="en-US" dirty="0"/>
              <a:t>ならば，</a:t>
            </a:r>
            <a:r>
              <a:rPr kumimoji="1" lang="ja-GB" altLang="en-US" dirty="0">
                <a:solidFill>
                  <a:srgbClr val="0070C0"/>
                </a:solidFill>
              </a:rPr>
              <a:t>符号付き</a:t>
            </a:r>
            <a:r>
              <a:rPr kumimoji="1" lang="en-US" altLang="ja-GB" dirty="0">
                <a:solidFill>
                  <a:srgbClr val="0070C0"/>
                </a:solidFill>
              </a:rPr>
              <a:t>2</a:t>
            </a:r>
            <a:r>
              <a:rPr lang="ja-GB" altLang="en-US" dirty="0">
                <a:solidFill>
                  <a:srgbClr val="0070C0"/>
                </a:solidFill>
              </a:rPr>
              <a:t>の補数</a:t>
            </a:r>
            <a:r>
              <a:rPr lang="ja-GB" altLang="en-US" dirty="0"/>
              <a:t>と解釈する</a:t>
            </a:r>
            <a:endParaRPr kumimoji="1" lang="ja-GB" altLang="en-US" dirty="0"/>
          </a:p>
        </p:txBody>
      </p:sp>
      <p:sp>
        <p:nvSpPr>
          <p:cNvPr id="4" name="テキスト ボックス 3">
            <a:extLst>
              <a:ext uri="{FF2B5EF4-FFF2-40B4-BE49-F238E27FC236}">
                <a16:creationId xmlns:a16="http://schemas.microsoft.com/office/drawing/2014/main" id="{C46A40CE-361F-754B-4D97-82CB624BF40C}"/>
              </a:ext>
            </a:extLst>
          </p:cNvPr>
          <p:cNvSpPr txBox="1"/>
          <p:nvPr/>
        </p:nvSpPr>
        <p:spPr>
          <a:xfrm>
            <a:off x="944789" y="6372520"/>
            <a:ext cx="7254422" cy="369332"/>
          </a:xfrm>
          <a:prstGeom prst="rect">
            <a:avLst/>
          </a:prstGeom>
          <a:noFill/>
        </p:spPr>
        <p:txBody>
          <a:bodyPr wrap="none" rtlCol="0">
            <a:spAutoFit/>
          </a:bodyPr>
          <a:lstStyle/>
          <a:p>
            <a:r>
              <a:rPr kumimoji="1" lang="en-GB" altLang="ja-GB" dirty="0">
                <a:hlinkClick r:id="rId2"/>
              </a:rPr>
              <a:t>https://claude.ai/public/artifacts/c92f5941-714b-426a-9510-d6148391f101</a:t>
            </a:r>
            <a:r>
              <a:rPr kumimoji="1" lang="en-GB" altLang="ja-GB" dirty="0"/>
              <a:t> </a:t>
            </a:r>
            <a:endParaRPr kumimoji="1" lang="ja-GB" altLang="en-US" dirty="0"/>
          </a:p>
        </p:txBody>
      </p:sp>
      <p:pic>
        <p:nvPicPr>
          <p:cNvPr id="6" name="図 5" descr="グラフィカル ユーザー インターフェイス, アプリケーション&#10;&#10;AI 生成コンテンツは誤りを含む可能性があります。">
            <a:extLst>
              <a:ext uri="{FF2B5EF4-FFF2-40B4-BE49-F238E27FC236}">
                <a16:creationId xmlns:a16="http://schemas.microsoft.com/office/drawing/2014/main" id="{0C4F22D6-33F1-1E7A-61FD-2474C38B8C3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046619" y="2938074"/>
            <a:ext cx="3050761" cy="3619112"/>
          </a:xfrm>
          <a:prstGeom prst="rect">
            <a:avLst/>
          </a:prstGeom>
        </p:spPr>
      </p:pic>
    </p:spTree>
    <p:extLst>
      <p:ext uri="{BB962C8B-B14F-4D97-AF65-F5344CB8AC3E}">
        <p14:creationId xmlns:p14="http://schemas.microsoft.com/office/powerpoint/2010/main" val="289885896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9750E-1597-0F52-5D5C-416CE732B5E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340A311-A4CC-159E-4FFC-E24488D951D9}"/>
              </a:ext>
            </a:extLst>
          </p:cNvPr>
          <p:cNvSpPr>
            <a:spLocks noGrp="1"/>
          </p:cNvSpPr>
          <p:nvPr>
            <p:ph type="title"/>
          </p:nvPr>
        </p:nvSpPr>
        <p:spPr/>
        <p:txBody>
          <a:bodyPr/>
          <a:lstStyle/>
          <a:p>
            <a:r>
              <a:rPr lang="ja-GB" altLang="en-US" dirty="0"/>
              <a:t>四則演算</a:t>
            </a:r>
            <a:endParaRPr kumimoji="1" lang="ja-GB" altLang="en-US" dirty="0"/>
          </a:p>
        </p:txBody>
      </p:sp>
      <p:sp>
        <p:nvSpPr>
          <p:cNvPr id="3" name="コンテンツ プレースホルダー 2">
            <a:extLst>
              <a:ext uri="{FF2B5EF4-FFF2-40B4-BE49-F238E27FC236}">
                <a16:creationId xmlns:a16="http://schemas.microsoft.com/office/drawing/2014/main" id="{3DFB2BD6-F3F8-BA11-3032-D1D848172E38}"/>
              </a:ext>
            </a:extLst>
          </p:cNvPr>
          <p:cNvSpPr>
            <a:spLocks noGrp="1"/>
          </p:cNvSpPr>
          <p:nvPr>
            <p:ph idx="1"/>
          </p:nvPr>
        </p:nvSpPr>
        <p:spPr/>
        <p:txBody>
          <a:bodyPr/>
          <a:lstStyle/>
          <a:p>
            <a:pPr marL="0" indent="0">
              <a:buNone/>
            </a:pPr>
            <a:r>
              <a:rPr kumimoji="1" lang="ja-GB" altLang="en-US" dirty="0">
                <a:solidFill>
                  <a:schemeClr val="tx1">
                    <a:lumMod val="50000"/>
                    <a:lumOff val="50000"/>
                  </a:schemeClr>
                </a:solidFill>
              </a:rPr>
              <a:t>加算</a:t>
            </a:r>
            <a:endParaRPr kumimoji="1" lang="en-US" altLang="ja-GB" dirty="0">
              <a:solidFill>
                <a:schemeClr val="tx1">
                  <a:lumMod val="50000"/>
                  <a:lumOff val="50000"/>
                </a:schemeClr>
              </a:solidFill>
            </a:endParaRPr>
          </a:p>
          <a:p>
            <a:pPr lvl="1"/>
            <a:r>
              <a:rPr lang="en-US" altLang="ja-GB" dirty="0">
                <a:solidFill>
                  <a:schemeClr val="tx1">
                    <a:lumMod val="50000"/>
                    <a:lumOff val="50000"/>
                  </a:schemeClr>
                </a:solidFill>
              </a:rPr>
              <a:t>10</a:t>
            </a:r>
            <a:r>
              <a:rPr lang="ja-GB" altLang="en-US" dirty="0">
                <a:solidFill>
                  <a:schemeClr val="tx1">
                    <a:lumMod val="50000"/>
                    <a:lumOff val="50000"/>
                  </a:schemeClr>
                </a:solidFill>
              </a:rPr>
              <a:t>進数と同様に筆算で計算できる</a:t>
            </a:r>
            <a:endParaRPr kumimoji="1" lang="en-US" altLang="ja-GB" dirty="0">
              <a:solidFill>
                <a:schemeClr val="tx1">
                  <a:lumMod val="50000"/>
                  <a:lumOff val="50000"/>
                </a:schemeClr>
              </a:solidFill>
            </a:endParaRPr>
          </a:p>
          <a:p>
            <a:pPr lvl="1"/>
            <a:r>
              <a:rPr lang="en-GB" altLang="ja-GB" dirty="0">
                <a:solidFill>
                  <a:schemeClr val="tx1">
                    <a:lumMod val="50000"/>
                    <a:lumOff val="50000"/>
                  </a:schemeClr>
                </a:solidFill>
                <a:hlinkClick r:id="rId2">
                  <a:extLst>
                    <a:ext uri="{A12FA001-AC4F-418D-AE19-62706E023703}">
                      <ahyp:hlinkClr xmlns:ahyp="http://schemas.microsoft.com/office/drawing/2018/hyperlinkcolor" val="tx"/>
                    </a:ext>
                  </a:extLst>
                </a:hlinkClick>
              </a:rPr>
              <a:t>https://claude.ai/public/artifacts/1dabe594-0783-405e-a1a4-0979ca0bd6fe</a:t>
            </a:r>
            <a:r>
              <a:rPr lang="en-GB" altLang="ja-GB" dirty="0">
                <a:solidFill>
                  <a:schemeClr val="tx1">
                    <a:lumMod val="50000"/>
                    <a:lumOff val="50000"/>
                  </a:schemeClr>
                </a:solidFill>
              </a:rPr>
              <a:t> </a:t>
            </a:r>
          </a:p>
          <a:p>
            <a:pPr marL="0" indent="0">
              <a:buNone/>
            </a:pPr>
            <a:r>
              <a:rPr kumimoji="1" lang="ja-GB" altLang="en-US" dirty="0">
                <a:solidFill>
                  <a:schemeClr val="tx1">
                    <a:lumMod val="50000"/>
                    <a:lumOff val="50000"/>
                  </a:schemeClr>
                </a:solidFill>
              </a:rPr>
              <a:t>減算</a:t>
            </a:r>
            <a:endParaRPr kumimoji="1" lang="en-US" altLang="ja-GB" dirty="0">
              <a:solidFill>
                <a:schemeClr val="tx1">
                  <a:lumMod val="50000"/>
                  <a:lumOff val="50000"/>
                </a:schemeClr>
              </a:solidFill>
            </a:endParaRPr>
          </a:p>
          <a:p>
            <a:pPr lvl="1"/>
            <a:r>
              <a:rPr lang="ja-GB" altLang="en-US" dirty="0">
                <a:solidFill>
                  <a:schemeClr val="tx1">
                    <a:lumMod val="50000"/>
                    <a:lumOff val="50000"/>
                  </a:schemeClr>
                </a:solidFill>
              </a:rPr>
              <a:t>「</a:t>
            </a:r>
            <a:r>
              <a:rPr lang="en-US" altLang="ja-GB" dirty="0">
                <a:solidFill>
                  <a:schemeClr val="tx1">
                    <a:lumMod val="50000"/>
                    <a:lumOff val="50000"/>
                  </a:schemeClr>
                </a:solidFill>
              </a:rPr>
              <a:t>2</a:t>
            </a:r>
            <a:r>
              <a:rPr lang="ja-GB" altLang="en-US" dirty="0">
                <a:solidFill>
                  <a:schemeClr val="tx1">
                    <a:lumMod val="50000"/>
                    <a:lumOff val="50000"/>
                  </a:schemeClr>
                </a:solidFill>
              </a:rPr>
              <a:t>の補数」と呼ばれる表記を使えば加算の仕組みで計算できる</a:t>
            </a:r>
            <a:endParaRPr kumimoji="1" lang="en-US" altLang="ja-GB" dirty="0">
              <a:solidFill>
                <a:schemeClr val="tx1">
                  <a:lumMod val="50000"/>
                  <a:lumOff val="50000"/>
                </a:schemeClr>
              </a:solidFill>
            </a:endParaRPr>
          </a:p>
          <a:p>
            <a:pPr lvl="1"/>
            <a:r>
              <a:rPr lang="en-US" altLang="ja-GB" dirty="0">
                <a:solidFill>
                  <a:schemeClr val="tx1">
                    <a:lumMod val="50000"/>
                    <a:lumOff val="50000"/>
                  </a:schemeClr>
                </a:solidFill>
                <a:hlinkClick r:id="rId3">
                  <a:extLst>
                    <a:ext uri="{A12FA001-AC4F-418D-AE19-62706E023703}">
                      <ahyp:hlinkClr xmlns:ahyp="http://schemas.microsoft.com/office/drawing/2018/hyperlinkcolor" val="tx"/>
                    </a:ext>
                  </a:extLst>
                </a:hlinkClick>
              </a:rPr>
              <a:t>https://claude.ai/public/artifacts/2ec434b1-5e8b-4464-84b0-bbc81dfba806</a:t>
            </a:r>
            <a:r>
              <a:rPr lang="en-US" altLang="ja-GB" dirty="0">
                <a:solidFill>
                  <a:schemeClr val="tx1">
                    <a:lumMod val="50000"/>
                    <a:lumOff val="50000"/>
                  </a:schemeClr>
                </a:solidFill>
              </a:rPr>
              <a:t> </a:t>
            </a:r>
          </a:p>
          <a:p>
            <a:pPr marL="0" indent="0">
              <a:buNone/>
            </a:pPr>
            <a:r>
              <a:rPr kumimoji="1" lang="ja-GB" altLang="en-US" dirty="0"/>
              <a:t>乗算</a:t>
            </a:r>
            <a:endParaRPr kumimoji="1" lang="en-US" altLang="ja-GB" dirty="0"/>
          </a:p>
          <a:p>
            <a:pPr lvl="1"/>
            <a:r>
              <a:rPr lang="en-US" altLang="ja-GB" dirty="0"/>
              <a:t>10</a:t>
            </a:r>
            <a:r>
              <a:rPr lang="ja-GB" altLang="en-US" dirty="0"/>
              <a:t>進数と同様に筆算で計算できる</a:t>
            </a:r>
            <a:endParaRPr lang="en-US" altLang="ja-GB" dirty="0"/>
          </a:p>
          <a:p>
            <a:pPr marL="0" indent="0">
              <a:buNone/>
            </a:pPr>
            <a:r>
              <a:rPr kumimoji="1" lang="ja-GB" altLang="en-US" dirty="0"/>
              <a:t>剰算</a:t>
            </a:r>
            <a:endParaRPr kumimoji="1" lang="en-US" altLang="ja-GB" dirty="0"/>
          </a:p>
          <a:p>
            <a:pPr lvl="1"/>
            <a:r>
              <a:rPr kumimoji="1" lang="en-US" altLang="ja-GB" dirty="0"/>
              <a:t>10</a:t>
            </a:r>
            <a:r>
              <a:rPr kumimoji="1" lang="ja-GB" altLang="en-US" dirty="0"/>
              <a:t>進数と同様に筆算で計算できる</a:t>
            </a:r>
          </a:p>
        </p:txBody>
      </p:sp>
    </p:spTree>
    <p:extLst>
      <p:ext uri="{BB962C8B-B14F-4D97-AF65-F5344CB8AC3E}">
        <p14:creationId xmlns:p14="http://schemas.microsoft.com/office/powerpoint/2010/main" val="104671478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128D98D9-58FE-8A0C-D1A8-1BA3F86E1317}"/>
              </a:ext>
            </a:extLst>
          </p:cNvPr>
          <p:cNvSpPr/>
          <p:nvPr/>
        </p:nvSpPr>
        <p:spPr>
          <a:xfrm>
            <a:off x="774406" y="1491368"/>
            <a:ext cx="7595183" cy="4403383"/>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 name="タイトル 1">
            <a:extLst>
              <a:ext uri="{FF2B5EF4-FFF2-40B4-BE49-F238E27FC236}">
                <a16:creationId xmlns:a16="http://schemas.microsoft.com/office/drawing/2014/main" id="{5FD8BCE9-E834-0A30-10F0-0545AF085735}"/>
              </a:ext>
            </a:extLst>
          </p:cNvPr>
          <p:cNvSpPr>
            <a:spLocks noGrp="1"/>
          </p:cNvSpPr>
          <p:nvPr>
            <p:ph type="title"/>
          </p:nvPr>
        </p:nvSpPr>
        <p:spPr/>
        <p:txBody>
          <a:bodyPr/>
          <a:lstStyle/>
          <a:p>
            <a:r>
              <a:rPr kumimoji="1" lang="ja-GB" altLang="en-US" dirty="0"/>
              <a:t>乗算：加算とシフト</a:t>
            </a:r>
          </a:p>
        </p:txBody>
      </p:sp>
      <p:sp>
        <p:nvSpPr>
          <p:cNvPr id="3" name="テキスト ボックス 2">
            <a:extLst>
              <a:ext uri="{FF2B5EF4-FFF2-40B4-BE49-F238E27FC236}">
                <a16:creationId xmlns:a16="http://schemas.microsoft.com/office/drawing/2014/main" id="{AA6BA950-40D5-E79A-6C4D-05939DEADA20}"/>
              </a:ext>
            </a:extLst>
          </p:cNvPr>
          <p:cNvSpPr txBox="1"/>
          <p:nvPr/>
        </p:nvSpPr>
        <p:spPr>
          <a:xfrm>
            <a:off x="3129937" y="6031982"/>
            <a:ext cx="2884123" cy="307777"/>
          </a:xfrm>
          <a:prstGeom prst="rect">
            <a:avLst/>
          </a:prstGeom>
          <a:noFill/>
        </p:spPr>
        <p:txBody>
          <a:bodyPr wrap="none" rtlCol="0">
            <a:spAutoFit/>
          </a:bodyPr>
          <a:lstStyle/>
          <a:p>
            <a:r>
              <a:rPr kumimoji="1" lang="en-US" altLang="ja-GB" sz="1400" dirty="0"/>
              <a:t>2024</a:t>
            </a:r>
            <a:r>
              <a:rPr kumimoji="1" lang="ja-GB" altLang="en-US" sz="1400" dirty="0"/>
              <a:t>年度資料より許可を得て引用</a:t>
            </a:r>
          </a:p>
        </p:txBody>
      </p:sp>
    </p:spTree>
    <p:extLst>
      <p:ext uri="{BB962C8B-B14F-4D97-AF65-F5344CB8AC3E}">
        <p14:creationId xmlns:p14="http://schemas.microsoft.com/office/powerpoint/2010/main" val="279911615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D8888690-09CB-045E-1B6B-B9F57869F937}"/>
              </a:ext>
            </a:extLst>
          </p:cNvPr>
          <p:cNvSpPr/>
          <p:nvPr/>
        </p:nvSpPr>
        <p:spPr>
          <a:xfrm>
            <a:off x="774406" y="1491368"/>
            <a:ext cx="7595183" cy="4403383"/>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 name="タイトル 1">
            <a:extLst>
              <a:ext uri="{FF2B5EF4-FFF2-40B4-BE49-F238E27FC236}">
                <a16:creationId xmlns:a16="http://schemas.microsoft.com/office/drawing/2014/main" id="{6E883CF7-FE0A-387D-DE25-F16A93081FA0}"/>
              </a:ext>
            </a:extLst>
          </p:cNvPr>
          <p:cNvSpPr>
            <a:spLocks noGrp="1"/>
          </p:cNvSpPr>
          <p:nvPr>
            <p:ph type="title"/>
          </p:nvPr>
        </p:nvSpPr>
        <p:spPr/>
        <p:txBody>
          <a:bodyPr/>
          <a:lstStyle/>
          <a:p>
            <a:r>
              <a:rPr kumimoji="1" lang="ja-GB" altLang="en-US" dirty="0"/>
              <a:t>剰算：減算とシフト</a:t>
            </a:r>
          </a:p>
        </p:txBody>
      </p:sp>
      <p:sp>
        <p:nvSpPr>
          <p:cNvPr id="3" name="テキスト ボックス 2">
            <a:extLst>
              <a:ext uri="{FF2B5EF4-FFF2-40B4-BE49-F238E27FC236}">
                <a16:creationId xmlns:a16="http://schemas.microsoft.com/office/drawing/2014/main" id="{E9F2A831-9A96-07AE-B4AE-F6F18F8D9752}"/>
              </a:ext>
            </a:extLst>
          </p:cNvPr>
          <p:cNvSpPr txBox="1"/>
          <p:nvPr/>
        </p:nvSpPr>
        <p:spPr>
          <a:xfrm>
            <a:off x="3129937" y="6031982"/>
            <a:ext cx="2884123" cy="307777"/>
          </a:xfrm>
          <a:prstGeom prst="rect">
            <a:avLst/>
          </a:prstGeom>
          <a:noFill/>
        </p:spPr>
        <p:txBody>
          <a:bodyPr wrap="none" rtlCol="0">
            <a:spAutoFit/>
          </a:bodyPr>
          <a:lstStyle/>
          <a:p>
            <a:r>
              <a:rPr kumimoji="1" lang="en-US" altLang="ja-GB" sz="1400" dirty="0"/>
              <a:t>2024</a:t>
            </a:r>
            <a:r>
              <a:rPr kumimoji="1" lang="ja-GB" altLang="en-US" sz="1400" dirty="0"/>
              <a:t>年度資料より許可を得て引用</a:t>
            </a:r>
          </a:p>
        </p:txBody>
      </p:sp>
    </p:spTree>
    <p:extLst>
      <p:ext uri="{BB962C8B-B14F-4D97-AF65-F5344CB8AC3E}">
        <p14:creationId xmlns:p14="http://schemas.microsoft.com/office/powerpoint/2010/main" val="380760600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73670F-C5A3-F48E-A44A-AB3F73FA86BE}"/>
              </a:ext>
            </a:extLst>
          </p:cNvPr>
          <p:cNvSpPr>
            <a:spLocks noGrp="1"/>
          </p:cNvSpPr>
          <p:nvPr>
            <p:ph type="title"/>
          </p:nvPr>
        </p:nvSpPr>
        <p:spPr/>
        <p:txBody>
          <a:bodyPr/>
          <a:lstStyle/>
          <a:p>
            <a:r>
              <a:rPr kumimoji="1" lang="ja-GB" altLang="en-US" dirty="0"/>
              <a:t>小数の表現：浮動小数点</a:t>
            </a:r>
          </a:p>
        </p:txBody>
      </p:sp>
      <p:sp>
        <p:nvSpPr>
          <p:cNvPr id="3" name="コンテンツ プレースホルダー 2">
            <a:extLst>
              <a:ext uri="{FF2B5EF4-FFF2-40B4-BE49-F238E27FC236}">
                <a16:creationId xmlns:a16="http://schemas.microsoft.com/office/drawing/2014/main" id="{2034E3F6-9126-BC1E-13AE-2ACE35F21EA9}"/>
              </a:ext>
            </a:extLst>
          </p:cNvPr>
          <p:cNvSpPr>
            <a:spLocks noGrp="1"/>
          </p:cNvSpPr>
          <p:nvPr>
            <p:ph idx="1"/>
          </p:nvPr>
        </p:nvSpPr>
        <p:spPr/>
        <p:txBody>
          <a:bodyPr/>
          <a:lstStyle/>
          <a:p>
            <a:pPr marL="0" indent="0">
              <a:buNone/>
            </a:pPr>
            <a:r>
              <a:rPr kumimoji="1" lang="en-US" altLang="ja-GB" dirty="0"/>
              <a:t>0</a:t>
            </a:r>
            <a:r>
              <a:rPr kumimoji="1" lang="ja-GB" altLang="en-US" dirty="0"/>
              <a:t>と</a:t>
            </a:r>
            <a:r>
              <a:rPr kumimoji="1" lang="en-US" altLang="ja-GB" dirty="0"/>
              <a:t>1</a:t>
            </a:r>
            <a:r>
              <a:rPr kumimoji="1" lang="ja-GB" altLang="en-US" dirty="0"/>
              <a:t>の列のみで，符号や小数点のある数を表すための工夫</a:t>
            </a:r>
            <a:endParaRPr kumimoji="1" lang="en-US" altLang="ja-GB" dirty="0"/>
          </a:p>
          <a:p>
            <a:pPr marL="457200" lvl="1" indent="0">
              <a:buNone/>
            </a:pPr>
            <a:r>
              <a:rPr kumimoji="1" lang="ja-GB" altLang="en-US" dirty="0"/>
              <a:t>「</a:t>
            </a:r>
            <a:r>
              <a:rPr kumimoji="1" lang="ja-GB" altLang="en-US" dirty="0">
                <a:solidFill>
                  <a:schemeClr val="accent2"/>
                </a:solidFill>
              </a:rPr>
              <a:t>符号部</a:t>
            </a:r>
            <a:r>
              <a:rPr kumimoji="1" lang="ja-GB" altLang="en-US" dirty="0"/>
              <a:t>」</a:t>
            </a:r>
            <a:r>
              <a:rPr lang="ja-JP" altLang="en-US"/>
              <a:t>　「</a:t>
            </a:r>
            <a:r>
              <a:rPr lang="ja-GB" altLang="en-US" dirty="0">
                <a:solidFill>
                  <a:srgbClr val="0070C0"/>
                </a:solidFill>
              </a:rPr>
              <a:t>指数部</a:t>
            </a:r>
            <a:r>
              <a:rPr lang="ja-GB" altLang="en-US" dirty="0"/>
              <a:t>」</a:t>
            </a:r>
            <a:r>
              <a:rPr lang="en-US" altLang="ja-GB" dirty="0"/>
              <a:t> × </a:t>
            </a:r>
            <a:r>
              <a:rPr lang="ja-GB" altLang="en-US" dirty="0"/>
              <a:t>「</a:t>
            </a:r>
            <a:r>
              <a:rPr lang="ja-GB" altLang="en-US" dirty="0">
                <a:solidFill>
                  <a:schemeClr val="accent6"/>
                </a:solidFill>
              </a:rPr>
              <a:t>仮数部</a:t>
            </a:r>
            <a:r>
              <a:rPr lang="ja-GB" altLang="en-US" dirty="0"/>
              <a:t>」</a:t>
            </a:r>
            <a:endParaRPr lang="en-US" altLang="ja-GB" dirty="0"/>
          </a:p>
          <a:p>
            <a:pPr lvl="2"/>
            <a:r>
              <a:rPr kumimoji="1" lang="ja-GB" altLang="en-US" dirty="0"/>
              <a:t>符号部：</a:t>
            </a:r>
            <a:r>
              <a:rPr kumimoji="1" lang="en-US" altLang="ja-GB" dirty="0"/>
              <a:t>0</a:t>
            </a:r>
            <a:r>
              <a:rPr kumimoji="1" lang="ja-GB" altLang="en-US" dirty="0"/>
              <a:t>を正，</a:t>
            </a:r>
            <a:r>
              <a:rPr kumimoji="1" lang="en-US" altLang="ja-GB" dirty="0"/>
              <a:t>1</a:t>
            </a:r>
            <a:r>
              <a:rPr kumimoji="1" lang="ja-GB" altLang="en-US" dirty="0"/>
              <a:t>を負とする</a:t>
            </a:r>
            <a:endParaRPr kumimoji="1" lang="en-US" altLang="ja-GB" dirty="0"/>
          </a:p>
          <a:p>
            <a:pPr lvl="2"/>
            <a:r>
              <a:rPr lang="ja-GB" altLang="en-US" dirty="0"/>
              <a:t>指数部：一番小さな指数が</a:t>
            </a:r>
            <a:r>
              <a:rPr lang="en-US" altLang="ja-GB" dirty="0"/>
              <a:t>0</a:t>
            </a:r>
            <a:r>
              <a:rPr lang="ja-GB" altLang="en-US" dirty="0"/>
              <a:t>となるように適当な数値を加えて調整したもの</a:t>
            </a:r>
            <a:endParaRPr lang="en-US" altLang="ja-GB" dirty="0"/>
          </a:p>
          <a:p>
            <a:pPr lvl="2"/>
            <a:r>
              <a:rPr kumimoji="1" lang="ja-GB" altLang="en-US" dirty="0"/>
              <a:t>仮数部：最上位の桁は常に</a:t>
            </a:r>
            <a:r>
              <a:rPr kumimoji="1" lang="en-US" altLang="ja-GB" dirty="0"/>
              <a:t>1</a:t>
            </a:r>
            <a:r>
              <a:rPr kumimoji="1" lang="ja-GB" altLang="en-US" dirty="0"/>
              <a:t>となるので，</a:t>
            </a:r>
            <a:r>
              <a:rPr kumimoji="1" lang="en-US" altLang="ja-GB" dirty="0"/>
              <a:t>1</a:t>
            </a:r>
            <a:r>
              <a:rPr kumimoji="1" lang="ja-GB" altLang="en-US" dirty="0"/>
              <a:t>を省略して次の</a:t>
            </a:r>
            <a:r>
              <a:rPr kumimoji="1" lang="en-US" altLang="ja-GB" dirty="0"/>
              <a:t>2</a:t>
            </a:r>
            <a:r>
              <a:rPr kumimoji="1" lang="ja-GB" altLang="en-US" dirty="0"/>
              <a:t>番目の桁から書く</a:t>
            </a:r>
            <a:endParaRPr kumimoji="1" lang="en-US" altLang="ja-GB" dirty="0"/>
          </a:p>
          <a:p>
            <a:pPr lvl="2"/>
            <a:endParaRPr kumimoji="1" lang="en-US" altLang="ja-GB" dirty="0"/>
          </a:p>
          <a:p>
            <a:pPr marL="457200" lvl="1" indent="0">
              <a:buNone/>
            </a:pPr>
            <a:r>
              <a:rPr lang="ja-GB" altLang="en-US" dirty="0"/>
              <a:t>例）</a:t>
            </a:r>
            <a:r>
              <a:rPr lang="en-US" altLang="ja-GB" dirty="0"/>
              <a:t>16</a:t>
            </a:r>
            <a:r>
              <a:rPr lang="ja-GB" altLang="en-US" dirty="0"/>
              <a:t>ビット浮動小数点数</a:t>
            </a:r>
            <a:endParaRPr lang="en-US" altLang="ja-GB" dirty="0"/>
          </a:p>
          <a:p>
            <a:pPr lvl="2"/>
            <a:r>
              <a:rPr kumimoji="1" lang="ja-GB" altLang="en-US" dirty="0"/>
              <a:t>符号部</a:t>
            </a:r>
            <a:r>
              <a:rPr kumimoji="1" lang="en-US" altLang="ja-GB" dirty="0"/>
              <a:t> 1bit</a:t>
            </a:r>
            <a:r>
              <a:rPr kumimoji="1" lang="ja-GB" altLang="en-US" dirty="0"/>
              <a:t>，指数部</a:t>
            </a:r>
            <a:r>
              <a:rPr kumimoji="1" lang="en-US" altLang="ja-GB" dirty="0"/>
              <a:t> 5bit</a:t>
            </a:r>
            <a:r>
              <a:rPr kumimoji="1" lang="ja-GB" altLang="en-US" dirty="0"/>
              <a:t>（</a:t>
            </a:r>
            <a:r>
              <a:rPr kumimoji="1" lang="en-US" altLang="ja-GB" dirty="0"/>
              <a:t>+15</a:t>
            </a:r>
            <a:r>
              <a:rPr kumimoji="1" lang="ja-GB" altLang="en-US" dirty="0"/>
              <a:t>），仮数部</a:t>
            </a:r>
            <a:r>
              <a:rPr kumimoji="1" lang="en-US" altLang="ja-GB" dirty="0"/>
              <a:t> 10bit</a:t>
            </a:r>
            <a:r>
              <a:rPr kumimoji="1" lang="ja-GB" altLang="en-US" dirty="0"/>
              <a:t>とする</a:t>
            </a:r>
            <a:endParaRPr kumimoji="1" lang="en-US" altLang="ja-GB" dirty="0"/>
          </a:p>
          <a:p>
            <a:pPr lvl="2"/>
            <a:endParaRPr kumimoji="1" lang="en-US" altLang="ja-GB" dirty="0"/>
          </a:p>
          <a:p>
            <a:pPr marL="457200" lvl="1" indent="0">
              <a:buNone/>
            </a:pPr>
            <a:r>
              <a:rPr kumimoji="1" lang="ja-GB" altLang="en-US" dirty="0"/>
              <a:t>例）</a:t>
            </a:r>
            <a:r>
              <a:rPr kumimoji="1" lang="en-US" altLang="ja-GB" dirty="0"/>
              <a:t>10</a:t>
            </a:r>
            <a:r>
              <a:rPr kumimoji="1" lang="ja-GB" altLang="en-US" dirty="0"/>
              <a:t>進数の</a:t>
            </a:r>
            <a:r>
              <a:rPr lang="en-US" altLang="ja-GB" dirty="0"/>
              <a:t>2.5</a:t>
            </a:r>
            <a:r>
              <a:rPr lang="ja-GB" altLang="en-US" dirty="0"/>
              <a:t>を</a:t>
            </a:r>
            <a:r>
              <a:rPr lang="en-US" altLang="ja-GB" dirty="0"/>
              <a:t>16bit</a:t>
            </a:r>
            <a:r>
              <a:rPr lang="ja-GB" altLang="en-US" dirty="0"/>
              <a:t>浮動小数点数にする</a:t>
            </a:r>
            <a:endParaRPr lang="en-US" altLang="ja-GB" dirty="0"/>
          </a:p>
          <a:p>
            <a:pPr lvl="2"/>
            <a:r>
              <a:rPr kumimoji="1" lang="en-US" altLang="ja-GB" dirty="0"/>
              <a:t>2</a:t>
            </a:r>
            <a:r>
              <a:rPr lang="en-US" altLang="ja-GB" dirty="0"/>
              <a:t>.5 = 2+0.5 = 2</a:t>
            </a:r>
            <a:r>
              <a:rPr lang="en-US" altLang="ja-GB" baseline="30000" dirty="0"/>
              <a:t>1</a:t>
            </a:r>
            <a:r>
              <a:rPr lang="en-US" altLang="ja-GB" dirty="0"/>
              <a:t>×1 + 2</a:t>
            </a:r>
            <a:r>
              <a:rPr lang="en-US" altLang="ja-GB" baseline="30000" dirty="0"/>
              <a:t>0</a:t>
            </a:r>
            <a:r>
              <a:rPr lang="en-US" altLang="ja-GB" dirty="0"/>
              <a:t>×0 + 2</a:t>
            </a:r>
            <a:r>
              <a:rPr lang="en-US" altLang="ja-GB" baseline="30000" dirty="0"/>
              <a:t>-1</a:t>
            </a:r>
            <a:r>
              <a:rPr lang="en-US" altLang="ja-GB" dirty="0"/>
              <a:t>×1 = 10.1</a:t>
            </a:r>
            <a:r>
              <a:rPr lang="en-US" altLang="ja-GB" baseline="-25000" dirty="0"/>
              <a:t>(2)</a:t>
            </a:r>
          </a:p>
          <a:p>
            <a:pPr lvl="2"/>
            <a:r>
              <a:rPr kumimoji="1" lang="en-US" altLang="ja-GB" dirty="0"/>
              <a:t>10.1 → + 2</a:t>
            </a:r>
            <a:r>
              <a:rPr kumimoji="1" lang="en-US" altLang="ja-GB" baseline="30000" dirty="0"/>
              <a:t>1</a:t>
            </a:r>
            <a:r>
              <a:rPr kumimoji="1" lang="en-US" altLang="ja-GB" dirty="0"/>
              <a:t>×1.01 → </a:t>
            </a:r>
            <a:r>
              <a:rPr kumimoji="1" lang="ja-GB" altLang="en-US" dirty="0"/>
              <a:t>符号</a:t>
            </a:r>
            <a:r>
              <a:rPr kumimoji="1" lang="en-US" altLang="ja-GB" dirty="0"/>
              <a:t>+</a:t>
            </a:r>
            <a:r>
              <a:rPr kumimoji="1" lang="ja-GB" altLang="en-US" dirty="0"/>
              <a:t>，指数部</a:t>
            </a:r>
            <a:r>
              <a:rPr kumimoji="1" lang="en-US" altLang="ja-GB" dirty="0"/>
              <a:t> 1+15 = 16</a:t>
            </a:r>
            <a:r>
              <a:rPr kumimoji="1" lang="ja-GB" altLang="en-US" dirty="0"/>
              <a:t>，仮数部</a:t>
            </a:r>
            <a:r>
              <a:rPr kumimoji="1" lang="en-US" altLang="ja-GB" dirty="0"/>
              <a:t> 01</a:t>
            </a:r>
            <a:br>
              <a:rPr lang="en-US" altLang="ja-GB" dirty="0"/>
            </a:br>
            <a:r>
              <a:rPr lang="en-US" altLang="ja-GB" dirty="0"/>
              <a:t>→ </a:t>
            </a:r>
            <a:r>
              <a:rPr kumimoji="1" lang="en-US" altLang="ja-GB" dirty="0">
                <a:solidFill>
                  <a:schemeClr val="accent2"/>
                </a:solidFill>
              </a:rPr>
              <a:t>0</a:t>
            </a:r>
            <a:r>
              <a:rPr lang="en-US" altLang="ja-GB" dirty="0"/>
              <a:t> </a:t>
            </a:r>
            <a:r>
              <a:rPr kumimoji="1" lang="en-US" altLang="ja-GB" dirty="0">
                <a:solidFill>
                  <a:srgbClr val="0070C0"/>
                </a:solidFill>
              </a:rPr>
              <a:t>10000</a:t>
            </a:r>
            <a:r>
              <a:rPr kumimoji="1" lang="en-US" altLang="ja-GB" dirty="0"/>
              <a:t> </a:t>
            </a:r>
            <a:r>
              <a:rPr kumimoji="1" lang="en-US" altLang="ja-GB" dirty="0">
                <a:solidFill>
                  <a:schemeClr val="accent6"/>
                </a:solidFill>
              </a:rPr>
              <a:t>0100000000</a:t>
            </a:r>
          </a:p>
          <a:p>
            <a:pPr lvl="2"/>
            <a:endParaRPr kumimoji="1" lang="en-US" altLang="ja-GB" dirty="0"/>
          </a:p>
          <a:p>
            <a:pPr lvl="2"/>
            <a:endParaRPr kumimoji="1" lang="en-US" altLang="ja-GB" dirty="0"/>
          </a:p>
          <a:p>
            <a:pPr lvl="1"/>
            <a:endParaRPr kumimoji="1" lang="ja-GB" altLang="en-US" dirty="0"/>
          </a:p>
        </p:txBody>
      </p:sp>
    </p:spTree>
    <p:extLst>
      <p:ext uri="{BB962C8B-B14F-4D97-AF65-F5344CB8AC3E}">
        <p14:creationId xmlns:p14="http://schemas.microsoft.com/office/powerpoint/2010/main" val="146380114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197F7-C9DF-AB34-6655-E1D179BD269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104B294-3E9A-B83D-7EC6-87117F1FD10C}"/>
              </a:ext>
            </a:extLst>
          </p:cNvPr>
          <p:cNvSpPr>
            <a:spLocks noGrp="1"/>
          </p:cNvSpPr>
          <p:nvPr>
            <p:ph type="title"/>
          </p:nvPr>
        </p:nvSpPr>
        <p:spPr/>
        <p:txBody>
          <a:bodyPr/>
          <a:lstStyle/>
          <a:p>
            <a:r>
              <a:rPr kumimoji="1" lang="ja-GB" altLang="en-US" dirty="0"/>
              <a:t>本日の内容</a:t>
            </a:r>
          </a:p>
        </p:txBody>
      </p:sp>
      <p:sp>
        <p:nvSpPr>
          <p:cNvPr id="3" name="コンテンツ プレースホルダー 2">
            <a:extLst>
              <a:ext uri="{FF2B5EF4-FFF2-40B4-BE49-F238E27FC236}">
                <a16:creationId xmlns:a16="http://schemas.microsoft.com/office/drawing/2014/main" id="{CF3F5793-DBE6-2242-4EB3-FD38A30019F8}"/>
              </a:ext>
            </a:extLst>
          </p:cNvPr>
          <p:cNvSpPr>
            <a:spLocks noGrp="1"/>
          </p:cNvSpPr>
          <p:nvPr>
            <p:ph idx="1"/>
          </p:nvPr>
        </p:nvSpPr>
        <p:spPr/>
        <p:txBody>
          <a:bodyPr/>
          <a:lstStyle/>
          <a:p>
            <a:pPr marL="457200" indent="-457200">
              <a:buFont typeface="+mj-lt"/>
              <a:buAutoNum type="arabicPeriod"/>
            </a:pPr>
            <a:r>
              <a:rPr kumimoji="1" lang="ja-GB" altLang="en-US" dirty="0">
                <a:solidFill>
                  <a:schemeClr val="tx1">
                    <a:lumMod val="50000"/>
                    <a:lumOff val="50000"/>
                  </a:schemeClr>
                </a:solidFill>
              </a:rPr>
              <a:t>コンピュータのハードウェア構成</a:t>
            </a:r>
            <a:endParaRPr kumimoji="1" lang="en-US" altLang="ja-GB" dirty="0">
              <a:solidFill>
                <a:schemeClr val="tx1">
                  <a:lumMod val="50000"/>
                  <a:lumOff val="50000"/>
                </a:schemeClr>
              </a:solidFill>
            </a:endParaRPr>
          </a:p>
          <a:p>
            <a:pPr lvl="1"/>
            <a:r>
              <a:rPr kumimoji="1" lang="en-US" altLang="ja-GB" dirty="0">
                <a:solidFill>
                  <a:schemeClr val="tx1">
                    <a:lumMod val="50000"/>
                    <a:lumOff val="50000"/>
                  </a:schemeClr>
                </a:solidFill>
              </a:rPr>
              <a:t>CPU</a:t>
            </a:r>
            <a:r>
              <a:rPr kumimoji="1" lang="ja-GB" altLang="en-US" dirty="0">
                <a:solidFill>
                  <a:schemeClr val="tx1">
                    <a:lumMod val="50000"/>
                    <a:lumOff val="50000"/>
                  </a:schemeClr>
                </a:solidFill>
              </a:rPr>
              <a:t>，メモリ，ストレージ</a:t>
            </a:r>
            <a:endParaRPr kumimoji="1" lang="en-US" altLang="ja-GB" dirty="0">
              <a:solidFill>
                <a:schemeClr val="tx1">
                  <a:lumMod val="50000"/>
                  <a:lumOff val="50000"/>
                </a:schemeClr>
              </a:solidFill>
            </a:endParaRPr>
          </a:p>
          <a:p>
            <a:pPr lvl="1"/>
            <a:endParaRPr lang="en-US" altLang="ja-GB" dirty="0">
              <a:solidFill>
                <a:schemeClr val="tx1">
                  <a:lumMod val="50000"/>
                  <a:lumOff val="50000"/>
                </a:schemeClr>
              </a:solidFill>
            </a:endParaRPr>
          </a:p>
          <a:p>
            <a:pPr marL="457200" indent="-457200">
              <a:buFont typeface="+mj-lt"/>
              <a:buAutoNum type="arabicPeriod"/>
            </a:pPr>
            <a:r>
              <a:rPr kumimoji="1" lang="ja-GB" altLang="en-US" dirty="0">
                <a:solidFill>
                  <a:schemeClr val="tx1">
                    <a:lumMod val="50000"/>
                    <a:lumOff val="50000"/>
                  </a:schemeClr>
                </a:solidFill>
              </a:rPr>
              <a:t>計算機の行う演算</a:t>
            </a:r>
            <a:endParaRPr kumimoji="1" lang="en-US" altLang="ja-GB" dirty="0">
              <a:solidFill>
                <a:schemeClr val="tx1">
                  <a:lumMod val="50000"/>
                  <a:lumOff val="50000"/>
                </a:schemeClr>
              </a:solidFill>
            </a:endParaRPr>
          </a:p>
          <a:p>
            <a:pPr lvl="1"/>
            <a:r>
              <a:rPr lang="ja-GB" altLang="en-US" dirty="0">
                <a:solidFill>
                  <a:schemeClr val="tx1">
                    <a:lumMod val="50000"/>
                    <a:lumOff val="50000"/>
                  </a:schemeClr>
                </a:solidFill>
              </a:rPr>
              <a:t>二進数に対する操作（論理演算）</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四則演算の実装</a:t>
            </a:r>
            <a:endParaRPr lang="en-US" altLang="ja-GB" dirty="0">
              <a:solidFill>
                <a:schemeClr val="tx1">
                  <a:lumMod val="50000"/>
                  <a:lumOff val="50000"/>
                </a:schemeClr>
              </a:solidFill>
            </a:endParaRPr>
          </a:p>
          <a:p>
            <a:pPr lvl="1"/>
            <a:endParaRPr kumimoji="1" lang="en-US" altLang="ja-GB" dirty="0"/>
          </a:p>
          <a:p>
            <a:pPr marL="457200" indent="-457200">
              <a:buFont typeface="+mj-lt"/>
              <a:buAutoNum type="arabicPeriod"/>
            </a:pPr>
            <a:r>
              <a:rPr lang="ja-GB" altLang="en-US" dirty="0"/>
              <a:t>身近に遭遇するかもしれない</a:t>
            </a:r>
            <a:r>
              <a:rPr lang="en-US" altLang="ja-GB" dirty="0"/>
              <a:t>2</a:t>
            </a:r>
            <a:r>
              <a:rPr lang="ja-GB" altLang="en-US" dirty="0"/>
              <a:t>進数に由来する現象</a:t>
            </a:r>
            <a:endParaRPr lang="en-US" altLang="ja-GB" dirty="0"/>
          </a:p>
          <a:p>
            <a:pPr lvl="1"/>
            <a:r>
              <a:rPr lang="ja-GB" altLang="en-US" dirty="0"/>
              <a:t>アプリケーションの操作</a:t>
            </a:r>
            <a:endParaRPr lang="en-US" altLang="ja-GB" dirty="0"/>
          </a:p>
          <a:p>
            <a:pPr lvl="1"/>
            <a:r>
              <a:rPr lang="ja-GB" altLang="en-US" dirty="0"/>
              <a:t>パソコンの設定項目</a:t>
            </a:r>
            <a:endParaRPr lang="en-US" altLang="ja-GB" dirty="0"/>
          </a:p>
          <a:p>
            <a:pPr lvl="1"/>
            <a:r>
              <a:rPr lang="ja-GB" altLang="en-US" dirty="0"/>
              <a:t>計算誤差</a:t>
            </a:r>
            <a:endParaRPr lang="en-US" altLang="ja-GB" dirty="0"/>
          </a:p>
          <a:p>
            <a:pPr marL="914400" lvl="1" indent="-457200">
              <a:buFont typeface="+mj-lt"/>
              <a:buAutoNum type="arabicPeriod"/>
            </a:pPr>
            <a:endParaRPr kumimoji="1" lang="en-US" altLang="ja-GB" dirty="0"/>
          </a:p>
        </p:txBody>
      </p:sp>
    </p:spTree>
    <p:extLst>
      <p:ext uri="{BB962C8B-B14F-4D97-AF65-F5344CB8AC3E}">
        <p14:creationId xmlns:p14="http://schemas.microsoft.com/office/powerpoint/2010/main" val="223223317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A082B1-636F-5EBE-79D4-C91183854683}"/>
              </a:ext>
            </a:extLst>
          </p:cNvPr>
          <p:cNvSpPr>
            <a:spLocks noGrp="1"/>
          </p:cNvSpPr>
          <p:nvPr>
            <p:ph type="title"/>
          </p:nvPr>
        </p:nvSpPr>
        <p:spPr/>
        <p:txBody>
          <a:bodyPr/>
          <a:lstStyle/>
          <a:p>
            <a:r>
              <a:rPr kumimoji="1" lang="ja-GB" altLang="en-US" dirty="0"/>
              <a:t>データベースの絞り込み</a:t>
            </a:r>
          </a:p>
        </p:txBody>
      </p:sp>
      <p:sp>
        <p:nvSpPr>
          <p:cNvPr id="3" name="コンテンツ プレースホルダー 2">
            <a:extLst>
              <a:ext uri="{FF2B5EF4-FFF2-40B4-BE49-F238E27FC236}">
                <a16:creationId xmlns:a16="http://schemas.microsoft.com/office/drawing/2014/main" id="{99484EE5-0297-8CDF-1116-1B422FE5166C}"/>
              </a:ext>
            </a:extLst>
          </p:cNvPr>
          <p:cNvSpPr>
            <a:spLocks noGrp="1"/>
          </p:cNvSpPr>
          <p:nvPr>
            <p:ph idx="1"/>
          </p:nvPr>
        </p:nvSpPr>
        <p:spPr/>
        <p:txBody>
          <a:bodyPr/>
          <a:lstStyle/>
          <a:p>
            <a:pPr marL="0" indent="0">
              <a:buNone/>
            </a:pPr>
            <a:r>
              <a:rPr kumimoji="1" lang="ja-GB" altLang="en-US" dirty="0"/>
              <a:t>例</a:t>
            </a:r>
            <a:r>
              <a:rPr lang="ja-GB" altLang="en-US" dirty="0"/>
              <a:t>）</a:t>
            </a:r>
            <a:r>
              <a:rPr lang="en-US" altLang="ja-GB" dirty="0"/>
              <a:t>Notion</a:t>
            </a:r>
            <a:r>
              <a:rPr lang="ja-GB" altLang="en-US" dirty="0"/>
              <a:t>のフィルター</a:t>
            </a:r>
            <a:endParaRPr kumimoji="1" lang="ja-GB" altLang="en-US" dirty="0"/>
          </a:p>
        </p:txBody>
      </p:sp>
      <p:sp>
        <p:nvSpPr>
          <p:cNvPr id="5" name="テキスト ボックス 4">
            <a:extLst>
              <a:ext uri="{FF2B5EF4-FFF2-40B4-BE49-F238E27FC236}">
                <a16:creationId xmlns:a16="http://schemas.microsoft.com/office/drawing/2014/main" id="{F97A48E6-855F-2734-823F-4622F05144AB}"/>
              </a:ext>
            </a:extLst>
          </p:cNvPr>
          <p:cNvSpPr txBox="1"/>
          <p:nvPr/>
        </p:nvSpPr>
        <p:spPr>
          <a:xfrm>
            <a:off x="158484" y="6326154"/>
            <a:ext cx="8827032" cy="369332"/>
          </a:xfrm>
          <a:prstGeom prst="rect">
            <a:avLst/>
          </a:prstGeom>
          <a:noFill/>
        </p:spPr>
        <p:txBody>
          <a:bodyPr wrap="none" rtlCol="0">
            <a:spAutoFit/>
          </a:bodyPr>
          <a:lstStyle/>
          <a:p>
            <a:r>
              <a:rPr kumimoji="1" lang="en-GB" altLang="ja-GB" dirty="0">
                <a:hlinkClick r:id="rId2"/>
              </a:rPr>
              <a:t>https://tomiokario.notion.site/Publication-list-1a6532283c7a802a97edca590300b9f6?pvs=4</a:t>
            </a:r>
            <a:r>
              <a:rPr kumimoji="1" lang="en-GB" altLang="ja-GB" dirty="0"/>
              <a:t> </a:t>
            </a:r>
            <a:endParaRPr kumimoji="1" lang="ja-GB" altLang="en-US" dirty="0"/>
          </a:p>
        </p:txBody>
      </p:sp>
      <p:pic>
        <p:nvPicPr>
          <p:cNvPr id="7" name="図 6" descr="グラフィカル ユーザー インターフェイス, アプリケーション&#10;&#10;AI 生成コンテンツは誤りを含む可能性があります。">
            <a:extLst>
              <a:ext uri="{FF2B5EF4-FFF2-40B4-BE49-F238E27FC236}">
                <a16:creationId xmlns:a16="http://schemas.microsoft.com/office/drawing/2014/main" id="{F8F7960C-A57B-7FD4-7533-7CCC4C14085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53490" y="1154875"/>
            <a:ext cx="8721999" cy="5546787"/>
          </a:xfrm>
          <a:prstGeom prst="rect">
            <a:avLst/>
          </a:prstGeom>
        </p:spPr>
      </p:pic>
    </p:spTree>
    <p:extLst>
      <p:ext uri="{BB962C8B-B14F-4D97-AF65-F5344CB8AC3E}">
        <p14:creationId xmlns:p14="http://schemas.microsoft.com/office/powerpoint/2010/main" val="337638853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B168A9-E07A-1A84-9798-91B6EEE30167}"/>
              </a:ext>
            </a:extLst>
          </p:cNvPr>
          <p:cNvSpPr>
            <a:spLocks noGrp="1"/>
          </p:cNvSpPr>
          <p:nvPr>
            <p:ph type="title"/>
          </p:nvPr>
        </p:nvSpPr>
        <p:spPr/>
        <p:txBody>
          <a:bodyPr/>
          <a:lstStyle/>
          <a:p>
            <a:r>
              <a:rPr kumimoji="1" lang="en-US" altLang="ja-GB" dirty="0"/>
              <a:t>Google</a:t>
            </a:r>
            <a:r>
              <a:rPr kumimoji="1" lang="ja-GB" altLang="en-US" dirty="0"/>
              <a:t>検索演算子</a:t>
            </a:r>
          </a:p>
        </p:txBody>
      </p:sp>
      <p:sp>
        <p:nvSpPr>
          <p:cNvPr id="3" name="コンテンツ プレースホルダー 2">
            <a:extLst>
              <a:ext uri="{FF2B5EF4-FFF2-40B4-BE49-F238E27FC236}">
                <a16:creationId xmlns:a16="http://schemas.microsoft.com/office/drawing/2014/main" id="{371F568F-A868-0411-CD55-D58D082F6D83}"/>
              </a:ext>
            </a:extLst>
          </p:cNvPr>
          <p:cNvSpPr>
            <a:spLocks noGrp="1"/>
          </p:cNvSpPr>
          <p:nvPr>
            <p:ph idx="1"/>
          </p:nvPr>
        </p:nvSpPr>
        <p:spPr/>
        <p:txBody>
          <a:bodyPr/>
          <a:lstStyle/>
          <a:p>
            <a:pPr marL="457200" lvl="1" indent="0">
              <a:buNone/>
            </a:pPr>
            <a:r>
              <a:rPr kumimoji="1" lang="en-US" altLang="ja-GB" dirty="0">
                <a:solidFill>
                  <a:srgbClr val="002060"/>
                </a:solidFill>
              </a:rPr>
              <a:t>AND</a:t>
            </a:r>
            <a:r>
              <a:rPr kumimoji="1" lang="ja-GB" altLang="en-US" dirty="0">
                <a:solidFill>
                  <a:srgbClr val="002060"/>
                </a:solidFill>
              </a:rPr>
              <a:t>検索（積集合）</a:t>
            </a:r>
            <a:endParaRPr kumimoji="1" lang="en-US" altLang="ja-GB" dirty="0">
              <a:solidFill>
                <a:srgbClr val="002060"/>
              </a:solidFill>
            </a:endParaRPr>
          </a:p>
          <a:p>
            <a:pPr marL="914400" lvl="2" indent="0">
              <a:buNone/>
            </a:pPr>
            <a:r>
              <a:rPr lang="ja-GB" altLang="en-US" dirty="0"/>
              <a:t>例）北九州市，会食，海鮮全てのワードを含む記事を探す</a:t>
            </a:r>
            <a:endParaRPr lang="en-US" altLang="ja-GB" dirty="0"/>
          </a:p>
          <a:p>
            <a:pPr marL="1371600" lvl="3" indent="0">
              <a:buNone/>
            </a:pPr>
            <a:r>
              <a:rPr lang="ja-GB" altLang="en-US" dirty="0">
                <a:solidFill>
                  <a:schemeClr val="tx1">
                    <a:lumMod val="50000"/>
                    <a:lumOff val="50000"/>
                  </a:schemeClr>
                </a:solidFill>
              </a:rPr>
              <a:t>北九州市</a:t>
            </a:r>
            <a:r>
              <a:rPr lang="en-US" altLang="ja-GB" dirty="0">
                <a:solidFill>
                  <a:schemeClr val="tx1">
                    <a:lumMod val="50000"/>
                    <a:lumOff val="50000"/>
                  </a:schemeClr>
                </a:solidFill>
              </a:rPr>
              <a:t> </a:t>
            </a:r>
            <a:r>
              <a:rPr lang="en-US" altLang="ja-GB" dirty="0">
                <a:solidFill>
                  <a:srgbClr val="0070C0"/>
                </a:solidFill>
              </a:rPr>
              <a:t>AND</a:t>
            </a:r>
            <a:r>
              <a:rPr lang="en-US" altLang="ja-GB" dirty="0">
                <a:solidFill>
                  <a:schemeClr val="tx1">
                    <a:lumMod val="50000"/>
                    <a:lumOff val="50000"/>
                  </a:schemeClr>
                </a:solidFill>
              </a:rPr>
              <a:t> </a:t>
            </a:r>
            <a:r>
              <a:rPr lang="ja-GB" altLang="en-US" dirty="0">
                <a:solidFill>
                  <a:schemeClr val="tx1">
                    <a:lumMod val="50000"/>
                    <a:lumOff val="50000"/>
                  </a:schemeClr>
                </a:solidFill>
              </a:rPr>
              <a:t>会食</a:t>
            </a:r>
            <a:r>
              <a:rPr lang="en-US" altLang="ja-GB" dirty="0">
                <a:solidFill>
                  <a:schemeClr val="tx1">
                    <a:lumMod val="50000"/>
                    <a:lumOff val="50000"/>
                  </a:schemeClr>
                </a:solidFill>
              </a:rPr>
              <a:t> </a:t>
            </a:r>
            <a:r>
              <a:rPr lang="en-US" altLang="ja-GB" dirty="0">
                <a:solidFill>
                  <a:srgbClr val="0070C0"/>
                </a:solidFill>
              </a:rPr>
              <a:t>AND</a:t>
            </a:r>
            <a:r>
              <a:rPr lang="en-US" altLang="ja-GB" dirty="0">
                <a:solidFill>
                  <a:schemeClr val="tx1">
                    <a:lumMod val="50000"/>
                    <a:lumOff val="50000"/>
                  </a:schemeClr>
                </a:solidFill>
              </a:rPr>
              <a:t> </a:t>
            </a:r>
            <a:r>
              <a:rPr lang="ja-GB" altLang="en-US" dirty="0">
                <a:solidFill>
                  <a:schemeClr val="tx1">
                    <a:lumMod val="50000"/>
                    <a:lumOff val="50000"/>
                  </a:schemeClr>
                </a:solidFill>
              </a:rPr>
              <a:t>ホテル</a:t>
            </a:r>
            <a:endParaRPr lang="en-US" altLang="ja-GB" dirty="0">
              <a:solidFill>
                <a:schemeClr val="tx1">
                  <a:lumMod val="50000"/>
                  <a:lumOff val="50000"/>
                </a:schemeClr>
              </a:solidFill>
            </a:endParaRPr>
          </a:p>
          <a:p>
            <a:pPr lvl="3"/>
            <a:endParaRPr lang="en-US" altLang="ja-GB" dirty="0"/>
          </a:p>
          <a:p>
            <a:pPr marL="457200" lvl="1" indent="0">
              <a:buNone/>
            </a:pPr>
            <a:r>
              <a:rPr kumimoji="1" lang="en-US" altLang="ja-GB" dirty="0">
                <a:solidFill>
                  <a:srgbClr val="002060"/>
                </a:solidFill>
              </a:rPr>
              <a:t>O</a:t>
            </a:r>
            <a:r>
              <a:rPr lang="en-US" altLang="ja-GB" dirty="0">
                <a:solidFill>
                  <a:srgbClr val="002060"/>
                </a:solidFill>
              </a:rPr>
              <a:t>R</a:t>
            </a:r>
            <a:r>
              <a:rPr lang="ja-GB" altLang="en-US" dirty="0">
                <a:solidFill>
                  <a:srgbClr val="002060"/>
                </a:solidFill>
              </a:rPr>
              <a:t>検索（和集合）</a:t>
            </a:r>
            <a:endParaRPr lang="en-US" altLang="ja-GB" dirty="0">
              <a:solidFill>
                <a:srgbClr val="002060"/>
              </a:solidFill>
            </a:endParaRPr>
          </a:p>
          <a:p>
            <a:pPr marL="914400" lvl="2" indent="0">
              <a:buNone/>
            </a:pPr>
            <a:r>
              <a:rPr lang="ja-JP" altLang="en-US"/>
              <a:t>例）</a:t>
            </a:r>
            <a:r>
              <a:rPr lang="ja-GB" altLang="en-US" dirty="0"/>
              <a:t>北九州市，会食に加えて，ホテルか料亭のどちらかを含む記事を探す</a:t>
            </a:r>
            <a:endParaRPr lang="en-US" altLang="ja-JP" dirty="0"/>
          </a:p>
          <a:p>
            <a:pPr marL="1371600" lvl="3" indent="0">
              <a:buNone/>
            </a:pPr>
            <a:r>
              <a:rPr lang="ja-JP" altLang="en-US">
                <a:solidFill>
                  <a:schemeClr val="tx1">
                    <a:lumMod val="50000"/>
                    <a:lumOff val="50000"/>
                  </a:schemeClr>
                </a:solidFill>
              </a:rPr>
              <a:t>北九州市 </a:t>
            </a:r>
            <a:r>
              <a:rPr lang="en-US" altLang="ja-GB" dirty="0">
                <a:solidFill>
                  <a:srgbClr val="0070C0"/>
                </a:solidFill>
              </a:rPr>
              <a:t>AND</a:t>
            </a:r>
            <a:r>
              <a:rPr lang="en-US" altLang="ja-GB" dirty="0">
                <a:solidFill>
                  <a:schemeClr val="tx1">
                    <a:lumMod val="50000"/>
                    <a:lumOff val="50000"/>
                  </a:schemeClr>
                </a:solidFill>
              </a:rPr>
              <a:t> </a:t>
            </a:r>
            <a:r>
              <a:rPr lang="ja-JP" altLang="en-US">
                <a:solidFill>
                  <a:schemeClr val="tx1">
                    <a:lumMod val="50000"/>
                    <a:lumOff val="50000"/>
                  </a:schemeClr>
                </a:solidFill>
              </a:rPr>
              <a:t>会食 </a:t>
            </a:r>
            <a:r>
              <a:rPr lang="en-US" altLang="ja-GB" dirty="0">
                <a:solidFill>
                  <a:srgbClr val="0070C0"/>
                </a:solidFill>
              </a:rPr>
              <a:t>AND</a:t>
            </a:r>
            <a:r>
              <a:rPr lang="en-US" altLang="ja-GB" dirty="0">
                <a:solidFill>
                  <a:schemeClr val="tx1">
                    <a:lumMod val="50000"/>
                    <a:lumOff val="50000"/>
                  </a:schemeClr>
                </a:solidFill>
              </a:rPr>
              <a:t> (</a:t>
            </a:r>
            <a:r>
              <a:rPr lang="ja-GB" altLang="en-US" dirty="0">
                <a:solidFill>
                  <a:schemeClr val="tx1">
                    <a:lumMod val="50000"/>
                    <a:lumOff val="50000"/>
                  </a:schemeClr>
                </a:solidFill>
              </a:rPr>
              <a:t>ホテル</a:t>
            </a:r>
            <a:r>
              <a:rPr lang="en-US" altLang="ja-JP" dirty="0">
                <a:solidFill>
                  <a:schemeClr val="tx1">
                    <a:lumMod val="50000"/>
                    <a:lumOff val="50000"/>
                  </a:schemeClr>
                </a:solidFill>
              </a:rPr>
              <a:t> </a:t>
            </a:r>
            <a:r>
              <a:rPr lang="en-US" altLang="ja-JP" dirty="0">
                <a:solidFill>
                  <a:srgbClr val="0070C0"/>
                </a:solidFill>
              </a:rPr>
              <a:t>OR</a:t>
            </a:r>
            <a:r>
              <a:rPr lang="en-US" altLang="ja-JP" dirty="0">
                <a:solidFill>
                  <a:schemeClr val="tx1">
                    <a:lumMod val="50000"/>
                    <a:lumOff val="50000"/>
                  </a:schemeClr>
                </a:solidFill>
              </a:rPr>
              <a:t> </a:t>
            </a:r>
            <a:r>
              <a:rPr lang="ja-GB" altLang="en-US" dirty="0">
                <a:solidFill>
                  <a:schemeClr val="tx1">
                    <a:lumMod val="50000"/>
                    <a:lumOff val="50000"/>
                  </a:schemeClr>
                </a:solidFill>
              </a:rPr>
              <a:t>料亭</a:t>
            </a:r>
            <a:r>
              <a:rPr lang="en-US" altLang="ja-GB" dirty="0">
                <a:solidFill>
                  <a:schemeClr val="tx1">
                    <a:lumMod val="50000"/>
                    <a:lumOff val="50000"/>
                  </a:schemeClr>
                </a:solidFill>
              </a:rPr>
              <a:t>)</a:t>
            </a:r>
          </a:p>
          <a:p>
            <a:pPr lvl="3"/>
            <a:endParaRPr kumimoji="1" lang="en-US" altLang="ja-GB" dirty="0"/>
          </a:p>
          <a:p>
            <a:pPr marL="457200" lvl="1" indent="0">
              <a:buNone/>
            </a:pPr>
            <a:r>
              <a:rPr lang="ja-GB" altLang="en-US" dirty="0">
                <a:solidFill>
                  <a:srgbClr val="002060"/>
                </a:solidFill>
              </a:rPr>
              <a:t>除外検索（差集合）</a:t>
            </a:r>
            <a:endParaRPr lang="en-US" altLang="ja-GB" dirty="0">
              <a:solidFill>
                <a:srgbClr val="002060"/>
              </a:solidFill>
            </a:endParaRPr>
          </a:p>
          <a:p>
            <a:pPr marL="914400" lvl="2" indent="0">
              <a:buNone/>
            </a:pPr>
            <a:r>
              <a:rPr kumimoji="1" lang="ja-GB" altLang="en-US" dirty="0"/>
              <a:t>特定の語句を除外するときは「</a:t>
            </a:r>
            <a:r>
              <a:rPr kumimoji="1" lang="en-US" altLang="ja-GB" dirty="0"/>
              <a:t>-</a:t>
            </a:r>
            <a:r>
              <a:rPr lang="ja-GB" altLang="en-US" dirty="0"/>
              <a:t>（半角</a:t>
            </a:r>
            <a:r>
              <a:rPr kumimoji="1" lang="ja-GB" altLang="en-US" dirty="0"/>
              <a:t>マイナス）」をつける</a:t>
            </a:r>
            <a:endParaRPr kumimoji="1" lang="en-US" altLang="ja-GB" dirty="0"/>
          </a:p>
          <a:p>
            <a:pPr marL="914400" lvl="2" indent="0">
              <a:buNone/>
            </a:pPr>
            <a:r>
              <a:rPr lang="ja-GB" altLang="en-US" dirty="0"/>
              <a:t>例）飛行機のトランプを探すにあたり，大統領の記事は除外したい</a:t>
            </a:r>
            <a:endParaRPr kumimoji="1" lang="en-US" altLang="ja-GB" dirty="0"/>
          </a:p>
          <a:p>
            <a:pPr marL="1371600" lvl="3" indent="0">
              <a:buNone/>
            </a:pPr>
            <a:r>
              <a:rPr lang="ja-GB" altLang="en-US" dirty="0">
                <a:solidFill>
                  <a:schemeClr val="tx1">
                    <a:lumMod val="50000"/>
                    <a:lumOff val="50000"/>
                  </a:schemeClr>
                </a:solidFill>
              </a:rPr>
              <a:t>飛行機</a:t>
            </a:r>
            <a:r>
              <a:rPr lang="en-US" altLang="ja-GB" dirty="0">
                <a:solidFill>
                  <a:schemeClr val="tx1">
                    <a:lumMod val="50000"/>
                    <a:lumOff val="50000"/>
                  </a:schemeClr>
                </a:solidFill>
              </a:rPr>
              <a:t> </a:t>
            </a:r>
            <a:r>
              <a:rPr lang="ja-GB" altLang="en-US" dirty="0">
                <a:solidFill>
                  <a:schemeClr val="tx1">
                    <a:lumMod val="50000"/>
                    <a:lumOff val="50000"/>
                  </a:schemeClr>
                </a:solidFill>
              </a:rPr>
              <a:t>トランプ</a:t>
            </a:r>
            <a:r>
              <a:rPr lang="en-US" altLang="ja-GB" dirty="0">
                <a:solidFill>
                  <a:schemeClr val="tx1">
                    <a:lumMod val="50000"/>
                    <a:lumOff val="50000"/>
                  </a:schemeClr>
                </a:solidFill>
              </a:rPr>
              <a:t> </a:t>
            </a:r>
            <a:r>
              <a:rPr lang="en-US" altLang="ja-GB" dirty="0">
                <a:solidFill>
                  <a:srgbClr val="0070C0"/>
                </a:solidFill>
              </a:rPr>
              <a:t>–</a:t>
            </a:r>
            <a:r>
              <a:rPr lang="ja-GB" altLang="en-US" dirty="0">
                <a:solidFill>
                  <a:schemeClr val="tx1">
                    <a:lumMod val="50000"/>
                    <a:lumOff val="50000"/>
                  </a:schemeClr>
                </a:solidFill>
              </a:rPr>
              <a:t>大統領</a:t>
            </a:r>
            <a:endParaRPr lang="en-US" altLang="ja-GB" dirty="0">
              <a:solidFill>
                <a:schemeClr val="tx1">
                  <a:lumMod val="50000"/>
                  <a:lumOff val="50000"/>
                </a:schemeClr>
              </a:solidFill>
            </a:endParaRPr>
          </a:p>
          <a:p>
            <a:pPr lvl="4"/>
            <a:endParaRPr lang="en-US" altLang="ja-GB" dirty="0"/>
          </a:p>
          <a:p>
            <a:pPr lvl="2"/>
            <a:endParaRPr lang="en-US" altLang="ja-GB" dirty="0"/>
          </a:p>
        </p:txBody>
      </p:sp>
      <p:sp>
        <p:nvSpPr>
          <p:cNvPr id="4" name="テキスト ボックス 3">
            <a:extLst>
              <a:ext uri="{FF2B5EF4-FFF2-40B4-BE49-F238E27FC236}">
                <a16:creationId xmlns:a16="http://schemas.microsoft.com/office/drawing/2014/main" id="{740E327D-FACA-4F4D-C304-6FCB7235EE68}"/>
              </a:ext>
            </a:extLst>
          </p:cNvPr>
          <p:cNvSpPr txBox="1"/>
          <p:nvPr/>
        </p:nvSpPr>
        <p:spPr>
          <a:xfrm>
            <a:off x="157162" y="6003235"/>
            <a:ext cx="8829675" cy="707886"/>
          </a:xfrm>
          <a:prstGeom prst="rect">
            <a:avLst/>
          </a:prstGeom>
          <a:noFill/>
        </p:spPr>
        <p:txBody>
          <a:bodyPr wrap="square" rtlCol="0">
            <a:spAutoFit/>
          </a:bodyPr>
          <a:lstStyle/>
          <a:p>
            <a:r>
              <a:rPr kumimoji="1" lang="ja-GB" altLang="en-US" sz="1600" dirty="0">
                <a:solidFill>
                  <a:srgbClr val="2F2523"/>
                </a:solidFill>
              </a:rPr>
              <a:t>参考：</a:t>
            </a:r>
            <a:r>
              <a:rPr kumimoji="1" lang="ja-JP" altLang="en-US" sz="1600">
                <a:solidFill>
                  <a:srgbClr val="2F2523"/>
                </a:solidFill>
              </a:rPr>
              <a:t>演算子を使用して検索を絞り込む </a:t>
            </a:r>
            <a:r>
              <a:rPr kumimoji="1" lang="en-US" altLang="ja-JP" sz="1600" dirty="0">
                <a:solidFill>
                  <a:srgbClr val="2F2523"/>
                </a:solidFill>
              </a:rPr>
              <a:t>- </a:t>
            </a:r>
            <a:r>
              <a:rPr kumimoji="1" lang="en-GB" altLang="ja-GB" sz="1600" dirty="0">
                <a:solidFill>
                  <a:srgbClr val="2F2523"/>
                </a:solidFill>
              </a:rPr>
              <a:t>Android - Cloud Search </a:t>
            </a:r>
            <a:r>
              <a:rPr kumimoji="1" lang="ja-JP" altLang="en-US" sz="1600">
                <a:solidFill>
                  <a:srgbClr val="2F2523"/>
                </a:solidFill>
              </a:rPr>
              <a:t>ヘルプ</a:t>
            </a:r>
            <a:r>
              <a:rPr kumimoji="1" lang="ja-JP" altLang="en-US" sz="1600"/>
              <a:t> </a:t>
            </a:r>
            <a:r>
              <a:rPr kumimoji="1" lang="en-GB" altLang="ja-GB" sz="1200" dirty="0">
                <a:solidFill>
                  <a:schemeClr val="tx1">
                    <a:lumMod val="50000"/>
                    <a:lumOff val="50000"/>
                  </a:schemeClr>
                </a:solidFill>
                <a:hlinkClick r:id="rId2">
                  <a:extLst>
                    <a:ext uri="{A12FA001-AC4F-418D-AE19-62706E023703}">
                      <ahyp:hlinkClr xmlns:ahyp="http://schemas.microsoft.com/office/drawing/2018/hyperlinkcolor" val="tx"/>
                    </a:ext>
                  </a:extLst>
                </a:hlinkClick>
              </a:rPr>
              <a:t>https://support.google.com/cloudsearch/answer/6172299?hl=ja&amp;co=GENIE.Platform%3DAndroid#zippy=%2C%E8%A8%98%E5%8F%B7%E3%81%A8%E6%A8%99%E6%BA%96%E7%9A%84%E3%81%AA%E6%BC%94%E7%AE%97%E5%AD%90</a:t>
            </a:r>
            <a:r>
              <a:rPr kumimoji="1" lang="en-GB" altLang="ja-GB" sz="1200" dirty="0">
                <a:solidFill>
                  <a:schemeClr val="tx1">
                    <a:lumMod val="50000"/>
                    <a:lumOff val="50000"/>
                  </a:schemeClr>
                </a:solidFill>
              </a:rPr>
              <a:t> </a:t>
            </a:r>
            <a:endParaRPr kumimoji="1" lang="ja-GB" altLang="en-US" sz="1600" dirty="0">
              <a:solidFill>
                <a:schemeClr val="tx1">
                  <a:lumMod val="50000"/>
                  <a:lumOff val="50000"/>
                </a:schemeClr>
              </a:solidFill>
            </a:endParaRPr>
          </a:p>
        </p:txBody>
      </p:sp>
    </p:spTree>
    <p:extLst>
      <p:ext uri="{BB962C8B-B14F-4D97-AF65-F5344CB8AC3E}">
        <p14:creationId xmlns:p14="http://schemas.microsoft.com/office/powerpoint/2010/main" val="391840718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201023-F2A9-7DDD-E196-62521480349F}"/>
              </a:ext>
            </a:extLst>
          </p:cNvPr>
          <p:cNvSpPr>
            <a:spLocks noGrp="1"/>
          </p:cNvSpPr>
          <p:nvPr>
            <p:ph type="title"/>
          </p:nvPr>
        </p:nvSpPr>
        <p:spPr/>
        <p:txBody>
          <a:bodyPr/>
          <a:lstStyle/>
          <a:p>
            <a:r>
              <a:rPr kumimoji="1" lang="ja-GB" altLang="en-US" dirty="0"/>
              <a:t>サブネットマスク</a:t>
            </a:r>
          </a:p>
        </p:txBody>
      </p:sp>
      <p:sp>
        <p:nvSpPr>
          <p:cNvPr id="3" name="コンテンツ プレースホルダー 2">
            <a:extLst>
              <a:ext uri="{FF2B5EF4-FFF2-40B4-BE49-F238E27FC236}">
                <a16:creationId xmlns:a16="http://schemas.microsoft.com/office/drawing/2014/main" id="{E644C19E-68A5-66C9-6C4A-1EACA626A57F}"/>
              </a:ext>
            </a:extLst>
          </p:cNvPr>
          <p:cNvSpPr>
            <a:spLocks noGrp="1"/>
          </p:cNvSpPr>
          <p:nvPr>
            <p:ph idx="1"/>
          </p:nvPr>
        </p:nvSpPr>
        <p:spPr/>
        <p:txBody>
          <a:bodyPr/>
          <a:lstStyle/>
          <a:p>
            <a:pPr marL="0" indent="0">
              <a:buNone/>
            </a:pPr>
            <a:r>
              <a:rPr kumimoji="1" lang="ja-GB" altLang="en-US" dirty="0"/>
              <a:t>有線接続のパソコンなど</a:t>
            </a:r>
            <a:r>
              <a:rPr kumimoji="1" lang="en-US" altLang="ja-GB" baseline="30000" dirty="0"/>
              <a:t>※</a:t>
            </a:r>
            <a:r>
              <a:rPr kumimoji="1" lang="ja-GB" altLang="en-US" dirty="0"/>
              <a:t>でネットワーク接続時に現れる設定項目</a:t>
            </a:r>
            <a:endParaRPr kumimoji="1" lang="en-US" altLang="ja-GB" dirty="0"/>
          </a:p>
          <a:p>
            <a:pPr marL="457200" lvl="1" indent="0">
              <a:buNone/>
            </a:pPr>
            <a:r>
              <a:rPr kumimoji="1" lang="ja-GB" altLang="en-US" dirty="0"/>
              <a:t>例）</a:t>
            </a:r>
            <a:r>
              <a:rPr kumimoji="1" lang="en-US" altLang="ja-GB" dirty="0"/>
              <a:t>192.168.1.168/24</a:t>
            </a:r>
            <a:r>
              <a:rPr kumimoji="1" lang="ja-GB" altLang="en-US" dirty="0"/>
              <a:t>（</a:t>
            </a:r>
            <a:r>
              <a:rPr kumimoji="1" lang="en-US" altLang="ja-GB" dirty="0"/>
              <a:t>IP</a:t>
            </a:r>
            <a:r>
              <a:rPr kumimoji="1" lang="ja-GB" altLang="en-US" dirty="0"/>
              <a:t>アドレス），</a:t>
            </a:r>
            <a:r>
              <a:rPr kumimoji="1" lang="en-US" altLang="ja-GB" dirty="0"/>
              <a:t>255</a:t>
            </a:r>
            <a:r>
              <a:rPr lang="en-US" altLang="ja-GB" dirty="0"/>
              <a:t>.255.255.0</a:t>
            </a:r>
            <a:r>
              <a:rPr lang="ja-GB" altLang="en-US" dirty="0"/>
              <a:t>（サブネットマスク）</a:t>
            </a:r>
            <a:endParaRPr kumimoji="1" lang="en-US" altLang="ja-GB" dirty="0"/>
          </a:p>
          <a:p>
            <a:pPr lvl="2"/>
            <a:r>
              <a:rPr kumimoji="1" lang="en-US" altLang="ja-GB" dirty="0"/>
              <a:t>255.255.255.0→11111111.11111111.11111111.00000000</a:t>
            </a:r>
            <a:r>
              <a:rPr kumimoji="1" lang="ja-GB" altLang="en-US" dirty="0"/>
              <a:t>（</a:t>
            </a:r>
            <a:r>
              <a:rPr kumimoji="1" lang="en-US" altLang="ja-GB" dirty="0"/>
              <a:t>2</a:t>
            </a:r>
            <a:r>
              <a:rPr kumimoji="1" lang="ja-GB" altLang="en-US" dirty="0"/>
              <a:t>進数）</a:t>
            </a:r>
            <a:endParaRPr kumimoji="1" lang="en-US" altLang="ja-GB" dirty="0"/>
          </a:p>
          <a:p>
            <a:pPr lvl="2"/>
            <a:r>
              <a:rPr kumimoji="1" lang="ja-GB" altLang="en-US" dirty="0"/>
              <a:t>上から</a:t>
            </a:r>
            <a:r>
              <a:rPr kumimoji="1" lang="en-US" altLang="ja-GB" dirty="0"/>
              <a:t>24</a:t>
            </a:r>
            <a:r>
              <a:rPr kumimoji="1" lang="ja-GB" altLang="en-US" dirty="0"/>
              <a:t>桁が</a:t>
            </a:r>
            <a:r>
              <a:rPr kumimoji="1" lang="en-US" altLang="ja-GB" dirty="0"/>
              <a:t>LAN</a:t>
            </a:r>
            <a:r>
              <a:rPr kumimoji="1" lang="ja-GB" altLang="en-US" dirty="0"/>
              <a:t>に共通の住所，下</a:t>
            </a:r>
            <a:r>
              <a:rPr kumimoji="1" lang="en-US" altLang="ja-GB" dirty="0"/>
              <a:t>8</a:t>
            </a:r>
            <a:r>
              <a:rPr kumimoji="1" lang="ja-GB" altLang="en-US" dirty="0"/>
              <a:t>桁が端末固有の住所を表す</a:t>
            </a:r>
            <a:endParaRPr kumimoji="1" lang="en-US" altLang="ja-GB" dirty="0"/>
          </a:p>
          <a:p>
            <a:pPr lvl="2"/>
            <a:r>
              <a:rPr lang="en-US" altLang="ja-GB" dirty="0"/>
              <a:t>192.168.1.168</a:t>
            </a:r>
            <a:r>
              <a:rPr lang="ja-GB" altLang="en-US" dirty="0"/>
              <a:t>と</a:t>
            </a:r>
            <a:r>
              <a:rPr lang="en-US" altLang="ja-GB" dirty="0"/>
              <a:t>255.255.255.0</a:t>
            </a:r>
            <a:r>
              <a:rPr lang="ja-GB" altLang="en-US" dirty="0"/>
              <a:t>の論理積を取れば，</a:t>
            </a:r>
            <a:r>
              <a:rPr lang="en-US" altLang="ja-GB" dirty="0"/>
              <a:t>192.168.1.0</a:t>
            </a:r>
            <a:r>
              <a:rPr lang="ja-GB" altLang="en-US" dirty="0"/>
              <a:t>となる</a:t>
            </a:r>
            <a:endParaRPr lang="en-US" altLang="ja-GB" dirty="0"/>
          </a:p>
          <a:p>
            <a:pPr lvl="2"/>
            <a:r>
              <a:rPr lang="ja-GB" altLang="en-US" dirty="0"/>
              <a:t>サブネットマスクを反転させて論理積を取れば，</a:t>
            </a:r>
            <a:r>
              <a:rPr lang="en-US" altLang="ja-GB" dirty="0"/>
              <a:t>0.0.0.168</a:t>
            </a:r>
            <a:r>
              <a:rPr lang="ja-GB" altLang="en-US" dirty="0"/>
              <a:t>となる</a:t>
            </a:r>
            <a:endParaRPr lang="en-US" altLang="ja-GB" dirty="0"/>
          </a:p>
        </p:txBody>
      </p:sp>
      <p:sp>
        <p:nvSpPr>
          <p:cNvPr id="5" name="テキスト ボックス 4">
            <a:extLst>
              <a:ext uri="{FF2B5EF4-FFF2-40B4-BE49-F238E27FC236}">
                <a16:creationId xmlns:a16="http://schemas.microsoft.com/office/drawing/2014/main" id="{EAF6E949-3B0B-43C1-EB8F-86FA3796BE41}"/>
              </a:ext>
            </a:extLst>
          </p:cNvPr>
          <p:cNvSpPr txBox="1"/>
          <p:nvPr/>
        </p:nvSpPr>
        <p:spPr>
          <a:xfrm>
            <a:off x="989929" y="6148137"/>
            <a:ext cx="7164141" cy="523220"/>
          </a:xfrm>
          <a:prstGeom prst="rect">
            <a:avLst/>
          </a:prstGeom>
          <a:noFill/>
        </p:spPr>
        <p:txBody>
          <a:bodyPr wrap="none" rtlCol="0">
            <a:spAutoFit/>
          </a:bodyPr>
          <a:lstStyle/>
          <a:p>
            <a:r>
              <a:rPr kumimoji="1" lang="en-US" altLang="ja-GB" sz="1400" dirty="0"/>
              <a:t>※</a:t>
            </a:r>
            <a:r>
              <a:rPr kumimoji="1" lang="ja-GB" altLang="en-US" sz="1400" dirty="0"/>
              <a:t>厳密には</a:t>
            </a:r>
            <a:r>
              <a:rPr kumimoji="1" lang="en-US" altLang="ja-GB" sz="1400" dirty="0"/>
              <a:t>DHCP</a:t>
            </a:r>
            <a:r>
              <a:rPr kumimoji="1" lang="ja-GB" altLang="en-US" sz="1400" dirty="0"/>
              <a:t>サーバのないネットワーク接続．</a:t>
            </a:r>
            <a:br>
              <a:rPr kumimoji="1" lang="en-US" altLang="ja-GB" sz="1400" dirty="0"/>
            </a:br>
            <a:r>
              <a:rPr kumimoji="1" lang="ja-JP" altLang="en-US" sz="1400"/>
              <a:t>　</a:t>
            </a:r>
            <a:r>
              <a:rPr kumimoji="1" lang="ja-GB" altLang="en-US" sz="1400" dirty="0"/>
              <a:t>通常，</a:t>
            </a:r>
            <a:r>
              <a:rPr kumimoji="1" lang="en-US" altLang="ja-GB" sz="1400" dirty="0" err="1"/>
              <a:t>WiFi</a:t>
            </a:r>
            <a:r>
              <a:rPr kumimoji="1" lang="ja-GB" altLang="en-US" sz="1400" dirty="0"/>
              <a:t>通信設備には自動的に</a:t>
            </a:r>
            <a:r>
              <a:rPr kumimoji="1" lang="en-US" altLang="ja-GB" sz="1400" dirty="0"/>
              <a:t>IP</a:t>
            </a:r>
            <a:r>
              <a:rPr kumimoji="1" lang="ja-GB" altLang="en-US" sz="1400" dirty="0"/>
              <a:t>アドレスを割り振る</a:t>
            </a:r>
            <a:r>
              <a:rPr kumimoji="1" lang="en-US" altLang="ja-GB" sz="1400" dirty="0"/>
              <a:t>DHCP</a:t>
            </a:r>
            <a:r>
              <a:rPr kumimoji="1" lang="ja-GB" altLang="en-US" sz="1400" dirty="0"/>
              <a:t>サーバが用意されている</a:t>
            </a:r>
          </a:p>
        </p:txBody>
      </p:sp>
      <p:pic>
        <p:nvPicPr>
          <p:cNvPr id="7" name="図 6" descr="グラフィカル ユーザー インターフェイス, テキスト, アプリケーション, メール, Teams&#10;&#10;AI 生成コンテンツは誤りを含む可能性があります。">
            <a:extLst>
              <a:ext uri="{FF2B5EF4-FFF2-40B4-BE49-F238E27FC236}">
                <a16:creationId xmlns:a16="http://schemas.microsoft.com/office/drawing/2014/main" id="{72B0EFD2-2BF2-B64F-426E-BCB117D8E060}"/>
              </a:ext>
            </a:extLst>
          </p:cNvPr>
          <p:cNvPicPr>
            <a:picLocks noChangeAspect="1"/>
          </p:cNvPicPr>
          <p:nvPr/>
        </p:nvPicPr>
        <p:blipFill>
          <a:blip r:embed="rId2"/>
          <a:stretch>
            <a:fillRect/>
          </a:stretch>
        </p:blipFill>
        <p:spPr>
          <a:xfrm>
            <a:off x="1520323" y="3065120"/>
            <a:ext cx="6103353" cy="2875439"/>
          </a:xfrm>
          <a:prstGeom prst="rect">
            <a:avLst/>
          </a:prstGeom>
        </p:spPr>
      </p:pic>
    </p:spTree>
    <p:extLst>
      <p:ext uri="{BB962C8B-B14F-4D97-AF65-F5344CB8AC3E}">
        <p14:creationId xmlns:p14="http://schemas.microsoft.com/office/powerpoint/2010/main" val="26666881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493284-81B5-E60C-C1B0-A2D1E3A9D75C}"/>
              </a:ext>
            </a:extLst>
          </p:cNvPr>
          <p:cNvSpPr>
            <a:spLocks noGrp="1"/>
          </p:cNvSpPr>
          <p:nvPr>
            <p:ph type="title"/>
          </p:nvPr>
        </p:nvSpPr>
        <p:spPr/>
        <p:txBody>
          <a:bodyPr/>
          <a:lstStyle/>
          <a:p>
            <a:r>
              <a:rPr kumimoji="1" lang="en-US" altLang="ja-GB" dirty="0"/>
              <a:t>2</a:t>
            </a:r>
            <a:r>
              <a:rPr kumimoji="1" lang="ja-GB" altLang="en-US" dirty="0"/>
              <a:t>進化</a:t>
            </a:r>
            <a:r>
              <a:rPr kumimoji="1" lang="en-US" altLang="ja-GB" dirty="0"/>
              <a:t>10</a:t>
            </a:r>
            <a:r>
              <a:rPr kumimoji="1" lang="ja-GB" altLang="en-US" dirty="0"/>
              <a:t>進数</a:t>
            </a:r>
          </a:p>
        </p:txBody>
      </p:sp>
      <p:sp>
        <p:nvSpPr>
          <p:cNvPr id="3" name="コンテンツ プレースホルダー 2">
            <a:extLst>
              <a:ext uri="{FF2B5EF4-FFF2-40B4-BE49-F238E27FC236}">
                <a16:creationId xmlns:a16="http://schemas.microsoft.com/office/drawing/2014/main" id="{C830EB64-2E2B-946D-3752-56AD766FE2F9}"/>
              </a:ext>
            </a:extLst>
          </p:cNvPr>
          <p:cNvSpPr>
            <a:spLocks noGrp="1"/>
          </p:cNvSpPr>
          <p:nvPr>
            <p:ph idx="1"/>
          </p:nvPr>
        </p:nvSpPr>
        <p:spPr/>
        <p:txBody>
          <a:bodyPr>
            <a:normAutofit/>
          </a:bodyPr>
          <a:lstStyle/>
          <a:p>
            <a:pPr marL="0" indent="0">
              <a:buNone/>
            </a:pPr>
            <a:r>
              <a:rPr lang="ja-GB" altLang="en-US" dirty="0"/>
              <a:t>数を</a:t>
            </a:r>
            <a:r>
              <a:rPr lang="en-US" altLang="ja-GB" dirty="0"/>
              <a:t>10</a:t>
            </a:r>
            <a:r>
              <a:rPr lang="ja-GB" altLang="en-US" dirty="0"/>
              <a:t>進数のまま取り扱うための表現</a:t>
            </a:r>
            <a:endParaRPr lang="en-US" altLang="ja-GB" dirty="0"/>
          </a:p>
          <a:p>
            <a:pPr marL="457200" lvl="1" indent="0">
              <a:buNone/>
            </a:pPr>
            <a:r>
              <a:rPr lang="en-US" altLang="ja-GB" dirty="0">
                <a:solidFill>
                  <a:srgbClr val="0070C0"/>
                </a:solidFill>
              </a:rPr>
              <a:t>10</a:t>
            </a:r>
            <a:r>
              <a:rPr lang="ja-GB" altLang="en-US" dirty="0">
                <a:solidFill>
                  <a:srgbClr val="0070C0"/>
                </a:solidFill>
              </a:rPr>
              <a:t>進数では有限桁の値でも， 浮動小数点では無限桁になることがある</a:t>
            </a:r>
            <a:endParaRPr lang="en-US" altLang="ja-GB" dirty="0">
              <a:solidFill>
                <a:srgbClr val="0070C0"/>
              </a:solidFill>
            </a:endParaRPr>
          </a:p>
          <a:p>
            <a:pPr marL="914400" lvl="2" indent="0">
              <a:buNone/>
            </a:pPr>
            <a:r>
              <a:rPr lang="ja-GB" altLang="en-US" dirty="0"/>
              <a:t>金融など，</a:t>
            </a:r>
            <a:r>
              <a:rPr lang="en-US" altLang="ja-GB" dirty="0"/>
              <a:t>10</a:t>
            </a:r>
            <a:r>
              <a:rPr lang="ja-GB" altLang="en-US" dirty="0"/>
              <a:t>進数の値を厳密に処理しなければならない場面で問題になる</a:t>
            </a:r>
            <a:endParaRPr lang="en-US" altLang="ja-GB" dirty="0"/>
          </a:p>
          <a:p>
            <a:pPr marL="1371600" lvl="3" indent="0">
              <a:buNone/>
            </a:pPr>
            <a:r>
              <a:rPr lang="ja-GB" altLang="en-US" dirty="0"/>
              <a:t>例）</a:t>
            </a:r>
            <a:r>
              <a:rPr lang="en-US" altLang="ja-GB" dirty="0"/>
              <a:t>0.1</a:t>
            </a:r>
            <a:r>
              <a:rPr lang="en-US" altLang="ja-GB" baseline="-25000" dirty="0"/>
              <a:t>(10)</a:t>
            </a:r>
            <a:r>
              <a:rPr lang="en-US" altLang="ja-GB" dirty="0"/>
              <a:t> = 0.000</a:t>
            </a:r>
            <a:r>
              <a:rPr lang="en-US" altLang="ja-GB" dirty="0">
                <a:solidFill>
                  <a:srgbClr val="0070C0"/>
                </a:solidFill>
              </a:rPr>
              <a:t>1100</a:t>
            </a:r>
            <a:r>
              <a:rPr lang="en-US" altLang="ja-GB" dirty="0"/>
              <a:t>1100110011001100...</a:t>
            </a:r>
            <a:r>
              <a:rPr lang="en-US" altLang="ja-GB" baseline="-25000" dirty="0"/>
              <a:t>(2)</a:t>
            </a:r>
            <a:r>
              <a:rPr lang="en-US" altLang="ja-GB" dirty="0"/>
              <a:t> </a:t>
            </a:r>
            <a:r>
              <a:rPr lang="ja-GB" altLang="en-US" dirty="0"/>
              <a:t>と無限桁になる</a:t>
            </a:r>
            <a:r>
              <a:rPr lang="en-US" altLang="ja-GB" dirty="0"/>
              <a:t> → </a:t>
            </a:r>
            <a:r>
              <a:rPr lang="en-US" altLang="ja-GB" dirty="0">
                <a:solidFill>
                  <a:schemeClr val="accent2"/>
                </a:solidFill>
              </a:rPr>
              <a:t>0.1×10</a:t>
            </a:r>
            <a:r>
              <a:rPr lang="ja-GB" altLang="en-US" dirty="0">
                <a:solidFill>
                  <a:schemeClr val="accent2"/>
                </a:solidFill>
              </a:rPr>
              <a:t>≠</a:t>
            </a:r>
            <a:r>
              <a:rPr lang="en-US" altLang="ja-GB" dirty="0">
                <a:solidFill>
                  <a:schemeClr val="accent2"/>
                </a:solidFill>
              </a:rPr>
              <a:t>1</a:t>
            </a:r>
          </a:p>
          <a:p>
            <a:pPr marL="914400" lvl="2" indent="0">
              <a:buNone/>
            </a:pPr>
            <a:r>
              <a:rPr lang="ja-GB" altLang="en-US" dirty="0"/>
              <a:t>比喩）</a:t>
            </a:r>
            <a:r>
              <a:rPr lang="en-US" altLang="ja-GB" dirty="0"/>
              <a:t>10</a:t>
            </a:r>
            <a:r>
              <a:rPr lang="ja-GB" altLang="en-US" dirty="0"/>
              <a:t>進数でも</a:t>
            </a:r>
            <a:r>
              <a:rPr lang="en-US" altLang="ja-GB" dirty="0"/>
              <a:t>1/3</a:t>
            </a:r>
            <a:r>
              <a:rPr lang="ja-GB" altLang="en-US" dirty="0"/>
              <a:t>は</a:t>
            </a:r>
            <a:r>
              <a:rPr lang="en-US" altLang="ja-GB" dirty="0"/>
              <a:t>0.33333….</a:t>
            </a:r>
            <a:r>
              <a:rPr lang="ja-GB" altLang="en-US" dirty="0"/>
              <a:t>と無限桁になる</a:t>
            </a:r>
            <a:endParaRPr lang="en-US" altLang="ja-GB" dirty="0"/>
          </a:p>
          <a:p>
            <a:pPr lvl="3"/>
            <a:endParaRPr lang="en-US" altLang="ja-GB" dirty="0"/>
          </a:p>
          <a:p>
            <a:pPr marL="457200" lvl="1" indent="0">
              <a:buNone/>
            </a:pPr>
            <a:r>
              <a:rPr lang="ja-GB" altLang="en-US" dirty="0">
                <a:solidFill>
                  <a:srgbClr val="0070C0"/>
                </a:solidFill>
              </a:rPr>
              <a:t>パック</a:t>
            </a:r>
            <a:r>
              <a:rPr lang="en-US" altLang="ja-GB" dirty="0">
                <a:solidFill>
                  <a:srgbClr val="0070C0"/>
                </a:solidFill>
              </a:rPr>
              <a:t>10</a:t>
            </a:r>
            <a:r>
              <a:rPr lang="ja-GB" altLang="en-US" dirty="0">
                <a:solidFill>
                  <a:srgbClr val="0070C0"/>
                </a:solidFill>
              </a:rPr>
              <a:t>進数</a:t>
            </a:r>
            <a:endParaRPr lang="en-US" altLang="ja-GB" dirty="0">
              <a:solidFill>
                <a:srgbClr val="0070C0"/>
              </a:solidFill>
            </a:endParaRPr>
          </a:p>
          <a:p>
            <a:pPr lvl="2"/>
            <a:r>
              <a:rPr lang="en-US" altLang="ja-GB" dirty="0"/>
              <a:t>10</a:t>
            </a:r>
            <a:r>
              <a:rPr lang="ja-GB" altLang="en-US" dirty="0"/>
              <a:t>進数の各桁をそれぞれ</a:t>
            </a:r>
            <a:r>
              <a:rPr lang="en-US" altLang="ja-GB" dirty="0"/>
              <a:t>2</a:t>
            </a:r>
            <a:r>
              <a:rPr lang="ja-GB" altLang="en-US" dirty="0"/>
              <a:t>進数で表現する方法</a:t>
            </a:r>
            <a:endParaRPr lang="en-US" altLang="ja-GB" dirty="0"/>
          </a:p>
          <a:p>
            <a:pPr lvl="2"/>
            <a:r>
              <a:rPr lang="en-US" altLang="ja-GB" dirty="0"/>
              <a:t>1</a:t>
            </a:r>
            <a:r>
              <a:rPr lang="ja-GB" altLang="en-US" dirty="0"/>
              <a:t>桁に</a:t>
            </a:r>
            <a:r>
              <a:rPr lang="en-US" altLang="ja-GB" dirty="0"/>
              <a:t>4bit</a:t>
            </a:r>
            <a:r>
              <a:rPr lang="ja-GB" altLang="en-US" dirty="0"/>
              <a:t>（</a:t>
            </a:r>
            <a:r>
              <a:rPr lang="en-US" altLang="ja-GB" dirty="0"/>
              <a:t>0~10</a:t>
            </a:r>
            <a:r>
              <a:rPr lang="ja-GB" altLang="en-US" dirty="0"/>
              <a:t>が収まる最小の桁数）を用いる</a:t>
            </a:r>
            <a:endParaRPr lang="en-US" altLang="ja-GB" dirty="0"/>
          </a:p>
          <a:p>
            <a:pPr marL="1371600" lvl="3" indent="0">
              <a:buNone/>
            </a:pPr>
            <a:r>
              <a:rPr lang="ja-GB" altLang="en-US" dirty="0"/>
              <a:t>例）</a:t>
            </a:r>
            <a:r>
              <a:rPr lang="en-US" altLang="ja-GB" dirty="0"/>
              <a:t>185→ 1 8 5 → 0001</a:t>
            </a:r>
            <a:r>
              <a:rPr lang="ja-JP" altLang="en-US"/>
              <a:t> </a:t>
            </a:r>
            <a:r>
              <a:rPr lang="en-US" altLang="ja-JP" dirty="0"/>
              <a:t>1000 0101</a:t>
            </a:r>
            <a:endParaRPr lang="en-US" altLang="ja-GB" dirty="0"/>
          </a:p>
          <a:p>
            <a:pPr lvl="2"/>
            <a:r>
              <a:rPr lang="ja-GB" altLang="en-US" dirty="0"/>
              <a:t>金融や会計関連のシステムなどで用いられる</a:t>
            </a:r>
            <a:endParaRPr lang="en-US" altLang="ja-GB" dirty="0"/>
          </a:p>
          <a:p>
            <a:pPr lvl="3"/>
            <a:endParaRPr lang="en-US" altLang="ja-GB" dirty="0"/>
          </a:p>
          <a:p>
            <a:pPr marL="457200" lvl="1" indent="0">
              <a:buNone/>
            </a:pPr>
            <a:r>
              <a:rPr kumimoji="1" lang="ja-GB" altLang="en-US" dirty="0">
                <a:solidFill>
                  <a:srgbClr val="0070C0"/>
                </a:solidFill>
              </a:rPr>
              <a:t>ゾーン</a:t>
            </a:r>
            <a:r>
              <a:rPr kumimoji="1" lang="en-US" altLang="ja-GB" dirty="0">
                <a:solidFill>
                  <a:srgbClr val="0070C0"/>
                </a:solidFill>
              </a:rPr>
              <a:t>10</a:t>
            </a:r>
            <a:r>
              <a:rPr kumimoji="1" lang="ja-GB" altLang="en-US" dirty="0">
                <a:solidFill>
                  <a:srgbClr val="0070C0"/>
                </a:solidFill>
              </a:rPr>
              <a:t>進数</a:t>
            </a:r>
            <a:endParaRPr kumimoji="1" lang="en-US" altLang="ja-GB" dirty="0">
              <a:solidFill>
                <a:srgbClr val="0070C0"/>
              </a:solidFill>
            </a:endParaRPr>
          </a:p>
          <a:p>
            <a:pPr lvl="2"/>
            <a:r>
              <a:rPr lang="ja-GB" altLang="en-US" dirty="0"/>
              <a:t>直訳：区域</a:t>
            </a:r>
            <a:r>
              <a:rPr lang="en-US" altLang="ja-GB" dirty="0"/>
              <a:t>10</a:t>
            </a:r>
            <a:r>
              <a:rPr lang="ja-GB" altLang="en-US" dirty="0"/>
              <a:t>進数</a:t>
            </a:r>
            <a:endParaRPr lang="en-US" altLang="ja-GB" dirty="0"/>
          </a:p>
          <a:p>
            <a:pPr lvl="2"/>
            <a:r>
              <a:rPr kumimoji="1" lang="ja-GB" altLang="en-US" dirty="0"/>
              <a:t>区切りを表す</a:t>
            </a:r>
            <a:r>
              <a:rPr kumimoji="1" lang="en-US" altLang="ja-GB" dirty="0"/>
              <a:t>4</a:t>
            </a:r>
            <a:r>
              <a:rPr lang="en-US" altLang="ja-GB" dirty="0"/>
              <a:t>bit</a:t>
            </a:r>
            <a:r>
              <a:rPr lang="ja-GB" altLang="en-US" dirty="0"/>
              <a:t>の情報を，桁と桁の間に挟む方法</a:t>
            </a:r>
            <a:endParaRPr lang="en-US" altLang="ja-GB" dirty="0"/>
          </a:p>
          <a:p>
            <a:pPr marL="1371600" lvl="3" indent="0">
              <a:buNone/>
            </a:pPr>
            <a:r>
              <a:rPr lang="ja-GB" altLang="en-US" dirty="0"/>
              <a:t>例</a:t>
            </a:r>
            <a:r>
              <a:rPr lang="en-US" altLang="ja-GB" dirty="0"/>
              <a:t>1</a:t>
            </a:r>
            <a:r>
              <a:rPr lang="ja-GB" altLang="en-US" dirty="0"/>
              <a:t>）</a:t>
            </a:r>
            <a:r>
              <a:rPr lang="en-US" altLang="ja-GB" dirty="0"/>
              <a:t>  185→ </a:t>
            </a:r>
            <a:r>
              <a:rPr lang="en-US" altLang="ja-GB" dirty="0">
                <a:solidFill>
                  <a:schemeClr val="tx1">
                    <a:lumMod val="50000"/>
                    <a:lumOff val="50000"/>
                  </a:schemeClr>
                </a:solidFill>
              </a:rPr>
              <a:t>0011</a:t>
            </a:r>
            <a:r>
              <a:rPr lang="en-US" altLang="ja-GB" dirty="0"/>
              <a:t> 0001</a:t>
            </a:r>
            <a:r>
              <a:rPr lang="ja-JP" altLang="en-US"/>
              <a:t> </a:t>
            </a:r>
            <a:r>
              <a:rPr lang="en-US" altLang="ja-JP" dirty="0">
                <a:solidFill>
                  <a:schemeClr val="tx1">
                    <a:lumMod val="50000"/>
                    <a:lumOff val="50000"/>
                  </a:schemeClr>
                </a:solidFill>
              </a:rPr>
              <a:t>0011</a:t>
            </a:r>
            <a:r>
              <a:rPr lang="en-US" altLang="ja-JP" dirty="0"/>
              <a:t> 1000 </a:t>
            </a:r>
            <a:r>
              <a:rPr lang="en-US" altLang="ja-JP" dirty="0">
                <a:solidFill>
                  <a:srgbClr val="0070C0"/>
                </a:solidFill>
              </a:rPr>
              <a:t>1100</a:t>
            </a:r>
            <a:r>
              <a:rPr lang="en-US" altLang="ja-JP" dirty="0"/>
              <a:t> 0101</a:t>
            </a:r>
            <a:r>
              <a:rPr lang="ja-JP" altLang="en-US"/>
              <a:t>（</a:t>
            </a:r>
            <a:r>
              <a:rPr lang="en-US" altLang="ja-JP" dirty="0"/>
              <a:t>1100</a:t>
            </a:r>
            <a:r>
              <a:rPr lang="ja-JP" altLang="en-US"/>
              <a:t>は正</a:t>
            </a:r>
            <a:r>
              <a:rPr lang="ja-GB" altLang="en-US" dirty="0"/>
              <a:t>を表す符号</a:t>
            </a:r>
            <a:r>
              <a:rPr lang="ja-JP" altLang="en-US"/>
              <a:t>）</a:t>
            </a:r>
            <a:endParaRPr lang="en-US" altLang="ja-GB" dirty="0"/>
          </a:p>
          <a:p>
            <a:pPr marL="1371600" lvl="3" indent="0">
              <a:buNone/>
            </a:pPr>
            <a:r>
              <a:rPr lang="ja-GB" altLang="en-US" dirty="0"/>
              <a:t>例</a:t>
            </a:r>
            <a:r>
              <a:rPr lang="en-US" altLang="ja-GB" dirty="0"/>
              <a:t>2</a:t>
            </a:r>
            <a:r>
              <a:rPr lang="ja-GB" altLang="en-US" dirty="0"/>
              <a:t>）</a:t>
            </a:r>
            <a:r>
              <a:rPr lang="en-US" altLang="ja-GB" dirty="0">
                <a:solidFill>
                  <a:schemeClr val="accent2"/>
                </a:solidFill>
              </a:rPr>
              <a:t>-</a:t>
            </a:r>
            <a:r>
              <a:rPr lang="en-US" altLang="ja-GB" dirty="0"/>
              <a:t>185→ </a:t>
            </a:r>
            <a:r>
              <a:rPr lang="en-US" altLang="ja-GB" dirty="0">
                <a:solidFill>
                  <a:schemeClr val="tx1">
                    <a:lumMod val="50000"/>
                    <a:lumOff val="50000"/>
                  </a:schemeClr>
                </a:solidFill>
              </a:rPr>
              <a:t>0011</a:t>
            </a:r>
            <a:r>
              <a:rPr lang="en-US" altLang="ja-GB" dirty="0"/>
              <a:t> 0001</a:t>
            </a:r>
            <a:r>
              <a:rPr lang="ja-JP" altLang="en-US"/>
              <a:t> </a:t>
            </a:r>
            <a:r>
              <a:rPr lang="en-US" altLang="ja-JP" dirty="0">
                <a:solidFill>
                  <a:schemeClr val="tx1">
                    <a:lumMod val="50000"/>
                    <a:lumOff val="50000"/>
                  </a:schemeClr>
                </a:solidFill>
              </a:rPr>
              <a:t>0011</a:t>
            </a:r>
            <a:r>
              <a:rPr lang="en-US" altLang="ja-JP" dirty="0"/>
              <a:t> 1000 </a:t>
            </a:r>
            <a:r>
              <a:rPr lang="en-US" altLang="ja-JP" dirty="0">
                <a:solidFill>
                  <a:srgbClr val="0070C0"/>
                </a:solidFill>
              </a:rPr>
              <a:t>1101</a:t>
            </a:r>
            <a:r>
              <a:rPr lang="en-US" altLang="ja-JP" dirty="0"/>
              <a:t> 0101</a:t>
            </a:r>
            <a:r>
              <a:rPr lang="ja-JP" altLang="en-US"/>
              <a:t>（</a:t>
            </a:r>
            <a:r>
              <a:rPr lang="en-US" altLang="ja-JP" dirty="0"/>
              <a:t>1101</a:t>
            </a:r>
            <a:r>
              <a:rPr lang="ja-JP" altLang="en-US"/>
              <a:t>は</a:t>
            </a:r>
            <a:r>
              <a:rPr lang="ja-GB" altLang="en-US" dirty="0"/>
              <a:t>負を表す符号</a:t>
            </a:r>
            <a:r>
              <a:rPr lang="ja-JP" altLang="en-US"/>
              <a:t>）</a:t>
            </a:r>
            <a:endParaRPr kumimoji="1" lang="en-US" altLang="ja-GB" dirty="0"/>
          </a:p>
          <a:p>
            <a:pPr lvl="2"/>
            <a:r>
              <a:rPr kumimoji="1" lang="ja-GB" altLang="en-US" dirty="0"/>
              <a:t>記録効率は悪いが</a:t>
            </a:r>
            <a:r>
              <a:rPr kumimoji="1" lang="en-US" altLang="ja-GB" dirty="0"/>
              <a:t>8bit</a:t>
            </a:r>
            <a:r>
              <a:rPr kumimoji="1" lang="ja-GB" altLang="en-US" dirty="0"/>
              <a:t>（</a:t>
            </a:r>
            <a:r>
              <a:rPr kumimoji="1" lang="en-US" altLang="ja-GB" dirty="0"/>
              <a:t>=1Byte</a:t>
            </a:r>
            <a:r>
              <a:rPr kumimoji="1" lang="ja-GB" altLang="en-US" dirty="0"/>
              <a:t>）になり扱いやすい（文字との整合など）</a:t>
            </a:r>
          </a:p>
        </p:txBody>
      </p:sp>
      <p:sp>
        <p:nvSpPr>
          <p:cNvPr id="4" name="テキスト ボックス 3">
            <a:extLst>
              <a:ext uri="{FF2B5EF4-FFF2-40B4-BE49-F238E27FC236}">
                <a16:creationId xmlns:a16="http://schemas.microsoft.com/office/drawing/2014/main" id="{393681C0-6350-0753-E069-8B97C74830A3}"/>
              </a:ext>
            </a:extLst>
          </p:cNvPr>
          <p:cNvSpPr txBox="1"/>
          <p:nvPr/>
        </p:nvSpPr>
        <p:spPr>
          <a:xfrm>
            <a:off x="170774" y="6563322"/>
            <a:ext cx="7882286" cy="276999"/>
          </a:xfrm>
          <a:prstGeom prst="rect">
            <a:avLst/>
          </a:prstGeom>
          <a:noFill/>
        </p:spPr>
        <p:txBody>
          <a:bodyPr wrap="none" rtlCol="0">
            <a:spAutoFit/>
          </a:bodyPr>
          <a:lstStyle/>
          <a:p>
            <a:r>
              <a:rPr kumimoji="1" lang="en-US" altLang="ja-GB" sz="1200" dirty="0"/>
              <a:t>※10</a:t>
            </a:r>
            <a:r>
              <a:rPr kumimoji="1" lang="ja-GB" altLang="en-US" sz="1200" dirty="0"/>
              <a:t>進数表現での厳密さに関係のない科学計算などでは効率がよく高速に計算できる浮動小数点数が用いられる</a:t>
            </a:r>
          </a:p>
        </p:txBody>
      </p:sp>
    </p:spTree>
    <p:extLst>
      <p:ext uri="{BB962C8B-B14F-4D97-AF65-F5344CB8AC3E}">
        <p14:creationId xmlns:p14="http://schemas.microsoft.com/office/powerpoint/2010/main" val="2104125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3" end="1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4" end="1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5" end="1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6" end="1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4AEEB766-1F48-1979-3580-44F60FF5EDD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5AE6D2D-3D88-CD7B-6479-1DFEB60B09A2}"/>
              </a:ext>
            </a:extLst>
          </p:cNvPr>
          <p:cNvSpPr>
            <a:spLocks noGrp="1"/>
          </p:cNvSpPr>
          <p:nvPr>
            <p:ph type="ctrTitle"/>
          </p:nvPr>
        </p:nvSpPr>
        <p:spPr/>
        <p:txBody>
          <a:bodyPr/>
          <a:lstStyle/>
          <a:p>
            <a:r>
              <a:rPr kumimoji="1" lang="en-US" altLang="ja-GB" dirty="0">
                <a:solidFill>
                  <a:schemeClr val="bg1"/>
                </a:solidFill>
              </a:rPr>
              <a:t>VI. </a:t>
            </a:r>
            <a:r>
              <a:rPr kumimoji="1" lang="ja-GB" altLang="en-US" dirty="0">
                <a:solidFill>
                  <a:schemeClr val="bg1"/>
                </a:solidFill>
              </a:rPr>
              <a:t>計算機特有の数値表現に慣れる</a:t>
            </a:r>
          </a:p>
        </p:txBody>
      </p:sp>
      <p:sp>
        <p:nvSpPr>
          <p:cNvPr id="3" name="字幕 2">
            <a:extLst>
              <a:ext uri="{FF2B5EF4-FFF2-40B4-BE49-F238E27FC236}">
                <a16:creationId xmlns:a16="http://schemas.microsoft.com/office/drawing/2014/main" id="{386A2361-B579-1ED3-5CD3-A2DC9614DF16}"/>
              </a:ext>
            </a:extLst>
          </p:cNvPr>
          <p:cNvSpPr>
            <a:spLocks noGrp="1"/>
          </p:cNvSpPr>
          <p:nvPr>
            <p:ph type="subTitle" idx="1"/>
          </p:nvPr>
        </p:nvSpPr>
        <p:spPr/>
        <p:txBody>
          <a:bodyPr/>
          <a:lstStyle/>
          <a:p>
            <a:r>
              <a:rPr kumimoji="1" lang="en-US" altLang="ja-GB" dirty="0">
                <a:solidFill>
                  <a:schemeClr val="bg1"/>
                </a:solidFill>
              </a:rPr>
              <a:t>12. </a:t>
            </a:r>
            <a:r>
              <a:rPr kumimoji="1" lang="ja-GB" altLang="en-US" dirty="0">
                <a:solidFill>
                  <a:schemeClr val="bg1"/>
                </a:solidFill>
              </a:rPr>
              <a:t>演習（基数と論理演算）</a:t>
            </a:r>
          </a:p>
        </p:txBody>
      </p:sp>
    </p:spTree>
    <p:extLst>
      <p:ext uri="{BB962C8B-B14F-4D97-AF65-F5344CB8AC3E}">
        <p14:creationId xmlns:p14="http://schemas.microsoft.com/office/powerpoint/2010/main" val="122710333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CD703-24F5-8F55-2412-7EA00B8345E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8277B17-1FC4-A7C4-A903-7CF8C557A35C}"/>
              </a:ext>
            </a:extLst>
          </p:cNvPr>
          <p:cNvSpPr>
            <a:spLocks noGrp="1"/>
          </p:cNvSpPr>
          <p:nvPr>
            <p:ph type="title"/>
          </p:nvPr>
        </p:nvSpPr>
        <p:spPr/>
        <p:txBody>
          <a:bodyPr/>
          <a:lstStyle/>
          <a:p>
            <a:r>
              <a:rPr lang="ja-GB" dirty="0"/>
              <a:t>授業内容</a:t>
            </a:r>
          </a:p>
        </p:txBody>
      </p:sp>
      <p:sp>
        <p:nvSpPr>
          <p:cNvPr id="4" name="コンテンツ プレースホルダー 2">
            <a:extLst>
              <a:ext uri="{FF2B5EF4-FFF2-40B4-BE49-F238E27FC236}">
                <a16:creationId xmlns:a16="http://schemas.microsoft.com/office/drawing/2014/main" id="{030AF09F-7177-ABD8-7239-E6AA3EE22E85}"/>
              </a:ext>
            </a:extLst>
          </p:cNvPr>
          <p:cNvSpPr txBox="1">
            <a:spLocks/>
          </p:cNvSpPr>
          <p:nvPr/>
        </p:nvSpPr>
        <p:spPr>
          <a:xfrm>
            <a:off x="4572000" y="854766"/>
            <a:ext cx="4257675" cy="60032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1" kern="1200">
                <a:solidFill>
                  <a:srgbClr val="002060"/>
                </a:solidFill>
                <a:latin typeface="Yu Gothic UI" panose="020B0500000000000000" pitchFamily="34" charset="-128"/>
                <a:ea typeface="Yu Gothic UI"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1" kern="1200">
                <a:solidFill>
                  <a:srgbClr val="2F2624"/>
                </a:solidFill>
                <a:latin typeface="Yu Gothic UI" panose="020B0500000000000000" pitchFamily="34" charset="-128"/>
                <a:ea typeface="Yu Gothic UI"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1" kern="1200">
                <a:solidFill>
                  <a:srgbClr val="2F2624"/>
                </a:solidFill>
                <a:latin typeface="Yu Gothic UI" panose="020B0500000000000000" pitchFamily="34" charset="-128"/>
                <a:ea typeface="Yu Gothic UI"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1" kern="1200">
                <a:solidFill>
                  <a:srgbClr val="2F2624"/>
                </a:solidFill>
                <a:latin typeface="Yu Gothic UI" panose="020B0500000000000000" pitchFamily="34" charset="-128"/>
                <a:ea typeface="Yu Gothic UI"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700" b="1" kern="1200">
                <a:solidFill>
                  <a:srgbClr val="2F2624"/>
                </a:solidFill>
                <a:latin typeface="Yu Gothic UI" panose="020B0500000000000000" pitchFamily="34" charset="-128"/>
                <a:ea typeface="Yu Gothic UI"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GB" sz="1800" dirty="0">
                <a:solidFill>
                  <a:schemeClr val="bg1">
                    <a:lumMod val="75000"/>
                  </a:schemeClr>
                </a:solidFill>
              </a:rPr>
              <a:t>V. </a:t>
            </a:r>
            <a:r>
              <a:rPr lang="ja-JP" altLang="en-US" sz="1800">
                <a:solidFill>
                  <a:schemeClr val="bg1">
                    <a:lumMod val="75000"/>
                  </a:schemeClr>
                </a:solidFill>
              </a:rPr>
              <a:t>計算機のハードウェア構成を知る</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10. </a:t>
            </a:r>
            <a:r>
              <a:rPr lang="ja-JP" altLang="en-US" sz="1800">
                <a:solidFill>
                  <a:schemeClr val="bg1">
                    <a:lumMod val="75000"/>
                  </a:schemeClr>
                </a:solidFill>
              </a:rPr>
              <a:t>計算機の中の情報表現</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11. </a:t>
            </a:r>
            <a:r>
              <a:rPr lang="ja-GB" altLang="en-US" sz="1800" dirty="0">
                <a:solidFill>
                  <a:schemeClr val="bg1">
                    <a:lumMod val="75000"/>
                  </a:schemeClr>
                </a:solidFill>
              </a:rPr>
              <a:t>演算とハードウェア構成</a:t>
            </a:r>
            <a:endParaRPr lang="en-US" altLang="ja-JP" sz="1800" dirty="0">
              <a:solidFill>
                <a:schemeClr val="bg1">
                  <a:lumMod val="75000"/>
                </a:schemeClr>
              </a:solidFill>
            </a:endParaRPr>
          </a:p>
          <a:p>
            <a:pPr marL="0" indent="0">
              <a:buFont typeface="Arial" panose="020B0604020202020204" pitchFamily="34" charset="0"/>
              <a:buNone/>
            </a:pPr>
            <a:endParaRPr lang="ja-JP" altLang="en-US" sz="800">
              <a:solidFill>
                <a:srgbClr val="2F2523"/>
              </a:solidFill>
            </a:endParaRPr>
          </a:p>
          <a:p>
            <a:pPr marL="0" indent="0">
              <a:buFont typeface="Arial" panose="020B0604020202020204" pitchFamily="34" charset="0"/>
              <a:buNone/>
            </a:pPr>
            <a:r>
              <a:rPr lang="en-GB" sz="1800" dirty="0"/>
              <a:t>VI. </a:t>
            </a:r>
            <a:r>
              <a:rPr lang="ja-JP" altLang="en-US" sz="1800"/>
              <a:t>計算機特有の数値表現に慣れる</a:t>
            </a:r>
          </a:p>
          <a:p>
            <a:pPr marL="0" indent="0">
              <a:buFont typeface="Arial" panose="020B0604020202020204" pitchFamily="34" charset="0"/>
              <a:buNone/>
            </a:pPr>
            <a:r>
              <a:rPr lang="ja-JP" altLang="en-US" sz="1800">
                <a:solidFill>
                  <a:srgbClr val="2F2523"/>
                </a:solidFill>
              </a:rPr>
              <a:t>　</a:t>
            </a:r>
            <a:r>
              <a:rPr lang="en-US" altLang="ja-JP" sz="1800" dirty="0">
                <a:solidFill>
                  <a:srgbClr val="2F2523"/>
                </a:solidFill>
              </a:rPr>
              <a:t>12. </a:t>
            </a:r>
            <a:r>
              <a:rPr lang="ja-JP" altLang="en-US" sz="1800">
                <a:solidFill>
                  <a:srgbClr val="2F2523"/>
                </a:solidFill>
              </a:rPr>
              <a:t>演習（基数と論理演算）</a:t>
            </a:r>
            <a:endParaRPr lang="en-US" altLang="ja-JP" sz="1800" dirty="0">
              <a:solidFill>
                <a:srgbClr val="2F2523"/>
              </a:solidFill>
            </a:endParaRPr>
          </a:p>
          <a:p>
            <a:pPr marL="0" indent="0">
              <a:buFont typeface="Arial" panose="020B0604020202020204" pitchFamily="34" charset="0"/>
              <a:buNone/>
            </a:pPr>
            <a:endParaRPr lang="ja-JP" altLang="en-US" sz="800">
              <a:solidFill>
                <a:schemeClr val="bg1">
                  <a:lumMod val="75000"/>
                </a:schemeClr>
              </a:solidFill>
            </a:endParaRPr>
          </a:p>
          <a:p>
            <a:pPr marL="0" indent="0">
              <a:buFont typeface="Arial" panose="020B0604020202020204" pitchFamily="34" charset="0"/>
              <a:buNone/>
            </a:pPr>
            <a:r>
              <a:rPr lang="en-GB" sz="1800" dirty="0">
                <a:solidFill>
                  <a:schemeClr val="bg1">
                    <a:lumMod val="75000"/>
                  </a:schemeClr>
                </a:solidFill>
              </a:rPr>
              <a:t>VII. </a:t>
            </a:r>
            <a:r>
              <a:rPr lang="ja-JP" altLang="en-US" sz="1800">
                <a:solidFill>
                  <a:schemeClr val="bg1">
                    <a:lumMod val="75000"/>
                  </a:schemeClr>
                </a:solidFill>
              </a:rPr>
              <a:t>計算論的思考</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13. </a:t>
            </a:r>
            <a:r>
              <a:rPr lang="ja-JP" altLang="en-US" sz="1800">
                <a:solidFill>
                  <a:schemeClr val="bg1">
                    <a:lumMod val="75000"/>
                  </a:schemeClr>
                </a:solidFill>
              </a:rPr>
              <a:t>問題解決のためのモデル：</a:t>
            </a:r>
            <a:r>
              <a:rPr lang="en-GB" sz="1800" dirty="0">
                <a:solidFill>
                  <a:schemeClr val="bg1">
                    <a:lumMod val="75000"/>
                  </a:schemeClr>
                </a:solidFill>
              </a:rPr>
              <a:t>PERT</a:t>
            </a:r>
            <a:r>
              <a:rPr lang="ja-JP" altLang="en-US" sz="1800">
                <a:solidFill>
                  <a:schemeClr val="bg1">
                    <a:lumMod val="75000"/>
                  </a:schemeClr>
                </a:solidFill>
              </a:rPr>
              <a:t>図</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14. </a:t>
            </a:r>
            <a:r>
              <a:rPr lang="ja-JP" altLang="en-US" sz="1800">
                <a:solidFill>
                  <a:schemeClr val="bg1">
                    <a:lumMod val="75000"/>
                  </a:schemeClr>
                </a:solidFill>
              </a:rPr>
              <a:t>問題解決のためのモデル：決定表</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15. </a:t>
            </a:r>
            <a:r>
              <a:rPr lang="ja-JP" altLang="en-US" sz="1800">
                <a:solidFill>
                  <a:schemeClr val="bg1">
                    <a:lumMod val="75000"/>
                  </a:schemeClr>
                </a:solidFill>
              </a:rPr>
              <a:t>まとめ </a:t>
            </a:r>
            <a:r>
              <a:rPr lang="en-US" altLang="ja-JP" sz="1800" dirty="0">
                <a:solidFill>
                  <a:schemeClr val="bg1">
                    <a:lumMod val="75000"/>
                  </a:schemeClr>
                </a:solidFill>
              </a:rPr>
              <a:t>+ </a:t>
            </a:r>
            <a:r>
              <a:rPr lang="ja-JP" altLang="en-US" sz="1800">
                <a:solidFill>
                  <a:schemeClr val="bg1">
                    <a:lumMod val="75000"/>
                  </a:schemeClr>
                </a:solidFill>
              </a:rPr>
              <a:t>演習（</a:t>
            </a:r>
            <a:r>
              <a:rPr lang="en-US" altLang="ja-JP" sz="1800" dirty="0">
                <a:solidFill>
                  <a:schemeClr val="bg1">
                    <a:lumMod val="75000"/>
                  </a:schemeClr>
                </a:solidFill>
              </a:rPr>
              <a:t>PERT</a:t>
            </a:r>
            <a:r>
              <a:rPr lang="ja-JP" altLang="en-US" sz="1800">
                <a:solidFill>
                  <a:schemeClr val="bg1">
                    <a:lumMod val="75000"/>
                  </a:schemeClr>
                </a:solidFill>
              </a:rPr>
              <a:t>図，決定表）</a:t>
            </a:r>
            <a:endParaRPr lang="ja-GB" sz="1800" dirty="0">
              <a:solidFill>
                <a:schemeClr val="bg1">
                  <a:lumMod val="75000"/>
                </a:schemeClr>
              </a:solidFill>
            </a:endParaRPr>
          </a:p>
        </p:txBody>
      </p:sp>
      <p:sp>
        <p:nvSpPr>
          <p:cNvPr id="7" name="コンテンツ プレースホルダー 2">
            <a:extLst>
              <a:ext uri="{FF2B5EF4-FFF2-40B4-BE49-F238E27FC236}">
                <a16:creationId xmlns:a16="http://schemas.microsoft.com/office/drawing/2014/main" id="{74170C6B-408A-97D8-8E64-509AC8004E00}"/>
              </a:ext>
            </a:extLst>
          </p:cNvPr>
          <p:cNvSpPr txBox="1">
            <a:spLocks/>
          </p:cNvSpPr>
          <p:nvPr/>
        </p:nvSpPr>
        <p:spPr>
          <a:xfrm>
            <a:off x="314325" y="854765"/>
            <a:ext cx="4257675" cy="60032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1" kern="1200">
                <a:solidFill>
                  <a:srgbClr val="002060"/>
                </a:solidFill>
                <a:latin typeface="Yu Gothic UI" panose="020B0500000000000000" pitchFamily="34" charset="-128"/>
                <a:ea typeface="Yu Gothic UI"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1" kern="1200">
                <a:solidFill>
                  <a:srgbClr val="2F2624"/>
                </a:solidFill>
                <a:latin typeface="Yu Gothic UI" panose="020B0500000000000000" pitchFamily="34" charset="-128"/>
                <a:ea typeface="Yu Gothic UI"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1" kern="1200">
                <a:solidFill>
                  <a:srgbClr val="2F2624"/>
                </a:solidFill>
                <a:latin typeface="Yu Gothic UI" panose="020B0500000000000000" pitchFamily="34" charset="-128"/>
                <a:ea typeface="Yu Gothic UI"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1" kern="1200">
                <a:solidFill>
                  <a:srgbClr val="2F2624"/>
                </a:solidFill>
                <a:latin typeface="Yu Gothic UI" panose="020B0500000000000000" pitchFamily="34" charset="-128"/>
                <a:ea typeface="Yu Gothic UI"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700" b="1" kern="1200">
                <a:solidFill>
                  <a:srgbClr val="2F2624"/>
                </a:solidFill>
                <a:latin typeface="Yu Gothic UI" panose="020B0500000000000000" pitchFamily="34" charset="-128"/>
                <a:ea typeface="Yu Gothic UI"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GB" sz="1800">
                <a:solidFill>
                  <a:schemeClr val="bg1">
                    <a:lumMod val="75000"/>
                  </a:schemeClr>
                </a:solidFill>
              </a:rPr>
              <a:t>I. </a:t>
            </a:r>
            <a:r>
              <a:rPr lang="ja-JP" altLang="en-US" sz="1800">
                <a:solidFill>
                  <a:schemeClr val="bg1">
                    <a:lumMod val="75000"/>
                  </a:schemeClr>
                </a:solidFill>
              </a:rPr>
              <a:t>計算機システムを学ぶ意味を見つける</a:t>
            </a:r>
          </a:p>
          <a:p>
            <a:pPr marL="0" indent="0">
              <a:buFont typeface="Arial" panose="020B0604020202020204" pitchFamily="34" charset="0"/>
              <a:buNone/>
            </a:pPr>
            <a:r>
              <a:rPr lang="ja-JP" altLang="en-US" sz="1800">
                <a:solidFill>
                  <a:schemeClr val="bg1">
                    <a:lumMod val="75000"/>
                  </a:schemeClr>
                </a:solidFill>
              </a:rPr>
              <a:t>　</a:t>
            </a:r>
            <a:r>
              <a:rPr lang="en-US" altLang="ja-JP" sz="1800">
                <a:solidFill>
                  <a:schemeClr val="bg1">
                    <a:lumMod val="75000"/>
                  </a:schemeClr>
                </a:solidFill>
              </a:rPr>
              <a:t>1. </a:t>
            </a:r>
            <a:r>
              <a:rPr lang="ja-GB" altLang="en-US" sz="1800">
                <a:solidFill>
                  <a:schemeClr val="bg1">
                    <a:lumMod val="75000"/>
                  </a:schemeClr>
                </a:solidFill>
              </a:rPr>
              <a:t>計算機とプログラムによる自動化</a:t>
            </a:r>
            <a:endParaRPr lang="ja-JP" altLang="en-US" sz="1800">
              <a:solidFill>
                <a:schemeClr val="bg1">
                  <a:lumMod val="75000"/>
                </a:schemeClr>
              </a:solidFill>
            </a:endParaRPr>
          </a:p>
          <a:p>
            <a:pPr marL="0" indent="0">
              <a:buFont typeface="Arial" panose="020B0604020202020204" pitchFamily="34" charset="0"/>
              <a:buNone/>
            </a:pPr>
            <a:r>
              <a:rPr lang="ja-JP" altLang="en-US" sz="1800">
                <a:solidFill>
                  <a:schemeClr val="bg1">
                    <a:lumMod val="75000"/>
                  </a:schemeClr>
                </a:solidFill>
              </a:rPr>
              <a:t>　</a:t>
            </a:r>
            <a:r>
              <a:rPr lang="en-US" altLang="ja-JP" sz="1800">
                <a:solidFill>
                  <a:schemeClr val="bg1">
                    <a:lumMod val="75000"/>
                  </a:schemeClr>
                </a:solidFill>
              </a:rPr>
              <a:t>2. </a:t>
            </a:r>
            <a:r>
              <a:rPr lang="ja-GB" altLang="en-US" sz="1800">
                <a:solidFill>
                  <a:schemeClr val="bg1">
                    <a:lumMod val="75000"/>
                  </a:schemeClr>
                </a:solidFill>
              </a:rPr>
              <a:t>計算機，インターネット，情報システム</a:t>
            </a:r>
            <a:endParaRPr lang="en-US" altLang="ja-JP" sz="1800">
              <a:solidFill>
                <a:schemeClr val="bg1">
                  <a:lumMod val="75000"/>
                </a:schemeClr>
              </a:solidFill>
            </a:endParaRPr>
          </a:p>
          <a:p>
            <a:pPr marL="0" indent="0">
              <a:buFont typeface="Arial" panose="020B0604020202020204" pitchFamily="34" charset="0"/>
              <a:buNone/>
            </a:pPr>
            <a:endParaRPr lang="ja-JP" altLang="en-US" sz="800">
              <a:solidFill>
                <a:schemeClr val="bg1">
                  <a:lumMod val="75000"/>
                </a:schemeClr>
              </a:solidFill>
            </a:endParaRPr>
          </a:p>
          <a:p>
            <a:pPr marL="0" indent="0">
              <a:buFont typeface="Arial" panose="020B0604020202020204" pitchFamily="34" charset="0"/>
              <a:buNone/>
            </a:pPr>
            <a:r>
              <a:rPr lang="en-GB" sz="1800">
                <a:solidFill>
                  <a:schemeClr val="bg1">
                    <a:lumMod val="75000"/>
                  </a:schemeClr>
                </a:solidFill>
              </a:rPr>
              <a:t>II. </a:t>
            </a:r>
            <a:r>
              <a:rPr lang="ja-JP" altLang="en-US" sz="1800">
                <a:solidFill>
                  <a:schemeClr val="bg1">
                    <a:lumMod val="75000"/>
                  </a:schemeClr>
                </a:solidFill>
              </a:rPr>
              <a:t>計算機やデータ，</a:t>
            </a:r>
            <a:r>
              <a:rPr lang="en-GB" sz="1800">
                <a:solidFill>
                  <a:schemeClr val="bg1">
                    <a:lumMod val="75000"/>
                  </a:schemeClr>
                </a:solidFill>
              </a:rPr>
              <a:t>AI</a:t>
            </a:r>
            <a:r>
              <a:rPr lang="ja-JP" altLang="en-US" sz="1800">
                <a:solidFill>
                  <a:schemeClr val="bg1">
                    <a:lumMod val="75000"/>
                  </a:schemeClr>
                </a:solidFill>
              </a:rPr>
              <a:t>にできることを知る</a:t>
            </a:r>
          </a:p>
          <a:p>
            <a:pPr marL="0" indent="0">
              <a:buFont typeface="Arial" panose="020B0604020202020204" pitchFamily="34" charset="0"/>
              <a:buNone/>
            </a:pPr>
            <a:r>
              <a:rPr lang="ja-JP" altLang="en-US" sz="1800">
                <a:solidFill>
                  <a:schemeClr val="bg1">
                    <a:lumMod val="75000"/>
                  </a:schemeClr>
                </a:solidFill>
              </a:rPr>
              <a:t>　</a:t>
            </a:r>
            <a:r>
              <a:rPr lang="en-US" altLang="ja-JP" sz="1800">
                <a:solidFill>
                  <a:schemeClr val="bg1">
                    <a:lumMod val="75000"/>
                  </a:schemeClr>
                </a:solidFill>
              </a:rPr>
              <a:t>3. </a:t>
            </a:r>
            <a:r>
              <a:rPr lang="ja-JP" altLang="en-US" sz="1800">
                <a:solidFill>
                  <a:schemeClr val="bg1">
                    <a:lumMod val="75000"/>
                  </a:schemeClr>
                </a:solidFill>
              </a:rPr>
              <a:t>計算機の基本原理</a:t>
            </a:r>
          </a:p>
          <a:p>
            <a:pPr marL="0" indent="0">
              <a:buFont typeface="Arial" panose="020B0604020202020204" pitchFamily="34" charset="0"/>
              <a:buNone/>
            </a:pPr>
            <a:r>
              <a:rPr lang="ja-JP" altLang="en-US" sz="1800">
                <a:solidFill>
                  <a:schemeClr val="bg1">
                    <a:lumMod val="75000"/>
                  </a:schemeClr>
                </a:solidFill>
              </a:rPr>
              <a:t>　</a:t>
            </a:r>
            <a:r>
              <a:rPr lang="en-US" altLang="ja-JP" sz="1800">
                <a:solidFill>
                  <a:schemeClr val="bg1">
                    <a:lumMod val="75000"/>
                  </a:schemeClr>
                </a:solidFill>
              </a:rPr>
              <a:t>4. </a:t>
            </a:r>
            <a:r>
              <a:rPr lang="ja-JP" altLang="en-US" sz="1800">
                <a:solidFill>
                  <a:schemeClr val="bg1">
                    <a:lumMod val="75000"/>
                  </a:schemeClr>
                </a:solidFill>
              </a:rPr>
              <a:t>計算機と統計</a:t>
            </a:r>
            <a:endParaRPr lang="en-US" altLang="ja-JP" sz="1800">
              <a:solidFill>
                <a:schemeClr val="bg1">
                  <a:lumMod val="75000"/>
                </a:schemeClr>
              </a:solidFill>
            </a:endParaRPr>
          </a:p>
          <a:p>
            <a:pPr marL="0" indent="0">
              <a:buFont typeface="Arial" panose="020B0604020202020204" pitchFamily="34" charset="0"/>
              <a:buNone/>
            </a:pPr>
            <a:endParaRPr lang="ja-JP" altLang="en-US" sz="800">
              <a:solidFill>
                <a:schemeClr val="bg1">
                  <a:lumMod val="75000"/>
                </a:schemeClr>
              </a:solidFill>
            </a:endParaRPr>
          </a:p>
          <a:p>
            <a:pPr marL="0" indent="0">
              <a:buFont typeface="Arial" panose="020B0604020202020204" pitchFamily="34" charset="0"/>
              <a:buNone/>
            </a:pPr>
            <a:r>
              <a:rPr lang="en-GB" sz="1800">
                <a:solidFill>
                  <a:schemeClr val="bg1">
                    <a:lumMod val="75000"/>
                  </a:schemeClr>
                </a:solidFill>
              </a:rPr>
              <a:t>III. </a:t>
            </a:r>
            <a:r>
              <a:rPr lang="ja-JP" altLang="en-US" sz="1800">
                <a:solidFill>
                  <a:schemeClr val="bg1">
                    <a:lumMod val="75000"/>
                  </a:schemeClr>
                </a:solidFill>
              </a:rPr>
              <a:t>問題を「計算機の使える形」に整理する</a:t>
            </a:r>
          </a:p>
          <a:p>
            <a:pPr marL="0" indent="0">
              <a:buFont typeface="Arial" panose="020B0604020202020204" pitchFamily="34" charset="0"/>
              <a:buNone/>
            </a:pPr>
            <a:r>
              <a:rPr lang="ja-JP" altLang="en-US" sz="1800">
                <a:solidFill>
                  <a:schemeClr val="bg1">
                    <a:lumMod val="75000"/>
                  </a:schemeClr>
                </a:solidFill>
              </a:rPr>
              <a:t>　</a:t>
            </a:r>
            <a:r>
              <a:rPr lang="en-US" altLang="ja-JP" sz="1800">
                <a:solidFill>
                  <a:schemeClr val="bg1">
                    <a:lumMod val="75000"/>
                  </a:schemeClr>
                </a:solidFill>
              </a:rPr>
              <a:t>5. </a:t>
            </a:r>
            <a:r>
              <a:rPr lang="ja-JP" altLang="en-US" sz="1800">
                <a:solidFill>
                  <a:schemeClr val="bg1">
                    <a:lumMod val="75000"/>
                  </a:schemeClr>
                </a:solidFill>
              </a:rPr>
              <a:t>情報システムのデザイン</a:t>
            </a:r>
            <a:endParaRPr lang="en-US" altLang="ja-JP" sz="1800">
              <a:solidFill>
                <a:schemeClr val="bg1">
                  <a:lumMod val="75000"/>
                </a:schemeClr>
              </a:solidFill>
            </a:endParaRPr>
          </a:p>
          <a:p>
            <a:pPr marL="0" indent="0">
              <a:buFont typeface="Arial" panose="020B0604020202020204" pitchFamily="34" charset="0"/>
              <a:buNone/>
            </a:pPr>
            <a:endParaRPr lang="ja-JP" altLang="en-US" sz="800">
              <a:solidFill>
                <a:schemeClr val="bg1">
                  <a:lumMod val="75000"/>
                </a:schemeClr>
              </a:solidFill>
            </a:endParaRPr>
          </a:p>
          <a:p>
            <a:pPr marL="0" indent="0">
              <a:buFont typeface="Arial" panose="020B0604020202020204" pitchFamily="34" charset="0"/>
              <a:buNone/>
            </a:pPr>
            <a:r>
              <a:rPr lang="en-GB" sz="1800">
                <a:solidFill>
                  <a:schemeClr val="bg1">
                    <a:lumMod val="75000"/>
                  </a:schemeClr>
                </a:solidFill>
              </a:rPr>
              <a:t>IV. </a:t>
            </a:r>
            <a:r>
              <a:rPr lang="ja-JP" altLang="en-US" sz="1800">
                <a:solidFill>
                  <a:schemeClr val="bg1">
                    <a:lumMod val="75000"/>
                  </a:schemeClr>
                </a:solidFill>
              </a:rPr>
              <a:t>計算機の考え方を体感する</a:t>
            </a:r>
          </a:p>
          <a:p>
            <a:pPr marL="0" indent="0">
              <a:buFont typeface="Arial" panose="020B0604020202020204" pitchFamily="34" charset="0"/>
              <a:buNone/>
            </a:pPr>
            <a:r>
              <a:rPr lang="ja-JP" altLang="en-US" sz="1800">
                <a:solidFill>
                  <a:schemeClr val="bg1">
                    <a:lumMod val="75000"/>
                  </a:schemeClr>
                </a:solidFill>
              </a:rPr>
              <a:t>　</a:t>
            </a:r>
            <a:r>
              <a:rPr lang="en-US" altLang="ja-JP" sz="1800">
                <a:solidFill>
                  <a:schemeClr val="bg1">
                    <a:lumMod val="75000"/>
                  </a:schemeClr>
                </a:solidFill>
              </a:rPr>
              <a:t>6. </a:t>
            </a:r>
            <a:r>
              <a:rPr lang="ja-JP" altLang="en-US" sz="1800">
                <a:solidFill>
                  <a:schemeClr val="bg1">
                    <a:lumMod val="75000"/>
                  </a:schemeClr>
                </a:solidFill>
              </a:rPr>
              <a:t>プログラムの基本</a:t>
            </a:r>
          </a:p>
          <a:p>
            <a:pPr marL="0" indent="0">
              <a:buFont typeface="Arial" panose="020B0604020202020204" pitchFamily="34" charset="0"/>
              <a:buNone/>
            </a:pPr>
            <a:r>
              <a:rPr lang="ja-JP" altLang="en-US" sz="1800">
                <a:solidFill>
                  <a:schemeClr val="bg1">
                    <a:lumMod val="75000"/>
                  </a:schemeClr>
                </a:solidFill>
              </a:rPr>
              <a:t>　</a:t>
            </a:r>
            <a:r>
              <a:rPr lang="en-US" altLang="ja-JP" sz="1800">
                <a:solidFill>
                  <a:schemeClr val="bg1">
                    <a:lumMod val="75000"/>
                  </a:schemeClr>
                </a:solidFill>
              </a:rPr>
              <a:t>7. </a:t>
            </a:r>
            <a:r>
              <a:rPr lang="ja-JP" altLang="en-US" sz="1800">
                <a:solidFill>
                  <a:schemeClr val="bg1">
                    <a:lumMod val="75000"/>
                  </a:schemeClr>
                </a:solidFill>
              </a:rPr>
              <a:t>データ構造</a:t>
            </a:r>
          </a:p>
          <a:p>
            <a:pPr marL="0" indent="0">
              <a:buFont typeface="Arial" panose="020B0604020202020204" pitchFamily="34" charset="0"/>
              <a:buNone/>
            </a:pPr>
            <a:r>
              <a:rPr lang="ja-JP" altLang="en-US" sz="1800">
                <a:solidFill>
                  <a:schemeClr val="bg1">
                    <a:lumMod val="75000"/>
                  </a:schemeClr>
                </a:solidFill>
              </a:rPr>
              <a:t>　</a:t>
            </a:r>
            <a:r>
              <a:rPr lang="en-US" altLang="ja-JP" sz="1800">
                <a:solidFill>
                  <a:schemeClr val="bg1">
                    <a:lumMod val="75000"/>
                  </a:schemeClr>
                </a:solidFill>
              </a:rPr>
              <a:t>8. </a:t>
            </a:r>
            <a:r>
              <a:rPr lang="ja-JP" altLang="en-US" sz="1800">
                <a:solidFill>
                  <a:schemeClr val="bg1">
                    <a:lumMod val="75000"/>
                  </a:schemeClr>
                </a:solidFill>
              </a:rPr>
              <a:t>アルゴリズム</a:t>
            </a:r>
          </a:p>
          <a:p>
            <a:pPr marL="0" indent="0">
              <a:buFont typeface="Arial" panose="020B0604020202020204" pitchFamily="34" charset="0"/>
              <a:buNone/>
            </a:pPr>
            <a:r>
              <a:rPr lang="ja-JP" altLang="en-US" sz="1800">
                <a:solidFill>
                  <a:schemeClr val="bg1">
                    <a:lumMod val="75000"/>
                  </a:schemeClr>
                </a:solidFill>
              </a:rPr>
              <a:t>　</a:t>
            </a:r>
            <a:r>
              <a:rPr lang="en-US" altLang="ja-JP" sz="1800">
                <a:solidFill>
                  <a:schemeClr val="bg1">
                    <a:lumMod val="75000"/>
                  </a:schemeClr>
                </a:solidFill>
              </a:rPr>
              <a:t>9. </a:t>
            </a:r>
            <a:r>
              <a:rPr lang="ja-JP" altLang="en-US" sz="1800">
                <a:solidFill>
                  <a:schemeClr val="bg1">
                    <a:lumMod val="75000"/>
                  </a:schemeClr>
                </a:solidFill>
              </a:rPr>
              <a:t>演習（データ構造とアルゴリズム）</a:t>
            </a:r>
          </a:p>
        </p:txBody>
      </p:sp>
    </p:spTree>
    <p:extLst>
      <p:ext uri="{BB962C8B-B14F-4D97-AF65-F5344CB8AC3E}">
        <p14:creationId xmlns:p14="http://schemas.microsoft.com/office/powerpoint/2010/main" val="189584768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A9394-62DC-B65C-A18C-C883D9D7042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FD84A85-B557-2741-598A-A537DCFCA55A}"/>
              </a:ext>
            </a:extLst>
          </p:cNvPr>
          <p:cNvSpPr>
            <a:spLocks noGrp="1"/>
          </p:cNvSpPr>
          <p:nvPr>
            <p:ph type="title"/>
          </p:nvPr>
        </p:nvSpPr>
        <p:spPr/>
        <p:txBody>
          <a:bodyPr/>
          <a:lstStyle/>
          <a:p>
            <a:r>
              <a:rPr lang="ja-GB" dirty="0"/>
              <a:t>授業の流れ</a:t>
            </a:r>
          </a:p>
        </p:txBody>
      </p:sp>
      <p:sp>
        <p:nvSpPr>
          <p:cNvPr id="3" name="コンテンツ プレースホルダー 2">
            <a:extLst>
              <a:ext uri="{FF2B5EF4-FFF2-40B4-BE49-F238E27FC236}">
                <a16:creationId xmlns:a16="http://schemas.microsoft.com/office/drawing/2014/main" id="{F243B6EC-9F55-79BC-A3CE-C09755A2908C}"/>
              </a:ext>
            </a:extLst>
          </p:cNvPr>
          <p:cNvSpPr>
            <a:spLocks noGrp="1"/>
          </p:cNvSpPr>
          <p:nvPr>
            <p:ph idx="1"/>
          </p:nvPr>
        </p:nvSpPr>
        <p:spPr/>
        <p:txBody>
          <a:bodyPr>
            <a:normAutofit/>
          </a:bodyPr>
          <a:lstStyle/>
          <a:p>
            <a:pPr marL="457200" indent="-457200">
              <a:buFont typeface="+mj-lt"/>
              <a:buAutoNum type="arabicPeriod"/>
            </a:pPr>
            <a:r>
              <a:rPr lang="ja-GB" sz="2000" dirty="0">
                <a:solidFill>
                  <a:schemeClr val="tx1">
                    <a:lumMod val="50000"/>
                    <a:lumOff val="50000"/>
                  </a:schemeClr>
                </a:solidFill>
              </a:rPr>
              <a:t>日本政府や学科の教育方針を知り，現状や将来像に基づいて</a:t>
            </a:r>
            <a:br>
              <a:rPr lang="ja-GB" sz="2000" dirty="0">
                <a:solidFill>
                  <a:schemeClr val="tx1">
                    <a:lumMod val="50000"/>
                    <a:lumOff val="50000"/>
                  </a:schemeClr>
                </a:solidFill>
              </a:rPr>
            </a:br>
            <a:r>
              <a:rPr lang="ja-GB" sz="2000" dirty="0">
                <a:solidFill>
                  <a:schemeClr val="tx1">
                    <a:lumMod val="50000"/>
                    <a:lumOff val="50000"/>
                  </a:schemeClr>
                </a:solidFill>
              </a:rPr>
              <a:t>自分が計算機を学ぶ意味を見つける</a:t>
            </a:r>
          </a:p>
          <a:p>
            <a:pPr marL="1828800" lvl="3" indent="-457200">
              <a:buFont typeface="+mj-lt"/>
              <a:buAutoNum type="arabicPeriod"/>
            </a:pPr>
            <a:endParaRPr lang="ja-GB" sz="1200" dirty="0">
              <a:solidFill>
                <a:schemeClr val="tx1">
                  <a:lumMod val="50000"/>
                  <a:lumOff val="50000"/>
                </a:schemeClr>
              </a:solidFill>
            </a:endParaRPr>
          </a:p>
          <a:p>
            <a:pPr marL="457200" indent="-457200">
              <a:buFont typeface="+mj-lt"/>
              <a:buAutoNum type="arabicPeriod"/>
            </a:pPr>
            <a:r>
              <a:rPr lang="ja-JP" altLang="en-US" sz="2000">
                <a:solidFill>
                  <a:schemeClr val="tx1">
                    <a:lumMod val="50000"/>
                    <a:lumOff val="50000"/>
                  </a:schemeClr>
                </a:solidFill>
              </a:rPr>
              <a:t>計算機やデータ・</a:t>
            </a:r>
            <a:r>
              <a:rPr lang="en-GB" sz="2000" dirty="0">
                <a:solidFill>
                  <a:schemeClr val="tx1">
                    <a:lumMod val="50000"/>
                    <a:lumOff val="50000"/>
                  </a:schemeClr>
                </a:solidFill>
              </a:rPr>
              <a:t>AI</a:t>
            </a:r>
            <a:r>
              <a:rPr lang="ja-JP" altLang="en-US" sz="2000">
                <a:solidFill>
                  <a:schemeClr val="tx1">
                    <a:lumMod val="50000"/>
                    <a:lumOff val="50000"/>
                  </a:schemeClr>
                </a:solidFill>
              </a:rPr>
              <a:t>にできることを</a:t>
            </a:r>
            <a:r>
              <a:rPr lang="ja-GB" altLang="en-US" sz="2000" dirty="0">
                <a:solidFill>
                  <a:schemeClr val="tx1">
                    <a:lumMod val="50000"/>
                    <a:lumOff val="50000"/>
                  </a:schemeClr>
                </a:solidFill>
              </a:rPr>
              <a:t>知り</a:t>
            </a:r>
            <a:r>
              <a:rPr lang="ja-JP" altLang="en-US" sz="2000">
                <a:solidFill>
                  <a:schemeClr val="tx1">
                    <a:lumMod val="50000"/>
                    <a:lumOff val="50000"/>
                  </a:schemeClr>
                </a:solidFill>
              </a:rPr>
              <a:t>，</a:t>
            </a:r>
            <a:br>
              <a:rPr lang="en-US" altLang="ja-JP" sz="2000" dirty="0">
                <a:solidFill>
                  <a:schemeClr val="tx1">
                    <a:lumMod val="50000"/>
                    <a:lumOff val="50000"/>
                  </a:schemeClr>
                </a:solidFill>
              </a:rPr>
            </a:br>
            <a:r>
              <a:rPr lang="ja-JP" altLang="en-US" sz="2000">
                <a:solidFill>
                  <a:schemeClr val="tx1">
                    <a:lumMod val="50000"/>
                    <a:lumOff val="50000"/>
                  </a:schemeClr>
                </a:solidFill>
              </a:rPr>
              <a:t>目的達成に</a:t>
            </a:r>
            <a:r>
              <a:rPr lang="ja-GB" altLang="en-US" sz="2000" dirty="0">
                <a:solidFill>
                  <a:schemeClr val="tx1">
                    <a:lumMod val="50000"/>
                    <a:lumOff val="50000"/>
                  </a:schemeClr>
                </a:solidFill>
              </a:rPr>
              <a:t>向けた人間と</a:t>
            </a:r>
            <a:r>
              <a:rPr lang="ja-JP" altLang="en-US" sz="2000">
                <a:solidFill>
                  <a:schemeClr val="tx1">
                    <a:lumMod val="50000"/>
                    <a:lumOff val="50000"/>
                  </a:schemeClr>
                </a:solidFill>
              </a:rPr>
              <a:t>計算機，</a:t>
            </a:r>
            <a:r>
              <a:rPr lang="en-GB" sz="2000" dirty="0">
                <a:solidFill>
                  <a:schemeClr val="tx1">
                    <a:lumMod val="50000"/>
                    <a:lumOff val="50000"/>
                  </a:schemeClr>
                </a:solidFill>
              </a:rPr>
              <a:t>AI</a:t>
            </a:r>
            <a:r>
              <a:rPr lang="ja-JP" altLang="en-US" sz="2000">
                <a:solidFill>
                  <a:schemeClr val="tx1">
                    <a:lumMod val="50000"/>
                    <a:lumOff val="50000"/>
                  </a:schemeClr>
                </a:solidFill>
              </a:rPr>
              <a:t>の効果的な分業を想像できるようになる</a:t>
            </a:r>
            <a:endParaRPr lang="en-US" altLang="ja-JP" sz="2000" dirty="0">
              <a:solidFill>
                <a:schemeClr val="tx1">
                  <a:lumMod val="50000"/>
                  <a:lumOff val="50000"/>
                </a:schemeClr>
              </a:solidFill>
            </a:endParaRPr>
          </a:p>
          <a:p>
            <a:pPr marL="1828800" lvl="3" indent="-457200">
              <a:buFont typeface="+mj-lt"/>
              <a:buAutoNum type="arabicPeriod"/>
            </a:pPr>
            <a:endParaRPr lang="ja-GB" sz="1200" dirty="0">
              <a:solidFill>
                <a:schemeClr val="tx1">
                  <a:lumMod val="50000"/>
                  <a:lumOff val="50000"/>
                </a:schemeClr>
              </a:solidFill>
            </a:endParaRPr>
          </a:p>
          <a:p>
            <a:pPr marL="457200" indent="-457200">
              <a:buFont typeface="+mj-lt"/>
              <a:buAutoNum type="arabicPeriod"/>
            </a:pPr>
            <a:r>
              <a:rPr lang="ja-GB" sz="2000" dirty="0">
                <a:solidFill>
                  <a:schemeClr val="tx1">
                    <a:lumMod val="50000"/>
                    <a:lumOff val="50000"/>
                  </a:schemeClr>
                </a:solidFill>
              </a:rPr>
              <a:t>ITシステムの構造や仕組みを学び，</a:t>
            </a:r>
            <a:br>
              <a:rPr lang="ja-GB" sz="2000" dirty="0">
                <a:solidFill>
                  <a:schemeClr val="tx1">
                    <a:lumMod val="50000"/>
                    <a:lumOff val="50000"/>
                  </a:schemeClr>
                </a:solidFill>
              </a:rPr>
            </a:br>
            <a:r>
              <a:rPr lang="ja-GB" sz="2000" dirty="0">
                <a:solidFill>
                  <a:schemeClr val="tx1">
                    <a:lumMod val="50000"/>
                    <a:lumOff val="50000"/>
                  </a:schemeClr>
                </a:solidFill>
              </a:rPr>
              <a:t>問題を計算機が使える形に整理したり，エンジニアに伝えたりできるようになる</a:t>
            </a:r>
          </a:p>
          <a:p>
            <a:pPr marL="1828800" lvl="3" indent="-457200">
              <a:buFont typeface="+mj-lt"/>
              <a:buAutoNum type="arabicPeriod"/>
            </a:pPr>
            <a:endParaRPr lang="ja-GB" sz="1200" dirty="0">
              <a:solidFill>
                <a:schemeClr val="tx1">
                  <a:lumMod val="50000"/>
                  <a:lumOff val="50000"/>
                </a:schemeClr>
              </a:solidFill>
            </a:endParaRPr>
          </a:p>
          <a:p>
            <a:pPr marL="457200" indent="-457200">
              <a:buFont typeface="+mj-lt"/>
              <a:buAutoNum type="arabicPeriod"/>
            </a:pPr>
            <a:r>
              <a:rPr lang="ja-GB" sz="2000" dirty="0">
                <a:solidFill>
                  <a:schemeClr val="tx1">
                    <a:lumMod val="50000"/>
                    <a:lumOff val="50000"/>
                  </a:schemeClr>
                </a:solidFill>
              </a:rPr>
              <a:t>計算機のハードウェア構成を</a:t>
            </a:r>
            <a:r>
              <a:rPr lang="ja-GB" altLang="en-US" sz="2000" dirty="0">
                <a:solidFill>
                  <a:schemeClr val="tx1">
                    <a:lumMod val="50000"/>
                    <a:lumOff val="50000"/>
                  </a:schemeClr>
                </a:solidFill>
              </a:rPr>
              <a:t>知り</a:t>
            </a:r>
            <a:r>
              <a:rPr lang="ja-GB" sz="2000" dirty="0">
                <a:solidFill>
                  <a:schemeClr val="tx1">
                    <a:lumMod val="50000"/>
                    <a:lumOff val="50000"/>
                  </a:schemeClr>
                </a:solidFill>
              </a:rPr>
              <a:t>，</a:t>
            </a:r>
            <a:br>
              <a:rPr lang="ja-GB" sz="2000" dirty="0">
                <a:solidFill>
                  <a:schemeClr val="tx1">
                    <a:lumMod val="50000"/>
                    <a:lumOff val="50000"/>
                  </a:schemeClr>
                </a:solidFill>
              </a:rPr>
            </a:br>
            <a:r>
              <a:rPr lang="ja-GB" sz="2000" dirty="0">
                <a:solidFill>
                  <a:schemeClr val="tx1">
                    <a:lumMod val="50000"/>
                    <a:lumOff val="50000"/>
                  </a:schemeClr>
                </a:solidFill>
              </a:rPr>
              <a:t>目的達成に必要な装置の見積もりや購入ができるようになる</a:t>
            </a:r>
          </a:p>
          <a:p>
            <a:pPr marL="1828800" lvl="3" indent="-457200">
              <a:buFont typeface="+mj-lt"/>
              <a:buAutoNum type="arabicPeriod"/>
            </a:pPr>
            <a:endParaRPr lang="ja-GB" sz="1200" dirty="0">
              <a:solidFill>
                <a:srgbClr val="2F2523"/>
              </a:solidFill>
            </a:endParaRPr>
          </a:p>
          <a:p>
            <a:pPr marL="457200" indent="-457200">
              <a:buFont typeface="+mj-lt"/>
              <a:buAutoNum type="arabicPeriod"/>
            </a:pPr>
            <a:r>
              <a:rPr lang="ja-JP" altLang="en-US" sz="2000">
                <a:solidFill>
                  <a:srgbClr val="2F2523"/>
                </a:solidFill>
              </a:rPr>
              <a:t>計算機に特有のデータ表現を学び，</a:t>
            </a:r>
            <a:br>
              <a:rPr lang="en-US" altLang="ja-JP" sz="2000" dirty="0">
                <a:solidFill>
                  <a:srgbClr val="2F2523"/>
                </a:solidFill>
              </a:rPr>
            </a:br>
            <a:r>
              <a:rPr lang="ja-JP" altLang="en-US" sz="2000"/>
              <a:t>機器設定や開発でしばしば遭遇する数値・記号の意味を理解</a:t>
            </a:r>
            <a:r>
              <a:rPr lang="ja-JP" altLang="en-US" sz="2000">
                <a:solidFill>
                  <a:srgbClr val="2F2523"/>
                </a:solidFill>
              </a:rPr>
              <a:t>できるようになる</a:t>
            </a:r>
            <a:endParaRPr lang="en-US" altLang="ja-JP" sz="2000" dirty="0">
              <a:solidFill>
                <a:srgbClr val="2F2523"/>
              </a:solidFill>
            </a:endParaRPr>
          </a:p>
          <a:p>
            <a:pPr marL="1828800" lvl="3" indent="-457200">
              <a:buFont typeface="+mj-lt"/>
              <a:buAutoNum type="arabicPeriod"/>
            </a:pPr>
            <a:endParaRPr lang="en-US" altLang="ja-JP" sz="1200" dirty="0">
              <a:solidFill>
                <a:srgbClr val="2F2523"/>
              </a:solidFill>
            </a:endParaRPr>
          </a:p>
          <a:p>
            <a:pPr marL="457200" indent="-457200">
              <a:buFont typeface="+mj-lt"/>
              <a:buAutoNum type="arabicPeriod"/>
            </a:pPr>
            <a:r>
              <a:rPr lang="ja-JP" altLang="en-US" sz="2000">
                <a:solidFill>
                  <a:schemeClr val="tx1">
                    <a:lumMod val="50000"/>
                    <a:lumOff val="50000"/>
                  </a:schemeClr>
                </a:solidFill>
              </a:rPr>
              <a:t>計算機を使うための思考を計算機と無関係な場面で役立てる計算論的思考を体験する</a:t>
            </a:r>
            <a:endParaRPr lang="ja-GB" sz="2000" dirty="0">
              <a:solidFill>
                <a:schemeClr val="tx1">
                  <a:lumMod val="50000"/>
                  <a:lumOff val="50000"/>
                </a:schemeClr>
              </a:solidFill>
            </a:endParaRPr>
          </a:p>
        </p:txBody>
      </p:sp>
    </p:spTree>
    <p:extLst>
      <p:ext uri="{BB962C8B-B14F-4D97-AF65-F5344CB8AC3E}">
        <p14:creationId xmlns:p14="http://schemas.microsoft.com/office/powerpoint/2010/main" val="58464366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D96E9-C965-D919-DED7-34033D7E9982}"/>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8E2BECF1-7341-CF02-91F0-D6C54EEA27DF}"/>
              </a:ext>
            </a:extLst>
          </p:cNvPr>
          <p:cNvSpPr/>
          <p:nvPr/>
        </p:nvSpPr>
        <p:spPr>
          <a:xfrm>
            <a:off x="0" y="1"/>
            <a:ext cx="9144000" cy="440463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sp>
        <p:nvSpPr>
          <p:cNvPr id="5" name="タイトル 1">
            <a:extLst>
              <a:ext uri="{FF2B5EF4-FFF2-40B4-BE49-F238E27FC236}">
                <a16:creationId xmlns:a16="http://schemas.microsoft.com/office/drawing/2014/main" id="{430C5D2A-2B5D-CE64-1390-6E049DE23689}"/>
              </a:ext>
            </a:extLst>
          </p:cNvPr>
          <p:cNvSpPr>
            <a:spLocks noGrp="1"/>
          </p:cNvSpPr>
          <p:nvPr>
            <p:ph type="ctrTitle"/>
          </p:nvPr>
        </p:nvSpPr>
        <p:spPr>
          <a:xfrm>
            <a:off x="342901" y="1666380"/>
            <a:ext cx="8458198" cy="2738260"/>
          </a:xfrm>
        </p:spPr>
        <p:txBody>
          <a:bodyPr anchor="b">
            <a:normAutofit/>
          </a:bodyPr>
          <a:lstStyle/>
          <a:p>
            <a:pPr algn="l">
              <a:lnSpc>
                <a:spcPct val="100000"/>
              </a:lnSpc>
            </a:pPr>
            <a:r>
              <a:rPr kumimoji="1" lang="en-US" altLang="ja-JP" sz="3200" dirty="0">
                <a:solidFill>
                  <a:schemeClr val="bg1"/>
                </a:solidFill>
              </a:rPr>
              <a:t>2025</a:t>
            </a:r>
            <a:r>
              <a:rPr kumimoji="1" lang="ja-JP" altLang="en-US" sz="3200">
                <a:solidFill>
                  <a:schemeClr val="bg1"/>
                </a:solidFill>
              </a:rPr>
              <a:t>年度</a:t>
            </a:r>
            <a:r>
              <a:rPr lang="en-US" altLang="ja-JP" sz="3200" dirty="0">
                <a:solidFill>
                  <a:schemeClr val="bg1"/>
                </a:solidFill>
              </a:rPr>
              <a:t> </a:t>
            </a:r>
            <a:r>
              <a:rPr kumimoji="1" lang="ja-JP" altLang="en-US" sz="3200">
                <a:solidFill>
                  <a:schemeClr val="bg1"/>
                </a:solidFill>
              </a:rPr>
              <a:t>コンピュータシステム</a:t>
            </a:r>
            <a:br>
              <a:rPr lang="en-US" altLang="ja-JP" sz="3200" dirty="0">
                <a:solidFill>
                  <a:schemeClr val="bg1"/>
                </a:solidFill>
              </a:rPr>
            </a:br>
            <a:r>
              <a:rPr kumimoji="1" lang="ja-GB" altLang="en-US" sz="3200" dirty="0">
                <a:solidFill>
                  <a:schemeClr val="bg1"/>
                </a:solidFill>
              </a:rPr>
              <a:t>第</a:t>
            </a:r>
            <a:r>
              <a:rPr kumimoji="1" lang="en-US" altLang="ja-GB" sz="3200" dirty="0">
                <a:solidFill>
                  <a:schemeClr val="bg1"/>
                </a:solidFill>
              </a:rPr>
              <a:t>12</a:t>
            </a:r>
            <a:r>
              <a:rPr kumimoji="1" lang="ja-GB" altLang="en-US" sz="3200" dirty="0">
                <a:solidFill>
                  <a:schemeClr val="bg1"/>
                </a:solidFill>
              </a:rPr>
              <a:t>回：演習（基数と論理演算）</a:t>
            </a:r>
            <a:br>
              <a:rPr kumimoji="1" lang="en-US" altLang="ja-JP" sz="2400" dirty="0">
                <a:solidFill>
                  <a:schemeClr val="bg1"/>
                </a:solidFill>
              </a:rPr>
            </a:br>
            <a:endParaRPr kumimoji="1" lang="ja-JP" altLang="en-US" sz="2400">
              <a:solidFill>
                <a:schemeClr val="bg1"/>
              </a:solidFill>
            </a:endParaRPr>
          </a:p>
        </p:txBody>
      </p:sp>
    </p:spTree>
    <p:extLst>
      <p:ext uri="{BB962C8B-B14F-4D97-AF65-F5344CB8AC3E}">
        <p14:creationId xmlns:p14="http://schemas.microsoft.com/office/powerpoint/2010/main" val="157397990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33A98D-716F-0D91-405D-9C57A5722255}"/>
              </a:ext>
            </a:extLst>
          </p:cNvPr>
          <p:cNvSpPr>
            <a:spLocks noGrp="1"/>
          </p:cNvSpPr>
          <p:nvPr>
            <p:ph type="title"/>
          </p:nvPr>
        </p:nvSpPr>
        <p:spPr/>
        <p:txBody>
          <a:bodyPr/>
          <a:lstStyle/>
          <a:p>
            <a:r>
              <a:rPr kumimoji="1" lang="ja-GB" altLang="en-US" dirty="0"/>
              <a:t>第</a:t>
            </a:r>
            <a:r>
              <a:rPr kumimoji="1" lang="en-US" altLang="ja-GB" dirty="0"/>
              <a:t>12</a:t>
            </a:r>
            <a:r>
              <a:rPr kumimoji="1" lang="ja-GB" altLang="en-US" dirty="0"/>
              <a:t>回：演習（基数と論理演算）</a:t>
            </a:r>
          </a:p>
        </p:txBody>
      </p:sp>
      <p:sp>
        <p:nvSpPr>
          <p:cNvPr id="3" name="コンテンツ プレースホルダー 2">
            <a:extLst>
              <a:ext uri="{FF2B5EF4-FFF2-40B4-BE49-F238E27FC236}">
                <a16:creationId xmlns:a16="http://schemas.microsoft.com/office/drawing/2014/main" id="{9E8FB565-212A-EDC0-4D35-53615D56DE8E}"/>
              </a:ext>
            </a:extLst>
          </p:cNvPr>
          <p:cNvSpPr>
            <a:spLocks noGrp="1"/>
          </p:cNvSpPr>
          <p:nvPr>
            <p:ph idx="1"/>
          </p:nvPr>
        </p:nvSpPr>
        <p:spPr/>
        <p:txBody>
          <a:bodyPr/>
          <a:lstStyle/>
          <a:p>
            <a:pPr marL="457200" indent="-457200">
              <a:buFont typeface="+mj-lt"/>
              <a:buAutoNum type="arabicPeriod"/>
            </a:pPr>
            <a:r>
              <a:rPr kumimoji="1" lang="ja-GB" altLang="en-US" dirty="0"/>
              <a:t>カラーコード</a:t>
            </a:r>
            <a:endParaRPr kumimoji="1" lang="en-US" altLang="ja-GB" dirty="0"/>
          </a:p>
          <a:p>
            <a:pPr marL="914400" lvl="1" indent="-457200">
              <a:buFont typeface="+mj-lt"/>
              <a:buAutoNum type="arabicPeriod"/>
            </a:pPr>
            <a:endParaRPr kumimoji="1" lang="en-US" altLang="ja-GB" dirty="0"/>
          </a:p>
          <a:p>
            <a:pPr marL="457200" indent="-457200">
              <a:buFont typeface="+mj-lt"/>
              <a:buAutoNum type="arabicPeriod"/>
            </a:pPr>
            <a:r>
              <a:rPr lang="ja-GB" altLang="en-US" dirty="0">
                <a:solidFill>
                  <a:schemeClr val="tx1">
                    <a:lumMod val="50000"/>
                    <a:lumOff val="50000"/>
                  </a:schemeClr>
                </a:solidFill>
              </a:rPr>
              <a:t>真理値表</a:t>
            </a:r>
            <a:endParaRPr lang="en-US" altLang="ja-GB" dirty="0">
              <a:solidFill>
                <a:schemeClr val="tx1">
                  <a:lumMod val="50000"/>
                  <a:lumOff val="50000"/>
                </a:schemeClr>
              </a:solidFill>
            </a:endParaRPr>
          </a:p>
          <a:p>
            <a:pPr marL="914400" lvl="1" indent="-457200">
              <a:buFont typeface="+mj-lt"/>
              <a:buAutoNum type="arabicPeriod"/>
            </a:pPr>
            <a:endParaRPr kumimoji="1" lang="en-US" altLang="ja-GB" dirty="0">
              <a:solidFill>
                <a:schemeClr val="tx1">
                  <a:lumMod val="50000"/>
                  <a:lumOff val="50000"/>
                </a:schemeClr>
              </a:solidFill>
            </a:endParaRPr>
          </a:p>
          <a:p>
            <a:pPr marL="457200" indent="-457200">
              <a:buFont typeface="+mj-lt"/>
              <a:buAutoNum type="arabicPeriod"/>
            </a:pPr>
            <a:r>
              <a:rPr kumimoji="1" lang="en-US" altLang="ja-GB" dirty="0">
                <a:solidFill>
                  <a:schemeClr val="tx1">
                    <a:lumMod val="50000"/>
                    <a:lumOff val="50000"/>
                  </a:schemeClr>
                </a:solidFill>
              </a:rPr>
              <a:t>IP</a:t>
            </a:r>
            <a:r>
              <a:rPr kumimoji="1" lang="ja-GB" altLang="en-US" dirty="0">
                <a:solidFill>
                  <a:schemeClr val="tx1">
                    <a:lumMod val="50000"/>
                    <a:lumOff val="50000"/>
                  </a:schemeClr>
                </a:solidFill>
              </a:rPr>
              <a:t>アドレスとサブネットマスク</a:t>
            </a:r>
            <a:endParaRPr kumimoji="1" lang="en-US" altLang="ja-GB" dirty="0">
              <a:solidFill>
                <a:schemeClr val="tx1">
                  <a:lumMod val="50000"/>
                  <a:lumOff val="50000"/>
                </a:schemeClr>
              </a:solidFill>
            </a:endParaRPr>
          </a:p>
          <a:p>
            <a:pPr lvl="1"/>
            <a:endParaRPr kumimoji="1" lang="en-US" altLang="ja-GB" dirty="0"/>
          </a:p>
          <a:p>
            <a:endParaRPr kumimoji="1" lang="ja-GB" altLang="en-US" dirty="0"/>
          </a:p>
        </p:txBody>
      </p:sp>
    </p:spTree>
    <p:extLst>
      <p:ext uri="{BB962C8B-B14F-4D97-AF65-F5344CB8AC3E}">
        <p14:creationId xmlns:p14="http://schemas.microsoft.com/office/powerpoint/2010/main" val="277340398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E65FE-32FB-399B-76A5-64119928B09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600D884-132C-7C1B-A079-7C4CF640F8E0}"/>
              </a:ext>
            </a:extLst>
          </p:cNvPr>
          <p:cNvSpPr>
            <a:spLocks noGrp="1"/>
          </p:cNvSpPr>
          <p:nvPr>
            <p:ph type="title"/>
          </p:nvPr>
        </p:nvSpPr>
        <p:spPr/>
        <p:txBody>
          <a:bodyPr>
            <a:normAutofit/>
          </a:bodyPr>
          <a:lstStyle/>
          <a:p>
            <a:r>
              <a:rPr lang="ja-GB" dirty="0"/>
              <a:t>計算機でカラー画像を表示する仕組み</a:t>
            </a:r>
          </a:p>
        </p:txBody>
      </p:sp>
      <p:sp>
        <p:nvSpPr>
          <p:cNvPr id="3" name="コンテンツ プレースホルダー 2">
            <a:extLst>
              <a:ext uri="{FF2B5EF4-FFF2-40B4-BE49-F238E27FC236}">
                <a16:creationId xmlns:a16="http://schemas.microsoft.com/office/drawing/2014/main" id="{569E3528-2561-445C-A4E1-B2670CD64509}"/>
              </a:ext>
            </a:extLst>
          </p:cNvPr>
          <p:cNvSpPr>
            <a:spLocks noGrp="1"/>
          </p:cNvSpPr>
          <p:nvPr>
            <p:ph idx="1"/>
          </p:nvPr>
        </p:nvSpPr>
        <p:spPr/>
        <p:txBody>
          <a:bodyPr/>
          <a:lstStyle/>
          <a:p>
            <a:pPr marL="0" indent="0">
              <a:buNone/>
            </a:pPr>
            <a:r>
              <a:rPr lang="ja-GB" dirty="0"/>
              <a:t>一つの画素に赤緑青の3種類の明るさ情報を持たせる</a:t>
            </a:r>
          </a:p>
          <a:p>
            <a:pPr lvl="1"/>
            <a:r>
              <a:rPr lang="ja-GB" dirty="0"/>
              <a:t>赤青緑を混ぜ合わせると，その割合により様々な色ができる</a:t>
            </a:r>
          </a:p>
          <a:p>
            <a:pPr lvl="1"/>
            <a:endParaRPr lang="en-US" dirty="0"/>
          </a:p>
        </p:txBody>
      </p:sp>
      <p:sp>
        <p:nvSpPr>
          <p:cNvPr id="4" name="テキスト ボックス 3">
            <a:extLst>
              <a:ext uri="{FF2B5EF4-FFF2-40B4-BE49-F238E27FC236}">
                <a16:creationId xmlns:a16="http://schemas.microsoft.com/office/drawing/2014/main" id="{D211B8C4-FCC4-030E-9B83-EDD0F2EEABD4}"/>
              </a:ext>
            </a:extLst>
          </p:cNvPr>
          <p:cNvSpPr txBox="1"/>
          <p:nvPr/>
        </p:nvSpPr>
        <p:spPr>
          <a:xfrm>
            <a:off x="187783" y="2646179"/>
            <a:ext cx="2108104" cy="1200329"/>
          </a:xfrm>
          <a:prstGeom prst="rect">
            <a:avLst/>
          </a:prstGeom>
          <a:noFill/>
        </p:spPr>
        <p:txBody>
          <a:bodyPr wrap="square" rtlCol="0">
            <a:spAutoFit/>
          </a:bodyPr>
          <a:lstStyle/>
          <a:p>
            <a:pPr algn="ctr"/>
            <a:r>
              <a:rPr lang="en-GB" sz="900" dirty="0">
                <a:solidFill>
                  <a:srgbClr val="000000"/>
                </a:solidFill>
                <a:latin typeface="ui-monospace"/>
              </a:rPr>
              <a:t>255 250 245 240 235 230 225 220</a:t>
            </a:r>
          </a:p>
          <a:p>
            <a:pPr algn="ctr"/>
            <a:r>
              <a:rPr lang="en-GB" sz="900" dirty="0">
                <a:solidFill>
                  <a:srgbClr val="000000"/>
                </a:solidFill>
                <a:latin typeface="ui-monospace"/>
              </a:rPr>
              <a:t>225 220 215 210 205 200 195 190</a:t>
            </a:r>
          </a:p>
          <a:p>
            <a:pPr algn="ctr"/>
            <a:r>
              <a:rPr lang="en-GB" sz="900" dirty="0">
                <a:solidFill>
                  <a:srgbClr val="000000"/>
                </a:solidFill>
                <a:latin typeface="ui-monospace"/>
              </a:rPr>
              <a:t>195 190 185 180 175 170 165 160</a:t>
            </a:r>
          </a:p>
          <a:p>
            <a:pPr algn="ctr"/>
            <a:r>
              <a:rPr lang="en-GB" sz="900" dirty="0">
                <a:solidFill>
                  <a:srgbClr val="000000"/>
                </a:solidFill>
                <a:latin typeface="ui-monospace"/>
              </a:rPr>
              <a:t>165 160 155 150 145 140 135 130</a:t>
            </a:r>
          </a:p>
          <a:p>
            <a:pPr algn="ctr"/>
            <a:r>
              <a:rPr lang="en-GB" sz="900" dirty="0">
                <a:solidFill>
                  <a:srgbClr val="000000"/>
                </a:solidFill>
                <a:latin typeface="ui-monospace"/>
              </a:rPr>
              <a:t>135 130 125 120 115 110 105 100</a:t>
            </a:r>
          </a:p>
          <a:p>
            <a:pPr algn="ctr"/>
            <a:r>
              <a:rPr lang="en-GB" sz="900" dirty="0">
                <a:solidFill>
                  <a:srgbClr val="000000"/>
                </a:solidFill>
                <a:latin typeface="ui-monospace"/>
              </a:rPr>
              <a:t>105 100 095 090 085 080 075 070</a:t>
            </a:r>
          </a:p>
          <a:p>
            <a:pPr algn="ctr"/>
            <a:r>
              <a:rPr lang="en-GB" sz="900" dirty="0">
                <a:solidFill>
                  <a:srgbClr val="000000"/>
                </a:solidFill>
                <a:latin typeface="ui-monospace"/>
              </a:rPr>
              <a:t>075 070 065 060 055 050 045 040</a:t>
            </a:r>
          </a:p>
          <a:p>
            <a:pPr algn="ctr"/>
            <a:r>
              <a:rPr lang="en-GB" sz="900" dirty="0">
                <a:solidFill>
                  <a:srgbClr val="000000"/>
                </a:solidFill>
                <a:latin typeface="ui-monospace"/>
              </a:rPr>
              <a:t>045 040 035 030 025 020 015 010</a:t>
            </a:r>
            <a:endParaRPr lang="en-GB" sz="900" b="0" i="0" dirty="0">
              <a:solidFill>
                <a:srgbClr val="000000"/>
              </a:solidFill>
              <a:effectLst/>
              <a:latin typeface="ui-monospace"/>
            </a:endParaRPr>
          </a:p>
        </p:txBody>
      </p:sp>
      <p:sp>
        <p:nvSpPr>
          <p:cNvPr id="5" name="テキスト ボックス 4">
            <a:extLst>
              <a:ext uri="{FF2B5EF4-FFF2-40B4-BE49-F238E27FC236}">
                <a16:creationId xmlns:a16="http://schemas.microsoft.com/office/drawing/2014/main" id="{54BBA41A-F3B9-7747-E468-D9B3C15E4C47}"/>
              </a:ext>
            </a:extLst>
          </p:cNvPr>
          <p:cNvSpPr txBox="1"/>
          <p:nvPr/>
        </p:nvSpPr>
        <p:spPr>
          <a:xfrm>
            <a:off x="1924776" y="2646673"/>
            <a:ext cx="2108104" cy="1200329"/>
          </a:xfrm>
          <a:prstGeom prst="rect">
            <a:avLst/>
          </a:prstGeom>
          <a:noFill/>
        </p:spPr>
        <p:txBody>
          <a:bodyPr wrap="square" rtlCol="0">
            <a:spAutoFit/>
          </a:bodyPr>
          <a:lstStyle/>
          <a:p>
            <a:pPr algn="ctr"/>
            <a:r>
              <a:rPr lang="en-GB" sz="900" dirty="0">
                <a:solidFill>
                  <a:srgbClr val="000000"/>
                </a:solidFill>
                <a:latin typeface="ui-monospace"/>
              </a:rPr>
              <a:t>000 000 000 000 000 000 000 000</a:t>
            </a:r>
          </a:p>
          <a:p>
            <a:pPr algn="ctr"/>
            <a:r>
              <a:rPr lang="en-GB" sz="900" dirty="0">
                <a:solidFill>
                  <a:srgbClr val="000000"/>
                </a:solidFill>
                <a:latin typeface="ui-monospace"/>
              </a:rPr>
              <a:t>036 036 036 036 036 036 036 036</a:t>
            </a:r>
          </a:p>
          <a:p>
            <a:pPr algn="ctr"/>
            <a:r>
              <a:rPr lang="en-GB" sz="900" dirty="0">
                <a:solidFill>
                  <a:srgbClr val="000000"/>
                </a:solidFill>
                <a:latin typeface="ui-monospace"/>
              </a:rPr>
              <a:t>072 072 072 072 072 072 072 072</a:t>
            </a:r>
          </a:p>
          <a:p>
            <a:pPr algn="ctr"/>
            <a:r>
              <a:rPr lang="en-GB" sz="900" dirty="0">
                <a:solidFill>
                  <a:srgbClr val="000000"/>
                </a:solidFill>
                <a:latin typeface="ui-monospace"/>
              </a:rPr>
              <a:t>109 109 109 109 109 109 109 109</a:t>
            </a:r>
          </a:p>
          <a:p>
            <a:pPr algn="ctr"/>
            <a:r>
              <a:rPr lang="en-GB" sz="900" dirty="0">
                <a:solidFill>
                  <a:srgbClr val="000000"/>
                </a:solidFill>
                <a:latin typeface="ui-monospace"/>
              </a:rPr>
              <a:t>145 145 145 145 145 145 145 145</a:t>
            </a:r>
          </a:p>
          <a:p>
            <a:pPr algn="ctr"/>
            <a:r>
              <a:rPr lang="en-GB" sz="900" dirty="0">
                <a:solidFill>
                  <a:srgbClr val="000000"/>
                </a:solidFill>
                <a:latin typeface="ui-monospace"/>
              </a:rPr>
              <a:t>182 182 182 182 182 182 182 182</a:t>
            </a:r>
          </a:p>
          <a:p>
            <a:pPr algn="ctr"/>
            <a:r>
              <a:rPr lang="en-GB" sz="900" dirty="0">
                <a:solidFill>
                  <a:srgbClr val="000000"/>
                </a:solidFill>
                <a:latin typeface="ui-monospace"/>
              </a:rPr>
              <a:t>218 218 218 218 218 218 218 218</a:t>
            </a:r>
          </a:p>
          <a:p>
            <a:pPr algn="ctr"/>
            <a:r>
              <a:rPr lang="en-GB" sz="900" dirty="0">
                <a:solidFill>
                  <a:srgbClr val="000000"/>
                </a:solidFill>
                <a:latin typeface="ui-monospace"/>
              </a:rPr>
              <a:t>255 255 255 255 255 255 255 255</a:t>
            </a:r>
            <a:endParaRPr lang="en-GB" sz="900" b="0" i="0" dirty="0">
              <a:solidFill>
                <a:srgbClr val="000000"/>
              </a:solidFill>
              <a:effectLst/>
              <a:latin typeface="ui-monospace"/>
            </a:endParaRPr>
          </a:p>
        </p:txBody>
      </p:sp>
      <p:sp>
        <p:nvSpPr>
          <p:cNvPr id="6" name="テキスト ボックス 5">
            <a:extLst>
              <a:ext uri="{FF2B5EF4-FFF2-40B4-BE49-F238E27FC236}">
                <a16:creationId xmlns:a16="http://schemas.microsoft.com/office/drawing/2014/main" id="{9364656D-FC0C-AB99-D9E2-4288FF8190B3}"/>
              </a:ext>
            </a:extLst>
          </p:cNvPr>
          <p:cNvSpPr txBox="1"/>
          <p:nvPr/>
        </p:nvSpPr>
        <p:spPr>
          <a:xfrm>
            <a:off x="3635704" y="2646673"/>
            <a:ext cx="2108104" cy="1200329"/>
          </a:xfrm>
          <a:prstGeom prst="rect">
            <a:avLst/>
          </a:prstGeom>
          <a:noFill/>
        </p:spPr>
        <p:txBody>
          <a:bodyPr wrap="square" rtlCol="0">
            <a:spAutoFit/>
          </a:bodyPr>
          <a:lstStyle/>
          <a:p>
            <a:pPr algn="ctr"/>
            <a:r>
              <a:rPr lang="en-GB" sz="900" dirty="0">
                <a:solidFill>
                  <a:srgbClr val="000000"/>
                </a:solidFill>
                <a:latin typeface="ui-monospace"/>
              </a:rPr>
              <a:t>255 192 150 130 130 150 192 255</a:t>
            </a:r>
          </a:p>
          <a:p>
            <a:pPr algn="ctr"/>
            <a:r>
              <a:rPr lang="en-GB" sz="900" dirty="0">
                <a:solidFill>
                  <a:srgbClr val="000000"/>
                </a:solidFill>
                <a:latin typeface="ui-monospace"/>
              </a:rPr>
              <a:t>192 130 088 067 067 088 130 192</a:t>
            </a:r>
          </a:p>
          <a:p>
            <a:pPr algn="ctr"/>
            <a:r>
              <a:rPr lang="en-GB" sz="900" dirty="0">
                <a:solidFill>
                  <a:srgbClr val="000000"/>
                </a:solidFill>
                <a:latin typeface="ui-monospace"/>
              </a:rPr>
              <a:t>150 088 046 026 026 046 088 150</a:t>
            </a:r>
          </a:p>
          <a:p>
            <a:pPr algn="ctr"/>
            <a:r>
              <a:rPr lang="en-GB" sz="900" dirty="0">
                <a:solidFill>
                  <a:srgbClr val="000000"/>
                </a:solidFill>
                <a:latin typeface="ui-monospace"/>
              </a:rPr>
              <a:t>130 067 026 005 005 026 067 130</a:t>
            </a:r>
          </a:p>
          <a:p>
            <a:pPr algn="ctr"/>
            <a:r>
              <a:rPr lang="en-GB" sz="900" dirty="0">
                <a:solidFill>
                  <a:srgbClr val="000000"/>
                </a:solidFill>
                <a:latin typeface="ui-monospace"/>
              </a:rPr>
              <a:t>130 067 026 005 005 026 067 130</a:t>
            </a:r>
          </a:p>
          <a:p>
            <a:pPr algn="ctr"/>
            <a:r>
              <a:rPr lang="en-GB" sz="900" dirty="0">
                <a:solidFill>
                  <a:srgbClr val="000000"/>
                </a:solidFill>
                <a:latin typeface="ui-monospace"/>
              </a:rPr>
              <a:t>150 088 046 026 026 046 088 150</a:t>
            </a:r>
          </a:p>
          <a:p>
            <a:pPr algn="ctr"/>
            <a:r>
              <a:rPr lang="en-GB" sz="900" dirty="0">
                <a:solidFill>
                  <a:srgbClr val="000000"/>
                </a:solidFill>
                <a:latin typeface="ui-monospace"/>
              </a:rPr>
              <a:t>192 130 088 067 067 088 130 192</a:t>
            </a:r>
          </a:p>
          <a:p>
            <a:pPr algn="ctr"/>
            <a:r>
              <a:rPr lang="en-GB" sz="900" dirty="0">
                <a:solidFill>
                  <a:srgbClr val="000000"/>
                </a:solidFill>
                <a:latin typeface="ui-monospace"/>
              </a:rPr>
              <a:t>255 192 150 130 130 150 192 255</a:t>
            </a:r>
            <a:endParaRPr lang="en-GB" sz="900" b="0" i="0" dirty="0">
              <a:solidFill>
                <a:srgbClr val="000000"/>
              </a:solidFill>
              <a:effectLst/>
              <a:latin typeface="ui-monospace"/>
            </a:endParaRPr>
          </a:p>
        </p:txBody>
      </p:sp>
      <p:pic>
        <p:nvPicPr>
          <p:cNvPr id="4098" name="Picture 2" descr="プロット">
            <a:extLst>
              <a:ext uri="{FF2B5EF4-FFF2-40B4-BE49-F238E27FC236}">
                <a16:creationId xmlns:a16="http://schemas.microsoft.com/office/drawing/2014/main" id="{E21A4EA2-B8AA-9E00-1F33-B825C30341C1}"/>
              </a:ext>
            </a:extLst>
          </p:cNvPr>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r="24916"/>
          <a:stretch/>
        </p:blipFill>
        <p:spPr bwMode="auto">
          <a:xfrm>
            <a:off x="314325" y="4461020"/>
            <a:ext cx="5293146" cy="2114893"/>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線矢印コネクタ 6">
            <a:extLst>
              <a:ext uri="{FF2B5EF4-FFF2-40B4-BE49-F238E27FC236}">
                <a16:creationId xmlns:a16="http://schemas.microsoft.com/office/drawing/2014/main" id="{00FCD104-99BD-CC34-A83C-DDA0BFAA6132}"/>
              </a:ext>
            </a:extLst>
          </p:cNvPr>
          <p:cNvCxnSpPr>
            <a:cxnSpLocks/>
          </p:cNvCxnSpPr>
          <p:nvPr/>
        </p:nvCxnSpPr>
        <p:spPr>
          <a:xfrm>
            <a:off x="1230818" y="3846508"/>
            <a:ext cx="0" cy="576000"/>
          </a:xfrm>
          <a:prstGeom prst="straightConnector1">
            <a:avLst/>
          </a:prstGeom>
          <a:ln w="5715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F9480C1A-51C9-8E09-4D85-F9BD8DF0EB66}"/>
              </a:ext>
            </a:extLst>
          </p:cNvPr>
          <p:cNvCxnSpPr>
            <a:cxnSpLocks/>
          </p:cNvCxnSpPr>
          <p:nvPr/>
        </p:nvCxnSpPr>
        <p:spPr>
          <a:xfrm>
            <a:off x="2978828" y="3846508"/>
            <a:ext cx="0" cy="576000"/>
          </a:xfrm>
          <a:prstGeom prst="straightConnector1">
            <a:avLst/>
          </a:prstGeom>
          <a:ln w="5715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83C4DE55-9C9B-1CC3-9A35-BBD73E838564}"/>
              </a:ext>
            </a:extLst>
          </p:cNvPr>
          <p:cNvCxnSpPr>
            <a:cxnSpLocks/>
          </p:cNvCxnSpPr>
          <p:nvPr/>
        </p:nvCxnSpPr>
        <p:spPr>
          <a:xfrm flipH="1">
            <a:off x="4683357" y="3868048"/>
            <a:ext cx="0" cy="576000"/>
          </a:xfrm>
          <a:prstGeom prst="straightConnector1">
            <a:avLst/>
          </a:prstGeom>
          <a:ln w="57150">
            <a:solidFill>
              <a:srgbClr val="2F2523"/>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2" descr="プロット">
            <a:extLst>
              <a:ext uri="{FF2B5EF4-FFF2-40B4-BE49-F238E27FC236}">
                <a16:creationId xmlns:a16="http://schemas.microsoft.com/office/drawing/2014/main" id="{25714FBE-625B-59BB-3B36-F9C5459BEFCF}"/>
              </a:ext>
            </a:extLst>
          </p:cNvPr>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a:stretch/>
        </p:blipFill>
        <p:spPr bwMode="auto">
          <a:xfrm>
            <a:off x="6664041" y="4461019"/>
            <a:ext cx="1762407" cy="2114893"/>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直線矢印コネクタ 16">
            <a:extLst>
              <a:ext uri="{FF2B5EF4-FFF2-40B4-BE49-F238E27FC236}">
                <a16:creationId xmlns:a16="http://schemas.microsoft.com/office/drawing/2014/main" id="{88B8B9D6-7947-9E69-5C11-1E0B4889735C}"/>
              </a:ext>
            </a:extLst>
          </p:cNvPr>
          <p:cNvCxnSpPr>
            <a:cxnSpLocks/>
            <a:stCxn id="4098" idx="3"/>
            <a:endCxn id="16" idx="1"/>
          </p:cNvCxnSpPr>
          <p:nvPr/>
        </p:nvCxnSpPr>
        <p:spPr>
          <a:xfrm flipV="1">
            <a:off x="5607471" y="5518466"/>
            <a:ext cx="1056570" cy="1"/>
          </a:xfrm>
          <a:prstGeom prst="straightConnector1">
            <a:avLst/>
          </a:prstGeom>
          <a:ln w="57150">
            <a:solidFill>
              <a:srgbClr val="2F2523"/>
            </a:solidFill>
            <a:tailEnd type="triangle"/>
          </a:ln>
        </p:spPr>
        <p:style>
          <a:lnRef idx="1">
            <a:schemeClr val="accent1"/>
          </a:lnRef>
          <a:fillRef idx="0">
            <a:schemeClr val="accent1"/>
          </a:fillRef>
          <a:effectRef idx="0">
            <a:schemeClr val="accent1"/>
          </a:effectRef>
          <a:fontRef idx="minor">
            <a:schemeClr val="tx1"/>
          </a:fontRef>
        </p:style>
      </p:cxnSp>
      <p:pic>
        <p:nvPicPr>
          <p:cNvPr id="4099" name="Picture 3" descr="プロット">
            <a:extLst>
              <a:ext uri="{FF2B5EF4-FFF2-40B4-BE49-F238E27FC236}">
                <a16:creationId xmlns:a16="http://schemas.microsoft.com/office/drawing/2014/main" id="{479692DB-785B-62E8-33FE-A1CD61696C00}"/>
              </a:ext>
            </a:extLst>
          </p:cNvPr>
          <p:cNvPicPr>
            <a:picLocks noChangeAspect="1" noChangeArrowheads="1"/>
          </p:cNvPicPr>
          <p:nvPr/>
        </p:nvPicPr>
        <p:blipFill rotWithShape="1">
          <a:blip r:embed="rId4" cstate="print">
            <a:extLst>
              <a:ext uri="{28A0092B-C50C-407E-A947-70E740481C1C}">
                <a14:useLocalDpi xmlns:a14="http://schemas.microsoft.com/office/drawing/2010/main"/>
              </a:ext>
            </a:extLst>
          </a:blip>
          <a:srcRect/>
          <a:stretch/>
        </p:blipFill>
        <p:spPr bwMode="auto">
          <a:xfrm>
            <a:off x="6487479" y="1734238"/>
            <a:ext cx="1938969" cy="1967430"/>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4">
            <a:extLst>
              <a:ext uri="{FF2B5EF4-FFF2-40B4-BE49-F238E27FC236}">
                <a16:creationId xmlns:a16="http://schemas.microsoft.com/office/drawing/2014/main" id="{E571BB7F-ACED-DE91-DFA8-BB3145BB3466}"/>
              </a:ext>
            </a:extLst>
          </p:cNvPr>
          <p:cNvSpPr>
            <a:spLocks noChangeArrowheads="1"/>
          </p:cNvSpPr>
          <p:nvPr/>
        </p:nvSpPr>
        <p:spPr bwMode="auto">
          <a:xfrm flipV="1">
            <a:off x="5106835" y="-3509413"/>
            <a:ext cx="312839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ja-GB" altLang="ja-GB" sz="1800" b="0" i="0" u="none" strike="noStrike" cap="none" normalizeH="0" baseline="0">
                <a:ln>
                  <a:noFill/>
                </a:ln>
                <a:solidFill>
                  <a:schemeClr val="tx1"/>
                </a:solidFill>
                <a:effectLst/>
                <a:latin typeface="Arial" panose="020B0604020202020204" pitchFamily="34" charset="0"/>
              </a:rPr>
            </a:br>
            <a:endParaRPr kumimoji="0" lang="ja-GB" altLang="ja-GB" sz="1800" b="0" i="0" u="none" strike="noStrike" cap="none" normalizeH="0" baseline="0">
              <a:ln>
                <a:noFill/>
              </a:ln>
              <a:solidFill>
                <a:schemeClr val="tx1"/>
              </a:solidFill>
              <a:effectLst/>
              <a:latin typeface="Arial" panose="020B0604020202020204" pitchFamily="34" charset="0"/>
            </a:endParaRPr>
          </a:p>
        </p:txBody>
      </p:sp>
      <p:sp>
        <p:nvSpPr>
          <p:cNvPr id="21" name="テキスト ボックス 20">
            <a:extLst>
              <a:ext uri="{FF2B5EF4-FFF2-40B4-BE49-F238E27FC236}">
                <a16:creationId xmlns:a16="http://schemas.microsoft.com/office/drawing/2014/main" id="{BC94FC37-29FF-4DC4-5E4F-CF9E37F55376}"/>
              </a:ext>
            </a:extLst>
          </p:cNvPr>
          <p:cNvSpPr txBox="1"/>
          <p:nvPr/>
        </p:nvSpPr>
        <p:spPr>
          <a:xfrm>
            <a:off x="6787549" y="3712685"/>
            <a:ext cx="1338828" cy="369332"/>
          </a:xfrm>
          <a:prstGeom prst="rect">
            <a:avLst/>
          </a:prstGeom>
          <a:noFill/>
        </p:spPr>
        <p:txBody>
          <a:bodyPr wrap="none" rtlCol="0">
            <a:spAutoFit/>
          </a:bodyPr>
          <a:lstStyle/>
          <a:p>
            <a:pPr algn="ctr"/>
            <a:r>
              <a:rPr lang="ja-GB" dirty="0"/>
              <a:t>光の三原色</a:t>
            </a:r>
          </a:p>
        </p:txBody>
      </p:sp>
    </p:spTree>
    <p:extLst>
      <p:ext uri="{BB962C8B-B14F-4D97-AF65-F5344CB8AC3E}">
        <p14:creationId xmlns:p14="http://schemas.microsoft.com/office/powerpoint/2010/main" val="4271008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97996A-D027-8791-3FC3-5F323FFDA152}"/>
              </a:ext>
            </a:extLst>
          </p:cNvPr>
          <p:cNvSpPr>
            <a:spLocks noGrp="1"/>
          </p:cNvSpPr>
          <p:nvPr>
            <p:ph type="title"/>
          </p:nvPr>
        </p:nvSpPr>
        <p:spPr/>
        <p:txBody>
          <a:bodyPr/>
          <a:lstStyle/>
          <a:p>
            <a:r>
              <a:rPr kumimoji="1" lang="en-US" altLang="ja-GB" dirty="0"/>
              <a:t>RGB</a:t>
            </a:r>
            <a:r>
              <a:rPr kumimoji="1" lang="ja-GB" altLang="en-US" dirty="0"/>
              <a:t>値の表記とその意味</a:t>
            </a:r>
          </a:p>
        </p:txBody>
      </p:sp>
      <p:sp>
        <p:nvSpPr>
          <p:cNvPr id="3" name="コンテンツ プレースホルダー 2">
            <a:extLst>
              <a:ext uri="{FF2B5EF4-FFF2-40B4-BE49-F238E27FC236}">
                <a16:creationId xmlns:a16="http://schemas.microsoft.com/office/drawing/2014/main" id="{BB2D69D2-6884-F933-6316-D898540C7F8C}"/>
              </a:ext>
            </a:extLst>
          </p:cNvPr>
          <p:cNvSpPr>
            <a:spLocks noGrp="1"/>
          </p:cNvSpPr>
          <p:nvPr>
            <p:ph idx="1"/>
          </p:nvPr>
        </p:nvSpPr>
        <p:spPr/>
        <p:txBody>
          <a:bodyPr/>
          <a:lstStyle/>
          <a:p>
            <a:pPr marL="0" indent="0">
              <a:buNone/>
            </a:pPr>
            <a:r>
              <a:rPr lang="ja-GB" altLang="en-US" dirty="0"/>
              <a:t>括弧の中に</a:t>
            </a:r>
            <a:r>
              <a:rPr lang="en-US" altLang="ja-GB" dirty="0"/>
              <a:t>Red</a:t>
            </a:r>
            <a:r>
              <a:rPr lang="ja-GB" altLang="en-US" dirty="0"/>
              <a:t>，</a:t>
            </a:r>
            <a:r>
              <a:rPr lang="en-US" altLang="ja-GB" dirty="0"/>
              <a:t>Green</a:t>
            </a:r>
            <a:r>
              <a:rPr lang="ja-GB" altLang="en-US" dirty="0"/>
              <a:t>，</a:t>
            </a:r>
            <a:r>
              <a:rPr lang="en-US" altLang="ja-GB" dirty="0"/>
              <a:t>Blue</a:t>
            </a:r>
            <a:r>
              <a:rPr lang="ja-GB" altLang="en-US" dirty="0"/>
              <a:t>の強さを順番に書く表現方法</a:t>
            </a:r>
            <a:endParaRPr lang="en-US" altLang="ja-GB" dirty="0"/>
          </a:p>
          <a:p>
            <a:pPr marL="457200" lvl="1" indent="0">
              <a:buNone/>
            </a:pPr>
            <a:r>
              <a:rPr kumimoji="1" lang="en-US" altLang="ja-GB" dirty="0"/>
              <a:t>3</a:t>
            </a:r>
            <a:r>
              <a:rPr kumimoji="1" lang="ja-GB" altLang="en-US" dirty="0"/>
              <a:t>つの数字を並べて</a:t>
            </a:r>
            <a:r>
              <a:rPr kumimoji="1" lang="en-US" altLang="ja-GB" dirty="0">
                <a:solidFill>
                  <a:srgbClr val="0070C0"/>
                </a:solidFill>
              </a:rPr>
              <a:t>3</a:t>
            </a:r>
            <a:r>
              <a:rPr kumimoji="1" lang="ja-GB" altLang="en-US" dirty="0">
                <a:solidFill>
                  <a:srgbClr val="0070C0"/>
                </a:solidFill>
              </a:rPr>
              <a:t>色の混合比率</a:t>
            </a:r>
            <a:r>
              <a:rPr kumimoji="1" lang="ja-GB" altLang="en-US" dirty="0"/>
              <a:t>（</a:t>
            </a:r>
            <a:r>
              <a:rPr lang="ja-GB" altLang="en-US" dirty="0"/>
              <a:t>各色の</a:t>
            </a:r>
            <a:r>
              <a:rPr kumimoji="1" lang="ja-GB" altLang="en-US" dirty="0"/>
              <a:t>強さ）を表現</a:t>
            </a:r>
            <a:endParaRPr kumimoji="1" lang="en-US" altLang="ja-GB" dirty="0"/>
          </a:p>
          <a:p>
            <a:pPr marL="914400" lvl="2" indent="0">
              <a:buNone/>
            </a:pPr>
            <a:r>
              <a:rPr kumimoji="1" lang="ja-GB" altLang="en-US" dirty="0"/>
              <a:t>例</a:t>
            </a:r>
            <a:r>
              <a:rPr kumimoji="1" lang="en-US" altLang="ja-GB" dirty="0"/>
              <a:t>1</a:t>
            </a:r>
            <a:r>
              <a:rPr kumimoji="1" lang="ja-GB" altLang="en-US" dirty="0"/>
              <a:t>）（</a:t>
            </a:r>
            <a:r>
              <a:rPr kumimoji="1" lang="en-US" altLang="ja-GB" dirty="0"/>
              <a:t>100</a:t>
            </a:r>
            <a:r>
              <a:rPr lang="ja-GB" altLang="en-US" dirty="0"/>
              <a:t>，</a:t>
            </a:r>
            <a:r>
              <a:rPr kumimoji="1" lang="en-US" altLang="ja-GB" dirty="0"/>
              <a:t>50</a:t>
            </a:r>
            <a:r>
              <a:rPr kumimoji="1" lang="ja-GB" altLang="en-US" dirty="0"/>
              <a:t>，</a:t>
            </a:r>
            <a:r>
              <a:rPr kumimoji="1" lang="en-US" altLang="ja-GB" dirty="0"/>
              <a:t>0</a:t>
            </a:r>
            <a:r>
              <a:rPr kumimoji="1" lang="ja-GB" altLang="en-US" dirty="0"/>
              <a:t>）</a:t>
            </a:r>
            <a:r>
              <a:rPr kumimoji="1" lang="en-US" altLang="ja-GB" dirty="0"/>
              <a:t>→R</a:t>
            </a:r>
            <a:r>
              <a:rPr kumimoji="1" lang="ja-GB" altLang="en-US" dirty="0"/>
              <a:t>が</a:t>
            </a:r>
            <a:r>
              <a:rPr kumimoji="1" lang="en-US" altLang="ja-GB" dirty="0"/>
              <a:t>100</a:t>
            </a:r>
            <a:r>
              <a:rPr kumimoji="1" lang="ja-GB" altLang="en-US" dirty="0"/>
              <a:t>，</a:t>
            </a:r>
            <a:r>
              <a:rPr kumimoji="1" lang="en-US" altLang="ja-GB" dirty="0"/>
              <a:t>G</a:t>
            </a:r>
            <a:r>
              <a:rPr kumimoji="1" lang="ja-GB" altLang="en-US" dirty="0"/>
              <a:t>が</a:t>
            </a:r>
            <a:r>
              <a:rPr kumimoji="1" lang="en-US" altLang="ja-GB" dirty="0"/>
              <a:t>50</a:t>
            </a:r>
            <a:r>
              <a:rPr kumimoji="1" lang="ja-GB" altLang="en-US" dirty="0"/>
              <a:t>，</a:t>
            </a:r>
            <a:r>
              <a:rPr kumimoji="1" lang="en-US" altLang="ja-GB" dirty="0"/>
              <a:t>B</a:t>
            </a:r>
            <a:r>
              <a:rPr kumimoji="1" lang="ja-GB" altLang="en-US" dirty="0"/>
              <a:t>が</a:t>
            </a:r>
            <a:r>
              <a:rPr kumimoji="1" lang="en-US" altLang="ja-GB" dirty="0"/>
              <a:t>0</a:t>
            </a:r>
            <a:r>
              <a:rPr kumimoji="1" lang="ja-GB" altLang="en-US" dirty="0"/>
              <a:t>の割合で混ざったもの</a:t>
            </a:r>
            <a:endParaRPr kumimoji="1" lang="en-US" altLang="ja-GB" dirty="0"/>
          </a:p>
          <a:p>
            <a:pPr marL="914400" lvl="2" indent="0">
              <a:buNone/>
            </a:pPr>
            <a:r>
              <a:rPr lang="ja-GB" altLang="en-US" dirty="0"/>
              <a:t>例</a:t>
            </a:r>
            <a:r>
              <a:rPr lang="en-US" altLang="ja-GB" dirty="0"/>
              <a:t>2</a:t>
            </a:r>
            <a:r>
              <a:rPr lang="ja-GB" altLang="en-US" dirty="0"/>
              <a:t>）（</a:t>
            </a:r>
            <a:r>
              <a:rPr lang="en-US" altLang="ja-GB" dirty="0"/>
              <a:t>255</a:t>
            </a:r>
            <a:r>
              <a:rPr lang="ja-GB" altLang="en-US" dirty="0"/>
              <a:t>，</a:t>
            </a:r>
            <a:r>
              <a:rPr lang="en-US" altLang="ja-GB" dirty="0"/>
              <a:t>0</a:t>
            </a:r>
            <a:r>
              <a:rPr lang="ja-GB" altLang="en-US" dirty="0"/>
              <a:t>，</a:t>
            </a:r>
            <a:r>
              <a:rPr lang="en-US" altLang="ja-GB" dirty="0"/>
              <a:t>0 </a:t>
            </a:r>
            <a:r>
              <a:rPr lang="ja-GB" altLang="en-US" dirty="0"/>
              <a:t>）は赤，（</a:t>
            </a:r>
            <a:r>
              <a:rPr lang="en-US" altLang="ja-GB" dirty="0"/>
              <a:t>0</a:t>
            </a:r>
            <a:r>
              <a:rPr lang="ja-GB" altLang="en-US" dirty="0"/>
              <a:t>，</a:t>
            </a:r>
            <a:r>
              <a:rPr lang="en-US" altLang="ja-GB" dirty="0"/>
              <a:t>255</a:t>
            </a:r>
            <a:r>
              <a:rPr lang="ja-GB" altLang="en-US" dirty="0"/>
              <a:t>，</a:t>
            </a:r>
            <a:r>
              <a:rPr lang="en-US" altLang="ja-GB" dirty="0"/>
              <a:t>0</a:t>
            </a:r>
            <a:r>
              <a:rPr lang="ja-GB" altLang="en-US" dirty="0"/>
              <a:t>）は緑，（</a:t>
            </a:r>
            <a:r>
              <a:rPr lang="en-US" altLang="ja-GB" dirty="0"/>
              <a:t>0</a:t>
            </a:r>
            <a:r>
              <a:rPr lang="ja-GB" altLang="en-US" dirty="0"/>
              <a:t>，</a:t>
            </a:r>
            <a:r>
              <a:rPr lang="en-US" altLang="ja-GB" dirty="0"/>
              <a:t>0</a:t>
            </a:r>
            <a:r>
              <a:rPr lang="ja-GB" altLang="en-US" dirty="0"/>
              <a:t>，</a:t>
            </a:r>
            <a:r>
              <a:rPr lang="en-US" altLang="ja-GB" dirty="0"/>
              <a:t>255</a:t>
            </a:r>
            <a:r>
              <a:rPr lang="ja-GB" altLang="en-US" dirty="0"/>
              <a:t>）は青</a:t>
            </a:r>
            <a:endParaRPr lang="en-US" altLang="ja-GB" dirty="0"/>
          </a:p>
          <a:p>
            <a:pPr lvl="2"/>
            <a:endParaRPr kumimoji="1" lang="en-US" altLang="ja-GB" dirty="0"/>
          </a:p>
          <a:p>
            <a:pPr marL="457200" lvl="1" indent="0">
              <a:buNone/>
            </a:pPr>
            <a:r>
              <a:rPr lang="en-US" altLang="ja-GB" dirty="0">
                <a:solidFill>
                  <a:srgbClr val="0070C0"/>
                </a:solidFill>
              </a:rPr>
              <a:t>8bit</a:t>
            </a:r>
            <a:r>
              <a:rPr lang="ja-GB" altLang="en-US" dirty="0">
                <a:solidFill>
                  <a:srgbClr val="0070C0"/>
                </a:solidFill>
              </a:rPr>
              <a:t>の</a:t>
            </a:r>
            <a:r>
              <a:rPr lang="en-US" altLang="ja-GB" dirty="0">
                <a:solidFill>
                  <a:srgbClr val="0070C0"/>
                </a:solidFill>
              </a:rPr>
              <a:t>2</a:t>
            </a:r>
            <a:r>
              <a:rPr lang="ja-GB" altLang="en-US" dirty="0">
                <a:solidFill>
                  <a:srgbClr val="0070C0"/>
                </a:solidFill>
              </a:rPr>
              <a:t>進数表現</a:t>
            </a:r>
            <a:r>
              <a:rPr lang="ja-GB" altLang="en-US" dirty="0"/>
              <a:t>：最小値は</a:t>
            </a:r>
            <a:r>
              <a:rPr lang="en-US" altLang="ja-GB" dirty="0"/>
              <a:t>0</a:t>
            </a:r>
            <a:r>
              <a:rPr lang="en-US" altLang="ja-GB" baseline="-25000" dirty="0"/>
              <a:t>(10)</a:t>
            </a:r>
            <a:r>
              <a:rPr lang="en-US" altLang="ja-GB" dirty="0"/>
              <a:t>=0</a:t>
            </a:r>
            <a:r>
              <a:rPr lang="en-US" altLang="ja-GB" baseline="-25000" dirty="0"/>
              <a:t>(2)</a:t>
            </a:r>
            <a:r>
              <a:rPr lang="ja-GB" altLang="en-US" dirty="0"/>
              <a:t>，最大値は</a:t>
            </a:r>
            <a:r>
              <a:rPr lang="en-US" altLang="ja-GB" dirty="0"/>
              <a:t>255</a:t>
            </a:r>
            <a:r>
              <a:rPr lang="en-US" altLang="ja-GB" baseline="-25000" dirty="0"/>
              <a:t>(10)</a:t>
            </a:r>
            <a:r>
              <a:rPr lang="en-US" altLang="ja-GB" dirty="0"/>
              <a:t>=11111111</a:t>
            </a:r>
            <a:r>
              <a:rPr lang="en-US" altLang="ja-GB" baseline="-25000" dirty="0"/>
              <a:t>(2)</a:t>
            </a:r>
            <a:endParaRPr lang="en-US" altLang="ja-GB" dirty="0"/>
          </a:p>
          <a:p>
            <a:pPr marL="914400" lvl="2" indent="0">
              <a:buNone/>
            </a:pPr>
            <a:r>
              <a:rPr lang="ja-GB" altLang="en-US" dirty="0"/>
              <a:t>例</a:t>
            </a:r>
            <a:r>
              <a:rPr lang="en-US" altLang="ja-GB" dirty="0"/>
              <a:t>3</a:t>
            </a:r>
            <a:r>
              <a:rPr lang="ja-GB" altLang="en-US" dirty="0"/>
              <a:t>）（</a:t>
            </a:r>
            <a:r>
              <a:rPr lang="en-US" altLang="ja-GB" dirty="0"/>
              <a:t>0,0,0</a:t>
            </a:r>
            <a:r>
              <a:rPr lang="ja-GB" altLang="en-US" dirty="0"/>
              <a:t>）は黒色，</a:t>
            </a:r>
            <a:r>
              <a:rPr lang="en-US" altLang="ja-GB" dirty="0"/>
              <a:t>(255, 255, 255)</a:t>
            </a:r>
            <a:r>
              <a:rPr lang="ja-GB" altLang="en-US" dirty="0"/>
              <a:t>は白，全て同じ値なら灰色</a:t>
            </a:r>
            <a:endParaRPr lang="en-US" altLang="ja-GB" dirty="0"/>
          </a:p>
          <a:p>
            <a:pPr lvl="1"/>
            <a:endParaRPr kumimoji="1" lang="en-US" altLang="ja-GB" dirty="0"/>
          </a:p>
          <a:p>
            <a:pPr lvl="1"/>
            <a:endParaRPr kumimoji="1" lang="ja-GB" altLang="en-US" dirty="0"/>
          </a:p>
        </p:txBody>
      </p:sp>
      <p:grpSp>
        <p:nvGrpSpPr>
          <p:cNvPr id="12" name="グループ化 11">
            <a:extLst>
              <a:ext uri="{FF2B5EF4-FFF2-40B4-BE49-F238E27FC236}">
                <a16:creationId xmlns:a16="http://schemas.microsoft.com/office/drawing/2014/main" id="{2BFE361E-21D9-0340-0435-3D1756E4BCFD}"/>
              </a:ext>
            </a:extLst>
          </p:cNvPr>
          <p:cNvGrpSpPr/>
          <p:nvPr/>
        </p:nvGrpSpPr>
        <p:grpSpPr>
          <a:xfrm>
            <a:off x="172957" y="3878755"/>
            <a:ext cx="8798086" cy="2124480"/>
            <a:chOff x="160601" y="3878755"/>
            <a:chExt cx="8798086" cy="2124480"/>
          </a:xfrm>
        </p:grpSpPr>
        <p:pic>
          <p:nvPicPr>
            <p:cNvPr id="5" name="図 4" descr="図形&#10;&#10;AI 生成コンテンツは誤りを含む可能性があります。">
              <a:extLst>
                <a:ext uri="{FF2B5EF4-FFF2-40B4-BE49-F238E27FC236}">
                  <a16:creationId xmlns:a16="http://schemas.microsoft.com/office/drawing/2014/main" id="{8248C0E0-5A93-83C3-6EF0-6504A1C9B279}"/>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270895" y="3878755"/>
              <a:ext cx="2735977" cy="2124480"/>
            </a:xfrm>
            <a:prstGeom prst="rect">
              <a:avLst/>
            </a:prstGeom>
            <a:ln>
              <a:noFill/>
            </a:ln>
            <a:effectLst>
              <a:outerShdw blurRad="292100" dist="139700" dir="2700000" algn="tl" rotWithShape="0">
                <a:srgbClr val="333333">
                  <a:alpha val="65000"/>
                </a:srgbClr>
              </a:outerShdw>
            </a:effectLst>
          </p:spPr>
        </p:pic>
        <p:pic>
          <p:nvPicPr>
            <p:cNvPr id="7" name="図 6" descr="グラフィカル ユーザー インターフェイス が含まれている画像&#10;&#10;AI 生成コンテンツは誤りを含む可能性があります。">
              <a:extLst>
                <a:ext uri="{FF2B5EF4-FFF2-40B4-BE49-F238E27FC236}">
                  <a16:creationId xmlns:a16="http://schemas.microsoft.com/office/drawing/2014/main" id="{A83173ED-FFE2-EA64-64FC-EBD85AF1C57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174235" y="3878755"/>
              <a:ext cx="2784452" cy="2124480"/>
            </a:xfrm>
            <a:prstGeom prst="rect">
              <a:avLst/>
            </a:prstGeom>
            <a:ln>
              <a:noFill/>
            </a:ln>
            <a:effectLst>
              <a:outerShdw blurRad="292100" dist="139700" dir="2700000" algn="tl" rotWithShape="0">
                <a:srgbClr val="333333">
                  <a:alpha val="65000"/>
                </a:srgbClr>
              </a:outerShdw>
            </a:effectLst>
          </p:spPr>
        </p:pic>
        <p:pic>
          <p:nvPicPr>
            <p:cNvPr id="11" name="図 10" descr="図形&#10;&#10;AI 生成コンテンツは誤りを含む可能性があります。">
              <a:extLst>
                <a:ext uri="{FF2B5EF4-FFF2-40B4-BE49-F238E27FC236}">
                  <a16:creationId xmlns:a16="http://schemas.microsoft.com/office/drawing/2014/main" id="{F114704A-A35C-DCE8-F3CC-C50C48A15BB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60601" y="3879207"/>
              <a:ext cx="2942931" cy="2124028"/>
            </a:xfrm>
            <a:prstGeom prst="rect">
              <a:avLst/>
            </a:prstGeom>
            <a:ln>
              <a:noFill/>
            </a:ln>
            <a:effectLst>
              <a:outerShdw blurRad="292100" dist="139700" dir="2700000" algn="tl" rotWithShape="0">
                <a:srgbClr val="333333">
                  <a:alpha val="65000"/>
                </a:srgbClr>
              </a:outerShdw>
            </a:effectLst>
          </p:spPr>
        </p:pic>
      </p:grpSp>
    </p:spTree>
    <p:extLst>
      <p:ext uri="{BB962C8B-B14F-4D97-AF65-F5344CB8AC3E}">
        <p14:creationId xmlns:p14="http://schemas.microsoft.com/office/powerpoint/2010/main" val="4605189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179808-8D09-F1AD-B065-E8A1B8A12030}"/>
              </a:ext>
            </a:extLst>
          </p:cNvPr>
          <p:cNvSpPr>
            <a:spLocks noGrp="1"/>
          </p:cNvSpPr>
          <p:nvPr>
            <p:ph type="title"/>
          </p:nvPr>
        </p:nvSpPr>
        <p:spPr/>
        <p:txBody>
          <a:bodyPr/>
          <a:lstStyle/>
          <a:p>
            <a:r>
              <a:rPr kumimoji="1" lang="en-US" altLang="ja-GB" dirty="0"/>
              <a:t>HEX</a:t>
            </a:r>
            <a:r>
              <a:rPr kumimoji="1" lang="ja-GB" altLang="en-US" dirty="0"/>
              <a:t>カラーコードの表記とその意味</a:t>
            </a:r>
          </a:p>
        </p:txBody>
      </p:sp>
      <p:sp>
        <p:nvSpPr>
          <p:cNvPr id="3" name="コンテンツ プレースホルダー 2">
            <a:extLst>
              <a:ext uri="{FF2B5EF4-FFF2-40B4-BE49-F238E27FC236}">
                <a16:creationId xmlns:a16="http://schemas.microsoft.com/office/drawing/2014/main" id="{10B6DFFE-0EB0-F6C1-CA75-9C019AC9704C}"/>
              </a:ext>
            </a:extLst>
          </p:cNvPr>
          <p:cNvSpPr>
            <a:spLocks noGrp="1"/>
          </p:cNvSpPr>
          <p:nvPr>
            <p:ph idx="1"/>
          </p:nvPr>
        </p:nvSpPr>
        <p:spPr/>
        <p:txBody>
          <a:bodyPr/>
          <a:lstStyle/>
          <a:p>
            <a:pPr marL="0" indent="0">
              <a:buNone/>
            </a:pPr>
            <a:r>
              <a:rPr kumimoji="1" lang="en-US" altLang="ja-GB" dirty="0"/>
              <a:t>16</a:t>
            </a:r>
            <a:r>
              <a:rPr kumimoji="1" lang="ja-GB" altLang="en-US" dirty="0"/>
              <a:t>進数により色を表現する方法</a:t>
            </a:r>
            <a:endParaRPr kumimoji="1" lang="en-US" altLang="ja-GB" dirty="0"/>
          </a:p>
          <a:p>
            <a:pPr lvl="1"/>
            <a:r>
              <a:rPr lang="en-US" altLang="ja-GB" dirty="0"/>
              <a:t>HEX</a:t>
            </a:r>
            <a:r>
              <a:rPr lang="ja-GB" altLang="en-US" dirty="0"/>
              <a:t>：</a:t>
            </a:r>
            <a:r>
              <a:rPr lang="en-GB" altLang="ja-GB" dirty="0"/>
              <a:t>hexadecimal</a:t>
            </a:r>
            <a:r>
              <a:rPr lang="ja-GB" altLang="en-US" dirty="0"/>
              <a:t>（</a:t>
            </a:r>
            <a:r>
              <a:rPr lang="en-US" altLang="ja-GB" dirty="0"/>
              <a:t>16</a:t>
            </a:r>
            <a:r>
              <a:rPr lang="ja-GB" altLang="en-US" dirty="0"/>
              <a:t>進数）の略</a:t>
            </a:r>
            <a:endParaRPr lang="en-US" altLang="ja-GB" dirty="0"/>
          </a:p>
          <a:p>
            <a:pPr lvl="1"/>
            <a:r>
              <a:rPr kumimoji="1" lang="ja-GB" altLang="en-US" dirty="0"/>
              <a:t>先頭に「</a:t>
            </a:r>
            <a:r>
              <a:rPr kumimoji="1" lang="en-US" altLang="ja-GB" dirty="0"/>
              <a:t>#</a:t>
            </a:r>
            <a:r>
              <a:rPr kumimoji="1" lang="ja-GB" altLang="en-US" dirty="0"/>
              <a:t>」をつけた</a:t>
            </a:r>
            <a:r>
              <a:rPr kumimoji="1" lang="en-US" altLang="ja-GB" dirty="0"/>
              <a:t>6</a:t>
            </a:r>
            <a:r>
              <a:rPr kumimoji="1" lang="ja-GB" altLang="en-US" dirty="0"/>
              <a:t>桁の</a:t>
            </a:r>
            <a:r>
              <a:rPr kumimoji="1" lang="en-US" altLang="ja-GB" dirty="0"/>
              <a:t>16</a:t>
            </a:r>
            <a:r>
              <a:rPr kumimoji="1" lang="ja-GB" altLang="en-US" dirty="0"/>
              <a:t>進数で色を表現</a:t>
            </a:r>
            <a:endParaRPr kumimoji="1" lang="en-US" altLang="ja-GB" dirty="0"/>
          </a:p>
          <a:p>
            <a:pPr lvl="2"/>
            <a:r>
              <a:rPr lang="en-US" altLang="ja-GB" dirty="0"/>
              <a:t>6</a:t>
            </a:r>
            <a:r>
              <a:rPr lang="ja-GB" altLang="en-US" dirty="0"/>
              <a:t>桁の</a:t>
            </a:r>
            <a:r>
              <a:rPr lang="en-US" altLang="ja-GB" dirty="0"/>
              <a:t>16</a:t>
            </a:r>
            <a:r>
              <a:rPr lang="ja-GB" altLang="en-US" dirty="0"/>
              <a:t>進数は，</a:t>
            </a:r>
            <a:r>
              <a:rPr lang="en-US" altLang="ja-GB" dirty="0"/>
              <a:t>24bit</a:t>
            </a:r>
            <a:r>
              <a:rPr lang="ja-GB" altLang="en-US" dirty="0"/>
              <a:t>（</a:t>
            </a:r>
            <a:r>
              <a:rPr lang="en-US" altLang="ja-GB" dirty="0"/>
              <a:t>8bit×3</a:t>
            </a:r>
            <a:r>
              <a:rPr lang="ja-GB" altLang="en-US" dirty="0"/>
              <a:t>色）の</a:t>
            </a:r>
            <a:r>
              <a:rPr lang="en-US" altLang="ja-GB" dirty="0"/>
              <a:t>2</a:t>
            </a:r>
            <a:r>
              <a:rPr lang="ja-GB" altLang="en-US" dirty="0"/>
              <a:t>進数に対応</a:t>
            </a:r>
            <a:endParaRPr lang="en-US" altLang="ja-GB" dirty="0"/>
          </a:p>
          <a:p>
            <a:pPr lvl="2"/>
            <a:r>
              <a:rPr lang="ja-GB" altLang="en-US" dirty="0"/>
              <a:t>例）</a:t>
            </a:r>
            <a:r>
              <a:rPr lang="en-US" altLang="ja-GB" dirty="0"/>
              <a:t>#1AFF31 → </a:t>
            </a:r>
            <a:r>
              <a:rPr lang="ja-GB" altLang="en-US" dirty="0"/>
              <a:t>（</a:t>
            </a:r>
            <a:r>
              <a:rPr lang="en-US" altLang="ja-GB" dirty="0"/>
              <a:t>1A</a:t>
            </a:r>
            <a:r>
              <a:rPr lang="en-US" altLang="ja-GB" baseline="-25000" dirty="0"/>
              <a:t>(16)</a:t>
            </a:r>
            <a:r>
              <a:rPr lang="ja-GB" altLang="en-US" dirty="0"/>
              <a:t>，</a:t>
            </a:r>
            <a:r>
              <a:rPr lang="en-US" altLang="ja-GB" dirty="0"/>
              <a:t>FF</a:t>
            </a:r>
            <a:r>
              <a:rPr lang="en-US" altLang="ja-GB" baseline="-25000" dirty="0"/>
              <a:t>(16)</a:t>
            </a:r>
            <a:r>
              <a:rPr lang="ja-GB" altLang="en-US" dirty="0"/>
              <a:t>，</a:t>
            </a:r>
            <a:r>
              <a:rPr lang="en-US" altLang="ja-GB" dirty="0"/>
              <a:t>31</a:t>
            </a:r>
            <a:r>
              <a:rPr lang="en-US" altLang="ja-GB" baseline="-25000" dirty="0"/>
              <a:t>(16)</a:t>
            </a:r>
            <a:r>
              <a:rPr lang="ja-GB" altLang="en-US" dirty="0"/>
              <a:t>）</a:t>
            </a:r>
            <a:r>
              <a:rPr lang="en-US" altLang="ja-GB" dirty="0"/>
              <a:t>→</a:t>
            </a:r>
            <a:r>
              <a:rPr lang="ja-GB" altLang="en-US" dirty="0"/>
              <a:t>（</a:t>
            </a:r>
            <a:r>
              <a:rPr lang="en-US" altLang="ja-GB" dirty="0"/>
              <a:t>26</a:t>
            </a:r>
            <a:r>
              <a:rPr lang="ja-GB" altLang="en-US" dirty="0"/>
              <a:t>，</a:t>
            </a:r>
            <a:r>
              <a:rPr lang="en-US" altLang="ja-GB" dirty="0"/>
              <a:t>255</a:t>
            </a:r>
            <a:r>
              <a:rPr lang="ja-GB" altLang="en-US" dirty="0"/>
              <a:t>，</a:t>
            </a:r>
            <a:r>
              <a:rPr lang="en-US" altLang="ja-GB" dirty="0"/>
              <a:t>49</a:t>
            </a:r>
            <a:r>
              <a:rPr lang="ja-GB" altLang="en-US" dirty="0"/>
              <a:t>）</a:t>
            </a:r>
            <a:endParaRPr lang="en-US" altLang="ja-GB" dirty="0"/>
          </a:p>
        </p:txBody>
      </p:sp>
      <p:pic>
        <p:nvPicPr>
          <p:cNvPr id="7" name="図 6" descr="グラフィカル ユーザー インターフェイス, アプリケーション, チャットまたはテキスト メッセージ&#10;&#10;AI 生成コンテンツは誤りを含む可能性があります。">
            <a:extLst>
              <a:ext uri="{FF2B5EF4-FFF2-40B4-BE49-F238E27FC236}">
                <a16:creationId xmlns:a16="http://schemas.microsoft.com/office/drawing/2014/main" id="{DE5334D6-1FBC-6B77-EF00-85F754CC3E14}"/>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85800" y="2948690"/>
            <a:ext cx="7772400" cy="351528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9599768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1D3B8F-38FA-1B4F-5108-A6D8CEB5BAFF}"/>
              </a:ext>
            </a:extLst>
          </p:cNvPr>
          <p:cNvSpPr>
            <a:spLocks noGrp="1"/>
          </p:cNvSpPr>
          <p:nvPr>
            <p:ph type="title"/>
          </p:nvPr>
        </p:nvSpPr>
        <p:spPr/>
        <p:txBody>
          <a:bodyPr/>
          <a:lstStyle/>
          <a:p>
            <a:r>
              <a:rPr kumimoji="1" lang="en-US" altLang="ja-GB"/>
              <a:t>16</a:t>
            </a:r>
            <a:r>
              <a:rPr kumimoji="1" lang="ja-GB" altLang="en-US"/>
              <a:t>進数の使用例：カラーコード</a:t>
            </a:r>
          </a:p>
        </p:txBody>
      </p:sp>
      <p:pic>
        <p:nvPicPr>
          <p:cNvPr id="4" name="図 3" descr="グラフィカル ユーザー インターフェイス, アプリケーション&#10;&#10;AI 生成コンテンツは誤りを含む可能性があります。">
            <a:extLst>
              <a:ext uri="{FF2B5EF4-FFF2-40B4-BE49-F238E27FC236}">
                <a16:creationId xmlns:a16="http://schemas.microsoft.com/office/drawing/2014/main" id="{F603B264-72B6-63A4-906B-3E01E9E029A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963424" y="921415"/>
            <a:ext cx="5217151" cy="5015169"/>
          </a:xfrm>
          <a:prstGeom prst="rect">
            <a:avLst/>
          </a:prstGeom>
        </p:spPr>
      </p:pic>
      <p:sp>
        <p:nvSpPr>
          <p:cNvPr id="5" name="テキスト ボックス 4">
            <a:extLst>
              <a:ext uri="{FF2B5EF4-FFF2-40B4-BE49-F238E27FC236}">
                <a16:creationId xmlns:a16="http://schemas.microsoft.com/office/drawing/2014/main" id="{9FB338A7-5C31-6CFB-1DB6-D77D1719EC62}"/>
              </a:ext>
            </a:extLst>
          </p:cNvPr>
          <p:cNvSpPr txBox="1"/>
          <p:nvPr/>
        </p:nvSpPr>
        <p:spPr>
          <a:xfrm>
            <a:off x="942833" y="5892139"/>
            <a:ext cx="7258334" cy="369332"/>
          </a:xfrm>
          <a:prstGeom prst="rect">
            <a:avLst/>
          </a:prstGeom>
          <a:noFill/>
        </p:spPr>
        <p:txBody>
          <a:bodyPr wrap="none" rtlCol="0">
            <a:spAutoFit/>
          </a:bodyPr>
          <a:lstStyle/>
          <a:p>
            <a:r>
              <a:rPr kumimoji="1" lang="en-GB" altLang="ja-GB" dirty="0">
                <a:hlinkClick r:id="rId3"/>
              </a:rPr>
              <a:t>https://claude.ai/public/artifacts/41aaac6d-a888-40be-8020-3441e40fc942</a:t>
            </a:r>
            <a:r>
              <a:rPr kumimoji="1" lang="en-GB" altLang="ja-GB" dirty="0"/>
              <a:t> </a:t>
            </a:r>
            <a:endParaRPr kumimoji="1" lang="ja-GB" altLang="en-US" dirty="0"/>
          </a:p>
        </p:txBody>
      </p:sp>
      <p:sp>
        <p:nvSpPr>
          <p:cNvPr id="3" name="テキスト ボックス 2">
            <a:extLst>
              <a:ext uri="{FF2B5EF4-FFF2-40B4-BE49-F238E27FC236}">
                <a16:creationId xmlns:a16="http://schemas.microsoft.com/office/drawing/2014/main" id="{A892E779-E0B8-2430-9B05-6BAA0D15DA21}"/>
              </a:ext>
            </a:extLst>
          </p:cNvPr>
          <p:cNvSpPr txBox="1"/>
          <p:nvPr/>
        </p:nvSpPr>
        <p:spPr>
          <a:xfrm>
            <a:off x="1363429" y="6332103"/>
            <a:ext cx="6417142" cy="369332"/>
          </a:xfrm>
          <a:prstGeom prst="rect">
            <a:avLst/>
          </a:prstGeom>
          <a:noFill/>
        </p:spPr>
        <p:txBody>
          <a:bodyPr wrap="none" rtlCol="0">
            <a:spAutoFit/>
          </a:bodyPr>
          <a:lstStyle/>
          <a:p>
            <a:pPr algn="ctr"/>
            <a:r>
              <a:rPr kumimoji="1" lang="ja-GB" altLang="en-US" dirty="0">
                <a:solidFill>
                  <a:schemeClr val="tx1">
                    <a:lumMod val="50000"/>
                    <a:lumOff val="50000"/>
                  </a:schemeClr>
                </a:solidFill>
              </a:rPr>
              <a:t>アプリに不具合や間違いがあれば講師までご連絡ください</a:t>
            </a:r>
          </a:p>
        </p:txBody>
      </p:sp>
    </p:spTree>
    <p:extLst>
      <p:ext uri="{BB962C8B-B14F-4D97-AF65-F5344CB8AC3E}">
        <p14:creationId xmlns:p14="http://schemas.microsoft.com/office/powerpoint/2010/main" val="425761553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EB161-3D29-6E5F-F591-620A455FBB4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0299AC3-55A5-9F4F-138D-A574275B86AE}"/>
              </a:ext>
            </a:extLst>
          </p:cNvPr>
          <p:cNvSpPr>
            <a:spLocks noGrp="1"/>
          </p:cNvSpPr>
          <p:nvPr>
            <p:ph type="title"/>
          </p:nvPr>
        </p:nvSpPr>
        <p:spPr/>
        <p:txBody>
          <a:bodyPr/>
          <a:lstStyle/>
          <a:p>
            <a:r>
              <a:rPr kumimoji="1" lang="ja-GB" altLang="en-US" dirty="0"/>
              <a:t>第</a:t>
            </a:r>
            <a:r>
              <a:rPr kumimoji="1" lang="en-US" altLang="ja-GB" dirty="0"/>
              <a:t>12</a:t>
            </a:r>
            <a:r>
              <a:rPr kumimoji="1" lang="ja-GB" altLang="en-US" dirty="0"/>
              <a:t>回：演習（基数と論理演算）</a:t>
            </a:r>
          </a:p>
        </p:txBody>
      </p:sp>
      <p:sp>
        <p:nvSpPr>
          <p:cNvPr id="3" name="コンテンツ プレースホルダー 2">
            <a:extLst>
              <a:ext uri="{FF2B5EF4-FFF2-40B4-BE49-F238E27FC236}">
                <a16:creationId xmlns:a16="http://schemas.microsoft.com/office/drawing/2014/main" id="{1957BC52-3827-15CE-6165-C01281127192}"/>
              </a:ext>
            </a:extLst>
          </p:cNvPr>
          <p:cNvSpPr>
            <a:spLocks noGrp="1"/>
          </p:cNvSpPr>
          <p:nvPr>
            <p:ph idx="1"/>
          </p:nvPr>
        </p:nvSpPr>
        <p:spPr/>
        <p:txBody>
          <a:bodyPr/>
          <a:lstStyle/>
          <a:p>
            <a:pPr marL="457200" indent="-457200">
              <a:buFont typeface="+mj-lt"/>
              <a:buAutoNum type="arabicPeriod"/>
            </a:pPr>
            <a:r>
              <a:rPr kumimoji="1" lang="ja-GB" altLang="en-US" dirty="0">
                <a:solidFill>
                  <a:schemeClr val="tx1">
                    <a:lumMod val="50000"/>
                    <a:lumOff val="50000"/>
                  </a:schemeClr>
                </a:solidFill>
              </a:rPr>
              <a:t>カラーコード</a:t>
            </a:r>
            <a:endParaRPr kumimoji="1" lang="en-US" altLang="ja-GB" dirty="0">
              <a:solidFill>
                <a:schemeClr val="tx1">
                  <a:lumMod val="50000"/>
                  <a:lumOff val="50000"/>
                </a:schemeClr>
              </a:solidFill>
            </a:endParaRPr>
          </a:p>
          <a:p>
            <a:pPr marL="914400" lvl="1" indent="-457200">
              <a:buFont typeface="+mj-lt"/>
              <a:buAutoNum type="arabicPeriod"/>
            </a:pPr>
            <a:endParaRPr kumimoji="1" lang="en-US" altLang="ja-GB" dirty="0"/>
          </a:p>
          <a:p>
            <a:pPr marL="457200" indent="-457200">
              <a:buFont typeface="+mj-lt"/>
              <a:buAutoNum type="arabicPeriod"/>
            </a:pPr>
            <a:r>
              <a:rPr lang="ja-GB" altLang="en-US" dirty="0"/>
              <a:t>真理値表</a:t>
            </a:r>
            <a:endParaRPr lang="en-US" altLang="ja-GB" dirty="0"/>
          </a:p>
          <a:p>
            <a:pPr marL="914400" lvl="1" indent="-457200">
              <a:buFont typeface="+mj-lt"/>
              <a:buAutoNum type="arabicPeriod"/>
            </a:pPr>
            <a:endParaRPr kumimoji="1" lang="en-US" altLang="ja-GB" dirty="0"/>
          </a:p>
          <a:p>
            <a:pPr marL="457200" indent="-457200">
              <a:buFont typeface="+mj-lt"/>
              <a:buAutoNum type="arabicPeriod"/>
            </a:pPr>
            <a:r>
              <a:rPr kumimoji="1" lang="en-US" altLang="ja-GB" dirty="0">
                <a:solidFill>
                  <a:schemeClr val="tx1">
                    <a:lumMod val="50000"/>
                    <a:lumOff val="50000"/>
                  </a:schemeClr>
                </a:solidFill>
              </a:rPr>
              <a:t>IP</a:t>
            </a:r>
            <a:r>
              <a:rPr kumimoji="1" lang="ja-GB" altLang="en-US" dirty="0">
                <a:solidFill>
                  <a:schemeClr val="tx1">
                    <a:lumMod val="50000"/>
                    <a:lumOff val="50000"/>
                  </a:schemeClr>
                </a:solidFill>
              </a:rPr>
              <a:t>アドレスとサブネットマスク</a:t>
            </a:r>
            <a:endParaRPr kumimoji="1" lang="en-US" altLang="ja-GB" dirty="0">
              <a:solidFill>
                <a:schemeClr val="tx1">
                  <a:lumMod val="50000"/>
                  <a:lumOff val="50000"/>
                </a:schemeClr>
              </a:solidFill>
            </a:endParaRPr>
          </a:p>
          <a:p>
            <a:pPr lvl="1"/>
            <a:endParaRPr kumimoji="1" lang="en-US" altLang="ja-GB" dirty="0">
              <a:solidFill>
                <a:schemeClr val="tx1">
                  <a:lumMod val="50000"/>
                  <a:lumOff val="50000"/>
                </a:schemeClr>
              </a:solidFill>
            </a:endParaRPr>
          </a:p>
          <a:p>
            <a:endParaRPr kumimoji="1" lang="ja-GB" altLang="en-US" dirty="0"/>
          </a:p>
        </p:txBody>
      </p:sp>
    </p:spTree>
    <p:extLst>
      <p:ext uri="{BB962C8B-B14F-4D97-AF65-F5344CB8AC3E}">
        <p14:creationId xmlns:p14="http://schemas.microsoft.com/office/powerpoint/2010/main" val="191500035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673C92-C882-981E-4D9C-79828AD6CEC8}"/>
              </a:ext>
            </a:extLst>
          </p:cNvPr>
          <p:cNvSpPr>
            <a:spLocks noGrp="1"/>
          </p:cNvSpPr>
          <p:nvPr>
            <p:ph type="title"/>
          </p:nvPr>
        </p:nvSpPr>
        <p:spPr/>
        <p:txBody>
          <a:bodyPr/>
          <a:lstStyle/>
          <a:p>
            <a:r>
              <a:rPr kumimoji="1" lang="ja-GB" altLang="en-US" dirty="0"/>
              <a:t>論理演算（集合演算）</a:t>
            </a:r>
          </a:p>
        </p:txBody>
      </p:sp>
      <p:sp>
        <p:nvSpPr>
          <p:cNvPr id="3" name="コンテンツ プレースホルダー 2">
            <a:extLst>
              <a:ext uri="{FF2B5EF4-FFF2-40B4-BE49-F238E27FC236}">
                <a16:creationId xmlns:a16="http://schemas.microsoft.com/office/drawing/2014/main" id="{6B80236D-2A8A-DDF6-1F25-EA6F7B1E43BC}"/>
              </a:ext>
            </a:extLst>
          </p:cNvPr>
          <p:cNvSpPr>
            <a:spLocks noGrp="1"/>
          </p:cNvSpPr>
          <p:nvPr>
            <p:ph idx="1"/>
          </p:nvPr>
        </p:nvSpPr>
        <p:spPr/>
        <p:txBody>
          <a:bodyPr/>
          <a:lstStyle/>
          <a:p>
            <a:pPr marL="0" indent="0">
              <a:buNone/>
            </a:pPr>
            <a:r>
              <a:rPr kumimoji="1" lang="en-US" altLang="ja-GB" dirty="0"/>
              <a:t>AND</a:t>
            </a:r>
            <a:r>
              <a:rPr kumimoji="1" lang="ja-GB" altLang="en-US" dirty="0"/>
              <a:t>（論理積，かつ）</a:t>
            </a:r>
            <a:endParaRPr kumimoji="1" lang="en-US" altLang="ja-GB" dirty="0"/>
          </a:p>
          <a:p>
            <a:pPr marL="457200" lvl="1" indent="0">
              <a:buNone/>
            </a:pPr>
            <a:r>
              <a:rPr lang="ja-GB" altLang="en-US" dirty="0"/>
              <a:t>どちらも真ならば真（どちらかが偽ならば偽）</a:t>
            </a:r>
            <a:endParaRPr lang="en-US" altLang="ja-GB" dirty="0"/>
          </a:p>
          <a:p>
            <a:pPr lvl="2"/>
            <a:endParaRPr kumimoji="1" lang="en-US" altLang="ja-GB" dirty="0"/>
          </a:p>
          <a:p>
            <a:pPr lvl="2"/>
            <a:endParaRPr kumimoji="1" lang="en-US" altLang="ja-GB" dirty="0"/>
          </a:p>
          <a:p>
            <a:pPr marL="0" indent="0">
              <a:buNone/>
            </a:pPr>
            <a:r>
              <a:rPr kumimoji="1" lang="en-US" altLang="ja-GB" dirty="0"/>
              <a:t>OR</a:t>
            </a:r>
            <a:r>
              <a:rPr kumimoji="1" lang="ja-GB" altLang="en-US" dirty="0"/>
              <a:t>（論理和，または）</a:t>
            </a:r>
            <a:endParaRPr kumimoji="1" lang="en-US" altLang="ja-GB" dirty="0"/>
          </a:p>
          <a:p>
            <a:pPr marL="457200" lvl="1" indent="0">
              <a:buNone/>
            </a:pPr>
            <a:r>
              <a:rPr lang="ja-GB" altLang="en-US" dirty="0"/>
              <a:t>どちらかが真であれば真（どちらも偽ならば偽）</a:t>
            </a:r>
            <a:endParaRPr lang="en-US" altLang="ja-GB" dirty="0"/>
          </a:p>
          <a:p>
            <a:pPr lvl="2"/>
            <a:endParaRPr lang="en-US" altLang="ja-GB" dirty="0"/>
          </a:p>
          <a:p>
            <a:pPr lvl="2"/>
            <a:endParaRPr lang="en-US" altLang="ja-GB" dirty="0"/>
          </a:p>
          <a:p>
            <a:pPr marL="0" indent="0">
              <a:buNone/>
            </a:pPr>
            <a:r>
              <a:rPr kumimoji="1" lang="en-US" altLang="ja-GB" dirty="0"/>
              <a:t>XOR</a:t>
            </a:r>
            <a:r>
              <a:rPr kumimoji="1" lang="ja-GB" altLang="en-US" dirty="0"/>
              <a:t>（排他的論理和）</a:t>
            </a:r>
            <a:endParaRPr kumimoji="1" lang="en-US" altLang="ja-GB" dirty="0"/>
          </a:p>
          <a:p>
            <a:pPr marL="457200" lvl="1" indent="0">
              <a:buNone/>
            </a:pPr>
            <a:r>
              <a:rPr lang="en-US" altLang="ja-GB" dirty="0"/>
              <a:t>2</a:t>
            </a:r>
            <a:r>
              <a:rPr lang="ja-GB" altLang="en-US" dirty="0"/>
              <a:t>つの真偽が異なれば真（どちらも真</a:t>
            </a:r>
            <a:r>
              <a:rPr lang="en-US" altLang="ja-GB" dirty="0"/>
              <a:t> or </a:t>
            </a:r>
            <a:r>
              <a:rPr lang="ja-GB" altLang="en-US" dirty="0"/>
              <a:t>どちらも偽なら偽）</a:t>
            </a:r>
            <a:endParaRPr lang="en-US" altLang="ja-GB" dirty="0"/>
          </a:p>
          <a:p>
            <a:pPr marL="914400" lvl="2" indent="0">
              <a:buNone/>
            </a:pPr>
            <a:r>
              <a:rPr kumimoji="1" lang="ja-GB" altLang="en-US" dirty="0">
                <a:solidFill>
                  <a:schemeClr val="tx1">
                    <a:lumMod val="50000"/>
                    <a:lumOff val="50000"/>
                  </a:schemeClr>
                </a:solidFill>
              </a:rPr>
              <a:t>例</a:t>
            </a:r>
            <a:r>
              <a:rPr kumimoji="1" lang="en-US" altLang="ja-GB" dirty="0">
                <a:solidFill>
                  <a:schemeClr val="tx1">
                    <a:lumMod val="50000"/>
                    <a:lumOff val="50000"/>
                  </a:schemeClr>
                </a:solidFill>
              </a:rPr>
              <a:t>: </a:t>
            </a:r>
            <a:r>
              <a:rPr lang="en-US" altLang="ja-GB" dirty="0">
                <a:solidFill>
                  <a:schemeClr val="tx1">
                    <a:lumMod val="50000"/>
                    <a:lumOff val="50000"/>
                  </a:schemeClr>
                </a:solidFill>
              </a:rPr>
              <a:t>2</a:t>
            </a:r>
            <a:r>
              <a:rPr lang="ja-GB" altLang="en-US" dirty="0">
                <a:solidFill>
                  <a:schemeClr val="tx1">
                    <a:lumMod val="50000"/>
                    <a:lumOff val="50000"/>
                  </a:schemeClr>
                </a:solidFill>
              </a:rPr>
              <a:t>つスイッチのある部屋</a:t>
            </a:r>
            <a:endParaRPr kumimoji="1" lang="en-US" altLang="ja-GB" dirty="0">
              <a:solidFill>
                <a:schemeClr val="tx1">
                  <a:lumMod val="50000"/>
                  <a:lumOff val="50000"/>
                </a:schemeClr>
              </a:solidFill>
            </a:endParaRPr>
          </a:p>
          <a:p>
            <a:pPr lvl="2"/>
            <a:endParaRPr kumimoji="1" lang="en-US" altLang="ja-GB" dirty="0"/>
          </a:p>
          <a:p>
            <a:pPr marL="0" indent="0">
              <a:buNone/>
            </a:pPr>
            <a:r>
              <a:rPr lang="en-US" altLang="ja-GB" dirty="0"/>
              <a:t>NOT</a:t>
            </a:r>
            <a:r>
              <a:rPr lang="ja-GB" altLang="en-US" dirty="0"/>
              <a:t>（否定）</a:t>
            </a:r>
            <a:endParaRPr lang="en-US" altLang="ja-GB" dirty="0"/>
          </a:p>
          <a:p>
            <a:pPr marL="457200" lvl="1" indent="0">
              <a:buNone/>
            </a:pPr>
            <a:r>
              <a:rPr lang="ja-GB" altLang="en-US" dirty="0"/>
              <a:t>真は偽に，偽は真に反転させる演算</a:t>
            </a:r>
            <a:endParaRPr lang="en-US" altLang="ja-GB" dirty="0"/>
          </a:p>
          <a:p>
            <a:pPr lvl="1"/>
            <a:endParaRPr kumimoji="1" lang="en-US" altLang="ja-GB" dirty="0"/>
          </a:p>
          <a:p>
            <a:endParaRPr kumimoji="1" lang="ja-GB" altLang="en-US" dirty="0"/>
          </a:p>
        </p:txBody>
      </p:sp>
      <p:sp>
        <p:nvSpPr>
          <p:cNvPr id="25" name="正方形/長方形 24">
            <a:extLst>
              <a:ext uri="{FF2B5EF4-FFF2-40B4-BE49-F238E27FC236}">
                <a16:creationId xmlns:a16="http://schemas.microsoft.com/office/drawing/2014/main" id="{D526CDE9-D624-3A75-2544-80E28142200B}"/>
              </a:ext>
            </a:extLst>
          </p:cNvPr>
          <p:cNvSpPr/>
          <p:nvPr/>
        </p:nvSpPr>
        <p:spPr>
          <a:xfrm>
            <a:off x="3714162" y="1574276"/>
            <a:ext cx="1564848" cy="1027522"/>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1" name="フリーフォーム 20">
            <a:extLst>
              <a:ext uri="{FF2B5EF4-FFF2-40B4-BE49-F238E27FC236}">
                <a16:creationId xmlns:a16="http://schemas.microsoft.com/office/drawing/2014/main" id="{FAFF0A37-6516-BB01-CAA1-C5F6F93BA2BE}"/>
              </a:ext>
            </a:extLst>
          </p:cNvPr>
          <p:cNvSpPr>
            <a:spLocks noChangeAspect="1"/>
          </p:cNvSpPr>
          <p:nvPr/>
        </p:nvSpPr>
        <p:spPr>
          <a:xfrm>
            <a:off x="4293912" y="1733039"/>
            <a:ext cx="419493" cy="722618"/>
          </a:xfrm>
          <a:custGeom>
            <a:avLst/>
            <a:gdLst>
              <a:gd name="connsiteX0" fmla="*/ 209747 w 419493"/>
              <a:gd name="connsiteY0" fmla="*/ 0 h 722618"/>
              <a:gd name="connsiteX1" fmla="*/ 234543 w 419493"/>
              <a:gd name="connsiteY1" fmla="*/ 13459 h 722618"/>
              <a:gd name="connsiteX2" fmla="*/ 419493 w 419493"/>
              <a:gd name="connsiteY2" fmla="*/ 361309 h 722618"/>
              <a:gd name="connsiteX3" fmla="*/ 234543 w 419493"/>
              <a:gd name="connsiteY3" fmla="*/ 709159 h 722618"/>
              <a:gd name="connsiteX4" fmla="*/ 209747 w 419493"/>
              <a:gd name="connsiteY4" fmla="*/ 722618 h 722618"/>
              <a:gd name="connsiteX5" fmla="*/ 184950 w 419493"/>
              <a:gd name="connsiteY5" fmla="*/ 709159 h 722618"/>
              <a:gd name="connsiteX6" fmla="*/ 0 w 419493"/>
              <a:gd name="connsiteY6" fmla="*/ 361309 h 722618"/>
              <a:gd name="connsiteX7" fmla="*/ 184950 w 419493"/>
              <a:gd name="connsiteY7" fmla="*/ 13459 h 722618"/>
              <a:gd name="connsiteX8" fmla="*/ 209747 w 419493"/>
              <a:gd name="connsiteY8" fmla="*/ 0 h 72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9493" h="722618">
                <a:moveTo>
                  <a:pt x="209747" y="0"/>
                </a:moveTo>
                <a:lnTo>
                  <a:pt x="234543" y="13459"/>
                </a:lnTo>
                <a:cubicBezTo>
                  <a:pt x="346129" y="88845"/>
                  <a:pt x="419493" y="216509"/>
                  <a:pt x="419493" y="361309"/>
                </a:cubicBezTo>
                <a:cubicBezTo>
                  <a:pt x="419493" y="506109"/>
                  <a:pt x="346129" y="633774"/>
                  <a:pt x="234543" y="709159"/>
                </a:cubicBezTo>
                <a:lnTo>
                  <a:pt x="209747" y="722618"/>
                </a:lnTo>
                <a:lnTo>
                  <a:pt x="184950" y="709159"/>
                </a:lnTo>
                <a:cubicBezTo>
                  <a:pt x="73365" y="633774"/>
                  <a:pt x="0" y="506109"/>
                  <a:pt x="0" y="361309"/>
                </a:cubicBezTo>
                <a:cubicBezTo>
                  <a:pt x="0" y="216509"/>
                  <a:pt x="73365" y="88845"/>
                  <a:pt x="184950" y="13459"/>
                </a:cubicBezTo>
                <a:lnTo>
                  <a:pt x="209747" y="0"/>
                </a:lnTo>
                <a:close/>
              </a:path>
            </a:pathLst>
          </a:custGeom>
          <a:solidFill>
            <a:srgbClr val="0070C0"/>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GB" altLang="en-US"/>
          </a:p>
        </p:txBody>
      </p:sp>
      <p:sp>
        <p:nvSpPr>
          <p:cNvPr id="20" name="フリーフォーム 19">
            <a:extLst>
              <a:ext uri="{FF2B5EF4-FFF2-40B4-BE49-F238E27FC236}">
                <a16:creationId xmlns:a16="http://schemas.microsoft.com/office/drawing/2014/main" id="{2A0D4631-3925-0562-371D-9BEA89DBAE45}"/>
              </a:ext>
            </a:extLst>
          </p:cNvPr>
          <p:cNvSpPr>
            <a:spLocks noChangeAspect="1"/>
          </p:cNvSpPr>
          <p:nvPr/>
        </p:nvSpPr>
        <p:spPr>
          <a:xfrm>
            <a:off x="3874418" y="1674855"/>
            <a:ext cx="629240" cy="838986"/>
          </a:xfrm>
          <a:custGeom>
            <a:avLst/>
            <a:gdLst>
              <a:gd name="connsiteX0" fmla="*/ 419493 w 629240"/>
              <a:gd name="connsiteY0" fmla="*/ 0 h 838986"/>
              <a:gd name="connsiteX1" fmla="*/ 582779 w 629240"/>
              <a:gd name="connsiteY1" fmla="*/ 32966 h 838986"/>
              <a:gd name="connsiteX2" fmla="*/ 629240 w 629240"/>
              <a:gd name="connsiteY2" fmla="*/ 58184 h 838986"/>
              <a:gd name="connsiteX3" fmla="*/ 604443 w 629240"/>
              <a:gd name="connsiteY3" fmla="*/ 71643 h 838986"/>
              <a:gd name="connsiteX4" fmla="*/ 419493 w 629240"/>
              <a:gd name="connsiteY4" fmla="*/ 419493 h 838986"/>
              <a:gd name="connsiteX5" fmla="*/ 604443 w 629240"/>
              <a:gd name="connsiteY5" fmla="*/ 767343 h 838986"/>
              <a:gd name="connsiteX6" fmla="*/ 629240 w 629240"/>
              <a:gd name="connsiteY6" fmla="*/ 780802 h 838986"/>
              <a:gd name="connsiteX7" fmla="*/ 582779 w 629240"/>
              <a:gd name="connsiteY7" fmla="*/ 806020 h 838986"/>
              <a:gd name="connsiteX8" fmla="*/ 419493 w 629240"/>
              <a:gd name="connsiteY8" fmla="*/ 838986 h 838986"/>
              <a:gd name="connsiteX9" fmla="*/ 0 w 629240"/>
              <a:gd name="connsiteY9" fmla="*/ 419493 h 838986"/>
              <a:gd name="connsiteX10" fmla="*/ 419493 w 629240"/>
              <a:gd name="connsiteY10" fmla="*/ 0 h 8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240" h="838986">
                <a:moveTo>
                  <a:pt x="419493" y="0"/>
                </a:moveTo>
                <a:cubicBezTo>
                  <a:pt x="477413" y="0"/>
                  <a:pt x="532591" y="11738"/>
                  <a:pt x="582779" y="32966"/>
                </a:cubicBezTo>
                <a:lnTo>
                  <a:pt x="629240" y="58184"/>
                </a:lnTo>
                <a:lnTo>
                  <a:pt x="604443" y="71643"/>
                </a:lnTo>
                <a:cubicBezTo>
                  <a:pt x="492858" y="147029"/>
                  <a:pt x="419493" y="274693"/>
                  <a:pt x="419493" y="419493"/>
                </a:cubicBezTo>
                <a:cubicBezTo>
                  <a:pt x="419493" y="564293"/>
                  <a:pt x="492858" y="691958"/>
                  <a:pt x="604443" y="767343"/>
                </a:cubicBezTo>
                <a:lnTo>
                  <a:pt x="629240" y="780802"/>
                </a:lnTo>
                <a:lnTo>
                  <a:pt x="582779" y="806020"/>
                </a:lnTo>
                <a:cubicBezTo>
                  <a:pt x="532591" y="827248"/>
                  <a:pt x="477413" y="838986"/>
                  <a:pt x="419493" y="838986"/>
                </a:cubicBezTo>
                <a:cubicBezTo>
                  <a:pt x="187813" y="838986"/>
                  <a:pt x="0" y="651173"/>
                  <a:pt x="0" y="419493"/>
                </a:cubicBezTo>
                <a:cubicBezTo>
                  <a:pt x="0" y="187813"/>
                  <a:pt x="187813" y="0"/>
                  <a:pt x="419493" y="0"/>
                </a:cubicBezTo>
                <a:close/>
              </a:path>
            </a:pathLst>
          </a:cu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kumimoji="1" lang="en-US" altLang="ja-GB" dirty="0">
                <a:solidFill>
                  <a:srgbClr val="2F2523"/>
                </a:solidFill>
              </a:rPr>
              <a:t>A</a:t>
            </a:r>
            <a:endParaRPr kumimoji="1" lang="ja-GB" altLang="en-US" dirty="0">
              <a:solidFill>
                <a:srgbClr val="2F2523"/>
              </a:solidFill>
            </a:endParaRPr>
          </a:p>
        </p:txBody>
      </p:sp>
      <p:sp>
        <p:nvSpPr>
          <p:cNvPr id="19" name="フリーフォーム 18">
            <a:extLst>
              <a:ext uri="{FF2B5EF4-FFF2-40B4-BE49-F238E27FC236}">
                <a16:creationId xmlns:a16="http://schemas.microsoft.com/office/drawing/2014/main" id="{0D316798-3518-AFAF-C65C-A02E01E9260C}"/>
              </a:ext>
            </a:extLst>
          </p:cNvPr>
          <p:cNvSpPr>
            <a:spLocks noChangeAspect="1"/>
          </p:cNvSpPr>
          <p:nvPr/>
        </p:nvSpPr>
        <p:spPr>
          <a:xfrm>
            <a:off x="4503659" y="1674855"/>
            <a:ext cx="629239" cy="838986"/>
          </a:xfrm>
          <a:custGeom>
            <a:avLst/>
            <a:gdLst>
              <a:gd name="connsiteX0" fmla="*/ 209746 w 629239"/>
              <a:gd name="connsiteY0" fmla="*/ 0 h 838986"/>
              <a:gd name="connsiteX1" fmla="*/ 629239 w 629239"/>
              <a:gd name="connsiteY1" fmla="*/ 419493 h 838986"/>
              <a:gd name="connsiteX2" fmla="*/ 209746 w 629239"/>
              <a:gd name="connsiteY2" fmla="*/ 838986 h 838986"/>
              <a:gd name="connsiteX3" fmla="*/ 46460 w 629239"/>
              <a:gd name="connsiteY3" fmla="*/ 806020 h 838986"/>
              <a:gd name="connsiteX4" fmla="*/ 0 w 629239"/>
              <a:gd name="connsiteY4" fmla="*/ 780802 h 838986"/>
              <a:gd name="connsiteX5" fmla="*/ 24796 w 629239"/>
              <a:gd name="connsiteY5" fmla="*/ 767343 h 838986"/>
              <a:gd name="connsiteX6" fmla="*/ 209746 w 629239"/>
              <a:gd name="connsiteY6" fmla="*/ 419493 h 838986"/>
              <a:gd name="connsiteX7" fmla="*/ 24796 w 629239"/>
              <a:gd name="connsiteY7" fmla="*/ 71643 h 838986"/>
              <a:gd name="connsiteX8" fmla="*/ 0 w 629239"/>
              <a:gd name="connsiteY8" fmla="*/ 58184 h 838986"/>
              <a:gd name="connsiteX9" fmla="*/ 46460 w 629239"/>
              <a:gd name="connsiteY9" fmla="*/ 32966 h 838986"/>
              <a:gd name="connsiteX10" fmla="*/ 209746 w 629239"/>
              <a:gd name="connsiteY10" fmla="*/ 0 h 8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239" h="838986">
                <a:moveTo>
                  <a:pt x="209746" y="0"/>
                </a:moveTo>
                <a:cubicBezTo>
                  <a:pt x="441426" y="0"/>
                  <a:pt x="629239" y="187813"/>
                  <a:pt x="629239" y="419493"/>
                </a:cubicBezTo>
                <a:cubicBezTo>
                  <a:pt x="629239" y="651173"/>
                  <a:pt x="441426" y="838986"/>
                  <a:pt x="209746" y="838986"/>
                </a:cubicBezTo>
                <a:cubicBezTo>
                  <a:pt x="151826" y="838986"/>
                  <a:pt x="96648" y="827248"/>
                  <a:pt x="46460" y="806020"/>
                </a:cubicBezTo>
                <a:lnTo>
                  <a:pt x="0" y="780802"/>
                </a:lnTo>
                <a:lnTo>
                  <a:pt x="24796" y="767343"/>
                </a:lnTo>
                <a:cubicBezTo>
                  <a:pt x="136382" y="691958"/>
                  <a:pt x="209746" y="564293"/>
                  <a:pt x="209746" y="419493"/>
                </a:cubicBezTo>
                <a:cubicBezTo>
                  <a:pt x="209746" y="274693"/>
                  <a:pt x="136382" y="147029"/>
                  <a:pt x="24796" y="71643"/>
                </a:cubicBezTo>
                <a:lnTo>
                  <a:pt x="0" y="58184"/>
                </a:lnTo>
                <a:lnTo>
                  <a:pt x="46460" y="32966"/>
                </a:lnTo>
                <a:cubicBezTo>
                  <a:pt x="96648" y="11738"/>
                  <a:pt x="151826" y="0"/>
                  <a:pt x="209746" y="0"/>
                </a:cubicBezTo>
                <a:close/>
              </a:path>
            </a:pathLst>
          </a:cu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kumimoji="1" lang="en-US" altLang="ja-GB" dirty="0">
                <a:solidFill>
                  <a:srgbClr val="2F2523"/>
                </a:solidFill>
              </a:rPr>
              <a:t>B</a:t>
            </a:r>
            <a:endParaRPr kumimoji="1" lang="ja-GB" altLang="en-US" dirty="0">
              <a:solidFill>
                <a:srgbClr val="2F2523"/>
              </a:solidFill>
            </a:endParaRPr>
          </a:p>
        </p:txBody>
      </p:sp>
      <p:sp>
        <p:nvSpPr>
          <p:cNvPr id="26" name="正方形/長方形 25">
            <a:extLst>
              <a:ext uri="{FF2B5EF4-FFF2-40B4-BE49-F238E27FC236}">
                <a16:creationId xmlns:a16="http://schemas.microsoft.com/office/drawing/2014/main" id="{BFA6F4FC-A075-2F72-9F7B-61FFCE8776FC}"/>
              </a:ext>
            </a:extLst>
          </p:cNvPr>
          <p:cNvSpPr/>
          <p:nvPr/>
        </p:nvSpPr>
        <p:spPr>
          <a:xfrm>
            <a:off x="3714162" y="3008719"/>
            <a:ext cx="1564848" cy="1027522"/>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7" name="フリーフォーム 26">
            <a:extLst>
              <a:ext uri="{FF2B5EF4-FFF2-40B4-BE49-F238E27FC236}">
                <a16:creationId xmlns:a16="http://schemas.microsoft.com/office/drawing/2014/main" id="{9C7C47DD-82D0-FE3B-A7DC-12A002BE24D2}"/>
              </a:ext>
            </a:extLst>
          </p:cNvPr>
          <p:cNvSpPr>
            <a:spLocks noChangeAspect="1"/>
          </p:cNvSpPr>
          <p:nvPr/>
        </p:nvSpPr>
        <p:spPr>
          <a:xfrm>
            <a:off x="4293912" y="3167482"/>
            <a:ext cx="419493" cy="722618"/>
          </a:xfrm>
          <a:custGeom>
            <a:avLst/>
            <a:gdLst>
              <a:gd name="connsiteX0" fmla="*/ 209747 w 419493"/>
              <a:gd name="connsiteY0" fmla="*/ 0 h 722618"/>
              <a:gd name="connsiteX1" fmla="*/ 234543 w 419493"/>
              <a:gd name="connsiteY1" fmla="*/ 13459 h 722618"/>
              <a:gd name="connsiteX2" fmla="*/ 419493 w 419493"/>
              <a:gd name="connsiteY2" fmla="*/ 361309 h 722618"/>
              <a:gd name="connsiteX3" fmla="*/ 234543 w 419493"/>
              <a:gd name="connsiteY3" fmla="*/ 709159 h 722618"/>
              <a:gd name="connsiteX4" fmla="*/ 209747 w 419493"/>
              <a:gd name="connsiteY4" fmla="*/ 722618 h 722618"/>
              <a:gd name="connsiteX5" fmla="*/ 184950 w 419493"/>
              <a:gd name="connsiteY5" fmla="*/ 709159 h 722618"/>
              <a:gd name="connsiteX6" fmla="*/ 0 w 419493"/>
              <a:gd name="connsiteY6" fmla="*/ 361309 h 722618"/>
              <a:gd name="connsiteX7" fmla="*/ 184950 w 419493"/>
              <a:gd name="connsiteY7" fmla="*/ 13459 h 722618"/>
              <a:gd name="connsiteX8" fmla="*/ 209747 w 419493"/>
              <a:gd name="connsiteY8" fmla="*/ 0 h 72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9493" h="722618">
                <a:moveTo>
                  <a:pt x="209747" y="0"/>
                </a:moveTo>
                <a:lnTo>
                  <a:pt x="234543" y="13459"/>
                </a:lnTo>
                <a:cubicBezTo>
                  <a:pt x="346129" y="88845"/>
                  <a:pt x="419493" y="216509"/>
                  <a:pt x="419493" y="361309"/>
                </a:cubicBezTo>
                <a:cubicBezTo>
                  <a:pt x="419493" y="506109"/>
                  <a:pt x="346129" y="633774"/>
                  <a:pt x="234543" y="709159"/>
                </a:cubicBezTo>
                <a:lnTo>
                  <a:pt x="209747" y="722618"/>
                </a:lnTo>
                <a:lnTo>
                  <a:pt x="184950" y="709159"/>
                </a:lnTo>
                <a:cubicBezTo>
                  <a:pt x="73365" y="633774"/>
                  <a:pt x="0" y="506109"/>
                  <a:pt x="0" y="361309"/>
                </a:cubicBezTo>
                <a:cubicBezTo>
                  <a:pt x="0" y="216509"/>
                  <a:pt x="73365" y="88845"/>
                  <a:pt x="184950" y="13459"/>
                </a:cubicBezTo>
                <a:lnTo>
                  <a:pt x="209747" y="0"/>
                </a:lnTo>
                <a:close/>
              </a:path>
            </a:pathLst>
          </a:custGeom>
          <a:solidFill>
            <a:srgbClr val="0070C0"/>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GB" altLang="en-US"/>
          </a:p>
        </p:txBody>
      </p:sp>
      <p:sp>
        <p:nvSpPr>
          <p:cNvPr id="28" name="フリーフォーム 27">
            <a:extLst>
              <a:ext uri="{FF2B5EF4-FFF2-40B4-BE49-F238E27FC236}">
                <a16:creationId xmlns:a16="http://schemas.microsoft.com/office/drawing/2014/main" id="{999F9ED1-B8ED-EB78-AF61-7E6B49BDDD0B}"/>
              </a:ext>
            </a:extLst>
          </p:cNvPr>
          <p:cNvSpPr>
            <a:spLocks noChangeAspect="1"/>
          </p:cNvSpPr>
          <p:nvPr/>
        </p:nvSpPr>
        <p:spPr>
          <a:xfrm>
            <a:off x="3874418" y="3109298"/>
            <a:ext cx="629240" cy="838986"/>
          </a:xfrm>
          <a:custGeom>
            <a:avLst/>
            <a:gdLst>
              <a:gd name="connsiteX0" fmla="*/ 419493 w 629240"/>
              <a:gd name="connsiteY0" fmla="*/ 0 h 838986"/>
              <a:gd name="connsiteX1" fmla="*/ 582779 w 629240"/>
              <a:gd name="connsiteY1" fmla="*/ 32966 h 838986"/>
              <a:gd name="connsiteX2" fmla="*/ 629240 w 629240"/>
              <a:gd name="connsiteY2" fmla="*/ 58184 h 838986"/>
              <a:gd name="connsiteX3" fmla="*/ 604443 w 629240"/>
              <a:gd name="connsiteY3" fmla="*/ 71643 h 838986"/>
              <a:gd name="connsiteX4" fmla="*/ 419493 w 629240"/>
              <a:gd name="connsiteY4" fmla="*/ 419493 h 838986"/>
              <a:gd name="connsiteX5" fmla="*/ 604443 w 629240"/>
              <a:gd name="connsiteY5" fmla="*/ 767343 h 838986"/>
              <a:gd name="connsiteX6" fmla="*/ 629240 w 629240"/>
              <a:gd name="connsiteY6" fmla="*/ 780802 h 838986"/>
              <a:gd name="connsiteX7" fmla="*/ 582779 w 629240"/>
              <a:gd name="connsiteY7" fmla="*/ 806020 h 838986"/>
              <a:gd name="connsiteX8" fmla="*/ 419493 w 629240"/>
              <a:gd name="connsiteY8" fmla="*/ 838986 h 838986"/>
              <a:gd name="connsiteX9" fmla="*/ 0 w 629240"/>
              <a:gd name="connsiteY9" fmla="*/ 419493 h 838986"/>
              <a:gd name="connsiteX10" fmla="*/ 419493 w 629240"/>
              <a:gd name="connsiteY10" fmla="*/ 0 h 8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240" h="838986">
                <a:moveTo>
                  <a:pt x="419493" y="0"/>
                </a:moveTo>
                <a:cubicBezTo>
                  <a:pt x="477413" y="0"/>
                  <a:pt x="532591" y="11738"/>
                  <a:pt x="582779" y="32966"/>
                </a:cubicBezTo>
                <a:lnTo>
                  <a:pt x="629240" y="58184"/>
                </a:lnTo>
                <a:lnTo>
                  <a:pt x="604443" y="71643"/>
                </a:lnTo>
                <a:cubicBezTo>
                  <a:pt x="492858" y="147029"/>
                  <a:pt x="419493" y="274693"/>
                  <a:pt x="419493" y="419493"/>
                </a:cubicBezTo>
                <a:cubicBezTo>
                  <a:pt x="419493" y="564293"/>
                  <a:pt x="492858" y="691958"/>
                  <a:pt x="604443" y="767343"/>
                </a:cubicBezTo>
                <a:lnTo>
                  <a:pt x="629240" y="780802"/>
                </a:lnTo>
                <a:lnTo>
                  <a:pt x="582779" y="806020"/>
                </a:lnTo>
                <a:cubicBezTo>
                  <a:pt x="532591" y="827248"/>
                  <a:pt x="477413" y="838986"/>
                  <a:pt x="419493" y="838986"/>
                </a:cubicBezTo>
                <a:cubicBezTo>
                  <a:pt x="187813" y="838986"/>
                  <a:pt x="0" y="651173"/>
                  <a:pt x="0" y="419493"/>
                </a:cubicBezTo>
                <a:cubicBezTo>
                  <a:pt x="0" y="187813"/>
                  <a:pt x="187813" y="0"/>
                  <a:pt x="419493" y="0"/>
                </a:cubicBezTo>
                <a:close/>
              </a:path>
            </a:pathLst>
          </a:cu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kumimoji="1" lang="en-US" altLang="ja-GB" dirty="0"/>
              <a:t>A</a:t>
            </a:r>
            <a:endParaRPr kumimoji="1" lang="ja-GB" altLang="en-US" dirty="0"/>
          </a:p>
        </p:txBody>
      </p:sp>
      <p:sp>
        <p:nvSpPr>
          <p:cNvPr id="29" name="フリーフォーム 28">
            <a:extLst>
              <a:ext uri="{FF2B5EF4-FFF2-40B4-BE49-F238E27FC236}">
                <a16:creationId xmlns:a16="http://schemas.microsoft.com/office/drawing/2014/main" id="{9F77605E-E9C1-4E02-B14D-07F2F22F716C}"/>
              </a:ext>
            </a:extLst>
          </p:cNvPr>
          <p:cNvSpPr>
            <a:spLocks noChangeAspect="1"/>
          </p:cNvSpPr>
          <p:nvPr/>
        </p:nvSpPr>
        <p:spPr>
          <a:xfrm>
            <a:off x="4503659" y="3109298"/>
            <a:ext cx="629239" cy="838986"/>
          </a:xfrm>
          <a:custGeom>
            <a:avLst/>
            <a:gdLst>
              <a:gd name="connsiteX0" fmla="*/ 209746 w 629239"/>
              <a:gd name="connsiteY0" fmla="*/ 0 h 838986"/>
              <a:gd name="connsiteX1" fmla="*/ 629239 w 629239"/>
              <a:gd name="connsiteY1" fmla="*/ 419493 h 838986"/>
              <a:gd name="connsiteX2" fmla="*/ 209746 w 629239"/>
              <a:gd name="connsiteY2" fmla="*/ 838986 h 838986"/>
              <a:gd name="connsiteX3" fmla="*/ 46460 w 629239"/>
              <a:gd name="connsiteY3" fmla="*/ 806020 h 838986"/>
              <a:gd name="connsiteX4" fmla="*/ 0 w 629239"/>
              <a:gd name="connsiteY4" fmla="*/ 780802 h 838986"/>
              <a:gd name="connsiteX5" fmla="*/ 24796 w 629239"/>
              <a:gd name="connsiteY5" fmla="*/ 767343 h 838986"/>
              <a:gd name="connsiteX6" fmla="*/ 209746 w 629239"/>
              <a:gd name="connsiteY6" fmla="*/ 419493 h 838986"/>
              <a:gd name="connsiteX7" fmla="*/ 24796 w 629239"/>
              <a:gd name="connsiteY7" fmla="*/ 71643 h 838986"/>
              <a:gd name="connsiteX8" fmla="*/ 0 w 629239"/>
              <a:gd name="connsiteY8" fmla="*/ 58184 h 838986"/>
              <a:gd name="connsiteX9" fmla="*/ 46460 w 629239"/>
              <a:gd name="connsiteY9" fmla="*/ 32966 h 838986"/>
              <a:gd name="connsiteX10" fmla="*/ 209746 w 629239"/>
              <a:gd name="connsiteY10" fmla="*/ 0 h 8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239" h="838986">
                <a:moveTo>
                  <a:pt x="209746" y="0"/>
                </a:moveTo>
                <a:cubicBezTo>
                  <a:pt x="441426" y="0"/>
                  <a:pt x="629239" y="187813"/>
                  <a:pt x="629239" y="419493"/>
                </a:cubicBezTo>
                <a:cubicBezTo>
                  <a:pt x="629239" y="651173"/>
                  <a:pt x="441426" y="838986"/>
                  <a:pt x="209746" y="838986"/>
                </a:cubicBezTo>
                <a:cubicBezTo>
                  <a:pt x="151826" y="838986"/>
                  <a:pt x="96648" y="827248"/>
                  <a:pt x="46460" y="806020"/>
                </a:cubicBezTo>
                <a:lnTo>
                  <a:pt x="0" y="780802"/>
                </a:lnTo>
                <a:lnTo>
                  <a:pt x="24796" y="767343"/>
                </a:lnTo>
                <a:cubicBezTo>
                  <a:pt x="136382" y="691958"/>
                  <a:pt x="209746" y="564293"/>
                  <a:pt x="209746" y="419493"/>
                </a:cubicBezTo>
                <a:cubicBezTo>
                  <a:pt x="209746" y="274693"/>
                  <a:pt x="136382" y="147029"/>
                  <a:pt x="24796" y="71643"/>
                </a:cubicBezTo>
                <a:lnTo>
                  <a:pt x="0" y="58184"/>
                </a:lnTo>
                <a:lnTo>
                  <a:pt x="46460" y="32966"/>
                </a:lnTo>
                <a:cubicBezTo>
                  <a:pt x="96648" y="11738"/>
                  <a:pt x="151826" y="0"/>
                  <a:pt x="209746" y="0"/>
                </a:cubicBezTo>
                <a:close/>
              </a:path>
            </a:pathLst>
          </a:cu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kumimoji="1" lang="en-US" altLang="ja-GB" dirty="0"/>
              <a:t>B</a:t>
            </a:r>
            <a:endParaRPr kumimoji="1" lang="ja-GB" altLang="en-US" dirty="0"/>
          </a:p>
        </p:txBody>
      </p:sp>
      <p:sp>
        <p:nvSpPr>
          <p:cNvPr id="30" name="正方形/長方形 29">
            <a:extLst>
              <a:ext uri="{FF2B5EF4-FFF2-40B4-BE49-F238E27FC236}">
                <a16:creationId xmlns:a16="http://schemas.microsoft.com/office/drawing/2014/main" id="{0B1BF2C1-40C3-49D0-6C2E-1E8DB2A16E75}"/>
              </a:ext>
            </a:extLst>
          </p:cNvPr>
          <p:cNvSpPr/>
          <p:nvPr/>
        </p:nvSpPr>
        <p:spPr>
          <a:xfrm>
            <a:off x="3714162" y="4443164"/>
            <a:ext cx="1564848" cy="1027522"/>
          </a:xfrm>
          <a:prstGeom prst="rect">
            <a:avLst/>
          </a:prstGeom>
          <a:solidFill>
            <a:schemeClr val="bg1">
              <a:lumMod val="95000"/>
            </a:schemeClr>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1" name="フリーフォーム 30">
            <a:extLst>
              <a:ext uri="{FF2B5EF4-FFF2-40B4-BE49-F238E27FC236}">
                <a16:creationId xmlns:a16="http://schemas.microsoft.com/office/drawing/2014/main" id="{3F0696F2-5A5B-E1C4-42FA-6BAE8D23C07C}"/>
              </a:ext>
            </a:extLst>
          </p:cNvPr>
          <p:cNvSpPr>
            <a:spLocks noChangeAspect="1"/>
          </p:cNvSpPr>
          <p:nvPr/>
        </p:nvSpPr>
        <p:spPr>
          <a:xfrm>
            <a:off x="4293912" y="4601927"/>
            <a:ext cx="419493" cy="722618"/>
          </a:xfrm>
          <a:custGeom>
            <a:avLst/>
            <a:gdLst>
              <a:gd name="connsiteX0" fmla="*/ 209747 w 419493"/>
              <a:gd name="connsiteY0" fmla="*/ 0 h 722618"/>
              <a:gd name="connsiteX1" fmla="*/ 234543 w 419493"/>
              <a:gd name="connsiteY1" fmla="*/ 13459 h 722618"/>
              <a:gd name="connsiteX2" fmla="*/ 419493 w 419493"/>
              <a:gd name="connsiteY2" fmla="*/ 361309 h 722618"/>
              <a:gd name="connsiteX3" fmla="*/ 234543 w 419493"/>
              <a:gd name="connsiteY3" fmla="*/ 709159 h 722618"/>
              <a:gd name="connsiteX4" fmla="*/ 209747 w 419493"/>
              <a:gd name="connsiteY4" fmla="*/ 722618 h 722618"/>
              <a:gd name="connsiteX5" fmla="*/ 184950 w 419493"/>
              <a:gd name="connsiteY5" fmla="*/ 709159 h 722618"/>
              <a:gd name="connsiteX6" fmla="*/ 0 w 419493"/>
              <a:gd name="connsiteY6" fmla="*/ 361309 h 722618"/>
              <a:gd name="connsiteX7" fmla="*/ 184950 w 419493"/>
              <a:gd name="connsiteY7" fmla="*/ 13459 h 722618"/>
              <a:gd name="connsiteX8" fmla="*/ 209747 w 419493"/>
              <a:gd name="connsiteY8" fmla="*/ 0 h 72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9493" h="722618">
                <a:moveTo>
                  <a:pt x="209747" y="0"/>
                </a:moveTo>
                <a:lnTo>
                  <a:pt x="234543" y="13459"/>
                </a:lnTo>
                <a:cubicBezTo>
                  <a:pt x="346129" y="88845"/>
                  <a:pt x="419493" y="216509"/>
                  <a:pt x="419493" y="361309"/>
                </a:cubicBezTo>
                <a:cubicBezTo>
                  <a:pt x="419493" y="506109"/>
                  <a:pt x="346129" y="633774"/>
                  <a:pt x="234543" y="709159"/>
                </a:cubicBezTo>
                <a:lnTo>
                  <a:pt x="209747" y="722618"/>
                </a:lnTo>
                <a:lnTo>
                  <a:pt x="184950" y="709159"/>
                </a:lnTo>
                <a:cubicBezTo>
                  <a:pt x="73365" y="633774"/>
                  <a:pt x="0" y="506109"/>
                  <a:pt x="0" y="361309"/>
                </a:cubicBezTo>
                <a:cubicBezTo>
                  <a:pt x="0" y="216509"/>
                  <a:pt x="73365" y="88845"/>
                  <a:pt x="184950" y="13459"/>
                </a:cubicBezTo>
                <a:lnTo>
                  <a:pt x="209747" y="0"/>
                </a:lnTo>
                <a:close/>
              </a:path>
            </a:pathLst>
          </a:cu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GB" altLang="en-US"/>
          </a:p>
        </p:txBody>
      </p:sp>
      <p:sp>
        <p:nvSpPr>
          <p:cNvPr id="32" name="フリーフォーム 31">
            <a:extLst>
              <a:ext uri="{FF2B5EF4-FFF2-40B4-BE49-F238E27FC236}">
                <a16:creationId xmlns:a16="http://schemas.microsoft.com/office/drawing/2014/main" id="{54BB0B53-33D0-14EC-A9EF-7FC4AC39C058}"/>
              </a:ext>
            </a:extLst>
          </p:cNvPr>
          <p:cNvSpPr>
            <a:spLocks noChangeAspect="1"/>
          </p:cNvSpPr>
          <p:nvPr/>
        </p:nvSpPr>
        <p:spPr>
          <a:xfrm>
            <a:off x="3874418" y="4543743"/>
            <a:ext cx="629240" cy="838986"/>
          </a:xfrm>
          <a:custGeom>
            <a:avLst/>
            <a:gdLst>
              <a:gd name="connsiteX0" fmla="*/ 419493 w 629240"/>
              <a:gd name="connsiteY0" fmla="*/ 0 h 838986"/>
              <a:gd name="connsiteX1" fmla="*/ 582779 w 629240"/>
              <a:gd name="connsiteY1" fmla="*/ 32966 h 838986"/>
              <a:gd name="connsiteX2" fmla="*/ 629240 w 629240"/>
              <a:gd name="connsiteY2" fmla="*/ 58184 h 838986"/>
              <a:gd name="connsiteX3" fmla="*/ 604443 w 629240"/>
              <a:gd name="connsiteY3" fmla="*/ 71643 h 838986"/>
              <a:gd name="connsiteX4" fmla="*/ 419493 w 629240"/>
              <a:gd name="connsiteY4" fmla="*/ 419493 h 838986"/>
              <a:gd name="connsiteX5" fmla="*/ 604443 w 629240"/>
              <a:gd name="connsiteY5" fmla="*/ 767343 h 838986"/>
              <a:gd name="connsiteX6" fmla="*/ 629240 w 629240"/>
              <a:gd name="connsiteY6" fmla="*/ 780802 h 838986"/>
              <a:gd name="connsiteX7" fmla="*/ 582779 w 629240"/>
              <a:gd name="connsiteY7" fmla="*/ 806020 h 838986"/>
              <a:gd name="connsiteX8" fmla="*/ 419493 w 629240"/>
              <a:gd name="connsiteY8" fmla="*/ 838986 h 838986"/>
              <a:gd name="connsiteX9" fmla="*/ 0 w 629240"/>
              <a:gd name="connsiteY9" fmla="*/ 419493 h 838986"/>
              <a:gd name="connsiteX10" fmla="*/ 419493 w 629240"/>
              <a:gd name="connsiteY10" fmla="*/ 0 h 8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240" h="838986">
                <a:moveTo>
                  <a:pt x="419493" y="0"/>
                </a:moveTo>
                <a:cubicBezTo>
                  <a:pt x="477413" y="0"/>
                  <a:pt x="532591" y="11738"/>
                  <a:pt x="582779" y="32966"/>
                </a:cubicBezTo>
                <a:lnTo>
                  <a:pt x="629240" y="58184"/>
                </a:lnTo>
                <a:lnTo>
                  <a:pt x="604443" y="71643"/>
                </a:lnTo>
                <a:cubicBezTo>
                  <a:pt x="492858" y="147029"/>
                  <a:pt x="419493" y="274693"/>
                  <a:pt x="419493" y="419493"/>
                </a:cubicBezTo>
                <a:cubicBezTo>
                  <a:pt x="419493" y="564293"/>
                  <a:pt x="492858" y="691958"/>
                  <a:pt x="604443" y="767343"/>
                </a:cubicBezTo>
                <a:lnTo>
                  <a:pt x="629240" y="780802"/>
                </a:lnTo>
                <a:lnTo>
                  <a:pt x="582779" y="806020"/>
                </a:lnTo>
                <a:cubicBezTo>
                  <a:pt x="532591" y="827248"/>
                  <a:pt x="477413" y="838986"/>
                  <a:pt x="419493" y="838986"/>
                </a:cubicBezTo>
                <a:cubicBezTo>
                  <a:pt x="187813" y="838986"/>
                  <a:pt x="0" y="651173"/>
                  <a:pt x="0" y="419493"/>
                </a:cubicBezTo>
                <a:cubicBezTo>
                  <a:pt x="0" y="187813"/>
                  <a:pt x="187813" y="0"/>
                  <a:pt x="419493" y="0"/>
                </a:cubicBezTo>
                <a:close/>
              </a:path>
            </a:pathLst>
          </a:custGeom>
          <a:solidFill>
            <a:srgbClr val="0070C0"/>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kumimoji="1" lang="en-US" altLang="ja-GB" dirty="0"/>
              <a:t>A</a:t>
            </a:r>
            <a:endParaRPr kumimoji="1" lang="ja-GB" altLang="en-US" dirty="0"/>
          </a:p>
        </p:txBody>
      </p:sp>
      <p:sp>
        <p:nvSpPr>
          <p:cNvPr id="33" name="フリーフォーム 32">
            <a:extLst>
              <a:ext uri="{FF2B5EF4-FFF2-40B4-BE49-F238E27FC236}">
                <a16:creationId xmlns:a16="http://schemas.microsoft.com/office/drawing/2014/main" id="{41E8433E-E7C8-C40B-D3C7-E84345A5FA32}"/>
              </a:ext>
            </a:extLst>
          </p:cNvPr>
          <p:cNvSpPr>
            <a:spLocks noChangeAspect="1"/>
          </p:cNvSpPr>
          <p:nvPr/>
        </p:nvSpPr>
        <p:spPr>
          <a:xfrm>
            <a:off x="4503659" y="4543743"/>
            <a:ext cx="629239" cy="838986"/>
          </a:xfrm>
          <a:custGeom>
            <a:avLst/>
            <a:gdLst>
              <a:gd name="connsiteX0" fmla="*/ 209746 w 629239"/>
              <a:gd name="connsiteY0" fmla="*/ 0 h 838986"/>
              <a:gd name="connsiteX1" fmla="*/ 629239 w 629239"/>
              <a:gd name="connsiteY1" fmla="*/ 419493 h 838986"/>
              <a:gd name="connsiteX2" fmla="*/ 209746 w 629239"/>
              <a:gd name="connsiteY2" fmla="*/ 838986 h 838986"/>
              <a:gd name="connsiteX3" fmla="*/ 46460 w 629239"/>
              <a:gd name="connsiteY3" fmla="*/ 806020 h 838986"/>
              <a:gd name="connsiteX4" fmla="*/ 0 w 629239"/>
              <a:gd name="connsiteY4" fmla="*/ 780802 h 838986"/>
              <a:gd name="connsiteX5" fmla="*/ 24796 w 629239"/>
              <a:gd name="connsiteY5" fmla="*/ 767343 h 838986"/>
              <a:gd name="connsiteX6" fmla="*/ 209746 w 629239"/>
              <a:gd name="connsiteY6" fmla="*/ 419493 h 838986"/>
              <a:gd name="connsiteX7" fmla="*/ 24796 w 629239"/>
              <a:gd name="connsiteY7" fmla="*/ 71643 h 838986"/>
              <a:gd name="connsiteX8" fmla="*/ 0 w 629239"/>
              <a:gd name="connsiteY8" fmla="*/ 58184 h 838986"/>
              <a:gd name="connsiteX9" fmla="*/ 46460 w 629239"/>
              <a:gd name="connsiteY9" fmla="*/ 32966 h 838986"/>
              <a:gd name="connsiteX10" fmla="*/ 209746 w 629239"/>
              <a:gd name="connsiteY10" fmla="*/ 0 h 8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239" h="838986">
                <a:moveTo>
                  <a:pt x="209746" y="0"/>
                </a:moveTo>
                <a:cubicBezTo>
                  <a:pt x="441426" y="0"/>
                  <a:pt x="629239" y="187813"/>
                  <a:pt x="629239" y="419493"/>
                </a:cubicBezTo>
                <a:cubicBezTo>
                  <a:pt x="629239" y="651173"/>
                  <a:pt x="441426" y="838986"/>
                  <a:pt x="209746" y="838986"/>
                </a:cubicBezTo>
                <a:cubicBezTo>
                  <a:pt x="151826" y="838986"/>
                  <a:pt x="96648" y="827248"/>
                  <a:pt x="46460" y="806020"/>
                </a:cubicBezTo>
                <a:lnTo>
                  <a:pt x="0" y="780802"/>
                </a:lnTo>
                <a:lnTo>
                  <a:pt x="24796" y="767343"/>
                </a:lnTo>
                <a:cubicBezTo>
                  <a:pt x="136382" y="691958"/>
                  <a:pt x="209746" y="564293"/>
                  <a:pt x="209746" y="419493"/>
                </a:cubicBezTo>
                <a:cubicBezTo>
                  <a:pt x="209746" y="274693"/>
                  <a:pt x="136382" y="147029"/>
                  <a:pt x="24796" y="71643"/>
                </a:cubicBezTo>
                <a:lnTo>
                  <a:pt x="0" y="58184"/>
                </a:lnTo>
                <a:lnTo>
                  <a:pt x="46460" y="32966"/>
                </a:lnTo>
                <a:cubicBezTo>
                  <a:pt x="96648" y="11738"/>
                  <a:pt x="151826" y="0"/>
                  <a:pt x="209746" y="0"/>
                </a:cubicBezTo>
                <a:close/>
              </a:path>
            </a:pathLst>
          </a:custGeom>
          <a:solidFill>
            <a:srgbClr val="0070C0"/>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kumimoji="1" lang="en-US" altLang="ja-GB" dirty="0"/>
              <a:t>B</a:t>
            </a:r>
            <a:endParaRPr kumimoji="1" lang="ja-GB" altLang="en-US" dirty="0"/>
          </a:p>
        </p:txBody>
      </p:sp>
      <p:sp>
        <p:nvSpPr>
          <p:cNvPr id="38" name="正方形/長方形 37">
            <a:extLst>
              <a:ext uri="{FF2B5EF4-FFF2-40B4-BE49-F238E27FC236}">
                <a16:creationId xmlns:a16="http://schemas.microsoft.com/office/drawing/2014/main" id="{9116C408-578E-CC05-0666-A383C6BCC62A}"/>
              </a:ext>
            </a:extLst>
          </p:cNvPr>
          <p:cNvSpPr/>
          <p:nvPr/>
        </p:nvSpPr>
        <p:spPr>
          <a:xfrm>
            <a:off x="4010819" y="5905890"/>
            <a:ext cx="932072" cy="837086"/>
          </a:xfrm>
          <a:prstGeom prst="rect">
            <a:avLst/>
          </a:prstGeom>
          <a:solidFill>
            <a:srgbClr val="0070C0"/>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9" name="円/楕円 38">
            <a:extLst>
              <a:ext uri="{FF2B5EF4-FFF2-40B4-BE49-F238E27FC236}">
                <a16:creationId xmlns:a16="http://schemas.microsoft.com/office/drawing/2014/main" id="{B265850F-0D12-B1E5-249D-EC43E3EA5930}"/>
              </a:ext>
            </a:extLst>
          </p:cNvPr>
          <p:cNvSpPr>
            <a:spLocks noChangeAspect="1"/>
          </p:cNvSpPr>
          <p:nvPr/>
        </p:nvSpPr>
        <p:spPr>
          <a:xfrm>
            <a:off x="4169908" y="6017486"/>
            <a:ext cx="613894" cy="613894"/>
          </a:xfrm>
          <a:prstGeom prst="ellipse">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A</a:t>
            </a:r>
            <a:endParaRPr kumimoji="1" lang="ja-GB" altLang="en-US" dirty="0">
              <a:solidFill>
                <a:srgbClr val="2F2523"/>
              </a:solidFill>
            </a:endParaRPr>
          </a:p>
        </p:txBody>
      </p:sp>
      <p:graphicFrame>
        <p:nvGraphicFramePr>
          <p:cNvPr id="47" name="表 46">
            <a:extLst>
              <a:ext uri="{FF2B5EF4-FFF2-40B4-BE49-F238E27FC236}">
                <a16:creationId xmlns:a16="http://schemas.microsoft.com/office/drawing/2014/main" id="{549F330D-0EEF-0A26-83AC-0EA49C28BE4C}"/>
              </a:ext>
            </a:extLst>
          </p:cNvPr>
          <p:cNvGraphicFramePr>
            <a:graphicFrameLocks noGrp="1"/>
          </p:cNvGraphicFramePr>
          <p:nvPr/>
        </p:nvGraphicFramePr>
        <p:xfrm>
          <a:off x="6437369" y="1047239"/>
          <a:ext cx="2241477" cy="1371600"/>
        </p:xfrm>
        <a:graphic>
          <a:graphicData uri="http://schemas.openxmlformats.org/drawingml/2006/table">
            <a:tbl>
              <a:tblPr firstRow="1" bandRow="1">
                <a:tableStyleId>{5C22544A-7EE6-4342-B048-85BDC9FD1C3A}</a:tableStyleId>
              </a:tblPr>
              <a:tblGrid>
                <a:gridCol w="747159">
                  <a:extLst>
                    <a:ext uri="{9D8B030D-6E8A-4147-A177-3AD203B41FA5}">
                      <a16:colId xmlns:a16="http://schemas.microsoft.com/office/drawing/2014/main" val="3858253604"/>
                    </a:ext>
                  </a:extLst>
                </a:gridCol>
                <a:gridCol w="747159">
                  <a:extLst>
                    <a:ext uri="{9D8B030D-6E8A-4147-A177-3AD203B41FA5}">
                      <a16:colId xmlns:a16="http://schemas.microsoft.com/office/drawing/2014/main" val="1587743710"/>
                    </a:ext>
                  </a:extLst>
                </a:gridCol>
                <a:gridCol w="747159">
                  <a:extLst>
                    <a:ext uri="{9D8B030D-6E8A-4147-A177-3AD203B41FA5}">
                      <a16:colId xmlns:a16="http://schemas.microsoft.com/office/drawing/2014/main" val="1053722571"/>
                    </a:ext>
                  </a:extLst>
                </a:gridCol>
              </a:tblGrid>
              <a:tr h="245128">
                <a:tc>
                  <a:txBody>
                    <a:bodyPr/>
                    <a:lstStyle/>
                    <a:p>
                      <a:pPr algn="ctr"/>
                      <a:r>
                        <a:rPr lang="en-US" altLang="ja-GB" sz="1200" dirty="0">
                          <a:ln>
                            <a:noFill/>
                          </a:ln>
                        </a:rPr>
                        <a:t>A</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noFill/>
                          </a:ln>
                        </a:rPr>
                        <a:t>B</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noFill/>
                          </a:ln>
                        </a:rPr>
                        <a:t>A and B</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6227256"/>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2749801"/>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7349891"/>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5343672"/>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8365678"/>
                  </a:ext>
                </a:extLst>
              </a:tr>
            </a:tbl>
          </a:graphicData>
        </a:graphic>
      </p:graphicFrame>
      <p:graphicFrame>
        <p:nvGraphicFramePr>
          <p:cNvPr id="48" name="表 47">
            <a:extLst>
              <a:ext uri="{FF2B5EF4-FFF2-40B4-BE49-F238E27FC236}">
                <a16:creationId xmlns:a16="http://schemas.microsoft.com/office/drawing/2014/main" id="{FFA7D9A7-7406-1D15-19B6-5D9888307058}"/>
              </a:ext>
            </a:extLst>
          </p:cNvPr>
          <p:cNvGraphicFramePr>
            <a:graphicFrameLocks noGrp="1"/>
          </p:cNvGraphicFramePr>
          <p:nvPr/>
        </p:nvGraphicFramePr>
        <p:xfrm>
          <a:off x="6437369" y="2672498"/>
          <a:ext cx="2241477" cy="1371600"/>
        </p:xfrm>
        <a:graphic>
          <a:graphicData uri="http://schemas.openxmlformats.org/drawingml/2006/table">
            <a:tbl>
              <a:tblPr firstRow="1" bandRow="1">
                <a:tableStyleId>{5C22544A-7EE6-4342-B048-85BDC9FD1C3A}</a:tableStyleId>
              </a:tblPr>
              <a:tblGrid>
                <a:gridCol w="747159">
                  <a:extLst>
                    <a:ext uri="{9D8B030D-6E8A-4147-A177-3AD203B41FA5}">
                      <a16:colId xmlns:a16="http://schemas.microsoft.com/office/drawing/2014/main" val="3858253604"/>
                    </a:ext>
                  </a:extLst>
                </a:gridCol>
                <a:gridCol w="747159">
                  <a:extLst>
                    <a:ext uri="{9D8B030D-6E8A-4147-A177-3AD203B41FA5}">
                      <a16:colId xmlns:a16="http://schemas.microsoft.com/office/drawing/2014/main" val="1587743710"/>
                    </a:ext>
                  </a:extLst>
                </a:gridCol>
                <a:gridCol w="747159">
                  <a:extLst>
                    <a:ext uri="{9D8B030D-6E8A-4147-A177-3AD203B41FA5}">
                      <a16:colId xmlns:a16="http://schemas.microsoft.com/office/drawing/2014/main" val="1053722571"/>
                    </a:ext>
                  </a:extLst>
                </a:gridCol>
              </a:tblGrid>
              <a:tr h="245128">
                <a:tc>
                  <a:txBody>
                    <a:bodyPr/>
                    <a:lstStyle/>
                    <a:p>
                      <a:pPr algn="ctr"/>
                      <a:r>
                        <a:rPr lang="en-US" altLang="ja-GB" sz="1200" dirty="0">
                          <a:ln>
                            <a:noFill/>
                          </a:ln>
                        </a:rPr>
                        <a:t>A</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noFill/>
                          </a:ln>
                        </a:rPr>
                        <a:t>B</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noFill/>
                          </a:ln>
                        </a:rPr>
                        <a:t>A or B</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6227256"/>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2749801"/>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7349891"/>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5343672"/>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8365678"/>
                  </a:ext>
                </a:extLst>
              </a:tr>
            </a:tbl>
          </a:graphicData>
        </a:graphic>
      </p:graphicFrame>
      <p:graphicFrame>
        <p:nvGraphicFramePr>
          <p:cNvPr id="49" name="表 48">
            <a:extLst>
              <a:ext uri="{FF2B5EF4-FFF2-40B4-BE49-F238E27FC236}">
                <a16:creationId xmlns:a16="http://schemas.microsoft.com/office/drawing/2014/main" id="{B5D03518-AF43-42FB-46AC-3731C6741812}"/>
              </a:ext>
            </a:extLst>
          </p:cNvPr>
          <p:cNvGraphicFramePr>
            <a:graphicFrameLocks noGrp="1"/>
          </p:cNvGraphicFramePr>
          <p:nvPr/>
        </p:nvGraphicFramePr>
        <p:xfrm>
          <a:off x="6437368" y="4439161"/>
          <a:ext cx="2241477" cy="1371600"/>
        </p:xfrm>
        <a:graphic>
          <a:graphicData uri="http://schemas.openxmlformats.org/drawingml/2006/table">
            <a:tbl>
              <a:tblPr firstRow="1" bandRow="1">
                <a:tableStyleId>{5C22544A-7EE6-4342-B048-85BDC9FD1C3A}</a:tableStyleId>
              </a:tblPr>
              <a:tblGrid>
                <a:gridCol w="747159">
                  <a:extLst>
                    <a:ext uri="{9D8B030D-6E8A-4147-A177-3AD203B41FA5}">
                      <a16:colId xmlns:a16="http://schemas.microsoft.com/office/drawing/2014/main" val="3858253604"/>
                    </a:ext>
                  </a:extLst>
                </a:gridCol>
                <a:gridCol w="747159">
                  <a:extLst>
                    <a:ext uri="{9D8B030D-6E8A-4147-A177-3AD203B41FA5}">
                      <a16:colId xmlns:a16="http://schemas.microsoft.com/office/drawing/2014/main" val="1587743710"/>
                    </a:ext>
                  </a:extLst>
                </a:gridCol>
                <a:gridCol w="747159">
                  <a:extLst>
                    <a:ext uri="{9D8B030D-6E8A-4147-A177-3AD203B41FA5}">
                      <a16:colId xmlns:a16="http://schemas.microsoft.com/office/drawing/2014/main" val="1053722571"/>
                    </a:ext>
                  </a:extLst>
                </a:gridCol>
              </a:tblGrid>
              <a:tr h="245128">
                <a:tc>
                  <a:txBody>
                    <a:bodyPr/>
                    <a:lstStyle/>
                    <a:p>
                      <a:pPr algn="ctr"/>
                      <a:r>
                        <a:rPr lang="en-US" altLang="ja-GB" sz="1200" dirty="0">
                          <a:ln>
                            <a:noFill/>
                          </a:ln>
                        </a:rPr>
                        <a:t>A</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noFill/>
                          </a:ln>
                        </a:rPr>
                        <a:t>B</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noFill/>
                          </a:ln>
                        </a:rPr>
                        <a:t>A </a:t>
                      </a:r>
                      <a:r>
                        <a:rPr lang="en-US" altLang="ja-GB" sz="1200" dirty="0" err="1">
                          <a:ln>
                            <a:noFill/>
                          </a:ln>
                        </a:rPr>
                        <a:t>xor</a:t>
                      </a:r>
                      <a:r>
                        <a:rPr lang="en-US" altLang="ja-GB" sz="1200" dirty="0">
                          <a:ln>
                            <a:noFill/>
                          </a:ln>
                        </a:rPr>
                        <a:t> B</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6227256"/>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2749801"/>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7349891"/>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5343672"/>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8365678"/>
                  </a:ext>
                </a:extLst>
              </a:tr>
            </a:tbl>
          </a:graphicData>
        </a:graphic>
      </p:graphicFrame>
      <p:graphicFrame>
        <p:nvGraphicFramePr>
          <p:cNvPr id="50" name="表 49">
            <a:extLst>
              <a:ext uri="{FF2B5EF4-FFF2-40B4-BE49-F238E27FC236}">
                <a16:creationId xmlns:a16="http://schemas.microsoft.com/office/drawing/2014/main" id="{16BA62B8-7909-78ED-9738-F473D02BDAB4}"/>
              </a:ext>
            </a:extLst>
          </p:cNvPr>
          <p:cNvGraphicFramePr>
            <a:graphicFrameLocks noGrp="1"/>
          </p:cNvGraphicFramePr>
          <p:nvPr/>
        </p:nvGraphicFramePr>
        <p:xfrm>
          <a:off x="6810947" y="5960908"/>
          <a:ext cx="1494318" cy="822960"/>
        </p:xfrm>
        <a:graphic>
          <a:graphicData uri="http://schemas.openxmlformats.org/drawingml/2006/table">
            <a:tbl>
              <a:tblPr firstRow="1" bandRow="1">
                <a:tableStyleId>{5C22544A-7EE6-4342-B048-85BDC9FD1C3A}</a:tableStyleId>
              </a:tblPr>
              <a:tblGrid>
                <a:gridCol w="747159">
                  <a:extLst>
                    <a:ext uri="{9D8B030D-6E8A-4147-A177-3AD203B41FA5}">
                      <a16:colId xmlns:a16="http://schemas.microsoft.com/office/drawing/2014/main" val="3858253604"/>
                    </a:ext>
                  </a:extLst>
                </a:gridCol>
                <a:gridCol w="747159">
                  <a:extLst>
                    <a:ext uri="{9D8B030D-6E8A-4147-A177-3AD203B41FA5}">
                      <a16:colId xmlns:a16="http://schemas.microsoft.com/office/drawing/2014/main" val="1053722571"/>
                    </a:ext>
                  </a:extLst>
                </a:gridCol>
              </a:tblGrid>
              <a:tr h="245128">
                <a:tc>
                  <a:txBody>
                    <a:bodyPr/>
                    <a:lstStyle/>
                    <a:p>
                      <a:pPr algn="ctr"/>
                      <a:r>
                        <a:rPr lang="en-US" altLang="ja-GB" sz="1200" dirty="0">
                          <a:ln>
                            <a:noFill/>
                          </a:ln>
                        </a:rPr>
                        <a:t>A</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noFill/>
                          </a:ln>
                        </a:rPr>
                        <a:t>Not A</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6227256"/>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2749801"/>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7349891"/>
                  </a:ext>
                </a:extLst>
              </a:tr>
            </a:tbl>
          </a:graphicData>
        </a:graphic>
      </p:graphicFrame>
      <p:pic>
        <p:nvPicPr>
          <p:cNvPr id="4" name="図 3">
            <a:extLst>
              <a:ext uri="{FF2B5EF4-FFF2-40B4-BE49-F238E27FC236}">
                <a16:creationId xmlns:a16="http://schemas.microsoft.com/office/drawing/2014/main" id="{BEE91657-1C92-A4A0-E6AF-5D341835085F}"/>
              </a:ext>
            </a:extLst>
          </p:cNvPr>
          <p:cNvPicPr>
            <a:picLocks noChangeAspect="1"/>
          </p:cNvPicPr>
          <p:nvPr/>
        </p:nvPicPr>
        <p:blipFill>
          <a:blip r:embed="rId2"/>
          <a:stretch>
            <a:fillRect/>
          </a:stretch>
        </p:blipFill>
        <p:spPr>
          <a:xfrm>
            <a:off x="380530" y="6003235"/>
            <a:ext cx="1939727" cy="797645"/>
          </a:xfrm>
          <a:prstGeom prst="rect">
            <a:avLst/>
          </a:prstGeom>
        </p:spPr>
      </p:pic>
    </p:spTree>
    <p:extLst>
      <p:ext uri="{BB962C8B-B14F-4D97-AF65-F5344CB8AC3E}">
        <p14:creationId xmlns:p14="http://schemas.microsoft.com/office/powerpoint/2010/main" val="1405808395"/>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0C42F7-FBDB-EBEE-567C-0B10BAAD742D}"/>
              </a:ext>
            </a:extLst>
          </p:cNvPr>
          <p:cNvSpPr>
            <a:spLocks noGrp="1"/>
          </p:cNvSpPr>
          <p:nvPr>
            <p:ph type="title"/>
          </p:nvPr>
        </p:nvSpPr>
        <p:spPr/>
        <p:txBody>
          <a:bodyPr/>
          <a:lstStyle/>
          <a:p>
            <a:r>
              <a:rPr kumimoji="1" lang="ja-GB" altLang="en-US" dirty="0"/>
              <a:t>その他の論理演算</a:t>
            </a:r>
          </a:p>
        </p:txBody>
      </p:sp>
      <p:sp>
        <p:nvSpPr>
          <p:cNvPr id="3" name="コンテンツ プレースホルダー 2">
            <a:extLst>
              <a:ext uri="{FF2B5EF4-FFF2-40B4-BE49-F238E27FC236}">
                <a16:creationId xmlns:a16="http://schemas.microsoft.com/office/drawing/2014/main" id="{E77BDE49-442D-65A8-FB2D-B74E3803DA4F}"/>
              </a:ext>
            </a:extLst>
          </p:cNvPr>
          <p:cNvSpPr>
            <a:spLocks noGrp="1"/>
          </p:cNvSpPr>
          <p:nvPr>
            <p:ph idx="1"/>
          </p:nvPr>
        </p:nvSpPr>
        <p:spPr/>
        <p:txBody>
          <a:bodyPr/>
          <a:lstStyle/>
          <a:p>
            <a:pPr marL="0" indent="0">
              <a:buNone/>
            </a:pPr>
            <a:r>
              <a:rPr lang="en-US" altLang="ja-GB" dirty="0"/>
              <a:t>NAND</a:t>
            </a:r>
            <a:r>
              <a:rPr lang="ja-GB" altLang="en-US" dirty="0"/>
              <a:t>（否定論理積）</a:t>
            </a:r>
            <a:endParaRPr lang="en-US" altLang="ja-GB" dirty="0"/>
          </a:p>
          <a:p>
            <a:pPr marL="457200" lvl="1" indent="0">
              <a:buNone/>
            </a:pPr>
            <a:r>
              <a:rPr lang="en-US" altLang="ja-GB" dirty="0"/>
              <a:t>AND</a:t>
            </a:r>
            <a:r>
              <a:rPr lang="ja-GB" altLang="en-US" dirty="0"/>
              <a:t>演算の否定</a:t>
            </a:r>
            <a:r>
              <a:rPr lang="en-US" altLang="ja-GB" dirty="0"/>
              <a:t>→NOT</a:t>
            </a:r>
            <a:r>
              <a:rPr lang="ja-GB" altLang="en-US" dirty="0"/>
              <a:t>（</a:t>
            </a:r>
            <a:r>
              <a:rPr lang="en-US" altLang="ja-GB" dirty="0"/>
              <a:t>AND</a:t>
            </a:r>
            <a:r>
              <a:rPr lang="ja-GB" altLang="en-US" dirty="0"/>
              <a:t>（</a:t>
            </a:r>
            <a:r>
              <a:rPr lang="en-US" altLang="ja-GB" dirty="0"/>
              <a:t>A, B</a:t>
            </a:r>
            <a:r>
              <a:rPr lang="ja-GB" altLang="en-US" dirty="0"/>
              <a:t>））</a:t>
            </a:r>
            <a:endParaRPr lang="en-US" altLang="ja-GB" dirty="0"/>
          </a:p>
          <a:p>
            <a:pPr lvl="1"/>
            <a:endParaRPr lang="en-US" altLang="ja-GB" dirty="0"/>
          </a:p>
          <a:p>
            <a:pPr lvl="1"/>
            <a:endParaRPr lang="en-US" altLang="ja-GB" dirty="0"/>
          </a:p>
          <a:p>
            <a:pPr lvl="1"/>
            <a:endParaRPr lang="en-US" altLang="ja-GB" dirty="0"/>
          </a:p>
          <a:p>
            <a:pPr lvl="1"/>
            <a:endParaRPr lang="en-US" altLang="ja-GB" dirty="0"/>
          </a:p>
          <a:p>
            <a:pPr marL="457200" lvl="1" indent="0">
              <a:buNone/>
            </a:pPr>
            <a:endParaRPr lang="en-US" altLang="ja-GB" dirty="0"/>
          </a:p>
          <a:p>
            <a:pPr marL="0" indent="0">
              <a:buNone/>
            </a:pPr>
            <a:r>
              <a:rPr lang="en-US" altLang="ja-GB" dirty="0"/>
              <a:t>NOR</a:t>
            </a:r>
            <a:r>
              <a:rPr lang="ja-GB" altLang="en-US" dirty="0"/>
              <a:t>（否定論理和）</a:t>
            </a:r>
            <a:endParaRPr lang="en-US" altLang="ja-GB" dirty="0"/>
          </a:p>
          <a:p>
            <a:pPr marL="457200" lvl="1" indent="0">
              <a:buNone/>
            </a:pPr>
            <a:r>
              <a:rPr kumimoji="1" lang="en-US" altLang="ja-GB" dirty="0"/>
              <a:t>OR</a:t>
            </a:r>
            <a:r>
              <a:rPr kumimoji="1" lang="ja-GB" altLang="en-US" dirty="0"/>
              <a:t>演算の否定</a:t>
            </a:r>
            <a:r>
              <a:rPr kumimoji="1" lang="en-US" altLang="ja-GB" dirty="0"/>
              <a:t>→NOT</a:t>
            </a:r>
            <a:r>
              <a:rPr kumimoji="1" lang="ja-GB" altLang="en-US" dirty="0"/>
              <a:t>（</a:t>
            </a:r>
            <a:r>
              <a:rPr kumimoji="1" lang="en-US" altLang="ja-GB" dirty="0"/>
              <a:t>OR</a:t>
            </a:r>
            <a:r>
              <a:rPr kumimoji="1" lang="ja-GB" altLang="en-US" dirty="0"/>
              <a:t>（</a:t>
            </a:r>
            <a:r>
              <a:rPr kumimoji="1" lang="en-US" altLang="ja-GB" dirty="0"/>
              <a:t>A, B</a:t>
            </a:r>
            <a:r>
              <a:rPr kumimoji="1" lang="ja-GB" altLang="en-US" dirty="0"/>
              <a:t>））</a:t>
            </a:r>
          </a:p>
        </p:txBody>
      </p:sp>
      <p:grpSp>
        <p:nvGrpSpPr>
          <p:cNvPr id="15" name="グループ化 14">
            <a:extLst>
              <a:ext uri="{FF2B5EF4-FFF2-40B4-BE49-F238E27FC236}">
                <a16:creationId xmlns:a16="http://schemas.microsoft.com/office/drawing/2014/main" id="{2FD9C6C8-1D03-9935-4A4C-3D247178AABA}"/>
              </a:ext>
            </a:extLst>
          </p:cNvPr>
          <p:cNvGrpSpPr/>
          <p:nvPr/>
        </p:nvGrpSpPr>
        <p:grpSpPr>
          <a:xfrm>
            <a:off x="777716" y="1983808"/>
            <a:ext cx="1564848" cy="1027522"/>
            <a:chOff x="3714162" y="1644976"/>
            <a:chExt cx="1564848" cy="1027522"/>
          </a:xfrm>
        </p:grpSpPr>
        <p:sp>
          <p:nvSpPr>
            <p:cNvPr id="4" name="正方形/長方形 3">
              <a:extLst>
                <a:ext uri="{FF2B5EF4-FFF2-40B4-BE49-F238E27FC236}">
                  <a16:creationId xmlns:a16="http://schemas.microsoft.com/office/drawing/2014/main" id="{85486DAF-3BF6-4D9A-9A33-068FA2460D43}"/>
                </a:ext>
              </a:extLst>
            </p:cNvPr>
            <p:cNvSpPr/>
            <p:nvPr/>
          </p:nvSpPr>
          <p:spPr>
            <a:xfrm>
              <a:off x="3714162" y="1644976"/>
              <a:ext cx="1564848" cy="1027522"/>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 name="フリーフォーム 4">
              <a:extLst>
                <a:ext uri="{FF2B5EF4-FFF2-40B4-BE49-F238E27FC236}">
                  <a16:creationId xmlns:a16="http://schemas.microsoft.com/office/drawing/2014/main" id="{F5758C55-B6A1-A811-0F94-6B547551294C}"/>
                </a:ext>
              </a:extLst>
            </p:cNvPr>
            <p:cNvSpPr>
              <a:spLocks noChangeAspect="1"/>
            </p:cNvSpPr>
            <p:nvPr/>
          </p:nvSpPr>
          <p:spPr>
            <a:xfrm>
              <a:off x="4293912" y="1803739"/>
              <a:ext cx="419493" cy="722618"/>
            </a:xfrm>
            <a:custGeom>
              <a:avLst/>
              <a:gdLst>
                <a:gd name="connsiteX0" fmla="*/ 209747 w 419493"/>
                <a:gd name="connsiteY0" fmla="*/ 0 h 722618"/>
                <a:gd name="connsiteX1" fmla="*/ 234543 w 419493"/>
                <a:gd name="connsiteY1" fmla="*/ 13459 h 722618"/>
                <a:gd name="connsiteX2" fmla="*/ 419493 w 419493"/>
                <a:gd name="connsiteY2" fmla="*/ 361309 h 722618"/>
                <a:gd name="connsiteX3" fmla="*/ 234543 w 419493"/>
                <a:gd name="connsiteY3" fmla="*/ 709159 h 722618"/>
                <a:gd name="connsiteX4" fmla="*/ 209747 w 419493"/>
                <a:gd name="connsiteY4" fmla="*/ 722618 h 722618"/>
                <a:gd name="connsiteX5" fmla="*/ 184950 w 419493"/>
                <a:gd name="connsiteY5" fmla="*/ 709159 h 722618"/>
                <a:gd name="connsiteX6" fmla="*/ 0 w 419493"/>
                <a:gd name="connsiteY6" fmla="*/ 361309 h 722618"/>
                <a:gd name="connsiteX7" fmla="*/ 184950 w 419493"/>
                <a:gd name="connsiteY7" fmla="*/ 13459 h 722618"/>
                <a:gd name="connsiteX8" fmla="*/ 209747 w 419493"/>
                <a:gd name="connsiteY8" fmla="*/ 0 h 72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9493" h="722618">
                  <a:moveTo>
                    <a:pt x="209747" y="0"/>
                  </a:moveTo>
                  <a:lnTo>
                    <a:pt x="234543" y="13459"/>
                  </a:lnTo>
                  <a:cubicBezTo>
                    <a:pt x="346129" y="88845"/>
                    <a:pt x="419493" y="216509"/>
                    <a:pt x="419493" y="361309"/>
                  </a:cubicBezTo>
                  <a:cubicBezTo>
                    <a:pt x="419493" y="506109"/>
                    <a:pt x="346129" y="633774"/>
                    <a:pt x="234543" y="709159"/>
                  </a:cubicBezTo>
                  <a:lnTo>
                    <a:pt x="209747" y="722618"/>
                  </a:lnTo>
                  <a:lnTo>
                    <a:pt x="184950" y="709159"/>
                  </a:lnTo>
                  <a:cubicBezTo>
                    <a:pt x="73365" y="633774"/>
                    <a:pt x="0" y="506109"/>
                    <a:pt x="0" y="361309"/>
                  </a:cubicBezTo>
                  <a:cubicBezTo>
                    <a:pt x="0" y="216509"/>
                    <a:pt x="73365" y="88845"/>
                    <a:pt x="184950" y="13459"/>
                  </a:cubicBezTo>
                  <a:lnTo>
                    <a:pt x="209747" y="0"/>
                  </a:lnTo>
                  <a:close/>
                </a:path>
              </a:pathLst>
            </a:cu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GB" altLang="en-US"/>
            </a:p>
          </p:txBody>
        </p:sp>
        <p:sp>
          <p:nvSpPr>
            <p:cNvPr id="6" name="フリーフォーム 5">
              <a:extLst>
                <a:ext uri="{FF2B5EF4-FFF2-40B4-BE49-F238E27FC236}">
                  <a16:creationId xmlns:a16="http://schemas.microsoft.com/office/drawing/2014/main" id="{43E9976F-9139-01EF-2D65-B3DF3750BC93}"/>
                </a:ext>
              </a:extLst>
            </p:cNvPr>
            <p:cNvSpPr>
              <a:spLocks noChangeAspect="1"/>
            </p:cNvSpPr>
            <p:nvPr/>
          </p:nvSpPr>
          <p:spPr>
            <a:xfrm>
              <a:off x="3874418" y="1745555"/>
              <a:ext cx="629240" cy="838986"/>
            </a:xfrm>
            <a:custGeom>
              <a:avLst/>
              <a:gdLst>
                <a:gd name="connsiteX0" fmla="*/ 419493 w 629240"/>
                <a:gd name="connsiteY0" fmla="*/ 0 h 838986"/>
                <a:gd name="connsiteX1" fmla="*/ 582779 w 629240"/>
                <a:gd name="connsiteY1" fmla="*/ 32966 h 838986"/>
                <a:gd name="connsiteX2" fmla="*/ 629240 w 629240"/>
                <a:gd name="connsiteY2" fmla="*/ 58184 h 838986"/>
                <a:gd name="connsiteX3" fmla="*/ 604443 w 629240"/>
                <a:gd name="connsiteY3" fmla="*/ 71643 h 838986"/>
                <a:gd name="connsiteX4" fmla="*/ 419493 w 629240"/>
                <a:gd name="connsiteY4" fmla="*/ 419493 h 838986"/>
                <a:gd name="connsiteX5" fmla="*/ 604443 w 629240"/>
                <a:gd name="connsiteY5" fmla="*/ 767343 h 838986"/>
                <a:gd name="connsiteX6" fmla="*/ 629240 w 629240"/>
                <a:gd name="connsiteY6" fmla="*/ 780802 h 838986"/>
                <a:gd name="connsiteX7" fmla="*/ 582779 w 629240"/>
                <a:gd name="connsiteY7" fmla="*/ 806020 h 838986"/>
                <a:gd name="connsiteX8" fmla="*/ 419493 w 629240"/>
                <a:gd name="connsiteY8" fmla="*/ 838986 h 838986"/>
                <a:gd name="connsiteX9" fmla="*/ 0 w 629240"/>
                <a:gd name="connsiteY9" fmla="*/ 419493 h 838986"/>
                <a:gd name="connsiteX10" fmla="*/ 419493 w 629240"/>
                <a:gd name="connsiteY10" fmla="*/ 0 h 8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240" h="838986">
                  <a:moveTo>
                    <a:pt x="419493" y="0"/>
                  </a:moveTo>
                  <a:cubicBezTo>
                    <a:pt x="477413" y="0"/>
                    <a:pt x="532591" y="11738"/>
                    <a:pt x="582779" y="32966"/>
                  </a:cubicBezTo>
                  <a:lnTo>
                    <a:pt x="629240" y="58184"/>
                  </a:lnTo>
                  <a:lnTo>
                    <a:pt x="604443" y="71643"/>
                  </a:lnTo>
                  <a:cubicBezTo>
                    <a:pt x="492858" y="147029"/>
                    <a:pt x="419493" y="274693"/>
                    <a:pt x="419493" y="419493"/>
                  </a:cubicBezTo>
                  <a:cubicBezTo>
                    <a:pt x="419493" y="564293"/>
                    <a:pt x="492858" y="691958"/>
                    <a:pt x="604443" y="767343"/>
                  </a:cubicBezTo>
                  <a:lnTo>
                    <a:pt x="629240" y="780802"/>
                  </a:lnTo>
                  <a:lnTo>
                    <a:pt x="582779" y="806020"/>
                  </a:lnTo>
                  <a:cubicBezTo>
                    <a:pt x="532591" y="827248"/>
                    <a:pt x="477413" y="838986"/>
                    <a:pt x="419493" y="838986"/>
                  </a:cubicBezTo>
                  <a:cubicBezTo>
                    <a:pt x="187813" y="838986"/>
                    <a:pt x="0" y="651173"/>
                    <a:pt x="0" y="419493"/>
                  </a:cubicBezTo>
                  <a:cubicBezTo>
                    <a:pt x="0" y="187813"/>
                    <a:pt x="187813" y="0"/>
                    <a:pt x="419493" y="0"/>
                  </a:cubicBezTo>
                  <a:close/>
                </a:path>
              </a:pathLst>
            </a:cu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GB" altLang="en-US"/>
            </a:p>
          </p:txBody>
        </p:sp>
        <p:sp>
          <p:nvSpPr>
            <p:cNvPr id="7" name="フリーフォーム 6">
              <a:extLst>
                <a:ext uri="{FF2B5EF4-FFF2-40B4-BE49-F238E27FC236}">
                  <a16:creationId xmlns:a16="http://schemas.microsoft.com/office/drawing/2014/main" id="{D8CF23F6-EB14-CF52-7C34-9EC6EC3CE3AC}"/>
                </a:ext>
              </a:extLst>
            </p:cNvPr>
            <p:cNvSpPr>
              <a:spLocks noChangeAspect="1"/>
            </p:cNvSpPr>
            <p:nvPr/>
          </p:nvSpPr>
          <p:spPr>
            <a:xfrm>
              <a:off x="4503659" y="1745555"/>
              <a:ext cx="629239" cy="838986"/>
            </a:xfrm>
            <a:custGeom>
              <a:avLst/>
              <a:gdLst>
                <a:gd name="connsiteX0" fmla="*/ 209746 w 629239"/>
                <a:gd name="connsiteY0" fmla="*/ 0 h 838986"/>
                <a:gd name="connsiteX1" fmla="*/ 629239 w 629239"/>
                <a:gd name="connsiteY1" fmla="*/ 419493 h 838986"/>
                <a:gd name="connsiteX2" fmla="*/ 209746 w 629239"/>
                <a:gd name="connsiteY2" fmla="*/ 838986 h 838986"/>
                <a:gd name="connsiteX3" fmla="*/ 46460 w 629239"/>
                <a:gd name="connsiteY3" fmla="*/ 806020 h 838986"/>
                <a:gd name="connsiteX4" fmla="*/ 0 w 629239"/>
                <a:gd name="connsiteY4" fmla="*/ 780802 h 838986"/>
                <a:gd name="connsiteX5" fmla="*/ 24796 w 629239"/>
                <a:gd name="connsiteY5" fmla="*/ 767343 h 838986"/>
                <a:gd name="connsiteX6" fmla="*/ 209746 w 629239"/>
                <a:gd name="connsiteY6" fmla="*/ 419493 h 838986"/>
                <a:gd name="connsiteX7" fmla="*/ 24796 w 629239"/>
                <a:gd name="connsiteY7" fmla="*/ 71643 h 838986"/>
                <a:gd name="connsiteX8" fmla="*/ 0 w 629239"/>
                <a:gd name="connsiteY8" fmla="*/ 58184 h 838986"/>
                <a:gd name="connsiteX9" fmla="*/ 46460 w 629239"/>
                <a:gd name="connsiteY9" fmla="*/ 32966 h 838986"/>
                <a:gd name="connsiteX10" fmla="*/ 209746 w 629239"/>
                <a:gd name="connsiteY10" fmla="*/ 0 h 8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239" h="838986">
                  <a:moveTo>
                    <a:pt x="209746" y="0"/>
                  </a:moveTo>
                  <a:cubicBezTo>
                    <a:pt x="441426" y="0"/>
                    <a:pt x="629239" y="187813"/>
                    <a:pt x="629239" y="419493"/>
                  </a:cubicBezTo>
                  <a:cubicBezTo>
                    <a:pt x="629239" y="651173"/>
                    <a:pt x="441426" y="838986"/>
                    <a:pt x="209746" y="838986"/>
                  </a:cubicBezTo>
                  <a:cubicBezTo>
                    <a:pt x="151826" y="838986"/>
                    <a:pt x="96648" y="827248"/>
                    <a:pt x="46460" y="806020"/>
                  </a:cubicBezTo>
                  <a:lnTo>
                    <a:pt x="0" y="780802"/>
                  </a:lnTo>
                  <a:lnTo>
                    <a:pt x="24796" y="767343"/>
                  </a:lnTo>
                  <a:cubicBezTo>
                    <a:pt x="136382" y="691958"/>
                    <a:pt x="209746" y="564293"/>
                    <a:pt x="209746" y="419493"/>
                  </a:cubicBezTo>
                  <a:cubicBezTo>
                    <a:pt x="209746" y="274693"/>
                    <a:pt x="136382" y="147029"/>
                    <a:pt x="24796" y="71643"/>
                  </a:cubicBezTo>
                  <a:lnTo>
                    <a:pt x="0" y="58184"/>
                  </a:lnTo>
                  <a:lnTo>
                    <a:pt x="46460" y="32966"/>
                  </a:lnTo>
                  <a:cubicBezTo>
                    <a:pt x="96648" y="11738"/>
                    <a:pt x="151826" y="0"/>
                    <a:pt x="209746" y="0"/>
                  </a:cubicBezTo>
                  <a:close/>
                </a:path>
              </a:pathLst>
            </a:cu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GB" altLang="en-US"/>
            </a:p>
          </p:txBody>
        </p:sp>
      </p:grpSp>
      <p:grpSp>
        <p:nvGrpSpPr>
          <p:cNvPr id="14" name="グループ化 13">
            <a:extLst>
              <a:ext uri="{FF2B5EF4-FFF2-40B4-BE49-F238E27FC236}">
                <a16:creationId xmlns:a16="http://schemas.microsoft.com/office/drawing/2014/main" id="{3DAA3820-8BD3-8CB8-42F3-2310A94D0C19}"/>
              </a:ext>
            </a:extLst>
          </p:cNvPr>
          <p:cNvGrpSpPr/>
          <p:nvPr/>
        </p:nvGrpSpPr>
        <p:grpSpPr>
          <a:xfrm>
            <a:off x="777716" y="4420903"/>
            <a:ext cx="1564848" cy="1027522"/>
            <a:chOff x="3714162" y="3530337"/>
            <a:chExt cx="1564848" cy="1027522"/>
          </a:xfrm>
        </p:grpSpPr>
        <p:sp>
          <p:nvSpPr>
            <p:cNvPr id="8" name="正方形/長方形 7">
              <a:extLst>
                <a:ext uri="{FF2B5EF4-FFF2-40B4-BE49-F238E27FC236}">
                  <a16:creationId xmlns:a16="http://schemas.microsoft.com/office/drawing/2014/main" id="{752622CF-93FF-F124-DDDA-74A390EF9292}"/>
                </a:ext>
              </a:extLst>
            </p:cNvPr>
            <p:cNvSpPr/>
            <p:nvPr/>
          </p:nvSpPr>
          <p:spPr>
            <a:xfrm>
              <a:off x="3714162" y="3530337"/>
              <a:ext cx="1564848" cy="1027522"/>
            </a:xfrm>
            <a:prstGeom prst="rect">
              <a:avLst/>
            </a:prstGeom>
            <a:solidFill>
              <a:srgbClr val="0070C0"/>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9" name="フリーフォーム 8">
              <a:extLst>
                <a:ext uri="{FF2B5EF4-FFF2-40B4-BE49-F238E27FC236}">
                  <a16:creationId xmlns:a16="http://schemas.microsoft.com/office/drawing/2014/main" id="{FFA17A0C-F6B3-7915-7AB6-1C6FB87A27C4}"/>
                </a:ext>
              </a:extLst>
            </p:cNvPr>
            <p:cNvSpPr>
              <a:spLocks noChangeAspect="1"/>
            </p:cNvSpPr>
            <p:nvPr/>
          </p:nvSpPr>
          <p:spPr>
            <a:xfrm>
              <a:off x="4293912" y="3689100"/>
              <a:ext cx="419493" cy="722618"/>
            </a:xfrm>
            <a:custGeom>
              <a:avLst/>
              <a:gdLst>
                <a:gd name="connsiteX0" fmla="*/ 209747 w 419493"/>
                <a:gd name="connsiteY0" fmla="*/ 0 h 722618"/>
                <a:gd name="connsiteX1" fmla="*/ 234543 w 419493"/>
                <a:gd name="connsiteY1" fmla="*/ 13459 h 722618"/>
                <a:gd name="connsiteX2" fmla="*/ 419493 w 419493"/>
                <a:gd name="connsiteY2" fmla="*/ 361309 h 722618"/>
                <a:gd name="connsiteX3" fmla="*/ 234543 w 419493"/>
                <a:gd name="connsiteY3" fmla="*/ 709159 h 722618"/>
                <a:gd name="connsiteX4" fmla="*/ 209747 w 419493"/>
                <a:gd name="connsiteY4" fmla="*/ 722618 h 722618"/>
                <a:gd name="connsiteX5" fmla="*/ 184950 w 419493"/>
                <a:gd name="connsiteY5" fmla="*/ 709159 h 722618"/>
                <a:gd name="connsiteX6" fmla="*/ 0 w 419493"/>
                <a:gd name="connsiteY6" fmla="*/ 361309 h 722618"/>
                <a:gd name="connsiteX7" fmla="*/ 184950 w 419493"/>
                <a:gd name="connsiteY7" fmla="*/ 13459 h 722618"/>
                <a:gd name="connsiteX8" fmla="*/ 209747 w 419493"/>
                <a:gd name="connsiteY8" fmla="*/ 0 h 72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9493" h="722618">
                  <a:moveTo>
                    <a:pt x="209747" y="0"/>
                  </a:moveTo>
                  <a:lnTo>
                    <a:pt x="234543" y="13459"/>
                  </a:lnTo>
                  <a:cubicBezTo>
                    <a:pt x="346129" y="88845"/>
                    <a:pt x="419493" y="216509"/>
                    <a:pt x="419493" y="361309"/>
                  </a:cubicBezTo>
                  <a:cubicBezTo>
                    <a:pt x="419493" y="506109"/>
                    <a:pt x="346129" y="633774"/>
                    <a:pt x="234543" y="709159"/>
                  </a:cubicBezTo>
                  <a:lnTo>
                    <a:pt x="209747" y="722618"/>
                  </a:lnTo>
                  <a:lnTo>
                    <a:pt x="184950" y="709159"/>
                  </a:lnTo>
                  <a:cubicBezTo>
                    <a:pt x="73365" y="633774"/>
                    <a:pt x="0" y="506109"/>
                    <a:pt x="0" y="361309"/>
                  </a:cubicBezTo>
                  <a:cubicBezTo>
                    <a:pt x="0" y="216509"/>
                    <a:pt x="73365" y="88845"/>
                    <a:pt x="184950" y="13459"/>
                  </a:cubicBezTo>
                  <a:lnTo>
                    <a:pt x="209747" y="0"/>
                  </a:lnTo>
                  <a:close/>
                </a:path>
              </a:pathLst>
            </a:cu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GB" altLang="en-US"/>
            </a:p>
          </p:txBody>
        </p:sp>
        <p:sp>
          <p:nvSpPr>
            <p:cNvPr id="10" name="フリーフォーム 9">
              <a:extLst>
                <a:ext uri="{FF2B5EF4-FFF2-40B4-BE49-F238E27FC236}">
                  <a16:creationId xmlns:a16="http://schemas.microsoft.com/office/drawing/2014/main" id="{8B9A0AC7-19BF-59A2-8468-2638153A911D}"/>
                </a:ext>
              </a:extLst>
            </p:cNvPr>
            <p:cNvSpPr>
              <a:spLocks noChangeAspect="1"/>
            </p:cNvSpPr>
            <p:nvPr/>
          </p:nvSpPr>
          <p:spPr>
            <a:xfrm>
              <a:off x="3874418" y="3630916"/>
              <a:ext cx="629240" cy="838986"/>
            </a:xfrm>
            <a:custGeom>
              <a:avLst/>
              <a:gdLst>
                <a:gd name="connsiteX0" fmla="*/ 419493 w 629240"/>
                <a:gd name="connsiteY0" fmla="*/ 0 h 838986"/>
                <a:gd name="connsiteX1" fmla="*/ 582779 w 629240"/>
                <a:gd name="connsiteY1" fmla="*/ 32966 h 838986"/>
                <a:gd name="connsiteX2" fmla="*/ 629240 w 629240"/>
                <a:gd name="connsiteY2" fmla="*/ 58184 h 838986"/>
                <a:gd name="connsiteX3" fmla="*/ 604443 w 629240"/>
                <a:gd name="connsiteY3" fmla="*/ 71643 h 838986"/>
                <a:gd name="connsiteX4" fmla="*/ 419493 w 629240"/>
                <a:gd name="connsiteY4" fmla="*/ 419493 h 838986"/>
                <a:gd name="connsiteX5" fmla="*/ 604443 w 629240"/>
                <a:gd name="connsiteY5" fmla="*/ 767343 h 838986"/>
                <a:gd name="connsiteX6" fmla="*/ 629240 w 629240"/>
                <a:gd name="connsiteY6" fmla="*/ 780802 h 838986"/>
                <a:gd name="connsiteX7" fmla="*/ 582779 w 629240"/>
                <a:gd name="connsiteY7" fmla="*/ 806020 h 838986"/>
                <a:gd name="connsiteX8" fmla="*/ 419493 w 629240"/>
                <a:gd name="connsiteY8" fmla="*/ 838986 h 838986"/>
                <a:gd name="connsiteX9" fmla="*/ 0 w 629240"/>
                <a:gd name="connsiteY9" fmla="*/ 419493 h 838986"/>
                <a:gd name="connsiteX10" fmla="*/ 419493 w 629240"/>
                <a:gd name="connsiteY10" fmla="*/ 0 h 8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240" h="838986">
                  <a:moveTo>
                    <a:pt x="419493" y="0"/>
                  </a:moveTo>
                  <a:cubicBezTo>
                    <a:pt x="477413" y="0"/>
                    <a:pt x="532591" y="11738"/>
                    <a:pt x="582779" y="32966"/>
                  </a:cubicBezTo>
                  <a:lnTo>
                    <a:pt x="629240" y="58184"/>
                  </a:lnTo>
                  <a:lnTo>
                    <a:pt x="604443" y="71643"/>
                  </a:lnTo>
                  <a:cubicBezTo>
                    <a:pt x="492858" y="147029"/>
                    <a:pt x="419493" y="274693"/>
                    <a:pt x="419493" y="419493"/>
                  </a:cubicBezTo>
                  <a:cubicBezTo>
                    <a:pt x="419493" y="564293"/>
                    <a:pt x="492858" y="691958"/>
                    <a:pt x="604443" y="767343"/>
                  </a:cubicBezTo>
                  <a:lnTo>
                    <a:pt x="629240" y="780802"/>
                  </a:lnTo>
                  <a:lnTo>
                    <a:pt x="582779" y="806020"/>
                  </a:lnTo>
                  <a:cubicBezTo>
                    <a:pt x="532591" y="827248"/>
                    <a:pt x="477413" y="838986"/>
                    <a:pt x="419493" y="838986"/>
                  </a:cubicBezTo>
                  <a:cubicBezTo>
                    <a:pt x="187813" y="838986"/>
                    <a:pt x="0" y="651173"/>
                    <a:pt x="0" y="419493"/>
                  </a:cubicBezTo>
                  <a:cubicBezTo>
                    <a:pt x="0" y="187813"/>
                    <a:pt x="187813" y="0"/>
                    <a:pt x="419493" y="0"/>
                  </a:cubicBezTo>
                  <a:close/>
                </a:path>
              </a:pathLst>
            </a:cu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GB" altLang="en-US"/>
            </a:p>
          </p:txBody>
        </p:sp>
        <p:sp>
          <p:nvSpPr>
            <p:cNvPr id="11" name="フリーフォーム 10">
              <a:extLst>
                <a:ext uri="{FF2B5EF4-FFF2-40B4-BE49-F238E27FC236}">
                  <a16:creationId xmlns:a16="http://schemas.microsoft.com/office/drawing/2014/main" id="{7A12CACE-C30B-085B-1C24-ABC7BAED7BE9}"/>
                </a:ext>
              </a:extLst>
            </p:cNvPr>
            <p:cNvSpPr>
              <a:spLocks noChangeAspect="1"/>
            </p:cNvSpPr>
            <p:nvPr/>
          </p:nvSpPr>
          <p:spPr>
            <a:xfrm>
              <a:off x="4503659" y="3630916"/>
              <a:ext cx="629239" cy="838986"/>
            </a:xfrm>
            <a:custGeom>
              <a:avLst/>
              <a:gdLst>
                <a:gd name="connsiteX0" fmla="*/ 209746 w 629239"/>
                <a:gd name="connsiteY0" fmla="*/ 0 h 838986"/>
                <a:gd name="connsiteX1" fmla="*/ 629239 w 629239"/>
                <a:gd name="connsiteY1" fmla="*/ 419493 h 838986"/>
                <a:gd name="connsiteX2" fmla="*/ 209746 w 629239"/>
                <a:gd name="connsiteY2" fmla="*/ 838986 h 838986"/>
                <a:gd name="connsiteX3" fmla="*/ 46460 w 629239"/>
                <a:gd name="connsiteY3" fmla="*/ 806020 h 838986"/>
                <a:gd name="connsiteX4" fmla="*/ 0 w 629239"/>
                <a:gd name="connsiteY4" fmla="*/ 780802 h 838986"/>
                <a:gd name="connsiteX5" fmla="*/ 24796 w 629239"/>
                <a:gd name="connsiteY5" fmla="*/ 767343 h 838986"/>
                <a:gd name="connsiteX6" fmla="*/ 209746 w 629239"/>
                <a:gd name="connsiteY6" fmla="*/ 419493 h 838986"/>
                <a:gd name="connsiteX7" fmla="*/ 24796 w 629239"/>
                <a:gd name="connsiteY7" fmla="*/ 71643 h 838986"/>
                <a:gd name="connsiteX8" fmla="*/ 0 w 629239"/>
                <a:gd name="connsiteY8" fmla="*/ 58184 h 838986"/>
                <a:gd name="connsiteX9" fmla="*/ 46460 w 629239"/>
                <a:gd name="connsiteY9" fmla="*/ 32966 h 838986"/>
                <a:gd name="connsiteX10" fmla="*/ 209746 w 629239"/>
                <a:gd name="connsiteY10" fmla="*/ 0 h 8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239" h="838986">
                  <a:moveTo>
                    <a:pt x="209746" y="0"/>
                  </a:moveTo>
                  <a:cubicBezTo>
                    <a:pt x="441426" y="0"/>
                    <a:pt x="629239" y="187813"/>
                    <a:pt x="629239" y="419493"/>
                  </a:cubicBezTo>
                  <a:cubicBezTo>
                    <a:pt x="629239" y="651173"/>
                    <a:pt x="441426" y="838986"/>
                    <a:pt x="209746" y="838986"/>
                  </a:cubicBezTo>
                  <a:cubicBezTo>
                    <a:pt x="151826" y="838986"/>
                    <a:pt x="96648" y="827248"/>
                    <a:pt x="46460" y="806020"/>
                  </a:cubicBezTo>
                  <a:lnTo>
                    <a:pt x="0" y="780802"/>
                  </a:lnTo>
                  <a:lnTo>
                    <a:pt x="24796" y="767343"/>
                  </a:lnTo>
                  <a:cubicBezTo>
                    <a:pt x="136382" y="691958"/>
                    <a:pt x="209746" y="564293"/>
                    <a:pt x="209746" y="419493"/>
                  </a:cubicBezTo>
                  <a:cubicBezTo>
                    <a:pt x="209746" y="274693"/>
                    <a:pt x="136382" y="147029"/>
                    <a:pt x="24796" y="71643"/>
                  </a:cubicBezTo>
                  <a:lnTo>
                    <a:pt x="0" y="58184"/>
                  </a:lnTo>
                  <a:lnTo>
                    <a:pt x="46460" y="32966"/>
                  </a:lnTo>
                  <a:cubicBezTo>
                    <a:pt x="96648" y="11738"/>
                    <a:pt x="151826" y="0"/>
                    <a:pt x="209746" y="0"/>
                  </a:cubicBezTo>
                  <a:close/>
                </a:path>
              </a:pathLst>
            </a:cu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GB" altLang="en-US"/>
            </a:p>
          </p:txBody>
        </p:sp>
      </p:grpSp>
      <p:graphicFrame>
        <p:nvGraphicFramePr>
          <p:cNvPr id="12" name="表 11">
            <a:extLst>
              <a:ext uri="{FF2B5EF4-FFF2-40B4-BE49-F238E27FC236}">
                <a16:creationId xmlns:a16="http://schemas.microsoft.com/office/drawing/2014/main" id="{4EDE2164-B9E7-EF58-2C53-94EABAB280AB}"/>
              </a:ext>
            </a:extLst>
          </p:cNvPr>
          <p:cNvGraphicFramePr>
            <a:graphicFrameLocks noGrp="1"/>
          </p:cNvGraphicFramePr>
          <p:nvPr/>
        </p:nvGraphicFramePr>
        <p:xfrm>
          <a:off x="5778631" y="1047239"/>
          <a:ext cx="2900216" cy="1356360"/>
        </p:xfrm>
        <a:graphic>
          <a:graphicData uri="http://schemas.openxmlformats.org/drawingml/2006/table">
            <a:tbl>
              <a:tblPr firstRow="1" bandRow="1">
                <a:tableStyleId>{5C22544A-7EE6-4342-B048-85BDC9FD1C3A}</a:tableStyleId>
              </a:tblPr>
              <a:tblGrid>
                <a:gridCol w="725054">
                  <a:extLst>
                    <a:ext uri="{9D8B030D-6E8A-4147-A177-3AD203B41FA5}">
                      <a16:colId xmlns:a16="http://schemas.microsoft.com/office/drawing/2014/main" val="3858253604"/>
                    </a:ext>
                  </a:extLst>
                </a:gridCol>
                <a:gridCol w="725054">
                  <a:extLst>
                    <a:ext uri="{9D8B030D-6E8A-4147-A177-3AD203B41FA5}">
                      <a16:colId xmlns:a16="http://schemas.microsoft.com/office/drawing/2014/main" val="1587743710"/>
                    </a:ext>
                  </a:extLst>
                </a:gridCol>
                <a:gridCol w="725054">
                  <a:extLst>
                    <a:ext uri="{9D8B030D-6E8A-4147-A177-3AD203B41FA5}">
                      <a16:colId xmlns:a16="http://schemas.microsoft.com/office/drawing/2014/main" val="1053722571"/>
                    </a:ext>
                  </a:extLst>
                </a:gridCol>
                <a:gridCol w="725054">
                  <a:extLst>
                    <a:ext uri="{9D8B030D-6E8A-4147-A177-3AD203B41FA5}">
                      <a16:colId xmlns:a16="http://schemas.microsoft.com/office/drawing/2014/main" val="3799327062"/>
                    </a:ext>
                  </a:extLst>
                </a:gridCol>
              </a:tblGrid>
              <a:tr h="245128">
                <a:tc>
                  <a:txBody>
                    <a:bodyPr/>
                    <a:lstStyle/>
                    <a:p>
                      <a:pPr algn="ctr"/>
                      <a:r>
                        <a:rPr lang="en-US" altLang="ja-GB" sz="1100" dirty="0">
                          <a:ln>
                            <a:noFill/>
                          </a:ln>
                        </a:rPr>
                        <a:t>A</a:t>
                      </a:r>
                      <a:endParaRPr lang="ja-GB" altLang="en-US" sz="11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100" dirty="0">
                          <a:ln>
                            <a:noFill/>
                          </a:ln>
                        </a:rPr>
                        <a:t>B</a:t>
                      </a:r>
                      <a:endParaRPr lang="ja-GB" altLang="en-US" sz="11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100" dirty="0">
                          <a:ln>
                            <a:noFill/>
                          </a:ln>
                        </a:rPr>
                        <a:t>A and B</a:t>
                      </a:r>
                      <a:endParaRPr lang="ja-GB" altLang="en-US" sz="11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100" dirty="0">
                          <a:ln>
                            <a:noFill/>
                          </a:ln>
                        </a:rPr>
                        <a:t>A </a:t>
                      </a:r>
                      <a:r>
                        <a:rPr lang="en-US" altLang="ja-GB" sz="1100" dirty="0" err="1">
                          <a:ln>
                            <a:noFill/>
                          </a:ln>
                        </a:rPr>
                        <a:t>nand</a:t>
                      </a:r>
                      <a:r>
                        <a:rPr lang="en-US" altLang="ja-GB" sz="1100" dirty="0">
                          <a:ln>
                            <a:noFill/>
                          </a:ln>
                        </a:rPr>
                        <a:t> B</a:t>
                      </a:r>
                      <a:endParaRPr lang="ja-GB" altLang="en-US" sz="11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6227256"/>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solidFill>
                            <a:schemeClr val="tx1">
                              <a:lumMod val="50000"/>
                              <a:lumOff val="50000"/>
                            </a:schemeClr>
                          </a:solidFill>
                        </a:rPr>
                        <a:t>0</a:t>
                      </a:r>
                      <a:endParaRPr lang="ja-GB" altLang="en-US" sz="1200" dirty="0">
                        <a:ln>
                          <a:solidFill>
                            <a:srgbClr val="002060"/>
                          </a:solidFill>
                        </a:ln>
                        <a:solidFill>
                          <a:schemeClr val="tx1">
                            <a:lumMod val="50000"/>
                            <a:lumOff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2749801"/>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solidFill>
                            <a:schemeClr val="tx1">
                              <a:lumMod val="50000"/>
                              <a:lumOff val="50000"/>
                            </a:schemeClr>
                          </a:solidFill>
                        </a:rPr>
                        <a:t>0</a:t>
                      </a:r>
                      <a:endParaRPr lang="ja-GB" altLang="en-US" sz="1200" dirty="0">
                        <a:ln>
                          <a:solidFill>
                            <a:srgbClr val="002060"/>
                          </a:solidFill>
                        </a:ln>
                        <a:solidFill>
                          <a:schemeClr val="tx1">
                            <a:lumMod val="50000"/>
                            <a:lumOff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7349891"/>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solidFill>
                            <a:schemeClr val="tx1">
                              <a:lumMod val="50000"/>
                              <a:lumOff val="50000"/>
                            </a:schemeClr>
                          </a:solidFill>
                        </a:rPr>
                        <a:t>0</a:t>
                      </a:r>
                      <a:endParaRPr lang="ja-GB" altLang="en-US" sz="1200" dirty="0">
                        <a:ln>
                          <a:solidFill>
                            <a:srgbClr val="002060"/>
                          </a:solidFill>
                        </a:ln>
                        <a:solidFill>
                          <a:schemeClr val="tx1">
                            <a:lumMod val="50000"/>
                            <a:lumOff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5343672"/>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solidFill>
                            <a:schemeClr val="tx1">
                              <a:lumMod val="50000"/>
                              <a:lumOff val="50000"/>
                            </a:schemeClr>
                          </a:solidFill>
                        </a:rPr>
                        <a:t>1</a:t>
                      </a:r>
                      <a:endParaRPr lang="ja-GB" altLang="en-US" sz="1200" dirty="0">
                        <a:ln>
                          <a:solidFill>
                            <a:srgbClr val="002060"/>
                          </a:solidFill>
                        </a:ln>
                        <a:solidFill>
                          <a:schemeClr val="tx1">
                            <a:lumMod val="50000"/>
                            <a:lumOff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8365678"/>
                  </a:ext>
                </a:extLst>
              </a:tr>
            </a:tbl>
          </a:graphicData>
        </a:graphic>
      </p:graphicFrame>
      <p:graphicFrame>
        <p:nvGraphicFramePr>
          <p:cNvPr id="13" name="表 12">
            <a:extLst>
              <a:ext uri="{FF2B5EF4-FFF2-40B4-BE49-F238E27FC236}">
                <a16:creationId xmlns:a16="http://schemas.microsoft.com/office/drawing/2014/main" id="{87EC66B9-D6CA-DE00-5995-F9ABCA99312B}"/>
              </a:ext>
            </a:extLst>
          </p:cNvPr>
          <p:cNvGraphicFramePr>
            <a:graphicFrameLocks noGrp="1"/>
          </p:cNvGraphicFramePr>
          <p:nvPr/>
        </p:nvGraphicFramePr>
        <p:xfrm>
          <a:off x="5778630" y="4092065"/>
          <a:ext cx="2900212" cy="1356360"/>
        </p:xfrm>
        <a:graphic>
          <a:graphicData uri="http://schemas.openxmlformats.org/drawingml/2006/table">
            <a:tbl>
              <a:tblPr firstRow="1" bandRow="1">
                <a:tableStyleId>{5C22544A-7EE6-4342-B048-85BDC9FD1C3A}</a:tableStyleId>
              </a:tblPr>
              <a:tblGrid>
                <a:gridCol w="725053">
                  <a:extLst>
                    <a:ext uri="{9D8B030D-6E8A-4147-A177-3AD203B41FA5}">
                      <a16:colId xmlns:a16="http://schemas.microsoft.com/office/drawing/2014/main" val="3858253604"/>
                    </a:ext>
                  </a:extLst>
                </a:gridCol>
                <a:gridCol w="725053">
                  <a:extLst>
                    <a:ext uri="{9D8B030D-6E8A-4147-A177-3AD203B41FA5}">
                      <a16:colId xmlns:a16="http://schemas.microsoft.com/office/drawing/2014/main" val="1587743710"/>
                    </a:ext>
                  </a:extLst>
                </a:gridCol>
                <a:gridCol w="725053">
                  <a:extLst>
                    <a:ext uri="{9D8B030D-6E8A-4147-A177-3AD203B41FA5}">
                      <a16:colId xmlns:a16="http://schemas.microsoft.com/office/drawing/2014/main" val="1053722571"/>
                    </a:ext>
                  </a:extLst>
                </a:gridCol>
                <a:gridCol w="725053">
                  <a:extLst>
                    <a:ext uri="{9D8B030D-6E8A-4147-A177-3AD203B41FA5}">
                      <a16:colId xmlns:a16="http://schemas.microsoft.com/office/drawing/2014/main" val="2822461469"/>
                    </a:ext>
                  </a:extLst>
                </a:gridCol>
              </a:tblGrid>
              <a:tr h="245128">
                <a:tc>
                  <a:txBody>
                    <a:bodyPr/>
                    <a:lstStyle/>
                    <a:p>
                      <a:pPr algn="ctr"/>
                      <a:r>
                        <a:rPr lang="en-US" altLang="ja-GB" sz="1100" dirty="0">
                          <a:ln>
                            <a:noFill/>
                          </a:ln>
                        </a:rPr>
                        <a:t>A</a:t>
                      </a:r>
                      <a:endParaRPr lang="ja-GB" altLang="en-US" sz="11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100" dirty="0">
                          <a:ln>
                            <a:noFill/>
                          </a:ln>
                        </a:rPr>
                        <a:t>B</a:t>
                      </a:r>
                      <a:endParaRPr lang="ja-GB" altLang="en-US" sz="11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100" dirty="0">
                          <a:ln>
                            <a:noFill/>
                          </a:ln>
                        </a:rPr>
                        <a:t>A or B</a:t>
                      </a:r>
                      <a:endParaRPr lang="ja-GB" altLang="en-US" sz="11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100" dirty="0">
                          <a:ln>
                            <a:noFill/>
                          </a:ln>
                        </a:rPr>
                        <a:t>A nor B</a:t>
                      </a:r>
                      <a:endParaRPr lang="ja-GB" altLang="en-US" sz="11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6227256"/>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2749801"/>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7349891"/>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5343672"/>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8365678"/>
                  </a:ext>
                </a:extLst>
              </a:tr>
            </a:tbl>
          </a:graphicData>
        </a:graphic>
      </p:graphicFrame>
      <p:pic>
        <p:nvPicPr>
          <p:cNvPr id="16" name="図 15">
            <a:extLst>
              <a:ext uri="{FF2B5EF4-FFF2-40B4-BE49-F238E27FC236}">
                <a16:creationId xmlns:a16="http://schemas.microsoft.com/office/drawing/2014/main" id="{B344BF9E-E9F2-D0B5-ECEB-9A2F3D5164E5}"/>
              </a:ext>
            </a:extLst>
          </p:cNvPr>
          <p:cNvPicPr>
            <a:picLocks noChangeAspect="1"/>
          </p:cNvPicPr>
          <p:nvPr/>
        </p:nvPicPr>
        <p:blipFill>
          <a:blip r:embed="rId2"/>
          <a:stretch>
            <a:fillRect/>
          </a:stretch>
        </p:blipFill>
        <p:spPr>
          <a:xfrm>
            <a:off x="380530" y="6003235"/>
            <a:ext cx="1939727" cy="797645"/>
          </a:xfrm>
          <a:prstGeom prst="rect">
            <a:avLst/>
          </a:prstGeom>
        </p:spPr>
      </p:pic>
      <p:sp>
        <p:nvSpPr>
          <p:cNvPr id="17" name="テキスト ボックス 16">
            <a:extLst>
              <a:ext uri="{FF2B5EF4-FFF2-40B4-BE49-F238E27FC236}">
                <a16:creationId xmlns:a16="http://schemas.microsoft.com/office/drawing/2014/main" id="{5D03A76A-54F1-E178-2870-0AE60213A67D}"/>
              </a:ext>
            </a:extLst>
          </p:cNvPr>
          <p:cNvSpPr txBox="1"/>
          <p:nvPr/>
        </p:nvSpPr>
        <p:spPr>
          <a:xfrm>
            <a:off x="2634180" y="2501004"/>
            <a:ext cx="6288901" cy="523220"/>
          </a:xfrm>
          <a:prstGeom prst="rect">
            <a:avLst/>
          </a:prstGeom>
          <a:noFill/>
        </p:spPr>
        <p:txBody>
          <a:bodyPr wrap="none" rtlCol="0">
            <a:spAutoFit/>
          </a:bodyPr>
          <a:lstStyle/>
          <a:p>
            <a:r>
              <a:rPr kumimoji="1" lang="en-US" altLang="ja-GB" sz="1400" dirty="0"/>
              <a:t>※NAND</a:t>
            </a:r>
            <a:r>
              <a:rPr kumimoji="1" lang="ja-GB" altLang="en-US" sz="1400" dirty="0"/>
              <a:t>演算を組み合わせると，あらゆる論理式を実装できる</a:t>
            </a:r>
            <a:endParaRPr kumimoji="1" lang="en-US" altLang="ja-GB" sz="1400" dirty="0"/>
          </a:p>
          <a:p>
            <a:r>
              <a:rPr kumimoji="1" lang="ja-GB" altLang="en-US" sz="1400" dirty="0"/>
              <a:t>　回路製造コストも低いため，計算機の基本部品として広く利用されている</a:t>
            </a:r>
          </a:p>
        </p:txBody>
      </p:sp>
    </p:spTree>
    <p:extLst>
      <p:ext uri="{BB962C8B-B14F-4D97-AF65-F5344CB8AC3E}">
        <p14:creationId xmlns:p14="http://schemas.microsoft.com/office/powerpoint/2010/main" val="429393313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B171F6-AE29-8DC7-D58C-3C3620AE2810}"/>
              </a:ext>
            </a:extLst>
          </p:cNvPr>
          <p:cNvSpPr>
            <a:spLocks noGrp="1"/>
          </p:cNvSpPr>
          <p:nvPr>
            <p:ph type="title"/>
          </p:nvPr>
        </p:nvSpPr>
        <p:spPr/>
        <p:txBody>
          <a:bodyPr/>
          <a:lstStyle/>
          <a:p>
            <a:r>
              <a:rPr lang="ja-GB" altLang="en-US" dirty="0"/>
              <a:t>真理</a:t>
            </a:r>
            <a:r>
              <a:rPr kumimoji="1" lang="ja-GB" altLang="en-US" dirty="0"/>
              <a:t>値表</a:t>
            </a:r>
          </a:p>
        </p:txBody>
      </p:sp>
      <p:sp>
        <p:nvSpPr>
          <p:cNvPr id="3" name="コンテンツ プレースホルダー 2">
            <a:extLst>
              <a:ext uri="{FF2B5EF4-FFF2-40B4-BE49-F238E27FC236}">
                <a16:creationId xmlns:a16="http://schemas.microsoft.com/office/drawing/2014/main" id="{6A91A460-40D0-8406-8C9D-BC072AAFC079}"/>
              </a:ext>
            </a:extLst>
          </p:cNvPr>
          <p:cNvSpPr>
            <a:spLocks noGrp="1"/>
          </p:cNvSpPr>
          <p:nvPr>
            <p:ph idx="1"/>
          </p:nvPr>
        </p:nvSpPr>
        <p:spPr>
          <a:xfrm>
            <a:off x="314325" y="854765"/>
            <a:ext cx="8515350" cy="6003234"/>
          </a:xfrm>
        </p:spPr>
        <p:txBody>
          <a:bodyPr/>
          <a:lstStyle/>
          <a:p>
            <a:pPr marL="0" indent="0">
              <a:buNone/>
            </a:pPr>
            <a:r>
              <a:rPr kumimoji="1" lang="ja-GB" altLang="en-US" dirty="0"/>
              <a:t>論理関数の全入出力パターンをまとめた表</a:t>
            </a:r>
            <a:endParaRPr kumimoji="1" lang="en-US" altLang="ja-GB" dirty="0"/>
          </a:p>
          <a:p>
            <a:pPr lvl="1"/>
            <a:endParaRPr kumimoji="1" lang="ja-GB" altLang="en-US" dirty="0"/>
          </a:p>
        </p:txBody>
      </p:sp>
      <p:graphicFrame>
        <p:nvGraphicFramePr>
          <p:cNvPr id="4" name="表 3">
            <a:extLst>
              <a:ext uri="{FF2B5EF4-FFF2-40B4-BE49-F238E27FC236}">
                <a16:creationId xmlns:a16="http://schemas.microsoft.com/office/drawing/2014/main" id="{2CED9908-EC38-2539-EA3E-3165CCEE08C9}"/>
              </a:ext>
            </a:extLst>
          </p:cNvPr>
          <p:cNvGraphicFramePr>
            <a:graphicFrameLocks noGrp="1"/>
          </p:cNvGraphicFramePr>
          <p:nvPr/>
        </p:nvGraphicFramePr>
        <p:xfrm>
          <a:off x="663118" y="2158146"/>
          <a:ext cx="2241477" cy="1371600"/>
        </p:xfrm>
        <a:graphic>
          <a:graphicData uri="http://schemas.openxmlformats.org/drawingml/2006/table">
            <a:tbl>
              <a:tblPr firstRow="1" bandRow="1">
                <a:tableStyleId>{5C22544A-7EE6-4342-B048-85BDC9FD1C3A}</a:tableStyleId>
              </a:tblPr>
              <a:tblGrid>
                <a:gridCol w="747159">
                  <a:extLst>
                    <a:ext uri="{9D8B030D-6E8A-4147-A177-3AD203B41FA5}">
                      <a16:colId xmlns:a16="http://schemas.microsoft.com/office/drawing/2014/main" val="3858253604"/>
                    </a:ext>
                  </a:extLst>
                </a:gridCol>
                <a:gridCol w="747159">
                  <a:extLst>
                    <a:ext uri="{9D8B030D-6E8A-4147-A177-3AD203B41FA5}">
                      <a16:colId xmlns:a16="http://schemas.microsoft.com/office/drawing/2014/main" val="1587743710"/>
                    </a:ext>
                  </a:extLst>
                </a:gridCol>
                <a:gridCol w="747159">
                  <a:extLst>
                    <a:ext uri="{9D8B030D-6E8A-4147-A177-3AD203B41FA5}">
                      <a16:colId xmlns:a16="http://schemas.microsoft.com/office/drawing/2014/main" val="1053722571"/>
                    </a:ext>
                  </a:extLst>
                </a:gridCol>
              </a:tblGrid>
              <a:tr h="245128">
                <a:tc>
                  <a:txBody>
                    <a:bodyPr/>
                    <a:lstStyle/>
                    <a:p>
                      <a:pPr algn="ctr"/>
                      <a:r>
                        <a:rPr lang="en-US" altLang="ja-GB" sz="1200" dirty="0">
                          <a:ln>
                            <a:noFill/>
                          </a:ln>
                        </a:rPr>
                        <a:t>A</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noFill/>
                          </a:ln>
                        </a:rPr>
                        <a:t>B</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noFill/>
                          </a:ln>
                        </a:rPr>
                        <a:t>A and B</a:t>
                      </a:r>
                      <a:endParaRPr lang="ja-GB" altLang="en-US" sz="1200" dirty="0">
                        <a:ln>
                          <a:noFill/>
                        </a:ln>
                      </a:endParaRPr>
                    </a:p>
                  </a:txBody>
                  <a:tcPr>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746227256"/>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solidFill>
                            <a:schemeClr val="accent2">
                              <a:lumMod val="50000"/>
                            </a:schemeClr>
                          </a:solidFill>
                        </a:rPr>
                        <a:t>0</a:t>
                      </a:r>
                      <a:endParaRPr lang="ja-GB" altLang="en-US" sz="1200" dirty="0">
                        <a:ln>
                          <a:solidFill>
                            <a:srgbClr val="002060"/>
                          </a:solidFill>
                        </a:ln>
                        <a:solidFill>
                          <a:schemeClr val="accent2">
                            <a:lumMod val="50000"/>
                          </a:schemeClr>
                        </a:solidFill>
                      </a:endParaRPr>
                    </a:p>
                  </a:txBody>
                  <a:tcPr>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042749801"/>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solidFill>
                            <a:schemeClr val="accent2">
                              <a:lumMod val="50000"/>
                            </a:schemeClr>
                          </a:solidFill>
                        </a:rPr>
                        <a:t>0</a:t>
                      </a:r>
                      <a:endParaRPr lang="ja-GB" altLang="en-US" sz="1200" dirty="0">
                        <a:ln>
                          <a:solidFill>
                            <a:srgbClr val="002060"/>
                          </a:solidFill>
                        </a:ln>
                        <a:solidFill>
                          <a:schemeClr val="accent2">
                            <a:lumMod val="50000"/>
                          </a:schemeClr>
                        </a:solidFill>
                      </a:endParaRPr>
                    </a:p>
                  </a:txBody>
                  <a:tcPr>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837349891"/>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solidFill>
                            <a:schemeClr val="accent2">
                              <a:lumMod val="50000"/>
                            </a:schemeClr>
                          </a:solidFill>
                        </a:rPr>
                        <a:t>0</a:t>
                      </a:r>
                      <a:endParaRPr lang="ja-GB" altLang="en-US" sz="1200" dirty="0">
                        <a:ln>
                          <a:solidFill>
                            <a:srgbClr val="002060"/>
                          </a:solidFill>
                        </a:ln>
                        <a:solidFill>
                          <a:schemeClr val="accent2">
                            <a:lumMod val="50000"/>
                          </a:schemeClr>
                        </a:solidFill>
                      </a:endParaRPr>
                    </a:p>
                  </a:txBody>
                  <a:tcPr>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3585343672"/>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solidFill>
                            <a:schemeClr val="accent2">
                              <a:lumMod val="50000"/>
                            </a:schemeClr>
                          </a:solidFill>
                        </a:rPr>
                        <a:t>1</a:t>
                      </a:r>
                      <a:endParaRPr lang="ja-GB" altLang="en-US" sz="1200" dirty="0">
                        <a:ln>
                          <a:solidFill>
                            <a:srgbClr val="002060"/>
                          </a:solidFill>
                        </a:ln>
                        <a:solidFill>
                          <a:schemeClr val="accent2">
                            <a:lumMod val="50000"/>
                          </a:schemeClr>
                        </a:solidFill>
                      </a:endParaRPr>
                    </a:p>
                  </a:txBody>
                  <a:tcPr>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988365678"/>
                  </a:ext>
                </a:extLst>
              </a:tr>
            </a:tbl>
          </a:graphicData>
        </a:graphic>
      </p:graphicFrame>
      <p:graphicFrame>
        <p:nvGraphicFramePr>
          <p:cNvPr id="5" name="表 4">
            <a:extLst>
              <a:ext uri="{FF2B5EF4-FFF2-40B4-BE49-F238E27FC236}">
                <a16:creationId xmlns:a16="http://schemas.microsoft.com/office/drawing/2014/main" id="{09A3317C-FAF5-F296-2970-51F5A404BA91}"/>
              </a:ext>
            </a:extLst>
          </p:cNvPr>
          <p:cNvGraphicFramePr>
            <a:graphicFrameLocks noGrp="1"/>
          </p:cNvGraphicFramePr>
          <p:nvPr/>
        </p:nvGraphicFramePr>
        <p:xfrm>
          <a:off x="3451262" y="2153435"/>
          <a:ext cx="2241477" cy="1371600"/>
        </p:xfrm>
        <a:graphic>
          <a:graphicData uri="http://schemas.openxmlformats.org/drawingml/2006/table">
            <a:tbl>
              <a:tblPr firstRow="1" bandRow="1">
                <a:tableStyleId>{5C22544A-7EE6-4342-B048-85BDC9FD1C3A}</a:tableStyleId>
              </a:tblPr>
              <a:tblGrid>
                <a:gridCol w="747159">
                  <a:extLst>
                    <a:ext uri="{9D8B030D-6E8A-4147-A177-3AD203B41FA5}">
                      <a16:colId xmlns:a16="http://schemas.microsoft.com/office/drawing/2014/main" val="3858253604"/>
                    </a:ext>
                  </a:extLst>
                </a:gridCol>
                <a:gridCol w="747159">
                  <a:extLst>
                    <a:ext uri="{9D8B030D-6E8A-4147-A177-3AD203B41FA5}">
                      <a16:colId xmlns:a16="http://schemas.microsoft.com/office/drawing/2014/main" val="1587743710"/>
                    </a:ext>
                  </a:extLst>
                </a:gridCol>
                <a:gridCol w="747159">
                  <a:extLst>
                    <a:ext uri="{9D8B030D-6E8A-4147-A177-3AD203B41FA5}">
                      <a16:colId xmlns:a16="http://schemas.microsoft.com/office/drawing/2014/main" val="1053722571"/>
                    </a:ext>
                  </a:extLst>
                </a:gridCol>
              </a:tblGrid>
              <a:tr h="245128">
                <a:tc>
                  <a:txBody>
                    <a:bodyPr/>
                    <a:lstStyle/>
                    <a:p>
                      <a:pPr algn="ctr"/>
                      <a:r>
                        <a:rPr lang="en-US" altLang="ja-GB" sz="1200" dirty="0">
                          <a:ln>
                            <a:noFill/>
                          </a:ln>
                        </a:rPr>
                        <a:t>A</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noFill/>
                          </a:ln>
                        </a:rPr>
                        <a:t>B</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noFill/>
                          </a:ln>
                        </a:rPr>
                        <a:t>A or B</a:t>
                      </a:r>
                      <a:endParaRPr lang="ja-GB" altLang="en-US" sz="1200" dirty="0">
                        <a:ln>
                          <a:noFill/>
                        </a:ln>
                      </a:endParaRPr>
                    </a:p>
                  </a:txBody>
                  <a:tcPr>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746227256"/>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042749801"/>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837349891"/>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3585343672"/>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988365678"/>
                  </a:ext>
                </a:extLst>
              </a:tr>
            </a:tbl>
          </a:graphicData>
        </a:graphic>
      </p:graphicFrame>
      <p:graphicFrame>
        <p:nvGraphicFramePr>
          <p:cNvPr id="6" name="表 5">
            <a:extLst>
              <a:ext uri="{FF2B5EF4-FFF2-40B4-BE49-F238E27FC236}">
                <a16:creationId xmlns:a16="http://schemas.microsoft.com/office/drawing/2014/main" id="{DCBE25EF-A4B8-7F15-80FE-DC2AF0ACA3D2}"/>
              </a:ext>
            </a:extLst>
          </p:cNvPr>
          <p:cNvGraphicFramePr>
            <a:graphicFrameLocks noGrp="1"/>
          </p:cNvGraphicFramePr>
          <p:nvPr/>
        </p:nvGraphicFramePr>
        <p:xfrm>
          <a:off x="6239405" y="2167573"/>
          <a:ext cx="2241477" cy="1371600"/>
        </p:xfrm>
        <a:graphic>
          <a:graphicData uri="http://schemas.openxmlformats.org/drawingml/2006/table">
            <a:tbl>
              <a:tblPr firstRow="1" bandRow="1">
                <a:tableStyleId>{5C22544A-7EE6-4342-B048-85BDC9FD1C3A}</a:tableStyleId>
              </a:tblPr>
              <a:tblGrid>
                <a:gridCol w="747159">
                  <a:extLst>
                    <a:ext uri="{9D8B030D-6E8A-4147-A177-3AD203B41FA5}">
                      <a16:colId xmlns:a16="http://schemas.microsoft.com/office/drawing/2014/main" val="3858253604"/>
                    </a:ext>
                  </a:extLst>
                </a:gridCol>
                <a:gridCol w="747159">
                  <a:extLst>
                    <a:ext uri="{9D8B030D-6E8A-4147-A177-3AD203B41FA5}">
                      <a16:colId xmlns:a16="http://schemas.microsoft.com/office/drawing/2014/main" val="1587743710"/>
                    </a:ext>
                  </a:extLst>
                </a:gridCol>
                <a:gridCol w="747159">
                  <a:extLst>
                    <a:ext uri="{9D8B030D-6E8A-4147-A177-3AD203B41FA5}">
                      <a16:colId xmlns:a16="http://schemas.microsoft.com/office/drawing/2014/main" val="1053722571"/>
                    </a:ext>
                  </a:extLst>
                </a:gridCol>
              </a:tblGrid>
              <a:tr h="245128">
                <a:tc>
                  <a:txBody>
                    <a:bodyPr/>
                    <a:lstStyle/>
                    <a:p>
                      <a:pPr algn="ctr"/>
                      <a:r>
                        <a:rPr lang="en-US" altLang="ja-GB" sz="1200" dirty="0">
                          <a:ln>
                            <a:noFill/>
                          </a:ln>
                        </a:rPr>
                        <a:t>A</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noFill/>
                          </a:ln>
                        </a:rPr>
                        <a:t>B</a:t>
                      </a:r>
                      <a:endParaRPr lang="ja-GB" alt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noFill/>
                          </a:ln>
                        </a:rPr>
                        <a:t>A </a:t>
                      </a:r>
                      <a:r>
                        <a:rPr lang="en-US" altLang="ja-GB" sz="1200" dirty="0" err="1">
                          <a:ln>
                            <a:noFill/>
                          </a:ln>
                        </a:rPr>
                        <a:t>xor</a:t>
                      </a:r>
                      <a:r>
                        <a:rPr lang="en-US" altLang="ja-GB" sz="1200" dirty="0">
                          <a:ln>
                            <a:noFill/>
                          </a:ln>
                        </a:rPr>
                        <a:t> B</a:t>
                      </a:r>
                      <a:endParaRPr lang="ja-GB" altLang="en-US" sz="1200" dirty="0">
                        <a:ln>
                          <a:noFill/>
                        </a:ln>
                      </a:endParaRPr>
                    </a:p>
                  </a:txBody>
                  <a:tcPr>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746227256"/>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042749801"/>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837349891"/>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3585343672"/>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988365678"/>
                  </a:ext>
                </a:extLst>
              </a:tr>
            </a:tbl>
          </a:graphicData>
        </a:graphic>
      </p:graphicFrame>
      <p:sp>
        <p:nvSpPr>
          <p:cNvPr id="7" name="右中かっこ 6">
            <a:extLst>
              <a:ext uri="{FF2B5EF4-FFF2-40B4-BE49-F238E27FC236}">
                <a16:creationId xmlns:a16="http://schemas.microsoft.com/office/drawing/2014/main" id="{6BEAF14B-0F45-1E63-D0DE-91B0B253D00B}"/>
              </a:ext>
            </a:extLst>
          </p:cNvPr>
          <p:cNvSpPr/>
          <p:nvPr/>
        </p:nvSpPr>
        <p:spPr>
          <a:xfrm rot="5400000">
            <a:off x="1319063" y="2949321"/>
            <a:ext cx="155449" cy="146734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GB" altLang="en-US"/>
          </a:p>
        </p:txBody>
      </p:sp>
      <p:sp>
        <p:nvSpPr>
          <p:cNvPr id="10" name="テキスト ボックス 9">
            <a:extLst>
              <a:ext uri="{FF2B5EF4-FFF2-40B4-BE49-F238E27FC236}">
                <a16:creationId xmlns:a16="http://schemas.microsoft.com/office/drawing/2014/main" id="{8EDD21FC-25C1-BC8E-4E12-1E1B6EEF7B0C}"/>
              </a:ext>
            </a:extLst>
          </p:cNvPr>
          <p:cNvSpPr txBox="1"/>
          <p:nvPr/>
        </p:nvSpPr>
        <p:spPr>
          <a:xfrm>
            <a:off x="1124917" y="3764834"/>
            <a:ext cx="543739" cy="307777"/>
          </a:xfrm>
          <a:prstGeom prst="rect">
            <a:avLst/>
          </a:prstGeom>
          <a:noFill/>
        </p:spPr>
        <p:txBody>
          <a:bodyPr wrap="none" rtlCol="0">
            <a:spAutoFit/>
          </a:bodyPr>
          <a:lstStyle/>
          <a:p>
            <a:r>
              <a:rPr kumimoji="1" lang="ja-GB" altLang="en-US" sz="1400" dirty="0"/>
              <a:t>入力</a:t>
            </a:r>
          </a:p>
        </p:txBody>
      </p:sp>
      <p:sp>
        <p:nvSpPr>
          <p:cNvPr id="13" name="右中かっこ 12">
            <a:extLst>
              <a:ext uri="{FF2B5EF4-FFF2-40B4-BE49-F238E27FC236}">
                <a16:creationId xmlns:a16="http://schemas.microsoft.com/office/drawing/2014/main" id="{50798553-B49F-4F49-D527-EBA2D468312F}"/>
              </a:ext>
            </a:extLst>
          </p:cNvPr>
          <p:cNvSpPr/>
          <p:nvPr/>
        </p:nvSpPr>
        <p:spPr>
          <a:xfrm rot="5400000">
            <a:off x="2465319" y="3321443"/>
            <a:ext cx="155449" cy="723096"/>
          </a:xfrm>
          <a:prstGeom prst="rightBrac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GB" altLang="en-US"/>
          </a:p>
        </p:txBody>
      </p:sp>
      <p:sp>
        <p:nvSpPr>
          <p:cNvPr id="14" name="テキスト ボックス 13">
            <a:extLst>
              <a:ext uri="{FF2B5EF4-FFF2-40B4-BE49-F238E27FC236}">
                <a16:creationId xmlns:a16="http://schemas.microsoft.com/office/drawing/2014/main" id="{AE92F6BF-4F8D-7BCC-8E99-CF4560AD0A0A}"/>
              </a:ext>
            </a:extLst>
          </p:cNvPr>
          <p:cNvSpPr txBox="1"/>
          <p:nvPr/>
        </p:nvSpPr>
        <p:spPr>
          <a:xfrm>
            <a:off x="2271173" y="3764834"/>
            <a:ext cx="543739" cy="307777"/>
          </a:xfrm>
          <a:prstGeom prst="rect">
            <a:avLst/>
          </a:prstGeom>
          <a:noFill/>
        </p:spPr>
        <p:txBody>
          <a:bodyPr wrap="none" rtlCol="0">
            <a:spAutoFit/>
          </a:bodyPr>
          <a:lstStyle/>
          <a:p>
            <a:r>
              <a:rPr kumimoji="1" lang="ja-GB" altLang="en-US" sz="1400" dirty="0"/>
              <a:t>出力</a:t>
            </a:r>
          </a:p>
        </p:txBody>
      </p:sp>
      <p:sp>
        <p:nvSpPr>
          <p:cNvPr id="15" name="右中かっこ 14">
            <a:extLst>
              <a:ext uri="{FF2B5EF4-FFF2-40B4-BE49-F238E27FC236}">
                <a16:creationId xmlns:a16="http://schemas.microsoft.com/office/drawing/2014/main" id="{CE63D065-CDCD-F3CE-A9EE-0B836832531D}"/>
              </a:ext>
            </a:extLst>
          </p:cNvPr>
          <p:cNvSpPr/>
          <p:nvPr/>
        </p:nvSpPr>
        <p:spPr>
          <a:xfrm rot="5400000">
            <a:off x="4111260" y="2945203"/>
            <a:ext cx="155449" cy="146734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GB" altLang="en-US"/>
          </a:p>
        </p:txBody>
      </p:sp>
      <p:sp>
        <p:nvSpPr>
          <p:cNvPr id="16" name="テキスト ボックス 15">
            <a:extLst>
              <a:ext uri="{FF2B5EF4-FFF2-40B4-BE49-F238E27FC236}">
                <a16:creationId xmlns:a16="http://schemas.microsoft.com/office/drawing/2014/main" id="{33817FB4-239D-5B5A-2E92-1891DA4A188C}"/>
              </a:ext>
            </a:extLst>
          </p:cNvPr>
          <p:cNvSpPr txBox="1"/>
          <p:nvPr/>
        </p:nvSpPr>
        <p:spPr>
          <a:xfrm>
            <a:off x="3917114" y="3760716"/>
            <a:ext cx="543739" cy="307777"/>
          </a:xfrm>
          <a:prstGeom prst="rect">
            <a:avLst/>
          </a:prstGeom>
          <a:noFill/>
        </p:spPr>
        <p:txBody>
          <a:bodyPr wrap="none" rtlCol="0">
            <a:spAutoFit/>
          </a:bodyPr>
          <a:lstStyle/>
          <a:p>
            <a:r>
              <a:rPr kumimoji="1" lang="ja-GB" altLang="en-US" sz="1400" dirty="0"/>
              <a:t>入力</a:t>
            </a:r>
          </a:p>
        </p:txBody>
      </p:sp>
      <p:sp>
        <p:nvSpPr>
          <p:cNvPr id="17" name="右中かっこ 16">
            <a:extLst>
              <a:ext uri="{FF2B5EF4-FFF2-40B4-BE49-F238E27FC236}">
                <a16:creationId xmlns:a16="http://schemas.microsoft.com/office/drawing/2014/main" id="{492A4437-4379-8B47-EABB-AEC39151F7D4}"/>
              </a:ext>
            </a:extLst>
          </p:cNvPr>
          <p:cNvSpPr/>
          <p:nvPr/>
        </p:nvSpPr>
        <p:spPr>
          <a:xfrm rot="5400000">
            <a:off x="5257516" y="3317325"/>
            <a:ext cx="155449" cy="723096"/>
          </a:xfrm>
          <a:prstGeom prst="rightBrac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GB" altLang="en-US"/>
          </a:p>
        </p:txBody>
      </p:sp>
      <p:sp>
        <p:nvSpPr>
          <p:cNvPr id="18" name="テキスト ボックス 17">
            <a:extLst>
              <a:ext uri="{FF2B5EF4-FFF2-40B4-BE49-F238E27FC236}">
                <a16:creationId xmlns:a16="http://schemas.microsoft.com/office/drawing/2014/main" id="{CCBBF08B-F8C3-5F5F-0E41-9C656277B9C5}"/>
              </a:ext>
            </a:extLst>
          </p:cNvPr>
          <p:cNvSpPr txBox="1"/>
          <p:nvPr/>
        </p:nvSpPr>
        <p:spPr>
          <a:xfrm>
            <a:off x="5063370" y="3760716"/>
            <a:ext cx="543739" cy="307777"/>
          </a:xfrm>
          <a:prstGeom prst="rect">
            <a:avLst/>
          </a:prstGeom>
          <a:noFill/>
        </p:spPr>
        <p:txBody>
          <a:bodyPr wrap="none" rtlCol="0">
            <a:spAutoFit/>
          </a:bodyPr>
          <a:lstStyle/>
          <a:p>
            <a:r>
              <a:rPr kumimoji="1" lang="ja-GB" altLang="en-US" sz="1400" dirty="0"/>
              <a:t>出力</a:t>
            </a:r>
          </a:p>
        </p:txBody>
      </p:sp>
      <p:sp>
        <p:nvSpPr>
          <p:cNvPr id="19" name="右中かっこ 18">
            <a:extLst>
              <a:ext uri="{FF2B5EF4-FFF2-40B4-BE49-F238E27FC236}">
                <a16:creationId xmlns:a16="http://schemas.microsoft.com/office/drawing/2014/main" id="{9FF82C0E-DE76-9DEC-2382-82E86468562D}"/>
              </a:ext>
            </a:extLst>
          </p:cNvPr>
          <p:cNvSpPr/>
          <p:nvPr/>
        </p:nvSpPr>
        <p:spPr>
          <a:xfrm rot="5400000">
            <a:off x="6895350" y="2945203"/>
            <a:ext cx="155449" cy="146734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GB" altLang="en-US"/>
          </a:p>
        </p:txBody>
      </p:sp>
      <p:sp>
        <p:nvSpPr>
          <p:cNvPr id="20" name="テキスト ボックス 19">
            <a:extLst>
              <a:ext uri="{FF2B5EF4-FFF2-40B4-BE49-F238E27FC236}">
                <a16:creationId xmlns:a16="http://schemas.microsoft.com/office/drawing/2014/main" id="{01F9CB7B-CB62-5F44-BC58-1F20EDA5FA58}"/>
              </a:ext>
            </a:extLst>
          </p:cNvPr>
          <p:cNvSpPr txBox="1"/>
          <p:nvPr/>
        </p:nvSpPr>
        <p:spPr>
          <a:xfrm>
            <a:off x="6701204" y="3760716"/>
            <a:ext cx="543739" cy="307777"/>
          </a:xfrm>
          <a:prstGeom prst="rect">
            <a:avLst/>
          </a:prstGeom>
          <a:noFill/>
        </p:spPr>
        <p:txBody>
          <a:bodyPr wrap="none" rtlCol="0">
            <a:spAutoFit/>
          </a:bodyPr>
          <a:lstStyle/>
          <a:p>
            <a:r>
              <a:rPr kumimoji="1" lang="ja-GB" altLang="en-US" sz="1400" dirty="0"/>
              <a:t>入力</a:t>
            </a:r>
          </a:p>
        </p:txBody>
      </p:sp>
      <p:sp>
        <p:nvSpPr>
          <p:cNvPr id="21" name="右中かっこ 20">
            <a:extLst>
              <a:ext uri="{FF2B5EF4-FFF2-40B4-BE49-F238E27FC236}">
                <a16:creationId xmlns:a16="http://schemas.microsoft.com/office/drawing/2014/main" id="{58F635B9-831A-79CE-5C20-00A68090BF95}"/>
              </a:ext>
            </a:extLst>
          </p:cNvPr>
          <p:cNvSpPr/>
          <p:nvPr/>
        </p:nvSpPr>
        <p:spPr>
          <a:xfrm rot="5400000">
            <a:off x="8041606" y="3317325"/>
            <a:ext cx="155449" cy="723096"/>
          </a:xfrm>
          <a:prstGeom prst="rightBrac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GB" altLang="en-US"/>
          </a:p>
        </p:txBody>
      </p:sp>
      <p:sp>
        <p:nvSpPr>
          <p:cNvPr id="22" name="テキスト ボックス 21">
            <a:extLst>
              <a:ext uri="{FF2B5EF4-FFF2-40B4-BE49-F238E27FC236}">
                <a16:creationId xmlns:a16="http://schemas.microsoft.com/office/drawing/2014/main" id="{61FA0202-08C0-61D1-4D1C-D624CD696A1E}"/>
              </a:ext>
            </a:extLst>
          </p:cNvPr>
          <p:cNvSpPr txBox="1"/>
          <p:nvPr/>
        </p:nvSpPr>
        <p:spPr>
          <a:xfrm>
            <a:off x="7847460" y="3760716"/>
            <a:ext cx="543739" cy="307777"/>
          </a:xfrm>
          <a:prstGeom prst="rect">
            <a:avLst/>
          </a:prstGeom>
          <a:noFill/>
        </p:spPr>
        <p:txBody>
          <a:bodyPr wrap="none" rtlCol="0">
            <a:spAutoFit/>
          </a:bodyPr>
          <a:lstStyle/>
          <a:p>
            <a:r>
              <a:rPr kumimoji="1" lang="ja-GB" altLang="en-US" sz="1400" dirty="0"/>
              <a:t>出力</a:t>
            </a:r>
          </a:p>
        </p:txBody>
      </p:sp>
      <p:graphicFrame>
        <p:nvGraphicFramePr>
          <p:cNvPr id="23" name="表 22">
            <a:extLst>
              <a:ext uri="{FF2B5EF4-FFF2-40B4-BE49-F238E27FC236}">
                <a16:creationId xmlns:a16="http://schemas.microsoft.com/office/drawing/2014/main" id="{0550DB3C-1BF8-4926-44EA-9761B3760B8D}"/>
              </a:ext>
            </a:extLst>
          </p:cNvPr>
          <p:cNvGraphicFramePr>
            <a:graphicFrameLocks noGrp="1"/>
          </p:cNvGraphicFramePr>
          <p:nvPr/>
        </p:nvGraphicFramePr>
        <p:xfrm>
          <a:off x="4903214" y="4552304"/>
          <a:ext cx="2844000" cy="1356360"/>
        </p:xfrm>
        <a:graphic>
          <a:graphicData uri="http://schemas.openxmlformats.org/drawingml/2006/table">
            <a:tbl>
              <a:tblPr firstRow="1" bandRow="1">
                <a:tableStyleId>{5C22544A-7EE6-4342-B048-85BDC9FD1C3A}</a:tableStyleId>
              </a:tblPr>
              <a:tblGrid>
                <a:gridCol w="948000">
                  <a:extLst>
                    <a:ext uri="{9D8B030D-6E8A-4147-A177-3AD203B41FA5}">
                      <a16:colId xmlns:a16="http://schemas.microsoft.com/office/drawing/2014/main" val="3858253604"/>
                    </a:ext>
                  </a:extLst>
                </a:gridCol>
                <a:gridCol w="948000">
                  <a:extLst>
                    <a:ext uri="{9D8B030D-6E8A-4147-A177-3AD203B41FA5}">
                      <a16:colId xmlns:a16="http://schemas.microsoft.com/office/drawing/2014/main" val="1587743710"/>
                    </a:ext>
                  </a:extLst>
                </a:gridCol>
                <a:gridCol w="948000">
                  <a:extLst>
                    <a:ext uri="{9D8B030D-6E8A-4147-A177-3AD203B41FA5}">
                      <a16:colId xmlns:a16="http://schemas.microsoft.com/office/drawing/2014/main" val="2822461469"/>
                    </a:ext>
                  </a:extLst>
                </a:gridCol>
              </a:tblGrid>
              <a:tr h="245128">
                <a:tc>
                  <a:txBody>
                    <a:bodyPr/>
                    <a:lstStyle/>
                    <a:p>
                      <a:pPr algn="ctr"/>
                      <a:r>
                        <a:rPr lang="en-US" altLang="ja-GB" sz="1100" dirty="0">
                          <a:ln>
                            <a:noFill/>
                          </a:ln>
                        </a:rPr>
                        <a:t>A</a:t>
                      </a:r>
                      <a:endParaRPr lang="ja-GB" altLang="en-US" sz="11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100" dirty="0">
                          <a:ln>
                            <a:noFill/>
                          </a:ln>
                        </a:rPr>
                        <a:t>B</a:t>
                      </a:r>
                      <a:endParaRPr lang="ja-GB" altLang="en-US" sz="11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100" dirty="0">
                          <a:ln>
                            <a:noFill/>
                          </a:ln>
                        </a:rPr>
                        <a:t>not (A or B)</a:t>
                      </a:r>
                      <a:endParaRPr lang="ja-GB" altLang="en-US" sz="11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46227256"/>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042749801"/>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837349891"/>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3585343672"/>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988365678"/>
                  </a:ext>
                </a:extLst>
              </a:tr>
            </a:tbl>
          </a:graphicData>
        </a:graphic>
      </p:graphicFrame>
      <p:graphicFrame>
        <p:nvGraphicFramePr>
          <p:cNvPr id="24" name="表 23">
            <a:extLst>
              <a:ext uri="{FF2B5EF4-FFF2-40B4-BE49-F238E27FC236}">
                <a16:creationId xmlns:a16="http://schemas.microsoft.com/office/drawing/2014/main" id="{B70880B0-DC48-4672-5E0B-2D2A39DBA8BF}"/>
              </a:ext>
            </a:extLst>
          </p:cNvPr>
          <p:cNvGraphicFramePr>
            <a:graphicFrameLocks noGrp="1"/>
          </p:cNvGraphicFramePr>
          <p:nvPr/>
        </p:nvGraphicFramePr>
        <p:xfrm>
          <a:off x="1396786" y="4572401"/>
          <a:ext cx="2844000" cy="1356360"/>
        </p:xfrm>
        <a:graphic>
          <a:graphicData uri="http://schemas.openxmlformats.org/drawingml/2006/table">
            <a:tbl>
              <a:tblPr firstRow="1" bandRow="1">
                <a:tableStyleId>{5C22544A-7EE6-4342-B048-85BDC9FD1C3A}</a:tableStyleId>
              </a:tblPr>
              <a:tblGrid>
                <a:gridCol w="948000">
                  <a:extLst>
                    <a:ext uri="{9D8B030D-6E8A-4147-A177-3AD203B41FA5}">
                      <a16:colId xmlns:a16="http://schemas.microsoft.com/office/drawing/2014/main" val="3858253604"/>
                    </a:ext>
                  </a:extLst>
                </a:gridCol>
                <a:gridCol w="948000">
                  <a:extLst>
                    <a:ext uri="{9D8B030D-6E8A-4147-A177-3AD203B41FA5}">
                      <a16:colId xmlns:a16="http://schemas.microsoft.com/office/drawing/2014/main" val="1587743710"/>
                    </a:ext>
                  </a:extLst>
                </a:gridCol>
                <a:gridCol w="948000">
                  <a:extLst>
                    <a:ext uri="{9D8B030D-6E8A-4147-A177-3AD203B41FA5}">
                      <a16:colId xmlns:a16="http://schemas.microsoft.com/office/drawing/2014/main" val="2822461469"/>
                    </a:ext>
                  </a:extLst>
                </a:gridCol>
              </a:tblGrid>
              <a:tr h="245128">
                <a:tc>
                  <a:txBody>
                    <a:bodyPr/>
                    <a:lstStyle/>
                    <a:p>
                      <a:pPr algn="ctr"/>
                      <a:r>
                        <a:rPr lang="en-US" altLang="ja-GB" sz="1100" dirty="0">
                          <a:ln>
                            <a:noFill/>
                          </a:ln>
                        </a:rPr>
                        <a:t>A</a:t>
                      </a:r>
                      <a:endParaRPr lang="ja-GB" altLang="en-US" sz="11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100" dirty="0">
                          <a:ln>
                            <a:noFill/>
                          </a:ln>
                        </a:rPr>
                        <a:t>B</a:t>
                      </a:r>
                      <a:endParaRPr lang="ja-GB" altLang="en-US" sz="11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100" dirty="0">
                          <a:ln>
                            <a:noFill/>
                          </a:ln>
                        </a:rPr>
                        <a:t>not (A and B)</a:t>
                      </a:r>
                      <a:endParaRPr lang="ja-GB" altLang="en-US" sz="1100" dirty="0">
                        <a:ln>
                          <a:noFill/>
                        </a:ln>
                      </a:endParaRPr>
                    </a:p>
                  </a:txBody>
                  <a:tcPr>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746227256"/>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042749801"/>
                  </a:ext>
                </a:extLst>
              </a:tr>
              <a:tr h="245128">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837349891"/>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3585343672"/>
                  </a:ext>
                </a:extLst>
              </a:tr>
              <a:tr h="245128">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1</a:t>
                      </a:r>
                      <a:endParaRPr lang="ja-GB" altLang="en-US" sz="1200" dirty="0">
                        <a:ln>
                          <a:solidFill>
                            <a:srgbClr val="002060"/>
                          </a:solidFill>
                        </a:ln>
                      </a:endParaRPr>
                    </a:p>
                  </a:txBody>
                  <a:tcPr>
                    <a:lnL w="12700" cap="flat" cmpd="sng" algn="ctr">
                      <a:solidFill>
                        <a:schemeClr val="tx1"/>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ja-GB" sz="1200" dirty="0">
                          <a:ln>
                            <a:solidFill>
                              <a:srgbClr val="002060"/>
                            </a:solidFill>
                          </a:ln>
                        </a:rPr>
                        <a:t>0</a:t>
                      </a:r>
                      <a:endParaRPr lang="ja-GB" altLang="en-US" sz="1200" dirty="0">
                        <a:ln>
                          <a:solidFill>
                            <a:srgbClr val="002060"/>
                          </a:solidFill>
                        </a:ln>
                      </a:endParaRPr>
                    </a:p>
                  </a:txBody>
                  <a:tcPr>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988365678"/>
                  </a:ext>
                </a:extLst>
              </a:tr>
            </a:tbl>
          </a:graphicData>
        </a:graphic>
      </p:graphicFrame>
      <p:sp>
        <p:nvSpPr>
          <p:cNvPr id="25" name="右中かっこ 24">
            <a:extLst>
              <a:ext uri="{FF2B5EF4-FFF2-40B4-BE49-F238E27FC236}">
                <a16:creationId xmlns:a16="http://schemas.microsoft.com/office/drawing/2014/main" id="{9B7D31CB-1D8C-9DB3-D6EE-6ECE912A85B1}"/>
              </a:ext>
            </a:extLst>
          </p:cNvPr>
          <p:cNvSpPr/>
          <p:nvPr/>
        </p:nvSpPr>
        <p:spPr>
          <a:xfrm rot="5400000">
            <a:off x="2259024" y="5090569"/>
            <a:ext cx="155449" cy="187992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GB" altLang="en-US"/>
          </a:p>
        </p:txBody>
      </p:sp>
      <p:sp>
        <p:nvSpPr>
          <p:cNvPr id="26" name="テキスト ボックス 25">
            <a:extLst>
              <a:ext uri="{FF2B5EF4-FFF2-40B4-BE49-F238E27FC236}">
                <a16:creationId xmlns:a16="http://schemas.microsoft.com/office/drawing/2014/main" id="{3A92F836-3590-8B08-394E-7E09C0041DDF}"/>
              </a:ext>
            </a:extLst>
          </p:cNvPr>
          <p:cNvSpPr txBox="1"/>
          <p:nvPr/>
        </p:nvSpPr>
        <p:spPr>
          <a:xfrm>
            <a:off x="2064878" y="6108255"/>
            <a:ext cx="543739" cy="307777"/>
          </a:xfrm>
          <a:prstGeom prst="rect">
            <a:avLst/>
          </a:prstGeom>
          <a:noFill/>
        </p:spPr>
        <p:txBody>
          <a:bodyPr wrap="none" rtlCol="0">
            <a:spAutoFit/>
          </a:bodyPr>
          <a:lstStyle/>
          <a:p>
            <a:r>
              <a:rPr kumimoji="1" lang="ja-GB" altLang="en-US" sz="1400" dirty="0"/>
              <a:t>入力</a:t>
            </a:r>
          </a:p>
        </p:txBody>
      </p:sp>
      <p:sp>
        <p:nvSpPr>
          <p:cNvPr id="27" name="右中かっこ 26">
            <a:extLst>
              <a:ext uri="{FF2B5EF4-FFF2-40B4-BE49-F238E27FC236}">
                <a16:creationId xmlns:a16="http://schemas.microsoft.com/office/drawing/2014/main" id="{E7BF4C07-F399-75F9-7563-9FD7DC10564F}"/>
              </a:ext>
            </a:extLst>
          </p:cNvPr>
          <p:cNvSpPr/>
          <p:nvPr/>
        </p:nvSpPr>
        <p:spPr>
          <a:xfrm rot="5400000">
            <a:off x="3679509" y="5598023"/>
            <a:ext cx="155449" cy="865016"/>
          </a:xfrm>
          <a:prstGeom prst="rightBrac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GB" altLang="en-US"/>
          </a:p>
        </p:txBody>
      </p:sp>
      <p:sp>
        <p:nvSpPr>
          <p:cNvPr id="28" name="テキスト ボックス 27">
            <a:extLst>
              <a:ext uri="{FF2B5EF4-FFF2-40B4-BE49-F238E27FC236}">
                <a16:creationId xmlns:a16="http://schemas.microsoft.com/office/drawing/2014/main" id="{FC336B0E-0356-F3E3-A62A-95BEB2567717}"/>
              </a:ext>
            </a:extLst>
          </p:cNvPr>
          <p:cNvSpPr txBox="1"/>
          <p:nvPr/>
        </p:nvSpPr>
        <p:spPr>
          <a:xfrm>
            <a:off x="3485363" y="6108255"/>
            <a:ext cx="543739" cy="307777"/>
          </a:xfrm>
          <a:prstGeom prst="rect">
            <a:avLst/>
          </a:prstGeom>
          <a:noFill/>
        </p:spPr>
        <p:txBody>
          <a:bodyPr wrap="none" rtlCol="0">
            <a:spAutoFit/>
          </a:bodyPr>
          <a:lstStyle/>
          <a:p>
            <a:r>
              <a:rPr kumimoji="1" lang="ja-GB" altLang="en-US" sz="1400" dirty="0"/>
              <a:t>出力</a:t>
            </a:r>
          </a:p>
        </p:txBody>
      </p:sp>
      <p:sp>
        <p:nvSpPr>
          <p:cNvPr id="29" name="右中かっこ 28">
            <a:extLst>
              <a:ext uri="{FF2B5EF4-FFF2-40B4-BE49-F238E27FC236}">
                <a16:creationId xmlns:a16="http://schemas.microsoft.com/office/drawing/2014/main" id="{3077D694-36DA-4CC7-EC7F-1EA92B2A4B78}"/>
              </a:ext>
            </a:extLst>
          </p:cNvPr>
          <p:cNvSpPr/>
          <p:nvPr/>
        </p:nvSpPr>
        <p:spPr>
          <a:xfrm rot="5400000">
            <a:off x="5767446" y="5090569"/>
            <a:ext cx="155449" cy="187992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GB" altLang="en-US"/>
          </a:p>
        </p:txBody>
      </p:sp>
      <p:sp>
        <p:nvSpPr>
          <p:cNvPr id="30" name="テキスト ボックス 29">
            <a:extLst>
              <a:ext uri="{FF2B5EF4-FFF2-40B4-BE49-F238E27FC236}">
                <a16:creationId xmlns:a16="http://schemas.microsoft.com/office/drawing/2014/main" id="{F682C373-8BD1-2F04-8F36-2FEDF01A83BA}"/>
              </a:ext>
            </a:extLst>
          </p:cNvPr>
          <p:cNvSpPr txBox="1"/>
          <p:nvPr/>
        </p:nvSpPr>
        <p:spPr>
          <a:xfrm>
            <a:off x="5573300" y="6108255"/>
            <a:ext cx="543739" cy="307777"/>
          </a:xfrm>
          <a:prstGeom prst="rect">
            <a:avLst/>
          </a:prstGeom>
          <a:noFill/>
        </p:spPr>
        <p:txBody>
          <a:bodyPr wrap="none" rtlCol="0">
            <a:spAutoFit/>
          </a:bodyPr>
          <a:lstStyle/>
          <a:p>
            <a:r>
              <a:rPr kumimoji="1" lang="ja-GB" altLang="en-US" sz="1400" dirty="0"/>
              <a:t>入力</a:t>
            </a:r>
          </a:p>
        </p:txBody>
      </p:sp>
      <p:sp>
        <p:nvSpPr>
          <p:cNvPr id="31" name="右中かっこ 30">
            <a:extLst>
              <a:ext uri="{FF2B5EF4-FFF2-40B4-BE49-F238E27FC236}">
                <a16:creationId xmlns:a16="http://schemas.microsoft.com/office/drawing/2014/main" id="{E2340A56-F232-51B1-3EEA-0E5DA7DF027C}"/>
              </a:ext>
            </a:extLst>
          </p:cNvPr>
          <p:cNvSpPr/>
          <p:nvPr/>
        </p:nvSpPr>
        <p:spPr>
          <a:xfrm rot="5400000">
            <a:off x="7187931" y="5598023"/>
            <a:ext cx="155449" cy="865016"/>
          </a:xfrm>
          <a:prstGeom prst="rightBrac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GB" altLang="en-US"/>
          </a:p>
        </p:txBody>
      </p:sp>
      <p:sp>
        <p:nvSpPr>
          <p:cNvPr id="32" name="テキスト ボックス 31">
            <a:extLst>
              <a:ext uri="{FF2B5EF4-FFF2-40B4-BE49-F238E27FC236}">
                <a16:creationId xmlns:a16="http://schemas.microsoft.com/office/drawing/2014/main" id="{924AC998-395E-8F33-E4EB-D13FFE276031}"/>
              </a:ext>
            </a:extLst>
          </p:cNvPr>
          <p:cNvSpPr txBox="1"/>
          <p:nvPr/>
        </p:nvSpPr>
        <p:spPr>
          <a:xfrm>
            <a:off x="6993785" y="6108255"/>
            <a:ext cx="543739" cy="307777"/>
          </a:xfrm>
          <a:prstGeom prst="rect">
            <a:avLst/>
          </a:prstGeom>
          <a:noFill/>
        </p:spPr>
        <p:txBody>
          <a:bodyPr wrap="none" rtlCol="0">
            <a:spAutoFit/>
          </a:bodyPr>
          <a:lstStyle/>
          <a:p>
            <a:r>
              <a:rPr kumimoji="1" lang="ja-GB" altLang="en-US" sz="1400" dirty="0"/>
              <a:t>出力</a:t>
            </a:r>
          </a:p>
        </p:txBody>
      </p:sp>
    </p:spTree>
    <p:extLst>
      <p:ext uri="{BB962C8B-B14F-4D97-AF65-F5344CB8AC3E}">
        <p14:creationId xmlns:p14="http://schemas.microsoft.com/office/powerpoint/2010/main" val="166226648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B91E3C-65A8-D94A-A4CB-9C10A8E58E53}"/>
              </a:ext>
            </a:extLst>
          </p:cNvPr>
          <p:cNvSpPr>
            <a:spLocks noGrp="1"/>
          </p:cNvSpPr>
          <p:nvPr>
            <p:ph type="title"/>
          </p:nvPr>
        </p:nvSpPr>
        <p:spPr/>
        <p:txBody>
          <a:bodyPr/>
          <a:lstStyle/>
          <a:p>
            <a:r>
              <a:rPr kumimoji="1" lang="en-US" altLang="ja-GB" dirty="0"/>
              <a:t>Web</a:t>
            </a:r>
            <a:r>
              <a:rPr kumimoji="1" lang="ja-GB" altLang="en-US" dirty="0"/>
              <a:t>アプリ</a:t>
            </a:r>
          </a:p>
        </p:txBody>
      </p:sp>
      <p:sp>
        <p:nvSpPr>
          <p:cNvPr id="4" name="テキスト ボックス 3">
            <a:extLst>
              <a:ext uri="{FF2B5EF4-FFF2-40B4-BE49-F238E27FC236}">
                <a16:creationId xmlns:a16="http://schemas.microsoft.com/office/drawing/2014/main" id="{8F2579C6-A913-87F9-B7B8-DD3A176500AA}"/>
              </a:ext>
            </a:extLst>
          </p:cNvPr>
          <p:cNvSpPr txBox="1"/>
          <p:nvPr/>
        </p:nvSpPr>
        <p:spPr>
          <a:xfrm>
            <a:off x="905836" y="5962771"/>
            <a:ext cx="7332328" cy="369332"/>
          </a:xfrm>
          <a:prstGeom prst="rect">
            <a:avLst/>
          </a:prstGeom>
          <a:noFill/>
        </p:spPr>
        <p:txBody>
          <a:bodyPr wrap="none" rtlCol="0">
            <a:spAutoFit/>
          </a:bodyPr>
          <a:lstStyle/>
          <a:p>
            <a:r>
              <a:rPr kumimoji="1" lang="en-GB" altLang="ja-GB" dirty="0">
                <a:hlinkClick r:id="rId2"/>
              </a:rPr>
              <a:t>https://claude.ai/public/artifacts/47f22590-2bad-4803-888b-620148d6292e</a:t>
            </a:r>
            <a:r>
              <a:rPr kumimoji="1" lang="en-GB" altLang="ja-GB" dirty="0"/>
              <a:t> </a:t>
            </a:r>
            <a:endParaRPr kumimoji="1" lang="ja-GB" altLang="en-US" dirty="0"/>
          </a:p>
        </p:txBody>
      </p:sp>
      <p:sp>
        <p:nvSpPr>
          <p:cNvPr id="5" name="テキスト ボックス 4">
            <a:extLst>
              <a:ext uri="{FF2B5EF4-FFF2-40B4-BE49-F238E27FC236}">
                <a16:creationId xmlns:a16="http://schemas.microsoft.com/office/drawing/2014/main" id="{C942CDEC-629C-07C7-D1A9-EF24C719A9EA}"/>
              </a:ext>
            </a:extLst>
          </p:cNvPr>
          <p:cNvSpPr txBox="1"/>
          <p:nvPr/>
        </p:nvSpPr>
        <p:spPr>
          <a:xfrm>
            <a:off x="1363429" y="6332103"/>
            <a:ext cx="6417142" cy="369332"/>
          </a:xfrm>
          <a:prstGeom prst="rect">
            <a:avLst/>
          </a:prstGeom>
          <a:noFill/>
        </p:spPr>
        <p:txBody>
          <a:bodyPr wrap="none" rtlCol="0">
            <a:spAutoFit/>
          </a:bodyPr>
          <a:lstStyle/>
          <a:p>
            <a:pPr algn="ctr"/>
            <a:r>
              <a:rPr kumimoji="1" lang="ja-GB" altLang="en-US" dirty="0">
                <a:solidFill>
                  <a:schemeClr val="tx1">
                    <a:lumMod val="50000"/>
                    <a:lumOff val="50000"/>
                  </a:schemeClr>
                </a:solidFill>
              </a:rPr>
              <a:t>アプリに不具合や間違いがあれば講師までご連絡ください</a:t>
            </a:r>
          </a:p>
        </p:txBody>
      </p:sp>
      <p:pic>
        <p:nvPicPr>
          <p:cNvPr id="9" name="図 8"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60973DAD-3BB0-6871-8972-8256B5D1E7F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85800" y="1314330"/>
            <a:ext cx="7772400" cy="4463775"/>
          </a:xfrm>
          <a:prstGeom prst="rect">
            <a:avLst/>
          </a:prstGeom>
        </p:spPr>
      </p:pic>
    </p:spTree>
    <p:extLst>
      <p:ext uri="{BB962C8B-B14F-4D97-AF65-F5344CB8AC3E}">
        <p14:creationId xmlns:p14="http://schemas.microsoft.com/office/powerpoint/2010/main" val="162752385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B168A9-E07A-1A84-9798-91B6EEE30167}"/>
              </a:ext>
            </a:extLst>
          </p:cNvPr>
          <p:cNvSpPr>
            <a:spLocks noGrp="1"/>
          </p:cNvSpPr>
          <p:nvPr>
            <p:ph type="title"/>
          </p:nvPr>
        </p:nvSpPr>
        <p:spPr/>
        <p:txBody>
          <a:bodyPr/>
          <a:lstStyle/>
          <a:p>
            <a:r>
              <a:rPr kumimoji="1" lang="en-US" altLang="ja-GB" dirty="0"/>
              <a:t>Google</a:t>
            </a:r>
            <a:r>
              <a:rPr kumimoji="1" lang="ja-GB" altLang="en-US" dirty="0"/>
              <a:t>検索演算子</a:t>
            </a:r>
          </a:p>
        </p:txBody>
      </p:sp>
      <p:sp>
        <p:nvSpPr>
          <p:cNvPr id="3" name="コンテンツ プレースホルダー 2">
            <a:extLst>
              <a:ext uri="{FF2B5EF4-FFF2-40B4-BE49-F238E27FC236}">
                <a16:creationId xmlns:a16="http://schemas.microsoft.com/office/drawing/2014/main" id="{371F568F-A868-0411-CD55-D58D082F6D83}"/>
              </a:ext>
            </a:extLst>
          </p:cNvPr>
          <p:cNvSpPr>
            <a:spLocks noGrp="1"/>
          </p:cNvSpPr>
          <p:nvPr>
            <p:ph idx="1"/>
          </p:nvPr>
        </p:nvSpPr>
        <p:spPr/>
        <p:txBody>
          <a:bodyPr/>
          <a:lstStyle/>
          <a:p>
            <a:pPr marL="457200" lvl="1" indent="0">
              <a:buNone/>
            </a:pPr>
            <a:r>
              <a:rPr kumimoji="1" lang="en-US" altLang="ja-GB" dirty="0">
                <a:solidFill>
                  <a:srgbClr val="002060"/>
                </a:solidFill>
              </a:rPr>
              <a:t>AND</a:t>
            </a:r>
            <a:r>
              <a:rPr kumimoji="1" lang="ja-GB" altLang="en-US" dirty="0">
                <a:solidFill>
                  <a:srgbClr val="002060"/>
                </a:solidFill>
              </a:rPr>
              <a:t>検索（積集合）</a:t>
            </a:r>
            <a:endParaRPr kumimoji="1" lang="en-US" altLang="ja-GB" dirty="0">
              <a:solidFill>
                <a:srgbClr val="002060"/>
              </a:solidFill>
            </a:endParaRPr>
          </a:p>
          <a:p>
            <a:pPr marL="914400" lvl="2" indent="0">
              <a:buNone/>
            </a:pPr>
            <a:r>
              <a:rPr lang="ja-GB" altLang="en-US" dirty="0"/>
              <a:t>例）北九州市，会食，海鮮全てのワードを含む記事を探す</a:t>
            </a:r>
            <a:endParaRPr lang="en-US" altLang="ja-GB" dirty="0"/>
          </a:p>
          <a:p>
            <a:pPr marL="1371600" lvl="3" indent="0">
              <a:buNone/>
            </a:pPr>
            <a:r>
              <a:rPr lang="ja-GB" altLang="en-US" dirty="0">
                <a:solidFill>
                  <a:schemeClr val="tx1">
                    <a:lumMod val="50000"/>
                    <a:lumOff val="50000"/>
                  </a:schemeClr>
                </a:solidFill>
              </a:rPr>
              <a:t>北九州市</a:t>
            </a:r>
            <a:r>
              <a:rPr lang="en-US" altLang="ja-GB" dirty="0">
                <a:solidFill>
                  <a:schemeClr val="tx1">
                    <a:lumMod val="50000"/>
                    <a:lumOff val="50000"/>
                  </a:schemeClr>
                </a:solidFill>
              </a:rPr>
              <a:t> </a:t>
            </a:r>
            <a:r>
              <a:rPr lang="en-US" altLang="ja-GB" dirty="0">
                <a:solidFill>
                  <a:srgbClr val="0070C0"/>
                </a:solidFill>
              </a:rPr>
              <a:t>AND</a:t>
            </a:r>
            <a:r>
              <a:rPr lang="en-US" altLang="ja-GB" dirty="0">
                <a:solidFill>
                  <a:schemeClr val="tx1">
                    <a:lumMod val="50000"/>
                    <a:lumOff val="50000"/>
                  </a:schemeClr>
                </a:solidFill>
              </a:rPr>
              <a:t> </a:t>
            </a:r>
            <a:r>
              <a:rPr lang="ja-GB" altLang="en-US" dirty="0">
                <a:solidFill>
                  <a:schemeClr val="tx1">
                    <a:lumMod val="50000"/>
                    <a:lumOff val="50000"/>
                  </a:schemeClr>
                </a:solidFill>
              </a:rPr>
              <a:t>会食</a:t>
            </a:r>
            <a:r>
              <a:rPr lang="en-US" altLang="ja-GB" dirty="0">
                <a:solidFill>
                  <a:schemeClr val="tx1">
                    <a:lumMod val="50000"/>
                    <a:lumOff val="50000"/>
                  </a:schemeClr>
                </a:solidFill>
              </a:rPr>
              <a:t> </a:t>
            </a:r>
            <a:r>
              <a:rPr lang="en-US" altLang="ja-GB" dirty="0">
                <a:solidFill>
                  <a:srgbClr val="0070C0"/>
                </a:solidFill>
              </a:rPr>
              <a:t>AND</a:t>
            </a:r>
            <a:r>
              <a:rPr lang="en-US" altLang="ja-GB" dirty="0">
                <a:solidFill>
                  <a:schemeClr val="tx1">
                    <a:lumMod val="50000"/>
                    <a:lumOff val="50000"/>
                  </a:schemeClr>
                </a:solidFill>
              </a:rPr>
              <a:t> </a:t>
            </a:r>
            <a:r>
              <a:rPr lang="ja-GB" altLang="en-US" dirty="0">
                <a:solidFill>
                  <a:schemeClr val="tx1">
                    <a:lumMod val="50000"/>
                    <a:lumOff val="50000"/>
                  </a:schemeClr>
                </a:solidFill>
              </a:rPr>
              <a:t>ホテル</a:t>
            </a:r>
            <a:endParaRPr lang="en-US" altLang="ja-GB" dirty="0">
              <a:solidFill>
                <a:schemeClr val="tx1">
                  <a:lumMod val="50000"/>
                  <a:lumOff val="50000"/>
                </a:schemeClr>
              </a:solidFill>
            </a:endParaRPr>
          </a:p>
          <a:p>
            <a:pPr lvl="3"/>
            <a:endParaRPr lang="en-US" altLang="ja-GB" dirty="0"/>
          </a:p>
          <a:p>
            <a:pPr marL="457200" lvl="1" indent="0">
              <a:buNone/>
            </a:pPr>
            <a:r>
              <a:rPr kumimoji="1" lang="en-US" altLang="ja-GB" dirty="0">
                <a:solidFill>
                  <a:srgbClr val="002060"/>
                </a:solidFill>
              </a:rPr>
              <a:t>O</a:t>
            </a:r>
            <a:r>
              <a:rPr lang="en-US" altLang="ja-GB" dirty="0">
                <a:solidFill>
                  <a:srgbClr val="002060"/>
                </a:solidFill>
              </a:rPr>
              <a:t>R</a:t>
            </a:r>
            <a:r>
              <a:rPr lang="ja-GB" altLang="en-US" dirty="0">
                <a:solidFill>
                  <a:srgbClr val="002060"/>
                </a:solidFill>
              </a:rPr>
              <a:t>検索（和集合）</a:t>
            </a:r>
            <a:endParaRPr lang="en-US" altLang="ja-GB" dirty="0">
              <a:solidFill>
                <a:srgbClr val="002060"/>
              </a:solidFill>
            </a:endParaRPr>
          </a:p>
          <a:p>
            <a:pPr marL="914400" lvl="2" indent="0">
              <a:buNone/>
            </a:pPr>
            <a:r>
              <a:rPr lang="ja-JP" altLang="en-US"/>
              <a:t>例）</a:t>
            </a:r>
            <a:r>
              <a:rPr lang="ja-GB" altLang="en-US" dirty="0"/>
              <a:t>北九州市，会食に加えて，ホテルか料亭のどちらかを含む記事を探す</a:t>
            </a:r>
            <a:endParaRPr lang="en-US" altLang="ja-JP" dirty="0"/>
          </a:p>
          <a:p>
            <a:pPr marL="1371600" lvl="3" indent="0">
              <a:buNone/>
            </a:pPr>
            <a:r>
              <a:rPr lang="ja-JP" altLang="en-US">
                <a:solidFill>
                  <a:schemeClr val="tx1">
                    <a:lumMod val="50000"/>
                    <a:lumOff val="50000"/>
                  </a:schemeClr>
                </a:solidFill>
              </a:rPr>
              <a:t>北九州市 </a:t>
            </a:r>
            <a:r>
              <a:rPr lang="en-US" altLang="ja-GB" dirty="0">
                <a:solidFill>
                  <a:srgbClr val="0070C0"/>
                </a:solidFill>
              </a:rPr>
              <a:t>AND</a:t>
            </a:r>
            <a:r>
              <a:rPr lang="en-US" altLang="ja-GB" dirty="0">
                <a:solidFill>
                  <a:schemeClr val="tx1">
                    <a:lumMod val="50000"/>
                    <a:lumOff val="50000"/>
                  </a:schemeClr>
                </a:solidFill>
              </a:rPr>
              <a:t> </a:t>
            </a:r>
            <a:r>
              <a:rPr lang="ja-JP" altLang="en-US">
                <a:solidFill>
                  <a:schemeClr val="tx1">
                    <a:lumMod val="50000"/>
                    <a:lumOff val="50000"/>
                  </a:schemeClr>
                </a:solidFill>
              </a:rPr>
              <a:t>会食 </a:t>
            </a:r>
            <a:r>
              <a:rPr lang="en-US" altLang="ja-GB" dirty="0">
                <a:solidFill>
                  <a:srgbClr val="0070C0"/>
                </a:solidFill>
              </a:rPr>
              <a:t>AND</a:t>
            </a:r>
            <a:r>
              <a:rPr lang="en-US" altLang="ja-GB" dirty="0">
                <a:solidFill>
                  <a:schemeClr val="tx1">
                    <a:lumMod val="50000"/>
                    <a:lumOff val="50000"/>
                  </a:schemeClr>
                </a:solidFill>
              </a:rPr>
              <a:t> (</a:t>
            </a:r>
            <a:r>
              <a:rPr lang="ja-GB" altLang="en-US" dirty="0">
                <a:solidFill>
                  <a:schemeClr val="tx1">
                    <a:lumMod val="50000"/>
                    <a:lumOff val="50000"/>
                  </a:schemeClr>
                </a:solidFill>
              </a:rPr>
              <a:t>ホテル</a:t>
            </a:r>
            <a:r>
              <a:rPr lang="en-US" altLang="ja-JP" dirty="0">
                <a:solidFill>
                  <a:schemeClr val="tx1">
                    <a:lumMod val="50000"/>
                    <a:lumOff val="50000"/>
                  </a:schemeClr>
                </a:solidFill>
              </a:rPr>
              <a:t> </a:t>
            </a:r>
            <a:r>
              <a:rPr lang="en-US" altLang="ja-JP" dirty="0">
                <a:solidFill>
                  <a:srgbClr val="0070C0"/>
                </a:solidFill>
              </a:rPr>
              <a:t>OR</a:t>
            </a:r>
            <a:r>
              <a:rPr lang="en-US" altLang="ja-JP" dirty="0">
                <a:solidFill>
                  <a:schemeClr val="tx1">
                    <a:lumMod val="50000"/>
                    <a:lumOff val="50000"/>
                  </a:schemeClr>
                </a:solidFill>
              </a:rPr>
              <a:t> </a:t>
            </a:r>
            <a:r>
              <a:rPr lang="ja-GB" altLang="en-US" dirty="0">
                <a:solidFill>
                  <a:schemeClr val="tx1">
                    <a:lumMod val="50000"/>
                    <a:lumOff val="50000"/>
                  </a:schemeClr>
                </a:solidFill>
              </a:rPr>
              <a:t>料亭</a:t>
            </a:r>
            <a:r>
              <a:rPr lang="en-US" altLang="ja-GB" dirty="0">
                <a:solidFill>
                  <a:schemeClr val="tx1">
                    <a:lumMod val="50000"/>
                    <a:lumOff val="50000"/>
                  </a:schemeClr>
                </a:solidFill>
              </a:rPr>
              <a:t>)</a:t>
            </a:r>
          </a:p>
          <a:p>
            <a:pPr lvl="3"/>
            <a:endParaRPr kumimoji="1" lang="en-US" altLang="ja-GB" dirty="0"/>
          </a:p>
          <a:p>
            <a:pPr marL="457200" lvl="1" indent="0">
              <a:buNone/>
            </a:pPr>
            <a:r>
              <a:rPr lang="ja-GB" altLang="en-US" dirty="0">
                <a:solidFill>
                  <a:srgbClr val="002060"/>
                </a:solidFill>
              </a:rPr>
              <a:t>除外検索（差集合）</a:t>
            </a:r>
            <a:endParaRPr lang="en-US" altLang="ja-GB" dirty="0">
              <a:solidFill>
                <a:srgbClr val="002060"/>
              </a:solidFill>
            </a:endParaRPr>
          </a:p>
          <a:p>
            <a:pPr marL="914400" lvl="2" indent="0">
              <a:buNone/>
            </a:pPr>
            <a:r>
              <a:rPr kumimoji="1" lang="ja-GB" altLang="en-US" dirty="0"/>
              <a:t>特定の語句を除外するときは「</a:t>
            </a:r>
            <a:r>
              <a:rPr kumimoji="1" lang="en-US" altLang="ja-GB" dirty="0"/>
              <a:t>-</a:t>
            </a:r>
            <a:r>
              <a:rPr lang="ja-GB" altLang="en-US" dirty="0"/>
              <a:t>（半角</a:t>
            </a:r>
            <a:r>
              <a:rPr kumimoji="1" lang="ja-GB" altLang="en-US" dirty="0"/>
              <a:t>マイナス）」をつける</a:t>
            </a:r>
            <a:endParaRPr kumimoji="1" lang="en-US" altLang="ja-GB" dirty="0"/>
          </a:p>
          <a:p>
            <a:pPr marL="914400" lvl="2" indent="0">
              <a:buNone/>
            </a:pPr>
            <a:r>
              <a:rPr lang="ja-GB" altLang="en-US" dirty="0"/>
              <a:t>例）飛行機のトランプを探すにあたり，大統領の記事は除外したい</a:t>
            </a:r>
            <a:endParaRPr kumimoji="1" lang="en-US" altLang="ja-GB" dirty="0"/>
          </a:p>
          <a:p>
            <a:pPr marL="1371600" lvl="3" indent="0">
              <a:buNone/>
            </a:pPr>
            <a:r>
              <a:rPr lang="ja-GB" altLang="en-US" dirty="0">
                <a:solidFill>
                  <a:schemeClr val="tx1">
                    <a:lumMod val="50000"/>
                    <a:lumOff val="50000"/>
                  </a:schemeClr>
                </a:solidFill>
              </a:rPr>
              <a:t>飛行機</a:t>
            </a:r>
            <a:r>
              <a:rPr lang="en-US" altLang="ja-GB" dirty="0">
                <a:solidFill>
                  <a:schemeClr val="tx1">
                    <a:lumMod val="50000"/>
                    <a:lumOff val="50000"/>
                  </a:schemeClr>
                </a:solidFill>
              </a:rPr>
              <a:t> </a:t>
            </a:r>
            <a:r>
              <a:rPr lang="ja-GB" altLang="en-US" dirty="0">
                <a:solidFill>
                  <a:schemeClr val="tx1">
                    <a:lumMod val="50000"/>
                    <a:lumOff val="50000"/>
                  </a:schemeClr>
                </a:solidFill>
              </a:rPr>
              <a:t>トランプ</a:t>
            </a:r>
            <a:r>
              <a:rPr lang="en-US" altLang="ja-GB" dirty="0">
                <a:solidFill>
                  <a:schemeClr val="tx1">
                    <a:lumMod val="50000"/>
                    <a:lumOff val="50000"/>
                  </a:schemeClr>
                </a:solidFill>
              </a:rPr>
              <a:t> </a:t>
            </a:r>
            <a:r>
              <a:rPr lang="en-US" altLang="ja-GB" dirty="0">
                <a:solidFill>
                  <a:srgbClr val="0070C0"/>
                </a:solidFill>
              </a:rPr>
              <a:t>–</a:t>
            </a:r>
            <a:r>
              <a:rPr lang="ja-GB" altLang="en-US" dirty="0">
                <a:solidFill>
                  <a:schemeClr val="tx1">
                    <a:lumMod val="50000"/>
                    <a:lumOff val="50000"/>
                  </a:schemeClr>
                </a:solidFill>
              </a:rPr>
              <a:t>大統領</a:t>
            </a:r>
            <a:endParaRPr lang="en-US" altLang="ja-GB" dirty="0">
              <a:solidFill>
                <a:schemeClr val="tx1">
                  <a:lumMod val="50000"/>
                  <a:lumOff val="50000"/>
                </a:schemeClr>
              </a:solidFill>
            </a:endParaRPr>
          </a:p>
          <a:p>
            <a:pPr lvl="4"/>
            <a:endParaRPr lang="en-US" altLang="ja-GB" dirty="0"/>
          </a:p>
          <a:p>
            <a:pPr lvl="2"/>
            <a:endParaRPr lang="en-US" altLang="ja-GB" dirty="0"/>
          </a:p>
        </p:txBody>
      </p:sp>
      <p:sp>
        <p:nvSpPr>
          <p:cNvPr id="4" name="テキスト ボックス 3">
            <a:extLst>
              <a:ext uri="{FF2B5EF4-FFF2-40B4-BE49-F238E27FC236}">
                <a16:creationId xmlns:a16="http://schemas.microsoft.com/office/drawing/2014/main" id="{740E327D-FACA-4F4D-C304-6FCB7235EE68}"/>
              </a:ext>
            </a:extLst>
          </p:cNvPr>
          <p:cNvSpPr txBox="1"/>
          <p:nvPr/>
        </p:nvSpPr>
        <p:spPr>
          <a:xfrm>
            <a:off x="157162" y="6003235"/>
            <a:ext cx="8829675" cy="707886"/>
          </a:xfrm>
          <a:prstGeom prst="rect">
            <a:avLst/>
          </a:prstGeom>
          <a:noFill/>
        </p:spPr>
        <p:txBody>
          <a:bodyPr wrap="square" rtlCol="0">
            <a:spAutoFit/>
          </a:bodyPr>
          <a:lstStyle/>
          <a:p>
            <a:r>
              <a:rPr kumimoji="1" lang="ja-GB" altLang="en-US" sz="1600" dirty="0">
                <a:solidFill>
                  <a:srgbClr val="2F2523"/>
                </a:solidFill>
              </a:rPr>
              <a:t>参考：</a:t>
            </a:r>
            <a:r>
              <a:rPr kumimoji="1" lang="ja-JP" altLang="en-US" sz="1600">
                <a:solidFill>
                  <a:srgbClr val="2F2523"/>
                </a:solidFill>
              </a:rPr>
              <a:t>演算子を使用して検索を絞り込む </a:t>
            </a:r>
            <a:r>
              <a:rPr kumimoji="1" lang="en-US" altLang="ja-JP" sz="1600" dirty="0">
                <a:solidFill>
                  <a:srgbClr val="2F2523"/>
                </a:solidFill>
              </a:rPr>
              <a:t>- </a:t>
            </a:r>
            <a:r>
              <a:rPr kumimoji="1" lang="en-GB" altLang="ja-GB" sz="1600" dirty="0">
                <a:solidFill>
                  <a:srgbClr val="2F2523"/>
                </a:solidFill>
              </a:rPr>
              <a:t>Android - Cloud Search </a:t>
            </a:r>
            <a:r>
              <a:rPr kumimoji="1" lang="ja-JP" altLang="en-US" sz="1600">
                <a:solidFill>
                  <a:srgbClr val="2F2523"/>
                </a:solidFill>
              </a:rPr>
              <a:t>ヘルプ</a:t>
            </a:r>
            <a:r>
              <a:rPr kumimoji="1" lang="ja-JP" altLang="en-US" sz="1600"/>
              <a:t> </a:t>
            </a:r>
            <a:r>
              <a:rPr kumimoji="1" lang="en-GB" altLang="ja-GB" sz="1200" dirty="0">
                <a:solidFill>
                  <a:schemeClr val="tx1">
                    <a:lumMod val="50000"/>
                    <a:lumOff val="50000"/>
                  </a:schemeClr>
                </a:solidFill>
                <a:hlinkClick r:id="rId2">
                  <a:extLst>
                    <a:ext uri="{A12FA001-AC4F-418D-AE19-62706E023703}">
                      <ahyp:hlinkClr xmlns:ahyp="http://schemas.microsoft.com/office/drawing/2018/hyperlinkcolor" val="tx"/>
                    </a:ext>
                  </a:extLst>
                </a:hlinkClick>
              </a:rPr>
              <a:t>https://support.google.com/cloudsearch/answer/6172299?hl=ja&amp;co=GENIE.Platform%3DAndroid#zippy=%2C%E8%A8%98%E5%8F%B7%E3%81%A8%E6%A8%99%E6%BA%96%E7%9A%84%E3%81%AA%E6%BC%94%E7%AE%97%E5%AD%90</a:t>
            </a:r>
            <a:r>
              <a:rPr kumimoji="1" lang="en-GB" altLang="ja-GB" sz="1200" dirty="0">
                <a:solidFill>
                  <a:schemeClr val="tx1">
                    <a:lumMod val="50000"/>
                    <a:lumOff val="50000"/>
                  </a:schemeClr>
                </a:solidFill>
              </a:rPr>
              <a:t> </a:t>
            </a:r>
            <a:endParaRPr kumimoji="1" lang="ja-GB" altLang="en-US" sz="1600" dirty="0">
              <a:solidFill>
                <a:schemeClr val="tx1">
                  <a:lumMod val="50000"/>
                  <a:lumOff val="50000"/>
                </a:schemeClr>
              </a:solidFill>
            </a:endParaRPr>
          </a:p>
        </p:txBody>
      </p:sp>
    </p:spTree>
    <p:extLst>
      <p:ext uri="{BB962C8B-B14F-4D97-AF65-F5344CB8AC3E}">
        <p14:creationId xmlns:p14="http://schemas.microsoft.com/office/powerpoint/2010/main" val="129984516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22AF9-D50F-721C-3655-38B670E8EC5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30801A2-CA09-9EA1-5117-09564F224A8C}"/>
              </a:ext>
            </a:extLst>
          </p:cNvPr>
          <p:cNvSpPr>
            <a:spLocks noGrp="1"/>
          </p:cNvSpPr>
          <p:nvPr>
            <p:ph type="title"/>
          </p:nvPr>
        </p:nvSpPr>
        <p:spPr/>
        <p:txBody>
          <a:bodyPr/>
          <a:lstStyle/>
          <a:p>
            <a:r>
              <a:rPr kumimoji="1" lang="ja-GB" altLang="en-US" dirty="0"/>
              <a:t>第</a:t>
            </a:r>
            <a:r>
              <a:rPr kumimoji="1" lang="en-US" altLang="ja-GB" dirty="0"/>
              <a:t>12</a:t>
            </a:r>
            <a:r>
              <a:rPr kumimoji="1" lang="ja-GB" altLang="en-US" dirty="0"/>
              <a:t>回：演習（基数と論理演算）</a:t>
            </a:r>
          </a:p>
        </p:txBody>
      </p:sp>
      <p:sp>
        <p:nvSpPr>
          <p:cNvPr id="3" name="コンテンツ プレースホルダー 2">
            <a:extLst>
              <a:ext uri="{FF2B5EF4-FFF2-40B4-BE49-F238E27FC236}">
                <a16:creationId xmlns:a16="http://schemas.microsoft.com/office/drawing/2014/main" id="{817D5084-466F-2623-842D-3A4A6795CECD}"/>
              </a:ext>
            </a:extLst>
          </p:cNvPr>
          <p:cNvSpPr>
            <a:spLocks noGrp="1"/>
          </p:cNvSpPr>
          <p:nvPr>
            <p:ph idx="1"/>
          </p:nvPr>
        </p:nvSpPr>
        <p:spPr/>
        <p:txBody>
          <a:bodyPr/>
          <a:lstStyle/>
          <a:p>
            <a:pPr marL="457200" indent="-457200">
              <a:buFont typeface="+mj-lt"/>
              <a:buAutoNum type="arabicPeriod"/>
            </a:pPr>
            <a:r>
              <a:rPr kumimoji="1" lang="ja-GB" altLang="en-US" dirty="0">
                <a:solidFill>
                  <a:schemeClr val="tx1">
                    <a:lumMod val="50000"/>
                    <a:lumOff val="50000"/>
                  </a:schemeClr>
                </a:solidFill>
              </a:rPr>
              <a:t>カラーコード</a:t>
            </a:r>
            <a:endParaRPr kumimoji="1" lang="en-US" altLang="ja-GB" dirty="0">
              <a:solidFill>
                <a:schemeClr val="tx1">
                  <a:lumMod val="50000"/>
                  <a:lumOff val="50000"/>
                </a:schemeClr>
              </a:solidFill>
            </a:endParaRPr>
          </a:p>
          <a:p>
            <a:pPr marL="914400" lvl="1" indent="-457200">
              <a:buFont typeface="+mj-lt"/>
              <a:buAutoNum type="arabicPeriod"/>
            </a:pPr>
            <a:endParaRPr kumimoji="1" lang="en-US" altLang="ja-GB" dirty="0">
              <a:solidFill>
                <a:schemeClr val="tx1">
                  <a:lumMod val="50000"/>
                  <a:lumOff val="50000"/>
                </a:schemeClr>
              </a:solidFill>
            </a:endParaRPr>
          </a:p>
          <a:p>
            <a:pPr marL="457200" indent="-457200">
              <a:buFont typeface="+mj-lt"/>
              <a:buAutoNum type="arabicPeriod"/>
            </a:pPr>
            <a:r>
              <a:rPr lang="ja-GB" altLang="en-US" dirty="0">
                <a:solidFill>
                  <a:schemeClr val="tx1">
                    <a:lumMod val="50000"/>
                    <a:lumOff val="50000"/>
                  </a:schemeClr>
                </a:solidFill>
              </a:rPr>
              <a:t>真理値表</a:t>
            </a:r>
            <a:endParaRPr lang="en-US" altLang="ja-GB" dirty="0">
              <a:solidFill>
                <a:schemeClr val="tx1">
                  <a:lumMod val="50000"/>
                  <a:lumOff val="50000"/>
                </a:schemeClr>
              </a:solidFill>
            </a:endParaRPr>
          </a:p>
          <a:p>
            <a:pPr marL="914400" lvl="1" indent="-457200">
              <a:buFont typeface="+mj-lt"/>
              <a:buAutoNum type="arabicPeriod"/>
            </a:pPr>
            <a:endParaRPr kumimoji="1" lang="en-US" altLang="ja-GB" dirty="0"/>
          </a:p>
          <a:p>
            <a:pPr marL="457200" indent="-457200">
              <a:buFont typeface="+mj-lt"/>
              <a:buAutoNum type="arabicPeriod"/>
            </a:pPr>
            <a:r>
              <a:rPr kumimoji="1" lang="en-US" altLang="ja-GB" dirty="0"/>
              <a:t>IP</a:t>
            </a:r>
            <a:r>
              <a:rPr kumimoji="1" lang="ja-GB" altLang="en-US" dirty="0"/>
              <a:t>アドレスとサブネットマスク</a:t>
            </a:r>
            <a:endParaRPr kumimoji="1" lang="en-US" altLang="ja-GB" dirty="0"/>
          </a:p>
          <a:p>
            <a:pPr lvl="1"/>
            <a:endParaRPr kumimoji="1" lang="en-US" altLang="ja-GB" dirty="0"/>
          </a:p>
          <a:p>
            <a:endParaRPr kumimoji="1" lang="ja-GB" altLang="en-US" dirty="0"/>
          </a:p>
        </p:txBody>
      </p:sp>
    </p:spTree>
    <p:extLst>
      <p:ext uri="{BB962C8B-B14F-4D97-AF65-F5344CB8AC3E}">
        <p14:creationId xmlns:p14="http://schemas.microsoft.com/office/powerpoint/2010/main" val="346696835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201023-F2A9-7DDD-E196-62521480349F}"/>
              </a:ext>
            </a:extLst>
          </p:cNvPr>
          <p:cNvSpPr>
            <a:spLocks noGrp="1"/>
          </p:cNvSpPr>
          <p:nvPr>
            <p:ph type="title"/>
          </p:nvPr>
        </p:nvSpPr>
        <p:spPr/>
        <p:txBody>
          <a:bodyPr/>
          <a:lstStyle/>
          <a:p>
            <a:r>
              <a:rPr kumimoji="1" lang="ja-GB" altLang="en-US" dirty="0"/>
              <a:t>サブネットマスク</a:t>
            </a:r>
          </a:p>
        </p:txBody>
      </p:sp>
      <p:sp>
        <p:nvSpPr>
          <p:cNvPr id="3" name="コンテンツ プレースホルダー 2">
            <a:extLst>
              <a:ext uri="{FF2B5EF4-FFF2-40B4-BE49-F238E27FC236}">
                <a16:creationId xmlns:a16="http://schemas.microsoft.com/office/drawing/2014/main" id="{E644C19E-68A5-66C9-6C4A-1EACA626A57F}"/>
              </a:ext>
            </a:extLst>
          </p:cNvPr>
          <p:cNvSpPr>
            <a:spLocks noGrp="1"/>
          </p:cNvSpPr>
          <p:nvPr>
            <p:ph idx="1"/>
          </p:nvPr>
        </p:nvSpPr>
        <p:spPr/>
        <p:txBody>
          <a:bodyPr/>
          <a:lstStyle/>
          <a:p>
            <a:pPr marL="0" indent="0">
              <a:buNone/>
            </a:pPr>
            <a:r>
              <a:rPr kumimoji="1" lang="ja-GB" altLang="en-US" dirty="0"/>
              <a:t>有線接続のパソコンなど</a:t>
            </a:r>
            <a:r>
              <a:rPr kumimoji="1" lang="en-US" altLang="ja-GB" baseline="30000" dirty="0"/>
              <a:t>※</a:t>
            </a:r>
            <a:r>
              <a:rPr kumimoji="1" lang="ja-GB" altLang="en-US" dirty="0"/>
              <a:t>でネットワーク接続時に現れる設定項目</a:t>
            </a:r>
            <a:endParaRPr kumimoji="1" lang="en-US" altLang="ja-GB" dirty="0"/>
          </a:p>
          <a:p>
            <a:pPr marL="457200" lvl="1" indent="0">
              <a:buNone/>
            </a:pPr>
            <a:r>
              <a:rPr kumimoji="1" lang="ja-GB" altLang="en-US" dirty="0"/>
              <a:t>例）</a:t>
            </a:r>
            <a:r>
              <a:rPr kumimoji="1" lang="en-US" altLang="ja-GB" dirty="0"/>
              <a:t>192.168.1.168/24</a:t>
            </a:r>
            <a:r>
              <a:rPr kumimoji="1" lang="ja-GB" altLang="en-US" dirty="0"/>
              <a:t>（</a:t>
            </a:r>
            <a:r>
              <a:rPr kumimoji="1" lang="en-US" altLang="ja-GB" dirty="0"/>
              <a:t>IP</a:t>
            </a:r>
            <a:r>
              <a:rPr kumimoji="1" lang="ja-GB" altLang="en-US" dirty="0"/>
              <a:t>アドレス），</a:t>
            </a:r>
            <a:r>
              <a:rPr kumimoji="1" lang="en-US" altLang="ja-GB" dirty="0"/>
              <a:t>255</a:t>
            </a:r>
            <a:r>
              <a:rPr lang="en-US" altLang="ja-GB" dirty="0"/>
              <a:t>.255.255.0</a:t>
            </a:r>
            <a:r>
              <a:rPr lang="ja-GB" altLang="en-US" dirty="0"/>
              <a:t>（サブネットマスク）</a:t>
            </a:r>
            <a:endParaRPr kumimoji="1" lang="en-US" altLang="ja-GB" dirty="0"/>
          </a:p>
          <a:p>
            <a:pPr lvl="2"/>
            <a:r>
              <a:rPr kumimoji="1" lang="en-US" altLang="ja-GB" dirty="0"/>
              <a:t>255.255.255.0→11111111.11111111.11111111.00000000</a:t>
            </a:r>
            <a:r>
              <a:rPr kumimoji="1" lang="ja-GB" altLang="en-US" dirty="0"/>
              <a:t>（</a:t>
            </a:r>
            <a:r>
              <a:rPr kumimoji="1" lang="en-US" altLang="ja-GB" dirty="0"/>
              <a:t>2</a:t>
            </a:r>
            <a:r>
              <a:rPr kumimoji="1" lang="ja-GB" altLang="en-US" dirty="0"/>
              <a:t>進数）</a:t>
            </a:r>
            <a:endParaRPr kumimoji="1" lang="en-US" altLang="ja-GB" dirty="0"/>
          </a:p>
          <a:p>
            <a:pPr lvl="2"/>
            <a:r>
              <a:rPr kumimoji="1" lang="ja-GB" altLang="en-US" dirty="0"/>
              <a:t>上から</a:t>
            </a:r>
            <a:r>
              <a:rPr kumimoji="1" lang="en-US" altLang="ja-GB" dirty="0"/>
              <a:t>24</a:t>
            </a:r>
            <a:r>
              <a:rPr kumimoji="1" lang="ja-GB" altLang="en-US" dirty="0"/>
              <a:t>桁が</a:t>
            </a:r>
            <a:r>
              <a:rPr kumimoji="1" lang="en-US" altLang="ja-GB" dirty="0"/>
              <a:t>LAN</a:t>
            </a:r>
            <a:r>
              <a:rPr kumimoji="1" lang="ja-GB" altLang="en-US" dirty="0"/>
              <a:t>に共通の住所，下</a:t>
            </a:r>
            <a:r>
              <a:rPr kumimoji="1" lang="en-US" altLang="ja-GB" dirty="0"/>
              <a:t>8</a:t>
            </a:r>
            <a:r>
              <a:rPr kumimoji="1" lang="ja-GB" altLang="en-US" dirty="0"/>
              <a:t>桁が端末固有の住所を表す</a:t>
            </a:r>
            <a:endParaRPr kumimoji="1" lang="en-US" altLang="ja-GB" dirty="0"/>
          </a:p>
          <a:p>
            <a:pPr lvl="2"/>
            <a:r>
              <a:rPr lang="en-US" altLang="ja-GB" dirty="0"/>
              <a:t>192.168.1.168</a:t>
            </a:r>
            <a:r>
              <a:rPr lang="ja-GB" altLang="en-US" dirty="0"/>
              <a:t>と</a:t>
            </a:r>
            <a:r>
              <a:rPr lang="en-US" altLang="ja-GB" dirty="0"/>
              <a:t>255.255.255.0</a:t>
            </a:r>
            <a:r>
              <a:rPr lang="ja-GB" altLang="en-US" dirty="0"/>
              <a:t>の論理積を取れば，</a:t>
            </a:r>
            <a:r>
              <a:rPr lang="en-US" altLang="ja-GB" dirty="0"/>
              <a:t>192.168.1.0</a:t>
            </a:r>
            <a:r>
              <a:rPr lang="ja-GB" altLang="en-US" dirty="0"/>
              <a:t>となる</a:t>
            </a:r>
            <a:endParaRPr lang="en-US" altLang="ja-GB" dirty="0"/>
          </a:p>
          <a:p>
            <a:pPr lvl="2"/>
            <a:r>
              <a:rPr lang="ja-GB" altLang="en-US" dirty="0"/>
              <a:t>サブネットマスクを反転させて論理積を取れば，</a:t>
            </a:r>
            <a:r>
              <a:rPr lang="en-US" altLang="ja-GB" dirty="0"/>
              <a:t>0.0.0.168</a:t>
            </a:r>
            <a:r>
              <a:rPr lang="ja-GB" altLang="en-US" dirty="0"/>
              <a:t>となる</a:t>
            </a:r>
            <a:endParaRPr lang="en-US" altLang="ja-GB" dirty="0"/>
          </a:p>
        </p:txBody>
      </p:sp>
      <p:sp>
        <p:nvSpPr>
          <p:cNvPr id="5" name="テキスト ボックス 4">
            <a:extLst>
              <a:ext uri="{FF2B5EF4-FFF2-40B4-BE49-F238E27FC236}">
                <a16:creationId xmlns:a16="http://schemas.microsoft.com/office/drawing/2014/main" id="{EAF6E949-3B0B-43C1-EB8F-86FA3796BE41}"/>
              </a:ext>
            </a:extLst>
          </p:cNvPr>
          <p:cNvSpPr txBox="1"/>
          <p:nvPr/>
        </p:nvSpPr>
        <p:spPr>
          <a:xfrm>
            <a:off x="989929" y="6148137"/>
            <a:ext cx="7164141" cy="523220"/>
          </a:xfrm>
          <a:prstGeom prst="rect">
            <a:avLst/>
          </a:prstGeom>
          <a:noFill/>
        </p:spPr>
        <p:txBody>
          <a:bodyPr wrap="none" rtlCol="0">
            <a:spAutoFit/>
          </a:bodyPr>
          <a:lstStyle/>
          <a:p>
            <a:r>
              <a:rPr kumimoji="1" lang="en-US" altLang="ja-GB" sz="1400" dirty="0"/>
              <a:t>※</a:t>
            </a:r>
            <a:r>
              <a:rPr kumimoji="1" lang="ja-GB" altLang="en-US" sz="1400" dirty="0"/>
              <a:t>厳密には</a:t>
            </a:r>
            <a:r>
              <a:rPr kumimoji="1" lang="en-US" altLang="ja-GB" sz="1400" dirty="0"/>
              <a:t>DHCP</a:t>
            </a:r>
            <a:r>
              <a:rPr kumimoji="1" lang="ja-GB" altLang="en-US" sz="1400" dirty="0"/>
              <a:t>サーバのないネットワーク接続．</a:t>
            </a:r>
            <a:br>
              <a:rPr kumimoji="1" lang="en-US" altLang="ja-GB" sz="1400" dirty="0"/>
            </a:br>
            <a:r>
              <a:rPr kumimoji="1" lang="ja-JP" altLang="en-US" sz="1400"/>
              <a:t>　</a:t>
            </a:r>
            <a:r>
              <a:rPr kumimoji="1" lang="ja-GB" altLang="en-US" sz="1400" dirty="0"/>
              <a:t>通常，</a:t>
            </a:r>
            <a:r>
              <a:rPr kumimoji="1" lang="en-US" altLang="ja-GB" sz="1400" dirty="0" err="1"/>
              <a:t>WiFi</a:t>
            </a:r>
            <a:r>
              <a:rPr kumimoji="1" lang="ja-GB" altLang="en-US" sz="1400" dirty="0"/>
              <a:t>通信設備には自動的に</a:t>
            </a:r>
            <a:r>
              <a:rPr kumimoji="1" lang="en-US" altLang="ja-GB" sz="1400" dirty="0"/>
              <a:t>IP</a:t>
            </a:r>
            <a:r>
              <a:rPr kumimoji="1" lang="ja-GB" altLang="en-US" sz="1400" dirty="0"/>
              <a:t>アドレスを割り振る</a:t>
            </a:r>
            <a:r>
              <a:rPr kumimoji="1" lang="en-US" altLang="ja-GB" sz="1400" dirty="0"/>
              <a:t>DHCP</a:t>
            </a:r>
            <a:r>
              <a:rPr kumimoji="1" lang="ja-GB" altLang="en-US" sz="1400" dirty="0"/>
              <a:t>サーバが用意されている</a:t>
            </a:r>
          </a:p>
        </p:txBody>
      </p:sp>
      <p:pic>
        <p:nvPicPr>
          <p:cNvPr id="7" name="図 6" descr="グラフィカル ユーザー インターフェイス, テキスト, アプリケーション, メール, Teams&#10;&#10;AI 生成コンテンツは誤りを含む可能性があります。">
            <a:extLst>
              <a:ext uri="{FF2B5EF4-FFF2-40B4-BE49-F238E27FC236}">
                <a16:creationId xmlns:a16="http://schemas.microsoft.com/office/drawing/2014/main" id="{72B0EFD2-2BF2-B64F-426E-BCB117D8E060}"/>
              </a:ext>
            </a:extLst>
          </p:cNvPr>
          <p:cNvPicPr>
            <a:picLocks noChangeAspect="1"/>
          </p:cNvPicPr>
          <p:nvPr/>
        </p:nvPicPr>
        <p:blipFill>
          <a:blip r:embed="rId2"/>
          <a:stretch>
            <a:fillRect/>
          </a:stretch>
        </p:blipFill>
        <p:spPr>
          <a:xfrm>
            <a:off x="1520323" y="3065120"/>
            <a:ext cx="6103353" cy="2875439"/>
          </a:xfrm>
          <a:prstGeom prst="rect">
            <a:avLst/>
          </a:prstGeom>
        </p:spPr>
      </p:pic>
    </p:spTree>
    <p:extLst>
      <p:ext uri="{BB962C8B-B14F-4D97-AF65-F5344CB8AC3E}">
        <p14:creationId xmlns:p14="http://schemas.microsoft.com/office/powerpoint/2010/main" val="417771897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8F627F-E28B-451B-3B08-47F70313968A}"/>
              </a:ext>
            </a:extLst>
          </p:cNvPr>
          <p:cNvSpPr>
            <a:spLocks noGrp="1"/>
          </p:cNvSpPr>
          <p:nvPr>
            <p:ph type="title"/>
          </p:nvPr>
        </p:nvSpPr>
        <p:spPr/>
        <p:txBody>
          <a:bodyPr/>
          <a:lstStyle/>
          <a:p>
            <a:r>
              <a:rPr kumimoji="1" lang="en-US" altLang="ja-GB" dirty="0"/>
              <a:t>IP</a:t>
            </a:r>
            <a:r>
              <a:rPr kumimoji="1" lang="ja-GB" altLang="en-US" dirty="0"/>
              <a:t>アドレス</a:t>
            </a:r>
            <a:r>
              <a:rPr kumimoji="1" lang="en-US" altLang="ja-GB" baseline="30000" dirty="0"/>
              <a:t>※</a:t>
            </a:r>
            <a:endParaRPr kumimoji="1" lang="ja-GB" altLang="en-US" baseline="30000" dirty="0"/>
          </a:p>
        </p:txBody>
      </p:sp>
      <p:sp>
        <p:nvSpPr>
          <p:cNvPr id="3" name="コンテンツ プレースホルダー 2">
            <a:extLst>
              <a:ext uri="{FF2B5EF4-FFF2-40B4-BE49-F238E27FC236}">
                <a16:creationId xmlns:a16="http://schemas.microsoft.com/office/drawing/2014/main" id="{3A74DC8F-3DF9-4DA0-294C-23541738FC84}"/>
              </a:ext>
            </a:extLst>
          </p:cNvPr>
          <p:cNvSpPr>
            <a:spLocks noGrp="1"/>
          </p:cNvSpPr>
          <p:nvPr>
            <p:ph idx="1"/>
          </p:nvPr>
        </p:nvSpPr>
        <p:spPr/>
        <p:txBody>
          <a:bodyPr/>
          <a:lstStyle/>
          <a:p>
            <a:pPr marL="0" indent="0">
              <a:buNone/>
            </a:pPr>
            <a:r>
              <a:rPr lang="ja-GB" altLang="en-US" dirty="0"/>
              <a:t>計算機がネットワ</a:t>
            </a:r>
            <a:r>
              <a:rPr kumimoji="1" lang="ja-GB" altLang="en-US" dirty="0"/>
              <a:t>ークに接続するときに使用する識別番号</a:t>
            </a:r>
            <a:endParaRPr kumimoji="1" lang="en-US" altLang="ja-GB" dirty="0"/>
          </a:p>
          <a:p>
            <a:pPr marL="457200" lvl="1" indent="0">
              <a:buNone/>
            </a:pPr>
            <a:r>
              <a:rPr kumimoji="1" lang="ja-GB" altLang="en-US" dirty="0"/>
              <a:t>ネットワーク部：計算機の所属するネットワークを示す部分</a:t>
            </a:r>
            <a:endParaRPr kumimoji="1" lang="en-US" altLang="ja-GB" dirty="0"/>
          </a:p>
          <a:p>
            <a:pPr lvl="3"/>
            <a:endParaRPr kumimoji="1" lang="en-US" altLang="ja-GB" dirty="0"/>
          </a:p>
          <a:p>
            <a:pPr marL="457200" lvl="1" indent="0">
              <a:buNone/>
            </a:pPr>
            <a:r>
              <a:rPr lang="ja-GB" altLang="en-US" dirty="0"/>
              <a:t>ホスト部：ネットワークにおけるその計算機を示す部分</a:t>
            </a:r>
            <a:endParaRPr lang="en-US" altLang="ja-GB" dirty="0"/>
          </a:p>
          <a:p>
            <a:pPr lvl="3"/>
            <a:endParaRPr lang="en-US" altLang="ja-GB" dirty="0"/>
          </a:p>
          <a:p>
            <a:pPr marL="457200" lvl="1" indent="0">
              <a:buNone/>
            </a:pPr>
            <a:r>
              <a:rPr kumimoji="1" lang="ja-GB" altLang="en-US" dirty="0"/>
              <a:t>サブネットマスク：ネットワーク部とホスト部を区別するための番号</a:t>
            </a:r>
            <a:endParaRPr kumimoji="1" lang="en-US" altLang="ja-GB" dirty="0"/>
          </a:p>
          <a:p>
            <a:pPr marL="914400" lvl="2" indent="0">
              <a:buNone/>
            </a:pPr>
            <a:r>
              <a:rPr lang="ja-GB" altLang="en-US" dirty="0"/>
              <a:t>例</a:t>
            </a:r>
            <a:r>
              <a:rPr lang="en-US" altLang="ja-GB" dirty="0"/>
              <a:t>1</a:t>
            </a:r>
            <a:r>
              <a:rPr lang="ja-GB" altLang="en-US" dirty="0"/>
              <a:t>）</a:t>
            </a:r>
            <a:r>
              <a:rPr lang="en-US" altLang="ja-GB" dirty="0"/>
              <a:t>255.255.252.0→11111111.11111111.11111100.00000000</a:t>
            </a:r>
          </a:p>
          <a:p>
            <a:pPr marL="914400" lvl="2" indent="0">
              <a:buNone/>
            </a:pPr>
            <a:r>
              <a:rPr kumimoji="1" lang="ja-GB" altLang="en-US" dirty="0"/>
              <a:t>例</a:t>
            </a:r>
            <a:r>
              <a:rPr kumimoji="1" lang="en-US" altLang="ja-GB" dirty="0"/>
              <a:t>2</a:t>
            </a:r>
            <a:r>
              <a:rPr kumimoji="1" lang="ja-GB" altLang="en-US" dirty="0"/>
              <a:t>）</a:t>
            </a:r>
            <a:r>
              <a:rPr lang="en-US" altLang="ja-GB" dirty="0"/>
              <a:t>255.255.255.0→11111111.11111111.11111111.00000000</a:t>
            </a:r>
          </a:p>
          <a:p>
            <a:pPr lvl="3"/>
            <a:endParaRPr kumimoji="1" lang="en-US" altLang="ja-GB" dirty="0"/>
          </a:p>
          <a:p>
            <a:pPr marL="457200" lvl="1" indent="0">
              <a:buNone/>
            </a:pPr>
            <a:r>
              <a:rPr kumimoji="1" lang="en-US" altLang="ja-GB" dirty="0"/>
              <a:t>CIDR</a:t>
            </a:r>
            <a:r>
              <a:rPr kumimoji="1" lang="ja-GB" altLang="en-US" dirty="0"/>
              <a:t>（サイダー）</a:t>
            </a:r>
            <a:endParaRPr kumimoji="1" lang="en-US" altLang="ja-GB" dirty="0"/>
          </a:p>
          <a:p>
            <a:pPr lvl="2"/>
            <a:r>
              <a:rPr kumimoji="1" lang="en-US" altLang="ja-GB" dirty="0">
                <a:solidFill>
                  <a:schemeClr val="tx1">
                    <a:lumMod val="50000"/>
                    <a:lumOff val="50000"/>
                  </a:schemeClr>
                </a:solidFill>
              </a:rPr>
              <a:t>Classless Inter-Domain Routing</a:t>
            </a:r>
            <a:r>
              <a:rPr kumimoji="1" lang="ja-GB" altLang="en-US" dirty="0">
                <a:solidFill>
                  <a:schemeClr val="tx1">
                    <a:lumMod val="50000"/>
                    <a:lumOff val="50000"/>
                  </a:schemeClr>
                </a:solidFill>
              </a:rPr>
              <a:t>：クラス依存のないドメイン間の経路制御</a:t>
            </a:r>
            <a:endParaRPr kumimoji="1" lang="en-US" altLang="ja-GB" dirty="0">
              <a:solidFill>
                <a:schemeClr val="tx1">
                  <a:lumMod val="50000"/>
                  <a:lumOff val="50000"/>
                </a:schemeClr>
              </a:solidFill>
            </a:endParaRPr>
          </a:p>
          <a:p>
            <a:pPr marL="1371600" lvl="3" indent="0">
              <a:buNone/>
            </a:pPr>
            <a:r>
              <a:rPr lang="en-US" altLang="ja-GB" dirty="0">
                <a:solidFill>
                  <a:schemeClr val="tx1">
                    <a:lumMod val="50000"/>
                    <a:lumOff val="50000"/>
                  </a:schemeClr>
                </a:solidFill>
              </a:rPr>
              <a:t>C   </a:t>
            </a:r>
            <a:r>
              <a:rPr lang="ja-GB" altLang="en-US" dirty="0">
                <a:solidFill>
                  <a:schemeClr val="tx1">
                    <a:lumMod val="50000"/>
                    <a:lumOff val="50000"/>
                  </a:schemeClr>
                </a:solidFill>
              </a:rPr>
              <a:t>：「</a:t>
            </a:r>
            <a:r>
              <a:rPr lang="en-US" altLang="ja-GB" dirty="0">
                <a:solidFill>
                  <a:schemeClr val="tx1">
                    <a:lumMod val="50000"/>
                    <a:lumOff val="50000"/>
                  </a:schemeClr>
                </a:solidFill>
              </a:rPr>
              <a:t>.</a:t>
            </a:r>
            <a:r>
              <a:rPr lang="ja-GB" altLang="en-US" dirty="0">
                <a:solidFill>
                  <a:schemeClr val="tx1">
                    <a:lumMod val="50000"/>
                    <a:lumOff val="50000"/>
                  </a:schemeClr>
                </a:solidFill>
              </a:rPr>
              <a:t>」の区切りにとらわれず，好きな位置でネットワーク部とホスト部を区別</a:t>
            </a:r>
            <a:endParaRPr lang="en-US" altLang="ja-GB" dirty="0">
              <a:solidFill>
                <a:schemeClr val="tx1">
                  <a:lumMod val="50000"/>
                  <a:lumOff val="50000"/>
                </a:schemeClr>
              </a:solidFill>
            </a:endParaRPr>
          </a:p>
          <a:p>
            <a:pPr marL="1371600" lvl="3" indent="0">
              <a:buNone/>
            </a:pPr>
            <a:r>
              <a:rPr kumimoji="1" lang="en-US" altLang="ja-GB" dirty="0">
                <a:solidFill>
                  <a:schemeClr val="tx1">
                    <a:lumMod val="50000"/>
                    <a:lumOff val="50000"/>
                  </a:schemeClr>
                </a:solidFill>
              </a:rPr>
              <a:t>IDR</a:t>
            </a:r>
            <a:r>
              <a:rPr kumimoji="1" lang="ja-GB" altLang="en-US" dirty="0">
                <a:solidFill>
                  <a:schemeClr val="tx1">
                    <a:lumMod val="50000"/>
                    <a:lumOff val="50000"/>
                  </a:schemeClr>
                </a:solidFill>
              </a:rPr>
              <a:t>：ネットワークの間で通信するための経路を決定</a:t>
            </a:r>
            <a:endParaRPr kumimoji="1" lang="en-US" altLang="ja-GB" dirty="0">
              <a:solidFill>
                <a:schemeClr val="tx1">
                  <a:lumMod val="50000"/>
                  <a:lumOff val="50000"/>
                </a:schemeClr>
              </a:solidFill>
            </a:endParaRPr>
          </a:p>
          <a:p>
            <a:pPr lvl="2"/>
            <a:r>
              <a:rPr kumimoji="1" lang="en-US" altLang="ja-GB" dirty="0"/>
              <a:t>IP</a:t>
            </a:r>
            <a:r>
              <a:rPr kumimoji="1" lang="ja-GB" altLang="en-US" dirty="0"/>
              <a:t>アドレスとサブネットマスクを同時に表記する記法</a:t>
            </a:r>
            <a:endParaRPr kumimoji="1" lang="en-US" altLang="ja-GB" dirty="0"/>
          </a:p>
          <a:p>
            <a:pPr marL="1371600" lvl="3" indent="0">
              <a:buNone/>
            </a:pPr>
            <a:r>
              <a:rPr lang="ja-GB" altLang="en-US" dirty="0"/>
              <a:t>例</a:t>
            </a:r>
            <a:r>
              <a:rPr lang="en-US" altLang="ja-GB" dirty="0"/>
              <a:t>1</a:t>
            </a:r>
            <a:r>
              <a:rPr lang="ja-GB" altLang="en-US" dirty="0"/>
              <a:t>）</a:t>
            </a:r>
            <a:r>
              <a:rPr lang="en-US" altLang="ja-GB" dirty="0"/>
              <a:t>192.168.10.100/24</a:t>
            </a:r>
            <a:r>
              <a:rPr lang="ja-GB" altLang="en-US" dirty="0"/>
              <a:t>：</a:t>
            </a:r>
            <a:r>
              <a:rPr lang="en-US" altLang="ja-GB" dirty="0"/>
              <a:t>24</a:t>
            </a:r>
            <a:r>
              <a:rPr lang="ja-GB" altLang="en-US" dirty="0"/>
              <a:t>はネットワークアドレス部の桁数（</a:t>
            </a:r>
            <a:r>
              <a:rPr lang="en-US" altLang="ja-GB" dirty="0"/>
              <a:t>255.255.255.0</a:t>
            </a:r>
            <a:r>
              <a:rPr lang="ja-GB" altLang="en-US" dirty="0"/>
              <a:t>）</a:t>
            </a:r>
            <a:endParaRPr lang="en-US" altLang="ja-GB" dirty="0"/>
          </a:p>
          <a:p>
            <a:pPr marL="1371600" lvl="3" indent="0">
              <a:buNone/>
            </a:pPr>
            <a:r>
              <a:rPr lang="ja-GB" altLang="en-US" dirty="0"/>
              <a:t>例</a:t>
            </a:r>
            <a:r>
              <a:rPr lang="en-US" altLang="ja-GB" dirty="0"/>
              <a:t>2</a:t>
            </a:r>
            <a:r>
              <a:rPr lang="ja-GB" altLang="en-US" dirty="0"/>
              <a:t>）</a:t>
            </a:r>
            <a:r>
              <a:rPr lang="en-US" altLang="ja-GB" dirty="0"/>
              <a:t>192.168.10.100/22</a:t>
            </a:r>
            <a:r>
              <a:rPr lang="ja-GB" altLang="en-US" dirty="0"/>
              <a:t>：</a:t>
            </a:r>
            <a:r>
              <a:rPr lang="en-US" altLang="ja-GB" dirty="0"/>
              <a:t>22</a:t>
            </a:r>
            <a:r>
              <a:rPr lang="ja-GB" altLang="en-US" dirty="0"/>
              <a:t>はネットワークアドレス部の桁数（</a:t>
            </a:r>
            <a:r>
              <a:rPr lang="en-US" altLang="ja-GB" dirty="0"/>
              <a:t>255.255.252.0</a:t>
            </a:r>
            <a:r>
              <a:rPr lang="ja-GB" altLang="en-US" dirty="0"/>
              <a:t>）</a:t>
            </a:r>
            <a:endParaRPr lang="en-US" altLang="ja-GB" dirty="0"/>
          </a:p>
          <a:p>
            <a:pPr lvl="2"/>
            <a:endParaRPr kumimoji="1" lang="en-US" altLang="ja-GB" dirty="0"/>
          </a:p>
        </p:txBody>
      </p:sp>
      <p:sp>
        <p:nvSpPr>
          <p:cNvPr id="4" name="テキスト ボックス 3">
            <a:extLst>
              <a:ext uri="{FF2B5EF4-FFF2-40B4-BE49-F238E27FC236}">
                <a16:creationId xmlns:a16="http://schemas.microsoft.com/office/drawing/2014/main" id="{19B60785-86CF-82CF-351C-4F5C6BBD2981}"/>
              </a:ext>
            </a:extLst>
          </p:cNvPr>
          <p:cNvSpPr txBox="1"/>
          <p:nvPr/>
        </p:nvSpPr>
        <p:spPr>
          <a:xfrm>
            <a:off x="937030" y="6410227"/>
            <a:ext cx="7269939" cy="307777"/>
          </a:xfrm>
          <a:prstGeom prst="rect">
            <a:avLst/>
          </a:prstGeom>
          <a:noFill/>
        </p:spPr>
        <p:txBody>
          <a:bodyPr wrap="none" rtlCol="0">
            <a:spAutoFit/>
          </a:bodyPr>
          <a:lstStyle/>
          <a:p>
            <a:pPr algn="ctr"/>
            <a:r>
              <a:rPr kumimoji="1" lang="en-US" altLang="ja-GB" sz="1400" dirty="0"/>
              <a:t>※</a:t>
            </a:r>
            <a:r>
              <a:rPr kumimoji="1" lang="ja-GB" altLang="en-US" sz="1400" dirty="0"/>
              <a:t>本授業では広く普及している</a:t>
            </a:r>
            <a:r>
              <a:rPr kumimoji="1" lang="en-US" altLang="ja-GB" sz="1400" dirty="0"/>
              <a:t>IPv4</a:t>
            </a:r>
            <a:r>
              <a:rPr kumimoji="1" lang="ja-GB" altLang="en-US" sz="1400" dirty="0"/>
              <a:t>のみ説明する．他に</a:t>
            </a:r>
            <a:r>
              <a:rPr kumimoji="1" lang="en-US" altLang="ja-GB" sz="1400" dirty="0"/>
              <a:t>IPv6</a:t>
            </a:r>
            <a:r>
              <a:rPr kumimoji="1" lang="ja-GB" altLang="en-US" sz="1400" dirty="0"/>
              <a:t>と呼ばれる方式も存在する</a:t>
            </a:r>
          </a:p>
        </p:txBody>
      </p:sp>
    </p:spTree>
    <p:extLst>
      <p:ext uri="{BB962C8B-B14F-4D97-AF65-F5344CB8AC3E}">
        <p14:creationId xmlns:p14="http://schemas.microsoft.com/office/powerpoint/2010/main" val="2911292946"/>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5C6044-A45C-4DCC-F25A-8C4DC9378AD2}"/>
              </a:ext>
            </a:extLst>
          </p:cNvPr>
          <p:cNvSpPr>
            <a:spLocks noGrp="1"/>
          </p:cNvSpPr>
          <p:nvPr>
            <p:ph type="title"/>
          </p:nvPr>
        </p:nvSpPr>
        <p:spPr/>
        <p:txBody>
          <a:bodyPr/>
          <a:lstStyle/>
          <a:p>
            <a:r>
              <a:rPr kumimoji="1" lang="en-US" altLang="ja-GB" dirty="0"/>
              <a:t>Web</a:t>
            </a:r>
            <a:r>
              <a:rPr kumimoji="1" lang="ja-GB" altLang="en-US" dirty="0"/>
              <a:t>アプリ</a:t>
            </a:r>
          </a:p>
        </p:txBody>
      </p:sp>
      <p:sp>
        <p:nvSpPr>
          <p:cNvPr id="4" name="テキスト ボックス 3">
            <a:extLst>
              <a:ext uri="{FF2B5EF4-FFF2-40B4-BE49-F238E27FC236}">
                <a16:creationId xmlns:a16="http://schemas.microsoft.com/office/drawing/2014/main" id="{5D67B92F-5BE8-BE49-3B7E-2441FFCC8CE5}"/>
              </a:ext>
            </a:extLst>
          </p:cNvPr>
          <p:cNvSpPr txBox="1"/>
          <p:nvPr/>
        </p:nvSpPr>
        <p:spPr>
          <a:xfrm>
            <a:off x="1019390" y="5684177"/>
            <a:ext cx="7105215" cy="369332"/>
          </a:xfrm>
          <a:prstGeom prst="rect">
            <a:avLst/>
          </a:prstGeom>
          <a:noFill/>
        </p:spPr>
        <p:txBody>
          <a:bodyPr wrap="none" rtlCol="0">
            <a:spAutoFit/>
          </a:bodyPr>
          <a:lstStyle/>
          <a:p>
            <a:pPr algn="ctr"/>
            <a:r>
              <a:rPr kumimoji="1" lang="en-GB" altLang="ja-GB" dirty="0">
                <a:hlinkClick r:id="rId3"/>
              </a:rPr>
              <a:t>https://claude.ai/public/artifacts/8466c5b1-61df-4e6e-9f5c-7dac5a16fa5f</a:t>
            </a:r>
            <a:r>
              <a:rPr kumimoji="1" lang="en-GB" altLang="ja-GB" dirty="0"/>
              <a:t> </a:t>
            </a:r>
            <a:endParaRPr kumimoji="1" lang="ja-GB" altLang="en-US" dirty="0"/>
          </a:p>
        </p:txBody>
      </p:sp>
      <p:pic>
        <p:nvPicPr>
          <p:cNvPr id="6" name="図 5" descr="グラフィカル ユーザー インターフェイス, アプリケーション&#10;&#10;AI 生成コンテンツは誤りを含む可能性があります。">
            <a:extLst>
              <a:ext uri="{FF2B5EF4-FFF2-40B4-BE49-F238E27FC236}">
                <a16:creationId xmlns:a16="http://schemas.microsoft.com/office/drawing/2014/main" id="{F00B34A7-1533-50D3-6FC0-403DF0BE2E9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690439" y="659219"/>
            <a:ext cx="5763121" cy="5147692"/>
          </a:xfrm>
          <a:prstGeom prst="rect">
            <a:avLst/>
          </a:prstGeom>
        </p:spPr>
      </p:pic>
      <p:sp>
        <p:nvSpPr>
          <p:cNvPr id="7" name="テキスト ボックス 6">
            <a:extLst>
              <a:ext uri="{FF2B5EF4-FFF2-40B4-BE49-F238E27FC236}">
                <a16:creationId xmlns:a16="http://schemas.microsoft.com/office/drawing/2014/main" id="{728A0798-48C1-0261-8CD2-D57CF9BB002B}"/>
              </a:ext>
            </a:extLst>
          </p:cNvPr>
          <p:cNvSpPr txBox="1"/>
          <p:nvPr/>
        </p:nvSpPr>
        <p:spPr>
          <a:xfrm>
            <a:off x="1363429" y="6002165"/>
            <a:ext cx="6417142" cy="369332"/>
          </a:xfrm>
          <a:prstGeom prst="rect">
            <a:avLst/>
          </a:prstGeom>
          <a:noFill/>
        </p:spPr>
        <p:txBody>
          <a:bodyPr wrap="none" rtlCol="0">
            <a:spAutoFit/>
          </a:bodyPr>
          <a:lstStyle/>
          <a:p>
            <a:pPr algn="ctr"/>
            <a:r>
              <a:rPr kumimoji="1" lang="ja-GB" altLang="en-US" dirty="0">
                <a:solidFill>
                  <a:schemeClr val="tx1">
                    <a:lumMod val="50000"/>
                    <a:lumOff val="50000"/>
                  </a:schemeClr>
                </a:solidFill>
              </a:rPr>
              <a:t>アプリに不具合や間違いがあれば講師までご連絡ください</a:t>
            </a:r>
          </a:p>
        </p:txBody>
      </p:sp>
      <p:sp>
        <p:nvSpPr>
          <p:cNvPr id="8" name="テキスト ボックス 7">
            <a:extLst>
              <a:ext uri="{FF2B5EF4-FFF2-40B4-BE49-F238E27FC236}">
                <a16:creationId xmlns:a16="http://schemas.microsoft.com/office/drawing/2014/main" id="{6E1F4A9A-423D-6931-49BC-8509D78A6D2D}"/>
              </a:ext>
            </a:extLst>
          </p:cNvPr>
          <p:cNvSpPr txBox="1"/>
          <p:nvPr/>
        </p:nvSpPr>
        <p:spPr>
          <a:xfrm>
            <a:off x="663717" y="6412862"/>
            <a:ext cx="7816563" cy="307777"/>
          </a:xfrm>
          <a:prstGeom prst="rect">
            <a:avLst/>
          </a:prstGeom>
          <a:noFill/>
        </p:spPr>
        <p:txBody>
          <a:bodyPr wrap="none" rtlCol="0">
            <a:spAutoFit/>
          </a:bodyPr>
          <a:lstStyle/>
          <a:p>
            <a:pPr algn="ctr"/>
            <a:r>
              <a:rPr kumimoji="1" lang="en-US" altLang="ja-GB" sz="1400" dirty="0"/>
              <a:t>※</a:t>
            </a:r>
            <a:r>
              <a:rPr kumimoji="1" lang="ja-GB" altLang="en-US" sz="1400" dirty="0"/>
              <a:t>本講義では，マスクされた部分を</a:t>
            </a:r>
            <a:r>
              <a:rPr kumimoji="1" lang="en-US" altLang="ja-GB" sz="1400" dirty="0"/>
              <a:t>0</a:t>
            </a:r>
            <a:r>
              <a:rPr kumimoji="1" lang="ja-GB" altLang="en-US" sz="1400" dirty="0"/>
              <a:t>で埋めた結果がネットワーク部やホスト部として表示する</a:t>
            </a:r>
          </a:p>
        </p:txBody>
      </p:sp>
    </p:spTree>
    <p:extLst>
      <p:ext uri="{BB962C8B-B14F-4D97-AF65-F5344CB8AC3E}">
        <p14:creationId xmlns:p14="http://schemas.microsoft.com/office/powerpoint/2010/main" val="3117067920"/>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654C9-A585-CA7A-8C22-641CE47E9E78}"/>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9EA1D1C-C703-51E4-B950-68E705A6CCA2}"/>
              </a:ext>
            </a:extLst>
          </p:cNvPr>
          <p:cNvSpPr/>
          <p:nvPr/>
        </p:nvSpPr>
        <p:spPr>
          <a:xfrm>
            <a:off x="0" y="1"/>
            <a:ext cx="9144000" cy="4404639"/>
          </a:xfrm>
          <a:prstGeom prst="rect">
            <a:avLst/>
          </a:prstGeom>
          <a:solidFill>
            <a:schemeClr val="tx1">
              <a:lumMod val="50000"/>
              <a:lumOff val="5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sp>
        <p:nvSpPr>
          <p:cNvPr id="5" name="タイトル 1">
            <a:extLst>
              <a:ext uri="{FF2B5EF4-FFF2-40B4-BE49-F238E27FC236}">
                <a16:creationId xmlns:a16="http://schemas.microsoft.com/office/drawing/2014/main" id="{13C4D0C5-2773-A03A-7567-FCD0B0682E54}"/>
              </a:ext>
            </a:extLst>
          </p:cNvPr>
          <p:cNvSpPr>
            <a:spLocks noGrp="1"/>
          </p:cNvSpPr>
          <p:nvPr>
            <p:ph type="ctrTitle"/>
          </p:nvPr>
        </p:nvSpPr>
        <p:spPr>
          <a:xfrm>
            <a:off x="342901" y="1666380"/>
            <a:ext cx="8458198" cy="2738260"/>
          </a:xfrm>
        </p:spPr>
        <p:txBody>
          <a:bodyPr anchor="b">
            <a:normAutofit/>
          </a:bodyPr>
          <a:lstStyle/>
          <a:p>
            <a:pPr algn="l">
              <a:lnSpc>
                <a:spcPct val="100000"/>
              </a:lnSpc>
            </a:pPr>
            <a:r>
              <a:rPr kumimoji="1" lang="en-US" altLang="ja-JP" sz="3200" dirty="0">
                <a:solidFill>
                  <a:schemeClr val="bg1"/>
                </a:solidFill>
              </a:rPr>
              <a:t>2025</a:t>
            </a:r>
            <a:r>
              <a:rPr kumimoji="1" lang="ja-JP" altLang="en-US" sz="3200">
                <a:solidFill>
                  <a:schemeClr val="bg1"/>
                </a:solidFill>
              </a:rPr>
              <a:t>年度</a:t>
            </a:r>
            <a:r>
              <a:rPr lang="en-US" altLang="ja-JP" sz="3200" dirty="0">
                <a:solidFill>
                  <a:schemeClr val="bg1"/>
                </a:solidFill>
              </a:rPr>
              <a:t> </a:t>
            </a:r>
            <a:r>
              <a:rPr kumimoji="1" lang="ja-JP" altLang="en-US" sz="3200">
                <a:solidFill>
                  <a:schemeClr val="bg1"/>
                </a:solidFill>
              </a:rPr>
              <a:t>コンピュータシステム</a:t>
            </a:r>
            <a:br>
              <a:rPr lang="en-US" altLang="ja-JP" sz="3200" dirty="0">
                <a:solidFill>
                  <a:schemeClr val="bg1"/>
                </a:solidFill>
              </a:rPr>
            </a:br>
            <a:r>
              <a:rPr kumimoji="1" lang="ja-GB" altLang="en-US" sz="3200" dirty="0">
                <a:solidFill>
                  <a:schemeClr val="bg1"/>
                </a:solidFill>
              </a:rPr>
              <a:t>第</a:t>
            </a:r>
            <a:r>
              <a:rPr kumimoji="1" lang="en-US" altLang="ja-GB" sz="3200" dirty="0">
                <a:solidFill>
                  <a:schemeClr val="bg1"/>
                </a:solidFill>
              </a:rPr>
              <a:t>1</a:t>
            </a:r>
            <a:r>
              <a:rPr lang="en-US" altLang="ja-GB" sz="3200" dirty="0">
                <a:solidFill>
                  <a:schemeClr val="bg1"/>
                </a:solidFill>
              </a:rPr>
              <a:t>2</a:t>
            </a:r>
            <a:r>
              <a:rPr kumimoji="1" lang="ja-GB" altLang="en-US" sz="3200" dirty="0">
                <a:solidFill>
                  <a:schemeClr val="bg1"/>
                </a:solidFill>
              </a:rPr>
              <a:t>回：演習</a:t>
            </a:r>
            <a:r>
              <a:rPr kumimoji="1" lang="en-US" altLang="ja-GB" sz="3200" dirty="0">
                <a:solidFill>
                  <a:schemeClr val="bg1"/>
                </a:solidFill>
              </a:rPr>
              <a:t> </a:t>
            </a:r>
            <a:r>
              <a:rPr lang="ja-GB" altLang="en-US" sz="3200" dirty="0">
                <a:solidFill>
                  <a:schemeClr val="bg1"/>
                </a:solidFill>
              </a:rPr>
              <a:t>基数と論理演算の解説</a:t>
            </a:r>
            <a:br>
              <a:rPr kumimoji="1" lang="en-US" altLang="ja-JP" sz="2400" dirty="0">
                <a:solidFill>
                  <a:schemeClr val="bg1"/>
                </a:solidFill>
              </a:rPr>
            </a:br>
            <a:endParaRPr kumimoji="1" lang="ja-JP" altLang="en-US" sz="2400">
              <a:solidFill>
                <a:schemeClr val="bg1"/>
              </a:solidFill>
            </a:endParaRPr>
          </a:p>
        </p:txBody>
      </p:sp>
      <p:sp>
        <p:nvSpPr>
          <p:cNvPr id="6" name="字幕 2">
            <a:extLst>
              <a:ext uri="{FF2B5EF4-FFF2-40B4-BE49-F238E27FC236}">
                <a16:creationId xmlns:a16="http://schemas.microsoft.com/office/drawing/2014/main" id="{9173361D-B551-773B-EFC2-0949B989DB4C}"/>
              </a:ext>
            </a:extLst>
          </p:cNvPr>
          <p:cNvSpPr txBox="1">
            <a:spLocks/>
          </p:cNvSpPr>
          <p:nvPr/>
        </p:nvSpPr>
        <p:spPr>
          <a:xfrm>
            <a:off x="342900" y="4404640"/>
            <a:ext cx="8458199" cy="1762620"/>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b="1" kern="1200">
                <a:solidFill>
                  <a:srgbClr val="002060"/>
                </a:solidFill>
                <a:latin typeface="+mn-ea"/>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b="1" kern="1200">
                <a:solidFill>
                  <a:srgbClr val="2F2624"/>
                </a:solidFill>
                <a:latin typeface="+mn-ea"/>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b="1" kern="1200">
                <a:solidFill>
                  <a:srgbClr val="2F2624"/>
                </a:solidFill>
                <a:latin typeface="+mn-ea"/>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b="1" kern="1200">
                <a:solidFill>
                  <a:srgbClr val="2F2624"/>
                </a:solidFill>
                <a:latin typeface="+mn-ea"/>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b="1" kern="1200">
                <a:solidFill>
                  <a:srgbClr val="2F2624"/>
                </a:solidFill>
                <a:latin typeface="+mn-ea"/>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lvl="0" algn="l">
              <a:lnSpc>
                <a:spcPct val="100000"/>
              </a:lnSpc>
              <a:spcBef>
                <a:spcPts val="600"/>
              </a:spcBef>
            </a:pPr>
            <a:endParaRPr lang="en-GB" altLang="ja-JP" sz="2000" dirty="0">
              <a:solidFill>
                <a:srgbClr val="2F2523"/>
              </a:solidFill>
              <a:latin typeface="Yu Gothic UI" panose="020B0500000000000000" pitchFamily="34" charset="-128"/>
              <a:ea typeface="Yu Gothic UI" panose="020B0500000000000000" pitchFamily="34" charset="-128"/>
            </a:endParaRPr>
          </a:p>
          <a:p>
            <a:pPr lvl="0" algn="l">
              <a:lnSpc>
                <a:spcPct val="100000"/>
              </a:lnSpc>
              <a:spcBef>
                <a:spcPts val="600"/>
              </a:spcBef>
            </a:pPr>
            <a:r>
              <a:rPr lang="en-US" altLang="ja-JP" sz="2600" dirty="0">
                <a:solidFill>
                  <a:srgbClr val="2F2523"/>
                </a:solidFill>
                <a:latin typeface="Yu Gothic UI" panose="020B0500000000000000" pitchFamily="34" charset="-128"/>
                <a:ea typeface="Yu Gothic UI" panose="020B0500000000000000" pitchFamily="34" charset="-128"/>
              </a:rPr>
              <a:t>2025/7/4(</a:t>
            </a:r>
            <a:r>
              <a:rPr lang="ja-JP" altLang="en-US" sz="2600">
                <a:solidFill>
                  <a:srgbClr val="2F2523"/>
                </a:solidFill>
                <a:latin typeface="Yu Gothic UI" panose="020B0500000000000000" pitchFamily="34" charset="-128"/>
                <a:ea typeface="Yu Gothic UI" panose="020B0500000000000000" pitchFamily="34" charset="-128"/>
              </a:rPr>
              <a:t>金</a:t>
            </a:r>
            <a:r>
              <a:rPr lang="en-US" altLang="ja-JP" sz="2600" dirty="0">
                <a:solidFill>
                  <a:srgbClr val="2F2523"/>
                </a:solidFill>
                <a:latin typeface="Yu Gothic UI" panose="020B0500000000000000" pitchFamily="34" charset="-128"/>
                <a:ea typeface="Yu Gothic UI" panose="020B0500000000000000" pitchFamily="34" charset="-128"/>
              </a:rPr>
              <a:t>)</a:t>
            </a:r>
          </a:p>
          <a:p>
            <a:pPr lvl="0" algn="l">
              <a:lnSpc>
                <a:spcPct val="100000"/>
              </a:lnSpc>
              <a:spcBef>
                <a:spcPts val="600"/>
              </a:spcBef>
            </a:pPr>
            <a:r>
              <a:rPr lang="ja-JP" altLang="en-US" sz="2600">
                <a:solidFill>
                  <a:srgbClr val="2F2523"/>
                </a:solidFill>
                <a:latin typeface="Yu Gothic UI" panose="020B0500000000000000" pitchFamily="34" charset="-128"/>
                <a:ea typeface="Yu Gothic UI" panose="020B0500000000000000" pitchFamily="34" charset="-128"/>
              </a:rPr>
              <a:t>担当講師</a:t>
            </a:r>
            <a:r>
              <a:rPr lang="en-US" altLang="ja-JP" sz="2600" dirty="0">
                <a:solidFill>
                  <a:srgbClr val="2F2523"/>
                </a:solidFill>
                <a:latin typeface="Yu Gothic UI" panose="020B0500000000000000" pitchFamily="34" charset="-128"/>
                <a:ea typeface="Yu Gothic UI" panose="020B0500000000000000" pitchFamily="34" charset="-128"/>
              </a:rPr>
              <a:t> </a:t>
            </a:r>
            <a:r>
              <a:rPr lang="ja-JP" altLang="en-US" sz="2600">
                <a:solidFill>
                  <a:srgbClr val="2F2523"/>
                </a:solidFill>
                <a:latin typeface="Yu Gothic UI" panose="020B0500000000000000" pitchFamily="34" charset="-128"/>
                <a:ea typeface="Yu Gothic UI" panose="020B0500000000000000" pitchFamily="34" charset="-128"/>
              </a:rPr>
              <a:t>冨岡莉生</a:t>
            </a:r>
            <a:endParaRPr lang="en-US" altLang="ja-JP" sz="1500" dirty="0">
              <a:solidFill>
                <a:srgbClr val="2F2523"/>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63028971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20A88E-848C-CE38-71C2-BBEDFF60B801}"/>
              </a:ext>
            </a:extLst>
          </p:cNvPr>
          <p:cNvSpPr>
            <a:spLocks noGrp="1"/>
          </p:cNvSpPr>
          <p:nvPr>
            <p:ph type="title"/>
          </p:nvPr>
        </p:nvSpPr>
        <p:spPr/>
        <p:txBody>
          <a:bodyPr/>
          <a:lstStyle/>
          <a:p>
            <a:r>
              <a:rPr kumimoji="1" lang="ja-GB" altLang="en-US" dirty="0"/>
              <a:t>演習</a:t>
            </a:r>
          </a:p>
        </p:txBody>
      </p:sp>
      <p:sp>
        <p:nvSpPr>
          <p:cNvPr id="3" name="コンテンツ プレースホルダー 2">
            <a:extLst>
              <a:ext uri="{FF2B5EF4-FFF2-40B4-BE49-F238E27FC236}">
                <a16:creationId xmlns:a16="http://schemas.microsoft.com/office/drawing/2014/main" id="{5EEDC80A-C3A2-ED42-0F71-1F8AFEA11C4A}"/>
              </a:ext>
            </a:extLst>
          </p:cNvPr>
          <p:cNvSpPr>
            <a:spLocks noGrp="1"/>
          </p:cNvSpPr>
          <p:nvPr>
            <p:ph idx="1"/>
          </p:nvPr>
        </p:nvSpPr>
        <p:spPr/>
        <p:txBody>
          <a:bodyPr/>
          <a:lstStyle/>
          <a:p>
            <a:pPr marL="0" indent="0">
              <a:buNone/>
            </a:pPr>
            <a:r>
              <a:rPr kumimoji="1" lang="ja-GB" altLang="en-US" dirty="0"/>
              <a:t>問題</a:t>
            </a:r>
            <a:r>
              <a:rPr kumimoji="1" lang="en-US" altLang="ja-GB" dirty="0"/>
              <a:t>1</a:t>
            </a:r>
            <a:r>
              <a:rPr kumimoji="1" lang="ja-GB" altLang="en-US" dirty="0"/>
              <a:t>：加算回路での演算</a:t>
            </a:r>
            <a:endParaRPr kumimoji="1" lang="en-US" altLang="ja-GB" dirty="0"/>
          </a:p>
          <a:p>
            <a:pPr lvl="1"/>
            <a:endParaRPr kumimoji="1" lang="en-US" altLang="ja-GB" dirty="0"/>
          </a:p>
          <a:p>
            <a:pPr marL="0" indent="0">
              <a:buNone/>
            </a:pPr>
            <a:r>
              <a:rPr lang="ja-GB" altLang="en-US" dirty="0">
                <a:solidFill>
                  <a:schemeClr val="tx1">
                    <a:lumMod val="50000"/>
                    <a:lumOff val="50000"/>
                  </a:schemeClr>
                </a:solidFill>
              </a:rPr>
              <a:t>問題</a:t>
            </a:r>
            <a:r>
              <a:rPr lang="en-US" altLang="ja-GB" dirty="0">
                <a:solidFill>
                  <a:schemeClr val="tx1">
                    <a:lumMod val="50000"/>
                    <a:lumOff val="50000"/>
                  </a:schemeClr>
                </a:solidFill>
              </a:rPr>
              <a:t>2</a:t>
            </a:r>
            <a:r>
              <a:rPr lang="ja-GB" altLang="en-US" dirty="0">
                <a:solidFill>
                  <a:schemeClr val="tx1">
                    <a:lumMod val="50000"/>
                    <a:lumOff val="50000"/>
                  </a:schemeClr>
                </a:solidFill>
              </a:rPr>
              <a:t>：カラーコード</a:t>
            </a:r>
            <a:endParaRPr lang="en-US" altLang="ja-GB" dirty="0">
              <a:solidFill>
                <a:schemeClr val="tx1">
                  <a:lumMod val="50000"/>
                  <a:lumOff val="50000"/>
                </a:schemeClr>
              </a:solidFill>
            </a:endParaRPr>
          </a:p>
          <a:p>
            <a:pPr lvl="1"/>
            <a:endParaRPr lang="en-US" altLang="ja-GB" dirty="0">
              <a:solidFill>
                <a:schemeClr val="tx1">
                  <a:lumMod val="50000"/>
                  <a:lumOff val="50000"/>
                </a:schemeClr>
              </a:solidFill>
            </a:endParaRPr>
          </a:p>
          <a:p>
            <a:pPr marL="0" indent="0">
              <a:buNone/>
            </a:pPr>
            <a:r>
              <a:rPr kumimoji="1" lang="ja-GB" altLang="en-US" dirty="0">
                <a:solidFill>
                  <a:schemeClr val="tx1">
                    <a:lumMod val="50000"/>
                    <a:lumOff val="50000"/>
                  </a:schemeClr>
                </a:solidFill>
              </a:rPr>
              <a:t>問題</a:t>
            </a:r>
            <a:r>
              <a:rPr kumimoji="1" lang="en-US" altLang="ja-GB" dirty="0">
                <a:solidFill>
                  <a:schemeClr val="tx1">
                    <a:lumMod val="50000"/>
                    <a:lumOff val="50000"/>
                  </a:schemeClr>
                </a:solidFill>
              </a:rPr>
              <a:t>3</a:t>
            </a:r>
            <a:r>
              <a:rPr kumimoji="1" lang="ja-GB" altLang="en-US" dirty="0">
                <a:solidFill>
                  <a:schemeClr val="tx1">
                    <a:lumMod val="50000"/>
                    <a:lumOff val="50000"/>
                  </a:schemeClr>
                </a:solidFill>
              </a:rPr>
              <a:t>：論理演算（集合演算）</a:t>
            </a:r>
            <a:endParaRPr kumimoji="1" lang="en-US" altLang="ja-GB" dirty="0">
              <a:solidFill>
                <a:schemeClr val="tx1">
                  <a:lumMod val="50000"/>
                  <a:lumOff val="50000"/>
                </a:schemeClr>
              </a:solidFill>
            </a:endParaRPr>
          </a:p>
          <a:p>
            <a:pPr lvl="1"/>
            <a:endParaRPr kumimoji="1" lang="en-US" altLang="ja-GB" dirty="0">
              <a:solidFill>
                <a:schemeClr val="tx1">
                  <a:lumMod val="50000"/>
                  <a:lumOff val="50000"/>
                </a:schemeClr>
              </a:solidFill>
            </a:endParaRPr>
          </a:p>
          <a:p>
            <a:pPr marL="0" indent="0">
              <a:buNone/>
            </a:pPr>
            <a:r>
              <a:rPr lang="ja-GB" altLang="en-US" dirty="0">
                <a:solidFill>
                  <a:schemeClr val="tx1">
                    <a:lumMod val="50000"/>
                    <a:lumOff val="50000"/>
                  </a:schemeClr>
                </a:solidFill>
              </a:rPr>
              <a:t>問題</a:t>
            </a:r>
            <a:r>
              <a:rPr lang="en-US" altLang="ja-GB" dirty="0">
                <a:solidFill>
                  <a:schemeClr val="tx1">
                    <a:lumMod val="50000"/>
                    <a:lumOff val="50000"/>
                  </a:schemeClr>
                </a:solidFill>
              </a:rPr>
              <a:t>4</a:t>
            </a:r>
            <a:r>
              <a:rPr lang="ja-GB" altLang="en-US" dirty="0">
                <a:solidFill>
                  <a:schemeClr val="tx1">
                    <a:lumMod val="50000"/>
                    <a:lumOff val="50000"/>
                  </a:schemeClr>
                </a:solidFill>
              </a:rPr>
              <a:t>：サブネットマスク</a:t>
            </a:r>
            <a:endParaRPr lang="en-US" altLang="ja-GB" dirty="0">
              <a:solidFill>
                <a:schemeClr val="tx1">
                  <a:lumMod val="50000"/>
                  <a:lumOff val="50000"/>
                </a:schemeClr>
              </a:solidFill>
            </a:endParaRPr>
          </a:p>
          <a:p>
            <a:pPr lvl="1"/>
            <a:endParaRPr kumimoji="1" lang="ja-GB" altLang="en-US" dirty="0">
              <a:solidFill>
                <a:schemeClr val="tx1">
                  <a:lumMod val="50000"/>
                  <a:lumOff val="50000"/>
                </a:schemeClr>
              </a:solidFill>
            </a:endParaRPr>
          </a:p>
        </p:txBody>
      </p:sp>
    </p:spTree>
    <p:extLst>
      <p:ext uri="{BB962C8B-B14F-4D97-AF65-F5344CB8AC3E}">
        <p14:creationId xmlns:p14="http://schemas.microsoft.com/office/powerpoint/2010/main" val="301096547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329B8-7279-69EF-73DE-C044C072193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B18EEC-F975-CE56-BA03-142E786B342A}"/>
              </a:ext>
            </a:extLst>
          </p:cNvPr>
          <p:cNvSpPr>
            <a:spLocks noGrp="1"/>
          </p:cNvSpPr>
          <p:nvPr>
            <p:ph type="title"/>
          </p:nvPr>
        </p:nvSpPr>
        <p:spPr/>
        <p:txBody>
          <a:bodyPr/>
          <a:lstStyle/>
          <a:p>
            <a:r>
              <a:rPr lang="ja-GB" altLang="en-US" dirty="0"/>
              <a:t>四則演算</a:t>
            </a:r>
            <a:endParaRPr kumimoji="1" lang="ja-GB" altLang="en-US" dirty="0"/>
          </a:p>
        </p:txBody>
      </p:sp>
      <p:sp>
        <p:nvSpPr>
          <p:cNvPr id="3" name="コンテンツ プレースホルダー 2">
            <a:extLst>
              <a:ext uri="{FF2B5EF4-FFF2-40B4-BE49-F238E27FC236}">
                <a16:creationId xmlns:a16="http://schemas.microsoft.com/office/drawing/2014/main" id="{6670E710-1F75-1322-D033-DCEA22EF7487}"/>
              </a:ext>
            </a:extLst>
          </p:cNvPr>
          <p:cNvSpPr>
            <a:spLocks noGrp="1"/>
          </p:cNvSpPr>
          <p:nvPr>
            <p:ph idx="1"/>
          </p:nvPr>
        </p:nvSpPr>
        <p:spPr/>
        <p:txBody>
          <a:bodyPr/>
          <a:lstStyle/>
          <a:p>
            <a:pPr marL="0" indent="0">
              <a:buNone/>
            </a:pPr>
            <a:r>
              <a:rPr kumimoji="1" lang="ja-GB" altLang="en-US" dirty="0"/>
              <a:t>加算</a:t>
            </a:r>
            <a:endParaRPr kumimoji="1" lang="en-US" altLang="ja-GB" dirty="0"/>
          </a:p>
          <a:p>
            <a:pPr lvl="1"/>
            <a:r>
              <a:rPr lang="en-US" altLang="ja-GB" dirty="0"/>
              <a:t>10</a:t>
            </a:r>
            <a:r>
              <a:rPr lang="ja-GB" altLang="en-US" dirty="0"/>
              <a:t>進数と同様に筆算で計算できる</a:t>
            </a:r>
            <a:endParaRPr lang="en-US" altLang="ja-GB" dirty="0"/>
          </a:p>
          <a:p>
            <a:pPr lvl="1"/>
            <a:r>
              <a:rPr kumimoji="1" lang="en-US" altLang="ja-GB" dirty="0"/>
              <a:t>Web</a:t>
            </a:r>
            <a:r>
              <a:rPr kumimoji="1" lang="ja-GB" altLang="en-US" dirty="0"/>
              <a:t>アプリでの解説</a:t>
            </a:r>
            <a:endParaRPr kumimoji="1" lang="en-US" altLang="ja-GB" dirty="0"/>
          </a:p>
          <a:p>
            <a:pPr lvl="2"/>
            <a:r>
              <a:rPr lang="en-GB" altLang="ja-GB" dirty="0">
                <a:solidFill>
                  <a:schemeClr val="tx1">
                    <a:lumMod val="50000"/>
                    <a:lumOff val="50000"/>
                  </a:schemeClr>
                </a:solidFill>
                <a:hlinkClick r:id="rId2">
                  <a:extLst>
                    <a:ext uri="{A12FA001-AC4F-418D-AE19-62706E023703}">
                      <ahyp:hlinkClr xmlns:ahyp="http://schemas.microsoft.com/office/drawing/2018/hyperlinkcolor" val="tx"/>
                    </a:ext>
                  </a:extLst>
                </a:hlinkClick>
              </a:rPr>
              <a:t>https://claude.ai/public/artifacts/1dabe594-0783-405e-a1a4-0979ca0bd6fe</a:t>
            </a:r>
            <a:r>
              <a:rPr lang="en-GB" altLang="ja-GB" dirty="0">
                <a:solidFill>
                  <a:schemeClr val="tx1">
                    <a:lumMod val="50000"/>
                    <a:lumOff val="50000"/>
                  </a:schemeClr>
                </a:solidFill>
              </a:rPr>
              <a:t> </a:t>
            </a:r>
          </a:p>
          <a:p>
            <a:pPr marL="0" indent="0">
              <a:buNone/>
            </a:pPr>
            <a:r>
              <a:rPr kumimoji="1" lang="ja-GB" altLang="en-US" dirty="0"/>
              <a:t>減算</a:t>
            </a:r>
            <a:endParaRPr kumimoji="1" lang="en-US" altLang="ja-GB" dirty="0"/>
          </a:p>
          <a:p>
            <a:pPr lvl="1"/>
            <a:r>
              <a:rPr lang="en-US" altLang="ja-GB" dirty="0"/>
              <a:t>10</a:t>
            </a:r>
            <a:r>
              <a:rPr lang="ja-GB" altLang="en-US" dirty="0"/>
              <a:t>進数と同様に筆算で計算できる</a:t>
            </a:r>
            <a:endParaRPr lang="en-US" altLang="ja-GB" dirty="0"/>
          </a:p>
          <a:p>
            <a:pPr lvl="1"/>
            <a:r>
              <a:rPr lang="ja-GB" altLang="en-US" dirty="0">
                <a:solidFill>
                  <a:schemeClr val="accent2"/>
                </a:solidFill>
              </a:rPr>
              <a:t>「補数」という特殊な数値表現を用いれば加算回路を流用して実装できる</a:t>
            </a:r>
            <a:endParaRPr lang="en-US" altLang="ja-GB" dirty="0">
              <a:solidFill>
                <a:schemeClr val="accent2"/>
              </a:solidFill>
            </a:endParaRPr>
          </a:p>
        </p:txBody>
      </p:sp>
      <p:pic>
        <p:nvPicPr>
          <p:cNvPr id="5" name="図 4" descr="グラフィカル ユーザー インターフェイス, テキスト&#10;&#10;AI 生成コンテンツは誤りを含む可能性があります。">
            <a:extLst>
              <a:ext uri="{FF2B5EF4-FFF2-40B4-BE49-F238E27FC236}">
                <a16:creationId xmlns:a16="http://schemas.microsoft.com/office/drawing/2014/main" id="{D77546EC-1A44-5137-A317-538F6CE6BB2F}"/>
              </a:ext>
            </a:extLst>
          </p:cNvPr>
          <p:cNvPicPr>
            <a:picLocks noChangeAspect="1"/>
          </p:cNvPicPr>
          <p:nvPr/>
        </p:nvPicPr>
        <p:blipFill>
          <a:blip r:embed="rId3"/>
          <a:stretch>
            <a:fillRect/>
          </a:stretch>
        </p:blipFill>
        <p:spPr>
          <a:xfrm>
            <a:off x="2119574" y="3770102"/>
            <a:ext cx="4904847" cy="2396897"/>
          </a:xfrm>
          <a:prstGeom prst="rect">
            <a:avLst/>
          </a:prstGeom>
        </p:spPr>
      </p:pic>
      <p:sp>
        <p:nvSpPr>
          <p:cNvPr id="6" name="テキスト ボックス 5">
            <a:extLst>
              <a:ext uri="{FF2B5EF4-FFF2-40B4-BE49-F238E27FC236}">
                <a16:creationId xmlns:a16="http://schemas.microsoft.com/office/drawing/2014/main" id="{8F4AB849-857A-3CE6-83B9-DDD734A1E4D2}"/>
              </a:ext>
            </a:extLst>
          </p:cNvPr>
          <p:cNvSpPr txBox="1"/>
          <p:nvPr/>
        </p:nvSpPr>
        <p:spPr>
          <a:xfrm>
            <a:off x="3129937" y="6287313"/>
            <a:ext cx="2884123" cy="307777"/>
          </a:xfrm>
          <a:prstGeom prst="rect">
            <a:avLst/>
          </a:prstGeom>
          <a:noFill/>
        </p:spPr>
        <p:txBody>
          <a:bodyPr wrap="none" rtlCol="0">
            <a:spAutoFit/>
          </a:bodyPr>
          <a:lstStyle/>
          <a:p>
            <a:r>
              <a:rPr kumimoji="1" lang="en-US" altLang="ja-GB" sz="1400" dirty="0"/>
              <a:t>2024</a:t>
            </a:r>
            <a:r>
              <a:rPr kumimoji="1" lang="ja-GB" altLang="en-US" sz="1400" dirty="0"/>
              <a:t>年度資料より許可を得て引用</a:t>
            </a:r>
          </a:p>
        </p:txBody>
      </p:sp>
    </p:spTree>
    <p:extLst>
      <p:ext uri="{BB962C8B-B14F-4D97-AF65-F5344CB8AC3E}">
        <p14:creationId xmlns:p14="http://schemas.microsoft.com/office/powerpoint/2010/main" val="2481038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F50D89-BA50-4B1D-A70E-88251DF7D40C}"/>
              </a:ext>
            </a:extLst>
          </p:cNvPr>
          <p:cNvSpPr>
            <a:spLocks noGrp="1"/>
          </p:cNvSpPr>
          <p:nvPr>
            <p:ph type="title"/>
          </p:nvPr>
        </p:nvSpPr>
        <p:spPr/>
        <p:txBody>
          <a:bodyPr>
            <a:normAutofit/>
          </a:bodyPr>
          <a:lstStyle/>
          <a:p>
            <a:r>
              <a:rPr kumimoji="1" lang="ja-GB" altLang="en-US" dirty="0"/>
              <a:t>補数：減算を加算回路で行うための工夫</a:t>
            </a:r>
          </a:p>
        </p:txBody>
      </p:sp>
      <p:sp>
        <p:nvSpPr>
          <p:cNvPr id="3" name="コンテンツ プレースホルダー 2">
            <a:extLst>
              <a:ext uri="{FF2B5EF4-FFF2-40B4-BE49-F238E27FC236}">
                <a16:creationId xmlns:a16="http://schemas.microsoft.com/office/drawing/2014/main" id="{E9BF9050-B4F6-C0EC-DAB7-B54613C985F9}"/>
              </a:ext>
            </a:extLst>
          </p:cNvPr>
          <p:cNvSpPr>
            <a:spLocks noGrp="1"/>
          </p:cNvSpPr>
          <p:nvPr>
            <p:ph idx="1"/>
          </p:nvPr>
        </p:nvSpPr>
        <p:spPr/>
        <p:txBody>
          <a:bodyPr/>
          <a:lstStyle/>
          <a:p>
            <a:pPr marL="0" indent="0">
              <a:buNone/>
            </a:pPr>
            <a:r>
              <a:rPr kumimoji="1" lang="en-US" altLang="ja-GB" dirty="0"/>
              <a:t>1</a:t>
            </a:r>
            <a:r>
              <a:rPr kumimoji="1" lang="ja-GB" altLang="en-US" dirty="0"/>
              <a:t>の補数：</a:t>
            </a:r>
            <a:r>
              <a:rPr kumimoji="1" lang="en-US" altLang="ja-GB" dirty="0"/>
              <a:t>a + a</a:t>
            </a:r>
            <a:r>
              <a:rPr kumimoji="1" lang="en-US" altLang="ja-GB" baseline="-25000" dirty="0"/>
              <a:t>1</a:t>
            </a:r>
            <a:r>
              <a:rPr kumimoji="1" lang="ja-GB" altLang="en-US" dirty="0"/>
              <a:t>で全ての桁が</a:t>
            </a:r>
            <a:r>
              <a:rPr kumimoji="1" lang="en-US" altLang="ja-GB" dirty="0"/>
              <a:t>1</a:t>
            </a:r>
            <a:r>
              <a:rPr kumimoji="1" lang="ja-GB" altLang="en-US" dirty="0"/>
              <a:t>となる</a:t>
            </a:r>
            <a:r>
              <a:rPr kumimoji="1" lang="en-US" altLang="ja-GB" dirty="0"/>
              <a:t>a1</a:t>
            </a:r>
            <a:r>
              <a:rPr kumimoji="1" lang="ja-GB" altLang="en-US" dirty="0"/>
              <a:t>は，</a:t>
            </a:r>
            <a:r>
              <a:rPr kumimoji="1" lang="en-US" altLang="ja-GB" dirty="0"/>
              <a:t>a</a:t>
            </a:r>
            <a:r>
              <a:rPr lang="ja-GB" altLang="en-US" dirty="0"/>
              <a:t>に対する「</a:t>
            </a:r>
            <a:r>
              <a:rPr lang="en-US" altLang="ja-GB" dirty="0"/>
              <a:t>1</a:t>
            </a:r>
            <a:r>
              <a:rPr lang="ja-GB" altLang="en-US" dirty="0"/>
              <a:t>の補数」</a:t>
            </a:r>
            <a:endParaRPr lang="en-US" altLang="ja-GB" dirty="0"/>
          </a:p>
          <a:p>
            <a:pPr marL="457200" lvl="1" indent="0">
              <a:buNone/>
            </a:pPr>
            <a:r>
              <a:rPr kumimoji="1" lang="ja-GB" altLang="en-US" dirty="0">
                <a:solidFill>
                  <a:srgbClr val="0070C0"/>
                </a:solidFill>
              </a:rPr>
              <a:t>ビット反転で得られる</a:t>
            </a:r>
            <a:endParaRPr kumimoji="1" lang="en-US" altLang="ja-GB" dirty="0">
              <a:solidFill>
                <a:srgbClr val="0070C0"/>
              </a:solidFill>
            </a:endParaRPr>
          </a:p>
          <a:p>
            <a:pPr lvl="2"/>
            <a:r>
              <a:rPr lang="ja-GB" altLang="en-US" dirty="0"/>
              <a:t>例）</a:t>
            </a:r>
            <a:r>
              <a:rPr lang="en-US" altLang="ja-GB" dirty="0"/>
              <a:t>101→010</a:t>
            </a:r>
            <a:r>
              <a:rPr lang="ja-GB" altLang="en-US" dirty="0"/>
              <a:t>，検算：</a:t>
            </a:r>
            <a:r>
              <a:rPr lang="en-US" altLang="ja-GB" dirty="0"/>
              <a:t>101</a:t>
            </a:r>
            <a:r>
              <a:rPr lang="en-US" altLang="ja-GB" baseline="-25000" dirty="0"/>
              <a:t>(2)</a:t>
            </a:r>
            <a:r>
              <a:rPr lang="en-US" altLang="ja-GB" dirty="0"/>
              <a:t> + 010</a:t>
            </a:r>
            <a:r>
              <a:rPr lang="en-US" altLang="ja-GB" baseline="-25000" dirty="0"/>
              <a:t>(2)</a:t>
            </a:r>
            <a:r>
              <a:rPr lang="en-US" altLang="ja-GB" dirty="0"/>
              <a:t> = </a:t>
            </a:r>
            <a:r>
              <a:rPr lang="en-US" altLang="ja-GB" dirty="0">
                <a:solidFill>
                  <a:srgbClr val="0070C0"/>
                </a:solidFill>
              </a:rPr>
              <a:t>111</a:t>
            </a:r>
            <a:r>
              <a:rPr lang="en-US" altLang="ja-GB" baseline="-25000" dirty="0"/>
              <a:t>(2)</a:t>
            </a:r>
            <a:endParaRPr lang="en-US" altLang="ja-GB" dirty="0"/>
          </a:p>
          <a:p>
            <a:pPr lvl="1"/>
            <a:endParaRPr kumimoji="1" lang="en-US" altLang="ja-GB" dirty="0"/>
          </a:p>
          <a:p>
            <a:pPr marL="0" indent="0">
              <a:buNone/>
            </a:pPr>
            <a:r>
              <a:rPr lang="en-US" altLang="ja-GB" dirty="0"/>
              <a:t>2</a:t>
            </a:r>
            <a:r>
              <a:rPr lang="ja-GB" altLang="en-US" dirty="0"/>
              <a:t>の補数：</a:t>
            </a:r>
            <a:r>
              <a:rPr lang="en-US" altLang="ja-GB" dirty="0"/>
              <a:t> a + a</a:t>
            </a:r>
            <a:r>
              <a:rPr lang="en-US" altLang="ja-GB" baseline="-25000" dirty="0"/>
              <a:t>2</a:t>
            </a:r>
            <a:r>
              <a:rPr lang="en-US" altLang="ja-GB" dirty="0"/>
              <a:t> = 2</a:t>
            </a:r>
            <a:r>
              <a:rPr lang="en-US" altLang="ja-GB" baseline="30000" dirty="0"/>
              <a:t>n</a:t>
            </a:r>
            <a:r>
              <a:rPr lang="ja-GB" altLang="en-US" dirty="0"/>
              <a:t>となる</a:t>
            </a:r>
            <a:r>
              <a:rPr lang="en-US" altLang="ja-GB" dirty="0"/>
              <a:t>a</a:t>
            </a:r>
            <a:r>
              <a:rPr lang="en-US" altLang="ja-GB" baseline="-25000" dirty="0"/>
              <a:t>2</a:t>
            </a:r>
            <a:r>
              <a:rPr lang="ja-GB" altLang="en-US" dirty="0"/>
              <a:t>は，</a:t>
            </a:r>
            <a:r>
              <a:rPr lang="en-US" altLang="ja-GB" dirty="0"/>
              <a:t>a</a:t>
            </a:r>
            <a:r>
              <a:rPr lang="ja-GB" altLang="en-US" dirty="0"/>
              <a:t>に対する「</a:t>
            </a:r>
            <a:r>
              <a:rPr lang="en-US" altLang="ja-GB" dirty="0"/>
              <a:t>2</a:t>
            </a:r>
            <a:r>
              <a:rPr lang="ja-GB" altLang="en-US" dirty="0"/>
              <a:t>の補数」</a:t>
            </a:r>
            <a:endParaRPr lang="en-US" altLang="ja-GB" dirty="0"/>
          </a:p>
          <a:p>
            <a:pPr marL="457200" lvl="1" indent="0">
              <a:buNone/>
            </a:pPr>
            <a:r>
              <a:rPr lang="ja-GB" altLang="en-US" dirty="0">
                <a:solidFill>
                  <a:srgbClr val="0070C0"/>
                </a:solidFill>
              </a:rPr>
              <a:t>ビット反転と加算（</a:t>
            </a:r>
            <a:r>
              <a:rPr lang="en-US" altLang="ja-GB" dirty="0">
                <a:solidFill>
                  <a:srgbClr val="0070C0"/>
                </a:solidFill>
              </a:rPr>
              <a:t>+1</a:t>
            </a:r>
            <a:r>
              <a:rPr lang="ja-GB" altLang="en-US" dirty="0">
                <a:solidFill>
                  <a:srgbClr val="0070C0"/>
                </a:solidFill>
              </a:rPr>
              <a:t>）で得られる</a:t>
            </a:r>
            <a:endParaRPr lang="en-US" altLang="ja-GB" dirty="0">
              <a:solidFill>
                <a:srgbClr val="0070C0"/>
              </a:solidFill>
            </a:endParaRPr>
          </a:p>
          <a:p>
            <a:pPr lvl="2"/>
            <a:r>
              <a:rPr kumimoji="1" lang="ja-GB" altLang="en-US" dirty="0"/>
              <a:t>例</a:t>
            </a:r>
            <a:r>
              <a:rPr lang="ja-GB" altLang="en-US" dirty="0"/>
              <a:t>）</a:t>
            </a:r>
            <a:r>
              <a:rPr kumimoji="1" lang="en-US" altLang="ja-GB" dirty="0"/>
              <a:t>101→010→011</a:t>
            </a:r>
            <a:r>
              <a:rPr kumimoji="1" lang="ja-GB" altLang="en-US" dirty="0"/>
              <a:t>，検算：</a:t>
            </a:r>
            <a:r>
              <a:rPr kumimoji="1" lang="en-US" altLang="ja-GB" dirty="0"/>
              <a:t>101</a:t>
            </a:r>
            <a:r>
              <a:rPr kumimoji="1" lang="en-US" altLang="ja-GB" baseline="-25000" dirty="0"/>
              <a:t>(2)</a:t>
            </a:r>
            <a:r>
              <a:rPr kumimoji="1" lang="en-US" altLang="ja-GB" dirty="0"/>
              <a:t> + 011</a:t>
            </a:r>
            <a:r>
              <a:rPr kumimoji="1" lang="en-US" altLang="ja-GB" baseline="-25000" dirty="0"/>
              <a:t>(2)</a:t>
            </a:r>
            <a:r>
              <a:rPr kumimoji="1" lang="en-US" altLang="ja-GB" dirty="0"/>
              <a:t> = </a:t>
            </a:r>
            <a:r>
              <a:rPr kumimoji="1" lang="en-US" altLang="ja-GB" dirty="0">
                <a:solidFill>
                  <a:srgbClr val="0070C0"/>
                </a:solidFill>
              </a:rPr>
              <a:t>1000</a:t>
            </a:r>
            <a:r>
              <a:rPr kumimoji="1" lang="en-US" altLang="ja-GB" baseline="-25000" dirty="0"/>
              <a:t>(2)</a:t>
            </a:r>
            <a:r>
              <a:rPr kumimoji="1" lang="en-US" altLang="ja-GB" dirty="0"/>
              <a:t> = 2</a:t>
            </a:r>
            <a:r>
              <a:rPr kumimoji="1" lang="en-US" altLang="ja-GB" baseline="30000" dirty="0"/>
              <a:t>4</a:t>
            </a:r>
            <a:r>
              <a:rPr kumimoji="1" lang="en-US" altLang="ja-GB" baseline="-25000" dirty="0"/>
              <a:t>(10)</a:t>
            </a:r>
          </a:p>
          <a:p>
            <a:pPr marL="457200" lvl="1" indent="0">
              <a:buNone/>
            </a:pPr>
            <a:r>
              <a:rPr kumimoji="1" lang="ja-GB" altLang="en-US" dirty="0"/>
              <a:t>反対の操作で元に戻せる（</a:t>
            </a:r>
            <a:r>
              <a:rPr kumimoji="1" lang="en-US" altLang="ja-GB" dirty="0"/>
              <a:t>-1</a:t>
            </a:r>
            <a:r>
              <a:rPr kumimoji="1" lang="ja-GB" altLang="en-US" dirty="0"/>
              <a:t>してビット反転）</a:t>
            </a:r>
            <a:endParaRPr kumimoji="1" lang="en-US" altLang="ja-GB" dirty="0"/>
          </a:p>
          <a:p>
            <a:pPr lvl="2"/>
            <a:r>
              <a:rPr kumimoji="1" lang="ja-GB" altLang="en-US" dirty="0"/>
              <a:t>例）</a:t>
            </a:r>
            <a:r>
              <a:rPr lang="en-US" altLang="ja-GB" dirty="0"/>
              <a:t>011→010→101</a:t>
            </a:r>
            <a:endParaRPr kumimoji="1" lang="en-US" altLang="ja-GB" dirty="0"/>
          </a:p>
          <a:p>
            <a:pPr lvl="1"/>
            <a:endParaRPr lang="en-US" altLang="ja-GB" dirty="0"/>
          </a:p>
          <a:p>
            <a:pPr marL="0" indent="0">
              <a:buNone/>
            </a:pPr>
            <a:r>
              <a:rPr kumimoji="1" lang="ja-GB" altLang="en-US" dirty="0"/>
              <a:t>符号付き</a:t>
            </a:r>
            <a:r>
              <a:rPr kumimoji="1" lang="en-US" altLang="ja-GB" dirty="0"/>
              <a:t>2</a:t>
            </a:r>
            <a:r>
              <a:rPr kumimoji="1" lang="ja-GB" altLang="en-US" dirty="0"/>
              <a:t>の補数表現</a:t>
            </a:r>
            <a:endParaRPr kumimoji="1" lang="en-US" altLang="ja-GB" dirty="0"/>
          </a:p>
          <a:p>
            <a:pPr marL="457200" lvl="1" indent="0">
              <a:buNone/>
            </a:pPr>
            <a:r>
              <a:rPr kumimoji="1" lang="ja-GB" altLang="en-US" dirty="0"/>
              <a:t>最も大きい桁を正負の符号と解釈する方式</a:t>
            </a:r>
            <a:endParaRPr kumimoji="1" lang="en-US" altLang="ja-GB" dirty="0"/>
          </a:p>
          <a:p>
            <a:pPr marL="457200" lvl="1" indent="0">
              <a:buNone/>
            </a:pPr>
            <a:r>
              <a:rPr lang="ja-GB" altLang="en-US" dirty="0"/>
              <a:t>例）</a:t>
            </a:r>
            <a:r>
              <a:rPr lang="en-US" altLang="ja-GB" dirty="0"/>
              <a:t>1111 1111</a:t>
            </a:r>
          </a:p>
          <a:p>
            <a:pPr lvl="2"/>
            <a:r>
              <a:rPr lang="ja-GB" altLang="en-US" dirty="0"/>
              <a:t>符号付き</a:t>
            </a:r>
            <a:r>
              <a:rPr lang="en-US" altLang="ja-GB" dirty="0"/>
              <a:t>2</a:t>
            </a:r>
            <a:r>
              <a:rPr lang="ja-GB" altLang="en-US" dirty="0"/>
              <a:t>の補数：符号が</a:t>
            </a:r>
            <a:r>
              <a:rPr lang="en-US" altLang="ja-GB" dirty="0"/>
              <a:t>1</a:t>
            </a:r>
            <a:r>
              <a:rPr lang="ja-GB" altLang="en-US" dirty="0"/>
              <a:t>で，</a:t>
            </a:r>
            <a:r>
              <a:rPr lang="en-US" altLang="ja-GB" dirty="0"/>
              <a:t>2</a:t>
            </a:r>
            <a:r>
              <a:rPr lang="ja-GB" altLang="en-US" dirty="0"/>
              <a:t>の補数の「</a:t>
            </a:r>
            <a:r>
              <a:rPr lang="en-US" altLang="ja-GB" dirty="0"/>
              <a:t>111 1111</a:t>
            </a:r>
            <a:r>
              <a:rPr lang="ja-GB" altLang="en-US" dirty="0"/>
              <a:t>」</a:t>
            </a:r>
            <a:endParaRPr lang="en-US" altLang="ja-GB" dirty="0"/>
          </a:p>
          <a:p>
            <a:pPr lvl="3"/>
            <a:r>
              <a:rPr lang="en-US" altLang="ja-GB" dirty="0"/>
              <a:t>2</a:t>
            </a:r>
            <a:r>
              <a:rPr lang="ja-GB" altLang="en-US" dirty="0"/>
              <a:t>の補数の</a:t>
            </a:r>
            <a:r>
              <a:rPr lang="en-US" altLang="ja-GB" dirty="0"/>
              <a:t>111 1111→111 1110→000 0001</a:t>
            </a:r>
            <a:r>
              <a:rPr lang="en-US" altLang="ja-GB" baseline="-25000" dirty="0"/>
              <a:t>(2)</a:t>
            </a:r>
            <a:r>
              <a:rPr lang="en-US" altLang="ja-GB" dirty="0"/>
              <a:t>→1</a:t>
            </a:r>
            <a:r>
              <a:rPr lang="en-US" altLang="ja-GB" baseline="-25000" dirty="0"/>
              <a:t>(10)</a:t>
            </a:r>
          </a:p>
          <a:p>
            <a:pPr lvl="3"/>
            <a:r>
              <a:rPr lang="ja-GB" altLang="en-US" dirty="0"/>
              <a:t>答えは</a:t>
            </a:r>
            <a:r>
              <a:rPr lang="en-US" altLang="ja-GB" dirty="0"/>
              <a:t>-1</a:t>
            </a:r>
          </a:p>
          <a:p>
            <a:pPr lvl="2"/>
            <a:r>
              <a:rPr lang="ja-GB" altLang="en-US" dirty="0"/>
              <a:t>通常の</a:t>
            </a:r>
            <a:r>
              <a:rPr lang="en-US" altLang="ja-GB" dirty="0"/>
              <a:t>2</a:t>
            </a:r>
            <a:r>
              <a:rPr lang="ja-GB" altLang="en-US" dirty="0"/>
              <a:t>進数と解釈する場合：</a:t>
            </a:r>
            <a:r>
              <a:rPr lang="en-US" altLang="ja-GB" dirty="0"/>
              <a:t>2</a:t>
            </a:r>
            <a:r>
              <a:rPr lang="en-US" altLang="ja-GB" baseline="30000" dirty="0"/>
              <a:t>7</a:t>
            </a:r>
            <a:r>
              <a:rPr lang="en-US" altLang="ja-GB" dirty="0"/>
              <a:t>+2</a:t>
            </a:r>
            <a:r>
              <a:rPr lang="en-US" altLang="ja-GB" baseline="30000" dirty="0"/>
              <a:t>6</a:t>
            </a:r>
            <a:r>
              <a:rPr lang="en-US" altLang="ja-GB" dirty="0"/>
              <a:t>+2</a:t>
            </a:r>
            <a:r>
              <a:rPr lang="en-US" altLang="ja-GB" baseline="30000" dirty="0"/>
              <a:t>5</a:t>
            </a:r>
            <a:r>
              <a:rPr lang="en-US" altLang="ja-GB" dirty="0"/>
              <a:t>+2</a:t>
            </a:r>
            <a:r>
              <a:rPr lang="en-US" altLang="ja-GB" baseline="30000" dirty="0"/>
              <a:t>4</a:t>
            </a:r>
            <a:r>
              <a:rPr lang="en-US" altLang="ja-GB" dirty="0"/>
              <a:t> + 2</a:t>
            </a:r>
            <a:r>
              <a:rPr lang="en-US" altLang="ja-GB" baseline="30000" dirty="0"/>
              <a:t>3</a:t>
            </a:r>
            <a:r>
              <a:rPr lang="en-US" altLang="ja-GB" dirty="0"/>
              <a:t>+2</a:t>
            </a:r>
            <a:r>
              <a:rPr lang="en-US" altLang="ja-GB" baseline="30000" dirty="0"/>
              <a:t>2</a:t>
            </a:r>
            <a:r>
              <a:rPr lang="en-US" altLang="ja-GB" dirty="0"/>
              <a:t>+2</a:t>
            </a:r>
            <a:r>
              <a:rPr lang="en-US" altLang="ja-GB" baseline="30000" dirty="0"/>
              <a:t>1</a:t>
            </a:r>
            <a:r>
              <a:rPr lang="en-US" altLang="ja-GB" dirty="0"/>
              <a:t>+2</a:t>
            </a:r>
            <a:r>
              <a:rPr lang="en-US" altLang="ja-GB" baseline="30000" dirty="0"/>
              <a:t>0</a:t>
            </a:r>
            <a:r>
              <a:rPr lang="en-US" altLang="ja-GB" dirty="0"/>
              <a:t>=255</a:t>
            </a:r>
            <a:r>
              <a:rPr lang="en-US" altLang="ja-GB" baseline="-25000" dirty="0"/>
              <a:t>(10)</a:t>
            </a:r>
          </a:p>
          <a:p>
            <a:pPr lvl="3"/>
            <a:endParaRPr kumimoji="1" lang="en-US" altLang="ja-GB" dirty="0"/>
          </a:p>
        </p:txBody>
      </p:sp>
    </p:spTree>
    <p:extLst>
      <p:ext uri="{BB962C8B-B14F-4D97-AF65-F5344CB8AC3E}">
        <p14:creationId xmlns:p14="http://schemas.microsoft.com/office/powerpoint/2010/main" val="689295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5" end="1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62C1D3-37B7-8FC7-ED6B-3ABC65497252}"/>
              </a:ext>
            </a:extLst>
          </p:cNvPr>
          <p:cNvSpPr>
            <a:spLocks noGrp="1"/>
          </p:cNvSpPr>
          <p:nvPr>
            <p:ph type="title"/>
          </p:nvPr>
        </p:nvSpPr>
        <p:spPr/>
        <p:txBody>
          <a:bodyPr/>
          <a:lstStyle/>
          <a:p>
            <a:r>
              <a:rPr kumimoji="1" lang="ja-GB" altLang="en-US" dirty="0"/>
              <a:t>減算の効率的な実装：加算とビット反転を流用</a:t>
            </a:r>
          </a:p>
        </p:txBody>
      </p:sp>
      <p:sp>
        <p:nvSpPr>
          <p:cNvPr id="3" name="コンテンツ プレースホルダー 2">
            <a:extLst>
              <a:ext uri="{FF2B5EF4-FFF2-40B4-BE49-F238E27FC236}">
                <a16:creationId xmlns:a16="http://schemas.microsoft.com/office/drawing/2014/main" id="{2E5D7410-7F37-8173-EF3B-7185BC23F6F5}"/>
              </a:ext>
            </a:extLst>
          </p:cNvPr>
          <p:cNvSpPr>
            <a:spLocks noGrp="1"/>
          </p:cNvSpPr>
          <p:nvPr>
            <p:ph idx="1"/>
          </p:nvPr>
        </p:nvSpPr>
        <p:spPr/>
        <p:txBody>
          <a:bodyPr/>
          <a:lstStyle/>
          <a:p>
            <a:pPr marL="0" indent="0">
              <a:buNone/>
            </a:pPr>
            <a:r>
              <a:rPr kumimoji="1" lang="ja-GB" altLang="en-US" dirty="0"/>
              <a:t>加算回路を用いた</a:t>
            </a:r>
            <a:r>
              <a:rPr kumimoji="1" lang="en-US" altLang="ja-GB" dirty="0"/>
              <a:t>A-B</a:t>
            </a:r>
            <a:r>
              <a:rPr kumimoji="1" lang="ja-GB" altLang="en-US" dirty="0"/>
              <a:t>の計算手順</a:t>
            </a:r>
            <a:endParaRPr kumimoji="1" lang="en-US" altLang="ja-GB" dirty="0"/>
          </a:p>
          <a:p>
            <a:pPr marL="914400" lvl="1" indent="-457200">
              <a:buFont typeface="+mj-lt"/>
              <a:buAutoNum type="arabicPeriod"/>
            </a:pPr>
            <a:r>
              <a:rPr kumimoji="1" lang="ja-GB" altLang="en-US" dirty="0"/>
              <a:t>「</a:t>
            </a:r>
            <a:r>
              <a:rPr kumimoji="1" lang="en-US" altLang="ja-GB" dirty="0"/>
              <a:t>B</a:t>
            </a:r>
            <a:r>
              <a:rPr kumimoji="1" lang="ja-GB" altLang="en-US" dirty="0"/>
              <a:t>の</a:t>
            </a:r>
            <a:r>
              <a:rPr lang="en-US" altLang="ja-GB" dirty="0"/>
              <a:t>2</a:t>
            </a:r>
            <a:r>
              <a:rPr kumimoji="1" lang="ja-GB" altLang="en-US" dirty="0"/>
              <a:t>の補数」を求める</a:t>
            </a:r>
            <a:endParaRPr kumimoji="1" lang="en-US" altLang="ja-GB" dirty="0"/>
          </a:p>
          <a:p>
            <a:pPr marL="914400" lvl="1" indent="-457200">
              <a:buFont typeface="+mj-lt"/>
              <a:buAutoNum type="arabicPeriod"/>
            </a:pPr>
            <a:r>
              <a:rPr kumimoji="1" lang="en-US" altLang="ja-GB" dirty="0"/>
              <a:t>A+</a:t>
            </a:r>
            <a:r>
              <a:rPr kumimoji="1" lang="ja-GB" altLang="en-US" dirty="0"/>
              <a:t>「</a:t>
            </a:r>
            <a:r>
              <a:rPr kumimoji="1" lang="en-US" altLang="ja-GB" dirty="0"/>
              <a:t>B</a:t>
            </a:r>
            <a:r>
              <a:rPr kumimoji="1" lang="ja-GB" altLang="en-US" dirty="0"/>
              <a:t>の</a:t>
            </a:r>
            <a:r>
              <a:rPr lang="en-US" altLang="ja-GB" dirty="0"/>
              <a:t>2</a:t>
            </a:r>
            <a:r>
              <a:rPr lang="ja-GB" altLang="en-US" dirty="0"/>
              <a:t>の補数」を計算する</a:t>
            </a:r>
            <a:endParaRPr lang="en-US" altLang="ja-GB" dirty="0"/>
          </a:p>
          <a:p>
            <a:pPr marL="914400" lvl="1" indent="-457200">
              <a:buFont typeface="+mj-lt"/>
              <a:buAutoNum type="arabicPeriod"/>
            </a:pPr>
            <a:r>
              <a:rPr kumimoji="1" lang="ja-GB" altLang="en-US" dirty="0"/>
              <a:t>計算結果の符号を確認する</a:t>
            </a:r>
            <a:endParaRPr kumimoji="1" lang="en-US" altLang="ja-GB" dirty="0"/>
          </a:p>
          <a:p>
            <a:pPr marL="914400" lvl="1" indent="-457200">
              <a:buFont typeface="+mj-lt"/>
              <a:buAutoNum type="arabicPeriod"/>
            </a:pPr>
            <a:r>
              <a:rPr lang="ja-GB" altLang="en-US" dirty="0"/>
              <a:t>もし</a:t>
            </a:r>
            <a:r>
              <a:rPr lang="ja-GB" altLang="en-US" dirty="0">
                <a:solidFill>
                  <a:srgbClr val="0070C0"/>
                </a:solidFill>
              </a:rPr>
              <a:t>符号が正</a:t>
            </a:r>
            <a:r>
              <a:rPr lang="ja-GB" altLang="en-US" dirty="0"/>
              <a:t>ならば，そのまま</a:t>
            </a:r>
            <a:r>
              <a:rPr lang="en-US" altLang="ja-GB" dirty="0">
                <a:solidFill>
                  <a:srgbClr val="0070C0"/>
                </a:solidFill>
              </a:rPr>
              <a:t>2</a:t>
            </a:r>
            <a:r>
              <a:rPr lang="ja-GB" altLang="en-US" dirty="0">
                <a:solidFill>
                  <a:srgbClr val="0070C0"/>
                </a:solidFill>
              </a:rPr>
              <a:t>進数</a:t>
            </a:r>
            <a:r>
              <a:rPr lang="ja-GB" altLang="en-US" dirty="0"/>
              <a:t>と解釈する</a:t>
            </a:r>
            <a:endParaRPr lang="en-US" altLang="ja-GB" dirty="0"/>
          </a:p>
          <a:p>
            <a:pPr marL="914400" lvl="1" indent="-457200">
              <a:buFont typeface="+mj-lt"/>
              <a:buAutoNum type="arabicPeriod"/>
            </a:pPr>
            <a:r>
              <a:rPr kumimoji="1" lang="ja-GB" altLang="en-US" dirty="0"/>
              <a:t>もし</a:t>
            </a:r>
            <a:r>
              <a:rPr kumimoji="1" lang="ja-GB" altLang="en-US" dirty="0">
                <a:solidFill>
                  <a:srgbClr val="0070C0"/>
                </a:solidFill>
              </a:rPr>
              <a:t>符号が負</a:t>
            </a:r>
            <a:r>
              <a:rPr kumimoji="1" lang="ja-GB" altLang="en-US" dirty="0"/>
              <a:t>ならば，</a:t>
            </a:r>
            <a:r>
              <a:rPr kumimoji="1" lang="ja-GB" altLang="en-US" dirty="0">
                <a:solidFill>
                  <a:srgbClr val="0070C0"/>
                </a:solidFill>
              </a:rPr>
              <a:t>符号付き</a:t>
            </a:r>
            <a:r>
              <a:rPr kumimoji="1" lang="en-US" altLang="ja-GB" dirty="0">
                <a:solidFill>
                  <a:srgbClr val="0070C0"/>
                </a:solidFill>
              </a:rPr>
              <a:t>2</a:t>
            </a:r>
            <a:r>
              <a:rPr lang="ja-GB" altLang="en-US" dirty="0">
                <a:solidFill>
                  <a:srgbClr val="0070C0"/>
                </a:solidFill>
              </a:rPr>
              <a:t>の補数</a:t>
            </a:r>
            <a:r>
              <a:rPr lang="ja-GB" altLang="en-US" dirty="0"/>
              <a:t>と解釈する</a:t>
            </a:r>
            <a:endParaRPr kumimoji="1" lang="ja-GB" altLang="en-US" dirty="0"/>
          </a:p>
        </p:txBody>
      </p:sp>
      <p:sp>
        <p:nvSpPr>
          <p:cNvPr id="4" name="テキスト ボックス 3">
            <a:extLst>
              <a:ext uri="{FF2B5EF4-FFF2-40B4-BE49-F238E27FC236}">
                <a16:creationId xmlns:a16="http://schemas.microsoft.com/office/drawing/2014/main" id="{C46A40CE-361F-754B-4D97-82CB624BF40C}"/>
              </a:ext>
            </a:extLst>
          </p:cNvPr>
          <p:cNvSpPr txBox="1"/>
          <p:nvPr/>
        </p:nvSpPr>
        <p:spPr>
          <a:xfrm>
            <a:off x="944789" y="6372520"/>
            <a:ext cx="7254422" cy="369332"/>
          </a:xfrm>
          <a:prstGeom prst="rect">
            <a:avLst/>
          </a:prstGeom>
          <a:noFill/>
        </p:spPr>
        <p:txBody>
          <a:bodyPr wrap="none" rtlCol="0">
            <a:spAutoFit/>
          </a:bodyPr>
          <a:lstStyle/>
          <a:p>
            <a:r>
              <a:rPr kumimoji="1" lang="en-GB" altLang="ja-GB" dirty="0">
                <a:hlinkClick r:id="rId2"/>
              </a:rPr>
              <a:t>https://claude.ai/public/artifacts/c92f5941-714b-426a-9510-d6148391f101</a:t>
            </a:r>
            <a:r>
              <a:rPr kumimoji="1" lang="en-GB" altLang="ja-GB" dirty="0"/>
              <a:t> </a:t>
            </a:r>
            <a:endParaRPr kumimoji="1" lang="ja-GB" altLang="en-US" dirty="0"/>
          </a:p>
        </p:txBody>
      </p:sp>
      <p:pic>
        <p:nvPicPr>
          <p:cNvPr id="6" name="図 5" descr="グラフィカル ユーザー インターフェイス, アプリケーション&#10;&#10;AI 生成コンテンツは誤りを含む可能性があります。">
            <a:extLst>
              <a:ext uri="{FF2B5EF4-FFF2-40B4-BE49-F238E27FC236}">
                <a16:creationId xmlns:a16="http://schemas.microsoft.com/office/drawing/2014/main" id="{0C4F22D6-33F1-1E7A-61FD-2474C38B8C3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046619" y="2938074"/>
            <a:ext cx="3050761" cy="3619112"/>
          </a:xfrm>
          <a:prstGeom prst="rect">
            <a:avLst/>
          </a:prstGeom>
        </p:spPr>
      </p:pic>
    </p:spTree>
    <p:extLst>
      <p:ext uri="{BB962C8B-B14F-4D97-AF65-F5344CB8AC3E}">
        <p14:creationId xmlns:p14="http://schemas.microsoft.com/office/powerpoint/2010/main" val="236940301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5AAAB-1C0C-936F-831B-0656CBCF40E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213A484-8930-1115-A4CE-1A7B1B6106DE}"/>
              </a:ext>
            </a:extLst>
          </p:cNvPr>
          <p:cNvSpPr>
            <a:spLocks noGrp="1"/>
          </p:cNvSpPr>
          <p:nvPr>
            <p:ph type="title"/>
          </p:nvPr>
        </p:nvSpPr>
        <p:spPr/>
        <p:txBody>
          <a:bodyPr/>
          <a:lstStyle/>
          <a:p>
            <a:r>
              <a:rPr kumimoji="1" lang="ja-GB" altLang="en-US" dirty="0"/>
              <a:t>演習</a:t>
            </a:r>
          </a:p>
        </p:txBody>
      </p:sp>
      <p:sp>
        <p:nvSpPr>
          <p:cNvPr id="3" name="コンテンツ プレースホルダー 2">
            <a:extLst>
              <a:ext uri="{FF2B5EF4-FFF2-40B4-BE49-F238E27FC236}">
                <a16:creationId xmlns:a16="http://schemas.microsoft.com/office/drawing/2014/main" id="{49361D99-DC7D-36C9-5385-FEE4465FE7E6}"/>
              </a:ext>
            </a:extLst>
          </p:cNvPr>
          <p:cNvSpPr>
            <a:spLocks noGrp="1"/>
          </p:cNvSpPr>
          <p:nvPr>
            <p:ph idx="1"/>
          </p:nvPr>
        </p:nvSpPr>
        <p:spPr/>
        <p:txBody>
          <a:bodyPr/>
          <a:lstStyle/>
          <a:p>
            <a:pPr marL="0" indent="0">
              <a:buNone/>
            </a:pPr>
            <a:r>
              <a:rPr kumimoji="1" lang="ja-GB" altLang="en-US" dirty="0">
                <a:solidFill>
                  <a:schemeClr val="tx1">
                    <a:lumMod val="50000"/>
                    <a:lumOff val="50000"/>
                  </a:schemeClr>
                </a:solidFill>
              </a:rPr>
              <a:t>問題</a:t>
            </a:r>
            <a:r>
              <a:rPr kumimoji="1" lang="en-US" altLang="ja-GB" dirty="0">
                <a:solidFill>
                  <a:schemeClr val="tx1">
                    <a:lumMod val="50000"/>
                    <a:lumOff val="50000"/>
                  </a:schemeClr>
                </a:solidFill>
              </a:rPr>
              <a:t>1</a:t>
            </a:r>
            <a:r>
              <a:rPr kumimoji="1" lang="ja-GB" altLang="en-US" dirty="0">
                <a:solidFill>
                  <a:schemeClr val="tx1">
                    <a:lumMod val="50000"/>
                    <a:lumOff val="50000"/>
                  </a:schemeClr>
                </a:solidFill>
              </a:rPr>
              <a:t>：加算回路での演算</a:t>
            </a:r>
            <a:endParaRPr kumimoji="1" lang="en-US" altLang="ja-GB" dirty="0">
              <a:solidFill>
                <a:schemeClr val="tx1">
                  <a:lumMod val="50000"/>
                  <a:lumOff val="50000"/>
                </a:schemeClr>
              </a:solidFill>
            </a:endParaRPr>
          </a:p>
          <a:p>
            <a:pPr lvl="1"/>
            <a:endParaRPr kumimoji="1" lang="en-US" altLang="ja-GB" dirty="0"/>
          </a:p>
          <a:p>
            <a:pPr marL="0" indent="0">
              <a:buNone/>
            </a:pPr>
            <a:r>
              <a:rPr lang="ja-GB" altLang="en-US" dirty="0"/>
              <a:t>問題</a:t>
            </a:r>
            <a:r>
              <a:rPr lang="en-US" altLang="ja-GB" dirty="0"/>
              <a:t>2</a:t>
            </a:r>
            <a:r>
              <a:rPr lang="ja-GB" altLang="en-US" dirty="0"/>
              <a:t>：カラーコード</a:t>
            </a:r>
            <a:endParaRPr lang="en-US" altLang="ja-GB" dirty="0"/>
          </a:p>
          <a:p>
            <a:pPr lvl="1"/>
            <a:endParaRPr lang="en-US" altLang="ja-GB" dirty="0"/>
          </a:p>
          <a:p>
            <a:pPr marL="0" indent="0">
              <a:buNone/>
            </a:pPr>
            <a:r>
              <a:rPr kumimoji="1" lang="ja-GB" altLang="en-US" dirty="0">
                <a:solidFill>
                  <a:schemeClr val="tx1">
                    <a:lumMod val="50000"/>
                    <a:lumOff val="50000"/>
                  </a:schemeClr>
                </a:solidFill>
              </a:rPr>
              <a:t>問題</a:t>
            </a:r>
            <a:r>
              <a:rPr kumimoji="1" lang="en-US" altLang="ja-GB" dirty="0">
                <a:solidFill>
                  <a:schemeClr val="tx1">
                    <a:lumMod val="50000"/>
                    <a:lumOff val="50000"/>
                  </a:schemeClr>
                </a:solidFill>
              </a:rPr>
              <a:t>3</a:t>
            </a:r>
            <a:r>
              <a:rPr kumimoji="1" lang="ja-GB" altLang="en-US" dirty="0">
                <a:solidFill>
                  <a:schemeClr val="tx1">
                    <a:lumMod val="50000"/>
                    <a:lumOff val="50000"/>
                  </a:schemeClr>
                </a:solidFill>
              </a:rPr>
              <a:t>：論理演算（集合演算）</a:t>
            </a:r>
            <a:endParaRPr kumimoji="1" lang="en-US" altLang="ja-GB" dirty="0">
              <a:solidFill>
                <a:schemeClr val="tx1">
                  <a:lumMod val="50000"/>
                  <a:lumOff val="50000"/>
                </a:schemeClr>
              </a:solidFill>
            </a:endParaRPr>
          </a:p>
          <a:p>
            <a:pPr lvl="1"/>
            <a:endParaRPr kumimoji="1" lang="en-US" altLang="ja-GB" dirty="0">
              <a:solidFill>
                <a:schemeClr val="tx1">
                  <a:lumMod val="50000"/>
                  <a:lumOff val="50000"/>
                </a:schemeClr>
              </a:solidFill>
            </a:endParaRPr>
          </a:p>
          <a:p>
            <a:pPr marL="0" indent="0">
              <a:buNone/>
            </a:pPr>
            <a:r>
              <a:rPr lang="ja-GB" altLang="en-US" dirty="0">
                <a:solidFill>
                  <a:schemeClr val="tx1">
                    <a:lumMod val="50000"/>
                    <a:lumOff val="50000"/>
                  </a:schemeClr>
                </a:solidFill>
              </a:rPr>
              <a:t>問題</a:t>
            </a:r>
            <a:r>
              <a:rPr lang="en-US" altLang="ja-GB" dirty="0">
                <a:solidFill>
                  <a:schemeClr val="tx1">
                    <a:lumMod val="50000"/>
                    <a:lumOff val="50000"/>
                  </a:schemeClr>
                </a:solidFill>
              </a:rPr>
              <a:t>4</a:t>
            </a:r>
            <a:r>
              <a:rPr lang="ja-GB" altLang="en-US" dirty="0">
                <a:solidFill>
                  <a:schemeClr val="tx1">
                    <a:lumMod val="50000"/>
                    <a:lumOff val="50000"/>
                  </a:schemeClr>
                </a:solidFill>
              </a:rPr>
              <a:t>：サブネットマスク</a:t>
            </a:r>
            <a:endParaRPr lang="en-US" altLang="ja-GB" dirty="0">
              <a:solidFill>
                <a:schemeClr val="tx1">
                  <a:lumMod val="50000"/>
                  <a:lumOff val="50000"/>
                </a:schemeClr>
              </a:solidFill>
            </a:endParaRPr>
          </a:p>
          <a:p>
            <a:pPr lvl="1"/>
            <a:endParaRPr kumimoji="1" lang="ja-GB" altLang="en-US" dirty="0">
              <a:solidFill>
                <a:schemeClr val="tx1">
                  <a:lumMod val="50000"/>
                  <a:lumOff val="50000"/>
                </a:schemeClr>
              </a:solidFill>
            </a:endParaRPr>
          </a:p>
        </p:txBody>
      </p:sp>
    </p:spTree>
    <p:extLst>
      <p:ext uri="{BB962C8B-B14F-4D97-AF65-F5344CB8AC3E}">
        <p14:creationId xmlns:p14="http://schemas.microsoft.com/office/powerpoint/2010/main" val="353430684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88CDB-5520-9E71-C383-A3348233F96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5C477AD-C7C6-5D52-5DCF-327C94333490}"/>
              </a:ext>
            </a:extLst>
          </p:cNvPr>
          <p:cNvSpPr>
            <a:spLocks noGrp="1"/>
          </p:cNvSpPr>
          <p:nvPr>
            <p:ph type="title"/>
          </p:nvPr>
        </p:nvSpPr>
        <p:spPr/>
        <p:txBody>
          <a:bodyPr/>
          <a:lstStyle/>
          <a:p>
            <a:r>
              <a:rPr kumimoji="1" lang="en-US" altLang="ja-GB" dirty="0"/>
              <a:t>RGB</a:t>
            </a:r>
            <a:r>
              <a:rPr kumimoji="1" lang="ja-GB" altLang="en-US" dirty="0"/>
              <a:t>値の表記とその意味</a:t>
            </a:r>
          </a:p>
        </p:txBody>
      </p:sp>
      <p:sp>
        <p:nvSpPr>
          <p:cNvPr id="3" name="コンテンツ プレースホルダー 2">
            <a:extLst>
              <a:ext uri="{FF2B5EF4-FFF2-40B4-BE49-F238E27FC236}">
                <a16:creationId xmlns:a16="http://schemas.microsoft.com/office/drawing/2014/main" id="{30262312-78BC-AF7F-C2E2-EF34AB044588}"/>
              </a:ext>
            </a:extLst>
          </p:cNvPr>
          <p:cNvSpPr>
            <a:spLocks noGrp="1"/>
          </p:cNvSpPr>
          <p:nvPr>
            <p:ph idx="1"/>
          </p:nvPr>
        </p:nvSpPr>
        <p:spPr/>
        <p:txBody>
          <a:bodyPr/>
          <a:lstStyle/>
          <a:p>
            <a:pPr marL="0" indent="0">
              <a:buNone/>
            </a:pPr>
            <a:r>
              <a:rPr lang="ja-GB" altLang="en-US" dirty="0"/>
              <a:t>括弧の中に</a:t>
            </a:r>
            <a:r>
              <a:rPr lang="en-US" altLang="ja-GB" dirty="0"/>
              <a:t>Red</a:t>
            </a:r>
            <a:r>
              <a:rPr lang="ja-GB" altLang="en-US" dirty="0"/>
              <a:t>，</a:t>
            </a:r>
            <a:r>
              <a:rPr lang="en-US" altLang="ja-GB" dirty="0"/>
              <a:t>Green</a:t>
            </a:r>
            <a:r>
              <a:rPr lang="ja-GB" altLang="en-US" dirty="0"/>
              <a:t>，</a:t>
            </a:r>
            <a:r>
              <a:rPr lang="en-US" altLang="ja-GB" dirty="0"/>
              <a:t>Blue</a:t>
            </a:r>
            <a:r>
              <a:rPr lang="ja-GB" altLang="en-US" dirty="0"/>
              <a:t>の強さを順番に書く表現方法</a:t>
            </a:r>
            <a:endParaRPr lang="en-US" altLang="ja-GB" dirty="0"/>
          </a:p>
          <a:p>
            <a:pPr marL="457200" lvl="1" indent="0">
              <a:buNone/>
            </a:pPr>
            <a:r>
              <a:rPr kumimoji="1" lang="en-US" altLang="ja-GB" dirty="0"/>
              <a:t>3</a:t>
            </a:r>
            <a:r>
              <a:rPr kumimoji="1" lang="ja-GB" altLang="en-US" dirty="0"/>
              <a:t>つの数字を並べて</a:t>
            </a:r>
            <a:r>
              <a:rPr kumimoji="1" lang="en-US" altLang="ja-GB" dirty="0">
                <a:solidFill>
                  <a:srgbClr val="0070C0"/>
                </a:solidFill>
              </a:rPr>
              <a:t>3</a:t>
            </a:r>
            <a:r>
              <a:rPr kumimoji="1" lang="ja-GB" altLang="en-US" dirty="0">
                <a:solidFill>
                  <a:srgbClr val="0070C0"/>
                </a:solidFill>
              </a:rPr>
              <a:t>色の混合比率</a:t>
            </a:r>
            <a:r>
              <a:rPr kumimoji="1" lang="ja-GB" altLang="en-US" dirty="0"/>
              <a:t>（</a:t>
            </a:r>
            <a:r>
              <a:rPr lang="ja-GB" altLang="en-US" dirty="0"/>
              <a:t>各色の</a:t>
            </a:r>
            <a:r>
              <a:rPr kumimoji="1" lang="ja-GB" altLang="en-US" dirty="0"/>
              <a:t>強さ）を表現</a:t>
            </a:r>
            <a:endParaRPr kumimoji="1" lang="en-US" altLang="ja-GB" dirty="0"/>
          </a:p>
          <a:p>
            <a:pPr marL="914400" lvl="2" indent="0">
              <a:buNone/>
            </a:pPr>
            <a:r>
              <a:rPr kumimoji="1" lang="ja-GB" altLang="en-US" dirty="0"/>
              <a:t>例</a:t>
            </a:r>
            <a:r>
              <a:rPr kumimoji="1" lang="en-US" altLang="ja-GB" dirty="0"/>
              <a:t>1</a:t>
            </a:r>
            <a:r>
              <a:rPr kumimoji="1" lang="ja-GB" altLang="en-US" dirty="0"/>
              <a:t>）（</a:t>
            </a:r>
            <a:r>
              <a:rPr kumimoji="1" lang="en-US" altLang="ja-GB" dirty="0"/>
              <a:t>100</a:t>
            </a:r>
            <a:r>
              <a:rPr lang="ja-GB" altLang="en-US" dirty="0"/>
              <a:t>，</a:t>
            </a:r>
            <a:r>
              <a:rPr kumimoji="1" lang="en-US" altLang="ja-GB" dirty="0"/>
              <a:t>50</a:t>
            </a:r>
            <a:r>
              <a:rPr kumimoji="1" lang="ja-GB" altLang="en-US" dirty="0"/>
              <a:t>，</a:t>
            </a:r>
            <a:r>
              <a:rPr kumimoji="1" lang="en-US" altLang="ja-GB" dirty="0"/>
              <a:t>0</a:t>
            </a:r>
            <a:r>
              <a:rPr kumimoji="1" lang="ja-GB" altLang="en-US" dirty="0"/>
              <a:t>）</a:t>
            </a:r>
            <a:r>
              <a:rPr kumimoji="1" lang="en-US" altLang="ja-GB" dirty="0"/>
              <a:t>→R</a:t>
            </a:r>
            <a:r>
              <a:rPr kumimoji="1" lang="ja-GB" altLang="en-US" dirty="0"/>
              <a:t>が</a:t>
            </a:r>
            <a:r>
              <a:rPr kumimoji="1" lang="en-US" altLang="ja-GB" dirty="0"/>
              <a:t>100</a:t>
            </a:r>
            <a:r>
              <a:rPr kumimoji="1" lang="ja-GB" altLang="en-US" dirty="0"/>
              <a:t>，</a:t>
            </a:r>
            <a:r>
              <a:rPr kumimoji="1" lang="en-US" altLang="ja-GB" dirty="0"/>
              <a:t>G</a:t>
            </a:r>
            <a:r>
              <a:rPr kumimoji="1" lang="ja-GB" altLang="en-US" dirty="0"/>
              <a:t>が</a:t>
            </a:r>
            <a:r>
              <a:rPr kumimoji="1" lang="en-US" altLang="ja-GB" dirty="0"/>
              <a:t>50</a:t>
            </a:r>
            <a:r>
              <a:rPr kumimoji="1" lang="ja-GB" altLang="en-US" dirty="0"/>
              <a:t>，</a:t>
            </a:r>
            <a:r>
              <a:rPr kumimoji="1" lang="en-US" altLang="ja-GB" dirty="0"/>
              <a:t>B</a:t>
            </a:r>
            <a:r>
              <a:rPr kumimoji="1" lang="ja-GB" altLang="en-US" dirty="0"/>
              <a:t>が</a:t>
            </a:r>
            <a:r>
              <a:rPr kumimoji="1" lang="en-US" altLang="ja-GB" dirty="0"/>
              <a:t>0</a:t>
            </a:r>
            <a:r>
              <a:rPr kumimoji="1" lang="ja-GB" altLang="en-US" dirty="0"/>
              <a:t>の割合で混ざったもの</a:t>
            </a:r>
            <a:endParaRPr kumimoji="1" lang="en-US" altLang="ja-GB" dirty="0"/>
          </a:p>
          <a:p>
            <a:pPr marL="914400" lvl="2" indent="0">
              <a:buNone/>
            </a:pPr>
            <a:r>
              <a:rPr lang="ja-GB" altLang="en-US" dirty="0"/>
              <a:t>例</a:t>
            </a:r>
            <a:r>
              <a:rPr lang="en-US" altLang="ja-GB" dirty="0"/>
              <a:t>2</a:t>
            </a:r>
            <a:r>
              <a:rPr lang="ja-GB" altLang="en-US" dirty="0"/>
              <a:t>）（</a:t>
            </a:r>
            <a:r>
              <a:rPr lang="en-US" altLang="ja-GB" dirty="0"/>
              <a:t>255</a:t>
            </a:r>
            <a:r>
              <a:rPr lang="ja-GB" altLang="en-US" dirty="0"/>
              <a:t>，</a:t>
            </a:r>
            <a:r>
              <a:rPr lang="en-US" altLang="ja-GB" dirty="0"/>
              <a:t>0</a:t>
            </a:r>
            <a:r>
              <a:rPr lang="ja-GB" altLang="en-US" dirty="0"/>
              <a:t>，</a:t>
            </a:r>
            <a:r>
              <a:rPr lang="en-US" altLang="ja-GB" dirty="0"/>
              <a:t>0 </a:t>
            </a:r>
            <a:r>
              <a:rPr lang="ja-GB" altLang="en-US" dirty="0"/>
              <a:t>）は赤，（</a:t>
            </a:r>
            <a:r>
              <a:rPr lang="en-US" altLang="ja-GB" dirty="0"/>
              <a:t>0</a:t>
            </a:r>
            <a:r>
              <a:rPr lang="ja-GB" altLang="en-US" dirty="0"/>
              <a:t>，</a:t>
            </a:r>
            <a:r>
              <a:rPr lang="en-US" altLang="ja-GB" dirty="0"/>
              <a:t>255</a:t>
            </a:r>
            <a:r>
              <a:rPr lang="ja-GB" altLang="en-US" dirty="0"/>
              <a:t>，</a:t>
            </a:r>
            <a:r>
              <a:rPr lang="en-US" altLang="ja-GB" dirty="0"/>
              <a:t>0</a:t>
            </a:r>
            <a:r>
              <a:rPr lang="ja-GB" altLang="en-US" dirty="0"/>
              <a:t>）は緑，（</a:t>
            </a:r>
            <a:r>
              <a:rPr lang="en-US" altLang="ja-GB" dirty="0"/>
              <a:t>0</a:t>
            </a:r>
            <a:r>
              <a:rPr lang="ja-GB" altLang="en-US" dirty="0"/>
              <a:t>，</a:t>
            </a:r>
            <a:r>
              <a:rPr lang="en-US" altLang="ja-GB" dirty="0"/>
              <a:t>0</a:t>
            </a:r>
            <a:r>
              <a:rPr lang="ja-GB" altLang="en-US" dirty="0"/>
              <a:t>，</a:t>
            </a:r>
            <a:r>
              <a:rPr lang="en-US" altLang="ja-GB" dirty="0"/>
              <a:t>255</a:t>
            </a:r>
            <a:r>
              <a:rPr lang="ja-GB" altLang="en-US" dirty="0"/>
              <a:t>）は青</a:t>
            </a:r>
            <a:endParaRPr lang="en-US" altLang="ja-GB" dirty="0"/>
          </a:p>
          <a:p>
            <a:pPr lvl="2"/>
            <a:endParaRPr kumimoji="1" lang="en-US" altLang="ja-GB" dirty="0"/>
          </a:p>
          <a:p>
            <a:pPr marL="457200" lvl="1" indent="0">
              <a:buNone/>
            </a:pPr>
            <a:r>
              <a:rPr lang="en-US" altLang="ja-GB" dirty="0">
                <a:solidFill>
                  <a:srgbClr val="0070C0"/>
                </a:solidFill>
              </a:rPr>
              <a:t>8bit</a:t>
            </a:r>
            <a:r>
              <a:rPr lang="ja-GB" altLang="en-US" dirty="0">
                <a:solidFill>
                  <a:srgbClr val="0070C0"/>
                </a:solidFill>
              </a:rPr>
              <a:t>の</a:t>
            </a:r>
            <a:r>
              <a:rPr lang="en-US" altLang="ja-GB" dirty="0">
                <a:solidFill>
                  <a:srgbClr val="0070C0"/>
                </a:solidFill>
              </a:rPr>
              <a:t>2</a:t>
            </a:r>
            <a:r>
              <a:rPr lang="ja-GB" altLang="en-US" dirty="0">
                <a:solidFill>
                  <a:srgbClr val="0070C0"/>
                </a:solidFill>
              </a:rPr>
              <a:t>進数表現</a:t>
            </a:r>
            <a:r>
              <a:rPr lang="ja-GB" altLang="en-US" dirty="0"/>
              <a:t>：最小値は</a:t>
            </a:r>
            <a:r>
              <a:rPr lang="en-US" altLang="ja-GB" dirty="0"/>
              <a:t>0</a:t>
            </a:r>
            <a:r>
              <a:rPr lang="en-US" altLang="ja-GB" baseline="-25000" dirty="0"/>
              <a:t>(10)</a:t>
            </a:r>
            <a:r>
              <a:rPr lang="en-US" altLang="ja-GB" dirty="0"/>
              <a:t>=0</a:t>
            </a:r>
            <a:r>
              <a:rPr lang="en-US" altLang="ja-GB" baseline="-25000" dirty="0"/>
              <a:t>(2)</a:t>
            </a:r>
            <a:r>
              <a:rPr lang="ja-GB" altLang="en-US" dirty="0"/>
              <a:t>，最大値は</a:t>
            </a:r>
            <a:r>
              <a:rPr lang="en-US" altLang="ja-GB" dirty="0"/>
              <a:t>255</a:t>
            </a:r>
            <a:r>
              <a:rPr lang="en-US" altLang="ja-GB" baseline="-25000" dirty="0"/>
              <a:t>(10)</a:t>
            </a:r>
            <a:r>
              <a:rPr lang="en-US" altLang="ja-GB" dirty="0"/>
              <a:t>=11111111</a:t>
            </a:r>
            <a:r>
              <a:rPr lang="en-US" altLang="ja-GB" baseline="-25000" dirty="0"/>
              <a:t>(2)</a:t>
            </a:r>
            <a:endParaRPr lang="en-US" altLang="ja-GB" dirty="0"/>
          </a:p>
          <a:p>
            <a:pPr marL="914400" lvl="2" indent="0">
              <a:buNone/>
            </a:pPr>
            <a:r>
              <a:rPr lang="ja-GB" altLang="en-US" dirty="0"/>
              <a:t>例</a:t>
            </a:r>
            <a:r>
              <a:rPr lang="en-US" altLang="ja-GB" dirty="0"/>
              <a:t>3</a:t>
            </a:r>
            <a:r>
              <a:rPr lang="ja-GB" altLang="en-US" dirty="0"/>
              <a:t>）（</a:t>
            </a:r>
            <a:r>
              <a:rPr lang="en-US" altLang="ja-GB" dirty="0"/>
              <a:t>0,0,0</a:t>
            </a:r>
            <a:r>
              <a:rPr lang="ja-GB" altLang="en-US" dirty="0"/>
              <a:t>）は黒色，</a:t>
            </a:r>
            <a:r>
              <a:rPr lang="en-US" altLang="ja-GB" dirty="0"/>
              <a:t>(255, 255, 255)</a:t>
            </a:r>
            <a:r>
              <a:rPr lang="ja-GB" altLang="en-US" dirty="0"/>
              <a:t>は白，全て同じ値なら灰色</a:t>
            </a:r>
            <a:endParaRPr lang="en-US" altLang="ja-GB" dirty="0"/>
          </a:p>
          <a:p>
            <a:pPr lvl="1"/>
            <a:endParaRPr kumimoji="1" lang="en-US" altLang="ja-GB" dirty="0"/>
          </a:p>
          <a:p>
            <a:pPr lvl="1"/>
            <a:endParaRPr kumimoji="1" lang="ja-GB" altLang="en-US" dirty="0"/>
          </a:p>
        </p:txBody>
      </p:sp>
      <p:grpSp>
        <p:nvGrpSpPr>
          <p:cNvPr id="12" name="グループ化 11">
            <a:extLst>
              <a:ext uri="{FF2B5EF4-FFF2-40B4-BE49-F238E27FC236}">
                <a16:creationId xmlns:a16="http://schemas.microsoft.com/office/drawing/2014/main" id="{C9FD56BD-F52D-0A74-2FB8-175AC4A3610A}"/>
              </a:ext>
            </a:extLst>
          </p:cNvPr>
          <p:cNvGrpSpPr/>
          <p:nvPr/>
        </p:nvGrpSpPr>
        <p:grpSpPr>
          <a:xfrm>
            <a:off x="172957" y="3878755"/>
            <a:ext cx="8798086" cy="2124480"/>
            <a:chOff x="160601" y="3878755"/>
            <a:chExt cx="8798086" cy="2124480"/>
          </a:xfrm>
        </p:grpSpPr>
        <p:pic>
          <p:nvPicPr>
            <p:cNvPr id="5" name="図 4" descr="図形&#10;&#10;AI 生成コンテンツは誤りを含む可能性があります。">
              <a:extLst>
                <a:ext uri="{FF2B5EF4-FFF2-40B4-BE49-F238E27FC236}">
                  <a16:creationId xmlns:a16="http://schemas.microsoft.com/office/drawing/2014/main" id="{16A45FB1-5C59-51AA-EA36-FD90DCAB2D9A}"/>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270895" y="3878755"/>
              <a:ext cx="2735977" cy="2124480"/>
            </a:xfrm>
            <a:prstGeom prst="rect">
              <a:avLst/>
            </a:prstGeom>
            <a:ln>
              <a:noFill/>
            </a:ln>
            <a:effectLst>
              <a:outerShdw blurRad="292100" dist="139700" dir="2700000" algn="tl" rotWithShape="0">
                <a:srgbClr val="333333">
                  <a:alpha val="65000"/>
                </a:srgbClr>
              </a:outerShdw>
            </a:effectLst>
          </p:spPr>
        </p:pic>
        <p:pic>
          <p:nvPicPr>
            <p:cNvPr id="7" name="図 6" descr="グラフィカル ユーザー インターフェイス が含まれている画像&#10;&#10;AI 生成コンテンツは誤りを含む可能性があります。">
              <a:extLst>
                <a:ext uri="{FF2B5EF4-FFF2-40B4-BE49-F238E27FC236}">
                  <a16:creationId xmlns:a16="http://schemas.microsoft.com/office/drawing/2014/main" id="{125B9A75-9EA5-470D-AAE7-F81D341DDE5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174235" y="3878755"/>
              <a:ext cx="2784452" cy="2124480"/>
            </a:xfrm>
            <a:prstGeom prst="rect">
              <a:avLst/>
            </a:prstGeom>
            <a:ln>
              <a:noFill/>
            </a:ln>
            <a:effectLst>
              <a:outerShdw blurRad="292100" dist="139700" dir="2700000" algn="tl" rotWithShape="0">
                <a:srgbClr val="333333">
                  <a:alpha val="65000"/>
                </a:srgbClr>
              </a:outerShdw>
            </a:effectLst>
          </p:spPr>
        </p:pic>
        <p:pic>
          <p:nvPicPr>
            <p:cNvPr id="11" name="図 10" descr="図形&#10;&#10;AI 生成コンテンツは誤りを含む可能性があります。">
              <a:extLst>
                <a:ext uri="{FF2B5EF4-FFF2-40B4-BE49-F238E27FC236}">
                  <a16:creationId xmlns:a16="http://schemas.microsoft.com/office/drawing/2014/main" id="{943118B3-7A72-477A-5F25-A3D3F52D3F8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60601" y="3879207"/>
              <a:ext cx="2942931" cy="2124028"/>
            </a:xfrm>
            <a:prstGeom prst="rect">
              <a:avLst/>
            </a:prstGeom>
            <a:ln>
              <a:noFill/>
            </a:ln>
            <a:effectLst>
              <a:outerShdw blurRad="292100" dist="139700" dir="2700000" algn="tl" rotWithShape="0">
                <a:srgbClr val="333333">
                  <a:alpha val="65000"/>
                </a:srgbClr>
              </a:outerShdw>
            </a:effectLst>
          </p:spPr>
        </p:pic>
      </p:grpSp>
    </p:spTree>
    <p:extLst>
      <p:ext uri="{BB962C8B-B14F-4D97-AF65-F5344CB8AC3E}">
        <p14:creationId xmlns:p14="http://schemas.microsoft.com/office/powerpoint/2010/main" val="1657436771"/>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CB6AB-B98F-B5B4-C874-06622355884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98AF097-A683-E5D9-2D07-301172A319C9}"/>
              </a:ext>
            </a:extLst>
          </p:cNvPr>
          <p:cNvSpPr>
            <a:spLocks noGrp="1"/>
          </p:cNvSpPr>
          <p:nvPr>
            <p:ph type="title"/>
          </p:nvPr>
        </p:nvSpPr>
        <p:spPr/>
        <p:txBody>
          <a:bodyPr/>
          <a:lstStyle/>
          <a:p>
            <a:r>
              <a:rPr kumimoji="1" lang="en-US" altLang="ja-GB" dirty="0"/>
              <a:t>HEX</a:t>
            </a:r>
            <a:r>
              <a:rPr kumimoji="1" lang="ja-GB" altLang="en-US" dirty="0"/>
              <a:t>カラーコードの表記とその意味</a:t>
            </a:r>
          </a:p>
        </p:txBody>
      </p:sp>
      <p:sp>
        <p:nvSpPr>
          <p:cNvPr id="3" name="コンテンツ プレースホルダー 2">
            <a:extLst>
              <a:ext uri="{FF2B5EF4-FFF2-40B4-BE49-F238E27FC236}">
                <a16:creationId xmlns:a16="http://schemas.microsoft.com/office/drawing/2014/main" id="{6F7C3706-3B65-2060-CA5A-EE24D0F812DD}"/>
              </a:ext>
            </a:extLst>
          </p:cNvPr>
          <p:cNvSpPr>
            <a:spLocks noGrp="1"/>
          </p:cNvSpPr>
          <p:nvPr>
            <p:ph idx="1"/>
          </p:nvPr>
        </p:nvSpPr>
        <p:spPr/>
        <p:txBody>
          <a:bodyPr/>
          <a:lstStyle/>
          <a:p>
            <a:pPr marL="0" indent="0">
              <a:buNone/>
            </a:pPr>
            <a:r>
              <a:rPr kumimoji="1" lang="en-US" altLang="ja-GB" dirty="0"/>
              <a:t>16</a:t>
            </a:r>
            <a:r>
              <a:rPr kumimoji="1" lang="ja-GB" altLang="en-US" dirty="0"/>
              <a:t>進数により色を表現する方法</a:t>
            </a:r>
            <a:endParaRPr kumimoji="1" lang="en-US" altLang="ja-GB" dirty="0"/>
          </a:p>
          <a:p>
            <a:pPr lvl="1"/>
            <a:r>
              <a:rPr lang="en-US" altLang="ja-GB" dirty="0"/>
              <a:t>HEX</a:t>
            </a:r>
            <a:r>
              <a:rPr lang="ja-GB" altLang="en-US" dirty="0"/>
              <a:t>：</a:t>
            </a:r>
            <a:r>
              <a:rPr lang="en-GB" altLang="ja-GB" dirty="0"/>
              <a:t>hexadecimal</a:t>
            </a:r>
            <a:r>
              <a:rPr lang="ja-GB" altLang="en-US" dirty="0"/>
              <a:t>（</a:t>
            </a:r>
            <a:r>
              <a:rPr lang="en-US" altLang="ja-GB" dirty="0"/>
              <a:t>16</a:t>
            </a:r>
            <a:r>
              <a:rPr lang="ja-GB" altLang="en-US" dirty="0"/>
              <a:t>進数）の略</a:t>
            </a:r>
            <a:endParaRPr lang="en-US" altLang="ja-GB" dirty="0"/>
          </a:p>
          <a:p>
            <a:pPr lvl="1"/>
            <a:r>
              <a:rPr kumimoji="1" lang="ja-GB" altLang="en-US" dirty="0"/>
              <a:t>先頭に「</a:t>
            </a:r>
            <a:r>
              <a:rPr kumimoji="1" lang="en-US" altLang="ja-GB" dirty="0"/>
              <a:t>#</a:t>
            </a:r>
            <a:r>
              <a:rPr kumimoji="1" lang="ja-GB" altLang="en-US" dirty="0"/>
              <a:t>」をつけた</a:t>
            </a:r>
            <a:r>
              <a:rPr kumimoji="1" lang="en-US" altLang="ja-GB" dirty="0"/>
              <a:t>6</a:t>
            </a:r>
            <a:r>
              <a:rPr kumimoji="1" lang="ja-GB" altLang="en-US" dirty="0"/>
              <a:t>桁の</a:t>
            </a:r>
            <a:r>
              <a:rPr kumimoji="1" lang="en-US" altLang="ja-GB" dirty="0"/>
              <a:t>16</a:t>
            </a:r>
            <a:r>
              <a:rPr kumimoji="1" lang="ja-GB" altLang="en-US" dirty="0"/>
              <a:t>進数で色を表現</a:t>
            </a:r>
            <a:endParaRPr kumimoji="1" lang="en-US" altLang="ja-GB" dirty="0"/>
          </a:p>
          <a:p>
            <a:pPr lvl="2"/>
            <a:r>
              <a:rPr lang="en-US" altLang="ja-GB" dirty="0"/>
              <a:t>6</a:t>
            </a:r>
            <a:r>
              <a:rPr lang="ja-GB" altLang="en-US" dirty="0"/>
              <a:t>桁の</a:t>
            </a:r>
            <a:r>
              <a:rPr lang="en-US" altLang="ja-GB" dirty="0"/>
              <a:t>16</a:t>
            </a:r>
            <a:r>
              <a:rPr lang="ja-GB" altLang="en-US" dirty="0"/>
              <a:t>進数は，</a:t>
            </a:r>
            <a:r>
              <a:rPr lang="en-US" altLang="ja-GB" dirty="0"/>
              <a:t>24bit</a:t>
            </a:r>
            <a:r>
              <a:rPr lang="ja-GB" altLang="en-US" dirty="0"/>
              <a:t>（</a:t>
            </a:r>
            <a:r>
              <a:rPr lang="en-US" altLang="ja-GB" dirty="0"/>
              <a:t>8bit×3</a:t>
            </a:r>
            <a:r>
              <a:rPr lang="ja-GB" altLang="en-US" dirty="0"/>
              <a:t>色）の</a:t>
            </a:r>
            <a:r>
              <a:rPr lang="en-US" altLang="ja-GB" dirty="0"/>
              <a:t>2</a:t>
            </a:r>
            <a:r>
              <a:rPr lang="ja-GB" altLang="en-US" dirty="0"/>
              <a:t>進数に対応</a:t>
            </a:r>
            <a:endParaRPr lang="en-US" altLang="ja-GB" dirty="0"/>
          </a:p>
          <a:p>
            <a:pPr lvl="2"/>
            <a:r>
              <a:rPr lang="ja-GB" altLang="en-US" dirty="0"/>
              <a:t>例）</a:t>
            </a:r>
            <a:r>
              <a:rPr lang="en-US" altLang="ja-GB" dirty="0"/>
              <a:t>#1AFF31 → </a:t>
            </a:r>
            <a:r>
              <a:rPr lang="ja-GB" altLang="en-US" dirty="0"/>
              <a:t>（</a:t>
            </a:r>
            <a:r>
              <a:rPr lang="en-US" altLang="ja-GB" dirty="0"/>
              <a:t>1A</a:t>
            </a:r>
            <a:r>
              <a:rPr lang="en-US" altLang="ja-GB" baseline="-25000" dirty="0"/>
              <a:t>(16)</a:t>
            </a:r>
            <a:r>
              <a:rPr lang="ja-GB" altLang="en-US" dirty="0"/>
              <a:t>，</a:t>
            </a:r>
            <a:r>
              <a:rPr lang="en-US" altLang="ja-GB" dirty="0"/>
              <a:t>FF</a:t>
            </a:r>
            <a:r>
              <a:rPr lang="en-US" altLang="ja-GB" baseline="-25000" dirty="0"/>
              <a:t>(16)</a:t>
            </a:r>
            <a:r>
              <a:rPr lang="ja-GB" altLang="en-US" dirty="0"/>
              <a:t>，</a:t>
            </a:r>
            <a:r>
              <a:rPr lang="en-US" altLang="ja-GB" dirty="0"/>
              <a:t>31</a:t>
            </a:r>
            <a:r>
              <a:rPr lang="en-US" altLang="ja-GB" baseline="-25000" dirty="0"/>
              <a:t>(16)</a:t>
            </a:r>
            <a:r>
              <a:rPr lang="ja-GB" altLang="en-US" dirty="0"/>
              <a:t>）</a:t>
            </a:r>
            <a:r>
              <a:rPr lang="en-US" altLang="ja-GB" dirty="0"/>
              <a:t>→</a:t>
            </a:r>
            <a:r>
              <a:rPr lang="ja-GB" altLang="en-US" dirty="0"/>
              <a:t>（</a:t>
            </a:r>
            <a:r>
              <a:rPr lang="en-US" altLang="ja-GB" dirty="0"/>
              <a:t>26</a:t>
            </a:r>
            <a:r>
              <a:rPr lang="ja-GB" altLang="en-US" dirty="0"/>
              <a:t>，</a:t>
            </a:r>
            <a:r>
              <a:rPr lang="en-US" altLang="ja-GB" dirty="0"/>
              <a:t>255</a:t>
            </a:r>
            <a:r>
              <a:rPr lang="ja-GB" altLang="en-US" dirty="0"/>
              <a:t>，</a:t>
            </a:r>
            <a:r>
              <a:rPr lang="en-US" altLang="ja-GB" dirty="0"/>
              <a:t>49</a:t>
            </a:r>
            <a:r>
              <a:rPr lang="ja-GB" altLang="en-US" dirty="0"/>
              <a:t>）</a:t>
            </a:r>
            <a:endParaRPr lang="en-US" altLang="ja-GB" dirty="0"/>
          </a:p>
        </p:txBody>
      </p:sp>
      <p:pic>
        <p:nvPicPr>
          <p:cNvPr id="7" name="図 6" descr="グラフィカル ユーザー インターフェイス, アプリケーション, チャットまたはテキスト メッセージ&#10;&#10;AI 生成コンテンツは誤りを含む可能性があります。">
            <a:extLst>
              <a:ext uri="{FF2B5EF4-FFF2-40B4-BE49-F238E27FC236}">
                <a16:creationId xmlns:a16="http://schemas.microsoft.com/office/drawing/2014/main" id="{9BFCC9E1-9A66-EA0B-B02A-53AC12AD6BFA}"/>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85800" y="2948690"/>
            <a:ext cx="7772400" cy="351528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7915989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3E7FA4-3B1D-CD89-091B-E14B704261D7}"/>
              </a:ext>
            </a:extLst>
          </p:cNvPr>
          <p:cNvSpPr>
            <a:spLocks noGrp="1"/>
          </p:cNvSpPr>
          <p:nvPr>
            <p:ph type="title"/>
          </p:nvPr>
        </p:nvSpPr>
        <p:spPr/>
        <p:txBody>
          <a:bodyPr/>
          <a:lstStyle/>
          <a:p>
            <a:r>
              <a:rPr kumimoji="1" lang="en-US" altLang="ja-GB" dirty="0"/>
              <a:t>RBG</a:t>
            </a:r>
            <a:r>
              <a:rPr lang="ja-GB" altLang="en-US" dirty="0"/>
              <a:t>表現</a:t>
            </a:r>
            <a:r>
              <a:rPr lang="en-US" altLang="ja-GB" dirty="0"/>
              <a:t>→HEX</a:t>
            </a:r>
            <a:r>
              <a:rPr lang="ja-GB" altLang="en-US" dirty="0"/>
              <a:t>コード，</a:t>
            </a:r>
            <a:r>
              <a:rPr lang="en-US" altLang="ja-GB" dirty="0"/>
              <a:t>HEX</a:t>
            </a:r>
            <a:r>
              <a:rPr lang="ja-GB" altLang="en-US" dirty="0"/>
              <a:t>コード</a:t>
            </a:r>
            <a:r>
              <a:rPr lang="en-US" altLang="ja-GB" dirty="0"/>
              <a:t>→RGB</a:t>
            </a:r>
            <a:r>
              <a:rPr lang="ja-GB" altLang="en-US" dirty="0"/>
              <a:t>表現</a:t>
            </a:r>
            <a:endParaRPr kumimoji="1" lang="ja-GB" altLang="en-US" dirty="0"/>
          </a:p>
        </p:txBody>
      </p:sp>
      <p:sp>
        <p:nvSpPr>
          <p:cNvPr id="3" name="コンテンツ プレースホルダー 2">
            <a:extLst>
              <a:ext uri="{FF2B5EF4-FFF2-40B4-BE49-F238E27FC236}">
                <a16:creationId xmlns:a16="http://schemas.microsoft.com/office/drawing/2014/main" id="{AD0586E6-98AA-F3C7-FE00-31C45AA7443F}"/>
              </a:ext>
            </a:extLst>
          </p:cNvPr>
          <p:cNvSpPr>
            <a:spLocks noGrp="1"/>
          </p:cNvSpPr>
          <p:nvPr>
            <p:ph idx="1"/>
          </p:nvPr>
        </p:nvSpPr>
        <p:spPr/>
        <p:txBody>
          <a:bodyPr/>
          <a:lstStyle/>
          <a:p>
            <a:r>
              <a:rPr kumimoji="1" lang="en-US" altLang="ja-GB" dirty="0"/>
              <a:t>RBG→HEX</a:t>
            </a:r>
          </a:p>
          <a:p>
            <a:pPr lvl="1"/>
            <a:r>
              <a:rPr kumimoji="1" lang="en-US" altLang="ja-GB" dirty="0"/>
              <a:t>10</a:t>
            </a:r>
            <a:r>
              <a:rPr kumimoji="1" lang="ja-GB" altLang="en-US" dirty="0"/>
              <a:t>進数</a:t>
            </a:r>
            <a:r>
              <a:rPr kumimoji="1" lang="en-US" altLang="ja-GB" dirty="0"/>
              <a:t>→16</a:t>
            </a:r>
            <a:r>
              <a:rPr lang="ja-GB" altLang="en-US" dirty="0"/>
              <a:t>進数</a:t>
            </a:r>
            <a:r>
              <a:rPr kumimoji="1" lang="ja-GB" altLang="en-US" dirty="0"/>
              <a:t>の変換</a:t>
            </a:r>
            <a:endParaRPr kumimoji="1" lang="en-US" altLang="ja-GB" dirty="0"/>
          </a:p>
          <a:p>
            <a:pPr lvl="1"/>
            <a:r>
              <a:rPr lang="en-US" altLang="ja-GB" dirty="0"/>
              <a:t>3</a:t>
            </a:r>
            <a:r>
              <a:rPr lang="ja-GB" altLang="en-US" dirty="0"/>
              <a:t>つの</a:t>
            </a:r>
            <a:r>
              <a:rPr lang="en-US" altLang="ja-GB" dirty="0"/>
              <a:t>16</a:t>
            </a:r>
            <a:r>
              <a:rPr lang="ja-GB" altLang="en-US" dirty="0"/>
              <a:t>進数を結合</a:t>
            </a:r>
            <a:endParaRPr kumimoji="1" lang="en-US" altLang="ja-GB" dirty="0"/>
          </a:p>
          <a:p>
            <a:pPr lvl="1"/>
            <a:endParaRPr lang="en-US" altLang="ja-GB" dirty="0"/>
          </a:p>
          <a:p>
            <a:r>
              <a:rPr kumimoji="1" lang="en-US" altLang="ja-GB" dirty="0"/>
              <a:t>HEX→RGB</a:t>
            </a:r>
          </a:p>
          <a:p>
            <a:pPr lvl="1"/>
            <a:r>
              <a:rPr lang="en-US" altLang="ja-GB" dirty="0"/>
              <a:t>2</a:t>
            </a:r>
            <a:r>
              <a:rPr lang="ja-GB" altLang="en-US" dirty="0"/>
              <a:t>桁ごとに</a:t>
            </a:r>
            <a:r>
              <a:rPr lang="en-US" altLang="ja-GB" dirty="0"/>
              <a:t>16</a:t>
            </a:r>
            <a:r>
              <a:rPr lang="ja-GB" altLang="en-US" dirty="0"/>
              <a:t>進数を分離</a:t>
            </a:r>
            <a:endParaRPr lang="en-US" altLang="ja-GB" dirty="0"/>
          </a:p>
          <a:p>
            <a:pPr lvl="1"/>
            <a:r>
              <a:rPr lang="ja-GB" altLang="en-US" dirty="0"/>
              <a:t>それぞれを</a:t>
            </a:r>
            <a:r>
              <a:rPr lang="en-US" altLang="ja-GB" dirty="0"/>
              <a:t>16</a:t>
            </a:r>
            <a:r>
              <a:rPr lang="ja-GB" altLang="en-US" dirty="0"/>
              <a:t>進数</a:t>
            </a:r>
            <a:r>
              <a:rPr lang="en-US" altLang="ja-GB" dirty="0"/>
              <a:t>→10</a:t>
            </a:r>
            <a:r>
              <a:rPr lang="ja-GB" altLang="en-US" dirty="0"/>
              <a:t>進数に変換</a:t>
            </a:r>
            <a:endParaRPr kumimoji="1" lang="ja-GB" altLang="en-US" dirty="0"/>
          </a:p>
        </p:txBody>
      </p:sp>
    </p:spTree>
    <p:extLst>
      <p:ext uri="{BB962C8B-B14F-4D97-AF65-F5344CB8AC3E}">
        <p14:creationId xmlns:p14="http://schemas.microsoft.com/office/powerpoint/2010/main" val="1093242624"/>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FDCDA-3C4C-9F56-0900-347BD6F5872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732BD3E-2CFB-1E15-1D71-D1B749CE5C75}"/>
              </a:ext>
            </a:extLst>
          </p:cNvPr>
          <p:cNvSpPr>
            <a:spLocks noGrp="1"/>
          </p:cNvSpPr>
          <p:nvPr>
            <p:ph type="title"/>
          </p:nvPr>
        </p:nvSpPr>
        <p:spPr/>
        <p:txBody>
          <a:bodyPr/>
          <a:lstStyle/>
          <a:p>
            <a:r>
              <a:rPr lang="en-US" altLang="ja-GB" dirty="0"/>
              <a:t>16</a:t>
            </a:r>
            <a:r>
              <a:rPr kumimoji="1" lang="ja-GB" altLang="en-US" dirty="0"/>
              <a:t>進数</a:t>
            </a:r>
            <a:r>
              <a:rPr kumimoji="1" lang="en-US" altLang="ja-GB" dirty="0"/>
              <a:t>→10</a:t>
            </a:r>
            <a:r>
              <a:rPr kumimoji="1" lang="ja-GB" altLang="en-US" dirty="0"/>
              <a:t>進数の変換</a:t>
            </a:r>
          </a:p>
        </p:txBody>
      </p:sp>
      <p:sp>
        <p:nvSpPr>
          <p:cNvPr id="3" name="コンテンツ プレースホルダー 2">
            <a:extLst>
              <a:ext uri="{FF2B5EF4-FFF2-40B4-BE49-F238E27FC236}">
                <a16:creationId xmlns:a16="http://schemas.microsoft.com/office/drawing/2014/main" id="{767FA8F7-035C-879C-F8D8-194D5FD88828}"/>
              </a:ext>
            </a:extLst>
          </p:cNvPr>
          <p:cNvSpPr>
            <a:spLocks noGrp="1"/>
          </p:cNvSpPr>
          <p:nvPr>
            <p:ph idx="1"/>
          </p:nvPr>
        </p:nvSpPr>
        <p:spPr/>
        <p:txBody>
          <a:bodyPr/>
          <a:lstStyle/>
          <a:p>
            <a:pPr marL="0" indent="0">
              <a:buNone/>
            </a:pPr>
            <a:r>
              <a:rPr lang="ja-GB" altLang="en-US" dirty="0"/>
              <a:t>桁に応じた</a:t>
            </a:r>
            <a:r>
              <a:rPr lang="en-US" altLang="ja-GB" dirty="0"/>
              <a:t>16</a:t>
            </a:r>
            <a:r>
              <a:rPr lang="ja-GB" altLang="en-US" dirty="0"/>
              <a:t>の冪乗を掛け算する</a:t>
            </a:r>
            <a:endParaRPr lang="en-US" altLang="ja-GB" dirty="0"/>
          </a:p>
          <a:p>
            <a:pPr marL="457200" lvl="1" indent="0">
              <a:buNone/>
            </a:pPr>
            <a:r>
              <a:rPr lang="ja-GB" altLang="en-US" dirty="0"/>
              <a:t>例）</a:t>
            </a:r>
            <a:r>
              <a:rPr lang="en-US" altLang="ja-GB" dirty="0"/>
              <a:t>1F3</a:t>
            </a:r>
            <a:r>
              <a:rPr lang="en-US" altLang="ja-GB" baseline="-25000" dirty="0"/>
              <a:t>(16)</a:t>
            </a:r>
            <a:r>
              <a:rPr lang="en-US" altLang="ja-GB" dirty="0"/>
              <a:t>= 1×16</a:t>
            </a:r>
            <a:r>
              <a:rPr lang="en-US" altLang="ja-GB" baseline="30000" dirty="0"/>
              <a:t>2</a:t>
            </a:r>
            <a:r>
              <a:rPr lang="en-US" altLang="ja-GB" dirty="0"/>
              <a:t>   + F×16  + 3×1</a:t>
            </a:r>
          </a:p>
          <a:p>
            <a:pPr marL="457200" lvl="1" indent="0">
              <a:buNone/>
            </a:pPr>
            <a:r>
              <a:rPr lang="en-US" altLang="ja-GB" dirty="0"/>
              <a:t>                 = 1×256 + 15×16 + 3×1</a:t>
            </a:r>
          </a:p>
          <a:p>
            <a:pPr marL="457200" lvl="1" indent="0">
              <a:buNone/>
            </a:pPr>
            <a:r>
              <a:rPr lang="en-US" altLang="ja-GB" dirty="0"/>
              <a:t>                 = 499</a:t>
            </a:r>
            <a:r>
              <a:rPr lang="en-US" altLang="ja-GB" baseline="-25000" dirty="0"/>
              <a:t>(10)</a:t>
            </a:r>
          </a:p>
        </p:txBody>
      </p:sp>
      <p:graphicFrame>
        <p:nvGraphicFramePr>
          <p:cNvPr id="5" name="表 4">
            <a:extLst>
              <a:ext uri="{FF2B5EF4-FFF2-40B4-BE49-F238E27FC236}">
                <a16:creationId xmlns:a16="http://schemas.microsoft.com/office/drawing/2014/main" id="{3EE95F45-D035-39FB-88DB-C3D3A195DEDF}"/>
              </a:ext>
            </a:extLst>
          </p:cNvPr>
          <p:cNvGraphicFramePr>
            <a:graphicFrameLocks noGrp="1"/>
          </p:cNvGraphicFramePr>
          <p:nvPr/>
        </p:nvGraphicFramePr>
        <p:xfrm>
          <a:off x="2817000" y="3300122"/>
          <a:ext cx="3510000" cy="1112520"/>
        </p:xfrm>
        <a:graphic>
          <a:graphicData uri="http://schemas.openxmlformats.org/drawingml/2006/table">
            <a:tbl>
              <a:tblPr firstRow="1" firstCol="1" bandRow="1">
                <a:tableStyleId>{5C22544A-7EE6-4342-B048-85BDC9FD1C3A}</a:tableStyleId>
              </a:tblPr>
              <a:tblGrid>
                <a:gridCol w="877500">
                  <a:extLst>
                    <a:ext uri="{9D8B030D-6E8A-4147-A177-3AD203B41FA5}">
                      <a16:colId xmlns:a16="http://schemas.microsoft.com/office/drawing/2014/main" val="1441583760"/>
                    </a:ext>
                  </a:extLst>
                </a:gridCol>
                <a:gridCol w="877500">
                  <a:extLst>
                    <a:ext uri="{9D8B030D-6E8A-4147-A177-3AD203B41FA5}">
                      <a16:colId xmlns:a16="http://schemas.microsoft.com/office/drawing/2014/main" val="2455451275"/>
                    </a:ext>
                  </a:extLst>
                </a:gridCol>
                <a:gridCol w="877500">
                  <a:extLst>
                    <a:ext uri="{9D8B030D-6E8A-4147-A177-3AD203B41FA5}">
                      <a16:colId xmlns:a16="http://schemas.microsoft.com/office/drawing/2014/main" val="3918346198"/>
                    </a:ext>
                  </a:extLst>
                </a:gridCol>
                <a:gridCol w="877500">
                  <a:extLst>
                    <a:ext uri="{9D8B030D-6E8A-4147-A177-3AD203B41FA5}">
                      <a16:colId xmlns:a16="http://schemas.microsoft.com/office/drawing/2014/main" val="2526903477"/>
                    </a:ext>
                  </a:extLst>
                </a:gridCol>
              </a:tblGrid>
              <a:tr h="370840">
                <a:tc>
                  <a:txBody>
                    <a:bodyPr/>
                    <a:lstStyle/>
                    <a:p>
                      <a:r>
                        <a:rPr lang="ja-GB" altLang="en-US" dirty="0"/>
                        <a:t>数値</a:t>
                      </a:r>
                    </a:p>
                  </a:txBody>
                  <a:tcPr/>
                </a:tc>
                <a:tc>
                  <a:txBody>
                    <a:bodyPr/>
                    <a:lstStyle/>
                    <a:p>
                      <a:pPr algn="ctr"/>
                      <a:r>
                        <a:rPr lang="en-US" altLang="ja-GB" dirty="0"/>
                        <a:t>1</a:t>
                      </a:r>
                      <a:endParaRPr lang="ja-GB" altLang="en-US" dirty="0"/>
                    </a:p>
                  </a:txBody>
                  <a:tcPr/>
                </a:tc>
                <a:tc>
                  <a:txBody>
                    <a:bodyPr/>
                    <a:lstStyle/>
                    <a:p>
                      <a:pPr algn="ctr"/>
                      <a:r>
                        <a:rPr lang="en-US" altLang="ja-GB" dirty="0"/>
                        <a:t>1</a:t>
                      </a:r>
                      <a:endParaRPr lang="ja-GB" altLang="en-US" dirty="0"/>
                    </a:p>
                  </a:txBody>
                  <a:tcPr/>
                </a:tc>
                <a:tc>
                  <a:txBody>
                    <a:bodyPr/>
                    <a:lstStyle/>
                    <a:p>
                      <a:pPr algn="ctr"/>
                      <a:r>
                        <a:rPr lang="en-US" altLang="ja-GB" dirty="0"/>
                        <a:t>1</a:t>
                      </a:r>
                      <a:endParaRPr lang="ja-GB" altLang="en-US" dirty="0"/>
                    </a:p>
                  </a:txBody>
                  <a:tcPr/>
                </a:tc>
                <a:extLst>
                  <a:ext uri="{0D108BD9-81ED-4DB2-BD59-A6C34878D82A}">
                    <a16:rowId xmlns:a16="http://schemas.microsoft.com/office/drawing/2014/main" val="1724113796"/>
                  </a:ext>
                </a:extLst>
              </a:tr>
              <a:tr h="370840">
                <a:tc>
                  <a:txBody>
                    <a:bodyPr/>
                    <a:lstStyle/>
                    <a:p>
                      <a:r>
                        <a:rPr lang="ja-GB" altLang="en-US" dirty="0"/>
                        <a:t>桁</a:t>
                      </a:r>
                      <a:endParaRPr lang="en-US" altLang="ja-JP" dirty="0"/>
                    </a:p>
                  </a:txBody>
                  <a:tcPr/>
                </a:tc>
                <a:tc>
                  <a:txBody>
                    <a:bodyPr/>
                    <a:lstStyle/>
                    <a:p>
                      <a:pPr algn="ctr"/>
                      <a:r>
                        <a:rPr lang="en-US" altLang="ja-GB" dirty="0"/>
                        <a:t>16</a:t>
                      </a:r>
                      <a:r>
                        <a:rPr lang="en-US" altLang="ja-GB" baseline="30000" dirty="0"/>
                        <a:t>2</a:t>
                      </a:r>
                      <a:endParaRPr lang="ja-GB" altLang="en-US" dirty="0"/>
                    </a:p>
                  </a:txBody>
                  <a:tcPr/>
                </a:tc>
                <a:tc>
                  <a:txBody>
                    <a:bodyPr/>
                    <a:lstStyle/>
                    <a:p>
                      <a:pPr algn="ctr"/>
                      <a:r>
                        <a:rPr lang="en-US" altLang="ja-GB" dirty="0"/>
                        <a:t>16</a:t>
                      </a:r>
                      <a:r>
                        <a:rPr lang="en-US" altLang="ja-GB" baseline="30000" dirty="0"/>
                        <a:t>1</a:t>
                      </a:r>
                      <a:endParaRPr lang="ja-GB" altLang="en-US" dirty="0"/>
                    </a:p>
                  </a:txBody>
                  <a:tcPr/>
                </a:tc>
                <a:tc>
                  <a:txBody>
                    <a:bodyPr/>
                    <a:lstStyle/>
                    <a:p>
                      <a:pPr algn="ctr"/>
                      <a:r>
                        <a:rPr lang="en-US" altLang="ja-GB" dirty="0"/>
                        <a:t>16</a:t>
                      </a:r>
                      <a:r>
                        <a:rPr lang="en-US" altLang="ja-GB" baseline="30000" dirty="0"/>
                        <a:t>0</a:t>
                      </a:r>
                      <a:endParaRPr lang="ja-GB" altLang="en-US" dirty="0"/>
                    </a:p>
                  </a:txBody>
                  <a:tcPr/>
                </a:tc>
                <a:extLst>
                  <a:ext uri="{0D108BD9-81ED-4DB2-BD59-A6C34878D82A}">
                    <a16:rowId xmlns:a16="http://schemas.microsoft.com/office/drawing/2014/main" val="2526597730"/>
                  </a:ext>
                </a:extLst>
              </a:tr>
              <a:tr h="370840">
                <a:tc>
                  <a:txBody>
                    <a:bodyPr/>
                    <a:lstStyle/>
                    <a:p>
                      <a:r>
                        <a:rPr lang="ja-GB" altLang="en-US" dirty="0"/>
                        <a:t>大きさ</a:t>
                      </a:r>
                      <a:endParaRPr lang="en-US" altLang="ja-JP" dirty="0"/>
                    </a:p>
                  </a:txBody>
                  <a:tcPr/>
                </a:tc>
                <a:tc>
                  <a:txBody>
                    <a:bodyPr/>
                    <a:lstStyle/>
                    <a:p>
                      <a:pPr algn="ctr"/>
                      <a:r>
                        <a:rPr lang="en-US" altLang="ja-GB" dirty="0"/>
                        <a:t>256</a:t>
                      </a:r>
                      <a:endParaRPr lang="ja-GB" altLang="en-US" dirty="0"/>
                    </a:p>
                  </a:txBody>
                  <a:tcPr/>
                </a:tc>
                <a:tc>
                  <a:txBody>
                    <a:bodyPr/>
                    <a:lstStyle/>
                    <a:p>
                      <a:pPr algn="ctr"/>
                      <a:r>
                        <a:rPr lang="en-US" altLang="ja-GB" dirty="0"/>
                        <a:t>16</a:t>
                      </a:r>
                      <a:endParaRPr lang="ja-GB" altLang="en-US" dirty="0"/>
                    </a:p>
                  </a:txBody>
                  <a:tcPr/>
                </a:tc>
                <a:tc>
                  <a:txBody>
                    <a:bodyPr/>
                    <a:lstStyle/>
                    <a:p>
                      <a:pPr algn="ctr"/>
                      <a:r>
                        <a:rPr lang="en-US" altLang="ja-GB" dirty="0"/>
                        <a:t>1</a:t>
                      </a:r>
                      <a:endParaRPr lang="ja-GB" altLang="en-US" dirty="0"/>
                    </a:p>
                  </a:txBody>
                  <a:tcPr/>
                </a:tc>
                <a:extLst>
                  <a:ext uri="{0D108BD9-81ED-4DB2-BD59-A6C34878D82A}">
                    <a16:rowId xmlns:a16="http://schemas.microsoft.com/office/drawing/2014/main" val="3106289364"/>
                  </a:ext>
                </a:extLst>
              </a:tr>
            </a:tbl>
          </a:graphicData>
        </a:graphic>
      </p:graphicFrame>
      <p:sp>
        <p:nvSpPr>
          <p:cNvPr id="10" name="上カーブ矢印 9">
            <a:extLst>
              <a:ext uri="{FF2B5EF4-FFF2-40B4-BE49-F238E27FC236}">
                <a16:creationId xmlns:a16="http://schemas.microsoft.com/office/drawing/2014/main" id="{4006BB06-2F0B-C5B5-6D5F-CFE09B232BF8}"/>
              </a:ext>
            </a:extLst>
          </p:cNvPr>
          <p:cNvSpPr/>
          <p:nvPr/>
        </p:nvSpPr>
        <p:spPr>
          <a:xfrm flipH="1">
            <a:off x="4943455" y="4469652"/>
            <a:ext cx="926758" cy="332534"/>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chemeClr val="tx1"/>
              </a:solidFill>
            </a:endParaRPr>
          </a:p>
        </p:txBody>
      </p:sp>
      <p:sp>
        <p:nvSpPr>
          <p:cNvPr id="11" name="上カーブ矢印 10">
            <a:extLst>
              <a:ext uri="{FF2B5EF4-FFF2-40B4-BE49-F238E27FC236}">
                <a16:creationId xmlns:a16="http://schemas.microsoft.com/office/drawing/2014/main" id="{7866F396-55FD-847D-CBE7-B8D20C977AE6}"/>
              </a:ext>
            </a:extLst>
          </p:cNvPr>
          <p:cNvSpPr/>
          <p:nvPr/>
        </p:nvSpPr>
        <p:spPr>
          <a:xfrm flipH="1">
            <a:off x="4016697" y="4469652"/>
            <a:ext cx="926758" cy="332534"/>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chemeClr val="tx1"/>
              </a:solidFill>
            </a:endParaRPr>
          </a:p>
        </p:txBody>
      </p:sp>
      <p:sp>
        <p:nvSpPr>
          <p:cNvPr id="16" name="テキスト ボックス 15">
            <a:extLst>
              <a:ext uri="{FF2B5EF4-FFF2-40B4-BE49-F238E27FC236}">
                <a16:creationId xmlns:a16="http://schemas.microsoft.com/office/drawing/2014/main" id="{0C434598-FE5A-1B04-603D-BED87CAF5701}"/>
              </a:ext>
            </a:extLst>
          </p:cNvPr>
          <p:cNvSpPr txBox="1"/>
          <p:nvPr/>
        </p:nvSpPr>
        <p:spPr>
          <a:xfrm>
            <a:off x="5140575" y="4813066"/>
            <a:ext cx="649537" cy="369332"/>
          </a:xfrm>
          <a:prstGeom prst="rect">
            <a:avLst/>
          </a:prstGeom>
          <a:noFill/>
        </p:spPr>
        <p:txBody>
          <a:bodyPr wrap="none" rtlCol="0">
            <a:spAutoFit/>
          </a:bodyPr>
          <a:lstStyle/>
          <a:p>
            <a:r>
              <a:rPr kumimoji="1" lang="en-US" altLang="ja-GB" dirty="0"/>
              <a:t>×16</a:t>
            </a:r>
            <a:endParaRPr kumimoji="1" lang="ja-GB" altLang="en-US" dirty="0"/>
          </a:p>
        </p:txBody>
      </p:sp>
      <p:sp>
        <p:nvSpPr>
          <p:cNvPr id="17" name="テキスト ボックス 16">
            <a:extLst>
              <a:ext uri="{FF2B5EF4-FFF2-40B4-BE49-F238E27FC236}">
                <a16:creationId xmlns:a16="http://schemas.microsoft.com/office/drawing/2014/main" id="{39E18B46-6B74-5CBA-0EF2-7E0CA02AC1D5}"/>
              </a:ext>
            </a:extLst>
          </p:cNvPr>
          <p:cNvSpPr txBox="1"/>
          <p:nvPr/>
        </p:nvSpPr>
        <p:spPr>
          <a:xfrm>
            <a:off x="4155307" y="4826181"/>
            <a:ext cx="649537" cy="369332"/>
          </a:xfrm>
          <a:prstGeom prst="rect">
            <a:avLst/>
          </a:prstGeom>
          <a:noFill/>
        </p:spPr>
        <p:txBody>
          <a:bodyPr wrap="none" rtlCol="0">
            <a:spAutoFit/>
          </a:bodyPr>
          <a:lstStyle/>
          <a:p>
            <a:r>
              <a:rPr kumimoji="1" lang="en-US" altLang="ja-GB" dirty="0"/>
              <a:t>×16</a:t>
            </a:r>
            <a:endParaRPr kumimoji="1" lang="ja-GB" altLang="en-US" dirty="0"/>
          </a:p>
        </p:txBody>
      </p:sp>
    </p:spTree>
    <p:extLst>
      <p:ext uri="{BB962C8B-B14F-4D97-AF65-F5344CB8AC3E}">
        <p14:creationId xmlns:p14="http://schemas.microsoft.com/office/powerpoint/2010/main" val="50733067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EBB1C4-3E6B-C3B2-3110-96FD332BA3FC}"/>
              </a:ext>
            </a:extLst>
          </p:cNvPr>
          <p:cNvSpPr>
            <a:spLocks noGrp="1"/>
          </p:cNvSpPr>
          <p:nvPr>
            <p:ph type="title"/>
          </p:nvPr>
        </p:nvSpPr>
        <p:spPr/>
        <p:txBody>
          <a:bodyPr/>
          <a:lstStyle/>
          <a:p>
            <a:r>
              <a:rPr lang="en-US" altLang="ja-GB" dirty="0"/>
              <a:t>10</a:t>
            </a:r>
            <a:r>
              <a:rPr lang="ja-GB" altLang="en-US" dirty="0"/>
              <a:t>進数</a:t>
            </a:r>
            <a:r>
              <a:rPr lang="en-US" altLang="ja-GB" dirty="0"/>
              <a:t>→16</a:t>
            </a:r>
            <a:r>
              <a:rPr lang="ja-GB" altLang="en-US" dirty="0"/>
              <a:t>進数変換を説明する</a:t>
            </a:r>
            <a:r>
              <a:rPr lang="en-US" altLang="ja-GB" dirty="0"/>
              <a:t>web</a:t>
            </a:r>
            <a:r>
              <a:rPr lang="ja-GB" altLang="en-US" dirty="0"/>
              <a:t>アプリ</a:t>
            </a:r>
            <a:endParaRPr kumimoji="1" lang="ja-GB" altLang="en-US" dirty="0"/>
          </a:p>
        </p:txBody>
      </p:sp>
      <p:pic>
        <p:nvPicPr>
          <p:cNvPr id="6" name="コンテンツ プレースホルダー 5" descr="グラフィカル ユーザー インターフェイス, アプリケーション&#10;&#10;AI 生成コンテンツは誤りを含む可能性があります。">
            <a:extLst>
              <a:ext uri="{FF2B5EF4-FFF2-40B4-BE49-F238E27FC236}">
                <a16:creationId xmlns:a16="http://schemas.microsoft.com/office/drawing/2014/main" id="{B87ECAEB-0622-6E82-6B63-5F76252D1669}"/>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1631246" y="731408"/>
            <a:ext cx="5881507" cy="5758442"/>
          </a:xfrm>
        </p:spPr>
      </p:pic>
      <p:sp>
        <p:nvSpPr>
          <p:cNvPr id="4" name="テキスト ボックス 3">
            <a:extLst>
              <a:ext uri="{FF2B5EF4-FFF2-40B4-BE49-F238E27FC236}">
                <a16:creationId xmlns:a16="http://schemas.microsoft.com/office/drawing/2014/main" id="{5651C678-E2BC-70F0-6C89-E7357E65D8AD}"/>
              </a:ext>
            </a:extLst>
          </p:cNvPr>
          <p:cNvSpPr txBox="1"/>
          <p:nvPr/>
        </p:nvSpPr>
        <p:spPr>
          <a:xfrm>
            <a:off x="972713" y="6326660"/>
            <a:ext cx="7198574" cy="369332"/>
          </a:xfrm>
          <a:prstGeom prst="rect">
            <a:avLst/>
          </a:prstGeom>
          <a:noFill/>
        </p:spPr>
        <p:txBody>
          <a:bodyPr wrap="none" rtlCol="0">
            <a:spAutoFit/>
          </a:bodyPr>
          <a:lstStyle/>
          <a:p>
            <a:r>
              <a:rPr kumimoji="1" lang="en-GB" altLang="ja-GB" dirty="0">
                <a:hlinkClick r:id="rId3"/>
              </a:rPr>
              <a:t>https://claude.ai/public/artifacts/af79b8ae-17da-4597-8c2e-477c036c482f</a:t>
            </a:r>
            <a:r>
              <a:rPr kumimoji="1" lang="en-GB" altLang="ja-GB" dirty="0"/>
              <a:t> </a:t>
            </a:r>
            <a:endParaRPr kumimoji="1" lang="ja-GB" altLang="en-US" dirty="0"/>
          </a:p>
        </p:txBody>
      </p:sp>
    </p:spTree>
    <p:extLst>
      <p:ext uri="{BB962C8B-B14F-4D97-AF65-F5344CB8AC3E}">
        <p14:creationId xmlns:p14="http://schemas.microsoft.com/office/powerpoint/2010/main" val="363043282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1D3B8F-38FA-1B4F-5108-A6D8CEB5BAFF}"/>
              </a:ext>
            </a:extLst>
          </p:cNvPr>
          <p:cNvSpPr>
            <a:spLocks noGrp="1"/>
          </p:cNvSpPr>
          <p:nvPr>
            <p:ph type="title"/>
          </p:nvPr>
        </p:nvSpPr>
        <p:spPr/>
        <p:txBody>
          <a:bodyPr/>
          <a:lstStyle/>
          <a:p>
            <a:r>
              <a:rPr kumimoji="1" lang="ja-GB" altLang="en-US" dirty="0"/>
              <a:t>検算用アプリ</a:t>
            </a:r>
          </a:p>
        </p:txBody>
      </p:sp>
      <p:sp>
        <p:nvSpPr>
          <p:cNvPr id="3" name="コンテンツ プレースホルダー 2">
            <a:extLst>
              <a:ext uri="{FF2B5EF4-FFF2-40B4-BE49-F238E27FC236}">
                <a16:creationId xmlns:a16="http://schemas.microsoft.com/office/drawing/2014/main" id="{52BBFE52-605C-0F23-7BD1-264B9971DBB3}"/>
              </a:ext>
            </a:extLst>
          </p:cNvPr>
          <p:cNvSpPr>
            <a:spLocks noGrp="1"/>
          </p:cNvSpPr>
          <p:nvPr>
            <p:ph idx="1"/>
          </p:nvPr>
        </p:nvSpPr>
        <p:spPr/>
        <p:txBody>
          <a:bodyPr/>
          <a:lstStyle/>
          <a:p>
            <a:endParaRPr lang="ja-GB" altLang="en-US"/>
          </a:p>
        </p:txBody>
      </p:sp>
      <p:pic>
        <p:nvPicPr>
          <p:cNvPr id="4" name="図 3" descr="グラフィカル ユーザー インターフェイス, アプリケーション&#10;&#10;AI 生成コンテンツは誤りを含む可能性があります。">
            <a:extLst>
              <a:ext uri="{FF2B5EF4-FFF2-40B4-BE49-F238E27FC236}">
                <a16:creationId xmlns:a16="http://schemas.microsoft.com/office/drawing/2014/main" id="{F603B264-72B6-63A4-906B-3E01E9E029A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963424" y="921415"/>
            <a:ext cx="5217151" cy="5015169"/>
          </a:xfrm>
          <a:prstGeom prst="rect">
            <a:avLst/>
          </a:prstGeom>
        </p:spPr>
      </p:pic>
      <p:sp>
        <p:nvSpPr>
          <p:cNvPr id="5" name="テキスト ボックス 4">
            <a:extLst>
              <a:ext uri="{FF2B5EF4-FFF2-40B4-BE49-F238E27FC236}">
                <a16:creationId xmlns:a16="http://schemas.microsoft.com/office/drawing/2014/main" id="{9FB338A7-5C31-6CFB-1DB6-D77D1719EC62}"/>
              </a:ext>
            </a:extLst>
          </p:cNvPr>
          <p:cNvSpPr txBox="1"/>
          <p:nvPr/>
        </p:nvSpPr>
        <p:spPr>
          <a:xfrm>
            <a:off x="942833" y="6395991"/>
            <a:ext cx="7258334" cy="369332"/>
          </a:xfrm>
          <a:prstGeom prst="rect">
            <a:avLst/>
          </a:prstGeom>
          <a:noFill/>
        </p:spPr>
        <p:txBody>
          <a:bodyPr wrap="none" rtlCol="0">
            <a:spAutoFit/>
          </a:bodyPr>
          <a:lstStyle/>
          <a:p>
            <a:r>
              <a:rPr kumimoji="1" lang="en-GB" altLang="ja-GB" dirty="0">
                <a:hlinkClick r:id="rId3"/>
              </a:rPr>
              <a:t>https://claude.ai/public/artifacts/41aaac6d-a888-40be-8020-3441e40fc942</a:t>
            </a:r>
            <a:r>
              <a:rPr kumimoji="1" lang="en-GB" altLang="ja-GB" dirty="0"/>
              <a:t> </a:t>
            </a:r>
            <a:endParaRPr kumimoji="1" lang="ja-GB" altLang="en-US" dirty="0"/>
          </a:p>
        </p:txBody>
      </p:sp>
    </p:spTree>
    <p:extLst>
      <p:ext uri="{BB962C8B-B14F-4D97-AF65-F5344CB8AC3E}">
        <p14:creationId xmlns:p14="http://schemas.microsoft.com/office/powerpoint/2010/main" val="643257679"/>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6C5EF-236C-2BDC-05A4-91835F111FE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006666F-8BC2-B910-E3EF-BAA7C99F9C15}"/>
              </a:ext>
            </a:extLst>
          </p:cNvPr>
          <p:cNvSpPr>
            <a:spLocks noGrp="1"/>
          </p:cNvSpPr>
          <p:nvPr>
            <p:ph type="title"/>
          </p:nvPr>
        </p:nvSpPr>
        <p:spPr/>
        <p:txBody>
          <a:bodyPr/>
          <a:lstStyle/>
          <a:p>
            <a:r>
              <a:rPr kumimoji="1" lang="ja-GB" altLang="en-US" dirty="0"/>
              <a:t>演習</a:t>
            </a:r>
          </a:p>
        </p:txBody>
      </p:sp>
      <p:sp>
        <p:nvSpPr>
          <p:cNvPr id="3" name="コンテンツ プレースホルダー 2">
            <a:extLst>
              <a:ext uri="{FF2B5EF4-FFF2-40B4-BE49-F238E27FC236}">
                <a16:creationId xmlns:a16="http://schemas.microsoft.com/office/drawing/2014/main" id="{228054EF-DF68-8D40-45D3-F387C9DDB617}"/>
              </a:ext>
            </a:extLst>
          </p:cNvPr>
          <p:cNvSpPr>
            <a:spLocks noGrp="1"/>
          </p:cNvSpPr>
          <p:nvPr>
            <p:ph idx="1"/>
          </p:nvPr>
        </p:nvSpPr>
        <p:spPr/>
        <p:txBody>
          <a:bodyPr/>
          <a:lstStyle/>
          <a:p>
            <a:pPr marL="0" indent="0">
              <a:buNone/>
            </a:pPr>
            <a:r>
              <a:rPr kumimoji="1" lang="ja-GB" altLang="en-US" dirty="0">
                <a:solidFill>
                  <a:schemeClr val="tx1">
                    <a:lumMod val="50000"/>
                    <a:lumOff val="50000"/>
                  </a:schemeClr>
                </a:solidFill>
              </a:rPr>
              <a:t>問題</a:t>
            </a:r>
            <a:r>
              <a:rPr kumimoji="1" lang="en-US" altLang="ja-GB" dirty="0">
                <a:solidFill>
                  <a:schemeClr val="tx1">
                    <a:lumMod val="50000"/>
                    <a:lumOff val="50000"/>
                  </a:schemeClr>
                </a:solidFill>
              </a:rPr>
              <a:t>1</a:t>
            </a:r>
            <a:r>
              <a:rPr kumimoji="1" lang="ja-GB" altLang="en-US" dirty="0">
                <a:solidFill>
                  <a:schemeClr val="tx1">
                    <a:lumMod val="50000"/>
                    <a:lumOff val="50000"/>
                  </a:schemeClr>
                </a:solidFill>
              </a:rPr>
              <a:t>：加算回路での演算</a:t>
            </a:r>
            <a:endParaRPr kumimoji="1" lang="en-US" altLang="ja-GB" dirty="0">
              <a:solidFill>
                <a:schemeClr val="tx1">
                  <a:lumMod val="50000"/>
                  <a:lumOff val="50000"/>
                </a:schemeClr>
              </a:solidFill>
            </a:endParaRPr>
          </a:p>
          <a:p>
            <a:pPr lvl="1"/>
            <a:endParaRPr kumimoji="1" lang="en-US" altLang="ja-GB" dirty="0">
              <a:solidFill>
                <a:schemeClr val="tx1">
                  <a:lumMod val="50000"/>
                  <a:lumOff val="50000"/>
                </a:schemeClr>
              </a:solidFill>
            </a:endParaRPr>
          </a:p>
          <a:p>
            <a:pPr marL="0" indent="0">
              <a:buNone/>
            </a:pPr>
            <a:r>
              <a:rPr lang="ja-GB" altLang="en-US" dirty="0">
                <a:solidFill>
                  <a:schemeClr val="tx1">
                    <a:lumMod val="50000"/>
                    <a:lumOff val="50000"/>
                  </a:schemeClr>
                </a:solidFill>
              </a:rPr>
              <a:t>問題</a:t>
            </a:r>
            <a:r>
              <a:rPr lang="en-US" altLang="ja-GB" dirty="0">
                <a:solidFill>
                  <a:schemeClr val="tx1">
                    <a:lumMod val="50000"/>
                    <a:lumOff val="50000"/>
                  </a:schemeClr>
                </a:solidFill>
              </a:rPr>
              <a:t>2</a:t>
            </a:r>
            <a:r>
              <a:rPr lang="ja-GB" altLang="en-US" dirty="0">
                <a:solidFill>
                  <a:schemeClr val="tx1">
                    <a:lumMod val="50000"/>
                    <a:lumOff val="50000"/>
                  </a:schemeClr>
                </a:solidFill>
              </a:rPr>
              <a:t>：カラーコード</a:t>
            </a:r>
            <a:endParaRPr lang="en-US" altLang="ja-GB" dirty="0">
              <a:solidFill>
                <a:schemeClr val="tx1">
                  <a:lumMod val="50000"/>
                  <a:lumOff val="50000"/>
                </a:schemeClr>
              </a:solidFill>
            </a:endParaRPr>
          </a:p>
          <a:p>
            <a:pPr lvl="1"/>
            <a:endParaRPr lang="en-US" altLang="ja-GB" dirty="0"/>
          </a:p>
          <a:p>
            <a:pPr marL="0" indent="0">
              <a:buNone/>
            </a:pPr>
            <a:r>
              <a:rPr kumimoji="1" lang="ja-GB" altLang="en-US" dirty="0"/>
              <a:t>問題</a:t>
            </a:r>
            <a:r>
              <a:rPr kumimoji="1" lang="en-US" altLang="ja-GB" dirty="0"/>
              <a:t>3</a:t>
            </a:r>
            <a:r>
              <a:rPr kumimoji="1" lang="ja-GB" altLang="en-US" dirty="0"/>
              <a:t>：論理演算（集合演算）</a:t>
            </a:r>
            <a:endParaRPr kumimoji="1" lang="en-US" altLang="ja-GB" dirty="0"/>
          </a:p>
          <a:p>
            <a:pPr lvl="1"/>
            <a:endParaRPr kumimoji="1" lang="en-US" altLang="ja-GB" dirty="0"/>
          </a:p>
          <a:p>
            <a:pPr marL="0" indent="0">
              <a:buNone/>
            </a:pPr>
            <a:r>
              <a:rPr lang="ja-GB" altLang="en-US" dirty="0">
                <a:solidFill>
                  <a:schemeClr val="tx1">
                    <a:lumMod val="50000"/>
                    <a:lumOff val="50000"/>
                  </a:schemeClr>
                </a:solidFill>
              </a:rPr>
              <a:t>問題</a:t>
            </a:r>
            <a:r>
              <a:rPr lang="en-US" altLang="ja-GB" dirty="0">
                <a:solidFill>
                  <a:schemeClr val="tx1">
                    <a:lumMod val="50000"/>
                    <a:lumOff val="50000"/>
                  </a:schemeClr>
                </a:solidFill>
              </a:rPr>
              <a:t>4</a:t>
            </a:r>
            <a:r>
              <a:rPr lang="ja-GB" altLang="en-US" dirty="0">
                <a:solidFill>
                  <a:schemeClr val="tx1">
                    <a:lumMod val="50000"/>
                    <a:lumOff val="50000"/>
                  </a:schemeClr>
                </a:solidFill>
              </a:rPr>
              <a:t>：サブネットマスク</a:t>
            </a:r>
            <a:endParaRPr lang="en-US" altLang="ja-GB" dirty="0">
              <a:solidFill>
                <a:schemeClr val="tx1">
                  <a:lumMod val="50000"/>
                  <a:lumOff val="50000"/>
                </a:schemeClr>
              </a:solidFill>
            </a:endParaRPr>
          </a:p>
          <a:p>
            <a:pPr lvl="1"/>
            <a:endParaRPr kumimoji="1" lang="ja-GB" altLang="en-US" dirty="0"/>
          </a:p>
        </p:txBody>
      </p:sp>
    </p:spTree>
    <p:extLst>
      <p:ext uri="{BB962C8B-B14F-4D97-AF65-F5344CB8AC3E}">
        <p14:creationId xmlns:p14="http://schemas.microsoft.com/office/powerpoint/2010/main" val="365044885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7863-7325-4715-7286-5717B97014B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E2E00C5-C4F0-3BA4-0B88-AD21C2BF15CB}"/>
              </a:ext>
            </a:extLst>
          </p:cNvPr>
          <p:cNvSpPr>
            <a:spLocks noGrp="1"/>
          </p:cNvSpPr>
          <p:nvPr>
            <p:ph type="title"/>
          </p:nvPr>
        </p:nvSpPr>
        <p:spPr/>
        <p:txBody>
          <a:bodyPr/>
          <a:lstStyle/>
          <a:p>
            <a:r>
              <a:rPr kumimoji="1" lang="ja-GB" altLang="en-US" dirty="0"/>
              <a:t>ヒント</a:t>
            </a:r>
          </a:p>
        </p:txBody>
      </p:sp>
      <p:sp>
        <p:nvSpPr>
          <p:cNvPr id="3" name="コンテンツ プレースホルダー 2">
            <a:extLst>
              <a:ext uri="{FF2B5EF4-FFF2-40B4-BE49-F238E27FC236}">
                <a16:creationId xmlns:a16="http://schemas.microsoft.com/office/drawing/2014/main" id="{79401E84-85B3-9D9A-8874-D7AA393A897C}"/>
              </a:ext>
            </a:extLst>
          </p:cNvPr>
          <p:cNvSpPr>
            <a:spLocks noGrp="1"/>
          </p:cNvSpPr>
          <p:nvPr>
            <p:ph idx="1"/>
          </p:nvPr>
        </p:nvSpPr>
        <p:spPr/>
        <p:txBody>
          <a:bodyPr/>
          <a:lstStyle/>
          <a:p>
            <a:pPr marL="0" indent="0">
              <a:buNone/>
            </a:pPr>
            <a:r>
              <a:rPr kumimoji="1" lang="ja-GB" altLang="en-US" dirty="0"/>
              <a:t>差集合：</a:t>
            </a:r>
            <a:r>
              <a:rPr lang="en-US" altLang="ja-GB" dirty="0"/>
              <a:t>X</a:t>
            </a:r>
            <a:r>
              <a:rPr kumimoji="1" lang="en-US" altLang="ja-GB" dirty="0"/>
              <a:t>-Y</a:t>
            </a:r>
          </a:p>
          <a:p>
            <a:pPr lvl="1"/>
            <a:r>
              <a:rPr lang="ja-GB" altLang="en-US" dirty="0"/>
              <a:t>集合</a:t>
            </a:r>
            <a:r>
              <a:rPr lang="en-US" altLang="ja-GB" dirty="0"/>
              <a:t>X</a:t>
            </a:r>
            <a:r>
              <a:rPr lang="ja-GB" altLang="en-US" dirty="0"/>
              <a:t>から，集合</a:t>
            </a:r>
            <a:r>
              <a:rPr lang="en-US" altLang="ja-GB" dirty="0"/>
              <a:t>Y</a:t>
            </a:r>
            <a:r>
              <a:rPr lang="ja-GB" altLang="en-US" dirty="0"/>
              <a:t>を引いた集合のこと</a:t>
            </a:r>
            <a:endParaRPr lang="en-US" altLang="ja-GB" dirty="0"/>
          </a:p>
          <a:p>
            <a:pPr lvl="1"/>
            <a:r>
              <a:rPr lang="ja-GB" altLang="en-US" dirty="0"/>
              <a:t>例）数学履修者（</a:t>
            </a:r>
            <a:r>
              <a:rPr lang="en-US" altLang="ja-GB" dirty="0"/>
              <a:t>X</a:t>
            </a:r>
            <a:r>
              <a:rPr lang="ja-GB" altLang="en-US" dirty="0"/>
              <a:t>）であり，英語履修者</a:t>
            </a:r>
            <a:r>
              <a:rPr lang="en-US" altLang="ja-GB" dirty="0"/>
              <a:t>(Y)</a:t>
            </a:r>
            <a:r>
              <a:rPr lang="ja-GB" altLang="en-US" dirty="0"/>
              <a:t>でない生徒の名簿を作る</a:t>
            </a:r>
            <a:endParaRPr lang="en-US" altLang="ja-GB" dirty="0"/>
          </a:p>
          <a:p>
            <a:pPr marL="914400" lvl="2" indent="0">
              <a:buNone/>
            </a:pPr>
            <a:r>
              <a:rPr kumimoji="1" lang="en-US" altLang="ja-GB" dirty="0"/>
              <a:t>→ “X” </a:t>
            </a:r>
            <a:r>
              <a:rPr lang="ja-GB" altLang="en-US" dirty="0"/>
              <a:t>かつ</a:t>
            </a:r>
            <a:r>
              <a:rPr lang="en-US" altLang="ja-GB" dirty="0"/>
              <a:t> “not Y</a:t>
            </a:r>
            <a:r>
              <a:rPr kumimoji="1" lang="en-US" altLang="ja-GB" dirty="0"/>
              <a:t>”</a:t>
            </a:r>
          </a:p>
          <a:p>
            <a:pPr lvl="1"/>
            <a:endParaRPr kumimoji="1" lang="ja-GB" altLang="en-US" dirty="0"/>
          </a:p>
        </p:txBody>
      </p:sp>
      <p:sp>
        <p:nvSpPr>
          <p:cNvPr id="13" name="円/楕円 12">
            <a:extLst>
              <a:ext uri="{FF2B5EF4-FFF2-40B4-BE49-F238E27FC236}">
                <a16:creationId xmlns:a16="http://schemas.microsoft.com/office/drawing/2014/main" id="{6A68C900-508A-054E-8DE1-93E3833C4E56}"/>
              </a:ext>
            </a:extLst>
          </p:cNvPr>
          <p:cNvSpPr>
            <a:spLocks noChangeAspect="1"/>
          </p:cNvSpPr>
          <p:nvPr/>
        </p:nvSpPr>
        <p:spPr>
          <a:xfrm>
            <a:off x="674806" y="2382051"/>
            <a:ext cx="1407223" cy="1407223"/>
          </a:xfrm>
          <a:prstGeom prst="ellipse">
            <a:avLst/>
          </a:prstGeom>
          <a:solidFill>
            <a:schemeClr val="accent4">
              <a:alpha val="3997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14" name="円/楕円 13">
            <a:extLst>
              <a:ext uri="{FF2B5EF4-FFF2-40B4-BE49-F238E27FC236}">
                <a16:creationId xmlns:a16="http://schemas.microsoft.com/office/drawing/2014/main" id="{B0880B95-E80A-050C-A279-FBD8ACE7D494}"/>
              </a:ext>
            </a:extLst>
          </p:cNvPr>
          <p:cNvSpPr>
            <a:spLocks noChangeAspect="1"/>
          </p:cNvSpPr>
          <p:nvPr/>
        </p:nvSpPr>
        <p:spPr>
          <a:xfrm>
            <a:off x="1442704" y="2386243"/>
            <a:ext cx="1407223" cy="1407223"/>
          </a:xfrm>
          <a:prstGeom prst="ellipse">
            <a:avLst/>
          </a:prstGeom>
          <a:solidFill>
            <a:schemeClr val="bg2">
              <a:lumMod val="90000"/>
              <a:alpha val="6696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8" name="フリーフォーム 17">
            <a:extLst>
              <a:ext uri="{FF2B5EF4-FFF2-40B4-BE49-F238E27FC236}">
                <a16:creationId xmlns:a16="http://schemas.microsoft.com/office/drawing/2014/main" id="{FBDAC599-FA1A-C9D7-F06D-302872C2CDB2}"/>
              </a:ext>
            </a:extLst>
          </p:cNvPr>
          <p:cNvSpPr>
            <a:spLocks noChangeAspect="1"/>
          </p:cNvSpPr>
          <p:nvPr/>
        </p:nvSpPr>
        <p:spPr>
          <a:xfrm>
            <a:off x="674805" y="2377859"/>
            <a:ext cx="1091423" cy="1407224"/>
          </a:xfrm>
          <a:custGeom>
            <a:avLst/>
            <a:gdLst>
              <a:gd name="connsiteX0" fmla="*/ 703612 w 1091423"/>
              <a:gd name="connsiteY0" fmla="*/ 0 h 1407224"/>
              <a:gd name="connsiteX1" fmla="*/ 977489 w 1091423"/>
              <a:gd name="connsiteY1" fmla="*/ 55293 h 1407224"/>
              <a:gd name="connsiteX2" fmla="*/ 1091423 w 1091423"/>
              <a:gd name="connsiteY2" fmla="*/ 117134 h 1407224"/>
              <a:gd name="connsiteX3" fmla="*/ 1078114 w 1091423"/>
              <a:gd name="connsiteY3" fmla="*/ 124358 h 1407224"/>
              <a:gd name="connsiteX4" fmla="*/ 767898 w 1091423"/>
              <a:gd name="connsiteY4" fmla="*/ 707804 h 1407224"/>
              <a:gd name="connsiteX5" fmla="*/ 1078114 w 1091423"/>
              <a:gd name="connsiteY5" fmla="*/ 1291250 h 1407224"/>
              <a:gd name="connsiteX6" fmla="*/ 1083700 w 1091423"/>
              <a:gd name="connsiteY6" fmla="*/ 1294282 h 1407224"/>
              <a:gd name="connsiteX7" fmla="*/ 977489 w 1091423"/>
              <a:gd name="connsiteY7" fmla="*/ 1351931 h 1407224"/>
              <a:gd name="connsiteX8" fmla="*/ 703612 w 1091423"/>
              <a:gd name="connsiteY8" fmla="*/ 1407224 h 1407224"/>
              <a:gd name="connsiteX9" fmla="*/ 0 w 1091423"/>
              <a:gd name="connsiteY9" fmla="*/ 703612 h 1407224"/>
              <a:gd name="connsiteX10" fmla="*/ 703612 w 1091423"/>
              <a:gd name="connsiteY10" fmla="*/ 0 h 1407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91423" h="1407224">
                <a:moveTo>
                  <a:pt x="703612" y="0"/>
                </a:moveTo>
                <a:cubicBezTo>
                  <a:pt x="800761" y="0"/>
                  <a:pt x="893311" y="19689"/>
                  <a:pt x="977489" y="55293"/>
                </a:cubicBezTo>
                <a:lnTo>
                  <a:pt x="1091423" y="117134"/>
                </a:lnTo>
                <a:lnTo>
                  <a:pt x="1078114" y="124358"/>
                </a:lnTo>
                <a:cubicBezTo>
                  <a:pt x="890952" y="250802"/>
                  <a:pt x="767898" y="464933"/>
                  <a:pt x="767898" y="707804"/>
                </a:cubicBezTo>
                <a:cubicBezTo>
                  <a:pt x="767898" y="950675"/>
                  <a:pt x="890952" y="1164806"/>
                  <a:pt x="1078114" y="1291250"/>
                </a:cubicBezTo>
                <a:lnTo>
                  <a:pt x="1083700" y="1294282"/>
                </a:lnTo>
                <a:lnTo>
                  <a:pt x="977489" y="1351931"/>
                </a:lnTo>
                <a:cubicBezTo>
                  <a:pt x="893311" y="1387536"/>
                  <a:pt x="800761" y="1407224"/>
                  <a:pt x="703612" y="1407224"/>
                </a:cubicBezTo>
                <a:cubicBezTo>
                  <a:pt x="315018" y="1407224"/>
                  <a:pt x="0" y="1092206"/>
                  <a:pt x="0" y="703612"/>
                </a:cubicBezTo>
                <a:cubicBezTo>
                  <a:pt x="0" y="315018"/>
                  <a:pt x="315018" y="0"/>
                  <a:pt x="703612" y="0"/>
                </a:cubicBezTo>
                <a:close/>
              </a:path>
            </a:pathLst>
          </a:custGeom>
          <a:noFill/>
          <a:ln w="762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GB" altLang="en-US"/>
          </a:p>
        </p:txBody>
      </p:sp>
      <p:sp>
        <p:nvSpPr>
          <p:cNvPr id="20" name="テキスト ボックス 19">
            <a:extLst>
              <a:ext uri="{FF2B5EF4-FFF2-40B4-BE49-F238E27FC236}">
                <a16:creationId xmlns:a16="http://schemas.microsoft.com/office/drawing/2014/main" id="{383688BB-C6A9-2609-DBC1-CAFCFC783F0B}"/>
              </a:ext>
            </a:extLst>
          </p:cNvPr>
          <p:cNvSpPr txBox="1"/>
          <p:nvPr/>
        </p:nvSpPr>
        <p:spPr>
          <a:xfrm>
            <a:off x="820609" y="2859021"/>
            <a:ext cx="586956" cy="461665"/>
          </a:xfrm>
          <a:prstGeom prst="rect">
            <a:avLst/>
          </a:prstGeom>
          <a:noFill/>
        </p:spPr>
        <p:txBody>
          <a:bodyPr wrap="none" rtlCol="0">
            <a:spAutoFit/>
          </a:bodyPr>
          <a:lstStyle/>
          <a:p>
            <a:pPr algn="r"/>
            <a:r>
              <a:rPr kumimoji="1" lang="en-US" altLang="ja-GB" sz="2400" b="1" dirty="0">
                <a:solidFill>
                  <a:srgbClr val="002060"/>
                </a:solidFill>
              </a:rPr>
              <a:t>X-Y</a:t>
            </a:r>
            <a:endParaRPr kumimoji="1" lang="ja-GB" altLang="en-US" sz="2400" b="1" dirty="0">
              <a:solidFill>
                <a:srgbClr val="002060"/>
              </a:solidFill>
            </a:endParaRPr>
          </a:p>
        </p:txBody>
      </p:sp>
      <p:sp>
        <p:nvSpPr>
          <p:cNvPr id="21" name="テキスト ボックス 20">
            <a:extLst>
              <a:ext uri="{FF2B5EF4-FFF2-40B4-BE49-F238E27FC236}">
                <a16:creationId xmlns:a16="http://schemas.microsoft.com/office/drawing/2014/main" id="{1E963766-3B6B-E2D8-8746-322ED8852013}"/>
              </a:ext>
            </a:extLst>
          </p:cNvPr>
          <p:cNvSpPr txBox="1"/>
          <p:nvPr/>
        </p:nvSpPr>
        <p:spPr>
          <a:xfrm>
            <a:off x="483722" y="3579709"/>
            <a:ext cx="439544" cy="646331"/>
          </a:xfrm>
          <a:prstGeom prst="rect">
            <a:avLst/>
          </a:prstGeom>
          <a:noFill/>
        </p:spPr>
        <p:txBody>
          <a:bodyPr wrap="none" rtlCol="0">
            <a:spAutoFit/>
          </a:bodyPr>
          <a:lstStyle/>
          <a:p>
            <a:r>
              <a:rPr kumimoji="1" lang="en-US" altLang="ja-GB" sz="3600" b="1" dirty="0">
                <a:solidFill>
                  <a:srgbClr val="FFC000"/>
                </a:solidFill>
              </a:rPr>
              <a:t>X</a:t>
            </a:r>
            <a:endParaRPr kumimoji="1" lang="ja-GB" altLang="en-US" sz="3600" b="1" dirty="0">
              <a:solidFill>
                <a:srgbClr val="FFC000"/>
              </a:solidFill>
            </a:endParaRPr>
          </a:p>
        </p:txBody>
      </p:sp>
      <p:sp>
        <p:nvSpPr>
          <p:cNvPr id="22" name="テキスト ボックス 21">
            <a:extLst>
              <a:ext uri="{FF2B5EF4-FFF2-40B4-BE49-F238E27FC236}">
                <a16:creationId xmlns:a16="http://schemas.microsoft.com/office/drawing/2014/main" id="{801FB739-08B7-3FB7-766A-E4567F24B4F6}"/>
              </a:ext>
            </a:extLst>
          </p:cNvPr>
          <p:cNvSpPr txBox="1"/>
          <p:nvPr/>
        </p:nvSpPr>
        <p:spPr>
          <a:xfrm>
            <a:off x="2394485" y="3579708"/>
            <a:ext cx="425116" cy="646331"/>
          </a:xfrm>
          <a:prstGeom prst="rect">
            <a:avLst/>
          </a:prstGeom>
          <a:noFill/>
        </p:spPr>
        <p:txBody>
          <a:bodyPr wrap="none" rtlCol="0">
            <a:spAutoFit/>
          </a:bodyPr>
          <a:lstStyle/>
          <a:p>
            <a:r>
              <a:rPr kumimoji="1" lang="en-US" altLang="ja-GB" sz="3600" b="1" dirty="0">
                <a:solidFill>
                  <a:schemeClr val="tx1">
                    <a:lumMod val="50000"/>
                    <a:lumOff val="50000"/>
                  </a:schemeClr>
                </a:solidFill>
              </a:rPr>
              <a:t>Y</a:t>
            </a:r>
            <a:endParaRPr kumimoji="1" lang="ja-GB" altLang="en-US" sz="3600" b="1" dirty="0">
              <a:solidFill>
                <a:schemeClr val="tx1">
                  <a:lumMod val="50000"/>
                  <a:lumOff val="50000"/>
                </a:schemeClr>
              </a:solidFill>
            </a:endParaRPr>
          </a:p>
        </p:txBody>
      </p:sp>
    </p:spTree>
    <p:extLst>
      <p:ext uri="{BB962C8B-B14F-4D97-AF65-F5344CB8AC3E}">
        <p14:creationId xmlns:p14="http://schemas.microsoft.com/office/powerpoint/2010/main" val="1153172054"/>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53C7C2-562A-C741-9349-1FFE322BE597}"/>
              </a:ext>
            </a:extLst>
          </p:cNvPr>
          <p:cNvSpPr>
            <a:spLocks noGrp="1"/>
          </p:cNvSpPr>
          <p:nvPr>
            <p:ph type="title"/>
          </p:nvPr>
        </p:nvSpPr>
        <p:spPr/>
        <p:txBody>
          <a:bodyPr/>
          <a:lstStyle/>
          <a:p>
            <a:r>
              <a:rPr kumimoji="1" lang="ja-GB" altLang="en-US" dirty="0"/>
              <a:t>ヒント</a:t>
            </a:r>
          </a:p>
        </p:txBody>
      </p:sp>
      <p:sp>
        <p:nvSpPr>
          <p:cNvPr id="3" name="コンテンツ プレースホルダー 2">
            <a:extLst>
              <a:ext uri="{FF2B5EF4-FFF2-40B4-BE49-F238E27FC236}">
                <a16:creationId xmlns:a16="http://schemas.microsoft.com/office/drawing/2014/main" id="{3661D00A-281C-A37D-D2CA-6D7F6DB41A53}"/>
              </a:ext>
            </a:extLst>
          </p:cNvPr>
          <p:cNvSpPr>
            <a:spLocks noGrp="1"/>
          </p:cNvSpPr>
          <p:nvPr>
            <p:ph idx="1"/>
          </p:nvPr>
        </p:nvSpPr>
        <p:spPr/>
        <p:txBody>
          <a:bodyPr/>
          <a:lstStyle/>
          <a:p>
            <a:pPr marL="0" indent="0">
              <a:buNone/>
            </a:pPr>
            <a:r>
              <a:rPr kumimoji="1" lang="ja-GB" altLang="en-US" dirty="0"/>
              <a:t>差集合：</a:t>
            </a:r>
            <a:r>
              <a:rPr lang="en-US" altLang="ja-GB" dirty="0"/>
              <a:t>X</a:t>
            </a:r>
            <a:r>
              <a:rPr kumimoji="1" lang="en-US" altLang="ja-GB" dirty="0"/>
              <a:t>-Y</a:t>
            </a:r>
          </a:p>
          <a:p>
            <a:pPr lvl="1"/>
            <a:r>
              <a:rPr lang="ja-GB" altLang="en-US" dirty="0"/>
              <a:t>集合</a:t>
            </a:r>
            <a:r>
              <a:rPr lang="en-US" altLang="ja-GB" dirty="0"/>
              <a:t>X</a:t>
            </a:r>
            <a:r>
              <a:rPr lang="ja-GB" altLang="en-US" dirty="0"/>
              <a:t>から，集合</a:t>
            </a:r>
            <a:r>
              <a:rPr lang="en-US" altLang="ja-GB" dirty="0"/>
              <a:t>Y</a:t>
            </a:r>
            <a:r>
              <a:rPr lang="ja-GB" altLang="en-US" dirty="0"/>
              <a:t>を引いた集合のこと</a:t>
            </a:r>
            <a:endParaRPr lang="en-US" altLang="ja-GB" dirty="0"/>
          </a:p>
          <a:p>
            <a:pPr lvl="1"/>
            <a:r>
              <a:rPr lang="ja-GB" altLang="en-US" dirty="0"/>
              <a:t>例）数学履修者（</a:t>
            </a:r>
            <a:r>
              <a:rPr lang="en-US" altLang="ja-GB" dirty="0"/>
              <a:t>X</a:t>
            </a:r>
            <a:r>
              <a:rPr lang="ja-GB" altLang="en-US" dirty="0"/>
              <a:t>）であり，英語履修者</a:t>
            </a:r>
            <a:r>
              <a:rPr lang="en-US" altLang="ja-GB" dirty="0"/>
              <a:t>(Y)</a:t>
            </a:r>
            <a:r>
              <a:rPr lang="ja-GB" altLang="en-US" dirty="0"/>
              <a:t>でない生徒の名簿を作る</a:t>
            </a:r>
            <a:endParaRPr lang="en-US" altLang="ja-GB" dirty="0"/>
          </a:p>
          <a:p>
            <a:pPr marL="914400" lvl="2" indent="0">
              <a:buNone/>
            </a:pPr>
            <a:r>
              <a:rPr kumimoji="1" lang="en-US" altLang="ja-GB" dirty="0"/>
              <a:t>→ “X” </a:t>
            </a:r>
            <a:r>
              <a:rPr lang="ja-GB" altLang="en-US" dirty="0"/>
              <a:t>かつ</a:t>
            </a:r>
            <a:r>
              <a:rPr lang="en-US" altLang="ja-GB" dirty="0"/>
              <a:t> “not Y</a:t>
            </a:r>
            <a:r>
              <a:rPr kumimoji="1" lang="en-US" altLang="ja-GB" dirty="0"/>
              <a:t>”</a:t>
            </a:r>
          </a:p>
          <a:p>
            <a:pPr lvl="1"/>
            <a:endParaRPr kumimoji="1" lang="ja-GB" altLang="en-US" dirty="0"/>
          </a:p>
        </p:txBody>
      </p:sp>
      <p:sp>
        <p:nvSpPr>
          <p:cNvPr id="13" name="円/楕円 12">
            <a:extLst>
              <a:ext uri="{FF2B5EF4-FFF2-40B4-BE49-F238E27FC236}">
                <a16:creationId xmlns:a16="http://schemas.microsoft.com/office/drawing/2014/main" id="{D37773A9-13F6-64BA-B993-196A6B839E7C}"/>
              </a:ext>
            </a:extLst>
          </p:cNvPr>
          <p:cNvSpPr>
            <a:spLocks noChangeAspect="1"/>
          </p:cNvSpPr>
          <p:nvPr/>
        </p:nvSpPr>
        <p:spPr>
          <a:xfrm>
            <a:off x="674806" y="2382051"/>
            <a:ext cx="1407223" cy="1407223"/>
          </a:xfrm>
          <a:prstGeom prst="ellipse">
            <a:avLst/>
          </a:prstGeom>
          <a:solidFill>
            <a:schemeClr val="accent4">
              <a:alpha val="3997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14" name="円/楕円 13">
            <a:extLst>
              <a:ext uri="{FF2B5EF4-FFF2-40B4-BE49-F238E27FC236}">
                <a16:creationId xmlns:a16="http://schemas.microsoft.com/office/drawing/2014/main" id="{355C93AA-FE64-CCF4-24D6-07C9747206D3}"/>
              </a:ext>
            </a:extLst>
          </p:cNvPr>
          <p:cNvSpPr>
            <a:spLocks noChangeAspect="1"/>
          </p:cNvSpPr>
          <p:nvPr/>
        </p:nvSpPr>
        <p:spPr>
          <a:xfrm>
            <a:off x="1442704" y="2386243"/>
            <a:ext cx="1407223" cy="1407223"/>
          </a:xfrm>
          <a:prstGeom prst="ellipse">
            <a:avLst/>
          </a:prstGeom>
          <a:solidFill>
            <a:schemeClr val="bg2">
              <a:lumMod val="90000"/>
              <a:alpha val="6696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8" name="フリーフォーム 17">
            <a:extLst>
              <a:ext uri="{FF2B5EF4-FFF2-40B4-BE49-F238E27FC236}">
                <a16:creationId xmlns:a16="http://schemas.microsoft.com/office/drawing/2014/main" id="{42263D29-103A-6E32-C110-CC8C708CFF12}"/>
              </a:ext>
            </a:extLst>
          </p:cNvPr>
          <p:cNvSpPr>
            <a:spLocks noChangeAspect="1"/>
          </p:cNvSpPr>
          <p:nvPr/>
        </p:nvSpPr>
        <p:spPr>
          <a:xfrm>
            <a:off x="674805" y="2377859"/>
            <a:ext cx="1091423" cy="1407224"/>
          </a:xfrm>
          <a:custGeom>
            <a:avLst/>
            <a:gdLst>
              <a:gd name="connsiteX0" fmla="*/ 703612 w 1091423"/>
              <a:gd name="connsiteY0" fmla="*/ 0 h 1407224"/>
              <a:gd name="connsiteX1" fmla="*/ 977489 w 1091423"/>
              <a:gd name="connsiteY1" fmla="*/ 55293 h 1407224"/>
              <a:gd name="connsiteX2" fmla="*/ 1091423 w 1091423"/>
              <a:gd name="connsiteY2" fmla="*/ 117134 h 1407224"/>
              <a:gd name="connsiteX3" fmla="*/ 1078114 w 1091423"/>
              <a:gd name="connsiteY3" fmla="*/ 124358 h 1407224"/>
              <a:gd name="connsiteX4" fmla="*/ 767898 w 1091423"/>
              <a:gd name="connsiteY4" fmla="*/ 707804 h 1407224"/>
              <a:gd name="connsiteX5" fmla="*/ 1078114 w 1091423"/>
              <a:gd name="connsiteY5" fmla="*/ 1291250 h 1407224"/>
              <a:gd name="connsiteX6" fmla="*/ 1083700 w 1091423"/>
              <a:gd name="connsiteY6" fmla="*/ 1294282 h 1407224"/>
              <a:gd name="connsiteX7" fmla="*/ 977489 w 1091423"/>
              <a:gd name="connsiteY7" fmla="*/ 1351931 h 1407224"/>
              <a:gd name="connsiteX8" fmla="*/ 703612 w 1091423"/>
              <a:gd name="connsiteY8" fmla="*/ 1407224 h 1407224"/>
              <a:gd name="connsiteX9" fmla="*/ 0 w 1091423"/>
              <a:gd name="connsiteY9" fmla="*/ 703612 h 1407224"/>
              <a:gd name="connsiteX10" fmla="*/ 703612 w 1091423"/>
              <a:gd name="connsiteY10" fmla="*/ 0 h 1407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91423" h="1407224">
                <a:moveTo>
                  <a:pt x="703612" y="0"/>
                </a:moveTo>
                <a:cubicBezTo>
                  <a:pt x="800761" y="0"/>
                  <a:pt x="893311" y="19689"/>
                  <a:pt x="977489" y="55293"/>
                </a:cubicBezTo>
                <a:lnTo>
                  <a:pt x="1091423" y="117134"/>
                </a:lnTo>
                <a:lnTo>
                  <a:pt x="1078114" y="124358"/>
                </a:lnTo>
                <a:cubicBezTo>
                  <a:pt x="890952" y="250802"/>
                  <a:pt x="767898" y="464933"/>
                  <a:pt x="767898" y="707804"/>
                </a:cubicBezTo>
                <a:cubicBezTo>
                  <a:pt x="767898" y="950675"/>
                  <a:pt x="890952" y="1164806"/>
                  <a:pt x="1078114" y="1291250"/>
                </a:cubicBezTo>
                <a:lnTo>
                  <a:pt x="1083700" y="1294282"/>
                </a:lnTo>
                <a:lnTo>
                  <a:pt x="977489" y="1351931"/>
                </a:lnTo>
                <a:cubicBezTo>
                  <a:pt x="893311" y="1387536"/>
                  <a:pt x="800761" y="1407224"/>
                  <a:pt x="703612" y="1407224"/>
                </a:cubicBezTo>
                <a:cubicBezTo>
                  <a:pt x="315018" y="1407224"/>
                  <a:pt x="0" y="1092206"/>
                  <a:pt x="0" y="703612"/>
                </a:cubicBezTo>
                <a:cubicBezTo>
                  <a:pt x="0" y="315018"/>
                  <a:pt x="315018" y="0"/>
                  <a:pt x="703612" y="0"/>
                </a:cubicBezTo>
                <a:close/>
              </a:path>
            </a:pathLst>
          </a:custGeom>
          <a:noFill/>
          <a:ln w="762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GB" altLang="en-US"/>
          </a:p>
        </p:txBody>
      </p:sp>
      <p:sp>
        <p:nvSpPr>
          <p:cNvPr id="20" name="テキスト ボックス 19">
            <a:extLst>
              <a:ext uri="{FF2B5EF4-FFF2-40B4-BE49-F238E27FC236}">
                <a16:creationId xmlns:a16="http://schemas.microsoft.com/office/drawing/2014/main" id="{F224D59D-5F68-471E-C800-ACD246CCC30F}"/>
              </a:ext>
            </a:extLst>
          </p:cNvPr>
          <p:cNvSpPr txBox="1"/>
          <p:nvPr/>
        </p:nvSpPr>
        <p:spPr>
          <a:xfrm>
            <a:off x="820609" y="2859021"/>
            <a:ext cx="586956" cy="461665"/>
          </a:xfrm>
          <a:prstGeom prst="rect">
            <a:avLst/>
          </a:prstGeom>
          <a:noFill/>
        </p:spPr>
        <p:txBody>
          <a:bodyPr wrap="none" rtlCol="0">
            <a:spAutoFit/>
          </a:bodyPr>
          <a:lstStyle/>
          <a:p>
            <a:pPr algn="r"/>
            <a:r>
              <a:rPr kumimoji="1" lang="en-US" altLang="ja-GB" sz="2400" b="1" dirty="0">
                <a:solidFill>
                  <a:srgbClr val="002060"/>
                </a:solidFill>
              </a:rPr>
              <a:t>X-Y</a:t>
            </a:r>
            <a:endParaRPr kumimoji="1" lang="ja-GB" altLang="en-US" sz="2400" b="1" dirty="0">
              <a:solidFill>
                <a:srgbClr val="002060"/>
              </a:solidFill>
            </a:endParaRPr>
          </a:p>
        </p:txBody>
      </p:sp>
      <p:sp>
        <p:nvSpPr>
          <p:cNvPr id="21" name="テキスト ボックス 20">
            <a:extLst>
              <a:ext uri="{FF2B5EF4-FFF2-40B4-BE49-F238E27FC236}">
                <a16:creationId xmlns:a16="http://schemas.microsoft.com/office/drawing/2014/main" id="{F1FA7088-C042-824B-E409-3ADA7D265D27}"/>
              </a:ext>
            </a:extLst>
          </p:cNvPr>
          <p:cNvSpPr txBox="1"/>
          <p:nvPr/>
        </p:nvSpPr>
        <p:spPr>
          <a:xfrm>
            <a:off x="483722" y="3579709"/>
            <a:ext cx="439544" cy="646331"/>
          </a:xfrm>
          <a:prstGeom prst="rect">
            <a:avLst/>
          </a:prstGeom>
          <a:noFill/>
        </p:spPr>
        <p:txBody>
          <a:bodyPr wrap="none" rtlCol="0">
            <a:spAutoFit/>
          </a:bodyPr>
          <a:lstStyle/>
          <a:p>
            <a:r>
              <a:rPr kumimoji="1" lang="en-US" altLang="ja-GB" sz="3600" b="1" dirty="0">
                <a:solidFill>
                  <a:srgbClr val="FFC000"/>
                </a:solidFill>
              </a:rPr>
              <a:t>X</a:t>
            </a:r>
            <a:endParaRPr kumimoji="1" lang="ja-GB" altLang="en-US" sz="3600" b="1" dirty="0">
              <a:solidFill>
                <a:srgbClr val="FFC000"/>
              </a:solidFill>
            </a:endParaRPr>
          </a:p>
        </p:txBody>
      </p:sp>
      <p:sp>
        <p:nvSpPr>
          <p:cNvPr id="22" name="テキスト ボックス 21">
            <a:extLst>
              <a:ext uri="{FF2B5EF4-FFF2-40B4-BE49-F238E27FC236}">
                <a16:creationId xmlns:a16="http://schemas.microsoft.com/office/drawing/2014/main" id="{6AA01C35-6B95-C965-E125-D401D6DE05DE}"/>
              </a:ext>
            </a:extLst>
          </p:cNvPr>
          <p:cNvSpPr txBox="1"/>
          <p:nvPr/>
        </p:nvSpPr>
        <p:spPr>
          <a:xfrm>
            <a:off x="2394485" y="3579708"/>
            <a:ext cx="425116" cy="646331"/>
          </a:xfrm>
          <a:prstGeom prst="rect">
            <a:avLst/>
          </a:prstGeom>
          <a:noFill/>
        </p:spPr>
        <p:txBody>
          <a:bodyPr wrap="none" rtlCol="0">
            <a:spAutoFit/>
          </a:bodyPr>
          <a:lstStyle/>
          <a:p>
            <a:r>
              <a:rPr kumimoji="1" lang="en-US" altLang="ja-GB" sz="3600" b="1" dirty="0">
                <a:solidFill>
                  <a:schemeClr val="tx1">
                    <a:lumMod val="50000"/>
                    <a:lumOff val="50000"/>
                  </a:schemeClr>
                </a:solidFill>
              </a:rPr>
              <a:t>Y</a:t>
            </a:r>
            <a:endParaRPr kumimoji="1" lang="ja-GB" altLang="en-US" sz="3600" b="1" dirty="0">
              <a:solidFill>
                <a:schemeClr val="tx1">
                  <a:lumMod val="50000"/>
                  <a:lumOff val="50000"/>
                </a:schemeClr>
              </a:solidFill>
            </a:endParaRPr>
          </a:p>
        </p:txBody>
      </p:sp>
      <p:sp>
        <p:nvSpPr>
          <p:cNvPr id="25" name="円/楕円 24">
            <a:extLst>
              <a:ext uri="{FF2B5EF4-FFF2-40B4-BE49-F238E27FC236}">
                <a16:creationId xmlns:a16="http://schemas.microsoft.com/office/drawing/2014/main" id="{F6CA63EF-7ED5-0EF3-9DFC-7091280BC2AE}"/>
              </a:ext>
            </a:extLst>
          </p:cNvPr>
          <p:cNvSpPr>
            <a:spLocks noChangeAspect="1"/>
          </p:cNvSpPr>
          <p:nvPr/>
        </p:nvSpPr>
        <p:spPr>
          <a:xfrm>
            <a:off x="4860880" y="4117874"/>
            <a:ext cx="1885361" cy="1885361"/>
          </a:xfrm>
          <a:prstGeom prst="ellipse">
            <a:avLst/>
          </a:prstGeom>
          <a:solidFill>
            <a:srgbClr val="C00000">
              <a:alpha val="3997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6" name="円/楕円 25">
            <a:extLst>
              <a:ext uri="{FF2B5EF4-FFF2-40B4-BE49-F238E27FC236}">
                <a16:creationId xmlns:a16="http://schemas.microsoft.com/office/drawing/2014/main" id="{FF36194A-26B1-5AB7-245E-9600E66AB511}"/>
              </a:ext>
            </a:extLst>
          </p:cNvPr>
          <p:cNvSpPr>
            <a:spLocks noChangeAspect="1"/>
          </p:cNvSpPr>
          <p:nvPr/>
        </p:nvSpPr>
        <p:spPr>
          <a:xfrm>
            <a:off x="5803560" y="4117874"/>
            <a:ext cx="1885361" cy="1885361"/>
          </a:xfrm>
          <a:prstGeom prst="ellipse">
            <a:avLst/>
          </a:prstGeom>
          <a:solidFill>
            <a:srgbClr val="0070C0">
              <a:alpha val="3997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7" name="テキスト ボックス 26">
            <a:extLst>
              <a:ext uri="{FF2B5EF4-FFF2-40B4-BE49-F238E27FC236}">
                <a16:creationId xmlns:a16="http://schemas.microsoft.com/office/drawing/2014/main" id="{B7C1F97A-B878-10BC-E1C8-6FCD91058B74}"/>
              </a:ext>
            </a:extLst>
          </p:cNvPr>
          <p:cNvSpPr txBox="1"/>
          <p:nvPr/>
        </p:nvSpPr>
        <p:spPr>
          <a:xfrm>
            <a:off x="3983717" y="4407749"/>
            <a:ext cx="877163" cy="646331"/>
          </a:xfrm>
          <a:prstGeom prst="rect">
            <a:avLst/>
          </a:prstGeom>
          <a:noFill/>
        </p:spPr>
        <p:txBody>
          <a:bodyPr wrap="none" rtlCol="0">
            <a:spAutoFit/>
          </a:bodyPr>
          <a:lstStyle/>
          <a:p>
            <a:pPr algn="ctr"/>
            <a:r>
              <a:rPr kumimoji="1" lang="ja-GB" altLang="en-US" dirty="0">
                <a:solidFill>
                  <a:srgbClr val="C00000"/>
                </a:solidFill>
              </a:rPr>
              <a:t>飛行機</a:t>
            </a:r>
            <a:endParaRPr kumimoji="1" lang="en-US" altLang="ja-GB" dirty="0">
              <a:solidFill>
                <a:srgbClr val="C00000"/>
              </a:solidFill>
            </a:endParaRPr>
          </a:p>
          <a:p>
            <a:pPr algn="ctr"/>
            <a:r>
              <a:rPr kumimoji="1" lang="en-US" altLang="ja-GB" dirty="0">
                <a:solidFill>
                  <a:srgbClr val="C00000"/>
                </a:solidFill>
              </a:rPr>
              <a:t>A</a:t>
            </a:r>
            <a:endParaRPr kumimoji="1" lang="ja-GB" altLang="en-US" dirty="0">
              <a:solidFill>
                <a:srgbClr val="C00000"/>
              </a:solidFill>
            </a:endParaRPr>
          </a:p>
        </p:txBody>
      </p:sp>
      <p:sp>
        <p:nvSpPr>
          <p:cNvPr id="28" name="テキスト ボックス 27">
            <a:extLst>
              <a:ext uri="{FF2B5EF4-FFF2-40B4-BE49-F238E27FC236}">
                <a16:creationId xmlns:a16="http://schemas.microsoft.com/office/drawing/2014/main" id="{63244379-513A-2B02-D89E-CB621BC8DB79}"/>
              </a:ext>
            </a:extLst>
          </p:cNvPr>
          <p:cNvSpPr txBox="1"/>
          <p:nvPr/>
        </p:nvSpPr>
        <p:spPr>
          <a:xfrm>
            <a:off x="7721679" y="4407749"/>
            <a:ext cx="1107996" cy="646331"/>
          </a:xfrm>
          <a:prstGeom prst="rect">
            <a:avLst/>
          </a:prstGeom>
          <a:noFill/>
        </p:spPr>
        <p:txBody>
          <a:bodyPr wrap="none" rtlCol="0">
            <a:spAutoFit/>
          </a:bodyPr>
          <a:lstStyle/>
          <a:p>
            <a:pPr algn="ctr"/>
            <a:r>
              <a:rPr kumimoji="1" lang="ja-GB" altLang="en-US" dirty="0">
                <a:solidFill>
                  <a:srgbClr val="0070C0"/>
                </a:solidFill>
              </a:rPr>
              <a:t>トランプ</a:t>
            </a:r>
            <a:endParaRPr kumimoji="1" lang="en-US" altLang="ja-GB" dirty="0">
              <a:solidFill>
                <a:srgbClr val="0070C0"/>
              </a:solidFill>
            </a:endParaRPr>
          </a:p>
          <a:p>
            <a:pPr algn="ctr"/>
            <a:r>
              <a:rPr kumimoji="1" lang="en-US" altLang="ja-GB" dirty="0">
                <a:solidFill>
                  <a:srgbClr val="0070C0"/>
                </a:solidFill>
              </a:rPr>
              <a:t>B</a:t>
            </a:r>
            <a:endParaRPr kumimoji="1" lang="ja-GB" altLang="en-US" dirty="0">
              <a:solidFill>
                <a:srgbClr val="0070C0"/>
              </a:solidFill>
            </a:endParaRPr>
          </a:p>
        </p:txBody>
      </p:sp>
      <p:sp>
        <p:nvSpPr>
          <p:cNvPr id="33" name="フリーフォーム 32">
            <a:extLst>
              <a:ext uri="{FF2B5EF4-FFF2-40B4-BE49-F238E27FC236}">
                <a16:creationId xmlns:a16="http://schemas.microsoft.com/office/drawing/2014/main" id="{6C17C1B0-9914-CEA0-C3A4-BD2EF48A53AD}"/>
              </a:ext>
            </a:extLst>
          </p:cNvPr>
          <p:cNvSpPr>
            <a:spLocks noChangeAspect="1"/>
          </p:cNvSpPr>
          <p:nvPr/>
        </p:nvSpPr>
        <p:spPr>
          <a:xfrm>
            <a:off x="5792301" y="4245016"/>
            <a:ext cx="942682" cy="1631075"/>
          </a:xfrm>
          <a:custGeom>
            <a:avLst/>
            <a:gdLst>
              <a:gd name="connsiteX0" fmla="*/ 471341 w 942682"/>
              <a:gd name="connsiteY0" fmla="*/ 0 h 1631075"/>
              <a:gd name="connsiteX1" fmla="*/ 527063 w 942682"/>
              <a:gd name="connsiteY1" fmla="*/ 33851 h 1631075"/>
              <a:gd name="connsiteX2" fmla="*/ 942682 w 942682"/>
              <a:gd name="connsiteY2" fmla="*/ 815537 h 1631075"/>
              <a:gd name="connsiteX3" fmla="*/ 527063 w 942682"/>
              <a:gd name="connsiteY3" fmla="*/ 1597223 h 1631075"/>
              <a:gd name="connsiteX4" fmla="*/ 471341 w 942682"/>
              <a:gd name="connsiteY4" fmla="*/ 1631075 h 1631075"/>
              <a:gd name="connsiteX5" fmla="*/ 415619 w 942682"/>
              <a:gd name="connsiteY5" fmla="*/ 1597223 h 1631075"/>
              <a:gd name="connsiteX6" fmla="*/ 0 w 942682"/>
              <a:gd name="connsiteY6" fmla="*/ 815537 h 1631075"/>
              <a:gd name="connsiteX7" fmla="*/ 415619 w 942682"/>
              <a:gd name="connsiteY7" fmla="*/ 33851 h 1631075"/>
              <a:gd name="connsiteX8" fmla="*/ 471341 w 942682"/>
              <a:gd name="connsiteY8" fmla="*/ 0 h 163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2682" h="1631075">
                <a:moveTo>
                  <a:pt x="471341" y="0"/>
                </a:moveTo>
                <a:lnTo>
                  <a:pt x="527063" y="33851"/>
                </a:lnTo>
                <a:cubicBezTo>
                  <a:pt x="777818" y="203258"/>
                  <a:pt x="942682" y="490145"/>
                  <a:pt x="942682" y="815537"/>
                </a:cubicBezTo>
                <a:cubicBezTo>
                  <a:pt x="942682" y="1140930"/>
                  <a:pt x="777818" y="1427816"/>
                  <a:pt x="527063" y="1597223"/>
                </a:cubicBezTo>
                <a:lnTo>
                  <a:pt x="471341" y="1631075"/>
                </a:lnTo>
                <a:lnTo>
                  <a:pt x="415619" y="1597223"/>
                </a:lnTo>
                <a:cubicBezTo>
                  <a:pt x="164865" y="1427816"/>
                  <a:pt x="0" y="1140930"/>
                  <a:pt x="0" y="815537"/>
                </a:cubicBezTo>
                <a:cubicBezTo>
                  <a:pt x="0" y="490145"/>
                  <a:pt x="164865" y="203258"/>
                  <a:pt x="415619" y="33851"/>
                </a:cubicBezTo>
                <a:lnTo>
                  <a:pt x="471341" y="0"/>
                </a:lnTo>
                <a:close/>
              </a:path>
            </a:pathLst>
          </a:custGeom>
          <a:noFill/>
          <a:ln w="762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GB" altLang="en-US"/>
          </a:p>
        </p:txBody>
      </p:sp>
    </p:spTree>
    <p:extLst>
      <p:ext uri="{BB962C8B-B14F-4D97-AF65-F5344CB8AC3E}">
        <p14:creationId xmlns:p14="http://schemas.microsoft.com/office/powerpoint/2010/main" val="157958836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86907-A801-FE0C-7103-8D3590AD7B3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05FD29C-5606-CF3E-B5DF-77F48FFFD27C}"/>
              </a:ext>
            </a:extLst>
          </p:cNvPr>
          <p:cNvSpPr>
            <a:spLocks noGrp="1"/>
          </p:cNvSpPr>
          <p:nvPr>
            <p:ph type="title"/>
          </p:nvPr>
        </p:nvSpPr>
        <p:spPr/>
        <p:txBody>
          <a:bodyPr/>
          <a:lstStyle/>
          <a:p>
            <a:r>
              <a:rPr kumimoji="1" lang="ja-GB" altLang="en-US" dirty="0"/>
              <a:t>ヒント</a:t>
            </a:r>
          </a:p>
        </p:txBody>
      </p:sp>
      <p:sp>
        <p:nvSpPr>
          <p:cNvPr id="3" name="コンテンツ プレースホルダー 2">
            <a:extLst>
              <a:ext uri="{FF2B5EF4-FFF2-40B4-BE49-F238E27FC236}">
                <a16:creationId xmlns:a16="http://schemas.microsoft.com/office/drawing/2014/main" id="{26C5D01F-3337-C4F2-2C40-CBD3717618F5}"/>
              </a:ext>
            </a:extLst>
          </p:cNvPr>
          <p:cNvSpPr>
            <a:spLocks noGrp="1"/>
          </p:cNvSpPr>
          <p:nvPr>
            <p:ph idx="1"/>
          </p:nvPr>
        </p:nvSpPr>
        <p:spPr/>
        <p:txBody>
          <a:bodyPr/>
          <a:lstStyle/>
          <a:p>
            <a:pPr marL="0" indent="0">
              <a:buNone/>
            </a:pPr>
            <a:r>
              <a:rPr kumimoji="1" lang="ja-GB" altLang="en-US" dirty="0"/>
              <a:t>差集合：</a:t>
            </a:r>
            <a:r>
              <a:rPr lang="en-US" altLang="ja-GB" dirty="0"/>
              <a:t>X</a:t>
            </a:r>
            <a:r>
              <a:rPr kumimoji="1" lang="en-US" altLang="ja-GB" dirty="0"/>
              <a:t>-Y</a:t>
            </a:r>
          </a:p>
          <a:p>
            <a:pPr lvl="1"/>
            <a:r>
              <a:rPr lang="ja-GB" altLang="en-US" dirty="0"/>
              <a:t>集合</a:t>
            </a:r>
            <a:r>
              <a:rPr lang="en-US" altLang="ja-GB" dirty="0"/>
              <a:t>X</a:t>
            </a:r>
            <a:r>
              <a:rPr lang="ja-GB" altLang="en-US" dirty="0"/>
              <a:t>から，集合</a:t>
            </a:r>
            <a:r>
              <a:rPr lang="en-US" altLang="ja-GB" dirty="0"/>
              <a:t>Y</a:t>
            </a:r>
            <a:r>
              <a:rPr lang="ja-GB" altLang="en-US" dirty="0"/>
              <a:t>を引いた集合のこと</a:t>
            </a:r>
            <a:endParaRPr lang="en-US" altLang="ja-GB" dirty="0"/>
          </a:p>
          <a:p>
            <a:pPr lvl="1"/>
            <a:r>
              <a:rPr lang="ja-GB" altLang="en-US" dirty="0"/>
              <a:t>例）数学履修者（</a:t>
            </a:r>
            <a:r>
              <a:rPr lang="en-US" altLang="ja-GB" dirty="0"/>
              <a:t>X</a:t>
            </a:r>
            <a:r>
              <a:rPr lang="ja-GB" altLang="en-US" dirty="0"/>
              <a:t>）であり，英語履修者</a:t>
            </a:r>
            <a:r>
              <a:rPr lang="en-US" altLang="ja-GB" dirty="0"/>
              <a:t>(Y)</a:t>
            </a:r>
            <a:r>
              <a:rPr lang="ja-GB" altLang="en-US" dirty="0"/>
              <a:t>でない生徒の名簿を作る</a:t>
            </a:r>
            <a:endParaRPr lang="en-US" altLang="ja-GB" dirty="0"/>
          </a:p>
          <a:p>
            <a:pPr marL="914400" lvl="2" indent="0">
              <a:buNone/>
            </a:pPr>
            <a:r>
              <a:rPr kumimoji="1" lang="en-US" altLang="ja-GB" dirty="0"/>
              <a:t>→ “X” </a:t>
            </a:r>
            <a:r>
              <a:rPr lang="ja-GB" altLang="en-US" dirty="0"/>
              <a:t>かつ</a:t>
            </a:r>
            <a:r>
              <a:rPr lang="en-US" altLang="ja-GB" dirty="0"/>
              <a:t> “not Y</a:t>
            </a:r>
            <a:r>
              <a:rPr kumimoji="1" lang="en-US" altLang="ja-GB" dirty="0"/>
              <a:t>”</a:t>
            </a:r>
          </a:p>
          <a:p>
            <a:pPr lvl="1"/>
            <a:endParaRPr kumimoji="1" lang="ja-GB" altLang="en-US" dirty="0"/>
          </a:p>
        </p:txBody>
      </p:sp>
      <p:sp>
        <p:nvSpPr>
          <p:cNvPr id="13" name="円/楕円 12">
            <a:extLst>
              <a:ext uri="{FF2B5EF4-FFF2-40B4-BE49-F238E27FC236}">
                <a16:creationId xmlns:a16="http://schemas.microsoft.com/office/drawing/2014/main" id="{E10898D2-DD89-F054-9D16-B3BEC2CB06AF}"/>
              </a:ext>
            </a:extLst>
          </p:cNvPr>
          <p:cNvSpPr>
            <a:spLocks noChangeAspect="1"/>
          </p:cNvSpPr>
          <p:nvPr/>
        </p:nvSpPr>
        <p:spPr>
          <a:xfrm>
            <a:off x="674806" y="2382051"/>
            <a:ext cx="1407223" cy="1407223"/>
          </a:xfrm>
          <a:prstGeom prst="ellipse">
            <a:avLst/>
          </a:prstGeom>
          <a:solidFill>
            <a:schemeClr val="accent4">
              <a:alpha val="3997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14" name="円/楕円 13">
            <a:extLst>
              <a:ext uri="{FF2B5EF4-FFF2-40B4-BE49-F238E27FC236}">
                <a16:creationId xmlns:a16="http://schemas.microsoft.com/office/drawing/2014/main" id="{F097633D-0A10-0FE3-CDDD-B36A7538828B}"/>
              </a:ext>
            </a:extLst>
          </p:cNvPr>
          <p:cNvSpPr>
            <a:spLocks noChangeAspect="1"/>
          </p:cNvSpPr>
          <p:nvPr/>
        </p:nvSpPr>
        <p:spPr>
          <a:xfrm>
            <a:off x="1442704" y="2386243"/>
            <a:ext cx="1407223" cy="1407223"/>
          </a:xfrm>
          <a:prstGeom prst="ellipse">
            <a:avLst/>
          </a:prstGeom>
          <a:solidFill>
            <a:schemeClr val="bg2">
              <a:lumMod val="90000"/>
              <a:alpha val="6696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8" name="フリーフォーム 17">
            <a:extLst>
              <a:ext uri="{FF2B5EF4-FFF2-40B4-BE49-F238E27FC236}">
                <a16:creationId xmlns:a16="http://schemas.microsoft.com/office/drawing/2014/main" id="{753ACE57-8EE4-711F-43E8-9A43B1C6FA2A}"/>
              </a:ext>
            </a:extLst>
          </p:cNvPr>
          <p:cNvSpPr>
            <a:spLocks noChangeAspect="1"/>
          </p:cNvSpPr>
          <p:nvPr/>
        </p:nvSpPr>
        <p:spPr>
          <a:xfrm>
            <a:off x="674805" y="2377859"/>
            <a:ext cx="1091423" cy="1407224"/>
          </a:xfrm>
          <a:custGeom>
            <a:avLst/>
            <a:gdLst>
              <a:gd name="connsiteX0" fmla="*/ 703612 w 1091423"/>
              <a:gd name="connsiteY0" fmla="*/ 0 h 1407224"/>
              <a:gd name="connsiteX1" fmla="*/ 977489 w 1091423"/>
              <a:gd name="connsiteY1" fmla="*/ 55293 h 1407224"/>
              <a:gd name="connsiteX2" fmla="*/ 1091423 w 1091423"/>
              <a:gd name="connsiteY2" fmla="*/ 117134 h 1407224"/>
              <a:gd name="connsiteX3" fmla="*/ 1078114 w 1091423"/>
              <a:gd name="connsiteY3" fmla="*/ 124358 h 1407224"/>
              <a:gd name="connsiteX4" fmla="*/ 767898 w 1091423"/>
              <a:gd name="connsiteY4" fmla="*/ 707804 h 1407224"/>
              <a:gd name="connsiteX5" fmla="*/ 1078114 w 1091423"/>
              <a:gd name="connsiteY5" fmla="*/ 1291250 h 1407224"/>
              <a:gd name="connsiteX6" fmla="*/ 1083700 w 1091423"/>
              <a:gd name="connsiteY6" fmla="*/ 1294282 h 1407224"/>
              <a:gd name="connsiteX7" fmla="*/ 977489 w 1091423"/>
              <a:gd name="connsiteY7" fmla="*/ 1351931 h 1407224"/>
              <a:gd name="connsiteX8" fmla="*/ 703612 w 1091423"/>
              <a:gd name="connsiteY8" fmla="*/ 1407224 h 1407224"/>
              <a:gd name="connsiteX9" fmla="*/ 0 w 1091423"/>
              <a:gd name="connsiteY9" fmla="*/ 703612 h 1407224"/>
              <a:gd name="connsiteX10" fmla="*/ 703612 w 1091423"/>
              <a:gd name="connsiteY10" fmla="*/ 0 h 1407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91423" h="1407224">
                <a:moveTo>
                  <a:pt x="703612" y="0"/>
                </a:moveTo>
                <a:cubicBezTo>
                  <a:pt x="800761" y="0"/>
                  <a:pt x="893311" y="19689"/>
                  <a:pt x="977489" y="55293"/>
                </a:cubicBezTo>
                <a:lnTo>
                  <a:pt x="1091423" y="117134"/>
                </a:lnTo>
                <a:lnTo>
                  <a:pt x="1078114" y="124358"/>
                </a:lnTo>
                <a:cubicBezTo>
                  <a:pt x="890952" y="250802"/>
                  <a:pt x="767898" y="464933"/>
                  <a:pt x="767898" y="707804"/>
                </a:cubicBezTo>
                <a:cubicBezTo>
                  <a:pt x="767898" y="950675"/>
                  <a:pt x="890952" y="1164806"/>
                  <a:pt x="1078114" y="1291250"/>
                </a:cubicBezTo>
                <a:lnTo>
                  <a:pt x="1083700" y="1294282"/>
                </a:lnTo>
                <a:lnTo>
                  <a:pt x="977489" y="1351931"/>
                </a:lnTo>
                <a:cubicBezTo>
                  <a:pt x="893311" y="1387536"/>
                  <a:pt x="800761" y="1407224"/>
                  <a:pt x="703612" y="1407224"/>
                </a:cubicBezTo>
                <a:cubicBezTo>
                  <a:pt x="315018" y="1407224"/>
                  <a:pt x="0" y="1092206"/>
                  <a:pt x="0" y="703612"/>
                </a:cubicBezTo>
                <a:cubicBezTo>
                  <a:pt x="0" y="315018"/>
                  <a:pt x="315018" y="0"/>
                  <a:pt x="703612" y="0"/>
                </a:cubicBezTo>
                <a:close/>
              </a:path>
            </a:pathLst>
          </a:custGeom>
          <a:noFill/>
          <a:ln w="762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GB" altLang="en-US"/>
          </a:p>
        </p:txBody>
      </p:sp>
      <p:sp>
        <p:nvSpPr>
          <p:cNvPr id="20" name="テキスト ボックス 19">
            <a:extLst>
              <a:ext uri="{FF2B5EF4-FFF2-40B4-BE49-F238E27FC236}">
                <a16:creationId xmlns:a16="http://schemas.microsoft.com/office/drawing/2014/main" id="{2EFACFFF-DD02-DBB6-B380-D9BD7297B516}"/>
              </a:ext>
            </a:extLst>
          </p:cNvPr>
          <p:cNvSpPr txBox="1"/>
          <p:nvPr/>
        </p:nvSpPr>
        <p:spPr>
          <a:xfrm>
            <a:off x="820609" y="2859021"/>
            <a:ext cx="586956" cy="461665"/>
          </a:xfrm>
          <a:prstGeom prst="rect">
            <a:avLst/>
          </a:prstGeom>
          <a:noFill/>
        </p:spPr>
        <p:txBody>
          <a:bodyPr wrap="none" rtlCol="0">
            <a:spAutoFit/>
          </a:bodyPr>
          <a:lstStyle/>
          <a:p>
            <a:pPr algn="r"/>
            <a:r>
              <a:rPr kumimoji="1" lang="en-US" altLang="ja-GB" sz="2400" b="1" dirty="0">
                <a:solidFill>
                  <a:srgbClr val="002060"/>
                </a:solidFill>
              </a:rPr>
              <a:t>X-Y</a:t>
            </a:r>
            <a:endParaRPr kumimoji="1" lang="ja-GB" altLang="en-US" sz="2400" b="1" dirty="0">
              <a:solidFill>
                <a:srgbClr val="002060"/>
              </a:solidFill>
            </a:endParaRPr>
          </a:p>
        </p:txBody>
      </p:sp>
      <p:sp>
        <p:nvSpPr>
          <p:cNvPr id="21" name="テキスト ボックス 20">
            <a:extLst>
              <a:ext uri="{FF2B5EF4-FFF2-40B4-BE49-F238E27FC236}">
                <a16:creationId xmlns:a16="http://schemas.microsoft.com/office/drawing/2014/main" id="{48ACBFF9-2C1E-1489-A025-0FD3C95F0E86}"/>
              </a:ext>
            </a:extLst>
          </p:cNvPr>
          <p:cNvSpPr txBox="1"/>
          <p:nvPr/>
        </p:nvSpPr>
        <p:spPr>
          <a:xfrm>
            <a:off x="483722" y="3579709"/>
            <a:ext cx="439544" cy="646331"/>
          </a:xfrm>
          <a:prstGeom prst="rect">
            <a:avLst/>
          </a:prstGeom>
          <a:noFill/>
        </p:spPr>
        <p:txBody>
          <a:bodyPr wrap="none" rtlCol="0">
            <a:spAutoFit/>
          </a:bodyPr>
          <a:lstStyle/>
          <a:p>
            <a:r>
              <a:rPr kumimoji="1" lang="en-US" altLang="ja-GB" sz="3600" b="1" dirty="0">
                <a:solidFill>
                  <a:srgbClr val="FFC000"/>
                </a:solidFill>
              </a:rPr>
              <a:t>X</a:t>
            </a:r>
            <a:endParaRPr kumimoji="1" lang="ja-GB" altLang="en-US" sz="3600" b="1" dirty="0">
              <a:solidFill>
                <a:srgbClr val="FFC000"/>
              </a:solidFill>
            </a:endParaRPr>
          </a:p>
        </p:txBody>
      </p:sp>
      <p:sp>
        <p:nvSpPr>
          <p:cNvPr id="22" name="テキスト ボックス 21">
            <a:extLst>
              <a:ext uri="{FF2B5EF4-FFF2-40B4-BE49-F238E27FC236}">
                <a16:creationId xmlns:a16="http://schemas.microsoft.com/office/drawing/2014/main" id="{01CE08FB-87A7-56CA-B1FC-13980B0594A8}"/>
              </a:ext>
            </a:extLst>
          </p:cNvPr>
          <p:cNvSpPr txBox="1"/>
          <p:nvPr/>
        </p:nvSpPr>
        <p:spPr>
          <a:xfrm>
            <a:off x="2394485" y="3579708"/>
            <a:ext cx="425116" cy="646331"/>
          </a:xfrm>
          <a:prstGeom prst="rect">
            <a:avLst/>
          </a:prstGeom>
          <a:noFill/>
        </p:spPr>
        <p:txBody>
          <a:bodyPr wrap="none" rtlCol="0">
            <a:spAutoFit/>
          </a:bodyPr>
          <a:lstStyle/>
          <a:p>
            <a:r>
              <a:rPr kumimoji="1" lang="en-US" altLang="ja-GB" sz="3600" b="1" dirty="0">
                <a:solidFill>
                  <a:schemeClr val="tx1">
                    <a:lumMod val="50000"/>
                    <a:lumOff val="50000"/>
                  </a:schemeClr>
                </a:solidFill>
              </a:rPr>
              <a:t>Y</a:t>
            </a:r>
            <a:endParaRPr kumimoji="1" lang="ja-GB" altLang="en-US" sz="3600" b="1" dirty="0">
              <a:solidFill>
                <a:schemeClr val="tx1">
                  <a:lumMod val="50000"/>
                  <a:lumOff val="50000"/>
                </a:schemeClr>
              </a:solidFill>
            </a:endParaRPr>
          </a:p>
        </p:txBody>
      </p:sp>
      <p:sp>
        <p:nvSpPr>
          <p:cNvPr id="25" name="円/楕円 24">
            <a:extLst>
              <a:ext uri="{FF2B5EF4-FFF2-40B4-BE49-F238E27FC236}">
                <a16:creationId xmlns:a16="http://schemas.microsoft.com/office/drawing/2014/main" id="{4E58F48A-FC9F-D892-9893-08CB9B0AFA25}"/>
              </a:ext>
            </a:extLst>
          </p:cNvPr>
          <p:cNvSpPr>
            <a:spLocks noChangeAspect="1"/>
          </p:cNvSpPr>
          <p:nvPr/>
        </p:nvSpPr>
        <p:spPr>
          <a:xfrm>
            <a:off x="4860880" y="4117874"/>
            <a:ext cx="1885361" cy="1885361"/>
          </a:xfrm>
          <a:prstGeom prst="ellipse">
            <a:avLst/>
          </a:prstGeom>
          <a:solidFill>
            <a:srgbClr val="C00000">
              <a:alpha val="3997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6" name="円/楕円 25">
            <a:extLst>
              <a:ext uri="{FF2B5EF4-FFF2-40B4-BE49-F238E27FC236}">
                <a16:creationId xmlns:a16="http://schemas.microsoft.com/office/drawing/2014/main" id="{1664B1E1-B4B5-04F0-5950-D6FCE5B58CDD}"/>
              </a:ext>
            </a:extLst>
          </p:cNvPr>
          <p:cNvSpPr>
            <a:spLocks noChangeAspect="1"/>
          </p:cNvSpPr>
          <p:nvPr/>
        </p:nvSpPr>
        <p:spPr>
          <a:xfrm>
            <a:off x="5803560" y="4117874"/>
            <a:ext cx="1885361" cy="1885361"/>
          </a:xfrm>
          <a:prstGeom prst="ellipse">
            <a:avLst/>
          </a:prstGeom>
          <a:solidFill>
            <a:srgbClr val="0070C0">
              <a:alpha val="3997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7" name="テキスト ボックス 26">
            <a:extLst>
              <a:ext uri="{FF2B5EF4-FFF2-40B4-BE49-F238E27FC236}">
                <a16:creationId xmlns:a16="http://schemas.microsoft.com/office/drawing/2014/main" id="{7553B05E-BD85-31EA-B0C4-57CC7FC7573A}"/>
              </a:ext>
            </a:extLst>
          </p:cNvPr>
          <p:cNvSpPr txBox="1"/>
          <p:nvPr/>
        </p:nvSpPr>
        <p:spPr>
          <a:xfrm>
            <a:off x="3983717" y="4407749"/>
            <a:ext cx="877163" cy="646331"/>
          </a:xfrm>
          <a:prstGeom prst="rect">
            <a:avLst/>
          </a:prstGeom>
          <a:noFill/>
        </p:spPr>
        <p:txBody>
          <a:bodyPr wrap="none" rtlCol="0">
            <a:spAutoFit/>
          </a:bodyPr>
          <a:lstStyle/>
          <a:p>
            <a:pPr algn="ctr"/>
            <a:r>
              <a:rPr kumimoji="1" lang="ja-GB" altLang="en-US" dirty="0">
                <a:solidFill>
                  <a:srgbClr val="C00000"/>
                </a:solidFill>
              </a:rPr>
              <a:t>飛行機</a:t>
            </a:r>
            <a:endParaRPr kumimoji="1" lang="en-US" altLang="ja-GB" dirty="0">
              <a:solidFill>
                <a:srgbClr val="C00000"/>
              </a:solidFill>
            </a:endParaRPr>
          </a:p>
          <a:p>
            <a:pPr algn="ctr"/>
            <a:r>
              <a:rPr kumimoji="1" lang="en-US" altLang="ja-GB" dirty="0">
                <a:solidFill>
                  <a:srgbClr val="C00000"/>
                </a:solidFill>
              </a:rPr>
              <a:t>A</a:t>
            </a:r>
            <a:endParaRPr kumimoji="1" lang="ja-GB" altLang="en-US" dirty="0">
              <a:solidFill>
                <a:srgbClr val="C00000"/>
              </a:solidFill>
            </a:endParaRPr>
          </a:p>
        </p:txBody>
      </p:sp>
      <p:sp>
        <p:nvSpPr>
          <p:cNvPr id="28" name="テキスト ボックス 27">
            <a:extLst>
              <a:ext uri="{FF2B5EF4-FFF2-40B4-BE49-F238E27FC236}">
                <a16:creationId xmlns:a16="http://schemas.microsoft.com/office/drawing/2014/main" id="{B5CAFE1A-A1EE-14FA-5E90-E3E5E51C3F4E}"/>
              </a:ext>
            </a:extLst>
          </p:cNvPr>
          <p:cNvSpPr txBox="1"/>
          <p:nvPr/>
        </p:nvSpPr>
        <p:spPr>
          <a:xfrm>
            <a:off x="7721679" y="4407749"/>
            <a:ext cx="1107996" cy="646331"/>
          </a:xfrm>
          <a:prstGeom prst="rect">
            <a:avLst/>
          </a:prstGeom>
          <a:noFill/>
        </p:spPr>
        <p:txBody>
          <a:bodyPr wrap="none" rtlCol="0">
            <a:spAutoFit/>
          </a:bodyPr>
          <a:lstStyle/>
          <a:p>
            <a:pPr algn="ctr"/>
            <a:r>
              <a:rPr kumimoji="1" lang="ja-GB" altLang="en-US" dirty="0">
                <a:solidFill>
                  <a:srgbClr val="0070C0"/>
                </a:solidFill>
              </a:rPr>
              <a:t>トランプ</a:t>
            </a:r>
            <a:endParaRPr kumimoji="1" lang="en-US" altLang="ja-GB" dirty="0">
              <a:solidFill>
                <a:srgbClr val="0070C0"/>
              </a:solidFill>
            </a:endParaRPr>
          </a:p>
          <a:p>
            <a:pPr algn="ctr"/>
            <a:r>
              <a:rPr kumimoji="1" lang="en-US" altLang="ja-GB" dirty="0">
                <a:solidFill>
                  <a:srgbClr val="0070C0"/>
                </a:solidFill>
              </a:rPr>
              <a:t>B</a:t>
            </a:r>
            <a:endParaRPr kumimoji="1" lang="ja-GB" altLang="en-US" dirty="0">
              <a:solidFill>
                <a:srgbClr val="0070C0"/>
              </a:solidFill>
            </a:endParaRPr>
          </a:p>
        </p:txBody>
      </p:sp>
      <p:sp>
        <p:nvSpPr>
          <p:cNvPr id="6" name="円/楕円 5">
            <a:extLst>
              <a:ext uri="{FF2B5EF4-FFF2-40B4-BE49-F238E27FC236}">
                <a16:creationId xmlns:a16="http://schemas.microsoft.com/office/drawing/2014/main" id="{D8158B61-5B62-DB24-DFAD-C5A700DE5D8D}"/>
              </a:ext>
            </a:extLst>
          </p:cNvPr>
          <p:cNvSpPr>
            <a:spLocks noChangeAspect="1"/>
          </p:cNvSpPr>
          <p:nvPr/>
        </p:nvSpPr>
        <p:spPr>
          <a:xfrm>
            <a:off x="5332220" y="4928507"/>
            <a:ext cx="1885361" cy="1885361"/>
          </a:xfrm>
          <a:prstGeom prst="ellipse">
            <a:avLst/>
          </a:prstGeom>
          <a:solidFill>
            <a:schemeClr val="tx1">
              <a:lumMod val="50000"/>
              <a:lumOff val="50000"/>
              <a:alpha val="8365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7" name="テキスト ボックス 6">
            <a:extLst>
              <a:ext uri="{FF2B5EF4-FFF2-40B4-BE49-F238E27FC236}">
                <a16:creationId xmlns:a16="http://schemas.microsoft.com/office/drawing/2014/main" id="{131CAD10-6590-1BF2-FF38-6740629A1B2E}"/>
              </a:ext>
            </a:extLst>
          </p:cNvPr>
          <p:cNvSpPr txBox="1"/>
          <p:nvPr/>
        </p:nvSpPr>
        <p:spPr>
          <a:xfrm>
            <a:off x="3983717" y="4400606"/>
            <a:ext cx="877163" cy="646331"/>
          </a:xfrm>
          <a:prstGeom prst="rect">
            <a:avLst/>
          </a:prstGeom>
          <a:noFill/>
        </p:spPr>
        <p:txBody>
          <a:bodyPr wrap="none" rtlCol="0">
            <a:spAutoFit/>
          </a:bodyPr>
          <a:lstStyle/>
          <a:p>
            <a:pPr algn="ctr"/>
            <a:r>
              <a:rPr kumimoji="1" lang="ja-GB" altLang="en-US" dirty="0">
                <a:solidFill>
                  <a:srgbClr val="C00000"/>
                </a:solidFill>
              </a:rPr>
              <a:t>飛行機</a:t>
            </a:r>
            <a:endParaRPr kumimoji="1" lang="en-US" altLang="ja-GB" dirty="0">
              <a:solidFill>
                <a:srgbClr val="C00000"/>
              </a:solidFill>
            </a:endParaRPr>
          </a:p>
          <a:p>
            <a:pPr algn="ctr"/>
            <a:r>
              <a:rPr kumimoji="1" lang="en-US" altLang="ja-GB" dirty="0">
                <a:solidFill>
                  <a:srgbClr val="C00000"/>
                </a:solidFill>
              </a:rPr>
              <a:t>A</a:t>
            </a:r>
            <a:endParaRPr kumimoji="1" lang="ja-GB" altLang="en-US" dirty="0">
              <a:solidFill>
                <a:srgbClr val="C00000"/>
              </a:solidFill>
            </a:endParaRPr>
          </a:p>
        </p:txBody>
      </p:sp>
      <p:sp>
        <p:nvSpPr>
          <p:cNvPr id="8" name="テキスト ボックス 7">
            <a:extLst>
              <a:ext uri="{FF2B5EF4-FFF2-40B4-BE49-F238E27FC236}">
                <a16:creationId xmlns:a16="http://schemas.microsoft.com/office/drawing/2014/main" id="{402304A1-8026-C65D-531E-BCD966709F20}"/>
              </a:ext>
            </a:extLst>
          </p:cNvPr>
          <p:cNvSpPr txBox="1"/>
          <p:nvPr/>
        </p:nvSpPr>
        <p:spPr>
          <a:xfrm>
            <a:off x="7721679" y="4400606"/>
            <a:ext cx="1107996" cy="646331"/>
          </a:xfrm>
          <a:prstGeom prst="rect">
            <a:avLst/>
          </a:prstGeom>
          <a:noFill/>
        </p:spPr>
        <p:txBody>
          <a:bodyPr wrap="none" rtlCol="0">
            <a:spAutoFit/>
          </a:bodyPr>
          <a:lstStyle/>
          <a:p>
            <a:pPr algn="ctr"/>
            <a:r>
              <a:rPr kumimoji="1" lang="ja-GB" altLang="en-US" dirty="0">
                <a:solidFill>
                  <a:srgbClr val="0070C0"/>
                </a:solidFill>
              </a:rPr>
              <a:t>トランプ</a:t>
            </a:r>
            <a:endParaRPr kumimoji="1" lang="en-US" altLang="ja-GB" dirty="0">
              <a:solidFill>
                <a:srgbClr val="0070C0"/>
              </a:solidFill>
            </a:endParaRPr>
          </a:p>
          <a:p>
            <a:pPr algn="ctr"/>
            <a:r>
              <a:rPr kumimoji="1" lang="en-US" altLang="ja-GB" dirty="0">
                <a:solidFill>
                  <a:srgbClr val="0070C0"/>
                </a:solidFill>
              </a:rPr>
              <a:t>B</a:t>
            </a:r>
            <a:endParaRPr kumimoji="1" lang="ja-GB" altLang="en-US" dirty="0">
              <a:solidFill>
                <a:srgbClr val="0070C0"/>
              </a:solidFill>
            </a:endParaRPr>
          </a:p>
        </p:txBody>
      </p:sp>
      <p:sp>
        <p:nvSpPr>
          <p:cNvPr id="9" name="テキスト ボックス 8">
            <a:extLst>
              <a:ext uri="{FF2B5EF4-FFF2-40B4-BE49-F238E27FC236}">
                <a16:creationId xmlns:a16="http://schemas.microsoft.com/office/drawing/2014/main" id="{BD1B946D-2489-05A8-00EC-4262B8A2EC7B}"/>
              </a:ext>
            </a:extLst>
          </p:cNvPr>
          <p:cNvSpPr txBox="1"/>
          <p:nvPr/>
        </p:nvSpPr>
        <p:spPr>
          <a:xfrm>
            <a:off x="6965242" y="6444536"/>
            <a:ext cx="877163" cy="646331"/>
          </a:xfrm>
          <a:prstGeom prst="rect">
            <a:avLst/>
          </a:prstGeom>
          <a:noFill/>
        </p:spPr>
        <p:txBody>
          <a:bodyPr wrap="none" rtlCol="0">
            <a:spAutoFit/>
          </a:bodyPr>
          <a:lstStyle/>
          <a:p>
            <a:pPr algn="ctr"/>
            <a:r>
              <a:rPr kumimoji="1" lang="ja-GB" altLang="en-US" dirty="0"/>
              <a:t>大統領</a:t>
            </a:r>
            <a:endParaRPr kumimoji="1" lang="en-US" altLang="ja-GB" dirty="0"/>
          </a:p>
          <a:p>
            <a:pPr algn="ctr"/>
            <a:r>
              <a:rPr kumimoji="1" lang="en-US" altLang="ja-GB" dirty="0"/>
              <a:t>C</a:t>
            </a:r>
            <a:endParaRPr kumimoji="1" lang="ja-GB" altLang="en-US" dirty="0"/>
          </a:p>
        </p:txBody>
      </p:sp>
      <p:sp>
        <p:nvSpPr>
          <p:cNvPr id="12" name="フリーフォーム 11">
            <a:extLst>
              <a:ext uri="{FF2B5EF4-FFF2-40B4-BE49-F238E27FC236}">
                <a16:creationId xmlns:a16="http://schemas.microsoft.com/office/drawing/2014/main" id="{0A0B8E03-D761-D32A-C5AE-EED9B472CE40}"/>
              </a:ext>
            </a:extLst>
          </p:cNvPr>
          <p:cNvSpPr>
            <a:spLocks noChangeAspect="1"/>
          </p:cNvSpPr>
          <p:nvPr/>
        </p:nvSpPr>
        <p:spPr>
          <a:xfrm>
            <a:off x="5803560" y="4235701"/>
            <a:ext cx="942682" cy="817710"/>
          </a:xfrm>
          <a:custGeom>
            <a:avLst/>
            <a:gdLst>
              <a:gd name="connsiteX0" fmla="*/ 471341 w 942682"/>
              <a:gd name="connsiteY0" fmla="*/ 0 h 817710"/>
              <a:gd name="connsiteX1" fmla="*/ 527063 w 942682"/>
              <a:gd name="connsiteY1" fmla="*/ 33852 h 817710"/>
              <a:gd name="connsiteX2" fmla="*/ 942682 w 942682"/>
              <a:gd name="connsiteY2" fmla="*/ 815538 h 817710"/>
              <a:gd name="connsiteX3" fmla="*/ 942572 w 942682"/>
              <a:gd name="connsiteY3" fmla="*/ 817710 h 817710"/>
              <a:gd name="connsiteX4" fmla="*/ 920679 w 942682"/>
              <a:gd name="connsiteY4" fmla="*/ 804410 h 817710"/>
              <a:gd name="connsiteX5" fmla="*/ 471341 w 942682"/>
              <a:gd name="connsiteY5" fmla="*/ 690633 h 817710"/>
              <a:gd name="connsiteX6" fmla="*/ 22003 w 942682"/>
              <a:gd name="connsiteY6" fmla="*/ 804410 h 817710"/>
              <a:gd name="connsiteX7" fmla="*/ 110 w 942682"/>
              <a:gd name="connsiteY7" fmla="*/ 817710 h 817710"/>
              <a:gd name="connsiteX8" fmla="*/ 0 w 942682"/>
              <a:gd name="connsiteY8" fmla="*/ 815538 h 817710"/>
              <a:gd name="connsiteX9" fmla="*/ 415619 w 942682"/>
              <a:gd name="connsiteY9" fmla="*/ 33852 h 817710"/>
              <a:gd name="connsiteX10" fmla="*/ 471341 w 942682"/>
              <a:gd name="connsiteY10" fmla="*/ 0 h 817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2682" h="817710">
                <a:moveTo>
                  <a:pt x="471341" y="0"/>
                </a:moveTo>
                <a:lnTo>
                  <a:pt x="527063" y="33852"/>
                </a:lnTo>
                <a:cubicBezTo>
                  <a:pt x="777818" y="203259"/>
                  <a:pt x="942682" y="490146"/>
                  <a:pt x="942682" y="815538"/>
                </a:cubicBezTo>
                <a:lnTo>
                  <a:pt x="942572" y="817710"/>
                </a:lnTo>
                <a:lnTo>
                  <a:pt x="920679" y="804410"/>
                </a:lnTo>
                <a:cubicBezTo>
                  <a:pt x="787107" y="731849"/>
                  <a:pt x="634037" y="690633"/>
                  <a:pt x="471341" y="690633"/>
                </a:cubicBezTo>
                <a:cubicBezTo>
                  <a:pt x="308645" y="690633"/>
                  <a:pt x="155575" y="731849"/>
                  <a:pt x="22003" y="804410"/>
                </a:cubicBezTo>
                <a:lnTo>
                  <a:pt x="110" y="817710"/>
                </a:lnTo>
                <a:lnTo>
                  <a:pt x="0" y="815538"/>
                </a:lnTo>
                <a:cubicBezTo>
                  <a:pt x="0" y="490146"/>
                  <a:pt x="164865" y="203259"/>
                  <a:pt x="415619" y="33852"/>
                </a:cubicBezTo>
                <a:lnTo>
                  <a:pt x="471341" y="0"/>
                </a:lnTo>
                <a:close/>
              </a:path>
            </a:pathLst>
          </a:custGeom>
          <a:noFill/>
          <a:ln w="762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GB" altLang="en-US"/>
          </a:p>
        </p:txBody>
      </p:sp>
    </p:spTree>
    <p:extLst>
      <p:ext uri="{BB962C8B-B14F-4D97-AF65-F5344CB8AC3E}">
        <p14:creationId xmlns:p14="http://schemas.microsoft.com/office/powerpoint/2010/main" val="389204516"/>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562E7-277F-6B3F-F284-39582D01B9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9708DC5-106D-928A-F563-A691AE0FD07D}"/>
              </a:ext>
            </a:extLst>
          </p:cNvPr>
          <p:cNvSpPr>
            <a:spLocks noGrp="1"/>
          </p:cNvSpPr>
          <p:nvPr>
            <p:ph type="title"/>
          </p:nvPr>
        </p:nvSpPr>
        <p:spPr/>
        <p:txBody>
          <a:bodyPr/>
          <a:lstStyle/>
          <a:p>
            <a:r>
              <a:rPr kumimoji="1" lang="ja-GB" altLang="en-US" dirty="0"/>
              <a:t>演習</a:t>
            </a:r>
          </a:p>
        </p:txBody>
      </p:sp>
      <p:sp>
        <p:nvSpPr>
          <p:cNvPr id="3" name="コンテンツ プレースホルダー 2">
            <a:extLst>
              <a:ext uri="{FF2B5EF4-FFF2-40B4-BE49-F238E27FC236}">
                <a16:creationId xmlns:a16="http://schemas.microsoft.com/office/drawing/2014/main" id="{BF4219E2-05B1-B5A4-EADB-2099B98C786F}"/>
              </a:ext>
            </a:extLst>
          </p:cNvPr>
          <p:cNvSpPr>
            <a:spLocks noGrp="1"/>
          </p:cNvSpPr>
          <p:nvPr>
            <p:ph idx="1"/>
          </p:nvPr>
        </p:nvSpPr>
        <p:spPr/>
        <p:txBody>
          <a:bodyPr/>
          <a:lstStyle/>
          <a:p>
            <a:pPr marL="0" indent="0">
              <a:buNone/>
            </a:pPr>
            <a:r>
              <a:rPr kumimoji="1" lang="ja-GB" altLang="en-US" dirty="0">
                <a:solidFill>
                  <a:schemeClr val="tx1">
                    <a:lumMod val="50000"/>
                    <a:lumOff val="50000"/>
                  </a:schemeClr>
                </a:solidFill>
              </a:rPr>
              <a:t>問題</a:t>
            </a:r>
            <a:r>
              <a:rPr kumimoji="1" lang="en-US" altLang="ja-GB" dirty="0">
                <a:solidFill>
                  <a:schemeClr val="tx1">
                    <a:lumMod val="50000"/>
                    <a:lumOff val="50000"/>
                  </a:schemeClr>
                </a:solidFill>
              </a:rPr>
              <a:t>1</a:t>
            </a:r>
            <a:r>
              <a:rPr kumimoji="1" lang="ja-GB" altLang="en-US" dirty="0">
                <a:solidFill>
                  <a:schemeClr val="tx1">
                    <a:lumMod val="50000"/>
                    <a:lumOff val="50000"/>
                  </a:schemeClr>
                </a:solidFill>
              </a:rPr>
              <a:t>：加算回路での演算</a:t>
            </a:r>
            <a:endParaRPr kumimoji="1" lang="en-US" altLang="ja-GB" dirty="0">
              <a:solidFill>
                <a:schemeClr val="tx1">
                  <a:lumMod val="50000"/>
                  <a:lumOff val="50000"/>
                </a:schemeClr>
              </a:solidFill>
            </a:endParaRPr>
          </a:p>
          <a:p>
            <a:pPr lvl="1"/>
            <a:endParaRPr kumimoji="1" lang="en-US" altLang="ja-GB" dirty="0">
              <a:solidFill>
                <a:schemeClr val="tx1">
                  <a:lumMod val="50000"/>
                  <a:lumOff val="50000"/>
                </a:schemeClr>
              </a:solidFill>
            </a:endParaRPr>
          </a:p>
          <a:p>
            <a:pPr marL="0" indent="0">
              <a:buNone/>
            </a:pPr>
            <a:r>
              <a:rPr lang="ja-GB" altLang="en-US" dirty="0">
                <a:solidFill>
                  <a:schemeClr val="tx1">
                    <a:lumMod val="50000"/>
                    <a:lumOff val="50000"/>
                  </a:schemeClr>
                </a:solidFill>
              </a:rPr>
              <a:t>問題</a:t>
            </a:r>
            <a:r>
              <a:rPr lang="en-US" altLang="ja-GB" dirty="0">
                <a:solidFill>
                  <a:schemeClr val="tx1">
                    <a:lumMod val="50000"/>
                    <a:lumOff val="50000"/>
                  </a:schemeClr>
                </a:solidFill>
              </a:rPr>
              <a:t>2</a:t>
            </a:r>
            <a:r>
              <a:rPr lang="ja-GB" altLang="en-US" dirty="0">
                <a:solidFill>
                  <a:schemeClr val="tx1">
                    <a:lumMod val="50000"/>
                    <a:lumOff val="50000"/>
                  </a:schemeClr>
                </a:solidFill>
              </a:rPr>
              <a:t>：カラーコード</a:t>
            </a:r>
            <a:endParaRPr lang="en-US" altLang="ja-GB" dirty="0">
              <a:solidFill>
                <a:schemeClr val="tx1">
                  <a:lumMod val="50000"/>
                  <a:lumOff val="50000"/>
                </a:schemeClr>
              </a:solidFill>
            </a:endParaRPr>
          </a:p>
          <a:p>
            <a:pPr lvl="1"/>
            <a:endParaRPr lang="en-US" altLang="ja-GB" dirty="0">
              <a:solidFill>
                <a:schemeClr val="tx1">
                  <a:lumMod val="50000"/>
                  <a:lumOff val="50000"/>
                </a:schemeClr>
              </a:solidFill>
            </a:endParaRPr>
          </a:p>
          <a:p>
            <a:pPr marL="0" indent="0">
              <a:buNone/>
            </a:pPr>
            <a:r>
              <a:rPr kumimoji="1" lang="ja-GB" altLang="en-US" dirty="0">
                <a:solidFill>
                  <a:schemeClr val="tx1">
                    <a:lumMod val="50000"/>
                    <a:lumOff val="50000"/>
                  </a:schemeClr>
                </a:solidFill>
              </a:rPr>
              <a:t>問題</a:t>
            </a:r>
            <a:r>
              <a:rPr kumimoji="1" lang="en-US" altLang="ja-GB" dirty="0">
                <a:solidFill>
                  <a:schemeClr val="tx1">
                    <a:lumMod val="50000"/>
                    <a:lumOff val="50000"/>
                  </a:schemeClr>
                </a:solidFill>
              </a:rPr>
              <a:t>3</a:t>
            </a:r>
            <a:r>
              <a:rPr kumimoji="1" lang="ja-GB" altLang="en-US" dirty="0">
                <a:solidFill>
                  <a:schemeClr val="tx1">
                    <a:lumMod val="50000"/>
                    <a:lumOff val="50000"/>
                  </a:schemeClr>
                </a:solidFill>
              </a:rPr>
              <a:t>：論理演算（集合演算）</a:t>
            </a:r>
            <a:endParaRPr kumimoji="1" lang="en-US" altLang="ja-GB" dirty="0">
              <a:solidFill>
                <a:schemeClr val="tx1">
                  <a:lumMod val="50000"/>
                  <a:lumOff val="50000"/>
                </a:schemeClr>
              </a:solidFill>
            </a:endParaRPr>
          </a:p>
          <a:p>
            <a:pPr lvl="1"/>
            <a:endParaRPr kumimoji="1" lang="en-US" altLang="ja-GB" dirty="0"/>
          </a:p>
          <a:p>
            <a:pPr marL="0" indent="0">
              <a:buNone/>
            </a:pPr>
            <a:r>
              <a:rPr lang="ja-GB" altLang="en-US" dirty="0"/>
              <a:t>問題</a:t>
            </a:r>
            <a:r>
              <a:rPr lang="en-US" altLang="ja-GB" dirty="0"/>
              <a:t>4</a:t>
            </a:r>
            <a:r>
              <a:rPr lang="ja-GB" altLang="en-US" dirty="0"/>
              <a:t>：サブネットマスク</a:t>
            </a:r>
            <a:endParaRPr lang="en-US" altLang="ja-GB" dirty="0"/>
          </a:p>
          <a:p>
            <a:pPr lvl="1"/>
            <a:endParaRPr kumimoji="1" lang="ja-GB" altLang="en-US" dirty="0"/>
          </a:p>
        </p:txBody>
      </p:sp>
    </p:spTree>
    <p:extLst>
      <p:ext uri="{BB962C8B-B14F-4D97-AF65-F5344CB8AC3E}">
        <p14:creationId xmlns:p14="http://schemas.microsoft.com/office/powerpoint/2010/main" val="253356030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6A8D7-C8FC-AFDF-EC4F-B31AC8747FE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F3D92E1-335D-CDF5-F537-65A6641DCFA4}"/>
              </a:ext>
            </a:extLst>
          </p:cNvPr>
          <p:cNvSpPr>
            <a:spLocks noGrp="1"/>
          </p:cNvSpPr>
          <p:nvPr>
            <p:ph type="title"/>
          </p:nvPr>
        </p:nvSpPr>
        <p:spPr/>
        <p:txBody>
          <a:bodyPr/>
          <a:lstStyle/>
          <a:p>
            <a:r>
              <a:rPr kumimoji="1" lang="en-US" altLang="ja-GB" dirty="0"/>
              <a:t>Web</a:t>
            </a:r>
            <a:r>
              <a:rPr kumimoji="1" lang="ja-GB" altLang="en-US" dirty="0"/>
              <a:t>アプリ</a:t>
            </a:r>
          </a:p>
        </p:txBody>
      </p:sp>
      <p:sp>
        <p:nvSpPr>
          <p:cNvPr id="4" name="テキスト ボックス 3">
            <a:extLst>
              <a:ext uri="{FF2B5EF4-FFF2-40B4-BE49-F238E27FC236}">
                <a16:creationId xmlns:a16="http://schemas.microsoft.com/office/drawing/2014/main" id="{8C10B4AD-CBE8-FA43-DF73-4533BE460B4F}"/>
              </a:ext>
            </a:extLst>
          </p:cNvPr>
          <p:cNvSpPr txBox="1"/>
          <p:nvPr/>
        </p:nvSpPr>
        <p:spPr>
          <a:xfrm>
            <a:off x="1019390" y="5684177"/>
            <a:ext cx="7105215" cy="369332"/>
          </a:xfrm>
          <a:prstGeom prst="rect">
            <a:avLst/>
          </a:prstGeom>
          <a:noFill/>
        </p:spPr>
        <p:txBody>
          <a:bodyPr wrap="none" rtlCol="0">
            <a:spAutoFit/>
          </a:bodyPr>
          <a:lstStyle/>
          <a:p>
            <a:pPr algn="ctr"/>
            <a:r>
              <a:rPr kumimoji="1" lang="en-GB" altLang="ja-GB" dirty="0">
                <a:hlinkClick r:id="rId3"/>
              </a:rPr>
              <a:t>https://claude.ai/public/artifacts/8466c5b1-61df-4e6e-9f5c-7dac5a16fa5f</a:t>
            </a:r>
            <a:r>
              <a:rPr kumimoji="1" lang="en-GB" altLang="ja-GB" dirty="0"/>
              <a:t> </a:t>
            </a:r>
            <a:endParaRPr kumimoji="1" lang="ja-GB" altLang="en-US" dirty="0"/>
          </a:p>
        </p:txBody>
      </p:sp>
      <p:pic>
        <p:nvPicPr>
          <p:cNvPr id="6" name="図 5" descr="グラフィカル ユーザー インターフェイス, アプリケーション&#10;&#10;AI 生成コンテンツは誤りを含む可能性があります。">
            <a:extLst>
              <a:ext uri="{FF2B5EF4-FFF2-40B4-BE49-F238E27FC236}">
                <a16:creationId xmlns:a16="http://schemas.microsoft.com/office/drawing/2014/main" id="{92CACA53-5763-300A-F301-0B2C9BB9A85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690439" y="659219"/>
            <a:ext cx="5763121" cy="5147692"/>
          </a:xfrm>
          <a:prstGeom prst="rect">
            <a:avLst/>
          </a:prstGeom>
        </p:spPr>
      </p:pic>
      <p:sp>
        <p:nvSpPr>
          <p:cNvPr id="7" name="テキスト ボックス 6">
            <a:extLst>
              <a:ext uri="{FF2B5EF4-FFF2-40B4-BE49-F238E27FC236}">
                <a16:creationId xmlns:a16="http://schemas.microsoft.com/office/drawing/2014/main" id="{EFD459D2-1DFD-34E3-2250-B56847F19422}"/>
              </a:ext>
            </a:extLst>
          </p:cNvPr>
          <p:cNvSpPr txBox="1"/>
          <p:nvPr/>
        </p:nvSpPr>
        <p:spPr>
          <a:xfrm>
            <a:off x="1363429" y="6002165"/>
            <a:ext cx="6417142" cy="369332"/>
          </a:xfrm>
          <a:prstGeom prst="rect">
            <a:avLst/>
          </a:prstGeom>
          <a:noFill/>
        </p:spPr>
        <p:txBody>
          <a:bodyPr wrap="none" rtlCol="0">
            <a:spAutoFit/>
          </a:bodyPr>
          <a:lstStyle/>
          <a:p>
            <a:pPr algn="ctr"/>
            <a:r>
              <a:rPr kumimoji="1" lang="ja-GB" altLang="en-US" dirty="0">
                <a:solidFill>
                  <a:schemeClr val="tx1">
                    <a:lumMod val="50000"/>
                    <a:lumOff val="50000"/>
                  </a:schemeClr>
                </a:solidFill>
              </a:rPr>
              <a:t>アプリに不具合や間違いがあれば講師までご連絡ください</a:t>
            </a:r>
          </a:p>
        </p:txBody>
      </p:sp>
      <p:sp>
        <p:nvSpPr>
          <p:cNvPr id="8" name="テキスト ボックス 7">
            <a:extLst>
              <a:ext uri="{FF2B5EF4-FFF2-40B4-BE49-F238E27FC236}">
                <a16:creationId xmlns:a16="http://schemas.microsoft.com/office/drawing/2014/main" id="{E9904672-D807-0F4B-CA12-2864EBACFF7A}"/>
              </a:ext>
            </a:extLst>
          </p:cNvPr>
          <p:cNvSpPr txBox="1"/>
          <p:nvPr/>
        </p:nvSpPr>
        <p:spPr>
          <a:xfrm>
            <a:off x="663717" y="6412862"/>
            <a:ext cx="7816563" cy="307777"/>
          </a:xfrm>
          <a:prstGeom prst="rect">
            <a:avLst/>
          </a:prstGeom>
          <a:noFill/>
        </p:spPr>
        <p:txBody>
          <a:bodyPr wrap="none" rtlCol="0">
            <a:spAutoFit/>
          </a:bodyPr>
          <a:lstStyle/>
          <a:p>
            <a:pPr algn="ctr"/>
            <a:r>
              <a:rPr kumimoji="1" lang="en-US" altLang="ja-GB" sz="1400" dirty="0"/>
              <a:t>※</a:t>
            </a:r>
            <a:r>
              <a:rPr kumimoji="1" lang="ja-GB" altLang="en-US" sz="1400" dirty="0"/>
              <a:t>本講義では，マスクされた部分を</a:t>
            </a:r>
            <a:r>
              <a:rPr kumimoji="1" lang="en-US" altLang="ja-GB" sz="1400" dirty="0"/>
              <a:t>0</a:t>
            </a:r>
            <a:r>
              <a:rPr kumimoji="1" lang="ja-GB" altLang="en-US" sz="1400" dirty="0"/>
              <a:t>で埋めた結果がネットワーク部やホスト部として表示する</a:t>
            </a:r>
          </a:p>
        </p:txBody>
      </p:sp>
    </p:spTree>
    <p:extLst>
      <p:ext uri="{BB962C8B-B14F-4D97-AF65-F5344CB8AC3E}">
        <p14:creationId xmlns:p14="http://schemas.microsoft.com/office/powerpoint/2010/main" val="4051740929"/>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C5576D-E8A8-36A9-BA2B-7DD0B114C398}"/>
              </a:ext>
            </a:extLst>
          </p:cNvPr>
          <p:cNvSpPr>
            <a:spLocks noGrp="1"/>
          </p:cNvSpPr>
          <p:nvPr>
            <p:ph type="title"/>
          </p:nvPr>
        </p:nvSpPr>
        <p:spPr/>
        <p:txBody>
          <a:bodyPr/>
          <a:lstStyle/>
          <a:p>
            <a:r>
              <a:rPr kumimoji="1" lang="ja-GB" altLang="en-US" dirty="0"/>
              <a:t>ヒント</a:t>
            </a:r>
          </a:p>
        </p:txBody>
      </p:sp>
      <p:sp>
        <p:nvSpPr>
          <p:cNvPr id="3" name="コンテンツ プレースホルダー 2">
            <a:extLst>
              <a:ext uri="{FF2B5EF4-FFF2-40B4-BE49-F238E27FC236}">
                <a16:creationId xmlns:a16="http://schemas.microsoft.com/office/drawing/2014/main" id="{B9AE6F31-3ACB-7615-DC11-06D5D8D31B10}"/>
              </a:ext>
            </a:extLst>
          </p:cNvPr>
          <p:cNvSpPr>
            <a:spLocks noGrp="1"/>
          </p:cNvSpPr>
          <p:nvPr>
            <p:ph idx="1"/>
          </p:nvPr>
        </p:nvSpPr>
        <p:spPr/>
        <p:txBody>
          <a:bodyPr>
            <a:normAutofit/>
          </a:bodyPr>
          <a:lstStyle/>
          <a:p>
            <a:pPr marL="0" indent="0">
              <a:buNone/>
            </a:pPr>
            <a:r>
              <a:rPr lang="en-GB" altLang="ja-GB" dirty="0"/>
              <a:t>IP</a:t>
            </a:r>
            <a:r>
              <a:rPr lang="ja-JP" altLang="en-US"/>
              <a:t>アドレス：</a:t>
            </a:r>
            <a:r>
              <a:rPr lang="en-US" altLang="ja-JP" dirty="0"/>
              <a:t>172.17.14.173</a:t>
            </a:r>
          </a:p>
          <a:p>
            <a:pPr marL="0" indent="0">
              <a:buNone/>
            </a:pPr>
            <a:r>
              <a:rPr lang="en-US" altLang="ja-JP" dirty="0"/>
              <a:t>↓2</a:t>
            </a:r>
            <a:r>
              <a:rPr lang="ja-JP" altLang="en-US"/>
              <a:t>進数</a:t>
            </a:r>
          </a:p>
          <a:p>
            <a:pPr marL="0" indent="0">
              <a:buNone/>
            </a:pPr>
            <a:r>
              <a:rPr lang="en-GB" altLang="ja-GB" dirty="0"/>
              <a:t>IP</a:t>
            </a:r>
            <a:r>
              <a:rPr lang="ja-JP" altLang="en-US"/>
              <a:t>アドレス：</a:t>
            </a:r>
            <a:r>
              <a:rPr lang="en-US" altLang="ja-JP" dirty="0"/>
              <a:t>10101100.00010001.00001110.10101101</a:t>
            </a:r>
          </a:p>
          <a:p>
            <a:pPr marL="0" indent="0">
              <a:buNone/>
            </a:pPr>
            <a:endParaRPr lang="en-US" altLang="ja-JP" dirty="0"/>
          </a:p>
          <a:p>
            <a:pPr marL="0" indent="0">
              <a:buNone/>
            </a:pPr>
            <a:r>
              <a:rPr lang="ja-JP" altLang="en-US"/>
              <a:t>サブネットマスク：</a:t>
            </a:r>
            <a:r>
              <a:rPr lang="en-US" altLang="ja-JP" dirty="0"/>
              <a:t>255.255.252.0</a:t>
            </a:r>
          </a:p>
          <a:p>
            <a:pPr marL="0" indent="0">
              <a:buNone/>
            </a:pPr>
            <a:r>
              <a:rPr lang="en-US" altLang="ja-JP" dirty="0"/>
              <a:t>↓2</a:t>
            </a:r>
            <a:r>
              <a:rPr lang="ja-JP" altLang="en-US"/>
              <a:t>進数</a:t>
            </a:r>
          </a:p>
          <a:p>
            <a:pPr marL="0" indent="0">
              <a:buNone/>
            </a:pPr>
            <a:r>
              <a:rPr lang="ja-JP" altLang="en-US"/>
              <a:t>サブネットマスク：</a:t>
            </a:r>
            <a:r>
              <a:rPr lang="en-US" altLang="ja-JP" dirty="0"/>
              <a:t>11111111.11111111.11111100.00000000</a:t>
            </a:r>
          </a:p>
        </p:txBody>
      </p:sp>
    </p:spTree>
    <p:extLst>
      <p:ext uri="{BB962C8B-B14F-4D97-AF65-F5344CB8AC3E}">
        <p14:creationId xmlns:p14="http://schemas.microsoft.com/office/powerpoint/2010/main" val="319658875"/>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7B0FA-008C-8EFF-675F-7B6D4201C49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57888F3-7E54-8ACB-F947-879FD2BE48B5}"/>
              </a:ext>
            </a:extLst>
          </p:cNvPr>
          <p:cNvSpPr>
            <a:spLocks noGrp="1"/>
          </p:cNvSpPr>
          <p:nvPr>
            <p:ph type="title"/>
          </p:nvPr>
        </p:nvSpPr>
        <p:spPr/>
        <p:txBody>
          <a:bodyPr/>
          <a:lstStyle/>
          <a:p>
            <a:r>
              <a:rPr kumimoji="1" lang="ja-GB" altLang="en-US" dirty="0"/>
              <a:t>ヒント</a:t>
            </a:r>
          </a:p>
        </p:txBody>
      </p:sp>
      <p:sp>
        <p:nvSpPr>
          <p:cNvPr id="3" name="コンテンツ プレースホルダー 2">
            <a:extLst>
              <a:ext uri="{FF2B5EF4-FFF2-40B4-BE49-F238E27FC236}">
                <a16:creationId xmlns:a16="http://schemas.microsoft.com/office/drawing/2014/main" id="{F2B6CAFD-9045-23A7-C2A3-26DB8B94C361}"/>
              </a:ext>
            </a:extLst>
          </p:cNvPr>
          <p:cNvSpPr>
            <a:spLocks noGrp="1"/>
          </p:cNvSpPr>
          <p:nvPr>
            <p:ph idx="1"/>
          </p:nvPr>
        </p:nvSpPr>
        <p:spPr/>
        <p:txBody>
          <a:bodyPr>
            <a:normAutofit/>
          </a:bodyPr>
          <a:lstStyle/>
          <a:p>
            <a:pPr marL="0" indent="0">
              <a:buNone/>
            </a:pPr>
            <a:r>
              <a:rPr lang="ja-JP" altLang="en-US"/>
              <a:t>ネットワーク部 </a:t>
            </a:r>
            <a:r>
              <a:rPr lang="en-US" altLang="ja-JP" dirty="0"/>
              <a:t>(</a:t>
            </a:r>
            <a:r>
              <a:rPr lang="en-GB" altLang="ja-GB" dirty="0"/>
              <a:t>IP AND </a:t>
            </a:r>
            <a:r>
              <a:rPr lang="ja-JP" altLang="en-US"/>
              <a:t>サブネットマスク</a:t>
            </a:r>
            <a:r>
              <a:rPr lang="en-US" altLang="ja-JP" dirty="0"/>
              <a:t>):</a:t>
            </a:r>
          </a:p>
          <a:p>
            <a:pPr marL="0" indent="0">
              <a:buNone/>
            </a:pPr>
            <a:endParaRPr lang="en-US" altLang="ja-JP" dirty="0"/>
          </a:p>
          <a:p>
            <a:pPr marL="0" indent="0">
              <a:buNone/>
            </a:pPr>
            <a:r>
              <a:rPr lang="en-US" altLang="ja-JP" dirty="0"/>
              <a:t>10101100.00010001.00001110.10101101</a:t>
            </a:r>
            <a:r>
              <a:rPr lang="ja-JP" altLang="en-US"/>
              <a:t>：</a:t>
            </a:r>
            <a:r>
              <a:rPr lang="en-GB" altLang="ja-GB" dirty="0"/>
              <a:t>IP</a:t>
            </a:r>
            <a:r>
              <a:rPr lang="ja-JP" altLang="en-US"/>
              <a:t>アドレス（</a:t>
            </a:r>
            <a:r>
              <a:rPr lang="en-US" altLang="ja-JP" dirty="0"/>
              <a:t>2</a:t>
            </a:r>
            <a:r>
              <a:rPr lang="ja-JP" altLang="en-US"/>
              <a:t>進数）</a:t>
            </a:r>
          </a:p>
          <a:p>
            <a:pPr marL="0" indent="0">
              <a:buNone/>
            </a:pPr>
            <a:r>
              <a:rPr lang="en-US" altLang="ja-JP" dirty="0"/>
              <a:t>11111111.11111111.11111100.00000000</a:t>
            </a:r>
            <a:r>
              <a:rPr lang="ja-JP" altLang="en-US"/>
              <a:t>：サブネットマスク（</a:t>
            </a:r>
            <a:r>
              <a:rPr lang="en-US" altLang="ja-JP" dirty="0"/>
              <a:t>2</a:t>
            </a:r>
            <a:r>
              <a:rPr lang="ja-JP" altLang="en-US"/>
              <a:t>進数）</a:t>
            </a:r>
          </a:p>
          <a:p>
            <a:pPr marL="0" indent="0">
              <a:buNone/>
            </a:pPr>
            <a:r>
              <a:rPr lang="ja-JP" altLang="en-US"/>
              <a:t>↓</a:t>
            </a:r>
            <a:endParaRPr lang="en-GB" altLang="ja-GB" dirty="0"/>
          </a:p>
          <a:p>
            <a:pPr marL="0" indent="0">
              <a:buNone/>
            </a:pPr>
            <a:r>
              <a:rPr lang="en-GB" altLang="ja-GB" dirty="0">
                <a:solidFill>
                  <a:schemeClr val="accent2"/>
                </a:solidFill>
              </a:rPr>
              <a:t>IP</a:t>
            </a:r>
            <a:r>
              <a:rPr lang="ja-JP" altLang="en-US">
                <a:solidFill>
                  <a:schemeClr val="accent2"/>
                </a:solidFill>
              </a:rPr>
              <a:t>アドレス </a:t>
            </a:r>
            <a:r>
              <a:rPr lang="en-GB" altLang="ja-GB" dirty="0">
                <a:solidFill>
                  <a:schemeClr val="accent2"/>
                </a:solidFill>
              </a:rPr>
              <a:t>AND </a:t>
            </a:r>
            <a:r>
              <a:rPr lang="ja-JP" altLang="en-US">
                <a:solidFill>
                  <a:schemeClr val="accent2"/>
                </a:solidFill>
              </a:rPr>
              <a:t>サブネットマスク</a:t>
            </a:r>
            <a:r>
              <a:rPr lang="en-US" altLang="ja-JP" dirty="0">
                <a:solidFill>
                  <a:schemeClr val="accent2"/>
                </a:solidFill>
              </a:rPr>
              <a:t> = </a:t>
            </a:r>
            <a:r>
              <a:rPr lang="ja-GB" altLang="en-US" dirty="0">
                <a:solidFill>
                  <a:schemeClr val="accent2"/>
                </a:solidFill>
              </a:rPr>
              <a:t>ネットワーク部（</a:t>
            </a:r>
            <a:r>
              <a:rPr lang="en-US" altLang="ja-GB" dirty="0">
                <a:solidFill>
                  <a:schemeClr val="accent2"/>
                </a:solidFill>
              </a:rPr>
              <a:t>2</a:t>
            </a:r>
            <a:r>
              <a:rPr lang="ja-GB" altLang="en-US">
                <a:solidFill>
                  <a:schemeClr val="accent2"/>
                </a:solidFill>
              </a:rPr>
              <a:t>進数）</a:t>
            </a:r>
            <a:endParaRPr lang="en-GB" altLang="ja-GB" dirty="0">
              <a:solidFill>
                <a:schemeClr val="accent2"/>
              </a:solidFill>
            </a:endParaRPr>
          </a:p>
          <a:p>
            <a:pPr marL="0" indent="0">
              <a:buNone/>
            </a:pPr>
            <a:r>
              <a:rPr lang="en-GB" altLang="ja-GB" dirty="0"/>
              <a:t>10101100.00010001.00001100.00000000</a:t>
            </a:r>
            <a:endParaRPr lang="ja-JP" altLang="en-US"/>
          </a:p>
          <a:p>
            <a:pPr marL="0" indent="0">
              <a:buNone/>
            </a:pPr>
            <a:r>
              <a:rPr lang="ja-JP" altLang="en-US"/>
              <a:t>↓</a:t>
            </a:r>
          </a:p>
          <a:p>
            <a:pPr marL="0" indent="0">
              <a:buNone/>
            </a:pPr>
            <a:r>
              <a:rPr lang="ja-JP" altLang="en-US"/>
              <a:t>ネットワーク部（</a:t>
            </a:r>
            <a:r>
              <a:rPr lang="en-US" altLang="ja-JP" dirty="0"/>
              <a:t> 10</a:t>
            </a:r>
            <a:r>
              <a:rPr lang="ja-JP" altLang="en-US"/>
              <a:t>進数）：</a:t>
            </a:r>
            <a:r>
              <a:rPr lang="en-US" altLang="ja-JP" dirty="0"/>
              <a:t>?????</a:t>
            </a:r>
          </a:p>
        </p:txBody>
      </p:sp>
    </p:spTree>
    <p:extLst>
      <p:ext uri="{BB962C8B-B14F-4D97-AF65-F5344CB8AC3E}">
        <p14:creationId xmlns:p14="http://schemas.microsoft.com/office/powerpoint/2010/main" val="82083028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CCBA8-00BF-4742-25EA-76C4902A2B7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5C300FF-A8BD-1877-A40E-1A9F710A236E}"/>
              </a:ext>
            </a:extLst>
          </p:cNvPr>
          <p:cNvSpPr>
            <a:spLocks noGrp="1"/>
          </p:cNvSpPr>
          <p:nvPr>
            <p:ph type="title"/>
          </p:nvPr>
        </p:nvSpPr>
        <p:spPr/>
        <p:txBody>
          <a:bodyPr/>
          <a:lstStyle/>
          <a:p>
            <a:r>
              <a:rPr kumimoji="1" lang="ja-GB" altLang="en-US" dirty="0"/>
              <a:t>ヒント</a:t>
            </a:r>
          </a:p>
        </p:txBody>
      </p:sp>
      <p:sp>
        <p:nvSpPr>
          <p:cNvPr id="3" name="コンテンツ プレースホルダー 2">
            <a:extLst>
              <a:ext uri="{FF2B5EF4-FFF2-40B4-BE49-F238E27FC236}">
                <a16:creationId xmlns:a16="http://schemas.microsoft.com/office/drawing/2014/main" id="{7D1EA2A6-167B-8C01-846C-33F68139B85D}"/>
              </a:ext>
            </a:extLst>
          </p:cNvPr>
          <p:cNvSpPr>
            <a:spLocks noGrp="1"/>
          </p:cNvSpPr>
          <p:nvPr>
            <p:ph idx="1"/>
          </p:nvPr>
        </p:nvSpPr>
        <p:spPr/>
        <p:txBody>
          <a:bodyPr>
            <a:normAutofit/>
          </a:bodyPr>
          <a:lstStyle/>
          <a:p>
            <a:pPr marL="0" indent="0">
              <a:buNone/>
            </a:pPr>
            <a:r>
              <a:rPr lang="ja-JP" altLang="en-US"/>
              <a:t>ホスト部</a:t>
            </a:r>
            <a:r>
              <a:rPr lang="en-US" altLang="ja-JP" dirty="0"/>
              <a:t>(</a:t>
            </a:r>
            <a:r>
              <a:rPr lang="en-GB" altLang="ja-GB" dirty="0"/>
              <a:t>IP AND (NOT </a:t>
            </a:r>
            <a:r>
              <a:rPr lang="ja-JP" altLang="en-US"/>
              <a:t>サブネットマスク</a:t>
            </a:r>
            <a:r>
              <a:rPr lang="en-US" altLang="ja-JP" dirty="0"/>
              <a:t>)):</a:t>
            </a:r>
          </a:p>
          <a:p>
            <a:pPr marL="0" indent="0">
              <a:buNone/>
            </a:pPr>
            <a:r>
              <a:rPr lang="en-US" altLang="ja-JP" dirty="0"/>
              <a:t>10101100.00010001.00001110.10101101</a:t>
            </a:r>
            <a:r>
              <a:rPr lang="ja-JP" altLang="en-US"/>
              <a:t>：</a:t>
            </a:r>
            <a:r>
              <a:rPr lang="en-GB" altLang="ja-GB" dirty="0"/>
              <a:t>IP</a:t>
            </a:r>
            <a:r>
              <a:rPr lang="ja-JP" altLang="en-US"/>
              <a:t>アドレス（</a:t>
            </a:r>
            <a:r>
              <a:rPr lang="en-US" altLang="ja-JP" dirty="0"/>
              <a:t>2</a:t>
            </a:r>
            <a:r>
              <a:rPr lang="ja-JP" altLang="en-US"/>
              <a:t>進数）</a:t>
            </a:r>
          </a:p>
          <a:p>
            <a:pPr marL="0" indent="0">
              <a:buNone/>
            </a:pPr>
            <a:r>
              <a:rPr lang="en-US" altLang="ja-JP" dirty="0"/>
              <a:t>00000000.00000000.00000011.11111111</a:t>
            </a:r>
            <a:r>
              <a:rPr lang="ja-JP" altLang="en-US"/>
              <a:t>：</a:t>
            </a:r>
            <a:r>
              <a:rPr lang="en-GB" altLang="ja-GB" dirty="0"/>
              <a:t>NOT </a:t>
            </a:r>
            <a:r>
              <a:rPr lang="ja-JP" altLang="en-US"/>
              <a:t>サブネットマスク</a:t>
            </a:r>
          </a:p>
          <a:p>
            <a:pPr marL="0" indent="0">
              <a:buNone/>
            </a:pPr>
            <a:r>
              <a:rPr lang="ja-JP" altLang="en-US"/>
              <a:t>↓</a:t>
            </a:r>
            <a:endParaRPr lang="en-GB" altLang="ja-JP" dirty="0"/>
          </a:p>
          <a:p>
            <a:pPr marL="0" indent="0">
              <a:buNone/>
            </a:pPr>
            <a:r>
              <a:rPr lang="en-GB" altLang="ja-GB" dirty="0">
                <a:solidFill>
                  <a:schemeClr val="accent2"/>
                </a:solidFill>
              </a:rPr>
              <a:t>IP</a:t>
            </a:r>
            <a:r>
              <a:rPr lang="ja-JP" altLang="en-US">
                <a:solidFill>
                  <a:schemeClr val="accent2"/>
                </a:solidFill>
              </a:rPr>
              <a:t>アドレス </a:t>
            </a:r>
            <a:r>
              <a:rPr lang="en-GB" altLang="ja-GB" dirty="0">
                <a:solidFill>
                  <a:schemeClr val="accent2"/>
                </a:solidFill>
              </a:rPr>
              <a:t>AND (NOT </a:t>
            </a:r>
            <a:r>
              <a:rPr lang="ja-JP" altLang="en-US">
                <a:solidFill>
                  <a:schemeClr val="accent2"/>
                </a:solidFill>
              </a:rPr>
              <a:t>サブネットマスク</a:t>
            </a:r>
            <a:r>
              <a:rPr lang="en-US" altLang="ja-JP" dirty="0">
                <a:solidFill>
                  <a:schemeClr val="accent2"/>
                </a:solidFill>
              </a:rPr>
              <a:t>) = </a:t>
            </a:r>
            <a:r>
              <a:rPr lang="ja-GB" altLang="en-US" dirty="0">
                <a:solidFill>
                  <a:schemeClr val="accent2"/>
                </a:solidFill>
              </a:rPr>
              <a:t>ホスト部</a:t>
            </a:r>
            <a:endParaRPr lang="en-GB" altLang="ja-GB" dirty="0">
              <a:solidFill>
                <a:schemeClr val="accent2"/>
              </a:solidFill>
            </a:endParaRPr>
          </a:p>
          <a:p>
            <a:pPr marL="0" indent="0">
              <a:buNone/>
            </a:pPr>
            <a:r>
              <a:rPr lang="en-GB" altLang="ja-GB" dirty="0"/>
              <a:t>00000000.00000000.00000010.10101101</a:t>
            </a:r>
            <a:endParaRPr lang="en-US" altLang="ja-JP" dirty="0"/>
          </a:p>
          <a:p>
            <a:pPr marL="0" indent="0">
              <a:buNone/>
            </a:pPr>
            <a:r>
              <a:rPr lang="en-US" altLang="ja-JP" dirty="0"/>
              <a:t>↓</a:t>
            </a:r>
          </a:p>
          <a:p>
            <a:pPr marL="0" indent="0">
              <a:buNone/>
            </a:pPr>
            <a:r>
              <a:rPr lang="ja-GB" altLang="en-US" dirty="0"/>
              <a:t>ホスト部（</a:t>
            </a:r>
            <a:r>
              <a:rPr lang="en-US" altLang="ja-JP" dirty="0"/>
              <a:t>10</a:t>
            </a:r>
            <a:r>
              <a:rPr lang="ja-JP" altLang="en-US"/>
              <a:t>進数）：</a:t>
            </a:r>
            <a:r>
              <a:rPr lang="en-US" altLang="ja-JP" dirty="0"/>
              <a:t>???</a:t>
            </a:r>
            <a:endParaRPr lang="ja-JP" altLang="en-US"/>
          </a:p>
        </p:txBody>
      </p:sp>
    </p:spTree>
    <p:extLst>
      <p:ext uri="{BB962C8B-B14F-4D97-AF65-F5344CB8AC3E}">
        <p14:creationId xmlns:p14="http://schemas.microsoft.com/office/powerpoint/2010/main" val="3438952828"/>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617686DE-C670-2783-2DA3-2DBB05C83B3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AA8B8C2-2ABE-932B-0978-72F06F9531FD}"/>
              </a:ext>
            </a:extLst>
          </p:cNvPr>
          <p:cNvSpPr>
            <a:spLocks noGrp="1"/>
          </p:cNvSpPr>
          <p:nvPr>
            <p:ph type="ctrTitle"/>
          </p:nvPr>
        </p:nvSpPr>
        <p:spPr/>
        <p:txBody>
          <a:bodyPr>
            <a:normAutofit/>
          </a:bodyPr>
          <a:lstStyle/>
          <a:p>
            <a:r>
              <a:rPr kumimoji="1" lang="en-US" altLang="ja-GB" sz="3600" dirty="0">
                <a:solidFill>
                  <a:schemeClr val="bg1"/>
                </a:solidFill>
              </a:rPr>
              <a:t>VII. </a:t>
            </a:r>
            <a:r>
              <a:rPr kumimoji="1" lang="ja-GB" altLang="en-US" sz="3600" dirty="0">
                <a:solidFill>
                  <a:schemeClr val="bg1"/>
                </a:solidFill>
              </a:rPr>
              <a:t>計算論的思考</a:t>
            </a:r>
          </a:p>
        </p:txBody>
      </p:sp>
      <p:sp>
        <p:nvSpPr>
          <p:cNvPr id="3" name="字幕 2">
            <a:extLst>
              <a:ext uri="{FF2B5EF4-FFF2-40B4-BE49-F238E27FC236}">
                <a16:creationId xmlns:a16="http://schemas.microsoft.com/office/drawing/2014/main" id="{097ED04F-D3DF-95DE-C47F-8756A51656F9}"/>
              </a:ext>
            </a:extLst>
          </p:cNvPr>
          <p:cNvSpPr>
            <a:spLocks noGrp="1"/>
          </p:cNvSpPr>
          <p:nvPr>
            <p:ph type="subTitle" idx="1"/>
          </p:nvPr>
        </p:nvSpPr>
        <p:spPr>
          <a:xfrm>
            <a:off x="1143000" y="3429000"/>
            <a:ext cx="6858000" cy="1655762"/>
          </a:xfrm>
        </p:spPr>
        <p:txBody>
          <a:bodyPr>
            <a:normAutofit lnSpcReduction="10000"/>
          </a:bodyPr>
          <a:lstStyle/>
          <a:p>
            <a:endParaRPr kumimoji="1" lang="en-US" altLang="ja-GB" dirty="0">
              <a:solidFill>
                <a:schemeClr val="bg1"/>
              </a:solidFill>
            </a:endParaRPr>
          </a:p>
          <a:p>
            <a:r>
              <a:rPr kumimoji="1" lang="en-US" altLang="ja-GB" dirty="0">
                <a:solidFill>
                  <a:schemeClr val="bg1"/>
                </a:solidFill>
              </a:rPr>
              <a:t>13. </a:t>
            </a:r>
            <a:r>
              <a:rPr kumimoji="1" lang="ja-GB" altLang="en-US" dirty="0">
                <a:solidFill>
                  <a:schemeClr val="bg1"/>
                </a:solidFill>
              </a:rPr>
              <a:t>問題解決のためのモデル：</a:t>
            </a:r>
            <a:r>
              <a:rPr kumimoji="1" lang="en-US" altLang="ja-GB" dirty="0">
                <a:solidFill>
                  <a:schemeClr val="bg1"/>
                </a:solidFill>
              </a:rPr>
              <a:t>PERT</a:t>
            </a:r>
            <a:r>
              <a:rPr kumimoji="1" lang="ja-GB" altLang="en-US" dirty="0">
                <a:solidFill>
                  <a:schemeClr val="bg1"/>
                </a:solidFill>
              </a:rPr>
              <a:t>図</a:t>
            </a:r>
            <a:endParaRPr kumimoji="1" lang="en-US" altLang="ja-GB" dirty="0">
              <a:solidFill>
                <a:schemeClr val="bg1"/>
              </a:solidFill>
            </a:endParaRPr>
          </a:p>
          <a:p>
            <a:r>
              <a:rPr lang="en-US" altLang="ja-GB" dirty="0">
                <a:solidFill>
                  <a:schemeClr val="bg1"/>
                </a:solidFill>
              </a:rPr>
              <a:t>14. </a:t>
            </a:r>
            <a:r>
              <a:rPr lang="ja-GB" altLang="en-US" dirty="0">
                <a:solidFill>
                  <a:schemeClr val="bg1"/>
                </a:solidFill>
              </a:rPr>
              <a:t>問題解決のためのモデル：決定表</a:t>
            </a:r>
            <a:endParaRPr lang="en-US" altLang="ja-GB" dirty="0">
              <a:solidFill>
                <a:schemeClr val="bg1"/>
              </a:solidFill>
            </a:endParaRPr>
          </a:p>
          <a:p>
            <a:r>
              <a:rPr lang="en-US" altLang="ja-GB" dirty="0">
                <a:solidFill>
                  <a:schemeClr val="bg1"/>
                </a:solidFill>
              </a:rPr>
              <a:t>15. </a:t>
            </a:r>
            <a:r>
              <a:rPr lang="ja-GB" altLang="en-US" dirty="0">
                <a:solidFill>
                  <a:schemeClr val="bg1"/>
                </a:solidFill>
              </a:rPr>
              <a:t>演習</a:t>
            </a:r>
            <a:endParaRPr lang="en-US" altLang="ja-GB" dirty="0">
              <a:solidFill>
                <a:schemeClr val="bg1"/>
              </a:solidFill>
            </a:endParaRPr>
          </a:p>
        </p:txBody>
      </p:sp>
    </p:spTree>
    <p:extLst>
      <p:ext uri="{BB962C8B-B14F-4D97-AF65-F5344CB8AC3E}">
        <p14:creationId xmlns:p14="http://schemas.microsoft.com/office/powerpoint/2010/main" val="373229806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B383CA-B23C-8BB1-C0BF-4764B9517319}"/>
              </a:ext>
            </a:extLst>
          </p:cNvPr>
          <p:cNvSpPr>
            <a:spLocks noGrp="1"/>
          </p:cNvSpPr>
          <p:nvPr>
            <p:ph type="title"/>
          </p:nvPr>
        </p:nvSpPr>
        <p:spPr/>
        <p:txBody>
          <a:bodyPr>
            <a:normAutofit/>
          </a:bodyPr>
          <a:lstStyle/>
          <a:p>
            <a:r>
              <a:rPr lang="ja-GB" dirty="0"/>
              <a:t>この授業について</a:t>
            </a:r>
          </a:p>
        </p:txBody>
      </p:sp>
      <p:sp>
        <p:nvSpPr>
          <p:cNvPr id="3" name="コンテンツ プレースホルダー 2">
            <a:extLst>
              <a:ext uri="{FF2B5EF4-FFF2-40B4-BE49-F238E27FC236}">
                <a16:creationId xmlns:a16="http://schemas.microsoft.com/office/drawing/2014/main" id="{4599C7E9-1D51-D4D2-B239-7730B2932A7C}"/>
              </a:ext>
            </a:extLst>
          </p:cNvPr>
          <p:cNvSpPr>
            <a:spLocks noGrp="1"/>
          </p:cNvSpPr>
          <p:nvPr>
            <p:ph idx="1"/>
          </p:nvPr>
        </p:nvSpPr>
        <p:spPr/>
        <p:txBody>
          <a:bodyPr/>
          <a:lstStyle/>
          <a:p>
            <a:pPr marL="0" indent="0">
              <a:buNone/>
            </a:pPr>
            <a:r>
              <a:rPr lang="ja-GB" dirty="0"/>
              <a:t>コンピュータシステム</a:t>
            </a:r>
          </a:p>
          <a:p>
            <a:pPr marL="457200" lvl="1" indent="0">
              <a:buNone/>
            </a:pPr>
            <a:r>
              <a:rPr lang="ja-JP" altLang="en-US"/>
              <a:t>情報社会において</a:t>
            </a:r>
            <a:r>
              <a:rPr lang="ja-JP" altLang="en-US">
                <a:solidFill>
                  <a:srgbClr val="0070C0"/>
                </a:solidFill>
              </a:rPr>
              <a:t>情報技術（</a:t>
            </a:r>
            <a:r>
              <a:rPr lang="en-US" altLang="ja-JP" dirty="0">
                <a:solidFill>
                  <a:srgbClr val="0070C0"/>
                </a:solidFill>
              </a:rPr>
              <a:t>IT</a:t>
            </a:r>
            <a:r>
              <a:rPr lang="ja-JP" altLang="en-US">
                <a:solidFill>
                  <a:srgbClr val="0070C0"/>
                </a:solidFill>
              </a:rPr>
              <a:t>）を活用できるようになる</a:t>
            </a:r>
            <a:r>
              <a:rPr lang="ja-JP" altLang="en-US"/>
              <a:t>ために</a:t>
            </a:r>
            <a:br>
              <a:rPr lang="en-US" altLang="ja-JP" dirty="0"/>
            </a:br>
            <a:r>
              <a:rPr lang="ja-JP" altLang="en-US"/>
              <a:t>そのキーテクノロジーである</a:t>
            </a:r>
            <a:r>
              <a:rPr lang="ja-JP" altLang="en-US">
                <a:solidFill>
                  <a:srgbClr val="0070C0"/>
                </a:solidFill>
              </a:rPr>
              <a:t>コンピュータの仕組み</a:t>
            </a:r>
            <a:r>
              <a:rPr lang="ja-JP" altLang="en-US"/>
              <a:t>を学ぶ</a:t>
            </a:r>
            <a:endParaRPr lang="en-US" altLang="ja-JP" dirty="0"/>
          </a:p>
          <a:p>
            <a:pPr lvl="1"/>
            <a:endParaRPr lang="ja-GB" dirty="0"/>
          </a:p>
          <a:p>
            <a:pPr marL="0" indent="0">
              <a:buNone/>
            </a:pPr>
            <a:r>
              <a:rPr lang="ja-GB" dirty="0"/>
              <a:t>授業目的</a:t>
            </a:r>
          </a:p>
          <a:p>
            <a:pPr marL="914400" lvl="1" indent="-457200">
              <a:buFont typeface="+mj-lt"/>
              <a:buAutoNum type="arabicPeriod"/>
            </a:pPr>
            <a:r>
              <a:rPr lang="ja-GB" dirty="0">
                <a:solidFill>
                  <a:schemeClr val="bg1">
                    <a:lumMod val="75000"/>
                  </a:schemeClr>
                </a:solidFill>
              </a:rPr>
              <a:t>コンピュータの仕組みを理解する</a:t>
            </a:r>
          </a:p>
          <a:p>
            <a:pPr marL="914400" lvl="1" indent="-457200">
              <a:buFont typeface="+mj-lt"/>
              <a:buAutoNum type="arabicPeriod"/>
            </a:pPr>
            <a:r>
              <a:rPr lang="ja-JP" altLang="en-US">
                <a:solidFill>
                  <a:schemeClr val="bg1">
                    <a:lumMod val="75000"/>
                  </a:schemeClr>
                </a:solidFill>
              </a:rPr>
              <a:t>コンピュータの引き起こす現象をその仕組みから正しく把握できるようになる</a:t>
            </a:r>
            <a:endParaRPr lang="ja-GB" altLang="ja-JP" dirty="0">
              <a:solidFill>
                <a:schemeClr val="bg1">
                  <a:lumMod val="75000"/>
                </a:schemeClr>
              </a:solidFill>
            </a:endParaRPr>
          </a:p>
          <a:p>
            <a:pPr marL="914400" lvl="1" indent="-457200">
              <a:buFont typeface="+mj-lt"/>
              <a:buAutoNum type="arabicPeriod"/>
            </a:pPr>
            <a:r>
              <a:rPr lang="en-US" altLang="ja-JP" dirty="0"/>
              <a:t>IT</a:t>
            </a:r>
            <a:r>
              <a:rPr lang="ja-JP" altLang="en-US"/>
              <a:t>システムを仕事や生活で活用できるようになる</a:t>
            </a:r>
            <a:endParaRPr lang="en-US" altLang="ja-JP" dirty="0"/>
          </a:p>
          <a:p>
            <a:pPr marL="914400" lvl="1" indent="-457200">
              <a:buFont typeface="+mj-lt"/>
              <a:buAutoNum type="arabicPeriod"/>
            </a:pPr>
            <a:endParaRPr lang="en-US" dirty="0"/>
          </a:p>
          <a:p>
            <a:pPr marL="0" indent="0">
              <a:buNone/>
            </a:pPr>
            <a:r>
              <a:rPr lang="ja-GB" dirty="0"/>
              <a:t>授業内容</a:t>
            </a:r>
          </a:p>
          <a:p>
            <a:pPr lvl="1"/>
            <a:r>
              <a:rPr lang="ja-GB" dirty="0">
                <a:solidFill>
                  <a:schemeClr val="bg1">
                    <a:lumMod val="75000"/>
                  </a:schemeClr>
                </a:solidFill>
              </a:rPr>
              <a:t>コンピュータ，データ・AIにできること</a:t>
            </a:r>
          </a:p>
          <a:p>
            <a:pPr lvl="1"/>
            <a:r>
              <a:rPr lang="ja-GB" dirty="0">
                <a:solidFill>
                  <a:schemeClr val="bg1">
                    <a:lumMod val="75000"/>
                  </a:schemeClr>
                </a:solidFill>
              </a:rPr>
              <a:t>ITシステムの依頼から，デザイン，実装されるまでの流れ</a:t>
            </a:r>
          </a:p>
          <a:p>
            <a:pPr lvl="1"/>
            <a:r>
              <a:rPr lang="ja-GB" dirty="0">
                <a:solidFill>
                  <a:schemeClr val="bg1">
                    <a:lumMod val="75000"/>
                  </a:schemeClr>
                </a:solidFill>
              </a:rPr>
              <a:t>コンピュータのハードウェア構成（CPU，メモリ，ストレージなど）</a:t>
            </a:r>
          </a:p>
          <a:p>
            <a:pPr lvl="1"/>
            <a:r>
              <a:rPr lang="ja-GB" dirty="0">
                <a:solidFill>
                  <a:schemeClr val="bg1">
                    <a:lumMod val="75000"/>
                  </a:schemeClr>
                </a:solidFill>
              </a:rPr>
              <a:t>コンピュータが様々な情報処理を行える仕組み（アルゴリズム，基数など）</a:t>
            </a:r>
          </a:p>
          <a:p>
            <a:pPr lvl="1"/>
            <a:r>
              <a:rPr lang="ja-GB" dirty="0"/>
              <a:t>コンピュータの外でも役立つコンピュータを使うための思考（計算論的思考）</a:t>
            </a:r>
          </a:p>
        </p:txBody>
      </p:sp>
    </p:spTree>
    <p:extLst>
      <p:ext uri="{BB962C8B-B14F-4D97-AF65-F5344CB8AC3E}">
        <p14:creationId xmlns:p14="http://schemas.microsoft.com/office/powerpoint/2010/main" val="749684060"/>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D912D2-B0CF-FFCE-A00D-90ED7CC46D16}"/>
              </a:ext>
            </a:extLst>
          </p:cNvPr>
          <p:cNvSpPr>
            <a:spLocks noGrp="1"/>
          </p:cNvSpPr>
          <p:nvPr>
            <p:ph type="title"/>
          </p:nvPr>
        </p:nvSpPr>
        <p:spPr/>
        <p:txBody>
          <a:bodyPr/>
          <a:lstStyle/>
          <a:p>
            <a:r>
              <a:rPr lang="ja-GB" dirty="0"/>
              <a:t>授業内容</a:t>
            </a:r>
          </a:p>
        </p:txBody>
      </p:sp>
      <p:sp>
        <p:nvSpPr>
          <p:cNvPr id="3" name="コンテンツ プレースホルダー 2">
            <a:extLst>
              <a:ext uri="{FF2B5EF4-FFF2-40B4-BE49-F238E27FC236}">
                <a16:creationId xmlns:a16="http://schemas.microsoft.com/office/drawing/2014/main" id="{9B22A160-4179-37D9-45F6-C9EED9537564}"/>
              </a:ext>
            </a:extLst>
          </p:cNvPr>
          <p:cNvSpPr>
            <a:spLocks noGrp="1"/>
          </p:cNvSpPr>
          <p:nvPr>
            <p:ph idx="1"/>
          </p:nvPr>
        </p:nvSpPr>
        <p:spPr>
          <a:xfrm>
            <a:off x="314325" y="854765"/>
            <a:ext cx="4257675" cy="6003234"/>
          </a:xfrm>
        </p:spPr>
        <p:txBody>
          <a:bodyPr>
            <a:normAutofit/>
          </a:bodyPr>
          <a:lstStyle/>
          <a:p>
            <a:pPr marL="0" indent="0">
              <a:buNone/>
            </a:pPr>
            <a:r>
              <a:rPr lang="en-GB" sz="1800" dirty="0">
                <a:solidFill>
                  <a:schemeClr val="bg1">
                    <a:lumMod val="75000"/>
                  </a:schemeClr>
                </a:solidFill>
              </a:rPr>
              <a:t>I. </a:t>
            </a:r>
            <a:r>
              <a:rPr lang="ja-JP" altLang="en-US" sz="1800">
                <a:solidFill>
                  <a:schemeClr val="bg1">
                    <a:lumMod val="75000"/>
                  </a:schemeClr>
                </a:solidFill>
              </a:rPr>
              <a:t>計算機システムを学ぶ意味を見つける</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1. </a:t>
            </a:r>
            <a:r>
              <a:rPr lang="ja-JP" altLang="en-US" sz="1800">
                <a:solidFill>
                  <a:schemeClr val="bg1">
                    <a:lumMod val="75000"/>
                  </a:schemeClr>
                </a:solidFill>
              </a:rPr>
              <a:t>情報社会</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2. </a:t>
            </a:r>
            <a:r>
              <a:rPr lang="ja-JP" altLang="en-US" sz="1800">
                <a:solidFill>
                  <a:schemeClr val="bg1">
                    <a:lumMod val="75000"/>
                  </a:schemeClr>
                </a:solidFill>
              </a:rPr>
              <a:t>高校「情報</a:t>
            </a:r>
            <a:r>
              <a:rPr lang="en-GB" sz="1800" dirty="0">
                <a:solidFill>
                  <a:schemeClr val="bg1">
                    <a:lumMod val="75000"/>
                  </a:schemeClr>
                </a:solidFill>
              </a:rPr>
              <a:t>I」</a:t>
            </a:r>
            <a:r>
              <a:rPr lang="ja-JP" altLang="en-US" sz="1800">
                <a:solidFill>
                  <a:schemeClr val="bg1">
                    <a:lumMod val="75000"/>
                  </a:schemeClr>
                </a:solidFill>
              </a:rPr>
              <a:t>の復習</a:t>
            </a:r>
            <a:endParaRPr lang="en-US" altLang="ja-JP" sz="1800" dirty="0">
              <a:solidFill>
                <a:schemeClr val="bg1">
                  <a:lumMod val="75000"/>
                </a:schemeClr>
              </a:solidFill>
            </a:endParaRPr>
          </a:p>
          <a:p>
            <a:pPr marL="0" indent="0">
              <a:buNone/>
            </a:pPr>
            <a:endParaRPr lang="ja-JP" altLang="en-US" sz="800">
              <a:solidFill>
                <a:schemeClr val="bg1">
                  <a:lumMod val="75000"/>
                </a:schemeClr>
              </a:solidFill>
            </a:endParaRPr>
          </a:p>
          <a:p>
            <a:pPr marL="0" indent="0">
              <a:buNone/>
            </a:pPr>
            <a:r>
              <a:rPr lang="en-GB" sz="1800" dirty="0">
                <a:solidFill>
                  <a:schemeClr val="bg1">
                    <a:lumMod val="75000"/>
                  </a:schemeClr>
                </a:solidFill>
              </a:rPr>
              <a:t>II. </a:t>
            </a:r>
            <a:r>
              <a:rPr lang="ja-JP" altLang="en-US" sz="1800">
                <a:solidFill>
                  <a:schemeClr val="bg1">
                    <a:lumMod val="75000"/>
                  </a:schemeClr>
                </a:solidFill>
              </a:rPr>
              <a:t>計算機やデータ，</a:t>
            </a:r>
            <a:r>
              <a:rPr lang="en-GB" sz="1800" dirty="0">
                <a:solidFill>
                  <a:schemeClr val="bg1">
                    <a:lumMod val="75000"/>
                  </a:schemeClr>
                </a:solidFill>
              </a:rPr>
              <a:t>AI</a:t>
            </a:r>
            <a:r>
              <a:rPr lang="ja-JP" altLang="en-US" sz="1800">
                <a:solidFill>
                  <a:schemeClr val="bg1">
                    <a:lumMod val="75000"/>
                  </a:schemeClr>
                </a:solidFill>
              </a:rPr>
              <a:t>にできることを知る</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3. </a:t>
            </a:r>
            <a:r>
              <a:rPr lang="ja-JP" altLang="en-US" sz="1800">
                <a:solidFill>
                  <a:schemeClr val="bg1">
                    <a:lumMod val="75000"/>
                  </a:schemeClr>
                </a:solidFill>
              </a:rPr>
              <a:t>計算機の基本原理</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4. </a:t>
            </a:r>
            <a:r>
              <a:rPr lang="ja-JP" altLang="en-US" sz="1800">
                <a:solidFill>
                  <a:schemeClr val="bg1">
                    <a:lumMod val="75000"/>
                  </a:schemeClr>
                </a:solidFill>
              </a:rPr>
              <a:t>計算機と統計</a:t>
            </a:r>
            <a:endParaRPr lang="en-US" altLang="ja-JP" sz="1800" dirty="0">
              <a:solidFill>
                <a:schemeClr val="bg1">
                  <a:lumMod val="75000"/>
                </a:schemeClr>
              </a:solidFill>
            </a:endParaRPr>
          </a:p>
          <a:p>
            <a:pPr marL="0" indent="0">
              <a:buNone/>
            </a:pPr>
            <a:endParaRPr lang="ja-JP" altLang="en-US" sz="800">
              <a:solidFill>
                <a:schemeClr val="bg1">
                  <a:lumMod val="75000"/>
                </a:schemeClr>
              </a:solidFill>
            </a:endParaRPr>
          </a:p>
          <a:p>
            <a:pPr marL="0" indent="0">
              <a:buNone/>
            </a:pPr>
            <a:r>
              <a:rPr lang="en-GB" sz="1800" dirty="0">
                <a:solidFill>
                  <a:schemeClr val="bg1">
                    <a:lumMod val="75000"/>
                  </a:schemeClr>
                </a:solidFill>
              </a:rPr>
              <a:t>III. </a:t>
            </a:r>
            <a:r>
              <a:rPr lang="ja-JP" altLang="en-US" sz="1800">
                <a:solidFill>
                  <a:schemeClr val="bg1">
                    <a:lumMod val="75000"/>
                  </a:schemeClr>
                </a:solidFill>
              </a:rPr>
              <a:t>問題を「計算機の使える形」に整理する</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5. </a:t>
            </a:r>
            <a:r>
              <a:rPr lang="ja-JP" altLang="en-US" sz="1800">
                <a:solidFill>
                  <a:schemeClr val="bg1">
                    <a:lumMod val="75000"/>
                  </a:schemeClr>
                </a:solidFill>
              </a:rPr>
              <a:t>情報システムのデザイン</a:t>
            </a:r>
            <a:endParaRPr lang="en-US" altLang="ja-JP" sz="1800" dirty="0">
              <a:solidFill>
                <a:schemeClr val="bg1">
                  <a:lumMod val="75000"/>
                </a:schemeClr>
              </a:solidFill>
            </a:endParaRPr>
          </a:p>
          <a:p>
            <a:pPr marL="0" indent="0">
              <a:buNone/>
            </a:pPr>
            <a:endParaRPr lang="ja-JP" altLang="en-US" sz="800">
              <a:solidFill>
                <a:schemeClr val="bg1">
                  <a:lumMod val="75000"/>
                </a:schemeClr>
              </a:solidFill>
            </a:endParaRPr>
          </a:p>
          <a:p>
            <a:pPr marL="0" indent="0">
              <a:buNone/>
            </a:pPr>
            <a:r>
              <a:rPr lang="en-GB" sz="1800" dirty="0">
                <a:solidFill>
                  <a:schemeClr val="bg1">
                    <a:lumMod val="75000"/>
                  </a:schemeClr>
                </a:solidFill>
              </a:rPr>
              <a:t>IV. </a:t>
            </a:r>
            <a:r>
              <a:rPr lang="ja-JP" altLang="en-US" sz="1800">
                <a:solidFill>
                  <a:schemeClr val="bg1">
                    <a:lumMod val="75000"/>
                  </a:schemeClr>
                </a:solidFill>
              </a:rPr>
              <a:t>計算機の考え方を体感する</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6. </a:t>
            </a:r>
            <a:r>
              <a:rPr lang="ja-JP" altLang="en-US" sz="1800">
                <a:solidFill>
                  <a:schemeClr val="bg1">
                    <a:lumMod val="75000"/>
                  </a:schemeClr>
                </a:solidFill>
              </a:rPr>
              <a:t>プログラムの基本</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7. </a:t>
            </a:r>
            <a:r>
              <a:rPr lang="ja-JP" altLang="en-US" sz="1800">
                <a:solidFill>
                  <a:schemeClr val="bg1">
                    <a:lumMod val="75000"/>
                  </a:schemeClr>
                </a:solidFill>
              </a:rPr>
              <a:t>データ構造</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8. </a:t>
            </a:r>
            <a:r>
              <a:rPr lang="ja-JP" altLang="en-US" sz="1800">
                <a:solidFill>
                  <a:schemeClr val="bg1">
                    <a:lumMod val="75000"/>
                  </a:schemeClr>
                </a:solidFill>
              </a:rPr>
              <a:t>アルゴリズム</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9. </a:t>
            </a:r>
            <a:r>
              <a:rPr lang="ja-JP" altLang="en-US" sz="1800">
                <a:solidFill>
                  <a:schemeClr val="bg1">
                    <a:lumMod val="75000"/>
                  </a:schemeClr>
                </a:solidFill>
              </a:rPr>
              <a:t>演習（データ構造とアルゴリズム）</a:t>
            </a:r>
          </a:p>
        </p:txBody>
      </p:sp>
      <p:sp>
        <p:nvSpPr>
          <p:cNvPr id="4" name="コンテンツ プレースホルダー 2">
            <a:extLst>
              <a:ext uri="{FF2B5EF4-FFF2-40B4-BE49-F238E27FC236}">
                <a16:creationId xmlns:a16="http://schemas.microsoft.com/office/drawing/2014/main" id="{008201D6-1C61-92D4-154D-38C8FC038C19}"/>
              </a:ext>
            </a:extLst>
          </p:cNvPr>
          <p:cNvSpPr txBox="1">
            <a:spLocks/>
          </p:cNvSpPr>
          <p:nvPr/>
        </p:nvSpPr>
        <p:spPr>
          <a:xfrm>
            <a:off x="4572000" y="854766"/>
            <a:ext cx="4257675" cy="60032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1" kern="1200">
                <a:solidFill>
                  <a:srgbClr val="002060"/>
                </a:solidFill>
                <a:latin typeface="Yu Gothic UI" panose="020B0500000000000000" pitchFamily="34" charset="-128"/>
                <a:ea typeface="Yu Gothic UI"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1" kern="1200">
                <a:solidFill>
                  <a:srgbClr val="2F2624"/>
                </a:solidFill>
                <a:latin typeface="Yu Gothic UI" panose="020B0500000000000000" pitchFamily="34" charset="-128"/>
                <a:ea typeface="Yu Gothic UI"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1" kern="1200">
                <a:solidFill>
                  <a:srgbClr val="2F2624"/>
                </a:solidFill>
                <a:latin typeface="Yu Gothic UI" panose="020B0500000000000000" pitchFamily="34" charset="-128"/>
                <a:ea typeface="Yu Gothic UI"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1" kern="1200">
                <a:solidFill>
                  <a:srgbClr val="2F2624"/>
                </a:solidFill>
                <a:latin typeface="Yu Gothic UI" panose="020B0500000000000000" pitchFamily="34" charset="-128"/>
                <a:ea typeface="Yu Gothic UI"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700" b="1" kern="1200">
                <a:solidFill>
                  <a:srgbClr val="2F2624"/>
                </a:solidFill>
                <a:latin typeface="Yu Gothic UI" panose="020B0500000000000000" pitchFamily="34" charset="-128"/>
                <a:ea typeface="Yu Gothic UI"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GB" sz="1800" dirty="0">
                <a:solidFill>
                  <a:schemeClr val="bg1">
                    <a:lumMod val="75000"/>
                  </a:schemeClr>
                </a:solidFill>
              </a:rPr>
              <a:t>VI. </a:t>
            </a:r>
            <a:r>
              <a:rPr lang="ja-JP" altLang="en-US" sz="1800">
                <a:solidFill>
                  <a:schemeClr val="bg1">
                    <a:lumMod val="75000"/>
                  </a:schemeClr>
                </a:solidFill>
              </a:rPr>
              <a:t>計算機のハードウェア構成を知る</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10. </a:t>
            </a:r>
            <a:r>
              <a:rPr lang="ja-JP" altLang="en-US" sz="1800">
                <a:solidFill>
                  <a:schemeClr val="bg1">
                    <a:lumMod val="75000"/>
                  </a:schemeClr>
                </a:solidFill>
              </a:rPr>
              <a:t>計算機の中の情報表現</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11. </a:t>
            </a:r>
            <a:r>
              <a:rPr lang="ja-JP" altLang="en-US" sz="1800">
                <a:solidFill>
                  <a:schemeClr val="bg1">
                    <a:lumMod val="75000"/>
                  </a:schemeClr>
                </a:solidFill>
              </a:rPr>
              <a:t>計算機の行う演算</a:t>
            </a:r>
            <a:endParaRPr lang="en-US" altLang="ja-JP" sz="1800" dirty="0">
              <a:solidFill>
                <a:schemeClr val="bg1">
                  <a:lumMod val="75000"/>
                </a:schemeClr>
              </a:solidFill>
            </a:endParaRPr>
          </a:p>
          <a:p>
            <a:pPr marL="0" indent="0">
              <a:buFont typeface="Arial" panose="020B0604020202020204" pitchFamily="34" charset="0"/>
              <a:buNone/>
            </a:pPr>
            <a:endParaRPr lang="ja-JP" altLang="en-US" sz="800">
              <a:solidFill>
                <a:schemeClr val="bg1">
                  <a:lumMod val="75000"/>
                </a:schemeClr>
              </a:solidFill>
            </a:endParaRPr>
          </a:p>
          <a:p>
            <a:pPr marL="0" indent="0">
              <a:buFont typeface="Arial" panose="020B0604020202020204" pitchFamily="34" charset="0"/>
              <a:buNone/>
            </a:pPr>
            <a:r>
              <a:rPr lang="en-GB" sz="1800" dirty="0">
                <a:solidFill>
                  <a:schemeClr val="bg1">
                    <a:lumMod val="75000"/>
                  </a:schemeClr>
                </a:solidFill>
              </a:rPr>
              <a:t>VII. </a:t>
            </a:r>
            <a:r>
              <a:rPr lang="ja-JP" altLang="en-US" sz="1800">
                <a:solidFill>
                  <a:schemeClr val="bg1">
                    <a:lumMod val="75000"/>
                  </a:schemeClr>
                </a:solidFill>
              </a:rPr>
              <a:t>計算機特有の数値表現に慣れる</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12. </a:t>
            </a:r>
            <a:r>
              <a:rPr lang="ja-JP" altLang="en-US" sz="1800">
                <a:solidFill>
                  <a:schemeClr val="bg1">
                    <a:lumMod val="75000"/>
                  </a:schemeClr>
                </a:solidFill>
              </a:rPr>
              <a:t>演習（基数と論理演算）</a:t>
            </a:r>
            <a:endParaRPr lang="en-US" altLang="ja-JP" sz="1800" dirty="0">
              <a:solidFill>
                <a:schemeClr val="bg1">
                  <a:lumMod val="75000"/>
                </a:schemeClr>
              </a:solidFill>
            </a:endParaRPr>
          </a:p>
          <a:p>
            <a:pPr marL="0" indent="0">
              <a:buFont typeface="Arial" panose="020B0604020202020204" pitchFamily="34" charset="0"/>
              <a:buNone/>
            </a:pPr>
            <a:endParaRPr lang="ja-JP" altLang="en-US" sz="800">
              <a:solidFill>
                <a:srgbClr val="2F2523"/>
              </a:solidFill>
            </a:endParaRPr>
          </a:p>
          <a:p>
            <a:pPr marL="0" indent="0">
              <a:buFont typeface="Arial" panose="020B0604020202020204" pitchFamily="34" charset="0"/>
              <a:buNone/>
            </a:pPr>
            <a:r>
              <a:rPr lang="en-GB" sz="1800" dirty="0"/>
              <a:t>VIII. </a:t>
            </a:r>
            <a:r>
              <a:rPr lang="ja-JP" altLang="en-US" sz="1800"/>
              <a:t>計算論的思考</a:t>
            </a:r>
          </a:p>
          <a:p>
            <a:pPr marL="0" indent="0">
              <a:buFont typeface="Arial" panose="020B0604020202020204" pitchFamily="34" charset="0"/>
              <a:buNone/>
            </a:pPr>
            <a:r>
              <a:rPr lang="ja-JP" altLang="en-US" sz="1800">
                <a:solidFill>
                  <a:srgbClr val="2F2523"/>
                </a:solidFill>
              </a:rPr>
              <a:t>　</a:t>
            </a:r>
            <a:r>
              <a:rPr lang="en-US" altLang="ja-JP" sz="1800" dirty="0">
                <a:solidFill>
                  <a:srgbClr val="2F2523"/>
                </a:solidFill>
              </a:rPr>
              <a:t>13. </a:t>
            </a:r>
            <a:r>
              <a:rPr lang="ja-JP" altLang="en-US" sz="1800">
                <a:solidFill>
                  <a:srgbClr val="2F2523"/>
                </a:solidFill>
              </a:rPr>
              <a:t>問題解決のためのモデル：</a:t>
            </a:r>
            <a:r>
              <a:rPr lang="en-GB" sz="1800" dirty="0">
                <a:solidFill>
                  <a:srgbClr val="2F2523"/>
                </a:solidFill>
              </a:rPr>
              <a:t>PERT</a:t>
            </a:r>
            <a:r>
              <a:rPr lang="ja-JP" altLang="en-US" sz="1800">
                <a:solidFill>
                  <a:srgbClr val="2F2523"/>
                </a:solidFill>
              </a:rPr>
              <a:t>図</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14. </a:t>
            </a:r>
            <a:r>
              <a:rPr lang="ja-JP" altLang="en-US" sz="1800">
                <a:solidFill>
                  <a:schemeClr val="bg1">
                    <a:lumMod val="75000"/>
                  </a:schemeClr>
                </a:solidFill>
              </a:rPr>
              <a:t>問題解決のためのモデル：決定表</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15. </a:t>
            </a:r>
            <a:r>
              <a:rPr lang="ja-JP" altLang="en-US" sz="1800">
                <a:solidFill>
                  <a:schemeClr val="bg1">
                    <a:lumMod val="75000"/>
                  </a:schemeClr>
                </a:solidFill>
              </a:rPr>
              <a:t>まとめ </a:t>
            </a:r>
            <a:r>
              <a:rPr lang="en-US" altLang="ja-JP" sz="1800" dirty="0">
                <a:solidFill>
                  <a:schemeClr val="bg1">
                    <a:lumMod val="75000"/>
                  </a:schemeClr>
                </a:solidFill>
              </a:rPr>
              <a:t>+ </a:t>
            </a:r>
            <a:r>
              <a:rPr lang="ja-JP" altLang="en-US" sz="1800">
                <a:solidFill>
                  <a:schemeClr val="bg1">
                    <a:lumMod val="75000"/>
                  </a:schemeClr>
                </a:solidFill>
              </a:rPr>
              <a:t>演習（</a:t>
            </a:r>
            <a:r>
              <a:rPr lang="en-US" altLang="ja-JP" sz="1800" dirty="0">
                <a:solidFill>
                  <a:schemeClr val="bg1">
                    <a:lumMod val="75000"/>
                  </a:schemeClr>
                </a:solidFill>
              </a:rPr>
              <a:t>PERT</a:t>
            </a:r>
            <a:r>
              <a:rPr lang="ja-JP" altLang="en-US" sz="1800">
                <a:solidFill>
                  <a:schemeClr val="bg1">
                    <a:lumMod val="75000"/>
                  </a:schemeClr>
                </a:solidFill>
              </a:rPr>
              <a:t>図，決定表）</a:t>
            </a:r>
            <a:endParaRPr lang="ja-GB" sz="1800" dirty="0">
              <a:solidFill>
                <a:schemeClr val="bg1">
                  <a:lumMod val="75000"/>
                </a:schemeClr>
              </a:solidFill>
            </a:endParaRPr>
          </a:p>
        </p:txBody>
      </p:sp>
    </p:spTree>
    <p:extLst>
      <p:ext uri="{BB962C8B-B14F-4D97-AF65-F5344CB8AC3E}">
        <p14:creationId xmlns:p14="http://schemas.microsoft.com/office/powerpoint/2010/main" val="339954862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B6EBE6-1D95-55BC-F75B-B52BD774157F}"/>
              </a:ext>
            </a:extLst>
          </p:cNvPr>
          <p:cNvSpPr>
            <a:spLocks noGrp="1"/>
          </p:cNvSpPr>
          <p:nvPr>
            <p:ph type="title"/>
          </p:nvPr>
        </p:nvSpPr>
        <p:spPr/>
        <p:txBody>
          <a:bodyPr/>
          <a:lstStyle/>
          <a:p>
            <a:r>
              <a:rPr kumimoji="1" lang="ja-GB" altLang="en-US" dirty="0"/>
              <a:t>書籍案内</a:t>
            </a:r>
          </a:p>
        </p:txBody>
      </p:sp>
      <p:sp>
        <p:nvSpPr>
          <p:cNvPr id="3" name="コンテンツ プレースホルダー 2">
            <a:extLst>
              <a:ext uri="{FF2B5EF4-FFF2-40B4-BE49-F238E27FC236}">
                <a16:creationId xmlns:a16="http://schemas.microsoft.com/office/drawing/2014/main" id="{04A35A9E-CA2B-D806-725F-02A019902431}"/>
              </a:ext>
            </a:extLst>
          </p:cNvPr>
          <p:cNvSpPr>
            <a:spLocks noGrp="1"/>
          </p:cNvSpPr>
          <p:nvPr>
            <p:ph idx="1"/>
          </p:nvPr>
        </p:nvSpPr>
        <p:spPr/>
        <p:txBody>
          <a:bodyPr/>
          <a:lstStyle/>
          <a:p>
            <a:pPr marL="0" indent="0">
              <a:buNone/>
            </a:pPr>
            <a:r>
              <a:rPr kumimoji="1" lang="ja-GB" altLang="en-US" sz="2000" dirty="0"/>
              <a:t>書籍：</a:t>
            </a:r>
            <a:r>
              <a:rPr kumimoji="1" lang="en-US" altLang="ja-GB" sz="2000" dirty="0"/>
              <a:t>『</a:t>
            </a:r>
            <a:r>
              <a:rPr kumimoji="1" lang="ja-GB" altLang="en-US" sz="2000" dirty="0"/>
              <a:t>計算論的思考ってなに？</a:t>
            </a:r>
            <a:r>
              <a:rPr kumimoji="1" lang="en-US" altLang="ja-GB" sz="2000" dirty="0"/>
              <a:t>』</a:t>
            </a:r>
          </a:p>
          <a:p>
            <a:pPr lvl="1"/>
            <a:r>
              <a:rPr lang="ja-GB" altLang="en-US" sz="1800" dirty="0"/>
              <a:t>近代科学社（</a:t>
            </a:r>
            <a:r>
              <a:rPr lang="en-US" altLang="ja-GB" sz="1800" dirty="0"/>
              <a:t>2022</a:t>
            </a:r>
            <a:r>
              <a:rPr lang="ja-GB" altLang="en-US" sz="1800" dirty="0"/>
              <a:t>），</a:t>
            </a:r>
            <a:r>
              <a:rPr lang="ja-JP" altLang="en-US" sz="1800"/>
              <a:t> 中島 秀之，</a:t>
            </a:r>
            <a:r>
              <a:rPr lang="en-US" altLang="ja-JP" sz="1800" dirty="0"/>
              <a:t>2200</a:t>
            </a:r>
            <a:r>
              <a:rPr lang="ja-GB" altLang="en-US" sz="1800" dirty="0"/>
              <a:t>円</a:t>
            </a:r>
            <a:r>
              <a:rPr lang="en-US" altLang="ja-GB" sz="1800" dirty="0"/>
              <a:t>+</a:t>
            </a:r>
            <a:r>
              <a:rPr lang="ja-GB" altLang="en-US" sz="1800" dirty="0"/>
              <a:t>税</a:t>
            </a:r>
            <a:endParaRPr kumimoji="1" lang="en-US" altLang="ja-GB" sz="1800" dirty="0"/>
          </a:p>
          <a:p>
            <a:pPr lvl="1"/>
            <a:endParaRPr kumimoji="1" lang="en-US" altLang="ja-GB" sz="1800" dirty="0"/>
          </a:p>
          <a:p>
            <a:pPr marL="0" indent="0">
              <a:buNone/>
            </a:pPr>
            <a:r>
              <a:rPr lang="en-US" altLang="ja-GB" sz="2000" dirty="0"/>
              <a:t>PDF</a:t>
            </a:r>
            <a:r>
              <a:rPr lang="ja-GB" altLang="en-US" sz="2000" dirty="0"/>
              <a:t>：</a:t>
            </a:r>
            <a:r>
              <a:rPr lang="en-US" altLang="ja-GB" sz="2000" dirty="0"/>
              <a:t>Computational Thinking - </a:t>
            </a:r>
            <a:r>
              <a:rPr lang="ja-JP" altLang="en-US" sz="2000"/>
              <a:t>計算論的思考</a:t>
            </a:r>
            <a:endParaRPr lang="en-US" altLang="ja-JP" sz="2000" dirty="0"/>
          </a:p>
          <a:p>
            <a:pPr lvl="1"/>
            <a:r>
              <a:rPr lang="en-GB" altLang="ja-JP" sz="1600" dirty="0"/>
              <a:t>Jeannette M. Wing</a:t>
            </a:r>
            <a:r>
              <a:rPr lang="ja-JP" altLang="en-GB" sz="1600"/>
              <a:t>（</a:t>
            </a:r>
            <a:r>
              <a:rPr lang="en-GB" altLang="ja-JP" sz="1600" dirty="0"/>
              <a:t>Microsoft Research and Carnegie Mellon University</a:t>
            </a:r>
            <a:r>
              <a:rPr lang="ja-JP" altLang="en-GB" sz="1600"/>
              <a:t>）</a:t>
            </a:r>
            <a:endParaRPr lang="en-US" altLang="ja-JP" sz="1600" dirty="0"/>
          </a:p>
          <a:p>
            <a:pPr lvl="1"/>
            <a:r>
              <a:rPr lang="ja-JP" altLang="en-US" sz="1600"/>
              <a:t>翻訳：中島秀之 （公立はこだて未来大学）</a:t>
            </a:r>
            <a:endParaRPr lang="en-US" altLang="ja-JP" sz="1600" dirty="0"/>
          </a:p>
          <a:p>
            <a:pPr lvl="1"/>
            <a:r>
              <a:rPr lang="ja-JP" altLang="en-US" sz="1600"/>
              <a:t>情報処理 </a:t>
            </a:r>
            <a:r>
              <a:rPr lang="en-GB" altLang="ja-JP" sz="1600" dirty="0"/>
              <a:t>Vol.56 No.6 June 2015</a:t>
            </a:r>
            <a:endParaRPr lang="en-US" altLang="ja-GB" sz="1600" dirty="0">
              <a:solidFill>
                <a:srgbClr val="0563C1"/>
              </a:solidFill>
              <a:hlinkClick r:id="rId2">
                <a:extLst>
                  <a:ext uri="{A12FA001-AC4F-418D-AE19-62706E023703}">
                    <ahyp:hlinkClr xmlns:ahyp="http://schemas.microsoft.com/office/drawing/2018/hyperlinkcolor" val="tx"/>
                  </a:ext>
                </a:extLst>
              </a:hlinkClick>
            </a:endParaRPr>
          </a:p>
          <a:p>
            <a:pPr lvl="1"/>
            <a:r>
              <a:rPr lang="en-US" altLang="ja-GB" sz="1600" dirty="0">
                <a:solidFill>
                  <a:schemeClr val="tx1">
                    <a:lumMod val="50000"/>
                    <a:lumOff val="50000"/>
                  </a:schemeClr>
                </a:solidFill>
                <a:hlinkClick r:id="rId2">
                  <a:extLst>
                    <a:ext uri="{A12FA001-AC4F-418D-AE19-62706E023703}">
                      <ahyp:hlinkClr xmlns:ahyp="http://schemas.microsoft.com/office/drawing/2018/hyperlinkcolor" val="tx"/>
                    </a:ext>
                  </a:extLst>
                </a:hlinkClick>
              </a:rPr>
              <a:t>https://www.cs.cmu.edu/afs/cs/usr/wing/www/ct-japanese.pdf</a:t>
            </a:r>
            <a:r>
              <a:rPr lang="en-US" altLang="ja-GB" sz="1600" dirty="0"/>
              <a:t> </a:t>
            </a:r>
            <a:r>
              <a:rPr lang="en-US" altLang="ja-JP" sz="1600" dirty="0"/>
              <a:t>2025/07/10</a:t>
            </a:r>
            <a:r>
              <a:rPr lang="ja-GB" altLang="en-US" sz="1600" dirty="0"/>
              <a:t>アクセス</a:t>
            </a:r>
            <a:endParaRPr lang="en-US" altLang="ja-GB" sz="1600" dirty="0"/>
          </a:p>
          <a:p>
            <a:pPr lvl="1"/>
            <a:endParaRPr kumimoji="1" lang="en-US" altLang="ja-GB" dirty="0"/>
          </a:p>
          <a:p>
            <a:pPr marL="0" indent="0">
              <a:buNone/>
            </a:pPr>
            <a:r>
              <a:rPr kumimoji="1" lang="ja-GB" altLang="en-US" sz="2000" dirty="0"/>
              <a:t>書籍：</a:t>
            </a:r>
            <a:r>
              <a:rPr kumimoji="1" lang="en-US" altLang="ja-GB" sz="2000" dirty="0"/>
              <a:t>『</a:t>
            </a:r>
            <a:r>
              <a:rPr kumimoji="1" lang="ja-GB" altLang="en-US" sz="2000" dirty="0"/>
              <a:t>演習形式で学ぶオペレーションズ・リサーチ</a:t>
            </a:r>
            <a:r>
              <a:rPr kumimoji="1" lang="en-US" altLang="ja-GB" sz="2000" dirty="0"/>
              <a:t>』</a:t>
            </a:r>
          </a:p>
          <a:p>
            <a:pPr lvl="1"/>
            <a:r>
              <a:rPr lang="ja-GB" altLang="en-US" sz="1800" dirty="0"/>
              <a:t>共立出版（</a:t>
            </a:r>
            <a:r>
              <a:rPr lang="en-US" altLang="ja-GB" sz="1800" dirty="0"/>
              <a:t>2008</a:t>
            </a:r>
            <a:r>
              <a:rPr lang="ja-GB" altLang="en-US" sz="1800" dirty="0"/>
              <a:t>），</a:t>
            </a:r>
            <a:r>
              <a:rPr lang="ja-JP" altLang="en-US" sz="1800"/>
              <a:t> 宮地 功，</a:t>
            </a:r>
            <a:r>
              <a:rPr lang="en-US" altLang="ja-JP" sz="1800" dirty="0"/>
              <a:t>2,300</a:t>
            </a:r>
            <a:r>
              <a:rPr lang="ja-GB" altLang="en-US" sz="1800" dirty="0"/>
              <a:t>円</a:t>
            </a:r>
            <a:r>
              <a:rPr lang="en-US" altLang="ja-GB" sz="1800" dirty="0"/>
              <a:t>+</a:t>
            </a:r>
            <a:r>
              <a:rPr lang="ja-GB" altLang="en-US" sz="1800" dirty="0"/>
              <a:t>税</a:t>
            </a:r>
            <a:endParaRPr lang="en-US" altLang="ja-GB" sz="1800" dirty="0"/>
          </a:p>
          <a:p>
            <a:pPr lvl="1"/>
            <a:endParaRPr kumimoji="1" lang="en-US" altLang="ja-GB" sz="1800" dirty="0"/>
          </a:p>
          <a:p>
            <a:pPr marL="0" indent="0">
              <a:buNone/>
            </a:pPr>
            <a:r>
              <a:rPr lang="ja-GB" altLang="en-US" sz="2000" dirty="0"/>
              <a:t>書籍：</a:t>
            </a:r>
            <a:r>
              <a:rPr lang="en-US" altLang="ja-GB" sz="2000" dirty="0"/>
              <a:t>『</a:t>
            </a:r>
            <a:r>
              <a:rPr lang="ja-GB" altLang="en-US" sz="2000" dirty="0"/>
              <a:t>初等</a:t>
            </a:r>
            <a:r>
              <a:rPr lang="en-US" altLang="ja-GB" sz="2000" dirty="0"/>
              <a:t> </a:t>
            </a:r>
            <a:r>
              <a:rPr lang="ja-GB" altLang="en-US" sz="2000" dirty="0"/>
              <a:t>オペレーションズ・リサーチ</a:t>
            </a:r>
            <a:r>
              <a:rPr lang="en-US" altLang="ja-GB" sz="2000" dirty="0"/>
              <a:t>』</a:t>
            </a:r>
          </a:p>
          <a:p>
            <a:pPr lvl="1"/>
            <a:r>
              <a:rPr lang="ja-GB" altLang="en-US" sz="1800" dirty="0"/>
              <a:t>コロナ社（</a:t>
            </a:r>
            <a:r>
              <a:rPr lang="en-US" altLang="ja-GB" sz="1800" dirty="0"/>
              <a:t>2008</a:t>
            </a:r>
            <a:r>
              <a:rPr lang="ja-GB" altLang="en-US" sz="1800" dirty="0"/>
              <a:t>），</a:t>
            </a:r>
            <a:r>
              <a:rPr lang="ja-JP" altLang="en-US" sz="1800"/>
              <a:t> 小田中 敏男，正道寺 勉，</a:t>
            </a:r>
            <a:r>
              <a:rPr lang="en-US" altLang="ja-JP" sz="1800" dirty="0"/>
              <a:t>3,300</a:t>
            </a:r>
            <a:r>
              <a:rPr lang="ja-GB" altLang="en-US" sz="1800" dirty="0"/>
              <a:t>円</a:t>
            </a:r>
            <a:r>
              <a:rPr lang="en-US" altLang="ja-GB" sz="1800" dirty="0"/>
              <a:t>+</a:t>
            </a:r>
            <a:r>
              <a:rPr lang="ja-GB" altLang="en-US" sz="1800" dirty="0"/>
              <a:t>税</a:t>
            </a:r>
            <a:endParaRPr kumimoji="1" lang="ja-GB" altLang="en-US" sz="1800" dirty="0"/>
          </a:p>
        </p:txBody>
      </p:sp>
    </p:spTree>
    <p:extLst>
      <p:ext uri="{BB962C8B-B14F-4D97-AF65-F5344CB8AC3E}">
        <p14:creationId xmlns:p14="http://schemas.microsoft.com/office/powerpoint/2010/main" val="1848457966"/>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3E43D-1D1A-9202-3C9A-A87E8BD72580}"/>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42BBD2D6-4801-A071-1E4F-310583AB0F1B}"/>
              </a:ext>
            </a:extLst>
          </p:cNvPr>
          <p:cNvSpPr/>
          <p:nvPr/>
        </p:nvSpPr>
        <p:spPr>
          <a:xfrm>
            <a:off x="0" y="1"/>
            <a:ext cx="9144000" cy="440463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sp>
        <p:nvSpPr>
          <p:cNvPr id="5" name="タイトル 1">
            <a:extLst>
              <a:ext uri="{FF2B5EF4-FFF2-40B4-BE49-F238E27FC236}">
                <a16:creationId xmlns:a16="http://schemas.microsoft.com/office/drawing/2014/main" id="{0B39B3C0-642B-7FA6-6B94-162C774EC863}"/>
              </a:ext>
            </a:extLst>
          </p:cNvPr>
          <p:cNvSpPr>
            <a:spLocks noGrp="1"/>
          </p:cNvSpPr>
          <p:nvPr>
            <p:ph type="ctrTitle"/>
          </p:nvPr>
        </p:nvSpPr>
        <p:spPr>
          <a:xfrm>
            <a:off x="342901" y="1666380"/>
            <a:ext cx="8458198" cy="2738260"/>
          </a:xfrm>
        </p:spPr>
        <p:txBody>
          <a:bodyPr anchor="b">
            <a:normAutofit/>
          </a:bodyPr>
          <a:lstStyle/>
          <a:p>
            <a:pPr algn="l">
              <a:lnSpc>
                <a:spcPct val="100000"/>
              </a:lnSpc>
            </a:pPr>
            <a:r>
              <a:rPr kumimoji="1" lang="en-US" altLang="ja-JP" sz="3200" dirty="0">
                <a:solidFill>
                  <a:schemeClr val="bg1"/>
                </a:solidFill>
              </a:rPr>
              <a:t>2025</a:t>
            </a:r>
            <a:r>
              <a:rPr kumimoji="1" lang="ja-JP" altLang="en-US" sz="3200">
                <a:solidFill>
                  <a:schemeClr val="bg1"/>
                </a:solidFill>
              </a:rPr>
              <a:t>年度</a:t>
            </a:r>
            <a:r>
              <a:rPr lang="en-US" altLang="ja-JP" sz="3200" dirty="0">
                <a:solidFill>
                  <a:schemeClr val="bg1"/>
                </a:solidFill>
              </a:rPr>
              <a:t> </a:t>
            </a:r>
            <a:r>
              <a:rPr kumimoji="1" lang="ja-JP" altLang="en-US" sz="3200">
                <a:solidFill>
                  <a:schemeClr val="bg1"/>
                </a:solidFill>
              </a:rPr>
              <a:t>コンピュータシステム</a:t>
            </a:r>
            <a:br>
              <a:rPr lang="en-US" altLang="ja-JP" sz="3200" dirty="0">
                <a:solidFill>
                  <a:schemeClr val="bg1"/>
                </a:solidFill>
              </a:rPr>
            </a:br>
            <a:r>
              <a:rPr kumimoji="1" lang="ja-GB" altLang="en-US" sz="3200" dirty="0">
                <a:solidFill>
                  <a:schemeClr val="bg1"/>
                </a:solidFill>
              </a:rPr>
              <a:t>第</a:t>
            </a:r>
            <a:r>
              <a:rPr lang="en-US" altLang="ja-GB" sz="3200" dirty="0"/>
              <a:t>13</a:t>
            </a:r>
            <a:r>
              <a:rPr kumimoji="1" lang="ja-GB" altLang="en-US" sz="3200" dirty="0">
                <a:solidFill>
                  <a:schemeClr val="bg1"/>
                </a:solidFill>
              </a:rPr>
              <a:t>回：問題解決のためのモデル（</a:t>
            </a:r>
            <a:r>
              <a:rPr kumimoji="1" lang="en-US" altLang="ja-GB" sz="3200" dirty="0">
                <a:solidFill>
                  <a:schemeClr val="bg1"/>
                </a:solidFill>
              </a:rPr>
              <a:t>PERT</a:t>
            </a:r>
            <a:r>
              <a:rPr kumimoji="1" lang="ja-GB" altLang="en-US" sz="3200" dirty="0">
                <a:solidFill>
                  <a:schemeClr val="bg1"/>
                </a:solidFill>
              </a:rPr>
              <a:t>図）</a:t>
            </a:r>
            <a:br>
              <a:rPr kumimoji="1" lang="en-US" altLang="ja-JP" sz="2400" dirty="0">
                <a:solidFill>
                  <a:schemeClr val="bg1"/>
                </a:solidFill>
              </a:rPr>
            </a:br>
            <a:endParaRPr kumimoji="1" lang="ja-JP" altLang="en-US" sz="2400">
              <a:solidFill>
                <a:schemeClr val="bg1"/>
              </a:solidFill>
            </a:endParaRPr>
          </a:p>
        </p:txBody>
      </p:sp>
    </p:spTree>
    <p:extLst>
      <p:ext uri="{BB962C8B-B14F-4D97-AF65-F5344CB8AC3E}">
        <p14:creationId xmlns:p14="http://schemas.microsoft.com/office/powerpoint/2010/main" val="1561726911"/>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2658A-B0EB-9CA0-0B69-4F28E3C94DB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2ACA25D-738A-9741-6E37-F58A42BBDCA8}"/>
              </a:ext>
            </a:extLst>
          </p:cNvPr>
          <p:cNvSpPr>
            <a:spLocks noGrp="1"/>
          </p:cNvSpPr>
          <p:nvPr>
            <p:ph type="title"/>
          </p:nvPr>
        </p:nvSpPr>
        <p:spPr/>
        <p:txBody>
          <a:bodyPr/>
          <a:lstStyle/>
          <a:p>
            <a:r>
              <a:rPr kumimoji="1" lang="ja-GB" altLang="en-US" dirty="0"/>
              <a:t>本日の内容</a:t>
            </a:r>
          </a:p>
        </p:txBody>
      </p:sp>
      <p:sp>
        <p:nvSpPr>
          <p:cNvPr id="3" name="コンテンツ プレースホルダー 2">
            <a:extLst>
              <a:ext uri="{FF2B5EF4-FFF2-40B4-BE49-F238E27FC236}">
                <a16:creationId xmlns:a16="http://schemas.microsoft.com/office/drawing/2014/main" id="{87A54AA0-E46F-0EF1-0F72-975F71471988}"/>
              </a:ext>
            </a:extLst>
          </p:cNvPr>
          <p:cNvSpPr>
            <a:spLocks noGrp="1"/>
          </p:cNvSpPr>
          <p:nvPr>
            <p:ph idx="1"/>
          </p:nvPr>
        </p:nvSpPr>
        <p:spPr/>
        <p:txBody>
          <a:bodyPr/>
          <a:lstStyle/>
          <a:p>
            <a:pPr marL="457200" indent="-457200">
              <a:buFont typeface="+mj-lt"/>
              <a:buAutoNum type="arabicPeriod"/>
            </a:pPr>
            <a:r>
              <a:rPr kumimoji="1" lang="ja-GB" altLang="en-US" dirty="0"/>
              <a:t>計算論的思考</a:t>
            </a:r>
            <a:endParaRPr kumimoji="1" lang="en-US" altLang="ja-GB" dirty="0"/>
          </a:p>
          <a:p>
            <a:pPr lvl="1"/>
            <a:r>
              <a:rPr kumimoji="1" lang="ja-GB" altLang="en-US" dirty="0"/>
              <a:t>計算機科学の考え方を，日常の問題一般に活用する思考方法</a:t>
            </a:r>
            <a:endParaRPr kumimoji="1" lang="en-US" altLang="ja-GB" dirty="0"/>
          </a:p>
          <a:p>
            <a:pPr lvl="1"/>
            <a:r>
              <a:rPr lang="ja-GB" altLang="en-US" dirty="0"/>
              <a:t>世界の事象を計算機の比喩で捉えて，問題解決に計算理論を応用する</a:t>
            </a:r>
            <a:endParaRPr lang="en-US" altLang="ja-GB" dirty="0"/>
          </a:p>
          <a:p>
            <a:pPr lvl="1"/>
            <a:endParaRPr kumimoji="1" lang="en-US" altLang="ja-GB" dirty="0"/>
          </a:p>
          <a:p>
            <a:pPr marL="457200" indent="-457200">
              <a:buFont typeface="+mj-lt"/>
              <a:buAutoNum type="arabicPeriod"/>
            </a:pPr>
            <a:r>
              <a:rPr lang="ja-GB" altLang="en-US" dirty="0">
                <a:solidFill>
                  <a:schemeClr val="tx1">
                    <a:lumMod val="50000"/>
                    <a:lumOff val="50000"/>
                  </a:schemeClr>
                </a:solidFill>
              </a:rPr>
              <a:t>オペレーションズ・リサーチ</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オペレーションの科学的な研究</a:t>
            </a:r>
            <a:endParaRPr lang="en-US" altLang="ja-GB" dirty="0">
              <a:solidFill>
                <a:schemeClr val="tx1">
                  <a:lumMod val="50000"/>
                  <a:lumOff val="50000"/>
                </a:schemeClr>
              </a:solidFill>
            </a:endParaRPr>
          </a:p>
          <a:p>
            <a:pPr lvl="1"/>
            <a:endParaRPr lang="en-US" altLang="ja-GB" dirty="0">
              <a:solidFill>
                <a:schemeClr val="tx1">
                  <a:lumMod val="50000"/>
                  <a:lumOff val="50000"/>
                </a:schemeClr>
              </a:solidFill>
            </a:endParaRPr>
          </a:p>
          <a:p>
            <a:pPr marL="457200" indent="-457200">
              <a:buFont typeface="+mj-lt"/>
              <a:buAutoNum type="arabicPeriod"/>
            </a:pPr>
            <a:r>
              <a:rPr lang="ja-GB" altLang="en-US" dirty="0">
                <a:solidFill>
                  <a:schemeClr val="tx1">
                    <a:lumMod val="50000"/>
                    <a:lumOff val="50000"/>
                  </a:schemeClr>
                </a:solidFill>
              </a:rPr>
              <a:t>矢線図（アローダイアグラム）</a:t>
            </a:r>
            <a:endParaRPr lang="en-US" altLang="ja-GB" dirty="0">
              <a:solidFill>
                <a:schemeClr val="tx1">
                  <a:lumMod val="50000"/>
                  <a:lumOff val="50000"/>
                </a:schemeClr>
              </a:solidFill>
            </a:endParaRPr>
          </a:p>
          <a:p>
            <a:pPr lvl="1"/>
            <a:r>
              <a:rPr kumimoji="1" lang="ja-GB" altLang="en-US" dirty="0">
                <a:solidFill>
                  <a:schemeClr val="tx1">
                    <a:lumMod val="50000"/>
                    <a:lumOff val="50000"/>
                  </a:schemeClr>
                </a:solidFill>
              </a:rPr>
              <a:t>スケジューリングを評価するための数学モデル</a:t>
            </a:r>
            <a:endParaRPr kumimoji="1" lang="en-US" altLang="ja-GB" dirty="0">
              <a:solidFill>
                <a:schemeClr val="tx1">
                  <a:lumMod val="50000"/>
                  <a:lumOff val="50000"/>
                </a:schemeClr>
              </a:solidFill>
            </a:endParaRPr>
          </a:p>
          <a:p>
            <a:pPr lvl="1"/>
            <a:endParaRPr kumimoji="1" lang="en-US" altLang="ja-GB" dirty="0"/>
          </a:p>
        </p:txBody>
      </p:sp>
    </p:spTree>
    <p:extLst>
      <p:ext uri="{BB962C8B-B14F-4D97-AF65-F5344CB8AC3E}">
        <p14:creationId xmlns:p14="http://schemas.microsoft.com/office/powerpoint/2010/main" val="1723516834"/>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74D9D3-37C5-39AC-BAB9-44BF912B79F4}"/>
              </a:ext>
            </a:extLst>
          </p:cNvPr>
          <p:cNvSpPr>
            <a:spLocks noGrp="1"/>
          </p:cNvSpPr>
          <p:nvPr>
            <p:ph type="title"/>
          </p:nvPr>
        </p:nvSpPr>
        <p:spPr/>
        <p:txBody>
          <a:bodyPr/>
          <a:lstStyle/>
          <a:p>
            <a:r>
              <a:rPr kumimoji="1" lang="ja-GB" altLang="en-US" dirty="0"/>
              <a:t>計算論的思考（</a:t>
            </a:r>
            <a:r>
              <a:rPr kumimoji="1" lang="en-US" altLang="ja-GB" dirty="0"/>
              <a:t>Computational Thinking</a:t>
            </a:r>
            <a:r>
              <a:rPr kumimoji="1" lang="ja-GB" altLang="en-US" dirty="0"/>
              <a:t>）</a:t>
            </a:r>
          </a:p>
        </p:txBody>
      </p:sp>
      <p:sp>
        <p:nvSpPr>
          <p:cNvPr id="3" name="コンテンツ プレースホルダー 2">
            <a:extLst>
              <a:ext uri="{FF2B5EF4-FFF2-40B4-BE49-F238E27FC236}">
                <a16:creationId xmlns:a16="http://schemas.microsoft.com/office/drawing/2014/main" id="{8B89ACFE-D536-268B-B0B4-3C61C53E2E52}"/>
              </a:ext>
            </a:extLst>
          </p:cNvPr>
          <p:cNvSpPr>
            <a:spLocks noGrp="1"/>
          </p:cNvSpPr>
          <p:nvPr>
            <p:ph idx="1"/>
          </p:nvPr>
        </p:nvSpPr>
        <p:spPr/>
        <p:txBody>
          <a:bodyPr/>
          <a:lstStyle/>
          <a:p>
            <a:pPr marL="0" indent="0">
              <a:buNone/>
            </a:pPr>
            <a:r>
              <a:rPr lang="ja-GB" altLang="en-US" dirty="0"/>
              <a:t>計算機科学の考え方を，日常の問題一般に活用する思考方法</a:t>
            </a:r>
            <a:endParaRPr kumimoji="1" lang="en-US" altLang="ja-GB" dirty="0"/>
          </a:p>
          <a:p>
            <a:pPr marL="457200" lvl="1" indent="0">
              <a:buNone/>
            </a:pPr>
            <a:r>
              <a:rPr kumimoji="1" lang="ja-GB" altLang="en-US" dirty="0"/>
              <a:t>計算機科学（</a:t>
            </a:r>
            <a:r>
              <a:rPr kumimoji="1" lang="en-US" altLang="ja-GB" dirty="0"/>
              <a:t>Computer Science</a:t>
            </a:r>
            <a:r>
              <a:rPr kumimoji="1" lang="ja-GB" altLang="en-US" dirty="0"/>
              <a:t>）</a:t>
            </a:r>
            <a:endParaRPr kumimoji="1" lang="en-US" altLang="ja-GB" dirty="0"/>
          </a:p>
          <a:p>
            <a:pPr lvl="2"/>
            <a:r>
              <a:rPr kumimoji="1" lang="ja-GB" altLang="en-US" dirty="0"/>
              <a:t>計算機による情報処理（計算）の理論と応用を研究する学問</a:t>
            </a:r>
            <a:endParaRPr kumimoji="1" lang="en-US" altLang="ja-GB" dirty="0"/>
          </a:p>
          <a:p>
            <a:pPr lvl="2"/>
            <a:r>
              <a:rPr kumimoji="1" lang="ja-GB" altLang="en-US" dirty="0">
                <a:solidFill>
                  <a:srgbClr val="0070C0"/>
                </a:solidFill>
              </a:rPr>
              <a:t>問題の難しさ</a:t>
            </a:r>
            <a:r>
              <a:rPr kumimoji="1" lang="ja-GB" altLang="en-US" dirty="0"/>
              <a:t>や</a:t>
            </a:r>
            <a:r>
              <a:rPr kumimoji="1" lang="ja-GB" altLang="en-US" dirty="0">
                <a:solidFill>
                  <a:srgbClr val="0070C0"/>
                </a:solidFill>
              </a:rPr>
              <a:t>最善の解決の道筋</a:t>
            </a:r>
            <a:r>
              <a:rPr kumimoji="1" lang="ja-GB" altLang="en-US" dirty="0"/>
              <a:t>を</a:t>
            </a:r>
            <a:r>
              <a:rPr lang="ja-GB" altLang="en-US" dirty="0"/>
              <a:t>正確に捉えるための理論や概念を保有</a:t>
            </a:r>
            <a:endParaRPr lang="en-US" altLang="ja-GB" dirty="0"/>
          </a:p>
          <a:p>
            <a:pPr lvl="2"/>
            <a:endParaRPr kumimoji="1" lang="en-US" altLang="ja-GB" dirty="0"/>
          </a:p>
          <a:p>
            <a:pPr marL="457200" lvl="1" indent="0">
              <a:buNone/>
            </a:pPr>
            <a:r>
              <a:rPr kumimoji="1" lang="ja-GB" altLang="en-US" dirty="0"/>
              <a:t>あらゆる人が「計算機科学者のように考える方法」</a:t>
            </a:r>
            <a:endParaRPr kumimoji="1" lang="en-US" altLang="ja-GB" dirty="0"/>
          </a:p>
          <a:p>
            <a:pPr lvl="2"/>
            <a:r>
              <a:rPr kumimoji="1" lang="ja-GB" altLang="en-US" dirty="0"/>
              <a:t>科学分野のみならずあらゆる問題の解決に使える手法</a:t>
            </a:r>
            <a:endParaRPr kumimoji="1" lang="en-US" altLang="ja-GB" dirty="0"/>
          </a:p>
          <a:p>
            <a:pPr lvl="3"/>
            <a:r>
              <a:rPr kumimoji="1" lang="ja-GB" altLang="en-US" dirty="0"/>
              <a:t>プログラミングに限らず，</a:t>
            </a:r>
            <a:r>
              <a:rPr lang="ja-GB" altLang="en-US" dirty="0"/>
              <a:t>生活や仕事の場面におけるあらゆる</a:t>
            </a:r>
            <a:r>
              <a:rPr kumimoji="1" lang="ja-GB" altLang="en-US" dirty="0"/>
              <a:t>思考が対象</a:t>
            </a:r>
            <a:endParaRPr kumimoji="1" lang="en-US" altLang="ja-GB" dirty="0"/>
          </a:p>
          <a:p>
            <a:pPr lvl="2"/>
            <a:r>
              <a:rPr kumimoji="1" lang="ja-GB" altLang="en-US" dirty="0"/>
              <a:t>計算機科学の概念を，複雑な問題を体系的に解決する思考に活用</a:t>
            </a:r>
            <a:endParaRPr kumimoji="1" lang="en-US" altLang="ja-GB" dirty="0"/>
          </a:p>
          <a:p>
            <a:pPr lvl="3"/>
            <a:r>
              <a:rPr kumimoji="1" lang="ja-GB" altLang="en-US" dirty="0"/>
              <a:t>計算の概念は複雑な問題を体系的に分析して解決策を見つけるために有用</a:t>
            </a:r>
            <a:endParaRPr kumimoji="1" lang="en-US" altLang="ja-GB" dirty="0"/>
          </a:p>
          <a:p>
            <a:pPr lvl="2"/>
            <a:endParaRPr kumimoji="1" lang="en-US" altLang="ja-GB" dirty="0"/>
          </a:p>
          <a:p>
            <a:pPr lvl="1"/>
            <a:endParaRPr kumimoji="1" lang="ja-GB" altLang="en-US" dirty="0"/>
          </a:p>
        </p:txBody>
      </p:sp>
    </p:spTree>
    <p:extLst>
      <p:ext uri="{BB962C8B-B14F-4D97-AF65-F5344CB8AC3E}">
        <p14:creationId xmlns:p14="http://schemas.microsoft.com/office/powerpoint/2010/main" val="340416312"/>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22BC3-994E-2F66-BFF1-AD179162521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FC43178-BA57-6F91-EF5C-53138A353810}"/>
              </a:ext>
            </a:extLst>
          </p:cNvPr>
          <p:cNvSpPr>
            <a:spLocks noGrp="1"/>
          </p:cNvSpPr>
          <p:nvPr>
            <p:ph type="title"/>
          </p:nvPr>
        </p:nvSpPr>
        <p:spPr/>
        <p:txBody>
          <a:bodyPr/>
          <a:lstStyle/>
          <a:p>
            <a:r>
              <a:rPr lang="ja-GB" altLang="en-US" dirty="0"/>
              <a:t>計算論的思考とは，何であり，何でないか</a:t>
            </a:r>
            <a:endParaRPr kumimoji="1" lang="ja-GB" altLang="en-US" dirty="0"/>
          </a:p>
        </p:txBody>
      </p:sp>
      <p:sp>
        <p:nvSpPr>
          <p:cNvPr id="3" name="コンテンツ プレースホルダー 2">
            <a:extLst>
              <a:ext uri="{FF2B5EF4-FFF2-40B4-BE49-F238E27FC236}">
                <a16:creationId xmlns:a16="http://schemas.microsoft.com/office/drawing/2014/main" id="{E020C066-B224-EA8E-BF71-607B2EAD3D7B}"/>
              </a:ext>
            </a:extLst>
          </p:cNvPr>
          <p:cNvSpPr>
            <a:spLocks noGrp="1"/>
          </p:cNvSpPr>
          <p:nvPr>
            <p:ph idx="1"/>
          </p:nvPr>
        </p:nvSpPr>
        <p:spPr/>
        <p:txBody>
          <a:bodyPr/>
          <a:lstStyle/>
          <a:p>
            <a:pPr marL="0" indent="0">
              <a:buNone/>
            </a:pPr>
            <a:r>
              <a:rPr kumimoji="1" lang="ja-GB" altLang="en-US" dirty="0"/>
              <a:t>計算論的思考とは，計算機科学者のように考えること</a:t>
            </a:r>
            <a:endParaRPr kumimoji="1" lang="en-US" altLang="ja-GB" dirty="0"/>
          </a:p>
          <a:p>
            <a:pPr marL="457200" lvl="1" indent="0">
              <a:buNone/>
            </a:pPr>
            <a:r>
              <a:rPr kumimoji="1" lang="en-US" altLang="ja-GB" dirty="0">
                <a:solidFill>
                  <a:srgbClr val="7030A0"/>
                </a:solidFill>
              </a:rPr>
              <a:t>×  </a:t>
            </a:r>
            <a:r>
              <a:rPr kumimoji="1" lang="ja-GB" altLang="en-US" dirty="0">
                <a:solidFill>
                  <a:schemeClr val="tx1">
                    <a:lumMod val="50000"/>
                    <a:lumOff val="50000"/>
                  </a:schemeClr>
                </a:solidFill>
              </a:rPr>
              <a:t>コンピュータに詳しくなること</a:t>
            </a:r>
            <a:endParaRPr kumimoji="1" lang="en-US" altLang="ja-GB" dirty="0">
              <a:solidFill>
                <a:schemeClr val="tx1">
                  <a:lumMod val="50000"/>
                  <a:lumOff val="50000"/>
                </a:schemeClr>
              </a:solidFill>
            </a:endParaRPr>
          </a:p>
          <a:p>
            <a:pPr lvl="2"/>
            <a:r>
              <a:rPr lang="ja-GB" altLang="en-US" dirty="0"/>
              <a:t>ハードウェア，ソフトウェア，システムを理解することが計算論的思考ではない</a:t>
            </a:r>
            <a:endParaRPr lang="en-US" altLang="ja-GB" dirty="0"/>
          </a:p>
          <a:p>
            <a:pPr lvl="2"/>
            <a:endParaRPr lang="en-US" altLang="ja-GB" dirty="0"/>
          </a:p>
          <a:p>
            <a:pPr marL="457200" lvl="1" indent="0">
              <a:buNone/>
            </a:pPr>
            <a:r>
              <a:rPr lang="en-US" altLang="ja-GB" dirty="0">
                <a:solidFill>
                  <a:srgbClr val="7030A0"/>
                </a:solidFill>
              </a:rPr>
              <a:t>×  </a:t>
            </a:r>
            <a:r>
              <a:rPr kumimoji="1" lang="ja-GB" altLang="en-US" dirty="0">
                <a:solidFill>
                  <a:schemeClr val="tx1">
                    <a:lumMod val="50000"/>
                    <a:lumOff val="50000"/>
                  </a:schemeClr>
                </a:solidFill>
              </a:rPr>
              <a:t>プログラミング的思考を身につけること</a:t>
            </a:r>
            <a:endParaRPr kumimoji="1" lang="en-US" altLang="ja-GB" dirty="0">
              <a:solidFill>
                <a:schemeClr val="tx1">
                  <a:lumMod val="50000"/>
                  <a:lumOff val="50000"/>
                </a:schemeClr>
              </a:solidFill>
            </a:endParaRPr>
          </a:p>
          <a:p>
            <a:pPr lvl="2"/>
            <a:r>
              <a:rPr lang="ja-GB" altLang="en-US" dirty="0"/>
              <a:t>「コンピュータのように論理的に考える」ことが計算論的思考ではない</a:t>
            </a:r>
            <a:endParaRPr lang="en-US" altLang="ja-GB" dirty="0"/>
          </a:p>
          <a:p>
            <a:pPr lvl="2"/>
            <a:endParaRPr lang="en-US" altLang="ja-GB" dirty="0"/>
          </a:p>
          <a:p>
            <a:pPr marL="457200" lvl="1" indent="0">
              <a:buNone/>
            </a:pPr>
            <a:r>
              <a:rPr lang="en-US" altLang="ja-GB" dirty="0">
                <a:solidFill>
                  <a:srgbClr val="C00000"/>
                </a:solidFill>
              </a:rPr>
              <a:t>○</a:t>
            </a:r>
            <a:r>
              <a:rPr lang="en-US" altLang="ja-GB" dirty="0"/>
              <a:t> </a:t>
            </a:r>
            <a:r>
              <a:rPr lang="ja-GB" altLang="en-US" dirty="0"/>
              <a:t>計算機科学者のように考えること</a:t>
            </a:r>
            <a:endParaRPr lang="en-US" altLang="ja-GB" dirty="0"/>
          </a:p>
          <a:p>
            <a:pPr lvl="2"/>
            <a:r>
              <a:rPr lang="ja-GB" altLang="en-US" dirty="0"/>
              <a:t>現実世界の事物や出来事について，その本来の性質や関係性を損なわずに</a:t>
            </a:r>
            <a:br>
              <a:rPr lang="en-US" altLang="ja-GB" dirty="0"/>
            </a:br>
            <a:r>
              <a:rPr lang="ja-GB" altLang="en-US" dirty="0">
                <a:solidFill>
                  <a:srgbClr val="0070C0"/>
                </a:solidFill>
              </a:rPr>
              <a:t>計算機の仕組みや動作に喩えて考える</a:t>
            </a:r>
            <a:r>
              <a:rPr lang="ja-GB" altLang="en-US" dirty="0"/>
              <a:t>ことができる</a:t>
            </a:r>
            <a:endParaRPr lang="en-US" altLang="ja-GB" dirty="0"/>
          </a:p>
          <a:p>
            <a:pPr lvl="2"/>
            <a:r>
              <a:rPr lang="ja-GB" altLang="en-US" dirty="0"/>
              <a:t>問題の事象を計算機の比喩で捉えられれば，計算機科学の考え方を活用して</a:t>
            </a:r>
            <a:r>
              <a:rPr lang="ja-GB" altLang="en-US" dirty="0">
                <a:solidFill>
                  <a:srgbClr val="0070C0"/>
                </a:solidFill>
              </a:rPr>
              <a:t>その難しさを測ったり，確実・簡単な解決手順を導いたりできる</a:t>
            </a:r>
            <a:endParaRPr lang="en-US" altLang="ja-GB" dirty="0">
              <a:solidFill>
                <a:srgbClr val="0070C0"/>
              </a:solidFill>
            </a:endParaRPr>
          </a:p>
          <a:p>
            <a:pPr lvl="2"/>
            <a:endParaRPr lang="en-US" altLang="ja-GB" dirty="0"/>
          </a:p>
          <a:p>
            <a:pPr lvl="2"/>
            <a:endParaRPr lang="en-US" altLang="ja-GB" dirty="0"/>
          </a:p>
          <a:p>
            <a:pPr lvl="1"/>
            <a:endParaRPr lang="en-US" altLang="ja-GB" dirty="0"/>
          </a:p>
          <a:p>
            <a:endParaRPr lang="en-US" altLang="ja-GB" dirty="0"/>
          </a:p>
          <a:p>
            <a:endParaRPr kumimoji="1" lang="ja-GB" altLang="en-US" dirty="0"/>
          </a:p>
        </p:txBody>
      </p:sp>
    </p:spTree>
    <p:extLst>
      <p:ext uri="{BB962C8B-B14F-4D97-AF65-F5344CB8AC3E}">
        <p14:creationId xmlns:p14="http://schemas.microsoft.com/office/powerpoint/2010/main" val="2590437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710586-7859-D897-ACD2-37E0AEA5CD41}"/>
              </a:ext>
            </a:extLst>
          </p:cNvPr>
          <p:cNvSpPr>
            <a:spLocks noGrp="1"/>
          </p:cNvSpPr>
          <p:nvPr>
            <p:ph type="title"/>
          </p:nvPr>
        </p:nvSpPr>
        <p:spPr/>
        <p:txBody>
          <a:bodyPr/>
          <a:lstStyle/>
          <a:p>
            <a:r>
              <a:rPr kumimoji="1" lang="ja-GB" altLang="en-US" dirty="0"/>
              <a:t>計算論的思考の具体例</a:t>
            </a:r>
          </a:p>
        </p:txBody>
      </p:sp>
      <p:grpSp>
        <p:nvGrpSpPr>
          <p:cNvPr id="4" name="グループ化 3">
            <a:extLst>
              <a:ext uri="{FF2B5EF4-FFF2-40B4-BE49-F238E27FC236}">
                <a16:creationId xmlns:a16="http://schemas.microsoft.com/office/drawing/2014/main" id="{CA18E806-3301-5656-B495-6179A26966C0}"/>
              </a:ext>
            </a:extLst>
          </p:cNvPr>
          <p:cNvGrpSpPr/>
          <p:nvPr/>
        </p:nvGrpSpPr>
        <p:grpSpPr>
          <a:xfrm>
            <a:off x="129195" y="915401"/>
            <a:ext cx="2195387" cy="1811320"/>
            <a:chOff x="314325" y="4953201"/>
            <a:chExt cx="2195387" cy="1811320"/>
          </a:xfrm>
        </p:grpSpPr>
        <p:grpSp>
          <p:nvGrpSpPr>
            <p:cNvPr id="5" name="グループ化 4">
              <a:extLst>
                <a:ext uri="{FF2B5EF4-FFF2-40B4-BE49-F238E27FC236}">
                  <a16:creationId xmlns:a16="http://schemas.microsoft.com/office/drawing/2014/main" id="{CC6F82E2-71D6-6930-3D55-580133D17F13}"/>
                </a:ext>
              </a:extLst>
            </p:cNvPr>
            <p:cNvGrpSpPr/>
            <p:nvPr/>
          </p:nvGrpSpPr>
          <p:grpSpPr>
            <a:xfrm>
              <a:off x="314325" y="4953201"/>
              <a:ext cx="2195387" cy="1448176"/>
              <a:chOff x="405569" y="4821415"/>
              <a:chExt cx="2195387" cy="1448176"/>
            </a:xfrm>
          </p:grpSpPr>
          <p:grpSp>
            <p:nvGrpSpPr>
              <p:cNvPr id="7" name="グループ化 6">
                <a:extLst>
                  <a:ext uri="{FF2B5EF4-FFF2-40B4-BE49-F238E27FC236}">
                    <a16:creationId xmlns:a16="http://schemas.microsoft.com/office/drawing/2014/main" id="{3301FD23-D0F7-C881-C079-B0B2D3099C26}"/>
                  </a:ext>
                </a:extLst>
              </p:cNvPr>
              <p:cNvGrpSpPr/>
              <p:nvPr/>
            </p:nvGrpSpPr>
            <p:grpSpPr>
              <a:xfrm>
                <a:off x="439824" y="4821415"/>
                <a:ext cx="2144004" cy="1448176"/>
                <a:chOff x="2160310" y="5175315"/>
                <a:chExt cx="2144004" cy="1448176"/>
              </a:xfrm>
            </p:grpSpPr>
            <p:sp>
              <p:nvSpPr>
                <p:cNvPr id="11" name="円/楕円 10">
                  <a:extLst>
                    <a:ext uri="{FF2B5EF4-FFF2-40B4-BE49-F238E27FC236}">
                      <a16:creationId xmlns:a16="http://schemas.microsoft.com/office/drawing/2014/main" id="{EFCFDD28-74B2-FFE6-F14F-9D66927125A0}"/>
                    </a:ext>
                  </a:extLst>
                </p:cNvPr>
                <p:cNvSpPr>
                  <a:spLocks noChangeAspect="1"/>
                </p:cNvSpPr>
                <p:nvPr/>
              </p:nvSpPr>
              <p:spPr>
                <a:xfrm>
                  <a:off x="2874978" y="5194155"/>
                  <a:ext cx="1429336" cy="1429336"/>
                </a:xfrm>
                <a:prstGeom prst="ellipse">
                  <a:avLst/>
                </a:prstGeom>
                <a:solidFill>
                  <a:schemeClr val="accent1">
                    <a:lumMod val="40000"/>
                    <a:lumOff val="60000"/>
                    <a:alpha val="3242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2" name="円/楕円 11">
                  <a:extLst>
                    <a:ext uri="{FF2B5EF4-FFF2-40B4-BE49-F238E27FC236}">
                      <a16:creationId xmlns:a16="http://schemas.microsoft.com/office/drawing/2014/main" id="{D4C88DFF-31B5-A917-C15C-12D5D3DCD81F}"/>
                    </a:ext>
                  </a:extLst>
                </p:cNvPr>
                <p:cNvSpPr>
                  <a:spLocks noChangeAspect="1"/>
                </p:cNvSpPr>
                <p:nvPr/>
              </p:nvSpPr>
              <p:spPr>
                <a:xfrm>
                  <a:off x="2160310" y="5175315"/>
                  <a:ext cx="1429336" cy="1429336"/>
                </a:xfrm>
                <a:prstGeom prst="ellipse">
                  <a:avLst/>
                </a:prstGeom>
                <a:solidFill>
                  <a:srgbClr val="C00000">
                    <a:alpha val="1606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grpSp>
          <p:sp>
            <p:nvSpPr>
              <p:cNvPr id="8" name="テキスト ボックス 7">
                <a:extLst>
                  <a:ext uri="{FF2B5EF4-FFF2-40B4-BE49-F238E27FC236}">
                    <a16:creationId xmlns:a16="http://schemas.microsoft.com/office/drawing/2014/main" id="{93E45929-FB9C-C7DC-A288-99EDBEB87B4E}"/>
                  </a:ext>
                </a:extLst>
              </p:cNvPr>
              <p:cNvSpPr txBox="1"/>
              <p:nvPr/>
            </p:nvSpPr>
            <p:spPr>
              <a:xfrm>
                <a:off x="405569" y="5370574"/>
                <a:ext cx="748923" cy="430887"/>
              </a:xfrm>
              <a:prstGeom prst="rect">
                <a:avLst/>
              </a:prstGeom>
              <a:noFill/>
            </p:spPr>
            <p:txBody>
              <a:bodyPr wrap="none" rtlCol="0">
                <a:spAutoFit/>
              </a:bodyPr>
              <a:lstStyle/>
              <a:p>
                <a:pPr algn="ctr"/>
                <a:r>
                  <a:rPr kumimoji="1" lang="en-US" altLang="ja-GB" sz="1100" dirty="0"/>
                  <a:t>A</a:t>
                </a:r>
                <a:r>
                  <a:rPr kumimoji="1" lang="ja-GB" altLang="en-US" sz="1100" dirty="0"/>
                  <a:t>さんの</a:t>
                </a:r>
                <a:endParaRPr kumimoji="1" lang="en-US" altLang="ja-GB" sz="1100" dirty="0"/>
              </a:p>
              <a:p>
                <a:pPr algn="ctr"/>
                <a:r>
                  <a:rPr kumimoji="1" lang="ja-GB" altLang="en-US" sz="1100" dirty="0"/>
                  <a:t>空き日程</a:t>
                </a:r>
              </a:p>
            </p:txBody>
          </p:sp>
          <p:sp>
            <p:nvSpPr>
              <p:cNvPr id="9" name="テキスト ボックス 8">
                <a:extLst>
                  <a:ext uri="{FF2B5EF4-FFF2-40B4-BE49-F238E27FC236}">
                    <a16:creationId xmlns:a16="http://schemas.microsoft.com/office/drawing/2014/main" id="{26B41325-8BEE-3E78-90D4-673B00B3F458}"/>
                  </a:ext>
                </a:extLst>
              </p:cNvPr>
              <p:cNvSpPr txBox="1"/>
              <p:nvPr/>
            </p:nvSpPr>
            <p:spPr>
              <a:xfrm>
                <a:off x="1852033" y="5370573"/>
                <a:ext cx="748923" cy="430887"/>
              </a:xfrm>
              <a:prstGeom prst="rect">
                <a:avLst/>
              </a:prstGeom>
              <a:noFill/>
            </p:spPr>
            <p:txBody>
              <a:bodyPr wrap="none" rtlCol="0">
                <a:spAutoFit/>
              </a:bodyPr>
              <a:lstStyle/>
              <a:p>
                <a:pPr algn="ctr"/>
                <a:r>
                  <a:rPr kumimoji="1" lang="en-US" altLang="ja-GB" sz="1100" dirty="0"/>
                  <a:t>B</a:t>
                </a:r>
                <a:r>
                  <a:rPr kumimoji="1" lang="ja-GB" altLang="en-US" sz="1100" dirty="0"/>
                  <a:t>さんの</a:t>
                </a:r>
                <a:endParaRPr kumimoji="1" lang="en-US" altLang="ja-GB" sz="1100" dirty="0"/>
              </a:p>
              <a:p>
                <a:pPr algn="ctr"/>
                <a:r>
                  <a:rPr kumimoji="1" lang="ja-GB" altLang="en-US" sz="1100" dirty="0"/>
                  <a:t>空き日程</a:t>
                </a:r>
              </a:p>
            </p:txBody>
          </p:sp>
          <p:sp>
            <p:nvSpPr>
              <p:cNvPr id="10" name="フリーフォーム 9">
                <a:extLst>
                  <a:ext uri="{FF2B5EF4-FFF2-40B4-BE49-F238E27FC236}">
                    <a16:creationId xmlns:a16="http://schemas.microsoft.com/office/drawing/2014/main" id="{E6EC3DEA-5644-26DC-27F4-4E5D7156DE77}"/>
                  </a:ext>
                </a:extLst>
              </p:cNvPr>
              <p:cNvSpPr>
                <a:spLocks noChangeAspect="1"/>
              </p:cNvSpPr>
              <p:nvPr/>
            </p:nvSpPr>
            <p:spPr>
              <a:xfrm>
                <a:off x="1154492" y="4920540"/>
                <a:ext cx="714668" cy="1231086"/>
              </a:xfrm>
              <a:custGeom>
                <a:avLst/>
                <a:gdLst>
                  <a:gd name="connsiteX0" fmla="*/ 357334 w 714668"/>
                  <a:gd name="connsiteY0" fmla="*/ 0 h 1231086"/>
                  <a:gd name="connsiteX1" fmla="*/ 399578 w 714668"/>
                  <a:gd name="connsiteY1" fmla="*/ 22929 h 1231086"/>
                  <a:gd name="connsiteX2" fmla="*/ 714668 w 714668"/>
                  <a:gd name="connsiteY2" fmla="*/ 615543 h 1231086"/>
                  <a:gd name="connsiteX3" fmla="*/ 399578 w 714668"/>
                  <a:gd name="connsiteY3" fmla="*/ 1208157 h 1231086"/>
                  <a:gd name="connsiteX4" fmla="*/ 357334 w 714668"/>
                  <a:gd name="connsiteY4" fmla="*/ 1231086 h 1231086"/>
                  <a:gd name="connsiteX5" fmla="*/ 315090 w 714668"/>
                  <a:gd name="connsiteY5" fmla="*/ 1208157 h 1231086"/>
                  <a:gd name="connsiteX6" fmla="*/ 0 w 714668"/>
                  <a:gd name="connsiteY6" fmla="*/ 615543 h 1231086"/>
                  <a:gd name="connsiteX7" fmla="*/ 315090 w 714668"/>
                  <a:gd name="connsiteY7" fmla="*/ 22929 h 1231086"/>
                  <a:gd name="connsiteX8" fmla="*/ 357334 w 714668"/>
                  <a:gd name="connsiteY8" fmla="*/ 0 h 123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4668" h="1231086">
                    <a:moveTo>
                      <a:pt x="357334" y="0"/>
                    </a:moveTo>
                    <a:lnTo>
                      <a:pt x="399578" y="22929"/>
                    </a:lnTo>
                    <a:cubicBezTo>
                      <a:pt x="589681" y="151360"/>
                      <a:pt x="714668" y="368856"/>
                      <a:pt x="714668" y="615543"/>
                    </a:cubicBezTo>
                    <a:cubicBezTo>
                      <a:pt x="714668" y="862231"/>
                      <a:pt x="589681" y="1079726"/>
                      <a:pt x="399578" y="1208157"/>
                    </a:cubicBezTo>
                    <a:lnTo>
                      <a:pt x="357334" y="1231086"/>
                    </a:lnTo>
                    <a:lnTo>
                      <a:pt x="315090" y="1208157"/>
                    </a:lnTo>
                    <a:cubicBezTo>
                      <a:pt x="124988" y="1079726"/>
                      <a:pt x="0" y="862231"/>
                      <a:pt x="0" y="615543"/>
                    </a:cubicBezTo>
                    <a:cubicBezTo>
                      <a:pt x="0" y="368856"/>
                      <a:pt x="124988" y="151360"/>
                      <a:pt x="315090" y="22929"/>
                    </a:cubicBezTo>
                    <a:lnTo>
                      <a:pt x="357334" y="0"/>
                    </a:lnTo>
                    <a:close/>
                  </a:path>
                </a:pathLst>
              </a:custGeom>
              <a:noFill/>
              <a:ln w="571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kumimoji="1" lang="ja-GB" altLang="en-US" sz="1000" b="1" dirty="0">
                    <a:solidFill>
                      <a:srgbClr val="7030A0"/>
                    </a:solidFill>
                  </a:rPr>
                  <a:t>両者参加可能</a:t>
                </a:r>
              </a:p>
            </p:txBody>
          </p:sp>
        </p:grpSp>
        <p:sp>
          <p:nvSpPr>
            <p:cNvPr id="6" name="テキスト ボックス 5">
              <a:extLst>
                <a:ext uri="{FF2B5EF4-FFF2-40B4-BE49-F238E27FC236}">
                  <a16:creationId xmlns:a16="http://schemas.microsoft.com/office/drawing/2014/main" id="{55054E9D-5FE7-A5D7-73D7-192FBF2AC178}"/>
                </a:ext>
              </a:extLst>
            </p:cNvPr>
            <p:cNvSpPr txBox="1"/>
            <p:nvPr/>
          </p:nvSpPr>
          <p:spPr>
            <a:xfrm>
              <a:off x="635753" y="6487522"/>
              <a:ext cx="1569660" cy="276999"/>
            </a:xfrm>
            <a:prstGeom prst="rect">
              <a:avLst/>
            </a:prstGeom>
            <a:noFill/>
          </p:spPr>
          <p:txBody>
            <a:bodyPr wrap="none" rtlCol="0">
              <a:spAutoFit/>
            </a:bodyPr>
            <a:lstStyle/>
            <a:p>
              <a:pPr algn="ctr"/>
              <a:r>
                <a:rPr kumimoji="1" lang="ja-GB" altLang="en-US" sz="1200" b="1" dirty="0">
                  <a:solidFill>
                    <a:srgbClr val="2F2523"/>
                  </a:solidFill>
                </a:rPr>
                <a:t>日程調整は集合演算</a:t>
              </a:r>
            </a:p>
          </p:txBody>
        </p:sp>
      </p:grpSp>
      <p:grpSp>
        <p:nvGrpSpPr>
          <p:cNvPr id="13" name="グループ化 12">
            <a:extLst>
              <a:ext uri="{FF2B5EF4-FFF2-40B4-BE49-F238E27FC236}">
                <a16:creationId xmlns:a16="http://schemas.microsoft.com/office/drawing/2014/main" id="{7F552FD5-B74D-3195-309E-2F3479B1137B}"/>
              </a:ext>
            </a:extLst>
          </p:cNvPr>
          <p:cNvGrpSpPr/>
          <p:nvPr/>
        </p:nvGrpSpPr>
        <p:grpSpPr>
          <a:xfrm>
            <a:off x="6537788" y="1082343"/>
            <a:ext cx="2418091" cy="1644378"/>
            <a:chOff x="6144558" y="5120142"/>
            <a:chExt cx="2418091" cy="1644378"/>
          </a:xfrm>
        </p:grpSpPr>
        <p:pic>
          <p:nvPicPr>
            <p:cNvPr id="14" name="図 13">
              <a:extLst>
                <a:ext uri="{FF2B5EF4-FFF2-40B4-BE49-F238E27FC236}">
                  <a16:creationId xmlns:a16="http://schemas.microsoft.com/office/drawing/2014/main" id="{08E9186C-446F-AE00-873E-C6C549BA1CD5}"/>
                </a:ext>
              </a:extLst>
            </p:cNvPr>
            <p:cNvPicPr>
              <a:picLocks noChangeAspect="1"/>
            </p:cNvPicPr>
            <p:nvPr/>
          </p:nvPicPr>
          <p:blipFill>
            <a:blip r:embed="rId2"/>
            <a:srcRect/>
            <a:stretch/>
          </p:blipFill>
          <p:spPr>
            <a:xfrm>
              <a:off x="6144558" y="5120142"/>
              <a:ext cx="2418091" cy="1065869"/>
            </a:xfrm>
            <a:prstGeom prst="rect">
              <a:avLst/>
            </a:prstGeom>
          </p:spPr>
        </p:pic>
        <p:sp>
          <p:nvSpPr>
            <p:cNvPr id="15" name="テキスト ボックス 14">
              <a:extLst>
                <a:ext uri="{FF2B5EF4-FFF2-40B4-BE49-F238E27FC236}">
                  <a16:creationId xmlns:a16="http://schemas.microsoft.com/office/drawing/2014/main" id="{4B001FC8-1A11-1300-8CC0-D3FAE05B43BD}"/>
                </a:ext>
              </a:extLst>
            </p:cNvPr>
            <p:cNvSpPr txBox="1"/>
            <p:nvPr/>
          </p:nvSpPr>
          <p:spPr>
            <a:xfrm>
              <a:off x="6337946" y="6487521"/>
              <a:ext cx="2031325" cy="276999"/>
            </a:xfrm>
            <a:prstGeom prst="rect">
              <a:avLst/>
            </a:prstGeom>
            <a:noFill/>
          </p:spPr>
          <p:txBody>
            <a:bodyPr wrap="none" rtlCol="0">
              <a:spAutoFit/>
            </a:bodyPr>
            <a:lstStyle/>
            <a:p>
              <a:pPr algn="ctr"/>
              <a:r>
                <a:rPr kumimoji="1" lang="ja-GB" altLang="en-US" sz="1200" b="1" dirty="0">
                  <a:solidFill>
                    <a:srgbClr val="2F2523"/>
                  </a:solidFill>
                </a:rPr>
                <a:t>通販サイトはデータベース</a:t>
              </a:r>
            </a:p>
          </p:txBody>
        </p:sp>
      </p:grpSp>
      <p:grpSp>
        <p:nvGrpSpPr>
          <p:cNvPr id="16" name="グループ化 15">
            <a:extLst>
              <a:ext uri="{FF2B5EF4-FFF2-40B4-BE49-F238E27FC236}">
                <a16:creationId xmlns:a16="http://schemas.microsoft.com/office/drawing/2014/main" id="{8D3D8A5D-0D0E-C634-A8B4-406AB52EEBCC}"/>
              </a:ext>
            </a:extLst>
          </p:cNvPr>
          <p:cNvGrpSpPr/>
          <p:nvPr/>
        </p:nvGrpSpPr>
        <p:grpSpPr>
          <a:xfrm>
            <a:off x="2626267" y="1126186"/>
            <a:ext cx="3609837" cy="1600535"/>
            <a:chOff x="2626366" y="5163985"/>
            <a:chExt cx="3609837" cy="1600535"/>
          </a:xfrm>
        </p:grpSpPr>
        <p:grpSp>
          <p:nvGrpSpPr>
            <p:cNvPr id="17" name="グループ化 16">
              <a:extLst>
                <a:ext uri="{FF2B5EF4-FFF2-40B4-BE49-F238E27FC236}">
                  <a16:creationId xmlns:a16="http://schemas.microsoft.com/office/drawing/2014/main" id="{156EFD86-755E-B14D-2AA6-803C355B0632}"/>
                </a:ext>
              </a:extLst>
            </p:cNvPr>
            <p:cNvGrpSpPr/>
            <p:nvPr/>
          </p:nvGrpSpPr>
          <p:grpSpPr>
            <a:xfrm>
              <a:off x="2626366" y="5163985"/>
              <a:ext cx="2967071" cy="1600535"/>
              <a:chOff x="2626366" y="5163985"/>
              <a:chExt cx="2967071" cy="1600535"/>
            </a:xfrm>
          </p:grpSpPr>
          <p:pic>
            <p:nvPicPr>
              <p:cNvPr id="19" name="図 18">
                <a:extLst>
                  <a:ext uri="{FF2B5EF4-FFF2-40B4-BE49-F238E27FC236}">
                    <a16:creationId xmlns:a16="http://schemas.microsoft.com/office/drawing/2014/main" id="{853D4D19-3E2C-E5C4-A3DE-4DC488EFB09C}"/>
                  </a:ext>
                </a:extLst>
              </p:cNvPr>
              <p:cNvPicPr>
                <a:picLocks noChangeAspect="1"/>
              </p:cNvPicPr>
              <p:nvPr/>
            </p:nvPicPr>
            <p:blipFill>
              <a:blip r:embed="rId3"/>
              <a:srcRect/>
              <a:stretch/>
            </p:blipFill>
            <p:spPr>
              <a:xfrm>
                <a:off x="2626366" y="5163985"/>
                <a:ext cx="2553578" cy="978185"/>
              </a:xfrm>
              <a:prstGeom prst="rect">
                <a:avLst/>
              </a:prstGeom>
            </p:spPr>
          </p:pic>
          <p:sp>
            <p:nvSpPr>
              <p:cNvPr id="20" name="テキスト ボックス 19">
                <a:extLst>
                  <a:ext uri="{FF2B5EF4-FFF2-40B4-BE49-F238E27FC236}">
                    <a16:creationId xmlns:a16="http://schemas.microsoft.com/office/drawing/2014/main" id="{D31BDAF5-9D98-0E8F-67D6-F4C5575FB836}"/>
                  </a:ext>
                </a:extLst>
              </p:cNvPr>
              <p:cNvSpPr txBox="1"/>
              <p:nvPr/>
            </p:nvSpPr>
            <p:spPr>
              <a:xfrm>
                <a:off x="3241511" y="6302855"/>
                <a:ext cx="2351926" cy="461665"/>
              </a:xfrm>
              <a:prstGeom prst="rect">
                <a:avLst/>
              </a:prstGeom>
              <a:noFill/>
            </p:spPr>
            <p:txBody>
              <a:bodyPr wrap="none" rtlCol="0">
                <a:spAutoFit/>
              </a:bodyPr>
              <a:lstStyle/>
              <a:p>
                <a:pPr algn="ctr"/>
                <a:r>
                  <a:rPr kumimoji="1" lang="en-US" altLang="ja-GB" sz="1200" b="1" dirty="0">
                    <a:solidFill>
                      <a:srgbClr val="2F2523"/>
                    </a:solidFill>
                  </a:rPr>
                  <a:t>2</a:t>
                </a:r>
                <a:r>
                  <a:rPr kumimoji="1" lang="ja-GB" altLang="en-US" sz="1200" b="1" dirty="0">
                    <a:solidFill>
                      <a:srgbClr val="2F2523"/>
                    </a:solidFill>
                  </a:rPr>
                  <a:t>つの鍵のついたドアは</a:t>
                </a:r>
                <a:r>
                  <a:rPr kumimoji="1" lang="en-US" altLang="ja-GB" sz="1200" b="1" dirty="0">
                    <a:solidFill>
                      <a:srgbClr val="2F2523"/>
                    </a:solidFill>
                  </a:rPr>
                  <a:t>and</a:t>
                </a:r>
                <a:r>
                  <a:rPr kumimoji="1" lang="ja-GB" altLang="en-US" sz="1200" b="1" dirty="0">
                    <a:solidFill>
                      <a:srgbClr val="2F2523"/>
                    </a:solidFill>
                  </a:rPr>
                  <a:t>演算</a:t>
                </a:r>
                <a:br>
                  <a:rPr kumimoji="1" lang="en-US" altLang="ja-GB" sz="1200" b="1" dirty="0">
                    <a:solidFill>
                      <a:srgbClr val="2F2523"/>
                    </a:solidFill>
                  </a:rPr>
                </a:br>
                <a:r>
                  <a:rPr kumimoji="1" lang="ja-GB" altLang="en-US" sz="1200" b="1" dirty="0">
                    <a:solidFill>
                      <a:srgbClr val="2F2523"/>
                    </a:solidFill>
                  </a:rPr>
                  <a:t>（最悪計算時間は</a:t>
                </a:r>
                <a:r>
                  <a:rPr kumimoji="1" lang="en-US" altLang="ja-GB" sz="1200" b="1" dirty="0">
                    <a:solidFill>
                      <a:srgbClr val="2F2523"/>
                    </a:solidFill>
                  </a:rPr>
                  <a:t>4</a:t>
                </a:r>
                <a:r>
                  <a:rPr kumimoji="1" lang="ja-GB" altLang="en-US" sz="1200" b="1" dirty="0">
                    <a:solidFill>
                      <a:srgbClr val="2F2523"/>
                    </a:solidFill>
                  </a:rPr>
                  <a:t>ステップ）</a:t>
                </a:r>
              </a:p>
            </p:txBody>
          </p:sp>
        </p:grpSp>
        <p:pic>
          <p:nvPicPr>
            <p:cNvPr id="18" name="図 17" descr="ドアが開いている&#10;&#10;AI 生成コンテンツは誤りを含む可能性があります。">
              <a:extLst>
                <a:ext uri="{FF2B5EF4-FFF2-40B4-BE49-F238E27FC236}">
                  <a16:creationId xmlns:a16="http://schemas.microsoft.com/office/drawing/2014/main" id="{DA86B63B-5B38-651C-960D-135F07F29D52}"/>
                </a:ext>
              </a:extLst>
            </p:cNvPr>
            <p:cNvPicPr>
              <a:picLocks noChangeAspect="1"/>
            </p:cNvPicPr>
            <p:nvPr/>
          </p:nvPicPr>
          <p:blipFill>
            <a:blip r:embed="rId4"/>
            <a:srcRect l="14655" t="40931" r="60540" b="43779"/>
            <a:stretch>
              <a:fillRect/>
            </a:stretch>
          </p:blipFill>
          <p:spPr>
            <a:xfrm>
              <a:off x="5178218" y="5163985"/>
              <a:ext cx="1057985" cy="978185"/>
            </a:xfrm>
            <a:prstGeom prst="rect">
              <a:avLst/>
            </a:prstGeom>
          </p:spPr>
        </p:pic>
      </p:grpSp>
      <p:pic>
        <p:nvPicPr>
          <p:cNvPr id="32" name="図 31">
            <a:extLst>
              <a:ext uri="{FF2B5EF4-FFF2-40B4-BE49-F238E27FC236}">
                <a16:creationId xmlns:a16="http://schemas.microsoft.com/office/drawing/2014/main" id="{E3774A48-F0C7-E13C-B060-9643249B31FD}"/>
              </a:ext>
            </a:extLst>
          </p:cNvPr>
          <p:cNvPicPr>
            <a:picLocks noChangeAspect="1"/>
          </p:cNvPicPr>
          <p:nvPr/>
        </p:nvPicPr>
        <p:blipFill>
          <a:blip r:embed="rId5"/>
          <a:stretch>
            <a:fillRect/>
          </a:stretch>
        </p:blipFill>
        <p:spPr>
          <a:xfrm>
            <a:off x="2861501" y="3019287"/>
            <a:ext cx="2547296" cy="1497715"/>
          </a:xfrm>
          <a:prstGeom prst="rect">
            <a:avLst/>
          </a:prstGeom>
        </p:spPr>
      </p:pic>
      <p:sp>
        <p:nvSpPr>
          <p:cNvPr id="33" name="テキスト ボックス 32">
            <a:extLst>
              <a:ext uri="{FF2B5EF4-FFF2-40B4-BE49-F238E27FC236}">
                <a16:creationId xmlns:a16="http://schemas.microsoft.com/office/drawing/2014/main" id="{D92FCF0A-8F9D-7D7B-D341-7A98E1FE347E}"/>
              </a:ext>
            </a:extLst>
          </p:cNvPr>
          <p:cNvSpPr txBox="1"/>
          <p:nvPr/>
        </p:nvSpPr>
        <p:spPr>
          <a:xfrm>
            <a:off x="3658095" y="4669806"/>
            <a:ext cx="954107" cy="276999"/>
          </a:xfrm>
          <a:prstGeom prst="rect">
            <a:avLst/>
          </a:prstGeom>
          <a:noFill/>
        </p:spPr>
        <p:txBody>
          <a:bodyPr wrap="none" rtlCol="0">
            <a:spAutoFit/>
          </a:bodyPr>
          <a:lstStyle/>
          <a:p>
            <a:pPr algn="ctr"/>
            <a:r>
              <a:rPr kumimoji="1" lang="ja-GB" altLang="en-US" sz="1200" b="1" dirty="0">
                <a:solidFill>
                  <a:srgbClr val="2F2523"/>
                </a:solidFill>
              </a:rPr>
              <a:t>画像は配列</a:t>
            </a:r>
          </a:p>
        </p:txBody>
      </p:sp>
      <p:pic>
        <p:nvPicPr>
          <p:cNvPr id="34" name="図 33" descr="ドアのノブ&#10;&#10;AI によって生成されたコンテンツは間違っている可能性があります。">
            <a:extLst>
              <a:ext uri="{FF2B5EF4-FFF2-40B4-BE49-F238E27FC236}">
                <a16:creationId xmlns:a16="http://schemas.microsoft.com/office/drawing/2014/main" id="{32B78956-824D-E457-E8E1-297AC4247191}"/>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332845" y="3072783"/>
            <a:ext cx="1805209" cy="1353907"/>
          </a:xfrm>
          <a:prstGeom prst="rect">
            <a:avLst/>
          </a:prstGeom>
        </p:spPr>
      </p:pic>
      <p:sp>
        <p:nvSpPr>
          <p:cNvPr id="36" name="テキスト ボックス 35">
            <a:extLst>
              <a:ext uri="{FF2B5EF4-FFF2-40B4-BE49-F238E27FC236}">
                <a16:creationId xmlns:a16="http://schemas.microsoft.com/office/drawing/2014/main" id="{009D7DB0-5836-2EC6-BD53-10FA84143FB1}"/>
              </a:ext>
            </a:extLst>
          </p:cNvPr>
          <p:cNvSpPr txBox="1"/>
          <p:nvPr/>
        </p:nvSpPr>
        <p:spPr>
          <a:xfrm>
            <a:off x="-31658" y="4579494"/>
            <a:ext cx="2534220" cy="461665"/>
          </a:xfrm>
          <a:prstGeom prst="rect">
            <a:avLst/>
          </a:prstGeom>
          <a:noFill/>
        </p:spPr>
        <p:txBody>
          <a:bodyPr wrap="none" rtlCol="0">
            <a:spAutoFit/>
          </a:bodyPr>
          <a:lstStyle/>
          <a:p>
            <a:pPr algn="ctr"/>
            <a:r>
              <a:rPr kumimoji="1" lang="ja-GB" altLang="en-US" sz="1200" b="1" dirty="0">
                <a:solidFill>
                  <a:srgbClr val="2F2523"/>
                </a:solidFill>
              </a:rPr>
              <a:t>スイッチは</a:t>
            </a:r>
            <a:r>
              <a:rPr kumimoji="1" lang="en-US" altLang="ja-GB" sz="1200" b="1" dirty="0">
                <a:solidFill>
                  <a:srgbClr val="2F2523"/>
                </a:solidFill>
              </a:rPr>
              <a:t>2</a:t>
            </a:r>
            <a:r>
              <a:rPr kumimoji="1" lang="ja-GB" altLang="en-US" sz="1200" b="1" dirty="0">
                <a:solidFill>
                  <a:srgbClr val="2F2523"/>
                </a:solidFill>
              </a:rPr>
              <a:t>進数</a:t>
            </a:r>
            <a:endParaRPr kumimoji="1" lang="en-US" altLang="ja-GB" sz="1200" b="1" dirty="0">
              <a:solidFill>
                <a:srgbClr val="2F2523"/>
              </a:solidFill>
            </a:endParaRPr>
          </a:p>
          <a:p>
            <a:pPr algn="ctr"/>
            <a:r>
              <a:rPr kumimoji="1" lang="ja-GB" altLang="en-US" sz="1200" b="1" dirty="0">
                <a:solidFill>
                  <a:srgbClr val="2F2523"/>
                </a:solidFill>
              </a:rPr>
              <a:t>部屋に</a:t>
            </a:r>
            <a:r>
              <a:rPr kumimoji="1" lang="en-US" altLang="ja-GB" sz="1200" b="1" dirty="0">
                <a:solidFill>
                  <a:srgbClr val="2F2523"/>
                </a:solidFill>
              </a:rPr>
              <a:t>2</a:t>
            </a:r>
            <a:r>
              <a:rPr kumimoji="1" lang="ja-GB" altLang="en-US" sz="1200" b="1" dirty="0">
                <a:solidFill>
                  <a:srgbClr val="2F2523"/>
                </a:solidFill>
              </a:rPr>
              <a:t>つある照明スイッチは</a:t>
            </a:r>
            <a:r>
              <a:rPr kumimoji="1" lang="en-US" altLang="ja-GB" sz="1200" b="1" dirty="0">
                <a:solidFill>
                  <a:srgbClr val="2F2523"/>
                </a:solidFill>
              </a:rPr>
              <a:t>XOR</a:t>
            </a:r>
            <a:endParaRPr kumimoji="1" lang="ja-GB" altLang="en-US" sz="1200" b="1" dirty="0">
              <a:solidFill>
                <a:srgbClr val="2F2523"/>
              </a:solidFill>
            </a:endParaRPr>
          </a:p>
        </p:txBody>
      </p:sp>
      <p:sp>
        <p:nvSpPr>
          <p:cNvPr id="38" name="テキスト ボックス 37">
            <a:extLst>
              <a:ext uri="{FF2B5EF4-FFF2-40B4-BE49-F238E27FC236}">
                <a16:creationId xmlns:a16="http://schemas.microsoft.com/office/drawing/2014/main" id="{1F823D51-6204-5EC4-3044-0467940BF4C5}"/>
              </a:ext>
            </a:extLst>
          </p:cNvPr>
          <p:cNvSpPr txBox="1"/>
          <p:nvPr/>
        </p:nvSpPr>
        <p:spPr>
          <a:xfrm>
            <a:off x="5624363" y="4669806"/>
            <a:ext cx="3570208" cy="276999"/>
          </a:xfrm>
          <a:prstGeom prst="rect">
            <a:avLst/>
          </a:prstGeom>
          <a:noFill/>
        </p:spPr>
        <p:txBody>
          <a:bodyPr wrap="none" rtlCol="0">
            <a:spAutoFit/>
          </a:bodyPr>
          <a:lstStyle/>
          <a:p>
            <a:pPr algn="ctr"/>
            <a:r>
              <a:rPr kumimoji="1" lang="ja-GB" altLang="en-US" sz="1200" b="1" dirty="0">
                <a:solidFill>
                  <a:srgbClr val="2F2523"/>
                </a:solidFill>
              </a:rPr>
              <a:t>分別してから順序を揃える操作はバケットソート</a:t>
            </a:r>
          </a:p>
        </p:txBody>
      </p:sp>
      <p:sp>
        <p:nvSpPr>
          <p:cNvPr id="40" name="テキスト ボックス 39">
            <a:extLst>
              <a:ext uri="{FF2B5EF4-FFF2-40B4-BE49-F238E27FC236}">
                <a16:creationId xmlns:a16="http://schemas.microsoft.com/office/drawing/2014/main" id="{8D7C6CF5-E965-B4AA-602A-11DD86C33B8A}"/>
              </a:ext>
            </a:extLst>
          </p:cNvPr>
          <p:cNvSpPr txBox="1"/>
          <p:nvPr/>
        </p:nvSpPr>
        <p:spPr>
          <a:xfrm>
            <a:off x="211117" y="5355274"/>
            <a:ext cx="1463592" cy="938719"/>
          </a:xfrm>
          <a:prstGeom prst="rect">
            <a:avLst/>
          </a:prstGeom>
          <a:noFill/>
        </p:spPr>
        <p:txBody>
          <a:bodyPr wrap="square" rtlCol="0">
            <a:spAutoFit/>
          </a:bodyPr>
          <a:lstStyle/>
          <a:p>
            <a:pPr algn="ctr"/>
            <a:r>
              <a:rPr kumimoji="1" lang="en-GB" altLang="ja-GB" sz="1100" dirty="0"/>
              <a:t>CC0: </a:t>
            </a:r>
            <a:r>
              <a:rPr kumimoji="1" lang="en-GB" altLang="ja-GB" sz="1100" dirty="0" err="1"/>
              <a:t>hashcc</a:t>
            </a:r>
            <a:r>
              <a:rPr kumimoji="1" lang="en-GB" altLang="ja-GB" sz="1100" dirty="0"/>
              <a:t>/</a:t>
            </a:r>
            <a:r>
              <a:rPr kumimoji="1" lang="en-GB" altLang="ja-GB" sz="1100" dirty="0" err="1"/>
              <a:t>railmaps</a:t>
            </a:r>
            <a:r>
              <a:rPr kumimoji="1" lang="en-GB" altLang="ja-GB" sz="1100" dirty="0"/>
              <a:t>: Railway maps of world's famous cities.</a:t>
            </a:r>
          </a:p>
          <a:p>
            <a:pPr algn="ctr"/>
            <a:r>
              <a:rPr kumimoji="1" lang="en-GB" altLang="ja-GB" sz="1100" dirty="0">
                <a:hlinkClick r:id="rId7"/>
              </a:rPr>
              <a:t>https://github.com/hashcc/railmaps</a:t>
            </a:r>
            <a:r>
              <a:rPr kumimoji="1" lang="en-GB" altLang="ja-GB" sz="1100" dirty="0"/>
              <a:t> </a:t>
            </a:r>
            <a:endParaRPr kumimoji="1" lang="ja-GB" altLang="en-US" sz="1100" dirty="0"/>
          </a:p>
        </p:txBody>
      </p:sp>
      <p:pic>
        <p:nvPicPr>
          <p:cNvPr id="41" name="図 40">
            <a:extLst>
              <a:ext uri="{FF2B5EF4-FFF2-40B4-BE49-F238E27FC236}">
                <a16:creationId xmlns:a16="http://schemas.microsoft.com/office/drawing/2014/main" id="{4F9FBCDD-050D-AB06-929E-01BC080CA0AB}"/>
              </a:ext>
            </a:extLst>
          </p:cNvPr>
          <p:cNvPicPr>
            <a:picLocks noChangeAspect="1"/>
          </p:cNvPicPr>
          <p:nvPr/>
        </p:nvPicPr>
        <p:blipFill>
          <a:blip r:embed="rId8"/>
          <a:stretch>
            <a:fillRect/>
          </a:stretch>
        </p:blipFill>
        <p:spPr>
          <a:xfrm>
            <a:off x="1674709" y="5183334"/>
            <a:ext cx="2742665" cy="1282600"/>
          </a:xfrm>
          <a:prstGeom prst="rect">
            <a:avLst/>
          </a:prstGeom>
        </p:spPr>
      </p:pic>
      <p:sp>
        <p:nvSpPr>
          <p:cNvPr id="42" name="テキスト ボックス 41">
            <a:extLst>
              <a:ext uri="{FF2B5EF4-FFF2-40B4-BE49-F238E27FC236}">
                <a16:creationId xmlns:a16="http://schemas.microsoft.com/office/drawing/2014/main" id="{988F52F5-3163-74CA-A3B0-59A49EE4ACBC}"/>
              </a:ext>
            </a:extLst>
          </p:cNvPr>
          <p:cNvSpPr txBox="1"/>
          <p:nvPr/>
        </p:nvSpPr>
        <p:spPr>
          <a:xfrm>
            <a:off x="2266194" y="6534943"/>
            <a:ext cx="1723550" cy="276999"/>
          </a:xfrm>
          <a:prstGeom prst="rect">
            <a:avLst/>
          </a:prstGeom>
          <a:noFill/>
        </p:spPr>
        <p:txBody>
          <a:bodyPr wrap="none" rtlCol="0">
            <a:spAutoFit/>
          </a:bodyPr>
          <a:lstStyle/>
          <a:p>
            <a:pPr algn="ctr"/>
            <a:r>
              <a:rPr kumimoji="1" lang="ja-GB" altLang="en-US" sz="1200" b="1" dirty="0">
                <a:solidFill>
                  <a:srgbClr val="2F2523"/>
                </a:solidFill>
              </a:rPr>
              <a:t>路線図・地図はグラフ</a:t>
            </a:r>
          </a:p>
        </p:txBody>
      </p:sp>
      <p:pic>
        <p:nvPicPr>
          <p:cNvPr id="44" name="図 43" descr="ダイアグラム&#10;&#10;AI 生成コンテンツは誤りを含む可能性があります。">
            <a:extLst>
              <a:ext uri="{FF2B5EF4-FFF2-40B4-BE49-F238E27FC236}">
                <a16:creationId xmlns:a16="http://schemas.microsoft.com/office/drawing/2014/main" id="{E686BFE3-2EAB-D4C6-8F5A-A1141576760A}"/>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5037561" y="5478896"/>
            <a:ext cx="3387223" cy="691474"/>
          </a:xfrm>
          <a:prstGeom prst="rect">
            <a:avLst/>
          </a:prstGeom>
        </p:spPr>
      </p:pic>
      <p:sp>
        <p:nvSpPr>
          <p:cNvPr id="45" name="テキスト ボックス 44">
            <a:extLst>
              <a:ext uri="{FF2B5EF4-FFF2-40B4-BE49-F238E27FC236}">
                <a16:creationId xmlns:a16="http://schemas.microsoft.com/office/drawing/2014/main" id="{A5E8BAD3-E34A-C1DB-D246-F4DD4ABC88D0}"/>
              </a:ext>
            </a:extLst>
          </p:cNvPr>
          <p:cNvSpPr txBox="1"/>
          <p:nvPr/>
        </p:nvSpPr>
        <p:spPr>
          <a:xfrm>
            <a:off x="5330797" y="6534942"/>
            <a:ext cx="2800767" cy="276999"/>
          </a:xfrm>
          <a:prstGeom prst="rect">
            <a:avLst/>
          </a:prstGeom>
          <a:noFill/>
        </p:spPr>
        <p:txBody>
          <a:bodyPr wrap="none" rtlCol="0">
            <a:spAutoFit/>
          </a:bodyPr>
          <a:lstStyle/>
          <a:p>
            <a:pPr algn="ctr"/>
            <a:r>
              <a:rPr kumimoji="1" lang="ja-GB" altLang="en-US" sz="1200" b="1" dirty="0">
                <a:solidFill>
                  <a:srgbClr val="2F2523"/>
                </a:solidFill>
              </a:rPr>
              <a:t>本棚の端から探すのやり方は線形探索</a:t>
            </a:r>
          </a:p>
        </p:txBody>
      </p:sp>
      <p:pic>
        <p:nvPicPr>
          <p:cNvPr id="103" name="図 102">
            <a:extLst>
              <a:ext uri="{FF2B5EF4-FFF2-40B4-BE49-F238E27FC236}">
                <a16:creationId xmlns:a16="http://schemas.microsoft.com/office/drawing/2014/main" id="{BA941E85-B616-0145-746B-A3034B8EDCF1}"/>
              </a:ext>
            </a:extLst>
          </p:cNvPr>
          <p:cNvPicPr>
            <a:picLocks noChangeAspect="1"/>
          </p:cNvPicPr>
          <p:nvPr/>
        </p:nvPicPr>
        <p:blipFill>
          <a:blip r:embed="rId10"/>
          <a:stretch>
            <a:fillRect/>
          </a:stretch>
        </p:blipFill>
        <p:spPr>
          <a:xfrm>
            <a:off x="5919486" y="3135512"/>
            <a:ext cx="2979948" cy="1292347"/>
          </a:xfrm>
          <a:prstGeom prst="rect">
            <a:avLst/>
          </a:prstGeom>
        </p:spPr>
      </p:pic>
    </p:spTree>
    <p:extLst>
      <p:ext uri="{BB962C8B-B14F-4D97-AF65-F5344CB8AC3E}">
        <p14:creationId xmlns:p14="http://schemas.microsoft.com/office/powerpoint/2010/main" val="3984941914"/>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D0D7C-680C-3E43-8D8D-ED8EEC41F5E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12519E9-7C73-8DDE-084F-03BE5713F36F}"/>
              </a:ext>
            </a:extLst>
          </p:cNvPr>
          <p:cNvSpPr>
            <a:spLocks noGrp="1"/>
          </p:cNvSpPr>
          <p:nvPr>
            <p:ph type="title"/>
          </p:nvPr>
        </p:nvSpPr>
        <p:spPr/>
        <p:txBody>
          <a:bodyPr/>
          <a:lstStyle/>
          <a:p>
            <a:r>
              <a:rPr kumimoji="1" lang="ja-GB" altLang="en-US" dirty="0"/>
              <a:t>関連：情報社会の問題解決</a:t>
            </a:r>
          </a:p>
        </p:txBody>
      </p:sp>
      <p:sp>
        <p:nvSpPr>
          <p:cNvPr id="3" name="コンテンツ プレースホルダー 2">
            <a:extLst>
              <a:ext uri="{FF2B5EF4-FFF2-40B4-BE49-F238E27FC236}">
                <a16:creationId xmlns:a16="http://schemas.microsoft.com/office/drawing/2014/main" id="{5FE97DFA-BEA2-2073-9658-9AE92BEE253B}"/>
              </a:ext>
            </a:extLst>
          </p:cNvPr>
          <p:cNvSpPr>
            <a:spLocks noGrp="1"/>
          </p:cNvSpPr>
          <p:nvPr>
            <p:ph idx="1"/>
          </p:nvPr>
        </p:nvSpPr>
        <p:spPr/>
        <p:txBody>
          <a:bodyPr/>
          <a:lstStyle/>
          <a:p>
            <a:pPr marL="0" indent="0">
              <a:buNone/>
            </a:pPr>
            <a:r>
              <a:rPr kumimoji="1" lang="ja-GB" altLang="en-US" dirty="0"/>
              <a:t>情報世界を介して現実世界の問題を解決する</a:t>
            </a:r>
            <a:endParaRPr kumimoji="1" lang="en-US" altLang="ja-GB" dirty="0"/>
          </a:p>
          <a:p>
            <a:pPr marL="914400" lvl="1" indent="-457200">
              <a:buFont typeface="+mj-lt"/>
              <a:buAutoNum type="arabicPeriod"/>
            </a:pPr>
            <a:r>
              <a:rPr kumimoji="1" lang="ja-GB" altLang="en-US" dirty="0"/>
              <a:t>現実世界の問題を</a:t>
            </a:r>
            <a:r>
              <a:rPr kumimoji="1" lang="ja-GB" altLang="en-US" dirty="0">
                <a:solidFill>
                  <a:srgbClr val="0070C0"/>
                </a:solidFill>
              </a:rPr>
              <a:t>情報世界の問題</a:t>
            </a:r>
            <a:r>
              <a:rPr lang="ja-GB" altLang="en-US" dirty="0"/>
              <a:t>に変換</a:t>
            </a:r>
            <a:endParaRPr kumimoji="1" lang="en-US" altLang="ja-GB" dirty="0">
              <a:solidFill>
                <a:schemeClr val="accent2"/>
              </a:solidFill>
            </a:endParaRPr>
          </a:p>
          <a:p>
            <a:pPr marL="914400" lvl="1" indent="-457200">
              <a:buFont typeface="+mj-lt"/>
              <a:buAutoNum type="arabicPeriod"/>
            </a:pPr>
            <a:r>
              <a:rPr lang="ja-GB" altLang="en-US" dirty="0"/>
              <a:t>情報処理の</a:t>
            </a:r>
            <a:r>
              <a:rPr lang="ja-GB" altLang="en-US" dirty="0">
                <a:solidFill>
                  <a:srgbClr val="0070C0"/>
                </a:solidFill>
              </a:rPr>
              <a:t>知識や道具を活用</a:t>
            </a:r>
            <a:r>
              <a:rPr lang="ja-GB" altLang="en-US" dirty="0"/>
              <a:t>して情報世界で問題を解決</a:t>
            </a:r>
            <a:endParaRPr lang="en-US" altLang="ja-GB" dirty="0"/>
          </a:p>
          <a:p>
            <a:pPr marL="914400" lvl="1" indent="-457200">
              <a:buFont typeface="+mj-lt"/>
              <a:buAutoNum type="arabicPeriod"/>
            </a:pPr>
            <a:r>
              <a:rPr lang="ja-GB" altLang="en-US" dirty="0"/>
              <a:t>情報世界で解決した結果を</a:t>
            </a:r>
            <a:r>
              <a:rPr lang="ja-GB" altLang="en-US" dirty="0">
                <a:solidFill>
                  <a:srgbClr val="0070C0"/>
                </a:solidFill>
              </a:rPr>
              <a:t>現実世界の結果</a:t>
            </a:r>
            <a:r>
              <a:rPr lang="ja-GB" altLang="en-US" dirty="0"/>
              <a:t>に変換</a:t>
            </a:r>
            <a:endParaRPr lang="en-US" altLang="ja-GB" dirty="0"/>
          </a:p>
          <a:p>
            <a:pPr lvl="1"/>
            <a:endParaRPr kumimoji="1" lang="ja-GB" altLang="en-US" dirty="0"/>
          </a:p>
        </p:txBody>
      </p:sp>
      <p:sp>
        <p:nvSpPr>
          <p:cNvPr id="24" name="正方形/長方形 23">
            <a:extLst>
              <a:ext uri="{FF2B5EF4-FFF2-40B4-BE49-F238E27FC236}">
                <a16:creationId xmlns:a16="http://schemas.microsoft.com/office/drawing/2014/main" id="{C02B096D-E825-137B-3F6F-F5FD8525FF03}"/>
              </a:ext>
            </a:extLst>
          </p:cNvPr>
          <p:cNvSpPr/>
          <p:nvPr/>
        </p:nvSpPr>
        <p:spPr>
          <a:xfrm>
            <a:off x="4138000" y="2941982"/>
            <a:ext cx="2203201" cy="337492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23" name="正方形/長方形 22">
            <a:extLst>
              <a:ext uri="{FF2B5EF4-FFF2-40B4-BE49-F238E27FC236}">
                <a16:creationId xmlns:a16="http://schemas.microsoft.com/office/drawing/2014/main" id="{CDE49719-7295-82A0-DF99-07F18783A88A}"/>
              </a:ext>
            </a:extLst>
          </p:cNvPr>
          <p:cNvSpPr/>
          <p:nvPr/>
        </p:nvSpPr>
        <p:spPr>
          <a:xfrm>
            <a:off x="1928482" y="2941982"/>
            <a:ext cx="2203201" cy="3374928"/>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4" name="テキスト ボックス 3">
            <a:extLst>
              <a:ext uri="{FF2B5EF4-FFF2-40B4-BE49-F238E27FC236}">
                <a16:creationId xmlns:a16="http://schemas.microsoft.com/office/drawing/2014/main" id="{B688D9C9-57AE-9908-B4F4-15321F951C27}"/>
              </a:ext>
            </a:extLst>
          </p:cNvPr>
          <p:cNvSpPr txBox="1"/>
          <p:nvPr/>
        </p:nvSpPr>
        <p:spPr>
          <a:xfrm>
            <a:off x="2290197" y="3244334"/>
            <a:ext cx="646331" cy="369332"/>
          </a:xfrm>
          <a:prstGeom prst="rect">
            <a:avLst/>
          </a:prstGeom>
          <a:noFill/>
        </p:spPr>
        <p:txBody>
          <a:bodyPr wrap="none" rtlCol="0">
            <a:spAutoFit/>
          </a:bodyPr>
          <a:lstStyle/>
          <a:p>
            <a:pPr algn="ctr"/>
            <a:r>
              <a:rPr kumimoji="1" lang="ja-GB" altLang="en-US" dirty="0"/>
              <a:t>現状</a:t>
            </a:r>
          </a:p>
        </p:txBody>
      </p:sp>
      <p:sp>
        <p:nvSpPr>
          <p:cNvPr id="5" name="テキスト ボックス 4">
            <a:extLst>
              <a:ext uri="{FF2B5EF4-FFF2-40B4-BE49-F238E27FC236}">
                <a16:creationId xmlns:a16="http://schemas.microsoft.com/office/drawing/2014/main" id="{FF25B9EE-E17B-EAB2-C5EF-2DA59932C4A6}"/>
              </a:ext>
            </a:extLst>
          </p:cNvPr>
          <p:cNvSpPr txBox="1"/>
          <p:nvPr/>
        </p:nvSpPr>
        <p:spPr>
          <a:xfrm>
            <a:off x="2174778" y="5426870"/>
            <a:ext cx="877164" cy="369332"/>
          </a:xfrm>
          <a:prstGeom prst="rect">
            <a:avLst/>
          </a:prstGeom>
          <a:noFill/>
        </p:spPr>
        <p:txBody>
          <a:bodyPr wrap="none" rtlCol="0">
            <a:spAutoFit/>
          </a:bodyPr>
          <a:lstStyle/>
          <a:p>
            <a:pPr algn="ctr"/>
            <a:r>
              <a:rPr kumimoji="1" lang="ja-GB" altLang="en-US" dirty="0"/>
              <a:t>ゴール</a:t>
            </a:r>
          </a:p>
        </p:txBody>
      </p:sp>
      <p:sp>
        <p:nvSpPr>
          <p:cNvPr id="6" name="テキスト ボックス 5">
            <a:extLst>
              <a:ext uri="{FF2B5EF4-FFF2-40B4-BE49-F238E27FC236}">
                <a16:creationId xmlns:a16="http://schemas.microsoft.com/office/drawing/2014/main" id="{0E1B59E8-C975-5AE1-164E-8F5A34BF94FC}"/>
              </a:ext>
            </a:extLst>
          </p:cNvPr>
          <p:cNvSpPr txBox="1"/>
          <p:nvPr/>
        </p:nvSpPr>
        <p:spPr>
          <a:xfrm>
            <a:off x="5121359" y="3244334"/>
            <a:ext cx="646331" cy="369332"/>
          </a:xfrm>
          <a:prstGeom prst="rect">
            <a:avLst/>
          </a:prstGeom>
          <a:noFill/>
        </p:spPr>
        <p:txBody>
          <a:bodyPr wrap="none" rtlCol="0">
            <a:spAutoFit/>
          </a:bodyPr>
          <a:lstStyle/>
          <a:p>
            <a:pPr algn="ctr"/>
            <a:r>
              <a:rPr kumimoji="1" lang="ja-GB" altLang="en-US" dirty="0"/>
              <a:t>問題</a:t>
            </a:r>
          </a:p>
        </p:txBody>
      </p:sp>
      <p:sp>
        <p:nvSpPr>
          <p:cNvPr id="7" name="テキスト ボックス 6">
            <a:extLst>
              <a:ext uri="{FF2B5EF4-FFF2-40B4-BE49-F238E27FC236}">
                <a16:creationId xmlns:a16="http://schemas.microsoft.com/office/drawing/2014/main" id="{B9B2E106-D244-7F98-2C04-5BF9731AE352}"/>
              </a:ext>
            </a:extLst>
          </p:cNvPr>
          <p:cNvSpPr txBox="1"/>
          <p:nvPr/>
        </p:nvSpPr>
        <p:spPr>
          <a:xfrm>
            <a:off x="5121356" y="5426870"/>
            <a:ext cx="646331" cy="369332"/>
          </a:xfrm>
          <a:prstGeom prst="rect">
            <a:avLst/>
          </a:prstGeom>
          <a:noFill/>
        </p:spPr>
        <p:txBody>
          <a:bodyPr wrap="none" rtlCol="0">
            <a:spAutoFit/>
          </a:bodyPr>
          <a:lstStyle/>
          <a:p>
            <a:pPr algn="ctr"/>
            <a:r>
              <a:rPr kumimoji="1" lang="ja-GB" altLang="en-US" dirty="0"/>
              <a:t>解決</a:t>
            </a:r>
          </a:p>
        </p:txBody>
      </p:sp>
      <p:cxnSp>
        <p:nvCxnSpPr>
          <p:cNvPr id="9" name="直線矢印コネクタ 8">
            <a:extLst>
              <a:ext uri="{FF2B5EF4-FFF2-40B4-BE49-F238E27FC236}">
                <a16:creationId xmlns:a16="http://schemas.microsoft.com/office/drawing/2014/main" id="{6BEA4A89-FEF8-1CF8-E0A8-5E771F40D5C5}"/>
              </a:ext>
            </a:extLst>
          </p:cNvPr>
          <p:cNvCxnSpPr>
            <a:cxnSpLocks/>
            <a:stCxn id="4" idx="3"/>
            <a:endCxn id="6" idx="1"/>
          </p:cNvCxnSpPr>
          <p:nvPr/>
        </p:nvCxnSpPr>
        <p:spPr>
          <a:xfrm>
            <a:off x="2936528" y="3429000"/>
            <a:ext cx="2184831" cy="0"/>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561DA484-B911-DDA0-7573-FFA6204AD6C1}"/>
              </a:ext>
            </a:extLst>
          </p:cNvPr>
          <p:cNvCxnSpPr>
            <a:cxnSpLocks/>
            <a:stCxn id="6" idx="2"/>
            <a:endCxn id="7" idx="0"/>
          </p:cNvCxnSpPr>
          <p:nvPr/>
        </p:nvCxnSpPr>
        <p:spPr>
          <a:xfrm flipH="1">
            <a:off x="5444522" y="3613666"/>
            <a:ext cx="3" cy="1813204"/>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15539E36-B7E9-40CD-C4A9-478AEB81DE5B}"/>
              </a:ext>
            </a:extLst>
          </p:cNvPr>
          <p:cNvCxnSpPr>
            <a:cxnSpLocks/>
            <a:stCxn id="7" idx="1"/>
            <a:endCxn id="5" idx="3"/>
          </p:cNvCxnSpPr>
          <p:nvPr/>
        </p:nvCxnSpPr>
        <p:spPr>
          <a:xfrm flipH="1">
            <a:off x="3051942" y="5611536"/>
            <a:ext cx="2069414" cy="0"/>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AD3D41F4-1D40-EB4C-C1D7-63452E077A96}"/>
              </a:ext>
            </a:extLst>
          </p:cNvPr>
          <p:cNvCxnSpPr>
            <a:cxnSpLocks/>
            <a:stCxn id="4" idx="2"/>
            <a:endCxn id="5" idx="0"/>
          </p:cNvCxnSpPr>
          <p:nvPr/>
        </p:nvCxnSpPr>
        <p:spPr>
          <a:xfrm flipH="1">
            <a:off x="2613360" y="3613666"/>
            <a:ext cx="3" cy="1813204"/>
          </a:xfrm>
          <a:prstGeom prst="straightConnector1">
            <a:avLst/>
          </a:prstGeom>
          <a:ln w="38100">
            <a:solidFill>
              <a:schemeClr val="accent2">
                <a:lumMod val="60000"/>
                <a:lumOff val="4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02099F86-D4CC-C686-9E5C-859E9D89302B}"/>
              </a:ext>
            </a:extLst>
          </p:cNvPr>
          <p:cNvSpPr txBox="1"/>
          <p:nvPr/>
        </p:nvSpPr>
        <p:spPr>
          <a:xfrm>
            <a:off x="6427881" y="3283363"/>
            <a:ext cx="2159566" cy="954107"/>
          </a:xfrm>
          <a:prstGeom prst="rect">
            <a:avLst/>
          </a:prstGeom>
          <a:noFill/>
        </p:spPr>
        <p:txBody>
          <a:bodyPr wrap="none" rtlCol="0">
            <a:spAutoFit/>
          </a:bodyPr>
          <a:lstStyle/>
          <a:p>
            <a:r>
              <a:rPr kumimoji="1" lang="ja-GB" altLang="en-US" sz="1400" b="1" dirty="0">
                <a:solidFill>
                  <a:srgbClr val="0070C0"/>
                </a:solidFill>
              </a:rPr>
              <a:t>情報収集</a:t>
            </a:r>
            <a:endParaRPr kumimoji="1" lang="en-US" altLang="ja-GB" sz="1400" b="1" dirty="0">
              <a:solidFill>
                <a:srgbClr val="0070C0"/>
              </a:solidFill>
            </a:endParaRPr>
          </a:p>
          <a:p>
            <a:r>
              <a:rPr kumimoji="1" lang="ja-GB" altLang="en-US" sz="1400" dirty="0">
                <a:solidFill>
                  <a:srgbClr val="0070C0"/>
                </a:solidFill>
              </a:rPr>
              <a:t>・アンケート</a:t>
            </a:r>
            <a:endParaRPr kumimoji="1" lang="en-US" altLang="ja-GB" sz="1400" dirty="0">
              <a:solidFill>
                <a:srgbClr val="0070C0"/>
              </a:solidFill>
            </a:endParaRPr>
          </a:p>
          <a:p>
            <a:r>
              <a:rPr kumimoji="1" lang="ja-GB" altLang="en-US" sz="1400" dirty="0">
                <a:solidFill>
                  <a:srgbClr val="0070C0"/>
                </a:solidFill>
              </a:rPr>
              <a:t>・オープンデータの参照</a:t>
            </a:r>
            <a:endParaRPr kumimoji="1" lang="en-US" altLang="ja-GB" sz="1400" dirty="0">
              <a:solidFill>
                <a:srgbClr val="0070C0"/>
              </a:solidFill>
            </a:endParaRPr>
          </a:p>
          <a:p>
            <a:r>
              <a:rPr kumimoji="1" lang="ja-GB" altLang="en-US" sz="1400" dirty="0">
                <a:solidFill>
                  <a:srgbClr val="0070C0"/>
                </a:solidFill>
              </a:rPr>
              <a:t>・</a:t>
            </a:r>
            <a:r>
              <a:rPr kumimoji="1" lang="en-US" altLang="ja-GB" sz="1400" dirty="0">
                <a:solidFill>
                  <a:srgbClr val="0070C0"/>
                </a:solidFill>
              </a:rPr>
              <a:t>IoT</a:t>
            </a:r>
            <a:r>
              <a:rPr kumimoji="1" lang="ja-GB" altLang="en-US" sz="1400" dirty="0">
                <a:solidFill>
                  <a:srgbClr val="0070C0"/>
                </a:solidFill>
              </a:rPr>
              <a:t>機器の設置</a:t>
            </a:r>
            <a:r>
              <a:rPr kumimoji="1" lang="en-US" altLang="ja-GB" sz="1400" dirty="0">
                <a:solidFill>
                  <a:srgbClr val="0070C0"/>
                </a:solidFill>
              </a:rPr>
              <a:t> </a:t>
            </a:r>
            <a:r>
              <a:rPr kumimoji="1" lang="ja-GB" altLang="en-US" sz="1400" dirty="0">
                <a:solidFill>
                  <a:srgbClr val="0070C0"/>
                </a:solidFill>
              </a:rPr>
              <a:t>など</a:t>
            </a:r>
            <a:endParaRPr kumimoji="1" lang="en-US" altLang="ja-GB" sz="1400" dirty="0">
              <a:solidFill>
                <a:srgbClr val="0070C0"/>
              </a:solidFill>
            </a:endParaRPr>
          </a:p>
        </p:txBody>
      </p:sp>
      <p:sp>
        <p:nvSpPr>
          <p:cNvPr id="25" name="テキスト ボックス 24">
            <a:extLst>
              <a:ext uri="{FF2B5EF4-FFF2-40B4-BE49-F238E27FC236}">
                <a16:creationId xmlns:a16="http://schemas.microsoft.com/office/drawing/2014/main" id="{8FB3F50F-5667-ABAB-0F05-4B4A19C26942}"/>
              </a:ext>
            </a:extLst>
          </p:cNvPr>
          <p:cNvSpPr txBox="1"/>
          <p:nvPr/>
        </p:nvSpPr>
        <p:spPr>
          <a:xfrm>
            <a:off x="2476084" y="6359042"/>
            <a:ext cx="1107996" cy="369332"/>
          </a:xfrm>
          <a:prstGeom prst="rect">
            <a:avLst/>
          </a:prstGeom>
          <a:noFill/>
        </p:spPr>
        <p:txBody>
          <a:bodyPr wrap="none" rtlCol="0">
            <a:spAutoFit/>
          </a:bodyPr>
          <a:lstStyle/>
          <a:p>
            <a:pPr algn="ctr"/>
            <a:r>
              <a:rPr kumimoji="1" lang="ja-GB" altLang="en-US" b="1" dirty="0">
                <a:solidFill>
                  <a:schemeClr val="tx1">
                    <a:lumMod val="65000"/>
                    <a:lumOff val="35000"/>
                  </a:schemeClr>
                </a:solidFill>
              </a:rPr>
              <a:t>現実世界</a:t>
            </a:r>
          </a:p>
        </p:txBody>
      </p:sp>
      <p:sp>
        <p:nvSpPr>
          <p:cNvPr id="26" name="テキスト ボックス 25">
            <a:extLst>
              <a:ext uri="{FF2B5EF4-FFF2-40B4-BE49-F238E27FC236}">
                <a16:creationId xmlns:a16="http://schemas.microsoft.com/office/drawing/2014/main" id="{E72A3295-5F53-6EDB-E8D6-AB2EC81AC282}"/>
              </a:ext>
            </a:extLst>
          </p:cNvPr>
          <p:cNvSpPr txBox="1"/>
          <p:nvPr/>
        </p:nvSpPr>
        <p:spPr>
          <a:xfrm>
            <a:off x="4570188" y="6359042"/>
            <a:ext cx="1338828" cy="369332"/>
          </a:xfrm>
          <a:prstGeom prst="rect">
            <a:avLst/>
          </a:prstGeom>
          <a:noFill/>
        </p:spPr>
        <p:txBody>
          <a:bodyPr wrap="none" rtlCol="0">
            <a:spAutoFit/>
          </a:bodyPr>
          <a:lstStyle/>
          <a:p>
            <a:pPr algn="ctr"/>
            <a:r>
              <a:rPr kumimoji="1" lang="ja-GB" altLang="en-US" b="1" dirty="0">
                <a:solidFill>
                  <a:schemeClr val="tx1">
                    <a:lumMod val="65000"/>
                    <a:lumOff val="35000"/>
                  </a:schemeClr>
                </a:solidFill>
              </a:rPr>
              <a:t>情報の世界</a:t>
            </a:r>
          </a:p>
        </p:txBody>
      </p:sp>
      <p:sp>
        <p:nvSpPr>
          <p:cNvPr id="8" name="テキスト ボックス 7">
            <a:extLst>
              <a:ext uri="{FF2B5EF4-FFF2-40B4-BE49-F238E27FC236}">
                <a16:creationId xmlns:a16="http://schemas.microsoft.com/office/drawing/2014/main" id="{BB2BB5B4-CEEF-97D8-CE7D-EE241D55D763}"/>
              </a:ext>
            </a:extLst>
          </p:cNvPr>
          <p:cNvSpPr txBox="1"/>
          <p:nvPr/>
        </p:nvSpPr>
        <p:spPr>
          <a:xfrm>
            <a:off x="6427878" y="4520268"/>
            <a:ext cx="2339102" cy="1169551"/>
          </a:xfrm>
          <a:prstGeom prst="rect">
            <a:avLst/>
          </a:prstGeom>
          <a:noFill/>
        </p:spPr>
        <p:txBody>
          <a:bodyPr wrap="none" rtlCol="0">
            <a:spAutoFit/>
          </a:bodyPr>
          <a:lstStyle/>
          <a:p>
            <a:r>
              <a:rPr kumimoji="1" lang="ja-GB" altLang="en-US" sz="1400" b="1" dirty="0">
                <a:solidFill>
                  <a:srgbClr val="0070C0"/>
                </a:solidFill>
              </a:rPr>
              <a:t>情報処理</a:t>
            </a:r>
            <a:endParaRPr kumimoji="1" lang="en-US" altLang="ja-GB" sz="1400" b="1" dirty="0">
              <a:solidFill>
                <a:srgbClr val="0070C0"/>
              </a:solidFill>
            </a:endParaRPr>
          </a:p>
          <a:p>
            <a:r>
              <a:rPr kumimoji="1" lang="ja-GB" altLang="en-US" sz="1400" dirty="0">
                <a:solidFill>
                  <a:srgbClr val="0070C0"/>
                </a:solidFill>
              </a:rPr>
              <a:t>・計算</a:t>
            </a:r>
            <a:endParaRPr kumimoji="1" lang="en-US" altLang="ja-GB" sz="1400" dirty="0">
              <a:solidFill>
                <a:srgbClr val="0070C0"/>
              </a:solidFill>
            </a:endParaRPr>
          </a:p>
          <a:p>
            <a:r>
              <a:rPr kumimoji="1" lang="ja-GB" altLang="en-US" sz="1400" dirty="0">
                <a:solidFill>
                  <a:srgbClr val="0070C0"/>
                </a:solidFill>
              </a:rPr>
              <a:t>・統計・データサイエンス</a:t>
            </a:r>
            <a:endParaRPr kumimoji="1" lang="en-US" altLang="ja-GB" sz="1400" dirty="0">
              <a:solidFill>
                <a:srgbClr val="0070C0"/>
              </a:solidFill>
            </a:endParaRPr>
          </a:p>
          <a:p>
            <a:r>
              <a:rPr kumimoji="1" lang="ja-GB" altLang="en-US" sz="1400" dirty="0">
                <a:solidFill>
                  <a:srgbClr val="0070C0"/>
                </a:solidFill>
              </a:rPr>
              <a:t>・プログラム</a:t>
            </a:r>
            <a:endParaRPr kumimoji="1" lang="en-US" altLang="ja-GB" sz="1400" dirty="0">
              <a:solidFill>
                <a:srgbClr val="0070C0"/>
              </a:solidFill>
            </a:endParaRPr>
          </a:p>
          <a:p>
            <a:r>
              <a:rPr kumimoji="1" lang="ja-GB" altLang="en-US" sz="1400" dirty="0">
                <a:solidFill>
                  <a:srgbClr val="0070C0"/>
                </a:solidFill>
              </a:rPr>
              <a:t>・人工知能　など</a:t>
            </a:r>
            <a:endParaRPr kumimoji="1" lang="en-US" altLang="ja-GB" sz="1400" dirty="0">
              <a:solidFill>
                <a:srgbClr val="0070C0"/>
              </a:solidFill>
            </a:endParaRPr>
          </a:p>
        </p:txBody>
      </p:sp>
    </p:spTree>
    <p:extLst>
      <p:ext uri="{BB962C8B-B14F-4D97-AF65-F5344CB8AC3E}">
        <p14:creationId xmlns:p14="http://schemas.microsoft.com/office/powerpoint/2010/main" val="2077530098"/>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BE677-74E3-2DB0-E9A5-2945082B42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6EA5051-068D-9D0F-4745-DE6439DCE40E}"/>
              </a:ext>
            </a:extLst>
          </p:cNvPr>
          <p:cNvSpPr>
            <a:spLocks noGrp="1"/>
          </p:cNvSpPr>
          <p:nvPr>
            <p:ph type="title"/>
          </p:nvPr>
        </p:nvSpPr>
        <p:spPr/>
        <p:txBody>
          <a:bodyPr/>
          <a:lstStyle/>
          <a:p>
            <a:r>
              <a:rPr kumimoji="1" lang="ja-GB" altLang="en-US" dirty="0"/>
              <a:t>本日の内容</a:t>
            </a:r>
          </a:p>
        </p:txBody>
      </p:sp>
      <p:sp>
        <p:nvSpPr>
          <p:cNvPr id="3" name="コンテンツ プレースホルダー 2">
            <a:extLst>
              <a:ext uri="{FF2B5EF4-FFF2-40B4-BE49-F238E27FC236}">
                <a16:creationId xmlns:a16="http://schemas.microsoft.com/office/drawing/2014/main" id="{80B48621-91B4-6BF8-30B7-1E96386883D9}"/>
              </a:ext>
            </a:extLst>
          </p:cNvPr>
          <p:cNvSpPr>
            <a:spLocks noGrp="1"/>
          </p:cNvSpPr>
          <p:nvPr>
            <p:ph idx="1"/>
          </p:nvPr>
        </p:nvSpPr>
        <p:spPr/>
        <p:txBody>
          <a:bodyPr/>
          <a:lstStyle/>
          <a:p>
            <a:pPr marL="457200" indent="-457200">
              <a:buFont typeface="+mj-lt"/>
              <a:buAutoNum type="arabicPeriod"/>
            </a:pPr>
            <a:r>
              <a:rPr kumimoji="1" lang="ja-GB" altLang="en-US" dirty="0">
                <a:solidFill>
                  <a:schemeClr val="tx1">
                    <a:lumMod val="50000"/>
                    <a:lumOff val="50000"/>
                  </a:schemeClr>
                </a:solidFill>
              </a:rPr>
              <a:t>計算論的思考</a:t>
            </a:r>
            <a:endParaRPr kumimoji="1" lang="en-US" altLang="ja-GB" dirty="0">
              <a:solidFill>
                <a:schemeClr val="tx1">
                  <a:lumMod val="50000"/>
                  <a:lumOff val="50000"/>
                </a:schemeClr>
              </a:solidFill>
            </a:endParaRPr>
          </a:p>
          <a:p>
            <a:pPr lvl="1"/>
            <a:r>
              <a:rPr kumimoji="1" lang="ja-GB" altLang="en-US" dirty="0">
                <a:solidFill>
                  <a:schemeClr val="tx1">
                    <a:lumMod val="50000"/>
                    <a:lumOff val="50000"/>
                  </a:schemeClr>
                </a:solidFill>
              </a:rPr>
              <a:t>計算機科学の考え方を，日常の問題一般に活用する思考方法</a:t>
            </a:r>
            <a:endParaRPr kumimoji="1" lang="en-US" altLang="ja-GB" dirty="0">
              <a:solidFill>
                <a:schemeClr val="tx1">
                  <a:lumMod val="50000"/>
                  <a:lumOff val="50000"/>
                </a:schemeClr>
              </a:solidFill>
            </a:endParaRPr>
          </a:p>
          <a:p>
            <a:pPr lvl="1"/>
            <a:r>
              <a:rPr lang="ja-GB" altLang="en-US" dirty="0">
                <a:solidFill>
                  <a:schemeClr val="tx1">
                    <a:lumMod val="50000"/>
                    <a:lumOff val="50000"/>
                  </a:schemeClr>
                </a:solidFill>
              </a:rPr>
              <a:t>世界の事象を計算機の比喩で捉えて，問題解決に計算理論を応用する</a:t>
            </a:r>
            <a:endParaRPr lang="en-US" altLang="ja-GB" dirty="0">
              <a:solidFill>
                <a:schemeClr val="tx1">
                  <a:lumMod val="50000"/>
                  <a:lumOff val="50000"/>
                </a:schemeClr>
              </a:solidFill>
            </a:endParaRPr>
          </a:p>
          <a:p>
            <a:pPr lvl="1"/>
            <a:endParaRPr kumimoji="1" lang="en-US" altLang="ja-GB" dirty="0"/>
          </a:p>
          <a:p>
            <a:pPr marL="457200" indent="-457200">
              <a:buFont typeface="+mj-lt"/>
              <a:buAutoNum type="arabicPeriod"/>
            </a:pPr>
            <a:r>
              <a:rPr lang="ja-GB" altLang="en-US" dirty="0"/>
              <a:t>オペレーションズ・リサーチ</a:t>
            </a:r>
            <a:endParaRPr lang="en-US" altLang="ja-GB" dirty="0"/>
          </a:p>
          <a:p>
            <a:pPr lvl="1"/>
            <a:r>
              <a:rPr lang="ja-GB" altLang="en-US" dirty="0"/>
              <a:t>オペレーションの科学的な研究</a:t>
            </a:r>
            <a:endParaRPr lang="en-US" altLang="ja-GB" dirty="0"/>
          </a:p>
          <a:p>
            <a:pPr lvl="1"/>
            <a:endParaRPr lang="en-US" altLang="ja-GB" dirty="0">
              <a:solidFill>
                <a:schemeClr val="tx1">
                  <a:lumMod val="50000"/>
                  <a:lumOff val="50000"/>
                </a:schemeClr>
              </a:solidFill>
            </a:endParaRPr>
          </a:p>
          <a:p>
            <a:pPr marL="457200" indent="-457200">
              <a:buFont typeface="+mj-lt"/>
              <a:buAutoNum type="arabicPeriod"/>
            </a:pPr>
            <a:r>
              <a:rPr lang="ja-GB" altLang="en-US" dirty="0">
                <a:solidFill>
                  <a:schemeClr val="tx1">
                    <a:lumMod val="50000"/>
                    <a:lumOff val="50000"/>
                  </a:schemeClr>
                </a:solidFill>
              </a:rPr>
              <a:t>矢線図（アローダイアグラム，</a:t>
            </a:r>
            <a:r>
              <a:rPr lang="en-US" altLang="ja-GB" dirty="0">
                <a:solidFill>
                  <a:schemeClr val="tx1">
                    <a:lumMod val="50000"/>
                    <a:lumOff val="50000"/>
                  </a:schemeClr>
                </a:solidFill>
              </a:rPr>
              <a:t>PERT</a:t>
            </a:r>
            <a:r>
              <a:rPr lang="ja-GB" altLang="en-US" dirty="0">
                <a:solidFill>
                  <a:schemeClr val="tx1">
                    <a:lumMod val="50000"/>
                    <a:lumOff val="50000"/>
                  </a:schemeClr>
                </a:solidFill>
              </a:rPr>
              <a:t>図）</a:t>
            </a:r>
            <a:endParaRPr lang="en-US" altLang="ja-GB" dirty="0">
              <a:solidFill>
                <a:schemeClr val="tx1">
                  <a:lumMod val="50000"/>
                  <a:lumOff val="50000"/>
                </a:schemeClr>
              </a:solidFill>
            </a:endParaRPr>
          </a:p>
          <a:p>
            <a:pPr lvl="1"/>
            <a:r>
              <a:rPr kumimoji="1" lang="ja-GB" altLang="en-US" dirty="0">
                <a:solidFill>
                  <a:schemeClr val="tx1">
                    <a:lumMod val="50000"/>
                    <a:lumOff val="50000"/>
                  </a:schemeClr>
                </a:solidFill>
              </a:rPr>
              <a:t>スケジューリングを評価するための数学モデル</a:t>
            </a:r>
            <a:endParaRPr kumimoji="1" lang="en-US" altLang="ja-GB" dirty="0">
              <a:solidFill>
                <a:schemeClr val="tx1">
                  <a:lumMod val="50000"/>
                  <a:lumOff val="50000"/>
                </a:schemeClr>
              </a:solidFill>
            </a:endParaRPr>
          </a:p>
          <a:p>
            <a:pPr lvl="1"/>
            <a:endParaRPr kumimoji="1" lang="en-US" altLang="ja-GB" dirty="0"/>
          </a:p>
        </p:txBody>
      </p:sp>
    </p:spTree>
    <p:extLst>
      <p:ext uri="{BB962C8B-B14F-4D97-AF65-F5344CB8AC3E}">
        <p14:creationId xmlns:p14="http://schemas.microsoft.com/office/powerpoint/2010/main" val="1814333977"/>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0E0DFA-D00D-7C5E-6C4B-19E9C2970E69}"/>
              </a:ext>
            </a:extLst>
          </p:cNvPr>
          <p:cNvSpPr>
            <a:spLocks noGrp="1"/>
          </p:cNvSpPr>
          <p:nvPr>
            <p:ph type="title"/>
          </p:nvPr>
        </p:nvSpPr>
        <p:spPr/>
        <p:txBody>
          <a:bodyPr/>
          <a:lstStyle/>
          <a:p>
            <a:r>
              <a:rPr kumimoji="1" lang="ja-GB" altLang="en-US" dirty="0"/>
              <a:t>オペレーションズ・リサーチ（</a:t>
            </a:r>
            <a:r>
              <a:rPr kumimoji="1" lang="en-US" altLang="ja-GB" dirty="0"/>
              <a:t>OR</a:t>
            </a:r>
            <a:r>
              <a:rPr kumimoji="1" lang="ja-GB" altLang="en-US" dirty="0"/>
              <a:t>）</a:t>
            </a:r>
          </a:p>
        </p:txBody>
      </p:sp>
      <p:sp>
        <p:nvSpPr>
          <p:cNvPr id="3" name="コンテンツ プレースホルダー 2">
            <a:extLst>
              <a:ext uri="{FF2B5EF4-FFF2-40B4-BE49-F238E27FC236}">
                <a16:creationId xmlns:a16="http://schemas.microsoft.com/office/drawing/2014/main" id="{E9EBFA81-D68E-93DD-4B6E-5B446D58B7FB}"/>
              </a:ext>
            </a:extLst>
          </p:cNvPr>
          <p:cNvSpPr>
            <a:spLocks noGrp="1"/>
          </p:cNvSpPr>
          <p:nvPr>
            <p:ph idx="1"/>
          </p:nvPr>
        </p:nvSpPr>
        <p:spPr/>
        <p:txBody>
          <a:bodyPr/>
          <a:lstStyle/>
          <a:p>
            <a:pPr marL="0" indent="0">
              <a:buNone/>
            </a:pPr>
            <a:r>
              <a:rPr kumimoji="1" lang="ja-GB" altLang="en-US" dirty="0"/>
              <a:t>オペレーションの科学的な研究</a:t>
            </a:r>
            <a:endParaRPr kumimoji="1" lang="en-US" altLang="ja-GB" dirty="0"/>
          </a:p>
          <a:p>
            <a:pPr marL="457200" lvl="1" indent="0">
              <a:buNone/>
            </a:pPr>
            <a:r>
              <a:rPr kumimoji="1" lang="ja-GB" altLang="en-US" dirty="0"/>
              <a:t>オペレーション（</a:t>
            </a:r>
            <a:r>
              <a:rPr kumimoji="1" lang="en-US" altLang="ja-GB" dirty="0"/>
              <a:t>operation</a:t>
            </a:r>
            <a:r>
              <a:rPr kumimoji="1" lang="ja-GB" altLang="en-US" dirty="0"/>
              <a:t>，作戦）</a:t>
            </a:r>
            <a:endParaRPr lang="en-US" altLang="ja-GB" dirty="0"/>
          </a:p>
          <a:p>
            <a:pPr marL="914400" lvl="2" indent="0">
              <a:buNone/>
            </a:pPr>
            <a:r>
              <a:rPr kumimoji="1" lang="ja-GB" altLang="en-US" dirty="0">
                <a:solidFill>
                  <a:srgbClr val="0070C0"/>
                </a:solidFill>
              </a:rPr>
              <a:t>設定目標</a:t>
            </a:r>
            <a:r>
              <a:rPr kumimoji="1" lang="ja-GB" altLang="en-US" dirty="0"/>
              <a:t>に向けて，</a:t>
            </a:r>
            <a:r>
              <a:rPr kumimoji="1" lang="ja-GB" altLang="en-US" dirty="0">
                <a:solidFill>
                  <a:srgbClr val="0070C0"/>
                </a:solidFill>
              </a:rPr>
              <a:t>規則</a:t>
            </a:r>
            <a:r>
              <a:rPr kumimoji="1" lang="ja-GB" altLang="en-US" dirty="0"/>
              <a:t>に従ってなされる</a:t>
            </a:r>
            <a:r>
              <a:rPr kumimoji="1" lang="ja-GB" altLang="en-US" dirty="0">
                <a:solidFill>
                  <a:srgbClr val="2F2523"/>
                </a:solidFill>
              </a:rPr>
              <a:t>行動のパターン</a:t>
            </a:r>
            <a:endParaRPr kumimoji="1" lang="en-US" altLang="ja-GB" dirty="0">
              <a:solidFill>
                <a:srgbClr val="2F2523"/>
              </a:solidFill>
            </a:endParaRPr>
          </a:p>
          <a:p>
            <a:pPr marL="1371600" lvl="3" indent="0">
              <a:buNone/>
            </a:pPr>
            <a:r>
              <a:rPr lang="ja-GB" altLang="en-US" dirty="0"/>
              <a:t>例</a:t>
            </a:r>
            <a:r>
              <a:rPr lang="en-US" altLang="ja-GB" dirty="0"/>
              <a:t>1</a:t>
            </a:r>
            <a:r>
              <a:rPr lang="ja-GB" altLang="en-US" dirty="0"/>
              <a:t>）軍隊における戦略的な意思決定，長期的な組織計画，攻撃作戦</a:t>
            </a:r>
            <a:endParaRPr lang="en-US" altLang="ja-GB" dirty="0"/>
          </a:p>
          <a:p>
            <a:pPr marL="1371600" lvl="3" indent="0">
              <a:buNone/>
            </a:pPr>
            <a:r>
              <a:rPr kumimoji="1" lang="ja-GB" altLang="en-US" dirty="0"/>
              <a:t>例</a:t>
            </a:r>
            <a:r>
              <a:rPr kumimoji="1" lang="en-US" altLang="ja-GB" dirty="0"/>
              <a:t>2</a:t>
            </a:r>
            <a:r>
              <a:rPr kumimoji="1" lang="ja-GB" altLang="en-US" dirty="0"/>
              <a:t>）企業経営の意思決定，資金配分，生産管理，マーケティング</a:t>
            </a:r>
            <a:endParaRPr kumimoji="1" lang="en-US" altLang="ja-GB" dirty="0"/>
          </a:p>
          <a:p>
            <a:pPr lvl="2"/>
            <a:endParaRPr kumimoji="1" lang="en-US" altLang="ja-GB" dirty="0"/>
          </a:p>
          <a:p>
            <a:pPr marL="457200" lvl="1" indent="0">
              <a:buNone/>
            </a:pPr>
            <a:r>
              <a:rPr kumimoji="1" lang="ja-GB" altLang="en-US" dirty="0"/>
              <a:t>オペレーションの科学的な研究</a:t>
            </a:r>
            <a:endParaRPr kumimoji="1" lang="en-US" altLang="ja-GB" dirty="0"/>
          </a:p>
          <a:p>
            <a:pPr marL="914400" lvl="2" indent="0">
              <a:buNone/>
            </a:pPr>
            <a:r>
              <a:rPr lang="ja-GB" altLang="en-US" dirty="0">
                <a:solidFill>
                  <a:srgbClr val="2F2523"/>
                </a:solidFill>
              </a:rPr>
              <a:t>観察や実験，理論的分析に</a:t>
            </a:r>
            <a:r>
              <a:rPr lang="ja-GB" altLang="en-US" dirty="0"/>
              <a:t>より，</a:t>
            </a:r>
            <a:r>
              <a:rPr lang="en-US" altLang="ja-GB" dirty="0"/>
              <a:t>①</a:t>
            </a:r>
            <a:r>
              <a:rPr lang="ja-GB" altLang="en-US" dirty="0"/>
              <a:t>色々なオペレーションの行動を</a:t>
            </a:r>
            <a:r>
              <a:rPr lang="ja-GB" altLang="en-US" dirty="0">
                <a:solidFill>
                  <a:srgbClr val="0070C0"/>
                </a:solidFill>
              </a:rPr>
              <a:t>理解</a:t>
            </a:r>
            <a:r>
              <a:rPr lang="ja-GB" altLang="en-US" dirty="0"/>
              <a:t>し，</a:t>
            </a:r>
            <a:br>
              <a:rPr lang="en-US" altLang="ja-GB" dirty="0"/>
            </a:br>
            <a:r>
              <a:rPr lang="en-US" altLang="ja-GB" dirty="0"/>
              <a:t>②</a:t>
            </a:r>
            <a:r>
              <a:rPr lang="ja-GB" altLang="en-US" dirty="0"/>
              <a:t>変化後の結果を</a:t>
            </a:r>
            <a:r>
              <a:rPr lang="ja-GB" altLang="en-US" dirty="0">
                <a:solidFill>
                  <a:srgbClr val="0070C0"/>
                </a:solidFill>
              </a:rPr>
              <a:t>予測</a:t>
            </a:r>
            <a:r>
              <a:rPr lang="ja-GB" altLang="en-US" dirty="0"/>
              <a:t>し，</a:t>
            </a:r>
            <a:r>
              <a:rPr lang="en-US" altLang="ja-GB" dirty="0"/>
              <a:t>③</a:t>
            </a:r>
            <a:r>
              <a:rPr lang="ja-GB" altLang="en-US" dirty="0"/>
              <a:t>より良く</a:t>
            </a:r>
            <a:r>
              <a:rPr lang="ja-GB" altLang="en-US" dirty="0">
                <a:solidFill>
                  <a:srgbClr val="0070C0"/>
                </a:solidFill>
              </a:rPr>
              <a:t>管理</a:t>
            </a:r>
            <a:r>
              <a:rPr lang="ja-GB" altLang="en-US" dirty="0"/>
              <a:t>して成果の</a:t>
            </a:r>
            <a:r>
              <a:rPr lang="ja-GB" altLang="en-US" dirty="0">
                <a:solidFill>
                  <a:srgbClr val="0070C0"/>
                </a:solidFill>
              </a:rPr>
              <a:t>改善</a:t>
            </a:r>
            <a:r>
              <a:rPr lang="ja-GB" altLang="en-US" dirty="0"/>
              <a:t>を図る取り組み</a:t>
            </a:r>
            <a:endParaRPr lang="en-US" altLang="ja-GB" dirty="0"/>
          </a:p>
          <a:p>
            <a:pPr marL="1371600" lvl="3" indent="0">
              <a:buNone/>
            </a:pPr>
            <a:r>
              <a:rPr lang="ja-GB" altLang="en-US" dirty="0"/>
              <a:t>例）専門家を集めて，実践的な効果を上げるための潜水艦攻撃作戦を立案</a:t>
            </a:r>
            <a:endParaRPr lang="en-US" altLang="ja-GB" dirty="0"/>
          </a:p>
          <a:p>
            <a:pPr lvl="4"/>
            <a:endParaRPr lang="en-US" altLang="ja-GB" dirty="0"/>
          </a:p>
          <a:p>
            <a:pPr marL="914400" lvl="2" indent="0">
              <a:buNone/>
            </a:pPr>
            <a:r>
              <a:rPr kumimoji="1" lang="ja-GB" altLang="en-US" dirty="0">
                <a:solidFill>
                  <a:srgbClr val="2F2523"/>
                </a:solidFill>
              </a:rPr>
              <a:t>典型的には，</a:t>
            </a:r>
            <a:r>
              <a:rPr kumimoji="1" lang="ja-GB" altLang="en-US" dirty="0">
                <a:solidFill>
                  <a:schemeClr val="accent2"/>
                </a:solidFill>
              </a:rPr>
              <a:t>数学モデル</a:t>
            </a:r>
            <a:r>
              <a:rPr kumimoji="1" lang="ja-GB" altLang="en-US" dirty="0">
                <a:solidFill>
                  <a:srgbClr val="2F2523"/>
                </a:solidFill>
              </a:rPr>
              <a:t>や</a:t>
            </a:r>
            <a:r>
              <a:rPr kumimoji="1" lang="ja-GB" altLang="en-US" dirty="0">
                <a:solidFill>
                  <a:schemeClr val="accent2"/>
                </a:solidFill>
              </a:rPr>
              <a:t>数学的方法論</a:t>
            </a:r>
            <a:r>
              <a:rPr kumimoji="1" lang="ja-GB" altLang="en-US" dirty="0">
                <a:solidFill>
                  <a:srgbClr val="2F2523"/>
                </a:solidFill>
              </a:rPr>
              <a:t>が</a:t>
            </a:r>
            <a:r>
              <a:rPr kumimoji="1" lang="ja-GB" altLang="en-US" dirty="0"/>
              <a:t>用いられる</a:t>
            </a:r>
            <a:endParaRPr kumimoji="1" lang="en-US" altLang="ja-GB" dirty="0"/>
          </a:p>
          <a:p>
            <a:pPr marL="1371600" lvl="3" indent="0">
              <a:buNone/>
            </a:pPr>
            <a:r>
              <a:rPr lang="ja-GB" altLang="en-US" dirty="0"/>
              <a:t>例</a:t>
            </a:r>
            <a:r>
              <a:rPr lang="en-US" altLang="ja-GB" dirty="0"/>
              <a:t>1</a:t>
            </a:r>
            <a:r>
              <a:rPr lang="ja-GB" altLang="en-US" dirty="0"/>
              <a:t>）倉庫から店舗までの運送網をグラフにして，輸送費が最安の経路を計算</a:t>
            </a:r>
            <a:endParaRPr lang="en-US" altLang="ja-GB" dirty="0"/>
          </a:p>
          <a:p>
            <a:pPr marL="1371600" lvl="3" indent="0">
              <a:buNone/>
            </a:pPr>
            <a:r>
              <a:rPr lang="ja-GB" altLang="en-US" dirty="0"/>
              <a:t>例</a:t>
            </a:r>
            <a:r>
              <a:rPr lang="en-US" altLang="ja-GB" dirty="0"/>
              <a:t>2</a:t>
            </a:r>
            <a:r>
              <a:rPr lang="ja-GB" altLang="en-US" dirty="0"/>
              <a:t>）複数種の仕事を複数台の機械で捌くとき，ガントチャートで最速の分業を計算</a:t>
            </a:r>
            <a:endParaRPr lang="en-US" altLang="ja-GB" dirty="0"/>
          </a:p>
          <a:p>
            <a:pPr lvl="2"/>
            <a:endParaRPr kumimoji="1" lang="ja-GB" altLang="en-US" dirty="0"/>
          </a:p>
        </p:txBody>
      </p:sp>
    </p:spTree>
    <p:extLst>
      <p:ext uri="{BB962C8B-B14F-4D97-AF65-F5344CB8AC3E}">
        <p14:creationId xmlns:p14="http://schemas.microsoft.com/office/powerpoint/2010/main" val="2058575550"/>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EACC93-860C-7C40-B295-C5F4BB4166CF}"/>
              </a:ext>
            </a:extLst>
          </p:cNvPr>
          <p:cNvSpPr>
            <a:spLocks noGrp="1"/>
          </p:cNvSpPr>
          <p:nvPr>
            <p:ph type="title"/>
          </p:nvPr>
        </p:nvSpPr>
        <p:spPr/>
        <p:txBody>
          <a:bodyPr/>
          <a:lstStyle/>
          <a:p>
            <a:r>
              <a:rPr kumimoji="1" lang="ja-GB" altLang="en-US" dirty="0"/>
              <a:t>日程管理計画問題</a:t>
            </a:r>
          </a:p>
        </p:txBody>
      </p:sp>
      <p:sp>
        <p:nvSpPr>
          <p:cNvPr id="3" name="コンテンツ プレースホルダー 2">
            <a:extLst>
              <a:ext uri="{FF2B5EF4-FFF2-40B4-BE49-F238E27FC236}">
                <a16:creationId xmlns:a16="http://schemas.microsoft.com/office/drawing/2014/main" id="{37EF3108-8E1A-2431-50C5-99348F94FE07}"/>
              </a:ext>
            </a:extLst>
          </p:cNvPr>
          <p:cNvSpPr>
            <a:spLocks noGrp="1"/>
          </p:cNvSpPr>
          <p:nvPr>
            <p:ph idx="1"/>
          </p:nvPr>
        </p:nvSpPr>
        <p:spPr/>
        <p:txBody>
          <a:bodyPr/>
          <a:lstStyle/>
          <a:p>
            <a:pPr marL="0" indent="0">
              <a:buNone/>
            </a:pPr>
            <a:r>
              <a:rPr lang="ja-GB" altLang="en-US" dirty="0"/>
              <a:t>仕事の日程の改善を計る問題</a:t>
            </a:r>
            <a:endParaRPr lang="en-US" altLang="ja-GB" dirty="0"/>
          </a:p>
          <a:p>
            <a:pPr marL="457200" lvl="1" indent="0">
              <a:buNone/>
            </a:pPr>
            <a:r>
              <a:rPr kumimoji="1" lang="ja-GB" altLang="en-US" dirty="0"/>
              <a:t>スケジューリング（日程管理）の問題に関する</a:t>
            </a:r>
            <a:r>
              <a:rPr lang="en-US" altLang="ja-GB" dirty="0"/>
              <a:t>OR</a:t>
            </a:r>
            <a:r>
              <a:rPr lang="ja-GB" altLang="en-US" dirty="0"/>
              <a:t>の一分野</a:t>
            </a:r>
            <a:endParaRPr kumimoji="1" lang="en-US" altLang="ja-GB" dirty="0"/>
          </a:p>
          <a:p>
            <a:pPr lvl="1"/>
            <a:endParaRPr kumimoji="1" lang="en-US" altLang="ja-GB" dirty="0"/>
          </a:p>
          <a:p>
            <a:pPr marL="0" indent="0">
              <a:buNone/>
            </a:pPr>
            <a:r>
              <a:rPr kumimoji="1" lang="en-US" altLang="ja-GB" dirty="0"/>
              <a:t>PERT</a:t>
            </a:r>
            <a:r>
              <a:rPr kumimoji="1" lang="ja-GB" altLang="en-US" dirty="0"/>
              <a:t>（</a:t>
            </a:r>
            <a:r>
              <a:rPr kumimoji="1" lang="en-US" altLang="ja-GB" dirty="0"/>
              <a:t>Program Evaluation and Review Technique</a:t>
            </a:r>
            <a:r>
              <a:rPr kumimoji="1" lang="ja-GB" altLang="en-US" dirty="0"/>
              <a:t>）</a:t>
            </a:r>
            <a:endParaRPr kumimoji="1" lang="en-US" altLang="ja-GB" dirty="0"/>
          </a:p>
          <a:p>
            <a:pPr marL="457200" lvl="1" indent="0">
              <a:buNone/>
            </a:pPr>
            <a:r>
              <a:rPr kumimoji="1" lang="ja-GB" altLang="en-US" dirty="0"/>
              <a:t>日本語訳）計画評価と見直しの技法</a:t>
            </a:r>
            <a:endParaRPr kumimoji="1" lang="en-US" altLang="ja-GB" dirty="0"/>
          </a:p>
          <a:p>
            <a:pPr lvl="2"/>
            <a:r>
              <a:rPr kumimoji="1" lang="ja-GB" altLang="en-US" dirty="0"/>
              <a:t>プロジェクト型の仕事に対するスケジューリングの有効な方法</a:t>
            </a:r>
            <a:endParaRPr kumimoji="1" lang="en-US" altLang="ja-GB" dirty="0"/>
          </a:p>
          <a:p>
            <a:pPr marL="457200" lvl="1" indent="0">
              <a:buNone/>
            </a:pPr>
            <a:r>
              <a:rPr lang="ja-GB" altLang="en-US" dirty="0"/>
              <a:t>アプローチ：</a:t>
            </a:r>
            <a:r>
              <a:rPr lang="ja-GB" altLang="en-US" dirty="0">
                <a:solidFill>
                  <a:srgbClr val="0070C0"/>
                </a:solidFill>
              </a:rPr>
              <a:t>工程間の依存関係を可視化</a:t>
            </a:r>
            <a:r>
              <a:rPr lang="ja-GB" altLang="en-US" dirty="0"/>
              <a:t>して，工程管理に役立てる</a:t>
            </a:r>
            <a:endParaRPr lang="en-US" altLang="ja-GB" dirty="0"/>
          </a:p>
          <a:p>
            <a:pPr marL="1257300" lvl="2" indent="-342900">
              <a:buFont typeface="+mj-lt"/>
              <a:buAutoNum type="arabicPeriod"/>
            </a:pPr>
            <a:r>
              <a:rPr kumimoji="1" lang="ja-GB" altLang="en-US" dirty="0"/>
              <a:t>仕事の順序関係を矢印で示したグラフ（</a:t>
            </a:r>
            <a:r>
              <a:rPr kumimoji="1" lang="ja-GB" altLang="en-US" dirty="0">
                <a:solidFill>
                  <a:schemeClr val="accent2"/>
                </a:solidFill>
              </a:rPr>
              <a:t>アローダイヤグラム</a:t>
            </a:r>
            <a:r>
              <a:rPr kumimoji="1" lang="ja-GB" altLang="en-US" dirty="0"/>
              <a:t>）で表現する</a:t>
            </a:r>
            <a:endParaRPr kumimoji="1" lang="en-US" altLang="ja-GB" dirty="0"/>
          </a:p>
          <a:p>
            <a:pPr marL="1257300" lvl="2" indent="-342900">
              <a:buFont typeface="+mj-lt"/>
              <a:buAutoNum type="arabicPeriod"/>
            </a:pPr>
            <a:r>
              <a:rPr lang="ja-GB" altLang="en-US" dirty="0"/>
              <a:t>仕事全体の日程においてボトルネックとなる重要経路（</a:t>
            </a:r>
            <a:r>
              <a:rPr lang="ja-GB" altLang="en-US" dirty="0">
                <a:solidFill>
                  <a:schemeClr val="accent2"/>
                </a:solidFill>
              </a:rPr>
              <a:t>クリティカルパス</a:t>
            </a:r>
            <a:r>
              <a:rPr lang="ja-GB" altLang="en-US" dirty="0"/>
              <a:t>）</a:t>
            </a:r>
            <a:br>
              <a:rPr lang="en-US" altLang="ja-GB" dirty="0"/>
            </a:br>
            <a:r>
              <a:rPr lang="ja-GB" altLang="en-US" dirty="0"/>
              <a:t>を見つけ出す</a:t>
            </a:r>
            <a:endParaRPr lang="en-US" altLang="ja-GB" dirty="0"/>
          </a:p>
          <a:p>
            <a:pPr marL="1257300" lvl="2" indent="-342900">
              <a:buFont typeface="+mj-lt"/>
              <a:buAutoNum type="arabicPeriod"/>
            </a:pPr>
            <a:r>
              <a:rPr kumimoji="1" lang="ja-GB" altLang="en-US" dirty="0"/>
              <a:t>ボトルネックを踏まえて工程の改善をはかる</a:t>
            </a:r>
            <a:endParaRPr kumimoji="1" lang="en-US" altLang="ja-GB" dirty="0"/>
          </a:p>
          <a:p>
            <a:pPr lvl="1"/>
            <a:endParaRPr kumimoji="1" lang="ja-GB" altLang="en-US" dirty="0"/>
          </a:p>
        </p:txBody>
      </p:sp>
      <p:sp>
        <p:nvSpPr>
          <p:cNvPr id="4" name="テキスト ボックス 3">
            <a:extLst>
              <a:ext uri="{FF2B5EF4-FFF2-40B4-BE49-F238E27FC236}">
                <a16:creationId xmlns:a16="http://schemas.microsoft.com/office/drawing/2014/main" id="{8ECDB998-6DCA-8294-5D57-FD823B858B02}"/>
              </a:ext>
            </a:extLst>
          </p:cNvPr>
          <p:cNvSpPr txBox="1"/>
          <p:nvPr/>
        </p:nvSpPr>
        <p:spPr>
          <a:xfrm>
            <a:off x="1244807" y="6381946"/>
            <a:ext cx="6654386" cy="307777"/>
          </a:xfrm>
          <a:prstGeom prst="rect">
            <a:avLst/>
          </a:prstGeom>
          <a:noFill/>
        </p:spPr>
        <p:txBody>
          <a:bodyPr wrap="none" rtlCol="0">
            <a:spAutoFit/>
          </a:bodyPr>
          <a:lstStyle/>
          <a:p>
            <a:pPr algn="ctr"/>
            <a:r>
              <a:rPr kumimoji="1" lang="en-US" altLang="ja-GB" sz="1400" dirty="0"/>
              <a:t>※</a:t>
            </a:r>
            <a:r>
              <a:rPr kumimoji="1" lang="ja-GB" altLang="en-US" sz="1400" dirty="0"/>
              <a:t>日程管理だけでなく，費用を含めた作業計画を指して</a:t>
            </a:r>
            <a:r>
              <a:rPr kumimoji="1" lang="en-US" altLang="ja-GB" sz="1400" dirty="0"/>
              <a:t>PERT</a:t>
            </a:r>
            <a:r>
              <a:rPr kumimoji="1" lang="ja-GB" altLang="en-US" sz="1400" dirty="0"/>
              <a:t>ということもある</a:t>
            </a:r>
          </a:p>
        </p:txBody>
      </p:sp>
      <p:pic>
        <p:nvPicPr>
          <p:cNvPr id="6" name="図 5" descr="ダイアグラム&#10;&#10;AI 生成コンテンツは誤りを含む可能性があります。">
            <a:extLst>
              <a:ext uri="{FF2B5EF4-FFF2-40B4-BE49-F238E27FC236}">
                <a16:creationId xmlns:a16="http://schemas.microsoft.com/office/drawing/2014/main" id="{0123A6A6-7190-9346-CB9F-56177E352779}"/>
              </a:ext>
            </a:extLst>
          </p:cNvPr>
          <p:cNvPicPr>
            <a:picLocks noChangeAspect="1"/>
          </p:cNvPicPr>
          <p:nvPr/>
        </p:nvPicPr>
        <p:blipFill>
          <a:blip r:embed="rId2"/>
          <a:stretch>
            <a:fillRect/>
          </a:stretch>
        </p:blipFill>
        <p:spPr>
          <a:xfrm>
            <a:off x="1654638" y="4706176"/>
            <a:ext cx="5834723" cy="154971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78344285"/>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2F7F9-EEDC-3DC7-BE78-6A6D8B87A05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1671B5E-22D2-17D3-DDD6-91E87CD0BCCF}"/>
              </a:ext>
            </a:extLst>
          </p:cNvPr>
          <p:cNvSpPr>
            <a:spLocks noGrp="1"/>
          </p:cNvSpPr>
          <p:nvPr>
            <p:ph type="title"/>
          </p:nvPr>
        </p:nvSpPr>
        <p:spPr/>
        <p:txBody>
          <a:bodyPr/>
          <a:lstStyle/>
          <a:p>
            <a:r>
              <a:rPr kumimoji="1" lang="ja-GB" altLang="en-US" dirty="0"/>
              <a:t>本日の内容</a:t>
            </a:r>
          </a:p>
        </p:txBody>
      </p:sp>
      <p:sp>
        <p:nvSpPr>
          <p:cNvPr id="3" name="コンテンツ プレースホルダー 2">
            <a:extLst>
              <a:ext uri="{FF2B5EF4-FFF2-40B4-BE49-F238E27FC236}">
                <a16:creationId xmlns:a16="http://schemas.microsoft.com/office/drawing/2014/main" id="{BC37D82C-81BE-AC53-D419-02571830DA9A}"/>
              </a:ext>
            </a:extLst>
          </p:cNvPr>
          <p:cNvSpPr>
            <a:spLocks noGrp="1"/>
          </p:cNvSpPr>
          <p:nvPr>
            <p:ph idx="1"/>
          </p:nvPr>
        </p:nvSpPr>
        <p:spPr/>
        <p:txBody>
          <a:bodyPr/>
          <a:lstStyle/>
          <a:p>
            <a:pPr marL="457200" indent="-457200">
              <a:buFont typeface="+mj-lt"/>
              <a:buAutoNum type="arabicPeriod"/>
            </a:pPr>
            <a:r>
              <a:rPr kumimoji="1" lang="ja-GB" altLang="en-US" dirty="0">
                <a:solidFill>
                  <a:schemeClr val="tx1">
                    <a:lumMod val="50000"/>
                    <a:lumOff val="50000"/>
                  </a:schemeClr>
                </a:solidFill>
              </a:rPr>
              <a:t>計算論的思考</a:t>
            </a:r>
            <a:endParaRPr kumimoji="1" lang="en-US" altLang="ja-GB" dirty="0">
              <a:solidFill>
                <a:schemeClr val="tx1">
                  <a:lumMod val="50000"/>
                  <a:lumOff val="50000"/>
                </a:schemeClr>
              </a:solidFill>
            </a:endParaRPr>
          </a:p>
          <a:p>
            <a:pPr lvl="1"/>
            <a:r>
              <a:rPr kumimoji="1" lang="ja-GB" altLang="en-US" dirty="0">
                <a:solidFill>
                  <a:schemeClr val="tx1">
                    <a:lumMod val="50000"/>
                    <a:lumOff val="50000"/>
                  </a:schemeClr>
                </a:solidFill>
              </a:rPr>
              <a:t>計算機科学の考え方を，日常の問題一般に活用する思考方法</a:t>
            </a:r>
            <a:endParaRPr kumimoji="1" lang="en-US" altLang="ja-GB" dirty="0">
              <a:solidFill>
                <a:schemeClr val="tx1">
                  <a:lumMod val="50000"/>
                  <a:lumOff val="50000"/>
                </a:schemeClr>
              </a:solidFill>
            </a:endParaRPr>
          </a:p>
          <a:p>
            <a:pPr lvl="1"/>
            <a:r>
              <a:rPr lang="ja-GB" altLang="en-US" dirty="0">
                <a:solidFill>
                  <a:schemeClr val="tx1">
                    <a:lumMod val="50000"/>
                    <a:lumOff val="50000"/>
                  </a:schemeClr>
                </a:solidFill>
              </a:rPr>
              <a:t>世界の事象を計算機の比喩で捉えて，問題解決に計算理論を応用する</a:t>
            </a:r>
            <a:endParaRPr lang="en-US" altLang="ja-GB" dirty="0">
              <a:solidFill>
                <a:schemeClr val="tx1">
                  <a:lumMod val="50000"/>
                  <a:lumOff val="50000"/>
                </a:schemeClr>
              </a:solidFill>
            </a:endParaRPr>
          </a:p>
          <a:p>
            <a:pPr lvl="1"/>
            <a:endParaRPr kumimoji="1" lang="en-US" altLang="ja-GB" dirty="0">
              <a:solidFill>
                <a:schemeClr val="tx1">
                  <a:lumMod val="50000"/>
                  <a:lumOff val="50000"/>
                </a:schemeClr>
              </a:solidFill>
            </a:endParaRPr>
          </a:p>
          <a:p>
            <a:pPr marL="457200" indent="-457200">
              <a:buFont typeface="+mj-lt"/>
              <a:buAutoNum type="arabicPeriod"/>
            </a:pPr>
            <a:r>
              <a:rPr lang="ja-GB" altLang="en-US" dirty="0">
                <a:solidFill>
                  <a:schemeClr val="tx1">
                    <a:lumMod val="50000"/>
                    <a:lumOff val="50000"/>
                  </a:schemeClr>
                </a:solidFill>
              </a:rPr>
              <a:t>オペレーションズ・リサーチ</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オペレーションの科学的な研究</a:t>
            </a:r>
            <a:endParaRPr lang="en-US" altLang="ja-GB" dirty="0">
              <a:solidFill>
                <a:schemeClr val="tx1">
                  <a:lumMod val="50000"/>
                  <a:lumOff val="50000"/>
                </a:schemeClr>
              </a:solidFill>
            </a:endParaRPr>
          </a:p>
          <a:p>
            <a:pPr lvl="1"/>
            <a:endParaRPr lang="en-US" altLang="ja-GB" dirty="0"/>
          </a:p>
          <a:p>
            <a:pPr marL="457200" indent="-457200">
              <a:buFont typeface="+mj-lt"/>
              <a:buAutoNum type="arabicPeriod"/>
            </a:pPr>
            <a:r>
              <a:rPr lang="ja-GB" altLang="en-US" dirty="0"/>
              <a:t>矢線図（アローダイアグラム）</a:t>
            </a:r>
            <a:endParaRPr lang="en-US" altLang="ja-GB" dirty="0"/>
          </a:p>
          <a:p>
            <a:pPr lvl="1"/>
            <a:r>
              <a:rPr kumimoji="1" lang="ja-GB" altLang="en-US" dirty="0"/>
              <a:t>スケジューリングを評価するための数学モデル</a:t>
            </a:r>
            <a:endParaRPr kumimoji="1" lang="en-US" altLang="ja-GB" dirty="0"/>
          </a:p>
          <a:p>
            <a:pPr lvl="1"/>
            <a:endParaRPr kumimoji="1" lang="en-US" altLang="ja-GB" dirty="0"/>
          </a:p>
        </p:txBody>
      </p:sp>
    </p:spTree>
    <p:extLst>
      <p:ext uri="{BB962C8B-B14F-4D97-AF65-F5344CB8AC3E}">
        <p14:creationId xmlns:p14="http://schemas.microsoft.com/office/powerpoint/2010/main" val="3156477998"/>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D239B9-CD3B-1387-E687-59187A3EE383}"/>
              </a:ext>
            </a:extLst>
          </p:cNvPr>
          <p:cNvSpPr>
            <a:spLocks noGrp="1"/>
          </p:cNvSpPr>
          <p:nvPr>
            <p:ph type="title"/>
          </p:nvPr>
        </p:nvSpPr>
        <p:spPr/>
        <p:txBody>
          <a:bodyPr/>
          <a:lstStyle/>
          <a:p>
            <a:r>
              <a:rPr kumimoji="1" lang="ja-GB" altLang="en-US" dirty="0"/>
              <a:t>アローダイアグラム（矢線図）</a:t>
            </a:r>
          </a:p>
        </p:txBody>
      </p:sp>
      <p:sp>
        <p:nvSpPr>
          <p:cNvPr id="3" name="コンテンツ プレースホルダー 2">
            <a:extLst>
              <a:ext uri="{FF2B5EF4-FFF2-40B4-BE49-F238E27FC236}">
                <a16:creationId xmlns:a16="http://schemas.microsoft.com/office/drawing/2014/main" id="{80E29DF6-8C26-AD57-9FE5-C542C0AEEBB1}"/>
              </a:ext>
            </a:extLst>
          </p:cNvPr>
          <p:cNvSpPr>
            <a:spLocks noGrp="1"/>
          </p:cNvSpPr>
          <p:nvPr>
            <p:ph idx="1"/>
          </p:nvPr>
        </p:nvSpPr>
        <p:spPr/>
        <p:txBody>
          <a:bodyPr/>
          <a:lstStyle/>
          <a:p>
            <a:pPr marL="0" indent="0">
              <a:buNone/>
            </a:pPr>
            <a:r>
              <a:rPr lang="ja-GB" altLang="en-US" dirty="0"/>
              <a:t>依存関係のある作業日程を矢印付きのグラフに表現する</a:t>
            </a:r>
            <a:endParaRPr lang="en-US" altLang="ja-GB" dirty="0"/>
          </a:p>
          <a:p>
            <a:pPr marL="914400" lvl="1" indent="-457200">
              <a:buFont typeface="+mj-lt"/>
              <a:buAutoNum type="arabicPeriod"/>
            </a:pPr>
            <a:r>
              <a:rPr kumimoji="1" lang="ja-GB" altLang="en-US" dirty="0"/>
              <a:t>各作業は結節点をつなぐ矢印</a:t>
            </a:r>
            <a:endParaRPr kumimoji="1" lang="en-US" altLang="ja-GB" dirty="0"/>
          </a:p>
          <a:p>
            <a:pPr marL="914400" lvl="2" indent="0">
              <a:buNone/>
            </a:pPr>
            <a:r>
              <a:rPr lang="ja-GB" altLang="en-US" dirty="0">
                <a:solidFill>
                  <a:schemeClr val="tx1">
                    <a:lumMod val="50000"/>
                    <a:lumOff val="50000"/>
                  </a:schemeClr>
                </a:solidFill>
              </a:rPr>
              <a:t>作業</a:t>
            </a:r>
            <a:r>
              <a:rPr lang="en-US" altLang="ja-GB" dirty="0">
                <a:solidFill>
                  <a:schemeClr val="tx1">
                    <a:lumMod val="50000"/>
                    <a:lumOff val="50000"/>
                  </a:schemeClr>
                </a:solidFill>
              </a:rPr>
              <a:t>A</a:t>
            </a:r>
            <a:r>
              <a:rPr lang="ja-GB" altLang="en-US" dirty="0">
                <a:solidFill>
                  <a:schemeClr val="tx1">
                    <a:lumMod val="50000"/>
                    <a:lumOff val="50000"/>
                  </a:schemeClr>
                </a:solidFill>
              </a:rPr>
              <a:t>，</a:t>
            </a:r>
            <a:r>
              <a:rPr lang="en-US" altLang="ja-GB" dirty="0">
                <a:solidFill>
                  <a:schemeClr val="tx1">
                    <a:lumMod val="50000"/>
                    <a:lumOff val="50000"/>
                  </a:schemeClr>
                </a:solidFill>
              </a:rPr>
              <a:t>B</a:t>
            </a:r>
            <a:r>
              <a:rPr lang="ja-GB" altLang="en-US" dirty="0">
                <a:solidFill>
                  <a:schemeClr val="tx1">
                    <a:lumMod val="50000"/>
                    <a:lumOff val="50000"/>
                  </a:schemeClr>
                </a:solidFill>
              </a:rPr>
              <a:t>，</a:t>
            </a:r>
            <a:r>
              <a:rPr lang="en-US" altLang="ja-GB" dirty="0">
                <a:solidFill>
                  <a:schemeClr val="tx1">
                    <a:lumMod val="50000"/>
                    <a:lumOff val="50000"/>
                  </a:schemeClr>
                </a:solidFill>
              </a:rPr>
              <a:t>C</a:t>
            </a:r>
            <a:r>
              <a:rPr lang="ja-GB" altLang="en-US" dirty="0">
                <a:solidFill>
                  <a:schemeClr val="tx1">
                    <a:lumMod val="50000"/>
                    <a:lumOff val="50000"/>
                  </a:schemeClr>
                </a:solidFill>
              </a:rPr>
              <a:t>，</a:t>
            </a:r>
            <a:r>
              <a:rPr lang="en-US" altLang="ja-GB" dirty="0">
                <a:solidFill>
                  <a:schemeClr val="tx1">
                    <a:lumMod val="50000"/>
                    <a:lumOff val="50000"/>
                  </a:schemeClr>
                </a:solidFill>
              </a:rPr>
              <a:t>…</a:t>
            </a:r>
            <a:r>
              <a:rPr lang="ja-GB" altLang="en-US" dirty="0">
                <a:solidFill>
                  <a:schemeClr val="tx1">
                    <a:lumMod val="50000"/>
                    <a:lumOff val="50000"/>
                  </a:schemeClr>
                </a:solidFill>
              </a:rPr>
              <a:t>，</a:t>
            </a:r>
            <a:r>
              <a:rPr lang="en-US" altLang="ja-GB" dirty="0">
                <a:solidFill>
                  <a:schemeClr val="tx1">
                    <a:lumMod val="50000"/>
                    <a:lumOff val="50000"/>
                  </a:schemeClr>
                </a:solidFill>
              </a:rPr>
              <a:t>H</a:t>
            </a:r>
            <a:r>
              <a:rPr lang="ja-GB" altLang="en-US" dirty="0">
                <a:solidFill>
                  <a:schemeClr val="tx1">
                    <a:lumMod val="50000"/>
                    <a:lumOff val="50000"/>
                  </a:schemeClr>
                </a:solidFill>
              </a:rPr>
              <a:t>は，グラフの辺で表現（</a:t>
            </a:r>
            <a:r>
              <a:rPr kumimoji="1" lang="ja-GB" altLang="en-US" dirty="0">
                <a:solidFill>
                  <a:schemeClr val="tx1">
                    <a:lumMod val="50000"/>
                    <a:lumOff val="50000"/>
                  </a:schemeClr>
                </a:solidFill>
              </a:rPr>
              <a:t>作業にかかる日数を表示）</a:t>
            </a:r>
            <a:endParaRPr kumimoji="1" lang="en-US" altLang="ja-GB" dirty="0">
              <a:solidFill>
                <a:schemeClr val="tx1">
                  <a:lumMod val="50000"/>
                  <a:lumOff val="50000"/>
                </a:schemeClr>
              </a:solidFill>
            </a:endParaRPr>
          </a:p>
          <a:p>
            <a:pPr marL="914400" lvl="1" indent="-457200">
              <a:buFont typeface="+mj-lt"/>
              <a:buAutoNum type="arabicPeriod"/>
            </a:pPr>
            <a:r>
              <a:rPr lang="ja-GB" altLang="en-US" dirty="0"/>
              <a:t>直接前後の関係のある作業は直列に接続</a:t>
            </a:r>
            <a:endParaRPr lang="en-US" altLang="ja-GB" dirty="0"/>
          </a:p>
          <a:p>
            <a:pPr marL="914400" lvl="2" indent="0">
              <a:buNone/>
            </a:pPr>
            <a:r>
              <a:rPr lang="en-US" altLang="ja-GB" dirty="0">
                <a:solidFill>
                  <a:schemeClr val="tx1">
                    <a:lumMod val="50000"/>
                    <a:lumOff val="50000"/>
                  </a:schemeClr>
                </a:solidFill>
              </a:rPr>
              <a:t>A</a:t>
            </a:r>
            <a:r>
              <a:rPr lang="ja-GB" altLang="en-US" dirty="0">
                <a:solidFill>
                  <a:schemeClr val="tx1">
                    <a:lumMod val="50000"/>
                    <a:lumOff val="50000"/>
                  </a:schemeClr>
                </a:solidFill>
              </a:rPr>
              <a:t>の後に始められる</a:t>
            </a:r>
            <a:r>
              <a:rPr lang="en-US" altLang="ja-GB" dirty="0">
                <a:solidFill>
                  <a:schemeClr val="tx1">
                    <a:lumMod val="50000"/>
                    <a:lumOff val="50000"/>
                  </a:schemeClr>
                </a:solidFill>
              </a:rPr>
              <a:t>C</a:t>
            </a:r>
            <a:r>
              <a:rPr lang="ja-GB" altLang="en-US" dirty="0">
                <a:solidFill>
                  <a:schemeClr val="tx1">
                    <a:lumMod val="50000"/>
                    <a:lumOff val="50000"/>
                  </a:schemeClr>
                </a:solidFill>
              </a:rPr>
              <a:t>と</a:t>
            </a:r>
            <a:r>
              <a:rPr lang="en-US" altLang="ja-GB" dirty="0">
                <a:solidFill>
                  <a:schemeClr val="tx1">
                    <a:lumMod val="50000"/>
                    <a:lumOff val="50000"/>
                  </a:schemeClr>
                </a:solidFill>
              </a:rPr>
              <a:t>E</a:t>
            </a:r>
            <a:r>
              <a:rPr lang="ja-GB" altLang="en-US" dirty="0">
                <a:solidFill>
                  <a:schemeClr val="tx1">
                    <a:lumMod val="50000"/>
                    <a:lumOff val="50000"/>
                  </a:schemeClr>
                </a:solidFill>
              </a:rPr>
              <a:t>は，</a:t>
            </a:r>
            <a:r>
              <a:rPr lang="en-US" altLang="ja-GB" dirty="0">
                <a:solidFill>
                  <a:schemeClr val="tx1">
                    <a:lumMod val="50000"/>
                    <a:lumOff val="50000"/>
                  </a:schemeClr>
                </a:solidFill>
              </a:rPr>
              <a:t>A</a:t>
            </a:r>
            <a:r>
              <a:rPr lang="ja-GB" altLang="en-US" dirty="0">
                <a:solidFill>
                  <a:schemeClr val="tx1">
                    <a:lumMod val="50000"/>
                    <a:lumOff val="50000"/>
                  </a:schemeClr>
                </a:solidFill>
              </a:rPr>
              <a:t>の終点である結節点</a:t>
            </a:r>
            <a:r>
              <a:rPr lang="en-US" altLang="ja-GB" dirty="0">
                <a:solidFill>
                  <a:schemeClr val="tx1">
                    <a:lumMod val="50000"/>
                    <a:lumOff val="50000"/>
                  </a:schemeClr>
                </a:solidFill>
              </a:rPr>
              <a:t>2</a:t>
            </a:r>
            <a:r>
              <a:rPr lang="ja-GB" altLang="en-US" dirty="0">
                <a:solidFill>
                  <a:schemeClr val="tx1">
                    <a:lumMod val="50000"/>
                    <a:lumOff val="50000"/>
                  </a:schemeClr>
                </a:solidFill>
              </a:rPr>
              <a:t>を始点とする矢印で表現</a:t>
            </a:r>
            <a:endParaRPr lang="en-US" altLang="ja-GB" dirty="0">
              <a:solidFill>
                <a:schemeClr val="tx1">
                  <a:lumMod val="50000"/>
                  <a:lumOff val="50000"/>
                </a:schemeClr>
              </a:solidFill>
            </a:endParaRPr>
          </a:p>
          <a:p>
            <a:pPr marL="914400" lvl="1" indent="-457200">
              <a:buFont typeface="+mj-lt"/>
              <a:buAutoNum type="arabicPeriod"/>
            </a:pPr>
            <a:r>
              <a:rPr kumimoji="1" lang="ja-GB" altLang="en-US" dirty="0"/>
              <a:t>前後関係のない作業は並列に配置</a:t>
            </a:r>
            <a:endParaRPr kumimoji="1" lang="en-US" altLang="ja-GB" dirty="0"/>
          </a:p>
          <a:p>
            <a:pPr marL="914400" lvl="2" indent="0">
              <a:buNone/>
            </a:pPr>
            <a:r>
              <a:rPr lang="en-US" altLang="ja-GB" dirty="0">
                <a:solidFill>
                  <a:schemeClr val="tx1">
                    <a:lumMod val="50000"/>
                    <a:lumOff val="50000"/>
                  </a:schemeClr>
                </a:solidFill>
              </a:rPr>
              <a:t>A</a:t>
            </a:r>
            <a:r>
              <a:rPr lang="ja-GB" altLang="en-US" dirty="0">
                <a:solidFill>
                  <a:schemeClr val="tx1">
                    <a:lumMod val="50000"/>
                    <a:lumOff val="50000"/>
                  </a:schemeClr>
                </a:solidFill>
              </a:rPr>
              <a:t>と</a:t>
            </a:r>
            <a:r>
              <a:rPr lang="en-US" altLang="ja-GB" dirty="0">
                <a:solidFill>
                  <a:schemeClr val="tx1">
                    <a:lumMod val="50000"/>
                    <a:lumOff val="50000"/>
                  </a:schemeClr>
                </a:solidFill>
              </a:rPr>
              <a:t>B</a:t>
            </a:r>
            <a:r>
              <a:rPr lang="ja-GB" altLang="en-US" dirty="0">
                <a:solidFill>
                  <a:schemeClr val="tx1">
                    <a:lumMod val="50000"/>
                    <a:lumOff val="50000"/>
                  </a:schemeClr>
                </a:solidFill>
              </a:rPr>
              <a:t>，</a:t>
            </a:r>
            <a:r>
              <a:rPr lang="en-US" altLang="ja-GB" dirty="0">
                <a:solidFill>
                  <a:schemeClr val="tx1">
                    <a:lumMod val="50000"/>
                    <a:lumOff val="50000"/>
                  </a:schemeClr>
                </a:solidFill>
              </a:rPr>
              <a:t>E</a:t>
            </a:r>
            <a:r>
              <a:rPr lang="ja-GB" altLang="en-US" dirty="0">
                <a:solidFill>
                  <a:schemeClr val="tx1">
                    <a:lumMod val="50000"/>
                    <a:lumOff val="50000"/>
                  </a:schemeClr>
                </a:solidFill>
              </a:rPr>
              <a:t>と</a:t>
            </a:r>
            <a:r>
              <a:rPr lang="en-US" altLang="ja-GB" dirty="0">
                <a:solidFill>
                  <a:schemeClr val="tx1">
                    <a:lumMod val="50000"/>
                    <a:lumOff val="50000"/>
                  </a:schemeClr>
                </a:solidFill>
              </a:rPr>
              <a:t>F</a:t>
            </a:r>
            <a:r>
              <a:rPr lang="ja-GB" altLang="en-US" dirty="0">
                <a:solidFill>
                  <a:schemeClr val="tx1">
                    <a:lumMod val="50000"/>
                    <a:lumOff val="50000"/>
                  </a:schemeClr>
                </a:solidFill>
              </a:rPr>
              <a:t>などは互いに依存しないので直列配置されない</a:t>
            </a:r>
            <a:endParaRPr kumimoji="1" lang="en-US" altLang="ja-GB" dirty="0">
              <a:solidFill>
                <a:schemeClr val="tx1">
                  <a:lumMod val="50000"/>
                  <a:lumOff val="50000"/>
                </a:schemeClr>
              </a:solidFill>
            </a:endParaRPr>
          </a:p>
        </p:txBody>
      </p:sp>
      <p:pic>
        <p:nvPicPr>
          <p:cNvPr id="5" name="図 4" descr="ダイアグラム&#10;&#10;AI 生成コンテンツは誤りを含む可能性があります。">
            <a:extLst>
              <a:ext uri="{FF2B5EF4-FFF2-40B4-BE49-F238E27FC236}">
                <a16:creationId xmlns:a16="http://schemas.microsoft.com/office/drawing/2014/main" id="{FDB1629F-BC0B-4219-3DD2-202982843E1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571999" y="4075186"/>
            <a:ext cx="4466360" cy="1615878"/>
          </a:xfrm>
          <a:prstGeom prst="rect">
            <a:avLst/>
          </a:prstGeom>
        </p:spPr>
      </p:pic>
      <p:sp>
        <p:nvSpPr>
          <p:cNvPr id="6" name="テキスト ボックス 5">
            <a:extLst>
              <a:ext uri="{FF2B5EF4-FFF2-40B4-BE49-F238E27FC236}">
                <a16:creationId xmlns:a16="http://schemas.microsoft.com/office/drawing/2014/main" id="{9BDB7B5E-99BB-291A-7358-4BF34FA0D4BE}"/>
              </a:ext>
            </a:extLst>
          </p:cNvPr>
          <p:cNvSpPr txBox="1"/>
          <p:nvPr/>
        </p:nvSpPr>
        <p:spPr>
          <a:xfrm>
            <a:off x="1337780" y="6440946"/>
            <a:ext cx="6468437" cy="307777"/>
          </a:xfrm>
          <a:prstGeom prst="rect">
            <a:avLst/>
          </a:prstGeom>
          <a:noFill/>
        </p:spPr>
        <p:txBody>
          <a:bodyPr wrap="none" rtlCol="0">
            <a:spAutoFit/>
          </a:bodyPr>
          <a:lstStyle/>
          <a:p>
            <a:pPr algn="ctr"/>
            <a:r>
              <a:rPr kumimoji="1" lang="en-US" altLang="ja-GB" sz="1400" dirty="0">
                <a:solidFill>
                  <a:schemeClr val="tx1">
                    <a:lumMod val="50000"/>
                    <a:lumOff val="50000"/>
                  </a:schemeClr>
                </a:solidFill>
              </a:rPr>
              <a:t>※</a:t>
            </a:r>
            <a:r>
              <a:rPr kumimoji="1" lang="ja-GB" altLang="en-US" sz="1400" dirty="0">
                <a:solidFill>
                  <a:schemeClr val="tx1">
                    <a:lumMod val="50000"/>
                    <a:lumOff val="50000"/>
                  </a:schemeClr>
                </a:solidFill>
              </a:rPr>
              <a:t>辺が矢印として描かれていないが，左側が始点，右側が終点となっている</a:t>
            </a:r>
          </a:p>
        </p:txBody>
      </p:sp>
      <p:pic>
        <p:nvPicPr>
          <p:cNvPr id="8" name="図 7" descr="パソコンの画面&#10;&#10;AI 生成コンテンツは誤りを含む可能性があります。">
            <a:extLst>
              <a:ext uri="{FF2B5EF4-FFF2-40B4-BE49-F238E27FC236}">
                <a16:creationId xmlns:a16="http://schemas.microsoft.com/office/drawing/2014/main" id="{8AC5A125-AB78-15C2-5DC7-9396369121B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5641" y="3753623"/>
            <a:ext cx="4357511" cy="2259004"/>
          </a:xfrm>
          <a:prstGeom prst="rect">
            <a:avLst/>
          </a:prstGeom>
        </p:spPr>
      </p:pic>
      <p:sp>
        <p:nvSpPr>
          <p:cNvPr id="9" name="テキスト ボックス 8">
            <a:extLst>
              <a:ext uri="{FF2B5EF4-FFF2-40B4-BE49-F238E27FC236}">
                <a16:creationId xmlns:a16="http://schemas.microsoft.com/office/drawing/2014/main" id="{FB3EEC8A-5E4B-929A-2057-8B83E6EC3D78}"/>
              </a:ext>
            </a:extLst>
          </p:cNvPr>
          <p:cNvSpPr txBox="1"/>
          <p:nvPr/>
        </p:nvSpPr>
        <p:spPr>
          <a:xfrm>
            <a:off x="1922758" y="6012627"/>
            <a:ext cx="723275" cy="307777"/>
          </a:xfrm>
          <a:prstGeom prst="rect">
            <a:avLst/>
          </a:prstGeom>
          <a:noFill/>
        </p:spPr>
        <p:txBody>
          <a:bodyPr wrap="none" rtlCol="0">
            <a:spAutoFit/>
          </a:bodyPr>
          <a:lstStyle/>
          <a:p>
            <a:pPr algn="ctr"/>
            <a:r>
              <a:rPr kumimoji="1" lang="ja-GB" altLang="en-US" sz="1400" dirty="0"/>
              <a:t>作業表</a:t>
            </a:r>
          </a:p>
        </p:txBody>
      </p:sp>
      <p:sp>
        <p:nvSpPr>
          <p:cNvPr id="10" name="テキスト ボックス 9">
            <a:extLst>
              <a:ext uri="{FF2B5EF4-FFF2-40B4-BE49-F238E27FC236}">
                <a16:creationId xmlns:a16="http://schemas.microsoft.com/office/drawing/2014/main" id="{D616A20F-FC2C-A368-D4D3-B7787EACD356}"/>
              </a:ext>
            </a:extLst>
          </p:cNvPr>
          <p:cNvSpPr txBox="1"/>
          <p:nvPr/>
        </p:nvSpPr>
        <p:spPr>
          <a:xfrm>
            <a:off x="5815169" y="6012626"/>
            <a:ext cx="1980029" cy="307777"/>
          </a:xfrm>
          <a:prstGeom prst="rect">
            <a:avLst/>
          </a:prstGeom>
          <a:noFill/>
        </p:spPr>
        <p:txBody>
          <a:bodyPr wrap="none" rtlCol="0">
            <a:spAutoFit/>
          </a:bodyPr>
          <a:lstStyle/>
          <a:p>
            <a:pPr algn="ctr"/>
            <a:r>
              <a:rPr kumimoji="1" lang="ja-GB" altLang="en-US" sz="1400" dirty="0"/>
              <a:t>アローダイアグラム</a:t>
            </a:r>
            <a:r>
              <a:rPr kumimoji="1" lang="en-US" altLang="ja-GB" sz="1400" baseline="30000" dirty="0"/>
              <a:t>※</a:t>
            </a:r>
            <a:endParaRPr kumimoji="1" lang="ja-GB" altLang="en-US" sz="1400" baseline="30000" dirty="0"/>
          </a:p>
        </p:txBody>
      </p:sp>
    </p:spTree>
    <p:extLst>
      <p:ext uri="{BB962C8B-B14F-4D97-AF65-F5344CB8AC3E}">
        <p14:creationId xmlns:p14="http://schemas.microsoft.com/office/powerpoint/2010/main" val="1246042897"/>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5A3687-668B-DE27-1BB3-9A2D19222702}"/>
              </a:ext>
            </a:extLst>
          </p:cNvPr>
          <p:cNvSpPr>
            <a:spLocks noGrp="1"/>
          </p:cNvSpPr>
          <p:nvPr>
            <p:ph type="title"/>
          </p:nvPr>
        </p:nvSpPr>
        <p:spPr/>
        <p:txBody>
          <a:bodyPr/>
          <a:lstStyle/>
          <a:p>
            <a:r>
              <a:rPr lang="ja-JP" altLang="en-US"/>
              <a:t>最早結合点時刻（</a:t>
            </a:r>
            <a:r>
              <a:rPr lang="en-US" altLang="ja-JP" dirty="0"/>
              <a:t>ET</a:t>
            </a:r>
            <a:r>
              <a:rPr lang="ja-JP" altLang="en-US"/>
              <a:t>：</a:t>
            </a:r>
            <a:r>
              <a:rPr lang="en-US" altLang="ja-JP" dirty="0"/>
              <a:t>earliest node time</a:t>
            </a:r>
            <a:r>
              <a:rPr lang="ja-JP" altLang="en-US"/>
              <a:t>）</a:t>
            </a:r>
            <a:endParaRPr kumimoji="1" lang="ja-GB" altLang="en-US" dirty="0"/>
          </a:p>
        </p:txBody>
      </p:sp>
      <p:sp>
        <p:nvSpPr>
          <p:cNvPr id="3" name="コンテンツ プレースホルダー 2">
            <a:extLst>
              <a:ext uri="{FF2B5EF4-FFF2-40B4-BE49-F238E27FC236}">
                <a16:creationId xmlns:a16="http://schemas.microsoft.com/office/drawing/2014/main" id="{502609C2-2C73-1435-8650-1BEBB1AAEC2E}"/>
              </a:ext>
            </a:extLst>
          </p:cNvPr>
          <p:cNvSpPr>
            <a:spLocks noGrp="1"/>
          </p:cNvSpPr>
          <p:nvPr>
            <p:ph idx="1"/>
          </p:nvPr>
        </p:nvSpPr>
        <p:spPr/>
        <p:txBody>
          <a:bodyPr/>
          <a:lstStyle/>
          <a:p>
            <a:pPr marL="0" indent="0">
              <a:buNone/>
            </a:pPr>
            <a:r>
              <a:rPr kumimoji="1" lang="ja-GB" altLang="en-US" dirty="0"/>
              <a:t>開始から各結節点（</a:t>
            </a:r>
            <a:r>
              <a:rPr kumimoji="1" lang="en-US" altLang="ja-GB" dirty="0"/>
              <a:t>node</a:t>
            </a:r>
            <a:r>
              <a:rPr kumimoji="1" lang="ja-GB" altLang="en-US" dirty="0"/>
              <a:t>）に到達するまでにかかる時間</a:t>
            </a:r>
            <a:endParaRPr kumimoji="1" lang="en-US" altLang="ja-GB" dirty="0"/>
          </a:p>
          <a:p>
            <a:pPr marL="914400" lvl="1" indent="-457200">
              <a:buFont typeface="+mj-lt"/>
              <a:buAutoNum type="arabicPeriod"/>
            </a:pPr>
            <a:r>
              <a:rPr lang="ja-GB" altLang="en-US" dirty="0"/>
              <a:t>開始地点</a:t>
            </a:r>
            <a:r>
              <a:rPr kumimoji="1" lang="ja-GB" altLang="en-US" dirty="0"/>
              <a:t>の</a:t>
            </a:r>
            <a:r>
              <a:rPr kumimoji="1" lang="en-US" altLang="ja-GB" dirty="0"/>
              <a:t>ET</a:t>
            </a:r>
            <a:r>
              <a:rPr lang="ja-GB" altLang="en-US" dirty="0"/>
              <a:t>を</a:t>
            </a:r>
            <a:r>
              <a:rPr lang="en-US" altLang="ja-GB" dirty="0"/>
              <a:t>0</a:t>
            </a:r>
            <a:r>
              <a:rPr lang="ja-GB" altLang="en-US" dirty="0"/>
              <a:t>に設定</a:t>
            </a:r>
            <a:endParaRPr lang="en-US" altLang="ja-GB" dirty="0"/>
          </a:p>
          <a:p>
            <a:pPr lvl="2"/>
            <a:r>
              <a:rPr kumimoji="1" lang="en-US" altLang="ja-GB" dirty="0">
                <a:solidFill>
                  <a:schemeClr val="tx1">
                    <a:lumMod val="50000"/>
                    <a:lumOff val="50000"/>
                  </a:schemeClr>
                </a:solidFill>
              </a:rPr>
              <a:t>ET</a:t>
            </a:r>
            <a:r>
              <a:rPr kumimoji="1" lang="en-US" altLang="ja-GB" baseline="-25000" dirty="0">
                <a:solidFill>
                  <a:schemeClr val="tx1">
                    <a:lumMod val="50000"/>
                    <a:lumOff val="50000"/>
                  </a:schemeClr>
                </a:solidFill>
              </a:rPr>
              <a:t>1</a:t>
            </a:r>
            <a:r>
              <a:rPr kumimoji="1" lang="ja-GB" altLang="en-US" dirty="0">
                <a:solidFill>
                  <a:schemeClr val="tx1">
                    <a:lumMod val="50000"/>
                    <a:lumOff val="50000"/>
                  </a:schemeClr>
                </a:solidFill>
              </a:rPr>
              <a:t>は</a:t>
            </a:r>
            <a:r>
              <a:rPr kumimoji="1" lang="en-US" altLang="ja-GB" dirty="0">
                <a:solidFill>
                  <a:schemeClr val="tx1">
                    <a:lumMod val="50000"/>
                    <a:lumOff val="50000"/>
                  </a:schemeClr>
                </a:solidFill>
              </a:rPr>
              <a:t>0</a:t>
            </a:r>
          </a:p>
          <a:p>
            <a:pPr lvl="4"/>
            <a:endParaRPr kumimoji="1" lang="en-US" altLang="ja-GB" dirty="0">
              <a:solidFill>
                <a:schemeClr val="tx1">
                  <a:lumMod val="50000"/>
                  <a:lumOff val="50000"/>
                </a:schemeClr>
              </a:solidFill>
            </a:endParaRPr>
          </a:p>
          <a:p>
            <a:pPr marL="914400" lvl="1" indent="-457200">
              <a:buFont typeface="+mj-lt"/>
              <a:buAutoNum type="arabicPeriod"/>
            </a:pPr>
            <a:r>
              <a:rPr kumimoji="1" lang="ja-GB" altLang="en-US" dirty="0"/>
              <a:t>各結合点の</a:t>
            </a:r>
            <a:r>
              <a:rPr kumimoji="1" lang="en-US" altLang="ja-GB" dirty="0"/>
              <a:t>ET</a:t>
            </a:r>
            <a:r>
              <a:rPr kumimoji="1" lang="ja-GB" altLang="en-US" dirty="0"/>
              <a:t>を計算</a:t>
            </a:r>
            <a:endParaRPr kumimoji="1" lang="en-US" altLang="ja-GB" dirty="0"/>
          </a:p>
          <a:p>
            <a:pPr lvl="2"/>
            <a:r>
              <a:rPr kumimoji="1" lang="ja-GB" altLang="en-US" dirty="0">
                <a:solidFill>
                  <a:schemeClr val="tx1">
                    <a:lumMod val="50000"/>
                    <a:lumOff val="50000"/>
                  </a:schemeClr>
                </a:solidFill>
              </a:rPr>
              <a:t>計算手順</a:t>
            </a:r>
            <a:endParaRPr kumimoji="1" lang="en-US" altLang="ja-GB" dirty="0">
              <a:solidFill>
                <a:schemeClr val="tx1">
                  <a:lumMod val="50000"/>
                  <a:lumOff val="50000"/>
                </a:schemeClr>
              </a:solidFill>
            </a:endParaRPr>
          </a:p>
          <a:p>
            <a:pPr lvl="3"/>
            <a:r>
              <a:rPr kumimoji="1" lang="ja-GB" altLang="en-US" dirty="0">
                <a:solidFill>
                  <a:schemeClr val="tx1">
                    <a:lumMod val="50000"/>
                    <a:lumOff val="50000"/>
                  </a:schemeClr>
                </a:solidFill>
              </a:rPr>
              <a:t>終点の</a:t>
            </a:r>
            <a:r>
              <a:rPr kumimoji="1" lang="en-US" altLang="ja-GB" dirty="0">
                <a:solidFill>
                  <a:schemeClr val="tx1">
                    <a:lumMod val="50000"/>
                    <a:lumOff val="50000"/>
                  </a:schemeClr>
                </a:solidFill>
              </a:rPr>
              <a:t>ET = </a:t>
            </a:r>
            <a:r>
              <a:rPr kumimoji="1" lang="ja-GB" altLang="en-US" dirty="0">
                <a:solidFill>
                  <a:schemeClr val="tx1">
                    <a:lumMod val="50000"/>
                    <a:lumOff val="50000"/>
                  </a:schemeClr>
                </a:solidFill>
              </a:rPr>
              <a:t>始点の</a:t>
            </a:r>
            <a:r>
              <a:rPr kumimoji="1" lang="en-US" altLang="ja-GB" dirty="0">
                <a:solidFill>
                  <a:schemeClr val="tx1">
                    <a:lumMod val="50000"/>
                    <a:lumOff val="50000"/>
                  </a:schemeClr>
                </a:solidFill>
              </a:rPr>
              <a:t>ET + </a:t>
            </a:r>
            <a:r>
              <a:rPr lang="ja-GB" altLang="en-US" dirty="0">
                <a:solidFill>
                  <a:schemeClr val="tx1">
                    <a:lumMod val="50000"/>
                    <a:lumOff val="50000"/>
                  </a:schemeClr>
                </a:solidFill>
              </a:rPr>
              <a:t>作業日数</a:t>
            </a:r>
            <a:endParaRPr lang="en-US" altLang="ja-GB" dirty="0">
              <a:solidFill>
                <a:schemeClr val="tx1">
                  <a:lumMod val="50000"/>
                  <a:lumOff val="50000"/>
                </a:schemeClr>
              </a:solidFill>
            </a:endParaRPr>
          </a:p>
          <a:p>
            <a:pPr lvl="3"/>
            <a:r>
              <a:rPr kumimoji="1" lang="ja-GB" altLang="en-US" dirty="0">
                <a:solidFill>
                  <a:schemeClr val="tx1">
                    <a:lumMod val="50000"/>
                    <a:lumOff val="50000"/>
                  </a:schemeClr>
                </a:solidFill>
              </a:rPr>
              <a:t>ただし，複数の経路がある場合は，最も大きい（遅い）値を</a:t>
            </a:r>
            <a:r>
              <a:rPr kumimoji="1" lang="en-US" altLang="ja-GB" dirty="0">
                <a:solidFill>
                  <a:schemeClr val="tx1">
                    <a:lumMod val="50000"/>
                    <a:lumOff val="50000"/>
                  </a:schemeClr>
                </a:solidFill>
              </a:rPr>
              <a:t>ET</a:t>
            </a:r>
            <a:r>
              <a:rPr kumimoji="1" lang="ja-GB" altLang="en-US" dirty="0">
                <a:solidFill>
                  <a:schemeClr val="tx1">
                    <a:lumMod val="50000"/>
                    <a:lumOff val="50000"/>
                  </a:schemeClr>
                </a:solidFill>
              </a:rPr>
              <a:t>とする</a:t>
            </a:r>
            <a:endParaRPr kumimoji="1" lang="en-US" altLang="ja-GB" dirty="0">
              <a:solidFill>
                <a:schemeClr val="tx1">
                  <a:lumMod val="50000"/>
                  <a:lumOff val="50000"/>
                </a:schemeClr>
              </a:solidFill>
            </a:endParaRPr>
          </a:p>
          <a:p>
            <a:pPr lvl="2"/>
            <a:r>
              <a:rPr lang="ja-GB" altLang="en-US" dirty="0">
                <a:solidFill>
                  <a:schemeClr val="tx1">
                    <a:lumMod val="50000"/>
                    <a:lumOff val="50000"/>
                  </a:schemeClr>
                </a:solidFill>
              </a:rPr>
              <a:t>意味：</a:t>
            </a:r>
            <a:r>
              <a:rPr lang="ja-GB" altLang="en-US" dirty="0">
                <a:solidFill>
                  <a:srgbClr val="0070C0"/>
                </a:solidFill>
              </a:rPr>
              <a:t>全作業を終えて結合点への到達が完了</a:t>
            </a:r>
            <a:r>
              <a:rPr lang="ja-GB" altLang="en-US" dirty="0">
                <a:solidFill>
                  <a:schemeClr val="tx1">
                    <a:lumMod val="50000"/>
                    <a:lumOff val="50000"/>
                  </a:schemeClr>
                </a:solidFill>
              </a:rPr>
              <a:t>し，次に進めるようになる時刻</a:t>
            </a:r>
            <a:endParaRPr lang="en-US" altLang="ja-GB" dirty="0">
              <a:solidFill>
                <a:schemeClr val="tx1">
                  <a:lumMod val="50000"/>
                  <a:lumOff val="50000"/>
                </a:schemeClr>
              </a:solidFill>
            </a:endParaRPr>
          </a:p>
          <a:p>
            <a:pPr lvl="4"/>
            <a:endParaRPr kumimoji="1" lang="en-US" altLang="ja-GB" dirty="0">
              <a:solidFill>
                <a:schemeClr val="tx1">
                  <a:lumMod val="50000"/>
                  <a:lumOff val="50000"/>
                </a:schemeClr>
              </a:solidFill>
            </a:endParaRPr>
          </a:p>
        </p:txBody>
      </p:sp>
    </p:spTree>
    <p:extLst>
      <p:ext uri="{BB962C8B-B14F-4D97-AF65-F5344CB8AC3E}">
        <p14:creationId xmlns:p14="http://schemas.microsoft.com/office/powerpoint/2010/main" val="841065002"/>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FC0841-E85D-78A7-E6EB-A9FFCEDE3EA5}"/>
              </a:ext>
            </a:extLst>
          </p:cNvPr>
          <p:cNvSpPr>
            <a:spLocks noGrp="1"/>
          </p:cNvSpPr>
          <p:nvPr>
            <p:ph type="title"/>
          </p:nvPr>
        </p:nvSpPr>
        <p:spPr/>
        <p:txBody>
          <a:bodyPr/>
          <a:lstStyle/>
          <a:p>
            <a:r>
              <a:rPr kumimoji="1" lang="ja-GB" altLang="en-US" dirty="0"/>
              <a:t>数学モデルとしての表現</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BAB6E56-8FC8-96D9-3233-66309DA6BEAB}"/>
                  </a:ext>
                </a:extLst>
              </p:cNvPr>
              <p:cNvSpPr>
                <a:spLocks noGrp="1"/>
              </p:cNvSpPr>
              <p:nvPr>
                <p:ph idx="1"/>
              </p:nvPr>
            </p:nvSpPr>
            <p:spPr/>
            <p:txBody>
              <a:bodyPr/>
              <a:lstStyle/>
              <a:p>
                <a:pPr marL="0" indent="0">
                  <a:buNone/>
                </a:pPr>
                <a:r>
                  <a:rPr kumimoji="1" lang="ja-GB" altLang="en-US" dirty="0"/>
                  <a:t>結合点（</a:t>
                </a:r>
                <a:r>
                  <a:rPr kumimoji="1" lang="en-US" altLang="ja-GB" dirty="0"/>
                  <a:t>node</a:t>
                </a:r>
                <a:r>
                  <a:rPr kumimoji="1" lang="ja-GB" altLang="en-US" dirty="0"/>
                  <a:t>）</a:t>
                </a:r>
                <a:endParaRPr kumimoji="1" lang="en-US" altLang="ja-GB" dirty="0"/>
              </a:p>
              <a:p>
                <a:pPr lvl="1"/>
                <a:r>
                  <a:rPr lang="ja-GB" altLang="en-US" dirty="0"/>
                  <a:t>結合点は番号</a:t>
                </a:r>
                <a14:m>
                  <m:oMath xmlns:m="http://schemas.openxmlformats.org/officeDocument/2006/math">
                    <m:r>
                      <a:rPr lang="en-US" altLang="ja-GB" i="1" dirty="0" smtClean="0">
                        <a:latin typeface="Cambria Math" panose="02040503050406030204" pitchFamily="18" charset="0"/>
                      </a:rPr>
                      <m:t>𝑖</m:t>
                    </m:r>
                  </m:oMath>
                </a14:m>
                <a:r>
                  <a:rPr kumimoji="1" lang="ja-GB" altLang="en-US" dirty="0"/>
                  <a:t>で表記する</a:t>
                </a:r>
                <a:endParaRPr kumimoji="1" lang="en-US" altLang="ja-GB" dirty="0"/>
              </a:p>
              <a:p>
                <a:pPr lvl="1"/>
                <a:endParaRPr kumimoji="1" lang="en-US" altLang="ja-GB" dirty="0"/>
              </a:p>
              <a:p>
                <a:pPr marL="0" indent="0">
                  <a:buNone/>
                </a:pPr>
                <a:r>
                  <a:rPr kumimoji="1" lang="ja-GB" altLang="en-US" dirty="0"/>
                  <a:t>作業（辺，矢印）</a:t>
                </a:r>
                <a:endParaRPr kumimoji="1" lang="en-US" altLang="ja-GB" dirty="0"/>
              </a:p>
              <a:p>
                <a:pPr lvl="1"/>
                <a:r>
                  <a:rPr lang="en-US" altLang="ja-GB" dirty="0"/>
                  <a:t>2</a:t>
                </a:r>
                <a:r>
                  <a:rPr lang="ja-GB" altLang="en-US" dirty="0"/>
                  <a:t>つの結合点</a:t>
                </a:r>
                <a14:m>
                  <m:oMath xmlns:m="http://schemas.openxmlformats.org/officeDocument/2006/math">
                    <m:r>
                      <a:rPr lang="en-US" altLang="ja-GB" i="1" dirty="0" smtClean="0">
                        <a:latin typeface="Cambria Math" panose="02040503050406030204" pitchFamily="18" charset="0"/>
                      </a:rPr>
                      <m:t>𝑖</m:t>
                    </m:r>
                  </m:oMath>
                </a14:m>
                <a:r>
                  <a:rPr lang="ja-GB" altLang="en-US" dirty="0"/>
                  <a:t>と</a:t>
                </a:r>
                <a14:m>
                  <m:oMath xmlns:m="http://schemas.openxmlformats.org/officeDocument/2006/math">
                    <m:r>
                      <a:rPr lang="en-US" altLang="ja-GB" i="1" dirty="0" smtClean="0">
                        <a:latin typeface="Cambria Math" panose="02040503050406030204" pitchFamily="18" charset="0"/>
                      </a:rPr>
                      <m:t>𝑗</m:t>
                    </m:r>
                  </m:oMath>
                </a14:m>
                <a:r>
                  <a:rPr lang="ja-GB" altLang="en-US" dirty="0"/>
                  <a:t>を用いて，作業</a:t>
                </a:r>
                <a14:m>
                  <m:oMath xmlns:m="http://schemas.openxmlformats.org/officeDocument/2006/math">
                    <m:r>
                      <a:rPr lang="en-US" altLang="ja-GB" i="1" dirty="0" smtClean="0">
                        <a:latin typeface="Cambria Math" panose="02040503050406030204" pitchFamily="18" charset="0"/>
                      </a:rPr>
                      <m:t>(</m:t>
                    </m:r>
                    <m:r>
                      <a:rPr lang="en-US" altLang="ja-GB" i="1" dirty="0" err="1">
                        <a:latin typeface="Cambria Math" panose="02040503050406030204" pitchFamily="18" charset="0"/>
                      </a:rPr>
                      <m:t>𝑖</m:t>
                    </m:r>
                    <m:r>
                      <a:rPr lang="en-US" altLang="ja-GB" i="1" dirty="0" err="1" smtClean="0">
                        <a:latin typeface="Cambria Math" panose="02040503050406030204" pitchFamily="18" charset="0"/>
                      </a:rPr>
                      <m:t>,</m:t>
                    </m:r>
                    <m:r>
                      <a:rPr lang="en-US" altLang="ja-GB" i="1" dirty="0" err="1" smtClean="0">
                        <a:latin typeface="Cambria Math" panose="02040503050406030204" pitchFamily="18" charset="0"/>
                      </a:rPr>
                      <m:t>𝑗</m:t>
                    </m:r>
                    <m:r>
                      <a:rPr lang="en-US" altLang="ja-GB" i="1" dirty="0" smtClean="0">
                        <a:latin typeface="Cambria Math" panose="02040503050406030204" pitchFamily="18" charset="0"/>
                      </a:rPr>
                      <m:t>)</m:t>
                    </m:r>
                  </m:oMath>
                </a14:m>
                <a:r>
                  <a:rPr lang="ja-GB" altLang="en-US" dirty="0"/>
                  <a:t>のように表記する</a:t>
                </a:r>
                <a:endParaRPr lang="en-US" altLang="ja-GB" dirty="0"/>
              </a:p>
              <a:p>
                <a:pPr lvl="1"/>
                <a:r>
                  <a:rPr kumimoji="1" lang="ja-GB" altLang="en-US" dirty="0"/>
                  <a:t>作業の所要日数は，</a:t>
                </a:r>
                <a14:m>
                  <m:oMath xmlns:m="http://schemas.openxmlformats.org/officeDocument/2006/math">
                    <m:sSub>
                      <m:sSubPr>
                        <m:ctrlPr>
                          <a:rPr kumimoji="1" lang="en-US" altLang="ja-GB" b="0" i="1" smtClean="0">
                            <a:latin typeface="Cambria Math" panose="02040503050406030204" pitchFamily="18" charset="0"/>
                          </a:rPr>
                        </m:ctrlPr>
                      </m:sSubPr>
                      <m:e>
                        <m:r>
                          <a:rPr kumimoji="1" lang="en-US" altLang="ja-GB" b="0" i="1" smtClean="0">
                            <a:latin typeface="Cambria Math" panose="02040503050406030204" pitchFamily="18" charset="0"/>
                          </a:rPr>
                          <m:t>𝐷</m:t>
                        </m:r>
                      </m:e>
                      <m:sub>
                        <m:r>
                          <a:rPr kumimoji="1" lang="en-US" altLang="ja-GB" b="0" i="1" smtClean="0">
                            <a:latin typeface="Cambria Math" panose="02040503050406030204" pitchFamily="18" charset="0"/>
                          </a:rPr>
                          <m:t>𝑖</m:t>
                        </m:r>
                        <m:r>
                          <a:rPr kumimoji="1" lang="en-US" altLang="ja-GB" b="0" i="1" smtClean="0">
                            <a:latin typeface="Cambria Math" panose="02040503050406030204" pitchFamily="18" charset="0"/>
                          </a:rPr>
                          <m:t>,</m:t>
                        </m:r>
                        <m:r>
                          <a:rPr kumimoji="1" lang="en-US" altLang="ja-GB" b="0" i="1" smtClean="0">
                            <a:latin typeface="Cambria Math" panose="02040503050406030204" pitchFamily="18" charset="0"/>
                          </a:rPr>
                          <m:t>𝑗</m:t>
                        </m:r>
                      </m:sub>
                    </m:sSub>
                  </m:oMath>
                </a14:m>
                <a:r>
                  <a:rPr kumimoji="1" lang="en-US" altLang="ja-GB" dirty="0"/>
                  <a:t> </a:t>
                </a:r>
                <a:r>
                  <a:rPr kumimoji="1" lang="ja-GB" altLang="en-US" dirty="0"/>
                  <a:t>と表記する</a:t>
                </a:r>
                <a:endParaRPr kumimoji="1" lang="en-US" altLang="ja-GB" dirty="0"/>
              </a:p>
              <a:p>
                <a:pPr lvl="1"/>
                <a:endParaRPr lang="en-US" altLang="ja-GB" dirty="0"/>
              </a:p>
              <a:p>
                <a:pPr marL="0" indent="0">
                  <a:buNone/>
                </a:pPr>
                <a:r>
                  <a:rPr lang="ja-JP" altLang="en-US"/>
                  <a:t>最早結合点時刻</a:t>
                </a:r>
                <a:r>
                  <a:rPr lang="ja-JP" altLang="en-GB"/>
                  <a:t>（</a:t>
                </a:r>
                <a:r>
                  <a:rPr lang="en-US" altLang="ja-GB" dirty="0"/>
                  <a:t>ET</a:t>
                </a:r>
                <a:r>
                  <a:rPr lang="ja-GB" altLang="en-US" dirty="0"/>
                  <a:t>：</a:t>
                </a:r>
                <a:r>
                  <a:rPr lang="en-GB" altLang="ja-JP" dirty="0"/>
                  <a:t>earliest node time</a:t>
                </a:r>
                <a:r>
                  <a:rPr lang="ja-JP" altLang="en-GB"/>
                  <a:t>）</a:t>
                </a:r>
                <a:endParaRPr lang="en-US" altLang="ja-JP" dirty="0"/>
              </a:p>
              <a:p>
                <a:pPr lvl="1"/>
                <a14:m>
                  <m:oMath xmlns:m="http://schemas.openxmlformats.org/officeDocument/2006/math">
                    <m:r>
                      <a:rPr kumimoji="1" lang="en-US" altLang="ja-GB" b="0" i="1" smtClean="0">
                        <a:latin typeface="Cambria Math" panose="02040503050406030204" pitchFamily="18" charset="0"/>
                      </a:rPr>
                      <m:t>𝐸</m:t>
                    </m:r>
                    <m:sSub>
                      <m:sSubPr>
                        <m:ctrlPr>
                          <a:rPr kumimoji="1" lang="en-US" altLang="ja-GB" b="0" i="1" smtClean="0">
                            <a:latin typeface="Cambria Math" panose="02040503050406030204" pitchFamily="18" charset="0"/>
                          </a:rPr>
                        </m:ctrlPr>
                      </m:sSubPr>
                      <m:e>
                        <m:r>
                          <a:rPr kumimoji="1" lang="en-US" altLang="ja-GB" b="0" i="1" smtClean="0">
                            <a:latin typeface="Cambria Math" panose="02040503050406030204" pitchFamily="18" charset="0"/>
                          </a:rPr>
                          <m:t>𝑇</m:t>
                        </m:r>
                      </m:e>
                      <m:sub>
                        <m:r>
                          <a:rPr kumimoji="1" lang="en-US" altLang="ja-GB" b="0" i="1" smtClean="0">
                            <a:latin typeface="Cambria Math" panose="02040503050406030204" pitchFamily="18" charset="0"/>
                          </a:rPr>
                          <m:t>𝑖</m:t>
                        </m:r>
                      </m:sub>
                    </m:sSub>
                  </m:oMath>
                </a14:m>
                <a:r>
                  <a:rPr kumimoji="1" lang="ja-GB" altLang="en-US" dirty="0"/>
                  <a:t>と表記する</a:t>
                </a:r>
                <a:endParaRPr kumimoji="1" lang="en-US" altLang="ja-GB" dirty="0"/>
              </a:p>
              <a:p>
                <a:pPr lvl="1"/>
                <a14:m>
                  <m:oMath xmlns:m="http://schemas.openxmlformats.org/officeDocument/2006/math">
                    <m:r>
                      <a:rPr lang="en-US" altLang="ja-GB" b="0" i="1">
                        <a:latin typeface="Cambria Math" panose="02040503050406030204" pitchFamily="18" charset="0"/>
                      </a:rPr>
                      <m:t>𝐸</m:t>
                    </m:r>
                    <m:sSub>
                      <m:sSubPr>
                        <m:ctrlPr>
                          <a:rPr lang="en-US" altLang="ja-GB" b="0" i="1">
                            <a:latin typeface="Cambria Math" panose="02040503050406030204" pitchFamily="18" charset="0"/>
                          </a:rPr>
                        </m:ctrlPr>
                      </m:sSubPr>
                      <m:e>
                        <m:r>
                          <a:rPr lang="en-US" altLang="ja-GB" b="0" i="1">
                            <a:latin typeface="Cambria Math" panose="02040503050406030204" pitchFamily="18" charset="0"/>
                          </a:rPr>
                          <m:t>𝑇</m:t>
                        </m:r>
                      </m:e>
                      <m:sub>
                        <m:r>
                          <a:rPr lang="en-US" altLang="ja-GB" b="0" i="1">
                            <a:latin typeface="Cambria Math" panose="02040503050406030204" pitchFamily="18" charset="0"/>
                          </a:rPr>
                          <m:t>𝑖</m:t>
                        </m:r>
                      </m:sub>
                    </m:sSub>
                  </m:oMath>
                </a14:m>
                <a:r>
                  <a:rPr lang="ja-GB" altLang="en-US" dirty="0"/>
                  <a:t>は，最初の結合点</a:t>
                </a:r>
                <a14:m>
                  <m:oMath xmlns:m="http://schemas.openxmlformats.org/officeDocument/2006/math">
                    <m:r>
                      <a:rPr lang="en-US" altLang="ja-GB" i="1" dirty="0" smtClean="0">
                        <a:latin typeface="Cambria Math" panose="02040503050406030204" pitchFamily="18" charset="0"/>
                      </a:rPr>
                      <m:t>1</m:t>
                    </m:r>
                  </m:oMath>
                </a14:m>
                <a:r>
                  <a:rPr lang="ja-GB" altLang="en-US" dirty="0"/>
                  <a:t>と結合点</a:t>
                </a:r>
                <a14:m>
                  <m:oMath xmlns:m="http://schemas.openxmlformats.org/officeDocument/2006/math">
                    <m:r>
                      <a:rPr lang="en-US" altLang="ja-GB" i="1" dirty="0" smtClean="0">
                        <a:latin typeface="Cambria Math" panose="02040503050406030204" pitchFamily="18" charset="0"/>
                      </a:rPr>
                      <m:t>𝑖</m:t>
                    </m:r>
                  </m:oMath>
                </a14:m>
                <a:r>
                  <a:rPr lang="ja-GB" altLang="en-US" dirty="0"/>
                  <a:t>を結ぶ順方向の合計の最大値である</a:t>
                </a:r>
                <a:endParaRPr lang="en-US" altLang="ja-GB" dirty="0"/>
              </a:p>
              <a:p>
                <a:pPr lvl="1"/>
                <a14:m>
                  <m:oMath xmlns:m="http://schemas.openxmlformats.org/officeDocument/2006/math">
                    <m:r>
                      <a:rPr lang="en-US" altLang="ja-GB" b="0" i="1">
                        <a:latin typeface="Cambria Math" panose="02040503050406030204" pitchFamily="18" charset="0"/>
                      </a:rPr>
                      <m:t>𝐸</m:t>
                    </m:r>
                    <m:sSub>
                      <m:sSubPr>
                        <m:ctrlPr>
                          <a:rPr lang="en-US" altLang="ja-GB" b="0" i="1">
                            <a:latin typeface="Cambria Math" panose="02040503050406030204" pitchFamily="18" charset="0"/>
                          </a:rPr>
                        </m:ctrlPr>
                      </m:sSubPr>
                      <m:e>
                        <m:r>
                          <a:rPr lang="en-US" altLang="ja-GB" b="0" i="1">
                            <a:latin typeface="Cambria Math" panose="02040503050406030204" pitchFamily="18" charset="0"/>
                          </a:rPr>
                          <m:t>𝑇</m:t>
                        </m:r>
                      </m:e>
                      <m:sub>
                        <m:r>
                          <a:rPr lang="en-US" altLang="ja-GB" b="0" i="1">
                            <a:latin typeface="Cambria Math" panose="02040503050406030204" pitchFamily="18" charset="0"/>
                          </a:rPr>
                          <m:t>𝑖</m:t>
                        </m:r>
                      </m:sub>
                    </m:sSub>
                  </m:oMath>
                </a14:m>
                <a:r>
                  <a:rPr lang="ja-GB" altLang="en-US" dirty="0"/>
                  <a:t>の実際の意味は，結合点</a:t>
                </a:r>
                <a14:m>
                  <m:oMath xmlns:m="http://schemas.openxmlformats.org/officeDocument/2006/math">
                    <m:r>
                      <a:rPr lang="en-US" altLang="ja-GB" i="1" dirty="0" smtClean="0">
                        <a:latin typeface="Cambria Math" panose="02040503050406030204" pitchFamily="18" charset="0"/>
                      </a:rPr>
                      <m:t>𝑖</m:t>
                    </m:r>
                  </m:oMath>
                </a14:m>
                <a:r>
                  <a:rPr lang="ja-GB" altLang="en-US" dirty="0"/>
                  <a:t>に達しうる最も早い時刻である</a:t>
                </a:r>
                <a:endParaRPr lang="en-US" altLang="ja-GB" dirty="0"/>
              </a:p>
              <a:p>
                <a:pPr lvl="1"/>
                <a:endParaRPr kumimoji="1" lang="en-US" altLang="ja-GB" dirty="0"/>
              </a:p>
              <a:p>
                <a:pPr marL="0" indent="0">
                  <a:buNone/>
                </a:pPr>
                <a:r>
                  <a:rPr lang="ja-GB" altLang="en-US" dirty="0"/>
                  <a:t>計算方法</a:t>
                </a:r>
                <a:endParaRPr lang="en-US" altLang="ja-GB" dirty="0"/>
              </a:p>
              <a:p>
                <a:pPr lvl="1"/>
                <a14:m>
                  <m:oMath xmlns:m="http://schemas.openxmlformats.org/officeDocument/2006/math">
                    <m:r>
                      <a:rPr kumimoji="1" lang="en-US" altLang="ja-GB" b="0" i="1" smtClean="0">
                        <a:latin typeface="Cambria Math" panose="02040503050406030204" pitchFamily="18" charset="0"/>
                      </a:rPr>
                      <m:t>𝐸</m:t>
                    </m:r>
                    <m:sSub>
                      <m:sSubPr>
                        <m:ctrlPr>
                          <a:rPr kumimoji="1" lang="en-US" altLang="ja-GB" b="0" i="1" smtClean="0">
                            <a:latin typeface="Cambria Math" panose="02040503050406030204" pitchFamily="18" charset="0"/>
                          </a:rPr>
                        </m:ctrlPr>
                      </m:sSubPr>
                      <m:e>
                        <m:r>
                          <a:rPr kumimoji="1" lang="en-US" altLang="ja-GB" b="0" i="1" smtClean="0">
                            <a:latin typeface="Cambria Math" panose="02040503050406030204" pitchFamily="18" charset="0"/>
                          </a:rPr>
                          <m:t>𝑇</m:t>
                        </m:r>
                      </m:e>
                      <m:sub>
                        <m:r>
                          <a:rPr kumimoji="1" lang="en-US" altLang="ja-GB" b="0" i="1" smtClean="0">
                            <a:latin typeface="Cambria Math" panose="02040503050406030204" pitchFamily="18" charset="0"/>
                          </a:rPr>
                          <m:t>1</m:t>
                        </m:r>
                      </m:sub>
                    </m:sSub>
                    <m:r>
                      <a:rPr kumimoji="1" lang="en-US" altLang="ja-GB" b="0" i="1" smtClean="0">
                        <a:latin typeface="Cambria Math" panose="02040503050406030204" pitchFamily="18" charset="0"/>
                      </a:rPr>
                      <m:t>=0</m:t>
                    </m:r>
                  </m:oMath>
                </a14:m>
                <a:endParaRPr kumimoji="1" lang="en-US" altLang="ja-GB" b="0" dirty="0"/>
              </a:p>
              <a:p>
                <a:pPr lvl="1"/>
                <a14:m>
                  <m:oMath xmlns:m="http://schemas.openxmlformats.org/officeDocument/2006/math">
                    <m:r>
                      <a:rPr lang="en-US" altLang="ja-GB" b="0" i="1">
                        <a:latin typeface="Cambria Math" panose="02040503050406030204" pitchFamily="18" charset="0"/>
                      </a:rPr>
                      <m:t>𝐸</m:t>
                    </m:r>
                    <m:sSub>
                      <m:sSubPr>
                        <m:ctrlPr>
                          <a:rPr lang="en-US" altLang="ja-GB" b="0" i="1">
                            <a:latin typeface="Cambria Math" panose="02040503050406030204" pitchFamily="18" charset="0"/>
                          </a:rPr>
                        </m:ctrlPr>
                      </m:sSubPr>
                      <m:e>
                        <m:r>
                          <a:rPr lang="en-US" altLang="ja-GB" b="0" i="1">
                            <a:latin typeface="Cambria Math" panose="02040503050406030204" pitchFamily="18" charset="0"/>
                          </a:rPr>
                          <m:t>𝑇</m:t>
                        </m:r>
                      </m:e>
                      <m:sub>
                        <m:r>
                          <a:rPr lang="en-US" altLang="ja-GB" b="0" i="1" smtClean="0">
                            <a:latin typeface="Cambria Math" panose="02040503050406030204" pitchFamily="18" charset="0"/>
                          </a:rPr>
                          <m:t>𝑘</m:t>
                        </m:r>
                        <m:r>
                          <a:rPr lang="en-US" altLang="ja-GB" b="0" i="1" smtClean="0">
                            <a:latin typeface="Cambria Math" panose="02040503050406030204" pitchFamily="18" charset="0"/>
                          </a:rPr>
                          <m:t>+1</m:t>
                        </m:r>
                      </m:sub>
                    </m:sSub>
                    <m:r>
                      <a:rPr lang="en-US" altLang="ja-GB" b="0" i="1">
                        <a:latin typeface="Cambria Math" panose="02040503050406030204" pitchFamily="18" charset="0"/>
                      </a:rPr>
                      <m:t>=</m:t>
                    </m:r>
                    <m:limLow>
                      <m:limLowPr>
                        <m:ctrlPr>
                          <a:rPr lang="en-US" altLang="ja-GB" b="0" i="1" smtClean="0">
                            <a:latin typeface="Cambria Math" panose="02040503050406030204" pitchFamily="18" charset="0"/>
                          </a:rPr>
                        </m:ctrlPr>
                      </m:limLowPr>
                      <m:e>
                        <m:r>
                          <m:rPr>
                            <m:sty m:val="p"/>
                          </m:rPr>
                          <a:rPr lang="en-US" altLang="ja-GB" b="0" i="0" smtClean="0">
                            <a:latin typeface="Cambria Math" panose="02040503050406030204" pitchFamily="18" charset="0"/>
                          </a:rPr>
                          <m:t>max</m:t>
                        </m:r>
                      </m:e>
                      <m:lim>
                        <m:r>
                          <a:rPr lang="en-US" altLang="ja-GB" b="0" i="1" smtClean="0">
                            <a:latin typeface="Cambria Math" panose="02040503050406030204" pitchFamily="18" charset="0"/>
                          </a:rPr>
                          <m:t>𝑘</m:t>
                        </m:r>
                      </m:lim>
                    </m:limLow>
                    <m:d>
                      <m:dPr>
                        <m:ctrlPr>
                          <a:rPr lang="en-US" altLang="ja-GB" b="0" i="1" smtClean="0">
                            <a:latin typeface="Cambria Math" panose="02040503050406030204" pitchFamily="18" charset="0"/>
                          </a:rPr>
                        </m:ctrlPr>
                      </m:dPr>
                      <m:e>
                        <m:r>
                          <a:rPr lang="en-US" altLang="ja-GB" b="0" i="1" smtClean="0">
                            <a:latin typeface="Cambria Math" panose="02040503050406030204" pitchFamily="18" charset="0"/>
                          </a:rPr>
                          <m:t>𝐸</m:t>
                        </m:r>
                        <m:sSub>
                          <m:sSubPr>
                            <m:ctrlPr>
                              <a:rPr lang="en-US" altLang="ja-GB" b="0" i="1" smtClean="0">
                                <a:latin typeface="Cambria Math" panose="02040503050406030204" pitchFamily="18" charset="0"/>
                              </a:rPr>
                            </m:ctrlPr>
                          </m:sSubPr>
                          <m:e>
                            <m:r>
                              <a:rPr lang="en-US" altLang="ja-GB" b="0" i="1" smtClean="0">
                                <a:latin typeface="Cambria Math" panose="02040503050406030204" pitchFamily="18" charset="0"/>
                              </a:rPr>
                              <m:t>𝑇</m:t>
                            </m:r>
                          </m:e>
                          <m:sub>
                            <m:r>
                              <a:rPr lang="en-US" altLang="ja-GB" b="0" i="1" smtClean="0">
                                <a:latin typeface="Cambria Math" panose="02040503050406030204" pitchFamily="18" charset="0"/>
                              </a:rPr>
                              <m:t>𝑘</m:t>
                            </m:r>
                          </m:sub>
                        </m:sSub>
                      </m:e>
                    </m:d>
                    <m:r>
                      <a:rPr lang="en-US" altLang="ja-GB" b="0" i="1" smtClean="0">
                        <a:latin typeface="Cambria Math" panose="02040503050406030204" pitchFamily="18" charset="0"/>
                      </a:rPr>
                      <m:t>    </m:t>
                    </m:r>
                    <m:r>
                      <a:rPr lang="en-US" altLang="ja-GB" b="0" i="1" smtClean="0">
                        <a:latin typeface="Cambria Math" panose="02040503050406030204" pitchFamily="18" charset="0"/>
                      </a:rPr>
                      <m:t>𝑘</m:t>
                    </m:r>
                    <m:r>
                      <a:rPr lang="en-US" altLang="ja-GB" b="0" i="1" smtClean="0">
                        <a:latin typeface="Cambria Math" panose="02040503050406030204" pitchFamily="18" charset="0"/>
                      </a:rPr>
                      <m:t>=1,2,…, </m:t>
                    </m:r>
                    <m:r>
                      <a:rPr lang="en-US" altLang="ja-GB" b="0" i="1" smtClean="0">
                        <a:latin typeface="Cambria Math" panose="02040503050406030204" pitchFamily="18" charset="0"/>
                      </a:rPr>
                      <m:t>𝑛</m:t>
                    </m:r>
                    <m:r>
                      <a:rPr lang="en-US" altLang="ja-GB" b="0" i="1" smtClean="0">
                        <a:latin typeface="Cambria Math" panose="02040503050406030204" pitchFamily="18" charset="0"/>
                      </a:rPr>
                      <m:t>−1</m:t>
                    </m:r>
                  </m:oMath>
                </a14:m>
                <a:endParaRPr kumimoji="1" lang="ja-GB" altLang="en-US" b="0" dirty="0"/>
              </a:p>
            </p:txBody>
          </p:sp>
        </mc:Choice>
        <mc:Fallback xmlns="">
          <p:sp>
            <p:nvSpPr>
              <p:cNvPr id="3" name="コンテンツ プレースホルダー 2">
                <a:extLst>
                  <a:ext uri="{FF2B5EF4-FFF2-40B4-BE49-F238E27FC236}">
                    <a16:creationId xmlns:a16="http://schemas.microsoft.com/office/drawing/2014/main" id="{7BAB6E56-8FC8-96D9-3233-66309DA6BEAB}"/>
                  </a:ext>
                </a:extLst>
              </p:cNvPr>
              <p:cNvSpPr>
                <a:spLocks noGrp="1" noRot="1" noChangeAspect="1" noMove="1" noResize="1" noEditPoints="1" noAdjustHandles="1" noChangeArrowheads="1" noChangeShapeType="1" noTextEdit="1"/>
              </p:cNvSpPr>
              <p:nvPr>
                <p:ph idx="1"/>
              </p:nvPr>
            </p:nvSpPr>
            <p:spPr>
              <a:blipFill>
                <a:blip r:embed="rId2"/>
                <a:stretch>
                  <a:fillRect l="-1042" t="-1480"/>
                </a:stretch>
              </a:blipFill>
            </p:spPr>
            <p:txBody>
              <a:bodyPr/>
              <a:lstStyle/>
              <a:p>
                <a:r>
                  <a:rPr lang="ja-GB" altLang="en-US">
                    <a:noFill/>
                  </a:rPr>
                  <a:t> </a:t>
                </a:r>
              </a:p>
            </p:txBody>
          </p:sp>
        </mc:Fallback>
      </mc:AlternateContent>
    </p:spTree>
    <p:extLst>
      <p:ext uri="{BB962C8B-B14F-4D97-AF65-F5344CB8AC3E}">
        <p14:creationId xmlns:p14="http://schemas.microsoft.com/office/powerpoint/2010/main" val="2784810375"/>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B6EBE6-1D95-55BC-F75B-B52BD774157F}"/>
              </a:ext>
            </a:extLst>
          </p:cNvPr>
          <p:cNvSpPr>
            <a:spLocks noGrp="1"/>
          </p:cNvSpPr>
          <p:nvPr>
            <p:ph type="title"/>
          </p:nvPr>
        </p:nvSpPr>
        <p:spPr/>
        <p:txBody>
          <a:bodyPr/>
          <a:lstStyle/>
          <a:p>
            <a:r>
              <a:rPr kumimoji="1" lang="ja-GB" altLang="en-US" dirty="0"/>
              <a:t>書籍案内</a:t>
            </a:r>
          </a:p>
        </p:txBody>
      </p:sp>
      <p:sp>
        <p:nvSpPr>
          <p:cNvPr id="3" name="コンテンツ プレースホルダー 2">
            <a:extLst>
              <a:ext uri="{FF2B5EF4-FFF2-40B4-BE49-F238E27FC236}">
                <a16:creationId xmlns:a16="http://schemas.microsoft.com/office/drawing/2014/main" id="{04A35A9E-CA2B-D806-725F-02A019902431}"/>
              </a:ext>
            </a:extLst>
          </p:cNvPr>
          <p:cNvSpPr>
            <a:spLocks noGrp="1"/>
          </p:cNvSpPr>
          <p:nvPr>
            <p:ph idx="1"/>
          </p:nvPr>
        </p:nvSpPr>
        <p:spPr/>
        <p:txBody>
          <a:bodyPr/>
          <a:lstStyle/>
          <a:p>
            <a:pPr marL="0" indent="0">
              <a:buNone/>
            </a:pPr>
            <a:r>
              <a:rPr kumimoji="1" lang="ja-GB" altLang="en-US" sz="2000" dirty="0"/>
              <a:t>書籍：</a:t>
            </a:r>
            <a:r>
              <a:rPr kumimoji="1" lang="en-US" altLang="ja-GB" sz="2000" dirty="0"/>
              <a:t>『</a:t>
            </a:r>
            <a:r>
              <a:rPr kumimoji="1" lang="ja-GB" altLang="en-US" sz="2000" dirty="0"/>
              <a:t>計算論的思考ってなに？</a:t>
            </a:r>
            <a:r>
              <a:rPr kumimoji="1" lang="en-US" altLang="ja-GB" sz="2000" dirty="0"/>
              <a:t>』</a:t>
            </a:r>
          </a:p>
          <a:p>
            <a:pPr lvl="1"/>
            <a:r>
              <a:rPr lang="ja-GB" altLang="en-US" sz="1800" dirty="0"/>
              <a:t>近代科学社（</a:t>
            </a:r>
            <a:r>
              <a:rPr lang="en-US" altLang="ja-GB" sz="1800" dirty="0"/>
              <a:t>2022</a:t>
            </a:r>
            <a:r>
              <a:rPr lang="ja-GB" altLang="en-US" sz="1800" dirty="0"/>
              <a:t>），</a:t>
            </a:r>
            <a:r>
              <a:rPr lang="ja-JP" altLang="en-US" sz="1800"/>
              <a:t> 中島 秀之，</a:t>
            </a:r>
            <a:r>
              <a:rPr lang="en-US" altLang="ja-JP" sz="1800" dirty="0"/>
              <a:t>2200</a:t>
            </a:r>
            <a:r>
              <a:rPr lang="ja-GB" altLang="en-US" sz="1800" dirty="0"/>
              <a:t>円</a:t>
            </a:r>
            <a:r>
              <a:rPr lang="en-US" altLang="ja-GB" sz="1800" dirty="0"/>
              <a:t>+</a:t>
            </a:r>
            <a:r>
              <a:rPr lang="ja-GB" altLang="en-US" sz="1800" dirty="0"/>
              <a:t>税</a:t>
            </a:r>
            <a:endParaRPr kumimoji="1" lang="en-US" altLang="ja-GB" sz="1800" dirty="0"/>
          </a:p>
          <a:p>
            <a:pPr lvl="1"/>
            <a:endParaRPr kumimoji="1" lang="en-US" altLang="ja-GB" sz="1800" dirty="0"/>
          </a:p>
          <a:p>
            <a:pPr marL="0" indent="0">
              <a:buNone/>
            </a:pPr>
            <a:r>
              <a:rPr lang="en-US" altLang="ja-GB" sz="2000" dirty="0"/>
              <a:t>PDF</a:t>
            </a:r>
            <a:r>
              <a:rPr lang="ja-GB" altLang="en-US" sz="2000" dirty="0"/>
              <a:t>：</a:t>
            </a:r>
            <a:r>
              <a:rPr lang="en-US" altLang="ja-GB" sz="2000" dirty="0"/>
              <a:t>Computational Thinking - </a:t>
            </a:r>
            <a:r>
              <a:rPr lang="ja-JP" altLang="en-US" sz="2000"/>
              <a:t>計算論的思考</a:t>
            </a:r>
            <a:endParaRPr lang="en-US" altLang="ja-JP" sz="2000" dirty="0"/>
          </a:p>
          <a:p>
            <a:pPr lvl="1"/>
            <a:r>
              <a:rPr lang="en-GB" altLang="ja-JP" sz="1600" dirty="0"/>
              <a:t>Jeannette M. Wing</a:t>
            </a:r>
            <a:r>
              <a:rPr lang="ja-JP" altLang="en-GB" sz="1600"/>
              <a:t>（</a:t>
            </a:r>
            <a:r>
              <a:rPr lang="en-GB" altLang="ja-JP" sz="1600" dirty="0"/>
              <a:t>Microsoft Research and Carnegie Mellon University</a:t>
            </a:r>
            <a:r>
              <a:rPr lang="ja-JP" altLang="en-GB" sz="1600"/>
              <a:t>）</a:t>
            </a:r>
            <a:endParaRPr lang="en-US" altLang="ja-JP" sz="1600" dirty="0"/>
          </a:p>
          <a:p>
            <a:pPr lvl="1"/>
            <a:r>
              <a:rPr lang="ja-JP" altLang="en-US" sz="1600"/>
              <a:t>翻訳：中島秀之 （公立はこだて未来大学）</a:t>
            </a:r>
            <a:endParaRPr lang="en-US" altLang="ja-JP" sz="1600" dirty="0"/>
          </a:p>
          <a:p>
            <a:pPr lvl="1"/>
            <a:r>
              <a:rPr lang="ja-JP" altLang="en-US" sz="1600"/>
              <a:t>情報処理 </a:t>
            </a:r>
            <a:r>
              <a:rPr lang="en-GB" altLang="ja-JP" sz="1600" dirty="0"/>
              <a:t>Vol.56 No.6 June 2015</a:t>
            </a:r>
            <a:endParaRPr lang="en-US" altLang="ja-GB" sz="1600" dirty="0">
              <a:solidFill>
                <a:srgbClr val="0563C1"/>
              </a:solidFill>
              <a:hlinkClick r:id="rId2">
                <a:extLst>
                  <a:ext uri="{A12FA001-AC4F-418D-AE19-62706E023703}">
                    <ahyp:hlinkClr xmlns:ahyp="http://schemas.microsoft.com/office/drawing/2018/hyperlinkcolor" val="tx"/>
                  </a:ext>
                </a:extLst>
              </a:hlinkClick>
            </a:endParaRPr>
          </a:p>
          <a:p>
            <a:pPr lvl="1"/>
            <a:r>
              <a:rPr lang="en-US" altLang="ja-GB" sz="1600" dirty="0">
                <a:solidFill>
                  <a:schemeClr val="tx1">
                    <a:lumMod val="50000"/>
                    <a:lumOff val="50000"/>
                  </a:schemeClr>
                </a:solidFill>
                <a:hlinkClick r:id="rId2">
                  <a:extLst>
                    <a:ext uri="{A12FA001-AC4F-418D-AE19-62706E023703}">
                      <ahyp:hlinkClr xmlns:ahyp="http://schemas.microsoft.com/office/drawing/2018/hyperlinkcolor" val="tx"/>
                    </a:ext>
                  </a:extLst>
                </a:hlinkClick>
              </a:rPr>
              <a:t>https://www.cs.cmu.edu/afs/cs/usr/wing/www/ct-japanese.pdf</a:t>
            </a:r>
            <a:r>
              <a:rPr lang="en-US" altLang="ja-GB" sz="1600" dirty="0"/>
              <a:t> </a:t>
            </a:r>
            <a:r>
              <a:rPr lang="en-US" altLang="ja-JP" sz="1600" dirty="0"/>
              <a:t>2025/07/10</a:t>
            </a:r>
            <a:r>
              <a:rPr lang="ja-GB" altLang="en-US" sz="1600" dirty="0"/>
              <a:t>アクセス</a:t>
            </a:r>
            <a:endParaRPr lang="en-US" altLang="ja-GB" sz="1600" dirty="0"/>
          </a:p>
          <a:p>
            <a:pPr lvl="1"/>
            <a:endParaRPr kumimoji="1" lang="en-US" altLang="ja-GB" dirty="0"/>
          </a:p>
          <a:p>
            <a:pPr marL="0" indent="0">
              <a:buNone/>
            </a:pPr>
            <a:r>
              <a:rPr kumimoji="1" lang="ja-GB" altLang="en-US" sz="2000" dirty="0"/>
              <a:t>書籍：</a:t>
            </a:r>
            <a:r>
              <a:rPr kumimoji="1" lang="en-US" altLang="ja-GB" sz="2000" dirty="0"/>
              <a:t>『</a:t>
            </a:r>
            <a:r>
              <a:rPr kumimoji="1" lang="ja-GB" altLang="en-US" sz="2000" dirty="0"/>
              <a:t>演習形式で学ぶオペレーションズ・リサーチ</a:t>
            </a:r>
            <a:r>
              <a:rPr kumimoji="1" lang="en-US" altLang="ja-GB" sz="2000" dirty="0"/>
              <a:t>』</a:t>
            </a:r>
          </a:p>
          <a:p>
            <a:pPr lvl="1"/>
            <a:r>
              <a:rPr lang="ja-GB" altLang="en-US" sz="1800" dirty="0"/>
              <a:t>共立出版（</a:t>
            </a:r>
            <a:r>
              <a:rPr lang="en-US" altLang="ja-GB" sz="1800" dirty="0"/>
              <a:t>2008</a:t>
            </a:r>
            <a:r>
              <a:rPr lang="ja-GB" altLang="en-US" sz="1800" dirty="0"/>
              <a:t>），</a:t>
            </a:r>
            <a:r>
              <a:rPr lang="ja-JP" altLang="en-US" sz="1800"/>
              <a:t> 宮地 功，</a:t>
            </a:r>
            <a:r>
              <a:rPr lang="en-US" altLang="ja-JP" sz="1800" dirty="0"/>
              <a:t>2,300</a:t>
            </a:r>
            <a:r>
              <a:rPr lang="ja-GB" altLang="en-US" sz="1800" dirty="0"/>
              <a:t>円</a:t>
            </a:r>
            <a:r>
              <a:rPr lang="en-US" altLang="ja-GB" sz="1800" dirty="0"/>
              <a:t>+</a:t>
            </a:r>
            <a:r>
              <a:rPr lang="ja-GB" altLang="en-US" sz="1800" dirty="0"/>
              <a:t>税</a:t>
            </a:r>
            <a:endParaRPr lang="en-US" altLang="ja-GB" sz="1800" dirty="0"/>
          </a:p>
          <a:p>
            <a:pPr lvl="1"/>
            <a:endParaRPr kumimoji="1" lang="en-US" altLang="ja-GB" sz="1800" dirty="0"/>
          </a:p>
          <a:p>
            <a:pPr marL="0" indent="0">
              <a:buNone/>
            </a:pPr>
            <a:r>
              <a:rPr lang="ja-GB" altLang="en-US" sz="2000" dirty="0"/>
              <a:t>書籍：</a:t>
            </a:r>
            <a:r>
              <a:rPr lang="en-US" altLang="ja-GB" sz="2000" dirty="0"/>
              <a:t>『</a:t>
            </a:r>
            <a:r>
              <a:rPr lang="ja-GB" altLang="en-US" sz="2000" dirty="0"/>
              <a:t>初等</a:t>
            </a:r>
            <a:r>
              <a:rPr lang="en-US" altLang="ja-GB" sz="2000" dirty="0"/>
              <a:t> </a:t>
            </a:r>
            <a:r>
              <a:rPr lang="ja-GB" altLang="en-US" sz="2000" dirty="0"/>
              <a:t>オペレーションズ・リサーチ</a:t>
            </a:r>
            <a:r>
              <a:rPr lang="en-US" altLang="ja-GB" sz="2000" dirty="0"/>
              <a:t>』</a:t>
            </a:r>
          </a:p>
          <a:p>
            <a:pPr lvl="1"/>
            <a:r>
              <a:rPr lang="ja-GB" altLang="en-US" sz="1800" dirty="0"/>
              <a:t>コロナ社（</a:t>
            </a:r>
            <a:r>
              <a:rPr lang="en-US" altLang="ja-GB" sz="1800" dirty="0"/>
              <a:t>2008</a:t>
            </a:r>
            <a:r>
              <a:rPr lang="ja-GB" altLang="en-US" sz="1800" dirty="0"/>
              <a:t>），</a:t>
            </a:r>
            <a:r>
              <a:rPr lang="ja-JP" altLang="en-US" sz="1800"/>
              <a:t> 小田中 敏男，正道寺 勉，</a:t>
            </a:r>
            <a:r>
              <a:rPr lang="en-US" altLang="ja-JP" sz="1800" dirty="0"/>
              <a:t>3,300</a:t>
            </a:r>
            <a:r>
              <a:rPr lang="ja-GB" altLang="en-US" sz="1800" dirty="0"/>
              <a:t>円</a:t>
            </a:r>
            <a:r>
              <a:rPr lang="en-US" altLang="ja-GB" sz="1800" dirty="0"/>
              <a:t>+</a:t>
            </a:r>
            <a:r>
              <a:rPr lang="ja-GB" altLang="en-US" sz="1800" dirty="0"/>
              <a:t>税</a:t>
            </a:r>
            <a:endParaRPr kumimoji="1" lang="ja-GB" altLang="en-US" sz="1800" dirty="0"/>
          </a:p>
        </p:txBody>
      </p:sp>
    </p:spTree>
    <p:extLst>
      <p:ext uri="{BB962C8B-B14F-4D97-AF65-F5344CB8AC3E}">
        <p14:creationId xmlns:p14="http://schemas.microsoft.com/office/powerpoint/2010/main" val="2596356701"/>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F795E-C8E5-B52A-6A25-65C8EBB259ED}"/>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60400A89-A70E-5CCB-A221-869E022232A9}"/>
              </a:ext>
            </a:extLst>
          </p:cNvPr>
          <p:cNvSpPr/>
          <p:nvPr/>
        </p:nvSpPr>
        <p:spPr>
          <a:xfrm>
            <a:off x="0" y="1"/>
            <a:ext cx="9144000" cy="440463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sp>
        <p:nvSpPr>
          <p:cNvPr id="5" name="タイトル 1">
            <a:extLst>
              <a:ext uri="{FF2B5EF4-FFF2-40B4-BE49-F238E27FC236}">
                <a16:creationId xmlns:a16="http://schemas.microsoft.com/office/drawing/2014/main" id="{985ADD55-7D2D-AA62-E83B-1FC6A47B3750}"/>
              </a:ext>
            </a:extLst>
          </p:cNvPr>
          <p:cNvSpPr>
            <a:spLocks noGrp="1"/>
          </p:cNvSpPr>
          <p:nvPr>
            <p:ph type="ctrTitle"/>
          </p:nvPr>
        </p:nvSpPr>
        <p:spPr>
          <a:xfrm>
            <a:off x="342901" y="1666380"/>
            <a:ext cx="8458198" cy="2738260"/>
          </a:xfrm>
        </p:spPr>
        <p:txBody>
          <a:bodyPr anchor="b">
            <a:normAutofit/>
          </a:bodyPr>
          <a:lstStyle/>
          <a:p>
            <a:pPr algn="l">
              <a:lnSpc>
                <a:spcPct val="100000"/>
              </a:lnSpc>
            </a:pPr>
            <a:r>
              <a:rPr kumimoji="1" lang="en-US" altLang="ja-JP" sz="3200" dirty="0">
                <a:solidFill>
                  <a:schemeClr val="bg1"/>
                </a:solidFill>
              </a:rPr>
              <a:t>2025</a:t>
            </a:r>
            <a:r>
              <a:rPr kumimoji="1" lang="ja-JP" altLang="en-US" sz="3200">
                <a:solidFill>
                  <a:schemeClr val="bg1"/>
                </a:solidFill>
              </a:rPr>
              <a:t>年度</a:t>
            </a:r>
            <a:r>
              <a:rPr lang="en-US" altLang="ja-JP" sz="3200" dirty="0">
                <a:solidFill>
                  <a:schemeClr val="bg1"/>
                </a:solidFill>
              </a:rPr>
              <a:t> </a:t>
            </a:r>
            <a:r>
              <a:rPr kumimoji="1" lang="ja-JP" altLang="en-US" sz="3200">
                <a:solidFill>
                  <a:schemeClr val="bg1"/>
                </a:solidFill>
              </a:rPr>
              <a:t>コンピュータシステム</a:t>
            </a:r>
            <a:br>
              <a:rPr lang="en-US" altLang="ja-JP" sz="3200" dirty="0">
                <a:solidFill>
                  <a:schemeClr val="bg1"/>
                </a:solidFill>
              </a:rPr>
            </a:br>
            <a:r>
              <a:rPr kumimoji="1" lang="ja-GB" altLang="en-US" sz="3200" dirty="0">
                <a:solidFill>
                  <a:schemeClr val="bg1"/>
                </a:solidFill>
              </a:rPr>
              <a:t>第</a:t>
            </a:r>
            <a:r>
              <a:rPr lang="en-US" altLang="ja-GB" sz="3200" dirty="0"/>
              <a:t>14</a:t>
            </a:r>
            <a:r>
              <a:rPr kumimoji="1" lang="ja-GB" altLang="en-US" sz="3200" dirty="0">
                <a:solidFill>
                  <a:schemeClr val="bg1"/>
                </a:solidFill>
              </a:rPr>
              <a:t>回：問題解決のためのモデル（決定表）</a:t>
            </a:r>
            <a:br>
              <a:rPr kumimoji="1" lang="en-US" altLang="ja-JP" sz="2400" dirty="0">
                <a:solidFill>
                  <a:schemeClr val="bg1"/>
                </a:solidFill>
              </a:rPr>
            </a:br>
            <a:endParaRPr kumimoji="1" lang="ja-JP" altLang="en-US" sz="2400">
              <a:solidFill>
                <a:schemeClr val="bg1"/>
              </a:solidFill>
            </a:endParaRPr>
          </a:p>
        </p:txBody>
      </p:sp>
    </p:spTree>
    <p:extLst>
      <p:ext uri="{BB962C8B-B14F-4D97-AF65-F5344CB8AC3E}">
        <p14:creationId xmlns:p14="http://schemas.microsoft.com/office/powerpoint/2010/main" val="3332730581"/>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B6EBE6-1D95-55BC-F75B-B52BD774157F}"/>
              </a:ext>
            </a:extLst>
          </p:cNvPr>
          <p:cNvSpPr>
            <a:spLocks noGrp="1"/>
          </p:cNvSpPr>
          <p:nvPr>
            <p:ph type="title"/>
          </p:nvPr>
        </p:nvSpPr>
        <p:spPr/>
        <p:txBody>
          <a:bodyPr/>
          <a:lstStyle/>
          <a:p>
            <a:r>
              <a:rPr kumimoji="1" lang="ja-GB" altLang="en-US" dirty="0"/>
              <a:t>書籍案内</a:t>
            </a:r>
          </a:p>
        </p:txBody>
      </p:sp>
      <p:sp>
        <p:nvSpPr>
          <p:cNvPr id="3" name="コンテンツ プレースホルダー 2">
            <a:extLst>
              <a:ext uri="{FF2B5EF4-FFF2-40B4-BE49-F238E27FC236}">
                <a16:creationId xmlns:a16="http://schemas.microsoft.com/office/drawing/2014/main" id="{04A35A9E-CA2B-D806-725F-02A019902431}"/>
              </a:ext>
            </a:extLst>
          </p:cNvPr>
          <p:cNvSpPr>
            <a:spLocks noGrp="1"/>
          </p:cNvSpPr>
          <p:nvPr>
            <p:ph idx="1"/>
          </p:nvPr>
        </p:nvSpPr>
        <p:spPr/>
        <p:txBody>
          <a:bodyPr/>
          <a:lstStyle/>
          <a:p>
            <a:pPr marL="0" indent="0">
              <a:buNone/>
            </a:pPr>
            <a:r>
              <a:rPr kumimoji="1" lang="ja-GB" altLang="en-US" sz="2000" dirty="0"/>
              <a:t>書籍：</a:t>
            </a:r>
            <a:r>
              <a:rPr kumimoji="1" lang="en-US" altLang="ja-GB" sz="2000" dirty="0"/>
              <a:t>『</a:t>
            </a:r>
            <a:r>
              <a:rPr kumimoji="1" lang="ja-GB" altLang="en-US" sz="2000" dirty="0"/>
              <a:t>演習形式で学ぶオペレーションズ・リサーチ</a:t>
            </a:r>
            <a:r>
              <a:rPr kumimoji="1" lang="en-US" altLang="ja-GB" sz="2000" dirty="0"/>
              <a:t>』</a:t>
            </a:r>
          </a:p>
          <a:p>
            <a:pPr lvl="1"/>
            <a:r>
              <a:rPr lang="ja-GB" altLang="en-US" sz="1800" dirty="0"/>
              <a:t>共立出版（</a:t>
            </a:r>
            <a:r>
              <a:rPr lang="en-US" altLang="ja-GB" sz="1800" dirty="0"/>
              <a:t>2008</a:t>
            </a:r>
            <a:r>
              <a:rPr lang="ja-GB" altLang="en-US" sz="1800" dirty="0"/>
              <a:t>），</a:t>
            </a:r>
            <a:r>
              <a:rPr lang="ja-JP" altLang="en-US" sz="1800"/>
              <a:t> 宮地 功，</a:t>
            </a:r>
            <a:r>
              <a:rPr lang="en-US" altLang="ja-JP" sz="1800" dirty="0"/>
              <a:t>2,300</a:t>
            </a:r>
            <a:r>
              <a:rPr lang="ja-GB" altLang="en-US" sz="1800" dirty="0"/>
              <a:t>円</a:t>
            </a:r>
            <a:r>
              <a:rPr lang="en-US" altLang="ja-GB" sz="1800" dirty="0"/>
              <a:t>+</a:t>
            </a:r>
            <a:r>
              <a:rPr lang="ja-GB" altLang="en-US" sz="1800" dirty="0"/>
              <a:t>税</a:t>
            </a:r>
            <a:endParaRPr lang="en-US" altLang="ja-GB" sz="1800" dirty="0"/>
          </a:p>
          <a:p>
            <a:pPr lvl="1"/>
            <a:endParaRPr kumimoji="1" lang="en-US" altLang="ja-GB" sz="1800" dirty="0"/>
          </a:p>
          <a:p>
            <a:pPr marL="0" indent="0">
              <a:buNone/>
            </a:pPr>
            <a:r>
              <a:rPr lang="ja-GB" altLang="en-US" sz="2000" dirty="0"/>
              <a:t>書籍：</a:t>
            </a:r>
            <a:r>
              <a:rPr lang="en-US" altLang="ja-GB" sz="2000" dirty="0"/>
              <a:t>『</a:t>
            </a:r>
            <a:r>
              <a:rPr lang="ja-GB" altLang="en-US" sz="2000" dirty="0"/>
              <a:t>初等</a:t>
            </a:r>
            <a:r>
              <a:rPr lang="en-US" altLang="ja-GB" sz="2000" dirty="0"/>
              <a:t> </a:t>
            </a:r>
            <a:r>
              <a:rPr lang="ja-GB" altLang="en-US" sz="2000" dirty="0"/>
              <a:t>オペレーションズ・リサーチ</a:t>
            </a:r>
            <a:r>
              <a:rPr lang="en-US" altLang="ja-GB" sz="2000" dirty="0"/>
              <a:t>』</a:t>
            </a:r>
          </a:p>
          <a:p>
            <a:pPr lvl="1"/>
            <a:r>
              <a:rPr lang="ja-GB" altLang="en-US" sz="1800" dirty="0"/>
              <a:t>コロナ社（</a:t>
            </a:r>
            <a:r>
              <a:rPr lang="en-US" altLang="ja-GB" sz="1800" dirty="0"/>
              <a:t>2008</a:t>
            </a:r>
            <a:r>
              <a:rPr lang="ja-GB" altLang="en-US" sz="1800" dirty="0"/>
              <a:t>），</a:t>
            </a:r>
            <a:r>
              <a:rPr lang="ja-JP" altLang="en-US" sz="1800"/>
              <a:t> 小田中 敏男，正道寺 勉，</a:t>
            </a:r>
            <a:r>
              <a:rPr lang="en-US" altLang="ja-JP" sz="1800" dirty="0"/>
              <a:t>3,300</a:t>
            </a:r>
            <a:r>
              <a:rPr lang="ja-GB" altLang="en-US" sz="1800" dirty="0"/>
              <a:t>円</a:t>
            </a:r>
            <a:r>
              <a:rPr lang="en-US" altLang="ja-GB" sz="1800" dirty="0"/>
              <a:t>+</a:t>
            </a:r>
            <a:r>
              <a:rPr lang="ja-GB" altLang="en-US" sz="1800" dirty="0"/>
              <a:t>税</a:t>
            </a:r>
            <a:endParaRPr lang="en-US" altLang="ja-GB" sz="1800" dirty="0"/>
          </a:p>
          <a:p>
            <a:pPr lvl="1"/>
            <a:endParaRPr lang="en-US" altLang="ja-GB" sz="1800" dirty="0"/>
          </a:p>
          <a:p>
            <a:pPr marL="0" indent="0">
              <a:buNone/>
            </a:pPr>
            <a:r>
              <a:rPr lang="ja-GB" altLang="en-US" sz="2000" dirty="0"/>
              <a:t>書籍：</a:t>
            </a:r>
            <a:r>
              <a:rPr lang="en-US" altLang="ja-GB" sz="2000" dirty="0"/>
              <a:t>『PERT</a:t>
            </a:r>
            <a:r>
              <a:rPr lang="ja-GB" altLang="en-US" sz="2000" dirty="0"/>
              <a:t>・</a:t>
            </a:r>
            <a:r>
              <a:rPr lang="en-US" altLang="ja-GB" sz="2000" dirty="0"/>
              <a:t>CPM </a:t>
            </a:r>
            <a:r>
              <a:rPr lang="ja-GB" altLang="en-US" sz="2000" dirty="0"/>
              <a:t>改定（</a:t>
            </a:r>
            <a:r>
              <a:rPr lang="en-US" altLang="ja-GB" sz="2000" dirty="0"/>
              <a:t>OR</a:t>
            </a:r>
            <a:r>
              <a:rPr lang="ja-GB" altLang="en-US" sz="2000" dirty="0"/>
              <a:t>ライブラリー</a:t>
            </a:r>
            <a:r>
              <a:rPr lang="en-US" altLang="ja-GB" sz="2000" dirty="0"/>
              <a:t> 11</a:t>
            </a:r>
            <a:r>
              <a:rPr lang="ja-GB" altLang="en-US" sz="2000" dirty="0"/>
              <a:t>）</a:t>
            </a:r>
            <a:r>
              <a:rPr lang="en-US" altLang="ja-GB" sz="2000" dirty="0"/>
              <a:t>』</a:t>
            </a:r>
          </a:p>
          <a:p>
            <a:pPr lvl="1"/>
            <a:r>
              <a:rPr lang="ja-JP" altLang="en-US" sz="1800"/>
              <a:t>日科技連出版社 </a:t>
            </a:r>
            <a:r>
              <a:rPr lang="ja-GB" altLang="en-US" sz="1800" dirty="0"/>
              <a:t>（</a:t>
            </a:r>
            <a:r>
              <a:rPr lang="en-US" altLang="ja-GB" sz="1800" dirty="0"/>
              <a:t>1965</a:t>
            </a:r>
            <a:r>
              <a:rPr lang="ja-GB" altLang="en-US" sz="1800" dirty="0"/>
              <a:t>），</a:t>
            </a:r>
            <a:r>
              <a:rPr lang="ja-JP" altLang="en-US" sz="1800"/>
              <a:t> 関根 智明</a:t>
            </a:r>
            <a:endParaRPr lang="ja-GB" altLang="en-US" sz="1800" dirty="0"/>
          </a:p>
          <a:p>
            <a:pPr lvl="1"/>
            <a:endParaRPr kumimoji="1" lang="ja-GB" altLang="en-US" sz="1800" dirty="0"/>
          </a:p>
        </p:txBody>
      </p:sp>
    </p:spTree>
    <p:extLst>
      <p:ext uri="{BB962C8B-B14F-4D97-AF65-F5344CB8AC3E}">
        <p14:creationId xmlns:p14="http://schemas.microsoft.com/office/powerpoint/2010/main" val="2058741039"/>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1DD8E-BB3A-FCD5-0861-798E20F337D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027A4B-6F7E-A8DD-F63D-97046B6ED0C3}"/>
              </a:ext>
            </a:extLst>
          </p:cNvPr>
          <p:cNvSpPr>
            <a:spLocks noGrp="1"/>
          </p:cNvSpPr>
          <p:nvPr>
            <p:ph type="title"/>
          </p:nvPr>
        </p:nvSpPr>
        <p:spPr/>
        <p:txBody>
          <a:bodyPr/>
          <a:lstStyle/>
          <a:p>
            <a:r>
              <a:rPr kumimoji="1" lang="ja-GB" altLang="en-US" dirty="0"/>
              <a:t>本日の内容</a:t>
            </a:r>
          </a:p>
        </p:txBody>
      </p:sp>
      <p:sp>
        <p:nvSpPr>
          <p:cNvPr id="3" name="コンテンツ プレースホルダー 2">
            <a:extLst>
              <a:ext uri="{FF2B5EF4-FFF2-40B4-BE49-F238E27FC236}">
                <a16:creationId xmlns:a16="http://schemas.microsoft.com/office/drawing/2014/main" id="{8C0ED528-52B6-B231-7513-FF5AE6405B47}"/>
              </a:ext>
            </a:extLst>
          </p:cNvPr>
          <p:cNvSpPr>
            <a:spLocks noGrp="1"/>
          </p:cNvSpPr>
          <p:nvPr>
            <p:ph idx="1"/>
          </p:nvPr>
        </p:nvSpPr>
        <p:spPr/>
        <p:txBody>
          <a:bodyPr/>
          <a:lstStyle/>
          <a:p>
            <a:pPr marL="457200" indent="-457200">
              <a:buFont typeface="+mj-lt"/>
              <a:buAutoNum type="arabicPeriod"/>
            </a:pPr>
            <a:r>
              <a:rPr kumimoji="1" lang="en-US" altLang="ja-GB" dirty="0"/>
              <a:t>PERT</a:t>
            </a:r>
          </a:p>
          <a:p>
            <a:pPr lvl="1"/>
            <a:r>
              <a:rPr kumimoji="1" lang="ja-GB" altLang="en-US" dirty="0">
                <a:solidFill>
                  <a:srgbClr val="2F2523"/>
                </a:solidFill>
              </a:rPr>
              <a:t>日程管理計画問題</a:t>
            </a:r>
            <a:endParaRPr kumimoji="1" lang="en-US" altLang="ja-GB" dirty="0">
              <a:solidFill>
                <a:srgbClr val="2F2523"/>
              </a:solidFill>
            </a:endParaRPr>
          </a:p>
          <a:p>
            <a:pPr lvl="1"/>
            <a:r>
              <a:rPr kumimoji="1" lang="en-US" altLang="ja-GB" dirty="0">
                <a:solidFill>
                  <a:srgbClr val="2F2523"/>
                </a:solidFill>
              </a:rPr>
              <a:t>PERT</a:t>
            </a:r>
            <a:r>
              <a:rPr lang="ja-GB" altLang="en-US" dirty="0">
                <a:solidFill>
                  <a:srgbClr val="2F2523"/>
                </a:solidFill>
              </a:rPr>
              <a:t>と</a:t>
            </a:r>
            <a:r>
              <a:rPr kumimoji="1" lang="ja-GB" altLang="en-US" dirty="0">
                <a:solidFill>
                  <a:srgbClr val="2F2523"/>
                </a:solidFill>
              </a:rPr>
              <a:t>アローダイアグラム</a:t>
            </a:r>
            <a:endParaRPr kumimoji="1" lang="en-US" altLang="ja-GB" dirty="0">
              <a:solidFill>
                <a:srgbClr val="2F2523"/>
              </a:solidFill>
            </a:endParaRPr>
          </a:p>
          <a:p>
            <a:pPr lvl="1"/>
            <a:r>
              <a:rPr lang="ja-GB" altLang="en-US" dirty="0">
                <a:solidFill>
                  <a:srgbClr val="2F2523"/>
                </a:solidFill>
              </a:rPr>
              <a:t>最早結合点時刻（</a:t>
            </a:r>
            <a:r>
              <a:rPr lang="en-US" altLang="ja-GB" dirty="0">
                <a:solidFill>
                  <a:srgbClr val="2F2523"/>
                </a:solidFill>
              </a:rPr>
              <a:t>ET</a:t>
            </a:r>
            <a:r>
              <a:rPr lang="ja-GB" altLang="en-US" dirty="0">
                <a:solidFill>
                  <a:srgbClr val="2F2523"/>
                </a:solidFill>
              </a:rPr>
              <a:t>）と最遅結合点時刻（</a:t>
            </a:r>
            <a:r>
              <a:rPr lang="en-US" altLang="ja-GB" dirty="0">
                <a:solidFill>
                  <a:srgbClr val="2F2523"/>
                </a:solidFill>
              </a:rPr>
              <a:t>LT</a:t>
            </a:r>
            <a:r>
              <a:rPr lang="ja-GB" altLang="en-US" dirty="0">
                <a:solidFill>
                  <a:srgbClr val="2F2523"/>
                </a:solidFill>
              </a:rPr>
              <a:t>）</a:t>
            </a:r>
            <a:endParaRPr lang="en-US" altLang="ja-GB" dirty="0">
              <a:solidFill>
                <a:srgbClr val="2F2523"/>
              </a:solidFill>
            </a:endParaRPr>
          </a:p>
          <a:p>
            <a:pPr lvl="1"/>
            <a:endParaRPr lang="en-US" altLang="ja-GB" dirty="0">
              <a:solidFill>
                <a:schemeClr val="tx1">
                  <a:lumMod val="50000"/>
                  <a:lumOff val="50000"/>
                </a:schemeClr>
              </a:solidFill>
            </a:endParaRPr>
          </a:p>
          <a:p>
            <a:pPr marL="457200" indent="-457200">
              <a:buFont typeface="+mj-lt"/>
              <a:buAutoNum type="arabicPeriod"/>
            </a:pPr>
            <a:r>
              <a:rPr lang="ja-GB" altLang="en-US" dirty="0">
                <a:solidFill>
                  <a:schemeClr val="tx1">
                    <a:lumMod val="50000"/>
                    <a:lumOff val="50000"/>
                  </a:schemeClr>
                </a:solidFill>
              </a:rPr>
              <a:t>作業の日程計画</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結合点の時刻に基づく作業日程の計算</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余裕とクリティカルパス</a:t>
            </a:r>
            <a:endParaRPr lang="en-US" altLang="ja-GB" dirty="0">
              <a:solidFill>
                <a:schemeClr val="tx1">
                  <a:lumMod val="50000"/>
                  <a:lumOff val="50000"/>
                </a:schemeClr>
              </a:solidFill>
            </a:endParaRPr>
          </a:p>
          <a:p>
            <a:pPr lvl="1"/>
            <a:endParaRPr kumimoji="1" lang="en-US" altLang="ja-GB" dirty="0"/>
          </a:p>
          <a:p>
            <a:pPr marL="457200" indent="-457200">
              <a:buFont typeface="+mj-lt"/>
              <a:buAutoNum type="arabicPeriod"/>
            </a:pPr>
            <a:r>
              <a:rPr kumimoji="1" lang="ja-GB" altLang="en-US" dirty="0">
                <a:solidFill>
                  <a:schemeClr val="tx1">
                    <a:lumMod val="50000"/>
                    <a:lumOff val="50000"/>
                  </a:schemeClr>
                </a:solidFill>
              </a:rPr>
              <a:t>決定表</a:t>
            </a:r>
            <a:endParaRPr kumimoji="1" lang="en-US" altLang="ja-GB" dirty="0">
              <a:solidFill>
                <a:schemeClr val="tx1">
                  <a:lumMod val="50000"/>
                  <a:lumOff val="50000"/>
                </a:schemeClr>
              </a:solidFill>
            </a:endParaRPr>
          </a:p>
          <a:p>
            <a:pPr lvl="1"/>
            <a:r>
              <a:rPr kumimoji="1" lang="ja-GB" altLang="en-US" dirty="0">
                <a:solidFill>
                  <a:schemeClr val="tx1">
                    <a:lumMod val="50000"/>
                    <a:lumOff val="50000"/>
                  </a:schemeClr>
                </a:solidFill>
              </a:rPr>
              <a:t>条件と結果の対応関係を一覧できる表</a:t>
            </a:r>
            <a:endParaRPr kumimoji="1" lang="en-US" altLang="ja-GB" dirty="0">
              <a:solidFill>
                <a:schemeClr val="tx1">
                  <a:lumMod val="50000"/>
                  <a:lumOff val="50000"/>
                </a:schemeClr>
              </a:solidFill>
            </a:endParaRPr>
          </a:p>
          <a:p>
            <a:pPr lvl="1"/>
            <a:endParaRPr lang="en-US" altLang="ja-GB" dirty="0"/>
          </a:p>
        </p:txBody>
      </p:sp>
    </p:spTree>
    <p:extLst>
      <p:ext uri="{BB962C8B-B14F-4D97-AF65-F5344CB8AC3E}">
        <p14:creationId xmlns:p14="http://schemas.microsoft.com/office/powerpoint/2010/main" val="3496661208"/>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EACC93-860C-7C40-B295-C5F4BB4166CF}"/>
              </a:ext>
            </a:extLst>
          </p:cNvPr>
          <p:cNvSpPr>
            <a:spLocks noGrp="1"/>
          </p:cNvSpPr>
          <p:nvPr>
            <p:ph type="title"/>
          </p:nvPr>
        </p:nvSpPr>
        <p:spPr/>
        <p:txBody>
          <a:bodyPr/>
          <a:lstStyle/>
          <a:p>
            <a:r>
              <a:rPr kumimoji="1" lang="ja-GB" altLang="en-US" dirty="0"/>
              <a:t>日程管理計画問題</a:t>
            </a:r>
          </a:p>
        </p:txBody>
      </p:sp>
      <p:sp>
        <p:nvSpPr>
          <p:cNvPr id="3" name="コンテンツ プレースホルダー 2">
            <a:extLst>
              <a:ext uri="{FF2B5EF4-FFF2-40B4-BE49-F238E27FC236}">
                <a16:creationId xmlns:a16="http://schemas.microsoft.com/office/drawing/2014/main" id="{37EF3108-8E1A-2431-50C5-99348F94FE07}"/>
              </a:ext>
            </a:extLst>
          </p:cNvPr>
          <p:cNvSpPr>
            <a:spLocks noGrp="1"/>
          </p:cNvSpPr>
          <p:nvPr>
            <p:ph idx="1"/>
          </p:nvPr>
        </p:nvSpPr>
        <p:spPr/>
        <p:txBody>
          <a:bodyPr/>
          <a:lstStyle/>
          <a:p>
            <a:pPr marL="0" indent="0">
              <a:buNone/>
            </a:pPr>
            <a:r>
              <a:rPr lang="ja-GB" altLang="en-US" dirty="0"/>
              <a:t>仕事の日程の改善を計る問題</a:t>
            </a:r>
            <a:endParaRPr lang="en-US" altLang="ja-GB" dirty="0"/>
          </a:p>
          <a:p>
            <a:pPr marL="457200" lvl="1" indent="0">
              <a:buNone/>
            </a:pPr>
            <a:r>
              <a:rPr kumimoji="1" lang="ja-GB" altLang="en-US" dirty="0"/>
              <a:t>スケジューリング（日程管理）の問題に関する</a:t>
            </a:r>
            <a:r>
              <a:rPr lang="en-US" altLang="ja-GB" dirty="0"/>
              <a:t>OR</a:t>
            </a:r>
            <a:r>
              <a:rPr lang="ja-GB" altLang="en-US" dirty="0"/>
              <a:t>の一分野</a:t>
            </a:r>
            <a:endParaRPr kumimoji="1" lang="en-US" altLang="ja-GB" dirty="0"/>
          </a:p>
          <a:p>
            <a:pPr lvl="1"/>
            <a:endParaRPr kumimoji="1" lang="en-US" altLang="ja-GB" dirty="0"/>
          </a:p>
          <a:p>
            <a:pPr marL="0" indent="0">
              <a:buNone/>
            </a:pPr>
            <a:r>
              <a:rPr kumimoji="1" lang="en-US" altLang="ja-GB" dirty="0"/>
              <a:t>PERT</a:t>
            </a:r>
            <a:r>
              <a:rPr kumimoji="1" lang="ja-GB" altLang="en-US" dirty="0"/>
              <a:t>（</a:t>
            </a:r>
            <a:r>
              <a:rPr kumimoji="1" lang="en-US" altLang="ja-GB" dirty="0"/>
              <a:t>Program Evaluation and Review Technique</a:t>
            </a:r>
            <a:r>
              <a:rPr kumimoji="1" lang="ja-GB" altLang="en-US" dirty="0"/>
              <a:t>）</a:t>
            </a:r>
            <a:endParaRPr kumimoji="1" lang="en-US" altLang="ja-GB" dirty="0"/>
          </a:p>
          <a:p>
            <a:pPr marL="457200" lvl="1" indent="0">
              <a:buNone/>
            </a:pPr>
            <a:r>
              <a:rPr kumimoji="1" lang="ja-GB" altLang="en-US" dirty="0"/>
              <a:t>日本語訳）計画評価と見直しの技法</a:t>
            </a:r>
            <a:endParaRPr kumimoji="1" lang="en-US" altLang="ja-GB" dirty="0"/>
          </a:p>
          <a:p>
            <a:pPr lvl="2"/>
            <a:r>
              <a:rPr kumimoji="1" lang="ja-GB" altLang="en-US" dirty="0"/>
              <a:t>プロジェクト型の仕事に対するスケジューリングの有効な方法</a:t>
            </a:r>
            <a:endParaRPr kumimoji="1" lang="en-US" altLang="ja-GB" dirty="0"/>
          </a:p>
          <a:p>
            <a:pPr marL="457200" lvl="1" indent="0">
              <a:buNone/>
            </a:pPr>
            <a:r>
              <a:rPr lang="ja-GB" altLang="en-US" dirty="0"/>
              <a:t>アプローチ：</a:t>
            </a:r>
            <a:r>
              <a:rPr lang="ja-GB" altLang="en-US" dirty="0">
                <a:solidFill>
                  <a:srgbClr val="0070C0"/>
                </a:solidFill>
              </a:rPr>
              <a:t>工程間の依存関係を可視化</a:t>
            </a:r>
            <a:r>
              <a:rPr lang="ja-GB" altLang="en-US" dirty="0"/>
              <a:t>して，工程管理に役立てる</a:t>
            </a:r>
            <a:endParaRPr lang="en-US" altLang="ja-GB" dirty="0"/>
          </a:p>
          <a:p>
            <a:pPr marL="1257300" lvl="2" indent="-342900">
              <a:buFont typeface="+mj-lt"/>
              <a:buAutoNum type="arabicPeriod"/>
            </a:pPr>
            <a:r>
              <a:rPr kumimoji="1" lang="ja-GB" altLang="en-US" dirty="0"/>
              <a:t>仕事の順序関係を矢印で示したグラフ（</a:t>
            </a:r>
            <a:r>
              <a:rPr kumimoji="1" lang="ja-GB" altLang="en-US" dirty="0">
                <a:solidFill>
                  <a:schemeClr val="accent2"/>
                </a:solidFill>
              </a:rPr>
              <a:t>アローダイヤグラム</a:t>
            </a:r>
            <a:r>
              <a:rPr kumimoji="1" lang="ja-GB" altLang="en-US" dirty="0"/>
              <a:t>）で表現する</a:t>
            </a:r>
            <a:endParaRPr kumimoji="1" lang="en-US" altLang="ja-GB" dirty="0"/>
          </a:p>
          <a:p>
            <a:pPr marL="1257300" lvl="2" indent="-342900">
              <a:buFont typeface="+mj-lt"/>
              <a:buAutoNum type="arabicPeriod"/>
            </a:pPr>
            <a:r>
              <a:rPr lang="ja-GB" altLang="en-US" dirty="0"/>
              <a:t>仕事全体の日程においてボトルネックとなる重要経路（</a:t>
            </a:r>
            <a:r>
              <a:rPr lang="ja-GB" altLang="en-US" dirty="0">
                <a:solidFill>
                  <a:schemeClr val="accent2"/>
                </a:solidFill>
              </a:rPr>
              <a:t>クリティカルパス</a:t>
            </a:r>
            <a:r>
              <a:rPr lang="ja-GB" altLang="en-US" dirty="0"/>
              <a:t>）</a:t>
            </a:r>
            <a:br>
              <a:rPr lang="en-US" altLang="ja-GB" dirty="0"/>
            </a:br>
            <a:r>
              <a:rPr lang="ja-GB" altLang="en-US" dirty="0"/>
              <a:t>を見つけ出す</a:t>
            </a:r>
            <a:endParaRPr lang="en-US" altLang="ja-GB" dirty="0"/>
          </a:p>
          <a:p>
            <a:pPr marL="1257300" lvl="2" indent="-342900">
              <a:buFont typeface="+mj-lt"/>
              <a:buAutoNum type="arabicPeriod"/>
            </a:pPr>
            <a:r>
              <a:rPr kumimoji="1" lang="ja-GB" altLang="en-US" dirty="0"/>
              <a:t>ボトルネックを踏まえて工程の改善をはかる</a:t>
            </a:r>
            <a:endParaRPr kumimoji="1" lang="en-US" altLang="ja-GB" dirty="0"/>
          </a:p>
          <a:p>
            <a:pPr lvl="1"/>
            <a:endParaRPr kumimoji="1" lang="ja-GB" altLang="en-US" dirty="0"/>
          </a:p>
        </p:txBody>
      </p:sp>
      <p:sp>
        <p:nvSpPr>
          <p:cNvPr id="4" name="テキスト ボックス 3">
            <a:extLst>
              <a:ext uri="{FF2B5EF4-FFF2-40B4-BE49-F238E27FC236}">
                <a16:creationId xmlns:a16="http://schemas.microsoft.com/office/drawing/2014/main" id="{8ECDB998-6DCA-8294-5D57-FD823B858B02}"/>
              </a:ext>
            </a:extLst>
          </p:cNvPr>
          <p:cNvSpPr txBox="1"/>
          <p:nvPr/>
        </p:nvSpPr>
        <p:spPr>
          <a:xfrm>
            <a:off x="1244807" y="6466170"/>
            <a:ext cx="6654386" cy="307777"/>
          </a:xfrm>
          <a:prstGeom prst="rect">
            <a:avLst/>
          </a:prstGeom>
          <a:noFill/>
        </p:spPr>
        <p:txBody>
          <a:bodyPr wrap="none" rtlCol="0">
            <a:spAutoFit/>
          </a:bodyPr>
          <a:lstStyle/>
          <a:p>
            <a:pPr algn="ctr"/>
            <a:r>
              <a:rPr kumimoji="1" lang="en-US" altLang="ja-GB" sz="1400" dirty="0"/>
              <a:t>※</a:t>
            </a:r>
            <a:r>
              <a:rPr kumimoji="1" lang="ja-GB" altLang="en-US" sz="1400" dirty="0"/>
              <a:t>日程管理だけでなく，費用を含めた作業計画を指して</a:t>
            </a:r>
            <a:r>
              <a:rPr kumimoji="1" lang="en-US" altLang="ja-GB" sz="1400" dirty="0"/>
              <a:t>PERT</a:t>
            </a:r>
            <a:r>
              <a:rPr kumimoji="1" lang="ja-GB" altLang="en-US" sz="1400" dirty="0"/>
              <a:t>ということもある</a:t>
            </a:r>
          </a:p>
        </p:txBody>
      </p:sp>
      <p:pic>
        <p:nvPicPr>
          <p:cNvPr id="76" name="図 75">
            <a:extLst>
              <a:ext uri="{FF2B5EF4-FFF2-40B4-BE49-F238E27FC236}">
                <a16:creationId xmlns:a16="http://schemas.microsoft.com/office/drawing/2014/main" id="{0A9E1C3E-ECDB-6D15-0453-806677BEC2E1}"/>
              </a:ext>
            </a:extLst>
          </p:cNvPr>
          <p:cNvPicPr>
            <a:picLocks noChangeAspect="1"/>
          </p:cNvPicPr>
          <p:nvPr/>
        </p:nvPicPr>
        <p:blipFill>
          <a:blip r:embed="rId2"/>
          <a:stretch>
            <a:fillRect/>
          </a:stretch>
        </p:blipFill>
        <p:spPr>
          <a:xfrm>
            <a:off x="1446797" y="4623863"/>
            <a:ext cx="6250406" cy="1770115"/>
          </a:xfrm>
          <a:prstGeom prst="rect">
            <a:avLst/>
          </a:prstGeom>
        </p:spPr>
      </p:pic>
    </p:spTree>
    <p:extLst>
      <p:ext uri="{BB962C8B-B14F-4D97-AF65-F5344CB8AC3E}">
        <p14:creationId xmlns:p14="http://schemas.microsoft.com/office/powerpoint/2010/main" val="3329056455"/>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D239B9-CD3B-1387-E687-59187A3EE383}"/>
              </a:ext>
            </a:extLst>
          </p:cNvPr>
          <p:cNvSpPr>
            <a:spLocks noGrp="1"/>
          </p:cNvSpPr>
          <p:nvPr>
            <p:ph type="title"/>
          </p:nvPr>
        </p:nvSpPr>
        <p:spPr/>
        <p:txBody>
          <a:bodyPr/>
          <a:lstStyle/>
          <a:p>
            <a:r>
              <a:rPr kumimoji="1" lang="ja-GB" altLang="en-US" dirty="0"/>
              <a:t>アローダイアグラム（矢線図）</a:t>
            </a:r>
          </a:p>
        </p:txBody>
      </p:sp>
      <p:sp>
        <p:nvSpPr>
          <p:cNvPr id="3" name="コンテンツ プレースホルダー 2">
            <a:extLst>
              <a:ext uri="{FF2B5EF4-FFF2-40B4-BE49-F238E27FC236}">
                <a16:creationId xmlns:a16="http://schemas.microsoft.com/office/drawing/2014/main" id="{80E29DF6-8C26-AD57-9FE5-C542C0AEEBB1}"/>
              </a:ext>
            </a:extLst>
          </p:cNvPr>
          <p:cNvSpPr>
            <a:spLocks noGrp="1"/>
          </p:cNvSpPr>
          <p:nvPr>
            <p:ph idx="1"/>
          </p:nvPr>
        </p:nvSpPr>
        <p:spPr/>
        <p:txBody>
          <a:bodyPr/>
          <a:lstStyle/>
          <a:p>
            <a:pPr marL="0" indent="0">
              <a:buNone/>
            </a:pPr>
            <a:r>
              <a:rPr lang="ja-GB" altLang="en-US" dirty="0"/>
              <a:t>依存関係のある作業日程を矢印付きのグラフに表現する</a:t>
            </a:r>
            <a:endParaRPr lang="en-US" altLang="ja-GB" dirty="0"/>
          </a:p>
          <a:p>
            <a:pPr marL="914400" lvl="1" indent="-457200">
              <a:buFont typeface="+mj-lt"/>
              <a:buAutoNum type="arabicPeriod"/>
            </a:pPr>
            <a:r>
              <a:rPr kumimoji="1" lang="ja-GB" altLang="en-US" dirty="0"/>
              <a:t>各作業は結節点をつなぐ矢印</a:t>
            </a:r>
            <a:endParaRPr kumimoji="1" lang="en-US" altLang="ja-GB" dirty="0"/>
          </a:p>
          <a:p>
            <a:pPr marL="914400" lvl="2" indent="0">
              <a:buNone/>
            </a:pPr>
            <a:r>
              <a:rPr lang="ja-GB" altLang="en-US" dirty="0">
                <a:solidFill>
                  <a:schemeClr val="tx1">
                    <a:lumMod val="50000"/>
                    <a:lumOff val="50000"/>
                  </a:schemeClr>
                </a:solidFill>
              </a:rPr>
              <a:t>作業</a:t>
            </a:r>
            <a:r>
              <a:rPr lang="en-US" altLang="ja-GB" dirty="0">
                <a:solidFill>
                  <a:schemeClr val="tx1">
                    <a:lumMod val="50000"/>
                    <a:lumOff val="50000"/>
                  </a:schemeClr>
                </a:solidFill>
              </a:rPr>
              <a:t>A</a:t>
            </a:r>
            <a:r>
              <a:rPr lang="ja-GB" altLang="en-US" dirty="0">
                <a:solidFill>
                  <a:schemeClr val="tx1">
                    <a:lumMod val="50000"/>
                    <a:lumOff val="50000"/>
                  </a:schemeClr>
                </a:solidFill>
              </a:rPr>
              <a:t>，</a:t>
            </a:r>
            <a:r>
              <a:rPr lang="en-US" altLang="ja-GB" dirty="0">
                <a:solidFill>
                  <a:schemeClr val="tx1">
                    <a:lumMod val="50000"/>
                    <a:lumOff val="50000"/>
                  </a:schemeClr>
                </a:solidFill>
              </a:rPr>
              <a:t>B</a:t>
            </a:r>
            <a:r>
              <a:rPr lang="ja-GB" altLang="en-US" dirty="0">
                <a:solidFill>
                  <a:schemeClr val="tx1">
                    <a:lumMod val="50000"/>
                    <a:lumOff val="50000"/>
                  </a:schemeClr>
                </a:solidFill>
              </a:rPr>
              <a:t>，</a:t>
            </a:r>
            <a:r>
              <a:rPr lang="en-US" altLang="ja-GB" dirty="0">
                <a:solidFill>
                  <a:schemeClr val="tx1">
                    <a:lumMod val="50000"/>
                    <a:lumOff val="50000"/>
                  </a:schemeClr>
                </a:solidFill>
              </a:rPr>
              <a:t>C</a:t>
            </a:r>
            <a:r>
              <a:rPr lang="ja-GB" altLang="en-US" dirty="0">
                <a:solidFill>
                  <a:schemeClr val="tx1">
                    <a:lumMod val="50000"/>
                    <a:lumOff val="50000"/>
                  </a:schemeClr>
                </a:solidFill>
              </a:rPr>
              <a:t>，</a:t>
            </a:r>
            <a:r>
              <a:rPr lang="en-US" altLang="ja-GB" dirty="0">
                <a:solidFill>
                  <a:schemeClr val="tx1">
                    <a:lumMod val="50000"/>
                    <a:lumOff val="50000"/>
                  </a:schemeClr>
                </a:solidFill>
              </a:rPr>
              <a:t>…</a:t>
            </a:r>
            <a:r>
              <a:rPr lang="ja-GB" altLang="en-US" dirty="0">
                <a:solidFill>
                  <a:schemeClr val="tx1">
                    <a:lumMod val="50000"/>
                    <a:lumOff val="50000"/>
                  </a:schemeClr>
                </a:solidFill>
              </a:rPr>
              <a:t>，</a:t>
            </a:r>
            <a:r>
              <a:rPr lang="en-US" altLang="ja-GB" dirty="0">
                <a:solidFill>
                  <a:schemeClr val="tx1">
                    <a:lumMod val="50000"/>
                    <a:lumOff val="50000"/>
                  </a:schemeClr>
                </a:solidFill>
              </a:rPr>
              <a:t>H</a:t>
            </a:r>
            <a:r>
              <a:rPr lang="ja-GB" altLang="en-US" dirty="0">
                <a:solidFill>
                  <a:schemeClr val="tx1">
                    <a:lumMod val="50000"/>
                    <a:lumOff val="50000"/>
                  </a:schemeClr>
                </a:solidFill>
              </a:rPr>
              <a:t>は，グラフの辺で表現（</a:t>
            </a:r>
            <a:r>
              <a:rPr kumimoji="1" lang="ja-GB" altLang="en-US" dirty="0">
                <a:solidFill>
                  <a:schemeClr val="tx1">
                    <a:lumMod val="50000"/>
                    <a:lumOff val="50000"/>
                  </a:schemeClr>
                </a:solidFill>
              </a:rPr>
              <a:t>作業にかかる日数を表示）</a:t>
            </a:r>
            <a:endParaRPr kumimoji="1" lang="en-US" altLang="ja-GB" dirty="0">
              <a:solidFill>
                <a:schemeClr val="tx1">
                  <a:lumMod val="50000"/>
                  <a:lumOff val="50000"/>
                </a:schemeClr>
              </a:solidFill>
            </a:endParaRPr>
          </a:p>
          <a:p>
            <a:pPr marL="914400" lvl="1" indent="-457200">
              <a:buFont typeface="+mj-lt"/>
              <a:buAutoNum type="arabicPeriod"/>
            </a:pPr>
            <a:r>
              <a:rPr lang="ja-GB" altLang="en-US" dirty="0"/>
              <a:t>直接前後の関係のある作業は直列に接続</a:t>
            </a:r>
            <a:endParaRPr lang="en-US" altLang="ja-GB" dirty="0"/>
          </a:p>
          <a:p>
            <a:pPr marL="914400" lvl="2" indent="0">
              <a:buNone/>
            </a:pPr>
            <a:r>
              <a:rPr lang="en-US" altLang="ja-GB" dirty="0">
                <a:solidFill>
                  <a:schemeClr val="tx1">
                    <a:lumMod val="50000"/>
                    <a:lumOff val="50000"/>
                  </a:schemeClr>
                </a:solidFill>
              </a:rPr>
              <a:t>A</a:t>
            </a:r>
            <a:r>
              <a:rPr lang="ja-GB" altLang="en-US" dirty="0">
                <a:solidFill>
                  <a:schemeClr val="tx1">
                    <a:lumMod val="50000"/>
                    <a:lumOff val="50000"/>
                  </a:schemeClr>
                </a:solidFill>
              </a:rPr>
              <a:t>の後に始められる</a:t>
            </a:r>
            <a:r>
              <a:rPr lang="en-US" altLang="ja-GB" dirty="0">
                <a:solidFill>
                  <a:schemeClr val="tx1">
                    <a:lumMod val="50000"/>
                    <a:lumOff val="50000"/>
                  </a:schemeClr>
                </a:solidFill>
              </a:rPr>
              <a:t>C</a:t>
            </a:r>
            <a:r>
              <a:rPr lang="ja-GB" altLang="en-US" dirty="0">
                <a:solidFill>
                  <a:schemeClr val="tx1">
                    <a:lumMod val="50000"/>
                    <a:lumOff val="50000"/>
                  </a:schemeClr>
                </a:solidFill>
              </a:rPr>
              <a:t>と</a:t>
            </a:r>
            <a:r>
              <a:rPr lang="en-US" altLang="ja-GB" dirty="0">
                <a:solidFill>
                  <a:schemeClr val="tx1">
                    <a:lumMod val="50000"/>
                    <a:lumOff val="50000"/>
                  </a:schemeClr>
                </a:solidFill>
              </a:rPr>
              <a:t>E</a:t>
            </a:r>
            <a:r>
              <a:rPr lang="ja-GB" altLang="en-US" dirty="0">
                <a:solidFill>
                  <a:schemeClr val="tx1">
                    <a:lumMod val="50000"/>
                    <a:lumOff val="50000"/>
                  </a:schemeClr>
                </a:solidFill>
              </a:rPr>
              <a:t>は，</a:t>
            </a:r>
            <a:r>
              <a:rPr lang="en-US" altLang="ja-GB" dirty="0">
                <a:solidFill>
                  <a:schemeClr val="tx1">
                    <a:lumMod val="50000"/>
                    <a:lumOff val="50000"/>
                  </a:schemeClr>
                </a:solidFill>
              </a:rPr>
              <a:t>A</a:t>
            </a:r>
            <a:r>
              <a:rPr lang="ja-GB" altLang="en-US" dirty="0">
                <a:solidFill>
                  <a:schemeClr val="tx1">
                    <a:lumMod val="50000"/>
                    <a:lumOff val="50000"/>
                  </a:schemeClr>
                </a:solidFill>
              </a:rPr>
              <a:t>の終点である結節点</a:t>
            </a:r>
            <a:r>
              <a:rPr lang="en-US" altLang="ja-GB" dirty="0">
                <a:solidFill>
                  <a:schemeClr val="tx1">
                    <a:lumMod val="50000"/>
                    <a:lumOff val="50000"/>
                  </a:schemeClr>
                </a:solidFill>
              </a:rPr>
              <a:t>2</a:t>
            </a:r>
            <a:r>
              <a:rPr lang="ja-GB" altLang="en-US" dirty="0">
                <a:solidFill>
                  <a:schemeClr val="tx1">
                    <a:lumMod val="50000"/>
                    <a:lumOff val="50000"/>
                  </a:schemeClr>
                </a:solidFill>
              </a:rPr>
              <a:t>を始点とする矢印で表現</a:t>
            </a:r>
            <a:endParaRPr lang="en-US" altLang="ja-GB" dirty="0">
              <a:solidFill>
                <a:schemeClr val="tx1">
                  <a:lumMod val="50000"/>
                  <a:lumOff val="50000"/>
                </a:schemeClr>
              </a:solidFill>
            </a:endParaRPr>
          </a:p>
          <a:p>
            <a:pPr marL="914400" lvl="1" indent="-457200">
              <a:buFont typeface="+mj-lt"/>
              <a:buAutoNum type="arabicPeriod"/>
            </a:pPr>
            <a:r>
              <a:rPr kumimoji="1" lang="ja-GB" altLang="en-US" dirty="0"/>
              <a:t>前後関係のない作業は並列に配置</a:t>
            </a:r>
            <a:endParaRPr kumimoji="1" lang="en-US" altLang="ja-GB" dirty="0"/>
          </a:p>
          <a:p>
            <a:pPr marL="914400" lvl="2" indent="0">
              <a:buNone/>
            </a:pPr>
            <a:r>
              <a:rPr lang="en-US" altLang="ja-GB" dirty="0">
                <a:solidFill>
                  <a:schemeClr val="tx1">
                    <a:lumMod val="50000"/>
                    <a:lumOff val="50000"/>
                  </a:schemeClr>
                </a:solidFill>
              </a:rPr>
              <a:t>A</a:t>
            </a:r>
            <a:r>
              <a:rPr lang="ja-GB" altLang="en-US" dirty="0">
                <a:solidFill>
                  <a:schemeClr val="tx1">
                    <a:lumMod val="50000"/>
                    <a:lumOff val="50000"/>
                  </a:schemeClr>
                </a:solidFill>
              </a:rPr>
              <a:t>と</a:t>
            </a:r>
            <a:r>
              <a:rPr lang="en-US" altLang="ja-GB" dirty="0">
                <a:solidFill>
                  <a:schemeClr val="tx1">
                    <a:lumMod val="50000"/>
                    <a:lumOff val="50000"/>
                  </a:schemeClr>
                </a:solidFill>
              </a:rPr>
              <a:t>B</a:t>
            </a:r>
            <a:r>
              <a:rPr lang="ja-GB" altLang="en-US" dirty="0">
                <a:solidFill>
                  <a:schemeClr val="tx1">
                    <a:lumMod val="50000"/>
                    <a:lumOff val="50000"/>
                  </a:schemeClr>
                </a:solidFill>
              </a:rPr>
              <a:t>，</a:t>
            </a:r>
            <a:r>
              <a:rPr lang="en-US" altLang="ja-GB" dirty="0">
                <a:solidFill>
                  <a:schemeClr val="tx1">
                    <a:lumMod val="50000"/>
                    <a:lumOff val="50000"/>
                  </a:schemeClr>
                </a:solidFill>
              </a:rPr>
              <a:t>E</a:t>
            </a:r>
            <a:r>
              <a:rPr lang="ja-GB" altLang="en-US" dirty="0">
                <a:solidFill>
                  <a:schemeClr val="tx1">
                    <a:lumMod val="50000"/>
                    <a:lumOff val="50000"/>
                  </a:schemeClr>
                </a:solidFill>
              </a:rPr>
              <a:t>と</a:t>
            </a:r>
            <a:r>
              <a:rPr lang="en-US" altLang="ja-GB" dirty="0">
                <a:solidFill>
                  <a:schemeClr val="tx1">
                    <a:lumMod val="50000"/>
                    <a:lumOff val="50000"/>
                  </a:schemeClr>
                </a:solidFill>
              </a:rPr>
              <a:t>F</a:t>
            </a:r>
            <a:r>
              <a:rPr lang="ja-GB" altLang="en-US" dirty="0">
                <a:solidFill>
                  <a:schemeClr val="tx1">
                    <a:lumMod val="50000"/>
                    <a:lumOff val="50000"/>
                  </a:schemeClr>
                </a:solidFill>
              </a:rPr>
              <a:t>などは互いに依存しないので直列配置されない</a:t>
            </a:r>
            <a:endParaRPr kumimoji="1" lang="en-US" altLang="ja-GB" dirty="0">
              <a:solidFill>
                <a:schemeClr val="tx1">
                  <a:lumMod val="50000"/>
                  <a:lumOff val="50000"/>
                </a:schemeClr>
              </a:solidFill>
            </a:endParaRPr>
          </a:p>
        </p:txBody>
      </p:sp>
      <p:pic>
        <p:nvPicPr>
          <p:cNvPr id="5" name="図 4" descr="ダイアグラム&#10;&#10;AI 生成コンテンツは誤りを含む可能性があります。">
            <a:extLst>
              <a:ext uri="{FF2B5EF4-FFF2-40B4-BE49-F238E27FC236}">
                <a16:creationId xmlns:a16="http://schemas.microsoft.com/office/drawing/2014/main" id="{FDB1629F-BC0B-4219-3DD2-202982843E1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571999" y="4075186"/>
            <a:ext cx="4466360" cy="1615878"/>
          </a:xfrm>
          <a:prstGeom prst="rect">
            <a:avLst/>
          </a:prstGeom>
        </p:spPr>
      </p:pic>
      <p:sp>
        <p:nvSpPr>
          <p:cNvPr id="6" name="テキスト ボックス 5">
            <a:extLst>
              <a:ext uri="{FF2B5EF4-FFF2-40B4-BE49-F238E27FC236}">
                <a16:creationId xmlns:a16="http://schemas.microsoft.com/office/drawing/2014/main" id="{9BDB7B5E-99BB-291A-7358-4BF34FA0D4BE}"/>
              </a:ext>
            </a:extLst>
          </p:cNvPr>
          <p:cNvSpPr txBox="1"/>
          <p:nvPr/>
        </p:nvSpPr>
        <p:spPr>
          <a:xfrm>
            <a:off x="1337780" y="6440946"/>
            <a:ext cx="6468437" cy="307777"/>
          </a:xfrm>
          <a:prstGeom prst="rect">
            <a:avLst/>
          </a:prstGeom>
          <a:noFill/>
        </p:spPr>
        <p:txBody>
          <a:bodyPr wrap="none" rtlCol="0">
            <a:spAutoFit/>
          </a:bodyPr>
          <a:lstStyle/>
          <a:p>
            <a:pPr algn="ctr"/>
            <a:r>
              <a:rPr kumimoji="1" lang="en-US" altLang="ja-GB" sz="1400" dirty="0">
                <a:solidFill>
                  <a:schemeClr val="tx1">
                    <a:lumMod val="50000"/>
                    <a:lumOff val="50000"/>
                  </a:schemeClr>
                </a:solidFill>
              </a:rPr>
              <a:t>※</a:t>
            </a:r>
            <a:r>
              <a:rPr kumimoji="1" lang="ja-GB" altLang="en-US" sz="1400" dirty="0">
                <a:solidFill>
                  <a:schemeClr val="tx1">
                    <a:lumMod val="50000"/>
                    <a:lumOff val="50000"/>
                  </a:schemeClr>
                </a:solidFill>
              </a:rPr>
              <a:t>辺が矢印として描かれていないが，左側が始点，右側が終点となっている</a:t>
            </a:r>
          </a:p>
        </p:txBody>
      </p:sp>
      <p:pic>
        <p:nvPicPr>
          <p:cNvPr id="8" name="図 7" descr="パソコンの画面&#10;&#10;AI 生成コンテンツは誤りを含む可能性があります。">
            <a:extLst>
              <a:ext uri="{FF2B5EF4-FFF2-40B4-BE49-F238E27FC236}">
                <a16:creationId xmlns:a16="http://schemas.microsoft.com/office/drawing/2014/main" id="{8AC5A125-AB78-15C2-5DC7-9396369121B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5641" y="3753623"/>
            <a:ext cx="4357511" cy="2259004"/>
          </a:xfrm>
          <a:prstGeom prst="rect">
            <a:avLst/>
          </a:prstGeom>
        </p:spPr>
      </p:pic>
      <p:sp>
        <p:nvSpPr>
          <p:cNvPr id="9" name="テキスト ボックス 8">
            <a:extLst>
              <a:ext uri="{FF2B5EF4-FFF2-40B4-BE49-F238E27FC236}">
                <a16:creationId xmlns:a16="http://schemas.microsoft.com/office/drawing/2014/main" id="{FB3EEC8A-5E4B-929A-2057-8B83E6EC3D78}"/>
              </a:ext>
            </a:extLst>
          </p:cNvPr>
          <p:cNvSpPr txBox="1"/>
          <p:nvPr/>
        </p:nvSpPr>
        <p:spPr>
          <a:xfrm>
            <a:off x="1922758" y="6012627"/>
            <a:ext cx="723275" cy="307777"/>
          </a:xfrm>
          <a:prstGeom prst="rect">
            <a:avLst/>
          </a:prstGeom>
          <a:noFill/>
        </p:spPr>
        <p:txBody>
          <a:bodyPr wrap="none" rtlCol="0">
            <a:spAutoFit/>
          </a:bodyPr>
          <a:lstStyle/>
          <a:p>
            <a:pPr algn="ctr"/>
            <a:r>
              <a:rPr kumimoji="1" lang="ja-GB" altLang="en-US" sz="1400" dirty="0"/>
              <a:t>作業表</a:t>
            </a:r>
          </a:p>
        </p:txBody>
      </p:sp>
      <p:sp>
        <p:nvSpPr>
          <p:cNvPr id="10" name="テキスト ボックス 9">
            <a:extLst>
              <a:ext uri="{FF2B5EF4-FFF2-40B4-BE49-F238E27FC236}">
                <a16:creationId xmlns:a16="http://schemas.microsoft.com/office/drawing/2014/main" id="{D616A20F-FC2C-A368-D4D3-B7787EACD356}"/>
              </a:ext>
            </a:extLst>
          </p:cNvPr>
          <p:cNvSpPr txBox="1"/>
          <p:nvPr/>
        </p:nvSpPr>
        <p:spPr>
          <a:xfrm>
            <a:off x="5815169" y="6012626"/>
            <a:ext cx="1980029" cy="307777"/>
          </a:xfrm>
          <a:prstGeom prst="rect">
            <a:avLst/>
          </a:prstGeom>
          <a:noFill/>
        </p:spPr>
        <p:txBody>
          <a:bodyPr wrap="none" rtlCol="0">
            <a:spAutoFit/>
          </a:bodyPr>
          <a:lstStyle/>
          <a:p>
            <a:pPr algn="ctr"/>
            <a:r>
              <a:rPr kumimoji="1" lang="ja-GB" altLang="en-US" sz="1400" dirty="0"/>
              <a:t>アローダイアグラム</a:t>
            </a:r>
            <a:r>
              <a:rPr kumimoji="1" lang="en-US" altLang="ja-GB" sz="1400" baseline="30000" dirty="0"/>
              <a:t>※</a:t>
            </a:r>
            <a:endParaRPr kumimoji="1" lang="ja-GB" altLang="en-US" sz="1400" baseline="30000" dirty="0"/>
          </a:p>
        </p:txBody>
      </p:sp>
    </p:spTree>
    <p:extLst>
      <p:ext uri="{BB962C8B-B14F-4D97-AF65-F5344CB8AC3E}">
        <p14:creationId xmlns:p14="http://schemas.microsoft.com/office/powerpoint/2010/main" val="1967984704"/>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5A3687-668B-DE27-1BB3-9A2D19222702}"/>
              </a:ext>
            </a:extLst>
          </p:cNvPr>
          <p:cNvSpPr>
            <a:spLocks noGrp="1"/>
          </p:cNvSpPr>
          <p:nvPr>
            <p:ph type="title"/>
          </p:nvPr>
        </p:nvSpPr>
        <p:spPr/>
        <p:txBody>
          <a:bodyPr/>
          <a:lstStyle/>
          <a:p>
            <a:r>
              <a:rPr lang="ja-JP" altLang="en-US"/>
              <a:t>最早結合点時刻（</a:t>
            </a:r>
            <a:r>
              <a:rPr lang="en-US" altLang="ja-JP" dirty="0"/>
              <a:t>ET</a:t>
            </a:r>
            <a:r>
              <a:rPr lang="ja-JP" altLang="en-US"/>
              <a:t>：</a:t>
            </a:r>
            <a:r>
              <a:rPr lang="en-US" altLang="ja-JP" dirty="0"/>
              <a:t>earliest node time</a:t>
            </a:r>
            <a:r>
              <a:rPr lang="ja-JP" altLang="en-US"/>
              <a:t>）</a:t>
            </a:r>
            <a:endParaRPr kumimoji="1" lang="ja-GB" altLang="en-US" dirty="0"/>
          </a:p>
        </p:txBody>
      </p:sp>
      <p:sp>
        <p:nvSpPr>
          <p:cNvPr id="3" name="コンテンツ プレースホルダー 2">
            <a:extLst>
              <a:ext uri="{FF2B5EF4-FFF2-40B4-BE49-F238E27FC236}">
                <a16:creationId xmlns:a16="http://schemas.microsoft.com/office/drawing/2014/main" id="{502609C2-2C73-1435-8650-1BEBB1AAEC2E}"/>
              </a:ext>
            </a:extLst>
          </p:cNvPr>
          <p:cNvSpPr>
            <a:spLocks noGrp="1"/>
          </p:cNvSpPr>
          <p:nvPr>
            <p:ph idx="1"/>
          </p:nvPr>
        </p:nvSpPr>
        <p:spPr/>
        <p:txBody>
          <a:bodyPr/>
          <a:lstStyle/>
          <a:p>
            <a:pPr marL="0" indent="0">
              <a:buNone/>
            </a:pPr>
            <a:r>
              <a:rPr kumimoji="1" lang="ja-GB" altLang="en-US" dirty="0"/>
              <a:t>開始から各結節点（</a:t>
            </a:r>
            <a:r>
              <a:rPr kumimoji="1" lang="en-US" altLang="ja-GB" dirty="0"/>
              <a:t>node</a:t>
            </a:r>
            <a:r>
              <a:rPr kumimoji="1" lang="ja-GB" altLang="en-US" dirty="0"/>
              <a:t>）に到達するまでにかかる時間</a:t>
            </a:r>
            <a:br>
              <a:rPr kumimoji="1" lang="en-US" altLang="ja-GB" dirty="0"/>
            </a:br>
            <a:r>
              <a:rPr kumimoji="1" lang="ja-GB" altLang="en-US" sz="2000" dirty="0"/>
              <a:t>＝結合点を最も早く出発して，次の作業を開始できる時間</a:t>
            </a:r>
            <a:endParaRPr kumimoji="1" lang="en-US" altLang="ja-GB" dirty="0"/>
          </a:p>
          <a:p>
            <a:pPr marL="914400" lvl="1" indent="-457200">
              <a:buFont typeface="+mj-lt"/>
              <a:buAutoNum type="arabicPeriod"/>
            </a:pPr>
            <a:r>
              <a:rPr lang="ja-GB" altLang="en-US" dirty="0">
                <a:solidFill>
                  <a:srgbClr val="0070C0"/>
                </a:solidFill>
              </a:rPr>
              <a:t>開始地点</a:t>
            </a:r>
            <a:r>
              <a:rPr kumimoji="1" lang="ja-GB" altLang="en-US" dirty="0">
                <a:solidFill>
                  <a:srgbClr val="0070C0"/>
                </a:solidFill>
              </a:rPr>
              <a:t>の</a:t>
            </a:r>
            <a:r>
              <a:rPr kumimoji="1" lang="en-US" altLang="ja-GB" dirty="0">
                <a:solidFill>
                  <a:srgbClr val="0070C0"/>
                </a:solidFill>
              </a:rPr>
              <a:t>ET</a:t>
            </a:r>
            <a:r>
              <a:rPr lang="ja-GB" altLang="en-US" dirty="0">
                <a:solidFill>
                  <a:srgbClr val="0070C0"/>
                </a:solidFill>
              </a:rPr>
              <a:t>を</a:t>
            </a:r>
            <a:r>
              <a:rPr lang="en-US" altLang="ja-GB" dirty="0">
                <a:solidFill>
                  <a:srgbClr val="0070C0"/>
                </a:solidFill>
              </a:rPr>
              <a:t>0</a:t>
            </a:r>
            <a:r>
              <a:rPr lang="ja-GB" altLang="en-US" dirty="0">
                <a:solidFill>
                  <a:srgbClr val="0070C0"/>
                </a:solidFill>
              </a:rPr>
              <a:t>に設定</a:t>
            </a:r>
            <a:endParaRPr lang="en-US" altLang="ja-GB" dirty="0">
              <a:solidFill>
                <a:srgbClr val="0070C0"/>
              </a:solidFill>
            </a:endParaRPr>
          </a:p>
          <a:p>
            <a:pPr lvl="2"/>
            <a:r>
              <a:rPr kumimoji="1" lang="en-US" altLang="ja-GB" dirty="0">
                <a:solidFill>
                  <a:schemeClr val="tx1">
                    <a:lumMod val="50000"/>
                    <a:lumOff val="50000"/>
                  </a:schemeClr>
                </a:solidFill>
              </a:rPr>
              <a:t>ET</a:t>
            </a:r>
            <a:r>
              <a:rPr kumimoji="1" lang="en-US" altLang="ja-GB" baseline="-25000" dirty="0">
                <a:solidFill>
                  <a:schemeClr val="tx1">
                    <a:lumMod val="50000"/>
                    <a:lumOff val="50000"/>
                  </a:schemeClr>
                </a:solidFill>
              </a:rPr>
              <a:t>1</a:t>
            </a:r>
            <a:r>
              <a:rPr kumimoji="1" lang="ja-GB" altLang="en-US" dirty="0">
                <a:solidFill>
                  <a:schemeClr val="tx1">
                    <a:lumMod val="50000"/>
                    <a:lumOff val="50000"/>
                  </a:schemeClr>
                </a:solidFill>
              </a:rPr>
              <a:t>は</a:t>
            </a:r>
            <a:r>
              <a:rPr kumimoji="1" lang="en-US" altLang="ja-GB" dirty="0">
                <a:solidFill>
                  <a:schemeClr val="tx1">
                    <a:lumMod val="50000"/>
                    <a:lumOff val="50000"/>
                  </a:schemeClr>
                </a:solidFill>
              </a:rPr>
              <a:t>0</a:t>
            </a:r>
          </a:p>
          <a:p>
            <a:pPr lvl="4"/>
            <a:endParaRPr kumimoji="1" lang="en-US" altLang="ja-GB" dirty="0">
              <a:solidFill>
                <a:schemeClr val="tx1">
                  <a:lumMod val="50000"/>
                  <a:lumOff val="50000"/>
                </a:schemeClr>
              </a:solidFill>
            </a:endParaRPr>
          </a:p>
          <a:p>
            <a:pPr marL="914400" lvl="1" indent="-457200">
              <a:buFont typeface="+mj-lt"/>
              <a:buAutoNum type="arabicPeriod"/>
            </a:pPr>
            <a:endParaRPr lang="en-US" altLang="ja-GB" dirty="0">
              <a:solidFill>
                <a:schemeClr val="tx1">
                  <a:lumMod val="50000"/>
                  <a:lumOff val="50000"/>
                </a:schemeClr>
              </a:solidFill>
            </a:endParaRPr>
          </a:p>
          <a:p>
            <a:pPr lvl="4"/>
            <a:endParaRPr kumimoji="1" lang="en-US" altLang="ja-GB" dirty="0">
              <a:solidFill>
                <a:schemeClr val="tx1">
                  <a:lumMod val="50000"/>
                  <a:lumOff val="50000"/>
                </a:schemeClr>
              </a:solidFill>
            </a:endParaRPr>
          </a:p>
        </p:txBody>
      </p:sp>
      <p:sp>
        <p:nvSpPr>
          <p:cNvPr id="6" name="円/楕円 5">
            <a:extLst>
              <a:ext uri="{FF2B5EF4-FFF2-40B4-BE49-F238E27FC236}">
                <a16:creationId xmlns:a16="http://schemas.microsoft.com/office/drawing/2014/main" id="{D60937C0-0EE8-7222-748D-359997C58F83}"/>
              </a:ext>
            </a:extLst>
          </p:cNvPr>
          <p:cNvSpPr>
            <a:spLocks noChangeAspect="1"/>
          </p:cNvSpPr>
          <p:nvPr/>
        </p:nvSpPr>
        <p:spPr>
          <a:xfrm>
            <a:off x="1177783" y="499950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7" name="円/楕円 6">
            <a:extLst>
              <a:ext uri="{FF2B5EF4-FFF2-40B4-BE49-F238E27FC236}">
                <a16:creationId xmlns:a16="http://schemas.microsoft.com/office/drawing/2014/main" id="{859EDB8C-A773-0ECE-C82B-353DFD2A2283}"/>
              </a:ext>
            </a:extLst>
          </p:cNvPr>
          <p:cNvSpPr>
            <a:spLocks noChangeAspect="1"/>
          </p:cNvSpPr>
          <p:nvPr/>
        </p:nvSpPr>
        <p:spPr>
          <a:xfrm>
            <a:off x="2784514" y="4459577"/>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8" name="円/楕円 7">
            <a:extLst>
              <a:ext uri="{FF2B5EF4-FFF2-40B4-BE49-F238E27FC236}">
                <a16:creationId xmlns:a16="http://schemas.microsoft.com/office/drawing/2014/main" id="{D27B6D5F-2460-EBC1-39E5-2636EAC78516}"/>
              </a:ext>
            </a:extLst>
          </p:cNvPr>
          <p:cNvSpPr>
            <a:spLocks noChangeAspect="1"/>
          </p:cNvSpPr>
          <p:nvPr/>
        </p:nvSpPr>
        <p:spPr>
          <a:xfrm>
            <a:off x="2784514" y="5524384"/>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9" name="円/楕円 8">
            <a:extLst>
              <a:ext uri="{FF2B5EF4-FFF2-40B4-BE49-F238E27FC236}">
                <a16:creationId xmlns:a16="http://schemas.microsoft.com/office/drawing/2014/main" id="{F3E523C0-1585-B394-D43B-F8C6010A4E76}"/>
              </a:ext>
            </a:extLst>
          </p:cNvPr>
          <p:cNvSpPr>
            <a:spLocks noChangeAspect="1"/>
          </p:cNvSpPr>
          <p:nvPr/>
        </p:nvSpPr>
        <p:spPr>
          <a:xfrm>
            <a:off x="4408663" y="499950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0" name="円/楕円 9">
            <a:extLst>
              <a:ext uri="{FF2B5EF4-FFF2-40B4-BE49-F238E27FC236}">
                <a16:creationId xmlns:a16="http://schemas.microsoft.com/office/drawing/2014/main" id="{29DC5606-621E-D3E2-C1EE-9DA19AED8B97}"/>
              </a:ext>
            </a:extLst>
          </p:cNvPr>
          <p:cNvSpPr>
            <a:spLocks noChangeAspect="1"/>
          </p:cNvSpPr>
          <p:nvPr/>
        </p:nvSpPr>
        <p:spPr>
          <a:xfrm>
            <a:off x="6024103" y="4459577"/>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1" name="円/楕円 10">
            <a:extLst>
              <a:ext uri="{FF2B5EF4-FFF2-40B4-BE49-F238E27FC236}">
                <a16:creationId xmlns:a16="http://schemas.microsoft.com/office/drawing/2014/main" id="{746A9ABA-0D0F-F3AB-44D8-D05466D28769}"/>
              </a:ext>
            </a:extLst>
          </p:cNvPr>
          <p:cNvSpPr>
            <a:spLocks noChangeAspect="1"/>
          </p:cNvSpPr>
          <p:nvPr/>
        </p:nvSpPr>
        <p:spPr>
          <a:xfrm>
            <a:off x="7639543" y="499950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cxnSp>
        <p:nvCxnSpPr>
          <p:cNvPr id="13" name="直線矢印コネクタ 12">
            <a:extLst>
              <a:ext uri="{FF2B5EF4-FFF2-40B4-BE49-F238E27FC236}">
                <a16:creationId xmlns:a16="http://schemas.microsoft.com/office/drawing/2014/main" id="{9477E40D-A18F-4C04-2626-3E1D4EBBE598}"/>
              </a:ext>
            </a:extLst>
          </p:cNvPr>
          <p:cNvCxnSpPr>
            <a:cxnSpLocks/>
            <a:stCxn id="6" idx="6"/>
            <a:endCxn id="7" idx="2"/>
          </p:cNvCxnSpPr>
          <p:nvPr/>
        </p:nvCxnSpPr>
        <p:spPr>
          <a:xfrm flipV="1">
            <a:off x="1717715" y="4729543"/>
            <a:ext cx="1066799"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AEC095E3-AD7C-E85F-EFD9-3F6821BC051B}"/>
              </a:ext>
            </a:extLst>
          </p:cNvPr>
          <p:cNvCxnSpPr>
            <a:cxnSpLocks/>
            <a:stCxn id="6" idx="6"/>
            <a:endCxn id="8" idx="2"/>
          </p:cNvCxnSpPr>
          <p:nvPr/>
        </p:nvCxnSpPr>
        <p:spPr>
          <a:xfrm>
            <a:off x="1717715" y="5269475"/>
            <a:ext cx="1066799"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69D418B0-5CF8-8A92-B6A8-CF9394AF4CB6}"/>
              </a:ext>
            </a:extLst>
          </p:cNvPr>
          <p:cNvCxnSpPr>
            <a:cxnSpLocks/>
            <a:stCxn id="7" idx="6"/>
            <a:endCxn id="10" idx="2"/>
          </p:cNvCxnSpPr>
          <p:nvPr/>
        </p:nvCxnSpPr>
        <p:spPr>
          <a:xfrm>
            <a:off x="3324446" y="4729543"/>
            <a:ext cx="2699657"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229558A0-34D7-179A-BBBA-32937E4DD82B}"/>
              </a:ext>
            </a:extLst>
          </p:cNvPr>
          <p:cNvCxnSpPr>
            <a:cxnSpLocks/>
            <a:stCxn id="8" idx="6"/>
            <a:endCxn id="9" idx="2"/>
          </p:cNvCxnSpPr>
          <p:nvPr/>
        </p:nvCxnSpPr>
        <p:spPr>
          <a:xfrm flipV="1">
            <a:off x="3324446" y="5269475"/>
            <a:ext cx="1084217"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FEF80EE4-B413-1085-79D9-7186DBBC0606}"/>
              </a:ext>
            </a:extLst>
          </p:cNvPr>
          <p:cNvCxnSpPr>
            <a:cxnSpLocks/>
            <a:stCxn id="7" idx="6"/>
            <a:endCxn id="9" idx="2"/>
          </p:cNvCxnSpPr>
          <p:nvPr/>
        </p:nvCxnSpPr>
        <p:spPr>
          <a:xfrm>
            <a:off x="3324446" y="4729543"/>
            <a:ext cx="1084217"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08809F30-ED89-8F1F-DE5C-C678002E65A8}"/>
              </a:ext>
            </a:extLst>
          </p:cNvPr>
          <p:cNvCxnSpPr>
            <a:cxnSpLocks/>
            <a:stCxn id="9" idx="6"/>
            <a:endCxn id="10" idx="2"/>
          </p:cNvCxnSpPr>
          <p:nvPr/>
        </p:nvCxnSpPr>
        <p:spPr>
          <a:xfrm flipV="1">
            <a:off x="4948595" y="4729543"/>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93C3D07D-1BD2-D4C5-1BB9-CEDC2B2F7F11}"/>
              </a:ext>
            </a:extLst>
          </p:cNvPr>
          <p:cNvCxnSpPr>
            <a:cxnSpLocks/>
            <a:endCxn id="11" idx="2"/>
          </p:cNvCxnSpPr>
          <p:nvPr/>
        </p:nvCxnSpPr>
        <p:spPr>
          <a:xfrm>
            <a:off x="4948595" y="5269475"/>
            <a:ext cx="2690948"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19F15120-2786-EC89-8772-08A6DBDE51D7}"/>
              </a:ext>
            </a:extLst>
          </p:cNvPr>
          <p:cNvCxnSpPr>
            <a:cxnSpLocks/>
            <a:stCxn id="10" idx="6"/>
            <a:endCxn id="11" idx="2"/>
          </p:cNvCxnSpPr>
          <p:nvPr/>
        </p:nvCxnSpPr>
        <p:spPr>
          <a:xfrm>
            <a:off x="6564035" y="4729543"/>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813AA56B-7D42-E05F-AAB8-7FF1B2A0461E}"/>
              </a:ext>
            </a:extLst>
          </p:cNvPr>
          <p:cNvSpPr txBox="1"/>
          <p:nvPr/>
        </p:nvSpPr>
        <p:spPr>
          <a:xfrm>
            <a:off x="1901562" y="4676343"/>
            <a:ext cx="506870" cy="276999"/>
          </a:xfrm>
          <a:prstGeom prst="rect">
            <a:avLst/>
          </a:prstGeom>
          <a:noFill/>
          <a:ln w="38100">
            <a:noFill/>
          </a:ln>
        </p:spPr>
        <p:txBody>
          <a:bodyPr wrap="none" rtlCol="0" anchor="ctr">
            <a:spAutoFit/>
          </a:bodyPr>
          <a:lstStyle/>
          <a:p>
            <a:pPr algn="ctr"/>
            <a:r>
              <a:rPr kumimoji="1" lang="en-US" altLang="ja-GB" sz="1200" dirty="0"/>
              <a:t>A</a:t>
            </a:r>
            <a:r>
              <a:rPr kumimoji="1" lang="ja-GB" altLang="en-US" sz="1200" dirty="0"/>
              <a:t>：</a:t>
            </a:r>
            <a:r>
              <a:rPr kumimoji="1" lang="en-US" altLang="ja-GB" sz="1200" dirty="0"/>
              <a:t>3</a:t>
            </a:r>
          </a:p>
        </p:txBody>
      </p:sp>
      <p:sp>
        <p:nvSpPr>
          <p:cNvPr id="41" name="テキスト ボックス 40">
            <a:extLst>
              <a:ext uri="{FF2B5EF4-FFF2-40B4-BE49-F238E27FC236}">
                <a16:creationId xmlns:a16="http://schemas.microsoft.com/office/drawing/2014/main" id="{333CF1F2-01E6-37A8-6D70-867CD1DA0678}"/>
              </a:ext>
            </a:extLst>
          </p:cNvPr>
          <p:cNvSpPr txBox="1"/>
          <p:nvPr/>
        </p:nvSpPr>
        <p:spPr>
          <a:xfrm>
            <a:off x="1904769" y="5626764"/>
            <a:ext cx="500458" cy="276999"/>
          </a:xfrm>
          <a:prstGeom prst="rect">
            <a:avLst/>
          </a:prstGeom>
          <a:noFill/>
          <a:ln w="38100">
            <a:noFill/>
          </a:ln>
        </p:spPr>
        <p:txBody>
          <a:bodyPr wrap="none" rtlCol="0" anchor="ctr">
            <a:spAutoFit/>
          </a:bodyPr>
          <a:lstStyle/>
          <a:p>
            <a:pPr algn="ctr"/>
            <a:r>
              <a:rPr kumimoji="1" lang="en-US" altLang="ja-GB" sz="1200" dirty="0"/>
              <a:t>B</a:t>
            </a:r>
            <a:r>
              <a:rPr kumimoji="1" lang="ja-GB" altLang="en-US" sz="1200" dirty="0"/>
              <a:t>：</a:t>
            </a:r>
            <a:r>
              <a:rPr kumimoji="1" lang="en-US" altLang="ja-GB" sz="1200" dirty="0"/>
              <a:t>2</a:t>
            </a:r>
          </a:p>
        </p:txBody>
      </p:sp>
      <p:sp>
        <p:nvSpPr>
          <p:cNvPr id="42" name="テキスト ボックス 41">
            <a:extLst>
              <a:ext uri="{FF2B5EF4-FFF2-40B4-BE49-F238E27FC236}">
                <a16:creationId xmlns:a16="http://schemas.microsoft.com/office/drawing/2014/main" id="{CC3C08EE-B3AF-8CD9-A19B-010D0857E55B}"/>
              </a:ext>
            </a:extLst>
          </p:cNvPr>
          <p:cNvSpPr txBox="1"/>
          <p:nvPr/>
        </p:nvSpPr>
        <p:spPr>
          <a:xfrm>
            <a:off x="3447870" y="5670906"/>
            <a:ext cx="511679" cy="276999"/>
          </a:xfrm>
          <a:prstGeom prst="rect">
            <a:avLst/>
          </a:prstGeom>
          <a:noFill/>
          <a:ln w="38100">
            <a:noFill/>
          </a:ln>
        </p:spPr>
        <p:txBody>
          <a:bodyPr wrap="none" rtlCol="0" anchor="ctr">
            <a:spAutoFit/>
          </a:bodyPr>
          <a:lstStyle/>
          <a:p>
            <a:pPr algn="ctr"/>
            <a:r>
              <a:rPr kumimoji="1" lang="en-US" altLang="ja-GB" sz="1200" dirty="0"/>
              <a:t>D</a:t>
            </a:r>
            <a:r>
              <a:rPr kumimoji="1" lang="ja-GB" altLang="en-US" sz="1200" dirty="0"/>
              <a:t>：</a:t>
            </a:r>
            <a:r>
              <a:rPr kumimoji="1" lang="en-US" altLang="ja-GB" sz="1200" dirty="0"/>
              <a:t>5</a:t>
            </a:r>
          </a:p>
        </p:txBody>
      </p:sp>
      <p:sp>
        <p:nvSpPr>
          <p:cNvPr id="43" name="テキスト ボックス 42">
            <a:extLst>
              <a:ext uri="{FF2B5EF4-FFF2-40B4-BE49-F238E27FC236}">
                <a16:creationId xmlns:a16="http://schemas.microsoft.com/office/drawing/2014/main" id="{EF6B8F9B-558F-4A21-52C8-255825B5A89C}"/>
              </a:ext>
            </a:extLst>
          </p:cNvPr>
          <p:cNvSpPr txBox="1"/>
          <p:nvPr/>
        </p:nvSpPr>
        <p:spPr>
          <a:xfrm>
            <a:off x="3454283" y="4970537"/>
            <a:ext cx="498855" cy="276999"/>
          </a:xfrm>
          <a:prstGeom prst="rect">
            <a:avLst/>
          </a:prstGeom>
          <a:noFill/>
          <a:ln w="38100">
            <a:noFill/>
          </a:ln>
        </p:spPr>
        <p:txBody>
          <a:bodyPr wrap="none" rtlCol="0" anchor="ctr">
            <a:spAutoFit/>
          </a:bodyPr>
          <a:lstStyle/>
          <a:p>
            <a:pPr algn="ctr"/>
            <a:r>
              <a:rPr kumimoji="1" lang="en-US" altLang="ja-GB" sz="1200" dirty="0"/>
              <a:t>C</a:t>
            </a:r>
            <a:r>
              <a:rPr kumimoji="1" lang="ja-GB" altLang="en-US" sz="1200" dirty="0"/>
              <a:t>：</a:t>
            </a:r>
            <a:r>
              <a:rPr kumimoji="1" lang="en-US" altLang="ja-GB" sz="1200" dirty="0"/>
              <a:t>4</a:t>
            </a:r>
          </a:p>
        </p:txBody>
      </p:sp>
      <p:sp>
        <p:nvSpPr>
          <p:cNvPr id="44" name="テキスト ボックス 43">
            <a:extLst>
              <a:ext uri="{FF2B5EF4-FFF2-40B4-BE49-F238E27FC236}">
                <a16:creationId xmlns:a16="http://schemas.microsoft.com/office/drawing/2014/main" id="{8EE77519-A054-FB0A-C37D-82CF5755C7B6}"/>
              </a:ext>
            </a:extLst>
          </p:cNvPr>
          <p:cNvSpPr txBox="1"/>
          <p:nvPr/>
        </p:nvSpPr>
        <p:spPr>
          <a:xfrm>
            <a:off x="4477719" y="4420639"/>
            <a:ext cx="492443" cy="276999"/>
          </a:xfrm>
          <a:prstGeom prst="rect">
            <a:avLst/>
          </a:prstGeom>
          <a:noFill/>
          <a:ln w="38100">
            <a:noFill/>
          </a:ln>
        </p:spPr>
        <p:txBody>
          <a:bodyPr wrap="none" rtlCol="0" anchor="ctr">
            <a:spAutoFit/>
          </a:bodyPr>
          <a:lstStyle/>
          <a:p>
            <a:pPr algn="ctr"/>
            <a:r>
              <a:rPr kumimoji="1" lang="en-US" altLang="ja-GB" sz="1200" dirty="0"/>
              <a:t>E</a:t>
            </a:r>
            <a:r>
              <a:rPr kumimoji="1" lang="ja-GB" altLang="en-US" sz="1200" dirty="0"/>
              <a:t>：</a:t>
            </a:r>
            <a:r>
              <a:rPr kumimoji="1" lang="en-US" altLang="ja-GB" sz="1200" dirty="0"/>
              <a:t>1</a:t>
            </a:r>
          </a:p>
        </p:txBody>
      </p:sp>
      <p:sp>
        <p:nvSpPr>
          <p:cNvPr id="45" name="テキスト ボックス 44">
            <a:extLst>
              <a:ext uri="{FF2B5EF4-FFF2-40B4-BE49-F238E27FC236}">
                <a16:creationId xmlns:a16="http://schemas.microsoft.com/office/drawing/2014/main" id="{1BF6025B-1B38-85CA-9512-3A8C9025874B}"/>
              </a:ext>
            </a:extLst>
          </p:cNvPr>
          <p:cNvSpPr txBox="1"/>
          <p:nvPr/>
        </p:nvSpPr>
        <p:spPr>
          <a:xfrm>
            <a:off x="5431776" y="4940846"/>
            <a:ext cx="514885" cy="276999"/>
          </a:xfrm>
          <a:prstGeom prst="rect">
            <a:avLst/>
          </a:prstGeom>
          <a:noFill/>
          <a:ln w="38100">
            <a:noFill/>
          </a:ln>
        </p:spPr>
        <p:txBody>
          <a:bodyPr wrap="none" rtlCol="0" anchor="ctr">
            <a:spAutoFit/>
          </a:bodyPr>
          <a:lstStyle/>
          <a:p>
            <a:pPr algn="ctr"/>
            <a:r>
              <a:rPr kumimoji="1" lang="en-US" altLang="ja-GB" sz="1200" dirty="0"/>
              <a:t>G</a:t>
            </a:r>
            <a:r>
              <a:rPr kumimoji="1" lang="ja-GB" altLang="en-US" sz="1200" dirty="0"/>
              <a:t>：</a:t>
            </a:r>
            <a:r>
              <a:rPr kumimoji="1" lang="en-US" altLang="ja-GB" sz="1200" dirty="0"/>
              <a:t>3</a:t>
            </a:r>
          </a:p>
        </p:txBody>
      </p:sp>
      <p:sp>
        <p:nvSpPr>
          <p:cNvPr id="46" name="テキスト ボックス 45">
            <a:extLst>
              <a:ext uri="{FF2B5EF4-FFF2-40B4-BE49-F238E27FC236}">
                <a16:creationId xmlns:a16="http://schemas.microsoft.com/office/drawing/2014/main" id="{A9AB5933-32E0-27F7-331B-6EDAFB2428D6}"/>
              </a:ext>
            </a:extLst>
          </p:cNvPr>
          <p:cNvSpPr txBox="1"/>
          <p:nvPr/>
        </p:nvSpPr>
        <p:spPr>
          <a:xfrm>
            <a:off x="6050252" y="5304197"/>
            <a:ext cx="487633" cy="276999"/>
          </a:xfrm>
          <a:prstGeom prst="rect">
            <a:avLst/>
          </a:prstGeom>
          <a:noFill/>
          <a:ln w="38100">
            <a:noFill/>
          </a:ln>
        </p:spPr>
        <p:txBody>
          <a:bodyPr wrap="none" rtlCol="0" anchor="ctr">
            <a:spAutoFit/>
          </a:bodyPr>
          <a:lstStyle/>
          <a:p>
            <a:pPr algn="ctr"/>
            <a:r>
              <a:rPr kumimoji="1" lang="en-US" altLang="ja-GB" sz="1200" dirty="0"/>
              <a:t>F</a:t>
            </a:r>
            <a:r>
              <a:rPr kumimoji="1" lang="ja-GB" altLang="en-US" sz="1200" dirty="0"/>
              <a:t>：</a:t>
            </a:r>
            <a:r>
              <a:rPr kumimoji="1" lang="en-US" altLang="ja-GB" sz="1200" dirty="0"/>
              <a:t>6</a:t>
            </a:r>
          </a:p>
        </p:txBody>
      </p:sp>
      <p:sp>
        <p:nvSpPr>
          <p:cNvPr id="47" name="テキスト ボックス 46">
            <a:extLst>
              <a:ext uri="{FF2B5EF4-FFF2-40B4-BE49-F238E27FC236}">
                <a16:creationId xmlns:a16="http://schemas.microsoft.com/office/drawing/2014/main" id="{BC99661B-BA4A-8E6F-70A6-8118BB7E9600}"/>
              </a:ext>
            </a:extLst>
          </p:cNvPr>
          <p:cNvSpPr txBox="1"/>
          <p:nvPr/>
        </p:nvSpPr>
        <p:spPr>
          <a:xfrm>
            <a:off x="6985797" y="4699799"/>
            <a:ext cx="513282" cy="276999"/>
          </a:xfrm>
          <a:prstGeom prst="rect">
            <a:avLst/>
          </a:prstGeom>
          <a:noFill/>
          <a:ln w="38100">
            <a:noFill/>
          </a:ln>
        </p:spPr>
        <p:txBody>
          <a:bodyPr wrap="none" rtlCol="0" anchor="ctr">
            <a:spAutoFit/>
          </a:bodyPr>
          <a:lstStyle/>
          <a:p>
            <a:pPr algn="ctr"/>
            <a:r>
              <a:rPr kumimoji="1" lang="en-US" altLang="ja-GB" sz="1200" dirty="0"/>
              <a:t>H</a:t>
            </a:r>
            <a:r>
              <a:rPr kumimoji="1" lang="ja-GB" altLang="en-US" sz="1200" dirty="0"/>
              <a:t>：</a:t>
            </a:r>
            <a:r>
              <a:rPr kumimoji="1" lang="en-US" altLang="ja-GB" sz="1200" dirty="0"/>
              <a:t>2</a:t>
            </a:r>
          </a:p>
        </p:txBody>
      </p:sp>
      <p:sp>
        <p:nvSpPr>
          <p:cNvPr id="55" name="テキスト ボックス 54">
            <a:extLst>
              <a:ext uri="{FF2B5EF4-FFF2-40B4-BE49-F238E27FC236}">
                <a16:creationId xmlns:a16="http://schemas.microsoft.com/office/drawing/2014/main" id="{E0CE8F6D-B889-580B-27D0-5C4D13CFA5FA}"/>
              </a:ext>
            </a:extLst>
          </p:cNvPr>
          <p:cNvSpPr txBox="1"/>
          <p:nvPr/>
        </p:nvSpPr>
        <p:spPr>
          <a:xfrm>
            <a:off x="1207362" y="5130975"/>
            <a:ext cx="480773" cy="276999"/>
          </a:xfrm>
          <a:prstGeom prst="rect">
            <a:avLst/>
          </a:prstGeom>
          <a:noFill/>
          <a:ln w="38100">
            <a:noFill/>
          </a:ln>
        </p:spPr>
        <p:txBody>
          <a:bodyPr wrap="none" rtlCol="0" anchor="ctr">
            <a:spAutoFit/>
          </a:bodyPr>
          <a:lstStyle/>
          <a:p>
            <a:pPr algn="ctr"/>
            <a:r>
              <a:rPr kumimoji="1" lang="en-US" altLang="ja-GB" sz="1200" dirty="0">
                <a:solidFill>
                  <a:schemeClr val="accent2"/>
                </a:solidFill>
              </a:rPr>
              <a:t>ET: 0</a:t>
            </a:r>
          </a:p>
        </p:txBody>
      </p:sp>
    </p:spTree>
    <p:extLst>
      <p:ext uri="{BB962C8B-B14F-4D97-AF65-F5344CB8AC3E}">
        <p14:creationId xmlns:p14="http://schemas.microsoft.com/office/powerpoint/2010/main" val="1738407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75DCC-E02F-7E9A-8C8A-16319674DCC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8690700-9E47-3C0D-C33E-2728E5C039AD}"/>
              </a:ext>
            </a:extLst>
          </p:cNvPr>
          <p:cNvSpPr>
            <a:spLocks noGrp="1"/>
          </p:cNvSpPr>
          <p:nvPr>
            <p:ph type="title"/>
          </p:nvPr>
        </p:nvSpPr>
        <p:spPr/>
        <p:txBody>
          <a:bodyPr/>
          <a:lstStyle/>
          <a:p>
            <a:r>
              <a:rPr lang="ja-JP" altLang="en-US"/>
              <a:t>最早結合点時刻（</a:t>
            </a:r>
            <a:r>
              <a:rPr lang="en-US" altLang="ja-JP" dirty="0"/>
              <a:t>ET</a:t>
            </a:r>
            <a:r>
              <a:rPr lang="ja-JP" altLang="en-US"/>
              <a:t>：</a:t>
            </a:r>
            <a:r>
              <a:rPr lang="en-US" altLang="ja-JP" dirty="0"/>
              <a:t>earliest node time</a:t>
            </a:r>
            <a:r>
              <a:rPr lang="ja-JP" altLang="en-US"/>
              <a:t>）</a:t>
            </a:r>
            <a:endParaRPr kumimoji="1" lang="ja-GB" altLang="en-US" dirty="0"/>
          </a:p>
        </p:txBody>
      </p:sp>
      <p:sp>
        <p:nvSpPr>
          <p:cNvPr id="3" name="コンテンツ プレースホルダー 2">
            <a:extLst>
              <a:ext uri="{FF2B5EF4-FFF2-40B4-BE49-F238E27FC236}">
                <a16:creationId xmlns:a16="http://schemas.microsoft.com/office/drawing/2014/main" id="{58DFDB7B-D052-9B9E-5074-3B862529D197}"/>
              </a:ext>
            </a:extLst>
          </p:cNvPr>
          <p:cNvSpPr>
            <a:spLocks noGrp="1"/>
          </p:cNvSpPr>
          <p:nvPr>
            <p:ph idx="1"/>
          </p:nvPr>
        </p:nvSpPr>
        <p:spPr/>
        <p:txBody>
          <a:bodyPr/>
          <a:lstStyle/>
          <a:p>
            <a:pPr marL="0" indent="0">
              <a:buNone/>
            </a:pPr>
            <a:r>
              <a:rPr lang="ja-GB" altLang="en-US" dirty="0"/>
              <a:t>開始から各結節点（</a:t>
            </a:r>
            <a:r>
              <a:rPr lang="en-US" altLang="ja-GB" dirty="0"/>
              <a:t>node</a:t>
            </a:r>
            <a:r>
              <a:rPr lang="ja-GB" altLang="en-US" dirty="0"/>
              <a:t>）に到達するまでにかかる時間</a:t>
            </a:r>
            <a:br>
              <a:rPr lang="en-US" altLang="ja-GB" dirty="0"/>
            </a:br>
            <a:r>
              <a:rPr lang="ja-GB" altLang="en-US" sz="2000" dirty="0"/>
              <a:t>＝結合点を最も早く出発して，次の作業を開始できる時間</a:t>
            </a:r>
            <a:endParaRPr lang="en-US" altLang="ja-GB" dirty="0"/>
          </a:p>
          <a:p>
            <a:pPr marL="914400" lvl="1" indent="-457200">
              <a:buFont typeface="+mj-lt"/>
              <a:buAutoNum type="arabicPeriod"/>
            </a:pPr>
            <a:r>
              <a:rPr lang="ja-GB" altLang="en-US" dirty="0">
                <a:solidFill>
                  <a:schemeClr val="tx1">
                    <a:lumMod val="50000"/>
                    <a:lumOff val="50000"/>
                  </a:schemeClr>
                </a:solidFill>
              </a:rPr>
              <a:t>開始地点の</a:t>
            </a:r>
            <a:r>
              <a:rPr lang="en-US" altLang="ja-GB" dirty="0">
                <a:solidFill>
                  <a:schemeClr val="tx1">
                    <a:lumMod val="50000"/>
                    <a:lumOff val="50000"/>
                  </a:schemeClr>
                </a:solidFill>
              </a:rPr>
              <a:t>ET</a:t>
            </a:r>
            <a:r>
              <a:rPr lang="ja-GB" altLang="en-US" dirty="0">
                <a:solidFill>
                  <a:schemeClr val="tx1">
                    <a:lumMod val="50000"/>
                    <a:lumOff val="50000"/>
                  </a:schemeClr>
                </a:solidFill>
              </a:rPr>
              <a:t>を</a:t>
            </a:r>
            <a:r>
              <a:rPr lang="en-US" altLang="ja-GB" dirty="0">
                <a:solidFill>
                  <a:schemeClr val="tx1">
                    <a:lumMod val="50000"/>
                    <a:lumOff val="50000"/>
                  </a:schemeClr>
                </a:solidFill>
              </a:rPr>
              <a:t>0</a:t>
            </a:r>
            <a:r>
              <a:rPr lang="ja-GB" altLang="en-US" dirty="0">
                <a:solidFill>
                  <a:schemeClr val="tx1">
                    <a:lumMod val="50000"/>
                    <a:lumOff val="50000"/>
                  </a:schemeClr>
                </a:solidFill>
              </a:rPr>
              <a:t>に設定</a:t>
            </a:r>
            <a:endParaRPr lang="en-US" altLang="ja-GB" dirty="0">
              <a:solidFill>
                <a:schemeClr val="tx1">
                  <a:lumMod val="50000"/>
                  <a:lumOff val="50000"/>
                </a:schemeClr>
              </a:solidFill>
            </a:endParaRPr>
          </a:p>
          <a:p>
            <a:pPr lvl="2"/>
            <a:r>
              <a:rPr lang="en-US" altLang="ja-GB" dirty="0">
                <a:solidFill>
                  <a:schemeClr val="tx1">
                    <a:lumMod val="50000"/>
                    <a:lumOff val="50000"/>
                  </a:schemeClr>
                </a:solidFill>
              </a:rPr>
              <a:t>ET</a:t>
            </a:r>
            <a:r>
              <a:rPr lang="en-US" altLang="ja-GB" baseline="-25000" dirty="0">
                <a:solidFill>
                  <a:schemeClr val="tx1">
                    <a:lumMod val="50000"/>
                    <a:lumOff val="50000"/>
                  </a:schemeClr>
                </a:solidFill>
              </a:rPr>
              <a:t>1</a:t>
            </a:r>
            <a:r>
              <a:rPr lang="ja-GB" altLang="en-US" dirty="0">
                <a:solidFill>
                  <a:schemeClr val="tx1">
                    <a:lumMod val="50000"/>
                    <a:lumOff val="50000"/>
                  </a:schemeClr>
                </a:solidFill>
              </a:rPr>
              <a:t>は</a:t>
            </a:r>
            <a:r>
              <a:rPr lang="en-US" altLang="ja-GB" dirty="0">
                <a:solidFill>
                  <a:schemeClr val="tx1">
                    <a:lumMod val="50000"/>
                    <a:lumOff val="50000"/>
                  </a:schemeClr>
                </a:solidFill>
              </a:rPr>
              <a:t>0</a:t>
            </a:r>
          </a:p>
          <a:p>
            <a:pPr lvl="4"/>
            <a:endParaRPr lang="en-US" altLang="ja-GB" dirty="0">
              <a:solidFill>
                <a:schemeClr val="tx1">
                  <a:lumMod val="50000"/>
                  <a:lumOff val="50000"/>
                </a:schemeClr>
              </a:solidFill>
            </a:endParaRPr>
          </a:p>
          <a:p>
            <a:pPr marL="914400" lvl="1" indent="-457200">
              <a:buFont typeface="+mj-lt"/>
              <a:buAutoNum type="arabicPeriod"/>
            </a:pPr>
            <a:r>
              <a:rPr lang="ja-GB" altLang="en-US" dirty="0">
                <a:solidFill>
                  <a:srgbClr val="0070C0"/>
                </a:solidFill>
              </a:rPr>
              <a:t>各結合点の</a:t>
            </a:r>
            <a:r>
              <a:rPr lang="en-US" altLang="ja-GB" dirty="0">
                <a:solidFill>
                  <a:srgbClr val="0070C0"/>
                </a:solidFill>
              </a:rPr>
              <a:t>ET</a:t>
            </a:r>
            <a:r>
              <a:rPr lang="ja-GB" altLang="en-US" dirty="0">
                <a:solidFill>
                  <a:srgbClr val="0070C0"/>
                </a:solidFill>
              </a:rPr>
              <a:t>を計算</a:t>
            </a:r>
            <a:endParaRPr lang="en-US" altLang="ja-GB" dirty="0">
              <a:solidFill>
                <a:srgbClr val="0070C0"/>
              </a:solidFill>
            </a:endParaRPr>
          </a:p>
          <a:p>
            <a:pPr lvl="2"/>
            <a:r>
              <a:rPr lang="ja-GB" altLang="en-US" dirty="0">
                <a:solidFill>
                  <a:srgbClr val="2F2523"/>
                </a:solidFill>
              </a:rPr>
              <a:t>終点の</a:t>
            </a:r>
            <a:r>
              <a:rPr lang="en-US" altLang="ja-GB" dirty="0">
                <a:solidFill>
                  <a:srgbClr val="2F2523"/>
                </a:solidFill>
              </a:rPr>
              <a:t>ET = </a:t>
            </a:r>
            <a:r>
              <a:rPr lang="ja-GB" altLang="en-US" dirty="0">
                <a:solidFill>
                  <a:srgbClr val="2F2523"/>
                </a:solidFill>
              </a:rPr>
              <a:t>始点の</a:t>
            </a:r>
            <a:r>
              <a:rPr lang="en-US" altLang="ja-GB" dirty="0">
                <a:solidFill>
                  <a:srgbClr val="2F2523"/>
                </a:solidFill>
              </a:rPr>
              <a:t>ET + </a:t>
            </a:r>
            <a:r>
              <a:rPr lang="ja-GB" altLang="en-US" dirty="0">
                <a:solidFill>
                  <a:srgbClr val="2F2523"/>
                </a:solidFill>
              </a:rPr>
              <a:t>作業日数</a:t>
            </a:r>
            <a:endParaRPr lang="en-US" altLang="ja-GB" dirty="0">
              <a:solidFill>
                <a:srgbClr val="2F2523"/>
              </a:solidFill>
            </a:endParaRPr>
          </a:p>
          <a:p>
            <a:pPr lvl="2"/>
            <a:endParaRPr lang="en-US" altLang="ja-GB" dirty="0">
              <a:solidFill>
                <a:srgbClr val="2F2523"/>
              </a:solidFill>
            </a:endParaRPr>
          </a:p>
          <a:p>
            <a:pPr lvl="4"/>
            <a:endParaRPr lang="en-US" altLang="ja-GB" dirty="0">
              <a:solidFill>
                <a:schemeClr val="tx1">
                  <a:lumMod val="50000"/>
                  <a:lumOff val="50000"/>
                </a:schemeClr>
              </a:solidFill>
            </a:endParaRPr>
          </a:p>
        </p:txBody>
      </p:sp>
      <p:sp>
        <p:nvSpPr>
          <p:cNvPr id="6" name="円/楕円 5">
            <a:extLst>
              <a:ext uri="{FF2B5EF4-FFF2-40B4-BE49-F238E27FC236}">
                <a16:creationId xmlns:a16="http://schemas.microsoft.com/office/drawing/2014/main" id="{97E7166E-F970-4B02-6A57-A3FCAE449000}"/>
              </a:ext>
            </a:extLst>
          </p:cNvPr>
          <p:cNvSpPr>
            <a:spLocks noChangeAspect="1"/>
          </p:cNvSpPr>
          <p:nvPr/>
        </p:nvSpPr>
        <p:spPr>
          <a:xfrm>
            <a:off x="1177783" y="499950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7" name="円/楕円 6">
            <a:extLst>
              <a:ext uri="{FF2B5EF4-FFF2-40B4-BE49-F238E27FC236}">
                <a16:creationId xmlns:a16="http://schemas.microsoft.com/office/drawing/2014/main" id="{8CE199F5-846E-8F42-736D-66964083201E}"/>
              </a:ext>
            </a:extLst>
          </p:cNvPr>
          <p:cNvSpPr>
            <a:spLocks noChangeAspect="1"/>
          </p:cNvSpPr>
          <p:nvPr/>
        </p:nvSpPr>
        <p:spPr>
          <a:xfrm>
            <a:off x="2784514" y="4459577"/>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8" name="円/楕円 7">
            <a:extLst>
              <a:ext uri="{FF2B5EF4-FFF2-40B4-BE49-F238E27FC236}">
                <a16:creationId xmlns:a16="http://schemas.microsoft.com/office/drawing/2014/main" id="{3157BFBF-ABF9-AF6F-FF55-77AD5737E8A7}"/>
              </a:ext>
            </a:extLst>
          </p:cNvPr>
          <p:cNvSpPr>
            <a:spLocks noChangeAspect="1"/>
          </p:cNvSpPr>
          <p:nvPr/>
        </p:nvSpPr>
        <p:spPr>
          <a:xfrm>
            <a:off x="2784514" y="5524384"/>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9" name="円/楕円 8">
            <a:extLst>
              <a:ext uri="{FF2B5EF4-FFF2-40B4-BE49-F238E27FC236}">
                <a16:creationId xmlns:a16="http://schemas.microsoft.com/office/drawing/2014/main" id="{65D7D196-C397-6C07-1EE3-9544D439DD19}"/>
              </a:ext>
            </a:extLst>
          </p:cNvPr>
          <p:cNvSpPr>
            <a:spLocks noChangeAspect="1"/>
          </p:cNvSpPr>
          <p:nvPr/>
        </p:nvSpPr>
        <p:spPr>
          <a:xfrm>
            <a:off x="4408663" y="499950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0" name="円/楕円 9">
            <a:extLst>
              <a:ext uri="{FF2B5EF4-FFF2-40B4-BE49-F238E27FC236}">
                <a16:creationId xmlns:a16="http://schemas.microsoft.com/office/drawing/2014/main" id="{4B58ECE7-886D-E700-33BE-AF965A974BF5}"/>
              </a:ext>
            </a:extLst>
          </p:cNvPr>
          <p:cNvSpPr>
            <a:spLocks noChangeAspect="1"/>
          </p:cNvSpPr>
          <p:nvPr/>
        </p:nvSpPr>
        <p:spPr>
          <a:xfrm>
            <a:off x="6024103" y="4459577"/>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1" name="円/楕円 10">
            <a:extLst>
              <a:ext uri="{FF2B5EF4-FFF2-40B4-BE49-F238E27FC236}">
                <a16:creationId xmlns:a16="http://schemas.microsoft.com/office/drawing/2014/main" id="{7DA9AB77-A124-57F6-F86B-5E46F1C325FA}"/>
              </a:ext>
            </a:extLst>
          </p:cNvPr>
          <p:cNvSpPr>
            <a:spLocks noChangeAspect="1"/>
          </p:cNvSpPr>
          <p:nvPr/>
        </p:nvSpPr>
        <p:spPr>
          <a:xfrm>
            <a:off x="7639543" y="499950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cxnSp>
        <p:nvCxnSpPr>
          <p:cNvPr id="13" name="直線矢印コネクタ 12">
            <a:extLst>
              <a:ext uri="{FF2B5EF4-FFF2-40B4-BE49-F238E27FC236}">
                <a16:creationId xmlns:a16="http://schemas.microsoft.com/office/drawing/2014/main" id="{A7AC71CE-898C-5EBE-2B3D-5DF34AB12E09}"/>
              </a:ext>
            </a:extLst>
          </p:cNvPr>
          <p:cNvCxnSpPr>
            <a:cxnSpLocks/>
            <a:stCxn id="6" idx="6"/>
            <a:endCxn id="7" idx="2"/>
          </p:cNvCxnSpPr>
          <p:nvPr/>
        </p:nvCxnSpPr>
        <p:spPr>
          <a:xfrm flipV="1">
            <a:off x="1717715" y="4729543"/>
            <a:ext cx="1066799"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D1FDE695-8A35-A3CD-05A9-75DDA20372E4}"/>
              </a:ext>
            </a:extLst>
          </p:cNvPr>
          <p:cNvCxnSpPr>
            <a:cxnSpLocks/>
            <a:stCxn id="6" idx="6"/>
            <a:endCxn id="8" idx="2"/>
          </p:cNvCxnSpPr>
          <p:nvPr/>
        </p:nvCxnSpPr>
        <p:spPr>
          <a:xfrm>
            <a:off x="1717715" y="5269475"/>
            <a:ext cx="1066799"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7B31D364-B843-4300-0B2C-D40AC424603A}"/>
              </a:ext>
            </a:extLst>
          </p:cNvPr>
          <p:cNvCxnSpPr>
            <a:cxnSpLocks/>
            <a:stCxn id="7" idx="6"/>
            <a:endCxn id="10" idx="2"/>
          </p:cNvCxnSpPr>
          <p:nvPr/>
        </p:nvCxnSpPr>
        <p:spPr>
          <a:xfrm>
            <a:off x="3324446" y="4729543"/>
            <a:ext cx="2699657"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C50459DC-48EB-84D9-D417-94F824F4F853}"/>
              </a:ext>
            </a:extLst>
          </p:cNvPr>
          <p:cNvCxnSpPr>
            <a:cxnSpLocks/>
            <a:stCxn id="8" idx="6"/>
            <a:endCxn id="9" idx="2"/>
          </p:cNvCxnSpPr>
          <p:nvPr/>
        </p:nvCxnSpPr>
        <p:spPr>
          <a:xfrm flipV="1">
            <a:off x="3324446" y="5269475"/>
            <a:ext cx="1084217"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6AC260C7-0C46-3035-BD7B-0257B79DABDE}"/>
              </a:ext>
            </a:extLst>
          </p:cNvPr>
          <p:cNvCxnSpPr>
            <a:cxnSpLocks/>
            <a:stCxn id="7" idx="6"/>
            <a:endCxn id="9" idx="2"/>
          </p:cNvCxnSpPr>
          <p:nvPr/>
        </p:nvCxnSpPr>
        <p:spPr>
          <a:xfrm>
            <a:off x="3324446" y="4729543"/>
            <a:ext cx="1084217"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665BD006-8FB2-A63F-8160-963BDB8BDB90}"/>
              </a:ext>
            </a:extLst>
          </p:cNvPr>
          <p:cNvCxnSpPr>
            <a:cxnSpLocks/>
            <a:stCxn id="9" idx="6"/>
            <a:endCxn id="10" idx="2"/>
          </p:cNvCxnSpPr>
          <p:nvPr/>
        </p:nvCxnSpPr>
        <p:spPr>
          <a:xfrm flipV="1">
            <a:off x="4948595" y="4729543"/>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8C0AD2E2-DE05-6C79-366F-9EBA8B10BC94}"/>
              </a:ext>
            </a:extLst>
          </p:cNvPr>
          <p:cNvCxnSpPr>
            <a:cxnSpLocks/>
            <a:endCxn id="11" idx="2"/>
          </p:cNvCxnSpPr>
          <p:nvPr/>
        </p:nvCxnSpPr>
        <p:spPr>
          <a:xfrm>
            <a:off x="4948595" y="5269475"/>
            <a:ext cx="2690948"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0BA85FD4-A8F1-8597-A344-E90B05C39340}"/>
              </a:ext>
            </a:extLst>
          </p:cNvPr>
          <p:cNvCxnSpPr>
            <a:cxnSpLocks/>
            <a:stCxn id="10" idx="6"/>
            <a:endCxn id="11" idx="2"/>
          </p:cNvCxnSpPr>
          <p:nvPr/>
        </p:nvCxnSpPr>
        <p:spPr>
          <a:xfrm>
            <a:off x="6564035" y="4729543"/>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60891FCA-9769-C2F6-AEF7-E43B7EADFC3A}"/>
              </a:ext>
            </a:extLst>
          </p:cNvPr>
          <p:cNvSpPr txBox="1"/>
          <p:nvPr/>
        </p:nvSpPr>
        <p:spPr>
          <a:xfrm>
            <a:off x="1901562" y="4676343"/>
            <a:ext cx="506870" cy="276999"/>
          </a:xfrm>
          <a:prstGeom prst="rect">
            <a:avLst/>
          </a:prstGeom>
          <a:noFill/>
          <a:ln w="38100">
            <a:noFill/>
          </a:ln>
        </p:spPr>
        <p:txBody>
          <a:bodyPr wrap="none" rtlCol="0" anchor="ctr">
            <a:spAutoFit/>
          </a:bodyPr>
          <a:lstStyle/>
          <a:p>
            <a:pPr algn="ctr"/>
            <a:r>
              <a:rPr kumimoji="1" lang="en-US" altLang="ja-GB" sz="1200" dirty="0">
                <a:solidFill>
                  <a:srgbClr val="0070C0"/>
                </a:solidFill>
              </a:rPr>
              <a:t>A</a:t>
            </a:r>
            <a:r>
              <a:rPr kumimoji="1" lang="ja-GB" altLang="en-US" sz="1200" dirty="0">
                <a:solidFill>
                  <a:srgbClr val="0070C0"/>
                </a:solidFill>
              </a:rPr>
              <a:t>：</a:t>
            </a:r>
            <a:r>
              <a:rPr kumimoji="1" lang="en-US" altLang="ja-GB" sz="1200" dirty="0">
                <a:solidFill>
                  <a:srgbClr val="0070C0"/>
                </a:solidFill>
              </a:rPr>
              <a:t>3</a:t>
            </a:r>
          </a:p>
        </p:txBody>
      </p:sp>
      <p:sp>
        <p:nvSpPr>
          <p:cNvPr id="41" name="テキスト ボックス 40">
            <a:extLst>
              <a:ext uri="{FF2B5EF4-FFF2-40B4-BE49-F238E27FC236}">
                <a16:creationId xmlns:a16="http://schemas.microsoft.com/office/drawing/2014/main" id="{FB4606CA-4E91-2170-E900-5CDB791024EA}"/>
              </a:ext>
            </a:extLst>
          </p:cNvPr>
          <p:cNvSpPr txBox="1"/>
          <p:nvPr/>
        </p:nvSpPr>
        <p:spPr>
          <a:xfrm>
            <a:off x="1904769" y="5626764"/>
            <a:ext cx="500458" cy="276999"/>
          </a:xfrm>
          <a:prstGeom prst="rect">
            <a:avLst/>
          </a:prstGeom>
          <a:noFill/>
          <a:ln w="38100">
            <a:noFill/>
          </a:ln>
        </p:spPr>
        <p:txBody>
          <a:bodyPr wrap="none" rtlCol="0" anchor="ctr">
            <a:spAutoFit/>
          </a:bodyPr>
          <a:lstStyle/>
          <a:p>
            <a:pPr algn="ctr"/>
            <a:r>
              <a:rPr kumimoji="1" lang="en-US" altLang="ja-GB" sz="1200" dirty="0">
                <a:solidFill>
                  <a:srgbClr val="0070C0"/>
                </a:solidFill>
              </a:rPr>
              <a:t>B</a:t>
            </a:r>
            <a:r>
              <a:rPr kumimoji="1" lang="ja-GB" altLang="en-US" sz="1200" dirty="0">
                <a:solidFill>
                  <a:srgbClr val="0070C0"/>
                </a:solidFill>
              </a:rPr>
              <a:t>：</a:t>
            </a:r>
            <a:r>
              <a:rPr kumimoji="1" lang="en-US" altLang="ja-GB" sz="1200" dirty="0">
                <a:solidFill>
                  <a:srgbClr val="0070C0"/>
                </a:solidFill>
              </a:rPr>
              <a:t>2</a:t>
            </a:r>
          </a:p>
        </p:txBody>
      </p:sp>
      <p:sp>
        <p:nvSpPr>
          <p:cNvPr id="42" name="テキスト ボックス 41">
            <a:extLst>
              <a:ext uri="{FF2B5EF4-FFF2-40B4-BE49-F238E27FC236}">
                <a16:creationId xmlns:a16="http://schemas.microsoft.com/office/drawing/2014/main" id="{4AE96D2C-F989-34E2-D7B7-4589524D14D1}"/>
              </a:ext>
            </a:extLst>
          </p:cNvPr>
          <p:cNvSpPr txBox="1"/>
          <p:nvPr/>
        </p:nvSpPr>
        <p:spPr>
          <a:xfrm>
            <a:off x="3447870" y="5670906"/>
            <a:ext cx="511679" cy="276999"/>
          </a:xfrm>
          <a:prstGeom prst="rect">
            <a:avLst/>
          </a:prstGeom>
          <a:noFill/>
          <a:ln w="38100">
            <a:noFill/>
          </a:ln>
        </p:spPr>
        <p:txBody>
          <a:bodyPr wrap="none" rtlCol="0" anchor="ctr">
            <a:spAutoFit/>
          </a:bodyPr>
          <a:lstStyle/>
          <a:p>
            <a:pPr algn="ctr"/>
            <a:r>
              <a:rPr kumimoji="1" lang="en-US" altLang="ja-GB" sz="1200" dirty="0"/>
              <a:t>D</a:t>
            </a:r>
            <a:r>
              <a:rPr kumimoji="1" lang="ja-GB" altLang="en-US" sz="1200" dirty="0"/>
              <a:t>：</a:t>
            </a:r>
            <a:r>
              <a:rPr kumimoji="1" lang="en-US" altLang="ja-GB" sz="1200" dirty="0"/>
              <a:t>5</a:t>
            </a:r>
          </a:p>
        </p:txBody>
      </p:sp>
      <p:sp>
        <p:nvSpPr>
          <p:cNvPr id="43" name="テキスト ボックス 42">
            <a:extLst>
              <a:ext uri="{FF2B5EF4-FFF2-40B4-BE49-F238E27FC236}">
                <a16:creationId xmlns:a16="http://schemas.microsoft.com/office/drawing/2014/main" id="{5273506C-2040-6309-8C1B-A4B5A063C959}"/>
              </a:ext>
            </a:extLst>
          </p:cNvPr>
          <p:cNvSpPr txBox="1"/>
          <p:nvPr/>
        </p:nvSpPr>
        <p:spPr>
          <a:xfrm>
            <a:off x="3454283" y="4970537"/>
            <a:ext cx="498855" cy="276999"/>
          </a:xfrm>
          <a:prstGeom prst="rect">
            <a:avLst/>
          </a:prstGeom>
          <a:noFill/>
          <a:ln w="38100">
            <a:noFill/>
          </a:ln>
        </p:spPr>
        <p:txBody>
          <a:bodyPr wrap="none" rtlCol="0" anchor="ctr">
            <a:spAutoFit/>
          </a:bodyPr>
          <a:lstStyle/>
          <a:p>
            <a:pPr algn="ctr"/>
            <a:r>
              <a:rPr kumimoji="1" lang="en-US" altLang="ja-GB" sz="1200" dirty="0"/>
              <a:t>C</a:t>
            </a:r>
            <a:r>
              <a:rPr kumimoji="1" lang="ja-GB" altLang="en-US" sz="1200" dirty="0"/>
              <a:t>：</a:t>
            </a:r>
            <a:r>
              <a:rPr kumimoji="1" lang="en-US" altLang="ja-GB" sz="1200" dirty="0"/>
              <a:t>4</a:t>
            </a:r>
          </a:p>
        </p:txBody>
      </p:sp>
      <p:sp>
        <p:nvSpPr>
          <p:cNvPr id="44" name="テキスト ボックス 43">
            <a:extLst>
              <a:ext uri="{FF2B5EF4-FFF2-40B4-BE49-F238E27FC236}">
                <a16:creationId xmlns:a16="http://schemas.microsoft.com/office/drawing/2014/main" id="{7EDC4F30-BF11-7A48-6880-0333D19CD15F}"/>
              </a:ext>
            </a:extLst>
          </p:cNvPr>
          <p:cNvSpPr txBox="1"/>
          <p:nvPr/>
        </p:nvSpPr>
        <p:spPr>
          <a:xfrm>
            <a:off x="4477719" y="4420639"/>
            <a:ext cx="492443" cy="276999"/>
          </a:xfrm>
          <a:prstGeom prst="rect">
            <a:avLst/>
          </a:prstGeom>
          <a:noFill/>
          <a:ln w="38100">
            <a:noFill/>
          </a:ln>
        </p:spPr>
        <p:txBody>
          <a:bodyPr wrap="none" rtlCol="0" anchor="ctr">
            <a:spAutoFit/>
          </a:bodyPr>
          <a:lstStyle/>
          <a:p>
            <a:pPr algn="ctr"/>
            <a:r>
              <a:rPr kumimoji="1" lang="en-US" altLang="ja-GB" sz="1200" dirty="0"/>
              <a:t>E</a:t>
            </a:r>
            <a:r>
              <a:rPr kumimoji="1" lang="ja-GB" altLang="en-US" sz="1200" dirty="0"/>
              <a:t>：</a:t>
            </a:r>
            <a:r>
              <a:rPr kumimoji="1" lang="en-US" altLang="ja-GB" sz="1200" dirty="0"/>
              <a:t>1</a:t>
            </a:r>
          </a:p>
        </p:txBody>
      </p:sp>
      <p:sp>
        <p:nvSpPr>
          <p:cNvPr id="45" name="テキスト ボックス 44">
            <a:extLst>
              <a:ext uri="{FF2B5EF4-FFF2-40B4-BE49-F238E27FC236}">
                <a16:creationId xmlns:a16="http://schemas.microsoft.com/office/drawing/2014/main" id="{050B347B-D457-8021-3474-F1F59E25B974}"/>
              </a:ext>
            </a:extLst>
          </p:cNvPr>
          <p:cNvSpPr txBox="1"/>
          <p:nvPr/>
        </p:nvSpPr>
        <p:spPr>
          <a:xfrm>
            <a:off x="5431776" y="4940846"/>
            <a:ext cx="514885" cy="276999"/>
          </a:xfrm>
          <a:prstGeom prst="rect">
            <a:avLst/>
          </a:prstGeom>
          <a:noFill/>
          <a:ln w="38100">
            <a:noFill/>
          </a:ln>
        </p:spPr>
        <p:txBody>
          <a:bodyPr wrap="none" rtlCol="0" anchor="ctr">
            <a:spAutoFit/>
          </a:bodyPr>
          <a:lstStyle/>
          <a:p>
            <a:pPr algn="ctr"/>
            <a:r>
              <a:rPr kumimoji="1" lang="en-US" altLang="ja-GB" sz="1200" dirty="0"/>
              <a:t>G</a:t>
            </a:r>
            <a:r>
              <a:rPr kumimoji="1" lang="ja-GB" altLang="en-US" sz="1200" dirty="0"/>
              <a:t>：</a:t>
            </a:r>
            <a:r>
              <a:rPr kumimoji="1" lang="en-US" altLang="ja-GB" sz="1200" dirty="0"/>
              <a:t>3</a:t>
            </a:r>
          </a:p>
        </p:txBody>
      </p:sp>
      <p:sp>
        <p:nvSpPr>
          <p:cNvPr id="46" name="テキスト ボックス 45">
            <a:extLst>
              <a:ext uri="{FF2B5EF4-FFF2-40B4-BE49-F238E27FC236}">
                <a16:creationId xmlns:a16="http://schemas.microsoft.com/office/drawing/2014/main" id="{A618F302-33DF-C483-6009-7302C056082B}"/>
              </a:ext>
            </a:extLst>
          </p:cNvPr>
          <p:cNvSpPr txBox="1"/>
          <p:nvPr/>
        </p:nvSpPr>
        <p:spPr>
          <a:xfrm>
            <a:off x="6050252" y="5304197"/>
            <a:ext cx="487633" cy="276999"/>
          </a:xfrm>
          <a:prstGeom prst="rect">
            <a:avLst/>
          </a:prstGeom>
          <a:noFill/>
          <a:ln w="38100">
            <a:noFill/>
          </a:ln>
        </p:spPr>
        <p:txBody>
          <a:bodyPr wrap="none" rtlCol="0" anchor="ctr">
            <a:spAutoFit/>
          </a:bodyPr>
          <a:lstStyle/>
          <a:p>
            <a:pPr algn="ctr"/>
            <a:r>
              <a:rPr kumimoji="1" lang="en-US" altLang="ja-GB" sz="1200" dirty="0"/>
              <a:t>F</a:t>
            </a:r>
            <a:r>
              <a:rPr kumimoji="1" lang="ja-GB" altLang="en-US" sz="1200" dirty="0"/>
              <a:t>：</a:t>
            </a:r>
            <a:r>
              <a:rPr kumimoji="1" lang="en-US" altLang="ja-GB" sz="1200" dirty="0"/>
              <a:t>6</a:t>
            </a:r>
          </a:p>
        </p:txBody>
      </p:sp>
      <p:sp>
        <p:nvSpPr>
          <p:cNvPr id="47" name="テキスト ボックス 46">
            <a:extLst>
              <a:ext uri="{FF2B5EF4-FFF2-40B4-BE49-F238E27FC236}">
                <a16:creationId xmlns:a16="http://schemas.microsoft.com/office/drawing/2014/main" id="{0B8E89FE-25AA-CD45-72D5-CBE6690BC0F4}"/>
              </a:ext>
            </a:extLst>
          </p:cNvPr>
          <p:cNvSpPr txBox="1"/>
          <p:nvPr/>
        </p:nvSpPr>
        <p:spPr>
          <a:xfrm>
            <a:off x="6985797" y="4699799"/>
            <a:ext cx="513282" cy="276999"/>
          </a:xfrm>
          <a:prstGeom prst="rect">
            <a:avLst/>
          </a:prstGeom>
          <a:noFill/>
          <a:ln w="38100">
            <a:noFill/>
          </a:ln>
        </p:spPr>
        <p:txBody>
          <a:bodyPr wrap="none" rtlCol="0" anchor="ctr">
            <a:spAutoFit/>
          </a:bodyPr>
          <a:lstStyle/>
          <a:p>
            <a:pPr algn="ctr"/>
            <a:r>
              <a:rPr kumimoji="1" lang="en-US" altLang="ja-GB" sz="1200" dirty="0"/>
              <a:t>H</a:t>
            </a:r>
            <a:r>
              <a:rPr kumimoji="1" lang="ja-GB" altLang="en-US" sz="1200" dirty="0"/>
              <a:t>：</a:t>
            </a:r>
            <a:r>
              <a:rPr kumimoji="1" lang="en-US" altLang="ja-GB" sz="1200" dirty="0"/>
              <a:t>2</a:t>
            </a:r>
          </a:p>
        </p:txBody>
      </p:sp>
      <p:sp>
        <p:nvSpPr>
          <p:cNvPr id="49" name="テキスト ボックス 48">
            <a:extLst>
              <a:ext uri="{FF2B5EF4-FFF2-40B4-BE49-F238E27FC236}">
                <a16:creationId xmlns:a16="http://schemas.microsoft.com/office/drawing/2014/main" id="{FBB9E110-6258-748B-4FAE-2BDAFC83293C}"/>
              </a:ext>
            </a:extLst>
          </p:cNvPr>
          <p:cNvSpPr txBox="1"/>
          <p:nvPr/>
        </p:nvSpPr>
        <p:spPr>
          <a:xfrm>
            <a:off x="1207362" y="5130975"/>
            <a:ext cx="480773" cy="276999"/>
          </a:xfrm>
          <a:prstGeom prst="rect">
            <a:avLst/>
          </a:prstGeom>
          <a:noFill/>
          <a:ln w="38100">
            <a:noFill/>
          </a:ln>
        </p:spPr>
        <p:txBody>
          <a:bodyPr wrap="none" rtlCol="0" anchor="ctr">
            <a:spAutoFit/>
          </a:bodyPr>
          <a:lstStyle/>
          <a:p>
            <a:pPr algn="ctr"/>
            <a:r>
              <a:rPr kumimoji="1" lang="en-US" altLang="ja-GB" sz="1200" dirty="0">
                <a:solidFill>
                  <a:srgbClr val="0070C0"/>
                </a:solidFill>
              </a:rPr>
              <a:t>ET: 0</a:t>
            </a:r>
          </a:p>
        </p:txBody>
      </p:sp>
      <p:sp>
        <p:nvSpPr>
          <p:cNvPr id="50" name="テキスト ボックス 49">
            <a:extLst>
              <a:ext uri="{FF2B5EF4-FFF2-40B4-BE49-F238E27FC236}">
                <a16:creationId xmlns:a16="http://schemas.microsoft.com/office/drawing/2014/main" id="{4D979224-E33F-10B6-19C4-3054B2D1983F}"/>
              </a:ext>
            </a:extLst>
          </p:cNvPr>
          <p:cNvSpPr txBox="1"/>
          <p:nvPr/>
        </p:nvSpPr>
        <p:spPr>
          <a:xfrm>
            <a:off x="2814093" y="5662987"/>
            <a:ext cx="480773" cy="276999"/>
          </a:xfrm>
          <a:prstGeom prst="rect">
            <a:avLst/>
          </a:prstGeom>
          <a:noFill/>
          <a:ln w="38100">
            <a:noFill/>
          </a:ln>
        </p:spPr>
        <p:txBody>
          <a:bodyPr wrap="none" rtlCol="0" anchor="ctr">
            <a:spAutoFit/>
          </a:bodyPr>
          <a:lstStyle/>
          <a:p>
            <a:pPr algn="ctr"/>
            <a:r>
              <a:rPr kumimoji="1" lang="en-US" altLang="ja-GB" sz="1200" dirty="0">
                <a:solidFill>
                  <a:schemeClr val="accent2"/>
                </a:solidFill>
              </a:rPr>
              <a:t>ET: 2</a:t>
            </a:r>
          </a:p>
        </p:txBody>
      </p:sp>
      <p:sp>
        <p:nvSpPr>
          <p:cNvPr id="51" name="テキスト ボックス 50">
            <a:extLst>
              <a:ext uri="{FF2B5EF4-FFF2-40B4-BE49-F238E27FC236}">
                <a16:creationId xmlns:a16="http://schemas.microsoft.com/office/drawing/2014/main" id="{24302A08-4423-89AF-A826-95848CEE060B}"/>
              </a:ext>
            </a:extLst>
          </p:cNvPr>
          <p:cNvSpPr txBox="1"/>
          <p:nvPr/>
        </p:nvSpPr>
        <p:spPr>
          <a:xfrm>
            <a:off x="2818698" y="4591043"/>
            <a:ext cx="480773" cy="276999"/>
          </a:xfrm>
          <a:prstGeom prst="rect">
            <a:avLst/>
          </a:prstGeom>
          <a:noFill/>
          <a:ln w="38100">
            <a:noFill/>
          </a:ln>
        </p:spPr>
        <p:txBody>
          <a:bodyPr wrap="none" rtlCol="0" anchor="ctr">
            <a:spAutoFit/>
          </a:bodyPr>
          <a:lstStyle/>
          <a:p>
            <a:pPr algn="ctr"/>
            <a:r>
              <a:rPr kumimoji="1" lang="en-US" altLang="ja-GB" sz="1200" dirty="0">
                <a:solidFill>
                  <a:schemeClr val="accent2"/>
                </a:solidFill>
              </a:rPr>
              <a:t>ET: 3</a:t>
            </a:r>
          </a:p>
        </p:txBody>
      </p:sp>
    </p:spTree>
    <p:extLst>
      <p:ext uri="{BB962C8B-B14F-4D97-AF65-F5344CB8AC3E}">
        <p14:creationId xmlns:p14="http://schemas.microsoft.com/office/powerpoint/2010/main" val="2094032382"/>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A31D8-8D6E-A59F-44F6-BE1ED7E19B0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E3F4A25-BDAA-5768-469C-1554DCAD4A5E}"/>
              </a:ext>
            </a:extLst>
          </p:cNvPr>
          <p:cNvSpPr>
            <a:spLocks noGrp="1"/>
          </p:cNvSpPr>
          <p:nvPr>
            <p:ph type="title"/>
          </p:nvPr>
        </p:nvSpPr>
        <p:spPr/>
        <p:txBody>
          <a:bodyPr/>
          <a:lstStyle/>
          <a:p>
            <a:r>
              <a:rPr lang="ja-JP" altLang="en-US"/>
              <a:t>最早結合点時刻（</a:t>
            </a:r>
            <a:r>
              <a:rPr lang="en-US" altLang="ja-JP" dirty="0"/>
              <a:t>ET</a:t>
            </a:r>
            <a:r>
              <a:rPr lang="ja-JP" altLang="en-US"/>
              <a:t>：</a:t>
            </a:r>
            <a:r>
              <a:rPr lang="en-US" altLang="ja-JP" dirty="0"/>
              <a:t>earliest node time</a:t>
            </a:r>
            <a:r>
              <a:rPr lang="ja-JP" altLang="en-US"/>
              <a:t>）</a:t>
            </a:r>
            <a:endParaRPr kumimoji="1" lang="ja-GB" altLang="en-US" dirty="0"/>
          </a:p>
        </p:txBody>
      </p:sp>
      <p:sp>
        <p:nvSpPr>
          <p:cNvPr id="3" name="コンテンツ プレースホルダー 2">
            <a:extLst>
              <a:ext uri="{FF2B5EF4-FFF2-40B4-BE49-F238E27FC236}">
                <a16:creationId xmlns:a16="http://schemas.microsoft.com/office/drawing/2014/main" id="{E9BAB199-03BF-F1CC-F464-147A50E59A95}"/>
              </a:ext>
            </a:extLst>
          </p:cNvPr>
          <p:cNvSpPr>
            <a:spLocks noGrp="1"/>
          </p:cNvSpPr>
          <p:nvPr>
            <p:ph idx="1"/>
          </p:nvPr>
        </p:nvSpPr>
        <p:spPr/>
        <p:txBody>
          <a:bodyPr/>
          <a:lstStyle/>
          <a:p>
            <a:pPr marL="0" indent="0">
              <a:buNone/>
            </a:pPr>
            <a:r>
              <a:rPr lang="ja-GB" altLang="en-US" dirty="0"/>
              <a:t>開始から各結節点（</a:t>
            </a:r>
            <a:r>
              <a:rPr lang="en-US" altLang="ja-GB" dirty="0"/>
              <a:t>node</a:t>
            </a:r>
            <a:r>
              <a:rPr lang="ja-GB" altLang="en-US" dirty="0"/>
              <a:t>）に到達するまでにかかる時間</a:t>
            </a:r>
            <a:br>
              <a:rPr lang="en-US" altLang="ja-GB" dirty="0"/>
            </a:br>
            <a:r>
              <a:rPr lang="ja-GB" altLang="en-US" sz="2000" dirty="0"/>
              <a:t>＝結合点を最も早く出発して，次の作業を開始できる時間</a:t>
            </a:r>
            <a:endParaRPr lang="en-US" altLang="ja-GB" dirty="0"/>
          </a:p>
          <a:p>
            <a:pPr marL="914400" lvl="1" indent="-457200">
              <a:buFont typeface="+mj-lt"/>
              <a:buAutoNum type="arabicPeriod"/>
            </a:pPr>
            <a:r>
              <a:rPr lang="ja-GB" altLang="en-US" dirty="0">
                <a:solidFill>
                  <a:schemeClr val="tx1">
                    <a:lumMod val="50000"/>
                    <a:lumOff val="50000"/>
                  </a:schemeClr>
                </a:solidFill>
              </a:rPr>
              <a:t>開始地点の</a:t>
            </a:r>
            <a:r>
              <a:rPr lang="en-US" altLang="ja-GB" dirty="0">
                <a:solidFill>
                  <a:schemeClr val="tx1">
                    <a:lumMod val="50000"/>
                    <a:lumOff val="50000"/>
                  </a:schemeClr>
                </a:solidFill>
              </a:rPr>
              <a:t>ET</a:t>
            </a:r>
            <a:r>
              <a:rPr lang="ja-GB" altLang="en-US" dirty="0">
                <a:solidFill>
                  <a:schemeClr val="tx1">
                    <a:lumMod val="50000"/>
                    <a:lumOff val="50000"/>
                  </a:schemeClr>
                </a:solidFill>
              </a:rPr>
              <a:t>を</a:t>
            </a:r>
            <a:r>
              <a:rPr lang="en-US" altLang="ja-GB" dirty="0">
                <a:solidFill>
                  <a:schemeClr val="tx1">
                    <a:lumMod val="50000"/>
                    <a:lumOff val="50000"/>
                  </a:schemeClr>
                </a:solidFill>
              </a:rPr>
              <a:t>0</a:t>
            </a:r>
            <a:r>
              <a:rPr lang="ja-GB" altLang="en-US" dirty="0">
                <a:solidFill>
                  <a:schemeClr val="tx1">
                    <a:lumMod val="50000"/>
                    <a:lumOff val="50000"/>
                  </a:schemeClr>
                </a:solidFill>
              </a:rPr>
              <a:t>に設定</a:t>
            </a:r>
            <a:endParaRPr lang="en-US" altLang="ja-GB" dirty="0">
              <a:solidFill>
                <a:schemeClr val="tx1">
                  <a:lumMod val="50000"/>
                  <a:lumOff val="50000"/>
                </a:schemeClr>
              </a:solidFill>
            </a:endParaRPr>
          </a:p>
          <a:p>
            <a:pPr lvl="2"/>
            <a:r>
              <a:rPr lang="en-US" altLang="ja-GB" dirty="0">
                <a:solidFill>
                  <a:schemeClr val="tx1">
                    <a:lumMod val="50000"/>
                    <a:lumOff val="50000"/>
                  </a:schemeClr>
                </a:solidFill>
              </a:rPr>
              <a:t>ET</a:t>
            </a:r>
            <a:r>
              <a:rPr lang="en-US" altLang="ja-GB" baseline="-25000" dirty="0">
                <a:solidFill>
                  <a:schemeClr val="tx1">
                    <a:lumMod val="50000"/>
                    <a:lumOff val="50000"/>
                  </a:schemeClr>
                </a:solidFill>
              </a:rPr>
              <a:t>1</a:t>
            </a:r>
            <a:r>
              <a:rPr lang="ja-GB" altLang="en-US" dirty="0">
                <a:solidFill>
                  <a:schemeClr val="tx1">
                    <a:lumMod val="50000"/>
                    <a:lumOff val="50000"/>
                  </a:schemeClr>
                </a:solidFill>
              </a:rPr>
              <a:t>は</a:t>
            </a:r>
            <a:r>
              <a:rPr lang="en-US" altLang="ja-GB" dirty="0">
                <a:solidFill>
                  <a:schemeClr val="tx1">
                    <a:lumMod val="50000"/>
                    <a:lumOff val="50000"/>
                  </a:schemeClr>
                </a:solidFill>
              </a:rPr>
              <a:t>0</a:t>
            </a:r>
          </a:p>
          <a:p>
            <a:pPr lvl="4"/>
            <a:endParaRPr lang="en-US" altLang="ja-GB" dirty="0">
              <a:solidFill>
                <a:schemeClr val="tx1">
                  <a:lumMod val="50000"/>
                  <a:lumOff val="50000"/>
                </a:schemeClr>
              </a:solidFill>
            </a:endParaRPr>
          </a:p>
          <a:p>
            <a:pPr marL="914400" lvl="1" indent="-457200">
              <a:buFont typeface="+mj-lt"/>
              <a:buAutoNum type="arabicPeriod"/>
            </a:pPr>
            <a:r>
              <a:rPr lang="ja-GB" altLang="en-US" dirty="0">
                <a:solidFill>
                  <a:srgbClr val="2F2523"/>
                </a:solidFill>
              </a:rPr>
              <a:t>各結合点の</a:t>
            </a:r>
            <a:r>
              <a:rPr lang="en-US" altLang="ja-GB" dirty="0">
                <a:solidFill>
                  <a:srgbClr val="2F2523"/>
                </a:solidFill>
              </a:rPr>
              <a:t>ET</a:t>
            </a:r>
            <a:r>
              <a:rPr lang="ja-GB" altLang="en-US" dirty="0">
                <a:solidFill>
                  <a:srgbClr val="2F2523"/>
                </a:solidFill>
              </a:rPr>
              <a:t>を計算</a:t>
            </a:r>
            <a:endParaRPr lang="en-US" altLang="ja-GB" dirty="0">
              <a:solidFill>
                <a:srgbClr val="2F2523"/>
              </a:solidFill>
            </a:endParaRPr>
          </a:p>
          <a:p>
            <a:pPr lvl="2"/>
            <a:r>
              <a:rPr lang="ja-GB" altLang="en-US" dirty="0">
                <a:solidFill>
                  <a:srgbClr val="2F2523"/>
                </a:solidFill>
              </a:rPr>
              <a:t>終点の</a:t>
            </a:r>
            <a:r>
              <a:rPr lang="en-US" altLang="ja-GB" dirty="0">
                <a:solidFill>
                  <a:srgbClr val="2F2523"/>
                </a:solidFill>
              </a:rPr>
              <a:t>ET = </a:t>
            </a:r>
            <a:r>
              <a:rPr lang="ja-GB" altLang="en-US" dirty="0">
                <a:solidFill>
                  <a:srgbClr val="2F2523"/>
                </a:solidFill>
              </a:rPr>
              <a:t>始点の</a:t>
            </a:r>
            <a:r>
              <a:rPr lang="en-US" altLang="ja-GB" dirty="0">
                <a:solidFill>
                  <a:srgbClr val="2F2523"/>
                </a:solidFill>
              </a:rPr>
              <a:t>ET + </a:t>
            </a:r>
            <a:r>
              <a:rPr lang="ja-GB" altLang="en-US" dirty="0">
                <a:solidFill>
                  <a:srgbClr val="2F2523"/>
                </a:solidFill>
              </a:rPr>
              <a:t>作業日数</a:t>
            </a:r>
            <a:endParaRPr lang="en-US" altLang="ja-GB" dirty="0">
              <a:solidFill>
                <a:srgbClr val="2F2523"/>
              </a:solidFill>
            </a:endParaRPr>
          </a:p>
          <a:p>
            <a:pPr lvl="2"/>
            <a:r>
              <a:rPr lang="ja-GB" altLang="en-US" dirty="0">
                <a:solidFill>
                  <a:srgbClr val="0070C0"/>
                </a:solidFill>
              </a:rPr>
              <a:t>複数の経路がある場合は，最も大きい（遅い）値を</a:t>
            </a:r>
            <a:r>
              <a:rPr lang="en-US" altLang="ja-GB" dirty="0">
                <a:solidFill>
                  <a:srgbClr val="0070C0"/>
                </a:solidFill>
              </a:rPr>
              <a:t>ET</a:t>
            </a:r>
            <a:r>
              <a:rPr lang="ja-GB" altLang="en-US" dirty="0">
                <a:solidFill>
                  <a:srgbClr val="0070C0"/>
                </a:solidFill>
              </a:rPr>
              <a:t>とする</a:t>
            </a:r>
            <a:br>
              <a:rPr lang="en-US" altLang="ja-GB" dirty="0">
                <a:solidFill>
                  <a:srgbClr val="0070C0"/>
                </a:solidFill>
              </a:rPr>
            </a:br>
            <a:r>
              <a:rPr lang="ja-GB" altLang="en-US" sz="1600" dirty="0">
                <a:solidFill>
                  <a:srgbClr val="2F2523"/>
                </a:solidFill>
              </a:rPr>
              <a:t>（遅れた方の作業が終わるまで次の作業が始められないため）</a:t>
            </a:r>
            <a:endParaRPr lang="en-US" altLang="ja-GB" dirty="0">
              <a:solidFill>
                <a:srgbClr val="2F2523"/>
              </a:solidFill>
            </a:endParaRPr>
          </a:p>
          <a:p>
            <a:pPr lvl="4"/>
            <a:endParaRPr lang="en-US" altLang="ja-GB" dirty="0">
              <a:solidFill>
                <a:schemeClr val="tx1">
                  <a:lumMod val="50000"/>
                  <a:lumOff val="50000"/>
                </a:schemeClr>
              </a:solidFill>
            </a:endParaRPr>
          </a:p>
        </p:txBody>
      </p:sp>
      <p:sp>
        <p:nvSpPr>
          <p:cNvPr id="6" name="円/楕円 5">
            <a:extLst>
              <a:ext uri="{FF2B5EF4-FFF2-40B4-BE49-F238E27FC236}">
                <a16:creationId xmlns:a16="http://schemas.microsoft.com/office/drawing/2014/main" id="{B568F18D-64C7-4409-529C-D1DD8D7614B3}"/>
              </a:ext>
            </a:extLst>
          </p:cNvPr>
          <p:cNvSpPr>
            <a:spLocks noChangeAspect="1"/>
          </p:cNvSpPr>
          <p:nvPr/>
        </p:nvSpPr>
        <p:spPr>
          <a:xfrm>
            <a:off x="1177783" y="499950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7" name="円/楕円 6">
            <a:extLst>
              <a:ext uri="{FF2B5EF4-FFF2-40B4-BE49-F238E27FC236}">
                <a16:creationId xmlns:a16="http://schemas.microsoft.com/office/drawing/2014/main" id="{D311ED08-61B1-2C18-228E-0E596C83AB7C}"/>
              </a:ext>
            </a:extLst>
          </p:cNvPr>
          <p:cNvSpPr>
            <a:spLocks noChangeAspect="1"/>
          </p:cNvSpPr>
          <p:nvPr/>
        </p:nvSpPr>
        <p:spPr>
          <a:xfrm>
            <a:off x="2784514" y="4459577"/>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8" name="円/楕円 7">
            <a:extLst>
              <a:ext uri="{FF2B5EF4-FFF2-40B4-BE49-F238E27FC236}">
                <a16:creationId xmlns:a16="http://schemas.microsoft.com/office/drawing/2014/main" id="{B661CB6A-D96E-33EB-E183-20C2F1EB81E1}"/>
              </a:ext>
            </a:extLst>
          </p:cNvPr>
          <p:cNvSpPr>
            <a:spLocks noChangeAspect="1"/>
          </p:cNvSpPr>
          <p:nvPr/>
        </p:nvSpPr>
        <p:spPr>
          <a:xfrm>
            <a:off x="2784514" y="5524384"/>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9" name="円/楕円 8">
            <a:extLst>
              <a:ext uri="{FF2B5EF4-FFF2-40B4-BE49-F238E27FC236}">
                <a16:creationId xmlns:a16="http://schemas.microsoft.com/office/drawing/2014/main" id="{06274141-8320-AC21-6DD8-8D9F41738776}"/>
              </a:ext>
            </a:extLst>
          </p:cNvPr>
          <p:cNvSpPr>
            <a:spLocks noChangeAspect="1"/>
          </p:cNvSpPr>
          <p:nvPr/>
        </p:nvSpPr>
        <p:spPr>
          <a:xfrm>
            <a:off x="4408663" y="499950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0" name="円/楕円 9">
            <a:extLst>
              <a:ext uri="{FF2B5EF4-FFF2-40B4-BE49-F238E27FC236}">
                <a16:creationId xmlns:a16="http://schemas.microsoft.com/office/drawing/2014/main" id="{326211B7-1284-6BFD-A35C-EEEFEC33B970}"/>
              </a:ext>
            </a:extLst>
          </p:cNvPr>
          <p:cNvSpPr>
            <a:spLocks noChangeAspect="1"/>
          </p:cNvSpPr>
          <p:nvPr/>
        </p:nvSpPr>
        <p:spPr>
          <a:xfrm>
            <a:off x="6024103" y="4459577"/>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1" name="円/楕円 10">
            <a:extLst>
              <a:ext uri="{FF2B5EF4-FFF2-40B4-BE49-F238E27FC236}">
                <a16:creationId xmlns:a16="http://schemas.microsoft.com/office/drawing/2014/main" id="{D15C1ED0-A1E4-B782-EE48-9ADE595F3B16}"/>
              </a:ext>
            </a:extLst>
          </p:cNvPr>
          <p:cNvSpPr>
            <a:spLocks noChangeAspect="1"/>
          </p:cNvSpPr>
          <p:nvPr/>
        </p:nvSpPr>
        <p:spPr>
          <a:xfrm>
            <a:off x="7639543" y="499950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cxnSp>
        <p:nvCxnSpPr>
          <p:cNvPr id="13" name="直線矢印コネクタ 12">
            <a:extLst>
              <a:ext uri="{FF2B5EF4-FFF2-40B4-BE49-F238E27FC236}">
                <a16:creationId xmlns:a16="http://schemas.microsoft.com/office/drawing/2014/main" id="{A3B39D0C-1EC2-4164-E9B4-B7B193F1BB82}"/>
              </a:ext>
            </a:extLst>
          </p:cNvPr>
          <p:cNvCxnSpPr>
            <a:cxnSpLocks/>
            <a:stCxn id="6" idx="6"/>
            <a:endCxn id="7" idx="2"/>
          </p:cNvCxnSpPr>
          <p:nvPr/>
        </p:nvCxnSpPr>
        <p:spPr>
          <a:xfrm flipV="1">
            <a:off x="1717715" y="4729543"/>
            <a:ext cx="1066799"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C2B4F1CC-B7CF-5726-F435-26663D319F55}"/>
              </a:ext>
            </a:extLst>
          </p:cNvPr>
          <p:cNvCxnSpPr>
            <a:cxnSpLocks/>
            <a:stCxn id="6" idx="6"/>
            <a:endCxn id="8" idx="2"/>
          </p:cNvCxnSpPr>
          <p:nvPr/>
        </p:nvCxnSpPr>
        <p:spPr>
          <a:xfrm>
            <a:off x="1717715" y="5269475"/>
            <a:ext cx="1066799"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3190F4E7-4A3A-8E56-3F9E-77F092CF0308}"/>
              </a:ext>
            </a:extLst>
          </p:cNvPr>
          <p:cNvCxnSpPr>
            <a:cxnSpLocks/>
            <a:stCxn id="7" idx="6"/>
            <a:endCxn id="10" idx="2"/>
          </p:cNvCxnSpPr>
          <p:nvPr/>
        </p:nvCxnSpPr>
        <p:spPr>
          <a:xfrm>
            <a:off x="3324446" y="4729543"/>
            <a:ext cx="2699657"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55512F46-27E8-241A-8D54-3C1BA035D202}"/>
              </a:ext>
            </a:extLst>
          </p:cNvPr>
          <p:cNvCxnSpPr>
            <a:cxnSpLocks/>
            <a:stCxn id="8" idx="6"/>
            <a:endCxn id="9" idx="2"/>
          </p:cNvCxnSpPr>
          <p:nvPr/>
        </p:nvCxnSpPr>
        <p:spPr>
          <a:xfrm flipV="1">
            <a:off x="3324446" y="5269475"/>
            <a:ext cx="1084217"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71F6D468-D9EF-93C9-A773-70957AC26FDD}"/>
              </a:ext>
            </a:extLst>
          </p:cNvPr>
          <p:cNvCxnSpPr>
            <a:cxnSpLocks/>
            <a:stCxn id="7" idx="6"/>
            <a:endCxn id="9" idx="2"/>
          </p:cNvCxnSpPr>
          <p:nvPr/>
        </p:nvCxnSpPr>
        <p:spPr>
          <a:xfrm>
            <a:off x="3324446" y="4729543"/>
            <a:ext cx="1084217"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D7C722FC-0594-CBB6-475D-BF7D67B3F12B}"/>
              </a:ext>
            </a:extLst>
          </p:cNvPr>
          <p:cNvCxnSpPr>
            <a:cxnSpLocks/>
            <a:stCxn id="9" idx="6"/>
            <a:endCxn id="10" idx="2"/>
          </p:cNvCxnSpPr>
          <p:nvPr/>
        </p:nvCxnSpPr>
        <p:spPr>
          <a:xfrm flipV="1">
            <a:off x="4948595" y="4729543"/>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908F8EDA-DDBC-7C91-4EC0-75C6B741FA28}"/>
              </a:ext>
            </a:extLst>
          </p:cNvPr>
          <p:cNvCxnSpPr>
            <a:cxnSpLocks/>
            <a:endCxn id="11" idx="2"/>
          </p:cNvCxnSpPr>
          <p:nvPr/>
        </p:nvCxnSpPr>
        <p:spPr>
          <a:xfrm>
            <a:off x="4948595" y="5269475"/>
            <a:ext cx="2690948"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B046F3EC-D3B1-5390-05CE-D0048681BC80}"/>
              </a:ext>
            </a:extLst>
          </p:cNvPr>
          <p:cNvCxnSpPr>
            <a:cxnSpLocks/>
            <a:stCxn id="10" idx="6"/>
            <a:endCxn id="11" idx="2"/>
          </p:cNvCxnSpPr>
          <p:nvPr/>
        </p:nvCxnSpPr>
        <p:spPr>
          <a:xfrm>
            <a:off x="6564035" y="4729543"/>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D079981C-2E68-6255-85EC-992FC16FAD43}"/>
              </a:ext>
            </a:extLst>
          </p:cNvPr>
          <p:cNvSpPr txBox="1"/>
          <p:nvPr/>
        </p:nvSpPr>
        <p:spPr>
          <a:xfrm>
            <a:off x="1901562" y="4676343"/>
            <a:ext cx="506870"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A</a:t>
            </a:r>
            <a:r>
              <a:rPr kumimoji="1" lang="ja-GB" altLang="en-US" sz="1200" dirty="0">
                <a:solidFill>
                  <a:schemeClr val="tx1">
                    <a:lumMod val="50000"/>
                    <a:lumOff val="50000"/>
                  </a:schemeClr>
                </a:solidFill>
              </a:rPr>
              <a:t>：</a:t>
            </a:r>
            <a:r>
              <a:rPr kumimoji="1" lang="en-US" altLang="ja-GB" sz="1200" dirty="0">
                <a:solidFill>
                  <a:schemeClr val="tx1">
                    <a:lumMod val="50000"/>
                    <a:lumOff val="50000"/>
                  </a:schemeClr>
                </a:solidFill>
              </a:rPr>
              <a:t>3</a:t>
            </a:r>
          </a:p>
        </p:txBody>
      </p:sp>
      <p:sp>
        <p:nvSpPr>
          <p:cNvPr id="41" name="テキスト ボックス 40">
            <a:extLst>
              <a:ext uri="{FF2B5EF4-FFF2-40B4-BE49-F238E27FC236}">
                <a16:creationId xmlns:a16="http://schemas.microsoft.com/office/drawing/2014/main" id="{EF83D128-9AFD-C5B4-B195-41B68957A112}"/>
              </a:ext>
            </a:extLst>
          </p:cNvPr>
          <p:cNvSpPr txBox="1"/>
          <p:nvPr/>
        </p:nvSpPr>
        <p:spPr>
          <a:xfrm>
            <a:off x="1904769" y="5626764"/>
            <a:ext cx="500458"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B</a:t>
            </a:r>
            <a:r>
              <a:rPr kumimoji="1" lang="ja-GB" altLang="en-US" sz="1200" dirty="0">
                <a:solidFill>
                  <a:schemeClr val="tx1">
                    <a:lumMod val="50000"/>
                    <a:lumOff val="50000"/>
                  </a:schemeClr>
                </a:solidFill>
              </a:rPr>
              <a:t>：</a:t>
            </a:r>
            <a:r>
              <a:rPr kumimoji="1" lang="en-US" altLang="ja-GB" sz="1200" dirty="0">
                <a:solidFill>
                  <a:schemeClr val="tx1">
                    <a:lumMod val="50000"/>
                    <a:lumOff val="50000"/>
                  </a:schemeClr>
                </a:solidFill>
              </a:rPr>
              <a:t>2</a:t>
            </a:r>
          </a:p>
        </p:txBody>
      </p:sp>
      <p:sp>
        <p:nvSpPr>
          <p:cNvPr id="42" name="テキスト ボックス 41">
            <a:extLst>
              <a:ext uri="{FF2B5EF4-FFF2-40B4-BE49-F238E27FC236}">
                <a16:creationId xmlns:a16="http://schemas.microsoft.com/office/drawing/2014/main" id="{326A25B6-A5E7-4067-63CE-071E0DA10B17}"/>
              </a:ext>
            </a:extLst>
          </p:cNvPr>
          <p:cNvSpPr txBox="1"/>
          <p:nvPr/>
        </p:nvSpPr>
        <p:spPr>
          <a:xfrm>
            <a:off x="3447870" y="5670906"/>
            <a:ext cx="511679" cy="276999"/>
          </a:xfrm>
          <a:prstGeom prst="rect">
            <a:avLst/>
          </a:prstGeom>
          <a:noFill/>
          <a:ln w="38100">
            <a:noFill/>
          </a:ln>
        </p:spPr>
        <p:txBody>
          <a:bodyPr wrap="none" rtlCol="0" anchor="ctr">
            <a:spAutoFit/>
          </a:bodyPr>
          <a:lstStyle/>
          <a:p>
            <a:pPr algn="ctr"/>
            <a:r>
              <a:rPr kumimoji="1" lang="en-US" altLang="ja-GB" sz="1200" dirty="0">
                <a:solidFill>
                  <a:srgbClr val="0070C0"/>
                </a:solidFill>
              </a:rPr>
              <a:t>D</a:t>
            </a:r>
            <a:r>
              <a:rPr kumimoji="1" lang="ja-GB" altLang="en-US" sz="1200" dirty="0">
                <a:solidFill>
                  <a:srgbClr val="0070C0"/>
                </a:solidFill>
              </a:rPr>
              <a:t>：</a:t>
            </a:r>
            <a:r>
              <a:rPr kumimoji="1" lang="en-US" altLang="ja-GB" sz="1200" dirty="0">
                <a:solidFill>
                  <a:srgbClr val="0070C0"/>
                </a:solidFill>
              </a:rPr>
              <a:t>5</a:t>
            </a:r>
          </a:p>
        </p:txBody>
      </p:sp>
      <p:sp>
        <p:nvSpPr>
          <p:cNvPr id="43" name="テキスト ボックス 42">
            <a:extLst>
              <a:ext uri="{FF2B5EF4-FFF2-40B4-BE49-F238E27FC236}">
                <a16:creationId xmlns:a16="http://schemas.microsoft.com/office/drawing/2014/main" id="{C2B6C494-11CE-8577-DD3D-79EEA2A73B3A}"/>
              </a:ext>
            </a:extLst>
          </p:cNvPr>
          <p:cNvSpPr txBox="1"/>
          <p:nvPr/>
        </p:nvSpPr>
        <p:spPr>
          <a:xfrm>
            <a:off x="3454283" y="4970537"/>
            <a:ext cx="498855" cy="276999"/>
          </a:xfrm>
          <a:prstGeom prst="rect">
            <a:avLst/>
          </a:prstGeom>
          <a:noFill/>
          <a:ln w="38100">
            <a:noFill/>
          </a:ln>
        </p:spPr>
        <p:txBody>
          <a:bodyPr wrap="none" rtlCol="0" anchor="ctr">
            <a:spAutoFit/>
          </a:bodyPr>
          <a:lstStyle/>
          <a:p>
            <a:pPr algn="ctr"/>
            <a:r>
              <a:rPr kumimoji="1" lang="en-US" altLang="ja-GB" sz="1200" dirty="0">
                <a:solidFill>
                  <a:srgbClr val="0070C0"/>
                </a:solidFill>
              </a:rPr>
              <a:t>C</a:t>
            </a:r>
            <a:r>
              <a:rPr kumimoji="1" lang="ja-GB" altLang="en-US" sz="1200" dirty="0">
                <a:solidFill>
                  <a:srgbClr val="0070C0"/>
                </a:solidFill>
              </a:rPr>
              <a:t>：</a:t>
            </a:r>
            <a:r>
              <a:rPr kumimoji="1" lang="en-US" altLang="ja-GB" sz="1200" dirty="0">
                <a:solidFill>
                  <a:srgbClr val="0070C0"/>
                </a:solidFill>
              </a:rPr>
              <a:t>4</a:t>
            </a:r>
          </a:p>
        </p:txBody>
      </p:sp>
      <p:sp>
        <p:nvSpPr>
          <p:cNvPr id="44" name="テキスト ボックス 43">
            <a:extLst>
              <a:ext uri="{FF2B5EF4-FFF2-40B4-BE49-F238E27FC236}">
                <a16:creationId xmlns:a16="http://schemas.microsoft.com/office/drawing/2014/main" id="{1C603CD6-D86C-17EF-1597-B3C2894839EF}"/>
              </a:ext>
            </a:extLst>
          </p:cNvPr>
          <p:cNvSpPr txBox="1"/>
          <p:nvPr/>
        </p:nvSpPr>
        <p:spPr>
          <a:xfrm>
            <a:off x="4477719" y="4420639"/>
            <a:ext cx="492443"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E</a:t>
            </a:r>
            <a:r>
              <a:rPr kumimoji="1" lang="ja-GB" altLang="en-US" sz="1200" dirty="0">
                <a:solidFill>
                  <a:schemeClr val="tx1">
                    <a:lumMod val="50000"/>
                    <a:lumOff val="50000"/>
                  </a:schemeClr>
                </a:solidFill>
              </a:rPr>
              <a:t>：</a:t>
            </a:r>
            <a:r>
              <a:rPr kumimoji="1" lang="en-US" altLang="ja-GB" sz="1200" dirty="0">
                <a:solidFill>
                  <a:schemeClr val="tx1">
                    <a:lumMod val="50000"/>
                    <a:lumOff val="50000"/>
                  </a:schemeClr>
                </a:solidFill>
              </a:rPr>
              <a:t>1</a:t>
            </a:r>
          </a:p>
        </p:txBody>
      </p:sp>
      <p:sp>
        <p:nvSpPr>
          <p:cNvPr id="45" name="テキスト ボックス 44">
            <a:extLst>
              <a:ext uri="{FF2B5EF4-FFF2-40B4-BE49-F238E27FC236}">
                <a16:creationId xmlns:a16="http://schemas.microsoft.com/office/drawing/2014/main" id="{6B8B3C6B-B272-E5D7-F032-D6CC8F7A2C56}"/>
              </a:ext>
            </a:extLst>
          </p:cNvPr>
          <p:cNvSpPr txBox="1"/>
          <p:nvPr/>
        </p:nvSpPr>
        <p:spPr>
          <a:xfrm>
            <a:off x="5431776" y="4940846"/>
            <a:ext cx="514885"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G</a:t>
            </a:r>
            <a:r>
              <a:rPr kumimoji="1" lang="ja-GB" altLang="en-US" sz="1200" dirty="0">
                <a:solidFill>
                  <a:schemeClr val="tx1">
                    <a:lumMod val="50000"/>
                    <a:lumOff val="50000"/>
                  </a:schemeClr>
                </a:solidFill>
              </a:rPr>
              <a:t>：</a:t>
            </a:r>
            <a:r>
              <a:rPr kumimoji="1" lang="en-US" altLang="ja-GB" sz="1200" dirty="0">
                <a:solidFill>
                  <a:schemeClr val="tx1">
                    <a:lumMod val="50000"/>
                    <a:lumOff val="50000"/>
                  </a:schemeClr>
                </a:solidFill>
              </a:rPr>
              <a:t>3</a:t>
            </a:r>
          </a:p>
        </p:txBody>
      </p:sp>
      <p:sp>
        <p:nvSpPr>
          <p:cNvPr id="46" name="テキスト ボックス 45">
            <a:extLst>
              <a:ext uri="{FF2B5EF4-FFF2-40B4-BE49-F238E27FC236}">
                <a16:creationId xmlns:a16="http://schemas.microsoft.com/office/drawing/2014/main" id="{216216F6-BAF1-EE63-B4CD-26079C753BB4}"/>
              </a:ext>
            </a:extLst>
          </p:cNvPr>
          <p:cNvSpPr txBox="1"/>
          <p:nvPr/>
        </p:nvSpPr>
        <p:spPr>
          <a:xfrm>
            <a:off x="6050252" y="5304197"/>
            <a:ext cx="487633"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F</a:t>
            </a:r>
            <a:r>
              <a:rPr kumimoji="1" lang="ja-GB" altLang="en-US" sz="1200" dirty="0">
                <a:solidFill>
                  <a:schemeClr val="tx1">
                    <a:lumMod val="50000"/>
                    <a:lumOff val="50000"/>
                  </a:schemeClr>
                </a:solidFill>
              </a:rPr>
              <a:t>：</a:t>
            </a:r>
            <a:r>
              <a:rPr kumimoji="1" lang="en-US" altLang="ja-GB" sz="1200" dirty="0">
                <a:solidFill>
                  <a:schemeClr val="tx1">
                    <a:lumMod val="50000"/>
                    <a:lumOff val="50000"/>
                  </a:schemeClr>
                </a:solidFill>
              </a:rPr>
              <a:t>6</a:t>
            </a:r>
          </a:p>
        </p:txBody>
      </p:sp>
      <p:sp>
        <p:nvSpPr>
          <p:cNvPr id="47" name="テキスト ボックス 46">
            <a:extLst>
              <a:ext uri="{FF2B5EF4-FFF2-40B4-BE49-F238E27FC236}">
                <a16:creationId xmlns:a16="http://schemas.microsoft.com/office/drawing/2014/main" id="{02FC9970-D987-201E-F9CF-651853DF2436}"/>
              </a:ext>
            </a:extLst>
          </p:cNvPr>
          <p:cNvSpPr txBox="1"/>
          <p:nvPr/>
        </p:nvSpPr>
        <p:spPr>
          <a:xfrm>
            <a:off x="6985797" y="4699799"/>
            <a:ext cx="513282"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H</a:t>
            </a:r>
            <a:r>
              <a:rPr kumimoji="1" lang="ja-GB" altLang="en-US" sz="1200" dirty="0">
                <a:solidFill>
                  <a:schemeClr val="tx1">
                    <a:lumMod val="50000"/>
                    <a:lumOff val="50000"/>
                  </a:schemeClr>
                </a:solidFill>
              </a:rPr>
              <a:t>：</a:t>
            </a:r>
            <a:r>
              <a:rPr kumimoji="1" lang="en-US" altLang="ja-GB" sz="1200" dirty="0">
                <a:solidFill>
                  <a:schemeClr val="tx1">
                    <a:lumMod val="50000"/>
                    <a:lumOff val="50000"/>
                  </a:schemeClr>
                </a:solidFill>
              </a:rPr>
              <a:t>2</a:t>
            </a:r>
          </a:p>
        </p:txBody>
      </p:sp>
      <p:sp>
        <p:nvSpPr>
          <p:cNvPr id="49" name="テキスト ボックス 48">
            <a:extLst>
              <a:ext uri="{FF2B5EF4-FFF2-40B4-BE49-F238E27FC236}">
                <a16:creationId xmlns:a16="http://schemas.microsoft.com/office/drawing/2014/main" id="{6DA214D4-6F2D-0CFE-B870-7857CD33CB49}"/>
              </a:ext>
            </a:extLst>
          </p:cNvPr>
          <p:cNvSpPr txBox="1"/>
          <p:nvPr/>
        </p:nvSpPr>
        <p:spPr>
          <a:xfrm>
            <a:off x="1207362" y="5130975"/>
            <a:ext cx="480773"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ET: 0</a:t>
            </a:r>
          </a:p>
        </p:txBody>
      </p:sp>
      <p:sp>
        <p:nvSpPr>
          <p:cNvPr id="50" name="テキスト ボックス 49">
            <a:extLst>
              <a:ext uri="{FF2B5EF4-FFF2-40B4-BE49-F238E27FC236}">
                <a16:creationId xmlns:a16="http://schemas.microsoft.com/office/drawing/2014/main" id="{A34B6B81-218A-A83B-DD0D-05D697716820}"/>
              </a:ext>
            </a:extLst>
          </p:cNvPr>
          <p:cNvSpPr txBox="1"/>
          <p:nvPr/>
        </p:nvSpPr>
        <p:spPr>
          <a:xfrm>
            <a:off x="2814093" y="5662987"/>
            <a:ext cx="480773" cy="276999"/>
          </a:xfrm>
          <a:prstGeom prst="rect">
            <a:avLst/>
          </a:prstGeom>
          <a:noFill/>
          <a:ln w="38100">
            <a:noFill/>
          </a:ln>
        </p:spPr>
        <p:txBody>
          <a:bodyPr wrap="none" rtlCol="0" anchor="ctr">
            <a:spAutoFit/>
          </a:bodyPr>
          <a:lstStyle/>
          <a:p>
            <a:pPr algn="ctr"/>
            <a:r>
              <a:rPr kumimoji="1" lang="en-US" altLang="ja-GB" sz="1200" dirty="0">
                <a:solidFill>
                  <a:srgbClr val="0070C0"/>
                </a:solidFill>
              </a:rPr>
              <a:t>ET: 2</a:t>
            </a:r>
          </a:p>
        </p:txBody>
      </p:sp>
      <p:sp>
        <p:nvSpPr>
          <p:cNvPr id="51" name="テキスト ボックス 50">
            <a:extLst>
              <a:ext uri="{FF2B5EF4-FFF2-40B4-BE49-F238E27FC236}">
                <a16:creationId xmlns:a16="http://schemas.microsoft.com/office/drawing/2014/main" id="{C6F7942D-711A-99CA-1FE0-C8DC6C6E79BA}"/>
              </a:ext>
            </a:extLst>
          </p:cNvPr>
          <p:cNvSpPr txBox="1"/>
          <p:nvPr/>
        </p:nvSpPr>
        <p:spPr>
          <a:xfrm>
            <a:off x="2818698" y="4591043"/>
            <a:ext cx="480773" cy="276999"/>
          </a:xfrm>
          <a:prstGeom prst="rect">
            <a:avLst/>
          </a:prstGeom>
          <a:noFill/>
          <a:ln w="38100">
            <a:noFill/>
          </a:ln>
        </p:spPr>
        <p:txBody>
          <a:bodyPr wrap="none" rtlCol="0" anchor="ctr">
            <a:spAutoFit/>
          </a:bodyPr>
          <a:lstStyle/>
          <a:p>
            <a:pPr algn="ctr"/>
            <a:r>
              <a:rPr kumimoji="1" lang="en-US" altLang="ja-GB" sz="1200" dirty="0">
                <a:solidFill>
                  <a:srgbClr val="0070C0"/>
                </a:solidFill>
              </a:rPr>
              <a:t>ET: 3</a:t>
            </a:r>
          </a:p>
        </p:txBody>
      </p:sp>
      <p:sp>
        <p:nvSpPr>
          <p:cNvPr id="52" name="テキスト ボックス 51">
            <a:extLst>
              <a:ext uri="{FF2B5EF4-FFF2-40B4-BE49-F238E27FC236}">
                <a16:creationId xmlns:a16="http://schemas.microsoft.com/office/drawing/2014/main" id="{F1B7B9C9-9560-0C39-0ADE-F4BD69E416EB}"/>
              </a:ext>
            </a:extLst>
          </p:cNvPr>
          <p:cNvSpPr txBox="1"/>
          <p:nvPr/>
        </p:nvSpPr>
        <p:spPr>
          <a:xfrm>
            <a:off x="4438589" y="5130975"/>
            <a:ext cx="480773" cy="276999"/>
          </a:xfrm>
          <a:prstGeom prst="rect">
            <a:avLst/>
          </a:prstGeom>
          <a:noFill/>
          <a:ln w="38100">
            <a:noFill/>
          </a:ln>
        </p:spPr>
        <p:txBody>
          <a:bodyPr wrap="none" rtlCol="0" anchor="ctr">
            <a:spAutoFit/>
          </a:bodyPr>
          <a:lstStyle/>
          <a:p>
            <a:pPr algn="ctr"/>
            <a:r>
              <a:rPr kumimoji="1" lang="en-US" altLang="ja-GB" sz="1200" dirty="0">
                <a:solidFill>
                  <a:schemeClr val="accent2"/>
                </a:solidFill>
              </a:rPr>
              <a:t>ET: 7</a:t>
            </a:r>
          </a:p>
        </p:txBody>
      </p:sp>
      <p:sp>
        <p:nvSpPr>
          <p:cNvPr id="4" name="テキスト ボックス 3">
            <a:extLst>
              <a:ext uri="{FF2B5EF4-FFF2-40B4-BE49-F238E27FC236}">
                <a16:creationId xmlns:a16="http://schemas.microsoft.com/office/drawing/2014/main" id="{D403EC25-444C-21DC-8701-703EAF55FDD5}"/>
              </a:ext>
            </a:extLst>
          </p:cNvPr>
          <p:cNvSpPr txBox="1"/>
          <p:nvPr/>
        </p:nvSpPr>
        <p:spPr>
          <a:xfrm>
            <a:off x="4295351" y="5677940"/>
            <a:ext cx="766557" cy="646331"/>
          </a:xfrm>
          <a:prstGeom prst="rect">
            <a:avLst/>
          </a:prstGeom>
          <a:noFill/>
        </p:spPr>
        <p:txBody>
          <a:bodyPr wrap="none" rtlCol="0">
            <a:spAutoFit/>
          </a:bodyPr>
          <a:lstStyle/>
          <a:p>
            <a:r>
              <a:rPr kumimoji="1" lang="en-US" altLang="ja-GB" dirty="0"/>
              <a:t>3+4=7</a:t>
            </a:r>
          </a:p>
          <a:p>
            <a:r>
              <a:rPr kumimoji="1" lang="en-US" altLang="ja-GB" dirty="0"/>
              <a:t>2+5=7</a:t>
            </a:r>
            <a:endParaRPr kumimoji="1" lang="ja-GB" altLang="en-US" dirty="0"/>
          </a:p>
        </p:txBody>
      </p:sp>
    </p:spTree>
    <p:extLst>
      <p:ext uri="{BB962C8B-B14F-4D97-AF65-F5344CB8AC3E}">
        <p14:creationId xmlns:p14="http://schemas.microsoft.com/office/powerpoint/2010/main" val="3204827886"/>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01E0C-5707-E629-B216-514B2A1D0C5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37748ED-E308-9004-1DF2-C4A74035CBAE}"/>
              </a:ext>
            </a:extLst>
          </p:cNvPr>
          <p:cNvSpPr>
            <a:spLocks noGrp="1"/>
          </p:cNvSpPr>
          <p:nvPr>
            <p:ph type="title"/>
          </p:nvPr>
        </p:nvSpPr>
        <p:spPr/>
        <p:txBody>
          <a:bodyPr/>
          <a:lstStyle/>
          <a:p>
            <a:r>
              <a:rPr lang="ja-JP" altLang="en-US"/>
              <a:t>最早結合点時刻（</a:t>
            </a:r>
            <a:r>
              <a:rPr lang="en-US" altLang="ja-JP" dirty="0"/>
              <a:t>ET</a:t>
            </a:r>
            <a:r>
              <a:rPr lang="ja-JP" altLang="en-US"/>
              <a:t>：</a:t>
            </a:r>
            <a:r>
              <a:rPr lang="en-US" altLang="ja-JP" dirty="0"/>
              <a:t>earliest node time</a:t>
            </a:r>
            <a:r>
              <a:rPr lang="ja-JP" altLang="en-US"/>
              <a:t>）</a:t>
            </a:r>
            <a:endParaRPr kumimoji="1" lang="ja-GB" altLang="en-US" dirty="0"/>
          </a:p>
        </p:txBody>
      </p:sp>
      <p:sp>
        <p:nvSpPr>
          <p:cNvPr id="3" name="コンテンツ プレースホルダー 2">
            <a:extLst>
              <a:ext uri="{FF2B5EF4-FFF2-40B4-BE49-F238E27FC236}">
                <a16:creationId xmlns:a16="http://schemas.microsoft.com/office/drawing/2014/main" id="{E64FEFC4-1069-EC0A-93D1-081E09EB166D}"/>
              </a:ext>
            </a:extLst>
          </p:cNvPr>
          <p:cNvSpPr>
            <a:spLocks noGrp="1"/>
          </p:cNvSpPr>
          <p:nvPr>
            <p:ph idx="1"/>
          </p:nvPr>
        </p:nvSpPr>
        <p:spPr/>
        <p:txBody>
          <a:bodyPr/>
          <a:lstStyle/>
          <a:p>
            <a:pPr marL="0" indent="0">
              <a:buNone/>
            </a:pPr>
            <a:r>
              <a:rPr lang="ja-GB" altLang="en-US" dirty="0"/>
              <a:t>開始から各結節点（</a:t>
            </a:r>
            <a:r>
              <a:rPr lang="en-US" altLang="ja-GB" dirty="0"/>
              <a:t>node</a:t>
            </a:r>
            <a:r>
              <a:rPr lang="ja-GB" altLang="en-US" dirty="0"/>
              <a:t>）に到達するまでにかかる時間</a:t>
            </a:r>
            <a:br>
              <a:rPr lang="en-US" altLang="ja-GB" dirty="0"/>
            </a:br>
            <a:r>
              <a:rPr lang="ja-GB" altLang="en-US" sz="2000" dirty="0"/>
              <a:t>＝結合点を最も早く出発して，次の作業を開始できる時間</a:t>
            </a:r>
            <a:endParaRPr kumimoji="1" lang="en-US" altLang="ja-GB" dirty="0"/>
          </a:p>
          <a:p>
            <a:pPr marL="914400" lvl="1" indent="-457200">
              <a:buFont typeface="+mj-lt"/>
              <a:buAutoNum type="arabicPeriod"/>
            </a:pPr>
            <a:r>
              <a:rPr lang="ja-GB" altLang="en-US" dirty="0">
                <a:solidFill>
                  <a:schemeClr val="tx1">
                    <a:lumMod val="50000"/>
                    <a:lumOff val="50000"/>
                  </a:schemeClr>
                </a:solidFill>
              </a:rPr>
              <a:t>開始地点</a:t>
            </a:r>
            <a:r>
              <a:rPr kumimoji="1" lang="ja-GB" altLang="en-US" dirty="0">
                <a:solidFill>
                  <a:schemeClr val="tx1">
                    <a:lumMod val="50000"/>
                    <a:lumOff val="50000"/>
                  </a:schemeClr>
                </a:solidFill>
              </a:rPr>
              <a:t>の</a:t>
            </a:r>
            <a:r>
              <a:rPr kumimoji="1" lang="en-US" altLang="ja-GB" dirty="0">
                <a:solidFill>
                  <a:schemeClr val="tx1">
                    <a:lumMod val="50000"/>
                    <a:lumOff val="50000"/>
                  </a:schemeClr>
                </a:solidFill>
              </a:rPr>
              <a:t>ET</a:t>
            </a:r>
            <a:r>
              <a:rPr lang="ja-GB" altLang="en-US" dirty="0">
                <a:solidFill>
                  <a:schemeClr val="tx1">
                    <a:lumMod val="50000"/>
                    <a:lumOff val="50000"/>
                  </a:schemeClr>
                </a:solidFill>
              </a:rPr>
              <a:t>を</a:t>
            </a:r>
            <a:r>
              <a:rPr lang="en-US" altLang="ja-GB" dirty="0">
                <a:solidFill>
                  <a:schemeClr val="tx1">
                    <a:lumMod val="50000"/>
                    <a:lumOff val="50000"/>
                  </a:schemeClr>
                </a:solidFill>
              </a:rPr>
              <a:t>0</a:t>
            </a:r>
            <a:r>
              <a:rPr lang="ja-GB" altLang="en-US" dirty="0">
                <a:solidFill>
                  <a:schemeClr val="tx1">
                    <a:lumMod val="50000"/>
                    <a:lumOff val="50000"/>
                  </a:schemeClr>
                </a:solidFill>
              </a:rPr>
              <a:t>に設定</a:t>
            </a:r>
            <a:endParaRPr lang="en-US" altLang="ja-GB" dirty="0">
              <a:solidFill>
                <a:schemeClr val="tx1">
                  <a:lumMod val="50000"/>
                  <a:lumOff val="50000"/>
                </a:schemeClr>
              </a:solidFill>
            </a:endParaRPr>
          </a:p>
          <a:p>
            <a:pPr lvl="2"/>
            <a:r>
              <a:rPr kumimoji="1" lang="en-US" altLang="ja-GB" dirty="0">
                <a:solidFill>
                  <a:schemeClr val="tx1">
                    <a:lumMod val="50000"/>
                    <a:lumOff val="50000"/>
                  </a:schemeClr>
                </a:solidFill>
              </a:rPr>
              <a:t>ET</a:t>
            </a:r>
            <a:r>
              <a:rPr kumimoji="1" lang="en-US" altLang="ja-GB" baseline="-25000" dirty="0">
                <a:solidFill>
                  <a:schemeClr val="tx1">
                    <a:lumMod val="50000"/>
                    <a:lumOff val="50000"/>
                  </a:schemeClr>
                </a:solidFill>
              </a:rPr>
              <a:t>1</a:t>
            </a:r>
            <a:r>
              <a:rPr kumimoji="1" lang="ja-GB" altLang="en-US" dirty="0">
                <a:solidFill>
                  <a:schemeClr val="tx1">
                    <a:lumMod val="50000"/>
                    <a:lumOff val="50000"/>
                  </a:schemeClr>
                </a:solidFill>
              </a:rPr>
              <a:t>は</a:t>
            </a:r>
            <a:r>
              <a:rPr kumimoji="1" lang="en-US" altLang="ja-GB" dirty="0">
                <a:solidFill>
                  <a:schemeClr val="tx1">
                    <a:lumMod val="50000"/>
                    <a:lumOff val="50000"/>
                  </a:schemeClr>
                </a:solidFill>
              </a:rPr>
              <a:t>0</a:t>
            </a:r>
          </a:p>
          <a:p>
            <a:pPr lvl="4"/>
            <a:endParaRPr kumimoji="1" lang="en-US" altLang="ja-GB" dirty="0">
              <a:solidFill>
                <a:schemeClr val="tx1">
                  <a:lumMod val="50000"/>
                  <a:lumOff val="50000"/>
                </a:schemeClr>
              </a:solidFill>
            </a:endParaRPr>
          </a:p>
          <a:p>
            <a:pPr marL="914400" lvl="1" indent="-457200">
              <a:buFont typeface="+mj-lt"/>
              <a:buAutoNum type="arabicPeriod"/>
            </a:pPr>
            <a:r>
              <a:rPr kumimoji="1" lang="ja-GB" altLang="en-US" dirty="0">
                <a:solidFill>
                  <a:srgbClr val="2F2523"/>
                </a:solidFill>
              </a:rPr>
              <a:t>各結合点の</a:t>
            </a:r>
            <a:r>
              <a:rPr kumimoji="1" lang="en-US" altLang="ja-GB" dirty="0">
                <a:solidFill>
                  <a:srgbClr val="2F2523"/>
                </a:solidFill>
              </a:rPr>
              <a:t>ET</a:t>
            </a:r>
            <a:r>
              <a:rPr kumimoji="1" lang="ja-GB" altLang="en-US" dirty="0">
                <a:solidFill>
                  <a:srgbClr val="2F2523"/>
                </a:solidFill>
              </a:rPr>
              <a:t>を計算</a:t>
            </a:r>
            <a:endParaRPr kumimoji="1" lang="en-US" altLang="ja-GB" dirty="0">
              <a:solidFill>
                <a:srgbClr val="2F2523"/>
              </a:solidFill>
            </a:endParaRPr>
          </a:p>
          <a:p>
            <a:pPr lvl="2"/>
            <a:r>
              <a:rPr kumimoji="1" lang="ja-GB" altLang="en-US" dirty="0">
                <a:solidFill>
                  <a:srgbClr val="2F2523"/>
                </a:solidFill>
              </a:rPr>
              <a:t>終点の</a:t>
            </a:r>
            <a:r>
              <a:rPr kumimoji="1" lang="en-US" altLang="ja-GB" dirty="0">
                <a:solidFill>
                  <a:srgbClr val="2F2523"/>
                </a:solidFill>
              </a:rPr>
              <a:t>ET = </a:t>
            </a:r>
            <a:r>
              <a:rPr kumimoji="1" lang="ja-GB" altLang="en-US" dirty="0">
                <a:solidFill>
                  <a:srgbClr val="2F2523"/>
                </a:solidFill>
              </a:rPr>
              <a:t>始点の</a:t>
            </a:r>
            <a:r>
              <a:rPr kumimoji="1" lang="en-US" altLang="ja-GB" dirty="0">
                <a:solidFill>
                  <a:srgbClr val="2F2523"/>
                </a:solidFill>
              </a:rPr>
              <a:t>ET + </a:t>
            </a:r>
            <a:r>
              <a:rPr lang="ja-GB" altLang="en-US" dirty="0">
                <a:solidFill>
                  <a:srgbClr val="2F2523"/>
                </a:solidFill>
              </a:rPr>
              <a:t>作業日数</a:t>
            </a:r>
            <a:endParaRPr lang="en-US" altLang="ja-GB" dirty="0">
              <a:solidFill>
                <a:srgbClr val="2F2523"/>
              </a:solidFill>
            </a:endParaRPr>
          </a:p>
          <a:p>
            <a:pPr lvl="2"/>
            <a:r>
              <a:rPr kumimoji="1" lang="ja-GB" altLang="en-US" dirty="0">
                <a:solidFill>
                  <a:srgbClr val="0070C0"/>
                </a:solidFill>
              </a:rPr>
              <a:t>複数の経路がある場合は，最も大きい（遅い）値を</a:t>
            </a:r>
            <a:r>
              <a:rPr kumimoji="1" lang="en-US" altLang="ja-GB" dirty="0">
                <a:solidFill>
                  <a:srgbClr val="0070C0"/>
                </a:solidFill>
              </a:rPr>
              <a:t>ET</a:t>
            </a:r>
            <a:r>
              <a:rPr kumimoji="1" lang="ja-GB" altLang="en-US" dirty="0">
                <a:solidFill>
                  <a:srgbClr val="0070C0"/>
                </a:solidFill>
              </a:rPr>
              <a:t>とする</a:t>
            </a:r>
            <a:br>
              <a:rPr kumimoji="1" lang="en-US" altLang="ja-GB" dirty="0">
                <a:solidFill>
                  <a:srgbClr val="0070C0"/>
                </a:solidFill>
              </a:rPr>
            </a:br>
            <a:r>
              <a:rPr kumimoji="1" lang="ja-GB" altLang="en-US" sz="1600" dirty="0">
                <a:solidFill>
                  <a:srgbClr val="2F2523"/>
                </a:solidFill>
              </a:rPr>
              <a:t>（遅れた方の作業が終わるまで次の作業が始められないため）</a:t>
            </a:r>
            <a:endParaRPr kumimoji="1" lang="en-US" altLang="ja-GB" dirty="0">
              <a:solidFill>
                <a:srgbClr val="2F2523"/>
              </a:solidFill>
            </a:endParaRPr>
          </a:p>
          <a:p>
            <a:pPr lvl="4"/>
            <a:endParaRPr kumimoji="1" lang="en-US" altLang="ja-GB" dirty="0">
              <a:solidFill>
                <a:schemeClr val="tx1">
                  <a:lumMod val="50000"/>
                  <a:lumOff val="50000"/>
                </a:schemeClr>
              </a:solidFill>
            </a:endParaRPr>
          </a:p>
        </p:txBody>
      </p:sp>
      <p:sp>
        <p:nvSpPr>
          <p:cNvPr id="6" name="円/楕円 5">
            <a:extLst>
              <a:ext uri="{FF2B5EF4-FFF2-40B4-BE49-F238E27FC236}">
                <a16:creationId xmlns:a16="http://schemas.microsoft.com/office/drawing/2014/main" id="{B96706FA-B902-7BF9-BED1-D11E6B202B4A}"/>
              </a:ext>
            </a:extLst>
          </p:cNvPr>
          <p:cNvSpPr>
            <a:spLocks noChangeAspect="1"/>
          </p:cNvSpPr>
          <p:nvPr/>
        </p:nvSpPr>
        <p:spPr>
          <a:xfrm>
            <a:off x="1177783" y="499950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7" name="円/楕円 6">
            <a:extLst>
              <a:ext uri="{FF2B5EF4-FFF2-40B4-BE49-F238E27FC236}">
                <a16:creationId xmlns:a16="http://schemas.microsoft.com/office/drawing/2014/main" id="{425AF905-50C4-8586-E533-234A119B9587}"/>
              </a:ext>
            </a:extLst>
          </p:cNvPr>
          <p:cNvSpPr>
            <a:spLocks noChangeAspect="1"/>
          </p:cNvSpPr>
          <p:nvPr/>
        </p:nvSpPr>
        <p:spPr>
          <a:xfrm>
            <a:off x="2784514" y="4459577"/>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8" name="円/楕円 7">
            <a:extLst>
              <a:ext uri="{FF2B5EF4-FFF2-40B4-BE49-F238E27FC236}">
                <a16:creationId xmlns:a16="http://schemas.microsoft.com/office/drawing/2014/main" id="{ECC08B91-72A2-E188-2D2F-0F78BD5C2DE5}"/>
              </a:ext>
            </a:extLst>
          </p:cNvPr>
          <p:cNvSpPr>
            <a:spLocks noChangeAspect="1"/>
          </p:cNvSpPr>
          <p:nvPr/>
        </p:nvSpPr>
        <p:spPr>
          <a:xfrm>
            <a:off x="2784514" y="5524384"/>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9" name="円/楕円 8">
            <a:extLst>
              <a:ext uri="{FF2B5EF4-FFF2-40B4-BE49-F238E27FC236}">
                <a16:creationId xmlns:a16="http://schemas.microsoft.com/office/drawing/2014/main" id="{DEC0AEF9-F4CA-68E8-7D08-3E13DC926CD9}"/>
              </a:ext>
            </a:extLst>
          </p:cNvPr>
          <p:cNvSpPr>
            <a:spLocks noChangeAspect="1"/>
          </p:cNvSpPr>
          <p:nvPr/>
        </p:nvSpPr>
        <p:spPr>
          <a:xfrm>
            <a:off x="4408663" y="499950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0" name="円/楕円 9">
            <a:extLst>
              <a:ext uri="{FF2B5EF4-FFF2-40B4-BE49-F238E27FC236}">
                <a16:creationId xmlns:a16="http://schemas.microsoft.com/office/drawing/2014/main" id="{4807D015-162B-19C4-7E9C-2AE92FEE63AA}"/>
              </a:ext>
            </a:extLst>
          </p:cNvPr>
          <p:cNvSpPr>
            <a:spLocks noChangeAspect="1"/>
          </p:cNvSpPr>
          <p:nvPr/>
        </p:nvSpPr>
        <p:spPr>
          <a:xfrm>
            <a:off x="6024103" y="4459577"/>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1" name="円/楕円 10">
            <a:extLst>
              <a:ext uri="{FF2B5EF4-FFF2-40B4-BE49-F238E27FC236}">
                <a16:creationId xmlns:a16="http://schemas.microsoft.com/office/drawing/2014/main" id="{6320D939-64C3-28DE-D70F-AE8909BA6AC4}"/>
              </a:ext>
            </a:extLst>
          </p:cNvPr>
          <p:cNvSpPr>
            <a:spLocks noChangeAspect="1"/>
          </p:cNvSpPr>
          <p:nvPr/>
        </p:nvSpPr>
        <p:spPr>
          <a:xfrm>
            <a:off x="7639543" y="499950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cxnSp>
        <p:nvCxnSpPr>
          <p:cNvPr id="13" name="直線矢印コネクタ 12">
            <a:extLst>
              <a:ext uri="{FF2B5EF4-FFF2-40B4-BE49-F238E27FC236}">
                <a16:creationId xmlns:a16="http://schemas.microsoft.com/office/drawing/2014/main" id="{AEA154F2-93E6-96B7-37AF-4A0817383282}"/>
              </a:ext>
            </a:extLst>
          </p:cNvPr>
          <p:cNvCxnSpPr>
            <a:cxnSpLocks/>
            <a:stCxn id="6" idx="6"/>
            <a:endCxn id="7" idx="2"/>
          </p:cNvCxnSpPr>
          <p:nvPr/>
        </p:nvCxnSpPr>
        <p:spPr>
          <a:xfrm flipV="1">
            <a:off x="1717715" y="4729543"/>
            <a:ext cx="1066799"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2D2CE094-5B94-AFAB-CBCA-017D7261F4C0}"/>
              </a:ext>
            </a:extLst>
          </p:cNvPr>
          <p:cNvCxnSpPr>
            <a:cxnSpLocks/>
            <a:stCxn id="6" idx="6"/>
            <a:endCxn id="8" idx="2"/>
          </p:cNvCxnSpPr>
          <p:nvPr/>
        </p:nvCxnSpPr>
        <p:spPr>
          <a:xfrm>
            <a:off x="1717715" y="5269475"/>
            <a:ext cx="1066799"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2B29B0C4-3BBA-3C5F-D345-FED9D6C01D70}"/>
              </a:ext>
            </a:extLst>
          </p:cNvPr>
          <p:cNvCxnSpPr>
            <a:cxnSpLocks/>
            <a:stCxn id="7" idx="6"/>
            <a:endCxn id="10" idx="2"/>
          </p:cNvCxnSpPr>
          <p:nvPr/>
        </p:nvCxnSpPr>
        <p:spPr>
          <a:xfrm>
            <a:off x="3324446" y="4729543"/>
            <a:ext cx="2699657"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9FA83274-9C13-87F8-4597-599DC58A8602}"/>
              </a:ext>
            </a:extLst>
          </p:cNvPr>
          <p:cNvCxnSpPr>
            <a:cxnSpLocks/>
            <a:stCxn id="8" idx="6"/>
            <a:endCxn id="9" idx="2"/>
          </p:cNvCxnSpPr>
          <p:nvPr/>
        </p:nvCxnSpPr>
        <p:spPr>
          <a:xfrm flipV="1">
            <a:off x="3324446" y="5269475"/>
            <a:ext cx="1084217"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E0F114CA-390B-0BD5-5264-AD5F9AFF7FCB}"/>
              </a:ext>
            </a:extLst>
          </p:cNvPr>
          <p:cNvCxnSpPr>
            <a:cxnSpLocks/>
            <a:stCxn id="7" idx="6"/>
            <a:endCxn id="9" idx="2"/>
          </p:cNvCxnSpPr>
          <p:nvPr/>
        </p:nvCxnSpPr>
        <p:spPr>
          <a:xfrm>
            <a:off x="3324446" y="4729543"/>
            <a:ext cx="1084217"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2BBEE396-D0CD-C037-F173-BFEB11ED640C}"/>
              </a:ext>
            </a:extLst>
          </p:cNvPr>
          <p:cNvCxnSpPr>
            <a:cxnSpLocks/>
            <a:stCxn id="9" idx="6"/>
            <a:endCxn id="10" idx="2"/>
          </p:cNvCxnSpPr>
          <p:nvPr/>
        </p:nvCxnSpPr>
        <p:spPr>
          <a:xfrm flipV="1">
            <a:off x="4948595" y="4729543"/>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1C53ECB9-C1A2-AB06-2A2A-E3BC0AAB1D0E}"/>
              </a:ext>
            </a:extLst>
          </p:cNvPr>
          <p:cNvCxnSpPr>
            <a:cxnSpLocks/>
            <a:endCxn id="11" idx="2"/>
          </p:cNvCxnSpPr>
          <p:nvPr/>
        </p:nvCxnSpPr>
        <p:spPr>
          <a:xfrm>
            <a:off x="4948595" y="5269475"/>
            <a:ext cx="2690948"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0F4CBEC1-3E56-4614-0856-F0D3196412D1}"/>
              </a:ext>
            </a:extLst>
          </p:cNvPr>
          <p:cNvCxnSpPr>
            <a:cxnSpLocks/>
            <a:stCxn id="10" idx="6"/>
            <a:endCxn id="11" idx="2"/>
          </p:cNvCxnSpPr>
          <p:nvPr/>
        </p:nvCxnSpPr>
        <p:spPr>
          <a:xfrm>
            <a:off x="6564035" y="4729543"/>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47B0A645-6FF8-A8E7-D44F-5592059DFD8E}"/>
              </a:ext>
            </a:extLst>
          </p:cNvPr>
          <p:cNvSpPr txBox="1"/>
          <p:nvPr/>
        </p:nvSpPr>
        <p:spPr>
          <a:xfrm>
            <a:off x="1901562" y="4676343"/>
            <a:ext cx="506870"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A</a:t>
            </a:r>
            <a:r>
              <a:rPr kumimoji="1" lang="ja-GB" altLang="en-US" sz="1200" dirty="0">
                <a:solidFill>
                  <a:schemeClr val="tx1">
                    <a:lumMod val="50000"/>
                    <a:lumOff val="50000"/>
                  </a:schemeClr>
                </a:solidFill>
              </a:rPr>
              <a:t>：</a:t>
            </a:r>
            <a:r>
              <a:rPr kumimoji="1" lang="en-US" altLang="ja-GB" sz="1200" dirty="0">
                <a:solidFill>
                  <a:schemeClr val="tx1">
                    <a:lumMod val="50000"/>
                    <a:lumOff val="50000"/>
                  </a:schemeClr>
                </a:solidFill>
              </a:rPr>
              <a:t>3</a:t>
            </a:r>
          </a:p>
        </p:txBody>
      </p:sp>
      <p:sp>
        <p:nvSpPr>
          <p:cNvPr id="41" name="テキスト ボックス 40">
            <a:extLst>
              <a:ext uri="{FF2B5EF4-FFF2-40B4-BE49-F238E27FC236}">
                <a16:creationId xmlns:a16="http://schemas.microsoft.com/office/drawing/2014/main" id="{6848D2CE-2754-600B-32E8-AA6C573878C6}"/>
              </a:ext>
            </a:extLst>
          </p:cNvPr>
          <p:cNvSpPr txBox="1"/>
          <p:nvPr/>
        </p:nvSpPr>
        <p:spPr>
          <a:xfrm>
            <a:off x="1904769" y="5626764"/>
            <a:ext cx="500458"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B</a:t>
            </a:r>
            <a:r>
              <a:rPr kumimoji="1" lang="ja-GB" altLang="en-US" sz="1200" dirty="0">
                <a:solidFill>
                  <a:schemeClr val="tx1">
                    <a:lumMod val="50000"/>
                    <a:lumOff val="50000"/>
                  </a:schemeClr>
                </a:solidFill>
              </a:rPr>
              <a:t>：</a:t>
            </a:r>
            <a:r>
              <a:rPr kumimoji="1" lang="en-US" altLang="ja-GB" sz="1200" dirty="0">
                <a:solidFill>
                  <a:schemeClr val="tx1">
                    <a:lumMod val="50000"/>
                    <a:lumOff val="50000"/>
                  </a:schemeClr>
                </a:solidFill>
              </a:rPr>
              <a:t>2</a:t>
            </a:r>
          </a:p>
        </p:txBody>
      </p:sp>
      <p:sp>
        <p:nvSpPr>
          <p:cNvPr id="42" name="テキスト ボックス 41">
            <a:extLst>
              <a:ext uri="{FF2B5EF4-FFF2-40B4-BE49-F238E27FC236}">
                <a16:creationId xmlns:a16="http://schemas.microsoft.com/office/drawing/2014/main" id="{3DD4C0E8-AD61-FAE5-DF14-D9D72CD3AAC2}"/>
              </a:ext>
            </a:extLst>
          </p:cNvPr>
          <p:cNvSpPr txBox="1"/>
          <p:nvPr/>
        </p:nvSpPr>
        <p:spPr>
          <a:xfrm>
            <a:off x="3447870" y="5670906"/>
            <a:ext cx="511679"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D</a:t>
            </a:r>
            <a:r>
              <a:rPr kumimoji="1" lang="ja-GB" altLang="en-US" sz="1200" dirty="0">
                <a:solidFill>
                  <a:schemeClr val="tx1">
                    <a:lumMod val="50000"/>
                    <a:lumOff val="50000"/>
                  </a:schemeClr>
                </a:solidFill>
              </a:rPr>
              <a:t>：</a:t>
            </a:r>
            <a:r>
              <a:rPr kumimoji="1" lang="en-US" altLang="ja-GB" sz="1200" dirty="0">
                <a:solidFill>
                  <a:schemeClr val="tx1">
                    <a:lumMod val="50000"/>
                    <a:lumOff val="50000"/>
                  </a:schemeClr>
                </a:solidFill>
              </a:rPr>
              <a:t>5</a:t>
            </a:r>
          </a:p>
        </p:txBody>
      </p:sp>
      <p:sp>
        <p:nvSpPr>
          <p:cNvPr id="43" name="テキスト ボックス 42">
            <a:extLst>
              <a:ext uri="{FF2B5EF4-FFF2-40B4-BE49-F238E27FC236}">
                <a16:creationId xmlns:a16="http://schemas.microsoft.com/office/drawing/2014/main" id="{E6B46B3B-219E-E91F-67BA-C02A94409EE6}"/>
              </a:ext>
            </a:extLst>
          </p:cNvPr>
          <p:cNvSpPr txBox="1"/>
          <p:nvPr/>
        </p:nvSpPr>
        <p:spPr>
          <a:xfrm>
            <a:off x="3454283" y="4970537"/>
            <a:ext cx="498855"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C</a:t>
            </a:r>
            <a:r>
              <a:rPr kumimoji="1" lang="ja-GB" altLang="en-US" sz="1200" dirty="0">
                <a:solidFill>
                  <a:schemeClr val="tx1">
                    <a:lumMod val="50000"/>
                    <a:lumOff val="50000"/>
                  </a:schemeClr>
                </a:solidFill>
              </a:rPr>
              <a:t>：</a:t>
            </a:r>
            <a:r>
              <a:rPr kumimoji="1" lang="en-US" altLang="ja-GB" sz="1200" dirty="0">
                <a:solidFill>
                  <a:schemeClr val="tx1">
                    <a:lumMod val="50000"/>
                    <a:lumOff val="50000"/>
                  </a:schemeClr>
                </a:solidFill>
              </a:rPr>
              <a:t>4</a:t>
            </a:r>
          </a:p>
        </p:txBody>
      </p:sp>
      <p:sp>
        <p:nvSpPr>
          <p:cNvPr id="44" name="テキスト ボックス 43">
            <a:extLst>
              <a:ext uri="{FF2B5EF4-FFF2-40B4-BE49-F238E27FC236}">
                <a16:creationId xmlns:a16="http://schemas.microsoft.com/office/drawing/2014/main" id="{B11B2FFF-4461-887A-082E-6982BEA37F53}"/>
              </a:ext>
            </a:extLst>
          </p:cNvPr>
          <p:cNvSpPr txBox="1"/>
          <p:nvPr/>
        </p:nvSpPr>
        <p:spPr>
          <a:xfrm>
            <a:off x="4477719" y="4420639"/>
            <a:ext cx="492443" cy="276999"/>
          </a:xfrm>
          <a:prstGeom prst="rect">
            <a:avLst/>
          </a:prstGeom>
          <a:noFill/>
          <a:ln w="38100">
            <a:noFill/>
          </a:ln>
        </p:spPr>
        <p:txBody>
          <a:bodyPr wrap="none" rtlCol="0" anchor="ctr">
            <a:spAutoFit/>
          </a:bodyPr>
          <a:lstStyle/>
          <a:p>
            <a:pPr algn="ctr"/>
            <a:r>
              <a:rPr kumimoji="1" lang="en-US" altLang="ja-GB" sz="1200" dirty="0">
                <a:solidFill>
                  <a:srgbClr val="0070C0"/>
                </a:solidFill>
              </a:rPr>
              <a:t>E</a:t>
            </a:r>
            <a:r>
              <a:rPr kumimoji="1" lang="ja-GB" altLang="en-US" sz="1200" dirty="0">
                <a:solidFill>
                  <a:srgbClr val="0070C0"/>
                </a:solidFill>
              </a:rPr>
              <a:t>：</a:t>
            </a:r>
            <a:r>
              <a:rPr kumimoji="1" lang="en-US" altLang="ja-GB" sz="1200" dirty="0">
                <a:solidFill>
                  <a:srgbClr val="0070C0"/>
                </a:solidFill>
              </a:rPr>
              <a:t>1</a:t>
            </a:r>
          </a:p>
        </p:txBody>
      </p:sp>
      <p:sp>
        <p:nvSpPr>
          <p:cNvPr id="45" name="テキスト ボックス 44">
            <a:extLst>
              <a:ext uri="{FF2B5EF4-FFF2-40B4-BE49-F238E27FC236}">
                <a16:creationId xmlns:a16="http://schemas.microsoft.com/office/drawing/2014/main" id="{54B0DE95-55A7-AACE-9F2A-ACCE119716CE}"/>
              </a:ext>
            </a:extLst>
          </p:cNvPr>
          <p:cNvSpPr txBox="1"/>
          <p:nvPr/>
        </p:nvSpPr>
        <p:spPr>
          <a:xfrm>
            <a:off x="5431776" y="4940846"/>
            <a:ext cx="514885" cy="276999"/>
          </a:xfrm>
          <a:prstGeom prst="rect">
            <a:avLst/>
          </a:prstGeom>
          <a:noFill/>
          <a:ln w="38100">
            <a:noFill/>
          </a:ln>
        </p:spPr>
        <p:txBody>
          <a:bodyPr wrap="none" rtlCol="0" anchor="ctr">
            <a:spAutoFit/>
          </a:bodyPr>
          <a:lstStyle/>
          <a:p>
            <a:pPr algn="ctr"/>
            <a:r>
              <a:rPr kumimoji="1" lang="en-US" altLang="ja-GB" sz="1200" dirty="0">
                <a:solidFill>
                  <a:srgbClr val="0070C0"/>
                </a:solidFill>
              </a:rPr>
              <a:t>G</a:t>
            </a:r>
            <a:r>
              <a:rPr kumimoji="1" lang="ja-GB" altLang="en-US" sz="1200" dirty="0">
                <a:solidFill>
                  <a:srgbClr val="0070C0"/>
                </a:solidFill>
              </a:rPr>
              <a:t>：</a:t>
            </a:r>
            <a:r>
              <a:rPr kumimoji="1" lang="en-US" altLang="ja-GB" sz="1200" dirty="0">
                <a:solidFill>
                  <a:srgbClr val="0070C0"/>
                </a:solidFill>
              </a:rPr>
              <a:t>3</a:t>
            </a:r>
          </a:p>
        </p:txBody>
      </p:sp>
      <p:sp>
        <p:nvSpPr>
          <p:cNvPr id="46" name="テキスト ボックス 45">
            <a:extLst>
              <a:ext uri="{FF2B5EF4-FFF2-40B4-BE49-F238E27FC236}">
                <a16:creationId xmlns:a16="http://schemas.microsoft.com/office/drawing/2014/main" id="{0E44A27F-2AFC-3790-8F0A-7374F840E4CA}"/>
              </a:ext>
            </a:extLst>
          </p:cNvPr>
          <p:cNvSpPr txBox="1"/>
          <p:nvPr/>
        </p:nvSpPr>
        <p:spPr>
          <a:xfrm>
            <a:off x="6050252" y="5304197"/>
            <a:ext cx="487633"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F</a:t>
            </a:r>
            <a:r>
              <a:rPr kumimoji="1" lang="ja-GB" altLang="en-US" sz="1200" dirty="0">
                <a:solidFill>
                  <a:schemeClr val="tx1">
                    <a:lumMod val="50000"/>
                    <a:lumOff val="50000"/>
                  </a:schemeClr>
                </a:solidFill>
              </a:rPr>
              <a:t>：</a:t>
            </a:r>
            <a:r>
              <a:rPr kumimoji="1" lang="en-US" altLang="ja-GB" sz="1200" dirty="0">
                <a:solidFill>
                  <a:schemeClr val="tx1">
                    <a:lumMod val="50000"/>
                    <a:lumOff val="50000"/>
                  </a:schemeClr>
                </a:solidFill>
              </a:rPr>
              <a:t>6</a:t>
            </a:r>
          </a:p>
        </p:txBody>
      </p:sp>
      <p:sp>
        <p:nvSpPr>
          <p:cNvPr id="47" name="テキスト ボックス 46">
            <a:extLst>
              <a:ext uri="{FF2B5EF4-FFF2-40B4-BE49-F238E27FC236}">
                <a16:creationId xmlns:a16="http://schemas.microsoft.com/office/drawing/2014/main" id="{B46559E2-8188-6B18-AF27-0E198DEAE56D}"/>
              </a:ext>
            </a:extLst>
          </p:cNvPr>
          <p:cNvSpPr txBox="1"/>
          <p:nvPr/>
        </p:nvSpPr>
        <p:spPr>
          <a:xfrm>
            <a:off x="6985797" y="4699799"/>
            <a:ext cx="513282"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H</a:t>
            </a:r>
            <a:r>
              <a:rPr kumimoji="1" lang="ja-GB" altLang="en-US" sz="1200" dirty="0">
                <a:solidFill>
                  <a:schemeClr val="tx1">
                    <a:lumMod val="50000"/>
                    <a:lumOff val="50000"/>
                  </a:schemeClr>
                </a:solidFill>
              </a:rPr>
              <a:t>：</a:t>
            </a:r>
            <a:r>
              <a:rPr kumimoji="1" lang="en-US" altLang="ja-GB" sz="1200" dirty="0">
                <a:solidFill>
                  <a:schemeClr val="tx1">
                    <a:lumMod val="50000"/>
                    <a:lumOff val="50000"/>
                  </a:schemeClr>
                </a:solidFill>
              </a:rPr>
              <a:t>2</a:t>
            </a:r>
          </a:p>
        </p:txBody>
      </p:sp>
      <p:sp>
        <p:nvSpPr>
          <p:cNvPr id="49" name="テキスト ボックス 48">
            <a:extLst>
              <a:ext uri="{FF2B5EF4-FFF2-40B4-BE49-F238E27FC236}">
                <a16:creationId xmlns:a16="http://schemas.microsoft.com/office/drawing/2014/main" id="{F695FBDB-C2A4-4295-EA4F-4423FF81C51D}"/>
              </a:ext>
            </a:extLst>
          </p:cNvPr>
          <p:cNvSpPr txBox="1"/>
          <p:nvPr/>
        </p:nvSpPr>
        <p:spPr>
          <a:xfrm>
            <a:off x="1207362" y="5130975"/>
            <a:ext cx="480773"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ET: 0</a:t>
            </a:r>
          </a:p>
        </p:txBody>
      </p:sp>
      <p:sp>
        <p:nvSpPr>
          <p:cNvPr id="50" name="テキスト ボックス 49">
            <a:extLst>
              <a:ext uri="{FF2B5EF4-FFF2-40B4-BE49-F238E27FC236}">
                <a16:creationId xmlns:a16="http://schemas.microsoft.com/office/drawing/2014/main" id="{94ED0313-E9C7-D4CB-8F28-758D7D8BD0FC}"/>
              </a:ext>
            </a:extLst>
          </p:cNvPr>
          <p:cNvSpPr txBox="1"/>
          <p:nvPr/>
        </p:nvSpPr>
        <p:spPr>
          <a:xfrm>
            <a:off x="2814093" y="5662987"/>
            <a:ext cx="480773"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ET: 2</a:t>
            </a:r>
          </a:p>
        </p:txBody>
      </p:sp>
      <p:sp>
        <p:nvSpPr>
          <p:cNvPr id="51" name="テキスト ボックス 50">
            <a:extLst>
              <a:ext uri="{FF2B5EF4-FFF2-40B4-BE49-F238E27FC236}">
                <a16:creationId xmlns:a16="http://schemas.microsoft.com/office/drawing/2014/main" id="{50031007-B01E-020E-F339-C1F5FA7495B5}"/>
              </a:ext>
            </a:extLst>
          </p:cNvPr>
          <p:cNvSpPr txBox="1"/>
          <p:nvPr/>
        </p:nvSpPr>
        <p:spPr>
          <a:xfrm>
            <a:off x="2818698" y="4591043"/>
            <a:ext cx="480773" cy="276999"/>
          </a:xfrm>
          <a:prstGeom prst="rect">
            <a:avLst/>
          </a:prstGeom>
          <a:noFill/>
          <a:ln w="38100">
            <a:noFill/>
          </a:ln>
        </p:spPr>
        <p:txBody>
          <a:bodyPr wrap="none" rtlCol="0" anchor="ctr">
            <a:spAutoFit/>
          </a:bodyPr>
          <a:lstStyle/>
          <a:p>
            <a:pPr algn="ctr"/>
            <a:r>
              <a:rPr kumimoji="1" lang="en-US" altLang="ja-GB" sz="1200" dirty="0">
                <a:solidFill>
                  <a:srgbClr val="0070C0"/>
                </a:solidFill>
              </a:rPr>
              <a:t>ET: 3</a:t>
            </a:r>
          </a:p>
        </p:txBody>
      </p:sp>
      <p:sp>
        <p:nvSpPr>
          <p:cNvPr id="52" name="テキスト ボックス 51">
            <a:extLst>
              <a:ext uri="{FF2B5EF4-FFF2-40B4-BE49-F238E27FC236}">
                <a16:creationId xmlns:a16="http://schemas.microsoft.com/office/drawing/2014/main" id="{B314557D-F04E-FA17-C570-7F10B6064CF9}"/>
              </a:ext>
            </a:extLst>
          </p:cNvPr>
          <p:cNvSpPr txBox="1"/>
          <p:nvPr/>
        </p:nvSpPr>
        <p:spPr>
          <a:xfrm>
            <a:off x="4438589" y="5130975"/>
            <a:ext cx="480773" cy="276999"/>
          </a:xfrm>
          <a:prstGeom prst="rect">
            <a:avLst/>
          </a:prstGeom>
          <a:noFill/>
          <a:ln w="38100">
            <a:noFill/>
          </a:ln>
        </p:spPr>
        <p:txBody>
          <a:bodyPr wrap="none" rtlCol="0" anchor="ctr">
            <a:spAutoFit/>
          </a:bodyPr>
          <a:lstStyle/>
          <a:p>
            <a:pPr algn="ctr"/>
            <a:r>
              <a:rPr kumimoji="1" lang="en-US" altLang="ja-GB" sz="1200" dirty="0">
                <a:solidFill>
                  <a:srgbClr val="0070C0"/>
                </a:solidFill>
              </a:rPr>
              <a:t>ET: 7</a:t>
            </a:r>
          </a:p>
        </p:txBody>
      </p:sp>
      <p:sp>
        <p:nvSpPr>
          <p:cNvPr id="53" name="テキスト ボックス 52">
            <a:extLst>
              <a:ext uri="{FF2B5EF4-FFF2-40B4-BE49-F238E27FC236}">
                <a16:creationId xmlns:a16="http://schemas.microsoft.com/office/drawing/2014/main" id="{59436D2E-338C-9618-8711-4F3243FF1E68}"/>
              </a:ext>
            </a:extLst>
          </p:cNvPr>
          <p:cNvSpPr txBox="1"/>
          <p:nvPr/>
        </p:nvSpPr>
        <p:spPr>
          <a:xfrm>
            <a:off x="6006397" y="4591043"/>
            <a:ext cx="559320" cy="276999"/>
          </a:xfrm>
          <a:prstGeom prst="rect">
            <a:avLst/>
          </a:prstGeom>
          <a:noFill/>
          <a:ln w="38100">
            <a:noFill/>
          </a:ln>
        </p:spPr>
        <p:txBody>
          <a:bodyPr wrap="none" rtlCol="0" anchor="ctr">
            <a:spAutoFit/>
          </a:bodyPr>
          <a:lstStyle/>
          <a:p>
            <a:pPr algn="ctr"/>
            <a:r>
              <a:rPr kumimoji="1" lang="en-US" altLang="ja-GB" sz="1200" dirty="0">
                <a:solidFill>
                  <a:schemeClr val="accent2"/>
                </a:solidFill>
              </a:rPr>
              <a:t>ET: 10</a:t>
            </a:r>
          </a:p>
        </p:txBody>
      </p:sp>
      <p:sp>
        <p:nvSpPr>
          <p:cNvPr id="4" name="テキスト ボックス 3">
            <a:extLst>
              <a:ext uri="{FF2B5EF4-FFF2-40B4-BE49-F238E27FC236}">
                <a16:creationId xmlns:a16="http://schemas.microsoft.com/office/drawing/2014/main" id="{5EA86987-BE84-DF47-FC5A-944AFA54CBF9}"/>
              </a:ext>
            </a:extLst>
          </p:cNvPr>
          <p:cNvSpPr txBox="1"/>
          <p:nvPr/>
        </p:nvSpPr>
        <p:spPr>
          <a:xfrm>
            <a:off x="5902778" y="3824369"/>
            <a:ext cx="883575" cy="646331"/>
          </a:xfrm>
          <a:prstGeom prst="rect">
            <a:avLst/>
          </a:prstGeom>
          <a:noFill/>
        </p:spPr>
        <p:txBody>
          <a:bodyPr wrap="none" rtlCol="0">
            <a:spAutoFit/>
          </a:bodyPr>
          <a:lstStyle/>
          <a:p>
            <a:r>
              <a:rPr kumimoji="1" lang="en-US" altLang="ja-GB" dirty="0"/>
              <a:t>3+1=4</a:t>
            </a:r>
          </a:p>
          <a:p>
            <a:r>
              <a:rPr kumimoji="1" lang="en-US" altLang="ja-GB" dirty="0"/>
              <a:t>7+3=10</a:t>
            </a:r>
            <a:endParaRPr kumimoji="1" lang="ja-GB" altLang="en-US" dirty="0"/>
          </a:p>
        </p:txBody>
      </p:sp>
    </p:spTree>
    <p:extLst>
      <p:ext uri="{BB962C8B-B14F-4D97-AF65-F5344CB8AC3E}">
        <p14:creationId xmlns:p14="http://schemas.microsoft.com/office/powerpoint/2010/main" val="3357981411"/>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C9A4D-1BB9-D953-BCA8-C406E97196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2627CDB-8347-6A92-43EB-9B53E900086E}"/>
              </a:ext>
            </a:extLst>
          </p:cNvPr>
          <p:cNvSpPr>
            <a:spLocks noGrp="1"/>
          </p:cNvSpPr>
          <p:nvPr>
            <p:ph type="title"/>
          </p:nvPr>
        </p:nvSpPr>
        <p:spPr/>
        <p:txBody>
          <a:bodyPr/>
          <a:lstStyle/>
          <a:p>
            <a:r>
              <a:rPr lang="ja-JP" altLang="en-US"/>
              <a:t>最早結合点時刻（</a:t>
            </a:r>
            <a:r>
              <a:rPr lang="en-US" altLang="ja-JP" dirty="0"/>
              <a:t>ET</a:t>
            </a:r>
            <a:r>
              <a:rPr lang="ja-JP" altLang="en-US"/>
              <a:t>：</a:t>
            </a:r>
            <a:r>
              <a:rPr lang="en-US" altLang="ja-JP" dirty="0"/>
              <a:t>earliest node time</a:t>
            </a:r>
            <a:r>
              <a:rPr lang="ja-JP" altLang="en-US"/>
              <a:t>）</a:t>
            </a:r>
            <a:endParaRPr kumimoji="1" lang="ja-GB" altLang="en-US" dirty="0"/>
          </a:p>
        </p:txBody>
      </p:sp>
      <p:sp>
        <p:nvSpPr>
          <p:cNvPr id="3" name="コンテンツ プレースホルダー 2">
            <a:extLst>
              <a:ext uri="{FF2B5EF4-FFF2-40B4-BE49-F238E27FC236}">
                <a16:creationId xmlns:a16="http://schemas.microsoft.com/office/drawing/2014/main" id="{CEFBB8BF-8020-321F-A13A-77AF5223B573}"/>
              </a:ext>
            </a:extLst>
          </p:cNvPr>
          <p:cNvSpPr>
            <a:spLocks noGrp="1"/>
          </p:cNvSpPr>
          <p:nvPr>
            <p:ph idx="1"/>
          </p:nvPr>
        </p:nvSpPr>
        <p:spPr/>
        <p:txBody>
          <a:bodyPr/>
          <a:lstStyle/>
          <a:p>
            <a:pPr marL="0" indent="0">
              <a:buNone/>
            </a:pPr>
            <a:r>
              <a:rPr lang="ja-GB" altLang="en-US" dirty="0"/>
              <a:t>開始から各結節点（</a:t>
            </a:r>
            <a:r>
              <a:rPr lang="en-US" altLang="ja-GB" dirty="0"/>
              <a:t>node</a:t>
            </a:r>
            <a:r>
              <a:rPr lang="ja-GB" altLang="en-US" dirty="0"/>
              <a:t>）に到達するまでにかかる時間</a:t>
            </a:r>
            <a:br>
              <a:rPr lang="en-US" altLang="ja-GB" dirty="0"/>
            </a:br>
            <a:r>
              <a:rPr lang="ja-GB" altLang="en-US" sz="2000" dirty="0"/>
              <a:t>＝結合点を最も早く出発して，次の作業を開始できる時間</a:t>
            </a:r>
            <a:endParaRPr lang="en-US" altLang="ja-GB" dirty="0"/>
          </a:p>
          <a:p>
            <a:pPr marL="914400" lvl="1" indent="-457200">
              <a:buFont typeface="+mj-lt"/>
              <a:buAutoNum type="arabicPeriod"/>
            </a:pPr>
            <a:r>
              <a:rPr lang="ja-GB" altLang="en-US" dirty="0">
                <a:solidFill>
                  <a:schemeClr val="tx1">
                    <a:lumMod val="50000"/>
                    <a:lumOff val="50000"/>
                  </a:schemeClr>
                </a:solidFill>
              </a:rPr>
              <a:t>開始地点の</a:t>
            </a:r>
            <a:r>
              <a:rPr lang="en-US" altLang="ja-GB" dirty="0">
                <a:solidFill>
                  <a:schemeClr val="tx1">
                    <a:lumMod val="50000"/>
                    <a:lumOff val="50000"/>
                  </a:schemeClr>
                </a:solidFill>
              </a:rPr>
              <a:t>ET</a:t>
            </a:r>
            <a:r>
              <a:rPr lang="ja-GB" altLang="en-US" dirty="0">
                <a:solidFill>
                  <a:schemeClr val="tx1">
                    <a:lumMod val="50000"/>
                    <a:lumOff val="50000"/>
                  </a:schemeClr>
                </a:solidFill>
              </a:rPr>
              <a:t>を</a:t>
            </a:r>
            <a:r>
              <a:rPr lang="en-US" altLang="ja-GB" dirty="0">
                <a:solidFill>
                  <a:schemeClr val="tx1">
                    <a:lumMod val="50000"/>
                    <a:lumOff val="50000"/>
                  </a:schemeClr>
                </a:solidFill>
              </a:rPr>
              <a:t>0</a:t>
            </a:r>
            <a:r>
              <a:rPr lang="ja-GB" altLang="en-US" dirty="0">
                <a:solidFill>
                  <a:schemeClr val="tx1">
                    <a:lumMod val="50000"/>
                    <a:lumOff val="50000"/>
                  </a:schemeClr>
                </a:solidFill>
              </a:rPr>
              <a:t>に設定</a:t>
            </a:r>
            <a:endParaRPr lang="en-US" altLang="ja-GB" dirty="0">
              <a:solidFill>
                <a:schemeClr val="tx1">
                  <a:lumMod val="50000"/>
                  <a:lumOff val="50000"/>
                </a:schemeClr>
              </a:solidFill>
            </a:endParaRPr>
          </a:p>
          <a:p>
            <a:pPr lvl="2"/>
            <a:r>
              <a:rPr lang="en-US" altLang="ja-GB" dirty="0">
                <a:solidFill>
                  <a:schemeClr val="tx1">
                    <a:lumMod val="50000"/>
                    <a:lumOff val="50000"/>
                  </a:schemeClr>
                </a:solidFill>
              </a:rPr>
              <a:t>ET</a:t>
            </a:r>
            <a:r>
              <a:rPr lang="en-US" altLang="ja-GB" baseline="-25000" dirty="0">
                <a:solidFill>
                  <a:schemeClr val="tx1">
                    <a:lumMod val="50000"/>
                    <a:lumOff val="50000"/>
                  </a:schemeClr>
                </a:solidFill>
              </a:rPr>
              <a:t>1</a:t>
            </a:r>
            <a:r>
              <a:rPr lang="ja-GB" altLang="en-US" dirty="0">
                <a:solidFill>
                  <a:schemeClr val="tx1">
                    <a:lumMod val="50000"/>
                    <a:lumOff val="50000"/>
                  </a:schemeClr>
                </a:solidFill>
              </a:rPr>
              <a:t>は</a:t>
            </a:r>
            <a:r>
              <a:rPr lang="en-US" altLang="ja-GB" dirty="0">
                <a:solidFill>
                  <a:schemeClr val="tx1">
                    <a:lumMod val="50000"/>
                    <a:lumOff val="50000"/>
                  </a:schemeClr>
                </a:solidFill>
              </a:rPr>
              <a:t>0</a:t>
            </a:r>
          </a:p>
          <a:p>
            <a:pPr lvl="4"/>
            <a:endParaRPr lang="en-US" altLang="ja-GB" dirty="0">
              <a:solidFill>
                <a:schemeClr val="tx1">
                  <a:lumMod val="50000"/>
                  <a:lumOff val="50000"/>
                </a:schemeClr>
              </a:solidFill>
            </a:endParaRPr>
          </a:p>
          <a:p>
            <a:pPr marL="914400" lvl="1" indent="-457200">
              <a:buFont typeface="+mj-lt"/>
              <a:buAutoNum type="arabicPeriod"/>
            </a:pPr>
            <a:r>
              <a:rPr lang="ja-GB" altLang="en-US" dirty="0">
                <a:solidFill>
                  <a:srgbClr val="2F2523"/>
                </a:solidFill>
              </a:rPr>
              <a:t>各結合点の</a:t>
            </a:r>
            <a:r>
              <a:rPr lang="en-US" altLang="ja-GB" dirty="0">
                <a:solidFill>
                  <a:srgbClr val="2F2523"/>
                </a:solidFill>
              </a:rPr>
              <a:t>ET</a:t>
            </a:r>
            <a:r>
              <a:rPr lang="ja-GB" altLang="en-US" dirty="0">
                <a:solidFill>
                  <a:srgbClr val="2F2523"/>
                </a:solidFill>
              </a:rPr>
              <a:t>を計算</a:t>
            </a:r>
            <a:endParaRPr lang="en-US" altLang="ja-GB" dirty="0">
              <a:solidFill>
                <a:srgbClr val="2F2523"/>
              </a:solidFill>
            </a:endParaRPr>
          </a:p>
          <a:p>
            <a:pPr lvl="2"/>
            <a:r>
              <a:rPr lang="ja-GB" altLang="en-US" dirty="0">
                <a:solidFill>
                  <a:srgbClr val="0070C0"/>
                </a:solidFill>
              </a:rPr>
              <a:t>終点の</a:t>
            </a:r>
            <a:r>
              <a:rPr lang="en-US" altLang="ja-GB" dirty="0">
                <a:solidFill>
                  <a:srgbClr val="0070C0"/>
                </a:solidFill>
              </a:rPr>
              <a:t>ET = </a:t>
            </a:r>
            <a:r>
              <a:rPr lang="ja-GB" altLang="en-US" dirty="0">
                <a:solidFill>
                  <a:srgbClr val="0070C0"/>
                </a:solidFill>
              </a:rPr>
              <a:t>始点の</a:t>
            </a:r>
            <a:r>
              <a:rPr lang="en-US" altLang="ja-GB" dirty="0">
                <a:solidFill>
                  <a:srgbClr val="0070C0"/>
                </a:solidFill>
              </a:rPr>
              <a:t>ET + </a:t>
            </a:r>
            <a:r>
              <a:rPr lang="ja-GB" altLang="en-US" dirty="0">
                <a:solidFill>
                  <a:srgbClr val="0070C0"/>
                </a:solidFill>
              </a:rPr>
              <a:t>作業日数</a:t>
            </a:r>
            <a:endParaRPr lang="en-US" altLang="ja-GB" dirty="0">
              <a:solidFill>
                <a:srgbClr val="0070C0"/>
              </a:solidFill>
            </a:endParaRPr>
          </a:p>
          <a:p>
            <a:pPr lvl="2"/>
            <a:r>
              <a:rPr lang="ja-GB" altLang="en-US" dirty="0">
                <a:solidFill>
                  <a:srgbClr val="2F2523"/>
                </a:solidFill>
              </a:rPr>
              <a:t>複数の経路がある場合は，最も大きい（遅い）値を</a:t>
            </a:r>
            <a:r>
              <a:rPr lang="en-US" altLang="ja-GB" dirty="0">
                <a:solidFill>
                  <a:srgbClr val="2F2523"/>
                </a:solidFill>
              </a:rPr>
              <a:t>ET</a:t>
            </a:r>
            <a:r>
              <a:rPr lang="ja-GB" altLang="en-US" dirty="0">
                <a:solidFill>
                  <a:srgbClr val="2F2523"/>
                </a:solidFill>
              </a:rPr>
              <a:t>とする</a:t>
            </a:r>
            <a:br>
              <a:rPr lang="en-US" altLang="ja-GB" dirty="0">
                <a:solidFill>
                  <a:srgbClr val="2F2523"/>
                </a:solidFill>
              </a:rPr>
            </a:br>
            <a:r>
              <a:rPr lang="ja-GB" altLang="en-US" sz="1600" dirty="0">
                <a:solidFill>
                  <a:srgbClr val="2F2523"/>
                </a:solidFill>
              </a:rPr>
              <a:t>（遅れた方の作業が終わるまで次の作業が始められないため）</a:t>
            </a:r>
            <a:endParaRPr lang="en-US" altLang="ja-GB" dirty="0">
              <a:solidFill>
                <a:srgbClr val="2F2523"/>
              </a:solidFill>
            </a:endParaRPr>
          </a:p>
          <a:p>
            <a:pPr lvl="4"/>
            <a:endParaRPr lang="en-US" altLang="ja-GB" dirty="0">
              <a:solidFill>
                <a:schemeClr val="tx1">
                  <a:lumMod val="50000"/>
                  <a:lumOff val="50000"/>
                </a:schemeClr>
              </a:solidFill>
            </a:endParaRPr>
          </a:p>
        </p:txBody>
      </p:sp>
      <p:sp>
        <p:nvSpPr>
          <p:cNvPr id="6" name="円/楕円 5">
            <a:extLst>
              <a:ext uri="{FF2B5EF4-FFF2-40B4-BE49-F238E27FC236}">
                <a16:creationId xmlns:a16="http://schemas.microsoft.com/office/drawing/2014/main" id="{A1D38D82-2CAC-D38A-994F-7B69E8BEE497}"/>
              </a:ext>
            </a:extLst>
          </p:cNvPr>
          <p:cNvSpPr>
            <a:spLocks noChangeAspect="1"/>
          </p:cNvSpPr>
          <p:nvPr/>
        </p:nvSpPr>
        <p:spPr>
          <a:xfrm>
            <a:off x="1177783" y="499950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7" name="円/楕円 6">
            <a:extLst>
              <a:ext uri="{FF2B5EF4-FFF2-40B4-BE49-F238E27FC236}">
                <a16:creationId xmlns:a16="http://schemas.microsoft.com/office/drawing/2014/main" id="{1A790FDF-8E80-D6D7-4E97-86E92C821B98}"/>
              </a:ext>
            </a:extLst>
          </p:cNvPr>
          <p:cNvSpPr>
            <a:spLocks noChangeAspect="1"/>
          </p:cNvSpPr>
          <p:nvPr/>
        </p:nvSpPr>
        <p:spPr>
          <a:xfrm>
            <a:off x="2784514" y="4459577"/>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8" name="円/楕円 7">
            <a:extLst>
              <a:ext uri="{FF2B5EF4-FFF2-40B4-BE49-F238E27FC236}">
                <a16:creationId xmlns:a16="http://schemas.microsoft.com/office/drawing/2014/main" id="{CE752EFC-3358-DA60-9458-016B54C8E740}"/>
              </a:ext>
            </a:extLst>
          </p:cNvPr>
          <p:cNvSpPr>
            <a:spLocks noChangeAspect="1"/>
          </p:cNvSpPr>
          <p:nvPr/>
        </p:nvSpPr>
        <p:spPr>
          <a:xfrm>
            <a:off x="2784514" y="5524384"/>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9" name="円/楕円 8">
            <a:extLst>
              <a:ext uri="{FF2B5EF4-FFF2-40B4-BE49-F238E27FC236}">
                <a16:creationId xmlns:a16="http://schemas.microsoft.com/office/drawing/2014/main" id="{B7B4044B-CF2B-B30F-245A-33EAF25AFB53}"/>
              </a:ext>
            </a:extLst>
          </p:cNvPr>
          <p:cNvSpPr>
            <a:spLocks noChangeAspect="1"/>
          </p:cNvSpPr>
          <p:nvPr/>
        </p:nvSpPr>
        <p:spPr>
          <a:xfrm>
            <a:off x="4408663" y="499950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0" name="円/楕円 9">
            <a:extLst>
              <a:ext uri="{FF2B5EF4-FFF2-40B4-BE49-F238E27FC236}">
                <a16:creationId xmlns:a16="http://schemas.microsoft.com/office/drawing/2014/main" id="{DA94F05C-B04E-D895-A7AF-9FC9113A2AD1}"/>
              </a:ext>
            </a:extLst>
          </p:cNvPr>
          <p:cNvSpPr>
            <a:spLocks noChangeAspect="1"/>
          </p:cNvSpPr>
          <p:nvPr/>
        </p:nvSpPr>
        <p:spPr>
          <a:xfrm>
            <a:off x="6024103" y="4459577"/>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1" name="円/楕円 10">
            <a:extLst>
              <a:ext uri="{FF2B5EF4-FFF2-40B4-BE49-F238E27FC236}">
                <a16:creationId xmlns:a16="http://schemas.microsoft.com/office/drawing/2014/main" id="{BFED9701-F0B5-06E4-0404-691C81F3A9D8}"/>
              </a:ext>
            </a:extLst>
          </p:cNvPr>
          <p:cNvSpPr>
            <a:spLocks noChangeAspect="1"/>
          </p:cNvSpPr>
          <p:nvPr/>
        </p:nvSpPr>
        <p:spPr>
          <a:xfrm>
            <a:off x="7639543" y="499950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cxnSp>
        <p:nvCxnSpPr>
          <p:cNvPr id="13" name="直線矢印コネクタ 12">
            <a:extLst>
              <a:ext uri="{FF2B5EF4-FFF2-40B4-BE49-F238E27FC236}">
                <a16:creationId xmlns:a16="http://schemas.microsoft.com/office/drawing/2014/main" id="{B9C2372D-607F-3A8E-1FB4-888384148984}"/>
              </a:ext>
            </a:extLst>
          </p:cNvPr>
          <p:cNvCxnSpPr>
            <a:cxnSpLocks/>
            <a:stCxn id="6" idx="6"/>
            <a:endCxn id="7" idx="2"/>
          </p:cNvCxnSpPr>
          <p:nvPr/>
        </p:nvCxnSpPr>
        <p:spPr>
          <a:xfrm flipV="1">
            <a:off x="1717715" y="4729543"/>
            <a:ext cx="1066799"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D1B4BD79-8257-7CA1-431D-23C881355093}"/>
              </a:ext>
            </a:extLst>
          </p:cNvPr>
          <p:cNvCxnSpPr>
            <a:cxnSpLocks/>
            <a:stCxn id="6" idx="6"/>
            <a:endCxn id="8" idx="2"/>
          </p:cNvCxnSpPr>
          <p:nvPr/>
        </p:nvCxnSpPr>
        <p:spPr>
          <a:xfrm>
            <a:off x="1717715" y="5269475"/>
            <a:ext cx="1066799"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3EA6DA39-A04F-4E18-D30D-A2B07F3191E4}"/>
              </a:ext>
            </a:extLst>
          </p:cNvPr>
          <p:cNvCxnSpPr>
            <a:cxnSpLocks/>
            <a:stCxn id="7" idx="6"/>
            <a:endCxn id="10" idx="2"/>
          </p:cNvCxnSpPr>
          <p:nvPr/>
        </p:nvCxnSpPr>
        <p:spPr>
          <a:xfrm>
            <a:off x="3324446" y="4729543"/>
            <a:ext cx="2699657"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4862D314-C4FA-DEC7-B38A-08D67EB610F3}"/>
              </a:ext>
            </a:extLst>
          </p:cNvPr>
          <p:cNvCxnSpPr>
            <a:cxnSpLocks/>
            <a:stCxn id="8" idx="6"/>
            <a:endCxn id="9" idx="2"/>
          </p:cNvCxnSpPr>
          <p:nvPr/>
        </p:nvCxnSpPr>
        <p:spPr>
          <a:xfrm flipV="1">
            <a:off x="3324446" y="5269475"/>
            <a:ext cx="1084217"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ECD23088-3AA1-9597-85AE-D4272113317F}"/>
              </a:ext>
            </a:extLst>
          </p:cNvPr>
          <p:cNvCxnSpPr>
            <a:cxnSpLocks/>
            <a:stCxn id="7" idx="6"/>
            <a:endCxn id="9" idx="2"/>
          </p:cNvCxnSpPr>
          <p:nvPr/>
        </p:nvCxnSpPr>
        <p:spPr>
          <a:xfrm>
            <a:off x="3324446" y="4729543"/>
            <a:ext cx="1084217"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1F04A3BA-629E-F72D-0D6D-65EBE285B177}"/>
              </a:ext>
            </a:extLst>
          </p:cNvPr>
          <p:cNvCxnSpPr>
            <a:cxnSpLocks/>
            <a:stCxn id="9" idx="6"/>
            <a:endCxn id="10" idx="2"/>
          </p:cNvCxnSpPr>
          <p:nvPr/>
        </p:nvCxnSpPr>
        <p:spPr>
          <a:xfrm flipV="1">
            <a:off x="4948595" y="4729543"/>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9514BBCC-E0E9-05B5-21BE-59FDD5C93A91}"/>
              </a:ext>
            </a:extLst>
          </p:cNvPr>
          <p:cNvCxnSpPr>
            <a:cxnSpLocks/>
            <a:endCxn id="11" idx="2"/>
          </p:cNvCxnSpPr>
          <p:nvPr/>
        </p:nvCxnSpPr>
        <p:spPr>
          <a:xfrm>
            <a:off x="4948595" y="5269475"/>
            <a:ext cx="2690948"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430F90B8-DA9D-7E2F-7FEE-69546932C656}"/>
              </a:ext>
            </a:extLst>
          </p:cNvPr>
          <p:cNvCxnSpPr>
            <a:cxnSpLocks/>
            <a:stCxn id="10" idx="6"/>
            <a:endCxn id="11" idx="2"/>
          </p:cNvCxnSpPr>
          <p:nvPr/>
        </p:nvCxnSpPr>
        <p:spPr>
          <a:xfrm>
            <a:off x="6564035" y="4729543"/>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F1392AC1-03CC-1528-8770-A4AF0D7B550C}"/>
              </a:ext>
            </a:extLst>
          </p:cNvPr>
          <p:cNvSpPr txBox="1"/>
          <p:nvPr/>
        </p:nvSpPr>
        <p:spPr>
          <a:xfrm>
            <a:off x="1901562" y="4676343"/>
            <a:ext cx="506870"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A</a:t>
            </a:r>
            <a:r>
              <a:rPr kumimoji="1" lang="ja-GB" altLang="en-US" sz="1200" dirty="0">
                <a:solidFill>
                  <a:schemeClr val="tx1">
                    <a:lumMod val="50000"/>
                    <a:lumOff val="50000"/>
                  </a:schemeClr>
                </a:solidFill>
              </a:rPr>
              <a:t>：</a:t>
            </a:r>
            <a:r>
              <a:rPr kumimoji="1" lang="en-US" altLang="ja-GB" sz="1200" dirty="0">
                <a:solidFill>
                  <a:schemeClr val="tx1">
                    <a:lumMod val="50000"/>
                    <a:lumOff val="50000"/>
                  </a:schemeClr>
                </a:solidFill>
              </a:rPr>
              <a:t>3</a:t>
            </a:r>
          </a:p>
        </p:txBody>
      </p:sp>
      <p:sp>
        <p:nvSpPr>
          <p:cNvPr id="41" name="テキスト ボックス 40">
            <a:extLst>
              <a:ext uri="{FF2B5EF4-FFF2-40B4-BE49-F238E27FC236}">
                <a16:creationId xmlns:a16="http://schemas.microsoft.com/office/drawing/2014/main" id="{A3B95E29-7DC7-17F6-A746-2C969241D859}"/>
              </a:ext>
            </a:extLst>
          </p:cNvPr>
          <p:cNvSpPr txBox="1"/>
          <p:nvPr/>
        </p:nvSpPr>
        <p:spPr>
          <a:xfrm>
            <a:off x="1904769" y="5626764"/>
            <a:ext cx="500458"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B</a:t>
            </a:r>
            <a:r>
              <a:rPr kumimoji="1" lang="ja-GB" altLang="en-US" sz="1200" dirty="0">
                <a:solidFill>
                  <a:schemeClr val="tx1">
                    <a:lumMod val="50000"/>
                    <a:lumOff val="50000"/>
                  </a:schemeClr>
                </a:solidFill>
              </a:rPr>
              <a:t>：</a:t>
            </a:r>
            <a:r>
              <a:rPr kumimoji="1" lang="en-US" altLang="ja-GB" sz="1200" dirty="0">
                <a:solidFill>
                  <a:schemeClr val="tx1">
                    <a:lumMod val="50000"/>
                    <a:lumOff val="50000"/>
                  </a:schemeClr>
                </a:solidFill>
              </a:rPr>
              <a:t>2</a:t>
            </a:r>
          </a:p>
        </p:txBody>
      </p:sp>
      <p:sp>
        <p:nvSpPr>
          <p:cNvPr id="42" name="テキスト ボックス 41">
            <a:extLst>
              <a:ext uri="{FF2B5EF4-FFF2-40B4-BE49-F238E27FC236}">
                <a16:creationId xmlns:a16="http://schemas.microsoft.com/office/drawing/2014/main" id="{FF6D6CC3-7F60-C6B9-91EA-7D4FB6C179F5}"/>
              </a:ext>
            </a:extLst>
          </p:cNvPr>
          <p:cNvSpPr txBox="1"/>
          <p:nvPr/>
        </p:nvSpPr>
        <p:spPr>
          <a:xfrm>
            <a:off x="3447870" y="5670906"/>
            <a:ext cx="511679"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D</a:t>
            </a:r>
            <a:r>
              <a:rPr kumimoji="1" lang="ja-GB" altLang="en-US" sz="1200" dirty="0">
                <a:solidFill>
                  <a:schemeClr val="tx1">
                    <a:lumMod val="50000"/>
                    <a:lumOff val="50000"/>
                  </a:schemeClr>
                </a:solidFill>
              </a:rPr>
              <a:t>：</a:t>
            </a:r>
            <a:r>
              <a:rPr kumimoji="1" lang="en-US" altLang="ja-GB" sz="1200" dirty="0">
                <a:solidFill>
                  <a:schemeClr val="tx1">
                    <a:lumMod val="50000"/>
                    <a:lumOff val="50000"/>
                  </a:schemeClr>
                </a:solidFill>
              </a:rPr>
              <a:t>5</a:t>
            </a:r>
          </a:p>
        </p:txBody>
      </p:sp>
      <p:sp>
        <p:nvSpPr>
          <p:cNvPr id="43" name="テキスト ボックス 42">
            <a:extLst>
              <a:ext uri="{FF2B5EF4-FFF2-40B4-BE49-F238E27FC236}">
                <a16:creationId xmlns:a16="http://schemas.microsoft.com/office/drawing/2014/main" id="{2BC1385E-064F-E11F-3402-BA384E7519BB}"/>
              </a:ext>
            </a:extLst>
          </p:cNvPr>
          <p:cNvSpPr txBox="1"/>
          <p:nvPr/>
        </p:nvSpPr>
        <p:spPr>
          <a:xfrm>
            <a:off x="3454283" y="4970537"/>
            <a:ext cx="498855"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C</a:t>
            </a:r>
            <a:r>
              <a:rPr kumimoji="1" lang="ja-GB" altLang="en-US" sz="1200" dirty="0">
                <a:solidFill>
                  <a:schemeClr val="tx1">
                    <a:lumMod val="50000"/>
                    <a:lumOff val="50000"/>
                  </a:schemeClr>
                </a:solidFill>
              </a:rPr>
              <a:t>：</a:t>
            </a:r>
            <a:r>
              <a:rPr kumimoji="1" lang="en-US" altLang="ja-GB" sz="1200" dirty="0">
                <a:solidFill>
                  <a:schemeClr val="tx1">
                    <a:lumMod val="50000"/>
                    <a:lumOff val="50000"/>
                  </a:schemeClr>
                </a:solidFill>
              </a:rPr>
              <a:t>4</a:t>
            </a:r>
          </a:p>
        </p:txBody>
      </p:sp>
      <p:sp>
        <p:nvSpPr>
          <p:cNvPr id="44" name="テキスト ボックス 43">
            <a:extLst>
              <a:ext uri="{FF2B5EF4-FFF2-40B4-BE49-F238E27FC236}">
                <a16:creationId xmlns:a16="http://schemas.microsoft.com/office/drawing/2014/main" id="{55EBF940-5FFE-E903-016E-904599B91167}"/>
              </a:ext>
            </a:extLst>
          </p:cNvPr>
          <p:cNvSpPr txBox="1"/>
          <p:nvPr/>
        </p:nvSpPr>
        <p:spPr>
          <a:xfrm>
            <a:off x="4477719" y="4420639"/>
            <a:ext cx="492443"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E</a:t>
            </a:r>
            <a:r>
              <a:rPr kumimoji="1" lang="ja-GB" altLang="en-US" sz="1200" dirty="0">
                <a:solidFill>
                  <a:schemeClr val="tx1">
                    <a:lumMod val="50000"/>
                    <a:lumOff val="50000"/>
                  </a:schemeClr>
                </a:solidFill>
              </a:rPr>
              <a:t>：</a:t>
            </a:r>
            <a:r>
              <a:rPr kumimoji="1" lang="en-US" altLang="ja-GB" sz="1200" dirty="0">
                <a:solidFill>
                  <a:schemeClr val="tx1">
                    <a:lumMod val="50000"/>
                    <a:lumOff val="50000"/>
                  </a:schemeClr>
                </a:solidFill>
              </a:rPr>
              <a:t>1</a:t>
            </a:r>
          </a:p>
        </p:txBody>
      </p:sp>
      <p:sp>
        <p:nvSpPr>
          <p:cNvPr id="45" name="テキスト ボックス 44">
            <a:extLst>
              <a:ext uri="{FF2B5EF4-FFF2-40B4-BE49-F238E27FC236}">
                <a16:creationId xmlns:a16="http://schemas.microsoft.com/office/drawing/2014/main" id="{924D151D-919B-4AA5-24E7-9F2B893BB759}"/>
              </a:ext>
            </a:extLst>
          </p:cNvPr>
          <p:cNvSpPr txBox="1"/>
          <p:nvPr/>
        </p:nvSpPr>
        <p:spPr>
          <a:xfrm>
            <a:off x="5431776" y="4940846"/>
            <a:ext cx="514885"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G</a:t>
            </a:r>
            <a:r>
              <a:rPr kumimoji="1" lang="ja-GB" altLang="en-US" sz="1200" dirty="0">
                <a:solidFill>
                  <a:schemeClr val="tx1">
                    <a:lumMod val="50000"/>
                    <a:lumOff val="50000"/>
                  </a:schemeClr>
                </a:solidFill>
              </a:rPr>
              <a:t>：</a:t>
            </a:r>
            <a:r>
              <a:rPr kumimoji="1" lang="en-US" altLang="ja-GB" sz="1200" dirty="0">
                <a:solidFill>
                  <a:schemeClr val="tx1">
                    <a:lumMod val="50000"/>
                    <a:lumOff val="50000"/>
                  </a:schemeClr>
                </a:solidFill>
              </a:rPr>
              <a:t>3</a:t>
            </a:r>
          </a:p>
        </p:txBody>
      </p:sp>
      <p:sp>
        <p:nvSpPr>
          <p:cNvPr id="46" name="テキスト ボックス 45">
            <a:extLst>
              <a:ext uri="{FF2B5EF4-FFF2-40B4-BE49-F238E27FC236}">
                <a16:creationId xmlns:a16="http://schemas.microsoft.com/office/drawing/2014/main" id="{7DCAA21D-1B62-71F7-AA93-02FB08FFE445}"/>
              </a:ext>
            </a:extLst>
          </p:cNvPr>
          <p:cNvSpPr txBox="1"/>
          <p:nvPr/>
        </p:nvSpPr>
        <p:spPr>
          <a:xfrm>
            <a:off x="6050252" y="5304197"/>
            <a:ext cx="487633" cy="276999"/>
          </a:xfrm>
          <a:prstGeom prst="rect">
            <a:avLst/>
          </a:prstGeom>
          <a:noFill/>
          <a:ln w="38100">
            <a:noFill/>
          </a:ln>
        </p:spPr>
        <p:txBody>
          <a:bodyPr wrap="none" rtlCol="0" anchor="ctr">
            <a:spAutoFit/>
          </a:bodyPr>
          <a:lstStyle/>
          <a:p>
            <a:pPr algn="ctr"/>
            <a:r>
              <a:rPr kumimoji="1" lang="en-US" altLang="ja-GB" sz="1200" dirty="0">
                <a:solidFill>
                  <a:srgbClr val="0070C0"/>
                </a:solidFill>
              </a:rPr>
              <a:t>F</a:t>
            </a:r>
            <a:r>
              <a:rPr kumimoji="1" lang="ja-GB" altLang="en-US" sz="1200" dirty="0">
                <a:solidFill>
                  <a:srgbClr val="0070C0"/>
                </a:solidFill>
              </a:rPr>
              <a:t>：</a:t>
            </a:r>
            <a:r>
              <a:rPr kumimoji="1" lang="en-US" altLang="ja-GB" sz="1200" dirty="0">
                <a:solidFill>
                  <a:srgbClr val="0070C0"/>
                </a:solidFill>
              </a:rPr>
              <a:t>6</a:t>
            </a:r>
          </a:p>
        </p:txBody>
      </p:sp>
      <p:sp>
        <p:nvSpPr>
          <p:cNvPr id="47" name="テキスト ボックス 46">
            <a:extLst>
              <a:ext uri="{FF2B5EF4-FFF2-40B4-BE49-F238E27FC236}">
                <a16:creationId xmlns:a16="http://schemas.microsoft.com/office/drawing/2014/main" id="{E293CD10-A091-C86E-E53A-EC088760AB6B}"/>
              </a:ext>
            </a:extLst>
          </p:cNvPr>
          <p:cNvSpPr txBox="1"/>
          <p:nvPr/>
        </p:nvSpPr>
        <p:spPr>
          <a:xfrm>
            <a:off x="6985797" y="4699799"/>
            <a:ext cx="513282" cy="276999"/>
          </a:xfrm>
          <a:prstGeom prst="rect">
            <a:avLst/>
          </a:prstGeom>
          <a:noFill/>
          <a:ln w="38100">
            <a:noFill/>
          </a:ln>
        </p:spPr>
        <p:txBody>
          <a:bodyPr wrap="none" rtlCol="0" anchor="ctr">
            <a:spAutoFit/>
          </a:bodyPr>
          <a:lstStyle/>
          <a:p>
            <a:pPr algn="ctr"/>
            <a:r>
              <a:rPr kumimoji="1" lang="en-US" altLang="ja-GB" sz="1200" dirty="0">
                <a:solidFill>
                  <a:srgbClr val="0070C0"/>
                </a:solidFill>
              </a:rPr>
              <a:t>H</a:t>
            </a:r>
            <a:r>
              <a:rPr kumimoji="1" lang="ja-GB" altLang="en-US" sz="1200" dirty="0">
                <a:solidFill>
                  <a:srgbClr val="0070C0"/>
                </a:solidFill>
              </a:rPr>
              <a:t>：</a:t>
            </a:r>
            <a:r>
              <a:rPr kumimoji="1" lang="en-US" altLang="ja-GB" sz="1200" dirty="0">
                <a:solidFill>
                  <a:srgbClr val="0070C0"/>
                </a:solidFill>
              </a:rPr>
              <a:t>2</a:t>
            </a:r>
          </a:p>
        </p:txBody>
      </p:sp>
      <p:sp>
        <p:nvSpPr>
          <p:cNvPr id="49" name="テキスト ボックス 48">
            <a:extLst>
              <a:ext uri="{FF2B5EF4-FFF2-40B4-BE49-F238E27FC236}">
                <a16:creationId xmlns:a16="http://schemas.microsoft.com/office/drawing/2014/main" id="{8EE68BE2-C59B-4D6E-EB89-593B3407B768}"/>
              </a:ext>
            </a:extLst>
          </p:cNvPr>
          <p:cNvSpPr txBox="1"/>
          <p:nvPr/>
        </p:nvSpPr>
        <p:spPr>
          <a:xfrm>
            <a:off x="1207362" y="5130975"/>
            <a:ext cx="480773"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ET: 0</a:t>
            </a:r>
          </a:p>
        </p:txBody>
      </p:sp>
      <p:sp>
        <p:nvSpPr>
          <p:cNvPr id="50" name="テキスト ボックス 49">
            <a:extLst>
              <a:ext uri="{FF2B5EF4-FFF2-40B4-BE49-F238E27FC236}">
                <a16:creationId xmlns:a16="http://schemas.microsoft.com/office/drawing/2014/main" id="{946B9A58-C904-65F5-CFFF-D31605105C50}"/>
              </a:ext>
            </a:extLst>
          </p:cNvPr>
          <p:cNvSpPr txBox="1"/>
          <p:nvPr/>
        </p:nvSpPr>
        <p:spPr>
          <a:xfrm>
            <a:off x="2814093" y="5662987"/>
            <a:ext cx="480773"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ET: 2</a:t>
            </a:r>
          </a:p>
        </p:txBody>
      </p:sp>
      <p:sp>
        <p:nvSpPr>
          <p:cNvPr id="51" name="テキスト ボックス 50">
            <a:extLst>
              <a:ext uri="{FF2B5EF4-FFF2-40B4-BE49-F238E27FC236}">
                <a16:creationId xmlns:a16="http://schemas.microsoft.com/office/drawing/2014/main" id="{1A27BC8E-18D3-6B56-85F0-E0D31DDFB4EB}"/>
              </a:ext>
            </a:extLst>
          </p:cNvPr>
          <p:cNvSpPr txBox="1"/>
          <p:nvPr/>
        </p:nvSpPr>
        <p:spPr>
          <a:xfrm>
            <a:off x="2818698" y="4591043"/>
            <a:ext cx="480773" cy="276999"/>
          </a:xfrm>
          <a:prstGeom prst="rect">
            <a:avLst/>
          </a:prstGeom>
          <a:noFill/>
          <a:ln w="38100">
            <a:noFill/>
          </a:ln>
        </p:spPr>
        <p:txBody>
          <a:bodyPr wrap="none" rtlCol="0" anchor="ctr">
            <a:spAutoFit/>
          </a:bodyPr>
          <a:lstStyle/>
          <a:p>
            <a:pPr algn="ctr"/>
            <a:r>
              <a:rPr kumimoji="1" lang="en-US" altLang="ja-GB" sz="1200" dirty="0">
                <a:solidFill>
                  <a:schemeClr val="tx1">
                    <a:lumMod val="50000"/>
                    <a:lumOff val="50000"/>
                  </a:schemeClr>
                </a:solidFill>
              </a:rPr>
              <a:t>ET: 3</a:t>
            </a:r>
          </a:p>
        </p:txBody>
      </p:sp>
      <p:sp>
        <p:nvSpPr>
          <p:cNvPr id="52" name="テキスト ボックス 51">
            <a:extLst>
              <a:ext uri="{FF2B5EF4-FFF2-40B4-BE49-F238E27FC236}">
                <a16:creationId xmlns:a16="http://schemas.microsoft.com/office/drawing/2014/main" id="{3CD431B3-FC34-84E7-192F-E8977056C489}"/>
              </a:ext>
            </a:extLst>
          </p:cNvPr>
          <p:cNvSpPr txBox="1"/>
          <p:nvPr/>
        </p:nvSpPr>
        <p:spPr>
          <a:xfrm>
            <a:off x="4438589" y="5130975"/>
            <a:ext cx="480773" cy="276999"/>
          </a:xfrm>
          <a:prstGeom prst="rect">
            <a:avLst/>
          </a:prstGeom>
          <a:noFill/>
          <a:ln w="38100">
            <a:noFill/>
          </a:ln>
        </p:spPr>
        <p:txBody>
          <a:bodyPr wrap="none" rtlCol="0" anchor="ctr">
            <a:spAutoFit/>
          </a:bodyPr>
          <a:lstStyle/>
          <a:p>
            <a:pPr algn="ctr"/>
            <a:r>
              <a:rPr kumimoji="1" lang="en-US" altLang="ja-GB" sz="1200" dirty="0">
                <a:solidFill>
                  <a:srgbClr val="0070C0"/>
                </a:solidFill>
              </a:rPr>
              <a:t>ET: 7</a:t>
            </a:r>
          </a:p>
        </p:txBody>
      </p:sp>
      <p:sp>
        <p:nvSpPr>
          <p:cNvPr id="53" name="テキスト ボックス 52">
            <a:extLst>
              <a:ext uri="{FF2B5EF4-FFF2-40B4-BE49-F238E27FC236}">
                <a16:creationId xmlns:a16="http://schemas.microsoft.com/office/drawing/2014/main" id="{C5B45F47-8733-6BA4-38C3-D426C65E9393}"/>
              </a:ext>
            </a:extLst>
          </p:cNvPr>
          <p:cNvSpPr txBox="1"/>
          <p:nvPr/>
        </p:nvSpPr>
        <p:spPr>
          <a:xfrm>
            <a:off x="6006397" y="4591043"/>
            <a:ext cx="559320" cy="276999"/>
          </a:xfrm>
          <a:prstGeom prst="rect">
            <a:avLst/>
          </a:prstGeom>
          <a:noFill/>
          <a:ln w="38100">
            <a:noFill/>
          </a:ln>
        </p:spPr>
        <p:txBody>
          <a:bodyPr wrap="none" rtlCol="0" anchor="ctr">
            <a:spAutoFit/>
          </a:bodyPr>
          <a:lstStyle/>
          <a:p>
            <a:pPr algn="ctr"/>
            <a:r>
              <a:rPr kumimoji="1" lang="en-US" altLang="ja-GB" sz="1200" dirty="0">
                <a:solidFill>
                  <a:srgbClr val="0070C0"/>
                </a:solidFill>
              </a:rPr>
              <a:t>ET: 10</a:t>
            </a:r>
          </a:p>
        </p:txBody>
      </p:sp>
      <p:sp>
        <p:nvSpPr>
          <p:cNvPr id="54" name="テキスト ボックス 53">
            <a:extLst>
              <a:ext uri="{FF2B5EF4-FFF2-40B4-BE49-F238E27FC236}">
                <a16:creationId xmlns:a16="http://schemas.microsoft.com/office/drawing/2014/main" id="{1D8E7AD2-BFA1-B8F3-A8B8-0F749EF95D23}"/>
              </a:ext>
            </a:extLst>
          </p:cNvPr>
          <p:cNvSpPr txBox="1"/>
          <p:nvPr/>
        </p:nvSpPr>
        <p:spPr>
          <a:xfrm>
            <a:off x="7629849" y="5130975"/>
            <a:ext cx="559320" cy="276999"/>
          </a:xfrm>
          <a:prstGeom prst="rect">
            <a:avLst/>
          </a:prstGeom>
          <a:noFill/>
          <a:ln w="38100">
            <a:noFill/>
          </a:ln>
        </p:spPr>
        <p:txBody>
          <a:bodyPr wrap="none" rtlCol="0" anchor="ctr">
            <a:spAutoFit/>
          </a:bodyPr>
          <a:lstStyle/>
          <a:p>
            <a:pPr algn="ctr"/>
            <a:r>
              <a:rPr kumimoji="1" lang="en-US" altLang="ja-GB" sz="1200" dirty="0">
                <a:solidFill>
                  <a:schemeClr val="accent2"/>
                </a:solidFill>
              </a:rPr>
              <a:t>ET: 13</a:t>
            </a:r>
          </a:p>
        </p:txBody>
      </p:sp>
    </p:spTree>
    <p:extLst>
      <p:ext uri="{BB962C8B-B14F-4D97-AF65-F5344CB8AC3E}">
        <p14:creationId xmlns:p14="http://schemas.microsoft.com/office/powerpoint/2010/main" val="1168917209"/>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9DE48-2CC1-92B8-58A3-C418B0F5B9B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B9080CC-9141-F531-F31C-46304C04B988}"/>
              </a:ext>
            </a:extLst>
          </p:cNvPr>
          <p:cNvSpPr>
            <a:spLocks noGrp="1"/>
          </p:cNvSpPr>
          <p:nvPr>
            <p:ph type="title"/>
          </p:nvPr>
        </p:nvSpPr>
        <p:spPr/>
        <p:txBody>
          <a:bodyPr>
            <a:normAutofit/>
          </a:bodyPr>
          <a:lstStyle/>
          <a:p>
            <a:r>
              <a:rPr lang="ja-JP" altLang="en-US"/>
              <a:t>最</a:t>
            </a:r>
            <a:r>
              <a:rPr lang="ja-GB" altLang="en-US" dirty="0"/>
              <a:t>遅</a:t>
            </a:r>
            <a:r>
              <a:rPr lang="ja-JP" altLang="en-US"/>
              <a:t>結合点時刻（</a:t>
            </a:r>
            <a:r>
              <a:rPr lang="en-US" altLang="ja-JP" dirty="0"/>
              <a:t>LT</a:t>
            </a:r>
            <a:r>
              <a:rPr lang="ja-JP" altLang="en-US"/>
              <a:t>：</a:t>
            </a:r>
            <a:r>
              <a:rPr lang="en-US" altLang="ja-JP" dirty="0"/>
              <a:t>latest node time</a:t>
            </a:r>
            <a:r>
              <a:rPr lang="ja-JP" altLang="en-US"/>
              <a:t>）</a:t>
            </a:r>
            <a:endParaRPr kumimoji="1" lang="ja-GB" altLang="en-US" dirty="0"/>
          </a:p>
        </p:txBody>
      </p:sp>
      <p:sp>
        <p:nvSpPr>
          <p:cNvPr id="3" name="コンテンツ プレースホルダー 2">
            <a:extLst>
              <a:ext uri="{FF2B5EF4-FFF2-40B4-BE49-F238E27FC236}">
                <a16:creationId xmlns:a16="http://schemas.microsoft.com/office/drawing/2014/main" id="{428A5B13-28E7-9533-3C53-6BD99A18B42B}"/>
              </a:ext>
            </a:extLst>
          </p:cNvPr>
          <p:cNvSpPr>
            <a:spLocks noGrp="1"/>
          </p:cNvSpPr>
          <p:nvPr>
            <p:ph idx="1"/>
          </p:nvPr>
        </p:nvSpPr>
        <p:spPr/>
        <p:txBody>
          <a:bodyPr/>
          <a:lstStyle/>
          <a:p>
            <a:pPr marL="0" indent="0">
              <a:buNone/>
            </a:pPr>
            <a:r>
              <a:rPr kumimoji="1" lang="ja-GB" altLang="en-US" dirty="0"/>
              <a:t>結合点を最も遅く出発して，全体に遅延を出さない限界の時刻</a:t>
            </a:r>
            <a:endParaRPr kumimoji="1" lang="en-US" altLang="ja-GB" dirty="0"/>
          </a:p>
          <a:p>
            <a:pPr marL="0" indent="0">
              <a:buNone/>
            </a:pPr>
            <a:r>
              <a:rPr lang="en-US" altLang="ja-GB" sz="2000" dirty="0"/>
              <a:t>=</a:t>
            </a:r>
            <a:r>
              <a:rPr lang="ja-GB" altLang="en-US" sz="2000" dirty="0"/>
              <a:t>各作業の終点の最早結合点時刻から作業時間を引いた値</a:t>
            </a:r>
            <a:endParaRPr kumimoji="1" lang="en-US" altLang="ja-GB" sz="2000" dirty="0"/>
          </a:p>
          <a:p>
            <a:pPr marL="914400" lvl="1" indent="-457200">
              <a:buFont typeface="+mj-lt"/>
              <a:buAutoNum type="arabicPeriod"/>
            </a:pPr>
            <a:r>
              <a:rPr lang="ja-GB" altLang="en-US" dirty="0">
                <a:solidFill>
                  <a:srgbClr val="0070C0"/>
                </a:solidFill>
              </a:rPr>
              <a:t>終了地点の</a:t>
            </a:r>
            <a:r>
              <a:rPr lang="en-US" altLang="ja-GB" dirty="0">
                <a:solidFill>
                  <a:srgbClr val="0070C0"/>
                </a:solidFill>
              </a:rPr>
              <a:t>LT</a:t>
            </a:r>
            <a:r>
              <a:rPr lang="ja-GB" altLang="en-US" dirty="0">
                <a:solidFill>
                  <a:srgbClr val="0070C0"/>
                </a:solidFill>
              </a:rPr>
              <a:t>を</a:t>
            </a:r>
            <a:r>
              <a:rPr lang="en-US" altLang="ja-GB" dirty="0">
                <a:solidFill>
                  <a:srgbClr val="0070C0"/>
                </a:solidFill>
              </a:rPr>
              <a:t>ET</a:t>
            </a:r>
            <a:r>
              <a:rPr lang="ja-GB" altLang="en-US" dirty="0">
                <a:solidFill>
                  <a:srgbClr val="0070C0"/>
                </a:solidFill>
              </a:rPr>
              <a:t>と同じ値に設定</a:t>
            </a:r>
            <a:endParaRPr lang="en-US" altLang="ja-GB" dirty="0">
              <a:solidFill>
                <a:srgbClr val="0070C0"/>
              </a:solidFill>
            </a:endParaRPr>
          </a:p>
          <a:p>
            <a:pPr lvl="4"/>
            <a:endParaRPr lang="en-US" altLang="ja-GB" dirty="0">
              <a:solidFill>
                <a:srgbClr val="2F2523"/>
              </a:solidFill>
            </a:endParaRPr>
          </a:p>
        </p:txBody>
      </p:sp>
      <p:sp>
        <p:nvSpPr>
          <p:cNvPr id="32" name="円/楕円 31">
            <a:extLst>
              <a:ext uri="{FF2B5EF4-FFF2-40B4-BE49-F238E27FC236}">
                <a16:creationId xmlns:a16="http://schemas.microsoft.com/office/drawing/2014/main" id="{65AE1C9D-1161-9863-7DD8-F163307C4A34}"/>
              </a:ext>
            </a:extLst>
          </p:cNvPr>
          <p:cNvSpPr>
            <a:spLocks noChangeAspect="1"/>
          </p:cNvSpPr>
          <p:nvPr/>
        </p:nvSpPr>
        <p:spPr>
          <a:xfrm>
            <a:off x="1168089" y="492593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solidFill>
                <a:srgbClr val="2F2523"/>
              </a:solidFill>
            </a:endParaRPr>
          </a:p>
        </p:txBody>
      </p:sp>
      <p:sp>
        <p:nvSpPr>
          <p:cNvPr id="33" name="円/楕円 32">
            <a:extLst>
              <a:ext uri="{FF2B5EF4-FFF2-40B4-BE49-F238E27FC236}">
                <a16:creationId xmlns:a16="http://schemas.microsoft.com/office/drawing/2014/main" id="{8B268046-F9CF-DB94-25D0-0264E34DE02B}"/>
              </a:ext>
            </a:extLst>
          </p:cNvPr>
          <p:cNvSpPr>
            <a:spLocks noChangeAspect="1"/>
          </p:cNvSpPr>
          <p:nvPr/>
        </p:nvSpPr>
        <p:spPr>
          <a:xfrm>
            <a:off x="2774820" y="4386007"/>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sp>
        <p:nvSpPr>
          <p:cNvPr id="34" name="円/楕円 33">
            <a:extLst>
              <a:ext uri="{FF2B5EF4-FFF2-40B4-BE49-F238E27FC236}">
                <a16:creationId xmlns:a16="http://schemas.microsoft.com/office/drawing/2014/main" id="{A114DCC7-D0E9-F589-10F5-387CE73D1BF1}"/>
              </a:ext>
            </a:extLst>
          </p:cNvPr>
          <p:cNvSpPr>
            <a:spLocks noChangeAspect="1"/>
          </p:cNvSpPr>
          <p:nvPr/>
        </p:nvSpPr>
        <p:spPr>
          <a:xfrm>
            <a:off x="2774820" y="5450814"/>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sp>
        <p:nvSpPr>
          <p:cNvPr id="35" name="円/楕円 34">
            <a:extLst>
              <a:ext uri="{FF2B5EF4-FFF2-40B4-BE49-F238E27FC236}">
                <a16:creationId xmlns:a16="http://schemas.microsoft.com/office/drawing/2014/main" id="{85A2B90E-5200-C1DD-F66B-6F029996B161}"/>
              </a:ext>
            </a:extLst>
          </p:cNvPr>
          <p:cNvSpPr>
            <a:spLocks noChangeAspect="1"/>
          </p:cNvSpPr>
          <p:nvPr/>
        </p:nvSpPr>
        <p:spPr>
          <a:xfrm>
            <a:off x="4398969" y="492593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sp>
        <p:nvSpPr>
          <p:cNvPr id="36" name="円/楕円 35">
            <a:extLst>
              <a:ext uri="{FF2B5EF4-FFF2-40B4-BE49-F238E27FC236}">
                <a16:creationId xmlns:a16="http://schemas.microsoft.com/office/drawing/2014/main" id="{A0A9A4DF-36BB-59FE-1D88-0EBCFF89202B}"/>
              </a:ext>
            </a:extLst>
          </p:cNvPr>
          <p:cNvSpPr>
            <a:spLocks noChangeAspect="1"/>
          </p:cNvSpPr>
          <p:nvPr/>
        </p:nvSpPr>
        <p:spPr>
          <a:xfrm>
            <a:off x="6014409" y="4386007"/>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sp>
        <p:nvSpPr>
          <p:cNvPr id="37" name="円/楕円 36">
            <a:extLst>
              <a:ext uri="{FF2B5EF4-FFF2-40B4-BE49-F238E27FC236}">
                <a16:creationId xmlns:a16="http://schemas.microsoft.com/office/drawing/2014/main" id="{4609F76F-1975-A8D8-5807-07AB976C1B96}"/>
              </a:ext>
            </a:extLst>
          </p:cNvPr>
          <p:cNvSpPr>
            <a:spLocks noChangeAspect="1"/>
          </p:cNvSpPr>
          <p:nvPr/>
        </p:nvSpPr>
        <p:spPr>
          <a:xfrm>
            <a:off x="7629849" y="492593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cxnSp>
        <p:nvCxnSpPr>
          <p:cNvPr id="38" name="直線矢印コネクタ 37">
            <a:extLst>
              <a:ext uri="{FF2B5EF4-FFF2-40B4-BE49-F238E27FC236}">
                <a16:creationId xmlns:a16="http://schemas.microsoft.com/office/drawing/2014/main" id="{44EB3653-F173-DBA0-6512-14D626113B08}"/>
              </a:ext>
            </a:extLst>
          </p:cNvPr>
          <p:cNvCxnSpPr>
            <a:cxnSpLocks/>
            <a:stCxn id="32" idx="6"/>
            <a:endCxn id="33" idx="2"/>
          </p:cNvCxnSpPr>
          <p:nvPr/>
        </p:nvCxnSpPr>
        <p:spPr>
          <a:xfrm flipV="1">
            <a:off x="1708021" y="4655973"/>
            <a:ext cx="1066799"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FB96FABF-BBB5-2549-190C-68C201CE2248}"/>
              </a:ext>
            </a:extLst>
          </p:cNvPr>
          <p:cNvCxnSpPr>
            <a:cxnSpLocks/>
            <a:stCxn id="32" idx="6"/>
            <a:endCxn id="34" idx="2"/>
          </p:cNvCxnSpPr>
          <p:nvPr/>
        </p:nvCxnSpPr>
        <p:spPr>
          <a:xfrm>
            <a:off x="1708021" y="5195905"/>
            <a:ext cx="1066799"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6640F661-D4D4-04ED-223A-AB18FC36F8C0}"/>
              </a:ext>
            </a:extLst>
          </p:cNvPr>
          <p:cNvCxnSpPr>
            <a:cxnSpLocks/>
            <a:stCxn id="33" idx="6"/>
            <a:endCxn id="36" idx="2"/>
          </p:cNvCxnSpPr>
          <p:nvPr/>
        </p:nvCxnSpPr>
        <p:spPr>
          <a:xfrm>
            <a:off x="3314752" y="4655973"/>
            <a:ext cx="2699657"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1EEF5463-4CB6-81AC-0895-0530D9D60127}"/>
              </a:ext>
            </a:extLst>
          </p:cNvPr>
          <p:cNvCxnSpPr>
            <a:cxnSpLocks/>
            <a:stCxn id="34" idx="6"/>
            <a:endCxn id="35" idx="2"/>
          </p:cNvCxnSpPr>
          <p:nvPr/>
        </p:nvCxnSpPr>
        <p:spPr>
          <a:xfrm flipV="1">
            <a:off x="3314752" y="5195905"/>
            <a:ext cx="1084217"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8A423919-B548-F28D-CB1A-68B51C7AFA6B}"/>
              </a:ext>
            </a:extLst>
          </p:cNvPr>
          <p:cNvCxnSpPr>
            <a:cxnSpLocks/>
            <a:stCxn id="33" idx="6"/>
            <a:endCxn id="35" idx="2"/>
          </p:cNvCxnSpPr>
          <p:nvPr/>
        </p:nvCxnSpPr>
        <p:spPr>
          <a:xfrm>
            <a:off x="3314752" y="4655973"/>
            <a:ext cx="1084217"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6CD372D7-1155-6907-FB4A-5BEBC897A6F2}"/>
              </a:ext>
            </a:extLst>
          </p:cNvPr>
          <p:cNvCxnSpPr>
            <a:cxnSpLocks/>
            <a:stCxn id="35" idx="6"/>
            <a:endCxn id="36" idx="2"/>
          </p:cNvCxnSpPr>
          <p:nvPr/>
        </p:nvCxnSpPr>
        <p:spPr>
          <a:xfrm flipV="1">
            <a:off x="4938901" y="4655973"/>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A050F4D2-7E30-1CBB-90EE-C00E67A4550E}"/>
              </a:ext>
            </a:extLst>
          </p:cNvPr>
          <p:cNvCxnSpPr>
            <a:cxnSpLocks/>
            <a:endCxn id="37" idx="2"/>
          </p:cNvCxnSpPr>
          <p:nvPr/>
        </p:nvCxnSpPr>
        <p:spPr>
          <a:xfrm>
            <a:off x="4938901" y="5195905"/>
            <a:ext cx="2690948"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CF695179-347D-F9AC-CC42-001AA77183B2}"/>
              </a:ext>
            </a:extLst>
          </p:cNvPr>
          <p:cNvCxnSpPr>
            <a:cxnSpLocks/>
            <a:stCxn id="36" idx="6"/>
            <a:endCxn id="37" idx="2"/>
          </p:cNvCxnSpPr>
          <p:nvPr/>
        </p:nvCxnSpPr>
        <p:spPr>
          <a:xfrm>
            <a:off x="6554341" y="4655973"/>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3CAD8235-D6A5-0F8D-3B95-E9908A9B663F}"/>
              </a:ext>
            </a:extLst>
          </p:cNvPr>
          <p:cNvSpPr txBox="1"/>
          <p:nvPr/>
        </p:nvSpPr>
        <p:spPr>
          <a:xfrm>
            <a:off x="1891868" y="4602773"/>
            <a:ext cx="506870" cy="276999"/>
          </a:xfrm>
          <a:prstGeom prst="rect">
            <a:avLst/>
          </a:prstGeom>
          <a:noFill/>
          <a:ln w="38100">
            <a:noFill/>
          </a:ln>
        </p:spPr>
        <p:txBody>
          <a:bodyPr wrap="none" rtlCol="0" anchor="ctr">
            <a:spAutoFit/>
          </a:bodyPr>
          <a:lstStyle/>
          <a:p>
            <a:pPr algn="ctr"/>
            <a:r>
              <a:rPr kumimoji="1" lang="en-US" altLang="ja-GB" sz="1200" dirty="0">
                <a:solidFill>
                  <a:srgbClr val="2F2523"/>
                </a:solidFill>
              </a:rPr>
              <a:t>A</a:t>
            </a:r>
            <a:r>
              <a:rPr kumimoji="1" lang="ja-GB" altLang="en-US" sz="1200" dirty="0">
                <a:solidFill>
                  <a:srgbClr val="2F2523"/>
                </a:solidFill>
              </a:rPr>
              <a:t>：</a:t>
            </a:r>
            <a:r>
              <a:rPr kumimoji="1" lang="en-US" altLang="ja-GB" sz="1200" dirty="0">
                <a:solidFill>
                  <a:srgbClr val="2F2523"/>
                </a:solidFill>
              </a:rPr>
              <a:t>3</a:t>
            </a:r>
          </a:p>
        </p:txBody>
      </p:sp>
      <p:sp>
        <p:nvSpPr>
          <p:cNvPr id="47" name="テキスト ボックス 46">
            <a:extLst>
              <a:ext uri="{FF2B5EF4-FFF2-40B4-BE49-F238E27FC236}">
                <a16:creationId xmlns:a16="http://schemas.microsoft.com/office/drawing/2014/main" id="{65620A92-8C44-86E9-8D49-4404DF2D0C1C}"/>
              </a:ext>
            </a:extLst>
          </p:cNvPr>
          <p:cNvSpPr txBox="1"/>
          <p:nvPr/>
        </p:nvSpPr>
        <p:spPr>
          <a:xfrm>
            <a:off x="1895075" y="5553194"/>
            <a:ext cx="500458" cy="276999"/>
          </a:xfrm>
          <a:prstGeom prst="rect">
            <a:avLst/>
          </a:prstGeom>
          <a:noFill/>
          <a:ln w="38100">
            <a:noFill/>
          </a:ln>
        </p:spPr>
        <p:txBody>
          <a:bodyPr wrap="none" rtlCol="0" anchor="ctr">
            <a:spAutoFit/>
          </a:bodyPr>
          <a:lstStyle/>
          <a:p>
            <a:pPr algn="ctr"/>
            <a:r>
              <a:rPr kumimoji="1" lang="en-US" altLang="ja-GB" sz="1200" dirty="0">
                <a:solidFill>
                  <a:srgbClr val="2F2523"/>
                </a:solidFill>
              </a:rPr>
              <a:t>B</a:t>
            </a:r>
            <a:r>
              <a:rPr kumimoji="1" lang="ja-GB" altLang="en-US" sz="1200" dirty="0">
                <a:solidFill>
                  <a:srgbClr val="2F2523"/>
                </a:solidFill>
              </a:rPr>
              <a:t>：</a:t>
            </a:r>
            <a:r>
              <a:rPr kumimoji="1" lang="en-US" altLang="ja-GB" sz="1200" dirty="0">
                <a:solidFill>
                  <a:srgbClr val="2F2523"/>
                </a:solidFill>
              </a:rPr>
              <a:t>2</a:t>
            </a:r>
          </a:p>
        </p:txBody>
      </p:sp>
      <p:sp>
        <p:nvSpPr>
          <p:cNvPr id="48" name="テキスト ボックス 47">
            <a:extLst>
              <a:ext uri="{FF2B5EF4-FFF2-40B4-BE49-F238E27FC236}">
                <a16:creationId xmlns:a16="http://schemas.microsoft.com/office/drawing/2014/main" id="{917394FA-EF75-1BB3-FAAB-B15FAED70818}"/>
              </a:ext>
            </a:extLst>
          </p:cNvPr>
          <p:cNvSpPr txBox="1"/>
          <p:nvPr/>
        </p:nvSpPr>
        <p:spPr>
          <a:xfrm>
            <a:off x="3438176" y="5597336"/>
            <a:ext cx="511679" cy="276999"/>
          </a:xfrm>
          <a:prstGeom prst="rect">
            <a:avLst/>
          </a:prstGeom>
          <a:noFill/>
          <a:ln w="38100">
            <a:noFill/>
          </a:ln>
        </p:spPr>
        <p:txBody>
          <a:bodyPr wrap="none" rtlCol="0" anchor="ctr">
            <a:spAutoFit/>
          </a:bodyPr>
          <a:lstStyle/>
          <a:p>
            <a:pPr algn="ctr"/>
            <a:r>
              <a:rPr kumimoji="1" lang="en-US" altLang="ja-GB" sz="1200" dirty="0">
                <a:solidFill>
                  <a:srgbClr val="2F2523"/>
                </a:solidFill>
              </a:rPr>
              <a:t>D</a:t>
            </a:r>
            <a:r>
              <a:rPr kumimoji="1" lang="ja-GB" altLang="en-US" sz="1200" dirty="0">
                <a:solidFill>
                  <a:srgbClr val="2F2523"/>
                </a:solidFill>
              </a:rPr>
              <a:t>：</a:t>
            </a:r>
            <a:r>
              <a:rPr kumimoji="1" lang="en-US" altLang="ja-GB" sz="1200" dirty="0">
                <a:solidFill>
                  <a:srgbClr val="2F2523"/>
                </a:solidFill>
              </a:rPr>
              <a:t>5</a:t>
            </a:r>
          </a:p>
        </p:txBody>
      </p:sp>
      <p:sp>
        <p:nvSpPr>
          <p:cNvPr id="49" name="テキスト ボックス 48">
            <a:extLst>
              <a:ext uri="{FF2B5EF4-FFF2-40B4-BE49-F238E27FC236}">
                <a16:creationId xmlns:a16="http://schemas.microsoft.com/office/drawing/2014/main" id="{D9B4BC64-B08C-BA3A-517C-3896CE784B6F}"/>
              </a:ext>
            </a:extLst>
          </p:cNvPr>
          <p:cNvSpPr txBox="1"/>
          <p:nvPr/>
        </p:nvSpPr>
        <p:spPr>
          <a:xfrm>
            <a:off x="3444589" y="4896967"/>
            <a:ext cx="498855" cy="276999"/>
          </a:xfrm>
          <a:prstGeom prst="rect">
            <a:avLst/>
          </a:prstGeom>
          <a:noFill/>
          <a:ln w="38100">
            <a:noFill/>
          </a:ln>
        </p:spPr>
        <p:txBody>
          <a:bodyPr wrap="none" rtlCol="0" anchor="ctr">
            <a:spAutoFit/>
          </a:bodyPr>
          <a:lstStyle/>
          <a:p>
            <a:pPr algn="ctr"/>
            <a:r>
              <a:rPr kumimoji="1" lang="en-US" altLang="ja-GB" sz="1200" dirty="0">
                <a:solidFill>
                  <a:srgbClr val="2F2523"/>
                </a:solidFill>
              </a:rPr>
              <a:t>C</a:t>
            </a:r>
            <a:r>
              <a:rPr kumimoji="1" lang="ja-GB" altLang="en-US" sz="1200" dirty="0">
                <a:solidFill>
                  <a:srgbClr val="2F2523"/>
                </a:solidFill>
              </a:rPr>
              <a:t>：</a:t>
            </a:r>
            <a:r>
              <a:rPr kumimoji="1" lang="en-US" altLang="ja-GB" sz="1200" dirty="0">
                <a:solidFill>
                  <a:srgbClr val="2F2523"/>
                </a:solidFill>
              </a:rPr>
              <a:t>4</a:t>
            </a:r>
          </a:p>
        </p:txBody>
      </p:sp>
      <p:sp>
        <p:nvSpPr>
          <p:cNvPr id="50" name="テキスト ボックス 49">
            <a:extLst>
              <a:ext uri="{FF2B5EF4-FFF2-40B4-BE49-F238E27FC236}">
                <a16:creationId xmlns:a16="http://schemas.microsoft.com/office/drawing/2014/main" id="{A9235449-F064-A9D8-EFEE-E4153BD05859}"/>
              </a:ext>
            </a:extLst>
          </p:cNvPr>
          <p:cNvSpPr txBox="1"/>
          <p:nvPr/>
        </p:nvSpPr>
        <p:spPr>
          <a:xfrm>
            <a:off x="4468025" y="4347069"/>
            <a:ext cx="492443" cy="276999"/>
          </a:xfrm>
          <a:prstGeom prst="rect">
            <a:avLst/>
          </a:prstGeom>
          <a:noFill/>
          <a:ln w="38100">
            <a:noFill/>
          </a:ln>
        </p:spPr>
        <p:txBody>
          <a:bodyPr wrap="none" rtlCol="0" anchor="ctr">
            <a:spAutoFit/>
          </a:bodyPr>
          <a:lstStyle/>
          <a:p>
            <a:pPr algn="ctr"/>
            <a:r>
              <a:rPr kumimoji="1" lang="en-US" altLang="ja-GB" sz="1200" dirty="0">
                <a:solidFill>
                  <a:srgbClr val="2F2523"/>
                </a:solidFill>
              </a:rPr>
              <a:t>E</a:t>
            </a:r>
            <a:r>
              <a:rPr kumimoji="1" lang="ja-GB" altLang="en-US" sz="1200" dirty="0">
                <a:solidFill>
                  <a:srgbClr val="2F2523"/>
                </a:solidFill>
              </a:rPr>
              <a:t>：</a:t>
            </a:r>
            <a:r>
              <a:rPr kumimoji="1" lang="en-US" altLang="ja-GB" sz="1200" dirty="0">
                <a:solidFill>
                  <a:srgbClr val="2F2523"/>
                </a:solidFill>
              </a:rPr>
              <a:t>1</a:t>
            </a:r>
          </a:p>
        </p:txBody>
      </p:sp>
      <p:sp>
        <p:nvSpPr>
          <p:cNvPr id="51" name="テキスト ボックス 50">
            <a:extLst>
              <a:ext uri="{FF2B5EF4-FFF2-40B4-BE49-F238E27FC236}">
                <a16:creationId xmlns:a16="http://schemas.microsoft.com/office/drawing/2014/main" id="{77546D73-83EA-F824-79DE-78DD9476DD63}"/>
              </a:ext>
            </a:extLst>
          </p:cNvPr>
          <p:cNvSpPr txBox="1"/>
          <p:nvPr/>
        </p:nvSpPr>
        <p:spPr>
          <a:xfrm>
            <a:off x="5422082" y="4867276"/>
            <a:ext cx="514885" cy="276999"/>
          </a:xfrm>
          <a:prstGeom prst="rect">
            <a:avLst/>
          </a:prstGeom>
          <a:noFill/>
          <a:ln w="38100">
            <a:noFill/>
          </a:ln>
        </p:spPr>
        <p:txBody>
          <a:bodyPr wrap="none" rtlCol="0" anchor="ctr">
            <a:spAutoFit/>
          </a:bodyPr>
          <a:lstStyle/>
          <a:p>
            <a:pPr algn="ctr"/>
            <a:r>
              <a:rPr kumimoji="1" lang="en-US" altLang="ja-GB" sz="1200" dirty="0">
                <a:solidFill>
                  <a:srgbClr val="2F2523"/>
                </a:solidFill>
              </a:rPr>
              <a:t>G</a:t>
            </a:r>
            <a:r>
              <a:rPr kumimoji="1" lang="ja-GB" altLang="en-US" sz="1200" dirty="0">
                <a:solidFill>
                  <a:srgbClr val="2F2523"/>
                </a:solidFill>
              </a:rPr>
              <a:t>：</a:t>
            </a:r>
            <a:r>
              <a:rPr kumimoji="1" lang="en-US" altLang="ja-GB" sz="1200" dirty="0">
                <a:solidFill>
                  <a:srgbClr val="2F2523"/>
                </a:solidFill>
              </a:rPr>
              <a:t>3</a:t>
            </a:r>
          </a:p>
        </p:txBody>
      </p:sp>
      <p:sp>
        <p:nvSpPr>
          <p:cNvPr id="52" name="テキスト ボックス 51">
            <a:extLst>
              <a:ext uri="{FF2B5EF4-FFF2-40B4-BE49-F238E27FC236}">
                <a16:creationId xmlns:a16="http://schemas.microsoft.com/office/drawing/2014/main" id="{7D7D9939-11F1-5586-780D-73C7777DDE69}"/>
              </a:ext>
            </a:extLst>
          </p:cNvPr>
          <p:cNvSpPr txBox="1"/>
          <p:nvPr/>
        </p:nvSpPr>
        <p:spPr>
          <a:xfrm>
            <a:off x="6040558" y="5230627"/>
            <a:ext cx="487633" cy="276999"/>
          </a:xfrm>
          <a:prstGeom prst="rect">
            <a:avLst/>
          </a:prstGeom>
          <a:noFill/>
          <a:ln w="38100">
            <a:noFill/>
          </a:ln>
        </p:spPr>
        <p:txBody>
          <a:bodyPr wrap="none" rtlCol="0" anchor="ctr">
            <a:spAutoFit/>
          </a:bodyPr>
          <a:lstStyle/>
          <a:p>
            <a:pPr algn="ctr"/>
            <a:r>
              <a:rPr kumimoji="1" lang="en-US" altLang="ja-GB" sz="1200" dirty="0">
                <a:solidFill>
                  <a:srgbClr val="2F2523"/>
                </a:solidFill>
              </a:rPr>
              <a:t>F</a:t>
            </a:r>
            <a:r>
              <a:rPr kumimoji="1" lang="ja-GB" altLang="en-US" sz="1200" dirty="0">
                <a:solidFill>
                  <a:srgbClr val="2F2523"/>
                </a:solidFill>
              </a:rPr>
              <a:t>：</a:t>
            </a:r>
            <a:r>
              <a:rPr kumimoji="1" lang="en-US" altLang="ja-GB" sz="1200" dirty="0">
                <a:solidFill>
                  <a:srgbClr val="2F2523"/>
                </a:solidFill>
              </a:rPr>
              <a:t>6</a:t>
            </a:r>
          </a:p>
        </p:txBody>
      </p:sp>
      <p:sp>
        <p:nvSpPr>
          <p:cNvPr id="53" name="テキスト ボックス 52">
            <a:extLst>
              <a:ext uri="{FF2B5EF4-FFF2-40B4-BE49-F238E27FC236}">
                <a16:creationId xmlns:a16="http://schemas.microsoft.com/office/drawing/2014/main" id="{D9EDE7FC-2FD2-56D6-281D-62BB285C98D3}"/>
              </a:ext>
            </a:extLst>
          </p:cNvPr>
          <p:cNvSpPr txBox="1"/>
          <p:nvPr/>
        </p:nvSpPr>
        <p:spPr>
          <a:xfrm>
            <a:off x="6976103" y="4626229"/>
            <a:ext cx="513282" cy="276999"/>
          </a:xfrm>
          <a:prstGeom prst="rect">
            <a:avLst/>
          </a:prstGeom>
          <a:noFill/>
          <a:ln w="38100">
            <a:noFill/>
          </a:ln>
        </p:spPr>
        <p:txBody>
          <a:bodyPr wrap="none" rtlCol="0" anchor="ctr">
            <a:spAutoFit/>
          </a:bodyPr>
          <a:lstStyle/>
          <a:p>
            <a:pPr algn="ctr"/>
            <a:r>
              <a:rPr kumimoji="1" lang="en-US" altLang="ja-GB" sz="1200" dirty="0">
                <a:solidFill>
                  <a:srgbClr val="2F2523"/>
                </a:solidFill>
              </a:rPr>
              <a:t>H</a:t>
            </a:r>
            <a:r>
              <a:rPr kumimoji="1" lang="ja-GB" altLang="en-US" sz="1200" dirty="0">
                <a:solidFill>
                  <a:srgbClr val="2F2523"/>
                </a:solidFill>
              </a:rPr>
              <a:t>：</a:t>
            </a:r>
            <a:r>
              <a:rPr kumimoji="1" lang="en-US" altLang="ja-GB" sz="1200" dirty="0">
                <a:solidFill>
                  <a:srgbClr val="2F2523"/>
                </a:solidFill>
              </a:rPr>
              <a:t>2</a:t>
            </a:r>
          </a:p>
        </p:txBody>
      </p:sp>
      <p:sp>
        <p:nvSpPr>
          <p:cNvPr id="54" name="テキスト ボックス 53">
            <a:extLst>
              <a:ext uri="{FF2B5EF4-FFF2-40B4-BE49-F238E27FC236}">
                <a16:creationId xmlns:a16="http://schemas.microsoft.com/office/drawing/2014/main" id="{B99BFBBB-5C0C-18A9-F507-611A7B1534A7}"/>
              </a:ext>
            </a:extLst>
          </p:cNvPr>
          <p:cNvSpPr txBox="1"/>
          <p:nvPr/>
        </p:nvSpPr>
        <p:spPr>
          <a:xfrm>
            <a:off x="1306447" y="4592978"/>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F8FDFF"/>
                </a:solidFill>
              </a:rPr>
              <a:t>0</a:t>
            </a:r>
          </a:p>
        </p:txBody>
      </p:sp>
      <p:sp>
        <p:nvSpPr>
          <p:cNvPr id="55" name="テキスト ボックス 54">
            <a:extLst>
              <a:ext uri="{FF2B5EF4-FFF2-40B4-BE49-F238E27FC236}">
                <a16:creationId xmlns:a16="http://schemas.microsoft.com/office/drawing/2014/main" id="{843002F3-250F-F081-979B-1749FDE8AA16}"/>
              </a:ext>
            </a:extLst>
          </p:cNvPr>
          <p:cNvSpPr txBox="1"/>
          <p:nvPr/>
        </p:nvSpPr>
        <p:spPr>
          <a:xfrm>
            <a:off x="2913178" y="6053444"/>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2</a:t>
            </a:r>
          </a:p>
        </p:txBody>
      </p:sp>
      <p:sp>
        <p:nvSpPr>
          <p:cNvPr id="56" name="テキスト ボックス 55">
            <a:extLst>
              <a:ext uri="{FF2B5EF4-FFF2-40B4-BE49-F238E27FC236}">
                <a16:creationId xmlns:a16="http://schemas.microsoft.com/office/drawing/2014/main" id="{06AB47C1-A305-9C17-7F93-57C50907D8D5}"/>
              </a:ext>
            </a:extLst>
          </p:cNvPr>
          <p:cNvSpPr txBox="1"/>
          <p:nvPr/>
        </p:nvSpPr>
        <p:spPr>
          <a:xfrm>
            <a:off x="2917783" y="4053046"/>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F8FDFF"/>
                </a:solidFill>
              </a:rPr>
              <a:t>3</a:t>
            </a:r>
          </a:p>
        </p:txBody>
      </p:sp>
      <p:sp>
        <p:nvSpPr>
          <p:cNvPr id="57" name="テキスト ボックス 56">
            <a:extLst>
              <a:ext uri="{FF2B5EF4-FFF2-40B4-BE49-F238E27FC236}">
                <a16:creationId xmlns:a16="http://schemas.microsoft.com/office/drawing/2014/main" id="{0CB2B5EF-EA21-8F75-D8AE-0FE0F20AA7C1}"/>
              </a:ext>
            </a:extLst>
          </p:cNvPr>
          <p:cNvSpPr txBox="1"/>
          <p:nvPr/>
        </p:nvSpPr>
        <p:spPr>
          <a:xfrm>
            <a:off x="4537674" y="5521432"/>
            <a:ext cx="263213"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7</a:t>
            </a:r>
          </a:p>
        </p:txBody>
      </p:sp>
      <p:sp>
        <p:nvSpPr>
          <p:cNvPr id="58" name="テキスト ボックス 57">
            <a:extLst>
              <a:ext uri="{FF2B5EF4-FFF2-40B4-BE49-F238E27FC236}">
                <a16:creationId xmlns:a16="http://schemas.microsoft.com/office/drawing/2014/main" id="{3D8BE92C-5DCB-B58E-94AF-E8D3422289CF}"/>
              </a:ext>
            </a:extLst>
          </p:cNvPr>
          <p:cNvSpPr txBox="1"/>
          <p:nvPr/>
        </p:nvSpPr>
        <p:spPr>
          <a:xfrm>
            <a:off x="6105483" y="4053046"/>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F8FDFF"/>
                </a:solidFill>
              </a:rPr>
              <a:t>11</a:t>
            </a:r>
          </a:p>
        </p:txBody>
      </p:sp>
      <p:sp>
        <p:nvSpPr>
          <p:cNvPr id="59" name="テキスト ボックス 58">
            <a:extLst>
              <a:ext uri="{FF2B5EF4-FFF2-40B4-BE49-F238E27FC236}">
                <a16:creationId xmlns:a16="http://schemas.microsoft.com/office/drawing/2014/main" id="{7F63C6E0-9BBF-9848-682C-8E80BC885768}"/>
              </a:ext>
            </a:extLst>
          </p:cNvPr>
          <p:cNvSpPr txBox="1"/>
          <p:nvPr/>
        </p:nvSpPr>
        <p:spPr>
          <a:xfrm>
            <a:off x="7728935" y="4592978"/>
            <a:ext cx="341760" cy="276999"/>
          </a:xfrm>
          <a:prstGeom prst="rect">
            <a:avLst/>
          </a:prstGeom>
          <a:solidFill>
            <a:schemeClr val="accent2">
              <a:lumMod val="20000"/>
              <a:lumOff val="80000"/>
            </a:schemeClr>
          </a:solidFill>
          <a:ln w="38100">
            <a:solidFill>
              <a:srgbClr val="2F2523"/>
            </a:solidFill>
          </a:ln>
        </p:spPr>
        <p:txBody>
          <a:bodyPr wrap="none" rtlCol="0" anchor="ctr">
            <a:spAutoFit/>
          </a:bodyPr>
          <a:lstStyle/>
          <a:p>
            <a:pPr algn="ctr"/>
            <a:r>
              <a:rPr kumimoji="1" lang="en-US" altLang="ja-GB" sz="1200" dirty="0">
                <a:solidFill>
                  <a:schemeClr val="accent2"/>
                </a:solidFill>
              </a:rPr>
              <a:t>13</a:t>
            </a:r>
          </a:p>
        </p:txBody>
      </p:sp>
      <p:sp>
        <p:nvSpPr>
          <p:cNvPr id="60" name="テキスト ボックス 59">
            <a:extLst>
              <a:ext uri="{FF2B5EF4-FFF2-40B4-BE49-F238E27FC236}">
                <a16:creationId xmlns:a16="http://schemas.microsoft.com/office/drawing/2014/main" id="{3B7810F6-3F71-299B-5FF8-873F807CA50B}"/>
              </a:ext>
            </a:extLst>
          </p:cNvPr>
          <p:cNvSpPr txBox="1"/>
          <p:nvPr/>
        </p:nvSpPr>
        <p:spPr>
          <a:xfrm>
            <a:off x="1308239" y="4334737"/>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0</a:t>
            </a:r>
          </a:p>
        </p:txBody>
      </p:sp>
      <p:sp>
        <p:nvSpPr>
          <p:cNvPr id="61" name="テキスト ボックス 60">
            <a:extLst>
              <a:ext uri="{FF2B5EF4-FFF2-40B4-BE49-F238E27FC236}">
                <a16:creationId xmlns:a16="http://schemas.microsoft.com/office/drawing/2014/main" id="{6B5DABD5-CA15-9F31-F3EB-243FFEFF4A9E}"/>
              </a:ext>
            </a:extLst>
          </p:cNvPr>
          <p:cNvSpPr txBox="1"/>
          <p:nvPr/>
        </p:nvSpPr>
        <p:spPr>
          <a:xfrm>
            <a:off x="2919575" y="3794805"/>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3</a:t>
            </a:r>
          </a:p>
        </p:txBody>
      </p:sp>
      <p:sp>
        <p:nvSpPr>
          <p:cNvPr id="62" name="テキスト ボックス 61">
            <a:extLst>
              <a:ext uri="{FF2B5EF4-FFF2-40B4-BE49-F238E27FC236}">
                <a16:creationId xmlns:a16="http://schemas.microsoft.com/office/drawing/2014/main" id="{13CD3F97-CECC-464B-E410-BC2C76C77736}"/>
              </a:ext>
            </a:extLst>
          </p:cNvPr>
          <p:cNvSpPr txBox="1"/>
          <p:nvPr/>
        </p:nvSpPr>
        <p:spPr>
          <a:xfrm>
            <a:off x="6107275" y="3794805"/>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10</a:t>
            </a:r>
          </a:p>
        </p:txBody>
      </p:sp>
      <p:sp>
        <p:nvSpPr>
          <p:cNvPr id="63" name="テキスト ボックス 62">
            <a:extLst>
              <a:ext uri="{FF2B5EF4-FFF2-40B4-BE49-F238E27FC236}">
                <a16:creationId xmlns:a16="http://schemas.microsoft.com/office/drawing/2014/main" id="{E828742B-1F0D-51A1-DA37-762C83672A90}"/>
              </a:ext>
            </a:extLst>
          </p:cNvPr>
          <p:cNvSpPr txBox="1"/>
          <p:nvPr/>
        </p:nvSpPr>
        <p:spPr>
          <a:xfrm>
            <a:off x="7730727" y="4334737"/>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13</a:t>
            </a:r>
          </a:p>
        </p:txBody>
      </p:sp>
      <p:sp>
        <p:nvSpPr>
          <p:cNvPr id="64" name="テキスト ボックス 63">
            <a:extLst>
              <a:ext uri="{FF2B5EF4-FFF2-40B4-BE49-F238E27FC236}">
                <a16:creationId xmlns:a16="http://schemas.microsoft.com/office/drawing/2014/main" id="{FD214F81-6444-6DEB-D298-814759ADABC3}"/>
              </a:ext>
            </a:extLst>
          </p:cNvPr>
          <p:cNvSpPr txBox="1"/>
          <p:nvPr/>
        </p:nvSpPr>
        <p:spPr>
          <a:xfrm>
            <a:off x="2906023" y="6321852"/>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F8FDFF"/>
                </a:solidFill>
              </a:rPr>
              <a:t>2</a:t>
            </a:r>
          </a:p>
        </p:txBody>
      </p:sp>
      <p:sp>
        <p:nvSpPr>
          <p:cNvPr id="65" name="テキスト ボックス 64">
            <a:extLst>
              <a:ext uri="{FF2B5EF4-FFF2-40B4-BE49-F238E27FC236}">
                <a16:creationId xmlns:a16="http://schemas.microsoft.com/office/drawing/2014/main" id="{E47955BA-C00D-9B7C-24C3-4F0BC2121E37}"/>
              </a:ext>
            </a:extLst>
          </p:cNvPr>
          <p:cNvSpPr txBox="1"/>
          <p:nvPr/>
        </p:nvSpPr>
        <p:spPr>
          <a:xfrm>
            <a:off x="4530519" y="5789840"/>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F8FDFF"/>
                </a:solidFill>
              </a:rPr>
              <a:t>7</a:t>
            </a:r>
          </a:p>
        </p:txBody>
      </p:sp>
      <p:sp>
        <p:nvSpPr>
          <p:cNvPr id="68" name="テキスト ボックス 67">
            <a:extLst>
              <a:ext uri="{FF2B5EF4-FFF2-40B4-BE49-F238E27FC236}">
                <a16:creationId xmlns:a16="http://schemas.microsoft.com/office/drawing/2014/main" id="{AB238C7F-2DEF-6349-AE54-40CB3AC6FF77}"/>
              </a:ext>
            </a:extLst>
          </p:cNvPr>
          <p:cNvSpPr txBox="1"/>
          <p:nvPr/>
        </p:nvSpPr>
        <p:spPr>
          <a:xfrm>
            <a:off x="3514525" y="6344090"/>
            <a:ext cx="4999767" cy="307777"/>
          </a:xfrm>
          <a:prstGeom prst="rect">
            <a:avLst/>
          </a:prstGeom>
          <a:noFill/>
        </p:spPr>
        <p:txBody>
          <a:bodyPr wrap="none" rtlCol="0">
            <a:spAutoFit/>
          </a:bodyPr>
          <a:lstStyle/>
          <a:p>
            <a:pPr algn="ctr"/>
            <a:r>
              <a:rPr lang="ja-GB" altLang="en-US" sz="1400" dirty="0"/>
              <a:t>記法：</a:t>
            </a:r>
            <a:r>
              <a:rPr kumimoji="1" lang="ja-GB" altLang="en-US" sz="1400" dirty="0"/>
              <a:t>二つの四角枠を組み合わせて，上に</a:t>
            </a:r>
            <a:r>
              <a:rPr kumimoji="1" lang="en-US" altLang="ja-GB" sz="1400" dirty="0"/>
              <a:t>ET</a:t>
            </a:r>
            <a:r>
              <a:rPr kumimoji="1" lang="ja-GB" altLang="en-US" sz="1400" dirty="0"/>
              <a:t>，下に</a:t>
            </a:r>
            <a:r>
              <a:rPr kumimoji="1" lang="en-US" altLang="ja-GB" sz="1400" dirty="0"/>
              <a:t>LT</a:t>
            </a:r>
            <a:r>
              <a:rPr kumimoji="1" lang="ja-GB" altLang="en-US" sz="1400" dirty="0"/>
              <a:t>を記入</a:t>
            </a:r>
          </a:p>
        </p:txBody>
      </p:sp>
      <p:sp>
        <p:nvSpPr>
          <p:cNvPr id="4" name="テキスト ボックス 3">
            <a:extLst>
              <a:ext uri="{FF2B5EF4-FFF2-40B4-BE49-F238E27FC236}">
                <a16:creationId xmlns:a16="http://schemas.microsoft.com/office/drawing/2014/main" id="{AAC8E72E-6C84-3399-3EBB-492407CC2CF6}"/>
              </a:ext>
            </a:extLst>
          </p:cNvPr>
          <p:cNvSpPr txBox="1"/>
          <p:nvPr/>
        </p:nvSpPr>
        <p:spPr>
          <a:xfrm>
            <a:off x="8321002" y="4023904"/>
            <a:ext cx="409086" cy="369332"/>
          </a:xfrm>
          <a:prstGeom prst="rect">
            <a:avLst/>
          </a:prstGeom>
          <a:noFill/>
          <a:ln w="38100">
            <a:noFill/>
          </a:ln>
        </p:spPr>
        <p:txBody>
          <a:bodyPr wrap="none" rtlCol="0" anchor="ctr">
            <a:spAutoFit/>
          </a:bodyPr>
          <a:lstStyle/>
          <a:p>
            <a:pPr algn="ctr"/>
            <a:r>
              <a:rPr kumimoji="1" lang="en-US" altLang="ja-GB" dirty="0">
                <a:solidFill>
                  <a:srgbClr val="2F2523"/>
                </a:solidFill>
              </a:rPr>
              <a:t>ET</a:t>
            </a:r>
          </a:p>
        </p:txBody>
      </p:sp>
      <p:sp>
        <p:nvSpPr>
          <p:cNvPr id="5" name="テキスト ボックス 4">
            <a:extLst>
              <a:ext uri="{FF2B5EF4-FFF2-40B4-BE49-F238E27FC236}">
                <a16:creationId xmlns:a16="http://schemas.microsoft.com/office/drawing/2014/main" id="{B58CE038-4B9D-0CBF-9BF8-8E383A69CDD8}"/>
              </a:ext>
            </a:extLst>
          </p:cNvPr>
          <p:cNvSpPr txBox="1"/>
          <p:nvPr/>
        </p:nvSpPr>
        <p:spPr>
          <a:xfrm>
            <a:off x="8336679" y="4741273"/>
            <a:ext cx="377732" cy="369332"/>
          </a:xfrm>
          <a:prstGeom prst="rect">
            <a:avLst/>
          </a:prstGeom>
          <a:noFill/>
          <a:ln w="38100">
            <a:noFill/>
          </a:ln>
        </p:spPr>
        <p:txBody>
          <a:bodyPr wrap="none" rtlCol="0" anchor="ctr">
            <a:spAutoFit/>
          </a:bodyPr>
          <a:lstStyle/>
          <a:p>
            <a:pPr algn="ctr"/>
            <a:r>
              <a:rPr kumimoji="1" lang="en-US" altLang="ja-GB" dirty="0">
                <a:solidFill>
                  <a:srgbClr val="2F2523"/>
                </a:solidFill>
              </a:rPr>
              <a:t>LT</a:t>
            </a:r>
          </a:p>
        </p:txBody>
      </p:sp>
      <p:cxnSp>
        <p:nvCxnSpPr>
          <p:cNvPr id="7" name="直線コネクタ 6">
            <a:extLst>
              <a:ext uri="{FF2B5EF4-FFF2-40B4-BE49-F238E27FC236}">
                <a16:creationId xmlns:a16="http://schemas.microsoft.com/office/drawing/2014/main" id="{E94A72CF-8516-34A6-11EB-2E215467D3E9}"/>
              </a:ext>
            </a:extLst>
          </p:cNvPr>
          <p:cNvCxnSpPr>
            <a:cxnSpLocks/>
            <a:stCxn id="63" idx="3"/>
            <a:endCxn id="4" idx="1"/>
          </p:cNvCxnSpPr>
          <p:nvPr/>
        </p:nvCxnSpPr>
        <p:spPr>
          <a:xfrm flipV="1">
            <a:off x="8072487" y="4208570"/>
            <a:ext cx="248515" cy="264667"/>
          </a:xfrm>
          <a:prstGeom prst="line">
            <a:avLst/>
          </a:prstGeom>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B73C8268-DAB3-2F56-C650-F1BBCA5E32C5}"/>
              </a:ext>
            </a:extLst>
          </p:cNvPr>
          <p:cNvCxnSpPr>
            <a:cxnSpLocks/>
            <a:stCxn id="59" idx="3"/>
            <a:endCxn id="5" idx="1"/>
          </p:cNvCxnSpPr>
          <p:nvPr/>
        </p:nvCxnSpPr>
        <p:spPr>
          <a:xfrm>
            <a:off x="8070695" y="4731478"/>
            <a:ext cx="265984" cy="194461"/>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15896250"/>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988FA-3376-AF24-D89D-4917931F57C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FD832F3-B56E-228C-52E3-5B90CC85BF53}"/>
              </a:ext>
            </a:extLst>
          </p:cNvPr>
          <p:cNvSpPr>
            <a:spLocks noGrp="1"/>
          </p:cNvSpPr>
          <p:nvPr>
            <p:ph type="title"/>
          </p:nvPr>
        </p:nvSpPr>
        <p:spPr/>
        <p:txBody>
          <a:bodyPr>
            <a:normAutofit/>
          </a:bodyPr>
          <a:lstStyle/>
          <a:p>
            <a:r>
              <a:rPr lang="ja-JP" altLang="en-US"/>
              <a:t>最</a:t>
            </a:r>
            <a:r>
              <a:rPr lang="ja-GB" altLang="en-US" dirty="0"/>
              <a:t>遅</a:t>
            </a:r>
            <a:r>
              <a:rPr lang="ja-JP" altLang="en-US"/>
              <a:t>結合点時刻（</a:t>
            </a:r>
            <a:r>
              <a:rPr lang="en-US" altLang="ja-JP" dirty="0"/>
              <a:t>LT</a:t>
            </a:r>
            <a:r>
              <a:rPr lang="ja-JP" altLang="en-US"/>
              <a:t>：</a:t>
            </a:r>
            <a:r>
              <a:rPr lang="en-US" altLang="ja-JP" dirty="0"/>
              <a:t>latest node time</a:t>
            </a:r>
            <a:r>
              <a:rPr lang="ja-JP" altLang="en-US"/>
              <a:t>）</a:t>
            </a:r>
            <a:endParaRPr kumimoji="1" lang="ja-GB" altLang="en-US" dirty="0"/>
          </a:p>
        </p:txBody>
      </p:sp>
      <p:sp>
        <p:nvSpPr>
          <p:cNvPr id="3" name="コンテンツ プレースホルダー 2">
            <a:extLst>
              <a:ext uri="{FF2B5EF4-FFF2-40B4-BE49-F238E27FC236}">
                <a16:creationId xmlns:a16="http://schemas.microsoft.com/office/drawing/2014/main" id="{B62BBFBC-3589-4FA4-C9CB-080612AB6686}"/>
              </a:ext>
            </a:extLst>
          </p:cNvPr>
          <p:cNvSpPr>
            <a:spLocks noGrp="1"/>
          </p:cNvSpPr>
          <p:nvPr>
            <p:ph idx="1"/>
          </p:nvPr>
        </p:nvSpPr>
        <p:spPr/>
        <p:txBody>
          <a:bodyPr/>
          <a:lstStyle/>
          <a:p>
            <a:pPr marL="0" indent="0">
              <a:buNone/>
            </a:pPr>
            <a:r>
              <a:rPr kumimoji="1" lang="ja-GB" altLang="en-US" dirty="0"/>
              <a:t>結合点を最も遅く出発して，全体に遅延を出さない限界の時刻</a:t>
            </a:r>
            <a:endParaRPr kumimoji="1" lang="en-US" altLang="ja-GB" dirty="0"/>
          </a:p>
          <a:p>
            <a:pPr marL="0" indent="0">
              <a:buNone/>
            </a:pPr>
            <a:r>
              <a:rPr lang="en-US" altLang="ja-GB" sz="2000" dirty="0"/>
              <a:t>=</a:t>
            </a:r>
            <a:r>
              <a:rPr lang="ja-GB" altLang="en-US" sz="2000" dirty="0"/>
              <a:t>各作業の終点の最早結合点時刻から作業時間を引いた値</a:t>
            </a:r>
            <a:endParaRPr kumimoji="1" lang="en-US" altLang="ja-GB" sz="2000" dirty="0"/>
          </a:p>
          <a:p>
            <a:pPr marL="914400" lvl="1" indent="-457200">
              <a:buFont typeface="+mj-lt"/>
              <a:buAutoNum type="arabicPeriod"/>
            </a:pPr>
            <a:r>
              <a:rPr lang="ja-GB" altLang="en-US" dirty="0">
                <a:solidFill>
                  <a:srgbClr val="2F2523"/>
                </a:solidFill>
              </a:rPr>
              <a:t>終了地点の</a:t>
            </a:r>
            <a:r>
              <a:rPr lang="en-US" altLang="ja-GB" dirty="0">
                <a:solidFill>
                  <a:srgbClr val="2F2523"/>
                </a:solidFill>
              </a:rPr>
              <a:t>LT</a:t>
            </a:r>
            <a:r>
              <a:rPr lang="ja-GB" altLang="en-US" dirty="0">
                <a:solidFill>
                  <a:srgbClr val="2F2523"/>
                </a:solidFill>
              </a:rPr>
              <a:t>を</a:t>
            </a:r>
            <a:r>
              <a:rPr lang="en-US" altLang="ja-GB" dirty="0">
                <a:solidFill>
                  <a:srgbClr val="2F2523"/>
                </a:solidFill>
              </a:rPr>
              <a:t>ET</a:t>
            </a:r>
            <a:r>
              <a:rPr lang="ja-GB" altLang="en-US" dirty="0">
                <a:solidFill>
                  <a:srgbClr val="2F2523"/>
                </a:solidFill>
              </a:rPr>
              <a:t>と同じ値に設定</a:t>
            </a:r>
            <a:endParaRPr lang="en-US" altLang="ja-GB" dirty="0">
              <a:solidFill>
                <a:srgbClr val="2F2523"/>
              </a:solidFill>
            </a:endParaRPr>
          </a:p>
          <a:p>
            <a:pPr lvl="4"/>
            <a:endParaRPr lang="en-US" altLang="ja-GB" dirty="0">
              <a:solidFill>
                <a:srgbClr val="2F2523"/>
              </a:solidFill>
            </a:endParaRPr>
          </a:p>
          <a:p>
            <a:pPr marL="914400" lvl="1" indent="-457200">
              <a:buFont typeface="+mj-lt"/>
              <a:buAutoNum type="arabicPeriod"/>
            </a:pPr>
            <a:r>
              <a:rPr lang="ja-GB" altLang="en-US" dirty="0">
                <a:solidFill>
                  <a:srgbClr val="0070C0"/>
                </a:solidFill>
              </a:rPr>
              <a:t>各結合点の</a:t>
            </a:r>
            <a:r>
              <a:rPr lang="en-US" altLang="ja-GB" dirty="0">
                <a:solidFill>
                  <a:srgbClr val="0070C0"/>
                </a:solidFill>
              </a:rPr>
              <a:t>LT</a:t>
            </a:r>
            <a:r>
              <a:rPr lang="ja-GB" altLang="en-US" dirty="0">
                <a:solidFill>
                  <a:srgbClr val="0070C0"/>
                </a:solidFill>
              </a:rPr>
              <a:t>を計算</a:t>
            </a:r>
            <a:endParaRPr lang="en-US" altLang="ja-GB" dirty="0">
              <a:solidFill>
                <a:srgbClr val="0070C0"/>
              </a:solidFill>
            </a:endParaRPr>
          </a:p>
          <a:p>
            <a:pPr lvl="2"/>
            <a:r>
              <a:rPr lang="ja-GB" altLang="en-US" dirty="0">
                <a:solidFill>
                  <a:srgbClr val="2F2523"/>
                </a:solidFill>
              </a:rPr>
              <a:t>始点の</a:t>
            </a:r>
            <a:r>
              <a:rPr lang="en-US" altLang="ja-GB" dirty="0">
                <a:solidFill>
                  <a:srgbClr val="2F2523"/>
                </a:solidFill>
              </a:rPr>
              <a:t>LT = </a:t>
            </a:r>
            <a:r>
              <a:rPr lang="ja-GB" altLang="en-US" dirty="0">
                <a:solidFill>
                  <a:srgbClr val="2F2523"/>
                </a:solidFill>
              </a:rPr>
              <a:t>終点の</a:t>
            </a:r>
            <a:r>
              <a:rPr lang="en-US" altLang="ja-GB" dirty="0">
                <a:solidFill>
                  <a:srgbClr val="2F2523"/>
                </a:solidFill>
              </a:rPr>
              <a:t>LT - </a:t>
            </a:r>
            <a:r>
              <a:rPr lang="ja-GB" altLang="en-US" dirty="0">
                <a:solidFill>
                  <a:srgbClr val="2F2523"/>
                </a:solidFill>
              </a:rPr>
              <a:t>作業日数</a:t>
            </a:r>
            <a:endParaRPr lang="en-US" altLang="ja-GB" dirty="0">
              <a:solidFill>
                <a:srgbClr val="2F2523"/>
              </a:solidFill>
            </a:endParaRPr>
          </a:p>
          <a:p>
            <a:pPr lvl="2"/>
            <a:endParaRPr kumimoji="1" lang="ja-GB" altLang="en-US" dirty="0">
              <a:solidFill>
                <a:srgbClr val="2F2523"/>
              </a:solidFill>
            </a:endParaRPr>
          </a:p>
        </p:txBody>
      </p:sp>
      <p:sp>
        <p:nvSpPr>
          <p:cNvPr id="32" name="円/楕円 31">
            <a:extLst>
              <a:ext uri="{FF2B5EF4-FFF2-40B4-BE49-F238E27FC236}">
                <a16:creationId xmlns:a16="http://schemas.microsoft.com/office/drawing/2014/main" id="{8B375B99-99FE-ED92-DE18-7E04ECF7B14F}"/>
              </a:ext>
            </a:extLst>
          </p:cNvPr>
          <p:cNvSpPr>
            <a:spLocks noChangeAspect="1"/>
          </p:cNvSpPr>
          <p:nvPr/>
        </p:nvSpPr>
        <p:spPr>
          <a:xfrm>
            <a:off x="1168089" y="492593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solidFill>
                <a:srgbClr val="2F2523"/>
              </a:solidFill>
            </a:endParaRPr>
          </a:p>
        </p:txBody>
      </p:sp>
      <p:sp>
        <p:nvSpPr>
          <p:cNvPr id="33" name="円/楕円 32">
            <a:extLst>
              <a:ext uri="{FF2B5EF4-FFF2-40B4-BE49-F238E27FC236}">
                <a16:creationId xmlns:a16="http://schemas.microsoft.com/office/drawing/2014/main" id="{64427389-5B91-CEF6-2D7E-04D608A97F0E}"/>
              </a:ext>
            </a:extLst>
          </p:cNvPr>
          <p:cNvSpPr>
            <a:spLocks noChangeAspect="1"/>
          </p:cNvSpPr>
          <p:nvPr/>
        </p:nvSpPr>
        <p:spPr>
          <a:xfrm>
            <a:off x="2774820" y="4386007"/>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sp>
        <p:nvSpPr>
          <p:cNvPr id="34" name="円/楕円 33">
            <a:extLst>
              <a:ext uri="{FF2B5EF4-FFF2-40B4-BE49-F238E27FC236}">
                <a16:creationId xmlns:a16="http://schemas.microsoft.com/office/drawing/2014/main" id="{BF53989C-95C6-27EC-5923-87D31B7EE22B}"/>
              </a:ext>
            </a:extLst>
          </p:cNvPr>
          <p:cNvSpPr>
            <a:spLocks noChangeAspect="1"/>
          </p:cNvSpPr>
          <p:nvPr/>
        </p:nvSpPr>
        <p:spPr>
          <a:xfrm>
            <a:off x="2774820" y="5450814"/>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sp>
        <p:nvSpPr>
          <p:cNvPr id="35" name="円/楕円 34">
            <a:extLst>
              <a:ext uri="{FF2B5EF4-FFF2-40B4-BE49-F238E27FC236}">
                <a16:creationId xmlns:a16="http://schemas.microsoft.com/office/drawing/2014/main" id="{50E20AD7-E347-077C-62CD-80AF318326B7}"/>
              </a:ext>
            </a:extLst>
          </p:cNvPr>
          <p:cNvSpPr>
            <a:spLocks noChangeAspect="1"/>
          </p:cNvSpPr>
          <p:nvPr/>
        </p:nvSpPr>
        <p:spPr>
          <a:xfrm>
            <a:off x="4398969" y="492593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sp>
        <p:nvSpPr>
          <p:cNvPr id="36" name="円/楕円 35">
            <a:extLst>
              <a:ext uri="{FF2B5EF4-FFF2-40B4-BE49-F238E27FC236}">
                <a16:creationId xmlns:a16="http://schemas.microsoft.com/office/drawing/2014/main" id="{2D14A248-EFAE-F371-E933-6406EFA9B5CE}"/>
              </a:ext>
            </a:extLst>
          </p:cNvPr>
          <p:cNvSpPr>
            <a:spLocks noChangeAspect="1"/>
          </p:cNvSpPr>
          <p:nvPr/>
        </p:nvSpPr>
        <p:spPr>
          <a:xfrm>
            <a:off x="6014409" y="4386007"/>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sp>
        <p:nvSpPr>
          <p:cNvPr id="37" name="円/楕円 36">
            <a:extLst>
              <a:ext uri="{FF2B5EF4-FFF2-40B4-BE49-F238E27FC236}">
                <a16:creationId xmlns:a16="http://schemas.microsoft.com/office/drawing/2014/main" id="{5ADE42B8-35CE-BDB9-382C-A10808F2FD57}"/>
              </a:ext>
            </a:extLst>
          </p:cNvPr>
          <p:cNvSpPr>
            <a:spLocks noChangeAspect="1"/>
          </p:cNvSpPr>
          <p:nvPr/>
        </p:nvSpPr>
        <p:spPr>
          <a:xfrm>
            <a:off x="7629849" y="492593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cxnSp>
        <p:nvCxnSpPr>
          <p:cNvPr id="38" name="直線矢印コネクタ 37">
            <a:extLst>
              <a:ext uri="{FF2B5EF4-FFF2-40B4-BE49-F238E27FC236}">
                <a16:creationId xmlns:a16="http://schemas.microsoft.com/office/drawing/2014/main" id="{69C36EA2-DE6E-AAB7-42B9-502BCC769F29}"/>
              </a:ext>
            </a:extLst>
          </p:cNvPr>
          <p:cNvCxnSpPr>
            <a:cxnSpLocks/>
            <a:stCxn id="32" idx="6"/>
            <a:endCxn id="33" idx="2"/>
          </p:cNvCxnSpPr>
          <p:nvPr/>
        </p:nvCxnSpPr>
        <p:spPr>
          <a:xfrm flipV="1">
            <a:off x="1708021" y="4655973"/>
            <a:ext cx="1066799"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F8056E2B-2123-86B7-47E3-E73895FF30F7}"/>
              </a:ext>
            </a:extLst>
          </p:cNvPr>
          <p:cNvCxnSpPr>
            <a:cxnSpLocks/>
            <a:stCxn id="32" idx="6"/>
            <a:endCxn id="34" idx="2"/>
          </p:cNvCxnSpPr>
          <p:nvPr/>
        </p:nvCxnSpPr>
        <p:spPr>
          <a:xfrm>
            <a:off x="1708021" y="5195905"/>
            <a:ext cx="1066799"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FFBE77EF-DA4E-ADC5-8200-39F0F2B59A5B}"/>
              </a:ext>
            </a:extLst>
          </p:cNvPr>
          <p:cNvCxnSpPr>
            <a:cxnSpLocks/>
            <a:stCxn id="33" idx="6"/>
            <a:endCxn id="36" idx="2"/>
          </p:cNvCxnSpPr>
          <p:nvPr/>
        </p:nvCxnSpPr>
        <p:spPr>
          <a:xfrm>
            <a:off x="3314752" y="4655973"/>
            <a:ext cx="2699657"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9677E98E-F02B-348E-116A-29809BADA04D}"/>
              </a:ext>
            </a:extLst>
          </p:cNvPr>
          <p:cNvCxnSpPr>
            <a:cxnSpLocks/>
            <a:stCxn id="34" idx="6"/>
            <a:endCxn id="35" idx="2"/>
          </p:cNvCxnSpPr>
          <p:nvPr/>
        </p:nvCxnSpPr>
        <p:spPr>
          <a:xfrm flipV="1">
            <a:off x="3314752" y="5195905"/>
            <a:ext cx="1084217"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7D7A066F-9FC5-1D41-2054-11F73A7D5BC9}"/>
              </a:ext>
            </a:extLst>
          </p:cNvPr>
          <p:cNvCxnSpPr>
            <a:cxnSpLocks/>
            <a:stCxn id="33" idx="6"/>
            <a:endCxn id="35" idx="2"/>
          </p:cNvCxnSpPr>
          <p:nvPr/>
        </p:nvCxnSpPr>
        <p:spPr>
          <a:xfrm>
            <a:off x="3314752" y="4655973"/>
            <a:ext cx="1084217"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F5E80AF4-72C3-D71B-2DAD-32E342066516}"/>
              </a:ext>
            </a:extLst>
          </p:cNvPr>
          <p:cNvCxnSpPr>
            <a:cxnSpLocks/>
            <a:stCxn id="35" idx="6"/>
            <a:endCxn id="36" idx="2"/>
          </p:cNvCxnSpPr>
          <p:nvPr/>
        </p:nvCxnSpPr>
        <p:spPr>
          <a:xfrm flipV="1">
            <a:off x="4938901" y="4655973"/>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6B31458C-5695-F085-A619-3D0CD4E8B736}"/>
              </a:ext>
            </a:extLst>
          </p:cNvPr>
          <p:cNvCxnSpPr>
            <a:cxnSpLocks/>
            <a:endCxn id="37" idx="2"/>
          </p:cNvCxnSpPr>
          <p:nvPr/>
        </p:nvCxnSpPr>
        <p:spPr>
          <a:xfrm>
            <a:off x="4938901" y="5195905"/>
            <a:ext cx="2690948"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FFC4D486-1A2F-5945-5BE4-70A20F718F90}"/>
              </a:ext>
            </a:extLst>
          </p:cNvPr>
          <p:cNvCxnSpPr>
            <a:cxnSpLocks/>
            <a:stCxn id="36" idx="6"/>
            <a:endCxn id="37" idx="2"/>
          </p:cNvCxnSpPr>
          <p:nvPr/>
        </p:nvCxnSpPr>
        <p:spPr>
          <a:xfrm>
            <a:off x="6554341" y="4655973"/>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2B5F7047-E717-47D8-3BE4-5DBF76A24569}"/>
              </a:ext>
            </a:extLst>
          </p:cNvPr>
          <p:cNvSpPr txBox="1"/>
          <p:nvPr/>
        </p:nvSpPr>
        <p:spPr>
          <a:xfrm>
            <a:off x="1891868" y="4602773"/>
            <a:ext cx="506870" cy="276999"/>
          </a:xfrm>
          <a:prstGeom prst="rect">
            <a:avLst/>
          </a:prstGeom>
          <a:noFill/>
          <a:ln w="38100">
            <a:noFill/>
          </a:ln>
        </p:spPr>
        <p:txBody>
          <a:bodyPr wrap="none" rtlCol="0" anchor="ctr">
            <a:spAutoFit/>
          </a:bodyPr>
          <a:lstStyle/>
          <a:p>
            <a:pPr algn="ctr"/>
            <a:r>
              <a:rPr kumimoji="1" lang="en-US" altLang="ja-GB" sz="1200" dirty="0">
                <a:solidFill>
                  <a:srgbClr val="2F2523"/>
                </a:solidFill>
              </a:rPr>
              <a:t>A</a:t>
            </a:r>
            <a:r>
              <a:rPr kumimoji="1" lang="ja-GB" altLang="en-US" sz="1200" dirty="0">
                <a:solidFill>
                  <a:srgbClr val="2F2523"/>
                </a:solidFill>
              </a:rPr>
              <a:t>：</a:t>
            </a:r>
            <a:r>
              <a:rPr kumimoji="1" lang="en-US" altLang="ja-GB" sz="1200" dirty="0">
                <a:solidFill>
                  <a:srgbClr val="2F2523"/>
                </a:solidFill>
              </a:rPr>
              <a:t>3</a:t>
            </a:r>
          </a:p>
        </p:txBody>
      </p:sp>
      <p:sp>
        <p:nvSpPr>
          <p:cNvPr id="47" name="テキスト ボックス 46">
            <a:extLst>
              <a:ext uri="{FF2B5EF4-FFF2-40B4-BE49-F238E27FC236}">
                <a16:creationId xmlns:a16="http://schemas.microsoft.com/office/drawing/2014/main" id="{6C81D08F-3B90-6ADB-9C41-24B33F9C5D0A}"/>
              </a:ext>
            </a:extLst>
          </p:cNvPr>
          <p:cNvSpPr txBox="1"/>
          <p:nvPr/>
        </p:nvSpPr>
        <p:spPr>
          <a:xfrm>
            <a:off x="1895075" y="5553194"/>
            <a:ext cx="500458" cy="276999"/>
          </a:xfrm>
          <a:prstGeom prst="rect">
            <a:avLst/>
          </a:prstGeom>
          <a:noFill/>
          <a:ln w="38100">
            <a:noFill/>
          </a:ln>
        </p:spPr>
        <p:txBody>
          <a:bodyPr wrap="none" rtlCol="0" anchor="ctr">
            <a:spAutoFit/>
          </a:bodyPr>
          <a:lstStyle/>
          <a:p>
            <a:pPr algn="ctr"/>
            <a:r>
              <a:rPr kumimoji="1" lang="en-US" altLang="ja-GB" sz="1200" dirty="0">
                <a:solidFill>
                  <a:srgbClr val="2F2523"/>
                </a:solidFill>
              </a:rPr>
              <a:t>B</a:t>
            </a:r>
            <a:r>
              <a:rPr kumimoji="1" lang="ja-GB" altLang="en-US" sz="1200" dirty="0">
                <a:solidFill>
                  <a:srgbClr val="2F2523"/>
                </a:solidFill>
              </a:rPr>
              <a:t>：</a:t>
            </a:r>
            <a:r>
              <a:rPr kumimoji="1" lang="en-US" altLang="ja-GB" sz="1200" dirty="0">
                <a:solidFill>
                  <a:srgbClr val="2F2523"/>
                </a:solidFill>
              </a:rPr>
              <a:t>2</a:t>
            </a:r>
          </a:p>
        </p:txBody>
      </p:sp>
      <p:sp>
        <p:nvSpPr>
          <p:cNvPr id="48" name="テキスト ボックス 47">
            <a:extLst>
              <a:ext uri="{FF2B5EF4-FFF2-40B4-BE49-F238E27FC236}">
                <a16:creationId xmlns:a16="http://schemas.microsoft.com/office/drawing/2014/main" id="{6726D8C8-F7C1-5832-667E-F32F18261C01}"/>
              </a:ext>
            </a:extLst>
          </p:cNvPr>
          <p:cNvSpPr txBox="1"/>
          <p:nvPr/>
        </p:nvSpPr>
        <p:spPr>
          <a:xfrm>
            <a:off x="3438176" y="5597336"/>
            <a:ext cx="511679" cy="276999"/>
          </a:xfrm>
          <a:prstGeom prst="rect">
            <a:avLst/>
          </a:prstGeom>
          <a:noFill/>
          <a:ln w="38100">
            <a:noFill/>
          </a:ln>
        </p:spPr>
        <p:txBody>
          <a:bodyPr wrap="none" rtlCol="0" anchor="ctr">
            <a:spAutoFit/>
          </a:bodyPr>
          <a:lstStyle/>
          <a:p>
            <a:pPr algn="ctr"/>
            <a:r>
              <a:rPr kumimoji="1" lang="en-US" altLang="ja-GB" sz="1200" dirty="0">
                <a:solidFill>
                  <a:srgbClr val="2F2523"/>
                </a:solidFill>
              </a:rPr>
              <a:t>D</a:t>
            </a:r>
            <a:r>
              <a:rPr kumimoji="1" lang="ja-GB" altLang="en-US" sz="1200" dirty="0">
                <a:solidFill>
                  <a:srgbClr val="2F2523"/>
                </a:solidFill>
              </a:rPr>
              <a:t>：</a:t>
            </a:r>
            <a:r>
              <a:rPr kumimoji="1" lang="en-US" altLang="ja-GB" sz="1200" dirty="0">
                <a:solidFill>
                  <a:srgbClr val="2F2523"/>
                </a:solidFill>
              </a:rPr>
              <a:t>5</a:t>
            </a:r>
          </a:p>
        </p:txBody>
      </p:sp>
      <p:sp>
        <p:nvSpPr>
          <p:cNvPr id="49" name="テキスト ボックス 48">
            <a:extLst>
              <a:ext uri="{FF2B5EF4-FFF2-40B4-BE49-F238E27FC236}">
                <a16:creationId xmlns:a16="http://schemas.microsoft.com/office/drawing/2014/main" id="{78EB0BF6-8359-C095-AABD-EE95BB5F328D}"/>
              </a:ext>
            </a:extLst>
          </p:cNvPr>
          <p:cNvSpPr txBox="1"/>
          <p:nvPr/>
        </p:nvSpPr>
        <p:spPr>
          <a:xfrm>
            <a:off x="3444589" y="4896967"/>
            <a:ext cx="498855" cy="276999"/>
          </a:xfrm>
          <a:prstGeom prst="rect">
            <a:avLst/>
          </a:prstGeom>
          <a:noFill/>
          <a:ln w="38100">
            <a:noFill/>
          </a:ln>
        </p:spPr>
        <p:txBody>
          <a:bodyPr wrap="none" rtlCol="0" anchor="ctr">
            <a:spAutoFit/>
          </a:bodyPr>
          <a:lstStyle/>
          <a:p>
            <a:pPr algn="ctr"/>
            <a:r>
              <a:rPr kumimoji="1" lang="en-US" altLang="ja-GB" sz="1200" dirty="0">
                <a:solidFill>
                  <a:srgbClr val="2F2523"/>
                </a:solidFill>
              </a:rPr>
              <a:t>C</a:t>
            </a:r>
            <a:r>
              <a:rPr kumimoji="1" lang="ja-GB" altLang="en-US" sz="1200" dirty="0">
                <a:solidFill>
                  <a:srgbClr val="2F2523"/>
                </a:solidFill>
              </a:rPr>
              <a:t>：</a:t>
            </a:r>
            <a:r>
              <a:rPr kumimoji="1" lang="en-US" altLang="ja-GB" sz="1200" dirty="0">
                <a:solidFill>
                  <a:srgbClr val="2F2523"/>
                </a:solidFill>
              </a:rPr>
              <a:t>4</a:t>
            </a:r>
          </a:p>
        </p:txBody>
      </p:sp>
      <p:sp>
        <p:nvSpPr>
          <p:cNvPr id="50" name="テキスト ボックス 49">
            <a:extLst>
              <a:ext uri="{FF2B5EF4-FFF2-40B4-BE49-F238E27FC236}">
                <a16:creationId xmlns:a16="http://schemas.microsoft.com/office/drawing/2014/main" id="{40877B79-3142-2A9E-3FB8-CB3D306E6145}"/>
              </a:ext>
            </a:extLst>
          </p:cNvPr>
          <p:cNvSpPr txBox="1"/>
          <p:nvPr/>
        </p:nvSpPr>
        <p:spPr>
          <a:xfrm>
            <a:off x="4468025" y="4347069"/>
            <a:ext cx="492443" cy="276999"/>
          </a:xfrm>
          <a:prstGeom prst="rect">
            <a:avLst/>
          </a:prstGeom>
          <a:noFill/>
          <a:ln w="38100">
            <a:noFill/>
          </a:ln>
        </p:spPr>
        <p:txBody>
          <a:bodyPr wrap="none" rtlCol="0" anchor="ctr">
            <a:spAutoFit/>
          </a:bodyPr>
          <a:lstStyle/>
          <a:p>
            <a:pPr algn="ctr"/>
            <a:r>
              <a:rPr kumimoji="1" lang="en-US" altLang="ja-GB" sz="1200" dirty="0">
                <a:solidFill>
                  <a:srgbClr val="2F2523"/>
                </a:solidFill>
              </a:rPr>
              <a:t>E</a:t>
            </a:r>
            <a:r>
              <a:rPr kumimoji="1" lang="ja-GB" altLang="en-US" sz="1200" dirty="0">
                <a:solidFill>
                  <a:srgbClr val="2F2523"/>
                </a:solidFill>
              </a:rPr>
              <a:t>：</a:t>
            </a:r>
            <a:r>
              <a:rPr kumimoji="1" lang="en-US" altLang="ja-GB" sz="1200" dirty="0">
                <a:solidFill>
                  <a:srgbClr val="2F2523"/>
                </a:solidFill>
              </a:rPr>
              <a:t>1</a:t>
            </a:r>
          </a:p>
        </p:txBody>
      </p:sp>
      <p:sp>
        <p:nvSpPr>
          <p:cNvPr id="51" name="テキスト ボックス 50">
            <a:extLst>
              <a:ext uri="{FF2B5EF4-FFF2-40B4-BE49-F238E27FC236}">
                <a16:creationId xmlns:a16="http://schemas.microsoft.com/office/drawing/2014/main" id="{A0C3DD20-5801-A500-A64F-C27CE1B33E14}"/>
              </a:ext>
            </a:extLst>
          </p:cNvPr>
          <p:cNvSpPr txBox="1"/>
          <p:nvPr/>
        </p:nvSpPr>
        <p:spPr>
          <a:xfrm>
            <a:off x="5422082" y="4867276"/>
            <a:ext cx="514885" cy="276999"/>
          </a:xfrm>
          <a:prstGeom prst="rect">
            <a:avLst/>
          </a:prstGeom>
          <a:noFill/>
          <a:ln w="38100">
            <a:noFill/>
          </a:ln>
        </p:spPr>
        <p:txBody>
          <a:bodyPr wrap="none" rtlCol="0" anchor="ctr">
            <a:spAutoFit/>
          </a:bodyPr>
          <a:lstStyle/>
          <a:p>
            <a:pPr algn="ctr"/>
            <a:r>
              <a:rPr kumimoji="1" lang="en-US" altLang="ja-GB" sz="1200" dirty="0">
                <a:solidFill>
                  <a:srgbClr val="2F2523"/>
                </a:solidFill>
              </a:rPr>
              <a:t>G</a:t>
            </a:r>
            <a:r>
              <a:rPr kumimoji="1" lang="ja-GB" altLang="en-US" sz="1200" dirty="0">
                <a:solidFill>
                  <a:srgbClr val="2F2523"/>
                </a:solidFill>
              </a:rPr>
              <a:t>：</a:t>
            </a:r>
            <a:r>
              <a:rPr kumimoji="1" lang="en-US" altLang="ja-GB" sz="1200" dirty="0">
                <a:solidFill>
                  <a:srgbClr val="2F2523"/>
                </a:solidFill>
              </a:rPr>
              <a:t>3</a:t>
            </a:r>
          </a:p>
        </p:txBody>
      </p:sp>
      <p:sp>
        <p:nvSpPr>
          <p:cNvPr id="52" name="テキスト ボックス 51">
            <a:extLst>
              <a:ext uri="{FF2B5EF4-FFF2-40B4-BE49-F238E27FC236}">
                <a16:creationId xmlns:a16="http://schemas.microsoft.com/office/drawing/2014/main" id="{184D7B06-45C1-775E-5D6E-B5C84D818AC4}"/>
              </a:ext>
            </a:extLst>
          </p:cNvPr>
          <p:cNvSpPr txBox="1"/>
          <p:nvPr/>
        </p:nvSpPr>
        <p:spPr>
          <a:xfrm>
            <a:off x="6040558" y="5230627"/>
            <a:ext cx="487633" cy="276999"/>
          </a:xfrm>
          <a:prstGeom prst="rect">
            <a:avLst/>
          </a:prstGeom>
          <a:noFill/>
          <a:ln w="38100">
            <a:noFill/>
          </a:ln>
        </p:spPr>
        <p:txBody>
          <a:bodyPr wrap="none" rtlCol="0" anchor="ctr">
            <a:spAutoFit/>
          </a:bodyPr>
          <a:lstStyle/>
          <a:p>
            <a:pPr algn="ctr"/>
            <a:r>
              <a:rPr kumimoji="1" lang="en-US" altLang="ja-GB" sz="1200" dirty="0">
                <a:solidFill>
                  <a:srgbClr val="2F2523"/>
                </a:solidFill>
              </a:rPr>
              <a:t>F</a:t>
            </a:r>
            <a:r>
              <a:rPr kumimoji="1" lang="ja-GB" altLang="en-US" sz="1200" dirty="0">
                <a:solidFill>
                  <a:srgbClr val="2F2523"/>
                </a:solidFill>
              </a:rPr>
              <a:t>：</a:t>
            </a:r>
            <a:r>
              <a:rPr kumimoji="1" lang="en-US" altLang="ja-GB" sz="1200" dirty="0">
                <a:solidFill>
                  <a:srgbClr val="2F2523"/>
                </a:solidFill>
              </a:rPr>
              <a:t>6</a:t>
            </a:r>
          </a:p>
        </p:txBody>
      </p:sp>
      <p:sp>
        <p:nvSpPr>
          <p:cNvPr id="53" name="テキスト ボックス 52">
            <a:extLst>
              <a:ext uri="{FF2B5EF4-FFF2-40B4-BE49-F238E27FC236}">
                <a16:creationId xmlns:a16="http://schemas.microsoft.com/office/drawing/2014/main" id="{3B579396-DA56-0EDE-2550-A558AE2A9441}"/>
              </a:ext>
            </a:extLst>
          </p:cNvPr>
          <p:cNvSpPr txBox="1"/>
          <p:nvPr/>
        </p:nvSpPr>
        <p:spPr>
          <a:xfrm>
            <a:off x="6976103" y="4626229"/>
            <a:ext cx="513282" cy="276999"/>
          </a:xfrm>
          <a:prstGeom prst="rect">
            <a:avLst/>
          </a:prstGeom>
          <a:noFill/>
          <a:ln w="38100">
            <a:noFill/>
          </a:ln>
        </p:spPr>
        <p:txBody>
          <a:bodyPr wrap="none" rtlCol="0" anchor="ctr">
            <a:spAutoFit/>
          </a:bodyPr>
          <a:lstStyle/>
          <a:p>
            <a:pPr algn="ctr"/>
            <a:r>
              <a:rPr kumimoji="1" lang="en-US" altLang="ja-GB" sz="1200" dirty="0">
                <a:solidFill>
                  <a:srgbClr val="0070C0"/>
                </a:solidFill>
              </a:rPr>
              <a:t>H</a:t>
            </a:r>
            <a:r>
              <a:rPr kumimoji="1" lang="ja-GB" altLang="en-US" sz="1200" dirty="0">
                <a:solidFill>
                  <a:srgbClr val="0070C0"/>
                </a:solidFill>
              </a:rPr>
              <a:t>：</a:t>
            </a:r>
            <a:r>
              <a:rPr kumimoji="1" lang="en-US" altLang="ja-GB" sz="1200" dirty="0">
                <a:solidFill>
                  <a:srgbClr val="0070C0"/>
                </a:solidFill>
              </a:rPr>
              <a:t>2</a:t>
            </a:r>
          </a:p>
        </p:txBody>
      </p:sp>
      <p:sp>
        <p:nvSpPr>
          <p:cNvPr id="54" name="テキスト ボックス 53">
            <a:extLst>
              <a:ext uri="{FF2B5EF4-FFF2-40B4-BE49-F238E27FC236}">
                <a16:creationId xmlns:a16="http://schemas.microsoft.com/office/drawing/2014/main" id="{9A8408C5-049E-66D3-317A-B5271CDF2E54}"/>
              </a:ext>
            </a:extLst>
          </p:cNvPr>
          <p:cNvSpPr txBox="1"/>
          <p:nvPr/>
        </p:nvSpPr>
        <p:spPr>
          <a:xfrm>
            <a:off x="1306447" y="4592978"/>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F8FDFF"/>
                </a:solidFill>
              </a:rPr>
              <a:t>0</a:t>
            </a:r>
          </a:p>
        </p:txBody>
      </p:sp>
      <p:sp>
        <p:nvSpPr>
          <p:cNvPr id="55" name="テキスト ボックス 54">
            <a:extLst>
              <a:ext uri="{FF2B5EF4-FFF2-40B4-BE49-F238E27FC236}">
                <a16:creationId xmlns:a16="http://schemas.microsoft.com/office/drawing/2014/main" id="{9EC0704A-478C-70D7-7A19-95E614DF104A}"/>
              </a:ext>
            </a:extLst>
          </p:cNvPr>
          <p:cNvSpPr txBox="1"/>
          <p:nvPr/>
        </p:nvSpPr>
        <p:spPr>
          <a:xfrm>
            <a:off x="2913178" y="6053444"/>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2</a:t>
            </a:r>
          </a:p>
        </p:txBody>
      </p:sp>
      <p:sp>
        <p:nvSpPr>
          <p:cNvPr id="56" name="テキスト ボックス 55">
            <a:extLst>
              <a:ext uri="{FF2B5EF4-FFF2-40B4-BE49-F238E27FC236}">
                <a16:creationId xmlns:a16="http://schemas.microsoft.com/office/drawing/2014/main" id="{9C5907F7-8A7C-28D9-661B-77CA603D33E1}"/>
              </a:ext>
            </a:extLst>
          </p:cNvPr>
          <p:cNvSpPr txBox="1"/>
          <p:nvPr/>
        </p:nvSpPr>
        <p:spPr>
          <a:xfrm>
            <a:off x="2917783" y="4053046"/>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F8FDFF"/>
                </a:solidFill>
              </a:rPr>
              <a:t>3</a:t>
            </a:r>
          </a:p>
        </p:txBody>
      </p:sp>
      <p:sp>
        <p:nvSpPr>
          <p:cNvPr id="57" name="テキスト ボックス 56">
            <a:extLst>
              <a:ext uri="{FF2B5EF4-FFF2-40B4-BE49-F238E27FC236}">
                <a16:creationId xmlns:a16="http://schemas.microsoft.com/office/drawing/2014/main" id="{9089EC87-E5B2-31A6-5EA0-AAD5396BBECC}"/>
              </a:ext>
            </a:extLst>
          </p:cNvPr>
          <p:cNvSpPr txBox="1"/>
          <p:nvPr/>
        </p:nvSpPr>
        <p:spPr>
          <a:xfrm>
            <a:off x="4537674" y="5521432"/>
            <a:ext cx="263213"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7</a:t>
            </a:r>
          </a:p>
        </p:txBody>
      </p:sp>
      <p:sp>
        <p:nvSpPr>
          <p:cNvPr id="58" name="テキスト ボックス 57">
            <a:extLst>
              <a:ext uri="{FF2B5EF4-FFF2-40B4-BE49-F238E27FC236}">
                <a16:creationId xmlns:a16="http://schemas.microsoft.com/office/drawing/2014/main" id="{882E9435-C0BF-6C8E-5620-456C043A5AB8}"/>
              </a:ext>
            </a:extLst>
          </p:cNvPr>
          <p:cNvSpPr txBox="1"/>
          <p:nvPr/>
        </p:nvSpPr>
        <p:spPr>
          <a:xfrm>
            <a:off x="6105483" y="4053046"/>
            <a:ext cx="341760" cy="276999"/>
          </a:xfrm>
          <a:prstGeom prst="rect">
            <a:avLst/>
          </a:prstGeom>
          <a:solidFill>
            <a:schemeClr val="accent2">
              <a:lumMod val="20000"/>
              <a:lumOff val="80000"/>
            </a:schemeClr>
          </a:solidFill>
          <a:ln w="38100">
            <a:solidFill>
              <a:srgbClr val="2F2523"/>
            </a:solidFill>
          </a:ln>
        </p:spPr>
        <p:txBody>
          <a:bodyPr wrap="none" rtlCol="0" anchor="ctr">
            <a:spAutoFit/>
          </a:bodyPr>
          <a:lstStyle/>
          <a:p>
            <a:pPr algn="ctr"/>
            <a:r>
              <a:rPr kumimoji="1" lang="en-US" altLang="ja-GB" sz="1200" dirty="0">
                <a:solidFill>
                  <a:schemeClr val="accent2"/>
                </a:solidFill>
              </a:rPr>
              <a:t>11</a:t>
            </a:r>
          </a:p>
        </p:txBody>
      </p:sp>
      <p:sp>
        <p:nvSpPr>
          <p:cNvPr id="59" name="テキスト ボックス 58">
            <a:extLst>
              <a:ext uri="{FF2B5EF4-FFF2-40B4-BE49-F238E27FC236}">
                <a16:creationId xmlns:a16="http://schemas.microsoft.com/office/drawing/2014/main" id="{7E334F06-E058-D858-A22D-43C34663A3CD}"/>
              </a:ext>
            </a:extLst>
          </p:cNvPr>
          <p:cNvSpPr txBox="1"/>
          <p:nvPr/>
        </p:nvSpPr>
        <p:spPr>
          <a:xfrm>
            <a:off x="7728935" y="4592978"/>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0070C0"/>
                </a:solidFill>
              </a:rPr>
              <a:t>13</a:t>
            </a:r>
          </a:p>
        </p:txBody>
      </p:sp>
      <p:sp>
        <p:nvSpPr>
          <p:cNvPr id="60" name="テキスト ボックス 59">
            <a:extLst>
              <a:ext uri="{FF2B5EF4-FFF2-40B4-BE49-F238E27FC236}">
                <a16:creationId xmlns:a16="http://schemas.microsoft.com/office/drawing/2014/main" id="{3C68F94B-AEE1-17B2-EE2C-095152AB28ED}"/>
              </a:ext>
            </a:extLst>
          </p:cNvPr>
          <p:cNvSpPr txBox="1"/>
          <p:nvPr/>
        </p:nvSpPr>
        <p:spPr>
          <a:xfrm>
            <a:off x="1308239" y="4334737"/>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0</a:t>
            </a:r>
          </a:p>
        </p:txBody>
      </p:sp>
      <p:sp>
        <p:nvSpPr>
          <p:cNvPr id="61" name="テキスト ボックス 60">
            <a:extLst>
              <a:ext uri="{FF2B5EF4-FFF2-40B4-BE49-F238E27FC236}">
                <a16:creationId xmlns:a16="http://schemas.microsoft.com/office/drawing/2014/main" id="{7238753C-A3C8-4734-168B-67C1D0479205}"/>
              </a:ext>
            </a:extLst>
          </p:cNvPr>
          <p:cNvSpPr txBox="1"/>
          <p:nvPr/>
        </p:nvSpPr>
        <p:spPr>
          <a:xfrm>
            <a:off x="2919575" y="3794805"/>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3</a:t>
            </a:r>
          </a:p>
        </p:txBody>
      </p:sp>
      <p:sp>
        <p:nvSpPr>
          <p:cNvPr id="62" name="テキスト ボックス 61">
            <a:extLst>
              <a:ext uri="{FF2B5EF4-FFF2-40B4-BE49-F238E27FC236}">
                <a16:creationId xmlns:a16="http://schemas.microsoft.com/office/drawing/2014/main" id="{F952306A-041E-AC3B-1E71-1E302D09279D}"/>
              </a:ext>
            </a:extLst>
          </p:cNvPr>
          <p:cNvSpPr txBox="1"/>
          <p:nvPr/>
        </p:nvSpPr>
        <p:spPr>
          <a:xfrm>
            <a:off x="6107275" y="3794805"/>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10</a:t>
            </a:r>
          </a:p>
        </p:txBody>
      </p:sp>
      <p:sp>
        <p:nvSpPr>
          <p:cNvPr id="63" name="テキスト ボックス 62">
            <a:extLst>
              <a:ext uri="{FF2B5EF4-FFF2-40B4-BE49-F238E27FC236}">
                <a16:creationId xmlns:a16="http://schemas.microsoft.com/office/drawing/2014/main" id="{AE7621CF-C8A6-6889-35ED-6367AF3B89AD}"/>
              </a:ext>
            </a:extLst>
          </p:cNvPr>
          <p:cNvSpPr txBox="1"/>
          <p:nvPr/>
        </p:nvSpPr>
        <p:spPr>
          <a:xfrm>
            <a:off x="7730727" y="4334737"/>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13</a:t>
            </a:r>
          </a:p>
        </p:txBody>
      </p:sp>
      <p:sp>
        <p:nvSpPr>
          <p:cNvPr id="64" name="テキスト ボックス 63">
            <a:extLst>
              <a:ext uri="{FF2B5EF4-FFF2-40B4-BE49-F238E27FC236}">
                <a16:creationId xmlns:a16="http://schemas.microsoft.com/office/drawing/2014/main" id="{2291EAB1-FF80-C969-C579-CA353292B04F}"/>
              </a:ext>
            </a:extLst>
          </p:cNvPr>
          <p:cNvSpPr txBox="1"/>
          <p:nvPr/>
        </p:nvSpPr>
        <p:spPr>
          <a:xfrm>
            <a:off x="2906023" y="6321852"/>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F8FDFF"/>
                </a:solidFill>
              </a:rPr>
              <a:t>2</a:t>
            </a:r>
          </a:p>
        </p:txBody>
      </p:sp>
      <p:sp>
        <p:nvSpPr>
          <p:cNvPr id="65" name="テキスト ボックス 64">
            <a:extLst>
              <a:ext uri="{FF2B5EF4-FFF2-40B4-BE49-F238E27FC236}">
                <a16:creationId xmlns:a16="http://schemas.microsoft.com/office/drawing/2014/main" id="{00DC0F06-703A-5B9B-B65F-36166BDE9EF9}"/>
              </a:ext>
            </a:extLst>
          </p:cNvPr>
          <p:cNvSpPr txBox="1"/>
          <p:nvPr/>
        </p:nvSpPr>
        <p:spPr>
          <a:xfrm>
            <a:off x="4530519" y="5789840"/>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F8FDFF"/>
                </a:solidFill>
              </a:rPr>
              <a:t>7</a:t>
            </a:r>
          </a:p>
        </p:txBody>
      </p:sp>
      <p:sp>
        <p:nvSpPr>
          <p:cNvPr id="68" name="テキスト ボックス 67">
            <a:extLst>
              <a:ext uri="{FF2B5EF4-FFF2-40B4-BE49-F238E27FC236}">
                <a16:creationId xmlns:a16="http://schemas.microsoft.com/office/drawing/2014/main" id="{CEEE0503-BBD0-F43A-0325-7246DFC1A487}"/>
              </a:ext>
            </a:extLst>
          </p:cNvPr>
          <p:cNvSpPr txBox="1"/>
          <p:nvPr/>
        </p:nvSpPr>
        <p:spPr>
          <a:xfrm>
            <a:off x="3514525" y="6344090"/>
            <a:ext cx="4999767" cy="307777"/>
          </a:xfrm>
          <a:prstGeom prst="rect">
            <a:avLst/>
          </a:prstGeom>
          <a:noFill/>
        </p:spPr>
        <p:txBody>
          <a:bodyPr wrap="none" rtlCol="0">
            <a:spAutoFit/>
          </a:bodyPr>
          <a:lstStyle/>
          <a:p>
            <a:pPr algn="ctr"/>
            <a:r>
              <a:rPr lang="ja-GB" altLang="en-US" sz="1400" dirty="0"/>
              <a:t>記法：</a:t>
            </a:r>
            <a:r>
              <a:rPr kumimoji="1" lang="ja-GB" altLang="en-US" sz="1400" dirty="0"/>
              <a:t>二つの四角枠を組み合わせて，上に</a:t>
            </a:r>
            <a:r>
              <a:rPr kumimoji="1" lang="en-US" altLang="ja-GB" sz="1400" dirty="0"/>
              <a:t>ET</a:t>
            </a:r>
            <a:r>
              <a:rPr kumimoji="1" lang="ja-GB" altLang="en-US" sz="1400" dirty="0"/>
              <a:t>，下に</a:t>
            </a:r>
            <a:r>
              <a:rPr kumimoji="1" lang="en-US" altLang="ja-GB" sz="1400" dirty="0"/>
              <a:t>LT</a:t>
            </a:r>
            <a:r>
              <a:rPr kumimoji="1" lang="ja-GB" altLang="en-US" sz="1400" dirty="0"/>
              <a:t>を記入</a:t>
            </a:r>
          </a:p>
        </p:txBody>
      </p:sp>
      <p:sp>
        <p:nvSpPr>
          <p:cNvPr id="4" name="テキスト ボックス 3">
            <a:extLst>
              <a:ext uri="{FF2B5EF4-FFF2-40B4-BE49-F238E27FC236}">
                <a16:creationId xmlns:a16="http://schemas.microsoft.com/office/drawing/2014/main" id="{E28190C4-EA0A-2A24-34B0-5A1C29127DA4}"/>
              </a:ext>
            </a:extLst>
          </p:cNvPr>
          <p:cNvSpPr txBox="1"/>
          <p:nvPr/>
        </p:nvSpPr>
        <p:spPr>
          <a:xfrm>
            <a:off x="8321002" y="4023904"/>
            <a:ext cx="409086" cy="369332"/>
          </a:xfrm>
          <a:prstGeom prst="rect">
            <a:avLst/>
          </a:prstGeom>
          <a:noFill/>
          <a:ln w="38100">
            <a:noFill/>
          </a:ln>
        </p:spPr>
        <p:txBody>
          <a:bodyPr wrap="none" rtlCol="0" anchor="ctr">
            <a:spAutoFit/>
          </a:bodyPr>
          <a:lstStyle/>
          <a:p>
            <a:pPr algn="ctr"/>
            <a:r>
              <a:rPr kumimoji="1" lang="en-US" altLang="ja-GB" dirty="0">
                <a:solidFill>
                  <a:srgbClr val="2F2523"/>
                </a:solidFill>
              </a:rPr>
              <a:t>ET</a:t>
            </a:r>
          </a:p>
        </p:txBody>
      </p:sp>
      <p:sp>
        <p:nvSpPr>
          <p:cNvPr id="5" name="テキスト ボックス 4">
            <a:extLst>
              <a:ext uri="{FF2B5EF4-FFF2-40B4-BE49-F238E27FC236}">
                <a16:creationId xmlns:a16="http://schemas.microsoft.com/office/drawing/2014/main" id="{10ED2C63-D87F-6D5F-98E1-5D18EFB912FF}"/>
              </a:ext>
            </a:extLst>
          </p:cNvPr>
          <p:cNvSpPr txBox="1"/>
          <p:nvPr/>
        </p:nvSpPr>
        <p:spPr>
          <a:xfrm>
            <a:off x="8336679" y="4741273"/>
            <a:ext cx="377732" cy="369332"/>
          </a:xfrm>
          <a:prstGeom prst="rect">
            <a:avLst/>
          </a:prstGeom>
          <a:noFill/>
          <a:ln w="38100">
            <a:noFill/>
          </a:ln>
        </p:spPr>
        <p:txBody>
          <a:bodyPr wrap="none" rtlCol="0" anchor="ctr">
            <a:spAutoFit/>
          </a:bodyPr>
          <a:lstStyle/>
          <a:p>
            <a:pPr algn="ctr"/>
            <a:r>
              <a:rPr kumimoji="1" lang="en-US" altLang="ja-GB" dirty="0">
                <a:solidFill>
                  <a:srgbClr val="2F2523"/>
                </a:solidFill>
              </a:rPr>
              <a:t>LT</a:t>
            </a:r>
          </a:p>
        </p:txBody>
      </p:sp>
      <p:cxnSp>
        <p:nvCxnSpPr>
          <p:cNvPr id="6" name="直線コネクタ 5">
            <a:extLst>
              <a:ext uri="{FF2B5EF4-FFF2-40B4-BE49-F238E27FC236}">
                <a16:creationId xmlns:a16="http://schemas.microsoft.com/office/drawing/2014/main" id="{6A92675C-879D-31CB-AD81-66F35DAD091B}"/>
              </a:ext>
            </a:extLst>
          </p:cNvPr>
          <p:cNvCxnSpPr>
            <a:cxnSpLocks/>
            <a:endCxn id="4" idx="1"/>
          </p:cNvCxnSpPr>
          <p:nvPr/>
        </p:nvCxnSpPr>
        <p:spPr>
          <a:xfrm flipV="1">
            <a:off x="8072487" y="4208570"/>
            <a:ext cx="248515" cy="264667"/>
          </a:xfrm>
          <a:prstGeom prst="line">
            <a:avLst/>
          </a:prstGeom>
        </p:spPr>
        <p:style>
          <a:lnRef idx="1">
            <a:schemeClr val="dk1"/>
          </a:lnRef>
          <a:fillRef idx="0">
            <a:schemeClr val="dk1"/>
          </a:fillRef>
          <a:effectRef idx="0">
            <a:schemeClr val="dk1"/>
          </a:effectRef>
          <a:fontRef idx="minor">
            <a:schemeClr val="tx1"/>
          </a:fontRef>
        </p:style>
      </p:cxnSp>
      <p:cxnSp>
        <p:nvCxnSpPr>
          <p:cNvPr id="7" name="直線コネクタ 6">
            <a:extLst>
              <a:ext uri="{FF2B5EF4-FFF2-40B4-BE49-F238E27FC236}">
                <a16:creationId xmlns:a16="http://schemas.microsoft.com/office/drawing/2014/main" id="{A93678C5-A97B-3F92-05F5-F8FF3050CD5D}"/>
              </a:ext>
            </a:extLst>
          </p:cNvPr>
          <p:cNvCxnSpPr>
            <a:cxnSpLocks/>
            <a:endCxn id="5" idx="1"/>
          </p:cNvCxnSpPr>
          <p:nvPr/>
        </p:nvCxnSpPr>
        <p:spPr>
          <a:xfrm>
            <a:off x="8070695" y="4731478"/>
            <a:ext cx="265984" cy="194461"/>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74730100"/>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A4DF8-C39B-D85B-A6C4-7BB059E9B0F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ABDD6A3-52F8-36A4-7A3F-73C907ACB891}"/>
              </a:ext>
            </a:extLst>
          </p:cNvPr>
          <p:cNvSpPr>
            <a:spLocks noGrp="1"/>
          </p:cNvSpPr>
          <p:nvPr>
            <p:ph type="title"/>
          </p:nvPr>
        </p:nvSpPr>
        <p:spPr/>
        <p:txBody>
          <a:bodyPr>
            <a:normAutofit/>
          </a:bodyPr>
          <a:lstStyle/>
          <a:p>
            <a:r>
              <a:rPr lang="ja-JP" altLang="en-US"/>
              <a:t>最</a:t>
            </a:r>
            <a:r>
              <a:rPr lang="ja-GB" altLang="en-US" dirty="0"/>
              <a:t>遅</a:t>
            </a:r>
            <a:r>
              <a:rPr lang="ja-JP" altLang="en-US"/>
              <a:t>結合点時刻（</a:t>
            </a:r>
            <a:r>
              <a:rPr lang="en-US" altLang="ja-JP" dirty="0"/>
              <a:t>LT</a:t>
            </a:r>
            <a:r>
              <a:rPr lang="ja-JP" altLang="en-US"/>
              <a:t>：</a:t>
            </a:r>
            <a:r>
              <a:rPr lang="en-US" altLang="ja-JP" dirty="0"/>
              <a:t>latest node time</a:t>
            </a:r>
            <a:r>
              <a:rPr lang="ja-JP" altLang="en-US"/>
              <a:t>）</a:t>
            </a:r>
            <a:endParaRPr kumimoji="1" lang="ja-GB" altLang="en-US" dirty="0"/>
          </a:p>
        </p:txBody>
      </p:sp>
      <p:sp>
        <p:nvSpPr>
          <p:cNvPr id="3" name="コンテンツ プレースホルダー 2">
            <a:extLst>
              <a:ext uri="{FF2B5EF4-FFF2-40B4-BE49-F238E27FC236}">
                <a16:creationId xmlns:a16="http://schemas.microsoft.com/office/drawing/2014/main" id="{D17089BB-A4C1-309B-4041-E980625076C7}"/>
              </a:ext>
            </a:extLst>
          </p:cNvPr>
          <p:cNvSpPr>
            <a:spLocks noGrp="1"/>
          </p:cNvSpPr>
          <p:nvPr>
            <p:ph idx="1"/>
          </p:nvPr>
        </p:nvSpPr>
        <p:spPr/>
        <p:txBody>
          <a:bodyPr/>
          <a:lstStyle/>
          <a:p>
            <a:pPr marL="0" indent="0">
              <a:buNone/>
            </a:pPr>
            <a:r>
              <a:rPr kumimoji="1" lang="ja-GB" altLang="en-US" dirty="0"/>
              <a:t>結合点を最も遅く出発して，全体に遅延を出さない限界の時刻</a:t>
            </a:r>
            <a:endParaRPr kumimoji="1" lang="en-US" altLang="ja-GB" dirty="0"/>
          </a:p>
          <a:p>
            <a:pPr marL="0" indent="0">
              <a:buNone/>
            </a:pPr>
            <a:r>
              <a:rPr lang="en-US" altLang="ja-GB" sz="2000" dirty="0"/>
              <a:t>=</a:t>
            </a:r>
            <a:r>
              <a:rPr lang="ja-GB" altLang="en-US" sz="2000" dirty="0"/>
              <a:t>各作業の終点の最早結合点時刻から作業時間を引いた値</a:t>
            </a:r>
            <a:endParaRPr kumimoji="1" lang="en-US" altLang="ja-GB" sz="2000" dirty="0"/>
          </a:p>
          <a:p>
            <a:pPr marL="914400" lvl="1" indent="-457200">
              <a:buFont typeface="+mj-lt"/>
              <a:buAutoNum type="arabicPeriod"/>
            </a:pPr>
            <a:r>
              <a:rPr lang="ja-GB" altLang="en-US" dirty="0">
                <a:solidFill>
                  <a:srgbClr val="2F2523"/>
                </a:solidFill>
              </a:rPr>
              <a:t>終了地点の</a:t>
            </a:r>
            <a:r>
              <a:rPr lang="en-US" altLang="ja-GB" dirty="0">
                <a:solidFill>
                  <a:srgbClr val="2F2523"/>
                </a:solidFill>
              </a:rPr>
              <a:t>LT</a:t>
            </a:r>
            <a:r>
              <a:rPr lang="ja-GB" altLang="en-US" dirty="0">
                <a:solidFill>
                  <a:srgbClr val="2F2523"/>
                </a:solidFill>
              </a:rPr>
              <a:t>を</a:t>
            </a:r>
            <a:r>
              <a:rPr lang="en-US" altLang="ja-GB" dirty="0">
                <a:solidFill>
                  <a:srgbClr val="2F2523"/>
                </a:solidFill>
              </a:rPr>
              <a:t>ET</a:t>
            </a:r>
            <a:r>
              <a:rPr lang="ja-GB" altLang="en-US" dirty="0">
                <a:solidFill>
                  <a:srgbClr val="2F2523"/>
                </a:solidFill>
              </a:rPr>
              <a:t>と同じ値に設定</a:t>
            </a:r>
            <a:endParaRPr lang="en-US" altLang="ja-GB" dirty="0">
              <a:solidFill>
                <a:srgbClr val="2F2523"/>
              </a:solidFill>
            </a:endParaRPr>
          </a:p>
          <a:p>
            <a:pPr lvl="4"/>
            <a:endParaRPr lang="en-US" altLang="ja-GB" dirty="0">
              <a:solidFill>
                <a:srgbClr val="2F2523"/>
              </a:solidFill>
            </a:endParaRPr>
          </a:p>
          <a:p>
            <a:pPr marL="914400" lvl="1" indent="-457200">
              <a:buFont typeface="+mj-lt"/>
              <a:buAutoNum type="arabicPeriod"/>
            </a:pPr>
            <a:r>
              <a:rPr lang="ja-GB" altLang="en-US" dirty="0">
                <a:solidFill>
                  <a:srgbClr val="2F2523"/>
                </a:solidFill>
              </a:rPr>
              <a:t>各結合点の</a:t>
            </a:r>
            <a:r>
              <a:rPr lang="en-US" altLang="ja-GB" dirty="0">
                <a:solidFill>
                  <a:srgbClr val="2F2523"/>
                </a:solidFill>
              </a:rPr>
              <a:t>LT</a:t>
            </a:r>
            <a:r>
              <a:rPr lang="ja-GB" altLang="en-US" dirty="0">
                <a:solidFill>
                  <a:srgbClr val="2F2523"/>
                </a:solidFill>
              </a:rPr>
              <a:t>を計算</a:t>
            </a:r>
            <a:endParaRPr lang="en-US" altLang="ja-GB" dirty="0">
              <a:solidFill>
                <a:srgbClr val="2F2523"/>
              </a:solidFill>
            </a:endParaRPr>
          </a:p>
          <a:p>
            <a:pPr lvl="2"/>
            <a:r>
              <a:rPr lang="ja-GB" altLang="en-US" dirty="0">
                <a:solidFill>
                  <a:srgbClr val="2F2523"/>
                </a:solidFill>
              </a:rPr>
              <a:t>始点の</a:t>
            </a:r>
            <a:r>
              <a:rPr lang="en-US" altLang="ja-GB" dirty="0">
                <a:solidFill>
                  <a:srgbClr val="2F2523"/>
                </a:solidFill>
              </a:rPr>
              <a:t>LT = </a:t>
            </a:r>
            <a:r>
              <a:rPr lang="ja-GB" altLang="en-US" dirty="0">
                <a:solidFill>
                  <a:srgbClr val="2F2523"/>
                </a:solidFill>
              </a:rPr>
              <a:t>終点の</a:t>
            </a:r>
            <a:r>
              <a:rPr lang="en-US" altLang="ja-GB" dirty="0">
                <a:solidFill>
                  <a:srgbClr val="2F2523"/>
                </a:solidFill>
              </a:rPr>
              <a:t>LT - </a:t>
            </a:r>
            <a:r>
              <a:rPr lang="ja-GB" altLang="en-US" dirty="0">
                <a:solidFill>
                  <a:srgbClr val="2F2523"/>
                </a:solidFill>
              </a:rPr>
              <a:t>作業日数</a:t>
            </a:r>
            <a:endParaRPr lang="en-US" altLang="ja-GB" dirty="0">
              <a:solidFill>
                <a:srgbClr val="2F2523"/>
              </a:solidFill>
            </a:endParaRPr>
          </a:p>
          <a:p>
            <a:pPr lvl="2"/>
            <a:r>
              <a:rPr lang="ja-GB" altLang="en-US" dirty="0">
                <a:solidFill>
                  <a:srgbClr val="0070C0"/>
                </a:solidFill>
              </a:rPr>
              <a:t>複数の経路がある場合は，最小の値を</a:t>
            </a:r>
            <a:r>
              <a:rPr lang="en-US" altLang="ja-GB" dirty="0">
                <a:solidFill>
                  <a:srgbClr val="0070C0"/>
                </a:solidFill>
              </a:rPr>
              <a:t>LT</a:t>
            </a:r>
            <a:r>
              <a:rPr lang="ja-GB" altLang="en-US" dirty="0">
                <a:solidFill>
                  <a:srgbClr val="0070C0"/>
                </a:solidFill>
              </a:rPr>
              <a:t>とする</a:t>
            </a:r>
            <a:br>
              <a:rPr lang="en-US" altLang="ja-GB" dirty="0">
                <a:solidFill>
                  <a:srgbClr val="2F2523"/>
                </a:solidFill>
              </a:rPr>
            </a:br>
            <a:r>
              <a:rPr lang="ja-GB" altLang="en-US" sz="1600" dirty="0">
                <a:solidFill>
                  <a:srgbClr val="2F2523"/>
                </a:solidFill>
              </a:rPr>
              <a:t>（</a:t>
            </a:r>
            <a:r>
              <a:rPr kumimoji="1" lang="ja-GB" altLang="en-US" sz="1600" dirty="0">
                <a:solidFill>
                  <a:srgbClr val="2F2523"/>
                </a:solidFill>
              </a:rPr>
              <a:t>早く出発しないと時間がかかる方の作業に遅延が生じるため）</a:t>
            </a:r>
            <a:endParaRPr kumimoji="1" lang="ja-GB" altLang="en-US" dirty="0">
              <a:solidFill>
                <a:srgbClr val="2F2523"/>
              </a:solidFill>
            </a:endParaRPr>
          </a:p>
        </p:txBody>
      </p:sp>
      <p:sp>
        <p:nvSpPr>
          <p:cNvPr id="32" name="円/楕円 31">
            <a:extLst>
              <a:ext uri="{FF2B5EF4-FFF2-40B4-BE49-F238E27FC236}">
                <a16:creationId xmlns:a16="http://schemas.microsoft.com/office/drawing/2014/main" id="{9B264F2C-8054-2789-4C61-5DB11341E42E}"/>
              </a:ext>
            </a:extLst>
          </p:cNvPr>
          <p:cNvSpPr>
            <a:spLocks noChangeAspect="1"/>
          </p:cNvSpPr>
          <p:nvPr/>
        </p:nvSpPr>
        <p:spPr>
          <a:xfrm>
            <a:off x="1168089" y="492593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solidFill>
                <a:srgbClr val="2F2523"/>
              </a:solidFill>
            </a:endParaRPr>
          </a:p>
        </p:txBody>
      </p:sp>
      <p:sp>
        <p:nvSpPr>
          <p:cNvPr id="33" name="円/楕円 32">
            <a:extLst>
              <a:ext uri="{FF2B5EF4-FFF2-40B4-BE49-F238E27FC236}">
                <a16:creationId xmlns:a16="http://schemas.microsoft.com/office/drawing/2014/main" id="{10598B37-B975-4A08-50B2-8150D69D882E}"/>
              </a:ext>
            </a:extLst>
          </p:cNvPr>
          <p:cNvSpPr>
            <a:spLocks noChangeAspect="1"/>
          </p:cNvSpPr>
          <p:nvPr/>
        </p:nvSpPr>
        <p:spPr>
          <a:xfrm>
            <a:off x="2774820" y="4386007"/>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sp>
        <p:nvSpPr>
          <p:cNvPr id="34" name="円/楕円 33">
            <a:extLst>
              <a:ext uri="{FF2B5EF4-FFF2-40B4-BE49-F238E27FC236}">
                <a16:creationId xmlns:a16="http://schemas.microsoft.com/office/drawing/2014/main" id="{A96AB9D6-73F4-171D-DAC1-2422E69AEC14}"/>
              </a:ext>
            </a:extLst>
          </p:cNvPr>
          <p:cNvSpPr>
            <a:spLocks noChangeAspect="1"/>
          </p:cNvSpPr>
          <p:nvPr/>
        </p:nvSpPr>
        <p:spPr>
          <a:xfrm>
            <a:off x="2774820" y="5450814"/>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sp>
        <p:nvSpPr>
          <p:cNvPr id="35" name="円/楕円 34">
            <a:extLst>
              <a:ext uri="{FF2B5EF4-FFF2-40B4-BE49-F238E27FC236}">
                <a16:creationId xmlns:a16="http://schemas.microsoft.com/office/drawing/2014/main" id="{FE2202B1-FD5A-4BDA-5692-73BECA49B92C}"/>
              </a:ext>
            </a:extLst>
          </p:cNvPr>
          <p:cNvSpPr>
            <a:spLocks noChangeAspect="1"/>
          </p:cNvSpPr>
          <p:nvPr/>
        </p:nvSpPr>
        <p:spPr>
          <a:xfrm>
            <a:off x="4398969" y="492593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sp>
        <p:nvSpPr>
          <p:cNvPr id="36" name="円/楕円 35">
            <a:extLst>
              <a:ext uri="{FF2B5EF4-FFF2-40B4-BE49-F238E27FC236}">
                <a16:creationId xmlns:a16="http://schemas.microsoft.com/office/drawing/2014/main" id="{6733471D-33C4-8425-9259-43C1AF6B0397}"/>
              </a:ext>
            </a:extLst>
          </p:cNvPr>
          <p:cNvSpPr>
            <a:spLocks noChangeAspect="1"/>
          </p:cNvSpPr>
          <p:nvPr/>
        </p:nvSpPr>
        <p:spPr>
          <a:xfrm>
            <a:off x="6014409" y="4386007"/>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sp>
        <p:nvSpPr>
          <p:cNvPr id="37" name="円/楕円 36">
            <a:extLst>
              <a:ext uri="{FF2B5EF4-FFF2-40B4-BE49-F238E27FC236}">
                <a16:creationId xmlns:a16="http://schemas.microsoft.com/office/drawing/2014/main" id="{18AF1201-A3D5-77F3-2AAB-034A2BDE549B}"/>
              </a:ext>
            </a:extLst>
          </p:cNvPr>
          <p:cNvSpPr>
            <a:spLocks noChangeAspect="1"/>
          </p:cNvSpPr>
          <p:nvPr/>
        </p:nvSpPr>
        <p:spPr>
          <a:xfrm>
            <a:off x="7629849" y="492593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cxnSp>
        <p:nvCxnSpPr>
          <p:cNvPr id="38" name="直線矢印コネクタ 37">
            <a:extLst>
              <a:ext uri="{FF2B5EF4-FFF2-40B4-BE49-F238E27FC236}">
                <a16:creationId xmlns:a16="http://schemas.microsoft.com/office/drawing/2014/main" id="{1A8CDBAB-8E4A-808A-A1EB-22EC759A48C4}"/>
              </a:ext>
            </a:extLst>
          </p:cNvPr>
          <p:cNvCxnSpPr>
            <a:cxnSpLocks/>
            <a:stCxn id="32" idx="6"/>
            <a:endCxn id="33" idx="2"/>
          </p:cNvCxnSpPr>
          <p:nvPr/>
        </p:nvCxnSpPr>
        <p:spPr>
          <a:xfrm flipV="1">
            <a:off x="1708021" y="4655973"/>
            <a:ext cx="1066799"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915BA99F-2E4E-3251-0737-ED01C1C21AB1}"/>
              </a:ext>
            </a:extLst>
          </p:cNvPr>
          <p:cNvCxnSpPr>
            <a:cxnSpLocks/>
            <a:stCxn id="32" idx="6"/>
            <a:endCxn id="34" idx="2"/>
          </p:cNvCxnSpPr>
          <p:nvPr/>
        </p:nvCxnSpPr>
        <p:spPr>
          <a:xfrm>
            <a:off x="1708021" y="5195905"/>
            <a:ext cx="1066799"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F215E8E1-646C-3AA2-E2B6-F6B278FF57E2}"/>
              </a:ext>
            </a:extLst>
          </p:cNvPr>
          <p:cNvCxnSpPr>
            <a:cxnSpLocks/>
            <a:stCxn id="33" idx="6"/>
            <a:endCxn id="36" idx="2"/>
          </p:cNvCxnSpPr>
          <p:nvPr/>
        </p:nvCxnSpPr>
        <p:spPr>
          <a:xfrm>
            <a:off x="3314752" y="4655973"/>
            <a:ext cx="2699657"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9E1EA377-ED45-0820-95C3-07D4AE520EDE}"/>
              </a:ext>
            </a:extLst>
          </p:cNvPr>
          <p:cNvCxnSpPr>
            <a:cxnSpLocks/>
            <a:stCxn id="34" idx="6"/>
            <a:endCxn id="35" idx="2"/>
          </p:cNvCxnSpPr>
          <p:nvPr/>
        </p:nvCxnSpPr>
        <p:spPr>
          <a:xfrm flipV="1">
            <a:off x="3314752" y="5195905"/>
            <a:ext cx="1084217"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708DA4B6-21A5-8226-395B-C0CF68BD92D9}"/>
              </a:ext>
            </a:extLst>
          </p:cNvPr>
          <p:cNvCxnSpPr>
            <a:cxnSpLocks/>
            <a:stCxn id="33" idx="6"/>
            <a:endCxn id="35" idx="2"/>
          </p:cNvCxnSpPr>
          <p:nvPr/>
        </p:nvCxnSpPr>
        <p:spPr>
          <a:xfrm>
            <a:off x="3314752" y="4655973"/>
            <a:ext cx="1084217"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72E8762A-2A1A-8469-88F1-608F10F960A1}"/>
              </a:ext>
            </a:extLst>
          </p:cNvPr>
          <p:cNvCxnSpPr>
            <a:cxnSpLocks/>
            <a:stCxn id="35" idx="6"/>
            <a:endCxn id="36" idx="2"/>
          </p:cNvCxnSpPr>
          <p:nvPr/>
        </p:nvCxnSpPr>
        <p:spPr>
          <a:xfrm flipV="1">
            <a:off x="4938901" y="4655973"/>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7E2CEF91-4C0D-2C3A-9F3C-15BE81243CB5}"/>
              </a:ext>
            </a:extLst>
          </p:cNvPr>
          <p:cNvCxnSpPr>
            <a:cxnSpLocks/>
            <a:endCxn id="37" idx="2"/>
          </p:cNvCxnSpPr>
          <p:nvPr/>
        </p:nvCxnSpPr>
        <p:spPr>
          <a:xfrm>
            <a:off x="4938901" y="5195905"/>
            <a:ext cx="2690948"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00113980-7B59-0908-8819-61DA447CAAAA}"/>
              </a:ext>
            </a:extLst>
          </p:cNvPr>
          <p:cNvCxnSpPr>
            <a:cxnSpLocks/>
            <a:stCxn id="36" idx="6"/>
            <a:endCxn id="37" idx="2"/>
          </p:cNvCxnSpPr>
          <p:nvPr/>
        </p:nvCxnSpPr>
        <p:spPr>
          <a:xfrm>
            <a:off x="6554341" y="4655973"/>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5EE4F36E-7AAA-39F7-91EA-4B54C741733C}"/>
              </a:ext>
            </a:extLst>
          </p:cNvPr>
          <p:cNvSpPr txBox="1"/>
          <p:nvPr/>
        </p:nvSpPr>
        <p:spPr>
          <a:xfrm>
            <a:off x="1891868" y="4602773"/>
            <a:ext cx="506870" cy="276999"/>
          </a:xfrm>
          <a:prstGeom prst="rect">
            <a:avLst/>
          </a:prstGeom>
          <a:noFill/>
          <a:ln w="38100">
            <a:noFill/>
          </a:ln>
        </p:spPr>
        <p:txBody>
          <a:bodyPr wrap="none" rtlCol="0" anchor="ctr">
            <a:spAutoFit/>
          </a:bodyPr>
          <a:lstStyle/>
          <a:p>
            <a:pPr algn="ctr"/>
            <a:r>
              <a:rPr kumimoji="1" lang="en-US" altLang="ja-GB" sz="1200" dirty="0">
                <a:solidFill>
                  <a:srgbClr val="2F2523"/>
                </a:solidFill>
              </a:rPr>
              <a:t>A</a:t>
            </a:r>
            <a:r>
              <a:rPr kumimoji="1" lang="ja-GB" altLang="en-US" sz="1200" dirty="0">
                <a:solidFill>
                  <a:srgbClr val="2F2523"/>
                </a:solidFill>
              </a:rPr>
              <a:t>：</a:t>
            </a:r>
            <a:r>
              <a:rPr kumimoji="1" lang="en-US" altLang="ja-GB" sz="1200" dirty="0">
                <a:solidFill>
                  <a:srgbClr val="2F2523"/>
                </a:solidFill>
              </a:rPr>
              <a:t>3</a:t>
            </a:r>
          </a:p>
        </p:txBody>
      </p:sp>
      <p:sp>
        <p:nvSpPr>
          <p:cNvPr id="47" name="テキスト ボックス 46">
            <a:extLst>
              <a:ext uri="{FF2B5EF4-FFF2-40B4-BE49-F238E27FC236}">
                <a16:creationId xmlns:a16="http://schemas.microsoft.com/office/drawing/2014/main" id="{7710CFC2-AD7C-B1AC-AF82-3B6CC9AD3424}"/>
              </a:ext>
            </a:extLst>
          </p:cNvPr>
          <p:cNvSpPr txBox="1"/>
          <p:nvPr/>
        </p:nvSpPr>
        <p:spPr>
          <a:xfrm>
            <a:off x="1895075" y="5553194"/>
            <a:ext cx="500458" cy="276999"/>
          </a:xfrm>
          <a:prstGeom prst="rect">
            <a:avLst/>
          </a:prstGeom>
          <a:noFill/>
          <a:ln w="38100">
            <a:noFill/>
          </a:ln>
        </p:spPr>
        <p:txBody>
          <a:bodyPr wrap="none" rtlCol="0" anchor="ctr">
            <a:spAutoFit/>
          </a:bodyPr>
          <a:lstStyle/>
          <a:p>
            <a:pPr algn="ctr"/>
            <a:r>
              <a:rPr kumimoji="1" lang="en-US" altLang="ja-GB" sz="1200" dirty="0">
                <a:solidFill>
                  <a:srgbClr val="2F2523"/>
                </a:solidFill>
              </a:rPr>
              <a:t>B</a:t>
            </a:r>
            <a:r>
              <a:rPr kumimoji="1" lang="ja-GB" altLang="en-US" sz="1200" dirty="0">
                <a:solidFill>
                  <a:srgbClr val="2F2523"/>
                </a:solidFill>
              </a:rPr>
              <a:t>：</a:t>
            </a:r>
            <a:r>
              <a:rPr kumimoji="1" lang="en-US" altLang="ja-GB" sz="1200" dirty="0">
                <a:solidFill>
                  <a:srgbClr val="2F2523"/>
                </a:solidFill>
              </a:rPr>
              <a:t>2</a:t>
            </a:r>
          </a:p>
        </p:txBody>
      </p:sp>
      <p:sp>
        <p:nvSpPr>
          <p:cNvPr id="48" name="テキスト ボックス 47">
            <a:extLst>
              <a:ext uri="{FF2B5EF4-FFF2-40B4-BE49-F238E27FC236}">
                <a16:creationId xmlns:a16="http://schemas.microsoft.com/office/drawing/2014/main" id="{2E870947-859C-0DF6-ABC5-660FE948BFF6}"/>
              </a:ext>
            </a:extLst>
          </p:cNvPr>
          <p:cNvSpPr txBox="1"/>
          <p:nvPr/>
        </p:nvSpPr>
        <p:spPr>
          <a:xfrm>
            <a:off x="3438176" y="5597336"/>
            <a:ext cx="511679" cy="276999"/>
          </a:xfrm>
          <a:prstGeom prst="rect">
            <a:avLst/>
          </a:prstGeom>
          <a:noFill/>
          <a:ln w="38100">
            <a:noFill/>
          </a:ln>
        </p:spPr>
        <p:txBody>
          <a:bodyPr wrap="none" rtlCol="0" anchor="ctr">
            <a:spAutoFit/>
          </a:bodyPr>
          <a:lstStyle/>
          <a:p>
            <a:pPr algn="ctr"/>
            <a:r>
              <a:rPr kumimoji="1" lang="en-US" altLang="ja-GB" sz="1200" dirty="0">
                <a:solidFill>
                  <a:srgbClr val="2F2523"/>
                </a:solidFill>
              </a:rPr>
              <a:t>D</a:t>
            </a:r>
            <a:r>
              <a:rPr kumimoji="1" lang="ja-GB" altLang="en-US" sz="1200" dirty="0">
                <a:solidFill>
                  <a:srgbClr val="2F2523"/>
                </a:solidFill>
              </a:rPr>
              <a:t>：</a:t>
            </a:r>
            <a:r>
              <a:rPr kumimoji="1" lang="en-US" altLang="ja-GB" sz="1200" dirty="0">
                <a:solidFill>
                  <a:srgbClr val="2F2523"/>
                </a:solidFill>
              </a:rPr>
              <a:t>5</a:t>
            </a:r>
          </a:p>
        </p:txBody>
      </p:sp>
      <p:sp>
        <p:nvSpPr>
          <p:cNvPr id="49" name="テキスト ボックス 48">
            <a:extLst>
              <a:ext uri="{FF2B5EF4-FFF2-40B4-BE49-F238E27FC236}">
                <a16:creationId xmlns:a16="http://schemas.microsoft.com/office/drawing/2014/main" id="{614BE8F7-5E19-CCEF-CD22-31C79AFCD307}"/>
              </a:ext>
            </a:extLst>
          </p:cNvPr>
          <p:cNvSpPr txBox="1"/>
          <p:nvPr/>
        </p:nvSpPr>
        <p:spPr>
          <a:xfrm>
            <a:off x="3444589" y="4896967"/>
            <a:ext cx="498855" cy="276999"/>
          </a:xfrm>
          <a:prstGeom prst="rect">
            <a:avLst/>
          </a:prstGeom>
          <a:noFill/>
          <a:ln w="38100">
            <a:noFill/>
          </a:ln>
        </p:spPr>
        <p:txBody>
          <a:bodyPr wrap="none" rtlCol="0" anchor="ctr">
            <a:spAutoFit/>
          </a:bodyPr>
          <a:lstStyle/>
          <a:p>
            <a:pPr algn="ctr"/>
            <a:r>
              <a:rPr kumimoji="1" lang="en-US" altLang="ja-GB" sz="1200" dirty="0">
                <a:solidFill>
                  <a:srgbClr val="2F2523"/>
                </a:solidFill>
              </a:rPr>
              <a:t>C</a:t>
            </a:r>
            <a:r>
              <a:rPr kumimoji="1" lang="ja-GB" altLang="en-US" sz="1200" dirty="0">
                <a:solidFill>
                  <a:srgbClr val="2F2523"/>
                </a:solidFill>
              </a:rPr>
              <a:t>：</a:t>
            </a:r>
            <a:r>
              <a:rPr kumimoji="1" lang="en-US" altLang="ja-GB" sz="1200" dirty="0">
                <a:solidFill>
                  <a:srgbClr val="2F2523"/>
                </a:solidFill>
              </a:rPr>
              <a:t>4</a:t>
            </a:r>
          </a:p>
        </p:txBody>
      </p:sp>
      <p:sp>
        <p:nvSpPr>
          <p:cNvPr id="50" name="テキスト ボックス 49">
            <a:extLst>
              <a:ext uri="{FF2B5EF4-FFF2-40B4-BE49-F238E27FC236}">
                <a16:creationId xmlns:a16="http://schemas.microsoft.com/office/drawing/2014/main" id="{BCA1ADB4-ED77-A49F-5631-8BCF62CCA1A9}"/>
              </a:ext>
            </a:extLst>
          </p:cNvPr>
          <p:cNvSpPr txBox="1"/>
          <p:nvPr/>
        </p:nvSpPr>
        <p:spPr>
          <a:xfrm>
            <a:off x="4468025" y="4347069"/>
            <a:ext cx="492443" cy="276999"/>
          </a:xfrm>
          <a:prstGeom prst="rect">
            <a:avLst/>
          </a:prstGeom>
          <a:noFill/>
          <a:ln w="38100">
            <a:noFill/>
          </a:ln>
        </p:spPr>
        <p:txBody>
          <a:bodyPr wrap="none" rtlCol="0" anchor="ctr">
            <a:spAutoFit/>
          </a:bodyPr>
          <a:lstStyle/>
          <a:p>
            <a:pPr algn="ctr"/>
            <a:r>
              <a:rPr kumimoji="1" lang="en-US" altLang="ja-GB" sz="1200" dirty="0">
                <a:solidFill>
                  <a:srgbClr val="2F2523"/>
                </a:solidFill>
              </a:rPr>
              <a:t>E</a:t>
            </a:r>
            <a:r>
              <a:rPr kumimoji="1" lang="ja-GB" altLang="en-US" sz="1200" dirty="0">
                <a:solidFill>
                  <a:srgbClr val="2F2523"/>
                </a:solidFill>
              </a:rPr>
              <a:t>：</a:t>
            </a:r>
            <a:r>
              <a:rPr kumimoji="1" lang="en-US" altLang="ja-GB" sz="1200" dirty="0">
                <a:solidFill>
                  <a:srgbClr val="2F2523"/>
                </a:solidFill>
              </a:rPr>
              <a:t>1</a:t>
            </a:r>
          </a:p>
        </p:txBody>
      </p:sp>
      <p:sp>
        <p:nvSpPr>
          <p:cNvPr id="51" name="テキスト ボックス 50">
            <a:extLst>
              <a:ext uri="{FF2B5EF4-FFF2-40B4-BE49-F238E27FC236}">
                <a16:creationId xmlns:a16="http://schemas.microsoft.com/office/drawing/2014/main" id="{803D3423-0F36-0CBA-AC2D-980C2AD3AB68}"/>
              </a:ext>
            </a:extLst>
          </p:cNvPr>
          <p:cNvSpPr txBox="1"/>
          <p:nvPr/>
        </p:nvSpPr>
        <p:spPr>
          <a:xfrm>
            <a:off x="5422082" y="4867276"/>
            <a:ext cx="514885" cy="276999"/>
          </a:xfrm>
          <a:prstGeom prst="rect">
            <a:avLst/>
          </a:prstGeom>
          <a:noFill/>
          <a:ln w="38100">
            <a:noFill/>
          </a:ln>
        </p:spPr>
        <p:txBody>
          <a:bodyPr wrap="none" rtlCol="0" anchor="ctr">
            <a:spAutoFit/>
          </a:bodyPr>
          <a:lstStyle/>
          <a:p>
            <a:pPr algn="ctr"/>
            <a:r>
              <a:rPr kumimoji="1" lang="en-US" altLang="ja-GB" sz="1200" dirty="0">
                <a:solidFill>
                  <a:srgbClr val="0070C0"/>
                </a:solidFill>
              </a:rPr>
              <a:t>G</a:t>
            </a:r>
            <a:r>
              <a:rPr kumimoji="1" lang="ja-GB" altLang="en-US" sz="1200" dirty="0">
                <a:solidFill>
                  <a:srgbClr val="0070C0"/>
                </a:solidFill>
              </a:rPr>
              <a:t>：</a:t>
            </a:r>
            <a:r>
              <a:rPr kumimoji="1" lang="en-US" altLang="ja-GB" sz="1200" dirty="0">
                <a:solidFill>
                  <a:srgbClr val="0070C0"/>
                </a:solidFill>
              </a:rPr>
              <a:t>3</a:t>
            </a:r>
          </a:p>
        </p:txBody>
      </p:sp>
      <p:sp>
        <p:nvSpPr>
          <p:cNvPr id="52" name="テキスト ボックス 51">
            <a:extLst>
              <a:ext uri="{FF2B5EF4-FFF2-40B4-BE49-F238E27FC236}">
                <a16:creationId xmlns:a16="http://schemas.microsoft.com/office/drawing/2014/main" id="{3FFA4A18-98DE-0A1D-4293-30FF00CFAB12}"/>
              </a:ext>
            </a:extLst>
          </p:cNvPr>
          <p:cNvSpPr txBox="1"/>
          <p:nvPr/>
        </p:nvSpPr>
        <p:spPr>
          <a:xfrm>
            <a:off x="6040558" y="5230627"/>
            <a:ext cx="487633" cy="276999"/>
          </a:xfrm>
          <a:prstGeom prst="rect">
            <a:avLst/>
          </a:prstGeom>
          <a:noFill/>
          <a:ln w="38100">
            <a:noFill/>
          </a:ln>
        </p:spPr>
        <p:txBody>
          <a:bodyPr wrap="none" rtlCol="0" anchor="ctr">
            <a:spAutoFit/>
          </a:bodyPr>
          <a:lstStyle/>
          <a:p>
            <a:pPr algn="ctr"/>
            <a:r>
              <a:rPr kumimoji="1" lang="en-US" altLang="ja-GB" sz="1200" dirty="0">
                <a:solidFill>
                  <a:srgbClr val="0070C0"/>
                </a:solidFill>
              </a:rPr>
              <a:t>F</a:t>
            </a:r>
            <a:r>
              <a:rPr kumimoji="1" lang="ja-GB" altLang="en-US" sz="1200" dirty="0">
                <a:solidFill>
                  <a:srgbClr val="0070C0"/>
                </a:solidFill>
              </a:rPr>
              <a:t>：</a:t>
            </a:r>
            <a:r>
              <a:rPr kumimoji="1" lang="en-US" altLang="ja-GB" sz="1200" dirty="0">
                <a:solidFill>
                  <a:srgbClr val="0070C0"/>
                </a:solidFill>
              </a:rPr>
              <a:t>6</a:t>
            </a:r>
          </a:p>
        </p:txBody>
      </p:sp>
      <p:sp>
        <p:nvSpPr>
          <p:cNvPr id="53" name="テキスト ボックス 52">
            <a:extLst>
              <a:ext uri="{FF2B5EF4-FFF2-40B4-BE49-F238E27FC236}">
                <a16:creationId xmlns:a16="http://schemas.microsoft.com/office/drawing/2014/main" id="{F25E080B-3032-4B2B-24FE-B7C90D5F01A9}"/>
              </a:ext>
            </a:extLst>
          </p:cNvPr>
          <p:cNvSpPr txBox="1"/>
          <p:nvPr/>
        </p:nvSpPr>
        <p:spPr>
          <a:xfrm>
            <a:off x="6976103" y="4626229"/>
            <a:ext cx="513282" cy="276999"/>
          </a:xfrm>
          <a:prstGeom prst="rect">
            <a:avLst/>
          </a:prstGeom>
          <a:noFill/>
          <a:ln w="38100">
            <a:noFill/>
          </a:ln>
        </p:spPr>
        <p:txBody>
          <a:bodyPr wrap="none" rtlCol="0" anchor="ctr">
            <a:spAutoFit/>
          </a:bodyPr>
          <a:lstStyle/>
          <a:p>
            <a:pPr algn="ctr"/>
            <a:r>
              <a:rPr kumimoji="1" lang="en-US" altLang="ja-GB" sz="1200" dirty="0">
                <a:solidFill>
                  <a:srgbClr val="2F2523"/>
                </a:solidFill>
              </a:rPr>
              <a:t>H</a:t>
            </a:r>
            <a:r>
              <a:rPr kumimoji="1" lang="ja-GB" altLang="en-US" sz="1200" dirty="0">
                <a:solidFill>
                  <a:srgbClr val="2F2523"/>
                </a:solidFill>
              </a:rPr>
              <a:t>：</a:t>
            </a:r>
            <a:r>
              <a:rPr kumimoji="1" lang="en-US" altLang="ja-GB" sz="1200" dirty="0">
                <a:solidFill>
                  <a:srgbClr val="2F2523"/>
                </a:solidFill>
              </a:rPr>
              <a:t>2</a:t>
            </a:r>
          </a:p>
        </p:txBody>
      </p:sp>
      <p:sp>
        <p:nvSpPr>
          <p:cNvPr id="54" name="テキスト ボックス 53">
            <a:extLst>
              <a:ext uri="{FF2B5EF4-FFF2-40B4-BE49-F238E27FC236}">
                <a16:creationId xmlns:a16="http://schemas.microsoft.com/office/drawing/2014/main" id="{C5641633-8CF7-03AA-C176-B5C268640E84}"/>
              </a:ext>
            </a:extLst>
          </p:cNvPr>
          <p:cNvSpPr txBox="1"/>
          <p:nvPr/>
        </p:nvSpPr>
        <p:spPr>
          <a:xfrm>
            <a:off x="1306447" y="4592978"/>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F8FDFF"/>
                </a:solidFill>
              </a:rPr>
              <a:t>0</a:t>
            </a:r>
          </a:p>
        </p:txBody>
      </p:sp>
      <p:sp>
        <p:nvSpPr>
          <p:cNvPr id="55" name="テキスト ボックス 54">
            <a:extLst>
              <a:ext uri="{FF2B5EF4-FFF2-40B4-BE49-F238E27FC236}">
                <a16:creationId xmlns:a16="http://schemas.microsoft.com/office/drawing/2014/main" id="{59DAF3FA-0519-A0D9-946C-7EE205AC12E4}"/>
              </a:ext>
            </a:extLst>
          </p:cNvPr>
          <p:cNvSpPr txBox="1"/>
          <p:nvPr/>
        </p:nvSpPr>
        <p:spPr>
          <a:xfrm>
            <a:off x="2913178" y="6053444"/>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2</a:t>
            </a:r>
          </a:p>
        </p:txBody>
      </p:sp>
      <p:sp>
        <p:nvSpPr>
          <p:cNvPr id="56" name="テキスト ボックス 55">
            <a:extLst>
              <a:ext uri="{FF2B5EF4-FFF2-40B4-BE49-F238E27FC236}">
                <a16:creationId xmlns:a16="http://schemas.microsoft.com/office/drawing/2014/main" id="{B7C27B1A-154C-0A7C-FAC7-636124628F1C}"/>
              </a:ext>
            </a:extLst>
          </p:cNvPr>
          <p:cNvSpPr txBox="1"/>
          <p:nvPr/>
        </p:nvSpPr>
        <p:spPr>
          <a:xfrm>
            <a:off x="2917783" y="4053046"/>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F8FDFF"/>
                </a:solidFill>
              </a:rPr>
              <a:t>3</a:t>
            </a:r>
          </a:p>
        </p:txBody>
      </p:sp>
      <p:sp>
        <p:nvSpPr>
          <p:cNvPr id="57" name="テキスト ボックス 56">
            <a:extLst>
              <a:ext uri="{FF2B5EF4-FFF2-40B4-BE49-F238E27FC236}">
                <a16:creationId xmlns:a16="http://schemas.microsoft.com/office/drawing/2014/main" id="{72DA7F08-7FAE-D5E1-A582-9D69E24312DA}"/>
              </a:ext>
            </a:extLst>
          </p:cNvPr>
          <p:cNvSpPr txBox="1"/>
          <p:nvPr/>
        </p:nvSpPr>
        <p:spPr>
          <a:xfrm>
            <a:off x="4537674" y="5521432"/>
            <a:ext cx="263213"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7</a:t>
            </a:r>
          </a:p>
        </p:txBody>
      </p:sp>
      <p:sp>
        <p:nvSpPr>
          <p:cNvPr id="58" name="テキスト ボックス 57">
            <a:extLst>
              <a:ext uri="{FF2B5EF4-FFF2-40B4-BE49-F238E27FC236}">
                <a16:creationId xmlns:a16="http://schemas.microsoft.com/office/drawing/2014/main" id="{248AAA2F-6419-26CD-D093-298E09EB006E}"/>
              </a:ext>
            </a:extLst>
          </p:cNvPr>
          <p:cNvSpPr txBox="1"/>
          <p:nvPr/>
        </p:nvSpPr>
        <p:spPr>
          <a:xfrm>
            <a:off x="6105483" y="4053046"/>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0070C0"/>
                </a:solidFill>
              </a:rPr>
              <a:t>11</a:t>
            </a:r>
          </a:p>
        </p:txBody>
      </p:sp>
      <p:sp>
        <p:nvSpPr>
          <p:cNvPr id="59" name="テキスト ボックス 58">
            <a:extLst>
              <a:ext uri="{FF2B5EF4-FFF2-40B4-BE49-F238E27FC236}">
                <a16:creationId xmlns:a16="http://schemas.microsoft.com/office/drawing/2014/main" id="{E203B129-F37D-91EE-2C8D-6E45B6EC1030}"/>
              </a:ext>
            </a:extLst>
          </p:cNvPr>
          <p:cNvSpPr txBox="1"/>
          <p:nvPr/>
        </p:nvSpPr>
        <p:spPr>
          <a:xfrm>
            <a:off x="7728935" y="4592978"/>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0070C0"/>
                </a:solidFill>
              </a:rPr>
              <a:t>13</a:t>
            </a:r>
          </a:p>
        </p:txBody>
      </p:sp>
      <p:sp>
        <p:nvSpPr>
          <p:cNvPr id="60" name="テキスト ボックス 59">
            <a:extLst>
              <a:ext uri="{FF2B5EF4-FFF2-40B4-BE49-F238E27FC236}">
                <a16:creationId xmlns:a16="http://schemas.microsoft.com/office/drawing/2014/main" id="{DC108CC3-997F-BC4D-A2C9-6821EBAB66E4}"/>
              </a:ext>
            </a:extLst>
          </p:cNvPr>
          <p:cNvSpPr txBox="1"/>
          <p:nvPr/>
        </p:nvSpPr>
        <p:spPr>
          <a:xfrm>
            <a:off x="1308239" y="4334737"/>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0</a:t>
            </a:r>
          </a:p>
        </p:txBody>
      </p:sp>
      <p:sp>
        <p:nvSpPr>
          <p:cNvPr id="61" name="テキスト ボックス 60">
            <a:extLst>
              <a:ext uri="{FF2B5EF4-FFF2-40B4-BE49-F238E27FC236}">
                <a16:creationId xmlns:a16="http://schemas.microsoft.com/office/drawing/2014/main" id="{943E5194-B3E6-D93F-A9D8-25FD45FBFEEA}"/>
              </a:ext>
            </a:extLst>
          </p:cNvPr>
          <p:cNvSpPr txBox="1"/>
          <p:nvPr/>
        </p:nvSpPr>
        <p:spPr>
          <a:xfrm>
            <a:off x="2919575" y="3794805"/>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3</a:t>
            </a:r>
          </a:p>
        </p:txBody>
      </p:sp>
      <p:sp>
        <p:nvSpPr>
          <p:cNvPr id="62" name="テキスト ボックス 61">
            <a:extLst>
              <a:ext uri="{FF2B5EF4-FFF2-40B4-BE49-F238E27FC236}">
                <a16:creationId xmlns:a16="http://schemas.microsoft.com/office/drawing/2014/main" id="{A8B8FF17-52A6-5471-1523-A9E5D220BE95}"/>
              </a:ext>
            </a:extLst>
          </p:cNvPr>
          <p:cNvSpPr txBox="1"/>
          <p:nvPr/>
        </p:nvSpPr>
        <p:spPr>
          <a:xfrm>
            <a:off x="6107275" y="3794805"/>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10</a:t>
            </a:r>
          </a:p>
        </p:txBody>
      </p:sp>
      <p:sp>
        <p:nvSpPr>
          <p:cNvPr id="63" name="テキスト ボックス 62">
            <a:extLst>
              <a:ext uri="{FF2B5EF4-FFF2-40B4-BE49-F238E27FC236}">
                <a16:creationId xmlns:a16="http://schemas.microsoft.com/office/drawing/2014/main" id="{2C7EFA2B-B574-DD8B-CAF8-FBE9E99A65B5}"/>
              </a:ext>
            </a:extLst>
          </p:cNvPr>
          <p:cNvSpPr txBox="1"/>
          <p:nvPr/>
        </p:nvSpPr>
        <p:spPr>
          <a:xfrm>
            <a:off x="7730727" y="4334737"/>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13</a:t>
            </a:r>
          </a:p>
        </p:txBody>
      </p:sp>
      <p:sp>
        <p:nvSpPr>
          <p:cNvPr id="64" name="テキスト ボックス 63">
            <a:extLst>
              <a:ext uri="{FF2B5EF4-FFF2-40B4-BE49-F238E27FC236}">
                <a16:creationId xmlns:a16="http://schemas.microsoft.com/office/drawing/2014/main" id="{B89ECED0-C83F-E7FC-DF62-ED6A7350F88B}"/>
              </a:ext>
            </a:extLst>
          </p:cNvPr>
          <p:cNvSpPr txBox="1"/>
          <p:nvPr/>
        </p:nvSpPr>
        <p:spPr>
          <a:xfrm>
            <a:off x="2906023" y="6321852"/>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F8FDFF"/>
                </a:solidFill>
              </a:rPr>
              <a:t>2</a:t>
            </a:r>
          </a:p>
        </p:txBody>
      </p:sp>
      <p:sp>
        <p:nvSpPr>
          <p:cNvPr id="65" name="テキスト ボックス 64">
            <a:extLst>
              <a:ext uri="{FF2B5EF4-FFF2-40B4-BE49-F238E27FC236}">
                <a16:creationId xmlns:a16="http://schemas.microsoft.com/office/drawing/2014/main" id="{8D67B4BC-5902-B101-51F7-F906705B6457}"/>
              </a:ext>
            </a:extLst>
          </p:cNvPr>
          <p:cNvSpPr txBox="1"/>
          <p:nvPr/>
        </p:nvSpPr>
        <p:spPr>
          <a:xfrm>
            <a:off x="4530519" y="5789840"/>
            <a:ext cx="263214" cy="276999"/>
          </a:xfrm>
          <a:prstGeom prst="rect">
            <a:avLst/>
          </a:prstGeom>
          <a:solidFill>
            <a:schemeClr val="accent2">
              <a:lumMod val="20000"/>
              <a:lumOff val="80000"/>
            </a:schemeClr>
          </a:solidFill>
          <a:ln w="38100">
            <a:solidFill>
              <a:srgbClr val="2F2523"/>
            </a:solidFill>
          </a:ln>
        </p:spPr>
        <p:txBody>
          <a:bodyPr wrap="none" rtlCol="0" anchor="ctr">
            <a:spAutoFit/>
          </a:bodyPr>
          <a:lstStyle/>
          <a:p>
            <a:pPr algn="ctr"/>
            <a:r>
              <a:rPr kumimoji="1" lang="en-US" altLang="ja-GB" sz="1200" dirty="0">
                <a:solidFill>
                  <a:schemeClr val="accent2"/>
                </a:solidFill>
              </a:rPr>
              <a:t>7</a:t>
            </a:r>
          </a:p>
        </p:txBody>
      </p:sp>
      <p:sp>
        <p:nvSpPr>
          <p:cNvPr id="68" name="テキスト ボックス 67">
            <a:extLst>
              <a:ext uri="{FF2B5EF4-FFF2-40B4-BE49-F238E27FC236}">
                <a16:creationId xmlns:a16="http://schemas.microsoft.com/office/drawing/2014/main" id="{9F381183-7FD4-7509-0399-EE578C732E36}"/>
              </a:ext>
            </a:extLst>
          </p:cNvPr>
          <p:cNvSpPr txBox="1"/>
          <p:nvPr/>
        </p:nvSpPr>
        <p:spPr>
          <a:xfrm>
            <a:off x="3514525" y="6344090"/>
            <a:ext cx="4999767" cy="307777"/>
          </a:xfrm>
          <a:prstGeom prst="rect">
            <a:avLst/>
          </a:prstGeom>
          <a:noFill/>
        </p:spPr>
        <p:txBody>
          <a:bodyPr wrap="none" rtlCol="0">
            <a:spAutoFit/>
          </a:bodyPr>
          <a:lstStyle/>
          <a:p>
            <a:pPr algn="ctr"/>
            <a:r>
              <a:rPr lang="ja-GB" altLang="en-US" sz="1400" dirty="0"/>
              <a:t>記法：</a:t>
            </a:r>
            <a:r>
              <a:rPr kumimoji="1" lang="ja-GB" altLang="en-US" sz="1400" dirty="0"/>
              <a:t>二つの四角枠を組み合わせて，上に</a:t>
            </a:r>
            <a:r>
              <a:rPr kumimoji="1" lang="en-US" altLang="ja-GB" sz="1400" dirty="0"/>
              <a:t>ET</a:t>
            </a:r>
            <a:r>
              <a:rPr kumimoji="1" lang="ja-GB" altLang="en-US" sz="1400" dirty="0"/>
              <a:t>，下に</a:t>
            </a:r>
            <a:r>
              <a:rPr kumimoji="1" lang="en-US" altLang="ja-GB" sz="1400" dirty="0"/>
              <a:t>LT</a:t>
            </a:r>
            <a:r>
              <a:rPr kumimoji="1" lang="ja-GB" altLang="en-US" sz="1400" dirty="0"/>
              <a:t>を記入</a:t>
            </a:r>
          </a:p>
        </p:txBody>
      </p:sp>
      <p:sp>
        <p:nvSpPr>
          <p:cNvPr id="4" name="テキスト ボックス 3">
            <a:extLst>
              <a:ext uri="{FF2B5EF4-FFF2-40B4-BE49-F238E27FC236}">
                <a16:creationId xmlns:a16="http://schemas.microsoft.com/office/drawing/2014/main" id="{FC1A0CBA-9340-C30E-17E6-91AAC0F410C4}"/>
              </a:ext>
            </a:extLst>
          </p:cNvPr>
          <p:cNvSpPr txBox="1"/>
          <p:nvPr/>
        </p:nvSpPr>
        <p:spPr>
          <a:xfrm>
            <a:off x="4938900" y="5506765"/>
            <a:ext cx="838691" cy="646331"/>
          </a:xfrm>
          <a:prstGeom prst="rect">
            <a:avLst/>
          </a:prstGeom>
          <a:noFill/>
        </p:spPr>
        <p:txBody>
          <a:bodyPr wrap="none" rtlCol="0">
            <a:spAutoFit/>
          </a:bodyPr>
          <a:lstStyle/>
          <a:p>
            <a:r>
              <a:rPr kumimoji="1" lang="en-US" altLang="ja-GB" dirty="0"/>
              <a:t>11-3=8</a:t>
            </a:r>
          </a:p>
          <a:p>
            <a:r>
              <a:rPr kumimoji="1" lang="en-US" altLang="ja-GB" dirty="0"/>
              <a:t>13-6=7</a:t>
            </a:r>
            <a:endParaRPr kumimoji="1" lang="ja-GB" altLang="en-US" dirty="0"/>
          </a:p>
        </p:txBody>
      </p:sp>
      <p:sp>
        <p:nvSpPr>
          <p:cNvPr id="5" name="テキスト ボックス 4">
            <a:extLst>
              <a:ext uri="{FF2B5EF4-FFF2-40B4-BE49-F238E27FC236}">
                <a16:creationId xmlns:a16="http://schemas.microsoft.com/office/drawing/2014/main" id="{C6AE85B3-8435-30DA-C628-B06FC07A6291}"/>
              </a:ext>
            </a:extLst>
          </p:cNvPr>
          <p:cNvSpPr txBox="1"/>
          <p:nvPr/>
        </p:nvSpPr>
        <p:spPr>
          <a:xfrm>
            <a:off x="8321002" y="4023904"/>
            <a:ext cx="409086" cy="369332"/>
          </a:xfrm>
          <a:prstGeom prst="rect">
            <a:avLst/>
          </a:prstGeom>
          <a:noFill/>
          <a:ln w="38100">
            <a:noFill/>
          </a:ln>
        </p:spPr>
        <p:txBody>
          <a:bodyPr wrap="none" rtlCol="0" anchor="ctr">
            <a:spAutoFit/>
          </a:bodyPr>
          <a:lstStyle/>
          <a:p>
            <a:pPr algn="ctr"/>
            <a:r>
              <a:rPr kumimoji="1" lang="en-US" altLang="ja-GB" dirty="0">
                <a:solidFill>
                  <a:srgbClr val="2F2523"/>
                </a:solidFill>
              </a:rPr>
              <a:t>ET</a:t>
            </a:r>
          </a:p>
        </p:txBody>
      </p:sp>
      <p:sp>
        <p:nvSpPr>
          <p:cNvPr id="6" name="テキスト ボックス 5">
            <a:extLst>
              <a:ext uri="{FF2B5EF4-FFF2-40B4-BE49-F238E27FC236}">
                <a16:creationId xmlns:a16="http://schemas.microsoft.com/office/drawing/2014/main" id="{B551A9A3-D7BD-275C-7EE5-C95F8814785A}"/>
              </a:ext>
            </a:extLst>
          </p:cNvPr>
          <p:cNvSpPr txBox="1"/>
          <p:nvPr/>
        </p:nvSpPr>
        <p:spPr>
          <a:xfrm>
            <a:off x="8336679" y="4741273"/>
            <a:ext cx="377732" cy="369332"/>
          </a:xfrm>
          <a:prstGeom prst="rect">
            <a:avLst/>
          </a:prstGeom>
          <a:noFill/>
          <a:ln w="38100">
            <a:noFill/>
          </a:ln>
        </p:spPr>
        <p:txBody>
          <a:bodyPr wrap="none" rtlCol="0" anchor="ctr">
            <a:spAutoFit/>
          </a:bodyPr>
          <a:lstStyle/>
          <a:p>
            <a:pPr algn="ctr"/>
            <a:r>
              <a:rPr kumimoji="1" lang="en-US" altLang="ja-GB" dirty="0">
                <a:solidFill>
                  <a:srgbClr val="2F2523"/>
                </a:solidFill>
              </a:rPr>
              <a:t>LT</a:t>
            </a:r>
          </a:p>
        </p:txBody>
      </p:sp>
      <p:cxnSp>
        <p:nvCxnSpPr>
          <p:cNvPr id="7" name="直線コネクタ 6">
            <a:extLst>
              <a:ext uri="{FF2B5EF4-FFF2-40B4-BE49-F238E27FC236}">
                <a16:creationId xmlns:a16="http://schemas.microsoft.com/office/drawing/2014/main" id="{72F2978B-1E5F-5731-2FCD-8CFCAFCD0DA7}"/>
              </a:ext>
            </a:extLst>
          </p:cNvPr>
          <p:cNvCxnSpPr>
            <a:cxnSpLocks/>
            <a:endCxn id="5" idx="1"/>
          </p:cNvCxnSpPr>
          <p:nvPr/>
        </p:nvCxnSpPr>
        <p:spPr>
          <a:xfrm flipV="1">
            <a:off x="8072487" y="4208570"/>
            <a:ext cx="248515" cy="264667"/>
          </a:xfrm>
          <a:prstGeom prst="line">
            <a:avLst/>
          </a:prstGeom>
        </p:spPr>
        <p:style>
          <a:lnRef idx="1">
            <a:schemeClr val="dk1"/>
          </a:lnRef>
          <a:fillRef idx="0">
            <a:schemeClr val="dk1"/>
          </a:fillRef>
          <a:effectRef idx="0">
            <a:schemeClr val="dk1"/>
          </a:effectRef>
          <a:fontRef idx="minor">
            <a:schemeClr val="tx1"/>
          </a:fontRef>
        </p:style>
      </p:cxnSp>
      <p:cxnSp>
        <p:nvCxnSpPr>
          <p:cNvPr id="8" name="直線コネクタ 7">
            <a:extLst>
              <a:ext uri="{FF2B5EF4-FFF2-40B4-BE49-F238E27FC236}">
                <a16:creationId xmlns:a16="http://schemas.microsoft.com/office/drawing/2014/main" id="{2ED112CC-BAD9-498A-F19B-0CDC15AF3FC1}"/>
              </a:ext>
            </a:extLst>
          </p:cNvPr>
          <p:cNvCxnSpPr>
            <a:cxnSpLocks/>
            <a:endCxn id="6" idx="1"/>
          </p:cNvCxnSpPr>
          <p:nvPr/>
        </p:nvCxnSpPr>
        <p:spPr>
          <a:xfrm>
            <a:off x="8070695" y="4731478"/>
            <a:ext cx="265984" cy="194461"/>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95466335"/>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AF7E3-6BDA-9D82-7E0E-0EAE0DC67FE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670A2E4-94DF-F04B-8197-40A515D0AA26}"/>
              </a:ext>
            </a:extLst>
          </p:cNvPr>
          <p:cNvSpPr>
            <a:spLocks noGrp="1"/>
          </p:cNvSpPr>
          <p:nvPr>
            <p:ph type="title"/>
          </p:nvPr>
        </p:nvSpPr>
        <p:spPr/>
        <p:txBody>
          <a:bodyPr>
            <a:normAutofit/>
          </a:bodyPr>
          <a:lstStyle/>
          <a:p>
            <a:r>
              <a:rPr lang="ja-JP" altLang="en-US"/>
              <a:t>最</a:t>
            </a:r>
            <a:r>
              <a:rPr lang="ja-GB" altLang="en-US" dirty="0"/>
              <a:t>遅</a:t>
            </a:r>
            <a:r>
              <a:rPr lang="ja-JP" altLang="en-US"/>
              <a:t>結合点時刻（</a:t>
            </a:r>
            <a:r>
              <a:rPr lang="en-US" altLang="ja-JP" dirty="0"/>
              <a:t>LT</a:t>
            </a:r>
            <a:r>
              <a:rPr lang="ja-JP" altLang="en-US"/>
              <a:t>：</a:t>
            </a:r>
            <a:r>
              <a:rPr lang="en-US" altLang="ja-JP" dirty="0"/>
              <a:t>latest node time</a:t>
            </a:r>
            <a:r>
              <a:rPr lang="ja-JP" altLang="en-US"/>
              <a:t>）</a:t>
            </a:r>
            <a:endParaRPr kumimoji="1" lang="ja-GB" altLang="en-US" dirty="0"/>
          </a:p>
        </p:txBody>
      </p:sp>
      <p:sp>
        <p:nvSpPr>
          <p:cNvPr id="3" name="コンテンツ プレースホルダー 2">
            <a:extLst>
              <a:ext uri="{FF2B5EF4-FFF2-40B4-BE49-F238E27FC236}">
                <a16:creationId xmlns:a16="http://schemas.microsoft.com/office/drawing/2014/main" id="{708AAB1B-40AF-B126-7172-61C241364021}"/>
              </a:ext>
            </a:extLst>
          </p:cNvPr>
          <p:cNvSpPr>
            <a:spLocks noGrp="1"/>
          </p:cNvSpPr>
          <p:nvPr>
            <p:ph idx="1"/>
          </p:nvPr>
        </p:nvSpPr>
        <p:spPr/>
        <p:txBody>
          <a:bodyPr/>
          <a:lstStyle/>
          <a:p>
            <a:pPr marL="0" indent="0">
              <a:buNone/>
            </a:pPr>
            <a:r>
              <a:rPr kumimoji="1" lang="ja-GB" altLang="en-US" dirty="0"/>
              <a:t>結合点を最も遅く出発して，全体に遅延を出さない限界の時刻</a:t>
            </a:r>
            <a:endParaRPr kumimoji="1" lang="en-US" altLang="ja-GB" dirty="0"/>
          </a:p>
          <a:p>
            <a:pPr marL="0" indent="0">
              <a:buNone/>
            </a:pPr>
            <a:r>
              <a:rPr lang="en-US" altLang="ja-GB" sz="2000" dirty="0"/>
              <a:t>=</a:t>
            </a:r>
            <a:r>
              <a:rPr lang="ja-GB" altLang="en-US" sz="2000" dirty="0"/>
              <a:t>各作業の終点の最早結合点時刻から作業時間を引いた値</a:t>
            </a:r>
            <a:endParaRPr kumimoji="1" lang="en-US" altLang="ja-GB" sz="2000" dirty="0"/>
          </a:p>
          <a:p>
            <a:pPr marL="914400" lvl="1" indent="-457200">
              <a:buFont typeface="+mj-lt"/>
              <a:buAutoNum type="arabicPeriod"/>
            </a:pPr>
            <a:r>
              <a:rPr lang="ja-GB" altLang="en-US" dirty="0">
                <a:solidFill>
                  <a:srgbClr val="2F2523"/>
                </a:solidFill>
              </a:rPr>
              <a:t>終了地点の</a:t>
            </a:r>
            <a:r>
              <a:rPr lang="en-US" altLang="ja-GB" dirty="0">
                <a:solidFill>
                  <a:srgbClr val="2F2523"/>
                </a:solidFill>
              </a:rPr>
              <a:t>LT</a:t>
            </a:r>
            <a:r>
              <a:rPr lang="ja-GB" altLang="en-US" dirty="0">
                <a:solidFill>
                  <a:srgbClr val="2F2523"/>
                </a:solidFill>
              </a:rPr>
              <a:t>を</a:t>
            </a:r>
            <a:r>
              <a:rPr lang="en-US" altLang="ja-GB" dirty="0">
                <a:solidFill>
                  <a:srgbClr val="2F2523"/>
                </a:solidFill>
              </a:rPr>
              <a:t>ET</a:t>
            </a:r>
            <a:r>
              <a:rPr lang="ja-GB" altLang="en-US" dirty="0">
                <a:solidFill>
                  <a:srgbClr val="2F2523"/>
                </a:solidFill>
              </a:rPr>
              <a:t>と同じ値に設定</a:t>
            </a:r>
            <a:endParaRPr lang="en-US" altLang="ja-GB" dirty="0">
              <a:solidFill>
                <a:srgbClr val="2F2523"/>
              </a:solidFill>
            </a:endParaRPr>
          </a:p>
          <a:p>
            <a:pPr lvl="4"/>
            <a:endParaRPr lang="en-US" altLang="ja-GB" dirty="0">
              <a:solidFill>
                <a:srgbClr val="2F2523"/>
              </a:solidFill>
            </a:endParaRPr>
          </a:p>
          <a:p>
            <a:pPr marL="914400" lvl="1" indent="-457200">
              <a:buFont typeface="+mj-lt"/>
              <a:buAutoNum type="arabicPeriod"/>
            </a:pPr>
            <a:r>
              <a:rPr lang="ja-GB" altLang="en-US" dirty="0">
                <a:solidFill>
                  <a:srgbClr val="2F2523"/>
                </a:solidFill>
              </a:rPr>
              <a:t>各結合点の</a:t>
            </a:r>
            <a:r>
              <a:rPr lang="en-US" altLang="ja-GB" dirty="0">
                <a:solidFill>
                  <a:srgbClr val="2F2523"/>
                </a:solidFill>
              </a:rPr>
              <a:t>LT</a:t>
            </a:r>
            <a:r>
              <a:rPr lang="ja-GB" altLang="en-US" dirty="0">
                <a:solidFill>
                  <a:srgbClr val="2F2523"/>
                </a:solidFill>
              </a:rPr>
              <a:t>を計算</a:t>
            </a:r>
            <a:endParaRPr lang="en-US" altLang="ja-GB" dirty="0">
              <a:solidFill>
                <a:srgbClr val="2F2523"/>
              </a:solidFill>
            </a:endParaRPr>
          </a:p>
          <a:p>
            <a:pPr lvl="2"/>
            <a:r>
              <a:rPr lang="ja-GB" altLang="en-US" dirty="0">
                <a:solidFill>
                  <a:srgbClr val="2F2523"/>
                </a:solidFill>
              </a:rPr>
              <a:t>始点の</a:t>
            </a:r>
            <a:r>
              <a:rPr lang="en-US" altLang="ja-GB" dirty="0">
                <a:solidFill>
                  <a:srgbClr val="2F2523"/>
                </a:solidFill>
              </a:rPr>
              <a:t>LT = </a:t>
            </a:r>
            <a:r>
              <a:rPr lang="ja-GB" altLang="en-US" dirty="0">
                <a:solidFill>
                  <a:srgbClr val="2F2523"/>
                </a:solidFill>
              </a:rPr>
              <a:t>終点の</a:t>
            </a:r>
            <a:r>
              <a:rPr lang="en-US" altLang="ja-GB" dirty="0">
                <a:solidFill>
                  <a:srgbClr val="2F2523"/>
                </a:solidFill>
              </a:rPr>
              <a:t>LT - </a:t>
            </a:r>
            <a:r>
              <a:rPr lang="ja-GB" altLang="en-US" dirty="0">
                <a:solidFill>
                  <a:srgbClr val="2F2523"/>
                </a:solidFill>
              </a:rPr>
              <a:t>作業日数</a:t>
            </a:r>
            <a:endParaRPr lang="en-US" altLang="ja-GB" dirty="0">
              <a:solidFill>
                <a:srgbClr val="2F2523"/>
              </a:solidFill>
            </a:endParaRPr>
          </a:p>
          <a:p>
            <a:pPr lvl="2"/>
            <a:r>
              <a:rPr lang="ja-GB" altLang="en-US" dirty="0">
                <a:solidFill>
                  <a:srgbClr val="0070C0"/>
                </a:solidFill>
              </a:rPr>
              <a:t>複数の経路がある場合は，最小の値を</a:t>
            </a:r>
            <a:r>
              <a:rPr lang="en-US" altLang="ja-GB" dirty="0">
                <a:solidFill>
                  <a:srgbClr val="0070C0"/>
                </a:solidFill>
              </a:rPr>
              <a:t>LT</a:t>
            </a:r>
            <a:r>
              <a:rPr lang="ja-GB" altLang="en-US" dirty="0">
                <a:solidFill>
                  <a:srgbClr val="0070C0"/>
                </a:solidFill>
              </a:rPr>
              <a:t>とする</a:t>
            </a:r>
            <a:br>
              <a:rPr lang="en-US" altLang="ja-GB" dirty="0">
                <a:solidFill>
                  <a:srgbClr val="2F2523"/>
                </a:solidFill>
              </a:rPr>
            </a:br>
            <a:r>
              <a:rPr lang="ja-GB" altLang="en-US" sz="1600" dirty="0">
                <a:solidFill>
                  <a:srgbClr val="2F2523"/>
                </a:solidFill>
              </a:rPr>
              <a:t>（</a:t>
            </a:r>
            <a:r>
              <a:rPr kumimoji="1" lang="ja-GB" altLang="en-US" sz="1600" dirty="0">
                <a:solidFill>
                  <a:srgbClr val="2F2523"/>
                </a:solidFill>
              </a:rPr>
              <a:t>早く出発しないと時間がかかる方の作業に遅延が生じるため）</a:t>
            </a:r>
            <a:endParaRPr kumimoji="1" lang="ja-GB" altLang="en-US" dirty="0">
              <a:solidFill>
                <a:srgbClr val="2F2523"/>
              </a:solidFill>
            </a:endParaRPr>
          </a:p>
        </p:txBody>
      </p:sp>
      <p:sp>
        <p:nvSpPr>
          <p:cNvPr id="32" name="円/楕円 31">
            <a:extLst>
              <a:ext uri="{FF2B5EF4-FFF2-40B4-BE49-F238E27FC236}">
                <a16:creationId xmlns:a16="http://schemas.microsoft.com/office/drawing/2014/main" id="{D95F0C84-00AE-5CA4-213A-38A728AF7B25}"/>
              </a:ext>
            </a:extLst>
          </p:cNvPr>
          <p:cNvSpPr>
            <a:spLocks noChangeAspect="1"/>
          </p:cNvSpPr>
          <p:nvPr/>
        </p:nvSpPr>
        <p:spPr>
          <a:xfrm>
            <a:off x="1168089" y="492593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solidFill>
                <a:srgbClr val="2F2523"/>
              </a:solidFill>
            </a:endParaRPr>
          </a:p>
        </p:txBody>
      </p:sp>
      <p:sp>
        <p:nvSpPr>
          <p:cNvPr id="33" name="円/楕円 32">
            <a:extLst>
              <a:ext uri="{FF2B5EF4-FFF2-40B4-BE49-F238E27FC236}">
                <a16:creationId xmlns:a16="http://schemas.microsoft.com/office/drawing/2014/main" id="{A56F49D0-2D4C-01A3-29E7-C81B629CF379}"/>
              </a:ext>
            </a:extLst>
          </p:cNvPr>
          <p:cNvSpPr>
            <a:spLocks noChangeAspect="1"/>
          </p:cNvSpPr>
          <p:nvPr/>
        </p:nvSpPr>
        <p:spPr>
          <a:xfrm>
            <a:off x="2774820" y="4386007"/>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sp>
        <p:nvSpPr>
          <p:cNvPr id="34" name="円/楕円 33">
            <a:extLst>
              <a:ext uri="{FF2B5EF4-FFF2-40B4-BE49-F238E27FC236}">
                <a16:creationId xmlns:a16="http://schemas.microsoft.com/office/drawing/2014/main" id="{A114D5FB-A4C1-69AA-9614-0B90D925391C}"/>
              </a:ext>
            </a:extLst>
          </p:cNvPr>
          <p:cNvSpPr>
            <a:spLocks noChangeAspect="1"/>
          </p:cNvSpPr>
          <p:nvPr/>
        </p:nvSpPr>
        <p:spPr>
          <a:xfrm>
            <a:off x="2774820" y="5450814"/>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sp>
        <p:nvSpPr>
          <p:cNvPr id="35" name="円/楕円 34">
            <a:extLst>
              <a:ext uri="{FF2B5EF4-FFF2-40B4-BE49-F238E27FC236}">
                <a16:creationId xmlns:a16="http://schemas.microsoft.com/office/drawing/2014/main" id="{2196A261-015C-A519-EF26-2B424732DC67}"/>
              </a:ext>
            </a:extLst>
          </p:cNvPr>
          <p:cNvSpPr>
            <a:spLocks noChangeAspect="1"/>
          </p:cNvSpPr>
          <p:nvPr/>
        </p:nvSpPr>
        <p:spPr>
          <a:xfrm>
            <a:off x="4398969" y="492593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sp>
        <p:nvSpPr>
          <p:cNvPr id="36" name="円/楕円 35">
            <a:extLst>
              <a:ext uri="{FF2B5EF4-FFF2-40B4-BE49-F238E27FC236}">
                <a16:creationId xmlns:a16="http://schemas.microsoft.com/office/drawing/2014/main" id="{D660F75C-6190-E132-12C0-4AA4E7A23E89}"/>
              </a:ext>
            </a:extLst>
          </p:cNvPr>
          <p:cNvSpPr>
            <a:spLocks noChangeAspect="1"/>
          </p:cNvSpPr>
          <p:nvPr/>
        </p:nvSpPr>
        <p:spPr>
          <a:xfrm>
            <a:off x="6014409" y="4386007"/>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sp>
        <p:nvSpPr>
          <p:cNvPr id="37" name="円/楕円 36">
            <a:extLst>
              <a:ext uri="{FF2B5EF4-FFF2-40B4-BE49-F238E27FC236}">
                <a16:creationId xmlns:a16="http://schemas.microsoft.com/office/drawing/2014/main" id="{8C58AD15-CBF1-15F3-77E4-AA8BC168C370}"/>
              </a:ext>
            </a:extLst>
          </p:cNvPr>
          <p:cNvSpPr>
            <a:spLocks noChangeAspect="1"/>
          </p:cNvSpPr>
          <p:nvPr/>
        </p:nvSpPr>
        <p:spPr>
          <a:xfrm>
            <a:off x="7629849" y="492593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cxnSp>
        <p:nvCxnSpPr>
          <p:cNvPr id="38" name="直線矢印コネクタ 37">
            <a:extLst>
              <a:ext uri="{FF2B5EF4-FFF2-40B4-BE49-F238E27FC236}">
                <a16:creationId xmlns:a16="http://schemas.microsoft.com/office/drawing/2014/main" id="{101A6EF8-61F6-7BED-7A13-F297CCC805A3}"/>
              </a:ext>
            </a:extLst>
          </p:cNvPr>
          <p:cNvCxnSpPr>
            <a:cxnSpLocks/>
            <a:stCxn id="32" idx="6"/>
            <a:endCxn id="33" idx="2"/>
          </p:cNvCxnSpPr>
          <p:nvPr/>
        </p:nvCxnSpPr>
        <p:spPr>
          <a:xfrm flipV="1">
            <a:off x="1708021" y="4655973"/>
            <a:ext cx="1066799"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59258FA1-8931-01C7-FDC6-3E161B2E817D}"/>
              </a:ext>
            </a:extLst>
          </p:cNvPr>
          <p:cNvCxnSpPr>
            <a:cxnSpLocks/>
            <a:stCxn id="32" idx="6"/>
            <a:endCxn id="34" idx="2"/>
          </p:cNvCxnSpPr>
          <p:nvPr/>
        </p:nvCxnSpPr>
        <p:spPr>
          <a:xfrm>
            <a:off x="1708021" y="5195905"/>
            <a:ext cx="1066799"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C1AB97EE-C7C8-0130-C13B-CA33D88EECEE}"/>
              </a:ext>
            </a:extLst>
          </p:cNvPr>
          <p:cNvCxnSpPr>
            <a:cxnSpLocks/>
            <a:stCxn id="33" idx="6"/>
            <a:endCxn id="36" idx="2"/>
          </p:cNvCxnSpPr>
          <p:nvPr/>
        </p:nvCxnSpPr>
        <p:spPr>
          <a:xfrm>
            <a:off x="3314752" y="4655973"/>
            <a:ext cx="2699657"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31B8B40A-B29E-905D-E4A2-FEB5E9AD8957}"/>
              </a:ext>
            </a:extLst>
          </p:cNvPr>
          <p:cNvCxnSpPr>
            <a:cxnSpLocks/>
            <a:stCxn id="34" idx="6"/>
            <a:endCxn id="35" idx="2"/>
          </p:cNvCxnSpPr>
          <p:nvPr/>
        </p:nvCxnSpPr>
        <p:spPr>
          <a:xfrm flipV="1">
            <a:off x="3314752" y="5195905"/>
            <a:ext cx="1084217"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32D4E7A9-7AD3-66B1-B341-5D9C5D01F4CD}"/>
              </a:ext>
            </a:extLst>
          </p:cNvPr>
          <p:cNvCxnSpPr>
            <a:cxnSpLocks/>
            <a:stCxn id="33" idx="6"/>
            <a:endCxn id="35" idx="2"/>
          </p:cNvCxnSpPr>
          <p:nvPr/>
        </p:nvCxnSpPr>
        <p:spPr>
          <a:xfrm>
            <a:off x="3314752" y="4655973"/>
            <a:ext cx="1084217"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405380A7-AB7A-67B6-8395-BBE2EDAE2E74}"/>
              </a:ext>
            </a:extLst>
          </p:cNvPr>
          <p:cNvCxnSpPr>
            <a:cxnSpLocks/>
            <a:stCxn id="35" idx="6"/>
            <a:endCxn id="36" idx="2"/>
          </p:cNvCxnSpPr>
          <p:nvPr/>
        </p:nvCxnSpPr>
        <p:spPr>
          <a:xfrm flipV="1">
            <a:off x="4938901" y="4655973"/>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804DCA17-8CB3-1AAA-8295-9F1815DB62F6}"/>
              </a:ext>
            </a:extLst>
          </p:cNvPr>
          <p:cNvCxnSpPr>
            <a:cxnSpLocks/>
            <a:endCxn id="37" idx="2"/>
          </p:cNvCxnSpPr>
          <p:nvPr/>
        </p:nvCxnSpPr>
        <p:spPr>
          <a:xfrm>
            <a:off x="4938901" y="5195905"/>
            <a:ext cx="2690948"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F78F2393-158C-1AE2-899C-1033349BFEFB}"/>
              </a:ext>
            </a:extLst>
          </p:cNvPr>
          <p:cNvCxnSpPr>
            <a:cxnSpLocks/>
            <a:stCxn id="36" idx="6"/>
            <a:endCxn id="37" idx="2"/>
          </p:cNvCxnSpPr>
          <p:nvPr/>
        </p:nvCxnSpPr>
        <p:spPr>
          <a:xfrm>
            <a:off x="6554341" y="4655973"/>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2259C768-61D1-0A8A-AC41-2EBBE7CEED0B}"/>
              </a:ext>
            </a:extLst>
          </p:cNvPr>
          <p:cNvSpPr txBox="1"/>
          <p:nvPr/>
        </p:nvSpPr>
        <p:spPr>
          <a:xfrm>
            <a:off x="1891868" y="4602773"/>
            <a:ext cx="506870" cy="276999"/>
          </a:xfrm>
          <a:prstGeom prst="rect">
            <a:avLst/>
          </a:prstGeom>
          <a:noFill/>
          <a:ln w="38100">
            <a:noFill/>
          </a:ln>
        </p:spPr>
        <p:txBody>
          <a:bodyPr wrap="none" rtlCol="0" anchor="ctr">
            <a:spAutoFit/>
          </a:bodyPr>
          <a:lstStyle/>
          <a:p>
            <a:pPr algn="ctr"/>
            <a:r>
              <a:rPr kumimoji="1" lang="en-US" altLang="ja-GB" sz="1200" dirty="0">
                <a:solidFill>
                  <a:srgbClr val="2F2523"/>
                </a:solidFill>
              </a:rPr>
              <a:t>A</a:t>
            </a:r>
            <a:r>
              <a:rPr kumimoji="1" lang="ja-GB" altLang="en-US" sz="1200" dirty="0">
                <a:solidFill>
                  <a:srgbClr val="2F2523"/>
                </a:solidFill>
              </a:rPr>
              <a:t>：</a:t>
            </a:r>
            <a:r>
              <a:rPr kumimoji="1" lang="en-US" altLang="ja-GB" sz="1200" dirty="0">
                <a:solidFill>
                  <a:srgbClr val="2F2523"/>
                </a:solidFill>
              </a:rPr>
              <a:t>3</a:t>
            </a:r>
          </a:p>
        </p:txBody>
      </p:sp>
      <p:sp>
        <p:nvSpPr>
          <p:cNvPr id="47" name="テキスト ボックス 46">
            <a:extLst>
              <a:ext uri="{FF2B5EF4-FFF2-40B4-BE49-F238E27FC236}">
                <a16:creationId xmlns:a16="http://schemas.microsoft.com/office/drawing/2014/main" id="{B89A03A0-7F70-BFA1-95A0-E81C477A3B7E}"/>
              </a:ext>
            </a:extLst>
          </p:cNvPr>
          <p:cNvSpPr txBox="1"/>
          <p:nvPr/>
        </p:nvSpPr>
        <p:spPr>
          <a:xfrm>
            <a:off x="1895075" y="5553194"/>
            <a:ext cx="500458" cy="276999"/>
          </a:xfrm>
          <a:prstGeom prst="rect">
            <a:avLst/>
          </a:prstGeom>
          <a:noFill/>
          <a:ln w="38100">
            <a:noFill/>
          </a:ln>
        </p:spPr>
        <p:txBody>
          <a:bodyPr wrap="none" rtlCol="0" anchor="ctr">
            <a:spAutoFit/>
          </a:bodyPr>
          <a:lstStyle/>
          <a:p>
            <a:pPr algn="ctr"/>
            <a:r>
              <a:rPr kumimoji="1" lang="en-US" altLang="ja-GB" sz="1200" dirty="0">
                <a:solidFill>
                  <a:srgbClr val="2F2523"/>
                </a:solidFill>
              </a:rPr>
              <a:t>B</a:t>
            </a:r>
            <a:r>
              <a:rPr kumimoji="1" lang="ja-GB" altLang="en-US" sz="1200" dirty="0">
                <a:solidFill>
                  <a:srgbClr val="2F2523"/>
                </a:solidFill>
              </a:rPr>
              <a:t>：</a:t>
            </a:r>
            <a:r>
              <a:rPr kumimoji="1" lang="en-US" altLang="ja-GB" sz="1200" dirty="0">
                <a:solidFill>
                  <a:srgbClr val="2F2523"/>
                </a:solidFill>
              </a:rPr>
              <a:t>2</a:t>
            </a:r>
          </a:p>
        </p:txBody>
      </p:sp>
      <p:sp>
        <p:nvSpPr>
          <p:cNvPr id="48" name="テキスト ボックス 47">
            <a:extLst>
              <a:ext uri="{FF2B5EF4-FFF2-40B4-BE49-F238E27FC236}">
                <a16:creationId xmlns:a16="http://schemas.microsoft.com/office/drawing/2014/main" id="{778B64AC-2867-FBC6-8B19-F076E8FFE6A1}"/>
              </a:ext>
            </a:extLst>
          </p:cNvPr>
          <p:cNvSpPr txBox="1"/>
          <p:nvPr/>
        </p:nvSpPr>
        <p:spPr>
          <a:xfrm>
            <a:off x="3438176" y="5597336"/>
            <a:ext cx="511679" cy="276999"/>
          </a:xfrm>
          <a:prstGeom prst="rect">
            <a:avLst/>
          </a:prstGeom>
          <a:noFill/>
          <a:ln w="38100">
            <a:noFill/>
          </a:ln>
        </p:spPr>
        <p:txBody>
          <a:bodyPr wrap="none" rtlCol="0" anchor="ctr">
            <a:spAutoFit/>
          </a:bodyPr>
          <a:lstStyle/>
          <a:p>
            <a:pPr algn="ctr"/>
            <a:r>
              <a:rPr kumimoji="1" lang="en-US" altLang="ja-GB" sz="1200" dirty="0">
                <a:solidFill>
                  <a:srgbClr val="0070C0"/>
                </a:solidFill>
              </a:rPr>
              <a:t>D</a:t>
            </a:r>
            <a:r>
              <a:rPr kumimoji="1" lang="ja-GB" altLang="en-US" sz="1200" dirty="0">
                <a:solidFill>
                  <a:srgbClr val="0070C0"/>
                </a:solidFill>
              </a:rPr>
              <a:t>：</a:t>
            </a:r>
            <a:r>
              <a:rPr kumimoji="1" lang="en-US" altLang="ja-GB" sz="1200" dirty="0">
                <a:solidFill>
                  <a:srgbClr val="0070C0"/>
                </a:solidFill>
              </a:rPr>
              <a:t>5</a:t>
            </a:r>
          </a:p>
        </p:txBody>
      </p:sp>
      <p:sp>
        <p:nvSpPr>
          <p:cNvPr id="49" name="テキスト ボックス 48">
            <a:extLst>
              <a:ext uri="{FF2B5EF4-FFF2-40B4-BE49-F238E27FC236}">
                <a16:creationId xmlns:a16="http://schemas.microsoft.com/office/drawing/2014/main" id="{975A3060-D82D-A962-CB75-1144A6B36B5A}"/>
              </a:ext>
            </a:extLst>
          </p:cNvPr>
          <p:cNvSpPr txBox="1"/>
          <p:nvPr/>
        </p:nvSpPr>
        <p:spPr>
          <a:xfrm>
            <a:off x="3444589" y="4896967"/>
            <a:ext cx="498855" cy="276999"/>
          </a:xfrm>
          <a:prstGeom prst="rect">
            <a:avLst/>
          </a:prstGeom>
          <a:noFill/>
          <a:ln w="38100">
            <a:noFill/>
          </a:ln>
        </p:spPr>
        <p:txBody>
          <a:bodyPr wrap="none" rtlCol="0" anchor="ctr">
            <a:spAutoFit/>
          </a:bodyPr>
          <a:lstStyle/>
          <a:p>
            <a:pPr algn="ctr"/>
            <a:r>
              <a:rPr kumimoji="1" lang="en-US" altLang="ja-GB" sz="1200" dirty="0">
                <a:solidFill>
                  <a:srgbClr val="0070C0"/>
                </a:solidFill>
              </a:rPr>
              <a:t>C</a:t>
            </a:r>
            <a:r>
              <a:rPr kumimoji="1" lang="ja-GB" altLang="en-US" sz="1200" dirty="0">
                <a:solidFill>
                  <a:srgbClr val="0070C0"/>
                </a:solidFill>
              </a:rPr>
              <a:t>：</a:t>
            </a:r>
            <a:r>
              <a:rPr kumimoji="1" lang="en-US" altLang="ja-GB" sz="1200" dirty="0">
                <a:solidFill>
                  <a:srgbClr val="0070C0"/>
                </a:solidFill>
              </a:rPr>
              <a:t>4</a:t>
            </a:r>
          </a:p>
        </p:txBody>
      </p:sp>
      <p:sp>
        <p:nvSpPr>
          <p:cNvPr id="50" name="テキスト ボックス 49">
            <a:extLst>
              <a:ext uri="{FF2B5EF4-FFF2-40B4-BE49-F238E27FC236}">
                <a16:creationId xmlns:a16="http://schemas.microsoft.com/office/drawing/2014/main" id="{494AF57E-6F43-8C64-C0E0-E2D5A690CA1A}"/>
              </a:ext>
            </a:extLst>
          </p:cNvPr>
          <p:cNvSpPr txBox="1"/>
          <p:nvPr/>
        </p:nvSpPr>
        <p:spPr>
          <a:xfrm>
            <a:off x="4468025" y="4347069"/>
            <a:ext cx="492443" cy="276999"/>
          </a:xfrm>
          <a:prstGeom prst="rect">
            <a:avLst/>
          </a:prstGeom>
          <a:noFill/>
          <a:ln w="38100">
            <a:noFill/>
          </a:ln>
        </p:spPr>
        <p:txBody>
          <a:bodyPr wrap="none" rtlCol="0" anchor="ctr">
            <a:spAutoFit/>
          </a:bodyPr>
          <a:lstStyle/>
          <a:p>
            <a:pPr algn="ctr"/>
            <a:r>
              <a:rPr kumimoji="1" lang="en-US" altLang="ja-GB" sz="1200" dirty="0">
                <a:solidFill>
                  <a:srgbClr val="0070C0"/>
                </a:solidFill>
              </a:rPr>
              <a:t>E</a:t>
            </a:r>
            <a:r>
              <a:rPr kumimoji="1" lang="ja-GB" altLang="en-US" sz="1200" dirty="0">
                <a:solidFill>
                  <a:srgbClr val="0070C0"/>
                </a:solidFill>
              </a:rPr>
              <a:t>：</a:t>
            </a:r>
            <a:r>
              <a:rPr kumimoji="1" lang="en-US" altLang="ja-GB" sz="1200" dirty="0">
                <a:solidFill>
                  <a:srgbClr val="0070C0"/>
                </a:solidFill>
              </a:rPr>
              <a:t>1</a:t>
            </a:r>
          </a:p>
        </p:txBody>
      </p:sp>
      <p:sp>
        <p:nvSpPr>
          <p:cNvPr id="51" name="テキスト ボックス 50">
            <a:extLst>
              <a:ext uri="{FF2B5EF4-FFF2-40B4-BE49-F238E27FC236}">
                <a16:creationId xmlns:a16="http://schemas.microsoft.com/office/drawing/2014/main" id="{1CF4075D-53C7-5C98-880D-B8FADE211001}"/>
              </a:ext>
            </a:extLst>
          </p:cNvPr>
          <p:cNvSpPr txBox="1"/>
          <p:nvPr/>
        </p:nvSpPr>
        <p:spPr>
          <a:xfrm>
            <a:off x="5422082" y="4867276"/>
            <a:ext cx="514885" cy="276999"/>
          </a:xfrm>
          <a:prstGeom prst="rect">
            <a:avLst/>
          </a:prstGeom>
          <a:noFill/>
          <a:ln w="38100">
            <a:noFill/>
          </a:ln>
        </p:spPr>
        <p:txBody>
          <a:bodyPr wrap="none" rtlCol="0" anchor="ctr">
            <a:spAutoFit/>
          </a:bodyPr>
          <a:lstStyle/>
          <a:p>
            <a:pPr algn="ctr"/>
            <a:r>
              <a:rPr kumimoji="1" lang="en-US" altLang="ja-GB" sz="1200" dirty="0">
                <a:solidFill>
                  <a:srgbClr val="2F2523"/>
                </a:solidFill>
              </a:rPr>
              <a:t>G</a:t>
            </a:r>
            <a:r>
              <a:rPr kumimoji="1" lang="ja-GB" altLang="en-US" sz="1200" dirty="0">
                <a:solidFill>
                  <a:srgbClr val="2F2523"/>
                </a:solidFill>
              </a:rPr>
              <a:t>：</a:t>
            </a:r>
            <a:r>
              <a:rPr kumimoji="1" lang="en-US" altLang="ja-GB" sz="1200" dirty="0">
                <a:solidFill>
                  <a:srgbClr val="2F2523"/>
                </a:solidFill>
              </a:rPr>
              <a:t>3</a:t>
            </a:r>
          </a:p>
        </p:txBody>
      </p:sp>
      <p:sp>
        <p:nvSpPr>
          <p:cNvPr id="52" name="テキスト ボックス 51">
            <a:extLst>
              <a:ext uri="{FF2B5EF4-FFF2-40B4-BE49-F238E27FC236}">
                <a16:creationId xmlns:a16="http://schemas.microsoft.com/office/drawing/2014/main" id="{7CC457B5-BC68-CD75-24E8-7569255A88D1}"/>
              </a:ext>
            </a:extLst>
          </p:cNvPr>
          <p:cNvSpPr txBox="1"/>
          <p:nvPr/>
        </p:nvSpPr>
        <p:spPr>
          <a:xfrm>
            <a:off x="6040558" y="5230627"/>
            <a:ext cx="487633" cy="276999"/>
          </a:xfrm>
          <a:prstGeom prst="rect">
            <a:avLst/>
          </a:prstGeom>
          <a:noFill/>
          <a:ln w="38100">
            <a:noFill/>
          </a:ln>
        </p:spPr>
        <p:txBody>
          <a:bodyPr wrap="none" rtlCol="0" anchor="ctr">
            <a:spAutoFit/>
          </a:bodyPr>
          <a:lstStyle/>
          <a:p>
            <a:pPr algn="ctr"/>
            <a:r>
              <a:rPr kumimoji="1" lang="en-US" altLang="ja-GB" sz="1200" dirty="0">
                <a:solidFill>
                  <a:srgbClr val="2F2523"/>
                </a:solidFill>
              </a:rPr>
              <a:t>F</a:t>
            </a:r>
            <a:r>
              <a:rPr kumimoji="1" lang="ja-GB" altLang="en-US" sz="1200" dirty="0">
                <a:solidFill>
                  <a:srgbClr val="2F2523"/>
                </a:solidFill>
              </a:rPr>
              <a:t>：</a:t>
            </a:r>
            <a:r>
              <a:rPr kumimoji="1" lang="en-US" altLang="ja-GB" sz="1200" dirty="0">
                <a:solidFill>
                  <a:srgbClr val="2F2523"/>
                </a:solidFill>
              </a:rPr>
              <a:t>6</a:t>
            </a:r>
          </a:p>
        </p:txBody>
      </p:sp>
      <p:sp>
        <p:nvSpPr>
          <p:cNvPr id="53" name="テキスト ボックス 52">
            <a:extLst>
              <a:ext uri="{FF2B5EF4-FFF2-40B4-BE49-F238E27FC236}">
                <a16:creationId xmlns:a16="http://schemas.microsoft.com/office/drawing/2014/main" id="{C2E92A2D-07FB-7CBA-1939-92EABD899FFB}"/>
              </a:ext>
            </a:extLst>
          </p:cNvPr>
          <p:cNvSpPr txBox="1"/>
          <p:nvPr/>
        </p:nvSpPr>
        <p:spPr>
          <a:xfrm>
            <a:off x="6976103" y="4626229"/>
            <a:ext cx="513282" cy="276999"/>
          </a:xfrm>
          <a:prstGeom prst="rect">
            <a:avLst/>
          </a:prstGeom>
          <a:noFill/>
          <a:ln w="38100">
            <a:noFill/>
          </a:ln>
        </p:spPr>
        <p:txBody>
          <a:bodyPr wrap="none" rtlCol="0" anchor="ctr">
            <a:spAutoFit/>
          </a:bodyPr>
          <a:lstStyle/>
          <a:p>
            <a:pPr algn="ctr"/>
            <a:r>
              <a:rPr kumimoji="1" lang="en-US" altLang="ja-GB" sz="1200" dirty="0">
                <a:solidFill>
                  <a:srgbClr val="2F2523"/>
                </a:solidFill>
              </a:rPr>
              <a:t>H</a:t>
            </a:r>
            <a:r>
              <a:rPr kumimoji="1" lang="ja-GB" altLang="en-US" sz="1200" dirty="0">
                <a:solidFill>
                  <a:srgbClr val="2F2523"/>
                </a:solidFill>
              </a:rPr>
              <a:t>：</a:t>
            </a:r>
            <a:r>
              <a:rPr kumimoji="1" lang="en-US" altLang="ja-GB" sz="1200" dirty="0">
                <a:solidFill>
                  <a:srgbClr val="2F2523"/>
                </a:solidFill>
              </a:rPr>
              <a:t>2</a:t>
            </a:r>
          </a:p>
        </p:txBody>
      </p:sp>
      <p:sp>
        <p:nvSpPr>
          <p:cNvPr id="54" name="テキスト ボックス 53">
            <a:extLst>
              <a:ext uri="{FF2B5EF4-FFF2-40B4-BE49-F238E27FC236}">
                <a16:creationId xmlns:a16="http://schemas.microsoft.com/office/drawing/2014/main" id="{706B3C67-B77B-274F-03BC-A603ACE02B79}"/>
              </a:ext>
            </a:extLst>
          </p:cNvPr>
          <p:cNvSpPr txBox="1"/>
          <p:nvPr/>
        </p:nvSpPr>
        <p:spPr>
          <a:xfrm>
            <a:off x="1306447" y="4592978"/>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F8FDFF"/>
                </a:solidFill>
              </a:rPr>
              <a:t>0</a:t>
            </a:r>
          </a:p>
        </p:txBody>
      </p:sp>
      <p:sp>
        <p:nvSpPr>
          <p:cNvPr id="55" name="テキスト ボックス 54">
            <a:extLst>
              <a:ext uri="{FF2B5EF4-FFF2-40B4-BE49-F238E27FC236}">
                <a16:creationId xmlns:a16="http://schemas.microsoft.com/office/drawing/2014/main" id="{B8EBC650-E0DA-037F-2820-07EED702B015}"/>
              </a:ext>
            </a:extLst>
          </p:cNvPr>
          <p:cNvSpPr txBox="1"/>
          <p:nvPr/>
        </p:nvSpPr>
        <p:spPr>
          <a:xfrm>
            <a:off x="2913178" y="6053444"/>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2</a:t>
            </a:r>
          </a:p>
        </p:txBody>
      </p:sp>
      <p:sp>
        <p:nvSpPr>
          <p:cNvPr id="56" name="テキスト ボックス 55">
            <a:extLst>
              <a:ext uri="{FF2B5EF4-FFF2-40B4-BE49-F238E27FC236}">
                <a16:creationId xmlns:a16="http://schemas.microsoft.com/office/drawing/2014/main" id="{19C8EF9C-59D2-1AA0-F6DE-BB66DAD77304}"/>
              </a:ext>
            </a:extLst>
          </p:cNvPr>
          <p:cNvSpPr txBox="1"/>
          <p:nvPr/>
        </p:nvSpPr>
        <p:spPr>
          <a:xfrm>
            <a:off x="2917783" y="4053046"/>
            <a:ext cx="263214" cy="276999"/>
          </a:xfrm>
          <a:prstGeom prst="rect">
            <a:avLst/>
          </a:prstGeom>
          <a:solidFill>
            <a:schemeClr val="accent2">
              <a:lumMod val="20000"/>
              <a:lumOff val="80000"/>
            </a:schemeClr>
          </a:solidFill>
          <a:ln w="38100">
            <a:solidFill>
              <a:srgbClr val="2F2523"/>
            </a:solidFill>
          </a:ln>
        </p:spPr>
        <p:txBody>
          <a:bodyPr wrap="none" rtlCol="0" anchor="ctr">
            <a:spAutoFit/>
          </a:bodyPr>
          <a:lstStyle/>
          <a:p>
            <a:pPr algn="ctr"/>
            <a:r>
              <a:rPr kumimoji="1" lang="en-US" altLang="ja-GB" sz="1200" dirty="0">
                <a:solidFill>
                  <a:schemeClr val="accent2"/>
                </a:solidFill>
              </a:rPr>
              <a:t>3</a:t>
            </a:r>
          </a:p>
        </p:txBody>
      </p:sp>
      <p:sp>
        <p:nvSpPr>
          <p:cNvPr id="57" name="テキスト ボックス 56">
            <a:extLst>
              <a:ext uri="{FF2B5EF4-FFF2-40B4-BE49-F238E27FC236}">
                <a16:creationId xmlns:a16="http://schemas.microsoft.com/office/drawing/2014/main" id="{E5CE5CC4-988D-75BD-E7F6-1A4B152542DB}"/>
              </a:ext>
            </a:extLst>
          </p:cNvPr>
          <p:cNvSpPr txBox="1"/>
          <p:nvPr/>
        </p:nvSpPr>
        <p:spPr>
          <a:xfrm>
            <a:off x="4537674" y="5521432"/>
            <a:ext cx="263213"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7</a:t>
            </a:r>
          </a:p>
        </p:txBody>
      </p:sp>
      <p:sp>
        <p:nvSpPr>
          <p:cNvPr id="58" name="テキスト ボックス 57">
            <a:extLst>
              <a:ext uri="{FF2B5EF4-FFF2-40B4-BE49-F238E27FC236}">
                <a16:creationId xmlns:a16="http://schemas.microsoft.com/office/drawing/2014/main" id="{E4C60602-6DD8-BF9A-E7CB-264FF9FF64C5}"/>
              </a:ext>
            </a:extLst>
          </p:cNvPr>
          <p:cNvSpPr txBox="1"/>
          <p:nvPr/>
        </p:nvSpPr>
        <p:spPr>
          <a:xfrm>
            <a:off x="6105483" y="4053046"/>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0070C0"/>
                </a:solidFill>
              </a:rPr>
              <a:t>11</a:t>
            </a:r>
          </a:p>
        </p:txBody>
      </p:sp>
      <p:sp>
        <p:nvSpPr>
          <p:cNvPr id="59" name="テキスト ボックス 58">
            <a:extLst>
              <a:ext uri="{FF2B5EF4-FFF2-40B4-BE49-F238E27FC236}">
                <a16:creationId xmlns:a16="http://schemas.microsoft.com/office/drawing/2014/main" id="{83210928-0AC0-3544-AD2A-44C58DFBF4B2}"/>
              </a:ext>
            </a:extLst>
          </p:cNvPr>
          <p:cNvSpPr txBox="1"/>
          <p:nvPr/>
        </p:nvSpPr>
        <p:spPr>
          <a:xfrm>
            <a:off x="7728935" y="4592978"/>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13</a:t>
            </a:r>
          </a:p>
        </p:txBody>
      </p:sp>
      <p:sp>
        <p:nvSpPr>
          <p:cNvPr id="60" name="テキスト ボックス 59">
            <a:extLst>
              <a:ext uri="{FF2B5EF4-FFF2-40B4-BE49-F238E27FC236}">
                <a16:creationId xmlns:a16="http://schemas.microsoft.com/office/drawing/2014/main" id="{3E5DB5E5-30BB-02F2-7C2C-CEF30901A706}"/>
              </a:ext>
            </a:extLst>
          </p:cNvPr>
          <p:cNvSpPr txBox="1"/>
          <p:nvPr/>
        </p:nvSpPr>
        <p:spPr>
          <a:xfrm>
            <a:off x="1308239" y="4334737"/>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0</a:t>
            </a:r>
          </a:p>
        </p:txBody>
      </p:sp>
      <p:sp>
        <p:nvSpPr>
          <p:cNvPr id="61" name="テキスト ボックス 60">
            <a:extLst>
              <a:ext uri="{FF2B5EF4-FFF2-40B4-BE49-F238E27FC236}">
                <a16:creationId xmlns:a16="http://schemas.microsoft.com/office/drawing/2014/main" id="{12D17CB4-2703-531D-28A2-F9D109494603}"/>
              </a:ext>
            </a:extLst>
          </p:cNvPr>
          <p:cNvSpPr txBox="1"/>
          <p:nvPr/>
        </p:nvSpPr>
        <p:spPr>
          <a:xfrm>
            <a:off x="2919575" y="3794805"/>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3</a:t>
            </a:r>
          </a:p>
        </p:txBody>
      </p:sp>
      <p:sp>
        <p:nvSpPr>
          <p:cNvPr id="62" name="テキスト ボックス 61">
            <a:extLst>
              <a:ext uri="{FF2B5EF4-FFF2-40B4-BE49-F238E27FC236}">
                <a16:creationId xmlns:a16="http://schemas.microsoft.com/office/drawing/2014/main" id="{6098FD9A-EF57-AAB9-C71E-E719B9180F99}"/>
              </a:ext>
            </a:extLst>
          </p:cNvPr>
          <p:cNvSpPr txBox="1"/>
          <p:nvPr/>
        </p:nvSpPr>
        <p:spPr>
          <a:xfrm>
            <a:off x="6107275" y="3794805"/>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10</a:t>
            </a:r>
          </a:p>
        </p:txBody>
      </p:sp>
      <p:sp>
        <p:nvSpPr>
          <p:cNvPr id="63" name="テキスト ボックス 62">
            <a:extLst>
              <a:ext uri="{FF2B5EF4-FFF2-40B4-BE49-F238E27FC236}">
                <a16:creationId xmlns:a16="http://schemas.microsoft.com/office/drawing/2014/main" id="{BCBEF83E-6A6F-94F8-BE82-1FED30D5AE7B}"/>
              </a:ext>
            </a:extLst>
          </p:cNvPr>
          <p:cNvSpPr txBox="1"/>
          <p:nvPr/>
        </p:nvSpPr>
        <p:spPr>
          <a:xfrm>
            <a:off x="7730727" y="4334737"/>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13</a:t>
            </a:r>
          </a:p>
        </p:txBody>
      </p:sp>
      <p:sp>
        <p:nvSpPr>
          <p:cNvPr id="64" name="テキスト ボックス 63">
            <a:extLst>
              <a:ext uri="{FF2B5EF4-FFF2-40B4-BE49-F238E27FC236}">
                <a16:creationId xmlns:a16="http://schemas.microsoft.com/office/drawing/2014/main" id="{37F4D3C5-72B0-E0D5-43CB-575A58531C57}"/>
              </a:ext>
            </a:extLst>
          </p:cNvPr>
          <p:cNvSpPr txBox="1"/>
          <p:nvPr/>
        </p:nvSpPr>
        <p:spPr>
          <a:xfrm>
            <a:off x="2906023" y="6321852"/>
            <a:ext cx="263214" cy="276999"/>
          </a:xfrm>
          <a:prstGeom prst="rect">
            <a:avLst/>
          </a:prstGeom>
          <a:solidFill>
            <a:schemeClr val="accent2">
              <a:lumMod val="20000"/>
              <a:lumOff val="80000"/>
            </a:schemeClr>
          </a:solidFill>
          <a:ln w="38100">
            <a:solidFill>
              <a:srgbClr val="2F2523"/>
            </a:solidFill>
          </a:ln>
        </p:spPr>
        <p:txBody>
          <a:bodyPr wrap="none" rtlCol="0" anchor="ctr">
            <a:spAutoFit/>
          </a:bodyPr>
          <a:lstStyle/>
          <a:p>
            <a:pPr algn="ctr"/>
            <a:r>
              <a:rPr kumimoji="1" lang="en-US" altLang="ja-GB" sz="1200" dirty="0">
                <a:solidFill>
                  <a:schemeClr val="accent2"/>
                </a:solidFill>
              </a:rPr>
              <a:t>2</a:t>
            </a:r>
          </a:p>
        </p:txBody>
      </p:sp>
      <p:sp>
        <p:nvSpPr>
          <p:cNvPr id="65" name="テキスト ボックス 64">
            <a:extLst>
              <a:ext uri="{FF2B5EF4-FFF2-40B4-BE49-F238E27FC236}">
                <a16:creationId xmlns:a16="http://schemas.microsoft.com/office/drawing/2014/main" id="{BDC2672B-F3ED-519B-A03D-76DD203C96ED}"/>
              </a:ext>
            </a:extLst>
          </p:cNvPr>
          <p:cNvSpPr txBox="1"/>
          <p:nvPr/>
        </p:nvSpPr>
        <p:spPr>
          <a:xfrm>
            <a:off x="4530519" y="5789840"/>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0070C0"/>
                </a:solidFill>
              </a:rPr>
              <a:t>7</a:t>
            </a:r>
          </a:p>
        </p:txBody>
      </p:sp>
      <p:sp>
        <p:nvSpPr>
          <p:cNvPr id="68" name="テキスト ボックス 67">
            <a:extLst>
              <a:ext uri="{FF2B5EF4-FFF2-40B4-BE49-F238E27FC236}">
                <a16:creationId xmlns:a16="http://schemas.microsoft.com/office/drawing/2014/main" id="{6C9DC1E1-C69E-8EE3-B74B-F2F6002A3F1D}"/>
              </a:ext>
            </a:extLst>
          </p:cNvPr>
          <p:cNvSpPr txBox="1"/>
          <p:nvPr/>
        </p:nvSpPr>
        <p:spPr>
          <a:xfrm>
            <a:off x="3514525" y="6344090"/>
            <a:ext cx="4999767" cy="307777"/>
          </a:xfrm>
          <a:prstGeom prst="rect">
            <a:avLst/>
          </a:prstGeom>
          <a:noFill/>
        </p:spPr>
        <p:txBody>
          <a:bodyPr wrap="none" rtlCol="0">
            <a:spAutoFit/>
          </a:bodyPr>
          <a:lstStyle/>
          <a:p>
            <a:pPr algn="ctr"/>
            <a:r>
              <a:rPr lang="ja-GB" altLang="en-US" sz="1400" dirty="0"/>
              <a:t>記法：</a:t>
            </a:r>
            <a:r>
              <a:rPr kumimoji="1" lang="ja-GB" altLang="en-US" sz="1400" dirty="0"/>
              <a:t>二つの四角枠を組み合わせて，上に</a:t>
            </a:r>
            <a:r>
              <a:rPr kumimoji="1" lang="en-US" altLang="ja-GB" sz="1400" dirty="0"/>
              <a:t>ET</a:t>
            </a:r>
            <a:r>
              <a:rPr kumimoji="1" lang="ja-GB" altLang="en-US" sz="1400" dirty="0"/>
              <a:t>，下に</a:t>
            </a:r>
            <a:r>
              <a:rPr kumimoji="1" lang="en-US" altLang="ja-GB" sz="1400" dirty="0"/>
              <a:t>LT</a:t>
            </a:r>
            <a:r>
              <a:rPr kumimoji="1" lang="ja-GB" altLang="en-US" sz="1400" dirty="0"/>
              <a:t>を記入</a:t>
            </a:r>
          </a:p>
        </p:txBody>
      </p:sp>
      <p:sp>
        <p:nvSpPr>
          <p:cNvPr id="4" name="テキスト ボックス 3">
            <a:extLst>
              <a:ext uri="{FF2B5EF4-FFF2-40B4-BE49-F238E27FC236}">
                <a16:creationId xmlns:a16="http://schemas.microsoft.com/office/drawing/2014/main" id="{8DBC36FA-AB67-C54D-456E-F61F50FF5ED6}"/>
              </a:ext>
            </a:extLst>
          </p:cNvPr>
          <p:cNvSpPr txBox="1"/>
          <p:nvPr/>
        </p:nvSpPr>
        <p:spPr>
          <a:xfrm>
            <a:off x="8321002" y="4023904"/>
            <a:ext cx="409086" cy="369332"/>
          </a:xfrm>
          <a:prstGeom prst="rect">
            <a:avLst/>
          </a:prstGeom>
          <a:noFill/>
          <a:ln w="38100">
            <a:noFill/>
          </a:ln>
        </p:spPr>
        <p:txBody>
          <a:bodyPr wrap="none" rtlCol="0" anchor="ctr">
            <a:spAutoFit/>
          </a:bodyPr>
          <a:lstStyle/>
          <a:p>
            <a:pPr algn="ctr"/>
            <a:r>
              <a:rPr kumimoji="1" lang="en-US" altLang="ja-GB" dirty="0">
                <a:solidFill>
                  <a:srgbClr val="2F2523"/>
                </a:solidFill>
              </a:rPr>
              <a:t>ET</a:t>
            </a:r>
          </a:p>
        </p:txBody>
      </p:sp>
      <p:sp>
        <p:nvSpPr>
          <p:cNvPr id="5" name="テキスト ボックス 4">
            <a:extLst>
              <a:ext uri="{FF2B5EF4-FFF2-40B4-BE49-F238E27FC236}">
                <a16:creationId xmlns:a16="http://schemas.microsoft.com/office/drawing/2014/main" id="{A27B8965-95E1-62CB-97BD-00A2A6BA0921}"/>
              </a:ext>
            </a:extLst>
          </p:cNvPr>
          <p:cNvSpPr txBox="1"/>
          <p:nvPr/>
        </p:nvSpPr>
        <p:spPr>
          <a:xfrm>
            <a:off x="8336679" y="4741273"/>
            <a:ext cx="377732" cy="369332"/>
          </a:xfrm>
          <a:prstGeom prst="rect">
            <a:avLst/>
          </a:prstGeom>
          <a:noFill/>
          <a:ln w="38100">
            <a:noFill/>
          </a:ln>
        </p:spPr>
        <p:txBody>
          <a:bodyPr wrap="none" rtlCol="0" anchor="ctr">
            <a:spAutoFit/>
          </a:bodyPr>
          <a:lstStyle/>
          <a:p>
            <a:pPr algn="ctr"/>
            <a:r>
              <a:rPr kumimoji="1" lang="en-US" altLang="ja-GB" dirty="0">
                <a:solidFill>
                  <a:srgbClr val="2F2523"/>
                </a:solidFill>
              </a:rPr>
              <a:t>LT</a:t>
            </a:r>
          </a:p>
        </p:txBody>
      </p:sp>
      <p:cxnSp>
        <p:nvCxnSpPr>
          <p:cNvPr id="6" name="直線コネクタ 5">
            <a:extLst>
              <a:ext uri="{FF2B5EF4-FFF2-40B4-BE49-F238E27FC236}">
                <a16:creationId xmlns:a16="http://schemas.microsoft.com/office/drawing/2014/main" id="{BB42705A-FABB-F95D-21E5-AE1038FCFAAB}"/>
              </a:ext>
            </a:extLst>
          </p:cNvPr>
          <p:cNvCxnSpPr>
            <a:cxnSpLocks/>
            <a:endCxn id="4" idx="1"/>
          </p:cNvCxnSpPr>
          <p:nvPr/>
        </p:nvCxnSpPr>
        <p:spPr>
          <a:xfrm flipV="1">
            <a:off x="8072487" y="4208570"/>
            <a:ext cx="248515" cy="264667"/>
          </a:xfrm>
          <a:prstGeom prst="line">
            <a:avLst/>
          </a:prstGeom>
        </p:spPr>
        <p:style>
          <a:lnRef idx="1">
            <a:schemeClr val="dk1"/>
          </a:lnRef>
          <a:fillRef idx="0">
            <a:schemeClr val="dk1"/>
          </a:fillRef>
          <a:effectRef idx="0">
            <a:schemeClr val="dk1"/>
          </a:effectRef>
          <a:fontRef idx="minor">
            <a:schemeClr val="tx1"/>
          </a:fontRef>
        </p:style>
      </p:cxnSp>
      <p:cxnSp>
        <p:nvCxnSpPr>
          <p:cNvPr id="7" name="直線コネクタ 6">
            <a:extLst>
              <a:ext uri="{FF2B5EF4-FFF2-40B4-BE49-F238E27FC236}">
                <a16:creationId xmlns:a16="http://schemas.microsoft.com/office/drawing/2014/main" id="{CACB7896-D364-5A6E-38C7-EAEC8BDFCAC0}"/>
              </a:ext>
            </a:extLst>
          </p:cNvPr>
          <p:cNvCxnSpPr>
            <a:cxnSpLocks/>
            <a:endCxn id="5" idx="1"/>
          </p:cNvCxnSpPr>
          <p:nvPr/>
        </p:nvCxnSpPr>
        <p:spPr>
          <a:xfrm>
            <a:off x="8070695" y="4731478"/>
            <a:ext cx="265984" cy="194461"/>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31464229"/>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56E4C-6851-7877-4860-FA6ED43A616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7B15931-3E29-85C3-AB13-082BC1ACB7F8}"/>
              </a:ext>
            </a:extLst>
          </p:cNvPr>
          <p:cNvSpPr>
            <a:spLocks noGrp="1"/>
          </p:cNvSpPr>
          <p:nvPr>
            <p:ph type="title"/>
          </p:nvPr>
        </p:nvSpPr>
        <p:spPr/>
        <p:txBody>
          <a:bodyPr>
            <a:normAutofit/>
          </a:bodyPr>
          <a:lstStyle/>
          <a:p>
            <a:r>
              <a:rPr lang="ja-JP" altLang="en-US"/>
              <a:t>最</a:t>
            </a:r>
            <a:r>
              <a:rPr lang="ja-GB" altLang="en-US" dirty="0"/>
              <a:t>遅</a:t>
            </a:r>
            <a:r>
              <a:rPr lang="ja-JP" altLang="en-US"/>
              <a:t>結合点時刻（</a:t>
            </a:r>
            <a:r>
              <a:rPr lang="en-US" altLang="ja-JP" dirty="0"/>
              <a:t>LT</a:t>
            </a:r>
            <a:r>
              <a:rPr lang="ja-JP" altLang="en-US"/>
              <a:t>：</a:t>
            </a:r>
            <a:r>
              <a:rPr lang="en-US" altLang="ja-JP" dirty="0"/>
              <a:t>latest node time</a:t>
            </a:r>
            <a:r>
              <a:rPr lang="ja-JP" altLang="en-US"/>
              <a:t>）</a:t>
            </a:r>
            <a:endParaRPr kumimoji="1" lang="ja-GB" altLang="en-US" dirty="0"/>
          </a:p>
        </p:txBody>
      </p:sp>
      <p:sp>
        <p:nvSpPr>
          <p:cNvPr id="3" name="コンテンツ プレースホルダー 2">
            <a:extLst>
              <a:ext uri="{FF2B5EF4-FFF2-40B4-BE49-F238E27FC236}">
                <a16:creationId xmlns:a16="http://schemas.microsoft.com/office/drawing/2014/main" id="{C373C85E-182B-A570-117A-49E890847518}"/>
              </a:ext>
            </a:extLst>
          </p:cNvPr>
          <p:cNvSpPr>
            <a:spLocks noGrp="1"/>
          </p:cNvSpPr>
          <p:nvPr>
            <p:ph idx="1"/>
          </p:nvPr>
        </p:nvSpPr>
        <p:spPr/>
        <p:txBody>
          <a:bodyPr/>
          <a:lstStyle/>
          <a:p>
            <a:pPr marL="0" indent="0">
              <a:buNone/>
            </a:pPr>
            <a:r>
              <a:rPr kumimoji="1" lang="ja-GB" altLang="en-US" dirty="0"/>
              <a:t>結合点を最も遅く出発して，全体に遅延を出さない限界の時刻</a:t>
            </a:r>
            <a:endParaRPr kumimoji="1" lang="en-US" altLang="ja-GB" dirty="0"/>
          </a:p>
          <a:p>
            <a:pPr marL="0" indent="0">
              <a:buNone/>
            </a:pPr>
            <a:r>
              <a:rPr lang="en-US" altLang="ja-GB" sz="2000" dirty="0"/>
              <a:t>=</a:t>
            </a:r>
            <a:r>
              <a:rPr lang="ja-GB" altLang="en-US" sz="2000" dirty="0"/>
              <a:t>各作業の終点の最早結合点時刻から作業時間を引いた値</a:t>
            </a:r>
            <a:endParaRPr kumimoji="1" lang="en-US" altLang="ja-GB" sz="2000" dirty="0"/>
          </a:p>
          <a:p>
            <a:pPr marL="914400" lvl="1" indent="-457200">
              <a:buFont typeface="+mj-lt"/>
              <a:buAutoNum type="arabicPeriod"/>
            </a:pPr>
            <a:r>
              <a:rPr lang="ja-GB" altLang="en-US" dirty="0">
                <a:solidFill>
                  <a:srgbClr val="2F2523"/>
                </a:solidFill>
              </a:rPr>
              <a:t>終了地点の</a:t>
            </a:r>
            <a:r>
              <a:rPr lang="en-US" altLang="ja-GB" dirty="0">
                <a:solidFill>
                  <a:srgbClr val="2F2523"/>
                </a:solidFill>
              </a:rPr>
              <a:t>LT</a:t>
            </a:r>
            <a:r>
              <a:rPr lang="ja-GB" altLang="en-US" dirty="0">
                <a:solidFill>
                  <a:srgbClr val="2F2523"/>
                </a:solidFill>
              </a:rPr>
              <a:t>を</a:t>
            </a:r>
            <a:r>
              <a:rPr lang="en-US" altLang="ja-GB" dirty="0">
                <a:solidFill>
                  <a:srgbClr val="2F2523"/>
                </a:solidFill>
              </a:rPr>
              <a:t>ET</a:t>
            </a:r>
            <a:r>
              <a:rPr lang="ja-GB" altLang="en-US" dirty="0">
                <a:solidFill>
                  <a:srgbClr val="2F2523"/>
                </a:solidFill>
              </a:rPr>
              <a:t>と同じ値に設定</a:t>
            </a:r>
            <a:endParaRPr lang="en-US" altLang="ja-GB" dirty="0">
              <a:solidFill>
                <a:srgbClr val="2F2523"/>
              </a:solidFill>
            </a:endParaRPr>
          </a:p>
          <a:p>
            <a:pPr lvl="4"/>
            <a:endParaRPr lang="en-US" altLang="ja-GB" dirty="0">
              <a:solidFill>
                <a:srgbClr val="2F2523"/>
              </a:solidFill>
            </a:endParaRPr>
          </a:p>
          <a:p>
            <a:pPr marL="914400" lvl="1" indent="-457200">
              <a:buFont typeface="+mj-lt"/>
              <a:buAutoNum type="arabicPeriod"/>
            </a:pPr>
            <a:r>
              <a:rPr lang="ja-GB" altLang="en-US" dirty="0">
                <a:solidFill>
                  <a:srgbClr val="2F2523"/>
                </a:solidFill>
              </a:rPr>
              <a:t>各結合点の</a:t>
            </a:r>
            <a:r>
              <a:rPr lang="en-US" altLang="ja-GB" dirty="0">
                <a:solidFill>
                  <a:srgbClr val="2F2523"/>
                </a:solidFill>
              </a:rPr>
              <a:t>LT</a:t>
            </a:r>
            <a:r>
              <a:rPr lang="ja-GB" altLang="en-US" dirty="0">
                <a:solidFill>
                  <a:srgbClr val="2F2523"/>
                </a:solidFill>
              </a:rPr>
              <a:t>を計算</a:t>
            </a:r>
            <a:endParaRPr lang="en-US" altLang="ja-GB" dirty="0">
              <a:solidFill>
                <a:srgbClr val="2F2523"/>
              </a:solidFill>
            </a:endParaRPr>
          </a:p>
          <a:p>
            <a:pPr lvl="2"/>
            <a:r>
              <a:rPr lang="ja-GB" altLang="en-US" dirty="0">
                <a:solidFill>
                  <a:srgbClr val="2F2523"/>
                </a:solidFill>
              </a:rPr>
              <a:t>始点の</a:t>
            </a:r>
            <a:r>
              <a:rPr lang="en-US" altLang="ja-GB" dirty="0">
                <a:solidFill>
                  <a:srgbClr val="2F2523"/>
                </a:solidFill>
              </a:rPr>
              <a:t>LT = </a:t>
            </a:r>
            <a:r>
              <a:rPr lang="ja-GB" altLang="en-US" dirty="0">
                <a:solidFill>
                  <a:srgbClr val="2F2523"/>
                </a:solidFill>
              </a:rPr>
              <a:t>終点の</a:t>
            </a:r>
            <a:r>
              <a:rPr lang="en-US" altLang="ja-GB" dirty="0">
                <a:solidFill>
                  <a:srgbClr val="2F2523"/>
                </a:solidFill>
              </a:rPr>
              <a:t>LT - </a:t>
            </a:r>
            <a:r>
              <a:rPr lang="ja-GB" altLang="en-US" dirty="0">
                <a:solidFill>
                  <a:srgbClr val="2F2523"/>
                </a:solidFill>
              </a:rPr>
              <a:t>作業日数</a:t>
            </a:r>
            <a:endParaRPr lang="en-US" altLang="ja-GB" dirty="0">
              <a:solidFill>
                <a:srgbClr val="2F2523"/>
              </a:solidFill>
            </a:endParaRPr>
          </a:p>
          <a:p>
            <a:pPr lvl="2"/>
            <a:r>
              <a:rPr lang="ja-GB" altLang="en-US" dirty="0">
                <a:solidFill>
                  <a:srgbClr val="2F2523"/>
                </a:solidFill>
              </a:rPr>
              <a:t>複数の経路がある場合は，最小の値を</a:t>
            </a:r>
            <a:r>
              <a:rPr lang="en-US" altLang="ja-GB" dirty="0">
                <a:solidFill>
                  <a:srgbClr val="2F2523"/>
                </a:solidFill>
              </a:rPr>
              <a:t>LT</a:t>
            </a:r>
            <a:r>
              <a:rPr lang="ja-GB" altLang="en-US" dirty="0">
                <a:solidFill>
                  <a:srgbClr val="2F2523"/>
                </a:solidFill>
              </a:rPr>
              <a:t>とする</a:t>
            </a:r>
            <a:br>
              <a:rPr lang="en-US" altLang="ja-GB" dirty="0">
                <a:solidFill>
                  <a:srgbClr val="2F2523"/>
                </a:solidFill>
              </a:rPr>
            </a:br>
            <a:r>
              <a:rPr lang="ja-GB" altLang="en-US" sz="1600" dirty="0">
                <a:solidFill>
                  <a:srgbClr val="2F2523"/>
                </a:solidFill>
              </a:rPr>
              <a:t>（</a:t>
            </a:r>
            <a:r>
              <a:rPr kumimoji="1" lang="ja-GB" altLang="en-US" sz="1600" dirty="0">
                <a:solidFill>
                  <a:srgbClr val="2F2523"/>
                </a:solidFill>
              </a:rPr>
              <a:t>早く出発しないと時間がかかる方の作業に遅延が生じるため）</a:t>
            </a:r>
            <a:endParaRPr kumimoji="1" lang="ja-GB" altLang="en-US" dirty="0">
              <a:solidFill>
                <a:srgbClr val="2F2523"/>
              </a:solidFill>
            </a:endParaRPr>
          </a:p>
        </p:txBody>
      </p:sp>
      <p:sp>
        <p:nvSpPr>
          <p:cNvPr id="32" name="円/楕円 31">
            <a:extLst>
              <a:ext uri="{FF2B5EF4-FFF2-40B4-BE49-F238E27FC236}">
                <a16:creationId xmlns:a16="http://schemas.microsoft.com/office/drawing/2014/main" id="{7F1CC10A-20B9-C266-03E1-BF9DE0CA0DD5}"/>
              </a:ext>
            </a:extLst>
          </p:cNvPr>
          <p:cNvSpPr>
            <a:spLocks noChangeAspect="1"/>
          </p:cNvSpPr>
          <p:nvPr/>
        </p:nvSpPr>
        <p:spPr>
          <a:xfrm>
            <a:off x="1168089" y="492593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solidFill>
                <a:srgbClr val="2F2523"/>
              </a:solidFill>
            </a:endParaRPr>
          </a:p>
        </p:txBody>
      </p:sp>
      <p:sp>
        <p:nvSpPr>
          <p:cNvPr id="33" name="円/楕円 32">
            <a:extLst>
              <a:ext uri="{FF2B5EF4-FFF2-40B4-BE49-F238E27FC236}">
                <a16:creationId xmlns:a16="http://schemas.microsoft.com/office/drawing/2014/main" id="{89DC2E95-44CD-F1EA-0695-B988C31A287A}"/>
              </a:ext>
            </a:extLst>
          </p:cNvPr>
          <p:cNvSpPr>
            <a:spLocks noChangeAspect="1"/>
          </p:cNvSpPr>
          <p:nvPr/>
        </p:nvSpPr>
        <p:spPr>
          <a:xfrm>
            <a:off x="2774820" y="4386007"/>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sp>
        <p:nvSpPr>
          <p:cNvPr id="34" name="円/楕円 33">
            <a:extLst>
              <a:ext uri="{FF2B5EF4-FFF2-40B4-BE49-F238E27FC236}">
                <a16:creationId xmlns:a16="http://schemas.microsoft.com/office/drawing/2014/main" id="{28994E8E-F4ED-0B92-FE5F-15270502D37A}"/>
              </a:ext>
            </a:extLst>
          </p:cNvPr>
          <p:cNvSpPr>
            <a:spLocks noChangeAspect="1"/>
          </p:cNvSpPr>
          <p:nvPr/>
        </p:nvSpPr>
        <p:spPr>
          <a:xfrm>
            <a:off x="2774820" y="5450814"/>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sp>
        <p:nvSpPr>
          <p:cNvPr id="35" name="円/楕円 34">
            <a:extLst>
              <a:ext uri="{FF2B5EF4-FFF2-40B4-BE49-F238E27FC236}">
                <a16:creationId xmlns:a16="http://schemas.microsoft.com/office/drawing/2014/main" id="{CD7F0E3F-1E4B-167D-9E08-93DB8376219F}"/>
              </a:ext>
            </a:extLst>
          </p:cNvPr>
          <p:cNvSpPr>
            <a:spLocks noChangeAspect="1"/>
          </p:cNvSpPr>
          <p:nvPr/>
        </p:nvSpPr>
        <p:spPr>
          <a:xfrm>
            <a:off x="4398969" y="492593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sp>
        <p:nvSpPr>
          <p:cNvPr id="36" name="円/楕円 35">
            <a:extLst>
              <a:ext uri="{FF2B5EF4-FFF2-40B4-BE49-F238E27FC236}">
                <a16:creationId xmlns:a16="http://schemas.microsoft.com/office/drawing/2014/main" id="{75906B10-3D27-2C9D-5804-C35A1E8959C3}"/>
              </a:ext>
            </a:extLst>
          </p:cNvPr>
          <p:cNvSpPr>
            <a:spLocks noChangeAspect="1"/>
          </p:cNvSpPr>
          <p:nvPr/>
        </p:nvSpPr>
        <p:spPr>
          <a:xfrm>
            <a:off x="6014409" y="4386007"/>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sp>
        <p:nvSpPr>
          <p:cNvPr id="37" name="円/楕円 36">
            <a:extLst>
              <a:ext uri="{FF2B5EF4-FFF2-40B4-BE49-F238E27FC236}">
                <a16:creationId xmlns:a16="http://schemas.microsoft.com/office/drawing/2014/main" id="{C29BA8BE-6C6D-87DD-3DF6-B750BF6979EC}"/>
              </a:ext>
            </a:extLst>
          </p:cNvPr>
          <p:cNvSpPr>
            <a:spLocks noChangeAspect="1"/>
          </p:cNvSpPr>
          <p:nvPr/>
        </p:nvSpPr>
        <p:spPr>
          <a:xfrm>
            <a:off x="7629849" y="4925939"/>
            <a:ext cx="539932" cy="539932"/>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solidFill>
                <a:srgbClr val="2F2523"/>
              </a:solidFill>
            </a:endParaRPr>
          </a:p>
        </p:txBody>
      </p:sp>
      <p:cxnSp>
        <p:nvCxnSpPr>
          <p:cNvPr id="38" name="直線矢印コネクタ 37">
            <a:extLst>
              <a:ext uri="{FF2B5EF4-FFF2-40B4-BE49-F238E27FC236}">
                <a16:creationId xmlns:a16="http://schemas.microsoft.com/office/drawing/2014/main" id="{7990A20C-52E1-96C2-708D-55FEA942712F}"/>
              </a:ext>
            </a:extLst>
          </p:cNvPr>
          <p:cNvCxnSpPr>
            <a:cxnSpLocks/>
            <a:stCxn id="32" idx="6"/>
            <a:endCxn id="33" idx="2"/>
          </p:cNvCxnSpPr>
          <p:nvPr/>
        </p:nvCxnSpPr>
        <p:spPr>
          <a:xfrm flipV="1">
            <a:off x="1708021" y="4655973"/>
            <a:ext cx="1066799"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8678F685-8759-4F5B-C6BE-CFDBC3E05376}"/>
              </a:ext>
            </a:extLst>
          </p:cNvPr>
          <p:cNvCxnSpPr>
            <a:cxnSpLocks/>
            <a:stCxn id="32" idx="6"/>
            <a:endCxn id="34" idx="2"/>
          </p:cNvCxnSpPr>
          <p:nvPr/>
        </p:nvCxnSpPr>
        <p:spPr>
          <a:xfrm>
            <a:off x="1708021" y="5195905"/>
            <a:ext cx="1066799"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7586B405-44A2-910D-A8FA-DE9C54131342}"/>
              </a:ext>
            </a:extLst>
          </p:cNvPr>
          <p:cNvCxnSpPr>
            <a:cxnSpLocks/>
            <a:stCxn id="33" idx="6"/>
            <a:endCxn id="36" idx="2"/>
          </p:cNvCxnSpPr>
          <p:nvPr/>
        </p:nvCxnSpPr>
        <p:spPr>
          <a:xfrm>
            <a:off x="3314752" y="4655973"/>
            <a:ext cx="2699657"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14B72FA6-349A-7AA8-1C3C-6E08E933E61A}"/>
              </a:ext>
            </a:extLst>
          </p:cNvPr>
          <p:cNvCxnSpPr>
            <a:cxnSpLocks/>
            <a:stCxn id="34" idx="6"/>
            <a:endCxn id="35" idx="2"/>
          </p:cNvCxnSpPr>
          <p:nvPr/>
        </p:nvCxnSpPr>
        <p:spPr>
          <a:xfrm flipV="1">
            <a:off x="3314752" y="5195905"/>
            <a:ext cx="1084217"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BF9362BF-3AF9-9180-A900-31FB7EFCD1A3}"/>
              </a:ext>
            </a:extLst>
          </p:cNvPr>
          <p:cNvCxnSpPr>
            <a:cxnSpLocks/>
            <a:stCxn id="33" idx="6"/>
            <a:endCxn id="35" idx="2"/>
          </p:cNvCxnSpPr>
          <p:nvPr/>
        </p:nvCxnSpPr>
        <p:spPr>
          <a:xfrm>
            <a:off x="3314752" y="4655973"/>
            <a:ext cx="1084217"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35065CD7-DD44-BF0B-8AF1-658C3304D660}"/>
              </a:ext>
            </a:extLst>
          </p:cNvPr>
          <p:cNvCxnSpPr>
            <a:cxnSpLocks/>
            <a:stCxn id="35" idx="6"/>
            <a:endCxn id="36" idx="2"/>
          </p:cNvCxnSpPr>
          <p:nvPr/>
        </p:nvCxnSpPr>
        <p:spPr>
          <a:xfrm flipV="1">
            <a:off x="4938901" y="4655973"/>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B5D1B674-E31A-ADD7-B75C-D5668E0AC006}"/>
              </a:ext>
            </a:extLst>
          </p:cNvPr>
          <p:cNvCxnSpPr>
            <a:cxnSpLocks/>
            <a:endCxn id="37" idx="2"/>
          </p:cNvCxnSpPr>
          <p:nvPr/>
        </p:nvCxnSpPr>
        <p:spPr>
          <a:xfrm>
            <a:off x="4938901" y="5195905"/>
            <a:ext cx="2690948"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2E80E255-F69D-1D7B-F030-3F35FF815B71}"/>
              </a:ext>
            </a:extLst>
          </p:cNvPr>
          <p:cNvCxnSpPr>
            <a:cxnSpLocks/>
            <a:stCxn id="36" idx="6"/>
            <a:endCxn id="37" idx="2"/>
          </p:cNvCxnSpPr>
          <p:nvPr/>
        </p:nvCxnSpPr>
        <p:spPr>
          <a:xfrm>
            <a:off x="6554341" y="4655973"/>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597AE151-6B56-2AFF-2F12-F7DFC0556648}"/>
              </a:ext>
            </a:extLst>
          </p:cNvPr>
          <p:cNvSpPr txBox="1"/>
          <p:nvPr/>
        </p:nvSpPr>
        <p:spPr>
          <a:xfrm>
            <a:off x="1891868" y="4602773"/>
            <a:ext cx="506870" cy="276999"/>
          </a:xfrm>
          <a:prstGeom prst="rect">
            <a:avLst/>
          </a:prstGeom>
          <a:noFill/>
          <a:ln w="38100">
            <a:noFill/>
          </a:ln>
        </p:spPr>
        <p:txBody>
          <a:bodyPr wrap="none" rtlCol="0" anchor="ctr">
            <a:spAutoFit/>
          </a:bodyPr>
          <a:lstStyle/>
          <a:p>
            <a:pPr algn="ctr"/>
            <a:r>
              <a:rPr kumimoji="1" lang="en-US" altLang="ja-GB" sz="1200" dirty="0">
                <a:solidFill>
                  <a:srgbClr val="0070C0"/>
                </a:solidFill>
              </a:rPr>
              <a:t>A</a:t>
            </a:r>
            <a:r>
              <a:rPr kumimoji="1" lang="ja-GB" altLang="en-US" sz="1200" dirty="0">
                <a:solidFill>
                  <a:srgbClr val="0070C0"/>
                </a:solidFill>
              </a:rPr>
              <a:t>：</a:t>
            </a:r>
            <a:r>
              <a:rPr kumimoji="1" lang="en-US" altLang="ja-GB" sz="1200" dirty="0">
                <a:solidFill>
                  <a:srgbClr val="0070C0"/>
                </a:solidFill>
              </a:rPr>
              <a:t>3</a:t>
            </a:r>
          </a:p>
        </p:txBody>
      </p:sp>
      <p:sp>
        <p:nvSpPr>
          <p:cNvPr id="47" name="テキスト ボックス 46">
            <a:extLst>
              <a:ext uri="{FF2B5EF4-FFF2-40B4-BE49-F238E27FC236}">
                <a16:creationId xmlns:a16="http://schemas.microsoft.com/office/drawing/2014/main" id="{AB5205DB-F13B-FC78-97F9-4BF0DA81D3DE}"/>
              </a:ext>
            </a:extLst>
          </p:cNvPr>
          <p:cNvSpPr txBox="1"/>
          <p:nvPr/>
        </p:nvSpPr>
        <p:spPr>
          <a:xfrm>
            <a:off x="1895075" y="5553194"/>
            <a:ext cx="500458" cy="276999"/>
          </a:xfrm>
          <a:prstGeom prst="rect">
            <a:avLst/>
          </a:prstGeom>
          <a:noFill/>
          <a:ln w="38100">
            <a:noFill/>
          </a:ln>
        </p:spPr>
        <p:txBody>
          <a:bodyPr wrap="none" rtlCol="0" anchor="ctr">
            <a:spAutoFit/>
          </a:bodyPr>
          <a:lstStyle/>
          <a:p>
            <a:pPr algn="ctr"/>
            <a:r>
              <a:rPr kumimoji="1" lang="en-US" altLang="ja-GB" sz="1200" dirty="0">
                <a:solidFill>
                  <a:srgbClr val="0070C0"/>
                </a:solidFill>
              </a:rPr>
              <a:t>B</a:t>
            </a:r>
            <a:r>
              <a:rPr kumimoji="1" lang="ja-GB" altLang="en-US" sz="1200" dirty="0">
                <a:solidFill>
                  <a:srgbClr val="0070C0"/>
                </a:solidFill>
              </a:rPr>
              <a:t>：</a:t>
            </a:r>
            <a:r>
              <a:rPr kumimoji="1" lang="en-US" altLang="ja-GB" sz="1200" dirty="0">
                <a:solidFill>
                  <a:srgbClr val="0070C0"/>
                </a:solidFill>
              </a:rPr>
              <a:t>2</a:t>
            </a:r>
          </a:p>
        </p:txBody>
      </p:sp>
      <p:sp>
        <p:nvSpPr>
          <p:cNvPr id="48" name="テキスト ボックス 47">
            <a:extLst>
              <a:ext uri="{FF2B5EF4-FFF2-40B4-BE49-F238E27FC236}">
                <a16:creationId xmlns:a16="http://schemas.microsoft.com/office/drawing/2014/main" id="{131807BE-C133-0EEA-96EA-2545D0445140}"/>
              </a:ext>
            </a:extLst>
          </p:cNvPr>
          <p:cNvSpPr txBox="1"/>
          <p:nvPr/>
        </p:nvSpPr>
        <p:spPr>
          <a:xfrm>
            <a:off x="3438176" y="5597336"/>
            <a:ext cx="511679" cy="276999"/>
          </a:xfrm>
          <a:prstGeom prst="rect">
            <a:avLst/>
          </a:prstGeom>
          <a:noFill/>
          <a:ln w="38100">
            <a:noFill/>
          </a:ln>
        </p:spPr>
        <p:txBody>
          <a:bodyPr wrap="none" rtlCol="0" anchor="ctr">
            <a:spAutoFit/>
          </a:bodyPr>
          <a:lstStyle/>
          <a:p>
            <a:pPr algn="ctr"/>
            <a:r>
              <a:rPr kumimoji="1" lang="en-US" altLang="ja-GB" sz="1200" dirty="0">
                <a:solidFill>
                  <a:srgbClr val="2F2523"/>
                </a:solidFill>
              </a:rPr>
              <a:t>D</a:t>
            </a:r>
            <a:r>
              <a:rPr kumimoji="1" lang="ja-GB" altLang="en-US" sz="1200" dirty="0">
                <a:solidFill>
                  <a:srgbClr val="2F2523"/>
                </a:solidFill>
              </a:rPr>
              <a:t>：</a:t>
            </a:r>
            <a:r>
              <a:rPr kumimoji="1" lang="en-US" altLang="ja-GB" sz="1200" dirty="0">
                <a:solidFill>
                  <a:srgbClr val="2F2523"/>
                </a:solidFill>
              </a:rPr>
              <a:t>5</a:t>
            </a:r>
          </a:p>
        </p:txBody>
      </p:sp>
      <p:sp>
        <p:nvSpPr>
          <p:cNvPr id="49" name="テキスト ボックス 48">
            <a:extLst>
              <a:ext uri="{FF2B5EF4-FFF2-40B4-BE49-F238E27FC236}">
                <a16:creationId xmlns:a16="http://schemas.microsoft.com/office/drawing/2014/main" id="{01CAACBE-0B1C-0029-E860-C8CEAF4A08C0}"/>
              </a:ext>
            </a:extLst>
          </p:cNvPr>
          <p:cNvSpPr txBox="1"/>
          <p:nvPr/>
        </p:nvSpPr>
        <p:spPr>
          <a:xfrm>
            <a:off x="3444589" y="4896967"/>
            <a:ext cx="498855" cy="276999"/>
          </a:xfrm>
          <a:prstGeom prst="rect">
            <a:avLst/>
          </a:prstGeom>
          <a:noFill/>
          <a:ln w="38100">
            <a:noFill/>
          </a:ln>
        </p:spPr>
        <p:txBody>
          <a:bodyPr wrap="none" rtlCol="0" anchor="ctr">
            <a:spAutoFit/>
          </a:bodyPr>
          <a:lstStyle/>
          <a:p>
            <a:pPr algn="ctr"/>
            <a:r>
              <a:rPr kumimoji="1" lang="en-US" altLang="ja-GB" sz="1200" dirty="0">
                <a:solidFill>
                  <a:srgbClr val="2F2523"/>
                </a:solidFill>
              </a:rPr>
              <a:t>C</a:t>
            </a:r>
            <a:r>
              <a:rPr kumimoji="1" lang="ja-GB" altLang="en-US" sz="1200" dirty="0">
                <a:solidFill>
                  <a:srgbClr val="2F2523"/>
                </a:solidFill>
              </a:rPr>
              <a:t>：</a:t>
            </a:r>
            <a:r>
              <a:rPr kumimoji="1" lang="en-US" altLang="ja-GB" sz="1200" dirty="0">
                <a:solidFill>
                  <a:srgbClr val="2F2523"/>
                </a:solidFill>
              </a:rPr>
              <a:t>4</a:t>
            </a:r>
          </a:p>
        </p:txBody>
      </p:sp>
      <p:sp>
        <p:nvSpPr>
          <p:cNvPr id="50" name="テキスト ボックス 49">
            <a:extLst>
              <a:ext uri="{FF2B5EF4-FFF2-40B4-BE49-F238E27FC236}">
                <a16:creationId xmlns:a16="http://schemas.microsoft.com/office/drawing/2014/main" id="{D8FF841F-217F-948B-AD16-5282891E97DC}"/>
              </a:ext>
            </a:extLst>
          </p:cNvPr>
          <p:cNvSpPr txBox="1"/>
          <p:nvPr/>
        </p:nvSpPr>
        <p:spPr>
          <a:xfrm>
            <a:off x="4468025" y="4347069"/>
            <a:ext cx="492443" cy="276999"/>
          </a:xfrm>
          <a:prstGeom prst="rect">
            <a:avLst/>
          </a:prstGeom>
          <a:noFill/>
          <a:ln w="38100">
            <a:noFill/>
          </a:ln>
        </p:spPr>
        <p:txBody>
          <a:bodyPr wrap="none" rtlCol="0" anchor="ctr">
            <a:spAutoFit/>
          </a:bodyPr>
          <a:lstStyle/>
          <a:p>
            <a:pPr algn="ctr"/>
            <a:r>
              <a:rPr kumimoji="1" lang="en-US" altLang="ja-GB" sz="1200" dirty="0">
                <a:solidFill>
                  <a:srgbClr val="2F2523"/>
                </a:solidFill>
              </a:rPr>
              <a:t>E</a:t>
            </a:r>
            <a:r>
              <a:rPr kumimoji="1" lang="ja-GB" altLang="en-US" sz="1200" dirty="0">
                <a:solidFill>
                  <a:srgbClr val="2F2523"/>
                </a:solidFill>
              </a:rPr>
              <a:t>：</a:t>
            </a:r>
            <a:r>
              <a:rPr kumimoji="1" lang="en-US" altLang="ja-GB" sz="1200" dirty="0">
                <a:solidFill>
                  <a:srgbClr val="2F2523"/>
                </a:solidFill>
              </a:rPr>
              <a:t>1</a:t>
            </a:r>
          </a:p>
        </p:txBody>
      </p:sp>
      <p:sp>
        <p:nvSpPr>
          <p:cNvPr id="51" name="テキスト ボックス 50">
            <a:extLst>
              <a:ext uri="{FF2B5EF4-FFF2-40B4-BE49-F238E27FC236}">
                <a16:creationId xmlns:a16="http://schemas.microsoft.com/office/drawing/2014/main" id="{15AB96B8-292F-0F15-C0FC-B4A4D5384C24}"/>
              </a:ext>
            </a:extLst>
          </p:cNvPr>
          <p:cNvSpPr txBox="1"/>
          <p:nvPr/>
        </p:nvSpPr>
        <p:spPr>
          <a:xfrm>
            <a:off x="5422082" y="4867276"/>
            <a:ext cx="514885" cy="276999"/>
          </a:xfrm>
          <a:prstGeom prst="rect">
            <a:avLst/>
          </a:prstGeom>
          <a:noFill/>
          <a:ln w="38100">
            <a:noFill/>
          </a:ln>
        </p:spPr>
        <p:txBody>
          <a:bodyPr wrap="none" rtlCol="0" anchor="ctr">
            <a:spAutoFit/>
          </a:bodyPr>
          <a:lstStyle/>
          <a:p>
            <a:pPr algn="ctr"/>
            <a:r>
              <a:rPr kumimoji="1" lang="en-US" altLang="ja-GB" sz="1200" dirty="0">
                <a:solidFill>
                  <a:srgbClr val="2F2523"/>
                </a:solidFill>
              </a:rPr>
              <a:t>G</a:t>
            </a:r>
            <a:r>
              <a:rPr kumimoji="1" lang="ja-GB" altLang="en-US" sz="1200" dirty="0">
                <a:solidFill>
                  <a:srgbClr val="2F2523"/>
                </a:solidFill>
              </a:rPr>
              <a:t>：</a:t>
            </a:r>
            <a:r>
              <a:rPr kumimoji="1" lang="en-US" altLang="ja-GB" sz="1200" dirty="0">
                <a:solidFill>
                  <a:srgbClr val="2F2523"/>
                </a:solidFill>
              </a:rPr>
              <a:t>3</a:t>
            </a:r>
          </a:p>
        </p:txBody>
      </p:sp>
      <p:sp>
        <p:nvSpPr>
          <p:cNvPr id="52" name="テキスト ボックス 51">
            <a:extLst>
              <a:ext uri="{FF2B5EF4-FFF2-40B4-BE49-F238E27FC236}">
                <a16:creationId xmlns:a16="http://schemas.microsoft.com/office/drawing/2014/main" id="{02B67556-4B31-094F-F904-F0091C988CF1}"/>
              </a:ext>
            </a:extLst>
          </p:cNvPr>
          <p:cNvSpPr txBox="1"/>
          <p:nvPr/>
        </p:nvSpPr>
        <p:spPr>
          <a:xfrm>
            <a:off x="6040558" y="5230627"/>
            <a:ext cx="487633" cy="276999"/>
          </a:xfrm>
          <a:prstGeom prst="rect">
            <a:avLst/>
          </a:prstGeom>
          <a:noFill/>
          <a:ln w="38100">
            <a:noFill/>
          </a:ln>
        </p:spPr>
        <p:txBody>
          <a:bodyPr wrap="none" rtlCol="0" anchor="ctr">
            <a:spAutoFit/>
          </a:bodyPr>
          <a:lstStyle/>
          <a:p>
            <a:pPr algn="ctr"/>
            <a:r>
              <a:rPr kumimoji="1" lang="en-US" altLang="ja-GB" sz="1200" dirty="0">
                <a:solidFill>
                  <a:srgbClr val="2F2523"/>
                </a:solidFill>
              </a:rPr>
              <a:t>F</a:t>
            </a:r>
            <a:r>
              <a:rPr kumimoji="1" lang="ja-GB" altLang="en-US" sz="1200" dirty="0">
                <a:solidFill>
                  <a:srgbClr val="2F2523"/>
                </a:solidFill>
              </a:rPr>
              <a:t>：</a:t>
            </a:r>
            <a:r>
              <a:rPr kumimoji="1" lang="en-US" altLang="ja-GB" sz="1200" dirty="0">
                <a:solidFill>
                  <a:srgbClr val="2F2523"/>
                </a:solidFill>
              </a:rPr>
              <a:t>6</a:t>
            </a:r>
          </a:p>
        </p:txBody>
      </p:sp>
      <p:sp>
        <p:nvSpPr>
          <p:cNvPr id="53" name="テキスト ボックス 52">
            <a:extLst>
              <a:ext uri="{FF2B5EF4-FFF2-40B4-BE49-F238E27FC236}">
                <a16:creationId xmlns:a16="http://schemas.microsoft.com/office/drawing/2014/main" id="{FE2290D0-E86F-0A11-4A3C-D65FBB836351}"/>
              </a:ext>
            </a:extLst>
          </p:cNvPr>
          <p:cNvSpPr txBox="1"/>
          <p:nvPr/>
        </p:nvSpPr>
        <p:spPr>
          <a:xfrm>
            <a:off x="6976103" y="4626229"/>
            <a:ext cx="513282" cy="276999"/>
          </a:xfrm>
          <a:prstGeom prst="rect">
            <a:avLst/>
          </a:prstGeom>
          <a:noFill/>
          <a:ln w="38100">
            <a:noFill/>
          </a:ln>
        </p:spPr>
        <p:txBody>
          <a:bodyPr wrap="none" rtlCol="0" anchor="ctr">
            <a:spAutoFit/>
          </a:bodyPr>
          <a:lstStyle/>
          <a:p>
            <a:pPr algn="ctr"/>
            <a:r>
              <a:rPr kumimoji="1" lang="en-US" altLang="ja-GB" sz="1200" dirty="0">
                <a:solidFill>
                  <a:srgbClr val="2F2523"/>
                </a:solidFill>
              </a:rPr>
              <a:t>H</a:t>
            </a:r>
            <a:r>
              <a:rPr kumimoji="1" lang="ja-GB" altLang="en-US" sz="1200" dirty="0">
                <a:solidFill>
                  <a:srgbClr val="2F2523"/>
                </a:solidFill>
              </a:rPr>
              <a:t>：</a:t>
            </a:r>
            <a:r>
              <a:rPr kumimoji="1" lang="en-US" altLang="ja-GB" sz="1200" dirty="0">
                <a:solidFill>
                  <a:srgbClr val="2F2523"/>
                </a:solidFill>
              </a:rPr>
              <a:t>2</a:t>
            </a:r>
          </a:p>
        </p:txBody>
      </p:sp>
      <p:sp>
        <p:nvSpPr>
          <p:cNvPr id="54" name="テキスト ボックス 53">
            <a:extLst>
              <a:ext uri="{FF2B5EF4-FFF2-40B4-BE49-F238E27FC236}">
                <a16:creationId xmlns:a16="http://schemas.microsoft.com/office/drawing/2014/main" id="{ACD90CF3-C2BD-A572-FD48-0978855B391D}"/>
              </a:ext>
            </a:extLst>
          </p:cNvPr>
          <p:cNvSpPr txBox="1"/>
          <p:nvPr/>
        </p:nvSpPr>
        <p:spPr>
          <a:xfrm>
            <a:off x="1306447" y="4592978"/>
            <a:ext cx="263214" cy="276999"/>
          </a:xfrm>
          <a:prstGeom prst="rect">
            <a:avLst/>
          </a:prstGeom>
          <a:solidFill>
            <a:schemeClr val="accent2">
              <a:lumMod val="20000"/>
              <a:lumOff val="80000"/>
            </a:schemeClr>
          </a:solidFill>
          <a:ln w="38100">
            <a:solidFill>
              <a:srgbClr val="2F2523"/>
            </a:solidFill>
          </a:ln>
        </p:spPr>
        <p:txBody>
          <a:bodyPr wrap="none" rtlCol="0" anchor="ctr">
            <a:spAutoFit/>
          </a:bodyPr>
          <a:lstStyle/>
          <a:p>
            <a:pPr algn="ctr"/>
            <a:r>
              <a:rPr kumimoji="1" lang="en-US" altLang="ja-GB" sz="1200" dirty="0">
                <a:solidFill>
                  <a:schemeClr val="accent2"/>
                </a:solidFill>
              </a:rPr>
              <a:t>0</a:t>
            </a:r>
          </a:p>
        </p:txBody>
      </p:sp>
      <p:sp>
        <p:nvSpPr>
          <p:cNvPr id="55" name="テキスト ボックス 54">
            <a:extLst>
              <a:ext uri="{FF2B5EF4-FFF2-40B4-BE49-F238E27FC236}">
                <a16:creationId xmlns:a16="http://schemas.microsoft.com/office/drawing/2014/main" id="{51712633-8B43-911F-A9D0-504EFCBF3C75}"/>
              </a:ext>
            </a:extLst>
          </p:cNvPr>
          <p:cNvSpPr txBox="1"/>
          <p:nvPr/>
        </p:nvSpPr>
        <p:spPr>
          <a:xfrm>
            <a:off x="2913178" y="6053444"/>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2</a:t>
            </a:r>
          </a:p>
        </p:txBody>
      </p:sp>
      <p:sp>
        <p:nvSpPr>
          <p:cNvPr id="56" name="テキスト ボックス 55">
            <a:extLst>
              <a:ext uri="{FF2B5EF4-FFF2-40B4-BE49-F238E27FC236}">
                <a16:creationId xmlns:a16="http://schemas.microsoft.com/office/drawing/2014/main" id="{05C8C84D-48CE-D98F-2F8F-2983DB834BD1}"/>
              </a:ext>
            </a:extLst>
          </p:cNvPr>
          <p:cNvSpPr txBox="1"/>
          <p:nvPr/>
        </p:nvSpPr>
        <p:spPr>
          <a:xfrm>
            <a:off x="2917783" y="4053046"/>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0070C0"/>
                </a:solidFill>
              </a:rPr>
              <a:t>3</a:t>
            </a:r>
          </a:p>
        </p:txBody>
      </p:sp>
      <p:sp>
        <p:nvSpPr>
          <p:cNvPr id="57" name="テキスト ボックス 56">
            <a:extLst>
              <a:ext uri="{FF2B5EF4-FFF2-40B4-BE49-F238E27FC236}">
                <a16:creationId xmlns:a16="http://schemas.microsoft.com/office/drawing/2014/main" id="{9064DE1A-8FAC-7D8A-8979-11278A1931E6}"/>
              </a:ext>
            </a:extLst>
          </p:cNvPr>
          <p:cNvSpPr txBox="1"/>
          <p:nvPr/>
        </p:nvSpPr>
        <p:spPr>
          <a:xfrm>
            <a:off x="4537674" y="5521432"/>
            <a:ext cx="263213"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7</a:t>
            </a:r>
          </a:p>
        </p:txBody>
      </p:sp>
      <p:sp>
        <p:nvSpPr>
          <p:cNvPr id="58" name="テキスト ボックス 57">
            <a:extLst>
              <a:ext uri="{FF2B5EF4-FFF2-40B4-BE49-F238E27FC236}">
                <a16:creationId xmlns:a16="http://schemas.microsoft.com/office/drawing/2014/main" id="{EFA59605-3232-DC1E-2531-A975FE7B056B}"/>
              </a:ext>
            </a:extLst>
          </p:cNvPr>
          <p:cNvSpPr txBox="1"/>
          <p:nvPr/>
        </p:nvSpPr>
        <p:spPr>
          <a:xfrm>
            <a:off x="6105483" y="4053046"/>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11</a:t>
            </a:r>
          </a:p>
        </p:txBody>
      </p:sp>
      <p:sp>
        <p:nvSpPr>
          <p:cNvPr id="59" name="テキスト ボックス 58">
            <a:extLst>
              <a:ext uri="{FF2B5EF4-FFF2-40B4-BE49-F238E27FC236}">
                <a16:creationId xmlns:a16="http://schemas.microsoft.com/office/drawing/2014/main" id="{26F0AE58-5879-63C0-3274-1BC1D4715889}"/>
              </a:ext>
            </a:extLst>
          </p:cNvPr>
          <p:cNvSpPr txBox="1"/>
          <p:nvPr/>
        </p:nvSpPr>
        <p:spPr>
          <a:xfrm>
            <a:off x="7728935" y="4592978"/>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13</a:t>
            </a:r>
          </a:p>
        </p:txBody>
      </p:sp>
      <p:sp>
        <p:nvSpPr>
          <p:cNvPr id="60" name="テキスト ボックス 59">
            <a:extLst>
              <a:ext uri="{FF2B5EF4-FFF2-40B4-BE49-F238E27FC236}">
                <a16:creationId xmlns:a16="http://schemas.microsoft.com/office/drawing/2014/main" id="{D21D0D6D-5F1F-8EF5-A96B-BE05358D63A5}"/>
              </a:ext>
            </a:extLst>
          </p:cNvPr>
          <p:cNvSpPr txBox="1"/>
          <p:nvPr/>
        </p:nvSpPr>
        <p:spPr>
          <a:xfrm>
            <a:off x="1308239" y="4334737"/>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0</a:t>
            </a:r>
          </a:p>
        </p:txBody>
      </p:sp>
      <p:sp>
        <p:nvSpPr>
          <p:cNvPr id="61" name="テキスト ボックス 60">
            <a:extLst>
              <a:ext uri="{FF2B5EF4-FFF2-40B4-BE49-F238E27FC236}">
                <a16:creationId xmlns:a16="http://schemas.microsoft.com/office/drawing/2014/main" id="{95D18AEB-360C-B785-3021-221577502CDB}"/>
              </a:ext>
            </a:extLst>
          </p:cNvPr>
          <p:cNvSpPr txBox="1"/>
          <p:nvPr/>
        </p:nvSpPr>
        <p:spPr>
          <a:xfrm>
            <a:off x="2919575" y="3794805"/>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3</a:t>
            </a:r>
          </a:p>
        </p:txBody>
      </p:sp>
      <p:sp>
        <p:nvSpPr>
          <p:cNvPr id="62" name="テキスト ボックス 61">
            <a:extLst>
              <a:ext uri="{FF2B5EF4-FFF2-40B4-BE49-F238E27FC236}">
                <a16:creationId xmlns:a16="http://schemas.microsoft.com/office/drawing/2014/main" id="{5702573D-F93C-B324-2FA7-63BF0D465225}"/>
              </a:ext>
            </a:extLst>
          </p:cNvPr>
          <p:cNvSpPr txBox="1"/>
          <p:nvPr/>
        </p:nvSpPr>
        <p:spPr>
          <a:xfrm>
            <a:off x="6107275" y="3794805"/>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10</a:t>
            </a:r>
          </a:p>
        </p:txBody>
      </p:sp>
      <p:sp>
        <p:nvSpPr>
          <p:cNvPr id="63" name="テキスト ボックス 62">
            <a:extLst>
              <a:ext uri="{FF2B5EF4-FFF2-40B4-BE49-F238E27FC236}">
                <a16:creationId xmlns:a16="http://schemas.microsoft.com/office/drawing/2014/main" id="{D261C325-AFE0-56E1-0E04-F782CE029986}"/>
              </a:ext>
            </a:extLst>
          </p:cNvPr>
          <p:cNvSpPr txBox="1"/>
          <p:nvPr/>
        </p:nvSpPr>
        <p:spPr>
          <a:xfrm>
            <a:off x="7730727" y="4334737"/>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13</a:t>
            </a:r>
          </a:p>
        </p:txBody>
      </p:sp>
      <p:sp>
        <p:nvSpPr>
          <p:cNvPr id="64" name="テキスト ボックス 63">
            <a:extLst>
              <a:ext uri="{FF2B5EF4-FFF2-40B4-BE49-F238E27FC236}">
                <a16:creationId xmlns:a16="http://schemas.microsoft.com/office/drawing/2014/main" id="{B8F88A80-72FA-B43A-A56A-5DBFA10DE222}"/>
              </a:ext>
            </a:extLst>
          </p:cNvPr>
          <p:cNvSpPr txBox="1"/>
          <p:nvPr/>
        </p:nvSpPr>
        <p:spPr>
          <a:xfrm>
            <a:off x="2906023" y="6321852"/>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0070C0"/>
                </a:solidFill>
              </a:rPr>
              <a:t>2</a:t>
            </a:r>
          </a:p>
        </p:txBody>
      </p:sp>
      <p:sp>
        <p:nvSpPr>
          <p:cNvPr id="65" name="テキスト ボックス 64">
            <a:extLst>
              <a:ext uri="{FF2B5EF4-FFF2-40B4-BE49-F238E27FC236}">
                <a16:creationId xmlns:a16="http://schemas.microsoft.com/office/drawing/2014/main" id="{534516E0-9262-FDD5-BD5D-C7C3253FF450}"/>
              </a:ext>
            </a:extLst>
          </p:cNvPr>
          <p:cNvSpPr txBox="1"/>
          <p:nvPr/>
        </p:nvSpPr>
        <p:spPr>
          <a:xfrm>
            <a:off x="4530519" y="5789840"/>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7</a:t>
            </a:r>
          </a:p>
        </p:txBody>
      </p:sp>
      <p:sp>
        <p:nvSpPr>
          <p:cNvPr id="68" name="テキスト ボックス 67">
            <a:extLst>
              <a:ext uri="{FF2B5EF4-FFF2-40B4-BE49-F238E27FC236}">
                <a16:creationId xmlns:a16="http://schemas.microsoft.com/office/drawing/2014/main" id="{30089F48-1C37-9DB7-5A05-D0076A52686A}"/>
              </a:ext>
            </a:extLst>
          </p:cNvPr>
          <p:cNvSpPr txBox="1"/>
          <p:nvPr/>
        </p:nvSpPr>
        <p:spPr>
          <a:xfrm>
            <a:off x="3514525" y="6344090"/>
            <a:ext cx="4999767" cy="307777"/>
          </a:xfrm>
          <a:prstGeom prst="rect">
            <a:avLst/>
          </a:prstGeom>
          <a:noFill/>
        </p:spPr>
        <p:txBody>
          <a:bodyPr wrap="none" rtlCol="0">
            <a:spAutoFit/>
          </a:bodyPr>
          <a:lstStyle/>
          <a:p>
            <a:pPr algn="ctr"/>
            <a:r>
              <a:rPr lang="ja-GB" altLang="en-US" sz="1400" dirty="0"/>
              <a:t>記法：</a:t>
            </a:r>
            <a:r>
              <a:rPr kumimoji="1" lang="ja-GB" altLang="en-US" sz="1400" dirty="0"/>
              <a:t>二つの四角枠を組み合わせて，上に</a:t>
            </a:r>
            <a:r>
              <a:rPr kumimoji="1" lang="en-US" altLang="ja-GB" sz="1400" dirty="0"/>
              <a:t>ET</a:t>
            </a:r>
            <a:r>
              <a:rPr kumimoji="1" lang="ja-GB" altLang="en-US" sz="1400" dirty="0"/>
              <a:t>，下に</a:t>
            </a:r>
            <a:r>
              <a:rPr kumimoji="1" lang="en-US" altLang="ja-GB" sz="1400" dirty="0"/>
              <a:t>LT</a:t>
            </a:r>
            <a:r>
              <a:rPr kumimoji="1" lang="ja-GB" altLang="en-US" sz="1400" dirty="0"/>
              <a:t>を記入</a:t>
            </a:r>
          </a:p>
        </p:txBody>
      </p:sp>
      <p:sp>
        <p:nvSpPr>
          <p:cNvPr id="4" name="テキスト ボックス 3">
            <a:extLst>
              <a:ext uri="{FF2B5EF4-FFF2-40B4-BE49-F238E27FC236}">
                <a16:creationId xmlns:a16="http://schemas.microsoft.com/office/drawing/2014/main" id="{7E939CEC-8DBD-2A8A-9501-E9CFFB5B1C53}"/>
              </a:ext>
            </a:extLst>
          </p:cNvPr>
          <p:cNvSpPr txBox="1"/>
          <p:nvPr/>
        </p:nvSpPr>
        <p:spPr>
          <a:xfrm>
            <a:off x="8321002" y="4023904"/>
            <a:ext cx="409086" cy="369332"/>
          </a:xfrm>
          <a:prstGeom prst="rect">
            <a:avLst/>
          </a:prstGeom>
          <a:noFill/>
          <a:ln w="38100">
            <a:noFill/>
          </a:ln>
        </p:spPr>
        <p:txBody>
          <a:bodyPr wrap="none" rtlCol="0" anchor="ctr">
            <a:spAutoFit/>
          </a:bodyPr>
          <a:lstStyle/>
          <a:p>
            <a:pPr algn="ctr"/>
            <a:r>
              <a:rPr kumimoji="1" lang="en-US" altLang="ja-GB" dirty="0">
                <a:solidFill>
                  <a:srgbClr val="2F2523"/>
                </a:solidFill>
              </a:rPr>
              <a:t>ET</a:t>
            </a:r>
          </a:p>
        </p:txBody>
      </p:sp>
      <p:sp>
        <p:nvSpPr>
          <p:cNvPr id="5" name="テキスト ボックス 4">
            <a:extLst>
              <a:ext uri="{FF2B5EF4-FFF2-40B4-BE49-F238E27FC236}">
                <a16:creationId xmlns:a16="http://schemas.microsoft.com/office/drawing/2014/main" id="{E9501C68-48AE-8C97-F683-7CB8E21CE9A7}"/>
              </a:ext>
            </a:extLst>
          </p:cNvPr>
          <p:cNvSpPr txBox="1"/>
          <p:nvPr/>
        </p:nvSpPr>
        <p:spPr>
          <a:xfrm>
            <a:off x="8336679" y="4741273"/>
            <a:ext cx="377732" cy="369332"/>
          </a:xfrm>
          <a:prstGeom prst="rect">
            <a:avLst/>
          </a:prstGeom>
          <a:noFill/>
          <a:ln w="38100">
            <a:noFill/>
          </a:ln>
        </p:spPr>
        <p:txBody>
          <a:bodyPr wrap="none" rtlCol="0" anchor="ctr">
            <a:spAutoFit/>
          </a:bodyPr>
          <a:lstStyle/>
          <a:p>
            <a:pPr algn="ctr"/>
            <a:r>
              <a:rPr kumimoji="1" lang="en-US" altLang="ja-GB" dirty="0">
                <a:solidFill>
                  <a:srgbClr val="2F2523"/>
                </a:solidFill>
              </a:rPr>
              <a:t>LT</a:t>
            </a:r>
          </a:p>
        </p:txBody>
      </p:sp>
      <p:cxnSp>
        <p:nvCxnSpPr>
          <p:cNvPr id="6" name="直線コネクタ 5">
            <a:extLst>
              <a:ext uri="{FF2B5EF4-FFF2-40B4-BE49-F238E27FC236}">
                <a16:creationId xmlns:a16="http://schemas.microsoft.com/office/drawing/2014/main" id="{FA726D63-A9CD-5BAD-407D-A950699FEC02}"/>
              </a:ext>
            </a:extLst>
          </p:cNvPr>
          <p:cNvCxnSpPr>
            <a:cxnSpLocks/>
            <a:endCxn id="4" idx="1"/>
          </p:cNvCxnSpPr>
          <p:nvPr/>
        </p:nvCxnSpPr>
        <p:spPr>
          <a:xfrm flipV="1">
            <a:off x="8072487" y="4208570"/>
            <a:ext cx="248515" cy="264667"/>
          </a:xfrm>
          <a:prstGeom prst="line">
            <a:avLst/>
          </a:prstGeom>
        </p:spPr>
        <p:style>
          <a:lnRef idx="1">
            <a:schemeClr val="dk1"/>
          </a:lnRef>
          <a:fillRef idx="0">
            <a:schemeClr val="dk1"/>
          </a:fillRef>
          <a:effectRef idx="0">
            <a:schemeClr val="dk1"/>
          </a:effectRef>
          <a:fontRef idx="minor">
            <a:schemeClr val="tx1"/>
          </a:fontRef>
        </p:style>
      </p:cxnSp>
      <p:cxnSp>
        <p:nvCxnSpPr>
          <p:cNvPr id="7" name="直線コネクタ 6">
            <a:extLst>
              <a:ext uri="{FF2B5EF4-FFF2-40B4-BE49-F238E27FC236}">
                <a16:creationId xmlns:a16="http://schemas.microsoft.com/office/drawing/2014/main" id="{929A2E87-C248-70BC-2CB2-B66F011BD495}"/>
              </a:ext>
            </a:extLst>
          </p:cNvPr>
          <p:cNvCxnSpPr>
            <a:cxnSpLocks/>
            <a:endCxn id="5" idx="1"/>
          </p:cNvCxnSpPr>
          <p:nvPr/>
        </p:nvCxnSpPr>
        <p:spPr>
          <a:xfrm>
            <a:off x="8070695" y="4731478"/>
            <a:ext cx="265984" cy="194461"/>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1940986"/>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F46A3-4C9D-C514-3E3E-D1E5E939F95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7C555DD-E297-785A-76A8-7918E9A13A90}"/>
              </a:ext>
            </a:extLst>
          </p:cNvPr>
          <p:cNvSpPr>
            <a:spLocks noGrp="1"/>
          </p:cNvSpPr>
          <p:nvPr>
            <p:ph type="title"/>
          </p:nvPr>
        </p:nvSpPr>
        <p:spPr/>
        <p:txBody>
          <a:bodyPr/>
          <a:lstStyle/>
          <a:p>
            <a:r>
              <a:rPr kumimoji="1" lang="ja-GB" altLang="en-US" dirty="0"/>
              <a:t>本日の内容</a:t>
            </a:r>
          </a:p>
        </p:txBody>
      </p:sp>
      <p:sp>
        <p:nvSpPr>
          <p:cNvPr id="3" name="コンテンツ プレースホルダー 2">
            <a:extLst>
              <a:ext uri="{FF2B5EF4-FFF2-40B4-BE49-F238E27FC236}">
                <a16:creationId xmlns:a16="http://schemas.microsoft.com/office/drawing/2014/main" id="{CD1D4E30-DCB3-F51F-1905-DEADF90A4C8E}"/>
              </a:ext>
            </a:extLst>
          </p:cNvPr>
          <p:cNvSpPr>
            <a:spLocks noGrp="1"/>
          </p:cNvSpPr>
          <p:nvPr>
            <p:ph idx="1"/>
          </p:nvPr>
        </p:nvSpPr>
        <p:spPr/>
        <p:txBody>
          <a:bodyPr/>
          <a:lstStyle/>
          <a:p>
            <a:pPr marL="457200" indent="-457200">
              <a:buFont typeface="+mj-lt"/>
              <a:buAutoNum type="arabicPeriod"/>
            </a:pPr>
            <a:r>
              <a:rPr kumimoji="1" lang="en-US" altLang="ja-GB" dirty="0">
                <a:solidFill>
                  <a:schemeClr val="tx1">
                    <a:lumMod val="50000"/>
                    <a:lumOff val="50000"/>
                  </a:schemeClr>
                </a:solidFill>
              </a:rPr>
              <a:t>PERT</a:t>
            </a:r>
          </a:p>
          <a:p>
            <a:pPr lvl="1"/>
            <a:r>
              <a:rPr kumimoji="1" lang="ja-GB" altLang="en-US" dirty="0">
                <a:solidFill>
                  <a:schemeClr val="tx1">
                    <a:lumMod val="50000"/>
                    <a:lumOff val="50000"/>
                  </a:schemeClr>
                </a:solidFill>
              </a:rPr>
              <a:t>日程管理計画問題</a:t>
            </a:r>
            <a:endParaRPr kumimoji="1" lang="en-US" altLang="ja-GB" dirty="0">
              <a:solidFill>
                <a:schemeClr val="tx1">
                  <a:lumMod val="50000"/>
                  <a:lumOff val="50000"/>
                </a:schemeClr>
              </a:solidFill>
            </a:endParaRPr>
          </a:p>
          <a:p>
            <a:pPr lvl="1"/>
            <a:r>
              <a:rPr kumimoji="1" lang="en-US" altLang="ja-GB" dirty="0">
                <a:solidFill>
                  <a:schemeClr val="tx1">
                    <a:lumMod val="50000"/>
                    <a:lumOff val="50000"/>
                  </a:schemeClr>
                </a:solidFill>
              </a:rPr>
              <a:t>PERT</a:t>
            </a:r>
            <a:r>
              <a:rPr lang="ja-GB" altLang="en-US" dirty="0">
                <a:solidFill>
                  <a:schemeClr val="tx1">
                    <a:lumMod val="50000"/>
                    <a:lumOff val="50000"/>
                  </a:schemeClr>
                </a:solidFill>
              </a:rPr>
              <a:t>と</a:t>
            </a:r>
            <a:r>
              <a:rPr kumimoji="1" lang="ja-GB" altLang="en-US" dirty="0">
                <a:solidFill>
                  <a:schemeClr val="tx1">
                    <a:lumMod val="50000"/>
                    <a:lumOff val="50000"/>
                  </a:schemeClr>
                </a:solidFill>
              </a:rPr>
              <a:t>アローダイアグラム</a:t>
            </a:r>
            <a:endParaRPr kumimoji="1" lang="en-US" altLang="ja-GB" dirty="0">
              <a:solidFill>
                <a:schemeClr val="tx1">
                  <a:lumMod val="50000"/>
                  <a:lumOff val="50000"/>
                </a:schemeClr>
              </a:solidFill>
            </a:endParaRPr>
          </a:p>
          <a:p>
            <a:pPr lvl="1"/>
            <a:r>
              <a:rPr lang="ja-GB" altLang="en-US" dirty="0">
                <a:solidFill>
                  <a:schemeClr val="tx1">
                    <a:lumMod val="50000"/>
                    <a:lumOff val="50000"/>
                  </a:schemeClr>
                </a:solidFill>
              </a:rPr>
              <a:t>最早結合点時刻（</a:t>
            </a:r>
            <a:r>
              <a:rPr lang="en-US" altLang="ja-GB" dirty="0">
                <a:solidFill>
                  <a:schemeClr val="tx1">
                    <a:lumMod val="50000"/>
                    <a:lumOff val="50000"/>
                  </a:schemeClr>
                </a:solidFill>
              </a:rPr>
              <a:t>ET</a:t>
            </a:r>
            <a:r>
              <a:rPr lang="ja-GB" altLang="en-US" dirty="0">
                <a:solidFill>
                  <a:schemeClr val="tx1">
                    <a:lumMod val="50000"/>
                    <a:lumOff val="50000"/>
                  </a:schemeClr>
                </a:solidFill>
              </a:rPr>
              <a:t>）と最遅結合点時刻（</a:t>
            </a:r>
            <a:r>
              <a:rPr lang="en-US" altLang="ja-GB" dirty="0">
                <a:solidFill>
                  <a:schemeClr val="tx1">
                    <a:lumMod val="50000"/>
                    <a:lumOff val="50000"/>
                  </a:schemeClr>
                </a:solidFill>
              </a:rPr>
              <a:t>LT</a:t>
            </a:r>
            <a:r>
              <a:rPr lang="ja-GB" altLang="en-US" dirty="0">
                <a:solidFill>
                  <a:schemeClr val="tx1">
                    <a:lumMod val="50000"/>
                    <a:lumOff val="50000"/>
                  </a:schemeClr>
                </a:solidFill>
              </a:rPr>
              <a:t>）</a:t>
            </a:r>
            <a:endParaRPr lang="en-US" altLang="ja-GB" dirty="0">
              <a:solidFill>
                <a:schemeClr val="tx1">
                  <a:lumMod val="50000"/>
                  <a:lumOff val="50000"/>
                </a:schemeClr>
              </a:solidFill>
            </a:endParaRPr>
          </a:p>
          <a:p>
            <a:pPr lvl="1"/>
            <a:endParaRPr lang="en-US" altLang="ja-GB" dirty="0"/>
          </a:p>
          <a:p>
            <a:pPr marL="457200" indent="-457200">
              <a:buFont typeface="+mj-lt"/>
              <a:buAutoNum type="arabicPeriod"/>
            </a:pPr>
            <a:r>
              <a:rPr lang="ja-GB" altLang="en-US" dirty="0"/>
              <a:t>作業の日程計画</a:t>
            </a:r>
            <a:endParaRPr lang="en-US" altLang="ja-GB" dirty="0"/>
          </a:p>
          <a:p>
            <a:pPr lvl="1"/>
            <a:r>
              <a:rPr lang="ja-GB" altLang="en-US" dirty="0"/>
              <a:t>結合点の時刻に基づく作業日程の計算</a:t>
            </a:r>
            <a:endParaRPr lang="en-US" altLang="ja-GB" dirty="0"/>
          </a:p>
          <a:p>
            <a:pPr lvl="1"/>
            <a:r>
              <a:rPr lang="ja-GB" altLang="en-US" dirty="0"/>
              <a:t>余裕とクリティカルパス</a:t>
            </a:r>
            <a:endParaRPr lang="en-US" altLang="ja-GB" dirty="0"/>
          </a:p>
          <a:p>
            <a:pPr lvl="1"/>
            <a:endParaRPr kumimoji="1" lang="en-US" altLang="ja-GB" dirty="0"/>
          </a:p>
          <a:p>
            <a:pPr marL="457200" indent="-457200">
              <a:buFont typeface="+mj-lt"/>
              <a:buAutoNum type="arabicPeriod"/>
            </a:pPr>
            <a:r>
              <a:rPr kumimoji="1" lang="ja-GB" altLang="en-US" dirty="0">
                <a:solidFill>
                  <a:schemeClr val="tx1">
                    <a:lumMod val="50000"/>
                    <a:lumOff val="50000"/>
                  </a:schemeClr>
                </a:solidFill>
              </a:rPr>
              <a:t>決定表</a:t>
            </a:r>
            <a:endParaRPr kumimoji="1" lang="en-US" altLang="ja-GB" dirty="0">
              <a:solidFill>
                <a:schemeClr val="tx1">
                  <a:lumMod val="50000"/>
                  <a:lumOff val="50000"/>
                </a:schemeClr>
              </a:solidFill>
            </a:endParaRPr>
          </a:p>
          <a:p>
            <a:pPr lvl="1"/>
            <a:r>
              <a:rPr kumimoji="1" lang="ja-GB" altLang="en-US" dirty="0">
                <a:solidFill>
                  <a:schemeClr val="tx1">
                    <a:lumMod val="50000"/>
                    <a:lumOff val="50000"/>
                  </a:schemeClr>
                </a:solidFill>
              </a:rPr>
              <a:t>条件と結果の対応関係を一覧できる表</a:t>
            </a:r>
            <a:endParaRPr kumimoji="1" lang="en-US" altLang="ja-GB" dirty="0">
              <a:solidFill>
                <a:schemeClr val="tx1">
                  <a:lumMod val="50000"/>
                  <a:lumOff val="50000"/>
                </a:schemeClr>
              </a:solidFill>
            </a:endParaRPr>
          </a:p>
          <a:p>
            <a:pPr lvl="1"/>
            <a:endParaRPr lang="en-US" altLang="ja-GB" dirty="0"/>
          </a:p>
        </p:txBody>
      </p:sp>
    </p:spTree>
    <p:extLst>
      <p:ext uri="{BB962C8B-B14F-4D97-AF65-F5344CB8AC3E}">
        <p14:creationId xmlns:p14="http://schemas.microsoft.com/office/powerpoint/2010/main" val="4098501214"/>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0C9B37-33D9-4474-5EDA-755CE2258917}"/>
              </a:ext>
            </a:extLst>
          </p:cNvPr>
          <p:cNvSpPr>
            <a:spLocks noGrp="1"/>
          </p:cNvSpPr>
          <p:nvPr>
            <p:ph type="title"/>
          </p:nvPr>
        </p:nvSpPr>
        <p:spPr/>
        <p:txBody>
          <a:bodyPr/>
          <a:lstStyle/>
          <a:p>
            <a:r>
              <a:rPr kumimoji="1" lang="ja-GB" altLang="en-US" dirty="0"/>
              <a:t>作業の日程計画</a:t>
            </a:r>
          </a:p>
        </p:txBody>
      </p:sp>
      <p:sp>
        <p:nvSpPr>
          <p:cNvPr id="3" name="コンテンツ プレースホルダー 2">
            <a:extLst>
              <a:ext uri="{FF2B5EF4-FFF2-40B4-BE49-F238E27FC236}">
                <a16:creationId xmlns:a16="http://schemas.microsoft.com/office/drawing/2014/main" id="{6CBC0031-4921-AA59-BEFA-F3E4ACE80F91}"/>
              </a:ext>
            </a:extLst>
          </p:cNvPr>
          <p:cNvSpPr>
            <a:spLocks noGrp="1"/>
          </p:cNvSpPr>
          <p:nvPr>
            <p:ph idx="1"/>
          </p:nvPr>
        </p:nvSpPr>
        <p:spPr/>
        <p:txBody>
          <a:bodyPr/>
          <a:lstStyle/>
          <a:p>
            <a:pPr marL="0" indent="0">
              <a:buNone/>
            </a:pPr>
            <a:r>
              <a:rPr kumimoji="1" lang="ja-GB" altLang="en-US" dirty="0"/>
              <a:t>結合点の日程を用いた作業日程の計算</a:t>
            </a:r>
            <a:endParaRPr kumimoji="1" lang="en-US" altLang="ja-GB" dirty="0"/>
          </a:p>
          <a:p>
            <a:pPr marL="457200" lvl="1" indent="0">
              <a:buNone/>
            </a:pPr>
            <a:r>
              <a:rPr kumimoji="1" lang="ja-GB" altLang="en-US" dirty="0"/>
              <a:t>結合点よりも作業についての日程の方が扱いやすい</a:t>
            </a:r>
            <a:endParaRPr kumimoji="1" lang="en-US" altLang="ja-GB" dirty="0"/>
          </a:p>
          <a:p>
            <a:pPr marL="914400" lvl="2" indent="0">
              <a:buNone/>
            </a:pPr>
            <a:r>
              <a:rPr lang="ja-GB" altLang="en-US" dirty="0"/>
              <a:t>結合点の日程：作業終了と同時に次作業を開始するという意味における日程</a:t>
            </a:r>
            <a:endParaRPr lang="en-US" altLang="ja-GB" dirty="0"/>
          </a:p>
          <a:p>
            <a:pPr marL="914400" lvl="2" indent="0">
              <a:buNone/>
            </a:pPr>
            <a:r>
              <a:rPr kumimoji="1" lang="en-US" altLang="ja-GB" dirty="0"/>
              <a:t>→</a:t>
            </a:r>
            <a:r>
              <a:rPr kumimoji="1" lang="ja-GB" altLang="en-US" dirty="0"/>
              <a:t>作業の日程：作業の開始時刻，終了時刻，遅延が生じた際の余裕</a:t>
            </a:r>
            <a:endParaRPr kumimoji="1" lang="en-US" altLang="ja-GB" dirty="0"/>
          </a:p>
          <a:p>
            <a:pPr lvl="2"/>
            <a:endParaRPr kumimoji="1" lang="en-US" altLang="ja-GB" dirty="0"/>
          </a:p>
        </p:txBody>
      </p:sp>
      <p:sp>
        <p:nvSpPr>
          <p:cNvPr id="4" name="円/楕円 3">
            <a:extLst>
              <a:ext uri="{FF2B5EF4-FFF2-40B4-BE49-F238E27FC236}">
                <a16:creationId xmlns:a16="http://schemas.microsoft.com/office/drawing/2014/main" id="{CC3A5ACE-F276-0893-5A5B-4EBF4372AA1D}"/>
              </a:ext>
            </a:extLst>
          </p:cNvPr>
          <p:cNvSpPr>
            <a:spLocks noChangeAspect="1"/>
          </p:cNvSpPr>
          <p:nvPr/>
        </p:nvSpPr>
        <p:spPr>
          <a:xfrm>
            <a:off x="1099339" y="4619086"/>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5" name="円/楕円 4">
            <a:extLst>
              <a:ext uri="{FF2B5EF4-FFF2-40B4-BE49-F238E27FC236}">
                <a16:creationId xmlns:a16="http://schemas.microsoft.com/office/drawing/2014/main" id="{7159E772-7335-1CEB-C453-14DDB450F009}"/>
              </a:ext>
            </a:extLst>
          </p:cNvPr>
          <p:cNvSpPr>
            <a:spLocks noChangeAspect="1"/>
          </p:cNvSpPr>
          <p:nvPr/>
        </p:nvSpPr>
        <p:spPr>
          <a:xfrm>
            <a:off x="2706070" y="4079154"/>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6" name="円/楕円 5">
            <a:extLst>
              <a:ext uri="{FF2B5EF4-FFF2-40B4-BE49-F238E27FC236}">
                <a16:creationId xmlns:a16="http://schemas.microsoft.com/office/drawing/2014/main" id="{801CB1BE-04EB-9F17-F6DB-6A68A91CB8FF}"/>
              </a:ext>
            </a:extLst>
          </p:cNvPr>
          <p:cNvSpPr>
            <a:spLocks noChangeAspect="1"/>
          </p:cNvSpPr>
          <p:nvPr/>
        </p:nvSpPr>
        <p:spPr>
          <a:xfrm>
            <a:off x="2706070" y="5143961"/>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7" name="円/楕円 6">
            <a:extLst>
              <a:ext uri="{FF2B5EF4-FFF2-40B4-BE49-F238E27FC236}">
                <a16:creationId xmlns:a16="http://schemas.microsoft.com/office/drawing/2014/main" id="{D423BF7A-D04E-17F4-3368-F49E63B10494}"/>
              </a:ext>
            </a:extLst>
          </p:cNvPr>
          <p:cNvSpPr>
            <a:spLocks noChangeAspect="1"/>
          </p:cNvSpPr>
          <p:nvPr/>
        </p:nvSpPr>
        <p:spPr>
          <a:xfrm>
            <a:off x="4330219" y="4619086"/>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8" name="円/楕円 7">
            <a:extLst>
              <a:ext uri="{FF2B5EF4-FFF2-40B4-BE49-F238E27FC236}">
                <a16:creationId xmlns:a16="http://schemas.microsoft.com/office/drawing/2014/main" id="{1812A7DC-4840-A456-7BDB-9F1D1863F8BF}"/>
              </a:ext>
            </a:extLst>
          </p:cNvPr>
          <p:cNvSpPr>
            <a:spLocks noChangeAspect="1"/>
          </p:cNvSpPr>
          <p:nvPr/>
        </p:nvSpPr>
        <p:spPr>
          <a:xfrm>
            <a:off x="5945659" y="4079154"/>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5</a:t>
            </a:r>
            <a:endParaRPr kumimoji="1" lang="ja-GB" altLang="en-US" dirty="0">
              <a:solidFill>
                <a:srgbClr val="2F2523"/>
              </a:solidFill>
            </a:endParaRPr>
          </a:p>
        </p:txBody>
      </p:sp>
      <p:sp>
        <p:nvSpPr>
          <p:cNvPr id="9" name="円/楕円 8">
            <a:extLst>
              <a:ext uri="{FF2B5EF4-FFF2-40B4-BE49-F238E27FC236}">
                <a16:creationId xmlns:a16="http://schemas.microsoft.com/office/drawing/2014/main" id="{18A216B1-467E-1EF7-524B-97A38DDC60B4}"/>
              </a:ext>
            </a:extLst>
          </p:cNvPr>
          <p:cNvSpPr>
            <a:spLocks noChangeAspect="1"/>
          </p:cNvSpPr>
          <p:nvPr/>
        </p:nvSpPr>
        <p:spPr>
          <a:xfrm>
            <a:off x="7561099" y="4619086"/>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6</a:t>
            </a:r>
            <a:endParaRPr kumimoji="1" lang="ja-GB" altLang="en-US" dirty="0">
              <a:solidFill>
                <a:srgbClr val="2F2523"/>
              </a:solidFill>
            </a:endParaRPr>
          </a:p>
        </p:txBody>
      </p:sp>
      <p:cxnSp>
        <p:nvCxnSpPr>
          <p:cNvPr id="10" name="直線矢印コネクタ 9">
            <a:extLst>
              <a:ext uri="{FF2B5EF4-FFF2-40B4-BE49-F238E27FC236}">
                <a16:creationId xmlns:a16="http://schemas.microsoft.com/office/drawing/2014/main" id="{E219F55A-4909-4136-5EA4-DD0FC01279FB}"/>
              </a:ext>
            </a:extLst>
          </p:cNvPr>
          <p:cNvCxnSpPr>
            <a:cxnSpLocks/>
            <a:stCxn id="4" idx="6"/>
            <a:endCxn id="5" idx="2"/>
          </p:cNvCxnSpPr>
          <p:nvPr/>
        </p:nvCxnSpPr>
        <p:spPr>
          <a:xfrm flipV="1">
            <a:off x="1639271" y="4349120"/>
            <a:ext cx="1066799"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A428C450-3FD8-7918-0707-B53739D71F1C}"/>
              </a:ext>
            </a:extLst>
          </p:cNvPr>
          <p:cNvCxnSpPr>
            <a:cxnSpLocks/>
            <a:stCxn id="4" idx="6"/>
            <a:endCxn id="6" idx="2"/>
          </p:cNvCxnSpPr>
          <p:nvPr/>
        </p:nvCxnSpPr>
        <p:spPr>
          <a:xfrm>
            <a:off x="1639271" y="4889052"/>
            <a:ext cx="1066799"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CDAFE5DA-4674-2374-F74D-CDCE0BCBF63E}"/>
              </a:ext>
            </a:extLst>
          </p:cNvPr>
          <p:cNvCxnSpPr>
            <a:cxnSpLocks/>
            <a:stCxn id="5" idx="6"/>
            <a:endCxn id="8" idx="2"/>
          </p:cNvCxnSpPr>
          <p:nvPr/>
        </p:nvCxnSpPr>
        <p:spPr>
          <a:xfrm>
            <a:off x="3246002" y="4349120"/>
            <a:ext cx="2699657"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DB1CFAC7-31F8-8940-C0DF-66708AD6A1C3}"/>
              </a:ext>
            </a:extLst>
          </p:cNvPr>
          <p:cNvCxnSpPr>
            <a:cxnSpLocks/>
            <a:stCxn id="6" idx="6"/>
            <a:endCxn id="7" idx="2"/>
          </p:cNvCxnSpPr>
          <p:nvPr/>
        </p:nvCxnSpPr>
        <p:spPr>
          <a:xfrm flipV="1">
            <a:off x="3246002" y="4889052"/>
            <a:ext cx="1084217"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2F0F32A2-0C7C-7A80-5D67-A3EB7B98F5BA}"/>
              </a:ext>
            </a:extLst>
          </p:cNvPr>
          <p:cNvCxnSpPr>
            <a:cxnSpLocks/>
            <a:stCxn id="5" idx="6"/>
            <a:endCxn id="7" idx="2"/>
          </p:cNvCxnSpPr>
          <p:nvPr/>
        </p:nvCxnSpPr>
        <p:spPr>
          <a:xfrm>
            <a:off x="3246002" y="4349120"/>
            <a:ext cx="1084217"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77FD84DE-7270-2979-1A55-F22F91EEE54A}"/>
              </a:ext>
            </a:extLst>
          </p:cNvPr>
          <p:cNvCxnSpPr>
            <a:cxnSpLocks/>
            <a:stCxn id="7" idx="6"/>
            <a:endCxn id="8" idx="2"/>
          </p:cNvCxnSpPr>
          <p:nvPr/>
        </p:nvCxnSpPr>
        <p:spPr>
          <a:xfrm flipV="1">
            <a:off x="4870151" y="4349120"/>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80BBB6B6-89AD-5970-0335-0DA84208851A}"/>
              </a:ext>
            </a:extLst>
          </p:cNvPr>
          <p:cNvCxnSpPr>
            <a:cxnSpLocks/>
            <a:endCxn id="9" idx="2"/>
          </p:cNvCxnSpPr>
          <p:nvPr/>
        </p:nvCxnSpPr>
        <p:spPr>
          <a:xfrm>
            <a:off x="4870151" y="4889052"/>
            <a:ext cx="2690948"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BF6DBFE6-8678-65B8-0D14-D0C7EFFDE0AB}"/>
              </a:ext>
            </a:extLst>
          </p:cNvPr>
          <p:cNvCxnSpPr>
            <a:cxnSpLocks/>
            <a:stCxn id="8" idx="6"/>
            <a:endCxn id="9" idx="2"/>
          </p:cNvCxnSpPr>
          <p:nvPr/>
        </p:nvCxnSpPr>
        <p:spPr>
          <a:xfrm>
            <a:off x="6485591" y="4349120"/>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41C764DE-7306-919C-746E-4790150A2672}"/>
              </a:ext>
            </a:extLst>
          </p:cNvPr>
          <p:cNvSpPr txBox="1"/>
          <p:nvPr/>
        </p:nvSpPr>
        <p:spPr>
          <a:xfrm>
            <a:off x="2052666" y="4601008"/>
            <a:ext cx="506870" cy="276999"/>
          </a:xfrm>
          <a:prstGeom prst="rect">
            <a:avLst/>
          </a:prstGeom>
          <a:noFill/>
          <a:ln w="38100">
            <a:noFill/>
          </a:ln>
        </p:spPr>
        <p:txBody>
          <a:bodyPr wrap="none" rtlCol="0" anchor="ctr">
            <a:spAutoFit/>
          </a:bodyPr>
          <a:lstStyle/>
          <a:p>
            <a:pPr algn="ctr"/>
            <a:r>
              <a:rPr kumimoji="1" lang="en-US" altLang="ja-GB" sz="1200" dirty="0">
                <a:solidFill>
                  <a:srgbClr val="2F2523"/>
                </a:solidFill>
              </a:rPr>
              <a:t>A</a:t>
            </a:r>
            <a:r>
              <a:rPr kumimoji="1" lang="ja-GB" altLang="en-US" sz="1200" dirty="0">
                <a:solidFill>
                  <a:srgbClr val="2F2523"/>
                </a:solidFill>
              </a:rPr>
              <a:t>：</a:t>
            </a:r>
            <a:r>
              <a:rPr kumimoji="1" lang="en-US" altLang="ja-GB" sz="1200" dirty="0">
                <a:solidFill>
                  <a:srgbClr val="2F2523"/>
                </a:solidFill>
              </a:rPr>
              <a:t>3</a:t>
            </a:r>
          </a:p>
        </p:txBody>
      </p:sp>
      <p:sp>
        <p:nvSpPr>
          <p:cNvPr id="19" name="テキスト ボックス 18">
            <a:extLst>
              <a:ext uri="{FF2B5EF4-FFF2-40B4-BE49-F238E27FC236}">
                <a16:creationId xmlns:a16="http://schemas.microsoft.com/office/drawing/2014/main" id="{C719D3DD-6836-3477-9087-BEA7C3D6E6F0}"/>
              </a:ext>
            </a:extLst>
          </p:cNvPr>
          <p:cNvSpPr txBox="1"/>
          <p:nvPr/>
        </p:nvSpPr>
        <p:spPr>
          <a:xfrm>
            <a:off x="2056557" y="5267198"/>
            <a:ext cx="500458" cy="276999"/>
          </a:xfrm>
          <a:prstGeom prst="rect">
            <a:avLst/>
          </a:prstGeom>
          <a:noFill/>
          <a:ln w="38100">
            <a:noFill/>
          </a:ln>
        </p:spPr>
        <p:txBody>
          <a:bodyPr wrap="none" rtlCol="0" anchor="ctr">
            <a:spAutoFit/>
          </a:bodyPr>
          <a:lstStyle/>
          <a:p>
            <a:pPr algn="ctr"/>
            <a:r>
              <a:rPr kumimoji="1" lang="en-US" altLang="ja-GB" sz="1200" dirty="0">
                <a:solidFill>
                  <a:srgbClr val="2F2523"/>
                </a:solidFill>
              </a:rPr>
              <a:t>B</a:t>
            </a:r>
            <a:r>
              <a:rPr kumimoji="1" lang="ja-GB" altLang="en-US" sz="1200" dirty="0">
                <a:solidFill>
                  <a:srgbClr val="2F2523"/>
                </a:solidFill>
              </a:rPr>
              <a:t>：</a:t>
            </a:r>
            <a:r>
              <a:rPr kumimoji="1" lang="en-US" altLang="ja-GB" sz="1200" dirty="0">
                <a:solidFill>
                  <a:srgbClr val="2F2523"/>
                </a:solidFill>
              </a:rPr>
              <a:t>2</a:t>
            </a:r>
          </a:p>
        </p:txBody>
      </p:sp>
      <p:sp>
        <p:nvSpPr>
          <p:cNvPr id="20" name="テキスト ボックス 19">
            <a:extLst>
              <a:ext uri="{FF2B5EF4-FFF2-40B4-BE49-F238E27FC236}">
                <a16:creationId xmlns:a16="http://schemas.microsoft.com/office/drawing/2014/main" id="{4A8D922F-72FE-DB18-844B-5109B32C6DD9}"/>
              </a:ext>
            </a:extLst>
          </p:cNvPr>
          <p:cNvSpPr txBox="1"/>
          <p:nvPr/>
        </p:nvSpPr>
        <p:spPr>
          <a:xfrm>
            <a:off x="3557961" y="5267198"/>
            <a:ext cx="511679" cy="276999"/>
          </a:xfrm>
          <a:prstGeom prst="rect">
            <a:avLst/>
          </a:prstGeom>
          <a:noFill/>
          <a:ln w="38100">
            <a:noFill/>
          </a:ln>
        </p:spPr>
        <p:txBody>
          <a:bodyPr wrap="none" rtlCol="0" anchor="ctr">
            <a:spAutoFit/>
          </a:bodyPr>
          <a:lstStyle/>
          <a:p>
            <a:pPr algn="ctr"/>
            <a:r>
              <a:rPr kumimoji="1" lang="en-US" altLang="ja-GB" sz="1200" dirty="0">
                <a:solidFill>
                  <a:srgbClr val="2F2523"/>
                </a:solidFill>
              </a:rPr>
              <a:t>D</a:t>
            </a:r>
            <a:r>
              <a:rPr kumimoji="1" lang="ja-GB" altLang="en-US" sz="1200" dirty="0">
                <a:solidFill>
                  <a:srgbClr val="2F2523"/>
                </a:solidFill>
              </a:rPr>
              <a:t>：</a:t>
            </a:r>
            <a:r>
              <a:rPr kumimoji="1" lang="en-US" altLang="ja-GB" sz="1200" dirty="0">
                <a:solidFill>
                  <a:srgbClr val="2F2523"/>
                </a:solidFill>
              </a:rPr>
              <a:t>5</a:t>
            </a:r>
          </a:p>
        </p:txBody>
      </p:sp>
      <p:sp>
        <p:nvSpPr>
          <p:cNvPr id="21" name="テキスト ボックス 20">
            <a:extLst>
              <a:ext uri="{FF2B5EF4-FFF2-40B4-BE49-F238E27FC236}">
                <a16:creationId xmlns:a16="http://schemas.microsoft.com/office/drawing/2014/main" id="{E5269DD8-1C8C-623F-7653-AA501D181561}"/>
              </a:ext>
            </a:extLst>
          </p:cNvPr>
          <p:cNvSpPr txBox="1"/>
          <p:nvPr/>
        </p:nvSpPr>
        <p:spPr>
          <a:xfrm>
            <a:off x="3375839" y="4590114"/>
            <a:ext cx="498855" cy="276999"/>
          </a:xfrm>
          <a:prstGeom prst="rect">
            <a:avLst/>
          </a:prstGeom>
          <a:noFill/>
          <a:ln w="38100">
            <a:noFill/>
          </a:ln>
        </p:spPr>
        <p:txBody>
          <a:bodyPr wrap="none" rtlCol="0" anchor="ctr">
            <a:spAutoFit/>
          </a:bodyPr>
          <a:lstStyle/>
          <a:p>
            <a:pPr algn="ctr"/>
            <a:r>
              <a:rPr kumimoji="1" lang="en-US" altLang="ja-GB" sz="1200" dirty="0">
                <a:solidFill>
                  <a:srgbClr val="2F2523"/>
                </a:solidFill>
              </a:rPr>
              <a:t>C</a:t>
            </a:r>
            <a:r>
              <a:rPr kumimoji="1" lang="ja-GB" altLang="en-US" sz="1200" dirty="0">
                <a:solidFill>
                  <a:srgbClr val="2F2523"/>
                </a:solidFill>
              </a:rPr>
              <a:t>：</a:t>
            </a:r>
            <a:r>
              <a:rPr kumimoji="1" lang="en-US" altLang="ja-GB" sz="1200" dirty="0">
                <a:solidFill>
                  <a:srgbClr val="2F2523"/>
                </a:solidFill>
              </a:rPr>
              <a:t>4</a:t>
            </a:r>
          </a:p>
        </p:txBody>
      </p:sp>
      <p:sp>
        <p:nvSpPr>
          <p:cNvPr id="22" name="テキスト ボックス 21">
            <a:extLst>
              <a:ext uri="{FF2B5EF4-FFF2-40B4-BE49-F238E27FC236}">
                <a16:creationId xmlns:a16="http://schemas.microsoft.com/office/drawing/2014/main" id="{24795022-8F23-F8DC-4BC9-CB953E7D4220}"/>
              </a:ext>
            </a:extLst>
          </p:cNvPr>
          <p:cNvSpPr txBox="1"/>
          <p:nvPr/>
        </p:nvSpPr>
        <p:spPr>
          <a:xfrm>
            <a:off x="4399275" y="4040216"/>
            <a:ext cx="492443" cy="276999"/>
          </a:xfrm>
          <a:prstGeom prst="rect">
            <a:avLst/>
          </a:prstGeom>
          <a:noFill/>
          <a:ln w="38100">
            <a:noFill/>
          </a:ln>
        </p:spPr>
        <p:txBody>
          <a:bodyPr wrap="none" rtlCol="0" anchor="ctr">
            <a:spAutoFit/>
          </a:bodyPr>
          <a:lstStyle/>
          <a:p>
            <a:pPr algn="ctr"/>
            <a:r>
              <a:rPr kumimoji="1" lang="en-US" altLang="ja-GB" sz="1200" dirty="0">
                <a:solidFill>
                  <a:srgbClr val="2F2523"/>
                </a:solidFill>
              </a:rPr>
              <a:t>E</a:t>
            </a:r>
            <a:r>
              <a:rPr kumimoji="1" lang="ja-GB" altLang="en-US" sz="1200" dirty="0">
                <a:solidFill>
                  <a:srgbClr val="2F2523"/>
                </a:solidFill>
              </a:rPr>
              <a:t>：</a:t>
            </a:r>
            <a:r>
              <a:rPr kumimoji="1" lang="en-US" altLang="ja-GB" sz="1200" dirty="0">
                <a:solidFill>
                  <a:srgbClr val="2F2523"/>
                </a:solidFill>
              </a:rPr>
              <a:t>1</a:t>
            </a:r>
          </a:p>
        </p:txBody>
      </p:sp>
      <p:sp>
        <p:nvSpPr>
          <p:cNvPr id="23" name="テキスト ボックス 22">
            <a:extLst>
              <a:ext uri="{FF2B5EF4-FFF2-40B4-BE49-F238E27FC236}">
                <a16:creationId xmlns:a16="http://schemas.microsoft.com/office/drawing/2014/main" id="{953BD1C0-599E-5FC9-FE54-8E35F31760DD}"/>
              </a:ext>
            </a:extLst>
          </p:cNvPr>
          <p:cNvSpPr txBox="1"/>
          <p:nvPr/>
        </p:nvSpPr>
        <p:spPr>
          <a:xfrm>
            <a:off x="5353332" y="4560423"/>
            <a:ext cx="514885" cy="276999"/>
          </a:xfrm>
          <a:prstGeom prst="rect">
            <a:avLst/>
          </a:prstGeom>
          <a:noFill/>
          <a:ln w="38100">
            <a:noFill/>
          </a:ln>
        </p:spPr>
        <p:txBody>
          <a:bodyPr wrap="none" rtlCol="0" anchor="ctr">
            <a:spAutoFit/>
          </a:bodyPr>
          <a:lstStyle/>
          <a:p>
            <a:pPr algn="ctr"/>
            <a:r>
              <a:rPr kumimoji="1" lang="en-US" altLang="ja-GB" sz="1200" dirty="0">
                <a:solidFill>
                  <a:srgbClr val="2F2523"/>
                </a:solidFill>
              </a:rPr>
              <a:t>G</a:t>
            </a:r>
            <a:r>
              <a:rPr kumimoji="1" lang="ja-GB" altLang="en-US" sz="1200" dirty="0">
                <a:solidFill>
                  <a:srgbClr val="2F2523"/>
                </a:solidFill>
              </a:rPr>
              <a:t>：</a:t>
            </a:r>
            <a:r>
              <a:rPr kumimoji="1" lang="en-US" altLang="ja-GB" sz="1200" dirty="0">
                <a:solidFill>
                  <a:srgbClr val="2F2523"/>
                </a:solidFill>
              </a:rPr>
              <a:t>3</a:t>
            </a:r>
          </a:p>
        </p:txBody>
      </p:sp>
      <p:sp>
        <p:nvSpPr>
          <p:cNvPr id="24" name="テキスト ボックス 23">
            <a:extLst>
              <a:ext uri="{FF2B5EF4-FFF2-40B4-BE49-F238E27FC236}">
                <a16:creationId xmlns:a16="http://schemas.microsoft.com/office/drawing/2014/main" id="{1D0A2AE4-D3CB-8308-B889-1066A88562C1}"/>
              </a:ext>
            </a:extLst>
          </p:cNvPr>
          <p:cNvSpPr txBox="1"/>
          <p:nvPr/>
        </p:nvSpPr>
        <p:spPr>
          <a:xfrm>
            <a:off x="5971808" y="4923774"/>
            <a:ext cx="487633" cy="276999"/>
          </a:xfrm>
          <a:prstGeom prst="rect">
            <a:avLst/>
          </a:prstGeom>
          <a:noFill/>
          <a:ln w="38100">
            <a:noFill/>
          </a:ln>
        </p:spPr>
        <p:txBody>
          <a:bodyPr wrap="none" rtlCol="0" anchor="ctr">
            <a:spAutoFit/>
          </a:bodyPr>
          <a:lstStyle/>
          <a:p>
            <a:pPr algn="ctr"/>
            <a:r>
              <a:rPr kumimoji="1" lang="en-US" altLang="ja-GB" sz="1200" dirty="0">
                <a:solidFill>
                  <a:srgbClr val="2F2523"/>
                </a:solidFill>
              </a:rPr>
              <a:t>F</a:t>
            </a:r>
            <a:r>
              <a:rPr kumimoji="1" lang="ja-GB" altLang="en-US" sz="1200" dirty="0">
                <a:solidFill>
                  <a:srgbClr val="2F2523"/>
                </a:solidFill>
              </a:rPr>
              <a:t>：</a:t>
            </a:r>
            <a:r>
              <a:rPr kumimoji="1" lang="en-US" altLang="ja-GB" sz="1200" dirty="0">
                <a:solidFill>
                  <a:srgbClr val="2F2523"/>
                </a:solidFill>
              </a:rPr>
              <a:t>6</a:t>
            </a:r>
          </a:p>
        </p:txBody>
      </p:sp>
      <p:sp>
        <p:nvSpPr>
          <p:cNvPr id="25" name="テキスト ボックス 24">
            <a:extLst>
              <a:ext uri="{FF2B5EF4-FFF2-40B4-BE49-F238E27FC236}">
                <a16:creationId xmlns:a16="http://schemas.microsoft.com/office/drawing/2014/main" id="{95438224-6B75-119D-431F-C36A8E335CB1}"/>
              </a:ext>
            </a:extLst>
          </p:cNvPr>
          <p:cNvSpPr txBox="1"/>
          <p:nvPr/>
        </p:nvSpPr>
        <p:spPr>
          <a:xfrm>
            <a:off x="6907353" y="4319376"/>
            <a:ext cx="513282" cy="276999"/>
          </a:xfrm>
          <a:prstGeom prst="rect">
            <a:avLst/>
          </a:prstGeom>
          <a:noFill/>
          <a:ln w="38100">
            <a:noFill/>
          </a:ln>
        </p:spPr>
        <p:txBody>
          <a:bodyPr wrap="none" rtlCol="0" anchor="ctr">
            <a:spAutoFit/>
          </a:bodyPr>
          <a:lstStyle/>
          <a:p>
            <a:pPr algn="ctr"/>
            <a:r>
              <a:rPr kumimoji="1" lang="en-US" altLang="ja-GB" sz="1200" dirty="0">
                <a:solidFill>
                  <a:srgbClr val="2F2523"/>
                </a:solidFill>
              </a:rPr>
              <a:t>H</a:t>
            </a:r>
            <a:r>
              <a:rPr kumimoji="1" lang="ja-GB" altLang="en-US" sz="1200" dirty="0">
                <a:solidFill>
                  <a:srgbClr val="2F2523"/>
                </a:solidFill>
              </a:rPr>
              <a:t>：</a:t>
            </a:r>
            <a:r>
              <a:rPr kumimoji="1" lang="en-US" altLang="ja-GB" sz="1200" dirty="0">
                <a:solidFill>
                  <a:srgbClr val="2F2523"/>
                </a:solidFill>
              </a:rPr>
              <a:t>2</a:t>
            </a:r>
          </a:p>
        </p:txBody>
      </p:sp>
      <p:sp>
        <p:nvSpPr>
          <p:cNvPr id="26" name="テキスト ボックス 25">
            <a:extLst>
              <a:ext uri="{FF2B5EF4-FFF2-40B4-BE49-F238E27FC236}">
                <a16:creationId xmlns:a16="http://schemas.microsoft.com/office/drawing/2014/main" id="{24CCDE8E-5D05-52D8-553D-DE55B9446A53}"/>
              </a:ext>
            </a:extLst>
          </p:cNvPr>
          <p:cNvSpPr txBox="1"/>
          <p:nvPr/>
        </p:nvSpPr>
        <p:spPr>
          <a:xfrm>
            <a:off x="720861" y="4889052"/>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0</a:t>
            </a:r>
          </a:p>
        </p:txBody>
      </p:sp>
      <p:sp>
        <p:nvSpPr>
          <p:cNvPr id="27" name="テキスト ボックス 26">
            <a:extLst>
              <a:ext uri="{FF2B5EF4-FFF2-40B4-BE49-F238E27FC236}">
                <a16:creationId xmlns:a16="http://schemas.microsoft.com/office/drawing/2014/main" id="{A9A86B89-B462-E1A5-2C7D-98ACD4DDE231}"/>
              </a:ext>
            </a:extLst>
          </p:cNvPr>
          <p:cNvSpPr txBox="1"/>
          <p:nvPr/>
        </p:nvSpPr>
        <p:spPr>
          <a:xfrm>
            <a:off x="3241471" y="5457828"/>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2</a:t>
            </a:r>
          </a:p>
        </p:txBody>
      </p:sp>
      <p:sp>
        <p:nvSpPr>
          <p:cNvPr id="28" name="テキスト ボックス 27">
            <a:extLst>
              <a:ext uri="{FF2B5EF4-FFF2-40B4-BE49-F238E27FC236}">
                <a16:creationId xmlns:a16="http://schemas.microsoft.com/office/drawing/2014/main" id="{17934CCF-1963-0A09-9885-E9377A6DBBDB}"/>
              </a:ext>
            </a:extLst>
          </p:cNvPr>
          <p:cNvSpPr txBox="1"/>
          <p:nvPr/>
        </p:nvSpPr>
        <p:spPr>
          <a:xfrm>
            <a:off x="2341477" y="4082486"/>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3</a:t>
            </a:r>
          </a:p>
        </p:txBody>
      </p:sp>
      <p:sp>
        <p:nvSpPr>
          <p:cNvPr id="29" name="テキスト ボックス 28">
            <a:extLst>
              <a:ext uri="{FF2B5EF4-FFF2-40B4-BE49-F238E27FC236}">
                <a16:creationId xmlns:a16="http://schemas.microsoft.com/office/drawing/2014/main" id="{00235642-C7B0-FFB7-9E28-C3667F896EA1}"/>
              </a:ext>
            </a:extLst>
          </p:cNvPr>
          <p:cNvSpPr txBox="1"/>
          <p:nvPr/>
        </p:nvSpPr>
        <p:spPr>
          <a:xfrm>
            <a:off x="4468924" y="5214579"/>
            <a:ext cx="263213"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7</a:t>
            </a:r>
          </a:p>
        </p:txBody>
      </p:sp>
      <p:sp>
        <p:nvSpPr>
          <p:cNvPr id="30" name="テキスト ボックス 29">
            <a:extLst>
              <a:ext uri="{FF2B5EF4-FFF2-40B4-BE49-F238E27FC236}">
                <a16:creationId xmlns:a16="http://schemas.microsoft.com/office/drawing/2014/main" id="{18155809-C901-59FF-E831-7152DE598606}"/>
              </a:ext>
            </a:extLst>
          </p:cNvPr>
          <p:cNvSpPr txBox="1"/>
          <p:nvPr/>
        </p:nvSpPr>
        <p:spPr>
          <a:xfrm>
            <a:off x="6581989" y="4082486"/>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11</a:t>
            </a:r>
          </a:p>
        </p:txBody>
      </p:sp>
      <p:sp>
        <p:nvSpPr>
          <p:cNvPr id="31" name="テキスト ボックス 30">
            <a:extLst>
              <a:ext uri="{FF2B5EF4-FFF2-40B4-BE49-F238E27FC236}">
                <a16:creationId xmlns:a16="http://schemas.microsoft.com/office/drawing/2014/main" id="{8BE972E4-0AC6-9851-6CF2-1EACC441C85A}"/>
              </a:ext>
            </a:extLst>
          </p:cNvPr>
          <p:cNvSpPr txBox="1"/>
          <p:nvPr/>
        </p:nvSpPr>
        <p:spPr>
          <a:xfrm>
            <a:off x="8259202" y="4877327"/>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13</a:t>
            </a:r>
          </a:p>
        </p:txBody>
      </p:sp>
      <p:sp>
        <p:nvSpPr>
          <p:cNvPr id="32" name="テキスト ボックス 31">
            <a:extLst>
              <a:ext uri="{FF2B5EF4-FFF2-40B4-BE49-F238E27FC236}">
                <a16:creationId xmlns:a16="http://schemas.microsoft.com/office/drawing/2014/main" id="{2E27D242-4A45-3E0D-C907-C0109F320D21}"/>
              </a:ext>
            </a:extLst>
          </p:cNvPr>
          <p:cNvSpPr txBox="1"/>
          <p:nvPr/>
        </p:nvSpPr>
        <p:spPr>
          <a:xfrm>
            <a:off x="722653" y="4630811"/>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0</a:t>
            </a:r>
          </a:p>
        </p:txBody>
      </p:sp>
      <p:sp>
        <p:nvSpPr>
          <p:cNvPr id="33" name="テキスト ボックス 32">
            <a:extLst>
              <a:ext uri="{FF2B5EF4-FFF2-40B4-BE49-F238E27FC236}">
                <a16:creationId xmlns:a16="http://schemas.microsoft.com/office/drawing/2014/main" id="{8ED0E1E6-057F-A051-FD25-845EDDC3437B}"/>
              </a:ext>
            </a:extLst>
          </p:cNvPr>
          <p:cNvSpPr txBox="1"/>
          <p:nvPr/>
        </p:nvSpPr>
        <p:spPr>
          <a:xfrm>
            <a:off x="2343269" y="3824245"/>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3</a:t>
            </a:r>
          </a:p>
        </p:txBody>
      </p:sp>
      <p:sp>
        <p:nvSpPr>
          <p:cNvPr id="34" name="テキスト ボックス 33">
            <a:extLst>
              <a:ext uri="{FF2B5EF4-FFF2-40B4-BE49-F238E27FC236}">
                <a16:creationId xmlns:a16="http://schemas.microsoft.com/office/drawing/2014/main" id="{BEDAA505-AA43-D7FB-EBB1-85D939221BA0}"/>
              </a:ext>
            </a:extLst>
          </p:cNvPr>
          <p:cNvSpPr txBox="1"/>
          <p:nvPr/>
        </p:nvSpPr>
        <p:spPr>
          <a:xfrm>
            <a:off x="6583781" y="3824245"/>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10</a:t>
            </a:r>
          </a:p>
        </p:txBody>
      </p:sp>
      <p:sp>
        <p:nvSpPr>
          <p:cNvPr id="35" name="テキスト ボックス 34">
            <a:extLst>
              <a:ext uri="{FF2B5EF4-FFF2-40B4-BE49-F238E27FC236}">
                <a16:creationId xmlns:a16="http://schemas.microsoft.com/office/drawing/2014/main" id="{2F46C337-3244-2666-42EE-220133DAA264}"/>
              </a:ext>
            </a:extLst>
          </p:cNvPr>
          <p:cNvSpPr txBox="1"/>
          <p:nvPr/>
        </p:nvSpPr>
        <p:spPr>
          <a:xfrm>
            <a:off x="8260994" y="4619086"/>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13</a:t>
            </a:r>
          </a:p>
        </p:txBody>
      </p:sp>
      <p:sp>
        <p:nvSpPr>
          <p:cNvPr id="36" name="テキスト ボックス 35">
            <a:extLst>
              <a:ext uri="{FF2B5EF4-FFF2-40B4-BE49-F238E27FC236}">
                <a16:creationId xmlns:a16="http://schemas.microsoft.com/office/drawing/2014/main" id="{98E1E04D-CFEC-DA5F-9C00-CDCE8779933C}"/>
              </a:ext>
            </a:extLst>
          </p:cNvPr>
          <p:cNvSpPr txBox="1"/>
          <p:nvPr/>
        </p:nvSpPr>
        <p:spPr>
          <a:xfrm>
            <a:off x="3234316" y="5726236"/>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2</a:t>
            </a:r>
          </a:p>
        </p:txBody>
      </p:sp>
      <p:sp>
        <p:nvSpPr>
          <p:cNvPr id="37" name="テキスト ボックス 36">
            <a:extLst>
              <a:ext uri="{FF2B5EF4-FFF2-40B4-BE49-F238E27FC236}">
                <a16:creationId xmlns:a16="http://schemas.microsoft.com/office/drawing/2014/main" id="{FA94E790-C502-5463-B6F4-6EFC73520D12}"/>
              </a:ext>
            </a:extLst>
          </p:cNvPr>
          <p:cNvSpPr txBox="1"/>
          <p:nvPr/>
        </p:nvSpPr>
        <p:spPr>
          <a:xfrm>
            <a:off x="4461769" y="5482987"/>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7</a:t>
            </a:r>
          </a:p>
        </p:txBody>
      </p:sp>
      <p:sp>
        <p:nvSpPr>
          <p:cNvPr id="38" name="テキスト ボックス 37">
            <a:extLst>
              <a:ext uri="{FF2B5EF4-FFF2-40B4-BE49-F238E27FC236}">
                <a16:creationId xmlns:a16="http://schemas.microsoft.com/office/drawing/2014/main" id="{75BCAC57-59C4-91F1-4287-56E0F8E369C9}"/>
              </a:ext>
            </a:extLst>
          </p:cNvPr>
          <p:cNvSpPr txBox="1"/>
          <p:nvPr/>
        </p:nvSpPr>
        <p:spPr>
          <a:xfrm>
            <a:off x="7420635" y="5520217"/>
            <a:ext cx="1409040" cy="307777"/>
          </a:xfrm>
          <a:prstGeom prst="rect">
            <a:avLst/>
          </a:prstGeom>
          <a:noFill/>
        </p:spPr>
        <p:txBody>
          <a:bodyPr wrap="none" rtlCol="0">
            <a:spAutoFit/>
          </a:bodyPr>
          <a:lstStyle/>
          <a:p>
            <a:pPr algn="ctr"/>
            <a:r>
              <a:rPr kumimoji="1" lang="ja-GB" altLang="en-US" sz="1400" dirty="0"/>
              <a:t>上：</a:t>
            </a:r>
            <a:r>
              <a:rPr kumimoji="1" lang="en-US" altLang="ja-GB" sz="1400" dirty="0"/>
              <a:t>ET</a:t>
            </a:r>
            <a:r>
              <a:rPr kumimoji="1" lang="ja-GB" altLang="en-US" sz="1400" dirty="0"/>
              <a:t>，下：</a:t>
            </a:r>
            <a:r>
              <a:rPr kumimoji="1" lang="en-US" altLang="ja-GB" sz="1400" dirty="0"/>
              <a:t>LT</a:t>
            </a:r>
            <a:endParaRPr kumimoji="1" lang="ja-GB" altLang="en-US" sz="1400" dirty="0"/>
          </a:p>
        </p:txBody>
      </p:sp>
    </p:spTree>
    <p:extLst>
      <p:ext uri="{BB962C8B-B14F-4D97-AF65-F5344CB8AC3E}">
        <p14:creationId xmlns:p14="http://schemas.microsoft.com/office/powerpoint/2010/main" val="3870078056"/>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093C48-0F81-B403-E292-88A3E2FE4245}"/>
              </a:ext>
            </a:extLst>
          </p:cNvPr>
          <p:cNvSpPr>
            <a:spLocks noGrp="1"/>
          </p:cNvSpPr>
          <p:nvPr>
            <p:ph type="title"/>
          </p:nvPr>
        </p:nvSpPr>
        <p:spPr/>
        <p:txBody>
          <a:bodyPr/>
          <a:lstStyle/>
          <a:p>
            <a:r>
              <a:rPr lang="ja-GB" altLang="en-US" dirty="0"/>
              <a:t>作業日程の</a:t>
            </a:r>
            <a:r>
              <a:rPr kumimoji="1" lang="ja-GB" altLang="en-US" dirty="0"/>
              <a:t>時刻</a:t>
            </a:r>
          </a:p>
        </p:txBody>
      </p:sp>
      <p:sp>
        <p:nvSpPr>
          <p:cNvPr id="3" name="コンテンツ プレースホルダー 2">
            <a:extLst>
              <a:ext uri="{FF2B5EF4-FFF2-40B4-BE49-F238E27FC236}">
                <a16:creationId xmlns:a16="http://schemas.microsoft.com/office/drawing/2014/main" id="{9CEE3518-9D90-BBCF-3671-B3826E985DA1}"/>
              </a:ext>
            </a:extLst>
          </p:cNvPr>
          <p:cNvSpPr>
            <a:spLocks noGrp="1"/>
          </p:cNvSpPr>
          <p:nvPr>
            <p:ph idx="1"/>
          </p:nvPr>
        </p:nvSpPr>
        <p:spPr/>
        <p:txBody>
          <a:bodyPr/>
          <a:lstStyle/>
          <a:p>
            <a:pPr marL="0" indent="0">
              <a:buNone/>
            </a:pPr>
            <a:r>
              <a:rPr lang="en-US" altLang="ja-GB" dirty="0"/>
              <a:t>PERT</a:t>
            </a:r>
            <a:r>
              <a:rPr lang="ja-GB" altLang="en-US" dirty="0"/>
              <a:t>（スケジューリング手法）に定められた</a:t>
            </a:r>
            <a:r>
              <a:rPr lang="en-US" altLang="ja-GB" dirty="0"/>
              <a:t>4</a:t>
            </a:r>
            <a:r>
              <a:rPr lang="ja-GB" altLang="en-US" dirty="0"/>
              <a:t>種類の時刻</a:t>
            </a:r>
            <a:endParaRPr lang="en-US" altLang="ja-GB" dirty="0"/>
          </a:p>
          <a:p>
            <a:pPr marL="457200" lvl="1" indent="0">
              <a:buNone/>
            </a:pPr>
            <a:r>
              <a:rPr lang="ja-GB" altLang="en-US" dirty="0"/>
              <a:t>最早開始時刻（</a:t>
            </a:r>
            <a:r>
              <a:rPr lang="en-US" altLang="ja-GB" dirty="0"/>
              <a:t>ES</a:t>
            </a:r>
            <a:r>
              <a:rPr lang="ja-GB" altLang="en-US" dirty="0"/>
              <a:t>）：その作業を最も早く始められる時刻</a:t>
            </a:r>
            <a:br>
              <a:rPr lang="en-US" altLang="ja-GB" dirty="0"/>
            </a:br>
            <a:r>
              <a:rPr lang="ja-JP" altLang="en-US"/>
              <a:t>　　　　　　</a:t>
            </a:r>
            <a:r>
              <a:rPr lang="ja-GB" altLang="en-US" dirty="0"/>
              <a:t>　</a:t>
            </a:r>
            <a:r>
              <a:rPr lang="ja-JP" altLang="en-US"/>
              <a:t>　</a:t>
            </a:r>
            <a:r>
              <a:rPr lang="en-US" altLang="ja-JP" dirty="0"/>
              <a:t>        </a:t>
            </a:r>
            <a:r>
              <a:rPr lang="ja-GB" altLang="en-US" dirty="0"/>
              <a:t>始点の最早結合点時刻（</a:t>
            </a:r>
            <a:r>
              <a:rPr lang="en-US" altLang="ja-GB" dirty="0"/>
              <a:t>ET</a:t>
            </a:r>
            <a:r>
              <a:rPr lang="ja-GB" altLang="en-US" dirty="0"/>
              <a:t>）</a:t>
            </a:r>
            <a:endParaRPr lang="en-US" altLang="ja-GB" dirty="0"/>
          </a:p>
          <a:p>
            <a:pPr lvl="4"/>
            <a:endParaRPr lang="en-US" altLang="ja-GB" dirty="0"/>
          </a:p>
          <a:p>
            <a:pPr marL="457200" lvl="1" indent="0">
              <a:buNone/>
            </a:pPr>
            <a:r>
              <a:rPr lang="ja-GB" altLang="en-US" dirty="0"/>
              <a:t>最早終了時刻（</a:t>
            </a:r>
            <a:r>
              <a:rPr lang="en-US" altLang="ja-GB" dirty="0"/>
              <a:t>EF</a:t>
            </a:r>
            <a:r>
              <a:rPr lang="ja-GB" altLang="en-US" dirty="0"/>
              <a:t>）：その作業を最も早く終了できる時刻</a:t>
            </a:r>
            <a:br>
              <a:rPr lang="en-US" altLang="ja-GB" dirty="0"/>
            </a:br>
            <a:r>
              <a:rPr lang="ja-JP" altLang="en-US"/>
              <a:t>　　　　　　</a:t>
            </a:r>
            <a:r>
              <a:rPr lang="ja-GB" altLang="en-US" dirty="0"/>
              <a:t>　</a:t>
            </a:r>
            <a:r>
              <a:rPr lang="ja-JP" altLang="en-US"/>
              <a:t>　</a:t>
            </a:r>
            <a:r>
              <a:rPr lang="en-US" altLang="ja-JP" dirty="0"/>
              <a:t> </a:t>
            </a:r>
            <a:r>
              <a:rPr lang="ja-JP" altLang="en-US"/>
              <a:t>　　</a:t>
            </a:r>
            <a:r>
              <a:rPr lang="ja-GB" altLang="en-US" dirty="0"/>
              <a:t>始点の</a:t>
            </a:r>
            <a:r>
              <a:rPr lang="en-US" altLang="ja-GB" dirty="0"/>
              <a:t>ET+</a:t>
            </a:r>
            <a:r>
              <a:rPr lang="ja-GB" altLang="en-US" dirty="0"/>
              <a:t>その作業にかかる時間</a:t>
            </a:r>
            <a:endParaRPr lang="en-US" altLang="ja-GB" dirty="0"/>
          </a:p>
          <a:p>
            <a:pPr lvl="4"/>
            <a:endParaRPr lang="en-US" altLang="ja-GB" dirty="0"/>
          </a:p>
          <a:p>
            <a:pPr marL="457200" lvl="1" indent="0">
              <a:buNone/>
            </a:pPr>
            <a:r>
              <a:rPr lang="ja-GB" altLang="en-US" dirty="0"/>
              <a:t>最遅開始時刻（</a:t>
            </a:r>
            <a:r>
              <a:rPr lang="en-US" altLang="ja-GB" dirty="0"/>
              <a:t>LS</a:t>
            </a:r>
            <a:r>
              <a:rPr lang="ja-GB" altLang="en-US" dirty="0"/>
              <a:t>）：その作業を遅くとも始めなければならない時刻</a:t>
            </a:r>
            <a:br>
              <a:rPr lang="en-US" altLang="ja-GB" dirty="0"/>
            </a:br>
            <a:r>
              <a:rPr lang="ja-JP" altLang="en-US"/>
              <a:t>　　　　　　</a:t>
            </a:r>
            <a:r>
              <a:rPr lang="ja-GB" altLang="en-US" dirty="0"/>
              <a:t>　</a:t>
            </a:r>
            <a:r>
              <a:rPr lang="ja-JP" altLang="en-US"/>
              <a:t>　</a:t>
            </a:r>
            <a:r>
              <a:rPr lang="en-US" altLang="ja-JP" dirty="0"/>
              <a:t> </a:t>
            </a:r>
            <a:r>
              <a:rPr lang="ja-JP" altLang="en-US"/>
              <a:t>　　</a:t>
            </a:r>
            <a:r>
              <a:rPr lang="ja-GB" altLang="en-US" dirty="0"/>
              <a:t>終点の</a:t>
            </a:r>
            <a:r>
              <a:rPr lang="en-US" altLang="ja-GB" dirty="0"/>
              <a:t>LT-</a:t>
            </a:r>
            <a:r>
              <a:rPr lang="ja-GB" altLang="en-US" dirty="0"/>
              <a:t>その作業にかかる時間</a:t>
            </a:r>
            <a:endParaRPr lang="en-US" altLang="ja-GB" dirty="0"/>
          </a:p>
          <a:p>
            <a:pPr lvl="4"/>
            <a:endParaRPr lang="en-US" altLang="ja-GB" dirty="0"/>
          </a:p>
          <a:p>
            <a:pPr marL="457200" lvl="1" indent="0">
              <a:buNone/>
            </a:pPr>
            <a:r>
              <a:rPr lang="ja-GB" altLang="en-US" dirty="0"/>
              <a:t>最遅終了時刻（</a:t>
            </a:r>
            <a:r>
              <a:rPr lang="en-US" altLang="ja-GB" dirty="0"/>
              <a:t>LF</a:t>
            </a:r>
            <a:r>
              <a:rPr lang="ja-GB" altLang="en-US" dirty="0"/>
              <a:t>）：その作業を終えなければならないギリギリの時刻</a:t>
            </a:r>
            <a:br>
              <a:rPr lang="en-US" altLang="ja-GB" dirty="0"/>
            </a:br>
            <a:r>
              <a:rPr lang="ja-JP" altLang="en-US"/>
              <a:t>　　　　　　</a:t>
            </a:r>
            <a:r>
              <a:rPr lang="ja-GB" altLang="en-US" dirty="0"/>
              <a:t>　</a:t>
            </a:r>
            <a:r>
              <a:rPr lang="ja-JP" altLang="en-US"/>
              <a:t>　</a:t>
            </a:r>
            <a:r>
              <a:rPr lang="en-US" altLang="ja-JP" dirty="0"/>
              <a:t> </a:t>
            </a:r>
            <a:r>
              <a:rPr lang="ja-JP" altLang="en-US"/>
              <a:t>　</a:t>
            </a:r>
            <a:r>
              <a:rPr lang="en-US" altLang="ja-JP" dirty="0"/>
              <a:t>   </a:t>
            </a:r>
            <a:r>
              <a:rPr lang="ja-GB" altLang="en-US" dirty="0"/>
              <a:t>終点の最遅結合点時刻（</a:t>
            </a:r>
            <a:r>
              <a:rPr lang="en-US" altLang="ja-GB" dirty="0"/>
              <a:t>LT</a:t>
            </a:r>
            <a:r>
              <a:rPr lang="ja-GB" altLang="en-US" dirty="0"/>
              <a:t>）</a:t>
            </a:r>
            <a:endParaRPr kumimoji="1" lang="ja-GB" altLang="en-US" dirty="0"/>
          </a:p>
        </p:txBody>
      </p:sp>
      <p:sp>
        <p:nvSpPr>
          <p:cNvPr id="4" name="テキスト ボックス 3">
            <a:extLst>
              <a:ext uri="{FF2B5EF4-FFF2-40B4-BE49-F238E27FC236}">
                <a16:creationId xmlns:a16="http://schemas.microsoft.com/office/drawing/2014/main" id="{5B8489AC-1F78-7098-4526-E05CFB894A99}"/>
              </a:ext>
            </a:extLst>
          </p:cNvPr>
          <p:cNvSpPr txBox="1"/>
          <p:nvPr/>
        </p:nvSpPr>
        <p:spPr>
          <a:xfrm>
            <a:off x="391945" y="6340119"/>
            <a:ext cx="8360109" cy="307777"/>
          </a:xfrm>
          <a:prstGeom prst="rect">
            <a:avLst/>
          </a:prstGeom>
          <a:noFill/>
        </p:spPr>
        <p:txBody>
          <a:bodyPr wrap="none" rtlCol="0">
            <a:spAutoFit/>
          </a:bodyPr>
          <a:lstStyle/>
          <a:p>
            <a:r>
              <a:rPr kumimoji="1" lang="en-US" altLang="ja-GB" sz="1400" dirty="0"/>
              <a:t>※ ES</a:t>
            </a:r>
            <a:r>
              <a:rPr kumimoji="1" lang="ja-GB" altLang="en-US" sz="1400" dirty="0"/>
              <a:t>：</a:t>
            </a:r>
            <a:r>
              <a:rPr kumimoji="1" lang="en-US" altLang="ja-GB" sz="1400" dirty="0"/>
              <a:t>Earliest Starting time</a:t>
            </a:r>
            <a:r>
              <a:rPr kumimoji="1" lang="ja-GB" altLang="en-US" sz="1400" dirty="0"/>
              <a:t>，</a:t>
            </a:r>
            <a:r>
              <a:rPr kumimoji="1" lang="en-US" altLang="ja-GB" sz="1400" dirty="0"/>
              <a:t>EF</a:t>
            </a:r>
            <a:r>
              <a:rPr kumimoji="1" lang="ja-GB" altLang="en-US" sz="1400" dirty="0"/>
              <a:t>：</a:t>
            </a:r>
            <a:r>
              <a:rPr kumimoji="1" lang="en-US" altLang="ja-GB" sz="1400" dirty="0"/>
              <a:t>Earliest Finishing time</a:t>
            </a:r>
            <a:r>
              <a:rPr kumimoji="1" lang="ja-GB" altLang="en-US" sz="1400" dirty="0"/>
              <a:t>，</a:t>
            </a:r>
            <a:r>
              <a:rPr kumimoji="1" lang="en-US" altLang="ja-GB" sz="1400" dirty="0"/>
              <a:t>LS</a:t>
            </a:r>
            <a:r>
              <a:rPr kumimoji="1" lang="ja-GB" altLang="en-US" sz="1400" dirty="0"/>
              <a:t>：</a:t>
            </a:r>
            <a:r>
              <a:rPr kumimoji="1" lang="en-US" altLang="ja-GB" sz="1400" dirty="0"/>
              <a:t>Latest Starting time</a:t>
            </a:r>
            <a:r>
              <a:rPr kumimoji="1" lang="ja-GB" altLang="en-US" sz="1400" dirty="0"/>
              <a:t>，</a:t>
            </a:r>
            <a:r>
              <a:rPr kumimoji="1" lang="en-US" altLang="ja-GB" sz="1400" dirty="0"/>
              <a:t>LF</a:t>
            </a:r>
            <a:r>
              <a:rPr kumimoji="1" lang="ja-GB" altLang="en-US" sz="1400" dirty="0"/>
              <a:t>：</a:t>
            </a:r>
            <a:r>
              <a:rPr kumimoji="1" lang="en-US" altLang="ja-GB" sz="1400" dirty="0"/>
              <a:t>Latest Finishing time</a:t>
            </a:r>
          </a:p>
        </p:txBody>
      </p:sp>
    </p:spTree>
    <p:extLst>
      <p:ext uri="{BB962C8B-B14F-4D97-AF65-F5344CB8AC3E}">
        <p14:creationId xmlns:p14="http://schemas.microsoft.com/office/powerpoint/2010/main" val="616900498"/>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D56943-E8B8-15E4-114C-7720A3A8D05D}"/>
              </a:ext>
            </a:extLst>
          </p:cNvPr>
          <p:cNvSpPr>
            <a:spLocks noGrp="1"/>
          </p:cNvSpPr>
          <p:nvPr>
            <p:ph type="title"/>
          </p:nvPr>
        </p:nvSpPr>
        <p:spPr/>
        <p:txBody>
          <a:bodyPr/>
          <a:lstStyle/>
          <a:p>
            <a:r>
              <a:rPr kumimoji="1" lang="ja-GB" altLang="en-US" dirty="0"/>
              <a:t>作業日程の余裕</a:t>
            </a:r>
          </a:p>
        </p:txBody>
      </p:sp>
      <p:sp>
        <p:nvSpPr>
          <p:cNvPr id="3" name="コンテンツ プレースホルダー 2">
            <a:extLst>
              <a:ext uri="{FF2B5EF4-FFF2-40B4-BE49-F238E27FC236}">
                <a16:creationId xmlns:a16="http://schemas.microsoft.com/office/drawing/2014/main" id="{AAA35887-D513-329B-E9AF-43004C235BDE}"/>
              </a:ext>
            </a:extLst>
          </p:cNvPr>
          <p:cNvSpPr>
            <a:spLocks noGrp="1"/>
          </p:cNvSpPr>
          <p:nvPr>
            <p:ph idx="1"/>
          </p:nvPr>
        </p:nvSpPr>
        <p:spPr/>
        <p:txBody>
          <a:bodyPr/>
          <a:lstStyle/>
          <a:p>
            <a:pPr marL="0" indent="0">
              <a:buNone/>
            </a:pPr>
            <a:r>
              <a:rPr kumimoji="1" lang="ja-GB" altLang="en-US" dirty="0"/>
              <a:t>全余裕時間（</a:t>
            </a:r>
            <a:r>
              <a:rPr kumimoji="1" lang="en-US" altLang="ja-GB" dirty="0"/>
              <a:t>TF</a:t>
            </a:r>
            <a:r>
              <a:rPr kumimoji="1" lang="ja-GB" altLang="en-US" dirty="0"/>
              <a:t>：</a:t>
            </a:r>
            <a:r>
              <a:rPr kumimoji="1" lang="en-US" altLang="ja-GB" dirty="0"/>
              <a:t>Total Float</a:t>
            </a:r>
            <a:r>
              <a:rPr kumimoji="1" lang="ja-GB" altLang="en-US" dirty="0"/>
              <a:t>）</a:t>
            </a:r>
            <a:endParaRPr kumimoji="1" lang="en-US" altLang="ja-GB" dirty="0"/>
          </a:p>
          <a:p>
            <a:pPr lvl="1"/>
            <a:r>
              <a:rPr lang="ja-GB" altLang="en-US" dirty="0"/>
              <a:t>余裕時間の最大限界</a:t>
            </a:r>
            <a:endParaRPr lang="en-US" altLang="ja-GB" dirty="0"/>
          </a:p>
          <a:p>
            <a:pPr lvl="1"/>
            <a:r>
              <a:rPr lang="ja-GB" altLang="en-US" dirty="0"/>
              <a:t>プロジェクト全体に遅れを生じさせないために，作業に許される最大の遅延</a:t>
            </a:r>
            <a:endParaRPr lang="en-US" altLang="ja-GB" dirty="0"/>
          </a:p>
          <a:p>
            <a:pPr lvl="1"/>
            <a:endParaRPr lang="en-US" altLang="ja-GB" dirty="0"/>
          </a:p>
          <a:p>
            <a:pPr marL="0" indent="0">
              <a:buNone/>
            </a:pPr>
            <a:r>
              <a:rPr kumimoji="1" lang="ja-GB" altLang="en-US" dirty="0"/>
              <a:t>自由余裕時間（</a:t>
            </a:r>
            <a:r>
              <a:rPr kumimoji="1" lang="en-US" altLang="ja-GB" dirty="0"/>
              <a:t>FF</a:t>
            </a:r>
            <a:r>
              <a:rPr kumimoji="1" lang="ja-GB" altLang="en-US" dirty="0"/>
              <a:t>：</a:t>
            </a:r>
            <a:r>
              <a:rPr kumimoji="1" lang="en-US" altLang="ja-GB" dirty="0"/>
              <a:t>Free Float</a:t>
            </a:r>
            <a:r>
              <a:rPr kumimoji="1" lang="ja-GB" altLang="en-US" dirty="0"/>
              <a:t>）</a:t>
            </a:r>
            <a:endParaRPr kumimoji="1" lang="en-US" altLang="ja-GB" dirty="0"/>
          </a:p>
          <a:p>
            <a:pPr lvl="1"/>
            <a:r>
              <a:rPr kumimoji="1" lang="ja-GB" altLang="en-US" dirty="0"/>
              <a:t>他の作業に影響を与えない余裕時間</a:t>
            </a:r>
            <a:endParaRPr kumimoji="1" lang="en-US" altLang="ja-GB" dirty="0"/>
          </a:p>
          <a:p>
            <a:pPr lvl="1"/>
            <a:r>
              <a:rPr lang="ja-GB" altLang="en-US" dirty="0"/>
              <a:t>他の作業の</a:t>
            </a:r>
            <a:r>
              <a:rPr lang="en-US" altLang="ja-GB" dirty="0"/>
              <a:t>TF</a:t>
            </a:r>
            <a:r>
              <a:rPr lang="ja-GB" altLang="en-US" dirty="0"/>
              <a:t>を削減しないような範囲で，作業に許される最大の遅延</a:t>
            </a:r>
            <a:endParaRPr kumimoji="1" lang="en-US" altLang="ja-GB" dirty="0"/>
          </a:p>
          <a:p>
            <a:pPr lvl="1"/>
            <a:endParaRPr kumimoji="1" lang="ja-GB" altLang="en-US" dirty="0"/>
          </a:p>
        </p:txBody>
      </p:sp>
    </p:spTree>
    <p:extLst>
      <p:ext uri="{BB962C8B-B14F-4D97-AF65-F5344CB8AC3E}">
        <p14:creationId xmlns:p14="http://schemas.microsoft.com/office/powerpoint/2010/main" val="4183227836"/>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0B6ED8-2284-CC34-95A7-36B9DF90E675}"/>
              </a:ext>
            </a:extLst>
          </p:cNvPr>
          <p:cNvSpPr>
            <a:spLocks noGrp="1"/>
          </p:cNvSpPr>
          <p:nvPr>
            <p:ph type="title"/>
          </p:nvPr>
        </p:nvSpPr>
        <p:spPr/>
        <p:txBody>
          <a:bodyPr/>
          <a:lstStyle/>
          <a:p>
            <a:r>
              <a:rPr lang="ja-GB" altLang="en-US" dirty="0"/>
              <a:t>全</a:t>
            </a:r>
            <a:r>
              <a:rPr kumimoji="1" lang="ja-GB" altLang="en-US" dirty="0"/>
              <a:t>余裕時間（</a:t>
            </a:r>
            <a:r>
              <a:rPr lang="en-US" altLang="ja-GB" dirty="0"/>
              <a:t>TF</a:t>
            </a:r>
            <a:r>
              <a:rPr lang="ja-GB" altLang="en-US" dirty="0"/>
              <a:t>：</a:t>
            </a:r>
            <a:r>
              <a:rPr lang="en-US" altLang="ja-GB" dirty="0"/>
              <a:t>Total Float</a:t>
            </a:r>
            <a:r>
              <a:rPr kumimoji="1" lang="ja-GB" altLang="en-US" dirty="0"/>
              <a:t>）</a:t>
            </a:r>
          </a:p>
        </p:txBody>
      </p:sp>
      <p:sp>
        <p:nvSpPr>
          <p:cNvPr id="3" name="コンテンツ プレースホルダー 2">
            <a:extLst>
              <a:ext uri="{FF2B5EF4-FFF2-40B4-BE49-F238E27FC236}">
                <a16:creationId xmlns:a16="http://schemas.microsoft.com/office/drawing/2014/main" id="{49C29EB7-1C9D-E951-3460-C73087C3C04F}"/>
              </a:ext>
            </a:extLst>
          </p:cNvPr>
          <p:cNvSpPr>
            <a:spLocks noGrp="1"/>
          </p:cNvSpPr>
          <p:nvPr>
            <p:ph idx="1"/>
          </p:nvPr>
        </p:nvSpPr>
        <p:spPr/>
        <p:txBody>
          <a:bodyPr/>
          <a:lstStyle/>
          <a:p>
            <a:pPr marL="0" indent="0">
              <a:buNone/>
            </a:pPr>
            <a:r>
              <a:rPr kumimoji="1" lang="ja-GB" altLang="en-US" dirty="0"/>
              <a:t>余裕時間の最大限界</a:t>
            </a:r>
            <a:br>
              <a:rPr kumimoji="1" lang="en-US" altLang="ja-GB" dirty="0"/>
            </a:br>
            <a:r>
              <a:rPr kumimoji="1" lang="en-US" altLang="ja-GB" sz="2000" dirty="0"/>
              <a:t>=</a:t>
            </a:r>
            <a:r>
              <a:rPr kumimoji="1" lang="ja-GB" altLang="en-US" sz="2000" dirty="0"/>
              <a:t>プロジェクト全体の遅延を起こさないために，ある作業に許される遅れの最大値</a:t>
            </a:r>
            <a:endParaRPr kumimoji="1" lang="en-US" altLang="ja-GB" dirty="0"/>
          </a:p>
          <a:p>
            <a:pPr lvl="1"/>
            <a:endParaRPr kumimoji="1" lang="ja-GB" altLang="en-US" dirty="0"/>
          </a:p>
        </p:txBody>
      </p:sp>
      <p:graphicFrame>
        <p:nvGraphicFramePr>
          <p:cNvPr id="5" name="表 4">
            <a:extLst>
              <a:ext uri="{FF2B5EF4-FFF2-40B4-BE49-F238E27FC236}">
                <a16:creationId xmlns:a16="http://schemas.microsoft.com/office/drawing/2014/main" id="{3C49E186-DBDA-B566-A01D-77AC5B8C4BAD}"/>
              </a:ext>
            </a:extLst>
          </p:cNvPr>
          <p:cNvGraphicFramePr>
            <a:graphicFrameLocks noGrp="1"/>
          </p:cNvGraphicFramePr>
          <p:nvPr/>
        </p:nvGraphicFramePr>
        <p:xfrm>
          <a:off x="381237" y="1591401"/>
          <a:ext cx="5177352" cy="2987040"/>
        </p:xfrm>
        <a:graphic>
          <a:graphicData uri="http://schemas.openxmlformats.org/drawingml/2006/table">
            <a:tbl>
              <a:tblPr firstRow="1" bandRow="1">
                <a:tableStyleId>{5C22544A-7EE6-4342-B048-85BDC9FD1C3A}</a:tableStyleId>
              </a:tblPr>
              <a:tblGrid>
                <a:gridCol w="1294338">
                  <a:extLst>
                    <a:ext uri="{9D8B030D-6E8A-4147-A177-3AD203B41FA5}">
                      <a16:colId xmlns:a16="http://schemas.microsoft.com/office/drawing/2014/main" val="3691675347"/>
                    </a:ext>
                  </a:extLst>
                </a:gridCol>
                <a:gridCol w="1294338">
                  <a:extLst>
                    <a:ext uri="{9D8B030D-6E8A-4147-A177-3AD203B41FA5}">
                      <a16:colId xmlns:a16="http://schemas.microsoft.com/office/drawing/2014/main" val="928111709"/>
                    </a:ext>
                  </a:extLst>
                </a:gridCol>
                <a:gridCol w="1294338">
                  <a:extLst>
                    <a:ext uri="{9D8B030D-6E8A-4147-A177-3AD203B41FA5}">
                      <a16:colId xmlns:a16="http://schemas.microsoft.com/office/drawing/2014/main" val="4014108102"/>
                    </a:ext>
                  </a:extLst>
                </a:gridCol>
                <a:gridCol w="1294338">
                  <a:extLst>
                    <a:ext uri="{9D8B030D-6E8A-4147-A177-3AD203B41FA5}">
                      <a16:colId xmlns:a16="http://schemas.microsoft.com/office/drawing/2014/main" val="1570955190"/>
                    </a:ext>
                  </a:extLst>
                </a:gridCol>
              </a:tblGrid>
              <a:tr h="183483">
                <a:tc>
                  <a:txBody>
                    <a:bodyPr/>
                    <a:lstStyle/>
                    <a:p>
                      <a:pPr algn="ctr"/>
                      <a:r>
                        <a:rPr lang="ja-GB" altLang="en-US" sz="1400" dirty="0"/>
                        <a:t>作業記号</a:t>
                      </a:r>
                    </a:p>
                  </a:txBody>
                  <a:tcPr/>
                </a:tc>
                <a:tc>
                  <a:txBody>
                    <a:bodyPr/>
                    <a:lstStyle/>
                    <a:p>
                      <a:pPr algn="ctr"/>
                      <a:r>
                        <a:rPr lang="ja-GB" altLang="en-US" sz="1400" dirty="0"/>
                        <a:t>作業</a:t>
                      </a:r>
                      <a:r>
                        <a:rPr lang="en-US" altLang="ja-GB" sz="1400" dirty="0"/>
                        <a:t>(</a:t>
                      </a:r>
                      <a:r>
                        <a:rPr lang="en-US" altLang="ja-GB" sz="1400" dirty="0" err="1"/>
                        <a:t>i,j</a:t>
                      </a:r>
                      <a:r>
                        <a:rPr lang="en-US" altLang="ja-GB" sz="1400" dirty="0"/>
                        <a:t>)</a:t>
                      </a:r>
                      <a:endParaRPr lang="ja-GB" altLang="en-US" sz="1400" dirty="0"/>
                    </a:p>
                  </a:txBody>
                  <a:tcPr/>
                </a:tc>
                <a:tc>
                  <a:txBody>
                    <a:bodyPr/>
                    <a:lstStyle/>
                    <a:p>
                      <a:pPr algn="ctr"/>
                      <a:r>
                        <a:rPr lang="ja-GB" altLang="en-US" sz="1400" dirty="0"/>
                        <a:t>所要日数</a:t>
                      </a:r>
                      <a:r>
                        <a:rPr lang="en-US" altLang="ja-GB" sz="1400" dirty="0"/>
                        <a:t> </a:t>
                      </a:r>
                      <a:r>
                        <a:rPr lang="en-US" altLang="ja-GB" sz="1400" dirty="0" err="1"/>
                        <a:t>D</a:t>
                      </a:r>
                      <a:r>
                        <a:rPr lang="en-US" altLang="ja-GB" sz="1400" baseline="-25000" dirty="0" err="1"/>
                        <a:t>i,j</a:t>
                      </a:r>
                      <a:endParaRPr lang="ja-GB" altLang="en-US" sz="1400" baseline="-25000" dirty="0"/>
                    </a:p>
                  </a:txBody>
                  <a:tcPr/>
                </a:tc>
                <a:tc>
                  <a:txBody>
                    <a:bodyPr/>
                    <a:lstStyle/>
                    <a:p>
                      <a:pPr algn="ctr"/>
                      <a:r>
                        <a:rPr lang="en-US" altLang="ja-GB" sz="1400" baseline="0" dirty="0"/>
                        <a:t>TF</a:t>
                      </a:r>
                      <a:endParaRPr lang="ja-GB" altLang="en-US" sz="1400" baseline="0" dirty="0"/>
                    </a:p>
                  </a:txBody>
                  <a:tcPr/>
                </a:tc>
                <a:extLst>
                  <a:ext uri="{0D108BD9-81ED-4DB2-BD59-A6C34878D82A}">
                    <a16:rowId xmlns:a16="http://schemas.microsoft.com/office/drawing/2014/main" val="3671063893"/>
                  </a:ext>
                </a:extLst>
              </a:tr>
              <a:tr h="185302">
                <a:tc>
                  <a:txBody>
                    <a:bodyPr/>
                    <a:lstStyle/>
                    <a:p>
                      <a:pPr algn="ctr"/>
                      <a:r>
                        <a:rPr lang="en-US" altLang="ja-GB" sz="1600" dirty="0"/>
                        <a:t>A</a:t>
                      </a:r>
                      <a:endParaRPr lang="ja-GB" altLang="en-US" sz="1600" dirty="0"/>
                    </a:p>
                  </a:txBody>
                  <a:tcPr/>
                </a:tc>
                <a:tc>
                  <a:txBody>
                    <a:bodyPr/>
                    <a:lstStyle/>
                    <a:p>
                      <a:pPr algn="ctr"/>
                      <a:r>
                        <a:rPr lang="en-US" altLang="ja-GB" sz="1600" dirty="0"/>
                        <a:t>(1,2)</a:t>
                      </a:r>
                      <a:endParaRPr lang="ja-GB" altLang="en-US" sz="1600" dirty="0"/>
                    </a:p>
                  </a:txBody>
                  <a:tcPr/>
                </a:tc>
                <a:tc>
                  <a:txBody>
                    <a:bodyPr/>
                    <a:lstStyle/>
                    <a:p>
                      <a:pPr algn="ctr"/>
                      <a:r>
                        <a:rPr lang="en-US" altLang="ja-GB" sz="1600" dirty="0"/>
                        <a:t>3</a:t>
                      </a:r>
                      <a:endParaRPr lang="ja-GB" altLang="en-US" sz="1600" dirty="0"/>
                    </a:p>
                  </a:txBody>
                  <a:tcPr/>
                </a:tc>
                <a:tc>
                  <a:txBody>
                    <a:bodyPr/>
                    <a:lstStyle/>
                    <a:p>
                      <a:pPr algn="ctr"/>
                      <a:r>
                        <a:rPr lang="en-US" altLang="ja-GB" sz="1600" dirty="0"/>
                        <a:t>3-(0+3) = 0</a:t>
                      </a:r>
                      <a:endParaRPr lang="ja-GB" altLang="en-US" sz="1600" dirty="0"/>
                    </a:p>
                  </a:txBody>
                  <a:tcPr/>
                </a:tc>
                <a:extLst>
                  <a:ext uri="{0D108BD9-81ED-4DB2-BD59-A6C34878D82A}">
                    <a16:rowId xmlns:a16="http://schemas.microsoft.com/office/drawing/2014/main" val="3344703274"/>
                  </a:ext>
                </a:extLst>
              </a:tr>
              <a:tr h="185302">
                <a:tc>
                  <a:txBody>
                    <a:bodyPr/>
                    <a:lstStyle/>
                    <a:p>
                      <a:pPr algn="ctr"/>
                      <a:r>
                        <a:rPr lang="en-US" altLang="ja-GB" sz="1600" dirty="0"/>
                        <a:t>B</a:t>
                      </a:r>
                      <a:endParaRPr lang="ja-GB" altLang="en-US" sz="1600" dirty="0"/>
                    </a:p>
                  </a:txBody>
                  <a:tcPr/>
                </a:tc>
                <a:tc>
                  <a:txBody>
                    <a:bodyPr/>
                    <a:lstStyle/>
                    <a:p>
                      <a:pPr algn="ctr"/>
                      <a:r>
                        <a:rPr lang="en-US" altLang="ja-GB" sz="1600" dirty="0"/>
                        <a:t>(1,3)</a:t>
                      </a:r>
                      <a:endParaRPr lang="ja-GB" altLang="en-US" sz="1600" dirty="0"/>
                    </a:p>
                  </a:txBody>
                  <a:tcPr/>
                </a:tc>
                <a:tc>
                  <a:txBody>
                    <a:bodyPr/>
                    <a:lstStyle/>
                    <a:p>
                      <a:pPr algn="ctr"/>
                      <a:r>
                        <a:rPr lang="en-US" altLang="ja-GB" sz="1600" dirty="0"/>
                        <a:t>2</a:t>
                      </a:r>
                      <a:endParaRPr lang="ja-GB" altLang="en-US" sz="1600" dirty="0"/>
                    </a:p>
                  </a:txBody>
                  <a:tcPr/>
                </a:tc>
                <a:tc>
                  <a:txBody>
                    <a:bodyPr/>
                    <a:lstStyle/>
                    <a:p>
                      <a:pPr algn="ctr"/>
                      <a:r>
                        <a:rPr lang="en-US" altLang="ja-GB" sz="1600" dirty="0"/>
                        <a:t>2-(0+2) = 0</a:t>
                      </a:r>
                      <a:endParaRPr lang="ja-GB" altLang="en-US" sz="1600" dirty="0"/>
                    </a:p>
                  </a:txBody>
                  <a:tcPr/>
                </a:tc>
                <a:extLst>
                  <a:ext uri="{0D108BD9-81ED-4DB2-BD59-A6C34878D82A}">
                    <a16:rowId xmlns:a16="http://schemas.microsoft.com/office/drawing/2014/main" val="4177507280"/>
                  </a:ext>
                </a:extLst>
              </a:tr>
              <a:tr h="185302">
                <a:tc>
                  <a:txBody>
                    <a:bodyPr/>
                    <a:lstStyle/>
                    <a:p>
                      <a:pPr algn="ctr"/>
                      <a:r>
                        <a:rPr lang="en-US" altLang="ja-GB" sz="1600" dirty="0"/>
                        <a:t>C</a:t>
                      </a:r>
                      <a:endParaRPr lang="ja-GB" altLang="en-US" sz="1600" dirty="0"/>
                    </a:p>
                  </a:txBody>
                  <a:tcPr/>
                </a:tc>
                <a:tc>
                  <a:txBody>
                    <a:bodyPr/>
                    <a:lstStyle/>
                    <a:p>
                      <a:pPr algn="ctr"/>
                      <a:r>
                        <a:rPr lang="en-US" altLang="ja-GB" sz="1600" dirty="0"/>
                        <a:t>(2,4)</a:t>
                      </a:r>
                      <a:endParaRPr lang="ja-GB" altLang="en-US" sz="1600" dirty="0"/>
                    </a:p>
                  </a:txBody>
                  <a:tcPr/>
                </a:tc>
                <a:tc>
                  <a:txBody>
                    <a:bodyPr/>
                    <a:lstStyle/>
                    <a:p>
                      <a:pPr algn="ctr"/>
                      <a:r>
                        <a:rPr lang="en-US" altLang="ja-GB" sz="1600" dirty="0"/>
                        <a:t>4</a:t>
                      </a:r>
                      <a:endParaRPr lang="ja-GB" altLang="en-US" sz="1600" dirty="0"/>
                    </a:p>
                  </a:txBody>
                  <a:tcPr/>
                </a:tc>
                <a:tc>
                  <a:txBody>
                    <a:bodyPr/>
                    <a:lstStyle/>
                    <a:p>
                      <a:pPr algn="ctr"/>
                      <a:r>
                        <a:rPr lang="en-US" altLang="ja-GB" sz="1600" dirty="0"/>
                        <a:t>7-(3+4) = 0</a:t>
                      </a:r>
                      <a:endParaRPr lang="ja-GB" altLang="en-US" sz="1600" dirty="0"/>
                    </a:p>
                  </a:txBody>
                  <a:tcPr/>
                </a:tc>
                <a:extLst>
                  <a:ext uri="{0D108BD9-81ED-4DB2-BD59-A6C34878D82A}">
                    <a16:rowId xmlns:a16="http://schemas.microsoft.com/office/drawing/2014/main" val="3414689720"/>
                  </a:ext>
                </a:extLst>
              </a:tr>
              <a:tr h="185302">
                <a:tc>
                  <a:txBody>
                    <a:bodyPr/>
                    <a:lstStyle/>
                    <a:p>
                      <a:pPr algn="ctr"/>
                      <a:r>
                        <a:rPr lang="en-US" altLang="ja-GB" sz="1600" dirty="0"/>
                        <a:t>D</a:t>
                      </a:r>
                      <a:endParaRPr lang="ja-GB" altLang="en-US" sz="1600" dirty="0"/>
                    </a:p>
                  </a:txBody>
                  <a:tcPr/>
                </a:tc>
                <a:tc>
                  <a:txBody>
                    <a:bodyPr/>
                    <a:lstStyle/>
                    <a:p>
                      <a:pPr algn="ctr"/>
                      <a:r>
                        <a:rPr lang="en-US" altLang="ja-GB" sz="1600" dirty="0"/>
                        <a:t>(3,4)</a:t>
                      </a:r>
                      <a:endParaRPr lang="ja-GB" altLang="en-US" sz="1600" dirty="0"/>
                    </a:p>
                  </a:txBody>
                  <a:tcPr/>
                </a:tc>
                <a:tc>
                  <a:txBody>
                    <a:bodyPr/>
                    <a:lstStyle/>
                    <a:p>
                      <a:pPr algn="ctr"/>
                      <a:r>
                        <a:rPr lang="en-US" altLang="ja-GB" sz="1600" dirty="0"/>
                        <a:t>5</a:t>
                      </a:r>
                      <a:endParaRPr lang="ja-GB" altLang="en-US" sz="1600" dirty="0"/>
                    </a:p>
                  </a:txBody>
                  <a:tcPr/>
                </a:tc>
                <a:tc>
                  <a:txBody>
                    <a:bodyPr/>
                    <a:lstStyle/>
                    <a:p>
                      <a:pPr algn="ctr"/>
                      <a:r>
                        <a:rPr lang="en-US" altLang="ja-GB" sz="1600" dirty="0"/>
                        <a:t>7-(2+5) = 0</a:t>
                      </a:r>
                      <a:endParaRPr lang="ja-GB" altLang="en-US" sz="1600" dirty="0"/>
                    </a:p>
                  </a:txBody>
                  <a:tcPr/>
                </a:tc>
                <a:extLst>
                  <a:ext uri="{0D108BD9-81ED-4DB2-BD59-A6C34878D82A}">
                    <a16:rowId xmlns:a16="http://schemas.microsoft.com/office/drawing/2014/main" val="3373349507"/>
                  </a:ext>
                </a:extLst>
              </a:tr>
              <a:tr h="185302">
                <a:tc>
                  <a:txBody>
                    <a:bodyPr/>
                    <a:lstStyle/>
                    <a:p>
                      <a:pPr algn="ctr"/>
                      <a:r>
                        <a:rPr lang="en-US" altLang="ja-GB" sz="1600" dirty="0"/>
                        <a:t>E</a:t>
                      </a:r>
                      <a:endParaRPr lang="ja-GB" altLang="en-US" sz="1600" dirty="0"/>
                    </a:p>
                  </a:txBody>
                  <a:tcPr/>
                </a:tc>
                <a:tc>
                  <a:txBody>
                    <a:bodyPr/>
                    <a:lstStyle/>
                    <a:p>
                      <a:pPr algn="ctr"/>
                      <a:r>
                        <a:rPr lang="en-US" altLang="ja-GB" sz="1600" dirty="0"/>
                        <a:t>(2,5)</a:t>
                      </a:r>
                      <a:endParaRPr lang="ja-GB" altLang="en-US" sz="1600" dirty="0"/>
                    </a:p>
                  </a:txBody>
                  <a:tcPr/>
                </a:tc>
                <a:tc>
                  <a:txBody>
                    <a:bodyPr/>
                    <a:lstStyle/>
                    <a:p>
                      <a:pPr algn="ctr"/>
                      <a:r>
                        <a:rPr lang="en-US" altLang="ja-GB" sz="1600" dirty="0"/>
                        <a:t>1</a:t>
                      </a:r>
                      <a:endParaRPr lang="ja-GB" altLang="en-US" sz="1600" dirty="0"/>
                    </a:p>
                  </a:txBody>
                  <a:tcPr/>
                </a:tc>
                <a:tc>
                  <a:txBody>
                    <a:bodyPr/>
                    <a:lstStyle/>
                    <a:p>
                      <a:pPr algn="ctr"/>
                      <a:r>
                        <a:rPr lang="en-US" altLang="ja-GB" sz="1600" dirty="0"/>
                        <a:t>11-(3+1) = 7</a:t>
                      </a:r>
                      <a:endParaRPr lang="ja-GB" altLang="en-US" sz="1600" dirty="0"/>
                    </a:p>
                  </a:txBody>
                  <a:tcPr/>
                </a:tc>
                <a:extLst>
                  <a:ext uri="{0D108BD9-81ED-4DB2-BD59-A6C34878D82A}">
                    <a16:rowId xmlns:a16="http://schemas.microsoft.com/office/drawing/2014/main" val="2991419434"/>
                  </a:ext>
                </a:extLst>
              </a:tr>
              <a:tr h="185302">
                <a:tc>
                  <a:txBody>
                    <a:bodyPr/>
                    <a:lstStyle/>
                    <a:p>
                      <a:pPr algn="ctr"/>
                      <a:r>
                        <a:rPr lang="en-US" altLang="ja-GB" sz="1600" dirty="0"/>
                        <a:t>F</a:t>
                      </a:r>
                      <a:endParaRPr lang="ja-GB" altLang="en-US" sz="1600" dirty="0"/>
                    </a:p>
                  </a:txBody>
                  <a:tcPr/>
                </a:tc>
                <a:tc>
                  <a:txBody>
                    <a:bodyPr/>
                    <a:lstStyle/>
                    <a:p>
                      <a:pPr algn="ctr"/>
                      <a:r>
                        <a:rPr lang="en-US" altLang="ja-GB" sz="1600" dirty="0"/>
                        <a:t>(4,6)</a:t>
                      </a:r>
                      <a:endParaRPr lang="ja-GB" altLang="en-US" sz="1600" dirty="0"/>
                    </a:p>
                  </a:txBody>
                  <a:tcPr/>
                </a:tc>
                <a:tc>
                  <a:txBody>
                    <a:bodyPr/>
                    <a:lstStyle/>
                    <a:p>
                      <a:pPr algn="ctr"/>
                      <a:r>
                        <a:rPr lang="en-US" altLang="ja-GB" sz="1600" dirty="0"/>
                        <a:t>6</a:t>
                      </a:r>
                      <a:endParaRPr lang="ja-GB" altLang="en-US" sz="1600" dirty="0"/>
                    </a:p>
                  </a:txBody>
                  <a:tcPr/>
                </a:tc>
                <a:tc>
                  <a:txBody>
                    <a:bodyPr/>
                    <a:lstStyle/>
                    <a:p>
                      <a:pPr algn="ctr"/>
                      <a:r>
                        <a:rPr lang="en-US" altLang="ja-GB" sz="1600" dirty="0"/>
                        <a:t>13-(7+6) = 0</a:t>
                      </a:r>
                      <a:endParaRPr lang="ja-GB" altLang="en-US" sz="1600" dirty="0"/>
                    </a:p>
                  </a:txBody>
                  <a:tcPr/>
                </a:tc>
                <a:extLst>
                  <a:ext uri="{0D108BD9-81ED-4DB2-BD59-A6C34878D82A}">
                    <a16:rowId xmlns:a16="http://schemas.microsoft.com/office/drawing/2014/main" val="3985016094"/>
                  </a:ext>
                </a:extLst>
              </a:tr>
              <a:tr h="185302">
                <a:tc>
                  <a:txBody>
                    <a:bodyPr/>
                    <a:lstStyle/>
                    <a:p>
                      <a:pPr algn="ctr"/>
                      <a:r>
                        <a:rPr lang="en-US" altLang="ja-GB" sz="1600" dirty="0"/>
                        <a:t>G</a:t>
                      </a:r>
                      <a:endParaRPr lang="ja-GB" altLang="en-US" sz="1600" dirty="0"/>
                    </a:p>
                  </a:txBody>
                  <a:tcPr/>
                </a:tc>
                <a:tc>
                  <a:txBody>
                    <a:bodyPr/>
                    <a:lstStyle/>
                    <a:p>
                      <a:pPr algn="ctr"/>
                      <a:r>
                        <a:rPr lang="en-US" altLang="ja-GB" sz="1600" dirty="0"/>
                        <a:t>(4,5)</a:t>
                      </a:r>
                      <a:endParaRPr lang="ja-GB" altLang="en-US" sz="1600" dirty="0"/>
                    </a:p>
                  </a:txBody>
                  <a:tcPr/>
                </a:tc>
                <a:tc>
                  <a:txBody>
                    <a:bodyPr/>
                    <a:lstStyle/>
                    <a:p>
                      <a:pPr algn="ctr"/>
                      <a:r>
                        <a:rPr lang="en-US" altLang="ja-GB" sz="1600" dirty="0"/>
                        <a:t>3</a:t>
                      </a:r>
                      <a:endParaRPr lang="ja-GB" altLang="en-US" sz="1600" dirty="0"/>
                    </a:p>
                  </a:txBody>
                  <a:tcPr/>
                </a:tc>
                <a:tc>
                  <a:txBody>
                    <a:bodyPr/>
                    <a:lstStyle/>
                    <a:p>
                      <a:pPr algn="ctr"/>
                      <a:r>
                        <a:rPr lang="en-US" altLang="ja-GB" sz="1600" dirty="0"/>
                        <a:t>11-(7+3) = 1</a:t>
                      </a:r>
                      <a:endParaRPr lang="ja-GB" altLang="en-US" sz="1600" dirty="0"/>
                    </a:p>
                  </a:txBody>
                  <a:tcPr/>
                </a:tc>
                <a:extLst>
                  <a:ext uri="{0D108BD9-81ED-4DB2-BD59-A6C34878D82A}">
                    <a16:rowId xmlns:a16="http://schemas.microsoft.com/office/drawing/2014/main" val="852509030"/>
                  </a:ext>
                </a:extLst>
              </a:tr>
              <a:tr h="185302">
                <a:tc>
                  <a:txBody>
                    <a:bodyPr/>
                    <a:lstStyle/>
                    <a:p>
                      <a:pPr algn="ctr"/>
                      <a:r>
                        <a:rPr lang="en-US" altLang="ja-GB" sz="1600" dirty="0"/>
                        <a:t>H</a:t>
                      </a:r>
                      <a:endParaRPr lang="ja-GB" altLang="en-US" sz="1600" dirty="0"/>
                    </a:p>
                  </a:txBody>
                  <a:tcPr/>
                </a:tc>
                <a:tc>
                  <a:txBody>
                    <a:bodyPr/>
                    <a:lstStyle/>
                    <a:p>
                      <a:pPr algn="ctr"/>
                      <a:r>
                        <a:rPr lang="en-US" altLang="ja-GB" sz="1600" dirty="0"/>
                        <a:t>(5,6)</a:t>
                      </a:r>
                      <a:endParaRPr lang="ja-GB" altLang="en-US" sz="1600" dirty="0"/>
                    </a:p>
                  </a:txBody>
                  <a:tcPr/>
                </a:tc>
                <a:tc>
                  <a:txBody>
                    <a:bodyPr/>
                    <a:lstStyle/>
                    <a:p>
                      <a:pPr algn="ctr"/>
                      <a:r>
                        <a:rPr lang="en-US" altLang="ja-GB" sz="1600" dirty="0"/>
                        <a:t>2</a:t>
                      </a:r>
                      <a:endParaRPr lang="ja-GB" altLang="en-US" sz="1600" dirty="0"/>
                    </a:p>
                  </a:txBody>
                  <a:tcPr/>
                </a:tc>
                <a:tc>
                  <a:txBody>
                    <a:bodyPr/>
                    <a:lstStyle/>
                    <a:p>
                      <a:pPr algn="ctr"/>
                      <a:r>
                        <a:rPr lang="en-US" altLang="ja-GB" sz="1600" dirty="0"/>
                        <a:t>13-(10+2) = 1</a:t>
                      </a:r>
                      <a:endParaRPr lang="ja-GB" altLang="en-US" sz="1600" dirty="0"/>
                    </a:p>
                  </a:txBody>
                  <a:tcPr/>
                </a:tc>
                <a:extLst>
                  <a:ext uri="{0D108BD9-81ED-4DB2-BD59-A6C34878D82A}">
                    <a16:rowId xmlns:a16="http://schemas.microsoft.com/office/drawing/2014/main" val="3285484398"/>
                  </a:ext>
                </a:extLst>
              </a:tr>
            </a:tbl>
          </a:graphicData>
        </a:graphic>
      </p:graphicFrame>
      <p:sp>
        <p:nvSpPr>
          <p:cNvPr id="6" name="円/楕円 5">
            <a:extLst>
              <a:ext uri="{FF2B5EF4-FFF2-40B4-BE49-F238E27FC236}">
                <a16:creationId xmlns:a16="http://schemas.microsoft.com/office/drawing/2014/main" id="{7DE9A160-00F2-D6E3-6613-12C06BEFE78E}"/>
              </a:ext>
            </a:extLst>
          </p:cNvPr>
          <p:cNvSpPr>
            <a:spLocks noChangeAspect="1"/>
          </p:cNvSpPr>
          <p:nvPr/>
        </p:nvSpPr>
        <p:spPr>
          <a:xfrm>
            <a:off x="1168089" y="5491429"/>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7" name="円/楕円 6">
            <a:extLst>
              <a:ext uri="{FF2B5EF4-FFF2-40B4-BE49-F238E27FC236}">
                <a16:creationId xmlns:a16="http://schemas.microsoft.com/office/drawing/2014/main" id="{E7970DA3-ACFD-0DF1-E963-A5D2190AF71C}"/>
              </a:ext>
            </a:extLst>
          </p:cNvPr>
          <p:cNvSpPr>
            <a:spLocks noChangeAspect="1"/>
          </p:cNvSpPr>
          <p:nvPr/>
        </p:nvSpPr>
        <p:spPr>
          <a:xfrm>
            <a:off x="2774820" y="4951497"/>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8" name="円/楕円 7">
            <a:extLst>
              <a:ext uri="{FF2B5EF4-FFF2-40B4-BE49-F238E27FC236}">
                <a16:creationId xmlns:a16="http://schemas.microsoft.com/office/drawing/2014/main" id="{66E6066B-550C-2BB5-6A6F-989C1FD96816}"/>
              </a:ext>
            </a:extLst>
          </p:cNvPr>
          <p:cNvSpPr>
            <a:spLocks noChangeAspect="1"/>
          </p:cNvSpPr>
          <p:nvPr/>
        </p:nvSpPr>
        <p:spPr>
          <a:xfrm>
            <a:off x="2774820" y="6016304"/>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9" name="円/楕円 8">
            <a:extLst>
              <a:ext uri="{FF2B5EF4-FFF2-40B4-BE49-F238E27FC236}">
                <a16:creationId xmlns:a16="http://schemas.microsoft.com/office/drawing/2014/main" id="{BCF81FD3-C762-6E4F-9D3C-D1D6751D7181}"/>
              </a:ext>
            </a:extLst>
          </p:cNvPr>
          <p:cNvSpPr>
            <a:spLocks noChangeAspect="1"/>
          </p:cNvSpPr>
          <p:nvPr/>
        </p:nvSpPr>
        <p:spPr>
          <a:xfrm>
            <a:off x="4398969" y="5491429"/>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10" name="円/楕円 9">
            <a:extLst>
              <a:ext uri="{FF2B5EF4-FFF2-40B4-BE49-F238E27FC236}">
                <a16:creationId xmlns:a16="http://schemas.microsoft.com/office/drawing/2014/main" id="{D09B46D1-249C-0DDB-552B-5CE581F2458A}"/>
              </a:ext>
            </a:extLst>
          </p:cNvPr>
          <p:cNvSpPr>
            <a:spLocks noChangeAspect="1"/>
          </p:cNvSpPr>
          <p:nvPr/>
        </p:nvSpPr>
        <p:spPr>
          <a:xfrm>
            <a:off x="6014409" y="4951497"/>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5</a:t>
            </a:r>
            <a:endParaRPr kumimoji="1" lang="ja-GB" altLang="en-US" dirty="0">
              <a:solidFill>
                <a:srgbClr val="2F2523"/>
              </a:solidFill>
            </a:endParaRPr>
          </a:p>
        </p:txBody>
      </p:sp>
      <p:sp>
        <p:nvSpPr>
          <p:cNvPr id="11" name="円/楕円 10">
            <a:extLst>
              <a:ext uri="{FF2B5EF4-FFF2-40B4-BE49-F238E27FC236}">
                <a16:creationId xmlns:a16="http://schemas.microsoft.com/office/drawing/2014/main" id="{825706FD-AF82-DC11-A0C8-24ED943B4CA9}"/>
              </a:ext>
            </a:extLst>
          </p:cNvPr>
          <p:cNvSpPr>
            <a:spLocks noChangeAspect="1"/>
          </p:cNvSpPr>
          <p:nvPr/>
        </p:nvSpPr>
        <p:spPr>
          <a:xfrm>
            <a:off x="7629849" y="5491429"/>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6</a:t>
            </a:r>
            <a:endParaRPr kumimoji="1" lang="ja-GB" altLang="en-US" dirty="0">
              <a:solidFill>
                <a:srgbClr val="2F2523"/>
              </a:solidFill>
            </a:endParaRPr>
          </a:p>
        </p:txBody>
      </p:sp>
      <p:cxnSp>
        <p:nvCxnSpPr>
          <p:cNvPr id="12" name="直線矢印コネクタ 11">
            <a:extLst>
              <a:ext uri="{FF2B5EF4-FFF2-40B4-BE49-F238E27FC236}">
                <a16:creationId xmlns:a16="http://schemas.microsoft.com/office/drawing/2014/main" id="{4EA76E85-00DC-B6FA-13FA-5F025C859559}"/>
              </a:ext>
            </a:extLst>
          </p:cNvPr>
          <p:cNvCxnSpPr>
            <a:cxnSpLocks/>
            <a:stCxn id="6" idx="6"/>
            <a:endCxn id="7" idx="2"/>
          </p:cNvCxnSpPr>
          <p:nvPr/>
        </p:nvCxnSpPr>
        <p:spPr>
          <a:xfrm flipV="1">
            <a:off x="1708021" y="5221463"/>
            <a:ext cx="1066799"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89BE718E-C8E7-A91B-FFFB-F553FCBA4534}"/>
              </a:ext>
            </a:extLst>
          </p:cNvPr>
          <p:cNvCxnSpPr>
            <a:cxnSpLocks/>
            <a:stCxn id="6" idx="6"/>
            <a:endCxn id="8" idx="2"/>
          </p:cNvCxnSpPr>
          <p:nvPr/>
        </p:nvCxnSpPr>
        <p:spPr>
          <a:xfrm>
            <a:off x="1708021" y="5761395"/>
            <a:ext cx="1066799"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0693A524-CF0A-AD22-ABA4-9D77465A5A64}"/>
              </a:ext>
            </a:extLst>
          </p:cNvPr>
          <p:cNvCxnSpPr>
            <a:cxnSpLocks/>
            <a:stCxn id="7" idx="6"/>
            <a:endCxn id="10" idx="2"/>
          </p:cNvCxnSpPr>
          <p:nvPr/>
        </p:nvCxnSpPr>
        <p:spPr>
          <a:xfrm>
            <a:off x="3314752" y="5221463"/>
            <a:ext cx="2699657"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DBD9A26B-0E11-121E-3B25-D2A1DA6B7813}"/>
              </a:ext>
            </a:extLst>
          </p:cNvPr>
          <p:cNvCxnSpPr>
            <a:cxnSpLocks/>
            <a:stCxn id="8" idx="6"/>
            <a:endCxn id="9" idx="2"/>
          </p:cNvCxnSpPr>
          <p:nvPr/>
        </p:nvCxnSpPr>
        <p:spPr>
          <a:xfrm flipV="1">
            <a:off x="3314752" y="5761395"/>
            <a:ext cx="1084217"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6E73CA8C-7708-6484-011A-090064D501E7}"/>
              </a:ext>
            </a:extLst>
          </p:cNvPr>
          <p:cNvCxnSpPr>
            <a:cxnSpLocks/>
            <a:stCxn id="7" idx="6"/>
            <a:endCxn id="9" idx="2"/>
          </p:cNvCxnSpPr>
          <p:nvPr/>
        </p:nvCxnSpPr>
        <p:spPr>
          <a:xfrm>
            <a:off x="3314752" y="5221463"/>
            <a:ext cx="1084217"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CF6E896D-A917-F5DA-9716-E4AEC5665D97}"/>
              </a:ext>
            </a:extLst>
          </p:cNvPr>
          <p:cNvCxnSpPr>
            <a:cxnSpLocks/>
            <a:stCxn id="9" idx="6"/>
            <a:endCxn id="10" idx="2"/>
          </p:cNvCxnSpPr>
          <p:nvPr/>
        </p:nvCxnSpPr>
        <p:spPr>
          <a:xfrm flipV="1">
            <a:off x="4938901" y="5221463"/>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4847C89D-5E0B-5956-90ED-24146E00B11C}"/>
              </a:ext>
            </a:extLst>
          </p:cNvPr>
          <p:cNvCxnSpPr>
            <a:cxnSpLocks/>
            <a:endCxn id="11" idx="2"/>
          </p:cNvCxnSpPr>
          <p:nvPr/>
        </p:nvCxnSpPr>
        <p:spPr>
          <a:xfrm>
            <a:off x="4938901" y="5761395"/>
            <a:ext cx="2690948"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2EB46BBC-9F46-4267-0DAA-00C9E8770CB8}"/>
              </a:ext>
            </a:extLst>
          </p:cNvPr>
          <p:cNvCxnSpPr>
            <a:cxnSpLocks/>
            <a:stCxn id="10" idx="6"/>
            <a:endCxn id="11" idx="2"/>
          </p:cNvCxnSpPr>
          <p:nvPr/>
        </p:nvCxnSpPr>
        <p:spPr>
          <a:xfrm>
            <a:off x="6554341" y="5221463"/>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408548B6-D0D2-3B3C-11F2-B60CF2757005}"/>
              </a:ext>
            </a:extLst>
          </p:cNvPr>
          <p:cNvSpPr txBox="1"/>
          <p:nvPr/>
        </p:nvSpPr>
        <p:spPr>
          <a:xfrm>
            <a:off x="2121416" y="5473351"/>
            <a:ext cx="506870" cy="276999"/>
          </a:xfrm>
          <a:prstGeom prst="rect">
            <a:avLst/>
          </a:prstGeom>
          <a:noFill/>
          <a:ln w="38100">
            <a:noFill/>
          </a:ln>
        </p:spPr>
        <p:txBody>
          <a:bodyPr wrap="none" rtlCol="0" anchor="ctr">
            <a:spAutoFit/>
          </a:bodyPr>
          <a:lstStyle/>
          <a:p>
            <a:pPr algn="ctr"/>
            <a:r>
              <a:rPr kumimoji="1" lang="en-US" altLang="ja-GB" sz="1200" dirty="0">
                <a:solidFill>
                  <a:srgbClr val="2F2523"/>
                </a:solidFill>
              </a:rPr>
              <a:t>A</a:t>
            </a:r>
            <a:r>
              <a:rPr kumimoji="1" lang="ja-GB" altLang="en-US" sz="1200" dirty="0">
                <a:solidFill>
                  <a:srgbClr val="2F2523"/>
                </a:solidFill>
              </a:rPr>
              <a:t>：</a:t>
            </a:r>
            <a:r>
              <a:rPr kumimoji="1" lang="en-US" altLang="ja-GB" sz="1200" dirty="0">
                <a:solidFill>
                  <a:srgbClr val="2F2523"/>
                </a:solidFill>
              </a:rPr>
              <a:t>3</a:t>
            </a:r>
          </a:p>
        </p:txBody>
      </p:sp>
      <p:sp>
        <p:nvSpPr>
          <p:cNvPr id="21" name="テキスト ボックス 20">
            <a:extLst>
              <a:ext uri="{FF2B5EF4-FFF2-40B4-BE49-F238E27FC236}">
                <a16:creationId xmlns:a16="http://schemas.microsoft.com/office/drawing/2014/main" id="{68B89FF1-2267-7698-C7C4-67F3E231B08B}"/>
              </a:ext>
            </a:extLst>
          </p:cNvPr>
          <p:cNvSpPr txBox="1"/>
          <p:nvPr/>
        </p:nvSpPr>
        <p:spPr>
          <a:xfrm>
            <a:off x="2125307" y="6139541"/>
            <a:ext cx="500458" cy="276999"/>
          </a:xfrm>
          <a:prstGeom prst="rect">
            <a:avLst/>
          </a:prstGeom>
          <a:noFill/>
          <a:ln w="38100">
            <a:noFill/>
          </a:ln>
        </p:spPr>
        <p:txBody>
          <a:bodyPr wrap="none" rtlCol="0" anchor="ctr">
            <a:spAutoFit/>
          </a:bodyPr>
          <a:lstStyle/>
          <a:p>
            <a:pPr algn="ctr"/>
            <a:r>
              <a:rPr kumimoji="1" lang="en-US" altLang="ja-GB" sz="1200" dirty="0">
                <a:solidFill>
                  <a:srgbClr val="2F2523"/>
                </a:solidFill>
              </a:rPr>
              <a:t>B</a:t>
            </a:r>
            <a:r>
              <a:rPr kumimoji="1" lang="ja-GB" altLang="en-US" sz="1200" dirty="0">
                <a:solidFill>
                  <a:srgbClr val="2F2523"/>
                </a:solidFill>
              </a:rPr>
              <a:t>：</a:t>
            </a:r>
            <a:r>
              <a:rPr kumimoji="1" lang="en-US" altLang="ja-GB" sz="1200" dirty="0">
                <a:solidFill>
                  <a:srgbClr val="2F2523"/>
                </a:solidFill>
              </a:rPr>
              <a:t>2</a:t>
            </a:r>
          </a:p>
        </p:txBody>
      </p:sp>
      <p:sp>
        <p:nvSpPr>
          <p:cNvPr id="22" name="テキスト ボックス 21">
            <a:extLst>
              <a:ext uri="{FF2B5EF4-FFF2-40B4-BE49-F238E27FC236}">
                <a16:creationId xmlns:a16="http://schemas.microsoft.com/office/drawing/2014/main" id="{F5EB6C1E-20BC-37F8-806D-CE2ED99A7F72}"/>
              </a:ext>
            </a:extLst>
          </p:cNvPr>
          <p:cNvSpPr txBox="1"/>
          <p:nvPr/>
        </p:nvSpPr>
        <p:spPr>
          <a:xfrm>
            <a:off x="3626711" y="6139541"/>
            <a:ext cx="511679" cy="276999"/>
          </a:xfrm>
          <a:prstGeom prst="rect">
            <a:avLst/>
          </a:prstGeom>
          <a:noFill/>
          <a:ln w="38100">
            <a:noFill/>
          </a:ln>
        </p:spPr>
        <p:txBody>
          <a:bodyPr wrap="none" rtlCol="0" anchor="ctr">
            <a:spAutoFit/>
          </a:bodyPr>
          <a:lstStyle/>
          <a:p>
            <a:pPr algn="ctr"/>
            <a:r>
              <a:rPr kumimoji="1" lang="en-US" altLang="ja-GB" sz="1200" dirty="0">
                <a:solidFill>
                  <a:srgbClr val="2F2523"/>
                </a:solidFill>
              </a:rPr>
              <a:t>D</a:t>
            </a:r>
            <a:r>
              <a:rPr kumimoji="1" lang="ja-GB" altLang="en-US" sz="1200" dirty="0">
                <a:solidFill>
                  <a:srgbClr val="2F2523"/>
                </a:solidFill>
              </a:rPr>
              <a:t>：</a:t>
            </a:r>
            <a:r>
              <a:rPr kumimoji="1" lang="en-US" altLang="ja-GB" sz="1200" dirty="0">
                <a:solidFill>
                  <a:srgbClr val="2F2523"/>
                </a:solidFill>
              </a:rPr>
              <a:t>5</a:t>
            </a:r>
          </a:p>
        </p:txBody>
      </p:sp>
      <p:sp>
        <p:nvSpPr>
          <p:cNvPr id="23" name="テキスト ボックス 22">
            <a:extLst>
              <a:ext uri="{FF2B5EF4-FFF2-40B4-BE49-F238E27FC236}">
                <a16:creationId xmlns:a16="http://schemas.microsoft.com/office/drawing/2014/main" id="{14C8AEA8-328A-A553-65F1-9EF5709ED7E0}"/>
              </a:ext>
            </a:extLst>
          </p:cNvPr>
          <p:cNvSpPr txBox="1"/>
          <p:nvPr/>
        </p:nvSpPr>
        <p:spPr>
          <a:xfrm>
            <a:off x="3444589" y="5462457"/>
            <a:ext cx="498855" cy="276999"/>
          </a:xfrm>
          <a:prstGeom prst="rect">
            <a:avLst/>
          </a:prstGeom>
          <a:noFill/>
          <a:ln w="38100">
            <a:noFill/>
          </a:ln>
        </p:spPr>
        <p:txBody>
          <a:bodyPr wrap="none" rtlCol="0" anchor="ctr">
            <a:spAutoFit/>
          </a:bodyPr>
          <a:lstStyle/>
          <a:p>
            <a:pPr algn="ctr"/>
            <a:r>
              <a:rPr kumimoji="1" lang="en-US" altLang="ja-GB" sz="1200" dirty="0">
                <a:solidFill>
                  <a:srgbClr val="2F2523"/>
                </a:solidFill>
              </a:rPr>
              <a:t>C</a:t>
            </a:r>
            <a:r>
              <a:rPr kumimoji="1" lang="ja-GB" altLang="en-US" sz="1200" dirty="0">
                <a:solidFill>
                  <a:srgbClr val="2F2523"/>
                </a:solidFill>
              </a:rPr>
              <a:t>：</a:t>
            </a:r>
            <a:r>
              <a:rPr kumimoji="1" lang="en-US" altLang="ja-GB" sz="1200" dirty="0">
                <a:solidFill>
                  <a:srgbClr val="2F2523"/>
                </a:solidFill>
              </a:rPr>
              <a:t>4</a:t>
            </a:r>
          </a:p>
        </p:txBody>
      </p:sp>
      <p:sp>
        <p:nvSpPr>
          <p:cNvPr id="24" name="テキスト ボックス 23">
            <a:extLst>
              <a:ext uri="{FF2B5EF4-FFF2-40B4-BE49-F238E27FC236}">
                <a16:creationId xmlns:a16="http://schemas.microsoft.com/office/drawing/2014/main" id="{66DB7E2E-8581-5980-6FFF-ED8A0791E7FE}"/>
              </a:ext>
            </a:extLst>
          </p:cNvPr>
          <p:cNvSpPr txBox="1"/>
          <p:nvPr/>
        </p:nvSpPr>
        <p:spPr>
          <a:xfrm>
            <a:off x="4468025" y="4912559"/>
            <a:ext cx="492443" cy="276999"/>
          </a:xfrm>
          <a:prstGeom prst="rect">
            <a:avLst/>
          </a:prstGeom>
          <a:noFill/>
          <a:ln w="38100">
            <a:noFill/>
          </a:ln>
        </p:spPr>
        <p:txBody>
          <a:bodyPr wrap="none" rtlCol="0" anchor="ctr">
            <a:spAutoFit/>
          </a:bodyPr>
          <a:lstStyle/>
          <a:p>
            <a:pPr algn="ctr"/>
            <a:r>
              <a:rPr kumimoji="1" lang="en-US" altLang="ja-GB" sz="1200" dirty="0">
                <a:solidFill>
                  <a:srgbClr val="2F2523"/>
                </a:solidFill>
              </a:rPr>
              <a:t>E</a:t>
            </a:r>
            <a:r>
              <a:rPr kumimoji="1" lang="ja-GB" altLang="en-US" sz="1200" dirty="0">
                <a:solidFill>
                  <a:srgbClr val="2F2523"/>
                </a:solidFill>
              </a:rPr>
              <a:t>：</a:t>
            </a:r>
            <a:r>
              <a:rPr kumimoji="1" lang="en-US" altLang="ja-GB" sz="1200" dirty="0">
                <a:solidFill>
                  <a:srgbClr val="2F2523"/>
                </a:solidFill>
              </a:rPr>
              <a:t>1</a:t>
            </a:r>
          </a:p>
        </p:txBody>
      </p:sp>
      <p:sp>
        <p:nvSpPr>
          <p:cNvPr id="25" name="テキスト ボックス 24">
            <a:extLst>
              <a:ext uri="{FF2B5EF4-FFF2-40B4-BE49-F238E27FC236}">
                <a16:creationId xmlns:a16="http://schemas.microsoft.com/office/drawing/2014/main" id="{0F32735F-470E-CD0B-7298-EA096D5959C1}"/>
              </a:ext>
            </a:extLst>
          </p:cNvPr>
          <p:cNvSpPr txBox="1"/>
          <p:nvPr/>
        </p:nvSpPr>
        <p:spPr>
          <a:xfrm>
            <a:off x="5422082" y="5432766"/>
            <a:ext cx="514885" cy="276999"/>
          </a:xfrm>
          <a:prstGeom prst="rect">
            <a:avLst/>
          </a:prstGeom>
          <a:noFill/>
          <a:ln w="38100">
            <a:noFill/>
          </a:ln>
        </p:spPr>
        <p:txBody>
          <a:bodyPr wrap="none" rtlCol="0" anchor="ctr">
            <a:spAutoFit/>
          </a:bodyPr>
          <a:lstStyle/>
          <a:p>
            <a:pPr algn="ctr"/>
            <a:r>
              <a:rPr kumimoji="1" lang="en-US" altLang="ja-GB" sz="1200" dirty="0">
                <a:solidFill>
                  <a:srgbClr val="2F2523"/>
                </a:solidFill>
              </a:rPr>
              <a:t>G</a:t>
            </a:r>
            <a:r>
              <a:rPr kumimoji="1" lang="ja-GB" altLang="en-US" sz="1200" dirty="0">
                <a:solidFill>
                  <a:srgbClr val="2F2523"/>
                </a:solidFill>
              </a:rPr>
              <a:t>：</a:t>
            </a:r>
            <a:r>
              <a:rPr kumimoji="1" lang="en-US" altLang="ja-GB" sz="1200" dirty="0">
                <a:solidFill>
                  <a:srgbClr val="2F2523"/>
                </a:solidFill>
              </a:rPr>
              <a:t>3</a:t>
            </a:r>
          </a:p>
        </p:txBody>
      </p:sp>
      <p:sp>
        <p:nvSpPr>
          <p:cNvPr id="26" name="テキスト ボックス 25">
            <a:extLst>
              <a:ext uri="{FF2B5EF4-FFF2-40B4-BE49-F238E27FC236}">
                <a16:creationId xmlns:a16="http://schemas.microsoft.com/office/drawing/2014/main" id="{11262995-0703-744A-C2D7-C2B78854B78F}"/>
              </a:ext>
            </a:extLst>
          </p:cNvPr>
          <p:cNvSpPr txBox="1"/>
          <p:nvPr/>
        </p:nvSpPr>
        <p:spPr>
          <a:xfrm>
            <a:off x="6040558" y="5796117"/>
            <a:ext cx="487633" cy="276999"/>
          </a:xfrm>
          <a:prstGeom prst="rect">
            <a:avLst/>
          </a:prstGeom>
          <a:noFill/>
          <a:ln w="38100">
            <a:noFill/>
          </a:ln>
        </p:spPr>
        <p:txBody>
          <a:bodyPr wrap="none" rtlCol="0" anchor="ctr">
            <a:spAutoFit/>
          </a:bodyPr>
          <a:lstStyle/>
          <a:p>
            <a:pPr algn="ctr"/>
            <a:r>
              <a:rPr kumimoji="1" lang="en-US" altLang="ja-GB" sz="1200" dirty="0">
                <a:solidFill>
                  <a:srgbClr val="2F2523"/>
                </a:solidFill>
              </a:rPr>
              <a:t>F</a:t>
            </a:r>
            <a:r>
              <a:rPr kumimoji="1" lang="ja-GB" altLang="en-US" sz="1200" dirty="0">
                <a:solidFill>
                  <a:srgbClr val="2F2523"/>
                </a:solidFill>
              </a:rPr>
              <a:t>：</a:t>
            </a:r>
            <a:r>
              <a:rPr kumimoji="1" lang="en-US" altLang="ja-GB" sz="1200" dirty="0">
                <a:solidFill>
                  <a:srgbClr val="2F2523"/>
                </a:solidFill>
              </a:rPr>
              <a:t>6</a:t>
            </a:r>
          </a:p>
        </p:txBody>
      </p:sp>
      <p:sp>
        <p:nvSpPr>
          <p:cNvPr id="27" name="テキスト ボックス 26">
            <a:extLst>
              <a:ext uri="{FF2B5EF4-FFF2-40B4-BE49-F238E27FC236}">
                <a16:creationId xmlns:a16="http://schemas.microsoft.com/office/drawing/2014/main" id="{39B00CD3-4C8C-7D1D-E2BD-1E18270DD8DF}"/>
              </a:ext>
            </a:extLst>
          </p:cNvPr>
          <p:cNvSpPr txBox="1"/>
          <p:nvPr/>
        </p:nvSpPr>
        <p:spPr>
          <a:xfrm>
            <a:off x="6976103" y="5191719"/>
            <a:ext cx="513282" cy="276999"/>
          </a:xfrm>
          <a:prstGeom prst="rect">
            <a:avLst/>
          </a:prstGeom>
          <a:noFill/>
          <a:ln w="38100">
            <a:noFill/>
          </a:ln>
        </p:spPr>
        <p:txBody>
          <a:bodyPr wrap="none" rtlCol="0" anchor="ctr">
            <a:spAutoFit/>
          </a:bodyPr>
          <a:lstStyle/>
          <a:p>
            <a:pPr algn="ctr"/>
            <a:r>
              <a:rPr kumimoji="1" lang="en-US" altLang="ja-GB" sz="1200" dirty="0">
                <a:solidFill>
                  <a:srgbClr val="2F2523"/>
                </a:solidFill>
              </a:rPr>
              <a:t>H</a:t>
            </a:r>
            <a:r>
              <a:rPr kumimoji="1" lang="ja-GB" altLang="en-US" sz="1200" dirty="0">
                <a:solidFill>
                  <a:srgbClr val="2F2523"/>
                </a:solidFill>
              </a:rPr>
              <a:t>：</a:t>
            </a:r>
            <a:r>
              <a:rPr kumimoji="1" lang="en-US" altLang="ja-GB" sz="1200" dirty="0">
                <a:solidFill>
                  <a:srgbClr val="2F2523"/>
                </a:solidFill>
              </a:rPr>
              <a:t>2</a:t>
            </a:r>
          </a:p>
        </p:txBody>
      </p:sp>
      <p:sp>
        <p:nvSpPr>
          <p:cNvPr id="28" name="テキスト ボックス 27">
            <a:extLst>
              <a:ext uri="{FF2B5EF4-FFF2-40B4-BE49-F238E27FC236}">
                <a16:creationId xmlns:a16="http://schemas.microsoft.com/office/drawing/2014/main" id="{F24B237D-75E7-5041-2727-2869096D30C0}"/>
              </a:ext>
            </a:extLst>
          </p:cNvPr>
          <p:cNvSpPr txBox="1"/>
          <p:nvPr/>
        </p:nvSpPr>
        <p:spPr>
          <a:xfrm>
            <a:off x="789611" y="5761395"/>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0</a:t>
            </a:r>
          </a:p>
        </p:txBody>
      </p:sp>
      <p:sp>
        <p:nvSpPr>
          <p:cNvPr id="29" name="テキスト ボックス 28">
            <a:extLst>
              <a:ext uri="{FF2B5EF4-FFF2-40B4-BE49-F238E27FC236}">
                <a16:creationId xmlns:a16="http://schemas.microsoft.com/office/drawing/2014/main" id="{58C81C8E-B5B1-4F28-409F-8FE0DFAE7C96}"/>
              </a:ext>
            </a:extLst>
          </p:cNvPr>
          <p:cNvSpPr txBox="1"/>
          <p:nvPr/>
        </p:nvSpPr>
        <p:spPr>
          <a:xfrm>
            <a:off x="3310221" y="6330171"/>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2</a:t>
            </a:r>
          </a:p>
        </p:txBody>
      </p:sp>
      <p:sp>
        <p:nvSpPr>
          <p:cNvPr id="30" name="テキスト ボックス 29">
            <a:extLst>
              <a:ext uri="{FF2B5EF4-FFF2-40B4-BE49-F238E27FC236}">
                <a16:creationId xmlns:a16="http://schemas.microsoft.com/office/drawing/2014/main" id="{378ABB92-CA97-321F-234B-74D247662072}"/>
              </a:ext>
            </a:extLst>
          </p:cNvPr>
          <p:cNvSpPr txBox="1"/>
          <p:nvPr/>
        </p:nvSpPr>
        <p:spPr>
          <a:xfrm>
            <a:off x="2410227" y="4954829"/>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3</a:t>
            </a:r>
          </a:p>
        </p:txBody>
      </p:sp>
      <p:sp>
        <p:nvSpPr>
          <p:cNvPr id="31" name="テキスト ボックス 30">
            <a:extLst>
              <a:ext uri="{FF2B5EF4-FFF2-40B4-BE49-F238E27FC236}">
                <a16:creationId xmlns:a16="http://schemas.microsoft.com/office/drawing/2014/main" id="{6288D114-DDAD-1C9D-E553-7E42C63341C3}"/>
              </a:ext>
            </a:extLst>
          </p:cNvPr>
          <p:cNvSpPr txBox="1"/>
          <p:nvPr/>
        </p:nvSpPr>
        <p:spPr>
          <a:xfrm>
            <a:off x="4537674" y="6086922"/>
            <a:ext cx="263213"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7</a:t>
            </a:r>
          </a:p>
        </p:txBody>
      </p:sp>
      <p:sp>
        <p:nvSpPr>
          <p:cNvPr id="32" name="テキスト ボックス 31">
            <a:extLst>
              <a:ext uri="{FF2B5EF4-FFF2-40B4-BE49-F238E27FC236}">
                <a16:creationId xmlns:a16="http://schemas.microsoft.com/office/drawing/2014/main" id="{36FBB2D3-E5A6-6A73-63FE-E7FD6F292A7E}"/>
              </a:ext>
            </a:extLst>
          </p:cNvPr>
          <p:cNvSpPr txBox="1"/>
          <p:nvPr/>
        </p:nvSpPr>
        <p:spPr>
          <a:xfrm>
            <a:off x="6650739" y="4954829"/>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11</a:t>
            </a:r>
          </a:p>
        </p:txBody>
      </p:sp>
      <p:sp>
        <p:nvSpPr>
          <p:cNvPr id="33" name="テキスト ボックス 32">
            <a:extLst>
              <a:ext uri="{FF2B5EF4-FFF2-40B4-BE49-F238E27FC236}">
                <a16:creationId xmlns:a16="http://schemas.microsoft.com/office/drawing/2014/main" id="{A4F46182-FDC7-178C-5B8E-03CE2FF73E7B}"/>
              </a:ext>
            </a:extLst>
          </p:cNvPr>
          <p:cNvSpPr txBox="1"/>
          <p:nvPr/>
        </p:nvSpPr>
        <p:spPr>
          <a:xfrm>
            <a:off x="8327952" y="5749670"/>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13</a:t>
            </a:r>
          </a:p>
        </p:txBody>
      </p:sp>
      <p:sp>
        <p:nvSpPr>
          <p:cNvPr id="34" name="テキスト ボックス 33">
            <a:extLst>
              <a:ext uri="{FF2B5EF4-FFF2-40B4-BE49-F238E27FC236}">
                <a16:creationId xmlns:a16="http://schemas.microsoft.com/office/drawing/2014/main" id="{E7FE6ACD-6052-167C-B6E6-67824FC8C207}"/>
              </a:ext>
            </a:extLst>
          </p:cNvPr>
          <p:cNvSpPr txBox="1"/>
          <p:nvPr/>
        </p:nvSpPr>
        <p:spPr>
          <a:xfrm>
            <a:off x="791403" y="5503154"/>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0</a:t>
            </a:r>
          </a:p>
        </p:txBody>
      </p:sp>
      <p:sp>
        <p:nvSpPr>
          <p:cNvPr id="35" name="テキスト ボックス 34">
            <a:extLst>
              <a:ext uri="{FF2B5EF4-FFF2-40B4-BE49-F238E27FC236}">
                <a16:creationId xmlns:a16="http://schemas.microsoft.com/office/drawing/2014/main" id="{E00387DA-9D7E-9D4A-C681-6E287A3BBF2F}"/>
              </a:ext>
            </a:extLst>
          </p:cNvPr>
          <p:cNvSpPr txBox="1"/>
          <p:nvPr/>
        </p:nvSpPr>
        <p:spPr>
          <a:xfrm>
            <a:off x="2412019" y="4696588"/>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3</a:t>
            </a:r>
          </a:p>
        </p:txBody>
      </p:sp>
      <p:sp>
        <p:nvSpPr>
          <p:cNvPr id="36" name="テキスト ボックス 35">
            <a:extLst>
              <a:ext uri="{FF2B5EF4-FFF2-40B4-BE49-F238E27FC236}">
                <a16:creationId xmlns:a16="http://schemas.microsoft.com/office/drawing/2014/main" id="{9A7B70EC-701D-9268-4FB1-AB65E1219D53}"/>
              </a:ext>
            </a:extLst>
          </p:cNvPr>
          <p:cNvSpPr txBox="1"/>
          <p:nvPr/>
        </p:nvSpPr>
        <p:spPr>
          <a:xfrm>
            <a:off x="6652531" y="4696588"/>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10</a:t>
            </a:r>
          </a:p>
        </p:txBody>
      </p:sp>
      <p:sp>
        <p:nvSpPr>
          <p:cNvPr id="37" name="テキスト ボックス 36">
            <a:extLst>
              <a:ext uri="{FF2B5EF4-FFF2-40B4-BE49-F238E27FC236}">
                <a16:creationId xmlns:a16="http://schemas.microsoft.com/office/drawing/2014/main" id="{DEAFBEF9-878A-6A80-3AF9-BFDCF80951E4}"/>
              </a:ext>
            </a:extLst>
          </p:cNvPr>
          <p:cNvSpPr txBox="1"/>
          <p:nvPr/>
        </p:nvSpPr>
        <p:spPr>
          <a:xfrm>
            <a:off x="8329744" y="5491429"/>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13</a:t>
            </a:r>
          </a:p>
        </p:txBody>
      </p:sp>
      <p:sp>
        <p:nvSpPr>
          <p:cNvPr id="38" name="テキスト ボックス 37">
            <a:extLst>
              <a:ext uri="{FF2B5EF4-FFF2-40B4-BE49-F238E27FC236}">
                <a16:creationId xmlns:a16="http://schemas.microsoft.com/office/drawing/2014/main" id="{DF38E9CA-B0D0-0E41-B393-A32D1810740C}"/>
              </a:ext>
            </a:extLst>
          </p:cNvPr>
          <p:cNvSpPr txBox="1"/>
          <p:nvPr/>
        </p:nvSpPr>
        <p:spPr>
          <a:xfrm>
            <a:off x="3303066" y="6598579"/>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2</a:t>
            </a:r>
          </a:p>
        </p:txBody>
      </p:sp>
      <p:sp>
        <p:nvSpPr>
          <p:cNvPr id="39" name="テキスト ボックス 38">
            <a:extLst>
              <a:ext uri="{FF2B5EF4-FFF2-40B4-BE49-F238E27FC236}">
                <a16:creationId xmlns:a16="http://schemas.microsoft.com/office/drawing/2014/main" id="{1A2566C8-4DC2-CA57-A6DA-FB7CB1B60D68}"/>
              </a:ext>
            </a:extLst>
          </p:cNvPr>
          <p:cNvSpPr txBox="1"/>
          <p:nvPr/>
        </p:nvSpPr>
        <p:spPr>
          <a:xfrm>
            <a:off x="4530519" y="6355330"/>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7</a:t>
            </a:r>
          </a:p>
        </p:txBody>
      </p:sp>
      <mc:AlternateContent xmlns:mc="http://schemas.openxmlformats.org/markup-compatibility/2006" xmlns:a14="http://schemas.microsoft.com/office/drawing/2010/main">
        <mc:Choice Requires="a14">
          <p:sp>
            <p:nvSpPr>
              <p:cNvPr id="46" name="テキスト ボックス 45">
                <a:extLst>
                  <a:ext uri="{FF2B5EF4-FFF2-40B4-BE49-F238E27FC236}">
                    <a16:creationId xmlns:a16="http://schemas.microsoft.com/office/drawing/2014/main" id="{8CDD6709-E664-A0CC-2539-B5D9022CDA0C}"/>
                  </a:ext>
                </a:extLst>
              </p:cNvPr>
              <p:cNvSpPr txBox="1"/>
              <p:nvPr/>
            </p:nvSpPr>
            <p:spPr>
              <a:xfrm>
                <a:off x="6040558" y="1519741"/>
                <a:ext cx="2533835" cy="37600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GB" sz="1600" i="1" dirty="0" smtClean="0">
                          <a:latin typeface="Cambria Math" panose="02040503050406030204" pitchFamily="18" charset="0"/>
                        </a:rPr>
                        <m:t>𝑇</m:t>
                      </m:r>
                      <m:sSub>
                        <m:sSubPr>
                          <m:ctrlPr>
                            <a:rPr kumimoji="1" lang="en-US" altLang="ja-GB" sz="1600" b="0" i="1" dirty="0" smtClean="0">
                              <a:latin typeface="Cambria Math" panose="02040503050406030204" pitchFamily="18" charset="0"/>
                            </a:rPr>
                          </m:ctrlPr>
                        </m:sSubPr>
                        <m:e>
                          <m:r>
                            <a:rPr kumimoji="1" lang="en-US" altLang="ja-GB" sz="1600" i="1" dirty="0" smtClean="0">
                              <a:latin typeface="Cambria Math" panose="02040503050406030204" pitchFamily="18" charset="0"/>
                            </a:rPr>
                            <m:t>𝐹</m:t>
                          </m:r>
                        </m:e>
                        <m:sub>
                          <m:r>
                            <a:rPr kumimoji="1" lang="en-US" altLang="ja-GB" sz="1600" b="0" i="1" dirty="0" smtClean="0">
                              <a:latin typeface="Cambria Math" panose="02040503050406030204" pitchFamily="18" charset="0"/>
                            </a:rPr>
                            <m:t>𝑖</m:t>
                          </m:r>
                          <m:r>
                            <a:rPr kumimoji="1" lang="en-US" altLang="ja-GB" sz="1600" b="0" i="1" dirty="0" smtClean="0">
                              <a:latin typeface="Cambria Math" panose="02040503050406030204" pitchFamily="18" charset="0"/>
                            </a:rPr>
                            <m:t>,</m:t>
                          </m:r>
                          <m:r>
                            <a:rPr kumimoji="1" lang="en-US" altLang="ja-GB" sz="1600" b="0" i="1" dirty="0" smtClean="0">
                              <a:latin typeface="Cambria Math" panose="02040503050406030204" pitchFamily="18" charset="0"/>
                            </a:rPr>
                            <m:t>𝑗</m:t>
                          </m:r>
                        </m:sub>
                      </m:sSub>
                      <m:r>
                        <a:rPr kumimoji="1" lang="en-US" altLang="ja-GB" sz="1600" i="1" dirty="0" smtClean="0">
                          <a:latin typeface="Cambria Math" panose="02040503050406030204" pitchFamily="18" charset="0"/>
                        </a:rPr>
                        <m:t> = </m:t>
                      </m:r>
                      <m:r>
                        <a:rPr kumimoji="1" lang="en-US" altLang="ja-GB" sz="1600" i="1" dirty="0" err="1" smtClean="0">
                          <a:latin typeface="Cambria Math" panose="02040503050406030204" pitchFamily="18" charset="0"/>
                        </a:rPr>
                        <m:t>𝐿</m:t>
                      </m:r>
                      <m:sSub>
                        <m:sSubPr>
                          <m:ctrlPr>
                            <a:rPr kumimoji="1" lang="en-US" altLang="ja-GB" sz="1600" b="0" i="1" dirty="0" smtClean="0">
                              <a:latin typeface="Cambria Math" panose="02040503050406030204" pitchFamily="18" charset="0"/>
                            </a:rPr>
                          </m:ctrlPr>
                        </m:sSubPr>
                        <m:e>
                          <m:r>
                            <a:rPr kumimoji="1" lang="en-US" altLang="ja-GB" sz="1600" i="1" dirty="0" err="1" smtClean="0">
                              <a:latin typeface="Cambria Math" panose="02040503050406030204" pitchFamily="18" charset="0"/>
                            </a:rPr>
                            <m:t>𝑇</m:t>
                          </m:r>
                        </m:e>
                        <m:sub>
                          <m:r>
                            <a:rPr kumimoji="1" lang="en-US" altLang="ja-GB" sz="1600" b="0" i="1" dirty="0" smtClean="0">
                              <a:latin typeface="Cambria Math" panose="02040503050406030204" pitchFamily="18" charset="0"/>
                            </a:rPr>
                            <m:t>𝑗</m:t>
                          </m:r>
                        </m:sub>
                      </m:sSub>
                      <m:r>
                        <a:rPr kumimoji="1" lang="en-US" altLang="ja-GB" sz="1600" i="1" dirty="0" smtClean="0">
                          <a:latin typeface="Cambria Math" panose="02040503050406030204" pitchFamily="18" charset="0"/>
                        </a:rPr>
                        <m:t>−</m:t>
                      </m:r>
                      <m:d>
                        <m:dPr>
                          <m:ctrlPr>
                            <a:rPr kumimoji="1" lang="en-US" altLang="ja-GB" sz="1600" b="0" i="1" dirty="0" smtClean="0">
                              <a:latin typeface="Cambria Math" panose="02040503050406030204" pitchFamily="18" charset="0"/>
                            </a:rPr>
                          </m:ctrlPr>
                        </m:dPr>
                        <m:e>
                          <m:r>
                            <a:rPr kumimoji="1" lang="en-US" altLang="ja-GB" sz="1600" b="0" i="1" dirty="0" smtClean="0">
                              <a:latin typeface="Cambria Math" panose="02040503050406030204" pitchFamily="18" charset="0"/>
                            </a:rPr>
                            <m:t>𝐸</m:t>
                          </m:r>
                          <m:sSub>
                            <m:sSubPr>
                              <m:ctrlPr>
                                <a:rPr kumimoji="1" lang="en-US" altLang="ja-GB" sz="1600" b="0" i="1" dirty="0" smtClean="0">
                                  <a:latin typeface="Cambria Math" panose="02040503050406030204" pitchFamily="18" charset="0"/>
                                </a:rPr>
                              </m:ctrlPr>
                            </m:sSubPr>
                            <m:e>
                              <m:r>
                                <a:rPr kumimoji="1" lang="en-US" altLang="ja-GB" sz="1600" b="0" i="1" dirty="0" smtClean="0">
                                  <a:latin typeface="Cambria Math" panose="02040503050406030204" pitchFamily="18" charset="0"/>
                                </a:rPr>
                                <m:t>𝑇</m:t>
                              </m:r>
                            </m:e>
                            <m:sub>
                              <m:r>
                                <a:rPr kumimoji="1" lang="en-US" altLang="ja-GB" sz="1600" b="0" i="1" dirty="0" smtClean="0">
                                  <a:latin typeface="Cambria Math" panose="02040503050406030204" pitchFamily="18" charset="0"/>
                                </a:rPr>
                                <m:t>𝑖</m:t>
                              </m:r>
                            </m:sub>
                          </m:sSub>
                          <m:r>
                            <a:rPr kumimoji="1" lang="en-US" altLang="ja-GB" sz="1600" b="0" i="1" dirty="0" smtClean="0">
                              <a:latin typeface="Cambria Math" panose="02040503050406030204" pitchFamily="18" charset="0"/>
                            </a:rPr>
                            <m:t>+</m:t>
                          </m:r>
                          <m:sSub>
                            <m:sSubPr>
                              <m:ctrlPr>
                                <a:rPr kumimoji="1" lang="en-US" altLang="ja-GB" sz="1600" b="0" i="1" dirty="0" smtClean="0">
                                  <a:latin typeface="Cambria Math" panose="02040503050406030204" pitchFamily="18" charset="0"/>
                                </a:rPr>
                              </m:ctrlPr>
                            </m:sSubPr>
                            <m:e>
                              <m:r>
                                <a:rPr kumimoji="1" lang="en-US" altLang="ja-GB" sz="1600" b="0" i="1" dirty="0" smtClean="0">
                                  <a:latin typeface="Cambria Math" panose="02040503050406030204" pitchFamily="18" charset="0"/>
                                </a:rPr>
                                <m:t>𝐷</m:t>
                              </m:r>
                            </m:e>
                            <m:sub>
                              <m:r>
                                <a:rPr kumimoji="1" lang="en-US" altLang="ja-GB" sz="1600" b="0" i="1" dirty="0" smtClean="0">
                                  <a:latin typeface="Cambria Math" panose="02040503050406030204" pitchFamily="18" charset="0"/>
                                </a:rPr>
                                <m:t>𝑖</m:t>
                              </m:r>
                              <m:r>
                                <a:rPr kumimoji="1" lang="en-US" altLang="ja-GB" sz="1600" b="0" i="1" dirty="0" smtClean="0">
                                  <a:latin typeface="Cambria Math" panose="02040503050406030204" pitchFamily="18" charset="0"/>
                                </a:rPr>
                                <m:t>,</m:t>
                              </m:r>
                              <m:r>
                                <a:rPr kumimoji="1" lang="en-US" altLang="ja-GB" sz="1600" b="0" i="1" dirty="0" smtClean="0">
                                  <a:latin typeface="Cambria Math" panose="02040503050406030204" pitchFamily="18" charset="0"/>
                                </a:rPr>
                                <m:t>𝑗</m:t>
                              </m:r>
                            </m:sub>
                          </m:sSub>
                        </m:e>
                      </m:d>
                    </m:oMath>
                  </m:oMathPara>
                </a14:m>
                <a:endParaRPr/>
              </a:p>
            </p:txBody>
          </p:sp>
        </mc:Choice>
        <mc:Fallback xmlns="">
          <p:sp>
            <p:nvSpPr>
              <p:cNvPr id="46" name="テキスト ボックス 45">
                <a:extLst>
                  <a:ext uri="{FF2B5EF4-FFF2-40B4-BE49-F238E27FC236}">
                    <a16:creationId xmlns:a16="http://schemas.microsoft.com/office/drawing/2014/main" id="{8CDD6709-E664-A0CC-2539-B5D9022CDA0C}"/>
                  </a:ext>
                </a:extLst>
              </p:cNvPr>
              <p:cNvSpPr txBox="1">
                <a:spLocks noRot="1" noChangeAspect="1" noMove="1" noResize="1" noEditPoints="1" noAdjustHandles="1" noChangeArrowheads="1" noChangeShapeType="1" noTextEdit="1"/>
              </p:cNvSpPr>
              <p:nvPr/>
            </p:nvSpPr>
            <p:spPr>
              <a:xfrm>
                <a:off x="6040558" y="1519741"/>
                <a:ext cx="2533835" cy="376000"/>
              </a:xfrm>
              <a:prstGeom prst="rect">
                <a:avLst/>
              </a:prstGeom>
              <a:blipFill>
                <a:blip r:embed="rId2"/>
                <a:stretch>
                  <a:fillRect b="-12903"/>
                </a:stretch>
              </a:blipFill>
            </p:spPr>
            <p:txBody>
              <a:bodyPr/>
              <a:lstStyle/>
              <a:p>
                <a:r>
                  <a:rPr lang="ja-GB" altLang="en-US">
                    <a:noFill/>
                  </a:rPr>
                  <a:t> </a:t>
                </a:r>
              </a:p>
            </p:txBody>
          </p:sp>
        </mc:Fallback>
      </mc:AlternateContent>
      <mc:AlternateContent xmlns:mc="http://schemas.openxmlformats.org/markup-compatibility/2006" xmlns:a14="http://schemas.microsoft.com/office/drawing/2010/main">
        <mc:Choice Requires="a14">
          <p:sp>
            <p:nvSpPr>
              <p:cNvPr id="48" name="テキスト ボックス 47">
                <a:extLst>
                  <a:ext uri="{FF2B5EF4-FFF2-40B4-BE49-F238E27FC236}">
                    <a16:creationId xmlns:a16="http://schemas.microsoft.com/office/drawing/2014/main" id="{CDE54FF1-0644-34F2-1F02-E8EF9FC750F8}"/>
                  </a:ext>
                </a:extLst>
              </p:cNvPr>
              <p:cNvSpPr txBox="1"/>
              <p:nvPr/>
            </p:nvSpPr>
            <p:spPr>
              <a:xfrm>
                <a:off x="5813791" y="4251433"/>
                <a:ext cx="3050259" cy="370294"/>
              </a:xfrm>
              <a:prstGeom prst="rect">
                <a:avLst/>
              </a:prstGeom>
              <a:noFill/>
            </p:spPr>
            <p:txBody>
              <a:bodyPr wrap="none" rtlCol="0">
                <a:spAutoFit/>
              </a:bodyPr>
              <a:lstStyle/>
              <a:p>
                <a:r>
                  <a:rPr kumimoji="1" lang="ja-GB" altLang="en-US" sz="1600" dirty="0"/>
                  <a:t>例：</a:t>
                </a:r>
                <a14:m>
                  <m:oMath xmlns:m="http://schemas.openxmlformats.org/officeDocument/2006/math">
                    <m:r>
                      <a:rPr kumimoji="1" lang="en-US" altLang="ja-GB" sz="1600" i="1" dirty="0" smtClean="0">
                        <a:latin typeface="Cambria Math" panose="02040503050406030204" pitchFamily="18" charset="0"/>
                      </a:rPr>
                      <m:t>𝑇</m:t>
                    </m:r>
                    <m:sSub>
                      <m:sSubPr>
                        <m:ctrlPr>
                          <a:rPr kumimoji="1" lang="en-US" altLang="ja-GB" sz="1600" b="0" i="1" dirty="0" smtClean="0">
                            <a:latin typeface="Cambria Math" panose="02040503050406030204" pitchFamily="18" charset="0"/>
                          </a:rPr>
                        </m:ctrlPr>
                      </m:sSubPr>
                      <m:e>
                        <m:r>
                          <a:rPr kumimoji="1" lang="en-US" altLang="ja-GB" sz="1600" i="1" dirty="0" smtClean="0">
                            <a:latin typeface="Cambria Math" panose="02040503050406030204" pitchFamily="18" charset="0"/>
                          </a:rPr>
                          <m:t>𝐹</m:t>
                        </m:r>
                      </m:e>
                      <m:sub>
                        <m:r>
                          <a:rPr kumimoji="1" lang="en-US" altLang="ja-GB" sz="1600" b="0" i="1" dirty="0" smtClean="0">
                            <a:latin typeface="Cambria Math" panose="02040503050406030204" pitchFamily="18" charset="0"/>
                          </a:rPr>
                          <m:t>5,6</m:t>
                        </m:r>
                      </m:sub>
                    </m:sSub>
                    <m:r>
                      <a:rPr kumimoji="1" lang="en-US" altLang="ja-GB" sz="1600" i="1" dirty="0" smtClean="0">
                        <a:latin typeface="Cambria Math" panose="02040503050406030204" pitchFamily="18" charset="0"/>
                      </a:rPr>
                      <m:t> = </m:t>
                    </m:r>
                    <m:r>
                      <a:rPr kumimoji="1" lang="en-US" altLang="ja-GB" sz="1600" i="1" dirty="0" err="1" smtClean="0">
                        <a:latin typeface="Cambria Math" panose="02040503050406030204" pitchFamily="18" charset="0"/>
                      </a:rPr>
                      <m:t>𝐿</m:t>
                    </m:r>
                    <m:sSub>
                      <m:sSubPr>
                        <m:ctrlPr>
                          <a:rPr kumimoji="1" lang="en-US" altLang="ja-GB" sz="1600" b="0" i="1" dirty="0" smtClean="0">
                            <a:latin typeface="Cambria Math" panose="02040503050406030204" pitchFamily="18" charset="0"/>
                          </a:rPr>
                        </m:ctrlPr>
                      </m:sSubPr>
                      <m:e>
                        <m:r>
                          <a:rPr kumimoji="1" lang="en-US" altLang="ja-GB" sz="1600" i="1" dirty="0" err="1" smtClean="0">
                            <a:latin typeface="Cambria Math" panose="02040503050406030204" pitchFamily="18" charset="0"/>
                          </a:rPr>
                          <m:t>𝑇</m:t>
                        </m:r>
                      </m:e>
                      <m:sub>
                        <m:r>
                          <a:rPr kumimoji="1" lang="en-US" altLang="ja-GB" sz="1600" b="0" i="1" dirty="0" smtClean="0">
                            <a:latin typeface="Cambria Math" panose="02040503050406030204" pitchFamily="18" charset="0"/>
                          </a:rPr>
                          <m:t>6</m:t>
                        </m:r>
                      </m:sub>
                    </m:sSub>
                    <m:r>
                      <a:rPr kumimoji="1" lang="en-US" altLang="ja-GB" sz="1600" i="1" dirty="0" smtClean="0">
                        <a:latin typeface="Cambria Math" panose="02040503050406030204" pitchFamily="18" charset="0"/>
                      </a:rPr>
                      <m:t>−</m:t>
                    </m:r>
                    <m:d>
                      <m:dPr>
                        <m:ctrlPr>
                          <a:rPr kumimoji="1" lang="en-US" altLang="ja-GB" sz="1600" b="0" i="1" dirty="0" smtClean="0">
                            <a:latin typeface="Cambria Math" panose="02040503050406030204" pitchFamily="18" charset="0"/>
                          </a:rPr>
                        </m:ctrlPr>
                      </m:dPr>
                      <m:e>
                        <m:r>
                          <a:rPr kumimoji="1" lang="en-US" altLang="ja-GB" sz="1600" b="0" i="1" dirty="0" smtClean="0">
                            <a:latin typeface="Cambria Math" panose="02040503050406030204" pitchFamily="18" charset="0"/>
                          </a:rPr>
                          <m:t>𝐸</m:t>
                        </m:r>
                        <m:sSub>
                          <m:sSubPr>
                            <m:ctrlPr>
                              <a:rPr kumimoji="1" lang="en-US" altLang="ja-GB" sz="1600" b="0" i="1" dirty="0" smtClean="0">
                                <a:latin typeface="Cambria Math" panose="02040503050406030204" pitchFamily="18" charset="0"/>
                              </a:rPr>
                            </m:ctrlPr>
                          </m:sSubPr>
                          <m:e>
                            <m:r>
                              <a:rPr kumimoji="1" lang="en-US" altLang="ja-GB" sz="1600" b="0" i="1" dirty="0" smtClean="0">
                                <a:latin typeface="Cambria Math" panose="02040503050406030204" pitchFamily="18" charset="0"/>
                              </a:rPr>
                              <m:t>𝑇</m:t>
                            </m:r>
                          </m:e>
                          <m:sub>
                            <m:r>
                              <a:rPr kumimoji="1" lang="en-US" altLang="ja-GB" sz="1600" b="0" i="1" dirty="0" smtClean="0">
                                <a:latin typeface="Cambria Math" panose="02040503050406030204" pitchFamily="18" charset="0"/>
                              </a:rPr>
                              <m:t>5</m:t>
                            </m:r>
                          </m:sub>
                        </m:sSub>
                        <m:r>
                          <a:rPr kumimoji="1" lang="en-US" altLang="ja-GB" sz="1600" b="0" i="1" dirty="0" smtClean="0">
                            <a:latin typeface="Cambria Math" panose="02040503050406030204" pitchFamily="18" charset="0"/>
                          </a:rPr>
                          <m:t>+</m:t>
                        </m:r>
                        <m:sSub>
                          <m:sSubPr>
                            <m:ctrlPr>
                              <a:rPr kumimoji="1" lang="en-US" altLang="ja-GB" sz="1600" b="0" i="1" dirty="0" smtClean="0">
                                <a:latin typeface="Cambria Math" panose="02040503050406030204" pitchFamily="18" charset="0"/>
                              </a:rPr>
                            </m:ctrlPr>
                          </m:sSubPr>
                          <m:e>
                            <m:r>
                              <a:rPr kumimoji="1" lang="en-US" altLang="ja-GB" sz="1600" b="0" i="1" dirty="0" smtClean="0">
                                <a:latin typeface="Cambria Math" panose="02040503050406030204" pitchFamily="18" charset="0"/>
                              </a:rPr>
                              <m:t>𝐷</m:t>
                            </m:r>
                          </m:e>
                          <m:sub>
                            <m:r>
                              <a:rPr kumimoji="1" lang="en-US" altLang="ja-GB" sz="1600" b="0" i="1" dirty="0" smtClean="0">
                                <a:latin typeface="Cambria Math" panose="02040503050406030204" pitchFamily="18" charset="0"/>
                              </a:rPr>
                              <m:t>5,6</m:t>
                            </m:r>
                          </m:sub>
                        </m:sSub>
                      </m:e>
                    </m:d>
                  </m:oMath>
                </a14:m>
                <a:endParaRPr kumimoji="1" lang="ja-GB" altLang="en-US" sz="1600" dirty="0"/>
              </a:p>
            </p:txBody>
          </p:sp>
        </mc:Choice>
        <mc:Fallback xmlns="">
          <p:sp>
            <p:nvSpPr>
              <p:cNvPr id="48" name="テキスト ボックス 47">
                <a:extLst>
                  <a:ext uri="{FF2B5EF4-FFF2-40B4-BE49-F238E27FC236}">
                    <a16:creationId xmlns:a16="http://schemas.microsoft.com/office/drawing/2014/main" id="{CDE54FF1-0644-34F2-1F02-E8EF9FC750F8}"/>
                  </a:ext>
                </a:extLst>
              </p:cNvPr>
              <p:cNvSpPr txBox="1">
                <a:spLocks noRot="1" noChangeAspect="1" noMove="1" noResize="1" noEditPoints="1" noAdjustHandles="1" noChangeArrowheads="1" noChangeShapeType="1" noTextEdit="1"/>
              </p:cNvSpPr>
              <p:nvPr/>
            </p:nvSpPr>
            <p:spPr>
              <a:xfrm>
                <a:off x="5813791" y="4251433"/>
                <a:ext cx="3050259" cy="370294"/>
              </a:xfrm>
              <a:prstGeom prst="rect">
                <a:avLst/>
              </a:prstGeom>
              <a:blipFill>
                <a:blip r:embed="rId3"/>
                <a:stretch>
                  <a:fillRect l="-830" b="-23333"/>
                </a:stretch>
              </a:blipFill>
            </p:spPr>
            <p:txBody>
              <a:bodyPr/>
              <a:lstStyle/>
              <a:p>
                <a:r>
                  <a:rPr lang="ja-GB" altLang="en-US">
                    <a:noFill/>
                  </a:rPr>
                  <a:t> </a:t>
                </a:r>
              </a:p>
            </p:txBody>
          </p:sp>
        </mc:Fallback>
      </mc:AlternateContent>
      <p:sp>
        <p:nvSpPr>
          <p:cNvPr id="49" name="テキスト ボックス 48">
            <a:extLst>
              <a:ext uri="{FF2B5EF4-FFF2-40B4-BE49-F238E27FC236}">
                <a16:creationId xmlns:a16="http://schemas.microsoft.com/office/drawing/2014/main" id="{CF7530F6-4BAA-0114-3157-7ABA565AAB44}"/>
              </a:ext>
            </a:extLst>
          </p:cNvPr>
          <p:cNvSpPr txBox="1"/>
          <p:nvPr/>
        </p:nvSpPr>
        <p:spPr>
          <a:xfrm>
            <a:off x="7489385" y="6392560"/>
            <a:ext cx="1409040" cy="307777"/>
          </a:xfrm>
          <a:prstGeom prst="rect">
            <a:avLst/>
          </a:prstGeom>
          <a:noFill/>
        </p:spPr>
        <p:txBody>
          <a:bodyPr wrap="none" rtlCol="0">
            <a:spAutoFit/>
          </a:bodyPr>
          <a:lstStyle/>
          <a:p>
            <a:pPr algn="ctr"/>
            <a:r>
              <a:rPr kumimoji="1" lang="ja-GB" altLang="en-US" sz="1400" dirty="0"/>
              <a:t>上：</a:t>
            </a:r>
            <a:r>
              <a:rPr kumimoji="1" lang="en-US" altLang="ja-GB" sz="1400" dirty="0"/>
              <a:t>ET</a:t>
            </a:r>
            <a:r>
              <a:rPr kumimoji="1" lang="ja-GB" altLang="en-US" sz="1400" dirty="0"/>
              <a:t>，下：</a:t>
            </a:r>
            <a:r>
              <a:rPr kumimoji="1" lang="en-US" altLang="ja-GB" sz="1400" dirty="0"/>
              <a:t>LT</a:t>
            </a:r>
            <a:endParaRPr kumimoji="1" lang="ja-GB" altLang="en-US" sz="1400" dirty="0"/>
          </a:p>
        </p:txBody>
      </p:sp>
      <p:sp>
        <p:nvSpPr>
          <p:cNvPr id="51" name="テキスト ボックス 50">
            <a:extLst>
              <a:ext uri="{FF2B5EF4-FFF2-40B4-BE49-F238E27FC236}">
                <a16:creationId xmlns:a16="http://schemas.microsoft.com/office/drawing/2014/main" id="{14C295AF-D89E-FCC0-07A6-F2B3862C7EA1}"/>
              </a:ext>
            </a:extLst>
          </p:cNvPr>
          <p:cNvSpPr txBox="1"/>
          <p:nvPr/>
        </p:nvSpPr>
        <p:spPr>
          <a:xfrm>
            <a:off x="5540433" y="1861498"/>
            <a:ext cx="3714478" cy="400110"/>
          </a:xfrm>
          <a:prstGeom prst="rect">
            <a:avLst/>
          </a:prstGeom>
          <a:noFill/>
        </p:spPr>
        <p:txBody>
          <a:bodyPr wrap="none" rtlCol="0">
            <a:spAutoFit/>
          </a:bodyPr>
          <a:lstStyle/>
          <a:p>
            <a:r>
              <a:rPr kumimoji="1" lang="ja-GB" altLang="en-US" sz="1000" b="1" dirty="0"/>
              <a:t>この作業の余裕（許容される最大の遅延）</a:t>
            </a:r>
            <a:r>
              <a:rPr kumimoji="1" lang="en-US" altLang="ja-GB" sz="1000" b="1" dirty="0"/>
              <a:t> = </a:t>
            </a:r>
            <a:br>
              <a:rPr kumimoji="1" lang="en-US" altLang="ja-GB" sz="1000" b="1" dirty="0"/>
            </a:br>
            <a:r>
              <a:rPr kumimoji="1" lang="ja-GB" altLang="en-US" sz="1000" b="1" dirty="0"/>
              <a:t>終点の最遅結合点時刻</a:t>
            </a:r>
            <a:r>
              <a:rPr kumimoji="1" lang="en-US" altLang="ja-GB" sz="1000" b="1" dirty="0"/>
              <a:t> – (</a:t>
            </a:r>
            <a:r>
              <a:rPr kumimoji="1" lang="ja-GB" altLang="en-US" sz="1000" b="1" dirty="0"/>
              <a:t>始点最早結合点時刻</a:t>
            </a:r>
            <a:r>
              <a:rPr kumimoji="1" lang="en-US" altLang="ja-GB" sz="1000" b="1" dirty="0"/>
              <a:t> + </a:t>
            </a:r>
            <a:r>
              <a:rPr kumimoji="1" lang="ja-GB" altLang="en-US" sz="1000" b="1" dirty="0"/>
              <a:t>予定作業時間</a:t>
            </a:r>
            <a:r>
              <a:rPr kumimoji="1" lang="en-US" altLang="ja-GB" sz="1000" b="1" dirty="0"/>
              <a:t>)</a:t>
            </a:r>
            <a:endParaRPr kumimoji="1" lang="ja-GB" altLang="en-US" sz="1000" b="1" dirty="0"/>
          </a:p>
        </p:txBody>
      </p:sp>
    </p:spTree>
    <p:extLst>
      <p:ext uri="{BB962C8B-B14F-4D97-AF65-F5344CB8AC3E}">
        <p14:creationId xmlns:p14="http://schemas.microsoft.com/office/powerpoint/2010/main" val="233976147"/>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C0CBF5-85B5-1BAA-4677-737DD4EFE77C}"/>
              </a:ext>
            </a:extLst>
          </p:cNvPr>
          <p:cNvSpPr>
            <a:spLocks noGrp="1"/>
          </p:cNvSpPr>
          <p:nvPr>
            <p:ph type="title"/>
          </p:nvPr>
        </p:nvSpPr>
        <p:spPr/>
        <p:txBody>
          <a:bodyPr/>
          <a:lstStyle/>
          <a:p>
            <a:r>
              <a:rPr kumimoji="1" lang="ja-GB" altLang="en-US" dirty="0"/>
              <a:t>クリティカルパス（</a:t>
            </a:r>
            <a:r>
              <a:rPr kumimoji="1" lang="en-US" altLang="ja-GB" dirty="0"/>
              <a:t>CP</a:t>
            </a:r>
            <a:r>
              <a:rPr kumimoji="1" lang="ja-GB" altLang="en-US" dirty="0"/>
              <a:t>）</a:t>
            </a:r>
          </a:p>
        </p:txBody>
      </p:sp>
      <p:sp>
        <p:nvSpPr>
          <p:cNvPr id="3" name="コンテンツ プレースホルダー 2">
            <a:extLst>
              <a:ext uri="{FF2B5EF4-FFF2-40B4-BE49-F238E27FC236}">
                <a16:creationId xmlns:a16="http://schemas.microsoft.com/office/drawing/2014/main" id="{1F7F5DA6-FBB9-EBCC-7B23-2A62BDA72BC3}"/>
              </a:ext>
            </a:extLst>
          </p:cNvPr>
          <p:cNvSpPr>
            <a:spLocks noGrp="1"/>
          </p:cNvSpPr>
          <p:nvPr>
            <p:ph idx="1"/>
          </p:nvPr>
        </p:nvSpPr>
        <p:spPr/>
        <p:txBody>
          <a:bodyPr/>
          <a:lstStyle/>
          <a:p>
            <a:pPr marL="0" indent="0">
              <a:buNone/>
            </a:pPr>
            <a:r>
              <a:rPr kumimoji="1" lang="ja-GB" altLang="en-US" dirty="0"/>
              <a:t>プロジェクト全体の完了までに最も時間がかかる作業経路</a:t>
            </a:r>
            <a:endParaRPr kumimoji="1" lang="en-US" altLang="ja-GB" dirty="0"/>
          </a:p>
          <a:p>
            <a:pPr marL="0" indent="0">
              <a:buNone/>
            </a:pPr>
            <a:r>
              <a:rPr lang="en-US" altLang="ja-GB" sz="2000" dirty="0"/>
              <a:t>=</a:t>
            </a:r>
            <a:r>
              <a:rPr lang="ja-GB" altLang="en-US" sz="2000" dirty="0"/>
              <a:t>全余裕時間がゼロ（</a:t>
            </a:r>
            <a:r>
              <a:rPr lang="en-US" altLang="ja-GB" sz="2000" dirty="0"/>
              <a:t>TF=0</a:t>
            </a:r>
            <a:r>
              <a:rPr lang="ja-GB" altLang="en-US" sz="2000" dirty="0"/>
              <a:t>）の作業順からなる経路</a:t>
            </a:r>
            <a:endParaRPr lang="en-US" altLang="ja-GB" sz="2000" dirty="0"/>
          </a:p>
          <a:p>
            <a:pPr lvl="1"/>
            <a:endParaRPr kumimoji="1" lang="ja-GB" altLang="en-US" dirty="0"/>
          </a:p>
        </p:txBody>
      </p:sp>
      <p:graphicFrame>
        <p:nvGraphicFramePr>
          <p:cNvPr id="4" name="表 3">
            <a:extLst>
              <a:ext uri="{FF2B5EF4-FFF2-40B4-BE49-F238E27FC236}">
                <a16:creationId xmlns:a16="http://schemas.microsoft.com/office/drawing/2014/main" id="{66A1D6DF-E3B1-F6B1-0079-0917B4A4A262}"/>
              </a:ext>
            </a:extLst>
          </p:cNvPr>
          <p:cNvGraphicFramePr>
            <a:graphicFrameLocks noGrp="1"/>
          </p:cNvGraphicFramePr>
          <p:nvPr/>
        </p:nvGraphicFramePr>
        <p:xfrm>
          <a:off x="381237" y="1699689"/>
          <a:ext cx="5775540" cy="2987040"/>
        </p:xfrm>
        <a:graphic>
          <a:graphicData uri="http://schemas.openxmlformats.org/drawingml/2006/table">
            <a:tbl>
              <a:tblPr firstRow="1" bandRow="1">
                <a:tableStyleId>{5C22544A-7EE6-4342-B048-85BDC9FD1C3A}</a:tableStyleId>
              </a:tblPr>
              <a:tblGrid>
                <a:gridCol w="1155108">
                  <a:extLst>
                    <a:ext uri="{9D8B030D-6E8A-4147-A177-3AD203B41FA5}">
                      <a16:colId xmlns:a16="http://schemas.microsoft.com/office/drawing/2014/main" val="3691675347"/>
                    </a:ext>
                  </a:extLst>
                </a:gridCol>
                <a:gridCol w="1155108">
                  <a:extLst>
                    <a:ext uri="{9D8B030D-6E8A-4147-A177-3AD203B41FA5}">
                      <a16:colId xmlns:a16="http://schemas.microsoft.com/office/drawing/2014/main" val="928111709"/>
                    </a:ext>
                  </a:extLst>
                </a:gridCol>
                <a:gridCol w="1155108">
                  <a:extLst>
                    <a:ext uri="{9D8B030D-6E8A-4147-A177-3AD203B41FA5}">
                      <a16:colId xmlns:a16="http://schemas.microsoft.com/office/drawing/2014/main" val="4014108102"/>
                    </a:ext>
                  </a:extLst>
                </a:gridCol>
                <a:gridCol w="1155108">
                  <a:extLst>
                    <a:ext uri="{9D8B030D-6E8A-4147-A177-3AD203B41FA5}">
                      <a16:colId xmlns:a16="http://schemas.microsoft.com/office/drawing/2014/main" val="1570955190"/>
                    </a:ext>
                  </a:extLst>
                </a:gridCol>
                <a:gridCol w="1155108">
                  <a:extLst>
                    <a:ext uri="{9D8B030D-6E8A-4147-A177-3AD203B41FA5}">
                      <a16:colId xmlns:a16="http://schemas.microsoft.com/office/drawing/2014/main" val="3644394343"/>
                    </a:ext>
                  </a:extLst>
                </a:gridCol>
              </a:tblGrid>
              <a:tr h="183483">
                <a:tc>
                  <a:txBody>
                    <a:bodyPr/>
                    <a:lstStyle/>
                    <a:p>
                      <a:pPr algn="ctr"/>
                      <a:r>
                        <a:rPr lang="ja-GB" altLang="en-US" sz="1400" dirty="0"/>
                        <a:t>作業記号</a:t>
                      </a:r>
                    </a:p>
                  </a:txBody>
                  <a:tcPr/>
                </a:tc>
                <a:tc>
                  <a:txBody>
                    <a:bodyPr/>
                    <a:lstStyle/>
                    <a:p>
                      <a:pPr algn="ctr"/>
                      <a:r>
                        <a:rPr lang="ja-GB" altLang="en-US" sz="1400" dirty="0"/>
                        <a:t>作業</a:t>
                      </a:r>
                      <a:r>
                        <a:rPr lang="en-US" altLang="ja-GB" sz="1400" dirty="0"/>
                        <a:t>(</a:t>
                      </a:r>
                      <a:r>
                        <a:rPr lang="en-US" altLang="ja-GB" sz="1400" dirty="0" err="1"/>
                        <a:t>i,j</a:t>
                      </a:r>
                      <a:r>
                        <a:rPr lang="en-US" altLang="ja-GB" sz="1400" dirty="0"/>
                        <a:t>)</a:t>
                      </a:r>
                      <a:endParaRPr lang="ja-GB" altLang="en-US" sz="1400" dirty="0"/>
                    </a:p>
                  </a:txBody>
                  <a:tcPr/>
                </a:tc>
                <a:tc>
                  <a:txBody>
                    <a:bodyPr/>
                    <a:lstStyle/>
                    <a:p>
                      <a:pPr algn="ctr"/>
                      <a:r>
                        <a:rPr lang="ja-GB" altLang="en-US" sz="1400" dirty="0"/>
                        <a:t>所要日数</a:t>
                      </a:r>
                      <a:r>
                        <a:rPr lang="en-US" altLang="ja-GB" sz="1400" dirty="0"/>
                        <a:t> </a:t>
                      </a:r>
                      <a:r>
                        <a:rPr lang="en-US" altLang="ja-GB" sz="1400" dirty="0" err="1"/>
                        <a:t>D</a:t>
                      </a:r>
                      <a:r>
                        <a:rPr lang="en-US" altLang="ja-GB" sz="1400" baseline="-25000" dirty="0" err="1"/>
                        <a:t>i,j</a:t>
                      </a:r>
                      <a:endParaRPr lang="ja-GB" altLang="en-US" sz="1400" baseline="-25000" dirty="0"/>
                    </a:p>
                  </a:txBody>
                  <a:tcPr/>
                </a:tc>
                <a:tc>
                  <a:txBody>
                    <a:bodyPr/>
                    <a:lstStyle/>
                    <a:p>
                      <a:pPr algn="ctr"/>
                      <a:r>
                        <a:rPr lang="en-US" altLang="ja-GB" sz="1400" baseline="0" dirty="0"/>
                        <a:t>TF</a:t>
                      </a:r>
                      <a:endParaRPr lang="ja-GB" altLang="en-US" sz="1400" baseline="0" dirty="0"/>
                    </a:p>
                  </a:txBody>
                  <a:tcPr/>
                </a:tc>
                <a:tc>
                  <a:txBody>
                    <a:bodyPr/>
                    <a:lstStyle/>
                    <a:p>
                      <a:pPr algn="ctr"/>
                      <a:r>
                        <a:rPr lang="en-US" altLang="ja-GB" sz="1400" baseline="0" dirty="0"/>
                        <a:t>CP</a:t>
                      </a:r>
                      <a:endParaRPr lang="ja-GB" altLang="en-US" sz="1400" baseline="0" dirty="0"/>
                    </a:p>
                  </a:txBody>
                  <a:tcPr/>
                </a:tc>
                <a:extLst>
                  <a:ext uri="{0D108BD9-81ED-4DB2-BD59-A6C34878D82A}">
                    <a16:rowId xmlns:a16="http://schemas.microsoft.com/office/drawing/2014/main" val="3671063893"/>
                  </a:ext>
                </a:extLst>
              </a:tr>
              <a:tr h="185302">
                <a:tc>
                  <a:txBody>
                    <a:bodyPr/>
                    <a:lstStyle/>
                    <a:p>
                      <a:pPr algn="ctr"/>
                      <a:r>
                        <a:rPr lang="en-US" altLang="ja-GB" sz="1600" dirty="0"/>
                        <a:t>A</a:t>
                      </a:r>
                      <a:endParaRPr lang="ja-GB" altLang="en-US" sz="1600" dirty="0"/>
                    </a:p>
                  </a:txBody>
                  <a:tcPr>
                    <a:solidFill>
                      <a:schemeClr val="accent2">
                        <a:lumMod val="20000"/>
                        <a:lumOff val="80000"/>
                      </a:schemeClr>
                    </a:solidFill>
                  </a:tcPr>
                </a:tc>
                <a:tc>
                  <a:txBody>
                    <a:bodyPr/>
                    <a:lstStyle/>
                    <a:p>
                      <a:pPr algn="ctr"/>
                      <a:r>
                        <a:rPr lang="en-US" altLang="ja-GB" sz="1600" dirty="0"/>
                        <a:t>(1,2)</a:t>
                      </a:r>
                      <a:endParaRPr lang="ja-GB" altLang="en-US" sz="1600" dirty="0"/>
                    </a:p>
                  </a:txBody>
                  <a:tcPr>
                    <a:solidFill>
                      <a:schemeClr val="accent2">
                        <a:lumMod val="20000"/>
                        <a:lumOff val="80000"/>
                      </a:schemeClr>
                    </a:solidFill>
                  </a:tcPr>
                </a:tc>
                <a:tc>
                  <a:txBody>
                    <a:bodyPr/>
                    <a:lstStyle/>
                    <a:p>
                      <a:pPr algn="ctr"/>
                      <a:r>
                        <a:rPr lang="en-US" altLang="ja-GB" sz="1600" dirty="0"/>
                        <a:t>3</a:t>
                      </a:r>
                      <a:endParaRPr lang="ja-GB" altLang="en-US" sz="1600" dirty="0"/>
                    </a:p>
                  </a:txBody>
                  <a:tcPr>
                    <a:solidFill>
                      <a:schemeClr val="accent2">
                        <a:lumMod val="20000"/>
                        <a:lumOff val="80000"/>
                      </a:schemeClr>
                    </a:solidFill>
                  </a:tcPr>
                </a:tc>
                <a:tc>
                  <a:txBody>
                    <a:bodyPr/>
                    <a:lstStyle/>
                    <a:p>
                      <a:pPr algn="ctr"/>
                      <a:r>
                        <a:rPr lang="en-US" altLang="ja-GB" sz="1600" dirty="0"/>
                        <a:t>0</a:t>
                      </a:r>
                      <a:endParaRPr lang="ja-GB" altLang="en-US" sz="1600" dirty="0"/>
                    </a:p>
                  </a:txBody>
                  <a:tcPr>
                    <a:solidFill>
                      <a:schemeClr val="accent2">
                        <a:lumMod val="20000"/>
                        <a:lumOff val="80000"/>
                      </a:schemeClr>
                    </a:solidFill>
                  </a:tcPr>
                </a:tc>
                <a:tc>
                  <a:txBody>
                    <a:bodyPr/>
                    <a:lstStyle/>
                    <a:p>
                      <a:pPr algn="ctr"/>
                      <a:r>
                        <a:rPr lang="en-US" altLang="ja-GB" sz="1600" dirty="0"/>
                        <a:t>*</a:t>
                      </a:r>
                      <a:endParaRPr lang="ja-GB" altLang="en-US" sz="1600" dirty="0"/>
                    </a:p>
                  </a:txBody>
                  <a:tcPr>
                    <a:solidFill>
                      <a:schemeClr val="accent2">
                        <a:lumMod val="20000"/>
                        <a:lumOff val="80000"/>
                      </a:schemeClr>
                    </a:solidFill>
                  </a:tcPr>
                </a:tc>
                <a:extLst>
                  <a:ext uri="{0D108BD9-81ED-4DB2-BD59-A6C34878D82A}">
                    <a16:rowId xmlns:a16="http://schemas.microsoft.com/office/drawing/2014/main" val="3344703274"/>
                  </a:ext>
                </a:extLst>
              </a:tr>
              <a:tr h="185302">
                <a:tc>
                  <a:txBody>
                    <a:bodyPr/>
                    <a:lstStyle/>
                    <a:p>
                      <a:pPr algn="ctr"/>
                      <a:r>
                        <a:rPr lang="en-US" altLang="ja-GB" sz="1600" dirty="0"/>
                        <a:t>B</a:t>
                      </a:r>
                      <a:endParaRPr lang="ja-GB" altLang="en-US" sz="1600" dirty="0"/>
                    </a:p>
                  </a:txBody>
                  <a:tcPr>
                    <a:solidFill>
                      <a:schemeClr val="accent2">
                        <a:lumMod val="20000"/>
                        <a:lumOff val="80000"/>
                      </a:schemeClr>
                    </a:solidFill>
                  </a:tcPr>
                </a:tc>
                <a:tc>
                  <a:txBody>
                    <a:bodyPr/>
                    <a:lstStyle/>
                    <a:p>
                      <a:pPr algn="ctr"/>
                      <a:r>
                        <a:rPr lang="en-US" altLang="ja-GB" sz="1600" dirty="0"/>
                        <a:t>(1,3)</a:t>
                      </a:r>
                      <a:endParaRPr lang="ja-GB" altLang="en-US" sz="1600" dirty="0"/>
                    </a:p>
                  </a:txBody>
                  <a:tcPr>
                    <a:solidFill>
                      <a:schemeClr val="accent2">
                        <a:lumMod val="20000"/>
                        <a:lumOff val="80000"/>
                      </a:schemeClr>
                    </a:solidFill>
                  </a:tcPr>
                </a:tc>
                <a:tc>
                  <a:txBody>
                    <a:bodyPr/>
                    <a:lstStyle/>
                    <a:p>
                      <a:pPr algn="ctr"/>
                      <a:r>
                        <a:rPr lang="en-US" altLang="ja-GB" sz="1600" dirty="0"/>
                        <a:t>2</a:t>
                      </a:r>
                      <a:endParaRPr lang="ja-GB" altLang="en-US" sz="1600" dirty="0"/>
                    </a:p>
                  </a:txBody>
                  <a:tcPr>
                    <a:solidFill>
                      <a:schemeClr val="accent2">
                        <a:lumMod val="20000"/>
                        <a:lumOff val="80000"/>
                      </a:schemeClr>
                    </a:solidFill>
                  </a:tcPr>
                </a:tc>
                <a:tc>
                  <a:txBody>
                    <a:bodyPr/>
                    <a:lstStyle/>
                    <a:p>
                      <a:pPr algn="ctr"/>
                      <a:r>
                        <a:rPr lang="en-US" altLang="ja-GB" sz="1600" dirty="0"/>
                        <a:t>0</a:t>
                      </a:r>
                      <a:endParaRPr lang="ja-GB" altLang="en-US" sz="1600" dirty="0"/>
                    </a:p>
                  </a:txBody>
                  <a:tcPr>
                    <a:solidFill>
                      <a:schemeClr val="accent2">
                        <a:lumMod val="20000"/>
                        <a:lumOff val="80000"/>
                      </a:schemeClr>
                    </a:solidFill>
                  </a:tcPr>
                </a:tc>
                <a:tc>
                  <a:txBody>
                    <a:bodyPr/>
                    <a:lstStyle/>
                    <a:p>
                      <a:pPr algn="ctr"/>
                      <a:r>
                        <a:rPr lang="en-US" altLang="ja-GB" sz="1600" dirty="0"/>
                        <a:t>*</a:t>
                      </a:r>
                      <a:endParaRPr lang="ja-GB" altLang="en-US" sz="1600" dirty="0"/>
                    </a:p>
                  </a:txBody>
                  <a:tcPr>
                    <a:solidFill>
                      <a:schemeClr val="accent2">
                        <a:lumMod val="20000"/>
                        <a:lumOff val="80000"/>
                      </a:schemeClr>
                    </a:solidFill>
                  </a:tcPr>
                </a:tc>
                <a:extLst>
                  <a:ext uri="{0D108BD9-81ED-4DB2-BD59-A6C34878D82A}">
                    <a16:rowId xmlns:a16="http://schemas.microsoft.com/office/drawing/2014/main" val="4177507280"/>
                  </a:ext>
                </a:extLst>
              </a:tr>
              <a:tr h="185302">
                <a:tc>
                  <a:txBody>
                    <a:bodyPr/>
                    <a:lstStyle/>
                    <a:p>
                      <a:pPr algn="ctr"/>
                      <a:r>
                        <a:rPr lang="en-US" altLang="ja-GB" sz="1600" dirty="0"/>
                        <a:t>C</a:t>
                      </a:r>
                      <a:endParaRPr lang="ja-GB" altLang="en-US" sz="1600" dirty="0"/>
                    </a:p>
                  </a:txBody>
                  <a:tcPr>
                    <a:solidFill>
                      <a:schemeClr val="accent2">
                        <a:lumMod val="20000"/>
                        <a:lumOff val="80000"/>
                      </a:schemeClr>
                    </a:solidFill>
                  </a:tcPr>
                </a:tc>
                <a:tc>
                  <a:txBody>
                    <a:bodyPr/>
                    <a:lstStyle/>
                    <a:p>
                      <a:pPr algn="ctr"/>
                      <a:r>
                        <a:rPr lang="en-US" altLang="ja-GB" sz="1600" dirty="0"/>
                        <a:t>(2,4)</a:t>
                      </a:r>
                      <a:endParaRPr lang="ja-GB" altLang="en-US" sz="1600" dirty="0"/>
                    </a:p>
                  </a:txBody>
                  <a:tcPr>
                    <a:solidFill>
                      <a:schemeClr val="accent2">
                        <a:lumMod val="20000"/>
                        <a:lumOff val="80000"/>
                      </a:schemeClr>
                    </a:solidFill>
                  </a:tcPr>
                </a:tc>
                <a:tc>
                  <a:txBody>
                    <a:bodyPr/>
                    <a:lstStyle/>
                    <a:p>
                      <a:pPr algn="ctr"/>
                      <a:r>
                        <a:rPr lang="en-US" altLang="ja-GB" sz="1600" dirty="0"/>
                        <a:t>4</a:t>
                      </a:r>
                      <a:endParaRPr lang="ja-GB" altLang="en-US" sz="1600" dirty="0"/>
                    </a:p>
                  </a:txBody>
                  <a:tcPr>
                    <a:solidFill>
                      <a:schemeClr val="accent2">
                        <a:lumMod val="20000"/>
                        <a:lumOff val="80000"/>
                      </a:schemeClr>
                    </a:solidFill>
                  </a:tcPr>
                </a:tc>
                <a:tc>
                  <a:txBody>
                    <a:bodyPr/>
                    <a:lstStyle/>
                    <a:p>
                      <a:pPr algn="ctr"/>
                      <a:r>
                        <a:rPr lang="en-US" altLang="ja-GB" sz="1600" dirty="0"/>
                        <a:t>0</a:t>
                      </a:r>
                      <a:endParaRPr lang="ja-GB" altLang="en-US" sz="1600" dirty="0"/>
                    </a:p>
                  </a:txBody>
                  <a:tcPr>
                    <a:solidFill>
                      <a:schemeClr val="accent2">
                        <a:lumMod val="20000"/>
                        <a:lumOff val="80000"/>
                      </a:schemeClr>
                    </a:solidFill>
                  </a:tcPr>
                </a:tc>
                <a:tc>
                  <a:txBody>
                    <a:bodyPr/>
                    <a:lstStyle/>
                    <a:p>
                      <a:pPr algn="ctr"/>
                      <a:r>
                        <a:rPr lang="en-US" altLang="ja-GB" sz="1600" dirty="0"/>
                        <a:t>*</a:t>
                      </a:r>
                      <a:endParaRPr lang="ja-GB" altLang="en-US" sz="1600" dirty="0"/>
                    </a:p>
                  </a:txBody>
                  <a:tcPr>
                    <a:solidFill>
                      <a:schemeClr val="accent2">
                        <a:lumMod val="20000"/>
                        <a:lumOff val="80000"/>
                      </a:schemeClr>
                    </a:solidFill>
                  </a:tcPr>
                </a:tc>
                <a:extLst>
                  <a:ext uri="{0D108BD9-81ED-4DB2-BD59-A6C34878D82A}">
                    <a16:rowId xmlns:a16="http://schemas.microsoft.com/office/drawing/2014/main" val="3414689720"/>
                  </a:ext>
                </a:extLst>
              </a:tr>
              <a:tr h="185302">
                <a:tc>
                  <a:txBody>
                    <a:bodyPr/>
                    <a:lstStyle/>
                    <a:p>
                      <a:pPr algn="ctr"/>
                      <a:r>
                        <a:rPr lang="en-US" altLang="ja-GB" sz="1600" dirty="0"/>
                        <a:t>D</a:t>
                      </a:r>
                      <a:endParaRPr lang="ja-GB" altLang="en-US" sz="1600" dirty="0"/>
                    </a:p>
                  </a:txBody>
                  <a:tcPr>
                    <a:solidFill>
                      <a:schemeClr val="accent2">
                        <a:lumMod val="20000"/>
                        <a:lumOff val="80000"/>
                      </a:schemeClr>
                    </a:solidFill>
                  </a:tcPr>
                </a:tc>
                <a:tc>
                  <a:txBody>
                    <a:bodyPr/>
                    <a:lstStyle/>
                    <a:p>
                      <a:pPr algn="ctr"/>
                      <a:r>
                        <a:rPr lang="en-US" altLang="ja-GB" sz="1600" dirty="0"/>
                        <a:t>(3,4)</a:t>
                      </a:r>
                      <a:endParaRPr lang="ja-GB" altLang="en-US" sz="1600" dirty="0"/>
                    </a:p>
                  </a:txBody>
                  <a:tcPr>
                    <a:solidFill>
                      <a:schemeClr val="accent2">
                        <a:lumMod val="20000"/>
                        <a:lumOff val="80000"/>
                      </a:schemeClr>
                    </a:solidFill>
                  </a:tcPr>
                </a:tc>
                <a:tc>
                  <a:txBody>
                    <a:bodyPr/>
                    <a:lstStyle/>
                    <a:p>
                      <a:pPr algn="ctr"/>
                      <a:r>
                        <a:rPr lang="en-US" altLang="ja-GB" sz="1600" dirty="0"/>
                        <a:t>5</a:t>
                      </a:r>
                      <a:endParaRPr lang="ja-GB" altLang="en-US" sz="1600" dirty="0"/>
                    </a:p>
                  </a:txBody>
                  <a:tcPr>
                    <a:solidFill>
                      <a:schemeClr val="accent2">
                        <a:lumMod val="20000"/>
                        <a:lumOff val="80000"/>
                      </a:schemeClr>
                    </a:solidFill>
                  </a:tcPr>
                </a:tc>
                <a:tc>
                  <a:txBody>
                    <a:bodyPr/>
                    <a:lstStyle/>
                    <a:p>
                      <a:pPr algn="ctr"/>
                      <a:r>
                        <a:rPr lang="en-US" altLang="ja-GB" sz="1600" dirty="0"/>
                        <a:t>0</a:t>
                      </a:r>
                      <a:endParaRPr lang="ja-GB" altLang="en-US" sz="1600" dirty="0"/>
                    </a:p>
                  </a:txBody>
                  <a:tcPr>
                    <a:solidFill>
                      <a:schemeClr val="accent2">
                        <a:lumMod val="20000"/>
                        <a:lumOff val="80000"/>
                      </a:schemeClr>
                    </a:solidFill>
                  </a:tcPr>
                </a:tc>
                <a:tc>
                  <a:txBody>
                    <a:bodyPr/>
                    <a:lstStyle/>
                    <a:p>
                      <a:pPr algn="ctr"/>
                      <a:r>
                        <a:rPr lang="en-US" altLang="ja-GB" sz="1600" dirty="0"/>
                        <a:t>*</a:t>
                      </a:r>
                      <a:endParaRPr lang="ja-GB" altLang="en-US" sz="1600" dirty="0"/>
                    </a:p>
                  </a:txBody>
                  <a:tcPr>
                    <a:solidFill>
                      <a:schemeClr val="accent2">
                        <a:lumMod val="20000"/>
                        <a:lumOff val="80000"/>
                      </a:schemeClr>
                    </a:solidFill>
                  </a:tcPr>
                </a:tc>
                <a:extLst>
                  <a:ext uri="{0D108BD9-81ED-4DB2-BD59-A6C34878D82A}">
                    <a16:rowId xmlns:a16="http://schemas.microsoft.com/office/drawing/2014/main" val="3373349507"/>
                  </a:ext>
                </a:extLst>
              </a:tr>
              <a:tr h="185302">
                <a:tc>
                  <a:txBody>
                    <a:bodyPr/>
                    <a:lstStyle/>
                    <a:p>
                      <a:pPr algn="ctr"/>
                      <a:r>
                        <a:rPr lang="en-US" altLang="ja-GB" sz="1600" dirty="0"/>
                        <a:t>E</a:t>
                      </a:r>
                      <a:endParaRPr lang="ja-GB" altLang="en-US" sz="1600" dirty="0"/>
                    </a:p>
                  </a:txBody>
                  <a:tcPr/>
                </a:tc>
                <a:tc>
                  <a:txBody>
                    <a:bodyPr/>
                    <a:lstStyle/>
                    <a:p>
                      <a:pPr algn="ctr"/>
                      <a:r>
                        <a:rPr lang="en-US" altLang="ja-GB" sz="1600" dirty="0"/>
                        <a:t>(2,5)</a:t>
                      </a:r>
                      <a:endParaRPr lang="ja-GB" altLang="en-US" sz="1600" dirty="0"/>
                    </a:p>
                  </a:txBody>
                  <a:tcPr/>
                </a:tc>
                <a:tc>
                  <a:txBody>
                    <a:bodyPr/>
                    <a:lstStyle/>
                    <a:p>
                      <a:pPr algn="ctr"/>
                      <a:r>
                        <a:rPr lang="en-US" altLang="ja-GB" sz="1600" dirty="0"/>
                        <a:t>1</a:t>
                      </a:r>
                      <a:endParaRPr lang="ja-GB" altLang="en-US" sz="1600" dirty="0"/>
                    </a:p>
                  </a:txBody>
                  <a:tcPr/>
                </a:tc>
                <a:tc>
                  <a:txBody>
                    <a:bodyPr/>
                    <a:lstStyle/>
                    <a:p>
                      <a:pPr algn="ctr"/>
                      <a:r>
                        <a:rPr lang="en-US" altLang="ja-GB" sz="1600" dirty="0"/>
                        <a:t>7</a:t>
                      </a:r>
                      <a:endParaRPr lang="ja-GB" altLang="en-US" sz="1600" dirty="0"/>
                    </a:p>
                  </a:txBody>
                  <a:tcPr/>
                </a:tc>
                <a:tc>
                  <a:txBody>
                    <a:bodyPr/>
                    <a:lstStyle/>
                    <a:p>
                      <a:pPr algn="ctr"/>
                      <a:endParaRPr lang="ja-GB" altLang="en-US" sz="1600" dirty="0"/>
                    </a:p>
                  </a:txBody>
                  <a:tcPr/>
                </a:tc>
                <a:extLst>
                  <a:ext uri="{0D108BD9-81ED-4DB2-BD59-A6C34878D82A}">
                    <a16:rowId xmlns:a16="http://schemas.microsoft.com/office/drawing/2014/main" val="2991419434"/>
                  </a:ext>
                </a:extLst>
              </a:tr>
              <a:tr h="185302">
                <a:tc>
                  <a:txBody>
                    <a:bodyPr/>
                    <a:lstStyle/>
                    <a:p>
                      <a:pPr algn="ctr"/>
                      <a:r>
                        <a:rPr lang="en-US" altLang="ja-GB" sz="1600" dirty="0"/>
                        <a:t>F</a:t>
                      </a:r>
                      <a:endParaRPr lang="ja-GB" altLang="en-US" sz="1600" dirty="0"/>
                    </a:p>
                  </a:txBody>
                  <a:tcPr>
                    <a:solidFill>
                      <a:schemeClr val="accent2">
                        <a:lumMod val="20000"/>
                        <a:lumOff val="80000"/>
                      </a:schemeClr>
                    </a:solidFill>
                  </a:tcPr>
                </a:tc>
                <a:tc>
                  <a:txBody>
                    <a:bodyPr/>
                    <a:lstStyle/>
                    <a:p>
                      <a:pPr algn="ctr"/>
                      <a:r>
                        <a:rPr lang="en-US" altLang="ja-GB" sz="1600" dirty="0"/>
                        <a:t>(4,6)</a:t>
                      </a:r>
                      <a:endParaRPr lang="ja-GB" altLang="en-US" sz="1600" dirty="0"/>
                    </a:p>
                  </a:txBody>
                  <a:tcPr>
                    <a:solidFill>
                      <a:schemeClr val="accent2">
                        <a:lumMod val="20000"/>
                        <a:lumOff val="80000"/>
                      </a:schemeClr>
                    </a:solidFill>
                  </a:tcPr>
                </a:tc>
                <a:tc>
                  <a:txBody>
                    <a:bodyPr/>
                    <a:lstStyle/>
                    <a:p>
                      <a:pPr algn="ctr"/>
                      <a:r>
                        <a:rPr lang="en-US" altLang="ja-GB" sz="1600" dirty="0"/>
                        <a:t>6</a:t>
                      </a:r>
                      <a:endParaRPr lang="ja-GB" altLang="en-US" sz="1600" dirty="0"/>
                    </a:p>
                  </a:txBody>
                  <a:tcPr>
                    <a:solidFill>
                      <a:schemeClr val="accent2">
                        <a:lumMod val="20000"/>
                        <a:lumOff val="80000"/>
                      </a:schemeClr>
                    </a:solidFill>
                  </a:tcPr>
                </a:tc>
                <a:tc>
                  <a:txBody>
                    <a:bodyPr/>
                    <a:lstStyle/>
                    <a:p>
                      <a:pPr algn="ctr"/>
                      <a:r>
                        <a:rPr lang="en-US" altLang="ja-GB" sz="1600" dirty="0"/>
                        <a:t>0</a:t>
                      </a:r>
                      <a:endParaRPr lang="ja-GB" altLang="en-US" sz="1600" dirty="0"/>
                    </a:p>
                  </a:txBody>
                  <a:tcPr>
                    <a:solidFill>
                      <a:schemeClr val="accent2">
                        <a:lumMod val="20000"/>
                        <a:lumOff val="80000"/>
                      </a:schemeClr>
                    </a:solidFill>
                  </a:tcPr>
                </a:tc>
                <a:tc>
                  <a:txBody>
                    <a:bodyPr/>
                    <a:lstStyle/>
                    <a:p>
                      <a:pPr algn="ctr"/>
                      <a:r>
                        <a:rPr lang="en-US" altLang="ja-GB" sz="1600" dirty="0"/>
                        <a:t>*</a:t>
                      </a:r>
                      <a:endParaRPr lang="ja-GB" altLang="en-US" sz="1600" dirty="0"/>
                    </a:p>
                  </a:txBody>
                  <a:tcPr>
                    <a:solidFill>
                      <a:schemeClr val="accent2">
                        <a:lumMod val="20000"/>
                        <a:lumOff val="80000"/>
                      </a:schemeClr>
                    </a:solidFill>
                  </a:tcPr>
                </a:tc>
                <a:extLst>
                  <a:ext uri="{0D108BD9-81ED-4DB2-BD59-A6C34878D82A}">
                    <a16:rowId xmlns:a16="http://schemas.microsoft.com/office/drawing/2014/main" val="3985016094"/>
                  </a:ext>
                </a:extLst>
              </a:tr>
              <a:tr h="185302">
                <a:tc>
                  <a:txBody>
                    <a:bodyPr/>
                    <a:lstStyle/>
                    <a:p>
                      <a:pPr algn="ctr"/>
                      <a:r>
                        <a:rPr lang="en-US" altLang="ja-GB" sz="1600" dirty="0"/>
                        <a:t>G</a:t>
                      </a:r>
                      <a:endParaRPr lang="ja-GB" altLang="en-US" sz="1600" dirty="0"/>
                    </a:p>
                  </a:txBody>
                  <a:tcPr/>
                </a:tc>
                <a:tc>
                  <a:txBody>
                    <a:bodyPr/>
                    <a:lstStyle/>
                    <a:p>
                      <a:pPr algn="ctr"/>
                      <a:r>
                        <a:rPr lang="en-US" altLang="ja-GB" sz="1600" dirty="0"/>
                        <a:t>(4,5)</a:t>
                      </a:r>
                      <a:endParaRPr lang="ja-GB" altLang="en-US" sz="1600" dirty="0"/>
                    </a:p>
                  </a:txBody>
                  <a:tcPr/>
                </a:tc>
                <a:tc>
                  <a:txBody>
                    <a:bodyPr/>
                    <a:lstStyle/>
                    <a:p>
                      <a:pPr algn="ctr"/>
                      <a:r>
                        <a:rPr lang="en-US" altLang="ja-GB" sz="1600" dirty="0"/>
                        <a:t>3</a:t>
                      </a:r>
                      <a:endParaRPr lang="ja-GB" altLang="en-US" sz="1600" dirty="0"/>
                    </a:p>
                  </a:txBody>
                  <a:tcPr/>
                </a:tc>
                <a:tc>
                  <a:txBody>
                    <a:bodyPr/>
                    <a:lstStyle/>
                    <a:p>
                      <a:pPr algn="ctr"/>
                      <a:r>
                        <a:rPr lang="en-US" altLang="ja-GB" sz="1600" dirty="0"/>
                        <a:t>1</a:t>
                      </a:r>
                      <a:endParaRPr lang="ja-GB" altLang="en-US" sz="1600" dirty="0"/>
                    </a:p>
                  </a:txBody>
                  <a:tcPr/>
                </a:tc>
                <a:tc>
                  <a:txBody>
                    <a:bodyPr/>
                    <a:lstStyle/>
                    <a:p>
                      <a:pPr algn="ctr"/>
                      <a:endParaRPr lang="ja-GB" altLang="en-US" sz="1600" dirty="0"/>
                    </a:p>
                  </a:txBody>
                  <a:tcPr/>
                </a:tc>
                <a:extLst>
                  <a:ext uri="{0D108BD9-81ED-4DB2-BD59-A6C34878D82A}">
                    <a16:rowId xmlns:a16="http://schemas.microsoft.com/office/drawing/2014/main" val="852509030"/>
                  </a:ext>
                </a:extLst>
              </a:tr>
              <a:tr h="185302">
                <a:tc>
                  <a:txBody>
                    <a:bodyPr/>
                    <a:lstStyle/>
                    <a:p>
                      <a:pPr algn="ctr"/>
                      <a:r>
                        <a:rPr lang="en-US" altLang="ja-GB" sz="1600" dirty="0"/>
                        <a:t>H</a:t>
                      </a:r>
                      <a:endParaRPr lang="ja-GB" altLang="en-US" sz="1600" dirty="0"/>
                    </a:p>
                  </a:txBody>
                  <a:tcPr/>
                </a:tc>
                <a:tc>
                  <a:txBody>
                    <a:bodyPr/>
                    <a:lstStyle/>
                    <a:p>
                      <a:pPr algn="ctr"/>
                      <a:r>
                        <a:rPr lang="en-US" altLang="ja-GB" sz="1600" dirty="0"/>
                        <a:t>(5,6)</a:t>
                      </a:r>
                      <a:endParaRPr lang="ja-GB" altLang="en-US" sz="1600" dirty="0"/>
                    </a:p>
                  </a:txBody>
                  <a:tcPr/>
                </a:tc>
                <a:tc>
                  <a:txBody>
                    <a:bodyPr/>
                    <a:lstStyle/>
                    <a:p>
                      <a:pPr algn="ctr"/>
                      <a:r>
                        <a:rPr lang="en-US" altLang="ja-GB" sz="1600" dirty="0"/>
                        <a:t>2</a:t>
                      </a:r>
                      <a:endParaRPr lang="ja-GB" altLang="en-US" sz="1600" dirty="0"/>
                    </a:p>
                  </a:txBody>
                  <a:tcPr/>
                </a:tc>
                <a:tc>
                  <a:txBody>
                    <a:bodyPr/>
                    <a:lstStyle/>
                    <a:p>
                      <a:pPr algn="ctr"/>
                      <a:r>
                        <a:rPr lang="en-US" altLang="ja-GB" sz="1600" dirty="0"/>
                        <a:t>1</a:t>
                      </a:r>
                      <a:endParaRPr lang="ja-GB" altLang="en-US" sz="1600" dirty="0"/>
                    </a:p>
                  </a:txBody>
                  <a:tcPr/>
                </a:tc>
                <a:tc>
                  <a:txBody>
                    <a:bodyPr/>
                    <a:lstStyle/>
                    <a:p>
                      <a:pPr algn="ctr"/>
                      <a:endParaRPr lang="ja-GB" altLang="en-US" sz="1600" dirty="0"/>
                    </a:p>
                  </a:txBody>
                  <a:tcPr/>
                </a:tc>
                <a:extLst>
                  <a:ext uri="{0D108BD9-81ED-4DB2-BD59-A6C34878D82A}">
                    <a16:rowId xmlns:a16="http://schemas.microsoft.com/office/drawing/2014/main" val="3285484398"/>
                  </a:ext>
                </a:extLst>
              </a:tr>
            </a:tbl>
          </a:graphicData>
        </a:graphic>
      </p:graphicFrame>
      <p:sp>
        <p:nvSpPr>
          <p:cNvPr id="5" name="円/楕円 4">
            <a:extLst>
              <a:ext uri="{FF2B5EF4-FFF2-40B4-BE49-F238E27FC236}">
                <a16:creationId xmlns:a16="http://schemas.microsoft.com/office/drawing/2014/main" id="{980D84D7-6A27-4689-0FBC-F599C88A69AD}"/>
              </a:ext>
            </a:extLst>
          </p:cNvPr>
          <p:cNvSpPr>
            <a:spLocks noChangeAspect="1"/>
          </p:cNvSpPr>
          <p:nvPr/>
        </p:nvSpPr>
        <p:spPr>
          <a:xfrm>
            <a:off x="1168089" y="5539557"/>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6" name="円/楕円 5">
            <a:extLst>
              <a:ext uri="{FF2B5EF4-FFF2-40B4-BE49-F238E27FC236}">
                <a16:creationId xmlns:a16="http://schemas.microsoft.com/office/drawing/2014/main" id="{8F56975D-4E31-957F-F18D-1B7B7C8E2465}"/>
              </a:ext>
            </a:extLst>
          </p:cNvPr>
          <p:cNvSpPr>
            <a:spLocks noChangeAspect="1"/>
          </p:cNvSpPr>
          <p:nvPr/>
        </p:nvSpPr>
        <p:spPr>
          <a:xfrm>
            <a:off x="2774820" y="4999625"/>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7" name="円/楕円 6">
            <a:extLst>
              <a:ext uri="{FF2B5EF4-FFF2-40B4-BE49-F238E27FC236}">
                <a16:creationId xmlns:a16="http://schemas.microsoft.com/office/drawing/2014/main" id="{BBBC5FC9-9789-61CF-5876-AAA12C3F05FA}"/>
              </a:ext>
            </a:extLst>
          </p:cNvPr>
          <p:cNvSpPr>
            <a:spLocks noChangeAspect="1"/>
          </p:cNvSpPr>
          <p:nvPr/>
        </p:nvSpPr>
        <p:spPr>
          <a:xfrm>
            <a:off x="2774820" y="6064432"/>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8" name="円/楕円 7">
            <a:extLst>
              <a:ext uri="{FF2B5EF4-FFF2-40B4-BE49-F238E27FC236}">
                <a16:creationId xmlns:a16="http://schemas.microsoft.com/office/drawing/2014/main" id="{EC8EF978-D83D-D92C-C5A6-31E54C2A7493}"/>
              </a:ext>
            </a:extLst>
          </p:cNvPr>
          <p:cNvSpPr>
            <a:spLocks noChangeAspect="1"/>
          </p:cNvSpPr>
          <p:nvPr/>
        </p:nvSpPr>
        <p:spPr>
          <a:xfrm>
            <a:off x="4398969" y="5539557"/>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9" name="円/楕円 8">
            <a:extLst>
              <a:ext uri="{FF2B5EF4-FFF2-40B4-BE49-F238E27FC236}">
                <a16:creationId xmlns:a16="http://schemas.microsoft.com/office/drawing/2014/main" id="{04ED6560-1B8F-2331-9437-4C3DB347985A}"/>
              </a:ext>
            </a:extLst>
          </p:cNvPr>
          <p:cNvSpPr>
            <a:spLocks noChangeAspect="1"/>
          </p:cNvSpPr>
          <p:nvPr/>
        </p:nvSpPr>
        <p:spPr>
          <a:xfrm>
            <a:off x="6014409" y="4999625"/>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5</a:t>
            </a:r>
            <a:endParaRPr kumimoji="1" lang="ja-GB" altLang="en-US" dirty="0">
              <a:solidFill>
                <a:srgbClr val="2F2523"/>
              </a:solidFill>
            </a:endParaRPr>
          </a:p>
        </p:txBody>
      </p:sp>
      <p:sp>
        <p:nvSpPr>
          <p:cNvPr id="10" name="円/楕円 9">
            <a:extLst>
              <a:ext uri="{FF2B5EF4-FFF2-40B4-BE49-F238E27FC236}">
                <a16:creationId xmlns:a16="http://schemas.microsoft.com/office/drawing/2014/main" id="{27296734-D7CF-19A7-D4D9-AE5B12A9499D}"/>
              </a:ext>
            </a:extLst>
          </p:cNvPr>
          <p:cNvSpPr>
            <a:spLocks noChangeAspect="1"/>
          </p:cNvSpPr>
          <p:nvPr/>
        </p:nvSpPr>
        <p:spPr>
          <a:xfrm>
            <a:off x="7629849" y="5539557"/>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6</a:t>
            </a:r>
            <a:endParaRPr kumimoji="1" lang="ja-GB" altLang="en-US" dirty="0">
              <a:solidFill>
                <a:srgbClr val="2F2523"/>
              </a:solidFill>
            </a:endParaRPr>
          </a:p>
        </p:txBody>
      </p:sp>
      <p:cxnSp>
        <p:nvCxnSpPr>
          <p:cNvPr id="11" name="直線矢印コネクタ 10">
            <a:extLst>
              <a:ext uri="{FF2B5EF4-FFF2-40B4-BE49-F238E27FC236}">
                <a16:creationId xmlns:a16="http://schemas.microsoft.com/office/drawing/2014/main" id="{0B7FFCCC-3248-12B9-D0F5-15A6D2026701}"/>
              </a:ext>
            </a:extLst>
          </p:cNvPr>
          <p:cNvCxnSpPr>
            <a:cxnSpLocks/>
            <a:stCxn id="5" idx="6"/>
            <a:endCxn id="6" idx="2"/>
          </p:cNvCxnSpPr>
          <p:nvPr/>
        </p:nvCxnSpPr>
        <p:spPr>
          <a:xfrm flipV="1">
            <a:off x="1708021" y="5269591"/>
            <a:ext cx="1066799" cy="539932"/>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0406D2C2-E1E3-B51A-0012-7361E815034A}"/>
              </a:ext>
            </a:extLst>
          </p:cNvPr>
          <p:cNvCxnSpPr>
            <a:cxnSpLocks/>
            <a:stCxn id="5" idx="6"/>
            <a:endCxn id="7" idx="2"/>
          </p:cNvCxnSpPr>
          <p:nvPr/>
        </p:nvCxnSpPr>
        <p:spPr>
          <a:xfrm>
            <a:off x="1708021" y="5809523"/>
            <a:ext cx="1066799" cy="524875"/>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A526CB7A-B9FC-BFBE-599F-24BCC03EAC16}"/>
              </a:ext>
            </a:extLst>
          </p:cNvPr>
          <p:cNvCxnSpPr>
            <a:cxnSpLocks/>
            <a:stCxn id="6" idx="6"/>
            <a:endCxn id="9" idx="2"/>
          </p:cNvCxnSpPr>
          <p:nvPr/>
        </p:nvCxnSpPr>
        <p:spPr>
          <a:xfrm>
            <a:off x="3314752" y="5269591"/>
            <a:ext cx="2699657"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7EF15D3E-F4AA-5709-3027-890D7BC0EB6E}"/>
              </a:ext>
            </a:extLst>
          </p:cNvPr>
          <p:cNvCxnSpPr>
            <a:cxnSpLocks/>
            <a:stCxn id="7" idx="6"/>
            <a:endCxn id="8" idx="2"/>
          </p:cNvCxnSpPr>
          <p:nvPr/>
        </p:nvCxnSpPr>
        <p:spPr>
          <a:xfrm flipV="1">
            <a:off x="3314752" y="5809523"/>
            <a:ext cx="1084217" cy="524875"/>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93CBD63E-ED95-4A17-2885-ABBE97FA8ECB}"/>
              </a:ext>
            </a:extLst>
          </p:cNvPr>
          <p:cNvCxnSpPr>
            <a:cxnSpLocks/>
            <a:stCxn id="6" idx="6"/>
            <a:endCxn id="8" idx="2"/>
          </p:cNvCxnSpPr>
          <p:nvPr/>
        </p:nvCxnSpPr>
        <p:spPr>
          <a:xfrm>
            <a:off x="3314752" y="5269591"/>
            <a:ext cx="1084217" cy="539932"/>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36DA4F70-F8E9-0948-BAFD-C8E28934E63D}"/>
              </a:ext>
            </a:extLst>
          </p:cNvPr>
          <p:cNvCxnSpPr>
            <a:cxnSpLocks/>
            <a:stCxn id="8" idx="6"/>
            <a:endCxn id="9" idx="2"/>
          </p:cNvCxnSpPr>
          <p:nvPr/>
        </p:nvCxnSpPr>
        <p:spPr>
          <a:xfrm flipV="1">
            <a:off x="4938901" y="5269591"/>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C3BC9085-8AFF-29DA-67C6-ACA63F1C442E}"/>
              </a:ext>
            </a:extLst>
          </p:cNvPr>
          <p:cNvCxnSpPr>
            <a:cxnSpLocks/>
            <a:endCxn id="10" idx="2"/>
          </p:cNvCxnSpPr>
          <p:nvPr/>
        </p:nvCxnSpPr>
        <p:spPr>
          <a:xfrm>
            <a:off x="4938901" y="5809523"/>
            <a:ext cx="269094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E81AF623-AA5E-6C38-837B-748069F3E588}"/>
              </a:ext>
            </a:extLst>
          </p:cNvPr>
          <p:cNvCxnSpPr>
            <a:cxnSpLocks/>
            <a:stCxn id="9" idx="6"/>
            <a:endCxn id="10" idx="2"/>
          </p:cNvCxnSpPr>
          <p:nvPr/>
        </p:nvCxnSpPr>
        <p:spPr>
          <a:xfrm>
            <a:off x="6554341" y="5269591"/>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0D4F020B-6C34-43B4-26AA-109615765493}"/>
              </a:ext>
            </a:extLst>
          </p:cNvPr>
          <p:cNvSpPr txBox="1"/>
          <p:nvPr/>
        </p:nvSpPr>
        <p:spPr>
          <a:xfrm>
            <a:off x="2237634" y="5521479"/>
            <a:ext cx="274434" cy="276999"/>
          </a:xfrm>
          <a:prstGeom prst="rect">
            <a:avLst/>
          </a:prstGeom>
          <a:noFill/>
          <a:ln w="38100">
            <a:noFill/>
          </a:ln>
        </p:spPr>
        <p:txBody>
          <a:bodyPr wrap="none" rtlCol="0" anchor="ctr">
            <a:spAutoFit/>
          </a:bodyPr>
          <a:lstStyle/>
          <a:p>
            <a:pPr algn="ctr"/>
            <a:r>
              <a:rPr kumimoji="1" lang="en-US" altLang="ja-GB" sz="1200" dirty="0">
                <a:solidFill>
                  <a:schemeClr val="accent2"/>
                </a:solidFill>
              </a:rPr>
              <a:t>A</a:t>
            </a:r>
          </a:p>
        </p:txBody>
      </p:sp>
      <p:sp>
        <p:nvSpPr>
          <p:cNvPr id="20" name="テキスト ボックス 19">
            <a:extLst>
              <a:ext uri="{FF2B5EF4-FFF2-40B4-BE49-F238E27FC236}">
                <a16:creationId xmlns:a16="http://schemas.microsoft.com/office/drawing/2014/main" id="{10A4F5AE-197B-9BB9-0BF1-9976E5AFCC0D}"/>
              </a:ext>
            </a:extLst>
          </p:cNvPr>
          <p:cNvSpPr txBox="1"/>
          <p:nvPr/>
        </p:nvSpPr>
        <p:spPr>
          <a:xfrm>
            <a:off x="2241525" y="6187669"/>
            <a:ext cx="268022" cy="276999"/>
          </a:xfrm>
          <a:prstGeom prst="rect">
            <a:avLst/>
          </a:prstGeom>
          <a:noFill/>
          <a:ln w="38100">
            <a:noFill/>
          </a:ln>
        </p:spPr>
        <p:txBody>
          <a:bodyPr wrap="none" rtlCol="0" anchor="ctr">
            <a:spAutoFit/>
          </a:bodyPr>
          <a:lstStyle/>
          <a:p>
            <a:pPr algn="ctr"/>
            <a:r>
              <a:rPr kumimoji="1" lang="en-US" altLang="ja-GB" sz="1200" dirty="0">
                <a:solidFill>
                  <a:schemeClr val="accent2"/>
                </a:solidFill>
              </a:rPr>
              <a:t>B</a:t>
            </a:r>
          </a:p>
        </p:txBody>
      </p:sp>
      <p:sp>
        <p:nvSpPr>
          <p:cNvPr id="21" name="テキスト ボックス 20">
            <a:extLst>
              <a:ext uri="{FF2B5EF4-FFF2-40B4-BE49-F238E27FC236}">
                <a16:creationId xmlns:a16="http://schemas.microsoft.com/office/drawing/2014/main" id="{BB903CDD-FB47-46FB-AD3C-014DF16E5AD9}"/>
              </a:ext>
            </a:extLst>
          </p:cNvPr>
          <p:cNvSpPr txBox="1"/>
          <p:nvPr/>
        </p:nvSpPr>
        <p:spPr>
          <a:xfrm>
            <a:off x="3742928" y="6187669"/>
            <a:ext cx="279243" cy="276999"/>
          </a:xfrm>
          <a:prstGeom prst="rect">
            <a:avLst/>
          </a:prstGeom>
          <a:noFill/>
          <a:ln w="38100">
            <a:noFill/>
          </a:ln>
        </p:spPr>
        <p:txBody>
          <a:bodyPr wrap="none" rtlCol="0" anchor="ctr">
            <a:spAutoFit/>
          </a:bodyPr>
          <a:lstStyle/>
          <a:p>
            <a:pPr algn="ctr"/>
            <a:r>
              <a:rPr kumimoji="1" lang="en-US" altLang="ja-GB" sz="1200" dirty="0">
                <a:solidFill>
                  <a:schemeClr val="accent2"/>
                </a:solidFill>
              </a:rPr>
              <a:t>D</a:t>
            </a:r>
          </a:p>
        </p:txBody>
      </p:sp>
      <p:sp>
        <p:nvSpPr>
          <p:cNvPr id="22" name="テキスト ボックス 21">
            <a:extLst>
              <a:ext uri="{FF2B5EF4-FFF2-40B4-BE49-F238E27FC236}">
                <a16:creationId xmlns:a16="http://schemas.microsoft.com/office/drawing/2014/main" id="{CB4E25ED-A06E-04DA-2DAF-DB06CB17C840}"/>
              </a:ext>
            </a:extLst>
          </p:cNvPr>
          <p:cNvSpPr txBox="1"/>
          <p:nvPr/>
        </p:nvSpPr>
        <p:spPr>
          <a:xfrm>
            <a:off x="3560806" y="5510585"/>
            <a:ext cx="266419" cy="276999"/>
          </a:xfrm>
          <a:prstGeom prst="rect">
            <a:avLst/>
          </a:prstGeom>
          <a:noFill/>
          <a:ln w="38100">
            <a:noFill/>
          </a:ln>
        </p:spPr>
        <p:txBody>
          <a:bodyPr wrap="none" rtlCol="0" anchor="ctr">
            <a:spAutoFit/>
          </a:bodyPr>
          <a:lstStyle/>
          <a:p>
            <a:pPr algn="ctr"/>
            <a:r>
              <a:rPr kumimoji="1" lang="en-US" altLang="ja-GB" sz="1200" dirty="0">
                <a:solidFill>
                  <a:schemeClr val="accent2"/>
                </a:solidFill>
              </a:rPr>
              <a:t>C</a:t>
            </a:r>
          </a:p>
        </p:txBody>
      </p:sp>
      <p:sp>
        <p:nvSpPr>
          <p:cNvPr id="23" name="テキスト ボックス 22">
            <a:extLst>
              <a:ext uri="{FF2B5EF4-FFF2-40B4-BE49-F238E27FC236}">
                <a16:creationId xmlns:a16="http://schemas.microsoft.com/office/drawing/2014/main" id="{F5E032EA-710A-B847-CB5D-FB73171B2A04}"/>
              </a:ext>
            </a:extLst>
          </p:cNvPr>
          <p:cNvSpPr txBox="1"/>
          <p:nvPr/>
        </p:nvSpPr>
        <p:spPr>
          <a:xfrm>
            <a:off x="4584242" y="4960687"/>
            <a:ext cx="260007" cy="276999"/>
          </a:xfrm>
          <a:prstGeom prst="rect">
            <a:avLst/>
          </a:prstGeom>
          <a:noFill/>
          <a:ln w="38100">
            <a:noFill/>
          </a:ln>
        </p:spPr>
        <p:txBody>
          <a:bodyPr wrap="none" rtlCol="0" anchor="ctr">
            <a:spAutoFit/>
          </a:bodyPr>
          <a:lstStyle/>
          <a:p>
            <a:pPr algn="ctr"/>
            <a:r>
              <a:rPr kumimoji="1" lang="en-US" altLang="ja-GB" sz="1200" dirty="0">
                <a:solidFill>
                  <a:srgbClr val="2F2523"/>
                </a:solidFill>
              </a:rPr>
              <a:t>E</a:t>
            </a:r>
          </a:p>
        </p:txBody>
      </p:sp>
      <p:sp>
        <p:nvSpPr>
          <p:cNvPr id="24" name="テキスト ボックス 23">
            <a:extLst>
              <a:ext uri="{FF2B5EF4-FFF2-40B4-BE49-F238E27FC236}">
                <a16:creationId xmlns:a16="http://schemas.microsoft.com/office/drawing/2014/main" id="{4D5ECF2A-E8B8-27FD-F161-5C5C32DBC0D1}"/>
              </a:ext>
            </a:extLst>
          </p:cNvPr>
          <p:cNvSpPr txBox="1"/>
          <p:nvPr/>
        </p:nvSpPr>
        <p:spPr>
          <a:xfrm>
            <a:off x="5538299" y="5480894"/>
            <a:ext cx="282449" cy="276999"/>
          </a:xfrm>
          <a:prstGeom prst="rect">
            <a:avLst/>
          </a:prstGeom>
          <a:noFill/>
          <a:ln w="38100">
            <a:noFill/>
          </a:ln>
        </p:spPr>
        <p:txBody>
          <a:bodyPr wrap="none" rtlCol="0" anchor="ctr">
            <a:spAutoFit/>
          </a:bodyPr>
          <a:lstStyle/>
          <a:p>
            <a:pPr algn="ctr"/>
            <a:r>
              <a:rPr kumimoji="1" lang="en-US" altLang="ja-GB" sz="1200" dirty="0">
                <a:solidFill>
                  <a:srgbClr val="2F2523"/>
                </a:solidFill>
              </a:rPr>
              <a:t>G</a:t>
            </a:r>
          </a:p>
        </p:txBody>
      </p:sp>
      <p:sp>
        <p:nvSpPr>
          <p:cNvPr id="25" name="テキスト ボックス 24">
            <a:extLst>
              <a:ext uri="{FF2B5EF4-FFF2-40B4-BE49-F238E27FC236}">
                <a16:creationId xmlns:a16="http://schemas.microsoft.com/office/drawing/2014/main" id="{5741AA2D-28F2-C447-C798-8C25D107AA20}"/>
              </a:ext>
            </a:extLst>
          </p:cNvPr>
          <p:cNvSpPr txBox="1"/>
          <p:nvPr/>
        </p:nvSpPr>
        <p:spPr>
          <a:xfrm>
            <a:off x="6156775" y="5844245"/>
            <a:ext cx="255198" cy="276999"/>
          </a:xfrm>
          <a:prstGeom prst="rect">
            <a:avLst/>
          </a:prstGeom>
          <a:noFill/>
          <a:ln w="38100">
            <a:noFill/>
          </a:ln>
        </p:spPr>
        <p:txBody>
          <a:bodyPr wrap="none" rtlCol="0" anchor="ctr">
            <a:spAutoFit/>
          </a:bodyPr>
          <a:lstStyle/>
          <a:p>
            <a:pPr algn="ctr"/>
            <a:r>
              <a:rPr kumimoji="1" lang="en-US" altLang="ja-GB" sz="1200" dirty="0">
                <a:solidFill>
                  <a:schemeClr val="accent2"/>
                </a:solidFill>
              </a:rPr>
              <a:t>F</a:t>
            </a:r>
          </a:p>
        </p:txBody>
      </p:sp>
      <p:sp>
        <p:nvSpPr>
          <p:cNvPr id="26" name="テキスト ボックス 25">
            <a:extLst>
              <a:ext uri="{FF2B5EF4-FFF2-40B4-BE49-F238E27FC236}">
                <a16:creationId xmlns:a16="http://schemas.microsoft.com/office/drawing/2014/main" id="{BB89F600-7A6B-C426-CF2E-20A74B516204}"/>
              </a:ext>
            </a:extLst>
          </p:cNvPr>
          <p:cNvSpPr txBox="1"/>
          <p:nvPr/>
        </p:nvSpPr>
        <p:spPr>
          <a:xfrm>
            <a:off x="7092321" y="5239847"/>
            <a:ext cx="280846" cy="276999"/>
          </a:xfrm>
          <a:prstGeom prst="rect">
            <a:avLst/>
          </a:prstGeom>
          <a:noFill/>
          <a:ln w="38100">
            <a:noFill/>
          </a:ln>
        </p:spPr>
        <p:txBody>
          <a:bodyPr wrap="none" rtlCol="0" anchor="ctr">
            <a:spAutoFit/>
          </a:bodyPr>
          <a:lstStyle/>
          <a:p>
            <a:pPr algn="ctr"/>
            <a:r>
              <a:rPr kumimoji="1" lang="en-US" altLang="ja-GB" sz="1200" dirty="0">
                <a:solidFill>
                  <a:srgbClr val="2F2523"/>
                </a:solidFill>
              </a:rPr>
              <a:t>H</a:t>
            </a:r>
          </a:p>
        </p:txBody>
      </p:sp>
      <p:sp>
        <p:nvSpPr>
          <p:cNvPr id="27" name="テキスト ボックス 26">
            <a:extLst>
              <a:ext uri="{FF2B5EF4-FFF2-40B4-BE49-F238E27FC236}">
                <a16:creationId xmlns:a16="http://schemas.microsoft.com/office/drawing/2014/main" id="{0CF9B917-74D1-F6BC-56C1-FF2C6116CA42}"/>
              </a:ext>
            </a:extLst>
          </p:cNvPr>
          <p:cNvSpPr txBox="1"/>
          <p:nvPr/>
        </p:nvSpPr>
        <p:spPr>
          <a:xfrm>
            <a:off x="789611" y="5809523"/>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0</a:t>
            </a:r>
          </a:p>
        </p:txBody>
      </p:sp>
      <p:sp>
        <p:nvSpPr>
          <p:cNvPr id="28" name="テキスト ボックス 27">
            <a:extLst>
              <a:ext uri="{FF2B5EF4-FFF2-40B4-BE49-F238E27FC236}">
                <a16:creationId xmlns:a16="http://schemas.microsoft.com/office/drawing/2014/main" id="{FD70A8F5-D3F4-1F4D-5383-58F3CA91D09B}"/>
              </a:ext>
            </a:extLst>
          </p:cNvPr>
          <p:cNvSpPr txBox="1"/>
          <p:nvPr/>
        </p:nvSpPr>
        <p:spPr>
          <a:xfrm>
            <a:off x="3310221" y="6378299"/>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2</a:t>
            </a:r>
          </a:p>
        </p:txBody>
      </p:sp>
      <p:sp>
        <p:nvSpPr>
          <p:cNvPr id="29" name="テキスト ボックス 28">
            <a:extLst>
              <a:ext uri="{FF2B5EF4-FFF2-40B4-BE49-F238E27FC236}">
                <a16:creationId xmlns:a16="http://schemas.microsoft.com/office/drawing/2014/main" id="{FAA6A45D-297A-6FD5-F2D0-08C75E335CBB}"/>
              </a:ext>
            </a:extLst>
          </p:cNvPr>
          <p:cNvSpPr txBox="1"/>
          <p:nvPr/>
        </p:nvSpPr>
        <p:spPr>
          <a:xfrm>
            <a:off x="2410227" y="5002957"/>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3</a:t>
            </a:r>
          </a:p>
        </p:txBody>
      </p:sp>
      <p:sp>
        <p:nvSpPr>
          <p:cNvPr id="30" name="テキスト ボックス 29">
            <a:extLst>
              <a:ext uri="{FF2B5EF4-FFF2-40B4-BE49-F238E27FC236}">
                <a16:creationId xmlns:a16="http://schemas.microsoft.com/office/drawing/2014/main" id="{83C2DDED-7EC6-AB39-1CF9-0F7238D96100}"/>
              </a:ext>
            </a:extLst>
          </p:cNvPr>
          <p:cNvSpPr txBox="1"/>
          <p:nvPr/>
        </p:nvSpPr>
        <p:spPr>
          <a:xfrm>
            <a:off x="4537674" y="6135050"/>
            <a:ext cx="263213"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7</a:t>
            </a:r>
          </a:p>
        </p:txBody>
      </p:sp>
      <p:sp>
        <p:nvSpPr>
          <p:cNvPr id="31" name="テキスト ボックス 30">
            <a:extLst>
              <a:ext uri="{FF2B5EF4-FFF2-40B4-BE49-F238E27FC236}">
                <a16:creationId xmlns:a16="http://schemas.microsoft.com/office/drawing/2014/main" id="{FF5DA018-3AF5-16C7-1E57-712C2EDB2E8F}"/>
              </a:ext>
            </a:extLst>
          </p:cNvPr>
          <p:cNvSpPr txBox="1"/>
          <p:nvPr/>
        </p:nvSpPr>
        <p:spPr>
          <a:xfrm>
            <a:off x="6650739" y="5002957"/>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11</a:t>
            </a:r>
          </a:p>
        </p:txBody>
      </p:sp>
      <p:sp>
        <p:nvSpPr>
          <p:cNvPr id="32" name="テキスト ボックス 31">
            <a:extLst>
              <a:ext uri="{FF2B5EF4-FFF2-40B4-BE49-F238E27FC236}">
                <a16:creationId xmlns:a16="http://schemas.microsoft.com/office/drawing/2014/main" id="{F9C985BF-50C2-F8DD-A2F9-6FEE2345BA17}"/>
              </a:ext>
            </a:extLst>
          </p:cNvPr>
          <p:cNvSpPr txBox="1"/>
          <p:nvPr/>
        </p:nvSpPr>
        <p:spPr>
          <a:xfrm>
            <a:off x="8327952" y="5797798"/>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13</a:t>
            </a:r>
          </a:p>
        </p:txBody>
      </p:sp>
      <p:sp>
        <p:nvSpPr>
          <p:cNvPr id="33" name="テキスト ボックス 32">
            <a:extLst>
              <a:ext uri="{FF2B5EF4-FFF2-40B4-BE49-F238E27FC236}">
                <a16:creationId xmlns:a16="http://schemas.microsoft.com/office/drawing/2014/main" id="{E7F91341-FF40-8584-5376-8743718E8BD7}"/>
              </a:ext>
            </a:extLst>
          </p:cNvPr>
          <p:cNvSpPr txBox="1"/>
          <p:nvPr/>
        </p:nvSpPr>
        <p:spPr>
          <a:xfrm>
            <a:off x="791403" y="5551282"/>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0</a:t>
            </a:r>
          </a:p>
        </p:txBody>
      </p:sp>
      <p:sp>
        <p:nvSpPr>
          <p:cNvPr id="34" name="テキスト ボックス 33">
            <a:extLst>
              <a:ext uri="{FF2B5EF4-FFF2-40B4-BE49-F238E27FC236}">
                <a16:creationId xmlns:a16="http://schemas.microsoft.com/office/drawing/2014/main" id="{5634B6E5-A3EE-0968-4AEF-60072407A791}"/>
              </a:ext>
            </a:extLst>
          </p:cNvPr>
          <p:cNvSpPr txBox="1"/>
          <p:nvPr/>
        </p:nvSpPr>
        <p:spPr>
          <a:xfrm>
            <a:off x="2412019" y="4744716"/>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3</a:t>
            </a:r>
          </a:p>
        </p:txBody>
      </p:sp>
      <p:sp>
        <p:nvSpPr>
          <p:cNvPr id="35" name="テキスト ボックス 34">
            <a:extLst>
              <a:ext uri="{FF2B5EF4-FFF2-40B4-BE49-F238E27FC236}">
                <a16:creationId xmlns:a16="http://schemas.microsoft.com/office/drawing/2014/main" id="{DAA282B3-6FB0-ED17-3F70-79B92BC2160E}"/>
              </a:ext>
            </a:extLst>
          </p:cNvPr>
          <p:cNvSpPr txBox="1"/>
          <p:nvPr/>
        </p:nvSpPr>
        <p:spPr>
          <a:xfrm>
            <a:off x="6652531" y="4744716"/>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10</a:t>
            </a:r>
          </a:p>
        </p:txBody>
      </p:sp>
      <p:sp>
        <p:nvSpPr>
          <p:cNvPr id="36" name="テキスト ボックス 35">
            <a:extLst>
              <a:ext uri="{FF2B5EF4-FFF2-40B4-BE49-F238E27FC236}">
                <a16:creationId xmlns:a16="http://schemas.microsoft.com/office/drawing/2014/main" id="{2F254B08-B37E-F710-F2C0-35CEB0597A1D}"/>
              </a:ext>
            </a:extLst>
          </p:cNvPr>
          <p:cNvSpPr txBox="1"/>
          <p:nvPr/>
        </p:nvSpPr>
        <p:spPr>
          <a:xfrm>
            <a:off x="8329744" y="5539557"/>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13</a:t>
            </a:r>
          </a:p>
        </p:txBody>
      </p:sp>
      <p:sp>
        <p:nvSpPr>
          <p:cNvPr id="37" name="テキスト ボックス 36">
            <a:extLst>
              <a:ext uri="{FF2B5EF4-FFF2-40B4-BE49-F238E27FC236}">
                <a16:creationId xmlns:a16="http://schemas.microsoft.com/office/drawing/2014/main" id="{C4464FF0-BEF6-FD5E-EB8D-9B86BDA702E3}"/>
              </a:ext>
            </a:extLst>
          </p:cNvPr>
          <p:cNvSpPr txBox="1"/>
          <p:nvPr/>
        </p:nvSpPr>
        <p:spPr>
          <a:xfrm>
            <a:off x="3303066" y="6646707"/>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2</a:t>
            </a:r>
          </a:p>
        </p:txBody>
      </p:sp>
      <p:sp>
        <p:nvSpPr>
          <p:cNvPr id="38" name="テキスト ボックス 37">
            <a:extLst>
              <a:ext uri="{FF2B5EF4-FFF2-40B4-BE49-F238E27FC236}">
                <a16:creationId xmlns:a16="http://schemas.microsoft.com/office/drawing/2014/main" id="{5868AE35-BAA2-28C3-46CC-E3D2E9D5D34C}"/>
              </a:ext>
            </a:extLst>
          </p:cNvPr>
          <p:cNvSpPr txBox="1"/>
          <p:nvPr/>
        </p:nvSpPr>
        <p:spPr>
          <a:xfrm>
            <a:off x="4530519" y="6403458"/>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7</a:t>
            </a:r>
          </a:p>
        </p:txBody>
      </p:sp>
      <p:sp>
        <p:nvSpPr>
          <p:cNvPr id="39" name="テキスト ボックス 38">
            <a:extLst>
              <a:ext uri="{FF2B5EF4-FFF2-40B4-BE49-F238E27FC236}">
                <a16:creationId xmlns:a16="http://schemas.microsoft.com/office/drawing/2014/main" id="{3C51EEB4-0577-5BA3-0DA0-7A61A9A0F80E}"/>
              </a:ext>
            </a:extLst>
          </p:cNvPr>
          <p:cNvSpPr txBox="1"/>
          <p:nvPr/>
        </p:nvSpPr>
        <p:spPr>
          <a:xfrm>
            <a:off x="6250304" y="2020278"/>
            <a:ext cx="2759089" cy="338554"/>
          </a:xfrm>
          <a:prstGeom prst="rect">
            <a:avLst/>
          </a:prstGeom>
          <a:noFill/>
        </p:spPr>
        <p:txBody>
          <a:bodyPr wrap="none" rtlCol="0">
            <a:spAutoFit/>
          </a:bodyPr>
          <a:lstStyle/>
          <a:p>
            <a:r>
              <a:rPr kumimoji="1" lang="en-US" altLang="ja-GB" sz="1600" dirty="0"/>
              <a:t>CP</a:t>
            </a:r>
            <a:r>
              <a:rPr kumimoji="1" lang="ja-GB" altLang="en-US" sz="1600" dirty="0"/>
              <a:t>に該当する作業は</a:t>
            </a:r>
            <a:r>
              <a:rPr kumimoji="1" lang="en-US" altLang="ja-GB" sz="1600" dirty="0"/>
              <a:t>*</a:t>
            </a:r>
            <a:r>
              <a:rPr kumimoji="1" lang="ja-GB" altLang="en-US" sz="1600" dirty="0"/>
              <a:t>を記入</a:t>
            </a:r>
          </a:p>
        </p:txBody>
      </p:sp>
    </p:spTree>
    <p:extLst>
      <p:ext uri="{BB962C8B-B14F-4D97-AF65-F5344CB8AC3E}">
        <p14:creationId xmlns:p14="http://schemas.microsoft.com/office/powerpoint/2010/main" val="1908246033"/>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B9089-4C46-BD23-F818-BFEF05390DA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C112BEF-F923-4A67-0501-1FAE832C4204}"/>
              </a:ext>
            </a:extLst>
          </p:cNvPr>
          <p:cNvSpPr>
            <a:spLocks noGrp="1"/>
          </p:cNvSpPr>
          <p:nvPr>
            <p:ph type="title"/>
          </p:nvPr>
        </p:nvSpPr>
        <p:spPr/>
        <p:txBody>
          <a:bodyPr>
            <a:normAutofit/>
          </a:bodyPr>
          <a:lstStyle/>
          <a:p>
            <a:r>
              <a:rPr lang="ja-GB" altLang="en-US" dirty="0"/>
              <a:t>全</a:t>
            </a:r>
            <a:r>
              <a:rPr kumimoji="1" lang="ja-GB" altLang="en-US" dirty="0"/>
              <a:t>余裕時間（</a:t>
            </a:r>
            <a:r>
              <a:rPr lang="en-US" altLang="ja-GB" dirty="0"/>
              <a:t>TF</a:t>
            </a:r>
            <a:r>
              <a:rPr lang="ja-GB" altLang="en-US" dirty="0"/>
              <a:t>：</a:t>
            </a:r>
            <a:r>
              <a:rPr lang="en-US" altLang="ja-GB" dirty="0"/>
              <a:t>Total Float</a:t>
            </a:r>
            <a:r>
              <a:rPr kumimoji="1" lang="ja-GB" altLang="en-US" dirty="0"/>
              <a:t>）の別の計算方法</a:t>
            </a:r>
          </a:p>
        </p:txBody>
      </p:sp>
      <p:sp>
        <p:nvSpPr>
          <p:cNvPr id="3" name="コンテンツ プレースホルダー 2">
            <a:extLst>
              <a:ext uri="{FF2B5EF4-FFF2-40B4-BE49-F238E27FC236}">
                <a16:creationId xmlns:a16="http://schemas.microsoft.com/office/drawing/2014/main" id="{D45BDB23-CB81-20BB-B7E2-BAAB3BB16C4E}"/>
              </a:ext>
            </a:extLst>
          </p:cNvPr>
          <p:cNvSpPr>
            <a:spLocks noGrp="1"/>
          </p:cNvSpPr>
          <p:nvPr>
            <p:ph idx="1"/>
          </p:nvPr>
        </p:nvSpPr>
        <p:spPr/>
        <p:txBody>
          <a:bodyPr/>
          <a:lstStyle/>
          <a:p>
            <a:pPr marL="0" indent="0">
              <a:buNone/>
            </a:pPr>
            <a:r>
              <a:rPr kumimoji="1" lang="ja-GB" altLang="en-US" dirty="0"/>
              <a:t>余裕時間の最大限界</a:t>
            </a:r>
            <a:br>
              <a:rPr kumimoji="1" lang="en-US" altLang="ja-GB" dirty="0"/>
            </a:br>
            <a:r>
              <a:rPr kumimoji="1" lang="en-US" altLang="ja-GB" sz="2000" dirty="0"/>
              <a:t>=</a:t>
            </a:r>
            <a:r>
              <a:rPr kumimoji="1" lang="ja-GB" altLang="en-US" sz="2000" dirty="0"/>
              <a:t>プロジェクト全体の遅延を起こさないために，ある作業に許される遅れの最大値</a:t>
            </a:r>
            <a:endParaRPr kumimoji="1" lang="en-US" altLang="ja-GB" dirty="0"/>
          </a:p>
          <a:p>
            <a:pPr lvl="1"/>
            <a:endParaRPr kumimoji="1" lang="ja-GB" altLang="en-US" dirty="0"/>
          </a:p>
        </p:txBody>
      </p:sp>
      <mc:AlternateContent xmlns:mc="http://schemas.openxmlformats.org/markup-compatibility/2006" xmlns:a14="http://schemas.microsoft.com/office/drawing/2010/main">
        <mc:Choice Requires="a14">
          <p:sp>
            <p:nvSpPr>
              <p:cNvPr id="46" name="テキスト ボックス 45">
                <a:extLst>
                  <a:ext uri="{FF2B5EF4-FFF2-40B4-BE49-F238E27FC236}">
                    <a16:creationId xmlns:a16="http://schemas.microsoft.com/office/drawing/2014/main" id="{1BB73127-40AE-7B58-9E97-5D4D54A4D25E}"/>
                  </a:ext>
                </a:extLst>
              </p:cNvPr>
              <p:cNvSpPr txBox="1"/>
              <p:nvPr/>
            </p:nvSpPr>
            <p:spPr>
              <a:xfrm>
                <a:off x="3360353" y="5578439"/>
                <a:ext cx="2423292" cy="42479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GB" sz="2000" i="1" dirty="0" smtClean="0">
                          <a:latin typeface="Cambria Math" panose="02040503050406030204" pitchFamily="18" charset="0"/>
                        </a:rPr>
                        <m:t>𝑇</m:t>
                      </m:r>
                      <m:sSub>
                        <m:sSubPr>
                          <m:ctrlPr>
                            <a:rPr kumimoji="1" lang="en-US" altLang="ja-GB" sz="2000" b="0" i="1" dirty="0" smtClean="0">
                              <a:latin typeface="Cambria Math" panose="02040503050406030204" pitchFamily="18" charset="0"/>
                            </a:rPr>
                          </m:ctrlPr>
                        </m:sSubPr>
                        <m:e>
                          <m:r>
                            <a:rPr kumimoji="1" lang="en-US" altLang="ja-GB" sz="2000" i="1" dirty="0" smtClean="0">
                              <a:latin typeface="Cambria Math" panose="02040503050406030204" pitchFamily="18" charset="0"/>
                            </a:rPr>
                            <m:t>𝐹</m:t>
                          </m:r>
                        </m:e>
                        <m:sub>
                          <m:r>
                            <a:rPr kumimoji="1" lang="en-US" altLang="ja-GB" sz="2000" b="0" i="1" dirty="0" smtClean="0">
                              <a:latin typeface="Cambria Math" panose="02040503050406030204" pitchFamily="18" charset="0"/>
                            </a:rPr>
                            <m:t>𝑖</m:t>
                          </m:r>
                          <m:r>
                            <a:rPr kumimoji="1" lang="en-US" altLang="ja-GB" sz="2000" b="0" i="1" dirty="0" smtClean="0">
                              <a:latin typeface="Cambria Math" panose="02040503050406030204" pitchFamily="18" charset="0"/>
                            </a:rPr>
                            <m:t>,</m:t>
                          </m:r>
                          <m:r>
                            <a:rPr kumimoji="1" lang="en-US" altLang="ja-GB" sz="2000" b="0" i="1" dirty="0" smtClean="0">
                              <a:latin typeface="Cambria Math" panose="02040503050406030204" pitchFamily="18" charset="0"/>
                            </a:rPr>
                            <m:t>𝑗</m:t>
                          </m:r>
                        </m:sub>
                      </m:sSub>
                      <m:r>
                        <a:rPr kumimoji="1" lang="en-US" altLang="ja-GB" sz="2000" i="1" dirty="0" smtClean="0">
                          <a:latin typeface="Cambria Math" panose="02040503050406030204" pitchFamily="18" charset="0"/>
                        </a:rPr>
                        <m:t> =</m:t>
                      </m:r>
                      <m:r>
                        <a:rPr kumimoji="1" lang="en-US" altLang="ja-GB" sz="2000" b="0" i="1" dirty="0" smtClean="0">
                          <a:latin typeface="Cambria Math" panose="02040503050406030204" pitchFamily="18" charset="0"/>
                        </a:rPr>
                        <m:t>𝐿</m:t>
                      </m:r>
                      <m:sSub>
                        <m:sSubPr>
                          <m:ctrlPr>
                            <a:rPr kumimoji="1" lang="en-US" altLang="ja-GB" sz="2000" b="0" i="1" dirty="0" smtClean="0">
                              <a:latin typeface="Cambria Math" panose="02040503050406030204" pitchFamily="18" charset="0"/>
                            </a:rPr>
                          </m:ctrlPr>
                        </m:sSubPr>
                        <m:e>
                          <m:r>
                            <a:rPr kumimoji="1" lang="en-US" altLang="ja-GB" sz="2000" b="0" i="1" dirty="0" smtClean="0">
                              <a:latin typeface="Cambria Math" panose="02040503050406030204" pitchFamily="18" charset="0"/>
                            </a:rPr>
                            <m:t>𝐹</m:t>
                          </m:r>
                        </m:e>
                        <m:sub>
                          <m:r>
                            <a:rPr kumimoji="1" lang="en-US" altLang="ja-GB" sz="2000" b="0" i="1" dirty="0" smtClean="0">
                              <a:latin typeface="Cambria Math" panose="02040503050406030204" pitchFamily="18" charset="0"/>
                            </a:rPr>
                            <m:t>𝑖</m:t>
                          </m:r>
                          <m:r>
                            <a:rPr kumimoji="1" lang="en-US" altLang="ja-GB" sz="2000" b="0" i="1" dirty="0" smtClean="0">
                              <a:latin typeface="Cambria Math" panose="02040503050406030204" pitchFamily="18" charset="0"/>
                            </a:rPr>
                            <m:t>,</m:t>
                          </m:r>
                          <m:r>
                            <a:rPr kumimoji="1" lang="en-US" altLang="ja-GB" sz="2000" b="0" i="1" dirty="0" smtClean="0">
                              <a:latin typeface="Cambria Math" panose="02040503050406030204" pitchFamily="18" charset="0"/>
                            </a:rPr>
                            <m:t>𝑗</m:t>
                          </m:r>
                        </m:sub>
                      </m:sSub>
                      <m:r>
                        <a:rPr kumimoji="1" lang="en-US" altLang="ja-GB" sz="2000" i="1" dirty="0" smtClean="0">
                          <a:latin typeface="Cambria Math" panose="02040503050406030204" pitchFamily="18" charset="0"/>
                        </a:rPr>
                        <m:t>−</m:t>
                      </m:r>
                      <m:r>
                        <a:rPr kumimoji="1" lang="en-US" altLang="ja-GB" sz="2000" b="0" i="1" dirty="0" smtClean="0">
                          <a:latin typeface="Cambria Math" panose="02040503050406030204" pitchFamily="18" charset="0"/>
                        </a:rPr>
                        <m:t>𝐸</m:t>
                      </m:r>
                      <m:sSub>
                        <m:sSubPr>
                          <m:ctrlPr>
                            <a:rPr kumimoji="1" lang="en-US" altLang="ja-GB" sz="2000" b="0" i="1" dirty="0" smtClean="0">
                              <a:latin typeface="Cambria Math" panose="02040503050406030204" pitchFamily="18" charset="0"/>
                            </a:rPr>
                          </m:ctrlPr>
                        </m:sSubPr>
                        <m:e>
                          <m:r>
                            <a:rPr kumimoji="1" lang="en-US" altLang="ja-GB" sz="2000" b="0" i="1" dirty="0" smtClean="0">
                              <a:latin typeface="Cambria Math" panose="02040503050406030204" pitchFamily="18" charset="0"/>
                            </a:rPr>
                            <m:t>𝐹</m:t>
                          </m:r>
                        </m:e>
                        <m:sub>
                          <m:r>
                            <a:rPr kumimoji="1" lang="en-US" altLang="ja-GB" sz="2000" b="0" i="1" dirty="0" smtClean="0">
                              <a:latin typeface="Cambria Math" panose="02040503050406030204" pitchFamily="18" charset="0"/>
                            </a:rPr>
                            <m:t>𝑖</m:t>
                          </m:r>
                          <m:r>
                            <a:rPr kumimoji="1" lang="en-US" altLang="ja-GB" sz="2000" b="0" i="1" dirty="0" smtClean="0">
                              <a:latin typeface="Cambria Math" panose="02040503050406030204" pitchFamily="18" charset="0"/>
                            </a:rPr>
                            <m:t>,</m:t>
                          </m:r>
                          <m:r>
                            <a:rPr kumimoji="1" lang="en-US" altLang="ja-GB" sz="2000" b="0" i="1" dirty="0" smtClean="0">
                              <a:latin typeface="Cambria Math" panose="02040503050406030204" pitchFamily="18" charset="0"/>
                            </a:rPr>
                            <m:t>𝑗</m:t>
                          </m:r>
                        </m:sub>
                      </m:sSub>
                    </m:oMath>
                  </m:oMathPara>
                </a14:m>
                <a:endParaRPr/>
              </a:p>
            </p:txBody>
          </p:sp>
        </mc:Choice>
        <mc:Fallback xmlns="">
          <p:sp>
            <p:nvSpPr>
              <p:cNvPr id="46" name="テキスト ボックス 45">
                <a:extLst>
                  <a:ext uri="{FF2B5EF4-FFF2-40B4-BE49-F238E27FC236}">
                    <a16:creationId xmlns:a16="http://schemas.microsoft.com/office/drawing/2014/main" id="{1BB73127-40AE-7B58-9E97-5D4D54A4D25E}"/>
                  </a:ext>
                </a:extLst>
              </p:cNvPr>
              <p:cNvSpPr txBox="1">
                <a:spLocks noRot="1" noChangeAspect="1" noMove="1" noResize="1" noEditPoints="1" noAdjustHandles="1" noChangeArrowheads="1" noChangeShapeType="1" noTextEdit="1"/>
              </p:cNvSpPr>
              <p:nvPr/>
            </p:nvSpPr>
            <p:spPr>
              <a:xfrm>
                <a:off x="3360353" y="5578439"/>
                <a:ext cx="2423292" cy="424796"/>
              </a:xfrm>
              <a:prstGeom prst="rect">
                <a:avLst/>
              </a:prstGeom>
              <a:blipFill>
                <a:blip r:embed="rId2"/>
                <a:stretch>
                  <a:fillRect r="-521" b="-17647"/>
                </a:stretch>
              </a:blipFill>
            </p:spPr>
            <p:txBody>
              <a:bodyPr/>
              <a:lstStyle/>
              <a:p>
                <a:r>
                  <a:rPr lang="ja-GB" altLang="en-US">
                    <a:noFill/>
                  </a:rPr>
                  <a:t> </a:t>
                </a:r>
              </a:p>
            </p:txBody>
          </p:sp>
        </mc:Fallback>
      </mc:AlternateContent>
      <p:sp>
        <p:nvSpPr>
          <p:cNvPr id="51" name="テキスト ボックス 50">
            <a:extLst>
              <a:ext uri="{FF2B5EF4-FFF2-40B4-BE49-F238E27FC236}">
                <a16:creationId xmlns:a16="http://schemas.microsoft.com/office/drawing/2014/main" id="{486F8BE3-5C78-30A6-63B1-574AEEBDC548}"/>
              </a:ext>
            </a:extLst>
          </p:cNvPr>
          <p:cNvSpPr txBox="1"/>
          <p:nvPr/>
        </p:nvSpPr>
        <p:spPr>
          <a:xfrm>
            <a:off x="1005959" y="6100368"/>
            <a:ext cx="7132081" cy="338554"/>
          </a:xfrm>
          <a:prstGeom prst="rect">
            <a:avLst/>
          </a:prstGeom>
          <a:noFill/>
        </p:spPr>
        <p:txBody>
          <a:bodyPr wrap="none" rtlCol="0">
            <a:spAutoFit/>
          </a:bodyPr>
          <a:lstStyle/>
          <a:p>
            <a:r>
              <a:rPr kumimoji="1" lang="ja-GB" altLang="en-US" sz="1600" b="1" dirty="0"/>
              <a:t>この作業の余裕（許容される最大の遅延）</a:t>
            </a:r>
            <a:r>
              <a:rPr kumimoji="1" lang="en-US" altLang="ja-GB" sz="1600" b="1" dirty="0"/>
              <a:t> = </a:t>
            </a:r>
            <a:r>
              <a:rPr kumimoji="1" lang="ja-GB" altLang="en-US" sz="1600" b="1" dirty="0"/>
              <a:t>最遅終了時刻</a:t>
            </a:r>
            <a:r>
              <a:rPr kumimoji="1" lang="en-US" altLang="ja-GB" sz="1600" b="1" dirty="0"/>
              <a:t>  </a:t>
            </a:r>
            <a:r>
              <a:rPr kumimoji="1" lang="ja-GB" altLang="en-US" sz="1600" b="1" dirty="0"/>
              <a:t>ー</a:t>
            </a:r>
            <a:r>
              <a:rPr kumimoji="1" lang="en-US" altLang="ja-GB" sz="1600" b="1" dirty="0"/>
              <a:t>  </a:t>
            </a:r>
            <a:r>
              <a:rPr kumimoji="1" lang="ja-GB" altLang="en-US" sz="1600" b="1" dirty="0"/>
              <a:t>最早開始時刻</a:t>
            </a:r>
          </a:p>
        </p:txBody>
      </p:sp>
      <p:graphicFrame>
        <p:nvGraphicFramePr>
          <p:cNvPr id="4" name="表 3">
            <a:extLst>
              <a:ext uri="{FF2B5EF4-FFF2-40B4-BE49-F238E27FC236}">
                <a16:creationId xmlns:a16="http://schemas.microsoft.com/office/drawing/2014/main" id="{0A941094-732A-F046-9AF8-E803F330C653}"/>
              </a:ext>
            </a:extLst>
          </p:cNvPr>
          <p:cNvGraphicFramePr>
            <a:graphicFrameLocks noGrp="1"/>
          </p:cNvGraphicFramePr>
          <p:nvPr/>
        </p:nvGraphicFramePr>
        <p:xfrm>
          <a:off x="2261783" y="2167901"/>
          <a:ext cx="4620432" cy="2987040"/>
        </p:xfrm>
        <a:graphic>
          <a:graphicData uri="http://schemas.openxmlformats.org/drawingml/2006/table">
            <a:tbl>
              <a:tblPr firstRow="1" bandRow="1">
                <a:tableStyleId>{5C22544A-7EE6-4342-B048-85BDC9FD1C3A}</a:tableStyleId>
              </a:tblPr>
              <a:tblGrid>
                <a:gridCol w="1155108">
                  <a:extLst>
                    <a:ext uri="{9D8B030D-6E8A-4147-A177-3AD203B41FA5}">
                      <a16:colId xmlns:a16="http://schemas.microsoft.com/office/drawing/2014/main" val="3691675347"/>
                    </a:ext>
                  </a:extLst>
                </a:gridCol>
                <a:gridCol w="1155108">
                  <a:extLst>
                    <a:ext uri="{9D8B030D-6E8A-4147-A177-3AD203B41FA5}">
                      <a16:colId xmlns:a16="http://schemas.microsoft.com/office/drawing/2014/main" val="928111709"/>
                    </a:ext>
                  </a:extLst>
                </a:gridCol>
                <a:gridCol w="1155108">
                  <a:extLst>
                    <a:ext uri="{9D8B030D-6E8A-4147-A177-3AD203B41FA5}">
                      <a16:colId xmlns:a16="http://schemas.microsoft.com/office/drawing/2014/main" val="4014108102"/>
                    </a:ext>
                  </a:extLst>
                </a:gridCol>
                <a:gridCol w="1155108">
                  <a:extLst>
                    <a:ext uri="{9D8B030D-6E8A-4147-A177-3AD203B41FA5}">
                      <a16:colId xmlns:a16="http://schemas.microsoft.com/office/drawing/2014/main" val="1570955190"/>
                    </a:ext>
                  </a:extLst>
                </a:gridCol>
              </a:tblGrid>
              <a:tr h="183483">
                <a:tc>
                  <a:txBody>
                    <a:bodyPr/>
                    <a:lstStyle/>
                    <a:p>
                      <a:pPr algn="ctr"/>
                      <a:r>
                        <a:rPr lang="ja-GB" altLang="en-US" sz="1400" dirty="0"/>
                        <a:t>作業記号</a:t>
                      </a:r>
                    </a:p>
                  </a:txBody>
                  <a:tcPr/>
                </a:tc>
                <a:tc>
                  <a:txBody>
                    <a:bodyPr/>
                    <a:lstStyle/>
                    <a:p>
                      <a:pPr algn="ctr"/>
                      <a:r>
                        <a:rPr lang="ja-GB" altLang="en-US" sz="1400" dirty="0"/>
                        <a:t>作業</a:t>
                      </a:r>
                      <a:r>
                        <a:rPr lang="en-US" altLang="ja-GB" sz="1400" dirty="0"/>
                        <a:t>(</a:t>
                      </a:r>
                      <a:r>
                        <a:rPr lang="en-US" altLang="ja-GB" sz="1400" dirty="0" err="1"/>
                        <a:t>i,j</a:t>
                      </a:r>
                      <a:r>
                        <a:rPr lang="en-US" altLang="ja-GB" sz="1400" dirty="0"/>
                        <a:t>)</a:t>
                      </a:r>
                      <a:endParaRPr lang="ja-GB" altLang="en-US" sz="1400" dirty="0"/>
                    </a:p>
                  </a:txBody>
                  <a:tcPr/>
                </a:tc>
                <a:tc>
                  <a:txBody>
                    <a:bodyPr/>
                    <a:lstStyle/>
                    <a:p>
                      <a:pPr algn="ctr"/>
                      <a:r>
                        <a:rPr lang="ja-GB" altLang="en-US" sz="1400" dirty="0"/>
                        <a:t>所要日数</a:t>
                      </a:r>
                      <a:r>
                        <a:rPr lang="en-US" altLang="ja-GB" sz="1400" dirty="0"/>
                        <a:t> </a:t>
                      </a:r>
                      <a:r>
                        <a:rPr lang="en-US" altLang="ja-GB" sz="1400" dirty="0" err="1"/>
                        <a:t>D</a:t>
                      </a:r>
                      <a:r>
                        <a:rPr lang="en-US" altLang="ja-GB" sz="1400" baseline="-25000" dirty="0" err="1"/>
                        <a:t>i,j</a:t>
                      </a:r>
                      <a:endParaRPr lang="ja-GB" altLang="en-US" sz="1400" baseline="-25000" dirty="0"/>
                    </a:p>
                  </a:txBody>
                  <a:tcPr/>
                </a:tc>
                <a:tc>
                  <a:txBody>
                    <a:bodyPr/>
                    <a:lstStyle/>
                    <a:p>
                      <a:pPr algn="ctr"/>
                      <a:r>
                        <a:rPr lang="en-US" altLang="ja-GB" sz="1400" baseline="0" dirty="0"/>
                        <a:t>TF</a:t>
                      </a:r>
                      <a:endParaRPr lang="ja-GB" altLang="en-US" sz="1400" baseline="0" dirty="0"/>
                    </a:p>
                  </a:txBody>
                  <a:tcPr/>
                </a:tc>
                <a:extLst>
                  <a:ext uri="{0D108BD9-81ED-4DB2-BD59-A6C34878D82A}">
                    <a16:rowId xmlns:a16="http://schemas.microsoft.com/office/drawing/2014/main" val="3671063893"/>
                  </a:ext>
                </a:extLst>
              </a:tr>
              <a:tr h="185302">
                <a:tc>
                  <a:txBody>
                    <a:bodyPr/>
                    <a:lstStyle/>
                    <a:p>
                      <a:pPr algn="ctr"/>
                      <a:r>
                        <a:rPr lang="en-US" altLang="ja-GB" sz="1600" dirty="0"/>
                        <a:t>A</a:t>
                      </a:r>
                      <a:endParaRPr lang="ja-GB" altLang="en-US" sz="1600" dirty="0"/>
                    </a:p>
                  </a:txBody>
                  <a:tcPr/>
                </a:tc>
                <a:tc>
                  <a:txBody>
                    <a:bodyPr/>
                    <a:lstStyle/>
                    <a:p>
                      <a:pPr algn="ctr"/>
                      <a:r>
                        <a:rPr lang="en-US" altLang="ja-GB" sz="1600" dirty="0"/>
                        <a:t>(1,2)</a:t>
                      </a:r>
                      <a:endParaRPr lang="ja-GB" altLang="en-US" sz="1600" dirty="0"/>
                    </a:p>
                  </a:txBody>
                  <a:tcPr/>
                </a:tc>
                <a:tc>
                  <a:txBody>
                    <a:bodyPr/>
                    <a:lstStyle/>
                    <a:p>
                      <a:pPr algn="ctr"/>
                      <a:r>
                        <a:rPr lang="en-US" altLang="ja-GB" sz="1600" dirty="0"/>
                        <a:t>3</a:t>
                      </a:r>
                      <a:endParaRPr lang="ja-GB" altLang="en-US" sz="1600" dirty="0"/>
                    </a:p>
                  </a:txBody>
                  <a:tcPr/>
                </a:tc>
                <a:tc>
                  <a:txBody>
                    <a:bodyPr/>
                    <a:lstStyle/>
                    <a:p>
                      <a:pPr algn="ctr"/>
                      <a:r>
                        <a:rPr lang="en-US" altLang="ja-GB" sz="1600" dirty="0"/>
                        <a:t>0</a:t>
                      </a:r>
                      <a:endParaRPr lang="ja-GB" altLang="en-US" sz="1600" dirty="0"/>
                    </a:p>
                  </a:txBody>
                  <a:tcPr/>
                </a:tc>
                <a:extLst>
                  <a:ext uri="{0D108BD9-81ED-4DB2-BD59-A6C34878D82A}">
                    <a16:rowId xmlns:a16="http://schemas.microsoft.com/office/drawing/2014/main" val="3344703274"/>
                  </a:ext>
                </a:extLst>
              </a:tr>
              <a:tr h="185302">
                <a:tc>
                  <a:txBody>
                    <a:bodyPr/>
                    <a:lstStyle/>
                    <a:p>
                      <a:pPr algn="ctr"/>
                      <a:r>
                        <a:rPr lang="en-US" altLang="ja-GB" sz="1600" dirty="0"/>
                        <a:t>B</a:t>
                      </a:r>
                      <a:endParaRPr lang="ja-GB" altLang="en-US" sz="1600" dirty="0"/>
                    </a:p>
                  </a:txBody>
                  <a:tcPr/>
                </a:tc>
                <a:tc>
                  <a:txBody>
                    <a:bodyPr/>
                    <a:lstStyle/>
                    <a:p>
                      <a:pPr algn="ctr"/>
                      <a:r>
                        <a:rPr lang="en-US" altLang="ja-GB" sz="1600" dirty="0"/>
                        <a:t>(1,3)</a:t>
                      </a:r>
                      <a:endParaRPr lang="ja-GB" altLang="en-US" sz="1600" dirty="0"/>
                    </a:p>
                  </a:txBody>
                  <a:tcPr/>
                </a:tc>
                <a:tc>
                  <a:txBody>
                    <a:bodyPr/>
                    <a:lstStyle/>
                    <a:p>
                      <a:pPr algn="ctr"/>
                      <a:r>
                        <a:rPr lang="en-US" altLang="ja-GB" sz="1600" dirty="0"/>
                        <a:t>2</a:t>
                      </a:r>
                      <a:endParaRPr lang="ja-GB" altLang="en-US" sz="1600" dirty="0"/>
                    </a:p>
                  </a:txBody>
                  <a:tcPr/>
                </a:tc>
                <a:tc>
                  <a:txBody>
                    <a:bodyPr/>
                    <a:lstStyle/>
                    <a:p>
                      <a:pPr algn="ctr"/>
                      <a:r>
                        <a:rPr lang="en-US" altLang="ja-GB" sz="1600" dirty="0"/>
                        <a:t>0</a:t>
                      </a:r>
                      <a:endParaRPr lang="ja-GB" altLang="en-US" sz="1600" dirty="0"/>
                    </a:p>
                  </a:txBody>
                  <a:tcPr/>
                </a:tc>
                <a:extLst>
                  <a:ext uri="{0D108BD9-81ED-4DB2-BD59-A6C34878D82A}">
                    <a16:rowId xmlns:a16="http://schemas.microsoft.com/office/drawing/2014/main" val="4177507280"/>
                  </a:ext>
                </a:extLst>
              </a:tr>
              <a:tr h="185302">
                <a:tc>
                  <a:txBody>
                    <a:bodyPr/>
                    <a:lstStyle/>
                    <a:p>
                      <a:pPr algn="ctr"/>
                      <a:r>
                        <a:rPr lang="en-US" altLang="ja-GB" sz="1600" dirty="0"/>
                        <a:t>C</a:t>
                      </a:r>
                      <a:endParaRPr lang="ja-GB" altLang="en-US" sz="1600" dirty="0"/>
                    </a:p>
                  </a:txBody>
                  <a:tcPr/>
                </a:tc>
                <a:tc>
                  <a:txBody>
                    <a:bodyPr/>
                    <a:lstStyle/>
                    <a:p>
                      <a:pPr algn="ctr"/>
                      <a:r>
                        <a:rPr lang="en-US" altLang="ja-GB" sz="1600" dirty="0"/>
                        <a:t>(2,4)</a:t>
                      </a:r>
                      <a:endParaRPr lang="ja-GB" altLang="en-US" sz="1600" dirty="0"/>
                    </a:p>
                  </a:txBody>
                  <a:tcPr/>
                </a:tc>
                <a:tc>
                  <a:txBody>
                    <a:bodyPr/>
                    <a:lstStyle/>
                    <a:p>
                      <a:pPr algn="ctr"/>
                      <a:r>
                        <a:rPr lang="en-US" altLang="ja-GB" sz="1600" dirty="0"/>
                        <a:t>4</a:t>
                      </a:r>
                      <a:endParaRPr lang="ja-GB" altLang="en-US" sz="1600" dirty="0"/>
                    </a:p>
                  </a:txBody>
                  <a:tcPr/>
                </a:tc>
                <a:tc>
                  <a:txBody>
                    <a:bodyPr/>
                    <a:lstStyle/>
                    <a:p>
                      <a:pPr algn="ctr"/>
                      <a:r>
                        <a:rPr lang="en-US" altLang="ja-GB" sz="1600" dirty="0"/>
                        <a:t>0</a:t>
                      </a:r>
                      <a:endParaRPr lang="ja-GB" altLang="en-US" sz="1600" dirty="0"/>
                    </a:p>
                  </a:txBody>
                  <a:tcPr/>
                </a:tc>
                <a:extLst>
                  <a:ext uri="{0D108BD9-81ED-4DB2-BD59-A6C34878D82A}">
                    <a16:rowId xmlns:a16="http://schemas.microsoft.com/office/drawing/2014/main" val="3414689720"/>
                  </a:ext>
                </a:extLst>
              </a:tr>
              <a:tr h="185302">
                <a:tc>
                  <a:txBody>
                    <a:bodyPr/>
                    <a:lstStyle/>
                    <a:p>
                      <a:pPr algn="ctr"/>
                      <a:r>
                        <a:rPr lang="en-US" altLang="ja-GB" sz="1600" dirty="0"/>
                        <a:t>D</a:t>
                      </a:r>
                      <a:endParaRPr lang="ja-GB" altLang="en-US" sz="1600" dirty="0"/>
                    </a:p>
                  </a:txBody>
                  <a:tcPr/>
                </a:tc>
                <a:tc>
                  <a:txBody>
                    <a:bodyPr/>
                    <a:lstStyle/>
                    <a:p>
                      <a:pPr algn="ctr"/>
                      <a:r>
                        <a:rPr lang="en-US" altLang="ja-GB" sz="1600" dirty="0"/>
                        <a:t>(3,4)</a:t>
                      </a:r>
                      <a:endParaRPr lang="ja-GB" altLang="en-US" sz="1600" dirty="0"/>
                    </a:p>
                  </a:txBody>
                  <a:tcPr/>
                </a:tc>
                <a:tc>
                  <a:txBody>
                    <a:bodyPr/>
                    <a:lstStyle/>
                    <a:p>
                      <a:pPr algn="ctr"/>
                      <a:r>
                        <a:rPr lang="en-US" altLang="ja-GB" sz="1600" dirty="0"/>
                        <a:t>5</a:t>
                      </a:r>
                      <a:endParaRPr lang="ja-GB" altLang="en-US" sz="1600" dirty="0"/>
                    </a:p>
                  </a:txBody>
                  <a:tcPr/>
                </a:tc>
                <a:tc>
                  <a:txBody>
                    <a:bodyPr/>
                    <a:lstStyle/>
                    <a:p>
                      <a:pPr algn="ctr"/>
                      <a:r>
                        <a:rPr lang="en-US" altLang="ja-GB" sz="1600" dirty="0"/>
                        <a:t>0</a:t>
                      </a:r>
                      <a:endParaRPr lang="ja-GB" altLang="en-US" sz="1600" dirty="0"/>
                    </a:p>
                  </a:txBody>
                  <a:tcPr/>
                </a:tc>
                <a:extLst>
                  <a:ext uri="{0D108BD9-81ED-4DB2-BD59-A6C34878D82A}">
                    <a16:rowId xmlns:a16="http://schemas.microsoft.com/office/drawing/2014/main" val="3373349507"/>
                  </a:ext>
                </a:extLst>
              </a:tr>
              <a:tr h="185302">
                <a:tc>
                  <a:txBody>
                    <a:bodyPr/>
                    <a:lstStyle/>
                    <a:p>
                      <a:pPr algn="ctr"/>
                      <a:r>
                        <a:rPr lang="en-US" altLang="ja-GB" sz="1600" dirty="0"/>
                        <a:t>E</a:t>
                      </a:r>
                      <a:endParaRPr lang="ja-GB" altLang="en-US" sz="1600" dirty="0"/>
                    </a:p>
                  </a:txBody>
                  <a:tcPr/>
                </a:tc>
                <a:tc>
                  <a:txBody>
                    <a:bodyPr/>
                    <a:lstStyle/>
                    <a:p>
                      <a:pPr algn="ctr"/>
                      <a:r>
                        <a:rPr lang="en-US" altLang="ja-GB" sz="1600" dirty="0"/>
                        <a:t>(2,5)</a:t>
                      </a:r>
                      <a:endParaRPr lang="ja-GB" altLang="en-US" sz="1600" dirty="0"/>
                    </a:p>
                  </a:txBody>
                  <a:tcPr/>
                </a:tc>
                <a:tc>
                  <a:txBody>
                    <a:bodyPr/>
                    <a:lstStyle/>
                    <a:p>
                      <a:pPr algn="ctr"/>
                      <a:r>
                        <a:rPr lang="en-US" altLang="ja-GB" sz="1600" dirty="0"/>
                        <a:t>1</a:t>
                      </a:r>
                      <a:endParaRPr lang="ja-GB" altLang="en-US" sz="1600" dirty="0"/>
                    </a:p>
                  </a:txBody>
                  <a:tcPr/>
                </a:tc>
                <a:tc>
                  <a:txBody>
                    <a:bodyPr/>
                    <a:lstStyle/>
                    <a:p>
                      <a:pPr algn="ctr"/>
                      <a:r>
                        <a:rPr lang="en-US" altLang="ja-GB" sz="1600" dirty="0"/>
                        <a:t>7</a:t>
                      </a:r>
                      <a:endParaRPr lang="ja-GB" altLang="en-US" sz="1600" dirty="0"/>
                    </a:p>
                  </a:txBody>
                  <a:tcPr/>
                </a:tc>
                <a:extLst>
                  <a:ext uri="{0D108BD9-81ED-4DB2-BD59-A6C34878D82A}">
                    <a16:rowId xmlns:a16="http://schemas.microsoft.com/office/drawing/2014/main" val="2991419434"/>
                  </a:ext>
                </a:extLst>
              </a:tr>
              <a:tr h="185302">
                <a:tc>
                  <a:txBody>
                    <a:bodyPr/>
                    <a:lstStyle/>
                    <a:p>
                      <a:pPr algn="ctr"/>
                      <a:r>
                        <a:rPr lang="en-US" altLang="ja-GB" sz="1600" dirty="0"/>
                        <a:t>F</a:t>
                      </a:r>
                      <a:endParaRPr lang="ja-GB" altLang="en-US" sz="1600" dirty="0"/>
                    </a:p>
                  </a:txBody>
                  <a:tcPr/>
                </a:tc>
                <a:tc>
                  <a:txBody>
                    <a:bodyPr/>
                    <a:lstStyle/>
                    <a:p>
                      <a:pPr algn="ctr"/>
                      <a:r>
                        <a:rPr lang="en-US" altLang="ja-GB" sz="1600" dirty="0"/>
                        <a:t>(4,6)</a:t>
                      </a:r>
                      <a:endParaRPr lang="ja-GB" altLang="en-US" sz="1600" dirty="0"/>
                    </a:p>
                  </a:txBody>
                  <a:tcPr/>
                </a:tc>
                <a:tc>
                  <a:txBody>
                    <a:bodyPr/>
                    <a:lstStyle/>
                    <a:p>
                      <a:pPr algn="ctr"/>
                      <a:r>
                        <a:rPr lang="en-US" altLang="ja-GB" sz="1600" dirty="0"/>
                        <a:t>6</a:t>
                      </a:r>
                      <a:endParaRPr lang="ja-GB" altLang="en-US" sz="1600" dirty="0"/>
                    </a:p>
                  </a:txBody>
                  <a:tcPr/>
                </a:tc>
                <a:tc>
                  <a:txBody>
                    <a:bodyPr/>
                    <a:lstStyle/>
                    <a:p>
                      <a:pPr algn="ctr"/>
                      <a:r>
                        <a:rPr lang="en-US" altLang="ja-GB" sz="1600" dirty="0"/>
                        <a:t>0</a:t>
                      </a:r>
                      <a:endParaRPr lang="ja-GB" altLang="en-US" sz="1600" dirty="0"/>
                    </a:p>
                  </a:txBody>
                  <a:tcPr/>
                </a:tc>
                <a:extLst>
                  <a:ext uri="{0D108BD9-81ED-4DB2-BD59-A6C34878D82A}">
                    <a16:rowId xmlns:a16="http://schemas.microsoft.com/office/drawing/2014/main" val="3985016094"/>
                  </a:ext>
                </a:extLst>
              </a:tr>
              <a:tr h="185302">
                <a:tc>
                  <a:txBody>
                    <a:bodyPr/>
                    <a:lstStyle/>
                    <a:p>
                      <a:pPr algn="ctr"/>
                      <a:r>
                        <a:rPr lang="en-US" altLang="ja-GB" sz="1600" dirty="0"/>
                        <a:t>G</a:t>
                      </a:r>
                      <a:endParaRPr lang="ja-GB" altLang="en-US" sz="1600" dirty="0"/>
                    </a:p>
                  </a:txBody>
                  <a:tcPr/>
                </a:tc>
                <a:tc>
                  <a:txBody>
                    <a:bodyPr/>
                    <a:lstStyle/>
                    <a:p>
                      <a:pPr algn="ctr"/>
                      <a:r>
                        <a:rPr lang="en-US" altLang="ja-GB" sz="1600" dirty="0"/>
                        <a:t>(4,5)</a:t>
                      </a:r>
                      <a:endParaRPr lang="ja-GB" altLang="en-US" sz="1600" dirty="0"/>
                    </a:p>
                  </a:txBody>
                  <a:tcPr/>
                </a:tc>
                <a:tc>
                  <a:txBody>
                    <a:bodyPr/>
                    <a:lstStyle/>
                    <a:p>
                      <a:pPr algn="ctr"/>
                      <a:r>
                        <a:rPr lang="en-US" altLang="ja-GB" sz="1600" dirty="0"/>
                        <a:t>3</a:t>
                      </a:r>
                      <a:endParaRPr lang="ja-GB" altLang="en-US" sz="1600" dirty="0"/>
                    </a:p>
                  </a:txBody>
                  <a:tcPr/>
                </a:tc>
                <a:tc>
                  <a:txBody>
                    <a:bodyPr/>
                    <a:lstStyle/>
                    <a:p>
                      <a:pPr algn="ctr"/>
                      <a:r>
                        <a:rPr lang="en-US" altLang="ja-GB" sz="1600" dirty="0"/>
                        <a:t>1</a:t>
                      </a:r>
                      <a:endParaRPr lang="ja-GB" altLang="en-US" sz="1600" dirty="0"/>
                    </a:p>
                  </a:txBody>
                  <a:tcPr/>
                </a:tc>
                <a:extLst>
                  <a:ext uri="{0D108BD9-81ED-4DB2-BD59-A6C34878D82A}">
                    <a16:rowId xmlns:a16="http://schemas.microsoft.com/office/drawing/2014/main" val="852509030"/>
                  </a:ext>
                </a:extLst>
              </a:tr>
              <a:tr h="185302">
                <a:tc>
                  <a:txBody>
                    <a:bodyPr/>
                    <a:lstStyle/>
                    <a:p>
                      <a:pPr algn="ctr"/>
                      <a:r>
                        <a:rPr lang="en-US" altLang="ja-GB" sz="1600" dirty="0"/>
                        <a:t>H</a:t>
                      </a:r>
                      <a:endParaRPr lang="ja-GB" altLang="en-US" sz="1600" dirty="0"/>
                    </a:p>
                  </a:txBody>
                  <a:tcPr/>
                </a:tc>
                <a:tc>
                  <a:txBody>
                    <a:bodyPr/>
                    <a:lstStyle/>
                    <a:p>
                      <a:pPr algn="ctr"/>
                      <a:r>
                        <a:rPr lang="en-US" altLang="ja-GB" sz="1600" dirty="0"/>
                        <a:t>(5,6)</a:t>
                      </a:r>
                      <a:endParaRPr lang="ja-GB" altLang="en-US" sz="1600" dirty="0"/>
                    </a:p>
                  </a:txBody>
                  <a:tcPr/>
                </a:tc>
                <a:tc>
                  <a:txBody>
                    <a:bodyPr/>
                    <a:lstStyle/>
                    <a:p>
                      <a:pPr algn="ctr"/>
                      <a:r>
                        <a:rPr lang="en-US" altLang="ja-GB" sz="1600" dirty="0"/>
                        <a:t>2</a:t>
                      </a:r>
                      <a:endParaRPr lang="ja-GB" altLang="en-US" sz="1600" dirty="0"/>
                    </a:p>
                  </a:txBody>
                  <a:tcPr/>
                </a:tc>
                <a:tc>
                  <a:txBody>
                    <a:bodyPr/>
                    <a:lstStyle/>
                    <a:p>
                      <a:pPr algn="ctr"/>
                      <a:r>
                        <a:rPr lang="en-US" altLang="ja-GB" sz="1600" dirty="0"/>
                        <a:t>1</a:t>
                      </a:r>
                      <a:endParaRPr lang="ja-GB" altLang="en-US" sz="1600" dirty="0"/>
                    </a:p>
                  </a:txBody>
                  <a:tcPr/>
                </a:tc>
                <a:extLst>
                  <a:ext uri="{0D108BD9-81ED-4DB2-BD59-A6C34878D82A}">
                    <a16:rowId xmlns:a16="http://schemas.microsoft.com/office/drawing/2014/main" val="3285484398"/>
                  </a:ext>
                </a:extLst>
              </a:tr>
            </a:tbl>
          </a:graphicData>
        </a:graphic>
      </p:graphicFrame>
    </p:spTree>
    <p:extLst>
      <p:ext uri="{BB962C8B-B14F-4D97-AF65-F5344CB8AC3E}">
        <p14:creationId xmlns:p14="http://schemas.microsoft.com/office/powerpoint/2010/main" val="2052509158"/>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64C66-90F4-A822-545A-2601C3BB44C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B837E1C-E144-1721-C8F1-81E94B92FE26}"/>
              </a:ext>
            </a:extLst>
          </p:cNvPr>
          <p:cNvSpPr>
            <a:spLocks noGrp="1"/>
          </p:cNvSpPr>
          <p:nvPr>
            <p:ph type="title"/>
          </p:nvPr>
        </p:nvSpPr>
        <p:spPr/>
        <p:txBody>
          <a:bodyPr>
            <a:normAutofit/>
          </a:bodyPr>
          <a:lstStyle/>
          <a:p>
            <a:r>
              <a:rPr lang="ja-GB" altLang="en-US" dirty="0"/>
              <a:t>自由余裕時間（</a:t>
            </a:r>
            <a:r>
              <a:rPr lang="en-US" altLang="ja-GB" dirty="0"/>
              <a:t>FF</a:t>
            </a:r>
            <a:r>
              <a:rPr lang="ja-GB" altLang="en-US" dirty="0"/>
              <a:t>：</a:t>
            </a:r>
            <a:r>
              <a:rPr lang="en-US" altLang="ja-GB" dirty="0"/>
              <a:t>Free Float</a:t>
            </a:r>
            <a:r>
              <a:rPr lang="ja-GB" altLang="en-US" dirty="0"/>
              <a:t>）</a:t>
            </a:r>
            <a:endParaRPr kumimoji="1" lang="ja-GB" altLang="en-US" dirty="0"/>
          </a:p>
        </p:txBody>
      </p:sp>
      <p:sp>
        <p:nvSpPr>
          <p:cNvPr id="3" name="コンテンツ プレースホルダー 2">
            <a:extLst>
              <a:ext uri="{FF2B5EF4-FFF2-40B4-BE49-F238E27FC236}">
                <a16:creationId xmlns:a16="http://schemas.microsoft.com/office/drawing/2014/main" id="{04987DC6-AD0B-202A-4707-2A806706F528}"/>
              </a:ext>
            </a:extLst>
          </p:cNvPr>
          <p:cNvSpPr>
            <a:spLocks noGrp="1"/>
          </p:cNvSpPr>
          <p:nvPr>
            <p:ph idx="1"/>
          </p:nvPr>
        </p:nvSpPr>
        <p:spPr/>
        <p:txBody>
          <a:bodyPr/>
          <a:lstStyle/>
          <a:p>
            <a:pPr marL="0" indent="0">
              <a:buNone/>
            </a:pPr>
            <a:r>
              <a:rPr lang="ja-GB" altLang="en-US" dirty="0"/>
              <a:t>他の作業に影響を与えない余裕時間</a:t>
            </a:r>
            <a:br>
              <a:rPr lang="en-US" altLang="ja-GB" dirty="0"/>
            </a:br>
            <a:r>
              <a:rPr lang="en-US" altLang="ja-GB" sz="2000" dirty="0"/>
              <a:t>=</a:t>
            </a:r>
            <a:r>
              <a:rPr lang="ja-GB" altLang="en-US" sz="2000" dirty="0"/>
              <a:t>他の作業の</a:t>
            </a:r>
            <a:r>
              <a:rPr lang="en-US" altLang="ja-GB" sz="2000" dirty="0"/>
              <a:t>TF</a:t>
            </a:r>
            <a:r>
              <a:rPr lang="ja-GB" altLang="en-US" sz="2000" dirty="0"/>
              <a:t>を削減しないような範囲で，作業に許される最大の遅延</a:t>
            </a:r>
            <a:endParaRPr lang="en-US" altLang="ja-GB" sz="2000" dirty="0"/>
          </a:p>
          <a:p>
            <a:pPr lvl="1"/>
            <a:r>
              <a:rPr lang="en-US" altLang="ja-GB" dirty="0"/>
              <a:t>TF</a:t>
            </a:r>
            <a:r>
              <a:rPr lang="ja-GB" altLang="en-US" dirty="0"/>
              <a:t>の範囲内の遅延は，計画全体の遅延はもたらさない一方で，</a:t>
            </a:r>
            <a:br>
              <a:rPr lang="en-US" altLang="ja-GB" dirty="0"/>
            </a:br>
            <a:r>
              <a:rPr lang="ja-GB" altLang="en-US" dirty="0"/>
              <a:t>後続作業の開始時刻を遅らせて，余裕を減らすことがある</a:t>
            </a:r>
            <a:endParaRPr lang="en-US" altLang="ja-GB" dirty="0"/>
          </a:p>
          <a:p>
            <a:pPr lvl="1"/>
            <a:r>
              <a:rPr lang="ja-GB" altLang="en-US" dirty="0"/>
              <a:t>他の作業の余裕を減らすことのない遅延の範囲は</a:t>
            </a:r>
            <a:r>
              <a:rPr lang="en-US" altLang="ja-GB" dirty="0"/>
              <a:t>FF</a:t>
            </a:r>
            <a:r>
              <a:rPr lang="ja-GB" altLang="en-US" dirty="0"/>
              <a:t>で確認できる</a:t>
            </a:r>
          </a:p>
        </p:txBody>
      </p:sp>
      <mc:AlternateContent xmlns:mc="http://schemas.openxmlformats.org/markup-compatibility/2006" xmlns:a14="http://schemas.microsoft.com/office/drawing/2010/main">
        <mc:Choice Requires="a14">
          <p:sp>
            <p:nvSpPr>
              <p:cNvPr id="46" name="テキスト ボックス 45">
                <a:extLst>
                  <a:ext uri="{FF2B5EF4-FFF2-40B4-BE49-F238E27FC236}">
                    <a16:creationId xmlns:a16="http://schemas.microsoft.com/office/drawing/2014/main" id="{ED01A4C2-35F8-9593-F845-9C8C90EB93E4}"/>
                  </a:ext>
                </a:extLst>
              </p:cNvPr>
              <p:cNvSpPr txBox="1"/>
              <p:nvPr/>
            </p:nvSpPr>
            <p:spPr>
              <a:xfrm>
                <a:off x="3292771" y="5831106"/>
                <a:ext cx="2558457" cy="424796"/>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kumimoji="1" lang="en-US" altLang="ja-GB" sz="2000" i="1" dirty="0">
                          <a:latin typeface="Cambria Math" panose="02040503050406030204" pitchFamily="18" charset="0"/>
                        </a:rPr>
                        <m:t>𝐹</m:t>
                      </m:r>
                      <m:sSub>
                        <m:sSubPr>
                          <m:ctrlPr>
                            <a:rPr kumimoji="1" lang="en-US" altLang="ja-GB" sz="2000" i="1" dirty="0">
                              <a:latin typeface="Cambria Math" panose="02040503050406030204" pitchFamily="18" charset="0"/>
                            </a:rPr>
                          </m:ctrlPr>
                        </m:sSubPr>
                        <m:e>
                          <m:r>
                            <a:rPr kumimoji="1" lang="en-US" altLang="ja-GB" sz="2000" i="1" dirty="0">
                              <a:latin typeface="Cambria Math" panose="02040503050406030204" pitchFamily="18" charset="0"/>
                            </a:rPr>
                            <m:t>𝐹</m:t>
                          </m:r>
                        </m:e>
                        <m:sub>
                          <m:r>
                            <a:rPr kumimoji="1" lang="en-US" altLang="ja-GB" sz="2000" i="1" dirty="0">
                              <a:latin typeface="Cambria Math" panose="02040503050406030204" pitchFamily="18" charset="0"/>
                            </a:rPr>
                            <m:t>𝑖</m:t>
                          </m:r>
                          <m:r>
                            <a:rPr kumimoji="1" lang="en-US" altLang="ja-GB" sz="2000" i="1" dirty="0">
                              <a:latin typeface="Cambria Math" panose="02040503050406030204" pitchFamily="18" charset="0"/>
                            </a:rPr>
                            <m:t>,</m:t>
                          </m:r>
                          <m:r>
                            <a:rPr kumimoji="1" lang="en-US" altLang="ja-GB" sz="2000" i="1" dirty="0">
                              <a:latin typeface="Cambria Math" panose="02040503050406030204" pitchFamily="18" charset="0"/>
                            </a:rPr>
                            <m:t>𝑗</m:t>
                          </m:r>
                        </m:sub>
                      </m:sSub>
                      <m:r>
                        <a:rPr kumimoji="1" lang="en-US" altLang="ja-GB" sz="2000" i="1" dirty="0">
                          <a:latin typeface="Cambria Math" panose="02040503050406030204" pitchFamily="18" charset="0"/>
                        </a:rPr>
                        <m:t> = </m:t>
                      </m:r>
                      <m:r>
                        <a:rPr kumimoji="1" lang="en-US" altLang="ja-GB" sz="2000" i="1" dirty="0">
                          <a:latin typeface="Cambria Math" panose="02040503050406030204" pitchFamily="18" charset="0"/>
                        </a:rPr>
                        <m:t>𝐸</m:t>
                      </m:r>
                      <m:sSub>
                        <m:sSubPr>
                          <m:ctrlPr>
                            <a:rPr kumimoji="1" lang="en-US" altLang="ja-GB" sz="2000" i="1" dirty="0">
                              <a:latin typeface="Cambria Math" panose="02040503050406030204" pitchFamily="18" charset="0"/>
                            </a:rPr>
                          </m:ctrlPr>
                        </m:sSubPr>
                        <m:e>
                          <m:r>
                            <a:rPr kumimoji="1" lang="en-US" altLang="ja-GB" sz="2000" i="1" dirty="0">
                              <a:latin typeface="Cambria Math" panose="02040503050406030204" pitchFamily="18" charset="0"/>
                            </a:rPr>
                            <m:t>𝑆</m:t>
                          </m:r>
                        </m:e>
                        <m:sub>
                          <m:r>
                            <a:rPr kumimoji="1" lang="en-US" altLang="ja-GB" sz="2000" i="1" dirty="0">
                              <a:latin typeface="Cambria Math" panose="02040503050406030204" pitchFamily="18" charset="0"/>
                            </a:rPr>
                            <m:t>𝑗</m:t>
                          </m:r>
                          <m:r>
                            <a:rPr kumimoji="1" lang="en-US" altLang="ja-GB" sz="2000" i="1" dirty="0">
                              <a:latin typeface="Cambria Math" panose="02040503050406030204" pitchFamily="18" charset="0"/>
                            </a:rPr>
                            <m:t>,</m:t>
                          </m:r>
                          <m:r>
                            <a:rPr kumimoji="1" lang="en-US" altLang="ja-GB" sz="2000" i="1" dirty="0">
                              <a:latin typeface="Cambria Math" panose="02040503050406030204" pitchFamily="18" charset="0"/>
                            </a:rPr>
                            <m:t>𝑘</m:t>
                          </m:r>
                        </m:sub>
                      </m:sSub>
                      <m:r>
                        <a:rPr kumimoji="1" lang="en-US" altLang="ja-GB" sz="2000" i="1" dirty="0">
                          <a:latin typeface="Cambria Math" panose="02040503050406030204" pitchFamily="18" charset="0"/>
                        </a:rPr>
                        <m:t>−</m:t>
                      </m:r>
                      <m:r>
                        <a:rPr kumimoji="1" lang="en-US" altLang="ja-GB" sz="2000" i="1" dirty="0">
                          <a:latin typeface="Cambria Math" panose="02040503050406030204" pitchFamily="18" charset="0"/>
                        </a:rPr>
                        <m:t>𝐸</m:t>
                      </m:r>
                      <m:sSub>
                        <m:sSubPr>
                          <m:ctrlPr>
                            <a:rPr kumimoji="1" lang="en-US" altLang="ja-GB" sz="2000" i="1" dirty="0">
                              <a:latin typeface="Cambria Math" panose="02040503050406030204" pitchFamily="18" charset="0"/>
                            </a:rPr>
                          </m:ctrlPr>
                        </m:sSubPr>
                        <m:e>
                          <m:r>
                            <a:rPr kumimoji="1" lang="en-US" altLang="ja-GB" sz="2000" i="1" dirty="0">
                              <a:latin typeface="Cambria Math" panose="02040503050406030204" pitchFamily="18" charset="0"/>
                            </a:rPr>
                            <m:t>𝐹</m:t>
                          </m:r>
                        </m:e>
                        <m:sub>
                          <m:r>
                            <a:rPr kumimoji="1" lang="en-US" altLang="ja-GB" sz="2000" i="1" dirty="0">
                              <a:latin typeface="Cambria Math" panose="02040503050406030204" pitchFamily="18" charset="0"/>
                            </a:rPr>
                            <m:t>𝑖</m:t>
                          </m:r>
                          <m:r>
                            <a:rPr kumimoji="1" lang="en-US" altLang="ja-GB" sz="2000" i="1" dirty="0">
                              <a:latin typeface="Cambria Math" panose="02040503050406030204" pitchFamily="18" charset="0"/>
                            </a:rPr>
                            <m:t>,</m:t>
                          </m:r>
                          <m:r>
                            <a:rPr kumimoji="1" lang="en-US" altLang="ja-GB" sz="2000" i="1" dirty="0">
                              <a:latin typeface="Cambria Math" panose="02040503050406030204" pitchFamily="18" charset="0"/>
                            </a:rPr>
                            <m:t>𝑗</m:t>
                          </m:r>
                        </m:sub>
                      </m:sSub>
                    </m:oMath>
                  </m:oMathPara>
                </a14:m>
                <a:endParaRPr kumimoji="1" lang="en-US" altLang="ja-GB" sz="2000" dirty="0"/>
              </a:p>
            </p:txBody>
          </p:sp>
        </mc:Choice>
        <mc:Fallback xmlns="">
          <p:sp>
            <p:nvSpPr>
              <p:cNvPr id="46" name="テキスト ボックス 45">
                <a:extLst>
                  <a:ext uri="{FF2B5EF4-FFF2-40B4-BE49-F238E27FC236}">
                    <a16:creationId xmlns:a16="http://schemas.microsoft.com/office/drawing/2014/main" id="{ED01A4C2-35F8-9593-F845-9C8C90EB93E4}"/>
                  </a:ext>
                </a:extLst>
              </p:cNvPr>
              <p:cNvSpPr txBox="1">
                <a:spLocks noRot="1" noChangeAspect="1" noMove="1" noResize="1" noEditPoints="1" noAdjustHandles="1" noChangeArrowheads="1" noChangeShapeType="1" noTextEdit="1"/>
              </p:cNvSpPr>
              <p:nvPr/>
            </p:nvSpPr>
            <p:spPr>
              <a:xfrm>
                <a:off x="3292771" y="5831106"/>
                <a:ext cx="2558457" cy="424796"/>
              </a:xfrm>
              <a:prstGeom prst="rect">
                <a:avLst/>
              </a:prstGeom>
              <a:blipFill>
                <a:blip r:embed="rId2"/>
                <a:stretch>
                  <a:fillRect b="-11765"/>
                </a:stretch>
              </a:blipFill>
            </p:spPr>
            <p:txBody>
              <a:bodyPr/>
              <a:lstStyle/>
              <a:p>
                <a:r>
                  <a:rPr lang="ja-GB" altLang="en-US">
                    <a:noFill/>
                  </a:rPr>
                  <a:t> </a:t>
                </a:r>
              </a:p>
            </p:txBody>
          </p:sp>
        </mc:Fallback>
      </mc:AlternateContent>
      <p:sp>
        <p:nvSpPr>
          <p:cNvPr id="51" name="テキスト ボックス 50">
            <a:extLst>
              <a:ext uri="{FF2B5EF4-FFF2-40B4-BE49-F238E27FC236}">
                <a16:creationId xmlns:a16="http://schemas.microsoft.com/office/drawing/2014/main" id="{C2E6CD89-C565-6F22-14FF-D55EF78E219E}"/>
              </a:ext>
            </a:extLst>
          </p:cNvPr>
          <p:cNvSpPr txBox="1"/>
          <p:nvPr/>
        </p:nvSpPr>
        <p:spPr>
          <a:xfrm>
            <a:off x="129116" y="6353035"/>
            <a:ext cx="8885767" cy="338554"/>
          </a:xfrm>
          <a:prstGeom prst="rect">
            <a:avLst/>
          </a:prstGeom>
          <a:noFill/>
        </p:spPr>
        <p:txBody>
          <a:bodyPr wrap="none" rtlCol="0">
            <a:spAutoFit/>
          </a:bodyPr>
          <a:lstStyle/>
          <a:p>
            <a:pPr algn="ctr"/>
            <a:r>
              <a:rPr kumimoji="1" lang="ja-GB" altLang="en-US" sz="1600" b="1" dirty="0"/>
              <a:t>この作業の余裕（他に影響しない遅延）</a:t>
            </a:r>
            <a:r>
              <a:rPr kumimoji="1" lang="en-US" altLang="ja-GB" sz="1600" b="1" dirty="0"/>
              <a:t> = </a:t>
            </a:r>
            <a:r>
              <a:rPr kumimoji="1" lang="ja-GB" altLang="en-US" sz="1600" b="1" dirty="0"/>
              <a:t>次の作業の最早作業時刻</a:t>
            </a:r>
            <a:r>
              <a:rPr kumimoji="1" lang="en-US" altLang="ja-GB" sz="1600" b="1" dirty="0"/>
              <a:t> </a:t>
            </a:r>
            <a:r>
              <a:rPr kumimoji="1" lang="ja-GB" altLang="en-US" sz="1600" b="1" dirty="0"/>
              <a:t>ー</a:t>
            </a:r>
            <a:r>
              <a:rPr kumimoji="1" lang="en-US" altLang="ja-GB" sz="1600" b="1" dirty="0"/>
              <a:t> </a:t>
            </a:r>
            <a:r>
              <a:rPr kumimoji="1" lang="ja-GB" altLang="en-US" sz="1600" b="1" dirty="0"/>
              <a:t>この作業の最遅終了時刻</a:t>
            </a:r>
          </a:p>
        </p:txBody>
      </p:sp>
      <p:graphicFrame>
        <p:nvGraphicFramePr>
          <p:cNvPr id="4" name="表 3">
            <a:extLst>
              <a:ext uri="{FF2B5EF4-FFF2-40B4-BE49-F238E27FC236}">
                <a16:creationId xmlns:a16="http://schemas.microsoft.com/office/drawing/2014/main" id="{83A05C80-8482-6798-6F09-CBEB27DFCB33}"/>
              </a:ext>
            </a:extLst>
          </p:cNvPr>
          <p:cNvGraphicFramePr>
            <a:graphicFrameLocks noGrp="1"/>
          </p:cNvGraphicFramePr>
          <p:nvPr/>
        </p:nvGraphicFramePr>
        <p:xfrm>
          <a:off x="1407691" y="2757458"/>
          <a:ext cx="6328615" cy="2987040"/>
        </p:xfrm>
        <a:graphic>
          <a:graphicData uri="http://schemas.openxmlformats.org/drawingml/2006/table">
            <a:tbl>
              <a:tblPr firstRow="1" bandRow="1">
                <a:tableStyleId>{5C22544A-7EE6-4342-B048-85BDC9FD1C3A}</a:tableStyleId>
              </a:tblPr>
              <a:tblGrid>
                <a:gridCol w="1265723">
                  <a:extLst>
                    <a:ext uri="{9D8B030D-6E8A-4147-A177-3AD203B41FA5}">
                      <a16:colId xmlns:a16="http://schemas.microsoft.com/office/drawing/2014/main" val="3691675347"/>
                    </a:ext>
                  </a:extLst>
                </a:gridCol>
                <a:gridCol w="1265723">
                  <a:extLst>
                    <a:ext uri="{9D8B030D-6E8A-4147-A177-3AD203B41FA5}">
                      <a16:colId xmlns:a16="http://schemas.microsoft.com/office/drawing/2014/main" val="928111709"/>
                    </a:ext>
                  </a:extLst>
                </a:gridCol>
                <a:gridCol w="1265723">
                  <a:extLst>
                    <a:ext uri="{9D8B030D-6E8A-4147-A177-3AD203B41FA5}">
                      <a16:colId xmlns:a16="http://schemas.microsoft.com/office/drawing/2014/main" val="4014108102"/>
                    </a:ext>
                  </a:extLst>
                </a:gridCol>
                <a:gridCol w="1265723">
                  <a:extLst>
                    <a:ext uri="{9D8B030D-6E8A-4147-A177-3AD203B41FA5}">
                      <a16:colId xmlns:a16="http://schemas.microsoft.com/office/drawing/2014/main" val="1570955190"/>
                    </a:ext>
                  </a:extLst>
                </a:gridCol>
                <a:gridCol w="1265723">
                  <a:extLst>
                    <a:ext uri="{9D8B030D-6E8A-4147-A177-3AD203B41FA5}">
                      <a16:colId xmlns:a16="http://schemas.microsoft.com/office/drawing/2014/main" val="191779206"/>
                    </a:ext>
                  </a:extLst>
                </a:gridCol>
              </a:tblGrid>
              <a:tr h="183483">
                <a:tc>
                  <a:txBody>
                    <a:bodyPr/>
                    <a:lstStyle/>
                    <a:p>
                      <a:pPr algn="ctr"/>
                      <a:r>
                        <a:rPr lang="ja-GB" altLang="en-US" sz="1400" dirty="0"/>
                        <a:t>作業記号</a:t>
                      </a:r>
                    </a:p>
                  </a:txBody>
                  <a:tcPr/>
                </a:tc>
                <a:tc>
                  <a:txBody>
                    <a:bodyPr/>
                    <a:lstStyle/>
                    <a:p>
                      <a:pPr algn="ctr"/>
                      <a:r>
                        <a:rPr lang="ja-GB" altLang="en-US" sz="1400" dirty="0"/>
                        <a:t>作業</a:t>
                      </a:r>
                      <a:r>
                        <a:rPr lang="en-US" altLang="ja-GB" sz="1400" dirty="0"/>
                        <a:t>(</a:t>
                      </a:r>
                      <a:r>
                        <a:rPr lang="en-US" altLang="ja-GB" sz="1400" dirty="0" err="1"/>
                        <a:t>i,j</a:t>
                      </a:r>
                      <a:r>
                        <a:rPr lang="en-US" altLang="ja-GB" sz="1400" dirty="0"/>
                        <a:t>)</a:t>
                      </a:r>
                      <a:endParaRPr lang="ja-GB" altLang="en-US" sz="1400" dirty="0"/>
                    </a:p>
                  </a:txBody>
                  <a:tcPr/>
                </a:tc>
                <a:tc>
                  <a:txBody>
                    <a:bodyPr/>
                    <a:lstStyle/>
                    <a:p>
                      <a:pPr algn="ctr"/>
                      <a:r>
                        <a:rPr lang="ja-GB" altLang="en-US" sz="1400" dirty="0"/>
                        <a:t>所要日数</a:t>
                      </a:r>
                      <a:r>
                        <a:rPr lang="en-US" altLang="ja-GB" sz="1400" dirty="0"/>
                        <a:t> </a:t>
                      </a:r>
                      <a:r>
                        <a:rPr lang="en-US" altLang="ja-GB" sz="1400" dirty="0" err="1"/>
                        <a:t>D</a:t>
                      </a:r>
                      <a:r>
                        <a:rPr lang="en-US" altLang="ja-GB" sz="1400" baseline="-25000" dirty="0" err="1"/>
                        <a:t>i,j</a:t>
                      </a:r>
                      <a:endParaRPr lang="ja-GB" altLang="en-US" sz="1400" baseline="-25000" dirty="0"/>
                    </a:p>
                  </a:txBody>
                  <a:tcPr/>
                </a:tc>
                <a:tc>
                  <a:txBody>
                    <a:bodyPr/>
                    <a:lstStyle/>
                    <a:p>
                      <a:pPr algn="ctr"/>
                      <a:r>
                        <a:rPr lang="en-US" altLang="ja-GB" sz="1400" baseline="0" dirty="0"/>
                        <a:t>TF</a:t>
                      </a:r>
                      <a:endParaRPr lang="ja-GB" altLang="en-US" sz="1400" baseline="0" dirty="0"/>
                    </a:p>
                  </a:txBody>
                  <a:tcPr/>
                </a:tc>
                <a:tc>
                  <a:txBody>
                    <a:bodyPr/>
                    <a:lstStyle/>
                    <a:p>
                      <a:pPr algn="ctr"/>
                      <a:r>
                        <a:rPr lang="en-US" altLang="ja-GB" sz="1400" baseline="0" dirty="0"/>
                        <a:t>FF</a:t>
                      </a:r>
                      <a:endParaRPr lang="ja-GB" altLang="en-US" sz="1400" baseline="0" dirty="0"/>
                    </a:p>
                  </a:txBody>
                  <a:tcPr/>
                </a:tc>
                <a:extLst>
                  <a:ext uri="{0D108BD9-81ED-4DB2-BD59-A6C34878D82A}">
                    <a16:rowId xmlns:a16="http://schemas.microsoft.com/office/drawing/2014/main" val="3671063893"/>
                  </a:ext>
                </a:extLst>
              </a:tr>
              <a:tr h="185302">
                <a:tc>
                  <a:txBody>
                    <a:bodyPr/>
                    <a:lstStyle/>
                    <a:p>
                      <a:pPr algn="ctr"/>
                      <a:r>
                        <a:rPr lang="en-US" altLang="ja-GB" sz="1600" dirty="0"/>
                        <a:t>A</a:t>
                      </a:r>
                      <a:endParaRPr lang="ja-GB" altLang="en-US" sz="1600" dirty="0"/>
                    </a:p>
                  </a:txBody>
                  <a:tcPr/>
                </a:tc>
                <a:tc>
                  <a:txBody>
                    <a:bodyPr/>
                    <a:lstStyle/>
                    <a:p>
                      <a:pPr algn="ctr"/>
                      <a:r>
                        <a:rPr lang="en-US" altLang="ja-GB" sz="1600" dirty="0"/>
                        <a:t>(1,2)</a:t>
                      </a:r>
                      <a:endParaRPr lang="ja-GB" altLang="en-US" sz="1600" dirty="0"/>
                    </a:p>
                  </a:txBody>
                  <a:tcPr/>
                </a:tc>
                <a:tc>
                  <a:txBody>
                    <a:bodyPr/>
                    <a:lstStyle/>
                    <a:p>
                      <a:pPr algn="ctr"/>
                      <a:r>
                        <a:rPr lang="en-US" altLang="ja-GB" sz="1600" dirty="0"/>
                        <a:t>3</a:t>
                      </a:r>
                      <a:endParaRPr lang="ja-GB" altLang="en-US" sz="1600" dirty="0"/>
                    </a:p>
                  </a:txBody>
                  <a:tcPr/>
                </a:tc>
                <a:tc>
                  <a:txBody>
                    <a:bodyPr/>
                    <a:lstStyle/>
                    <a:p>
                      <a:pPr algn="ctr"/>
                      <a:r>
                        <a:rPr lang="en-US" altLang="ja-GB" sz="1600" dirty="0"/>
                        <a:t>0</a:t>
                      </a:r>
                      <a:endParaRPr lang="ja-GB" altLang="en-US" sz="1600" dirty="0"/>
                    </a:p>
                  </a:txBody>
                  <a:tcPr/>
                </a:tc>
                <a:tc>
                  <a:txBody>
                    <a:bodyPr/>
                    <a:lstStyle/>
                    <a:p>
                      <a:pPr algn="ctr"/>
                      <a:endParaRPr lang="ja-GB" altLang="en-US" sz="1600" dirty="0"/>
                    </a:p>
                  </a:txBody>
                  <a:tcPr/>
                </a:tc>
                <a:extLst>
                  <a:ext uri="{0D108BD9-81ED-4DB2-BD59-A6C34878D82A}">
                    <a16:rowId xmlns:a16="http://schemas.microsoft.com/office/drawing/2014/main" val="3344703274"/>
                  </a:ext>
                </a:extLst>
              </a:tr>
              <a:tr h="185302">
                <a:tc>
                  <a:txBody>
                    <a:bodyPr/>
                    <a:lstStyle/>
                    <a:p>
                      <a:pPr algn="ctr"/>
                      <a:r>
                        <a:rPr lang="en-US" altLang="ja-GB" sz="1600" dirty="0"/>
                        <a:t>B</a:t>
                      </a:r>
                      <a:endParaRPr lang="ja-GB" altLang="en-US" sz="1600" dirty="0"/>
                    </a:p>
                  </a:txBody>
                  <a:tcPr/>
                </a:tc>
                <a:tc>
                  <a:txBody>
                    <a:bodyPr/>
                    <a:lstStyle/>
                    <a:p>
                      <a:pPr algn="ctr"/>
                      <a:r>
                        <a:rPr lang="en-US" altLang="ja-GB" sz="1600" dirty="0"/>
                        <a:t>(1,3)</a:t>
                      </a:r>
                      <a:endParaRPr lang="ja-GB" altLang="en-US" sz="1600" dirty="0"/>
                    </a:p>
                  </a:txBody>
                  <a:tcPr/>
                </a:tc>
                <a:tc>
                  <a:txBody>
                    <a:bodyPr/>
                    <a:lstStyle/>
                    <a:p>
                      <a:pPr algn="ctr"/>
                      <a:r>
                        <a:rPr lang="en-US" altLang="ja-GB" sz="1600" dirty="0"/>
                        <a:t>2</a:t>
                      </a:r>
                      <a:endParaRPr lang="ja-GB" altLang="en-US" sz="1600" dirty="0"/>
                    </a:p>
                  </a:txBody>
                  <a:tcPr/>
                </a:tc>
                <a:tc>
                  <a:txBody>
                    <a:bodyPr/>
                    <a:lstStyle/>
                    <a:p>
                      <a:pPr algn="ctr"/>
                      <a:r>
                        <a:rPr lang="en-US" altLang="ja-GB" sz="1600" dirty="0"/>
                        <a:t>0</a:t>
                      </a:r>
                      <a:endParaRPr lang="ja-GB" altLang="en-US" sz="1600" dirty="0"/>
                    </a:p>
                  </a:txBody>
                  <a:tcPr/>
                </a:tc>
                <a:tc>
                  <a:txBody>
                    <a:bodyPr/>
                    <a:lstStyle/>
                    <a:p>
                      <a:pPr algn="ctr"/>
                      <a:endParaRPr lang="ja-GB" altLang="en-US" sz="1600" dirty="0"/>
                    </a:p>
                  </a:txBody>
                  <a:tcPr/>
                </a:tc>
                <a:extLst>
                  <a:ext uri="{0D108BD9-81ED-4DB2-BD59-A6C34878D82A}">
                    <a16:rowId xmlns:a16="http://schemas.microsoft.com/office/drawing/2014/main" val="4177507280"/>
                  </a:ext>
                </a:extLst>
              </a:tr>
              <a:tr h="185302">
                <a:tc>
                  <a:txBody>
                    <a:bodyPr/>
                    <a:lstStyle/>
                    <a:p>
                      <a:pPr algn="ctr"/>
                      <a:r>
                        <a:rPr lang="en-US" altLang="ja-GB" sz="1600" dirty="0"/>
                        <a:t>C</a:t>
                      </a:r>
                      <a:endParaRPr lang="ja-GB" altLang="en-US" sz="1600" dirty="0"/>
                    </a:p>
                  </a:txBody>
                  <a:tcPr/>
                </a:tc>
                <a:tc>
                  <a:txBody>
                    <a:bodyPr/>
                    <a:lstStyle/>
                    <a:p>
                      <a:pPr algn="ctr"/>
                      <a:r>
                        <a:rPr lang="en-US" altLang="ja-GB" sz="1600" dirty="0"/>
                        <a:t>(2,4)</a:t>
                      </a:r>
                      <a:endParaRPr lang="ja-GB" altLang="en-US" sz="1600" dirty="0"/>
                    </a:p>
                  </a:txBody>
                  <a:tcPr/>
                </a:tc>
                <a:tc>
                  <a:txBody>
                    <a:bodyPr/>
                    <a:lstStyle/>
                    <a:p>
                      <a:pPr algn="ctr"/>
                      <a:r>
                        <a:rPr lang="en-US" altLang="ja-GB" sz="1600" dirty="0"/>
                        <a:t>4</a:t>
                      </a:r>
                      <a:endParaRPr lang="ja-GB" altLang="en-US" sz="1600" dirty="0"/>
                    </a:p>
                  </a:txBody>
                  <a:tcPr/>
                </a:tc>
                <a:tc>
                  <a:txBody>
                    <a:bodyPr/>
                    <a:lstStyle/>
                    <a:p>
                      <a:pPr algn="ctr"/>
                      <a:r>
                        <a:rPr lang="en-US" altLang="ja-GB" sz="1600" dirty="0"/>
                        <a:t>0</a:t>
                      </a:r>
                      <a:endParaRPr lang="ja-GB" altLang="en-US" sz="1600" dirty="0"/>
                    </a:p>
                  </a:txBody>
                  <a:tcPr/>
                </a:tc>
                <a:tc>
                  <a:txBody>
                    <a:bodyPr/>
                    <a:lstStyle/>
                    <a:p>
                      <a:pPr algn="ctr"/>
                      <a:endParaRPr lang="ja-GB" altLang="en-US" sz="1600" dirty="0"/>
                    </a:p>
                  </a:txBody>
                  <a:tcPr/>
                </a:tc>
                <a:extLst>
                  <a:ext uri="{0D108BD9-81ED-4DB2-BD59-A6C34878D82A}">
                    <a16:rowId xmlns:a16="http://schemas.microsoft.com/office/drawing/2014/main" val="3414689720"/>
                  </a:ext>
                </a:extLst>
              </a:tr>
              <a:tr h="185302">
                <a:tc>
                  <a:txBody>
                    <a:bodyPr/>
                    <a:lstStyle/>
                    <a:p>
                      <a:pPr algn="ctr"/>
                      <a:r>
                        <a:rPr lang="en-US" altLang="ja-GB" sz="1600" dirty="0"/>
                        <a:t>D</a:t>
                      </a:r>
                      <a:endParaRPr lang="ja-GB" altLang="en-US" sz="1600" dirty="0"/>
                    </a:p>
                  </a:txBody>
                  <a:tcPr/>
                </a:tc>
                <a:tc>
                  <a:txBody>
                    <a:bodyPr/>
                    <a:lstStyle/>
                    <a:p>
                      <a:pPr algn="ctr"/>
                      <a:r>
                        <a:rPr lang="en-US" altLang="ja-GB" sz="1600" dirty="0"/>
                        <a:t>(3,4)</a:t>
                      </a:r>
                      <a:endParaRPr lang="ja-GB" altLang="en-US" sz="1600" dirty="0"/>
                    </a:p>
                  </a:txBody>
                  <a:tcPr/>
                </a:tc>
                <a:tc>
                  <a:txBody>
                    <a:bodyPr/>
                    <a:lstStyle/>
                    <a:p>
                      <a:pPr algn="ctr"/>
                      <a:r>
                        <a:rPr lang="en-US" altLang="ja-GB" sz="1600" dirty="0"/>
                        <a:t>5</a:t>
                      </a:r>
                      <a:endParaRPr lang="ja-GB" altLang="en-US" sz="1600" dirty="0"/>
                    </a:p>
                  </a:txBody>
                  <a:tcPr/>
                </a:tc>
                <a:tc>
                  <a:txBody>
                    <a:bodyPr/>
                    <a:lstStyle/>
                    <a:p>
                      <a:pPr algn="ctr"/>
                      <a:r>
                        <a:rPr lang="en-US" altLang="ja-GB" sz="1600" dirty="0"/>
                        <a:t>0</a:t>
                      </a:r>
                      <a:endParaRPr lang="ja-GB" altLang="en-US" sz="1600" dirty="0"/>
                    </a:p>
                  </a:txBody>
                  <a:tcPr/>
                </a:tc>
                <a:tc>
                  <a:txBody>
                    <a:bodyPr/>
                    <a:lstStyle/>
                    <a:p>
                      <a:pPr algn="ctr"/>
                      <a:endParaRPr lang="ja-GB" altLang="en-US" sz="1600" dirty="0"/>
                    </a:p>
                  </a:txBody>
                  <a:tcPr/>
                </a:tc>
                <a:extLst>
                  <a:ext uri="{0D108BD9-81ED-4DB2-BD59-A6C34878D82A}">
                    <a16:rowId xmlns:a16="http://schemas.microsoft.com/office/drawing/2014/main" val="3373349507"/>
                  </a:ext>
                </a:extLst>
              </a:tr>
              <a:tr h="185302">
                <a:tc>
                  <a:txBody>
                    <a:bodyPr/>
                    <a:lstStyle/>
                    <a:p>
                      <a:pPr algn="ctr"/>
                      <a:r>
                        <a:rPr lang="en-US" altLang="ja-GB" sz="1600" dirty="0"/>
                        <a:t>E</a:t>
                      </a:r>
                      <a:endParaRPr lang="ja-GB" altLang="en-US" sz="1600" dirty="0"/>
                    </a:p>
                  </a:txBody>
                  <a:tcPr/>
                </a:tc>
                <a:tc>
                  <a:txBody>
                    <a:bodyPr/>
                    <a:lstStyle/>
                    <a:p>
                      <a:pPr algn="ctr"/>
                      <a:r>
                        <a:rPr lang="en-US" altLang="ja-GB" sz="1600" dirty="0"/>
                        <a:t>(2,5)</a:t>
                      </a:r>
                      <a:endParaRPr lang="ja-GB" altLang="en-US" sz="1600" dirty="0"/>
                    </a:p>
                  </a:txBody>
                  <a:tcPr/>
                </a:tc>
                <a:tc>
                  <a:txBody>
                    <a:bodyPr/>
                    <a:lstStyle/>
                    <a:p>
                      <a:pPr algn="ctr"/>
                      <a:r>
                        <a:rPr lang="en-US" altLang="ja-GB" sz="1600" dirty="0"/>
                        <a:t>1</a:t>
                      </a:r>
                      <a:endParaRPr lang="ja-GB" altLang="en-US" sz="1600" dirty="0"/>
                    </a:p>
                  </a:txBody>
                  <a:tcPr/>
                </a:tc>
                <a:tc>
                  <a:txBody>
                    <a:bodyPr/>
                    <a:lstStyle/>
                    <a:p>
                      <a:pPr algn="ctr"/>
                      <a:r>
                        <a:rPr lang="en-US" altLang="ja-GB" sz="1600" dirty="0"/>
                        <a:t>7</a:t>
                      </a:r>
                      <a:endParaRPr lang="ja-GB" altLang="en-US" sz="1600" dirty="0"/>
                    </a:p>
                  </a:txBody>
                  <a:tcPr/>
                </a:tc>
                <a:tc>
                  <a:txBody>
                    <a:bodyPr/>
                    <a:lstStyle/>
                    <a:p>
                      <a:pPr algn="ctr"/>
                      <a:endParaRPr lang="ja-GB" altLang="en-US" sz="1600" dirty="0"/>
                    </a:p>
                  </a:txBody>
                  <a:tcPr/>
                </a:tc>
                <a:extLst>
                  <a:ext uri="{0D108BD9-81ED-4DB2-BD59-A6C34878D82A}">
                    <a16:rowId xmlns:a16="http://schemas.microsoft.com/office/drawing/2014/main" val="2991419434"/>
                  </a:ext>
                </a:extLst>
              </a:tr>
              <a:tr h="185302">
                <a:tc>
                  <a:txBody>
                    <a:bodyPr/>
                    <a:lstStyle/>
                    <a:p>
                      <a:pPr algn="ctr"/>
                      <a:r>
                        <a:rPr lang="en-US" altLang="ja-GB" sz="1600" dirty="0"/>
                        <a:t>F</a:t>
                      </a:r>
                      <a:endParaRPr lang="ja-GB" altLang="en-US" sz="1600" dirty="0"/>
                    </a:p>
                  </a:txBody>
                  <a:tcPr/>
                </a:tc>
                <a:tc>
                  <a:txBody>
                    <a:bodyPr/>
                    <a:lstStyle/>
                    <a:p>
                      <a:pPr algn="ctr"/>
                      <a:r>
                        <a:rPr lang="en-US" altLang="ja-GB" sz="1600" dirty="0"/>
                        <a:t>(4,6)</a:t>
                      </a:r>
                      <a:endParaRPr lang="ja-GB" altLang="en-US" sz="1600" dirty="0"/>
                    </a:p>
                  </a:txBody>
                  <a:tcPr/>
                </a:tc>
                <a:tc>
                  <a:txBody>
                    <a:bodyPr/>
                    <a:lstStyle/>
                    <a:p>
                      <a:pPr algn="ctr"/>
                      <a:r>
                        <a:rPr lang="en-US" altLang="ja-GB" sz="1600" dirty="0"/>
                        <a:t>6</a:t>
                      </a:r>
                      <a:endParaRPr lang="ja-GB" altLang="en-US" sz="1600" dirty="0"/>
                    </a:p>
                  </a:txBody>
                  <a:tcPr/>
                </a:tc>
                <a:tc>
                  <a:txBody>
                    <a:bodyPr/>
                    <a:lstStyle/>
                    <a:p>
                      <a:pPr algn="ctr"/>
                      <a:r>
                        <a:rPr lang="en-US" altLang="ja-GB" sz="1600" dirty="0"/>
                        <a:t>0</a:t>
                      </a:r>
                      <a:endParaRPr lang="ja-GB" altLang="en-US" sz="1600" dirty="0"/>
                    </a:p>
                  </a:txBody>
                  <a:tcPr/>
                </a:tc>
                <a:tc>
                  <a:txBody>
                    <a:bodyPr/>
                    <a:lstStyle/>
                    <a:p>
                      <a:pPr algn="ctr"/>
                      <a:endParaRPr lang="ja-GB" altLang="en-US" sz="1600" dirty="0"/>
                    </a:p>
                  </a:txBody>
                  <a:tcPr/>
                </a:tc>
                <a:extLst>
                  <a:ext uri="{0D108BD9-81ED-4DB2-BD59-A6C34878D82A}">
                    <a16:rowId xmlns:a16="http://schemas.microsoft.com/office/drawing/2014/main" val="3985016094"/>
                  </a:ext>
                </a:extLst>
              </a:tr>
              <a:tr h="185302">
                <a:tc>
                  <a:txBody>
                    <a:bodyPr/>
                    <a:lstStyle/>
                    <a:p>
                      <a:pPr algn="ctr"/>
                      <a:r>
                        <a:rPr lang="en-US" altLang="ja-GB" sz="1600" dirty="0"/>
                        <a:t>G</a:t>
                      </a:r>
                      <a:endParaRPr lang="ja-GB" altLang="en-US" sz="1600" dirty="0"/>
                    </a:p>
                  </a:txBody>
                  <a:tcPr/>
                </a:tc>
                <a:tc>
                  <a:txBody>
                    <a:bodyPr/>
                    <a:lstStyle/>
                    <a:p>
                      <a:pPr algn="ctr"/>
                      <a:r>
                        <a:rPr lang="en-US" altLang="ja-GB" sz="1600" dirty="0"/>
                        <a:t>(4,5)</a:t>
                      </a:r>
                      <a:endParaRPr lang="ja-GB" altLang="en-US" sz="1600" dirty="0"/>
                    </a:p>
                  </a:txBody>
                  <a:tcPr/>
                </a:tc>
                <a:tc>
                  <a:txBody>
                    <a:bodyPr/>
                    <a:lstStyle/>
                    <a:p>
                      <a:pPr algn="ctr"/>
                      <a:r>
                        <a:rPr lang="en-US" altLang="ja-GB" sz="1600" dirty="0"/>
                        <a:t>3</a:t>
                      </a:r>
                      <a:endParaRPr lang="ja-GB" altLang="en-US" sz="1600" dirty="0"/>
                    </a:p>
                  </a:txBody>
                  <a:tcPr/>
                </a:tc>
                <a:tc>
                  <a:txBody>
                    <a:bodyPr/>
                    <a:lstStyle/>
                    <a:p>
                      <a:pPr algn="ctr"/>
                      <a:r>
                        <a:rPr lang="en-US" altLang="ja-GB" sz="1600" dirty="0"/>
                        <a:t>1</a:t>
                      </a:r>
                      <a:endParaRPr lang="ja-GB" altLang="en-US" sz="1600" dirty="0"/>
                    </a:p>
                  </a:txBody>
                  <a:tcPr/>
                </a:tc>
                <a:tc>
                  <a:txBody>
                    <a:bodyPr/>
                    <a:lstStyle/>
                    <a:p>
                      <a:pPr algn="ctr"/>
                      <a:endParaRPr lang="ja-GB" altLang="en-US" sz="1600" dirty="0"/>
                    </a:p>
                  </a:txBody>
                  <a:tcPr/>
                </a:tc>
                <a:extLst>
                  <a:ext uri="{0D108BD9-81ED-4DB2-BD59-A6C34878D82A}">
                    <a16:rowId xmlns:a16="http://schemas.microsoft.com/office/drawing/2014/main" val="852509030"/>
                  </a:ext>
                </a:extLst>
              </a:tr>
              <a:tr h="185302">
                <a:tc>
                  <a:txBody>
                    <a:bodyPr/>
                    <a:lstStyle/>
                    <a:p>
                      <a:pPr algn="ctr"/>
                      <a:r>
                        <a:rPr lang="en-US" altLang="ja-GB" sz="1600" dirty="0"/>
                        <a:t>H</a:t>
                      </a:r>
                      <a:endParaRPr lang="ja-GB" altLang="en-US" sz="1600" dirty="0"/>
                    </a:p>
                  </a:txBody>
                  <a:tcPr/>
                </a:tc>
                <a:tc>
                  <a:txBody>
                    <a:bodyPr/>
                    <a:lstStyle/>
                    <a:p>
                      <a:pPr algn="ctr"/>
                      <a:r>
                        <a:rPr lang="en-US" altLang="ja-GB" sz="1600" dirty="0"/>
                        <a:t>(5,6)</a:t>
                      </a:r>
                      <a:endParaRPr lang="ja-GB" altLang="en-US" sz="1600" dirty="0"/>
                    </a:p>
                  </a:txBody>
                  <a:tcPr/>
                </a:tc>
                <a:tc>
                  <a:txBody>
                    <a:bodyPr/>
                    <a:lstStyle/>
                    <a:p>
                      <a:pPr algn="ctr"/>
                      <a:r>
                        <a:rPr lang="en-US" altLang="ja-GB" sz="1600" dirty="0"/>
                        <a:t>2</a:t>
                      </a:r>
                      <a:endParaRPr lang="ja-GB" altLang="en-US" sz="1600" dirty="0"/>
                    </a:p>
                  </a:txBody>
                  <a:tcPr/>
                </a:tc>
                <a:tc>
                  <a:txBody>
                    <a:bodyPr/>
                    <a:lstStyle/>
                    <a:p>
                      <a:pPr algn="ctr"/>
                      <a:r>
                        <a:rPr lang="en-US" altLang="ja-GB" sz="1600" dirty="0"/>
                        <a:t>1</a:t>
                      </a:r>
                      <a:endParaRPr lang="ja-GB" altLang="en-US" sz="1600" dirty="0"/>
                    </a:p>
                  </a:txBody>
                  <a:tcPr/>
                </a:tc>
                <a:tc>
                  <a:txBody>
                    <a:bodyPr/>
                    <a:lstStyle/>
                    <a:p>
                      <a:pPr algn="ctr"/>
                      <a:endParaRPr lang="ja-GB" altLang="en-US" sz="1600" dirty="0"/>
                    </a:p>
                  </a:txBody>
                  <a:tcPr/>
                </a:tc>
                <a:extLst>
                  <a:ext uri="{0D108BD9-81ED-4DB2-BD59-A6C34878D82A}">
                    <a16:rowId xmlns:a16="http://schemas.microsoft.com/office/drawing/2014/main" val="3285484398"/>
                  </a:ext>
                </a:extLst>
              </a:tr>
            </a:tbl>
          </a:graphicData>
        </a:graphic>
      </p:graphicFrame>
      <p:sp>
        <p:nvSpPr>
          <p:cNvPr id="42" name="テキスト ボックス 41">
            <a:extLst>
              <a:ext uri="{FF2B5EF4-FFF2-40B4-BE49-F238E27FC236}">
                <a16:creationId xmlns:a16="http://schemas.microsoft.com/office/drawing/2014/main" id="{87AB6973-6C12-1430-2A36-3E7D02185DA8}"/>
              </a:ext>
            </a:extLst>
          </p:cNvPr>
          <p:cNvSpPr txBox="1"/>
          <p:nvPr/>
        </p:nvSpPr>
        <p:spPr>
          <a:xfrm>
            <a:off x="6379387" y="5801544"/>
            <a:ext cx="2634054" cy="276999"/>
          </a:xfrm>
          <a:prstGeom prst="rect">
            <a:avLst/>
          </a:prstGeom>
          <a:noFill/>
        </p:spPr>
        <p:txBody>
          <a:bodyPr wrap="none" rtlCol="0">
            <a:spAutoFit/>
          </a:bodyPr>
          <a:lstStyle/>
          <a:p>
            <a:r>
              <a:rPr kumimoji="1" lang="en-US" altLang="ja-GB" sz="1200" dirty="0"/>
              <a:t>※FF</a:t>
            </a:r>
            <a:r>
              <a:rPr kumimoji="1" lang="ja-GB" altLang="en-US" sz="1200" dirty="0"/>
              <a:t>の計算は演習課題に含まれます</a:t>
            </a:r>
          </a:p>
        </p:txBody>
      </p:sp>
    </p:spTree>
    <p:extLst>
      <p:ext uri="{BB962C8B-B14F-4D97-AF65-F5344CB8AC3E}">
        <p14:creationId xmlns:p14="http://schemas.microsoft.com/office/powerpoint/2010/main" val="3410929112"/>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D4AC01-8195-BA5D-8090-F41080E378DF}"/>
              </a:ext>
            </a:extLst>
          </p:cNvPr>
          <p:cNvSpPr>
            <a:spLocks noGrp="1"/>
          </p:cNvSpPr>
          <p:nvPr>
            <p:ph type="title"/>
          </p:nvPr>
        </p:nvSpPr>
        <p:spPr/>
        <p:txBody>
          <a:bodyPr/>
          <a:lstStyle/>
          <a:p>
            <a:r>
              <a:rPr kumimoji="1" lang="ja-GB" altLang="en-US" dirty="0"/>
              <a:t>本授業で用いる日程計画表の形式</a:t>
            </a:r>
          </a:p>
        </p:txBody>
      </p:sp>
      <p:graphicFrame>
        <p:nvGraphicFramePr>
          <p:cNvPr id="6" name="表 5">
            <a:extLst>
              <a:ext uri="{FF2B5EF4-FFF2-40B4-BE49-F238E27FC236}">
                <a16:creationId xmlns:a16="http://schemas.microsoft.com/office/drawing/2014/main" id="{691333A7-D5F5-2841-EAA2-4F1ECCED5268}"/>
              </a:ext>
            </a:extLst>
          </p:cNvPr>
          <p:cNvGraphicFramePr>
            <a:graphicFrameLocks noGrp="1"/>
          </p:cNvGraphicFramePr>
          <p:nvPr/>
        </p:nvGraphicFramePr>
        <p:xfrm>
          <a:off x="1407690" y="1060268"/>
          <a:ext cx="6328620" cy="3261360"/>
        </p:xfrm>
        <a:graphic>
          <a:graphicData uri="http://schemas.openxmlformats.org/drawingml/2006/table">
            <a:tbl>
              <a:tblPr firstRow="1" bandRow="1">
                <a:tableStyleId>{5C22544A-7EE6-4342-B048-85BDC9FD1C3A}</a:tableStyleId>
              </a:tblPr>
              <a:tblGrid>
                <a:gridCol w="632862">
                  <a:extLst>
                    <a:ext uri="{9D8B030D-6E8A-4147-A177-3AD203B41FA5}">
                      <a16:colId xmlns:a16="http://schemas.microsoft.com/office/drawing/2014/main" val="3691675347"/>
                    </a:ext>
                  </a:extLst>
                </a:gridCol>
                <a:gridCol w="632862">
                  <a:extLst>
                    <a:ext uri="{9D8B030D-6E8A-4147-A177-3AD203B41FA5}">
                      <a16:colId xmlns:a16="http://schemas.microsoft.com/office/drawing/2014/main" val="928111709"/>
                    </a:ext>
                  </a:extLst>
                </a:gridCol>
                <a:gridCol w="632862">
                  <a:extLst>
                    <a:ext uri="{9D8B030D-6E8A-4147-A177-3AD203B41FA5}">
                      <a16:colId xmlns:a16="http://schemas.microsoft.com/office/drawing/2014/main" val="4014108102"/>
                    </a:ext>
                  </a:extLst>
                </a:gridCol>
                <a:gridCol w="632862">
                  <a:extLst>
                    <a:ext uri="{9D8B030D-6E8A-4147-A177-3AD203B41FA5}">
                      <a16:colId xmlns:a16="http://schemas.microsoft.com/office/drawing/2014/main" val="182218732"/>
                    </a:ext>
                  </a:extLst>
                </a:gridCol>
                <a:gridCol w="632862">
                  <a:extLst>
                    <a:ext uri="{9D8B030D-6E8A-4147-A177-3AD203B41FA5}">
                      <a16:colId xmlns:a16="http://schemas.microsoft.com/office/drawing/2014/main" val="4045444000"/>
                    </a:ext>
                  </a:extLst>
                </a:gridCol>
                <a:gridCol w="632862">
                  <a:extLst>
                    <a:ext uri="{9D8B030D-6E8A-4147-A177-3AD203B41FA5}">
                      <a16:colId xmlns:a16="http://schemas.microsoft.com/office/drawing/2014/main" val="2337079070"/>
                    </a:ext>
                  </a:extLst>
                </a:gridCol>
                <a:gridCol w="632862">
                  <a:extLst>
                    <a:ext uri="{9D8B030D-6E8A-4147-A177-3AD203B41FA5}">
                      <a16:colId xmlns:a16="http://schemas.microsoft.com/office/drawing/2014/main" val="3059339845"/>
                    </a:ext>
                  </a:extLst>
                </a:gridCol>
                <a:gridCol w="632862">
                  <a:extLst>
                    <a:ext uri="{9D8B030D-6E8A-4147-A177-3AD203B41FA5}">
                      <a16:colId xmlns:a16="http://schemas.microsoft.com/office/drawing/2014/main" val="1570955190"/>
                    </a:ext>
                  </a:extLst>
                </a:gridCol>
                <a:gridCol w="632862">
                  <a:extLst>
                    <a:ext uri="{9D8B030D-6E8A-4147-A177-3AD203B41FA5}">
                      <a16:colId xmlns:a16="http://schemas.microsoft.com/office/drawing/2014/main" val="191779206"/>
                    </a:ext>
                  </a:extLst>
                </a:gridCol>
                <a:gridCol w="632862">
                  <a:extLst>
                    <a:ext uri="{9D8B030D-6E8A-4147-A177-3AD203B41FA5}">
                      <a16:colId xmlns:a16="http://schemas.microsoft.com/office/drawing/2014/main" val="1164123226"/>
                    </a:ext>
                  </a:extLst>
                </a:gridCol>
              </a:tblGrid>
              <a:tr h="183483">
                <a:tc>
                  <a:txBody>
                    <a:bodyPr/>
                    <a:lstStyle/>
                    <a:p>
                      <a:pPr algn="ctr"/>
                      <a:r>
                        <a:rPr lang="ja-GB" altLang="en-US" sz="1600" dirty="0"/>
                        <a:t>記号</a:t>
                      </a:r>
                    </a:p>
                  </a:txBody>
                  <a:tcPr/>
                </a:tc>
                <a:tc>
                  <a:txBody>
                    <a:bodyPr/>
                    <a:lstStyle/>
                    <a:p>
                      <a:pPr algn="ctr"/>
                      <a:r>
                        <a:rPr lang="en-US" altLang="ja-GB" sz="1600" dirty="0"/>
                        <a:t>(</a:t>
                      </a:r>
                      <a:r>
                        <a:rPr lang="en-US" altLang="ja-GB" sz="1600" dirty="0" err="1"/>
                        <a:t>i,j</a:t>
                      </a:r>
                      <a:r>
                        <a:rPr lang="en-US" altLang="ja-GB" sz="1600" dirty="0"/>
                        <a:t>)</a:t>
                      </a:r>
                      <a:endParaRPr lang="ja-GB" altLang="en-US" sz="1600" dirty="0"/>
                    </a:p>
                  </a:txBody>
                  <a:tcPr/>
                </a:tc>
                <a:tc>
                  <a:txBody>
                    <a:bodyPr/>
                    <a:lstStyle/>
                    <a:p>
                      <a:pPr algn="ctr"/>
                      <a:r>
                        <a:rPr lang="en-US" altLang="ja-GB" sz="1600" dirty="0" err="1"/>
                        <a:t>D</a:t>
                      </a:r>
                      <a:r>
                        <a:rPr lang="en-US" altLang="ja-GB" sz="1600" baseline="-25000" dirty="0" err="1"/>
                        <a:t>i,j</a:t>
                      </a:r>
                      <a:endParaRPr lang="ja-GB" altLang="en-US" sz="1600" baseline="-25000" dirty="0"/>
                    </a:p>
                  </a:txBody>
                  <a:tcPr/>
                </a:tc>
                <a:tc>
                  <a:txBody>
                    <a:bodyPr/>
                    <a:lstStyle/>
                    <a:p>
                      <a:pPr algn="ctr"/>
                      <a:r>
                        <a:rPr lang="en-US" altLang="ja-GB" sz="1600" baseline="0" dirty="0"/>
                        <a:t>ES</a:t>
                      </a:r>
                      <a:endParaRPr lang="ja-GB" altLang="en-US" sz="1600" baseline="0" dirty="0"/>
                    </a:p>
                  </a:txBody>
                  <a:tcPr/>
                </a:tc>
                <a:tc>
                  <a:txBody>
                    <a:bodyPr/>
                    <a:lstStyle/>
                    <a:p>
                      <a:pPr algn="ctr"/>
                      <a:r>
                        <a:rPr lang="en-US" altLang="ja-GB" sz="1600" baseline="0" dirty="0"/>
                        <a:t>EF</a:t>
                      </a:r>
                      <a:endParaRPr lang="ja-GB" altLang="en-US" sz="1600" baseline="0" dirty="0"/>
                    </a:p>
                  </a:txBody>
                  <a:tcPr/>
                </a:tc>
                <a:tc>
                  <a:txBody>
                    <a:bodyPr/>
                    <a:lstStyle/>
                    <a:p>
                      <a:pPr algn="ctr"/>
                      <a:r>
                        <a:rPr lang="en-US" altLang="ja-GB" sz="1600" baseline="0" dirty="0"/>
                        <a:t>LS</a:t>
                      </a:r>
                      <a:endParaRPr lang="ja-GB" altLang="en-US" sz="1600" baseline="0" dirty="0"/>
                    </a:p>
                  </a:txBody>
                  <a:tcPr/>
                </a:tc>
                <a:tc>
                  <a:txBody>
                    <a:bodyPr/>
                    <a:lstStyle/>
                    <a:p>
                      <a:pPr algn="ctr"/>
                      <a:r>
                        <a:rPr lang="en-US" altLang="ja-GB" sz="1600" baseline="0" dirty="0"/>
                        <a:t>LF</a:t>
                      </a:r>
                      <a:endParaRPr lang="ja-GB" altLang="en-US" sz="1600" baseline="0" dirty="0"/>
                    </a:p>
                  </a:txBody>
                  <a:tcPr/>
                </a:tc>
                <a:tc>
                  <a:txBody>
                    <a:bodyPr/>
                    <a:lstStyle/>
                    <a:p>
                      <a:pPr algn="ctr"/>
                      <a:r>
                        <a:rPr lang="en-US" altLang="ja-GB" sz="1600" baseline="0" dirty="0"/>
                        <a:t>TF</a:t>
                      </a:r>
                      <a:endParaRPr lang="ja-GB" altLang="en-US" sz="1600" baseline="0" dirty="0"/>
                    </a:p>
                  </a:txBody>
                  <a:tcPr/>
                </a:tc>
                <a:tc>
                  <a:txBody>
                    <a:bodyPr/>
                    <a:lstStyle/>
                    <a:p>
                      <a:pPr algn="ctr"/>
                      <a:r>
                        <a:rPr lang="en-US" altLang="ja-GB" sz="1600" baseline="0" dirty="0"/>
                        <a:t>FF</a:t>
                      </a:r>
                      <a:endParaRPr lang="ja-GB" altLang="en-US" sz="1600" baseline="0" dirty="0"/>
                    </a:p>
                  </a:txBody>
                  <a:tcPr/>
                </a:tc>
                <a:tc>
                  <a:txBody>
                    <a:bodyPr/>
                    <a:lstStyle/>
                    <a:p>
                      <a:pPr algn="ctr"/>
                      <a:r>
                        <a:rPr lang="en-US" altLang="ja-GB" sz="1600" baseline="0" dirty="0"/>
                        <a:t>CP</a:t>
                      </a:r>
                      <a:endParaRPr lang="ja-GB" altLang="en-US" sz="1600" baseline="0" dirty="0"/>
                    </a:p>
                  </a:txBody>
                  <a:tcPr/>
                </a:tc>
                <a:extLst>
                  <a:ext uri="{0D108BD9-81ED-4DB2-BD59-A6C34878D82A}">
                    <a16:rowId xmlns:a16="http://schemas.microsoft.com/office/drawing/2014/main" val="3671063893"/>
                  </a:ext>
                </a:extLst>
              </a:tr>
              <a:tr h="185302">
                <a:tc>
                  <a:txBody>
                    <a:bodyPr/>
                    <a:lstStyle/>
                    <a:p>
                      <a:pPr algn="ctr"/>
                      <a:r>
                        <a:rPr lang="en-US" altLang="ja-GB" sz="1800" dirty="0"/>
                        <a:t>A</a:t>
                      </a:r>
                      <a:endParaRPr lang="ja-GB" altLang="en-US" sz="1800" dirty="0"/>
                    </a:p>
                  </a:txBody>
                  <a:tcPr/>
                </a:tc>
                <a:tc>
                  <a:txBody>
                    <a:bodyPr/>
                    <a:lstStyle/>
                    <a:p>
                      <a:pPr algn="ctr"/>
                      <a:r>
                        <a:rPr lang="en-US" altLang="ja-GB" sz="1800" dirty="0"/>
                        <a:t>(1,2)</a:t>
                      </a:r>
                      <a:endParaRPr lang="ja-GB" altLang="en-US" sz="1800" dirty="0"/>
                    </a:p>
                  </a:txBody>
                  <a:tcPr/>
                </a:tc>
                <a:tc>
                  <a:txBody>
                    <a:bodyPr/>
                    <a:lstStyle/>
                    <a:p>
                      <a:pPr algn="ctr"/>
                      <a:r>
                        <a:rPr lang="en-US" altLang="ja-GB" sz="1800" dirty="0"/>
                        <a:t>3</a:t>
                      </a: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r>
                        <a:rPr lang="en-US" altLang="ja-GB" sz="1800" dirty="0"/>
                        <a:t>0</a:t>
                      </a: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extLst>
                  <a:ext uri="{0D108BD9-81ED-4DB2-BD59-A6C34878D82A}">
                    <a16:rowId xmlns:a16="http://schemas.microsoft.com/office/drawing/2014/main" val="3344703274"/>
                  </a:ext>
                </a:extLst>
              </a:tr>
              <a:tr h="185302">
                <a:tc>
                  <a:txBody>
                    <a:bodyPr/>
                    <a:lstStyle/>
                    <a:p>
                      <a:pPr algn="ctr"/>
                      <a:r>
                        <a:rPr lang="en-US" altLang="ja-GB" sz="1800" dirty="0"/>
                        <a:t>B</a:t>
                      </a:r>
                      <a:endParaRPr lang="ja-GB" altLang="en-US" sz="1800" dirty="0"/>
                    </a:p>
                  </a:txBody>
                  <a:tcPr/>
                </a:tc>
                <a:tc>
                  <a:txBody>
                    <a:bodyPr/>
                    <a:lstStyle/>
                    <a:p>
                      <a:pPr algn="ctr"/>
                      <a:r>
                        <a:rPr lang="en-US" altLang="ja-GB" sz="1800" dirty="0"/>
                        <a:t>(1,3)</a:t>
                      </a:r>
                      <a:endParaRPr lang="ja-GB" altLang="en-US" sz="1800" dirty="0"/>
                    </a:p>
                  </a:txBody>
                  <a:tcPr/>
                </a:tc>
                <a:tc>
                  <a:txBody>
                    <a:bodyPr/>
                    <a:lstStyle/>
                    <a:p>
                      <a:pPr algn="ctr"/>
                      <a:r>
                        <a:rPr lang="en-US" altLang="ja-GB" sz="1800" dirty="0"/>
                        <a:t>2</a:t>
                      </a: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r>
                        <a:rPr lang="en-US" altLang="ja-GB" sz="1800" dirty="0"/>
                        <a:t>0</a:t>
                      </a: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extLst>
                  <a:ext uri="{0D108BD9-81ED-4DB2-BD59-A6C34878D82A}">
                    <a16:rowId xmlns:a16="http://schemas.microsoft.com/office/drawing/2014/main" val="4177507280"/>
                  </a:ext>
                </a:extLst>
              </a:tr>
              <a:tr h="185302">
                <a:tc>
                  <a:txBody>
                    <a:bodyPr/>
                    <a:lstStyle/>
                    <a:p>
                      <a:pPr algn="ctr"/>
                      <a:r>
                        <a:rPr lang="en-US" altLang="ja-GB" sz="1800" dirty="0"/>
                        <a:t>C</a:t>
                      </a:r>
                      <a:endParaRPr lang="ja-GB" altLang="en-US" sz="1800" dirty="0"/>
                    </a:p>
                  </a:txBody>
                  <a:tcPr/>
                </a:tc>
                <a:tc>
                  <a:txBody>
                    <a:bodyPr/>
                    <a:lstStyle/>
                    <a:p>
                      <a:pPr algn="ctr"/>
                      <a:r>
                        <a:rPr lang="en-US" altLang="ja-GB" sz="1800" dirty="0"/>
                        <a:t>(2,4)</a:t>
                      </a:r>
                      <a:endParaRPr lang="ja-GB" altLang="en-US" sz="1800" dirty="0"/>
                    </a:p>
                  </a:txBody>
                  <a:tcPr/>
                </a:tc>
                <a:tc>
                  <a:txBody>
                    <a:bodyPr/>
                    <a:lstStyle/>
                    <a:p>
                      <a:pPr algn="ctr"/>
                      <a:r>
                        <a:rPr lang="en-US" altLang="ja-GB" sz="1800" dirty="0"/>
                        <a:t>4</a:t>
                      </a: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r>
                        <a:rPr lang="en-US" altLang="ja-GB" sz="1800" dirty="0"/>
                        <a:t>0</a:t>
                      </a: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extLst>
                  <a:ext uri="{0D108BD9-81ED-4DB2-BD59-A6C34878D82A}">
                    <a16:rowId xmlns:a16="http://schemas.microsoft.com/office/drawing/2014/main" val="3414689720"/>
                  </a:ext>
                </a:extLst>
              </a:tr>
              <a:tr h="185302">
                <a:tc>
                  <a:txBody>
                    <a:bodyPr/>
                    <a:lstStyle/>
                    <a:p>
                      <a:pPr algn="ctr"/>
                      <a:r>
                        <a:rPr lang="en-US" altLang="ja-GB" sz="1800" dirty="0"/>
                        <a:t>D</a:t>
                      </a:r>
                      <a:endParaRPr lang="ja-GB" altLang="en-US" sz="1800" dirty="0"/>
                    </a:p>
                  </a:txBody>
                  <a:tcPr/>
                </a:tc>
                <a:tc>
                  <a:txBody>
                    <a:bodyPr/>
                    <a:lstStyle/>
                    <a:p>
                      <a:pPr algn="ctr"/>
                      <a:r>
                        <a:rPr lang="en-US" altLang="ja-GB" sz="1800" dirty="0"/>
                        <a:t>(3,4)</a:t>
                      </a:r>
                      <a:endParaRPr lang="ja-GB" altLang="en-US" sz="1800" dirty="0"/>
                    </a:p>
                  </a:txBody>
                  <a:tcPr/>
                </a:tc>
                <a:tc>
                  <a:txBody>
                    <a:bodyPr/>
                    <a:lstStyle/>
                    <a:p>
                      <a:pPr algn="ctr"/>
                      <a:r>
                        <a:rPr lang="en-US" altLang="ja-GB" sz="1800" dirty="0"/>
                        <a:t>5</a:t>
                      </a: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r>
                        <a:rPr lang="en-US" altLang="ja-GB" sz="1800" dirty="0"/>
                        <a:t>0</a:t>
                      </a: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extLst>
                  <a:ext uri="{0D108BD9-81ED-4DB2-BD59-A6C34878D82A}">
                    <a16:rowId xmlns:a16="http://schemas.microsoft.com/office/drawing/2014/main" val="3373349507"/>
                  </a:ext>
                </a:extLst>
              </a:tr>
              <a:tr h="185302">
                <a:tc>
                  <a:txBody>
                    <a:bodyPr/>
                    <a:lstStyle/>
                    <a:p>
                      <a:pPr algn="ctr"/>
                      <a:r>
                        <a:rPr lang="en-US" altLang="ja-GB" sz="1800" dirty="0"/>
                        <a:t>E</a:t>
                      </a:r>
                      <a:endParaRPr lang="ja-GB" altLang="en-US" sz="1800" dirty="0"/>
                    </a:p>
                  </a:txBody>
                  <a:tcPr/>
                </a:tc>
                <a:tc>
                  <a:txBody>
                    <a:bodyPr/>
                    <a:lstStyle/>
                    <a:p>
                      <a:pPr algn="ctr"/>
                      <a:r>
                        <a:rPr lang="en-US" altLang="ja-GB" sz="1800" dirty="0"/>
                        <a:t>(2,5)</a:t>
                      </a:r>
                      <a:endParaRPr lang="ja-GB" altLang="en-US" sz="1800" dirty="0"/>
                    </a:p>
                  </a:txBody>
                  <a:tcPr/>
                </a:tc>
                <a:tc>
                  <a:txBody>
                    <a:bodyPr/>
                    <a:lstStyle/>
                    <a:p>
                      <a:pPr algn="ctr"/>
                      <a:r>
                        <a:rPr lang="en-US" altLang="ja-GB" sz="1800" dirty="0"/>
                        <a:t>1</a:t>
                      </a: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r>
                        <a:rPr lang="en-US" altLang="ja-GB" sz="1800" dirty="0"/>
                        <a:t>7</a:t>
                      </a: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extLst>
                  <a:ext uri="{0D108BD9-81ED-4DB2-BD59-A6C34878D82A}">
                    <a16:rowId xmlns:a16="http://schemas.microsoft.com/office/drawing/2014/main" val="2991419434"/>
                  </a:ext>
                </a:extLst>
              </a:tr>
              <a:tr h="185302">
                <a:tc>
                  <a:txBody>
                    <a:bodyPr/>
                    <a:lstStyle/>
                    <a:p>
                      <a:pPr algn="ctr"/>
                      <a:r>
                        <a:rPr lang="en-US" altLang="ja-GB" sz="1800" dirty="0"/>
                        <a:t>F</a:t>
                      </a:r>
                      <a:endParaRPr lang="ja-GB" altLang="en-US" sz="1800" dirty="0"/>
                    </a:p>
                  </a:txBody>
                  <a:tcPr/>
                </a:tc>
                <a:tc>
                  <a:txBody>
                    <a:bodyPr/>
                    <a:lstStyle/>
                    <a:p>
                      <a:pPr algn="ctr"/>
                      <a:r>
                        <a:rPr lang="en-US" altLang="ja-GB" sz="1800" dirty="0"/>
                        <a:t>(4,6)</a:t>
                      </a:r>
                      <a:endParaRPr lang="ja-GB" altLang="en-US" sz="1800" dirty="0"/>
                    </a:p>
                  </a:txBody>
                  <a:tcPr/>
                </a:tc>
                <a:tc>
                  <a:txBody>
                    <a:bodyPr/>
                    <a:lstStyle/>
                    <a:p>
                      <a:pPr algn="ctr"/>
                      <a:r>
                        <a:rPr lang="en-US" altLang="ja-GB" sz="1800" dirty="0"/>
                        <a:t>6</a:t>
                      </a: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r>
                        <a:rPr lang="en-US" altLang="ja-GB" sz="1800" dirty="0"/>
                        <a:t>0</a:t>
                      </a: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extLst>
                  <a:ext uri="{0D108BD9-81ED-4DB2-BD59-A6C34878D82A}">
                    <a16:rowId xmlns:a16="http://schemas.microsoft.com/office/drawing/2014/main" val="3985016094"/>
                  </a:ext>
                </a:extLst>
              </a:tr>
              <a:tr h="185302">
                <a:tc>
                  <a:txBody>
                    <a:bodyPr/>
                    <a:lstStyle/>
                    <a:p>
                      <a:pPr algn="ctr"/>
                      <a:r>
                        <a:rPr lang="en-US" altLang="ja-GB" sz="1800" dirty="0"/>
                        <a:t>G</a:t>
                      </a:r>
                      <a:endParaRPr lang="ja-GB" altLang="en-US" sz="1800" dirty="0"/>
                    </a:p>
                  </a:txBody>
                  <a:tcPr/>
                </a:tc>
                <a:tc>
                  <a:txBody>
                    <a:bodyPr/>
                    <a:lstStyle/>
                    <a:p>
                      <a:pPr algn="ctr"/>
                      <a:r>
                        <a:rPr lang="en-US" altLang="ja-GB" sz="1800" dirty="0"/>
                        <a:t>(4,5)</a:t>
                      </a:r>
                      <a:endParaRPr lang="ja-GB" altLang="en-US" sz="1800" dirty="0"/>
                    </a:p>
                  </a:txBody>
                  <a:tcPr/>
                </a:tc>
                <a:tc>
                  <a:txBody>
                    <a:bodyPr/>
                    <a:lstStyle/>
                    <a:p>
                      <a:pPr algn="ctr"/>
                      <a:r>
                        <a:rPr lang="en-US" altLang="ja-GB" sz="1800" dirty="0"/>
                        <a:t>3</a:t>
                      </a: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r>
                        <a:rPr lang="en-US" altLang="ja-GB" sz="1800" dirty="0"/>
                        <a:t>1</a:t>
                      </a: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extLst>
                  <a:ext uri="{0D108BD9-81ED-4DB2-BD59-A6C34878D82A}">
                    <a16:rowId xmlns:a16="http://schemas.microsoft.com/office/drawing/2014/main" val="852509030"/>
                  </a:ext>
                </a:extLst>
              </a:tr>
              <a:tr h="185302">
                <a:tc>
                  <a:txBody>
                    <a:bodyPr/>
                    <a:lstStyle/>
                    <a:p>
                      <a:pPr algn="ctr"/>
                      <a:r>
                        <a:rPr lang="en-US" altLang="ja-GB" sz="1800" dirty="0"/>
                        <a:t>H</a:t>
                      </a:r>
                      <a:endParaRPr lang="ja-GB" altLang="en-US" sz="1800" dirty="0"/>
                    </a:p>
                  </a:txBody>
                  <a:tcPr/>
                </a:tc>
                <a:tc>
                  <a:txBody>
                    <a:bodyPr/>
                    <a:lstStyle/>
                    <a:p>
                      <a:pPr algn="ctr"/>
                      <a:r>
                        <a:rPr lang="en-US" altLang="ja-GB" sz="1800" dirty="0"/>
                        <a:t>(5,6)</a:t>
                      </a:r>
                      <a:endParaRPr lang="ja-GB" altLang="en-US" sz="1800" dirty="0"/>
                    </a:p>
                  </a:txBody>
                  <a:tcPr/>
                </a:tc>
                <a:tc>
                  <a:txBody>
                    <a:bodyPr/>
                    <a:lstStyle/>
                    <a:p>
                      <a:pPr algn="ctr"/>
                      <a:r>
                        <a:rPr lang="en-US" altLang="ja-GB" sz="1800" dirty="0"/>
                        <a:t>2</a:t>
                      </a: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tc>
                  <a:txBody>
                    <a:bodyPr/>
                    <a:lstStyle/>
                    <a:p>
                      <a:pPr algn="ctr"/>
                      <a:r>
                        <a:rPr lang="en-US" altLang="ja-GB" sz="1800" dirty="0"/>
                        <a:t>1</a:t>
                      </a:r>
                      <a:endParaRPr lang="ja-GB" altLang="en-US" sz="1800" dirty="0"/>
                    </a:p>
                  </a:txBody>
                  <a:tcPr/>
                </a:tc>
                <a:tc>
                  <a:txBody>
                    <a:bodyPr/>
                    <a:lstStyle/>
                    <a:p>
                      <a:pPr algn="ctr"/>
                      <a:endParaRPr lang="ja-GB" altLang="en-US" sz="1800" dirty="0"/>
                    </a:p>
                  </a:txBody>
                  <a:tcPr/>
                </a:tc>
                <a:tc>
                  <a:txBody>
                    <a:bodyPr/>
                    <a:lstStyle/>
                    <a:p>
                      <a:pPr algn="ctr"/>
                      <a:endParaRPr lang="ja-GB" altLang="en-US" sz="1800" dirty="0"/>
                    </a:p>
                  </a:txBody>
                  <a:tcPr/>
                </a:tc>
                <a:extLst>
                  <a:ext uri="{0D108BD9-81ED-4DB2-BD59-A6C34878D82A}">
                    <a16:rowId xmlns:a16="http://schemas.microsoft.com/office/drawing/2014/main" val="3285484398"/>
                  </a:ext>
                </a:extLst>
              </a:tr>
            </a:tbl>
          </a:graphicData>
        </a:graphic>
      </p:graphicFrame>
      <p:sp>
        <p:nvSpPr>
          <p:cNvPr id="7" name="円/楕円 6">
            <a:extLst>
              <a:ext uri="{FF2B5EF4-FFF2-40B4-BE49-F238E27FC236}">
                <a16:creationId xmlns:a16="http://schemas.microsoft.com/office/drawing/2014/main" id="{B1408E1D-307E-2185-7469-A9D694B3026D}"/>
              </a:ext>
            </a:extLst>
          </p:cNvPr>
          <p:cNvSpPr>
            <a:spLocks noChangeAspect="1"/>
          </p:cNvSpPr>
          <p:nvPr/>
        </p:nvSpPr>
        <p:spPr>
          <a:xfrm>
            <a:off x="1168089" y="5373862"/>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1</a:t>
            </a:r>
            <a:endParaRPr kumimoji="1" lang="ja-GB" altLang="en-US" dirty="0">
              <a:solidFill>
                <a:srgbClr val="2F2523"/>
              </a:solidFill>
            </a:endParaRPr>
          </a:p>
        </p:txBody>
      </p:sp>
      <p:sp>
        <p:nvSpPr>
          <p:cNvPr id="8" name="円/楕円 7">
            <a:extLst>
              <a:ext uri="{FF2B5EF4-FFF2-40B4-BE49-F238E27FC236}">
                <a16:creationId xmlns:a16="http://schemas.microsoft.com/office/drawing/2014/main" id="{40FBF835-8B48-958D-DF10-82DF2C45C2FD}"/>
              </a:ext>
            </a:extLst>
          </p:cNvPr>
          <p:cNvSpPr>
            <a:spLocks noChangeAspect="1"/>
          </p:cNvSpPr>
          <p:nvPr/>
        </p:nvSpPr>
        <p:spPr>
          <a:xfrm>
            <a:off x="2774820" y="4833930"/>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2</a:t>
            </a:r>
            <a:endParaRPr kumimoji="1" lang="ja-GB" altLang="en-US" dirty="0">
              <a:solidFill>
                <a:srgbClr val="2F2523"/>
              </a:solidFill>
            </a:endParaRPr>
          </a:p>
        </p:txBody>
      </p:sp>
      <p:sp>
        <p:nvSpPr>
          <p:cNvPr id="9" name="円/楕円 8">
            <a:extLst>
              <a:ext uri="{FF2B5EF4-FFF2-40B4-BE49-F238E27FC236}">
                <a16:creationId xmlns:a16="http://schemas.microsoft.com/office/drawing/2014/main" id="{CB594152-1AEE-8DBB-9AC0-60FF759BFA9E}"/>
              </a:ext>
            </a:extLst>
          </p:cNvPr>
          <p:cNvSpPr>
            <a:spLocks noChangeAspect="1"/>
          </p:cNvSpPr>
          <p:nvPr/>
        </p:nvSpPr>
        <p:spPr>
          <a:xfrm>
            <a:off x="2774820" y="5898737"/>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3</a:t>
            </a:r>
            <a:endParaRPr kumimoji="1" lang="ja-GB" altLang="en-US" dirty="0">
              <a:solidFill>
                <a:srgbClr val="2F2523"/>
              </a:solidFill>
            </a:endParaRPr>
          </a:p>
        </p:txBody>
      </p:sp>
      <p:sp>
        <p:nvSpPr>
          <p:cNvPr id="10" name="円/楕円 9">
            <a:extLst>
              <a:ext uri="{FF2B5EF4-FFF2-40B4-BE49-F238E27FC236}">
                <a16:creationId xmlns:a16="http://schemas.microsoft.com/office/drawing/2014/main" id="{2311AA95-7581-98CA-1373-8CDF492323C0}"/>
              </a:ext>
            </a:extLst>
          </p:cNvPr>
          <p:cNvSpPr>
            <a:spLocks noChangeAspect="1"/>
          </p:cNvSpPr>
          <p:nvPr/>
        </p:nvSpPr>
        <p:spPr>
          <a:xfrm>
            <a:off x="4398969" y="5373862"/>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4</a:t>
            </a:r>
            <a:endParaRPr kumimoji="1" lang="ja-GB" altLang="en-US" dirty="0">
              <a:solidFill>
                <a:srgbClr val="2F2523"/>
              </a:solidFill>
            </a:endParaRPr>
          </a:p>
        </p:txBody>
      </p:sp>
      <p:sp>
        <p:nvSpPr>
          <p:cNvPr id="11" name="円/楕円 10">
            <a:extLst>
              <a:ext uri="{FF2B5EF4-FFF2-40B4-BE49-F238E27FC236}">
                <a16:creationId xmlns:a16="http://schemas.microsoft.com/office/drawing/2014/main" id="{F30CEAEA-F2F5-4344-1271-663C17DF009E}"/>
              </a:ext>
            </a:extLst>
          </p:cNvPr>
          <p:cNvSpPr>
            <a:spLocks noChangeAspect="1"/>
          </p:cNvSpPr>
          <p:nvPr/>
        </p:nvSpPr>
        <p:spPr>
          <a:xfrm>
            <a:off x="6014409" y="4833930"/>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5</a:t>
            </a:r>
            <a:endParaRPr kumimoji="1" lang="ja-GB" altLang="en-US" dirty="0">
              <a:solidFill>
                <a:srgbClr val="2F2523"/>
              </a:solidFill>
            </a:endParaRPr>
          </a:p>
        </p:txBody>
      </p:sp>
      <p:sp>
        <p:nvSpPr>
          <p:cNvPr id="12" name="円/楕円 11">
            <a:extLst>
              <a:ext uri="{FF2B5EF4-FFF2-40B4-BE49-F238E27FC236}">
                <a16:creationId xmlns:a16="http://schemas.microsoft.com/office/drawing/2014/main" id="{524F14DD-CA0C-EF02-DB82-22CE11D96CDC}"/>
              </a:ext>
            </a:extLst>
          </p:cNvPr>
          <p:cNvSpPr>
            <a:spLocks noChangeAspect="1"/>
          </p:cNvSpPr>
          <p:nvPr/>
        </p:nvSpPr>
        <p:spPr>
          <a:xfrm>
            <a:off x="7629849" y="5373862"/>
            <a:ext cx="539932" cy="539932"/>
          </a:xfrm>
          <a:prstGeom prst="ellipse">
            <a:avLst/>
          </a:prstGeom>
          <a:solidFill>
            <a:srgbClr val="F8FDFF"/>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solidFill>
                  <a:srgbClr val="2F2523"/>
                </a:solidFill>
              </a:rPr>
              <a:t>6</a:t>
            </a:r>
            <a:endParaRPr kumimoji="1" lang="ja-GB" altLang="en-US" dirty="0">
              <a:solidFill>
                <a:srgbClr val="2F2523"/>
              </a:solidFill>
            </a:endParaRPr>
          </a:p>
        </p:txBody>
      </p:sp>
      <p:cxnSp>
        <p:nvCxnSpPr>
          <p:cNvPr id="13" name="直線矢印コネクタ 12">
            <a:extLst>
              <a:ext uri="{FF2B5EF4-FFF2-40B4-BE49-F238E27FC236}">
                <a16:creationId xmlns:a16="http://schemas.microsoft.com/office/drawing/2014/main" id="{BA7C48CF-A470-86AC-5032-46F4E49CEBC4}"/>
              </a:ext>
            </a:extLst>
          </p:cNvPr>
          <p:cNvCxnSpPr>
            <a:cxnSpLocks/>
            <a:stCxn id="7" idx="6"/>
            <a:endCxn id="8" idx="2"/>
          </p:cNvCxnSpPr>
          <p:nvPr/>
        </p:nvCxnSpPr>
        <p:spPr>
          <a:xfrm flipV="1">
            <a:off x="1708021" y="5103896"/>
            <a:ext cx="1066799"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BBB5ACDA-BA0A-DE6B-EC79-E8728EC2693A}"/>
              </a:ext>
            </a:extLst>
          </p:cNvPr>
          <p:cNvCxnSpPr>
            <a:cxnSpLocks/>
            <a:stCxn id="7" idx="6"/>
            <a:endCxn id="9" idx="2"/>
          </p:cNvCxnSpPr>
          <p:nvPr/>
        </p:nvCxnSpPr>
        <p:spPr>
          <a:xfrm>
            <a:off x="1708021" y="5643828"/>
            <a:ext cx="1066799"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DAE09A52-290C-7AE8-D390-826CABC28C8B}"/>
              </a:ext>
            </a:extLst>
          </p:cNvPr>
          <p:cNvCxnSpPr>
            <a:cxnSpLocks/>
            <a:stCxn id="8" idx="6"/>
            <a:endCxn id="11" idx="2"/>
          </p:cNvCxnSpPr>
          <p:nvPr/>
        </p:nvCxnSpPr>
        <p:spPr>
          <a:xfrm>
            <a:off x="3314752" y="5103896"/>
            <a:ext cx="2699657"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3464A5AF-CCFD-A744-5204-58DFA379D215}"/>
              </a:ext>
            </a:extLst>
          </p:cNvPr>
          <p:cNvCxnSpPr>
            <a:cxnSpLocks/>
            <a:stCxn id="9" idx="6"/>
            <a:endCxn id="10" idx="2"/>
          </p:cNvCxnSpPr>
          <p:nvPr/>
        </p:nvCxnSpPr>
        <p:spPr>
          <a:xfrm flipV="1">
            <a:off x="3314752" y="5643828"/>
            <a:ext cx="1084217" cy="52487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EF4D529E-5170-8B4B-9338-21DFD5A20DEC}"/>
              </a:ext>
            </a:extLst>
          </p:cNvPr>
          <p:cNvCxnSpPr>
            <a:cxnSpLocks/>
            <a:stCxn id="8" idx="6"/>
            <a:endCxn id="10" idx="2"/>
          </p:cNvCxnSpPr>
          <p:nvPr/>
        </p:nvCxnSpPr>
        <p:spPr>
          <a:xfrm>
            <a:off x="3314752" y="5103896"/>
            <a:ext cx="1084217"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EA102377-DBE0-EC4E-E86C-C8EC8A202E2E}"/>
              </a:ext>
            </a:extLst>
          </p:cNvPr>
          <p:cNvCxnSpPr>
            <a:cxnSpLocks/>
            <a:stCxn id="10" idx="6"/>
            <a:endCxn id="11" idx="2"/>
          </p:cNvCxnSpPr>
          <p:nvPr/>
        </p:nvCxnSpPr>
        <p:spPr>
          <a:xfrm flipV="1">
            <a:off x="4938901" y="5103896"/>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9B28D358-39B9-3F39-104C-ACF4FECADADD}"/>
              </a:ext>
            </a:extLst>
          </p:cNvPr>
          <p:cNvCxnSpPr>
            <a:cxnSpLocks/>
            <a:endCxn id="12" idx="2"/>
          </p:cNvCxnSpPr>
          <p:nvPr/>
        </p:nvCxnSpPr>
        <p:spPr>
          <a:xfrm>
            <a:off x="4938901" y="5643828"/>
            <a:ext cx="2690948"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249D6A57-2F53-74A3-91A2-3EE525FA2F14}"/>
              </a:ext>
            </a:extLst>
          </p:cNvPr>
          <p:cNvCxnSpPr>
            <a:cxnSpLocks/>
            <a:stCxn id="11" idx="6"/>
            <a:endCxn id="12" idx="2"/>
          </p:cNvCxnSpPr>
          <p:nvPr/>
        </p:nvCxnSpPr>
        <p:spPr>
          <a:xfrm>
            <a:off x="6554341" y="5103896"/>
            <a:ext cx="1075508" cy="53993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6D7C2132-A112-3075-E4E6-10EDE9248721}"/>
              </a:ext>
            </a:extLst>
          </p:cNvPr>
          <p:cNvSpPr txBox="1"/>
          <p:nvPr/>
        </p:nvSpPr>
        <p:spPr>
          <a:xfrm>
            <a:off x="2121416" y="5355784"/>
            <a:ext cx="506870" cy="276999"/>
          </a:xfrm>
          <a:prstGeom prst="rect">
            <a:avLst/>
          </a:prstGeom>
          <a:noFill/>
          <a:ln w="38100">
            <a:noFill/>
          </a:ln>
        </p:spPr>
        <p:txBody>
          <a:bodyPr wrap="none" rtlCol="0" anchor="ctr">
            <a:spAutoFit/>
          </a:bodyPr>
          <a:lstStyle/>
          <a:p>
            <a:pPr algn="ctr"/>
            <a:r>
              <a:rPr kumimoji="1" lang="en-US" altLang="ja-GB" sz="1200" dirty="0">
                <a:solidFill>
                  <a:srgbClr val="2F2523"/>
                </a:solidFill>
              </a:rPr>
              <a:t>A</a:t>
            </a:r>
            <a:r>
              <a:rPr kumimoji="1" lang="ja-GB" altLang="en-US" sz="1200" dirty="0">
                <a:solidFill>
                  <a:srgbClr val="2F2523"/>
                </a:solidFill>
              </a:rPr>
              <a:t>：</a:t>
            </a:r>
            <a:r>
              <a:rPr kumimoji="1" lang="en-US" altLang="ja-GB" sz="1200" dirty="0">
                <a:solidFill>
                  <a:srgbClr val="2F2523"/>
                </a:solidFill>
              </a:rPr>
              <a:t>3</a:t>
            </a:r>
          </a:p>
        </p:txBody>
      </p:sp>
      <p:sp>
        <p:nvSpPr>
          <p:cNvPr id="22" name="テキスト ボックス 21">
            <a:extLst>
              <a:ext uri="{FF2B5EF4-FFF2-40B4-BE49-F238E27FC236}">
                <a16:creationId xmlns:a16="http://schemas.microsoft.com/office/drawing/2014/main" id="{D2194E96-69D1-0B86-13E2-3D63F0532CD1}"/>
              </a:ext>
            </a:extLst>
          </p:cNvPr>
          <p:cNvSpPr txBox="1"/>
          <p:nvPr/>
        </p:nvSpPr>
        <p:spPr>
          <a:xfrm>
            <a:off x="2125307" y="6021974"/>
            <a:ext cx="500458" cy="276999"/>
          </a:xfrm>
          <a:prstGeom prst="rect">
            <a:avLst/>
          </a:prstGeom>
          <a:noFill/>
          <a:ln w="38100">
            <a:noFill/>
          </a:ln>
        </p:spPr>
        <p:txBody>
          <a:bodyPr wrap="none" rtlCol="0" anchor="ctr">
            <a:spAutoFit/>
          </a:bodyPr>
          <a:lstStyle/>
          <a:p>
            <a:pPr algn="ctr"/>
            <a:r>
              <a:rPr kumimoji="1" lang="en-US" altLang="ja-GB" sz="1200" dirty="0">
                <a:solidFill>
                  <a:srgbClr val="2F2523"/>
                </a:solidFill>
              </a:rPr>
              <a:t>B</a:t>
            </a:r>
            <a:r>
              <a:rPr kumimoji="1" lang="ja-GB" altLang="en-US" sz="1200" dirty="0">
                <a:solidFill>
                  <a:srgbClr val="2F2523"/>
                </a:solidFill>
              </a:rPr>
              <a:t>：</a:t>
            </a:r>
            <a:r>
              <a:rPr kumimoji="1" lang="en-US" altLang="ja-GB" sz="1200" dirty="0">
                <a:solidFill>
                  <a:srgbClr val="2F2523"/>
                </a:solidFill>
              </a:rPr>
              <a:t>2</a:t>
            </a:r>
          </a:p>
        </p:txBody>
      </p:sp>
      <p:sp>
        <p:nvSpPr>
          <p:cNvPr id="23" name="テキスト ボックス 22">
            <a:extLst>
              <a:ext uri="{FF2B5EF4-FFF2-40B4-BE49-F238E27FC236}">
                <a16:creationId xmlns:a16="http://schemas.microsoft.com/office/drawing/2014/main" id="{85023B85-EB45-54B4-A844-F1DFA29CA94E}"/>
              </a:ext>
            </a:extLst>
          </p:cNvPr>
          <p:cNvSpPr txBox="1"/>
          <p:nvPr/>
        </p:nvSpPr>
        <p:spPr>
          <a:xfrm>
            <a:off x="3626711" y="6021974"/>
            <a:ext cx="511679" cy="276999"/>
          </a:xfrm>
          <a:prstGeom prst="rect">
            <a:avLst/>
          </a:prstGeom>
          <a:noFill/>
          <a:ln w="38100">
            <a:noFill/>
          </a:ln>
        </p:spPr>
        <p:txBody>
          <a:bodyPr wrap="none" rtlCol="0" anchor="ctr">
            <a:spAutoFit/>
          </a:bodyPr>
          <a:lstStyle/>
          <a:p>
            <a:pPr algn="ctr"/>
            <a:r>
              <a:rPr kumimoji="1" lang="en-US" altLang="ja-GB" sz="1200" dirty="0">
                <a:solidFill>
                  <a:srgbClr val="2F2523"/>
                </a:solidFill>
              </a:rPr>
              <a:t>D</a:t>
            </a:r>
            <a:r>
              <a:rPr kumimoji="1" lang="ja-GB" altLang="en-US" sz="1200" dirty="0">
                <a:solidFill>
                  <a:srgbClr val="2F2523"/>
                </a:solidFill>
              </a:rPr>
              <a:t>：</a:t>
            </a:r>
            <a:r>
              <a:rPr kumimoji="1" lang="en-US" altLang="ja-GB" sz="1200" dirty="0">
                <a:solidFill>
                  <a:srgbClr val="2F2523"/>
                </a:solidFill>
              </a:rPr>
              <a:t>5</a:t>
            </a:r>
          </a:p>
        </p:txBody>
      </p:sp>
      <p:sp>
        <p:nvSpPr>
          <p:cNvPr id="24" name="テキスト ボックス 23">
            <a:extLst>
              <a:ext uri="{FF2B5EF4-FFF2-40B4-BE49-F238E27FC236}">
                <a16:creationId xmlns:a16="http://schemas.microsoft.com/office/drawing/2014/main" id="{E07FAD6C-0C00-3EA1-CE57-B59079387E9E}"/>
              </a:ext>
            </a:extLst>
          </p:cNvPr>
          <p:cNvSpPr txBox="1"/>
          <p:nvPr/>
        </p:nvSpPr>
        <p:spPr>
          <a:xfrm>
            <a:off x="3444589" y="5344890"/>
            <a:ext cx="498855" cy="276999"/>
          </a:xfrm>
          <a:prstGeom prst="rect">
            <a:avLst/>
          </a:prstGeom>
          <a:noFill/>
          <a:ln w="38100">
            <a:noFill/>
          </a:ln>
        </p:spPr>
        <p:txBody>
          <a:bodyPr wrap="none" rtlCol="0" anchor="ctr">
            <a:spAutoFit/>
          </a:bodyPr>
          <a:lstStyle/>
          <a:p>
            <a:pPr algn="ctr"/>
            <a:r>
              <a:rPr kumimoji="1" lang="en-US" altLang="ja-GB" sz="1200" dirty="0">
                <a:solidFill>
                  <a:srgbClr val="2F2523"/>
                </a:solidFill>
              </a:rPr>
              <a:t>C</a:t>
            </a:r>
            <a:r>
              <a:rPr kumimoji="1" lang="ja-GB" altLang="en-US" sz="1200" dirty="0">
                <a:solidFill>
                  <a:srgbClr val="2F2523"/>
                </a:solidFill>
              </a:rPr>
              <a:t>：</a:t>
            </a:r>
            <a:r>
              <a:rPr kumimoji="1" lang="en-US" altLang="ja-GB" sz="1200" dirty="0">
                <a:solidFill>
                  <a:srgbClr val="2F2523"/>
                </a:solidFill>
              </a:rPr>
              <a:t>4</a:t>
            </a:r>
          </a:p>
        </p:txBody>
      </p:sp>
      <p:sp>
        <p:nvSpPr>
          <p:cNvPr id="25" name="テキスト ボックス 24">
            <a:extLst>
              <a:ext uri="{FF2B5EF4-FFF2-40B4-BE49-F238E27FC236}">
                <a16:creationId xmlns:a16="http://schemas.microsoft.com/office/drawing/2014/main" id="{194E043E-DFFC-0F29-57F5-8E4D33C7336B}"/>
              </a:ext>
            </a:extLst>
          </p:cNvPr>
          <p:cNvSpPr txBox="1"/>
          <p:nvPr/>
        </p:nvSpPr>
        <p:spPr>
          <a:xfrm>
            <a:off x="4468025" y="4794992"/>
            <a:ext cx="492443" cy="276999"/>
          </a:xfrm>
          <a:prstGeom prst="rect">
            <a:avLst/>
          </a:prstGeom>
          <a:noFill/>
          <a:ln w="38100">
            <a:noFill/>
          </a:ln>
        </p:spPr>
        <p:txBody>
          <a:bodyPr wrap="none" rtlCol="0" anchor="ctr">
            <a:spAutoFit/>
          </a:bodyPr>
          <a:lstStyle/>
          <a:p>
            <a:pPr algn="ctr"/>
            <a:r>
              <a:rPr kumimoji="1" lang="en-US" altLang="ja-GB" sz="1200" dirty="0">
                <a:solidFill>
                  <a:srgbClr val="2F2523"/>
                </a:solidFill>
              </a:rPr>
              <a:t>E</a:t>
            </a:r>
            <a:r>
              <a:rPr kumimoji="1" lang="ja-GB" altLang="en-US" sz="1200" dirty="0">
                <a:solidFill>
                  <a:srgbClr val="2F2523"/>
                </a:solidFill>
              </a:rPr>
              <a:t>：</a:t>
            </a:r>
            <a:r>
              <a:rPr kumimoji="1" lang="en-US" altLang="ja-GB" sz="1200" dirty="0">
                <a:solidFill>
                  <a:srgbClr val="2F2523"/>
                </a:solidFill>
              </a:rPr>
              <a:t>1</a:t>
            </a:r>
          </a:p>
        </p:txBody>
      </p:sp>
      <p:sp>
        <p:nvSpPr>
          <p:cNvPr id="26" name="テキスト ボックス 25">
            <a:extLst>
              <a:ext uri="{FF2B5EF4-FFF2-40B4-BE49-F238E27FC236}">
                <a16:creationId xmlns:a16="http://schemas.microsoft.com/office/drawing/2014/main" id="{ED0FEBB2-F609-7A0D-11A9-FB25F0241B6B}"/>
              </a:ext>
            </a:extLst>
          </p:cNvPr>
          <p:cNvSpPr txBox="1"/>
          <p:nvPr/>
        </p:nvSpPr>
        <p:spPr>
          <a:xfrm>
            <a:off x="5422082" y="5315199"/>
            <a:ext cx="514885" cy="276999"/>
          </a:xfrm>
          <a:prstGeom prst="rect">
            <a:avLst/>
          </a:prstGeom>
          <a:noFill/>
          <a:ln w="38100">
            <a:noFill/>
          </a:ln>
        </p:spPr>
        <p:txBody>
          <a:bodyPr wrap="none" rtlCol="0" anchor="ctr">
            <a:spAutoFit/>
          </a:bodyPr>
          <a:lstStyle/>
          <a:p>
            <a:pPr algn="ctr"/>
            <a:r>
              <a:rPr kumimoji="1" lang="en-US" altLang="ja-GB" sz="1200" dirty="0">
                <a:solidFill>
                  <a:srgbClr val="2F2523"/>
                </a:solidFill>
              </a:rPr>
              <a:t>G</a:t>
            </a:r>
            <a:r>
              <a:rPr kumimoji="1" lang="ja-GB" altLang="en-US" sz="1200" dirty="0">
                <a:solidFill>
                  <a:srgbClr val="2F2523"/>
                </a:solidFill>
              </a:rPr>
              <a:t>：</a:t>
            </a:r>
            <a:r>
              <a:rPr kumimoji="1" lang="en-US" altLang="ja-GB" sz="1200" dirty="0">
                <a:solidFill>
                  <a:srgbClr val="2F2523"/>
                </a:solidFill>
              </a:rPr>
              <a:t>3</a:t>
            </a:r>
          </a:p>
        </p:txBody>
      </p:sp>
      <p:sp>
        <p:nvSpPr>
          <p:cNvPr id="27" name="テキスト ボックス 26">
            <a:extLst>
              <a:ext uri="{FF2B5EF4-FFF2-40B4-BE49-F238E27FC236}">
                <a16:creationId xmlns:a16="http://schemas.microsoft.com/office/drawing/2014/main" id="{A8E468EC-1789-F256-E758-71C59585BAD9}"/>
              </a:ext>
            </a:extLst>
          </p:cNvPr>
          <p:cNvSpPr txBox="1"/>
          <p:nvPr/>
        </p:nvSpPr>
        <p:spPr>
          <a:xfrm>
            <a:off x="6040558" y="5678550"/>
            <a:ext cx="487633" cy="276999"/>
          </a:xfrm>
          <a:prstGeom prst="rect">
            <a:avLst/>
          </a:prstGeom>
          <a:noFill/>
          <a:ln w="38100">
            <a:noFill/>
          </a:ln>
        </p:spPr>
        <p:txBody>
          <a:bodyPr wrap="none" rtlCol="0" anchor="ctr">
            <a:spAutoFit/>
          </a:bodyPr>
          <a:lstStyle/>
          <a:p>
            <a:pPr algn="ctr"/>
            <a:r>
              <a:rPr kumimoji="1" lang="en-US" altLang="ja-GB" sz="1200" dirty="0">
                <a:solidFill>
                  <a:srgbClr val="2F2523"/>
                </a:solidFill>
              </a:rPr>
              <a:t>F</a:t>
            </a:r>
            <a:r>
              <a:rPr kumimoji="1" lang="ja-GB" altLang="en-US" sz="1200" dirty="0">
                <a:solidFill>
                  <a:srgbClr val="2F2523"/>
                </a:solidFill>
              </a:rPr>
              <a:t>：</a:t>
            </a:r>
            <a:r>
              <a:rPr kumimoji="1" lang="en-US" altLang="ja-GB" sz="1200" dirty="0">
                <a:solidFill>
                  <a:srgbClr val="2F2523"/>
                </a:solidFill>
              </a:rPr>
              <a:t>6</a:t>
            </a:r>
          </a:p>
        </p:txBody>
      </p:sp>
      <p:sp>
        <p:nvSpPr>
          <p:cNvPr id="28" name="テキスト ボックス 27">
            <a:extLst>
              <a:ext uri="{FF2B5EF4-FFF2-40B4-BE49-F238E27FC236}">
                <a16:creationId xmlns:a16="http://schemas.microsoft.com/office/drawing/2014/main" id="{99613006-AC21-65E1-9B74-2E77DCB9F7A4}"/>
              </a:ext>
            </a:extLst>
          </p:cNvPr>
          <p:cNvSpPr txBox="1"/>
          <p:nvPr/>
        </p:nvSpPr>
        <p:spPr>
          <a:xfrm>
            <a:off x="6976103" y="5074152"/>
            <a:ext cx="513282" cy="276999"/>
          </a:xfrm>
          <a:prstGeom prst="rect">
            <a:avLst/>
          </a:prstGeom>
          <a:noFill/>
          <a:ln w="38100">
            <a:noFill/>
          </a:ln>
        </p:spPr>
        <p:txBody>
          <a:bodyPr wrap="none" rtlCol="0" anchor="ctr">
            <a:spAutoFit/>
          </a:bodyPr>
          <a:lstStyle/>
          <a:p>
            <a:pPr algn="ctr"/>
            <a:r>
              <a:rPr kumimoji="1" lang="en-US" altLang="ja-GB" sz="1200" dirty="0">
                <a:solidFill>
                  <a:srgbClr val="2F2523"/>
                </a:solidFill>
              </a:rPr>
              <a:t>H</a:t>
            </a:r>
            <a:r>
              <a:rPr kumimoji="1" lang="ja-GB" altLang="en-US" sz="1200" dirty="0">
                <a:solidFill>
                  <a:srgbClr val="2F2523"/>
                </a:solidFill>
              </a:rPr>
              <a:t>：</a:t>
            </a:r>
            <a:r>
              <a:rPr kumimoji="1" lang="en-US" altLang="ja-GB" sz="1200" dirty="0">
                <a:solidFill>
                  <a:srgbClr val="2F2523"/>
                </a:solidFill>
              </a:rPr>
              <a:t>2</a:t>
            </a:r>
          </a:p>
        </p:txBody>
      </p:sp>
      <p:sp>
        <p:nvSpPr>
          <p:cNvPr id="29" name="テキスト ボックス 28">
            <a:extLst>
              <a:ext uri="{FF2B5EF4-FFF2-40B4-BE49-F238E27FC236}">
                <a16:creationId xmlns:a16="http://schemas.microsoft.com/office/drawing/2014/main" id="{B1BF63E3-D5EB-E85B-FEE0-54C0ACABB15C}"/>
              </a:ext>
            </a:extLst>
          </p:cNvPr>
          <p:cNvSpPr txBox="1"/>
          <p:nvPr/>
        </p:nvSpPr>
        <p:spPr>
          <a:xfrm>
            <a:off x="789611" y="5643828"/>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0</a:t>
            </a:r>
          </a:p>
        </p:txBody>
      </p:sp>
      <p:sp>
        <p:nvSpPr>
          <p:cNvPr id="30" name="テキスト ボックス 29">
            <a:extLst>
              <a:ext uri="{FF2B5EF4-FFF2-40B4-BE49-F238E27FC236}">
                <a16:creationId xmlns:a16="http://schemas.microsoft.com/office/drawing/2014/main" id="{6B18EF0E-7FB5-C801-49C2-77281328F99D}"/>
              </a:ext>
            </a:extLst>
          </p:cNvPr>
          <p:cNvSpPr txBox="1"/>
          <p:nvPr/>
        </p:nvSpPr>
        <p:spPr>
          <a:xfrm>
            <a:off x="3310221" y="6212604"/>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2</a:t>
            </a:r>
          </a:p>
        </p:txBody>
      </p:sp>
      <p:sp>
        <p:nvSpPr>
          <p:cNvPr id="31" name="テキスト ボックス 30">
            <a:extLst>
              <a:ext uri="{FF2B5EF4-FFF2-40B4-BE49-F238E27FC236}">
                <a16:creationId xmlns:a16="http://schemas.microsoft.com/office/drawing/2014/main" id="{76029827-CD62-B56D-9236-5ED70C9511DC}"/>
              </a:ext>
            </a:extLst>
          </p:cNvPr>
          <p:cNvSpPr txBox="1"/>
          <p:nvPr/>
        </p:nvSpPr>
        <p:spPr>
          <a:xfrm>
            <a:off x="2410227" y="4837262"/>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3</a:t>
            </a:r>
          </a:p>
        </p:txBody>
      </p:sp>
      <p:sp>
        <p:nvSpPr>
          <p:cNvPr id="32" name="テキスト ボックス 31">
            <a:extLst>
              <a:ext uri="{FF2B5EF4-FFF2-40B4-BE49-F238E27FC236}">
                <a16:creationId xmlns:a16="http://schemas.microsoft.com/office/drawing/2014/main" id="{CB6F2B63-4E8F-CAD1-9682-73F6ECAE891F}"/>
              </a:ext>
            </a:extLst>
          </p:cNvPr>
          <p:cNvSpPr txBox="1"/>
          <p:nvPr/>
        </p:nvSpPr>
        <p:spPr>
          <a:xfrm>
            <a:off x="4537674" y="5969355"/>
            <a:ext cx="263213"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7</a:t>
            </a:r>
          </a:p>
        </p:txBody>
      </p:sp>
      <p:sp>
        <p:nvSpPr>
          <p:cNvPr id="33" name="テキスト ボックス 32">
            <a:extLst>
              <a:ext uri="{FF2B5EF4-FFF2-40B4-BE49-F238E27FC236}">
                <a16:creationId xmlns:a16="http://schemas.microsoft.com/office/drawing/2014/main" id="{CAA924CA-F715-5B00-1CFF-E02DBDD9DE6E}"/>
              </a:ext>
            </a:extLst>
          </p:cNvPr>
          <p:cNvSpPr txBox="1"/>
          <p:nvPr/>
        </p:nvSpPr>
        <p:spPr>
          <a:xfrm>
            <a:off x="6650739" y="4837262"/>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11</a:t>
            </a:r>
          </a:p>
        </p:txBody>
      </p:sp>
      <p:sp>
        <p:nvSpPr>
          <p:cNvPr id="34" name="テキスト ボックス 33">
            <a:extLst>
              <a:ext uri="{FF2B5EF4-FFF2-40B4-BE49-F238E27FC236}">
                <a16:creationId xmlns:a16="http://schemas.microsoft.com/office/drawing/2014/main" id="{A0F363F4-81D9-153A-DE3B-352F561BE9E3}"/>
              </a:ext>
            </a:extLst>
          </p:cNvPr>
          <p:cNvSpPr txBox="1"/>
          <p:nvPr/>
        </p:nvSpPr>
        <p:spPr>
          <a:xfrm>
            <a:off x="8327952" y="5632103"/>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13</a:t>
            </a:r>
          </a:p>
        </p:txBody>
      </p:sp>
      <p:sp>
        <p:nvSpPr>
          <p:cNvPr id="35" name="テキスト ボックス 34">
            <a:extLst>
              <a:ext uri="{FF2B5EF4-FFF2-40B4-BE49-F238E27FC236}">
                <a16:creationId xmlns:a16="http://schemas.microsoft.com/office/drawing/2014/main" id="{BF794DCF-A2F0-02A0-B468-98605D9833D5}"/>
              </a:ext>
            </a:extLst>
          </p:cNvPr>
          <p:cNvSpPr txBox="1"/>
          <p:nvPr/>
        </p:nvSpPr>
        <p:spPr>
          <a:xfrm>
            <a:off x="791403" y="5385587"/>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0</a:t>
            </a:r>
          </a:p>
        </p:txBody>
      </p:sp>
      <p:sp>
        <p:nvSpPr>
          <p:cNvPr id="36" name="テキスト ボックス 35">
            <a:extLst>
              <a:ext uri="{FF2B5EF4-FFF2-40B4-BE49-F238E27FC236}">
                <a16:creationId xmlns:a16="http://schemas.microsoft.com/office/drawing/2014/main" id="{C617F631-DE4C-2DC9-17B0-BCD9EE4B9B9A}"/>
              </a:ext>
            </a:extLst>
          </p:cNvPr>
          <p:cNvSpPr txBox="1"/>
          <p:nvPr/>
        </p:nvSpPr>
        <p:spPr>
          <a:xfrm>
            <a:off x="2412019" y="4579021"/>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3</a:t>
            </a:r>
          </a:p>
        </p:txBody>
      </p:sp>
      <p:sp>
        <p:nvSpPr>
          <p:cNvPr id="37" name="テキスト ボックス 36">
            <a:extLst>
              <a:ext uri="{FF2B5EF4-FFF2-40B4-BE49-F238E27FC236}">
                <a16:creationId xmlns:a16="http://schemas.microsoft.com/office/drawing/2014/main" id="{F6FEC159-7336-55ED-E9FD-55DA6BB78270}"/>
              </a:ext>
            </a:extLst>
          </p:cNvPr>
          <p:cNvSpPr txBox="1"/>
          <p:nvPr/>
        </p:nvSpPr>
        <p:spPr>
          <a:xfrm>
            <a:off x="6652531" y="4579021"/>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10</a:t>
            </a:r>
          </a:p>
        </p:txBody>
      </p:sp>
      <p:sp>
        <p:nvSpPr>
          <p:cNvPr id="38" name="テキスト ボックス 37">
            <a:extLst>
              <a:ext uri="{FF2B5EF4-FFF2-40B4-BE49-F238E27FC236}">
                <a16:creationId xmlns:a16="http://schemas.microsoft.com/office/drawing/2014/main" id="{CBBF4AA2-DBDB-85A9-869A-553C9B1DC957}"/>
              </a:ext>
            </a:extLst>
          </p:cNvPr>
          <p:cNvSpPr txBox="1"/>
          <p:nvPr/>
        </p:nvSpPr>
        <p:spPr>
          <a:xfrm>
            <a:off x="8329744" y="5373862"/>
            <a:ext cx="341760"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13</a:t>
            </a:r>
          </a:p>
        </p:txBody>
      </p:sp>
      <p:sp>
        <p:nvSpPr>
          <p:cNvPr id="39" name="テキスト ボックス 38">
            <a:extLst>
              <a:ext uri="{FF2B5EF4-FFF2-40B4-BE49-F238E27FC236}">
                <a16:creationId xmlns:a16="http://schemas.microsoft.com/office/drawing/2014/main" id="{06E5A139-4BE3-E52D-66F3-3B12E8D6D47C}"/>
              </a:ext>
            </a:extLst>
          </p:cNvPr>
          <p:cNvSpPr txBox="1"/>
          <p:nvPr/>
        </p:nvSpPr>
        <p:spPr>
          <a:xfrm>
            <a:off x="3303066" y="6481012"/>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2</a:t>
            </a:r>
          </a:p>
        </p:txBody>
      </p:sp>
      <p:sp>
        <p:nvSpPr>
          <p:cNvPr id="40" name="テキスト ボックス 39">
            <a:extLst>
              <a:ext uri="{FF2B5EF4-FFF2-40B4-BE49-F238E27FC236}">
                <a16:creationId xmlns:a16="http://schemas.microsoft.com/office/drawing/2014/main" id="{CBDEB898-31B7-91F7-625C-A7D7EE5C25D3}"/>
              </a:ext>
            </a:extLst>
          </p:cNvPr>
          <p:cNvSpPr txBox="1"/>
          <p:nvPr/>
        </p:nvSpPr>
        <p:spPr>
          <a:xfrm>
            <a:off x="4530519" y="6237763"/>
            <a:ext cx="263214" cy="276999"/>
          </a:xfrm>
          <a:prstGeom prst="rect">
            <a:avLst/>
          </a:prstGeom>
          <a:noFill/>
          <a:ln w="38100">
            <a:solidFill>
              <a:srgbClr val="2F2523"/>
            </a:solidFill>
          </a:ln>
        </p:spPr>
        <p:txBody>
          <a:bodyPr wrap="none" rtlCol="0" anchor="ctr">
            <a:spAutoFit/>
          </a:bodyPr>
          <a:lstStyle/>
          <a:p>
            <a:pPr algn="ctr"/>
            <a:r>
              <a:rPr kumimoji="1" lang="en-US" altLang="ja-GB" sz="1200" dirty="0">
                <a:solidFill>
                  <a:srgbClr val="2F2523"/>
                </a:solidFill>
              </a:rPr>
              <a:t>7</a:t>
            </a:r>
          </a:p>
        </p:txBody>
      </p:sp>
      <p:sp>
        <p:nvSpPr>
          <p:cNvPr id="41" name="テキスト ボックス 40">
            <a:extLst>
              <a:ext uri="{FF2B5EF4-FFF2-40B4-BE49-F238E27FC236}">
                <a16:creationId xmlns:a16="http://schemas.microsoft.com/office/drawing/2014/main" id="{78F2BE7A-0A76-4B8F-1634-C355CF075133}"/>
              </a:ext>
            </a:extLst>
          </p:cNvPr>
          <p:cNvSpPr txBox="1"/>
          <p:nvPr/>
        </p:nvSpPr>
        <p:spPr>
          <a:xfrm>
            <a:off x="7489385" y="6274993"/>
            <a:ext cx="1409040" cy="307777"/>
          </a:xfrm>
          <a:prstGeom prst="rect">
            <a:avLst/>
          </a:prstGeom>
          <a:noFill/>
        </p:spPr>
        <p:txBody>
          <a:bodyPr wrap="none" rtlCol="0">
            <a:spAutoFit/>
          </a:bodyPr>
          <a:lstStyle/>
          <a:p>
            <a:pPr algn="ctr"/>
            <a:r>
              <a:rPr kumimoji="1" lang="ja-GB" altLang="en-US" sz="1400" dirty="0"/>
              <a:t>上：</a:t>
            </a:r>
            <a:r>
              <a:rPr kumimoji="1" lang="en-US" altLang="ja-GB" sz="1400" dirty="0"/>
              <a:t>ET</a:t>
            </a:r>
            <a:r>
              <a:rPr kumimoji="1" lang="ja-GB" altLang="en-US" sz="1400" dirty="0"/>
              <a:t>，下：</a:t>
            </a:r>
            <a:r>
              <a:rPr kumimoji="1" lang="en-US" altLang="ja-GB" sz="1400" dirty="0"/>
              <a:t>LT</a:t>
            </a:r>
            <a:endParaRPr kumimoji="1" lang="ja-GB" altLang="en-US" sz="1400" dirty="0"/>
          </a:p>
        </p:txBody>
      </p:sp>
    </p:spTree>
    <p:extLst>
      <p:ext uri="{BB962C8B-B14F-4D97-AF65-F5344CB8AC3E}">
        <p14:creationId xmlns:p14="http://schemas.microsoft.com/office/powerpoint/2010/main" val="3593145189"/>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95055-0876-E0B3-5187-C888B857B22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299F2BC-D2DF-6BA2-5CED-39AE7A484269}"/>
              </a:ext>
            </a:extLst>
          </p:cNvPr>
          <p:cNvSpPr>
            <a:spLocks noGrp="1"/>
          </p:cNvSpPr>
          <p:nvPr>
            <p:ph type="title"/>
          </p:nvPr>
        </p:nvSpPr>
        <p:spPr/>
        <p:txBody>
          <a:bodyPr/>
          <a:lstStyle/>
          <a:p>
            <a:r>
              <a:rPr kumimoji="1" lang="ja-GB" altLang="en-US" dirty="0"/>
              <a:t>本日の内容</a:t>
            </a:r>
          </a:p>
        </p:txBody>
      </p:sp>
      <p:sp>
        <p:nvSpPr>
          <p:cNvPr id="3" name="コンテンツ プレースホルダー 2">
            <a:extLst>
              <a:ext uri="{FF2B5EF4-FFF2-40B4-BE49-F238E27FC236}">
                <a16:creationId xmlns:a16="http://schemas.microsoft.com/office/drawing/2014/main" id="{17A559DE-ACA3-3237-B405-9DC46525E0BC}"/>
              </a:ext>
            </a:extLst>
          </p:cNvPr>
          <p:cNvSpPr>
            <a:spLocks noGrp="1"/>
          </p:cNvSpPr>
          <p:nvPr>
            <p:ph idx="1"/>
          </p:nvPr>
        </p:nvSpPr>
        <p:spPr/>
        <p:txBody>
          <a:bodyPr/>
          <a:lstStyle/>
          <a:p>
            <a:pPr marL="457200" indent="-457200">
              <a:buFont typeface="+mj-lt"/>
              <a:buAutoNum type="arabicPeriod"/>
            </a:pPr>
            <a:r>
              <a:rPr kumimoji="1" lang="en-US" altLang="ja-GB" dirty="0">
                <a:solidFill>
                  <a:schemeClr val="tx1">
                    <a:lumMod val="50000"/>
                    <a:lumOff val="50000"/>
                  </a:schemeClr>
                </a:solidFill>
              </a:rPr>
              <a:t>PERT</a:t>
            </a:r>
          </a:p>
          <a:p>
            <a:pPr lvl="1"/>
            <a:r>
              <a:rPr kumimoji="1" lang="ja-GB" altLang="en-US" dirty="0">
                <a:solidFill>
                  <a:schemeClr val="tx1">
                    <a:lumMod val="50000"/>
                    <a:lumOff val="50000"/>
                  </a:schemeClr>
                </a:solidFill>
              </a:rPr>
              <a:t>日程管理計画問題</a:t>
            </a:r>
            <a:endParaRPr kumimoji="1" lang="en-US" altLang="ja-GB" dirty="0">
              <a:solidFill>
                <a:schemeClr val="tx1">
                  <a:lumMod val="50000"/>
                  <a:lumOff val="50000"/>
                </a:schemeClr>
              </a:solidFill>
            </a:endParaRPr>
          </a:p>
          <a:p>
            <a:pPr lvl="1"/>
            <a:r>
              <a:rPr kumimoji="1" lang="en-US" altLang="ja-GB" dirty="0">
                <a:solidFill>
                  <a:schemeClr val="tx1">
                    <a:lumMod val="50000"/>
                    <a:lumOff val="50000"/>
                  </a:schemeClr>
                </a:solidFill>
              </a:rPr>
              <a:t>PERT</a:t>
            </a:r>
            <a:r>
              <a:rPr lang="ja-GB" altLang="en-US" dirty="0">
                <a:solidFill>
                  <a:schemeClr val="tx1">
                    <a:lumMod val="50000"/>
                    <a:lumOff val="50000"/>
                  </a:schemeClr>
                </a:solidFill>
              </a:rPr>
              <a:t>と</a:t>
            </a:r>
            <a:r>
              <a:rPr kumimoji="1" lang="ja-GB" altLang="en-US" dirty="0">
                <a:solidFill>
                  <a:schemeClr val="tx1">
                    <a:lumMod val="50000"/>
                    <a:lumOff val="50000"/>
                  </a:schemeClr>
                </a:solidFill>
              </a:rPr>
              <a:t>アローダイアグラム</a:t>
            </a:r>
            <a:endParaRPr kumimoji="1" lang="en-US" altLang="ja-GB" dirty="0">
              <a:solidFill>
                <a:schemeClr val="tx1">
                  <a:lumMod val="50000"/>
                  <a:lumOff val="50000"/>
                </a:schemeClr>
              </a:solidFill>
            </a:endParaRPr>
          </a:p>
          <a:p>
            <a:pPr lvl="1"/>
            <a:r>
              <a:rPr lang="ja-GB" altLang="en-US" dirty="0">
                <a:solidFill>
                  <a:schemeClr val="tx1">
                    <a:lumMod val="50000"/>
                    <a:lumOff val="50000"/>
                  </a:schemeClr>
                </a:solidFill>
              </a:rPr>
              <a:t>最早結合点時刻（</a:t>
            </a:r>
            <a:r>
              <a:rPr lang="en-US" altLang="ja-GB" dirty="0">
                <a:solidFill>
                  <a:schemeClr val="tx1">
                    <a:lumMod val="50000"/>
                    <a:lumOff val="50000"/>
                  </a:schemeClr>
                </a:solidFill>
              </a:rPr>
              <a:t>ET</a:t>
            </a:r>
            <a:r>
              <a:rPr lang="ja-GB" altLang="en-US" dirty="0">
                <a:solidFill>
                  <a:schemeClr val="tx1">
                    <a:lumMod val="50000"/>
                    <a:lumOff val="50000"/>
                  </a:schemeClr>
                </a:solidFill>
              </a:rPr>
              <a:t>）と最遅結合点時刻（</a:t>
            </a:r>
            <a:r>
              <a:rPr lang="en-US" altLang="ja-GB" dirty="0">
                <a:solidFill>
                  <a:schemeClr val="tx1">
                    <a:lumMod val="50000"/>
                    <a:lumOff val="50000"/>
                  </a:schemeClr>
                </a:solidFill>
              </a:rPr>
              <a:t>LT</a:t>
            </a:r>
            <a:r>
              <a:rPr lang="ja-GB" altLang="en-US" dirty="0">
                <a:solidFill>
                  <a:schemeClr val="tx1">
                    <a:lumMod val="50000"/>
                    <a:lumOff val="50000"/>
                  </a:schemeClr>
                </a:solidFill>
              </a:rPr>
              <a:t>）</a:t>
            </a:r>
            <a:endParaRPr lang="en-US" altLang="ja-GB" dirty="0">
              <a:solidFill>
                <a:schemeClr val="tx1">
                  <a:lumMod val="50000"/>
                  <a:lumOff val="50000"/>
                </a:schemeClr>
              </a:solidFill>
            </a:endParaRPr>
          </a:p>
          <a:p>
            <a:pPr lvl="1"/>
            <a:endParaRPr lang="en-US" altLang="ja-GB" dirty="0">
              <a:solidFill>
                <a:schemeClr val="tx1">
                  <a:lumMod val="50000"/>
                  <a:lumOff val="50000"/>
                </a:schemeClr>
              </a:solidFill>
            </a:endParaRPr>
          </a:p>
          <a:p>
            <a:pPr marL="457200" indent="-457200">
              <a:buFont typeface="+mj-lt"/>
              <a:buAutoNum type="arabicPeriod"/>
            </a:pPr>
            <a:r>
              <a:rPr lang="ja-GB" altLang="en-US" dirty="0">
                <a:solidFill>
                  <a:schemeClr val="tx1">
                    <a:lumMod val="50000"/>
                    <a:lumOff val="50000"/>
                  </a:schemeClr>
                </a:solidFill>
              </a:rPr>
              <a:t>作業の日程計画</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結合点の時刻に基づく作業日程の計算</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余裕とクリティカルパス</a:t>
            </a:r>
            <a:endParaRPr lang="en-US" altLang="ja-GB" dirty="0">
              <a:solidFill>
                <a:schemeClr val="tx1">
                  <a:lumMod val="50000"/>
                  <a:lumOff val="50000"/>
                </a:schemeClr>
              </a:solidFill>
            </a:endParaRPr>
          </a:p>
          <a:p>
            <a:pPr lvl="1"/>
            <a:endParaRPr kumimoji="1" lang="en-US" altLang="ja-GB" dirty="0"/>
          </a:p>
          <a:p>
            <a:pPr marL="457200" indent="-457200">
              <a:buFont typeface="+mj-lt"/>
              <a:buAutoNum type="arabicPeriod"/>
            </a:pPr>
            <a:r>
              <a:rPr kumimoji="1" lang="ja-GB" altLang="en-US" dirty="0"/>
              <a:t>決定表</a:t>
            </a:r>
            <a:endParaRPr kumimoji="1" lang="en-US" altLang="ja-GB" dirty="0"/>
          </a:p>
          <a:p>
            <a:pPr lvl="1"/>
            <a:r>
              <a:rPr kumimoji="1" lang="ja-GB" altLang="en-US" dirty="0"/>
              <a:t>条件と結果の対応関係を一覧できる表</a:t>
            </a:r>
            <a:endParaRPr kumimoji="1" lang="en-US" altLang="ja-GB" dirty="0"/>
          </a:p>
          <a:p>
            <a:pPr lvl="1"/>
            <a:endParaRPr lang="en-US" altLang="ja-GB" dirty="0"/>
          </a:p>
        </p:txBody>
      </p:sp>
    </p:spTree>
    <p:extLst>
      <p:ext uri="{BB962C8B-B14F-4D97-AF65-F5344CB8AC3E}">
        <p14:creationId xmlns:p14="http://schemas.microsoft.com/office/powerpoint/2010/main" val="2740489012"/>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2157C5-FF88-9E48-ADF0-43706FD475E5}"/>
              </a:ext>
            </a:extLst>
          </p:cNvPr>
          <p:cNvSpPr>
            <a:spLocks noGrp="1"/>
          </p:cNvSpPr>
          <p:nvPr>
            <p:ph type="title"/>
          </p:nvPr>
        </p:nvSpPr>
        <p:spPr/>
        <p:txBody>
          <a:bodyPr/>
          <a:lstStyle/>
          <a:p>
            <a:r>
              <a:rPr kumimoji="1" lang="ja-GB" altLang="en-US" dirty="0"/>
              <a:t>決定表（</a:t>
            </a:r>
            <a:r>
              <a:rPr kumimoji="1" lang="en-US" altLang="ja-GB" dirty="0"/>
              <a:t>Decision Table</a:t>
            </a:r>
            <a:r>
              <a:rPr kumimoji="1" lang="ja-GB" altLang="en-US" dirty="0"/>
              <a:t>）</a:t>
            </a:r>
          </a:p>
        </p:txBody>
      </p:sp>
      <p:sp>
        <p:nvSpPr>
          <p:cNvPr id="3" name="コンテンツ プレースホルダー 2">
            <a:extLst>
              <a:ext uri="{FF2B5EF4-FFF2-40B4-BE49-F238E27FC236}">
                <a16:creationId xmlns:a16="http://schemas.microsoft.com/office/drawing/2014/main" id="{B6E6250B-FC94-6B14-E6BE-474237604702}"/>
              </a:ext>
            </a:extLst>
          </p:cNvPr>
          <p:cNvSpPr>
            <a:spLocks noGrp="1"/>
          </p:cNvSpPr>
          <p:nvPr>
            <p:ph idx="1"/>
          </p:nvPr>
        </p:nvSpPr>
        <p:spPr/>
        <p:txBody>
          <a:bodyPr/>
          <a:lstStyle/>
          <a:p>
            <a:pPr marL="0" indent="0">
              <a:buNone/>
            </a:pPr>
            <a:r>
              <a:rPr kumimoji="1" lang="ja-GB" altLang="en-US" dirty="0"/>
              <a:t>条件と結果の対応関係を一覧できる表</a:t>
            </a:r>
            <a:endParaRPr kumimoji="1" lang="en-US" altLang="ja-GB" dirty="0"/>
          </a:p>
          <a:p>
            <a:pPr lvl="1"/>
            <a:endParaRPr kumimoji="1" lang="ja-GB" altLang="en-US" dirty="0"/>
          </a:p>
        </p:txBody>
      </p:sp>
      <p:graphicFrame>
        <p:nvGraphicFramePr>
          <p:cNvPr id="6" name="表 5">
            <a:extLst>
              <a:ext uri="{FF2B5EF4-FFF2-40B4-BE49-F238E27FC236}">
                <a16:creationId xmlns:a16="http://schemas.microsoft.com/office/drawing/2014/main" id="{82797B6E-16B3-622A-2F00-FABC99132CFB}"/>
              </a:ext>
            </a:extLst>
          </p:cNvPr>
          <p:cNvGraphicFramePr>
            <a:graphicFrameLocks noGrp="1"/>
          </p:cNvGraphicFramePr>
          <p:nvPr/>
        </p:nvGraphicFramePr>
        <p:xfrm>
          <a:off x="314325" y="1500103"/>
          <a:ext cx="4320000" cy="1854200"/>
        </p:xfrm>
        <a:graphic>
          <a:graphicData uri="http://schemas.openxmlformats.org/drawingml/2006/table">
            <a:tbl>
              <a:tblPr bandRow="1">
                <a:tableStyleId>{5C22544A-7EE6-4342-B048-85BDC9FD1C3A}</a:tableStyleId>
              </a:tblPr>
              <a:tblGrid>
                <a:gridCol w="864000">
                  <a:extLst>
                    <a:ext uri="{9D8B030D-6E8A-4147-A177-3AD203B41FA5}">
                      <a16:colId xmlns:a16="http://schemas.microsoft.com/office/drawing/2014/main" val="196654212"/>
                    </a:ext>
                  </a:extLst>
                </a:gridCol>
                <a:gridCol w="864000">
                  <a:extLst>
                    <a:ext uri="{9D8B030D-6E8A-4147-A177-3AD203B41FA5}">
                      <a16:colId xmlns:a16="http://schemas.microsoft.com/office/drawing/2014/main" val="3587798998"/>
                    </a:ext>
                  </a:extLst>
                </a:gridCol>
                <a:gridCol w="864000">
                  <a:extLst>
                    <a:ext uri="{9D8B030D-6E8A-4147-A177-3AD203B41FA5}">
                      <a16:colId xmlns:a16="http://schemas.microsoft.com/office/drawing/2014/main" val="730188351"/>
                    </a:ext>
                  </a:extLst>
                </a:gridCol>
                <a:gridCol w="864000">
                  <a:extLst>
                    <a:ext uri="{9D8B030D-6E8A-4147-A177-3AD203B41FA5}">
                      <a16:colId xmlns:a16="http://schemas.microsoft.com/office/drawing/2014/main" val="1623471268"/>
                    </a:ext>
                  </a:extLst>
                </a:gridCol>
                <a:gridCol w="864000">
                  <a:extLst>
                    <a:ext uri="{9D8B030D-6E8A-4147-A177-3AD203B41FA5}">
                      <a16:colId xmlns:a16="http://schemas.microsoft.com/office/drawing/2014/main" val="211111563"/>
                    </a:ext>
                  </a:extLst>
                </a:gridCol>
              </a:tblGrid>
              <a:tr h="370840">
                <a:tc>
                  <a:txBody>
                    <a:bodyPr/>
                    <a:lstStyle/>
                    <a:p>
                      <a:pPr algn="ctr"/>
                      <a:r>
                        <a:rPr lang="ja-GB" altLang="en-US" b="1" dirty="0">
                          <a:solidFill>
                            <a:srgbClr val="002060"/>
                          </a:solidFill>
                        </a:rPr>
                        <a:t>条件</a:t>
                      </a:r>
                      <a:r>
                        <a:rPr lang="en-US" altLang="ja-GB" b="1" dirty="0">
                          <a:solidFill>
                            <a:srgbClr val="002060"/>
                          </a:solidFill>
                        </a:rPr>
                        <a:t>1</a:t>
                      </a:r>
                      <a:endParaRPr lang="ja-GB"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20000"/>
                        <a:lumOff val="80000"/>
                      </a:schemeClr>
                    </a:solidFill>
                  </a:tcPr>
                </a:tc>
                <a:extLst>
                  <a:ext uri="{0D108BD9-81ED-4DB2-BD59-A6C34878D82A}">
                    <a16:rowId xmlns:a16="http://schemas.microsoft.com/office/drawing/2014/main" val="520366626"/>
                  </a:ext>
                </a:extLst>
              </a:tr>
              <a:tr h="370840">
                <a:tc>
                  <a:txBody>
                    <a:bodyPr/>
                    <a:lstStyle/>
                    <a:p>
                      <a:pPr algn="ctr"/>
                      <a:r>
                        <a:rPr lang="ja-GB" altLang="en-US" b="1" dirty="0">
                          <a:solidFill>
                            <a:srgbClr val="002060"/>
                          </a:solidFill>
                        </a:rPr>
                        <a:t>条件</a:t>
                      </a:r>
                      <a:r>
                        <a:rPr lang="en-US" altLang="ja-GB" b="1" dirty="0">
                          <a:solidFill>
                            <a:srgbClr val="002060"/>
                          </a:solidFill>
                        </a:rPr>
                        <a:t>2</a:t>
                      </a:r>
                      <a:endParaRPr lang="ja-GB"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552777604"/>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1</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20000"/>
                        <a:lumOff val="80000"/>
                      </a:schemeClr>
                    </a:solidFill>
                  </a:tcPr>
                </a:tc>
                <a:extLst>
                  <a:ext uri="{0D108BD9-81ED-4DB2-BD59-A6C34878D82A}">
                    <a16:rowId xmlns:a16="http://schemas.microsoft.com/office/drawing/2014/main" val="3194411520"/>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2</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solidFill>
                      <a:schemeClr val="accent6">
                        <a:lumMod val="20000"/>
                        <a:lumOff val="80000"/>
                      </a:schemeClr>
                    </a:solidFill>
                  </a:tcPr>
                </a:tc>
                <a:tc>
                  <a:txBody>
                    <a:bodyPr/>
                    <a:lstStyle/>
                    <a:p>
                      <a:pPr algn="ctr"/>
                      <a:endParaRPr lang="ja-GB" altLang="en-US" dirty="0">
                        <a:solidFill>
                          <a:srgbClr val="2D350F"/>
                        </a:solidFill>
                      </a:endParaRPr>
                    </a:p>
                  </a:txBody>
                  <a:tcPr>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solidFill>
                      <a:schemeClr val="accent6">
                        <a:lumMod val="20000"/>
                        <a:lumOff val="80000"/>
                      </a:schemeClr>
                    </a:solidFill>
                  </a:tcPr>
                </a:tc>
                <a:extLst>
                  <a:ext uri="{0D108BD9-81ED-4DB2-BD59-A6C34878D82A}">
                    <a16:rowId xmlns:a16="http://schemas.microsoft.com/office/drawing/2014/main" val="2249085906"/>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3</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453916129"/>
                  </a:ext>
                </a:extLst>
              </a:tr>
            </a:tbl>
          </a:graphicData>
        </a:graphic>
      </p:graphicFrame>
      <p:sp>
        <p:nvSpPr>
          <p:cNvPr id="7" name="テキスト ボックス 6">
            <a:extLst>
              <a:ext uri="{FF2B5EF4-FFF2-40B4-BE49-F238E27FC236}">
                <a16:creationId xmlns:a16="http://schemas.microsoft.com/office/drawing/2014/main" id="{5BC56E01-E328-4640-B27F-4A091A54EA8A}"/>
              </a:ext>
            </a:extLst>
          </p:cNvPr>
          <p:cNvSpPr txBox="1"/>
          <p:nvPr/>
        </p:nvSpPr>
        <p:spPr>
          <a:xfrm>
            <a:off x="4869952" y="1500103"/>
            <a:ext cx="3724096" cy="1200329"/>
          </a:xfrm>
          <a:prstGeom prst="rect">
            <a:avLst/>
          </a:prstGeom>
          <a:noFill/>
        </p:spPr>
        <p:txBody>
          <a:bodyPr wrap="none" rtlCol="0">
            <a:spAutoFit/>
          </a:bodyPr>
          <a:lstStyle/>
          <a:p>
            <a:r>
              <a:rPr kumimoji="1" lang="ja-GB" altLang="en-US" dirty="0"/>
              <a:t>条件</a:t>
            </a:r>
            <a:r>
              <a:rPr kumimoji="1" lang="en-US" altLang="ja-GB" dirty="0"/>
              <a:t>1 and </a:t>
            </a:r>
            <a:r>
              <a:rPr kumimoji="1" lang="ja-GB" altLang="en-US" dirty="0"/>
              <a:t>条件</a:t>
            </a:r>
            <a:r>
              <a:rPr kumimoji="1" lang="en-US" altLang="ja-GB" dirty="0"/>
              <a:t>2 </a:t>
            </a:r>
            <a:r>
              <a:rPr kumimoji="1" lang="ja-JP" altLang="en-US"/>
              <a:t>　　</a:t>
            </a:r>
            <a:r>
              <a:rPr kumimoji="1" lang="en-US" altLang="ja-JP" dirty="0"/>
              <a:t> </a:t>
            </a:r>
            <a:r>
              <a:rPr kumimoji="1" lang="en-US" altLang="ja-GB" dirty="0"/>
              <a:t> </a:t>
            </a:r>
            <a:r>
              <a:rPr kumimoji="1" lang="ja-JP" altLang="en-US"/>
              <a:t>　　</a:t>
            </a:r>
            <a:r>
              <a:rPr kumimoji="1" lang="en-US" altLang="ja-JP" dirty="0"/>
              <a:t>→ </a:t>
            </a:r>
            <a:r>
              <a:rPr kumimoji="1" lang="ja-GB" altLang="en-US" dirty="0"/>
              <a:t>結果</a:t>
            </a:r>
            <a:r>
              <a:rPr kumimoji="1" lang="en-US" altLang="ja-GB" dirty="0"/>
              <a:t>1</a:t>
            </a:r>
          </a:p>
          <a:p>
            <a:r>
              <a:rPr kumimoji="1" lang="ja-GB" altLang="en-US" dirty="0"/>
              <a:t>条件</a:t>
            </a:r>
            <a:r>
              <a:rPr kumimoji="1" lang="en-US" altLang="ja-GB" dirty="0"/>
              <a:t>1 and not (</a:t>
            </a:r>
            <a:r>
              <a:rPr kumimoji="1" lang="ja-GB" altLang="en-US" dirty="0"/>
              <a:t>条件</a:t>
            </a:r>
            <a:r>
              <a:rPr kumimoji="1" lang="en-US" altLang="ja-GB" dirty="0"/>
              <a:t>2) </a:t>
            </a:r>
            <a:r>
              <a:rPr kumimoji="1" lang="ja-JP" altLang="en-US"/>
              <a:t>　　</a:t>
            </a:r>
            <a:r>
              <a:rPr kumimoji="1" lang="en-US" altLang="ja-JP" dirty="0"/>
              <a:t> </a:t>
            </a:r>
            <a:r>
              <a:rPr kumimoji="1" lang="en-US" altLang="ja-GB" dirty="0"/>
              <a:t>→ </a:t>
            </a:r>
            <a:r>
              <a:rPr kumimoji="1" lang="ja-GB" altLang="en-US" dirty="0"/>
              <a:t>結果</a:t>
            </a:r>
            <a:r>
              <a:rPr kumimoji="1" lang="en-US" altLang="ja-GB" dirty="0"/>
              <a:t>2</a:t>
            </a:r>
          </a:p>
          <a:p>
            <a:r>
              <a:rPr kumimoji="1" lang="en-US" altLang="ja-GB" dirty="0"/>
              <a:t>not(</a:t>
            </a:r>
            <a:r>
              <a:rPr kumimoji="1" lang="ja-GB" altLang="en-US" dirty="0"/>
              <a:t>条件</a:t>
            </a:r>
            <a:r>
              <a:rPr kumimoji="1" lang="en-US" altLang="ja-GB" dirty="0"/>
              <a:t>1) and </a:t>
            </a:r>
            <a:r>
              <a:rPr kumimoji="1" lang="ja-GB" altLang="en-US" dirty="0"/>
              <a:t>条件</a:t>
            </a:r>
            <a:r>
              <a:rPr kumimoji="1" lang="en-US" altLang="ja-GB" dirty="0"/>
              <a:t>2   </a:t>
            </a:r>
            <a:r>
              <a:rPr kumimoji="1" lang="ja-JP" altLang="en-US"/>
              <a:t>　　</a:t>
            </a:r>
            <a:r>
              <a:rPr kumimoji="1" lang="en-US" altLang="ja-GB" dirty="0"/>
              <a:t>→ </a:t>
            </a:r>
            <a:r>
              <a:rPr kumimoji="1" lang="ja-GB" altLang="en-US" dirty="0"/>
              <a:t>結果</a:t>
            </a:r>
            <a:r>
              <a:rPr kumimoji="1" lang="en-US" altLang="ja-GB" dirty="0"/>
              <a:t>3</a:t>
            </a:r>
          </a:p>
          <a:p>
            <a:r>
              <a:rPr kumimoji="1" lang="en-US" altLang="ja-GB" dirty="0"/>
              <a:t>not(</a:t>
            </a:r>
            <a:r>
              <a:rPr kumimoji="1" lang="ja-GB" altLang="en-US" dirty="0"/>
              <a:t>条件</a:t>
            </a:r>
            <a:r>
              <a:rPr kumimoji="1" lang="en-US" altLang="ja-GB" dirty="0"/>
              <a:t>1) and not(</a:t>
            </a:r>
            <a:r>
              <a:rPr kumimoji="1" lang="ja-GB" altLang="en-US" dirty="0"/>
              <a:t>条件</a:t>
            </a:r>
            <a:r>
              <a:rPr kumimoji="1" lang="en-US" altLang="ja-GB" dirty="0"/>
              <a:t>2)   → </a:t>
            </a:r>
            <a:r>
              <a:rPr kumimoji="1" lang="ja-GB" altLang="en-US" dirty="0"/>
              <a:t>結果</a:t>
            </a:r>
            <a:r>
              <a:rPr kumimoji="1" lang="en-US" altLang="ja-GB" dirty="0"/>
              <a:t>2</a:t>
            </a:r>
            <a:endParaRPr kumimoji="1" lang="ja-GB" altLang="en-US" dirty="0"/>
          </a:p>
        </p:txBody>
      </p:sp>
    </p:spTree>
    <p:extLst>
      <p:ext uri="{BB962C8B-B14F-4D97-AF65-F5344CB8AC3E}">
        <p14:creationId xmlns:p14="http://schemas.microsoft.com/office/powerpoint/2010/main" val="2784902684"/>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0B8C9-EE22-72EA-98DF-AB2A1960CB9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DFA511E-6FDB-6CAA-3F9A-A034883AE632}"/>
              </a:ext>
            </a:extLst>
          </p:cNvPr>
          <p:cNvSpPr>
            <a:spLocks noGrp="1"/>
          </p:cNvSpPr>
          <p:nvPr>
            <p:ph type="title"/>
          </p:nvPr>
        </p:nvSpPr>
        <p:spPr/>
        <p:txBody>
          <a:bodyPr/>
          <a:lstStyle/>
          <a:p>
            <a:r>
              <a:rPr kumimoji="1" lang="ja-GB" altLang="en-US" dirty="0"/>
              <a:t>決定表（</a:t>
            </a:r>
            <a:r>
              <a:rPr kumimoji="1" lang="en-US" altLang="ja-GB" dirty="0"/>
              <a:t>Decision Table</a:t>
            </a:r>
            <a:r>
              <a:rPr kumimoji="1" lang="ja-GB" altLang="en-US" dirty="0"/>
              <a:t>）</a:t>
            </a:r>
          </a:p>
        </p:txBody>
      </p:sp>
      <p:sp>
        <p:nvSpPr>
          <p:cNvPr id="3" name="コンテンツ プレースホルダー 2">
            <a:extLst>
              <a:ext uri="{FF2B5EF4-FFF2-40B4-BE49-F238E27FC236}">
                <a16:creationId xmlns:a16="http://schemas.microsoft.com/office/drawing/2014/main" id="{8F1EE5DC-FD84-8BDD-3D4D-3C0C0950BF5F}"/>
              </a:ext>
            </a:extLst>
          </p:cNvPr>
          <p:cNvSpPr>
            <a:spLocks noGrp="1"/>
          </p:cNvSpPr>
          <p:nvPr>
            <p:ph idx="1"/>
          </p:nvPr>
        </p:nvSpPr>
        <p:spPr/>
        <p:txBody>
          <a:bodyPr/>
          <a:lstStyle/>
          <a:p>
            <a:pPr marL="0" indent="0">
              <a:buNone/>
            </a:pPr>
            <a:r>
              <a:rPr kumimoji="1" lang="ja-GB" altLang="en-US" dirty="0"/>
              <a:t>条件と結果の対応関係を一覧できる表</a:t>
            </a:r>
            <a:endParaRPr kumimoji="1" lang="en-US" altLang="ja-GB" dirty="0"/>
          </a:p>
          <a:p>
            <a:pPr lvl="1"/>
            <a:endParaRPr kumimoji="1" lang="ja-GB" altLang="en-US" dirty="0"/>
          </a:p>
        </p:txBody>
      </p:sp>
      <p:graphicFrame>
        <p:nvGraphicFramePr>
          <p:cNvPr id="6" name="表 5">
            <a:extLst>
              <a:ext uri="{FF2B5EF4-FFF2-40B4-BE49-F238E27FC236}">
                <a16:creationId xmlns:a16="http://schemas.microsoft.com/office/drawing/2014/main" id="{03FF8B60-DFCF-B4FF-AB50-3BC06F9440F6}"/>
              </a:ext>
            </a:extLst>
          </p:cNvPr>
          <p:cNvGraphicFramePr>
            <a:graphicFrameLocks noGrp="1"/>
          </p:cNvGraphicFramePr>
          <p:nvPr/>
        </p:nvGraphicFramePr>
        <p:xfrm>
          <a:off x="314325" y="1500103"/>
          <a:ext cx="4320000" cy="1854200"/>
        </p:xfrm>
        <a:graphic>
          <a:graphicData uri="http://schemas.openxmlformats.org/drawingml/2006/table">
            <a:tbl>
              <a:tblPr bandRow="1">
                <a:tableStyleId>{5C22544A-7EE6-4342-B048-85BDC9FD1C3A}</a:tableStyleId>
              </a:tblPr>
              <a:tblGrid>
                <a:gridCol w="864000">
                  <a:extLst>
                    <a:ext uri="{9D8B030D-6E8A-4147-A177-3AD203B41FA5}">
                      <a16:colId xmlns:a16="http://schemas.microsoft.com/office/drawing/2014/main" val="196654212"/>
                    </a:ext>
                  </a:extLst>
                </a:gridCol>
                <a:gridCol w="864000">
                  <a:extLst>
                    <a:ext uri="{9D8B030D-6E8A-4147-A177-3AD203B41FA5}">
                      <a16:colId xmlns:a16="http://schemas.microsoft.com/office/drawing/2014/main" val="3587798998"/>
                    </a:ext>
                  </a:extLst>
                </a:gridCol>
                <a:gridCol w="864000">
                  <a:extLst>
                    <a:ext uri="{9D8B030D-6E8A-4147-A177-3AD203B41FA5}">
                      <a16:colId xmlns:a16="http://schemas.microsoft.com/office/drawing/2014/main" val="730188351"/>
                    </a:ext>
                  </a:extLst>
                </a:gridCol>
                <a:gridCol w="864000">
                  <a:extLst>
                    <a:ext uri="{9D8B030D-6E8A-4147-A177-3AD203B41FA5}">
                      <a16:colId xmlns:a16="http://schemas.microsoft.com/office/drawing/2014/main" val="1623471268"/>
                    </a:ext>
                  </a:extLst>
                </a:gridCol>
                <a:gridCol w="864000">
                  <a:extLst>
                    <a:ext uri="{9D8B030D-6E8A-4147-A177-3AD203B41FA5}">
                      <a16:colId xmlns:a16="http://schemas.microsoft.com/office/drawing/2014/main" val="211111563"/>
                    </a:ext>
                  </a:extLst>
                </a:gridCol>
              </a:tblGrid>
              <a:tr h="370840">
                <a:tc>
                  <a:txBody>
                    <a:bodyPr/>
                    <a:lstStyle/>
                    <a:p>
                      <a:pPr algn="ctr"/>
                      <a:r>
                        <a:rPr lang="ja-GB" altLang="en-US" b="1" dirty="0">
                          <a:solidFill>
                            <a:srgbClr val="002060"/>
                          </a:solidFill>
                        </a:rPr>
                        <a:t>条件</a:t>
                      </a:r>
                      <a:r>
                        <a:rPr lang="en-US" altLang="ja-GB" b="1" dirty="0">
                          <a:solidFill>
                            <a:srgbClr val="002060"/>
                          </a:solidFill>
                        </a:rPr>
                        <a:t>1</a:t>
                      </a:r>
                      <a:endParaRPr lang="ja-GB"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20000"/>
                        <a:lumOff val="80000"/>
                      </a:schemeClr>
                    </a:solidFill>
                  </a:tcPr>
                </a:tc>
                <a:extLst>
                  <a:ext uri="{0D108BD9-81ED-4DB2-BD59-A6C34878D82A}">
                    <a16:rowId xmlns:a16="http://schemas.microsoft.com/office/drawing/2014/main" val="520366626"/>
                  </a:ext>
                </a:extLst>
              </a:tr>
              <a:tr h="370840">
                <a:tc>
                  <a:txBody>
                    <a:bodyPr/>
                    <a:lstStyle/>
                    <a:p>
                      <a:pPr algn="ctr"/>
                      <a:r>
                        <a:rPr lang="ja-GB" altLang="en-US" b="1" dirty="0">
                          <a:solidFill>
                            <a:srgbClr val="002060"/>
                          </a:solidFill>
                        </a:rPr>
                        <a:t>条件</a:t>
                      </a:r>
                      <a:r>
                        <a:rPr lang="en-US" altLang="ja-GB" b="1" dirty="0">
                          <a:solidFill>
                            <a:srgbClr val="002060"/>
                          </a:solidFill>
                        </a:rPr>
                        <a:t>2</a:t>
                      </a:r>
                      <a:endParaRPr lang="ja-GB"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552777604"/>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1</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20000"/>
                        <a:lumOff val="80000"/>
                      </a:schemeClr>
                    </a:solidFill>
                  </a:tcPr>
                </a:tc>
                <a:extLst>
                  <a:ext uri="{0D108BD9-81ED-4DB2-BD59-A6C34878D82A}">
                    <a16:rowId xmlns:a16="http://schemas.microsoft.com/office/drawing/2014/main" val="3194411520"/>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2</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solidFill>
                      <a:schemeClr val="accent6">
                        <a:lumMod val="20000"/>
                        <a:lumOff val="80000"/>
                      </a:schemeClr>
                    </a:solidFill>
                  </a:tcPr>
                </a:tc>
                <a:tc>
                  <a:txBody>
                    <a:bodyPr/>
                    <a:lstStyle/>
                    <a:p>
                      <a:pPr algn="ctr"/>
                      <a:endParaRPr lang="ja-GB" altLang="en-US" dirty="0">
                        <a:solidFill>
                          <a:srgbClr val="2D350F"/>
                        </a:solidFill>
                      </a:endParaRPr>
                    </a:p>
                  </a:txBody>
                  <a:tcPr>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solidFill>
                      <a:schemeClr val="accent6">
                        <a:lumMod val="20000"/>
                        <a:lumOff val="80000"/>
                      </a:schemeClr>
                    </a:solidFill>
                  </a:tcPr>
                </a:tc>
                <a:extLst>
                  <a:ext uri="{0D108BD9-81ED-4DB2-BD59-A6C34878D82A}">
                    <a16:rowId xmlns:a16="http://schemas.microsoft.com/office/drawing/2014/main" val="2249085906"/>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3</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453916129"/>
                  </a:ext>
                </a:extLst>
              </a:tr>
            </a:tbl>
          </a:graphicData>
        </a:graphic>
      </p:graphicFrame>
      <p:sp>
        <p:nvSpPr>
          <p:cNvPr id="7" name="テキスト ボックス 6">
            <a:extLst>
              <a:ext uri="{FF2B5EF4-FFF2-40B4-BE49-F238E27FC236}">
                <a16:creationId xmlns:a16="http://schemas.microsoft.com/office/drawing/2014/main" id="{9C95ABFD-1A11-302D-7F69-A87C2DC532F8}"/>
              </a:ext>
            </a:extLst>
          </p:cNvPr>
          <p:cNvSpPr txBox="1"/>
          <p:nvPr/>
        </p:nvSpPr>
        <p:spPr>
          <a:xfrm>
            <a:off x="4869952" y="1500103"/>
            <a:ext cx="3724096" cy="1200329"/>
          </a:xfrm>
          <a:prstGeom prst="rect">
            <a:avLst/>
          </a:prstGeom>
          <a:noFill/>
        </p:spPr>
        <p:txBody>
          <a:bodyPr wrap="none" rtlCol="0">
            <a:spAutoFit/>
          </a:bodyPr>
          <a:lstStyle/>
          <a:p>
            <a:r>
              <a:rPr kumimoji="1" lang="ja-GB" altLang="en-US" dirty="0"/>
              <a:t>条件</a:t>
            </a:r>
            <a:r>
              <a:rPr kumimoji="1" lang="en-US" altLang="ja-GB" dirty="0"/>
              <a:t>1 and </a:t>
            </a:r>
            <a:r>
              <a:rPr kumimoji="1" lang="ja-GB" altLang="en-US" dirty="0"/>
              <a:t>条件</a:t>
            </a:r>
            <a:r>
              <a:rPr kumimoji="1" lang="en-US" altLang="ja-GB" dirty="0"/>
              <a:t>2 </a:t>
            </a:r>
            <a:r>
              <a:rPr kumimoji="1" lang="ja-JP" altLang="en-US"/>
              <a:t>　　</a:t>
            </a:r>
            <a:r>
              <a:rPr kumimoji="1" lang="en-US" altLang="ja-JP" dirty="0"/>
              <a:t> </a:t>
            </a:r>
            <a:r>
              <a:rPr kumimoji="1" lang="en-US" altLang="ja-GB" dirty="0"/>
              <a:t> </a:t>
            </a:r>
            <a:r>
              <a:rPr kumimoji="1" lang="ja-JP" altLang="en-US"/>
              <a:t>　　</a:t>
            </a:r>
            <a:r>
              <a:rPr kumimoji="1" lang="en-US" altLang="ja-JP" dirty="0"/>
              <a:t>→ </a:t>
            </a:r>
            <a:r>
              <a:rPr kumimoji="1" lang="ja-GB" altLang="en-US" dirty="0"/>
              <a:t>結果</a:t>
            </a:r>
            <a:r>
              <a:rPr kumimoji="1" lang="en-US" altLang="ja-GB" dirty="0"/>
              <a:t>1</a:t>
            </a:r>
          </a:p>
          <a:p>
            <a:r>
              <a:rPr kumimoji="1" lang="ja-GB" altLang="en-US" dirty="0"/>
              <a:t>条件</a:t>
            </a:r>
            <a:r>
              <a:rPr kumimoji="1" lang="en-US" altLang="ja-GB" dirty="0"/>
              <a:t>1 and not (</a:t>
            </a:r>
            <a:r>
              <a:rPr kumimoji="1" lang="ja-GB" altLang="en-US" dirty="0"/>
              <a:t>条件</a:t>
            </a:r>
            <a:r>
              <a:rPr kumimoji="1" lang="en-US" altLang="ja-GB" dirty="0"/>
              <a:t>2) </a:t>
            </a:r>
            <a:r>
              <a:rPr kumimoji="1" lang="ja-JP" altLang="en-US"/>
              <a:t>　　</a:t>
            </a:r>
            <a:r>
              <a:rPr kumimoji="1" lang="en-US" altLang="ja-JP" dirty="0"/>
              <a:t> </a:t>
            </a:r>
            <a:r>
              <a:rPr kumimoji="1" lang="en-US" altLang="ja-GB" dirty="0"/>
              <a:t>→ </a:t>
            </a:r>
            <a:r>
              <a:rPr kumimoji="1" lang="ja-GB" altLang="en-US" dirty="0"/>
              <a:t>結果</a:t>
            </a:r>
            <a:r>
              <a:rPr kumimoji="1" lang="en-US" altLang="ja-GB" dirty="0"/>
              <a:t>2</a:t>
            </a:r>
          </a:p>
          <a:p>
            <a:r>
              <a:rPr kumimoji="1" lang="en-US" altLang="ja-GB" dirty="0"/>
              <a:t>not(</a:t>
            </a:r>
            <a:r>
              <a:rPr kumimoji="1" lang="ja-GB" altLang="en-US" dirty="0"/>
              <a:t>条件</a:t>
            </a:r>
            <a:r>
              <a:rPr kumimoji="1" lang="en-US" altLang="ja-GB" dirty="0"/>
              <a:t>1) and </a:t>
            </a:r>
            <a:r>
              <a:rPr kumimoji="1" lang="ja-GB" altLang="en-US" dirty="0"/>
              <a:t>条件</a:t>
            </a:r>
            <a:r>
              <a:rPr kumimoji="1" lang="en-US" altLang="ja-GB" dirty="0"/>
              <a:t>2   </a:t>
            </a:r>
            <a:r>
              <a:rPr kumimoji="1" lang="ja-JP" altLang="en-US"/>
              <a:t>　　</a:t>
            </a:r>
            <a:r>
              <a:rPr kumimoji="1" lang="en-US" altLang="ja-GB" dirty="0"/>
              <a:t>→ </a:t>
            </a:r>
            <a:r>
              <a:rPr kumimoji="1" lang="ja-GB" altLang="en-US" dirty="0"/>
              <a:t>結果</a:t>
            </a:r>
            <a:r>
              <a:rPr kumimoji="1" lang="en-US" altLang="ja-GB" dirty="0"/>
              <a:t>3</a:t>
            </a:r>
          </a:p>
          <a:p>
            <a:r>
              <a:rPr kumimoji="1" lang="en-US" altLang="ja-GB" dirty="0"/>
              <a:t>not(</a:t>
            </a:r>
            <a:r>
              <a:rPr kumimoji="1" lang="ja-GB" altLang="en-US" dirty="0"/>
              <a:t>条件</a:t>
            </a:r>
            <a:r>
              <a:rPr kumimoji="1" lang="en-US" altLang="ja-GB" dirty="0"/>
              <a:t>1) and not(</a:t>
            </a:r>
            <a:r>
              <a:rPr kumimoji="1" lang="ja-GB" altLang="en-US" dirty="0"/>
              <a:t>条件</a:t>
            </a:r>
            <a:r>
              <a:rPr kumimoji="1" lang="en-US" altLang="ja-GB" dirty="0"/>
              <a:t>2)   → </a:t>
            </a:r>
            <a:r>
              <a:rPr kumimoji="1" lang="ja-GB" altLang="en-US" dirty="0"/>
              <a:t>結果</a:t>
            </a:r>
            <a:r>
              <a:rPr kumimoji="1" lang="en-US" altLang="ja-GB" dirty="0"/>
              <a:t>2</a:t>
            </a:r>
            <a:endParaRPr kumimoji="1" lang="ja-GB" altLang="en-US" dirty="0"/>
          </a:p>
        </p:txBody>
      </p:sp>
      <p:graphicFrame>
        <p:nvGraphicFramePr>
          <p:cNvPr id="8" name="表 7">
            <a:extLst>
              <a:ext uri="{FF2B5EF4-FFF2-40B4-BE49-F238E27FC236}">
                <a16:creationId xmlns:a16="http://schemas.microsoft.com/office/drawing/2014/main" id="{C7D6C32E-F0E2-1B1B-DE30-AF3C0BD6C43A}"/>
              </a:ext>
            </a:extLst>
          </p:cNvPr>
          <p:cNvGraphicFramePr>
            <a:graphicFrameLocks noGrp="1"/>
          </p:cNvGraphicFramePr>
          <p:nvPr/>
        </p:nvGraphicFramePr>
        <p:xfrm>
          <a:off x="314325" y="3856382"/>
          <a:ext cx="8374667" cy="2595880"/>
        </p:xfrm>
        <a:graphic>
          <a:graphicData uri="http://schemas.openxmlformats.org/drawingml/2006/table">
            <a:tbl>
              <a:tblPr bandRow="1">
                <a:tableStyleId>{5C22544A-7EE6-4342-B048-85BDC9FD1C3A}</a:tableStyleId>
              </a:tblPr>
              <a:tblGrid>
                <a:gridCol w="2543875">
                  <a:extLst>
                    <a:ext uri="{9D8B030D-6E8A-4147-A177-3AD203B41FA5}">
                      <a16:colId xmlns:a16="http://schemas.microsoft.com/office/drawing/2014/main" val="196654212"/>
                    </a:ext>
                  </a:extLst>
                </a:gridCol>
                <a:gridCol w="728849">
                  <a:extLst>
                    <a:ext uri="{9D8B030D-6E8A-4147-A177-3AD203B41FA5}">
                      <a16:colId xmlns:a16="http://schemas.microsoft.com/office/drawing/2014/main" val="3587798998"/>
                    </a:ext>
                  </a:extLst>
                </a:gridCol>
                <a:gridCol w="728849">
                  <a:extLst>
                    <a:ext uri="{9D8B030D-6E8A-4147-A177-3AD203B41FA5}">
                      <a16:colId xmlns:a16="http://schemas.microsoft.com/office/drawing/2014/main" val="730188351"/>
                    </a:ext>
                  </a:extLst>
                </a:gridCol>
                <a:gridCol w="728849">
                  <a:extLst>
                    <a:ext uri="{9D8B030D-6E8A-4147-A177-3AD203B41FA5}">
                      <a16:colId xmlns:a16="http://schemas.microsoft.com/office/drawing/2014/main" val="1623471268"/>
                    </a:ext>
                  </a:extLst>
                </a:gridCol>
                <a:gridCol w="728849">
                  <a:extLst>
                    <a:ext uri="{9D8B030D-6E8A-4147-A177-3AD203B41FA5}">
                      <a16:colId xmlns:a16="http://schemas.microsoft.com/office/drawing/2014/main" val="211111563"/>
                    </a:ext>
                  </a:extLst>
                </a:gridCol>
                <a:gridCol w="728849">
                  <a:extLst>
                    <a:ext uri="{9D8B030D-6E8A-4147-A177-3AD203B41FA5}">
                      <a16:colId xmlns:a16="http://schemas.microsoft.com/office/drawing/2014/main" val="2972945060"/>
                    </a:ext>
                  </a:extLst>
                </a:gridCol>
                <a:gridCol w="728849">
                  <a:extLst>
                    <a:ext uri="{9D8B030D-6E8A-4147-A177-3AD203B41FA5}">
                      <a16:colId xmlns:a16="http://schemas.microsoft.com/office/drawing/2014/main" val="2202245411"/>
                    </a:ext>
                  </a:extLst>
                </a:gridCol>
                <a:gridCol w="728849">
                  <a:extLst>
                    <a:ext uri="{9D8B030D-6E8A-4147-A177-3AD203B41FA5}">
                      <a16:colId xmlns:a16="http://schemas.microsoft.com/office/drawing/2014/main" val="532344705"/>
                    </a:ext>
                  </a:extLst>
                </a:gridCol>
                <a:gridCol w="728849">
                  <a:extLst>
                    <a:ext uri="{9D8B030D-6E8A-4147-A177-3AD203B41FA5}">
                      <a16:colId xmlns:a16="http://schemas.microsoft.com/office/drawing/2014/main" val="859956891"/>
                    </a:ext>
                  </a:extLst>
                </a:gridCol>
              </a:tblGrid>
              <a:tr h="370840">
                <a:tc>
                  <a:txBody>
                    <a:bodyPr/>
                    <a:lstStyle/>
                    <a:p>
                      <a:pPr algn="ctr"/>
                      <a:r>
                        <a:rPr lang="ja-GB" altLang="en-US" b="1" dirty="0">
                          <a:solidFill>
                            <a:srgbClr val="002060"/>
                          </a:solidFill>
                        </a:rPr>
                        <a:t>マナーモード</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20000"/>
                        <a:lumOff val="80000"/>
                      </a:schemeClr>
                    </a:solidFill>
                  </a:tcPr>
                </a:tc>
                <a:extLst>
                  <a:ext uri="{0D108BD9-81ED-4DB2-BD59-A6C34878D82A}">
                    <a16:rowId xmlns:a16="http://schemas.microsoft.com/office/drawing/2014/main" val="520366626"/>
                  </a:ext>
                </a:extLst>
              </a:tr>
              <a:tr h="370840">
                <a:tc>
                  <a:txBody>
                    <a:bodyPr/>
                    <a:lstStyle/>
                    <a:p>
                      <a:pPr algn="ctr"/>
                      <a:r>
                        <a:rPr lang="ja-GB" altLang="en-US" b="1" dirty="0">
                          <a:solidFill>
                            <a:srgbClr val="002060"/>
                          </a:solidFill>
                        </a:rPr>
                        <a:t>重要な連絡先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solidFill>
                      <a:schemeClr val="accent5">
                        <a:lumMod val="20000"/>
                        <a:lumOff val="80000"/>
                      </a:schemeClr>
                    </a:solidFill>
                  </a:tcPr>
                </a:tc>
                <a:extLst>
                  <a:ext uri="{0D108BD9-81ED-4DB2-BD59-A6C34878D82A}">
                    <a16:rowId xmlns:a16="http://schemas.microsoft.com/office/drawing/2014/main" val="1872616473"/>
                  </a:ext>
                </a:extLst>
              </a:tr>
              <a:tr h="370840">
                <a:tc>
                  <a:txBody>
                    <a:bodyPr/>
                    <a:lstStyle/>
                    <a:p>
                      <a:pPr algn="ctr"/>
                      <a:r>
                        <a:rPr lang="ja-GB" altLang="en-US" b="1" dirty="0">
                          <a:solidFill>
                            <a:srgbClr val="002060"/>
                          </a:solidFill>
                        </a:rPr>
                        <a:t>就寝時間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552777604"/>
                  </a:ext>
                </a:extLst>
              </a:tr>
              <a:tr h="370840">
                <a:tc>
                  <a:txBody>
                    <a:bodyPr/>
                    <a:lstStyle/>
                    <a:p>
                      <a:pPr algn="ctr"/>
                      <a:r>
                        <a:rPr lang="ja-GB" altLang="en-US" b="1" dirty="0">
                          <a:solidFill>
                            <a:schemeClr val="accent6">
                              <a:lumMod val="50000"/>
                            </a:schemeClr>
                          </a:solidFill>
                        </a:rPr>
                        <a:t>通知音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20000"/>
                        <a:lumOff val="80000"/>
                      </a:schemeClr>
                    </a:solidFill>
                  </a:tcPr>
                </a:tc>
                <a:extLst>
                  <a:ext uri="{0D108BD9-81ED-4DB2-BD59-A6C34878D82A}">
                    <a16:rowId xmlns:a16="http://schemas.microsoft.com/office/drawing/2014/main" val="3194411520"/>
                  </a:ext>
                </a:extLst>
              </a:tr>
              <a:tr h="370840">
                <a:tc>
                  <a:txBody>
                    <a:bodyPr/>
                    <a:lstStyle/>
                    <a:p>
                      <a:pPr algn="ctr"/>
                      <a:r>
                        <a:rPr lang="ja-GB" altLang="en-US" b="1" dirty="0">
                          <a:solidFill>
                            <a:schemeClr val="accent6">
                              <a:lumMod val="50000"/>
                            </a:schemeClr>
                          </a:solidFill>
                        </a:rPr>
                        <a:t>バイブレーション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solidFill>
                      <a:schemeClr val="accent6">
                        <a:lumMod val="20000"/>
                        <a:lumOff val="80000"/>
                      </a:schemeClr>
                    </a:solidFill>
                  </a:tcPr>
                </a:tc>
                <a:tc>
                  <a:txBody>
                    <a:bodyPr/>
                    <a:lstStyle/>
                    <a:p>
                      <a:pPr algn="ctr"/>
                      <a:endParaRPr lang="ja-GB" altLang="en-US" dirty="0">
                        <a:solidFill>
                          <a:srgbClr val="2D350F"/>
                        </a:solidFill>
                      </a:endParaRPr>
                    </a:p>
                  </a:txBody>
                  <a:tcPr>
                    <a:solidFill>
                      <a:schemeClr val="accent6">
                        <a:lumMod val="20000"/>
                        <a:lumOff val="80000"/>
                      </a:schemeClr>
                    </a:solidFill>
                  </a:tcPr>
                </a:tc>
                <a:tc>
                  <a:txBody>
                    <a:bodyPr/>
                    <a:lstStyle/>
                    <a:p>
                      <a:pPr algn="ctr"/>
                      <a:endParaRPr lang="ja-GB" altLang="en-US" dirty="0">
                        <a:solidFill>
                          <a:srgbClr val="2D350F"/>
                        </a:solidFill>
                      </a:endParaRPr>
                    </a:p>
                  </a:txBody>
                  <a:tcPr>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solidFill>
                      <a:schemeClr val="accent6">
                        <a:lumMod val="20000"/>
                        <a:lumOff val="80000"/>
                      </a:schemeClr>
                    </a:solidFill>
                  </a:tcPr>
                </a:tc>
                <a:tc>
                  <a:txBody>
                    <a:bodyPr/>
                    <a:lstStyle/>
                    <a:p>
                      <a:pPr algn="ctr"/>
                      <a:endParaRPr lang="ja-GB" altLang="en-US" dirty="0">
                        <a:solidFill>
                          <a:srgbClr val="2D350F"/>
                        </a:solidFill>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GB" altLang="en-US" dirty="0">
                        <a:solidFill>
                          <a:srgbClr val="2D350F"/>
                        </a:solidFill>
                      </a:endParaRPr>
                    </a:p>
                  </a:txBody>
                  <a:tcPr>
                    <a:solidFill>
                      <a:schemeClr val="accent6">
                        <a:lumMod val="20000"/>
                        <a:lumOff val="80000"/>
                      </a:schemeClr>
                    </a:solidFill>
                  </a:tcPr>
                </a:tc>
                <a:tc>
                  <a:txBody>
                    <a:bodyPr/>
                    <a:lstStyle/>
                    <a:p>
                      <a:pPr algn="ct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solidFill>
                      <a:schemeClr val="accent6">
                        <a:lumMod val="20000"/>
                        <a:lumOff val="80000"/>
                      </a:schemeClr>
                    </a:solidFill>
                  </a:tcPr>
                </a:tc>
                <a:extLst>
                  <a:ext uri="{0D108BD9-81ED-4DB2-BD59-A6C34878D82A}">
                    <a16:rowId xmlns:a16="http://schemas.microsoft.com/office/drawing/2014/main" val="2249085906"/>
                  </a:ext>
                </a:extLst>
              </a:tr>
              <a:tr h="370840">
                <a:tc>
                  <a:txBody>
                    <a:bodyPr/>
                    <a:lstStyle/>
                    <a:p>
                      <a:pPr algn="ctr"/>
                      <a:r>
                        <a:rPr lang="ja-GB" altLang="en-US" b="1" dirty="0">
                          <a:solidFill>
                            <a:schemeClr val="accent6">
                              <a:lumMod val="50000"/>
                            </a:schemeClr>
                          </a:solidFill>
                        </a:rPr>
                        <a:t>画面表示のみ</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solidFill>
                      <a:schemeClr val="accent6">
                        <a:lumMod val="20000"/>
                        <a:lumOff val="80000"/>
                      </a:schemeClr>
                    </a:solidFill>
                  </a:tcPr>
                </a:tc>
                <a:tc>
                  <a:txBody>
                    <a:bodyPr/>
                    <a:lstStyle/>
                    <a:p>
                      <a:pPr algn="ctr"/>
                      <a:endParaRPr lang="ja-GB" altLang="en-US" dirty="0">
                        <a:solidFill>
                          <a:srgbClr val="2D350F"/>
                        </a:solidFill>
                      </a:endParaRPr>
                    </a:p>
                  </a:txBody>
                  <a:tcPr>
                    <a:solidFill>
                      <a:schemeClr val="accent6">
                        <a:lumMod val="20000"/>
                        <a:lumOff val="80000"/>
                      </a:schemeClr>
                    </a:solidFill>
                  </a:tcPr>
                </a:tc>
                <a:tc>
                  <a:txBody>
                    <a:bodyPr/>
                    <a:lstStyle/>
                    <a:p>
                      <a:pPr algn="ctr"/>
                      <a:endParaRPr lang="ja-GB" altLang="en-US" dirty="0">
                        <a:solidFill>
                          <a:srgbClr val="2D350F"/>
                        </a:solidFill>
                      </a:endParaRPr>
                    </a:p>
                  </a:txBody>
                  <a:tcPr>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solidFill>
                      <a:schemeClr val="accent6">
                        <a:lumMod val="20000"/>
                        <a:lumOff val="80000"/>
                      </a:schemeClr>
                    </a:solidFill>
                  </a:tcPr>
                </a:tc>
                <a:tc>
                  <a:txBody>
                    <a:bodyPr/>
                    <a:lstStyle/>
                    <a:p>
                      <a:pPr algn="ctr"/>
                      <a:endParaRPr lang="ja-GB" altLang="en-US" dirty="0">
                        <a:solidFill>
                          <a:srgbClr val="2D350F"/>
                        </a:solidFill>
                      </a:endParaRPr>
                    </a:p>
                  </a:txBody>
                  <a:tcPr>
                    <a:solidFill>
                      <a:schemeClr val="accent6">
                        <a:lumMod val="20000"/>
                        <a:lumOff val="80000"/>
                      </a:schemeClr>
                    </a:solidFill>
                  </a:tcPr>
                </a:tc>
                <a:tc>
                  <a:txBody>
                    <a:bodyPr/>
                    <a:lstStyle/>
                    <a:p>
                      <a:pPr algn="ctr"/>
                      <a:endParaRPr lang="ja-GB" altLang="en-US" dirty="0">
                        <a:solidFill>
                          <a:srgbClr val="2D350F"/>
                        </a:solidFill>
                      </a:endParaRPr>
                    </a:p>
                  </a:txBody>
                  <a:tcPr>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solidFill>
                      <a:schemeClr val="accent6">
                        <a:lumMod val="20000"/>
                        <a:lumOff val="80000"/>
                      </a:schemeClr>
                    </a:solidFill>
                  </a:tcPr>
                </a:tc>
                <a:tc>
                  <a:txBody>
                    <a:bodyPr/>
                    <a:lstStyle/>
                    <a:p>
                      <a:pPr algn="ct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solidFill>
                      <a:schemeClr val="accent6">
                        <a:lumMod val="20000"/>
                        <a:lumOff val="80000"/>
                      </a:schemeClr>
                    </a:solidFill>
                  </a:tcPr>
                </a:tc>
                <a:extLst>
                  <a:ext uri="{0D108BD9-81ED-4DB2-BD59-A6C34878D82A}">
                    <a16:rowId xmlns:a16="http://schemas.microsoft.com/office/drawing/2014/main" val="810728810"/>
                  </a:ext>
                </a:extLst>
              </a:tr>
              <a:tr h="370840">
                <a:tc>
                  <a:txBody>
                    <a:bodyPr/>
                    <a:lstStyle/>
                    <a:p>
                      <a:pPr algn="ctr"/>
                      <a:r>
                        <a:rPr lang="ja-GB" altLang="en-US" b="1" dirty="0">
                          <a:solidFill>
                            <a:schemeClr val="accent6">
                              <a:lumMod val="50000"/>
                            </a:schemeClr>
                          </a:solidFill>
                        </a:rPr>
                        <a:t>通知無し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453916129"/>
                  </a:ext>
                </a:extLst>
              </a:tr>
            </a:tbl>
          </a:graphicData>
        </a:graphic>
      </p:graphicFrame>
    </p:spTree>
    <p:extLst>
      <p:ext uri="{BB962C8B-B14F-4D97-AF65-F5344CB8AC3E}">
        <p14:creationId xmlns:p14="http://schemas.microsoft.com/office/powerpoint/2010/main" val="1548745935"/>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3B15F-B48F-3AD6-92AB-99297E249B6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A5BAD98-264C-BB46-C4E5-A7ABE3BC7D9F}"/>
              </a:ext>
            </a:extLst>
          </p:cNvPr>
          <p:cNvSpPr>
            <a:spLocks noGrp="1"/>
          </p:cNvSpPr>
          <p:nvPr>
            <p:ph type="title"/>
          </p:nvPr>
        </p:nvSpPr>
        <p:spPr/>
        <p:txBody>
          <a:bodyPr/>
          <a:lstStyle/>
          <a:p>
            <a:r>
              <a:rPr kumimoji="1" lang="ja-GB" altLang="en-US" dirty="0"/>
              <a:t>決定表（</a:t>
            </a:r>
            <a:r>
              <a:rPr kumimoji="1" lang="en-US" altLang="ja-GB" dirty="0"/>
              <a:t>Decision Table</a:t>
            </a:r>
            <a:r>
              <a:rPr kumimoji="1" lang="ja-GB" altLang="en-US" dirty="0"/>
              <a:t>）の</a:t>
            </a:r>
            <a:r>
              <a:rPr lang="ja-GB" altLang="en-US" dirty="0"/>
              <a:t>基本的な記法</a:t>
            </a:r>
            <a:endParaRPr kumimoji="1" lang="ja-GB" altLang="en-US" dirty="0"/>
          </a:p>
        </p:txBody>
      </p:sp>
      <p:sp>
        <p:nvSpPr>
          <p:cNvPr id="3" name="コンテンツ プレースホルダー 2">
            <a:extLst>
              <a:ext uri="{FF2B5EF4-FFF2-40B4-BE49-F238E27FC236}">
                <a16:creationId xmlns:a16="http://schemas.microsoft.com/office/drawing/2014/main" id="{CA959D03-34DE-D8DA-9F2D-A985583BC2D4}"/>
              </a:ext>
            </a:extLst>
          </p:cNvPr>
          <p:cNvSpPr>
            <a:spLocks noGrp="1"/>
          </p:cNvSpPr>
          <p:nvPr>
            <p:ph idx="1"/>
          </p:nvPr>
        </p:nvSpPr>
        <p:spPr/>
        <p:txBody>
          <a:bodyPr/>
          <a:lstStyle/>
          <a:p>
            <a:pPr marL="0" indent="0">
              <a:buNone/>
            </a:pPr>
            <a:r>
              <a:rPr lang="ja-GB" altLang="en-US" dirty="0"/>
              <a:t>各部分の名称</a:t>
            </a:r>
            <a:endParaRPr lang="en-US" altLang="ja-GB" dirty="0"/>
          </a:p>
          <a:p>
            <a:pPr marL="0" indent="0">
              <a:buNone/>
            </a:pPr>
            <a:endParaRPr lang="en-US" altLang="ja-GB" dirty="0"/>
          </a:p>
          <a:p>
            <a:pPr marL="0" indent="0">
              <a:buNone/>
            </a:pPr>
            <a:endParaRPr lang="en-US" altLang="ja-GB" dirty="0"/>
          </a:p>
          <a:p>
            <a:pPr marL="0" indent="0">
              <a:buNone/>
            </a:pPr>
            <a:endParaRPr lang="en-US" altLang="ja-GB" dirty="0"/>
          </a:p>
          <a:p>
            <a:pPr marL="0" indent="0">
              <a:buNone/>
            </a:pPr>
            <a:endParaRPr lang="en-US" altLang="ja-GB" dirty="0"/>
          </a:p>
          <a:p>
            <a:pPr lvl="3"/>
            <a:endParaRPr lang="en-US" altLang="ja-GB" dirty="0"/>
          </a:p>
          <a:p>
            <a:pPr lvl="3"/>
            <a:endParaRPr lang="en-US" altLang="ja-GB" dirty="0"/>
          </a:p>
          <a:p>
            <a:pPr lvl="4"/>
            <a:endParaRPr lang="en-US" altLang="ja-GB" dirty="0"/>
          </a:p>
          <a:p>
            <a:pPr marL="0" indent="0">
              <a:buNone/>
            </a:pPr>
            <a:r>
              <a:rPr lang="ja-GB" altLang="en-US" dirty="0"/>
              <a:t>表現方法</a:t>
            </a:r>
            <a:endParaRPr lang="en-US" altLang="ja-GB" dirty="0"/>
          </a:p>
          <a:p>
            <a:pPr lvl="1"/>
            <a:r>
              <a:rPr lang="ja-GB" altLang="en-US" dirty="0"/>
              <a:t>国家規格（</a:t>
            </a:r>
            <a:r>
              <a:rPr lang="en-US" altLang="ja-GB" dirty="0"/>
              <a:t>JIS X 0125:1986</a:t>
            </a:r>
            <a:r>
              <a:rPr lang="ja-GB" altLang="en-US" dirty="0"/>
              <a:t>）として定められた厳密な記法が存在するが，</a:t>
            </a:r>
            <a:br>
              <a:rPr lang="en-US" altLang="ja-GB" dirty="0"/>
            </a:br>
            <a:r>
              <a:rPr lang="ja-GB" altLang="en-US" dirty="0"/>
              <a:t>本授業では簡単のため概念的な説明のみに留める</a:t>
            </a:r>
          </a:p>
          <a:p>
            <a:pPr lvl="1"/>
            <a:r>
              <a:rPr kumimoji="1" lang="ja-GB" altLang="en-US" dirty="0"/>
              <a:t>同一の内容をプログラミング言語（</a:t>
            </a:r>
            <a:r>
              <a:rPr lang="ja-GB" altLang="en-US" dirty="0">
                <a:solidFill>
                  <a:srgbClr val="0070C0"/>
                </a:solidFill>
              </a:rPr>
              <a:t>条件分岐</a:t>
            </a:r>
            <a:r>
              <a:rPr lang="ja-GB" altLang="en-US" dirty="0"/>
              <a:t>）やフローチャート（</a:t>
            </a:r>
            <a:r>
              <a:rPr lang="ja-GB" altLang="en-US" dirty="0">
                <a:solidFill>
                  <a:srgbClr val="0070C0"/>
                </a:solidFill>
              </a:rPr>
              <a:t>ツリー</a:t>
            </a:r>
            <a:r>
              <a:rPr lang="ja-GB" altLang="en-US" dirty="0"/>
              <a:t>）で</a:t>
            </a:r>
            <a:br>
              <a:rPr lang="en-US" altLang="ja-GB" dirty="0"/>
            </a:br>
            <a:r>
              <a:rPr lang="ja-GB" altLang="en-US" dirty="0"/>
              <a:t>表現することもできる</a:t>
            </a:r>
            <a:endParaRPr kumimoji="1" lang="ja-GB" altLang="en-US" dirty="0"/>
          </a:p>
        </p:txBody>
      </p:sp>
      <p:graphicFrame>
        <p:nvGraphicFramePr>
          <p:cNvPr id="6" name="表 5">
            <a:extLst>
              <a:ext uri="{FF2B5EF4-FFF2-40B4-BE49-F238E27FC236}">
                <a16:creationId xmlns:a16="http://schemas.microsoft.com/office/drawing/2014/main" id="{B451A986-FDBF-B341-631C-4B0F4F145132}"/>
              </a:ext>
            </a:extLst>
          </p:cNvPr>
          <p:cNvGraphicFramePr>
            <a:graphicFrameLocks noGrp="1"/>
          </p:cNvGraphicFramePr>
          <p:nvPr/>
        </p:nvGraphicFramePr>
        <p:xfrm>
          <a:off x="2411999" y="1322869"/>
          <a:ext cx="4320000" cy="1854200"/>
        </p:xfrm>
        <a:graphic>
          <a:graphicData uri="http://schemas.openxmlformats.org/drawingml/2006/table">
            <a:tbl>
              <a:tblPr bandRow="1">
                <a:tableStyleId>{5C22544A-7EE6-4342-B048-85BDC9FD1C3A}</a:tableStyleId>
              </a:tblPr>
              <a:tblGrid>
                <a:gridCol w="864000">
                  <a:extLst>
                    <a:ext uri="{9D8B030D-6E8A-4147-A177-3AD203B41FA5}">
                      <a16:colId xmlns:a16="http://schemas.microsoft.com/office/drawing/2014/main" val="196654212"/>
                    </a:ext>
                  </a:extLst>
                </a:gridCol>
                <a:gridCol w="864000">
                  <a:extLst>
                    <a:ext uri="{9D8B030D-6E8A-4147-A177-3AD203B41FA5}">
                      <a16:colId xmlns:a16="http://schemas.microsoft.com/office/drawing/2014/main" val="3587798998"/>
                    </a:ext>
                  </a:extLst>
                </a:gridCol>
                <a:gridCol w="864000">
                  <a:extLst>
                    <a:ext uri="{9D8B030D-6E8A-4147-A177-3AD203B41FA5}">
                      <a16:colId xmlns:a16="http://schemas.microsoft.com/office/drawing/2014/main" val="730188351"/>
                    </a:ext>
                  </a:extLst>
                </a:gridCol>
                <a:gridCol w="864000">
                  <a:extLst>
                    <a:ext uri="{9D8B030D-6E8A-4147-A177-3AD203B41FA5}">
                      <a16:colId xmlns:a16="http://schemas.microsoft.com/office/drawing/2014/main" val="1623471268"/>
                    </a:ext>
                  </a:extLst>
                </a:gridCol>
                <a:gridCol w="864000">
                  <a:extLst>
                    <a:ext uri="{9D8B030D-6E8A-4147-A177-3AD203B41FA5}">
                      <a16:colId xmlns:a16="http://schemas.microsoft.com/office/drawing/2014/main" val="211111563"/>
                    </a:ext>
                  </a:extLst>
                </a:gridCol>
              </a:tblGrid>
              <a:tr h="370840">
                <a:tc>
                  <a:txBody>
                    <a:bodyPr/>
                    <a:lstStyle/>
                    <a:p>
                      <a:pPr algn="ctr"/>
                      <a:r>
                        <a:rPr lang="ja-GB" altLang="en-US" b="1" dirty="0">
                          <a:solidFill>
                            <a:srgbClr val="002060"/>
                          </a:solidFill>
                        </a:rPr>
                        <a:t>条件</a:t>
                      </a:r>
                      <a:r>
                        <a:rPr lang="en-US" altLang="ja-GB" b="1" dirty="0">
                          <a:solidFill>
                            <a:srgbClr val="002060"/>
                          </a:solidFill>
                        </a:rPr>
                        <a:t>1</a:t>
                      </a:r>
                      <a:endParaRPr lang="ja-GB"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20000"/>
                        <a:lumOff val="80000"/>
                      </a:schemeClr>
                    </a:solidFill>
                  </a:tcPr>
                </a:tc>
                <a:extLst>
                  <a:ext uri="{0D108BD9-81ED-4DB2-BD59-A6C34878D82A}">
                    <a16:rowId xmlns:a16="http://schemas.microsoft.com/office/drawing/2014/main" val="520366626"/>
                  </a:ext>
                </a:extLst>
              </a:tr>
              <a:tr h="370840">
                <a:tc>
                  <a:txBody>
                    <a:bodyPr/>
                    <a:lstStyle/>
                    <a:p>
                      <a:pPr algn="ctr"/>
                      <a:r>
                        <a:rPr lang="ja-GB" altLang="en-US" b="1" dirty="0">
                          <a:solidFill>
                            <a:srgbClr val="002060"/>
                          </a:solidFill>
                        </a:rPr>
                        <a:t>条件</a:t>
                      </a:r>
                      <a:r>
                        <a:rPr lang="en-US" altLang="ja-GB" b="1" dirty="0">
                          <a:solidFill>
                            <a:srgbClr val="002060"/>
                          </a:solidFill>
                        </a:rPr>
                        <a:t>2</a:t>
                      </a:r>
                      <a:endParaRPr lang="ja-GB"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552777604"/>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1</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20000"/>
                        <a:lumOff val="80000"/>
                      </a:schemeClr>
                    </a:solidFill>
                  </a:tcPr>
                </a:tc>
                <a:extLst>
                  <a:ext uri="{0D108BD9-81ED-4DB2-BD59-A6C34878D82A}">
                    <a16:rowId xmlns:a16="http://schemas.microsoft.com/office/drawing/2014/main" val="3194411520"/>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2</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solidFill>
                      <a:schemeClr val="accent6">
                        <a:lumMod val="20000"/>
                        <a:lumOff val="80000"/>
                      </a:schemeClr>
                    </a:solidFill>
                  </a:tcPr>
                </a:tc>
                <a:tc>
                  <a:txBody>
                    <a:bodyPr/>
                    <a:lstStyle/>
                    <a:p>
                      <a:pPr algn="ctr"/>
                      <a:endParaRPr lang="ja-GB" altLang="en-US" dirty="0">
                        <a:solidFill>
                          <a:srgbClr val="2D350F"/>
                        </a:solidFill>
                      </a:endParaRPr>
                    </a:p>
                  </a:txBody>
                  <a:tcPr>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solidFill>
                      <a:schemeClr val="accent6">
                        <a:lumMod val="20000"/>
                        <a:lumOff val="80000"/>
                      </a:schemeClr>
                    </a:solidFill>
                  </a:tcPr>
                </a:tc>
                <a:extLst>
                  <a:ext uri="{0D108BD9-81ED-4DB2-BD59-A6C34878D82A}">
                    <a16:rowId xmlns:a16="http://schemas.microsoft.com/office/drawing/2014/main" val="2249085906"/>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3</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453916129"/>
                  </a:ext>
                </a:extLst>
              </a:tr>
            </a:tbl>
          </a:graphicData>
        </a:graphic>
      </p:graphicFrame>
      <p:sp>
        <p:nvSpPr>
          <p:cNvPr id="5" name="テキスト ボックス 4">
            <a:extLst>
              <a:ext uri="{FF2B5EF4-FFF2-40B4-BE49-F238E27FC236}">
                <a16:creationId xmlns:a16="http://schemas.microsoft.com/office/drawing/2014/main" id="{538ADD3A-A859-B878-DFD0-4BD0BCBFD1A7}"/>
              </a:ext>
            </a:extLst>
          </p:cNvPr>
          <p:cNvSpPr txBox="1"/>
          <p:nvPr/>
        </p:nvSpPr>
        <p:spPr>
          <a:xfrm>
            <a:off x="556182" y="1510881"/>
            <a:ext cx="1338828" cy="369332"/>
          </a:xfrm>
          <a:prstGeom prst="rect">
            <a:avLst/>
          </a:prstGeom>
          <a:noFill/>
        </p:spPr>
        <p:txBody>
          <a:bodyPr wrap="none" rtlCol="0">
            <a:spAutoFit/>
          </a:bodyPr>
          <a:lstStyle/>
          <a:p>
            <a:r>
              <a:rPr kumimoji="1" lang="ja-GB" altLang="en-US" dirty="0">
                <a:solidFill>
                  <a:srgbClr val="2D350F"/>
                </a:solidFill>
              </a:rPr>
              <a:t>条件記述部</a:t>
            </a:r>
          </a:p>
        </p:txBody>
      </p:sp>
      <p:sp>
        <p:nvSpPr>
          <p:cNvPr id="9" name="テキスト ボックス 8">
            <a:extLst>
              <a:ext uri="{FF2B5EF4-FFF2-40B4-BE49-F238E27FC236}">
                <a16:creationId xmlns:a16="http://schemas.microsoft.com/office/drawing/2014/main" id="{A5540CC5-0C40-E39C-6F40-643EE0AB3388}"/>
              </a:ext>
            </a:extLst>
          </p:cNvPr>
          <p:cNvSpPr txBox="1"/>
          <p:nvPr/>
        </p:nvSpPr>
        <p:spPr>
          <a:xfrm>
            <a:off x="556182" y="2492839"/>
            <a:ext cx="1338828" cy="369332"/>
          </a:xfrm>
          <a:prstGeom prst="rect">
            <a:avLst/>
          </a:prstGeom>
          <a:noFill/>
        </p:spPr>
        <p:txBody>
          <a:bodyPr wrap="none" rtlCol="0">
            <a:spAutoFit/>
          </a:bodyPr>
          <a:lstStyle/>
          <a:p>
            <a:r>
              <a:rPr kumimoji="1" lang="ja-GB" altLang="en-US" dirty="0">
                <a:solidFill>
                  <a:srgbClr val="2D350F"/>
                </a:solidFill>
              </a:rPr>
              <a:t>動作記述部</a:t>
            </a:r>
          </a:p>
        </p:txBody>
      </p:sp>
      <p:sp>
        <p:nvSpPr>
          <p:cNvPr id="10" name="テキスト ボックス 9">
            <a:extLst>
              <a:ext uri="{FF2B5EF4-FFF2-40B4-BE49-F238E27FC236}">
                <a16:creationId xmlns:a16="http://schemas.microsoft.com/office/drawing/2014/main" id="{FDD71CBD-4743-0EAB-AC75-C17AFF5B31F2}"/>
              </a:ext>
            </a:extLst>
          </p:cNvPr>
          <p:cNvSpPr txBox="1"/>
          <p:nvPr/>
        </p:nvSpPr>
        <p:spPr>
          <a:xfrm>
            <a:off x="2411999" y="3419785"/>
            <a:ext cx="877163" cy="369332"/>
          </a:xfrm>
          <a:prstGeom prst="rect">
            <a:avLst/>
          </a:prstGeom>
          <a:noFill/>
        </p:spPr>
        <p:txBody>
          <a:bodyPr wrap="none" rtlCol="0">
            <a:spAutoFit/>
          </a:bodyPr>
          <a:lstStyle/>
          <a:p>
            <a:r>
              <a:rPr kumimoji="1" lang="ja-GB" altLang="en-US" dirty="0">
                <a:solidFill>
                  <a:srgbClr val="2D350F"/>
                </a:solidFill>
              </a:rPr>
              <a:t>記述部</a:t>
            </a:r>
          </a:p>
        </p:txBody>
      </p:sp>
      <p:sp>
        <p:nvSpPr>
          <p:cNvPr id="11" name="テキスト ボックス 10">
            <a:extLst>
              <a:ext uri="{FF2B5EF4-FFF2-40B4-BE49-F238E27FC236}">
                <a16:creationId xmlns:a16="http://schemas.microsoft.com/office/drawing/2014/main" id="{BDC65BA3-FADC-2602-F014-55475238DC12}"/>
              </a:ext>
            </a:extLst>
          </p:cNvPr>
          <p:cNvSpPr txBox="1"/>
          <p:nvPr/>
        </p:nvSpPr>
        <p:spPr>
          <a:xfrm>
            <a:off x="4551065" y="3419785"/>
            <a:ext cx="877163" cy="369332"/>
          </a:xfrm>
          <a:prstGeom prst="rect">
            <a:avLst/>
          </a:prstGeom>
          <a:noFill/>
        </p:spPr>
        <p:txBody>
          <a:bodyPr wrap="none" rtlCol="0">
            <a:spAutoFit/>
          </a:bodyPr>
          <a:lstStyle/>
          <a:p>
            <a:r>
              <a:rPr kumimoji="1" lang="ja-GB" altLang="en-US" dirty="0">
                <a:solidFill>
                  <a:srgbClr val="2D350F"/>
                </a:solidFill>
              </a:rPr>
              <a:t>指定部</a:t>
            </a:r>
          </a:p>
        </p:txBody>
      </p:sp>
      <p:sp>
        <p:nvSpPr>
          <p:cNvPr id="12" name="テキスト ボックス 11">
            <a:extLst>
              <a:ext uri="{FF2B5EF4-FFF2-40B4-BE49-F238E27FC236}">
                <a16:creationId xmlns:a16="http://schemas.microsoft.com/office/drawing/2014/main" id="{7BF0C5FD-2663-3C22-03BF-2138CDC774F6}"/>
              </a:ext>
            </a:extLst>
          </p:cNvPr>
          <p:cNvSpPr txBox="1"/>
          <p:nvPr/>
        </p:nvSpPr>
        <p:spPr>
          <a:xfrm>
            <a:off x="7045458" y="1510881"/>
            <a:ext cx="877163" cy="369332"/>
          </a:xfrm>
          <a:prstGeom prst="rect">
            <a:avLst/>
          </a:prstGeom>
          <a:noFill/>
        </p:spPr>
        <p:txBody>
          <a:bodyPr wrap="none" rtlCol="0">
            <a:spAutoFit/>
          </a:bodyPr>
          <a:lstStyle/>
          <a:p>
            <a:r>
              <a:rPr kumimoji="1" lang="ja-GB" altLang="en-US" dirty="0">
                <a:solidFill>
                  <a:srgbClr val="2D350F"/>
                </a:solidFill>
              </a:rPr>
              <a:t>条件部</a:t>
            </a:r>
          </a:p>
        </p:txBody>
      </p:sp>
      <p:sp>
        <p:nvSpPr>
          <p:cNvPr id="13" name="テキスト ボックス 12">
            <a:extLst>
              <a:ext uri="{FF2B5EF4-FFF2-40B4-BE49-F238E27FC236}">
                <a16:creationId xmlns:a16="http://schemas.microsoft.com/office/drawing/2014/main" id="{35BF1BEA-3B42-1F47-EFAB-886A85144607}"/>
              </a:ext>
            </a:extLst>
          </p:cNvPr>
          <p:cNvSpPr txBox="1"/>
          <p:nvPr/>
        </p:nvSpPr>
        <p:spPr>
          <a:xfrm>
            <a:off x="7045458" y="2492839"/>
            <a:ext cx="877163" cy="369332"/>
          </a:xfrm>
          <a:prstGeom prst="rect">
            <a:avLst/>
          </a:prstGeom>
          <a:noFill/>
        </p:spPr>
        <p:txBody>
          <a:bodyPr wrap="none" rtlCol="0">
            <a:spAutoFit/>
          </a:bodyPr>
          <a:lstStyle/>
          <a:p>
            <a:r>
              <a:rPr kumimoji="1" lang="ja-GB" altLang="en-US" dirty="0">
                <a:solidFill>
                  <a:srgbClr val="2D350F"/>
                </a:solidFill>
              </a:rPr>
              <a:t>動作部</a:t>
            </a:r>
          </a:p>
        </p:txBody>
      </p:sp>
      <p:sp>
        <p:nvSpPr>
          <p:cNvPr id="14" name="左中かっこ 13">
            <a:extLst>
              <a:ext uri="{FF2B5EF4-FFF2-40B4-BE49-F238E27FC236}">
                <a16:creationId xmlns:a16="http://schemas.microsoft.com/office/drawing/2014/main" id="{4FC4EEF8-36B3-F36B-FBC4-0A70356900DE}"/>
              </a:ext>
            </a:extLst>
          </p:cNvPr>
          <p:cNvSpPr/>
          <p:nvPr/>
        </p:nvSpPr>
        <p:spPr>
          <a:xfrm rot="10800000">
            <a:off x="6794622" y="1322868"/>
            <a:ext cx="155448" cy="717483"/>
          </a:xfrm>
          <a:prstGeom prst="leftBrace">
            <a:avLst/>
          </a:prstGeom>
          <a:ln w="19050">
            <a:solidFill>
              <a:srgbClr val="2D350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GB" altLang="en-US"/>
          </a:p>
        </p:txBody>
      </p:sp>
      <p:sp>
        <p:nvSpPr>
          <p:cNvPr id="15" name="左中かっこ 14">
            <a:extLst>
              <a:ext uri="{FF2B5EF4-FFF2-40B4-BE49-F238E27FC236}">
                <a16:creationId xmlns:a16="http://schemas.microsoft.com/office/drawing/2014/main" id="{89BEFE23-1D9F-1AE4-1E6C-132D2955503B}"/>
              </a:ext>
            </a:extLst>
          </p:cNvPr>
          <p:cNvSpPr/>
          <p:nvPr/>
        </p:nvSpPr>
        <p:spPr>
          <a:xfrm rot="10800000">
            <a:off x="6794622" y="2070502"/>
            <a:ext cx="155448" cy="1106566"/>
          </a:xfrm>
          <a:prstGeom prst="leftBrace">
            <a:avLst/>
          </a:prstGeom>
          <a:ln w="19050">
            <a:solidFill>
              <a:srgbClr val="2D350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GB" altLang="en-US"/>
          </a:p>
        </p:txBody>
      </p:sp>
      <p:sp>
        <p:nvSpPr>
          <p:cNvPr id="16" name="左中かっこ 15">
            <a:extLst>
              <a:ext uri="{FF2B5EF4-FFF2-40B4-BE49-F238E27FC236}">
                <a16:creationId xmlns:a16="http://schemas.microsoft.com/office/drawing/2014/main" id="{0113B208-4C87-931B-5D94-8F488D9811DD}"/>
              </a:ext>
            </a:extLst>
          </p:cNvPr>
          <p:cNvSpPr/>
          <p:nvPr/>
        </p:nvSpPr>
        <p:spPr>
          <a:xfrm rot="16200000">
            <a:off x="2772858" y="2875900"/>
            <a:ext cx="155448" cy="877165"/>
          </a:xfrm>
          <a:prstGeom prst="leftBrace">
            <a:avLst/>
          </a:prstGeom>
          <a:ln w="19050">
            <a:solidFill>
              <a:srgbClr val="2D350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GB" altLang="en-US"/>
          </a:p>
        </p:txBody>
      </p:sp>
      <p:sp>
        <p:nvSpPr>
          <p:cNvPr id="17" name="左中かっこ 16">
            <a:extLst>
              <a:ext uri="{FF2B5EF4-FFF2-40B4-BE49-F238E27FC236}">
                <a16:creationId xmlns:a16="http://schemas.microsoft.com/office/drawing/2014/main" id="{519C1C25-2C0E-BADF-D19A-3878B31F04E6}"/>
              </a:ext>
            </a:extLst>
          </p:cNvPr>
          <p:cNvSpPr/>
          <p:nvPr/>
        </p:nvSpPr>
        <p:spPr>
          <a:xfrm rot="16200000">
            <a:off x="4952187" y="1612393"/>
            <a:ext cx="155448" cy="3404180"/>
          </a:xfrm>
          <a:prstGeom prst="leftBrace">
            <a:avLst/>
          </a:prstGeom>
          <a:ln w="19050">
            <a:solidFill>
              <a:srgbClr val="2D350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GB" altLang="en-US"/>
          </a:p>
        </p:txBody>
      </p:sp>
      <p:cxnSp>
        <p:nvCxnSpPr>
          <p:cNvPr id="19" name="直線コネクタ 18">
            <a:extLst>
              <a:ext uri="{FF2B5EF4-FFF2-40B4-BE49-F238E27FC236}">
                <a16:creationId xmlns:a16="http://schemas.microsoft.com/office/drawing/2014/main" id="{3E1BF67A-EDED-5F2F-7ADC-60EB176CAA80}"/>
              </a:ext>
            </a:extLst>
          </p:cNvPr>
          <p:cNvCxnSpPr>
            <a:cxnSpLocks/>
            <a:stCxn id="5" idx="3"/>
          </p:cNvCxnSpPr>
          <p:nvPr/>
        </p:nvCxnSpPr>
        <p:spPr>
          <a:xfrm flipV="1">
            <a:off x="1895010" y="1510881"/>
            <a:ext cx="603932" cy="184666"/>
          </a:xfrm>
          <a:prstGeom prst="line">
            <a:avLst/>
          </a:prstGeom>
          <a:ln>
            <a:solidFill>
              <a:srgbClr val="2F2523"/>
            </a:solidFill>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850ACCA1-2F2A-34A1-4CC1-588D8B8FA2DD}"/>
              </a:ext>
            </a:extLst>
          </p:cNvPr>
          <p:cNvCxnSpPr>
            <a:cxnSpLocks/>
            <a:stCxn id="5" idx="3"/>
          </p:cNvCxnSpPr>
          <p:nvPr/>
        </p:nvCxnSpPr>
        <p:spPr>
          <a:xfrm>
            <a:off x="1895010" y="1695547"/>
            <a:ext cx="603932" cy="195546"/>
          </a:xfrm>
          <a:prstGeom prst="line">
            <a:avLst/>
          </a:prstGeom>
          <a:ln>
            <a:solidFill>
              <a:srgbClr val="2F2523"/>
            </a:solidFill>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EC3D79B9-3ABF-8A47-DE51-71D171B7F533}"/>
              </a:ext>
            </a:extLst>
          </p:cNvPr>
          <p:cNvCxnSpPr>
            <a:cxnSpLocks/>
            <a:stCxn id="9" idx="3"/>
          </p:cNvCxnSpPr>
          <p:nvPr/>
        </p:nvCxnSpPr>
        <p:spPr>
          <a:xfrm flipV="1">
            <a:off x="1895010" y="2248034"/>
            <a:ext cx="654037" cy="429471"/>
          </a:xfrm>
          <a:prstGeom prst="line">
            <a:avLst/>
          </a:prstGeom>
          <a:ln>
            <a:solidFill>
              <a:srgbClr val="2F2523"/>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60FE2E20-6AED-A65E-3FAB-CBCD88F0FB03}"/>
              </a:ext>
            </a:extLst>
          </p:cNvPr>
          <p:cNvCxnSpPr>
            <a:cxnSpLocks/>
            <a:stCxn id="9" idx="3"/>
          </p:cNvCxnSpPr>
          <p:nvPr/>
        </p:nvCxnSpPr>
        <p:spPr>
          <a:xfrm flipV="1">
            <a:off x="1895010" y="2620712"/>
            <a:ext cx="654037" cy="56793"/>
          </a:xfrm>
          <a:prstGeom prst="line">
            <a:avLst/>
          </a:prstGeom>
          <a:ln>
            <a:solidFill>
              <a:srgbClr val="2F2523"/>
            </a:solidFill>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EBEAD9F2-E349-86DC-9734-9015864D5D2B}"/>
              </a:ext>
            </a:extLst>
          </p:cNvPr>
          <p:cNvCxnSpPr>
            <a:cxnSpLocks/>
          </p:cNvCxnSpPr>
          <p:nvPr/>
        </p:nvCxnSpPr>
        <p:spPr>
          <a:xfrm>
            <a:off x="1895010" y="2674456"/>
            <a:ext cx="603932" cy="359990"/>
          </a:xfrm>
          <a:prstGeom prst="line">
            <a:avLst/>
          </a:prstGeom>
          <a:ln>
            <a:solidFill>
              <a:srgbClr val="2F252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3960737"/>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E20106-79B3-6DFC-2CF2-CD26BCD24381}"/>
              </a:ext>
            </a:extLst>
          </p:cNvPr>
          <p:cNvSpPr>
            <a:spLocks noGrp="1"/>
          </p:cNvSpPr>
          <p:nvPr>
            <p:ph type="title"/>
          </p:nvPr>
        </p:nvSpPr>
        <p:spPr/>
        <p:txBody>
          <a:bodyPr/>
          <a:lstStyle/>
          <a:p>
            <a:r>
              <a:rPr kumimoji="1" lang="ja-GB" altLang="en-US" dirty="0"/>
              <a:t>条件分岐の記述</a:t>
            </a:r>
          </a:p>
        </p:txBody>
      </p:sp>
      <p:sp>
        <p:nvSpPr>
          <p:cNvPr id="3" name="コンテンツ プレースホルダー 2">
            <a:extLst>
              <a:ext uri="{FF2B5EF4-FFF2-40B4-BE49-F238E27FC236}">
                <a16:creationId xmlns:a16="http://schemas.microsoft.com/office/drawing/2014/main" id="{39C3F909-24AA-3D0F-AA79-7407CD91F750}"/>
              </a:ext>
            </a:extLst>
          </p:cNvPr>
          <p:cNvSpPr>
            <a:spLocks noGrp="1"/>
          </p:cNvSpPr>
          <p:nvPr>
            <p:ph idx="1"/>
          </p:nvPr>
        </p:nvSpPr>
        <p:spPr/>
        <p:txBody>
          <a:bodyPr/>
          <a:lstStyle/>
          <a:p>
            <a:pPr marL="0" indent="0">
              <a:buNone/>
            </a:pPr>
            <a:r>
              <a:rPr kumimoji="1" lang="ja-GB" altLang="en-US" dirty="0"/>
              <a:t>「もし</a:t>
            </a:r>
            <a:r>
              <a:rPr kumimoji="1" lang="ja-GB" altLang="en-US" dirty="0">
                <a:solidFill>
                  <a:schemeClr val="tx1">
                    <a:lumMod val="50000"/>
                    <a:lumOff val="50000"/>
                  </a:schemeClr>
                </a:solidFill>
              </a:rPr>
              <a:t>（</a:t>
            </a:r>
            <a:r>
              <a:rPr lang="ja-GB" altLang="en-US" dirty="0">
                <a:solidFill>
                  <a:schemeClr val="tx1">
                    <a:lumMod val="50000"/>
                    <a:lumOff val="50000"/>
                  </a:schemeClr>
                </a:solidFill>
              </a:rPr>
              <a:t>条件</a:t>
            </a:r>
            <a:r>
              <a:rPr kumimoji="1" lang="ja-GB" altLang="en-US" dirty="0">
                <a:solidFill>
                  <a:schemeClr val="tx1">
                    <a:lumMod val="50000"/>
                    <a:lumOff val="50000"/>
                  </a:schemeClr>
                </a:solidFill>
              </a:rPr>
              <a:t>）</a:t>
            </a:r>
            <a:r>
              <a:rPr kumimoji="1" lang="ja-GB" altLang="en-US" dirty="0"/>
              <a:t>なら</a:t>
            </a:r>
            <a:r>
              <a:rPr kumimoji="1" lang="ja-GB" altLang="en-US" dirty="0">
                <a:solidFill>
                  <a:schemeClr val="tx1">
                    <a:lumMod val="50000"/>
                    <a:lumOff val="50000"/>
                  </a:schemeClr>
                </a:solidFill>
              </a:rPr>
              <a:t>｛処理</a:t>
            </a:r>
            <a:r>
              <a:rPr lang="ja-GB" altLang="en-US" dirty="0">
                <a:solidFill>
                  <a:schemeClr val="tx1">
                    <a:lumMod val="50000"/>
                    <a:lumOff val="50000"/>
                  </a:schemeClr>
                </a:solidFill>
              </a:rPr>
              <a:t>｝</a:t>
            </a:r>
            <a:r>
              <a:rPr kumimoji="1" lang="ja-GB" altLang="en-US" dirty="0"/>
              <a:t>」という形で書く</a:t>
            </a:r>
            <a:endParaRPr kumimoji="1" lang="en-US" altLang="ja-GB" dirty="0"/>
          </a:p>
          <a:p>
            <a:pPr lvl="1"/>
            <a:r>
              <a:rPr kumimoji="1" lang="ja-GB" altLang="en-US" dirty="0"/>
              <a:t>条件が真のとき，処理内容が実行される</a:t>
            </a:r>
            <a:endParaRPr kumimoji="1" lang="en-US" altLang="ja-GB" dirty="0"/>
          </a:p>
          <a:p>
            <a:pPr lvl="1"/>
            <a:r>
              <a:rPr lang="ja-GB" altLang="en-US" dirty="0"/>
              <a:t>条件が偽のとき，処理内容は実行されない</a:t>
            </a:r>
            <a:endParaRPr kumimoji="1" lang="en-US" altLang="ja-GB" dirty="0"/>
          </a:p>
        </p:txBody>
      </p:sp>
      <p:sp>
        <p:nvSpPr>
          <p:cNvPr id="5" name="テキスト ボックス 4">
            <a:extLst>
              <a:ext uri="{FF2B5EF4-FFF2-40B4-BE49-F238E27FC236}">
                <a16:creationId xmlns:a16="http://schemas.microsoft.com/office/drawing/2014/main" id="{7A4793AA-6F54-3E5A-E1F1-FE91D0776F8A}"/>
              </a:ext>
            </a:extLst>
          </p:cNvPr>
          <p:cNvSpPr txBox="1"/>
          <p:nvPr/>
        </p:nvSpPr>
        <p:spPr>
          <a:xfrm>
            <a:off x="585457" y="2048441"/>
            <a:ext cx="3379451" cy="4616648"/>
          </a:xfrm>
          <a:prstGeom prst="rect">
            <a:avLst/>
          </a:prstGeom>
          <a:noFill/>
        </p:spPr>
        <p:txBody>
          <a:bodyPr wrap="none" rtlCol="0">
            <a:spAutoFit/>
          </a:bodyPr>
          <a:lstStyle/>
          <a:p>
            <a:r>
              <a:rPr kumimoji="1" lang="ja-JP" altLang="en-US" sz="1400" b="1"/>
              <a:t>数値 月</a:t>
            </a:r>
            <a:r>
              <a:rPr kumimoji="1" lang="en-US" altLang="ja-JP" sz="1400" b="1" dirty="0"/>
              <a:t> = 5</a:t>
            </a:r>
          </a:p>
          <a:p>
            <a:r>
              <a:rPr kumimoji="1" lang="ja-GB" altLang="en-US" sz="1400" b="1" dirty="0"/>
              <a:t>文字列</a:t>
            </a:r>
            <a:r>
              <a:rPr kumimoji="1" lang="en-US" altLang="ja-GB" sz="1400" b="1" dirty="0"/>
              <a:t> </a:t>
            </a:r>
            <a:r>
              <a:rPr kumimoji="1" lang="ja-GB" altLang="en-US" sz="1400" b="1" dirty="0"/>
              <a:t>天気</a:t>
            </a:r>
            <a:r>
              <a:rPr kumimoji="1" lang="en-US" altLang="ja-GB" sz="1400" b="1" dirty="0"/>
              <a:t> = “</a:t>
            </a:r>
            <a:r>
              <a:rPr kumimoji="1" lang="ja-GB" altLang="en-US" sz="1400" b="1" dirty="0"/>
              <a:t>晴れ</a:t>
            </a:r>
            <a:r>
              <a:rPr kumimoji="1" lang="en-US" altLang="ja-GB" sz="1400" b="1" dirty="0"/>
              <a:t>”</a:t>
            </a:r>
          </a:p>
          <a:p>
            <a:r>
              <a:rPr kumimoji="1" lang="ja-GB" altLang="en-US" sz="1400" b="1" dirty="0"/>
              <a:t>文字列</a:t>
            </a:r>
            <a:r>
              <a:rPr kumimoji="1" lang="en-US" altLang="ja-GB" sz="1400" b="1" dirty="0"/>
              <a:t> </a:t>
            </a:r>
            <a:r>
              <a:rPr kumimoji="1" lang="ja-GB" altLang="en-US" sz="1400" b="1" dirty="0"/>
              <a:t>危険</a:t>
            </a:r>
            <a:r>
              <a:rPr kumimoji="1" lang="en-US" altLang="ja-GB" sz="1400" b="1" dirty="0"/>
              <a:t> = “</a:t>
            </a:r>
            <a:r>
              <a:rPr kumimoji="1" lang="ja-GB" altLang="en-US" sz="1400" b="1" dirty="0"/>
              <a:t>なし</a:t>
            </a:r>
            <a:r>
              <a:rPr kumimoji="1" lang="en-US" altLang="ja-GB" sz="1400" b="1" dirty="0"/>
              <a:t>”</a:t>
            </a:r>
            <a:endParaRPr kumimoji="1" lang="ja-JP" altLang="en-US" sz="1400" b="1"/>
          </a:p>
          <a:p>
            <a:endParaRPr kumimoji="1" lang="ja-JP" altLang="en-US" sz="1400" b="1"/>
          </a:p>
          <a:p>
            <a:r>
              <a:rPr kumimoji="1" lang="ja-JP" altLang="en-US" sz="1400" b="1">
                <a:solidFill>
                  <a:srgbClr val="0070C0"/>
                </a:solidFill>
              </a:rPr>
              <a:t>もし（月</a:t>
            </a:r>
            <a:r>
              <a:rPr kumimoji="1" lang="en-US" altLang="ja-JP" sz="1400" b="1" dirty="0">
                <a:solidFill>
                  <a:srgbClr val="0070C0"/>
                </a:solidFill>
              </a:rPr>
              <a:t>==12 or</a:t>
            </a:r>
            <a:r>
              <a:rPr kumimoji="1" lang="ja-JP" altLang="en-US" sz="1400" b="1">
                <a:solidFill>
                  <a:srgbClr val="0070C0"/>
                </a:solidFill>
              </a:rPr>
              <a:t> </a:t>
            </a:r>
            <a:r>
              <a:rPr kumimoji="1" lang="ja-GB" altLang="en-US" sz="1400" b="1" dirty="0">
                <a:solidFill>
                  <a:srgbClr val="0070C0"/>
                </a:solidFill>
              </a:rPr>
              <a:t>月</a:t>
            </a:r>
            <a:r>
              <a:rPr kumimoji="1" lang="en-US" altLang="ja-GB" sz="1400" b="1" dirty="0">
                <a:solidFill>
                  <a:srgbClr val="0070C0"/>
                </a:solidFill>
              </a:rPr>
              <a:t>==</a:t>
            </a:r>
            <a:r>
              <a:rPr kumimoji="1" lang="en-US" altLang="ja-JP" sz="1400" b="1" dirty="0">
                <a:solidFill>
                  <a:srgbClr val="0070C0"/>
                </a:solidFill>
              </a:rPr>
              <a:t>1 or </a:t>
            </a:r>
            <a:r>
              <a:rPr kumimoji="1" lang="ja-GB" altLang="en-US" sz="1400" b="1" dirty="0">
                <a:solidFill>
                  <a:srgbClr val="0070C0"/>
                </a:solidFill>
              </a:rPr>
              <a:t>月</a:t>
            </a:r>
            <a:r>
              <a:rPr kumimoji="1" lang="en-US" altLang="ja-GB" sz="1400" b="1" dirty="0">
                <a:solidFill>
                  <a:srgbClr val="0070C0"/>
                </a:solidFill>
              </a:rPr>
              <a:t>==</a:t>
            </a:r>
            <a:r>
              <a:rPr kumimoji="1" lang="en-US" altLang="ja-JP" sz="1400" b="1" dirty="0">
                <a:solidFill>
                  <a:srgbClr val="0070C0"/>
                </a:solidFill>
              </a:rPr>
              <a:t>2</a:t>
            </a:r>
            <a:r>
              <a:rPr kumimoji="1" lang="ja-JP" altLang="en-US" sz="1400" b="1">
                <a:solidFill>
                  <a:srgbClr val="0070C0"/>
                </a:solidFill>
              </a:rPr>
              <a:t>）なら</a:t>
            </a:r>
            <a:r>
              <a:rPr kumimoji="1" lang="ja-JP" altLang="en-US" sz="1400" b="1"/>
              <a:t> </a:t>
            </a:r>
            <a:r>
              <a:rPr kumimoji="1" lang="en-US" altLang="ja-JP" sz="1400" b="1" dirty="0"/>
              <a:t>{</a:t>
            </a:r>
          </a:p>
          <a:p>
            <a:r>
              <a:rPr kumimoji="1" lang="ja-JP" altLang="en-US" sz="1400" b="1"/>
              <a:t>　</a:t>
            </a:r>
            <a:r>
              <a:rPr kumimoji="1" lang="ja-GB" altLang="en-US" sz="1400" b="1" dirty="0"/>
              <a:t>文字列</a:t>
            </a:r>
            <a:r>
              <a:rPr kumimoji="1" lang="en-US" altLang="ja-GB" sz="1400" b="1" dirty="0"/>
              <a:t> </a:t>
            </a:r>
            <a:r>
              <a:rPr kumimoji="1" lang="ja-GB" altLang="en-US" sz="1400" b="1" dirty="0"/>
              <a:t>季節</a:t>
            </a:r>
            <a:r>
              <a:rPr kumimoji="1" lang="en-US" altLang="ja-GB" sz="1400" b="1" dirty="0"/>
              <a:t> = “</a:t>
            </a:r>
            <a:r>
              <a:rPr kumimoji="1" lang="ja-GB" altLang="en-US" sz="1400" b="1" dirty="0"/>
              <a:t>冬</a:t>
            </a:r>
            <a:r>
              <a:rPr kumimoji="1" lang="en-US" altLang="ja-GB" sz="1400" b="1" dirty="0"/>
              <a:t>”</a:t>
            </a:r>
            <a:endParaRPr kumimoji="1" lang="ja-JP" altLang="en-US" sz="1400" b="1"/>
          </a:p>
          <a:p>
            <a:r>
              <a:rPr kumimoji="1" lang="en-US" altLang="ja-JP" sz="1400" b="1" dirty="0"/>
              <a:t>}</a:t>
            </a:r>
          </a:p>
          <a:p>
            <a:r>
              <a:rPr kumimoji="1" lang="ja-JP" altLang="en-US" sz="1400" b="1">
                <a:solidFill>
                  <a:srgbClr val="0070C0"/>
                </a:solidFill>
              </a:rPr>
              <a:t>もし（月</a:t>
            </a:r>
            <a:r>
              <a:rPr kumimoji="1" lang="en-US" altLang="ja-JP" sz="1400" b="1" dirty="0">
                <a:solidFill>
                  <a:srgbClr val="0070C0"/>
                </a:solidFill>
              </a:rPr>
              <a:t>==3 or</a:t>
            </a:r>
            <a:r>
              <a:rPr kumimoji="1" lang="ja-JP" altLang="en-US" sz="1400" b="1">
                <a:solidFill>
                  <a:srgbClr val="0070C0"/>
                </a:solidFill>
              </a:rPr>
              <a:t> </a:t>
            </a:r>
            <a:r>
              <a:rPr kumimoji="1" lang="ja-GB" altLang="en-US" sz="1400" b="1" dirty="0">
                <a:solidFill>
                  <a:srgbClr val="0070C0"/>
                </a:solidFill>
              </a:rPr>
              <a:t>月</a:t>
            </a:r>
            <a:r>
              <a:rPr kumimoji="1" lang="en-US" altLang="ja-GB" sz="1400" b="1" dirty="0">
                <a:solidFill>
                  <a:srgbClr val="0070C0"/>
                </a:solidFill>
              </a:rPr>
              <a:t>==</a:t>
            </a:r>
            <a:r>
              <a:rPr kumimoji="1" lang="en-US" altLang="ja-JP" sz="1400" b="1" dirty="0">
                <a:solidFill>
                  <a:srgbClr val="0070C0"/>
                </a:solidFill>
              </a:rPr>
              <a:t>4 or</a:t>
            </a:r>
            <a:r>
              <a:rPr kumimoji="1" lang="ja-JP" altLang="en-US" sz="1400" b="1">
                <a:solidFill>
                  <a:srgbClr val="0070C0"/>
                </a:solidFill>
              </a:rPr>
              <a:t> </a:t>
            </a:r>
            <a:r>
              <a:rPr kumimoji="1" lang="ja-GB" altLang="en-US" sz="1400" b="1" dirty="0">
                <a:solidFill>
                  <a:srgbClr val="0070C0"/>
                </a:solidFill>
              </a:rPr>
              <a:t>月</a:t>
            </a:r>
            <a:r>
              <a:rPr kumimoji="1" lang="en-US" altLang="ja-GB" sz="1400" b="1" dirty="0">
                <a:solidFill>
                  <a:srgbClr val="0070C0"/>
                </a:solidFill>
              </a:rPr>
              <a:t>==</a:t>
            </a:r>
            <a:r>
              <a:rPr kumimoji="1" lang="en-US" altLang="ja-JP" sz="1400" b="1" dirty="0">
                <a:solidFill>
                  <a:srgbClr val="0070C0"/>
                </a:solidFill>
              </a:rPr>
              <a:t>5</a:t>
            </a:r>
            <a:r>
              <a:rPr kumimoji="1" lang="ja-JP" altLang="en-US" sz="1400" b="1">
                <a:solidFill>
                  <a:srgbClr val="0070C0"/>
                </a:solidFill>
              </a:rPr>
              <a:t>）なら</a:t>
            </a:r>
            <a:r>
              <a:rPr kumimoji="1" lang="ja-JP" altLang="en-US" sz="1400" b="1"/>
              <a:t> </a:t>
            </a:r>
            <a:r>
              <a:rPr kumimoji="1" lang="en-US" altLang="ja-JP" sz="1400" b="1" dirty="0"/>
              <a:t>{</a:t>
            </a:r>
          </a:p>
          <a:p>
            <a:r>
              <a:rPr kumimoji="1" lang="ja-JP" altLang="en-US" sz="1400" b="1"/>
              <a:t>　</a:t>
            </a:r>
            <a:r>
              <a:rPr kumimoji="1" lang="en-US" altLang="ja-JP" sz="1400" b="1" dirty="0"/>
              <a:t> </a:t>
            </a:r>
            <a:r>
              <a:rPr kumimoji="1" lang="ja-GB" altLang="en-US" sz="1400" b="1" dirty="0"/>
              <a:t>文字列</a:t>
            </a:r>
            <a:r>
              <a:rPr kumimoji="1" lang="en-US" altLang="ja-GB" sz="1400" b="1" dirty="0"/>
              <a:t> </a:t>
            </a:r>
            <a:r>
              <a:rPr kumimoji="1" lang="ja-GB" altLang="en-US" sz="1400" b="1" dirty="0"/>
              <a:t>季節</a:t>
            </a:r>
            <a:r>
              <a:rPr kumimoji="1" lang="en-US" altLang="ja-GB" sz="1400" b="1" dirty="0"/>
              <a:t> = “</a:t>
            </a:r>
            <a:r>
              <a:rPr kumimoji="1" lang="ja-GB" altLang="en-US" sz="1400" b="1" dirty="0"/>
              <a:t>春</a:t>
            </a:r>
            <a:r>
              <a:rPr kumimoji="1" lang="en-US" altLang="ja-GB" sz="1400" b="1" dirty="0"/>
              <a:t>”</a:t>
            </a:r>
            <a:endParaRPr kumimoji="1" lang="ja-JP" altLang="en-US" sz="1400" b="1"/>
          </a:p>
          <a:p>
            <a:r>
              <a:rPr kumimoji="1" lang="en-US" altLang="ja-JP" sz="1400" b="1" dirty="0"/>
              <a:t>}</a:t>
            </a:r>
          </a:p>
          <a:p>
            <a:r>
              <a:rPr kumimoji="1" lang="ja-JP" altLang="en-US" sz="1400" b="1">
                <a:solidFill>
                  <a:srgbClr val="0070C0"/>
                </a:solidFill>
              </a:rPr>
              <a:t>もし（月</a:t>
            </a:r>
            <a:r>
              <a:rPr kumimoji="1" lang="en-US" altLang="ja-JP" sz="1400" b="1" dirty="0">
                <a:solidFill>
                  <a:srgbClr val="0070C0"/>
                </a:solidFill>
              </a:rPr>
              <a:t>==6 or </a:t>
            </a:r>
            <a:r>
              <a:rPr kumimoji="1" lang="ja-GB" altLang="en-US" sz="1400" b="1" dirty="0">
                <a:solidFill>
                  <a:srgbClr val="0070C0"/>
                </a:solidFill>
              </a:rPr>
              <a:t>月</a:t>
            </a:r>
            <a:r>
              <a:rPr kumimoji="1" lang="en-US" altLang="ja-GB" sz="1400" b="1" dirty="0">
                <a:solidFill>
                  <a:srgbClr val="0070C0"/>
                </a:solidFill>
              </a:rPr>
              <a:t>==</a:t>
            </a:r>
            <a:r>
              <a:rPr kumimoji="1" lang="en-US" altLang="ja-JP" sz="1400" b="1" dirty="0">
                <a:solidFill>
                  <a:srgbClr val="0070C0"/>
                </a:solidFill>
              </a:rPr>
              <a:t>7 or </a:t>
            </a:r>
            <a:r>
              <a:rPr kumimoji="1" lang="ja-GB" altLang="en-US" sz="1400" b="1" dirty="0">
                <a:solidFill>
                  <a:srgbClr val="0070C0"/>
                </a:solidFill>
              </a:rPr>
              <a:t>月</a:t>
            </a:r>
            <a:r>
              <a:rPr kumimoji="1" lang="en-US" altLang="ja-GB" sz="1400" b="1" dirty="0">
                <a:solidFill>
                  <a:srgbClr val="0070C0"/>
                </a:solidFill>
              </a:rPr>
              <a:t>==</a:t>
            </a:r>
            <a:r>
              <a:rPr kumimoji="1" lang="en-US" altLang="ja-JP" sz="1400" b="1" dirty="0">
                <a:solidFill>
                  <a:srgbClr val="0070C0"/>
                </a:solidFill>
              </a:rPr>
              <a:t>8</a:t>
            </a:r>
            <a:r>
              <a:rPr kumimoji="1" lang="ja-JP" altLang="en-US" sz="1400" b="1">
                <a:solidFill>
                  <a:srgbClr val="0070C0"/>
                </a:solidFill>
              </a:rPr>
              <a:t>）なら</a:t>
            </a:r>
            <a:r>
              <a:rPr kumimoji="1" lang="ja-JP" altLang="en-US" sz="1400" b="1"/>
              <a:t> </a:t>
            </a:r>
            <a:r>
              <a:rPr kumimoji="1" lang="en-US" altLang="ja-JP" sz="1400" b="1" dirty="0"/>
              <a:t>{</a:t>
            </a:r>
          </a:p>
          <a:p>
            <a:r>
              <a:rPr kumimoji="1" lang="ja-JP" altLang="en-US" sz="1400" b="1"/>
              <a:t>　</a:t>
            </a:r>
            <a:r>
              <a:rPr kumimoji="1" lang="en-US" altLang="ja-JP" sz="1400" b="1" dirty="0"/>
              <a:t> </a:t>
            </a:r>
            <a:r>
              <a:rPr kumimoji="1" lang="ja-GB" altLang="en-US" sz="1400" b="1" dirty="0"/>
              <a:t>文字列</a:t>
            </a:r>
            <a:r>
              <a:rPr kumimoji="1" lang="en-US" altLang="ja-GB" sz="1400" b="1" dirty="0"/>
              <a:t> </a:t>
            </a:r>
            <a:r>
              <a:rPr kumimoji="1" lang="ja-GB" altLang="en-US" sz="1400" b="1" dirty="0"/>
              <a:t>季節</a:t>
            </a:r>
            <a:r>
              <a:rPr kumimoji="1" lang="en-US" altLang="ja-GB" sz="1400" b="1" dirty="0"/>
              <a:t> = “</a:t>
            </a:r>
            <a:r>
              <a:rPr kumimoji="1" lang="ja-GB" altLang="en-US" sz="1400" b="1" dirty="0"/>
              <a:t>夏</a:t>
            </a:r>
            <a:r>
              <a:rPr kumimoji="1" lang="en-US" altLang="ja-GB" sz="1400" b="1" dirty="0"/>
              <a:t>”</a:t>
            </a:r>
            <a:endParaRPr kumimoji="1" lang="ja-JP" altLang="en-US" sz="1400" b="1"/>
          </a:p>
          <a:p>
            <a:r>
              <a:rPr kumimoji="1" lang="en-US" altLang="ja-JP" sz="1400" b="1" dirty="0"/>
              <a:t>}</a:t>
            </a:r>
          </a:p>
          <a:p>
            <a:r>
              <a:rPr kumimoji="1" lang="ja-JP" altLang="en-US" sz="1400" b="1">
                <a:solidFill>
                  <a:srgbClr val="0070C0"/>
                </a:solidFill>
              </a:rPr>
              <a:t>もし（月</a:t>
            </a:r>
            <a:r>
              <a:rPr kumimoji="1" lang="en-US" altLang="ja-JP" sz="1400" b="1" dirty="0">
                <a:solidFill>
                  <a:srgbClr val="0070C0"/>
                </a:solidFill>
              </a:rPr>
              <a:t>==9 or</a:t>
            </a:r>
            <a:r>
              <a:rPr kumimoji="1" lang="ja-JP" altLang="en-US" sz="1400" b="1">
                <a:solidFill>
                  <a:srgbClr val="0070C0"/>
                </a:solidFill>
              </a:rPr>
              <a:t> </a:t>
            </a:r>
            <a:r>
              <a:rPr kumimoji="1" lang="ja-GB" altLang="en-US" sz="1400" b="1" dirty="0">
                <a:solidFill>
                  <a:srgbClr val="0070C0"/>
                </a:solidFill>
              </a:rPr>
              <a:t>月</a:t>
            </a:r>
            <a:r>
              <a:rPr kumimoji="1" lang="en-US" altLang="ja-GB" sz="1400" b="1" dirty="0">
                <a:solidFill>
                  <a:srgbClr val="0070C0"/>
                </a:solidFill>
              </a:rPr>
              <a:t>==</a:t>
            </a:r>
            <a:r>
              <a:rPr kumimoji="1" lang="en-US" altLang="ja-JP" sz="1400" b="1" dirty="0">
                <a:solidFill>
                  <a:srgbClr val="0070C0"/>
                </a:solidFill>
              </a:rPr>
              <a:t>10 or </a:t>
            </a:r>
            <a:r>
              <a:rPr kumimoji="1" lang="ja-GB" altLang="en-US" sz="1400" b="1" dirty="0">
                <a:solidFill>
                  <a:srgbClr val="0070C0"/>
                </a:solidFill>
              </a:rPr>
              <a:t>月</a:t>
            </a:r>
            <a:r>
              <a:rPr kumimoji="1" lang="en-US" altLang="ja-GB" sz="1400" b="1" dirty="0">
                <a:solidFill>
                  <a:srgbClr val="0070C0"/>
                </a:solidFill>
              </a:rPr>
              <a:t>==</a:t>
            </a:r>
            <a:r>
              <a:rPr kumimoji="1" lang="en-US" altLang="ja-JP" sz="1400" b="1" dirty="0">
                <a:solidFill>
                  <a:srgbClr val="0070C0"/>
                </a:solidFill>
              </a:rPr>
              <a:t>11</a:t>
            </a:r>
            <a:r>
              <a:rPr kumimoji="1" lang="ja-JP" altLang="en-US" sz="1400" b="1">
                <a:solidFill>
                  <a:srgbClr val="0070C0"/>
                </a:solidFill>
              </a:rPr>
              <a:t>）なら</a:t>
            </a:r>
            <a:r>
              <a:rPr kumimoji="1" lang="ja-JP" altLang="en-US" sz="1400" b="1"/>
              <a:t> </a:t>
            </a:r>
            <a:r>
              <a:rPr kumimoji="1" lang="en-US" altLang="ja-JP" sz="1400" b="1" dirty="0"/>
              <a:t>{</a:t>
            </a:r>
          </a:p>
          <a:p>
            <a:r>
              <a:rPr kumimoji="1" lang="ja-JP" altLang="en-US" sz="1400" b="1"/>
              <a:t>　</a:t>
            </a:r>
            <a:r>
              <a:rPr kumimoji="1" lang="en-US" altLang="ja-JP" sz="1400" b="1" dirty="0"/>
              <a:t> </a:t>
            </a:r>
            <a:r>
              <a:rPr kumimoji="1" lang="ja-GB" altLang="en-US" sz="1400" b="1" dirty="0"/>
              <a:t>文字列</a:t>
            </a:r>
            <a:r>
              <a:rPr kumimoji="1" lang="en-US" altLang="ja-GB" sz="1400" b="1" dirty="0"/>
              <a:t> </a:t>
            </a:r>
            <a:r>
              <a:rPr kumimoji="1" lang="ja-GB" altLang="en-US" sz="1400" b="1" dirty="0"/>
              <a:t>季節</a:t>
            </a:r>
            <a:r>
              <a:rPr kumimoji="1" lang="en-US" altLang="ja-GB" sz="1400" b="1" dirty="0"/>
              <a:t> = “</a:t>
            </a:r>
            <a:r>
              <a:rPr kumimoji="1" lang="ja-GB" altLang="en-US" sz="1400" b="1" dirty="0"/>
              <a:t>秋</a:t>
            </a:r>
            <a:r>
              <a:rPr kumimoji="1" lang="en-US" altLang="ja-GB" sz="1400" b="1" dirty="0"/>
              <a:t>”</a:t>
            </a:r>
            <a:endParaRPr kumimoji="1" lang="ja-JP" altLang="en-US" sz="1400" b="1"/>
          </a:p>
          <a:p>
            <a:r>
              <a:rPr kumimoji="1" lang="en-US" altLang="ja-JP" sz="1400" b="1" dirty="0"/>
              <a:t>}</a:t>
            </a:r>
          </a:p>
          <a:p>
            <a:endParaRPr kumimoji="1" lang="en-US" altLang="ja-GB" sz="1400" b="1" dirty="0"/>
          </a:p>
          <a:p>
            <a:r>
              <a:rPr kumimoji="1" lang="ja-GB" altLang="en-US" sz="1400" b="1" dirty="0">
                <a:solidFill>
                  <a:srgbClr val="0070C0"/>
                </a:solidFill>
              </a:rPr>
              <a:t>もし（季節</a:t>
            </a:r>
            <a:r>
              <a:rPr kumimoji="1" lang="en-US" altLang="ja-GB" sz="1400" b="1" dirty="0">
                <a:solidFill>
                  <a:srgbClr val="0070C0"/>
                </a:solidFill>
              </a:rPr>
              <a:t>==</a:t>
            </a:r>
            <a:r>
              <a:rPr kumimoji="1" lang="ja-GB" altLang="en-US" sz="1400" b="1" dirty="0">
                <a:solidFill>
                  <a:srgbClr val="0070C0"/>
                </a:solidFill>
              </a:rPr>
              <a:t>冬</a:t>
            </a:r>
            <a:r>
              <a:rPr kumimoji="1" lang="en-US" altLang="ja-GB" sz="1400" b="1" dirty="0">
                <a:solidFill>
                  <a:srgbClr val="0070C0"/>
                </a:solidFill>
              </a:rPr>
              <a:t> and </a:t>
            </a:r>
            <a:r>
              <a:rPr kumimoji="1" lang="ja-GB" altLang="en-US" sz="1400" b="1" dirty="0">
                <a:solidFill>
                  <a:srgbClr val="0070C0"/>
                </a:solidFill>
              </a:rPr>
              <a:t>天気</a:t>
            </a:r>
            <a:r>
              <a:rPr kumimoji="1" lang="en-US" altLang="ja-GB" sz="1400" b="1" dirty="0">
                <a:solidFill>
                  <a:srgbClr val="0070C0"/>
                </a:solidFill>
              </a:rPr>
              <a:t> == </a:t>
            </a:r>
            <a:r>
              <a:rPr kumimoji="1" lang="ja-GB" altLang="en-US" sz="1400" b="1" dirty="0">
                <a:solidFill>
                  <a:srgbClr val="0070C0"/>
                </a:solidFill>
              </a:rPr>
              <a:t>晴れ）なら</a:t>
            </a:r>
            <a:r>
              <a:rPr kumimoji="1" lang="en-US" altLang="ja-GB" sz="1400" b="1" dirty="0"/>
              <a:t>{</a:t>
            </a:r>
          </a:p>
          <a:p>
            <a:r>
              <a:rPr kumimoji="1" lang="ja-JP" altLang="en-US" sz="1400" b="1"/>
              <a:t>　</a:t>
            </a:r>
            <a:r>
              <a:rPr kumimoji="1" lang="en-US" altLang="ja-JP" sz="1400" b="1" dirty="0"/>
              <a:t> </a:t>
            </a:r>
            <a:r>
              <a:rPr kumimoji="1" lang="ja-GB" altLang="en-US" sz="1400" b="1" dirty="0"/>
              <a:t>危険</a:t>
            </a:r>
            <a:r>
              <a:rPr kumimoji="1" lang="en-US" altLang="ja-GB" sz="1400" b="1" dirty="0"/>
              <a:t> = “</a:t>
            </a:r>
            <a:r>
              <a:rPr kumimoji="1" lang="ja-GB" altLang="en-US" sz="1400" b="1" dirty="0"/>
              <a:t>火事</a:t>
            </a:r>
            <a:r>
              <a:rPr kumimoji="1" lang="en-US" altLang="ja-GB" sz="1400" b="1" dirty="0"/>
              <a:t>”</a:t>
            </a:r>
            <a:endParaRPr kumimoji="1" lang="ja-JP" altLang="en-US" sz="1400" b="1"/>
          </a:p>
          <a:p>
            <a:r>
              <a:rPr kumimoji="1" lang="en-US" altLang="ja-GB" sz="1400" b="1" dirty="0"/>
              <a:t>}</a:t>
            </a:r>
          </a:p>
          <a:p>
            <a:endParaRPr kumimoji="1" lang="ja-GB" altLang="en-US" sz="1400" b="1" dirty="0"/>
          </a:p>
        </p:txBody>
      </p:sp>
      <p:sp>
        <p:nvSpPr>
          <p:cNvPr id="6" name="テキスト ボックス 5">
            <a:extLst>
              <a:ext uri="{FF2B5EF4-FFF2-40B4-BE49-F238E27FC236}">
                <a16:creationId xmlns:a16="http://schemas.microsoft.com/office/drawing/2014/main" id="{380BBEA1-C04C-961F-8416-DA3CAABC4A40}"/>
              </a:ext>
            </a:extLst>
          </p:cNvPr>
          <p:cNvSpPr txBox="1"/>
          <p:nvPr/>
        </p:nvSpPr>
        <p:spPr>
          <a:xfrm>
            <a:off x="5026810" y="2910215"/>
            <a:ext cx="3397084" cy="2893100"/>
          </a:xfrm>
          <a:prstGeom prst="rect">
            <a:avLst/>
          </a:prstGeom>
          <a:noFill/>
        </p:spPr>
        <p:txBody>
          <a:bodyPr wrap="none" rtlCol="0">
            <a:spAutoFit/>
          </a:bodyPr>
          <a:lstStyle/>
          <a:p>
            <a:r>
              <a:rPr kumimoji="1" lang="ja-JP" altLang="en-US" sz="1400" b="1"/>
              <a:t>数値 価格</a:t>
            </a:r>
            <a:r>
              <a:rPr kumimoji="1" lang="en-US" altLang="ja-JP" sz="1400" b="1" dirty="0"/>
              <a:t> = 100</a:t>
            </a:r>
          </a:p>
          <a:p>
            <a:endParaRPr kumimoji="1" lang="ja-JP" altLang="en-US" sz="1400" b="1"/>
          </a:p>
          <a:p>
            <a:r>
              <a:rPr kumimoji="1" lang="ja-JP" altLang="en-US" sz="1400" b="1"/>
              <a:t>文字列 商品カテゴリ</a:t>
            </a:r>
            <a:r>
              <a:rPr kumimoji="1" lang="en-US" altLang="ja-JP" sz="1400" b="1" dirty="0"/>
              <a:t>= </a:t>
            </a:r>
            <a:r>
              <a:rPr kumimoji="1" lang="ja-GB" altLang="en-US" sz="1400" b="1" dirty="0"/>
              <a:t>食品</a:t>
            </a:r>
            <a:endParaRPr kumimoji="1" lang="ja-JP" altLang="en-US" sz="1400" b="1"/>
          </a:p>
          <a:p>
            <a:endParaRPr kumimoji="1" lang="ja-JP" altLang="en-US" sz="1400" b="1"/>
          </a:p>
          <a:p>
            <a:r>
              <a:rPr kumimoji="1" lang="ja-JP" altLang="en-US" sz="1400" b="1">
                <a:solidFill>
                  <a:srgbClr val="0070C0"/>
                </a:solidFill>
              </a:rPr>
              <a:t>もし（商品カテゴリ </a:t>
            </a:r>
            <a:r>
              <a:rPr kumimoji="1" lang="en-US" altLang="ja-JP" sz="1400" b="1" dirty="0">
                <a:solidFill>
                  <a:srgbClr val="0070C0"/>
                </a:solidFill>
              </a:rPr>
              <a:t>== "</a:t>
            </a:r>
            <a:r>
              <a:rPr kumimoji="1" lang="ja-JP" altLang="en-US" sz="1400" b="1">
                <a:solidFill>
                  <a:srgbClr val="0070C0"/>
                </a:solidFill>
              </a:rPr>
              <a:t>食品</a:t>
            </a:r>
            <a:r>
              <a:rPr kumimoji="1" lang="en-US" altLang="ja-JP" sz="1400" b="1" dirty="0">
                <a:solidFill>
                  <a:srgbClr val="0070C0"/>
                </a:solidFill>
              </a:rPr>
              <a:t>"</a:t>
            </a:r>
            <a:r>
              <a:rPr kumimoji="1" lang="ja-JP" altLang="en-US" sz="1400" b="1">
                <a:solidFill>
                  <a:srgbClr val="0070C0"/>
                </a:solidFill>
              </a:rPr>
              <a:t>）なら</a:t>
            </a:r>
            <a:r>
              <a:rPr kumimoji="1" lang="ja-JP" altLang="en-US" sz="1400" b="1"/>
              <a:t> </a:t>
            </a:r>
            <a:r>
              <a:rPr kumimoji="1" lang="en-US" altLang="ja-JP" sz="1400" b="1" dirty="0"/>
              <a:t>{</a:t>
            </a:r>
          </a:p>
          <a:p>
            <a:r>
              <a:rPr kumimoji="1" lang="en-US" altLang="ja-JP" sz="1400" b="1" dirty="0"/>
              <a:t>    </a:t>
            </a:r>
            <a:r>
              <a:rPr kumimoji="1" lang="ja-JP" altLang="en-US" sz="1400" b="1"/>
              <a:t>数値 税率 </a:t>
            </a:r>
            <a:r>
              <a:rPr kumimoji="1" lang="en-US" altLang="ja-JP" sz="1400" b="1" dirty="0"/>
              <a:t>= 0.08</a:t>
            </a:r>
          </a:p>
          <a:p>
            <a:r>
              <a:rPr kumimoji="1" lang="en-US" altLang="ja-JP" sz="1400" b="1" dirty="0"/>
              <a:t>}</a:t>
            </a:r>
          </a:p>
          <a:p>
            <a:r>
              <a:rPr kumimoji="1" lang="ja-JP" altLang="en-US" sz="1400" b="1">
                <a:solidFill>
                  <a:srgbClr val="0070C0"/>
                </a:solidFill>
              </a:rPr>
              <a:t>もし（商品カテゴリ </a:t>
            </a:r>
            <a:r>
              <a:rPr kumimoji="1" lang="en-US" altLang="ja-JP" sz="1400" b="1" dirty="0">
                <a:solidFill>
                  <a:srgbClr val="0070C0"/>
                </a:solidFill>
              </a:rPr>
              <a:t>== "</a:t>
            </a:r>
            <a:r>
              <a:rPr kumimoji="1" lang="ja-JP" altLang="en-US" sz="1400" b="1">
                <a:solidFill>
                  <a:srgbClr val="0070C0"/>
                </a:solidFill>
              </a:rPr>
              <a:t>その他</a:t>
            </a:r>
            <a:r>
              <a:rPr kumimoji="1" lang="en-US" altLang="ja-JP" sz="1400" b="1" dirty="0">
                <a:solidFill>
                  <a:srgbClr val="0070C0"/>
                </a:solidFill>
              </a:rPr>
              <a:t>"</a:t>
            </a:r>
            <a:r>
              <a:rPr kumimoji="1" lang="ja-JP" altLang="en-US" sz="1400" b="1">
                <a:solidFill>
                  <a:srgbClr val="0070C0"/>
                </a:solidFill>
              </a:rPr>
              <a:t>）なら</a:t>
            </a:r>
            <a:r>
              <a:rPr kumimoji="1" lang="ja-JP" altLang="en-US" sz="1400" b="1"/>
              <a:t> </a:t>
            </a:r>
            <a:r>
              <a:rPr kumimoji="1" lang="en-US" altLang="ja-JP" sz="1400" b="1" dirty="0"/>
              <a:t>{</a:t>
            </a:r>
          </a:p>
          <a:p>
            <a:r>
              <a:rPr kumimoji="1" lang="en-US" altLang="ja-JP" sz="1400" b="1" dirty="0"/>
              <a:t>    </a:t>
            </a:r>
            <a:r>
              <a:rPr kumimoji="1" lang="ja-JP" altLang="en-US" sz="1400" b="1"/>
              <a:t>数値 税率 </a:t>
            </a:r>
            <a:r>
              <a:rPr kumimoji="1" lang="en-US" altLang="ja-JP" sz="1400" b="1" dirty="0"/>
              <a:t>= 0.10</a:t>
            </a:r>
          </a:p>
          <a:p>
            <a:r>
              <a:rPr kumimoji="1" lang="en-US" altLang="ja-JP" sz="1400" b="1" dirty="0"/>
              <a:t>}</a:t>
            </a:r>
          </a:p>
          <a:p>
            <a:endParaRPr kumimoji="1" lang="en-US" altLang="ja-JP" sz="1400" b="1" dirty="0"/>
          </a:p>
          <a:p>
            <a:r>
              <a:rPr kumimoji="1" lang="ja-GB" altLang="en-US" sz="1400" b="1" dirty="0"/>
              <a:t>数値</a:t>
            </a:r>
            <a:r>
              <a:rPr kumimoji="1" lang="en-US" altLang="ja-GB" sz="1400" b="1" dirty="0"/>
              <a:t> </a:t>
            </a:r>
            <a:r>
              <a:rPr kumimoji="1" lang="ja-GB" altLang="en-US" sz="1400" b="1" dirty="0"/>
              <a:t>消費税</a:t>
            </a:r>
            <a:r>
              <a:rPr kumimoji="1" lang="en-US" altLang="ja-GB" sz="1400" b="1" dirty="0"/>
              <a:t> = </a:t>
            </a:r>
            <a:r>
              <a:rPr kumimoji="1" lang="ja-GB" altLang="en-US" sz="1400" b="1" dirty="0"/>
              <a:t>価格</a:t>
            </a:r>
            <a:r>
              <a:rPr kumimoji="1" lang="en-US" altLang="ja-GB" sz="1400" b="1" dirty="0"/>
              <a:t> × </a:t>
            </a:r>
            <a:r>
              <a:rPr kumimoji="1" lang="ja-GB" altLang="en-US" sz="1400" b="1" dirty="0"/>
              <a:t>税率</a:t>
            </a:r>
            <a:endParaRPr kumimoji="1" lang="en-US" altLang="ja-GB" sz="1400" b="1" dirty="0"/>
          </a:p>
          <a:p>
            <a:r>
              <a:rPr kumimoji="1" lang="ja-GB" altLang="en-US" sz="1400" b="1" dirty="0"/>
              <a:t>数値</a:t>
            </a:r>
            <a:r>
              <a:rPr kumimoji="1" lang="en-US" altLang="ja-GB" sz="1400" b="1" dirty="0"/>
              <a:t> </a:t>
            </a:r>
            <a:r>
              <a:rPr kumimoji="1" lang="ja-GB" altLang="en-US" sz="1400" b="1" dirty="0"/>
              <a:t>合計金額</a:t>
            </a:r>
            <a:r>
              <a:rPr kumimoji="1" lang="en-US" altLang="ja-GB" sz="1400" b="1" dirty="0"/>
              <a:t> = </a:t>
            </a:r>
            <a:r>
              <a:rPr kumimoji="1" lang="ja-GB" altLang="en-US" sz="1400" b="1" dirty="0"/>
              <a:t>価格</a:t>
            </a:r>
            <a:r>
              <a:rPr kumimoji="1" lang="en-US" altLang="ja-GB" sz="1400" b="1" dirty="0"/>
              <a:t> + </a:t>
            </a:r>
            <a:r>
              <a:rPr kumimoji="1" lang="ja-GB" altLang="en-US" sz="1400" b="1" dirty="0"/>
              <a:t>消費税</a:t>
            </a:r>
            <a:endParaRPr kumimoji="1" lang="en-US" altLang="ja-JP" sz="1400" b="1" dirty="0"/>
          </a:p>
        </p:txBody>
      </p:sp>
      <p:sp>
        <p:nvSpPr>
          <p:cNvPr id="7" name="テキスト ボックス 6">
            <a:extLst>
              <a:ext uri="{FF2B5EF4-FFF2-40B4-BE49-F238E27FC236}">
                <a16:creationId xmlns:a16="http://schemas.microsoft.com/office/drawing/2014/main" id="{20728A16-0C51-3151-19E6-56A168F6CF95}"/>
              </a:ext>
            </a:extLst>
          </p:cNvPr>
          <p:cNvSpPr txBox="1"/>
          <p:nvPr/>
        </p:nvSpPr>
        <p:spPr>
          <a:xfrm>
            <a:off x="914073" y="6411322"/>
            <a:ext cx="2840842" cy="369332"/>
          </a:xfrm>
          <a:prstGeom prst="rect">
            <a:avLst/>
          </a:prstGeom>
          <a:noFill/>
        </p:spPr>
        <p:txBody>
          <a:bodyPr wrap="none" rtlCol="0">
            <a:spAutoFit/>
          </a:bodyPr>
          <a:lstStyle/>
          <a:p>
            <a:pPr algn="ctr"/>
            <a:r>
              <a:rPr kumimoji="1" lang="ja-GB" altLang="en-US" dirty="0"/>
              <a:t>例</a:t>
            </a:r>
            <a:r>
              <a:rPr kumimoji="1" lang="en-US" altLang="ja-GB" dirty="0"/>
              <a:t>1</a:t>
            </a:r>
            <a:r>
              <a:rPr kumimoji="1" lang="ja-GB" altLang="en-US" dirty="0"/>
              <a:t>）季節判定プログラム</a:t>
            </a:r>
          </a:p>
        </p:txBody>
      </p:sp>
      <p:sp>
        <p:nvSpPr>
          <p:cNvPr id="8" name="テキスト ボックス 7">
            <a:extLst>
              <a:ext uri="{FF2B5EF4-FFF2-40B4-BE49-F238E27FC236}">
                <a16:creationId xmlns:a16="http://schemas.microsoft.com/office/drawing/2014/main" id="{79E9E2B9-BE29-E282-236A-5C9329324A2E}"/>
              </a:ext>
            </a:extLst>
          </p:cNvPr>
          <p:cNvSpPr txBox="1"/>
          <p:nvPr/>
        </p:nvSpPr>
        <p:spPr>
          <a:xfrm>
            <a:off x="5189515" y="6411322"/>
            <a:ext cx="3071675" cy="369332"/>
          </a:xfrm>
          <a:prstGeom prst="rect">
            <a:avLst/>
          </a:prstGeom>
          <a:noFill/>
        </p:spPr>
        <p:txBody>
          <a:bodyPr wrap="none" rtlCol="0">
            <a:spAutoFit/>
          </a:bodyPr>
          <a:lstStyle/>
          <a:p>
            <a:pPr algn="ctr"/>
            <a:r>
              <a:rPr kumimoji="1" lang="ja-GB" altLang="en-US" dirty="0"/>
              <a:t>例</a:t>
            </a:r>
            <a:r>
              <a:rPr kumimoji="1" lang="en-US" altLang="ja-GB" dirty="0"/>
              <a:t>2</a:t>
            </a:r>
            <a:r>
              <a:rPr kumimoji="1" lang="ja-GB" altLang="en-US" dirty="0"/>
              <a:t>）消費税計算プログラム</a:t>
            </a:r>
          </a:p>
        </p:txBody>
      </p:sp>
    </p:spTree>
    <p:extLst>
      <p:ext uri="{BB962C8B-B14F-4D97-AF65-F5344CB8AC3E}">
        <p14:creationId xmlns:p14="http://schemas.microsoft.com/office/powerpoint/2010/main" val="2834164971"/>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9CE9AC-6421-0F20-4D26-B1AF3D3C480A}"/>
              </a:ext>
            </a:extLst>
          </p:cNvPr>
          <p:cNvSpPr>
            <a:spLocks noGrp="1"/>
          </p:cNvSpPr>
          <p:nvPr>
            <p:ph type="title"/>
          </p:nvPr>
        </p:nvSpPr>
        <p:spPr/>
        <p:txBody>
          <a:bodyPr/>
          <a:lstStyle/>
          <a:p>
            <a:r>
              <a:rPr kumimoji="1" lang="ja-GB" altLang="en-US" dirty="0"/>
              <a:t>ツリー（木構造）</a:t>
            </a:r>
          </a:p>
        </p:txBody>
      </p:sp>
      <p:sp>
        <p:nvSpPr>
          <p:cNvPr id="3" name="コンテンツ プレースホルダー 2">
            <a:extLst>
              <a:ext uri="{FF2B5EF4-FFF2-40B4-BE49-F238E27FC236}">
                <a16:creationId xmlns:a16="http://schemas.microsoft.com/office/drawing/2014/main" id="{D6F169BB-1180-7FF9-46A0-F5448620245A}"/>
              </a:ext>
            </a:extLst>
          </p:cNvPr>
          <p:cNvSpPr>
            <a:spLocks noGrp="1"/>
          </p:cNvSpPr>
          <p:nvPr>
            <p:ph idx="1"/>
          </p:nvPr>
        </p:nvSpPr>
        <p:spPr/>
        <p:txBody>
          <a:bodyPr>
            <a:normAutofit/>
          </a:bodyPr>
          <a:lstStyle/>
          <a:p>
            <a:pPr marL="0" indent="0">
              <a:buNone/>
            </a:pPr>
            <a:r>
              <a:rPr kumimoji="1" lang="ja-GB" altLang="en-US" sz="2000" dirty="0"/>
              <a:t>階層関係を枝分かれによって表現した構造</a:t>
            </a:r>
            <a:endParaRPr kumimoji="1" lang="en-US" altLang="ja-GB" sz="2000" dirty="0"/>
          </a:p>
          <a:p>
            <a:pPr marL="457200" lvl="1" indent="0">
              <a:buNone/>
            </a:pPr>
            <a:r>
              <a:rPr lang="ja-GB" altLang="en-US" sz="1800" dirty="0"/>
              <a:t>比喩）一つの根から枝分かれをして，末端には葉（情報）がある</a:t>
            </a:r>
            <a:endParaRPr lang="en-US" altLang="ja-GB" sz="1800" dirty="0"/>
          </a:p>
          <a:p>
            <a:pPr marL="914400" lvl="2" indent="0">
              <a:buNone/>
            </a:pPr>
            <a:r>
              <a:rPr lang="en-US" altLang="ja-GB" sz="1600" dirty="0">
                <a:solidFill>
                  <a:srgbClr val="0070C0"/>
                </a:solidFill>
              </a:rPr>
              <a:t>→</a:t>
            </a:r>
            <a:r>
              <a:rPr lang="ja-GB" altLang="en-US" sz="1600" dirty="0">
                <a:solidFill>
                  <a:srgbClr val="0070C0"/>
                </a:solidFill>
              </a:rPr>
              <a:t>条件分岐（</a:t>
            </a:r>
            <a:r>
              <a:rPr lang="en-US" altLang="ja-GB" sz="1600" dirty="0">
                <a:solidFill>
                  <a:srgbClr val="0070C0"/>
                </a:solidFill>
              </a:rPr>
              <a:t>Yes/No</a:t>
            </a:r>
            <a:r>
              <a:rPr lang="ja-GB" altLang="en-US" sz="1600" dirty="0">
                <a:solidFill>
                  <a:srgbClr val="0070C0"/>
                </a:solidFill>
              </a:rPr>
              <a:t>）を繰り返すだけで，素早く必要な情報を探し出せる</a:t>
            </a:r>
            <a:endParaRPr kumimoji="1" lang="en-US" altLang="ja-GB" sz="1800" dirty="0"/>
          </a:p>
          <a:p>
            <a:pPr lvl="4"/>
            <a:endParaRPr kumimoji="1" lang="en-US" altLang="ja-GB" sz="500" dirty="0"/>
          </a:p>
          <a:p>
            <a:pPr marL="457200" lvl="1" indent="0">
              <a:buNone/>
            </a:pPr>
            <a:r>
              <a:rPr kumimoji="1" lang="ja-GB" altLang="en-US" sz="1800" dirty="0"/>
              <a:t>例</a:t>
            </a:r>
            <a:r>
              <a:rPr kumimoji="1" lang="en-US" altLang="ja-GB" sz="1800" dirty="0"/>
              <a:t>1</a:t>
            </a:r>
            <a:r>
              <a:rPr kumimoji="1" lang="ja-GB" altLang="en-US" sz="1800" dirty="0"/>
              <a:t>）</a:t>
            </a:r>
            <a:r>
              <a:rPr kumimoji="1" lang="ja-GB" altLang="en-US" sz="1800" dirty="0">
                <a:solidFill>
                  <a:schemeClr val="accent2"/>
                </a:solidFill>
              </a:rPr>
              <a:t>決定木</a:t>
            </a:r>
            <a:r>
              <a:rPr kumimoji="1" lang="ja-GB" altLang="en-US" sz="1800" dirty="0"/>
              <a:t>：起点から分岐を続けて，結論に至る</a:t>
            </a:r>
            <a:endParaRPr kumimoji="1" lang="en-US" altLang="ja-GB" sz="1800" dirty="0"/>
          </a:p>
          <a:p>
            <a:pPr marL="457200" lvl="1" indent="0">
              <a:buNone/>
            </a:pPr>
            <a:r>
              <a:rPr lang="ja-GB" altLang="en-US" sz="1800" dirty="0"/>
              <a:t>例</a:t>
            </a:r>
            <a:r>
              <a:rPr lang="en-US" altLang="ja-GB" sz="1800" dirty="0"/>
              <a:t>2</a:t>
            </a:r>
            <a:r>
              <a:rPr lang="ja-GB" altLang="en-US" sz="1800" dirty="0"/>
              <a:t>）組織図：最高責任者から分岐を続けて，各部署に到達する</a:t>
            </a:r>
            <a:endParaRPr lang="en-US" altLang="ja-GB" sz="1800" dirty="0"/>
          </a:p>
          <a:p>
            <a:pPr marL="457200" lvl="1" indent="0">
              <a:buNone/>
            </a:pPr>
            <a:r>
              <a:rPr kumimoji="1" lang="ja-GB" altLang="en-US" sz="1800" dirty="0"/>
              <a:t>例</a:t>
            </a:r>
            <a:r>
              <a:rPr kumimoji="1" lang="en-US" altLang="ja-GB" sz="1800" dirty="0"/>
              <a:t>3</a:t>
            </a:r>
            <a:r>
              <a:rPr kumimoji="1" lang="ja-GB" altLang="en-US" sz="1800" dirty="0"/>
              <a:t>）ファイルシステム：ファイルは一つのフォルダに必ず属する</a:t>
            </a:r>
            <a:endParaRPr kumimoji="1" lang="en-US" altLang="ja-GB" sz="1800" dirty="0"/>
          </a:p>
          <a:p>
            <a:pPr lvl="1"/>
            <a:endParaRPr kumimoji="1" lang="ja-GB" altLang="en-US" sz="1800" dirty="0"/>
          </a:p>
        </p:txBody>
      </p:sp>
      <p:pic>
        <p:nvPicPr>
          <p:cNvPr id="4" name="図 3" descr="ダイアグラム&#10;&#10;AI 生成コンテンツは誤りを含む可能性があります。">
            <a:extLst>
              <a:ext uri="{FF2B5EF4-FFF2-40B4-BE49-F238E27FC236}">
                <a16:creationId xmlns:a16="http://schemas.microsoft.com/office/drawing/2014/main" id="{1123AD98-E514-B9EF-83A7-CC5C7A1CA2B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471612" y="3140132"/>
            <a:ext cx="6200775" cy="3459282"/>
          </a:xfrm>
          <a:prstGeom prst="rect">
            <a:avLst/>
          </a:prstGeom>
        </p:spPr>
      </p:pic>
    </p:spTree>
    <p:extLst>
      <p:ext uri="{BB962C8B-B14F-4D97-AF65-F5344CB8AC3E}">
        <p14:creationId xmlns:p14="http://schemas.microsoft.com/office/powerpoint/2010/main" val="4116715243"/>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6C3A9-89BC-6A6D-41D8-0327801A62CC}"/>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513FC0F0-9149-D6E4-A180-A4FD20883186}"/>
              </a:ext>
            </a:extLst>
          </p:cNvPr>
          <p:cNvSpPr/>
          <p:nvPr/>
        </p:nvSpPr>
        <p:spPr>
          <a:xfrm>
            <a:off x="0" y="1"/>
            <a:ext cx="9144000" cy="440463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sp>
        <p:nvSpPr>
          <p:cNvPr id="5" name="タイトル 1">
            <a:extLst>
              <a:ext uri="{FF2B5EF4-FFF2-40B4-BE49-F238E27FC236}">
                <a16:creationId xmlns:a16="http://schemas.microsoft.com/office/drawing/2014/main" id="{438EC990-295A-6282-9DA1-7CC0EC1F8779}"/>
              </a:ext>
            </a:extLst>
          </p:cNvPr>
          <p:cNvSpPr>
            <a:spLocks noGrp="1"/>
          </p:cNvSpPr>
          <p:nvPr>
            <p:ph type="ctrTitle"/>
          </p:nvPr>
        </p:nvSpPr>
        <p:spPr>
          <a:xfrm>
            <a:off x="342901" y="1666380"/>
            <a:ext cx="8458198" cy="2738260"/>
          </a:xfrm>
        </p:spPr>
        <p:txBody>
          <a:bodyPr anchor="b">
            <a:normAutofit/>
          </a:bodyPr>
          <a:lstStyle/>
          <a:p>
            <a:pPr algn="l">
              <a:lnSpc>
                <a:spcPct val="100000"/>
              </a:lnSpc>
            </a:pPr>
            <a:r>
              <a:rPr kumimoji="1" lang="en-US" altLang="ja-JP" sz="3200" dirty="0">
                <a:solidFill>
                  <a:schemeClr val="bg1"/>
                </a:solidFill>
              </a:rPr>
              <a:t>2025</a:t>
            </a:r>
            <a:r>
              <a:rPr kumimoji="1" lang="ja-JP" altLang="en-US" sz="3200">
                <a:solidFill>
                  <a:schemeClr val="bg1"/>
                </a:solidFill>
              </a:rPr>
              <a:t>年度</a:t>
            </a:r>
            <a:r>
              <a:rPr lang="en-US" altLang="ja-JP" sz="3200" dirty="0">
                <a:solidFill>
                  <a:schemeClr val="bg1"/>
                </a:solidFill>
              </a:rPr>
              <a:t> </a:t>
            </a:r>
            <a:r>
              <a:rPr kumimoji="1" lang="ja-JP" altLang="en-US" sz="3200">
                <a:solidFill>
                  <a:schemeClr val="bg1"/>
                </a:solidFill>
              </a:rPr>
              <a:t>コンピュータシステム</a:t>
            </a:r>
            <a:br>
              <a:rPr lang="en-US" altLang="ja-JP" sz="3200" dirty="0">
                <a:solidFill>
                  <a:schemeClr val="bg1"/>
                </a:solidFill>
              </a:rPr>
            </a:br>
            <a:r>
              <a:rPr kumimoji="1" lang="ja-GB" altLang="en-US" sz="3200" dirty="0">
                <a:solidFill>
                  <a:schemeClr val="bg1"/>
                </a:solidFill>
              </a:rPr>
              <a:t>第</a:t>
            </a:r>
            <a:r>
              <a:rPr lang="en-US" altLang="ja-GB" sz="3200" dirty="0"/>
              <a:t>15</a:t>
            </a:r>
            <a:r>
              <a:rPr kumimoji="1" lang="ja-GB" altLang="en-US" sz="3200" dirty="0">
                <a:solidFill>
                  <a:schemeClr val="bg1"/>
                </a:solidFill>
              </a:rPr>
              <a:t>回</a:t>
            </a:r>
            <a:r>
              <a:rPr lang="ja-GB" altLang="en-US" sz="3200" dirty="0"/>
              <a:t>： 演習（</a:t>
            </a:r>
            <a:r>
              <a:rPr lang="en-US" altLang="ja-GB" sz="3200" dirty="0"/>
              <a:t>PERT</a:t>
            </a:r>
            <a:r>
              <a:rPr lang="ja-GB" altLang="en-US" sz="3200" dirty="0"/>
              <a:t>，決定表）</a:t>
            </a:r>
            <a:br>
              <a:rPr kumimoji="1" lang="en-US" altLang="ja-JP" sz="2400" dirty="0">
                <a:solidFill>
                  <a:schemeClr val="bg1"/>
                </a:solidFill>
              </a:rPr>
            </a:br>
            <a:endParaRPr kumimoji="1" lang="ja-JP" altLang="en-US" sz="2400">
              <a:solidFill>
                <a:schemeClr val="bg1"/>
              </a:solidFill>
            </a:endParaRPr>
          </a:p>
        </p:txBody>
      </p:sp>
    </p:spTree>
    <p:extLst>
      <p:ext uri="{BB962C8B-B14F-4D97-AF65-F5344CB8AC3E}">
        <p14:creationId xmlns:p14="http://schemas.microsoft.com/office/powerpoint/2010/main" val="1968025750"/>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B3C00-4355-55FA-3C4D-0B95F4D5926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3466BBE-D9F6-D102-E6B4-34D15AC2F5BA}"/>
              </a:ext>
            </a:extLst>
          </p:cNvPr>
          <p:cNvSpPr>
            <a:spLocks noGrp="1"/>
          </p:cNvSpPr>
          <p:nvPr>
            <p:ph type="title"/>
          </p:nvPr>
        </p:nvSpPr>
        <p:spPr/>
        <p:txBody>
          <a:bodyPr/>
          <a:lstStyle/>
          <a:p>
            <a:r>
              <a:rPr lang="ja-GB" altLang="en-US" dirty="0"/>
              <a:t>第</a:t>
            </a:r>
            <a:r>
              <a:rPr lang="en-US" altLang="ja-GB" dirty="0"/>
              <a:t>15</a:t>
            </a:r>
            <a:r>
              <a:rPr lang="ja-GB" altLang="en-US" dirty="0"/>
              <a:t>回：授業内容</a:t>
            </a:r>
            <a:endParaRPr kumimoji="1" lang="ja-GB" altLang="en-US" dirty="0"/>
          </a:p>
        </p:txBody>
      </p:sp>
      <p:sp>
        <p:nvSpPr>
          <p:cNvPr id="3" name="コンテンツ プレースホルダー 2">
            <a:extLst>
              <a:ext uri="{FF2B5EF4-FFF2-40B4-BE49-F238E27FC236}">
                <a16:creationId xmlns:a16="http://schemas.microsoft.com/office/drawing/2014/main" id="{2ACFCDFA-F875-2E67-D858-D5DEF51BADED}"/>
              </a:ext>
            </a:extLst>
          </p:cNvPr>
          <p:cNvSpPr>
            <a:spLocks noGrp="1"/>
          </p:cNvSpPr>
          <p:nvPr>
            <p:ph idx="1"/>
          </p:nvPr>
        </p:nvSpPr>
        <p:spPr/>
        <p:txBody>
          <a:bodyPr/>
          <a:lstStyle/>
          <a:p>
            <a:pPr marL="457200" indent="-457200">
              <a:buFont typeface="+mj-lt"/>
              <a:buAutoNum type="arabicPeriod"/>
            </a:pPr>
            <a:r>
              <a:rPr kumimoji="1" lang="en-US" altLang="ja-GB" dirty="0"/>
              <a:t>PERT</a:t>
            </a:r>
            <a:r>
              <a:rPr lang="ja-GB" altLang="en-US" dirty="0"/>
              <a:t>の自動計算</a:t>
            </a:r>
            <a:endParaRPr kumimoji="1" lang="en-US" altLang="ja-GB" dirty="0"/>
          </a:p>
          <a:p>
            <a:pPr lvl="1"/>
            <a:r>
              <a:rPr kumimoji="1" lang="ja-GB" altLang="en-US" dirty="0"/>
              <a:t>記述しやすい</a:t>
            </a:r>
            <a:r>
              <a:rPr kumimoji="1" lang="en-US" altLang="ja-GB" dirty="0"/>
              <a:t>ET</a:t>
            </a:r>
            <a:r>
              <a:rPr kumimoji="1" lang="ja-GB" altLang="en-US" dirty="0"/>
              <a:t>，</a:t>
            </a:r>
            <a:r>
              <a:rPr kumimoji="1" lang="en-US" altLang="ja-GB" dirty="0"/>
              <a:t>LT</a:t>
            </a:r>
            <a:r>
              <a:rPr kumimoji="1" lang="ja-GB" altLang="en-US" dirty="0"/>
              <a:t>の計算方法</a:t>
            </a:r>
            <a:endParaRPr kumimoji="1" lang="en-US" altLang="ja-GB" dirty="0"/>
          </a:p>
          <a:p>
            <a:pPr lvl="1"/>
            <a:r>
              <a:rPr lang="en-US" altLang="ja-GB" dirty="0"/>
              <a:t>ES</a:t>
            </a:r>
            <a:r>
              <a:rPr lang="ja-GB" altLang="en-US" dirty="0"/>
              <a:t>，</a:t>
            </a:r>
            <a:r>
              <a:rPr lang="en-US" altLang="ja-GB" dirty="0"/>
              <a:t>EF</a:t>
            </a:r>
            <a:r>
              <a:rPr lang="ja-GB" altLang="en-US" dirty="0"/>
              <a:t>，</a:t>
            </a:r>
            <a:r>
              <a:rPr lang="en-US" altLang="ja-GB" dirty="0"/>
              <a:t>LF</a:t>
            </a:r>
            <a:r>
              <a:rPr lang="ja-GB" altLang="en-US" dirty="0"/>
              <a:t>，</a:t>
            </a:r>
            <a:r>
              <a:rPr lang="en-US" altLang="ja-GB" dirty="0"/>
              <a:t>LS</a:t>
            </a:r>
            <a:r>
              <a:rPr lang="ja-GB" altLang="en-US" dirty="0"/>
              <a:t>，</a:t>
            </a:r>
            <a:r>
              <a:rPr lang="en-US" altLang="ja-GB" dirty="0"/>
              <a:t>TF</a:t>
            </a:r>
            <a:r>
              <a:rPr lang="ja-GB" altLang="en-US" dirty="0"/>
              <a:t>，</a:t>
            </a:r>
            <a:r>
              <a:rPr lang="en-US" altLang="ja-GB" dirty="0"/>
              <a:t>FF</a:t>
            </a:r>
            <a:r>
              <a:rPr lang="ja-GB" altLang="en-US" dirty="0"/>
              <a:t>，</a:t>
            </a:r>
            <a:r>
              <a:rPr lang="en-US" altLang="ja-GB" dirty="0"/>
              <a:t>CP</a:t>
            </a:r>
            <a:r>
              <a:rPr lang="ja-GB" altLang="en-US" dirty="0"/>
              <a:t>の記述方法</a:t>
            </a:r>
            <a:endParaRPr lang="en-US" altLang="ja-GB" dirty="0"/>
          </a:p>
          <a:p>
            <a:pPr lvl="1"/>
            <a:endParaRPr kumimoji="1" lang="en-US" altLang="ja-GB" dirty="0"/>
          </a:p>
          <a:p>
            <a:pPr marL="457200" indent="-457200">
              <a:buFont typeface="+mj-lt"/>
              <a:buAutoNum type="arabicPeriod"/>
            </a:pPr>
            <a:r>
              <a:rPr lang="ja-GB" altLang="en-US" dirty="0"/>
              <a:t>決定表の自動計算</a:t>
            </a:r>
            <a:endParaRPr lang="en-US" altLang="ja-GB" dirty="0"/>
          </a:p>
          <a:p>
            <a:pPr lvl="1"/>
            <a:r>
              <a:rPr lang="ja-GB" altLang="en-US" dirty="0"/>
              <a:t>決定表，条件分岐，決定木の関係</a:t>
            </a:r>
            <a:endParaRPr lang="en-US" altLang="ja-GB" dirty="0"/>
          </a:p>
          <a:p>
            <a:pPr lvl="1"/>
            <a:endParaRPr lang="en-US" altLang="ja-GB" dirty="0"/>
          </a:p>
        </p:txBody>
      </p:sp>
    </p:spTree>
    <p:extLst>
      <p:ext uri="{BB962C8B-B14F-4D97-AF65-F5344CB8AC3E}">
        <p14:creationId xmlns:p14="http://schemas.microsoft.com/office/powerpoint/2010/main" val="4125129560"/>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392603-6DC3-3B7A-B51D-03C4F2E0075D}"/>
              </a:ext>
            </a:extLst>
          </p:cNvPr>
          <p:cNvSpPr>
            <a:spLocks noGrp="1"/>
          </p:cNvSpPr>
          <p:nvPr>
            <p:ph type="title"/>
          </p:nvPr>
        </p:nvSpPr>
        <p:spPr/>
        <p:txBody>
          <a:bodyPr/>
          <a:lstStyle/>
          <a:p>
            <a:r>
              <a:rPr lang="en-US" altLang="ja-GB" dirty="0"/>
              <a:t>PERT</a:t>
            </a:r>
            <a:r>
              <a:rPr lang="ja-GB" altLang="en-US" dirty="0"/>
              <a:t>の自動計算</a:t>
            </a:r>
            <a:endParaRPr kumimoji="1" lang="ja-GB" altLang="en-US" dirty="0"/>
          </a:p>
        </p:txBody>
      </p:sp>
      <p:sp>
        <p:nvSpPr>
          <p:cNvPr id="3" name="コンテンツ プレースホルダー 2">
            <a:extLst>
              <a:ext uri="{FF2B5EF4-FFF2-40B4-BE49-F238E27FC236}">
                <a16:creationId xmlns:a16="http://schemas.microsoft.com/office/drawing/2014/main" id="{FE573FFF-B431-EDC2-3F01-E19D892FCA7B}"/>
              </a:ext>
            </a:extLst>
          </p:cNvPr>
          <p:cNvSpPr>
            <a:spLocks noGrp="1"/>
          </p:cNvSpPr>
          <p:nvPr>
            <p:ph idx="1"/>
          </p:nvPr>
        </p:nvSpPr>
        <p:spPr/>
        <p:txBody>
          <a:bodyPr/>
          <a:lstStyle/>
          <a:p>
            <a:pPr marL="0" indent="0">
              <a:buNone/>
            </a:pPr>
            <a:r>
              <a:rPr kumimoji="1" lang="ja-GB" altLang="en-US" dirty="0"/>
              <a:t>グラフが複雑化・大規模化すると計算能率が悪くなる</a:t>
            </a:r>
            <a:endParaRPr kumimoji="1" lang="en-US" altLang="ja-GB" dirty="0"/>
          </a:p>
          <a:p>
            <a:pPr lvl="1"/>
            <a:r>
              <a:rPr lang="ja-GB" altLang="en-US" dirty="0"/>
              <a:t>規則的に計算する方法が存在</a:t>
            </a:r>
            <a:endParaRPr lang="en-US" altLang="ja-GB" dirty="0"/>
          </a:p>
          <a:p>
            <a:pPr lvl="1"/>
            <a:r>
              <a:rPr kumimoji="1" lang="ja-GB" altLang="en-US" dirty="0"/>
              <a:t>プログラミング言語などで実装すれば自動的に計算することも可能</a:t>
            </a:r>
          </a:p>
        </p:txBody>
      </p:sp>
    </p:spTree>
    <p:extLst>
      <p:ext uri="{BB962C8B-B14F-4D97-AF65-F5344CB8AC3E}">
        <p14:creationId xmlns:p14="http://schemas.microsoft.com/office/powerpoint/2010/main" val="12089683"/>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9BE4E3-5729-D5A7-D281-1182E28C7445}"/>
              </a:ext>
            </a:extLst>
          </p:cNvPr>
          <p:cNvSpPr>
            <a:spLocks noGrp="1"/>
          </p:cNvSpPr>
          <p:nvPr>
            <p:ph type="title"/>
          </p:nvPr>
        </p:nvSpPr>
        <p:spPr/>
        <p:txBody>
          <a:bodyPr/>
          <a:lstStyle/>
          <a:p>
            <a:r>
              <a:rPr lang="ja-GB" altLang="en-US" dirty="0"/>
              <a:t>所要時間表</a:t>
            </a:r>
            <a:endParaRPr kumimoji="1" lang="ja-GB" altLang="en-US" dirty="0"/>
          </a:p>
        </p:txBody>
      </p:sp>
      <p:sp>
        <p:nvSpPr>
          <p:cNvPr id="11" name="コンテンツ プレースホルダー 10">
            <a:extLst>
              <a:ext uri="{FF2B5EF4-FFF2-40B4-BE49-F238E27FC236}">
                <a16:creationId xmlns:a16="http://schemas.microsoft.com/office/drawing/2014/main" id="{C244D596-1C2C-00B9-13F6-E78437DA903B}"/>
              </a:ext>
            </a:extLst>
          </p:cNvPr>
          <p:cNvSpPr>
            <a:spLocks noGrp="1"/>
          </p:cNvSpPr>
          <p:nvPr>
            <p:ph idx="1"/>
          </p:nvPr>
        </p:nvSpPr>
        <p:spPr/>
        <p:txBody>
          <a:bodyPr/>
          <a:lstStyle/>
          <a:p>
            <a:pPr marL="0" indent="0">
              <a:buNone/>
            </a:pPr>
            <a:r>
              <a:rPr lang="ja-GB" altLang="en-US" dirty="0"/>
              <a:t>「所要計算表」を用いることで単純な規則で</a:t>
            </a:r>
            <a:r>
              <a:rPr lang="en-US" altLang="ja-GB" dirty="0"/>
              <a:t>ET</a:t>
            </a:r>
            <a:r>
              <a:rPr lang="ja-GB" altLang="en-US" dirty="0"/>
              <a:t>・</a:t>
            </a:r>
            <a:r>
              <a:rPr lang="en-US" altLang="ja-GB" dirty="0"/>
              <a:t>LT</a:t>
            </a:r>
            <a:r>
              <a:rPr lang="ja-GB" altLang="en-US" dirty="0"/>
              <a:t>を導出可能</a:t>
            </a:r>
            <a:endParaRPr lang="en-US" altLang="ja-GB" dirty="0"/>
          </a:p>
          <a:p>
            <a:pPr marL="457200" lvl="1" indent="0">
              <a:buNone/>
            </a:pPr>
            <a:r>
              <a:rPr lang="en-US" altLang="ja-GB" dirty="0"/>
              <a:t>→</a:t>
            </a:r>
            <a:r>
              <a:rPr lang="ja-GB" altLang="en-US" dirty="0"/>
              <a:t>プログラムを作成して，計算機に自動計算させることが可能</a:t>
            </a:r>
            <a:endParaRPr lang="en-US" altLang="ja-GB" dirty="0"/>
          </a:p>
        </p:txBody>
      </p:sp>
      <p:pic>
        <p:nvPicPr>
          <p:cNvPr id="4" name="コンテンツ プレースホルダー 4">
            <a:extLst>
              <a:ext uri="{FF2B5EF4-FFF2-40B4-BE49-F238E27FC236}">
                <a16:creationId xmlns:a16="http://schemas.microsoft.com/office/drawing/2014/main" id="{CAEEA4C0-F9C4-F39E-A872-839F11CDB937}"/>
              </a:ext>
            </a:extLst>
          </p:cNvPr>
          <p:cNvPicPr>
            <a:picLocks noChangeAspect="1"/>
          </p:cNvPicPr>
          <p:nvPr/>
        </p:nvPicPr>
        <p:blipFill>
          <a:blip r:embed="rId2"/>
          <a:srcRect/>
          <a:stretch/>
        </p:blipFill>
        <p:spPr>
          <a:xfrm>
            <a:off x="5053085" y="2384211"/>
            <a:ext cx="3277183" cy="2907649"/>
          </a:xfrm>
          <a:prstGeom prst="rect">
            <a:avLst/>
          </a:prstGeom>
        </p:spPr>
      </p:pic>
      <p:graphicFrame>
        <p:nvGraphicFramePr>
          <p:cNvPr id="5" name="表 4">
            <a:extLst>
              <a:ext uri="{FF2B5EF4-FFF2-40B4-BE49-F238E27FC236}">
                <a16:creationId xmlns:a16="http://schemas.microsoft.com/office/drawing/2014/main" id="{51A50F91-0F49-3701-9537-112C200189C7}"/>
              </a:ext>
            </a:extLst>
          </p:cNvPr>
          <p:cNvGraphicFramePr>
            <a:graphicFrameLocks noGrp="1"/>
          </p:cNvGraphicFramePr>
          <p:nvPr/>
        </p:nvGraphicFramePr>
        <p:xfrm>
          <a:off x="390700" y="2362862"/>
          <a:ext cx="3465324" cy="2987040"/>
        </p:xfrm>
        <a:graphic>
          <a:graphicData uri="http://schemas.openxmlformats.org/drawingml/2006/table">
            <a:tbl>
              <a:tblPr firstRow="1" bandRow="1">
                <a:tableStyleId>{5C22544A-7EE6-4342-B048-85BDC9FD1C3A}</a:tableStyleId>
              </a:tblPr>
              <a:tblGrid>
                <a:gridCol w="1155108">
                  <a:extLst>
                    <a:ext uri="{9D8B030D-6E8A-4147-A177-3AD203B41FA5}">
                      <a16:colId xmlns:a16="http://schemas.microsoft.com/office/drawing/2014/main" val="3691675347"/>
                    </a:ext>
                  </a:extLst>
                </a:gridCol>
                <a:gridCol w="1155108">
                  <a:extLst>
                    <a:ext uri="{9D8B030D-6E8A-4147-A177-3AD203B41FA5}">
                      <a16:colId xmlns:a16="http://schemas.microsoft.com/office/drawing/2014/main" val="928111709"/>
                    </a:ext>
                  </a:extLst>
                </a:gridCol>
                <a:gridCol w="1155108">
                  <a:extLst>
                    <a:ext uri="{9D8B030D-6E8A-4147-A177-3AD203B41FA5}">
                      <a16:colId xmlns:a16="http://schemas.microsoft.com/office/drawing/2014/main" val="4014108102"/>
                    </a:ext>
                  </a:extLst>
                </a:gridCol>
              </a:tblGrid>
              <a:tr h="183483">
                <a:tc>
                  <a:txBody>
                    <a:bodyPr/>
                    <a:lstStyle/>
                    <a:p>
                      <a:pPr algn="ctr"/>
                      <a:r>
                        <a:rPr lang="ja-GB" altLang="en-US" sz="1400" dirty="0"/>
                        <a:t>作業記号</a:t>
                      </a:r>
                    </a:p>
                  </a:txBody>
                  <a:tcPr/>
                </a:tc>
                <a:tc>
                  <a:txBody>
                    <a:bodyPr/>
                    <a:lstStyle/>
                    <a:p>
                      <a:pPr algn="ctr"/>
                      <a:r>
                        <a:rPr lang="ja-GB" altLang="en-US" sz="1400" dirty="0"/>
                        <a:t>作業</a:t>
                      </a:r>
                      <a:r>
                        <a:rPr lang="en-US" altLang="ja-GB" sz="1400" dirty="0"/>
                        <a:t>(</a:t>
                      </a:r>
                      <a:r>
                        <a:rPr lang="en-US" altLang="ja-GB" sz="1400" dirty="0" err="1"/>
                        <a:t>i,j</a:t>
                      </a:r>
                      <a:r>
                        <a:rPr lang="en-US" altLang="ja-GB" sz="1400" dirty="0"/>
                        <a:t>)</a:t>
                      </a:r>
                      <a:endParaRPr lang="ja-GB" altLang="en-US" sz="1400" dirty="0"/>
                    </a:p>
                  </a:txBody>
                  <a:tcPr/>
                </a:tc>
                <a:tc>
                  <a:txBody>
                    <a:bodyPr/>
                    <a:lstStyle/>
                    <a:p>
                      <a:pPr algn="ctr"/>
                      <a:r>
                        <a:rPr lang="ja-GB" altLang="en-US" sz="1400" dirty="0"/>
                        <a:t>所要日数</a:t>
                      </a:r>
                      <a:r>
                        <a:rPr lang="en-US" altLang="ja-GB" sz="1400" dirty="0"/>
                        <a:t> </a:t>
                      </a:r>
                      <a:r>
                        <a:rPr lang="en-US" altLang="ja-GB" sz="1400" dirty="0" err="1"/>
                        <a:t>D</a:t>
                      </a:r>
                      <a:r>
                        <a:rPr lang="en-US" altLang="ja-GB" sz="1400" baseline="-25000" dirty="0" err="1"/>
                        <a:t>i,j</a:t>
                      </a:r>
                      <a:endParaRPr lang="ja-GB" altLang="en-US" sz="1400" baseline="-25000" dirty="0"/>
                    </a:p>
                  </a:txBody>
                  <a:tcPr/>
                </a:tc>
                <a:extLst>
                  <a:ext uri="{0D108BD9-81ED-4DB2-BD59-A6C34878D82A}">
                    <a16:rowId xmlns:a16="http://schemas.microsoft.com/office/drawing/2014/main" val="3671063893"/>
                  </a:ext>
                </a:extLst>
              </a:tr>
              <a:tr h="185302">
                <a:tc>
                  <a:txBody>
                    <a:bodyPr/>
                    <a:lstStyle/>
                    <a:p>
                      <a:pPr algn="ctr"/>
                      <a:r>
                        <a:rPr lang="en-US" altLang="ja-GB" sz="1600" dirty="0"/>
                        <a:t>A</a:t>
                      </a:r>
                      <a:endParaRPr lang="ja-GB" altLang="en-US" sz="1600" dirty="0"/>
                    </a:p>
                  </a:txBody>
                  <a:tcPr/>
                </a:tc>
                <a:tc>
                  <a:txBody>
                    <a:bodyPr/>
                    <a:lstStyle/>
                    <a:p>
                      <a:pPr algn="ctr"/>
                      <a:r>
                        <a:rPr lang="en-US" altLang="ja-GB" sz="1600" dirty="0"/>
                        <a:t>(1,2)</a:t>
                      </a:r>
                      <a:endParaRPr lang="ja-GB" altLang="en-US" sz="1600" dirty="0"/>
                    </a:p>
                  </a:txBody>
                  <a:tcPr/>
                </a:tc>
                <a:tc>
                  <a:txBody>
                    <a:bodyPr/>
                    <a:lstStyle/>
                    <a:p>
                      <a:pPr algn="ctr"/>
                      <a:r>
                        <a:rPr lang="en-US" altLang="ja-GB" sz="1600" dirty="0"/>
                        <a:t>3</a:t>
                      </a:r>
                      <a:endParaRPr lang="ja-GB" altLang="en-US" sz="1600" dirty="0"/>
                    </a:p>
                  </a:txBody>
                  <a:tcPr/>
                </a:tc>
                <a:extLst>
                  <a:ext uri="{0D108BD9-81ED-4DB2-BD59-A6C34878D82A}">
                    <a16:rowId xmlns:a16="http://schemas.microsoft.com/office/drawing/2014/main" val="3344703274"/>
                  </a:ext>
                </a:extLst>
              </a:tr>
              <a:tr h="185302">
                <a:tc>
                  <a:txBody>
                    <a:bodyPr/>
                    <a:lstStyle/>
                    <a:p>
                      <a:pPr algn="ctr"/>
                      <a:r>
                        <a:rPr lang="en-US" altLang="ja-GB" sz="1600" dirty="0"/>
                        <a:t>B</a:t>
                      </a:r>
                      <a:endParaRPr lang="ja-GB" altLang="en-US" sz="1600" dirty="0"/>
                    </a:p>
                  </a:txBody>
                  <a:tcPr/>
                </a:tc>
                <a:tc>
                  <a:txBody>
                    <a:bodyPr/>
                    <a:lstStyle/>
                    <a:p>
                      <a:pPr algn="ctr"/>
                      <a:r>
                        <a:rPr lang="en-US" altLang="ja-GB" sz="1600" dirty="0"/>
                        <a:t>(1,3)</a:t>
                      </a:r>
                      <a:endParaRPr lang="ja-GB" altLang="en-US" sz="1600" dirty="0"/>
                    </a:p>
                  </a:txBody>
                  <a:tcPr/>
                </a:tc>
                <a:tc>
                  <a:txBody>
                    <a:bodyPr/>
                    <a:lstStyle/>
                    <a:p>
                      <a:pPr algn="ctr"/>
                      <a:r>
                        <a:rPr lang="en-US" altLang="ja-GB" sz="1600" dirty="0"/>
                        <a:t>2</a:t>
                      </a:r>
                      <a:endParaRPr lang="ja-GB" altLang="en-US" sz="1600" dirty="0"/>
                    </a:p>
                  </a:txBody>
                  <a:tcPr/>
                </a:tc>
                <a:extLst>
                  <a:ext uri="{0D108BD9-81ED-4DB2-BD59-A6C34878D82A}">
                    <a16:rowId xmlns:a16="http://schemas.microsoft.com/office/drawing/2014/main" val="4177507280"/>
                  </a:ext>
                </a:extLst>
              </a:tr>
              <a:tr h="185302">
                <a:tc>
                  <a:txBody>
                    <a:bodyPr/>
                    <a:lstStyle/>
                    <a:p>
                      <a:pPr algn="ctr"/>
                      <a:r>
                        <a:rPr lang="en-US" altLang="ja-GB" sz="1600" dirty="0"/>
                        <a:t>C</a:t>
                      </a:r>
                      <a:endParaRPr lang="ja-GB" altLang="en-US" sz="1600" dirty="0"/>
                    </a:p>
                  </a:txBody>
                  <a:tcPr/>
                </a:tc>
                <a:tc>
                  <a:txBody>
                    <a:bodyPr/>
                    <a:lstStyle/>
                    <a:p>
                      <a:pPr algn="ctr"/>
                      <a:r>
                        <a:rPr lang="en-US" altLang="ja-GB" sz="1600" dirty="0"/>
                        <a:t>(2,4)</a:t>
                      </a:r>
                      <a:endParaRPr lang="ja-GB" altLang="en-US" sz="1600" dirty="0"/>
                    </a:p>
                  </a:txBody>
                  <a:tcPr/>
                </a:tc>
                <a:tc>
                  <a:txBody>
                    <a:bodyPr/>
                    <a:lstStyle/>
                    <a:p>
                      <a:pPr algn="ctr"/>
                      <a:r>
                        <a:rPr lang="en-US" altLang="ja-GB" sz="1600" dirty="0"/>
                        <a:t>4</a:t>
                      </a:r>
                      <a:endParaRPr lang="ja-GB" altLang="en-US" sz="1600" dirty="0"/>
                    </a:p>
                  </a:txBody>
                  <a:tcPr/>
                </a:tc>
                <a:extLst>
                  <a:ext uri="{0D108BD9-81ED-4DB2-BD59-A6C34878D82A}">
                    <a16:rowId xmlns:a16="http://schemas.microsoft.com/office/drawing/2014/main" val="3414689720"/>
                  </a:ext>
                </a:extLst>
              </a:tr>
              <a:tr h="185302">
                <a:tc>
                  <a:txBody>
                    <a:bodyPr/>
                    <a:lstStyle/>
                    <a:p>
                      <a:pPr algn="ctr"/>
                      <a:r>
                        <a:rPr lang="en-US" altLang="ja-GB" sz="1600" dirty="0"/>
                        <a:t>D</a:t>
                      </a:r>
                      <a:endParaRPr lang="ja-GB" altLang="en-US" sz="1600" dirty="0"/>
                    </a:p>
                  </a:txBody>
                  <a:tcPr/>
                </a:tc>
                <a:tc>
                  <a:txBody>
                    <a:bodyPr/>
                    <a:lstStyle/>
                    <a:p>
                      <a:pPr algn="ctr"/>
                      <a:r>
                        <a:rPr lang="en-US" altLang="ja-GB" sz="1600" dirty="0"/>
                        <a:t>(3,4)</a:t>
                      </a:r>
                      <a:endParaRPr lang="ja-GB" altLang="en-US" sz="1600" dirty="0"/>
                    </a:p>
                  </a:txBody>
                  <a:tcPr/>
                </a:tc>
                <a:tc>
                  <a:txBody>
                    <a:bodyPr/>
                    <a:lstStyle/>
                    <a:p>
                      <a:pPr algn="ctr"/>
                      <a:r>
                        <a:rPr lang="en-US" altLang="ja-GB" sz="1600" dirty="0"/>
                        <a:t>5</a:t>
                      </a:r>
                      <a:endParaRPr lang="ja-GB" altLang="en-US" sz="1600" dirty="0"/>
                    </a:p>
                  </a:txBody>
                  <a:tcPr/>
                </a:tc>
                <a:extLst>
                  <a:ext uri="{0D108BD9-81ED-4DB2-BD59-A6C34878D82A}">
                    <a16:rowId xmlns:a16="http://schemas.microsoft.com/office/drawing/2014/main" val="3373349507"/>
                  </a:ext>
                </a:extLst>
              </a:tr>
              <a:tr h="185302">
                <a:tc>
                  <a:txBody>
                    <a:bodyPr/>
                    <a:lstStyle/>
                    <a:p>
                      <a:pPr algn="ctr"/>
                      <a:r>
                        <a:rPr lang="en-US" altLang="ja-GB" sz="1600" dirty="0"/>
                        <a:t>E</a:t>
                      </a:r>
                      <a:endParaRPr lang="ja-GB" altLang="en-US" sz="1600" dirty="0"/>
                    </a:p>
                  </a:txBody>
                  <a:tcPr/>
                </a:tc>
                <a:tc>
                  <a:txBody>
                    <a:bodyPr/>
                    <a:lstStyle/>
                    <a:p>
                      <a:pPr algn="ctr"/>
                      <a:r>
                        <a:rPr lang="en-US" altLang="ja-GB" sz="1600" dirty="0"/>
                        <a:t>(2,5)</a:t>
                      </a:r>
                      <a:endParaRPr lang="ja-GB" altLang="en-US" sz="1600" dirty="0"/>
                    </a:p>
                  </a:txBody>
                  <a:tcPr/>
                </a:tc>
                <a:tc>
                  <a:txBody>
                    <a:bodyPr/>
                    <a:lstStyle/>
                    <a:p>
                      <a:pPr algn="ctr"/>
                      <a:r>
                        <a:rPr lang="en-US" altLang="ja-GB" sz="1600" dirty="0"/>
                        <a:t>1</a:t>
                      </a:r>
                      <a:endParaRPr lang="ja-GB" altLang="en-US" sz="1600" dirty="0"/>
                    </a:p>
                  </a:txBody>
                  <a:tcPr/>
                </a:tc>
                <a:extLst>
                  <a:ext uri="{0D108BD9-81ED-4DB2-BD59-A6C34878D82A}">
                    <a16:rowId xmlns:a16="http://schemas.microsoft.com/office/drawing/2014/main" val="2991419434"/>
                  </a:ext>
                </a:extLst>
              </a:tr>
              <a:tr h="185302">
                <a:tc>
                  <a:txBody>
                    <a:bodyPr/>
                    <a:lstStyle/>
                    <a:p>
                      <a:pPr algn="ctr"/>
                      <a:r>
                        <a:rPr lang="en-US" altLang="ja-GB" sz="1600" dirty="0"/>
                        <a:t>F</a:t>
                      </a:r>
                      <a:endParaRPr lang="ja-GB" altLang="en-US" sz="1600" dirty="0"/>
                    </a:p>
                  </a:txBody>
                  <a:tcPr/>
                </a:tc>
                <a:tc>
                  <a:txBody>
                    <a:bodyPr/>
                    <a:lstStyle/>
                    <a:p>
                      <a:pPr algn="ctr"/>
                      <a:r>
                        <a:rPr lang="en-US" altLang="ja-GB" sz="1600" dirty="0"/>
                        <a:t>(4,6)</a:t>
                      </a:r>
                      <a:endParaRPr lang="ja-GB" altLang="en-US" sz="1600" dirty="0"/>
                    </a:p>
                  </a:txBody>
                  <a:tcPr/>
                </a:tc>
                <a:tc>
                  <a:txBody>
                    <a:bodyPr/>
                    <a:lstStyle/>
                    <a:p>
                      <a:pPr algn="ctr"/>
                      <a:r>
                        <a:rPr lang="en-US" altLang="ja-GB" sz="1600" dirty="0"/>
                        <a:t>6</a:t>
                      </a:r>
                      <a:endParaRPr lang="ja-GB" altLang="en-US" sz="1600" dirty="0"/>
                    </a:p>
                  </a:txBody>
                  <a:tcPr/>
                </a:tc>
                <a:extLst>
                  <a:ext uri="{0D108BD9-81ED-4DB2-BD59-A6C34878D82A}">
                    <a16:rowId xmlns:a16="http://schemas.microsoft.com/office/drawing/2014/main" val="3985016094"/>
                  </a:ext>
                </a:extLst>
              </a:tr>
              <a:tr h="185302">
                <a:tc>
                  <a:txBody>
                    <a:bodyPr/>
                    <a:lstStyle/>
                    <a:p>
                      <a:pPr algn="ctr"/>
                      <a:r>
                        <a:rPr lang="en-US" altLang="ja-GB" sz="1600" dirty="0"/>
                        <a:t>G</a:t>
                      </a:r>
                      <a:endParaRPr lang="ja-GB" altLang="en-US" sz="1600" dirty="0"/>
                    </a:p>
                  </a:txBody>
                  <a:tcPr/>
                </a:tc>
                <a:tc>
                  <a:txBody>
                    <a:bodyPr/>
                    <a:lstStyle/>
                    <a:p>
                      <a:pPr algn="ctr"/>
                      <a:r>
                        <a:rPr lang="en-US" altLang="ja-GB" sz="1600" dirty="0"/>
                        <a:t>(4,5)</a:t>
                      </a:r>
                      <a:endParaRPr lang="ja-GB" altLang="en-US" sz="1600" dirty="0"/>
                    </a:p>
                  </a:txBody>
                  <a:tcPr/>
                </a:tc>
                <a:tc>
                  <a:txBody>
                    <a:bodyPr/>
                    <a:lstStyle/>
                    <a:p>
                      <a:pPr algn="ctr"/>
                      <a:r>
                        <a:rPr lang="en-US" altLang="ja-GB" sz="1600" dirty="0"/>
                        <a:t>3</a:t>
                      </a:r>
                      <a:endParaRPr lang="ja-GB" altLang="en-US" sz="1600" dirty="0"/>
                    </a:p>
                  </a:txBody>
                  <a:tcPr/>
                </a:tc>
                <a:extLst>
                  <a:ext uri="{0D108BD9-81ED-4DB2-BD59-A6C34878D82A}">
                    <a16:rowId xmlns:a16="http://schemas.microsoft.com/office/drawing/2014/main" val="852509030"/>
                  </a:ext>
                </a:extLst>
              </a:tr>
              <a:tr h="185302">
                <a:tc>
                  <a:txBody>
                    <a:bodyPr/>
                    <a:lstStyle/>
                    <a:p>
                      <a:pPr algn="ctr"/>
                      <a:r>
                        <a:rPr lang="en-US" altLang="ja-GB" sz="1600" dirty="0"/>
                        <a:t>H</a:t>
                      </a:r>
                      <a:endParaRPr lang="ja-GB" altLang="en-US" sz="1600" dirty="0"/>
                    </a:p>
                  </a:txBody>
                  <a:tcPr/>
                </a:tc>
                <a:tc>
                  <a:txBody>
                    <a:bodyPr/>
                    <a:lstStyle/>
                    <a:p>
                      <a:pPr algn="ctr"/>
                      <a:r>
                        <a:rPr lang="en-US" altLang="ja-GB" sz="1600" dirty="0"/>
                        <a:t>(5,6)</a:t>
                      </a:r>
                      <a:endParaRPr lang="ja-GB" altLang="en-US" sz="1600" dirty="0"/>
                    </a:p>
                  </a:txBody>
                  <a:tcPr/>
                </a:tc>
                <a:tc>
                  <a:txBody>
                    <a:bodyPr/>
                    <a:lstStyle/>
                    <a:p>
                      <a:pPr algn="ctr"/>
                      <a:r>
                        <a:rPr lang="en-US" altLang="ja-GB" sz="1600" dirty="0"/>
                        <a:t>2</a:t>
                      </a:r>
                      <a:endParaRPr lang="ja-GB" altLang="en-US" sz="1600" dirty="0"/>
                    </a:p>
                  </a:txBody>
                  <a:tcPr/>
                </a:tc>
                <a:extLst>
                  <a:ext uri="{0D108BD9-81ED-4DB2-BD59-A6C34878D82A}">
                    <a16:rowId xmlns:a16="http://schemas.microsoft.com/office/drawing/2014/main" val="3285484398"/>
                  </a:ext>
                </a:extLst>
              </a:tr>
            </a:tbl>
          </a:graphicData>
        </a:graphic>
      </p:graphicFrame>
    </p:spTree>
    <p:extLst>
      <p:ext uri="{BB962C8B-B14F-4D97-AF65-F5344CB8AC3E}">
        <p14:creationId xmlns:p14="http://schemas.microsoft.com/office/powerpoint/2010/main" val="3556867329"/>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4666B-7E97-A1D9-1B4F-8FD345FFAF1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D9A5F49-1670-E629-38BA-BA715BB6886A}"/>
              </a:ext>
            </a:extLst>
          </p:cNvPr>
          <p:cNvSpPr>
            <a:spLocks noGrp="1"/>
          </p:cNvSpPr>
          <p:nvPr>
            <p:ph type="title"/>
          </p:nvPr>
        </p:nvSpPr>
        <p:spPr/>
        <p:txBody>
          <a:bodyPr/>
          <a:lstStyle/>
          <a:p>
            <a:r>
              <a:rPr lang="ja-GB" altLang="en-US" dirty="0"/>
              <a:t>所要時間表の作成</a:t>
            </a:r>
            <a:endParaRPr kumimoji="1" lang="ja-GB" altLang="en-US" dirty="0"/>
          </a:p>
        </p:txBody>
      </p:sp>
      <p:sp>
        <p:nvSpPr>
          <p:cNvPr id="3" name="コンテンツ プレースホルダー 2">
            <a:extLst>
              <a:ext uri="{FF2B5EF4-FFF2-40B4-BE49-F238E27FC236}">
                <a16:creationId xmlns:a16="http://schemas.microsoft.com/office/drawing/2014/main" id="{7BB79C43-2EA4-CB21-5F90-B495D21F3B47}"/>
              </a:ext>
            </a:extLst>
          </p:cNvPr>
          <p:cNvSpPr>
            <a:spLocks noGrp="1"/>
          </p:cNvSpPr>
          <p:nvPr>
            <p:ph idx="1"/>
          </p:nvPr>
        </p:nvSpPr>
        <p:spPr/>
        <p:txBody>
          <a:bodyPr/>
          <a:lstStyle/>
          <a:p>
            <a:pPr marL="0" indent="0">
              <a:buNone/>
            </a:pPr>
            <a:r>
              <a:rPr lang="en-US" altLang="ja-GB" dirty="0"/>
              <a:t>①</a:t>
            </a:r>
            <a:r>
              <a:rPr lang="ja-GB" altLang="en-US" dirty="0"/>
              <a:t>ある作業</a:t>
            </a:r>
            <a:r>
              <a:rPr lang="en-US" altLang="ja-GB" dirty="0"/>
              <a:t>(</a:t>
            </a:r>
            <a:r>
              <a:rPr lang="en-US" altLang="ja-GB" dirty="0" err="1"/>
              <a:t>i,j</a:t>
            </a:r>
            <a:r>
              <a:rPr lang="en-US" altLang="ja-GB" dirty="0"/>
              <a:t>)</a:t>
            </a:r>
            <a:r>
              <a:rPr lang="ja-GB" altLang="en-US" dirty="0"/>
              <a:t>の</a:t>
            </a:r>
            <a:r>
              <a:rPr lang="en-US" altLang="ja-GB" dirty="0" err="1"/>
              <a:t>i</a:t>
            </a:r>
            <a:r>
              <a:rPr lang="ja-GB" altLang="en-US" dirty="0"/>
              <a:t>を縦方向に探索し，</a:t>
            </a:r>
            <a:r>
              <a:rPr lang="en-US" altLang="ja-GB" dirty="0"/>
              <a:t>②j</a:t>
            </a:r>
            <a:r>
              <a:rPr lang="ja-GB" altLang="en-US" dirty="0"/>
              <a:t>を横方向に探索し，</a:t>
            </a:r>
            <a:br>
              <a:rPr lang="en-US" altLang="ja-GB" dirty="0"/>
            </a:br>
            <a:r>
              <a:rPr lang="ja-GB" altLang="en-US" dirty="0"/>
              <a:t>その交点座標にあたる欄内に所要時間を入力する</a:t>
            </a:r>
            <a:endParaRPr lang="en-US" altLang="ja-GB" dirty="0"/>
          </a:p>
          <a:p>
            <a:endParaRPr kumimoji="1" lang="ja-GB" altLang="en-US" dirty="0"/>
          </a:p>
        </p:txBody>
      </p:sp>
      <p:pic>
        <p:nvPicPr>
          <p:cNvPr id="5" name="コンテンツ プレースホルダー 4">
            <a:extLst>
              <a:ext uri="{FF2B5EF4-FFF2-40B4-BE49-F238E27FC236}">
                <a16:creationId xmlns:a16="http://schemas.microsoft.com/office/drawing/2014/main" id="{97991552-152F-8829-D665-AB5D8D983E28}"/>
              </a:ext>
            </a:extLst>
          </p:cNvPr>
          <p:cNvPicPr>
            <a:picLocks noChangeAspect="1"/>
          </p:cNvPicPr>
          <p:nvPr/>
        </p:nvPicPr>
        <p:blipFill>
          <a:blip r:embed="rId2"/>
          <a:srcRect/>
          <a:stretch/>
        </p:blipFill>
        <p:spPr>
          <a:xfrm>
            <a:off x="5058448" y="2379277"/>
            <a:ext cx="3266456" cy="2917517"/>
          </a:xfrm>
          <a:prstGeom prst="rect">
            <a:avLst/>
          </a:prstGeom>
        </p:spPr>
      </p:pic>
      <p:graphicFrame>
        <p:nvGraphicFramePr>
          <p:cNvPr id="6" name="表 5">
            <a:extLst>
              <a:ext uri="{FF2B5EF4-FFF2-40B4-BE49-F238E27FC236}">
                <a16:creationId xmlns:a16="http://schemas.microsoft.com/office/drawing/2014/main" id="{3931E08D-FD3F-4943-5A98-5C1F95244BAE}"/>
              </a:ext>
            </a:extLst>
          </p:cNvPr>
          <p:cNvGraphicFramePr>
            <a:graphicFrameLocks noGrp="1"/>
          </p:cNvGraphicFramePr>
          <p:nvPr/>
        </p:nvGraphicFramePr>
        <p:xfrm>
          <a:off x="390700" y="2362862"/>
          <a:ext cx="3465324" cy="2987040"/>
        </p:xfrm>
        <a:graphic>
          <a:graphicData uri="http://schemas.openxmlformats.org/drawingml/2006/table">
            <a:tbl>
              <a:tblPr firstRow="1" bandRow="1">
                <a:tableStyleId>{5C22544A-7EE6-4342-B048-85BDC9FD1C3A}</a:tableStyleId>
              </a:tblPr>
              <a:tblGrid>
                <a:gridCol w="1155108">
                  <a:extLst>
                    <a:ext uri="{9D8B030D-6E8A-4147-A177-3AD203B41FA5}">
                      <a16:colId xmlns:a16="http://schemas.microsoft.com/office/drawing/2014/main" val="3691675347"/>
                    </a:ext>
                  </a:extLst>
                </a:gridCol>
                <a:gridCol w="1155108">
                  <a:extLst>
                    <a:ext uri="{9D8B030D-6E8A-4147-A177-3AD203B41FA5}">
                      <a16:colId xmlns:a16="http://schemas.microsoft.com/office/drawing/2014/main" val="928111709"/>
                    </a:ext>
                  </a:extLst>
                </a:gridCol>
                <a:gridCol w="1155108">
                  <a:extLst>
                    <a:ext uri="{9D8B030D-6E8A-4147-A177-3AD203B41FA5}">
                      <a16:colId xmlns:a16="http://schemas.microsoft.com/office/drawing/2014/main" val="4014108102"/>
                    </a:ext>
                  </a:extLst>
                </a:gridCol>
              </a:tblGrid>
              <a:tr h="183483">
                <a:tc>
                  <a:txBody>
                    <a:bodyPr/>
                    <a:lstStyle/>
                    <a:p>
                      <a:pPr algn="ctr"/>
                      <a:r>
                        <a:rPr lang="ja-GB" altLang="en-US" sz="1400" dirty="0"/>
                        <a:t>作業記号</a:t>
                      </a:r>
                    </a:p>
                  </a:txBody>
                  <a:tcPr/>
                </a:tc>
                <a:tc>
                  <a:txBody>
                    <a:bodyPr/>
                    <a:lstStyle/>
                    <a:p>
                      <a:pPr algn="ctr"/>
                      <a:r>
                        <a:rPr lang="ja-GB" altLang="en-US" sz="1400" dirty="0"/>
                        <a:t>作業</a:t>
                      </a:r>
                      <a:r>
                        <a:rPr lang="en-US" altLang="ja-GB" sz="1400" dirty="0"/>
                        <a:t>(</a:t>
                      </a:r>
                      <a:r>
                        <a:rPr lang="en-US" altLang="ja-GB" sz="1400" dirty="0" err="1"/>
                        <a:t>i,j</a:t>
                      </a:r>
                      <a:r>
                        <a:rPr lang="en-US" altLang="ja-GB" sz="1400" dirty="0"/>
                        <a:t>)</a:t>
                      </a:r>
                      <a:endParaRPr lang="ja-GB" altLang="en-US" sz="1400" dirty="0"/>
                    </a:p>
                  </a:txBody>
                  <a:tcPr/>
                </a:tc>
                <a:tc>
                  <a:txBody>
                    <a:bodyPr/>
                    <a:lstStyle/>
                    <a:p>
                      <a:pPr algn="ctr"/>
                      <a:r>
                        <a:rPr lang="ja-GB" altLang="en-US" sz="1400" dirty="0"/>
                        <a:t>所要日数</a:t>
                      </a:r>
                      <a:r>
                        <a:rPr lang="en-US" altLang="ja-GB" sz="1400" dirty="0"/>
                        <a:t> </a:t>
                      </a:r>
                      <a:r>
                        <a:rPr lang="en-US" altLang="ja-GB" sz="1400" dirty="0" err="1"/>
                        <a:t>D</a:t>
                      </a:r>
                      <a:r>
                        <a:rPr lang="en-US" altLang="ja-GB" sz="1400" baseline="-25000" dirty="0" err="1"/>
                        <a:t>i,j</a:t>
                      </a:r>
                      <a:endParaRPr lang="ja-GB" altLang="en-US" sz="1400" baseline="-25000" dirty="0"/>
                    </a:p>
                  </a:txBody>
                  <a:tcPr/>
                </a:tc>
                <a:extLst>
                  <a:ext uri="{0D108BD9-81ED-4DB2-BD59-A6C34878D82A}">
                    <a16:rowId xmlns:a16="http://schemas.microsoft.com/office/drawing/2014/main" val="3671063893"/>
                  </a:ext>
                </a:extLst>
              </a:tr>
              <a:tr h="185302">
                <a:tc>
                  <a:txBody>
                    <a:bodyPr/>
                    <a:lstStyle/>
                    <a:p>
                      <a:pPr algn="ctr"/>
                      <a:r>
                        <a:rPr lang="en-US" altLang="ja-GB" sz="1600" dirty="0">
                          <a:solidFill>
                            <a:srgbClr val="0070C0"/>
                          </a:solidFill>
                        </a:rPr>
                        <a:t>A</a:t>
                      </a:r>
                      <a:endParaRPr lang="ja-GB" altLang="en-US" sz="1600" dirty="0">
                        <a:solidFill>
                          <a:srgbClr val="0070C0"/>
                        </a:solidFill>
                      </a:endParaRPr>
                    </a:p>
                  </a:txBody>
                  <a:tcPr/>
                </a:tc>
                <a:tc>
                  <a:txBody>
                    <a:bodyPr/>
                    <a:lstStyle/>
                    <a:p>
                      <a:pPr algn="ctr"/>
                      <a:r>
                        <a:rPr lang="en-US" altLang="ja-GB" sz="1600" dirty="0">
                          <a:solidFill>
                            <a:srgbClr val="0070C0"/>
                          </a:solidFill>
                        </a:rPr>
                        <a:t>(1,2)</a:t>
                      </a:r>
                      <a:endParaRPr lang="ja-GB" altLang="en-US" sz="1600" dirty="0">
                        <a:solidFill>
                          <a:srgbClr val="0070C0"/>
                        </a:solidFill>
                      </a:endParaRPr>
                    </a:p>
                  </a:txBody>
                  <a:tcPr/>
                </a:tc>
                <a:tc>
                  <a:txBody>
                    <a:bodyPr/>
                    <a:lstStyle/>
                    <a:p>
                      <a:pPr algn="ctr"/>
                      <a:r>
                        <a:rPr lang="en-US" altLang="ja-GB" sz="1600" dirty="0">
                          <a:solidFill>
                            <a:srgbClr val="0070C0"/>
                          </a:solidFill>
                        </a:rPr>
                        <a:t>3</a:t>
                      </a:r>
                      <a:endParaRPr lang="ja-GB" altLang="en-US" sz="1600" dirty="0">
                        <a:solidFill>
                          <a:srgbClr val="0070C0"/>
                        </a:solidFill>
                      </a:endParaRPr>
                    </a:p>
                  </a:txBody>
                  <a:tcPr/>
                </a:tc>
                <a:extLst>
                  <a:ext uri="{0D108BD9-81ED-4DB2-BD59-A6C34878D82A}">
                    <a16:rowId xmlns:a16="http://schemas.microsoft.com/office/drawing/2014/main" val="3344703274"/>
                  </a:ext>
                </a:extLst>
              </a:tr>
              <a:tr h="185302">
                <a:tc>
                  <a:txBody>
                    <a:bodyPr/>
                    <a:lstStyle/>
                    <a:p>
                      <a:pPr algn="ctr"/>
                      <a:r>
                        <a:rPr lang="en-US" altLang="ja-GB" sz="1600" dirty="0"/>
                        <a:t>B</a:t>
                      </a:r>
                      <a:endParaRPr lang="ja-GB" altLang="en-US" sz="1600" dirty="0"/>
                    </a:p>
                  </a:txBody>
                  <a:tcPr/>
                </a:tc>
                <a:tc>
                  <a:txBody>
                    <a:bodyPr/>
                    <a:lstStyle/>
                    <a:p>
                      <a:pPr algn="ctr"/>
                      <a:r>
                        <a:rPr lang="en-US" altLang="ja-GB" sz="1600" dirty="0"/>
                        <a:t>(1,3)</a:t>
                      </a:r>
                      <a:endParaRPr lang="ja-GB" altLang="en-US" sz="1600" dirty="0"/>
                    </a:p>
                  </a:txBody>
                  <a:tcPr/>
                </a:tc>
                <a:tc>
                  <a:txBody>
                    <a:bodyPr/>
                    <a:lstStyle/>
                    <a:p>
                      <a:pPr algn="ctr"/>
                      <a:r>
                        <a:rPr lang="en-US" altLang="ja-GB" sz="1600" dirty="0"/>
                        <a:t>2</a:t>
                      </a:r>
                      <a:endParaRPr lang="ja-GB" altLang="en-US" sz="1600" dirty="0"/>
                    </a:p>
                  </a:txBody>
                  <a:tcPr/>
                </a:tc>
                <a:extLst>
                  <a:ext uri="{0D108BD9-81ED-4DB2-BD59-A6C34878D82A}">
                    <a16:rowId xmlns:a16="http://schemas.microsoft.com/office/drawing/2014/main" val="4177507280"/>
                  </a:ext>
                </a:extLst>
              </a:tr>
              <a:tr h="185302">
                <a:tc>
                  <a:txBody>
                    <a:bodyPr/>
                    <a:lstStyle/>
                    <a:p>
                      <a:pPr algn="ctr"/>
                      <a:r>
                        <a:rPr lang="en-US" altLang="ja-GB" sz="1600" dirty="0"/>
                        <a:t>C</a:t>
                      </a:r>
                      <a:endParaRPr lang="ja-GB" altLang="en-US" sz="1600" dirty="0"/>
                    </a:p>
                  </a:txBody>
                  <a:tcPr/>
                </a:tc>
                <a:tc>
                  <a:txBody>
                    <a:bodyPr/>
                    <a:lstStyle/>
                    <a:p>
                      <a:pPr algn="ctr"/>
                      <a:r>
                        <a:rPr lang="en-US" altLang="ja-GB" sz="1600" dirty="0"/>
                        <a:t>(2,4)</a:t>
                      </a:r>
                      <a:endParaRPr lang="ja-GB" altLang="en-US" sz="1600" dirty="0"/>
                    </a:p>
                  </a:txBody>
                  <a:tcPr/>
                </a:tc>
                <a:tc>
                  <a:txBody>
                    <a:bodyPr/>
                    <a:lstStyle/>
                    <a:p>
                      <a:pPr algn="ctr"/>
                      <a:r>
                        <a:rPr lang="en-US" altLang="ja-GB" sz="1600" dirty="0"/>
                        <a:t>4</a:t>
                      </a:r>
                      <a:endParaRPr lang="ja-GB" altLang="en-US" sz="1600" dirty="0"/>
                    </a:p>
                  </a:txBody>
                  <a:tcPr/>
                </a:tc>
                <a:extLst>
                  <a:ext uri="{0D108BD9-81ED-4DB2-BD59-A6C34878D82A}">
                    <a16:rowId xmlns:a16="http://schemas.microsoft.com/office/drawing/2014/main" val="3414689720"/>
                  </a:ext>
                </a:extLst>
              </a:tr>
              <a:tr h="185302">
                <a:tc>
                  <a:txBody>
                    <a:bodyPr/>
                    <a:lstStyle/>
                    <a:p>
                      <a:pPr algn="ctr"/>
                      <a:r>
                        <a:rPr lang="en-US" altLang="ja-GB" sz="1600" dirty="0"/>
                        <a:t>D</a:t>
                      </a:r>
                      <a:endParaRPr lang="ja-GB" altLang="en-US" sz="1600" dirty="0"/>
                    </a:p>
                  </a:txBody>
                  <a:tcPr/>
                </a:tc>
                <a:tc>
                  <a:txBody>
                    <a:bodyPr/>
                    <a:lstStyle/>
                    <a:p>
                      <a:pPr algn="ctr"/>
                      <a:r>
                        <a:rPr lang="en-US" altLang="ja-GB" sz="1600" dirty="0"/>
                        <a:t>(3,4)</a:t>
                      </a:r>
                      <a:endParaRPr lang="ja-GB" altLang="en-US" sz="1600" dirty="0"/>
                    </a:p>
                  </a:txBody>
                  <a:tcPr/>
                </a:tc>
                <a:tc>
                  <a:txBody>
                    <a:bodyPr/>
                    <a:lstStyle/>
                    <a:p>
                      <a:pPr algn="ctr"/>
                      <a:r>
                        <a:rPr lang="en-US" altLang="ja-GB" sz="1600" dirty="0"/>
                        <a:t>5</a:t>
                      </a:r>
                      <a:endParaRPr lang="ja-GB" altLang="en-US" sz="1600" dirty="0"/>
                    </a:p>
                  </a:txBody>
                  <a:tcPr/>
                </a:tc>
                <a:extLst>
                  <a:ext uri="{0D108BD9-81ED-4DB2-BD59-A6C34878D82A}">
                    <a16:rowId xmlns:a16="http://schemas.microsoft.com/office/drawing/2014/main" val="3373349507"/>
                  </a:ext>
                </a:extLst>
              </a:tr>
              <a:tr h="185302">
                <a:tc>
                  <a:txBody>
                    <a:bodyPr/>
                    <a:lstStyle/>
                    <a:p>
                      <a:pPr algn="ctr"/>
                      <a:r>
                        <a:rPr lang="en-US" altLang="ja-GB" sz="1600" dirty="0"/>
                        <a:t>E</a:t>
                      </a:r>
                      <a:endParaRPr lang="ja-GB" altLang="en-US" sz="1600" dirty="0"/>
                    </a:p>
                  </a:txBody>
                  <a:tcPr/>
                </a:tc>
                <a:tc>
                  <a:txBody>
                    <a:bodyPr/>
                    <a:lstStyle/>
                    <a:p>
                      <a:pPr algn="ctr"/>
                      <a:r>
                        <a:rPr lang="en-US" altLang="ja-GB" sz="1600" dirty="0"/>
                        <a:t>(2,5)</a:t>
                      </a:r>
                      <a:endParaRPr lang="ja-GB" altLang="en-US" sz="1600" dirty="0"/>
                    </a:p>
                  </a:txBody>
                  <a:tcPr/>
                </a:tc>
                <a:tc>
                  <a:txBody>
                    <a:bodyPr/>
                    <a:lstStyle/>
                    <a:p>
                      <a:pPr algn="ctr"/>
                      <a:r>
                        <a:rPr lang="en-US" altLang="ja-GB" sz="1600" dirty="0"/>
                        <a:t>1</a:t>
                      </a:r>
                      <a:endParaRPr lang="ja-GB" altLang="en-US" sz="1600" dirty="0"/>
                    </a:p>
                  </a:txBody>
                  <a:tcPr/>
                </a:tc>
                <a:extLst>
                  <a:ext uri="{0D108BD9-81ED-4DB2-BD59-A6C34878D82A}">
                    <a16:rowId xmlns:a16="http://schemas.microsoft.com/office/drawing/2014/main" val="2991419434"/>
                  </a:ext>
                </a:extLst>
              </a:tr>
              <a:tr h="185302">
                <a:tc>
                  <a:txBody>
                    <a:bodyPr/>
                    <a:lstStyle/>
                    <a:p>
                      <a:pPr algn="ctr"/>
                      <a:r>
                        <a:rPr lang="en-US" altLang="ja-GB" sz="1600" dirty="0"/>
                        <a:t>F</a:t>
                      </a:r>
                      <a:endParaRPr lang="ja-GB" altLang="en-US" sz="1600" dirty="0"/>
                    </a:p>
                  </a:txBody>
                  <a:tcPr/>
                </a:tc>
                <a:tc>
                  <a:txBody>
                    <a:bodyPr/>
                    <a:lstStyle/>
                    <a:p>
                      <a:pPr algn="ctr"/>
                      <a:r>
                        <a:rPr lang="en-US" altLang="ja-GB" sz="1600" dirty="0"/>
                        <a:t>(4,6)</a:t>
                      </a:r>
                      <a:endParaRPr lang="ja-GB" altLang="en-US" sz="1600" dirty="0"/>
                    </a:p>
                  </a:txBody>
                  <a:tcPr/>
                </a:tc>
                <a:tc>
                  <a:txBody>
                    <a:bodyPr/>
                    <a:lstStyle/>
                    <a:p>
                      <a:pPr algn="ctr"/>
                      <a:r>
                        <a:rPr lang="en-US" altLang="ja-GB" sz="1600" dirty="0"/>
                        <a:t>6</a:t>
                      </a:r>
                      <a:endParaRPr lang="ja-GB" altLang="en-US" sz="1600" dirty="0"/>
                    </a:p>
                  </a:txBody>
                  <a:tcPr/>
                </a:tc>
                <a:extLst>
                  <a:ext uri="{0D108BD9-81ED-4DB2-BD59-A6C34878D82A}">
                    <a16:rowId xmlns:a16="http://schemas.microsoft.com/office/drawing/2014/main" val="3985016094"/>
                  </a:ext>
                </a:extLst>
              </a:tr>
              <a:tr h="185302">
                <a:tc>
                  <a:txBody>
                    <a:bodyPr/>
                    <a:lstStyle/>
                    <a:p>
                      <a:pPr algn="ctr"/>
                      <a:r>
                        <a:rPr lang="en-US" altLang="ja-GB" sz="1600" dirty="0"/>
                        <a:t>G</a:t>
                      </a:r>
                      <a:endParaRPr lang="ja-GB" altLang="en-US" sz="1600" dirty="0"/>
                    </a:p>
                  </a:txBody>
                  <a:tcPr/>
                </a:tc>
                <a:tc>
                  <a:txBody>
                    <a:bodyPr/>
                    <a:lstStyle/>
                    <a:p>
                      <a:pPr algn="ctr"/>
                      <a:r>
                        <a:rPr lang="en-US" altLang="ja-GB" sz="1600" dirty="0"/>
                        <a:t>(4,5)</a:t>
                      </a:r>
                      <a:endParaRPr lang="ja-GB" altLang="en-US" sz="1600" dirty="0"/>
                    </a:p>
                  </a:txBody>
                  <a:tcPr/>
                </a:tc>
                <a:tc>
                  <a:txBody>
                    <a:bodyPr/>
                    <a:lstStyle/>
                    <a:p>
                      <a:pPr algn="ctr"/>
                      <a:r>
                        <a:rPr lang="en-US" altLang="ja-GB" sz="1600" dirty="0"/>
                        <a:t>3</a:t>
                      </a:r>
                      <a:endParaRPr lang="ja-GB" altLang="en-US" sz="1600" dirty="0"/>
                    </a:p>
                  </a:txBody>
                  <a:tcPr/>
                </a:tc>
                <a:extLst>
                  <a:ext uri="{0D108BD9-81ED-4DB2-BD59-A6C34878D82A}">
                    <a16:rowId xmlns:a16="http://schemas.microsoft.com/office/drawing/2014/main" val="852509030"/>
                  </a:ext>
                </a:extLst>
              </a:tr>
              <a:tr h="185302">
                <a:tc>
                  <a:txBody>
                    <a:bodyPr/>
                    <a:lstStyle/>
                    <a:p>
                      <a:pPr algn="ctr"/>
                      <a:r>
                        <a:rPr lang="en-US" altLang="ja-GB" sz="1600" dirty="0"/>
                        <a:t>H</a:t>
                      </a:r>
                      <a:endParaRPr lang="ja-GB" altLang="en-US" sz="1600" dirty="0"/>
                    </a:p>
                  </a:txBody>
                  <a:tcPr/>
                </a:tc>
                <a:tc>
                  <a:txBody>
                    <a:bodyPr/>
                    <a:lstStyle/>
                    <a:p>
                      <a:pPr algn="ctr"/>
                      <a:r>
                        <a:rPr lang="en-US" altLang="ja-GB" sz="1600" dirty="0"/>
                        <a:t>(5,6)</a:t>
                      </a:r>
                      <a:endParaRPr lang="ja-GB" altLang="en-US" sz="1600" dirty="0"/>
                    </a:p>
                  </a:txBody>
                  <a:tcPr/>
                </a:tc>
                <a:tc>
                  <a:txBody>
                    <a:bodyPr/>
                    <a:lstStyle/>
                    <a:p>
                      <a:pPr algn="ctr"/>
                      <a:r>
                        <a:rPr lang="en-US" altLang="ja-GB" sz="1600" dirty="0"/>
                        <a:t>2</a:t>
                      </a:r>
                      <a:endParaRPr lang="ja-GB" altLang="en-US" sz="1600" dirty="0"/>
                    </a:p>
                  </a:txBody>
                  <a:tcPr/>
                </a:tc>
                <a:extLst>
                  <a:ext uri="{0D108BD9-81ED-4DB2-BD59-A6C34878D82A}">
                    <a16:rowId xmlns:a16="http://schemas.microsoft.com/office/drawing/2014/main" val="3285484398"/>
                  </a:ext>
                </a:extLst>
              </a:tr>
            </a:tbl>
          </a:graphicData>
        </a:graphic>
      </p:graphicFrame>
      <p:cxnSp>
        <p:nvCxnSpPr>
          <p:cNvPr id="12" name="直線矢印コネクタ 11">
            <a:extLst>
              <a:ext uri="{FF2B5EF4-FFF2-40B4-BE49-F238E27FC236}">
                <a16:creationId xmlns:a16="http://schemas.microsoft.com/office/drawing/2014/main" id="{6C4E932A-9F3C-AE8A-C2D0-F8F5E77357AA}"/>
              </a:ext>
            </a:extLst>
          </p:cNvPr>
          <p:cNvCxnSpPr>
            <a:cxnSpLocks/>
          </p:cNvCxnSpPr>
          <p:nvPr/>
        </p:nvCxnSpPr>
        <p:spPr>
          <a:xfrm>
            <a:off x="8446405" y="3052436"/>
            <a:ext cx="0" cy="38379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8C4F9036-A517-5168-0B74-5AD6FC4240D5}"/>
              </a:ext>
            </a:extLst>
          </p:cNvPr>
          <p:cNvCxnSpPr>
            <a:cxnSpLocks/>
          </p:cNvCxnSpPr>
          <p:nvPr/>
        </p:nvCxnSpPr>
        <p:spPr>
          <a:xfrm>
            <a:off x="5473946" y="3351294"/>
            <a:ext cx="44659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3C699FB0-3CF4-9FA2-0564-7A7FC4AD03BF}"/>
              </a:ext>
            </a:extLst>
          </p:cNvPr>
          <p:cNvSpPr txBox="1"/>
          <p:nvPr/>
        </p:nvSpPr>
        <p:spPr>
          <a:xfrm>
            <a:off x="5080229" y="3166628"/>
            <a:ext cx="415498" cy="369332"/>
          </a:xfrm>
          <a:prstGeom prst="rect">
            <a:avLst/>
          </a:prstGeom>
          <a:noFill/>
        </p:spPr>
        <p:txBody>
          <a:bodyPr wrap="none" rtlCol="0">
            <a:spAutoFit/>
          </a:bodyPr>
          <a:lstStyle/>
          <a:p>
            <a:r>
              <a:rPr kumimoji="1" lang="en-US" altLang="ja-GB" b="1" dirty="0"/>
              <a:t>②</a:t>
            </a:r>
            <a:endParaRPr kumimoji="1" lang="ja-GB" altLang="en-US" b="1" dirty="0"/>
          </a:p>
        </p:txBody>
      </p:sp>
      <p:sp>
        <p:nvSpPr>
          <p:cNvPr id="19" name="テキスト ボックス 18">
            <a:extLst>
              <a:ext uri="{FF2B5EF4-FFF2-40B4-BE49-F238E27FC236}">
                <a16:creationId xmlns:a16="http://schemas.microsoft.com/office/drawing/2014/main" id="{F4EB55DD-C0DA-697A-8C12-B2AD5EEB91AC}"/>
              </a:ext>
            </a:extLst>
          </p:cNvPr>
          <p:cNvSpPr txBox="1"/>
          <p:nvPr/>
        </p:nvSpPr>
        <p:spPr>
          <a:xfrm>
            <a:off x="8247045" y="2762766"/>
            <a:ext cx="415498" cy="369332"/>
          </a:xfrm>
          <a:prstGeom prst="rect">
            <a:avLst/>
          </a:prstGeom>
          <a:noFill/>
        </p:spPr>
        <p:txBody>
          <a:bodyPr wrap="none" rtlCol="0">
            <a:spAutoFit/>
          </a:bodyPr>
          <a:lstStyle/>
          <a:p>
            <a:r>
              <a:rPr kumimoji="1" lang="en-US" altLang="ja-GB" b="1" dirty="0">
                <a:solidFill>
                  <a:srgbClr val="0070C0"/>
                </a:solidFill>
              </a:rPr>
              <a:t>①</a:t>
            </a:r>
            <a:endParaRPr kumimoji="1" lang="ja-GB" altLang="en-US" b="1" dirty="0">
              <a:solidFill>
                <a:srgbClr val="0070C0"/>
              </a:solidFill>
            </a:endParaRPr>
          </a:p>
        </p:txBody>
      </p:sp>
    </p:spTree>
    <p:extLst>
      <p:ext uri="{BB962C8B-B14F-4D97-AF65-F5344CB8AC3E}">
        <p14:creationId xmlns:p14="http://schemas.microsoft.com/office/powerpoint/2010/main" val="2424626193"/>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79983-4099-754C-F312-6254B15AE1B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4C36014-950A-4813-56E4-402C1F33C8DC}"/>
              </a:ext>
            </a:extLst>
          </p:cNvPr>
          <p:cNvSpPr>
            <a:spLocks noGrp="1"/>
          </p:cNvSpPr>
          <p:nvPr>
            <p:ph type="title"/>
          </p:nvPr>
        </p:nvSpPr>
        <p:spPr/>
        <p:txBody>
          <a:bodyPr/>
          <a:lstStyle/>
          <a:p>
            <a:r>
              <a:rPr kumimoji="1" lang="ja-GB" altLang="en-US"/>
              <a:t>線形探索：配列から要素を探す基本的な方法</a:t>
            </a:r>
          </a:p>
        </p:txBody>
      </p:sp>
      <p:sp>
        <p:nvSpPr>
          <p:cNvPr id="3" name="コンテンツ プレースホルダー 2">
            <a:extLst>
              <a:ext uri="{FF2B5EF4-FFF2-40B4-BE49-F238E27FC236}">
                <a16:creationId xmlns:a16="http://schemas.microsoft.com/office/drawing/2014/main" id="{B682FA16-CE3F-A3BA-F0B1-B40423098E7F}"/>
              </a:ext>
            </a:extLst>
          </p:cNvPr>
          <p:cNvSpPr>
            <a:spLocks noGrp="1"/>
          </p:cNvSpPr>
          <p:nvPr>
            <p:ph idx="1"/>
          </p:nvPr>
        </p:nvSpPr>
        <p:spPr/>
        <p:txBody>
          <a:bodyPr vert="horz" lIns="91440" tIns="45720" rIns="91440" bIns="45720" rtlCol="0" anchor="t">
            <a:normAutofit/>
          </a:bodyPr>
          <a:lstStyle/>
          <a:p>
            <a:pPr marL="0" indent="0">
              <a:buNone/>
            </a:pPr>
            <a:r>
              <a:rPr lang="ja-GB" altLang="en-US" sz="1800" err="1">
                <a:solidFill>
                  <a:srgbClr val="2F2523"/>
                </a:solidFill>
                <a:latin typeface="Yu Gothic UI"/>
                <a:ea typeface="Yu Gothic UI"/>
              </a:rPr>
              <a:t>関数</a:t>
            </a:r>
            <a:r>
              <a:rPr lang="ja-GB" altLang="en-US" sz="1800">
                <a:solidFill>
                  <a:srgbClr val="2F2523"/>
                </a:solidFill>
                <a:latin typeface="Yu Gothic UI"/>
                <a:ea typeface="Yu Gothic UI"/>
              </a:rPr>
              <a:t>　</a:t>
            </a:r>
            <a:r>
              <a:rPr lang="ja-JP" altLang="en-US" sz="1800">
                <a:solidFill>
                  <a:srgbClr val="2F2523"/>
                </a:solidFill>
                <a:latin typeface="Yu Gothic UI"/>
                <a:ea typeface="Yu Gothic UI"/>
              </a:rPr>
              <a:t>線形探索</a:t>
            </a:r>
            <a:r>
              <a:rPr lang="en-US" altLang="ja-JP" sz="1800">
                <a:solidFill>
                  <a:srgbClr val="2F2523"/>
                </a:solidFill>
                <a:latin typeface="Yu Gothic UI"/>
                <a:ea typeface="Yu Gothic UI"/>
              </a:rPr>
              <a:t>(</a:t>
            </a:r>
            <a:r>
              <a:rPr lang="ja-GB" altLang="en-US" sz="1800" err="1">
                <a:solidFill>
                  <a:srgbClr val="2F2523"/>
                </a:solidFill>
                <a:latin typeface="Yu Gothic UI"/>
                <a:ea typeface="Yu Gothic UI"/>
              </a:rPr>
              <a:t>配列</a:t>
            </a:r>
            <a:r>
              <a:rPr lang="en-US" sz="1800">
                <a:solidFill>
                  <a:srgbClr val="2F2523"/>
                </a:solidFill>
                <a:latin typeface="Yu Gothic UI"/>
                <a:ea typeface="Yu Gothic UI"/>
              </a:rPr>
              <a:t> </a:t>
            </a:r>
            <a:r>
              <a:rPr lang="ja-GB" altLang="en-US" sz="1800" err="1">
                <a:solidFill>
                  <a:srgbClr val="2F2523"/>
                </a:solidFill>
                <a:latin typeface="Yu Gothic UI"/>
                <a:ea typeface="Yu Gothic UI"/>
              </a:rPr>
              <a:t>探索対象</a:t>
            </a:r>
            <a:r>
              <a:rPr lang="en-US" altLang="ja-JP" sz="1800">
                <a:solidFill>
                  <a:srgbClr val="2F2523"/>
                </a:solidFill>
                <a:latin typeface="Yu Gothic UI"/>
                <a:ea typeface="Yu Gothic UI"/>
              </a:rPr>
              <a:t>, </a:t>
            </a:r>
            <a:r>
              <a:rPr lang="ja-GB" altLang="en-US" sz="1800" err="1">
                <a:solidFill>
                  <a:srgbClr val="2F2523"/>
                </a:solidFill>
                <a:latin typeface="Yu Gothic UI"/>
                <a:ea typeface="Yu Gothic UI"/>
              </a:rPr>
              <a:t>整数</a:t>
            </a:r>
            <a:r>
              <a:rPr lang="en-US" sz="1800">
                <a:solidFill>
                  <a:srgbClr val="2F2523"/>
                </a:solidFill>
                <a:latin typeface="Yu Gothic UI"/>
                <a:ea typeface="Yu Gothic UI"/>
              </a:rPr>
              <a:t> </a:t>
            </a:r>
            <a:r>
              <a:rPr lang="ja-GB" altLang="en-US" sz="1800" err="1">
                <a:solidFill>
                  <a:srgbClr val="2F2523"/>
                </a:solidFill>
                <a:latin typeface="Yu Gothic UI"/>
                <a:ea typeface="Yu Gothic UI"/>
              </a:rPr>
              <a:t>探索</a:t>
            </a:r>
            <a:r>
              <a:rPr lang="ja-JP" altLang="en-US" sz="1800">
                <a:solidFill>
                  <a:srgbClr val="2F2523"/>
                </a:solidFill>
                <a:latin typeface="Yu Gothic UI"/>
                <a:ea typeface="Yu Gothic UI"/>
              </a:rPr>
              <a:t>値</a:t>
            </a:r>
            <a:r>
              <a:rPr lang="en-US" altLang="ja-JP" sz="1800">
                <a:solidFill>
                  <a:srgbClr val="2F2523"/>
                </a:solidFill>
                <a:latin typeface="Yu Gothic UI"/>
                <a:ea typeface="Yu Gothic UI"/>
              </a:rPr>
              <a:t>){</a:t>
            </a:r>
          </a:p>
          <a:p>
            <a:pPr marL="0" indent="0">
              <a:buNone/>
            </a:pPr>
            <a:r>
              <a:rPr lang="ja-JP" altLang="en-US" sz="1800">
                <a:solidFill>
                  <a:srgbClr val="2F2523"/>
                </a:solidFill>
                <a:latin typeface="Yu Gothic UI"/>
                <a:ea typeface="Yu Gothic UI"/>
              </a:rPr>
              <a:t>　　</a:t>
            </a:r>
            <a:r>
              <a:rPr lang="ja-GB" altLang="en-US" sz="1800">
                <a:solidFill>
                  <a:srgbClr val="2F2523"/>
                </a:solidFill>
                <a:latin typeface="Yu Gothic UI"/>
                <a:ea typeface="Yu Gothic UI"/>
              </a:rPr>
              <a:t>整数</a:t>
            </a:r>
            <a:r>
              <a:rPr lang="en-US" sz="1800">
                <a:solidFill>
                  <a:srgbClr val="2F2523"/>
                </a:solidFill>
                <a:latin typeface="Yu Gothic UI"/>
                <a:ea typeface="Yu Gothic UI"/>
              </a:rPr>
              <a:t> </a:t>
            </a:r>
            <a:r>
              <a:rPr lang="ja-GB" altLang="en-US" sz="1800">
                <a:solidFill>
                  <a:srgbClr val="2F2523"/>
                </a:solidFill>
                <a:latin typeface="Yu Gothic UI"/>
                <a:ea typeface="Yu Gothic UI"/>
              </a:rPr>
              <a:t>長さ</a:t>
            </a:r>
            <a:r>
              <a:rPr lang="en-US" sz="1800">
                <a:solidFill>
                  <a:srgbClr val="2F2523"/>
                </a:solidFill>
                <a:latin typeface="Yu Gothic UI"/>
                <a:ea typeface="Yu Gothic UI"/>
              </a:rPr>
              <a:t> = </a:t>
            </a:r>
            <a:r>
              <a:rPr lang="ja-GB" altLang="en-US" sz="1800">
                <a:solidFill>
                  <a:srgbClr val="2F2523"/>
                </a:solidFill>
                <a:latin typeface="Yu Gothic UI"/>
                <a:ea typeface="Yu Gothic UI"/>
              </a:rPr>
              <a:t>配列の要素数を取得する関数（探索対象）</a:t>
            </a:r>
            <a:endParaRPr lang="en-US" sz="1800">
              <a:solidFill>
                <a:srgbClr val="2F2523"/>
              </a:solidFill>
              <a:latin typeface="Yu Gothic UI"/>
              <a:ea typeface="Yu Gothic UI"/>
            </a:endParaRPr>
          </a:p>
          <a:p>
            <a:pPr marL="0" indent="0">
              <a:buNone/>
            </a:pPr>
            <a:r>
              <a:rPr lang="ja-GB" altLang="en-US" sz="1800">
                <a:solidFill>
                  <a:srgbClr val="2F2523"/>
                </a:solidFill>
                <a:latin typeface="Yu Gothic UI"/>
                <a:ea typeface="Yu Gothic UI"/>
              </a:rPr>
              <a:t>　　整数</a:t>
            </a:r>
            <a:r>
              <a:rPr lang="en-US" sz="1800">
                <a:solidFill>
                  <a:srgbClr val="2F2523"/>
                </a:solidFill>
                <a:latin typeface="Yu Gothic UI"/>
                <a:ea typeface="Yu Gothic UI"/>
              </a:rPr>
              <a:t> </a:t>
            </a:r>
            <a:r>
              <a:rPr lang="ja-GB" altLang="en-US" sz="1800">
                <a:solidFill>
                  <a:srgbClr val="2F2523"/>
                </a:solidFill>
                <a:latin typeface="Yu Gothic UI"/>
                <a:ea typeface="Yu Gothic UI"/>
              </a:rPr>
              <a:t>繰り返し数</a:t>
            </a:r>
            <a:r>
              <a:rPr lang="en-US" sz="1800">
                <a:solidFill>
                  <a:srgbClr val="2F2523"/>
                </a:solidFill>
                <a:latin typeface="Yu Gothic UI"/>
                <a:ea typeface="Yu Gothic UI"/>
              </a:rPr>
              <a:t> = 0</a:t>
            </a:r>
          </a:p>
          <a:p>
            <a:pPr marL="0" indent="0">
              <a:buNone/>
            </a:pPr>
            <a:r>
              <a:rPr lang="ja-JP" altLang="en-US" sz="1800">
                <a:solidFill>
                  <a:srgbClr val="2F2523"/>
                </a:solidFill>
                <a:latin typeface="Yu Gothic UI"/>
                <a:ea typeface="Yu Gothic UI"/>
              </a:rPr>
              <a:t>　　（</a:t>
            </a:r>
            <a:r>
              <a:rPr lang="ja-GB" altLang="en-US" sz="1800">
                <a:solidFill>
                  <a:srgbClr val="2F2523"/>
                </a:solidFill>
                <a:latin typeface="Yu Gothic UI"/>
                <a:ea typeface="Yu Gothic UI"/>
              </a:rPr>
              <a:t>長さ）回だけ繰り返す</a:t>
            </a:r>
            <a:r>
              <a:rPr lang="en-US" sz="1800">
                <a:solidFill>
                  <a:srgbClr val="2F2523"/>
                </a:solidFill>
                <a:latin typeface="Yu Gothic UI"/>
                <a:ea typeface="Yu Gothic UI"/>
              </a:rPr>
              <a:t>{</a:t>
            </a:r>
            <a:endParaRPr lang="ja-JP" sz="1800">
              <a:solidFill>
                <a:srgbClr val="2F2523"/>
              </a:solidFill>
              <a:latin typeface="Yu Gothic UI"/>
              <a:ea typeface="Yu Gothic UI"/>
            </a:endParaRPr>
          </a:p>
          <a:p>
            <a:pPr marL="0" indent="0">
              <a:buNone/>
            </a:pPr>
            <a:r>
              <a:rPr lang="ja-JP" altLang="en-US" sz="1800">
                <a:solidFill>
                  <a:srgbClr val="2F2523"/>
                </a:solidFill>
                <a:latin typeface="Yu Gothic UI"/>
                <a:ea typeface="Yu Gothic UI"/>
              </a:rPr>
              <a:t>　　　　もし（ 配列</a:t>
            </a:r>
            <a:r>
              <a:rPr lang="en-US" altLang="ja-JP" sz="1800">
                <a:solidFill>
                  <a:srgbClr val="2F2523"/>
                </a:solidFill>
                <a:latin typeface="Yu Gothic UI"/>
                <a:ea typeface="Yu Gothic UI"/>
              </a:rPr>
              <a:t>[</a:t>
            </a:r>
            <a:r>
              <a:rPr lang="ja-GB" altLang="en-US" sz="1800" err="1">
                <a:solidFill>
                  <a:srgbClr val="2F2523"/>
                </a:solidFill>
                <a:latin typeface="Yu Gothic UI"/>
                <a:ea typeface="Yu Gothic UI"/>
              </a:rPr>
              <a:t>繰り返し数</a:t>
            </a:r>
            <a:r>
              <a:rPr lang="en-GB" sz="1800">
                <a:solidFill>
                  <a:srgbClr val="2F2523"/>
                </a:solidFill>
                <a:latin typeface="Yu Gothic UI"/>
                <a:ea typeface="Yu Gothic UI"/>
              </a:rPr>
              <a:t>] </a:t>
            </a:r>
            <a:r>
              <a:rPr lang="ja-JP" altLang="en-US" sz="1800">
                <a:solidFill>
                  <a:srgbClr val="2F2523"/>
                </a:solidFill>
                <a:latin typeface="Yu Gothic UI"/>
                <a:ea typeface="Yu Gothic UI"/>
              </a:rPr>
              <a:t>が 探したい値 ）と等しいとき</a:t>
            </a:r>
            <a:r>
              <a:rPr lang="en-US" altLang="ja-JP" sz="1800">
                <a:solidFill>
                  <a:srgbClr val="2F2523"/>
                </a:solidFill>
                <a:latin typeface="Yu Gothic UI"/>
                <a:ea typeface="Yu Gothic UI"/>
              </a:rPr>
              <a:t>{</a:t>
            </a:r>
          </a:p>
          <a:p>
            <a:pPr marL="0" indent="0">
              <a:buNone/>
            </a:pPr>
            <a:r>
              <a:rPr lang="ja-JP" altLang="en-US" sz="1800">
                <a:solidFill>
                  <a:srgbClr val="2F2523"/>
                </a:solidFill>
                <a:latin typeface="Yu Gothic UI"/>
                <a:ea typeface="Yu Gothic UI"/>
              </a:rPr>
              <a:t>　　　　　　</a:t>
            </a:r>
            <a:r>
              <a:rPr lang="ja-GB" altLang="en-US" sz="1800">
                <a:solidFill>
                  <a:srgbClr val="2F2523"/>
                </a:solidFill>
                <a:latin typeface="Yu Gothic UI"/>
                <a:ea typeface="Yu Gothic UI"/>
              </a:rPr>
              <a:t>整数</a:t>
            </a:r>
            <a:r>
              <a:rPr lang="en-US" sz="1800">
                <a:solidFill>
                  <a:srgbClr val="2F2523"/>
                </a:solidFill>
                <a:latin typeface="Yu Gothic UI"/>
                <a:ea typeface="Yu Gothic UI"/>
              </a:rPr>
              <a:t> </a:t>
            </a:r>
            <a:r>
              <a:rPr lang="ja-GB" altLang="en-US" sz="1800">
                <a:solidFill>
                  <a:srgbClr val="2F2523"/>
                </a:solidFill>
                <a:latin typeface="Yu Gothic UI"/>
                <a:ea typeface="Yu Gothic UI"/>
              </a:rPr>
              <a:t>探索値の場所</a:t>
            </a:r>
            <a:r>
              <a:rPr lang="en-US" sz="1800">
                <a:solidFill>
                  <a:srgbClr val="2F2523"/>
                </a:solidFill>
                <a:latin typeface="Yu Gothic UI"/>
                <a:ea typeface="Yu Gothic UI"/>
              </a:rPr>
              <a:t> == </a:t>
            </a:r>
            <a:r>
              <a:rPr lang="ja-GB" altLang="en-US" sz="1800">
                <a:solidFill>
                  <a:srgbClr val="2F2523"/>
                </a:solidFill>
                <a:latin typeface="Yu Gothic UI"/>
                <a:ea typeface="Yu Gothic UI"/>
              </a:rPr>
              <a:t>繰り返し数</a:t>
            </a:r>
            <a:endParaRPr lang="en-US" sz="1800">
              <a:solidFill>
                <a:srgbClr val="2F2523"/>
              </a:solidFill>
              <a:latin typeface="Yu Gothic UI"/>
              <a:ea typeface="Yu Gothic UI"/>
            </a:endParaRPr>
          </a:p>
          <a:p>
            <a:pPr marL="0" indent="0">
              <a:buNone/>
            </a:pPr>
            <a:r>
              <a:rPr lang="ja-GB" altLang="en-US" sz="1800">
                <a:solidFill>
                  <a:srgbClr val="2F2523"/>
                </a:solidFill>
                <a:latin typeface="Yu Gothic UI"/>
                <a:ea typeface="Yu Gothic UI"/>
              </a:rPr>
              <a:t>　　　　　　プログラムを終了</a:t>
            </a:r>
            <a:endParaRPr lang="en-US" altLang="ja-JP" sz="1800">
              <a:solidFill>
                <a:srgbClr val="2F2523"/>
              </a:solidFill>
              <a:latin typeface="Yu Gothic UI"/>
              <a:ea typeface="Yu Gothic UI"/>
            </a:endParaRPr>
          </a:p>
          <a:p>
            <a:pPr marL="0" indent="0">
              <a:buNone/>
            </a:pPr>
            <a:r>
              <a:rPr lang="ja-JP" altLang="en-US" sz="1800">
                <a:solidFill>
                  <a:srgbClr val="2F2523"/>
                </a:solidFill>
                <a:latin typeface="Yu Gothic UI"/>
                <a:ea typeface="Yu Gothic UI"/>
              </a:rPr>
              <a:t>　　　　</a:t>
            </a:r>
            <a:r>
              <a:rPr lang="en-US" altLang="ja-JP" sz="1800">
                <a:solidFill>
                  <a:srgbClr val="2F2523"/>
                </a:solidFill>
                <a:latin typeface="Yu Gothic UI"/>
                <a:ea typeface="Yu Gothic UI"/>
              </a:rPr>
              <a:t>}</a:t>
            </a:r>
          </a:p>
          <a:p>
            <a:pPr marL="0" indent="0">
              <a:buNone/>
            </a:pPr>
            <a:r>
              <a:rPr lang="ja-JP" altLang="en-US" sz="1800">
                <a:solidFill>
                  <a:srgbClr val="2F2523"/>
                </a:solidFill>
                <a:latin typeface="Yu Gothic UI"/>
                <a:ea typeface="Yu Gothic UI"/>
              </a:rPr>
              <a:t>　　</a:t>
            </a:r>
            <a:r>
              <a:rPr lang="en-US" altLang="ja-JP" sz="1800">
                <a:solidFill>
                  <a:srgbClr val="2F2523"/>
                </a:solidFill>
                <a:latin typeface="Yu Gothic UI"/>
                <a:ea typeface="Yu Gothic UI"/>
              </a:rPr>
              <a:t>}</a:t>
            </a:r>
          </a:p>
          <a:p>
            <a:pPr marL="0" indent="0">
              <a:buNone/>
            </a:pPr>
            <a:r>
              <a:rPr lang="ja-JP" altLang="en-US" sz="1800">
                <a:solidFill>
                  <a:srgbClr val="2F2523"/>
                </a:solidFill>
                <a:latin typeface="Yu Gothic UI"/>
                <a:ea typeface="Yu Gothic UI"/>
              </a:rPr>
              <a:t>　　</a:t>
            </a:r>
            <a:r>
              <a:rPr lang="ja-GB" altLang="en-US" sz="1800">
                <a:solidFill>
                  <a:srgbClr val="2F2523"/>
                </a:solidFill>
                <a:latin typeface="Yu Gothic UI"/>
                <a:ea typeface="Yu Gothic UI"/>
              </a:rPr>
              <a:t>繰り返しが終了したら，探したい値はないと判断する</a:t>
            </a:r>
            <a:endParaRPr lang="en-US" altLang="ja-JP" sz="1800">
              <a:solidFill>
                <a:srgbClr val="2F2523"/>
              </a:solidFill>
              <a:latin typeface="Yu Gothic UI"/>
              <a:ea typeface="Yu Gothic UI"/>
            </a:endParaRPr>
          </a:p>
          <a:p>
            <a:pPr marL="0" indent="0">
              <a:buNone/>
            </a:pPr>
            <a:r>
              <a:rPr lang="en-US" altLang="ja-JP" sz="1800">
                <a:solidFill>
                  <a:srgbClr val="2F2523"/>
                </a:solidFill>
                <a:latin typeface="Yu Gothic UI"/>
                <a:ea typeface="Yu Gothic UI"/>
              </a:rPr>
              <a:t>}</a:t>
            </a:r>
            <a:endParaRPr lang="ja-JP" altLang="en-US" sz="1800">
              <a:solidFill>
                <a:srgbClr val="2F2523"/>
              </a:solidFill>
              <a:latin typeface="Yu Gothic UI"/>
              <a:ea typeface="Yu Gothic UI"/>
            </a:endParaRPr>
          </a:p>
        </p:txBody>
      </p:sp>
    </p:spTree>
    <p:extLst>
      <p:ext uri="{BB962C8B-B14F-4D97-AF65-F5344CB8AC3E}">
        <p14:creationId xmlns:p14="http://schemas.microsoft.com/office/powerpoint/2010/main" val="3099964520"/>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FAD6A2-406A-9B05-9CF0-1060404E9C9A}"/>
              </a:ext>
            </a:extLst>
          </p:cNvPr>
          <p:cNvSpPr>
            <a:spLocks noGrp="1"/>
          </p:cNvSpPr>
          <p:nvPr>
            <p:ph type="title"/>
          </p:nvPr>
        </p:nvSpPr>
        <p:spPr/>
        <p:txBody>
          <a:bodyPr/>
          <a:lstStyle/>
          <a:p>
            <a:r>
              <a:rPr kumimoji="1" lang="en-US" altLang="ja-GB"/>
              <a:t>Web</a:t>
            </a:r>
            <a:r>
              <a:rPr kumimoji="1" lang="ja-GB" altLang="en-US"/>
              <a:t>アプリでの動作説明</a:t>
            </a:r>
          </a:p>
        </p:txBody>
      </p:sp>
      <p:pic>
        <p:nvPicPr>
          <p:cNvPr id="6" name="コンテンツ プレースホルダー 5" descr="グラフィカル ユーザー インターフェイス&#10;&#10;AI 生成コンテンツは誤りを含む可能性があります。">
            <a:extLst>
              <a:ext uri="{FF2B5EF4-FFF2-40B4-BE49-F238E27FC236}">
                <a16:creationId xmlns:a16="http://schemas.microsoft.com/office/drawing/2014/main" id="{5EFE34CD-3C9F-AEF1-46E2-021B32577C73}"/>
              </a:ext>
            </a:extLst>
          </p:cNvPr>
          <p:cNvPicPr>
            <a:picLocks noGrp="1" noChangeAspect="1"/>
          </p:cNvPicPr>
          <p:nvPr>
            <p:ph idx="1"/>
          </p:nvPr>
        </p:nvPicPr>
        <p:blipFill>
          <a:blip r:embed="rId3" cstate="print">
            <a:extLst>
              <a:ext uri="{28A0092B-C50C-407E-A947-70E740481C1C}">
                <a14:useLocalDpi xmlns:a14="http://schemas.microsoft.com/office/drawing/2010/main"/>
              </a:ext>
            </a:extLst>
          </a:blip>
          <a:stretch>
            <a:fillRect/>
          </a:stretch>
        </p:blipFill>
        <p:spPr>
          <a:xfrm>
            <a:off x="1798244" y="803741"/>
            <a:ext cx="5547512" cy="5449451"/>
          </a:xfrm>
        </p:spPr>
      </p:pic>
      <p:sp>
        <p:nvSpPr>
          <p:cNvPr id="4" name="テキスト ボックス 3">
            <a:extLst>
              <a:ext uri="{FF2B5EF4-FFF2-40B4-BE49-F238E27FC236}">
                <a16:creationId xmlns:a16="http://schemas.microsoft.com/office/drawing/2014/main" id="{14BC4967-F470-6E60-2AC1-0B4B90E144B1}"/>
              </a:ext>
            </a:extLst>
          </p:cNvPr>
          <p:cNvSpPr txBox="1"/>
          <p:nvPr/>
        </p:nvSpPr>
        <p:spPr>
          <a:xfrm>
            <a:off x="930362" y="6003235"/>
            <a:ext cx="7283276" cy="369332"/>
          </a:xfrm>
          <a:prstGeom prst="rect">
            <a:avLst/>
          </a:prstGeom>
          <a:noFill/>
        </p:spPr>
        <p:txBody>
          <a:bodyPr wrap="none" rtlCol="0">
            <a:spAutoFit/>
          </a:bodyPr>
          <a:lstStyle/>
          <a:p>
            <a:r>
              <a:rPr kumimoji="1" lang="en-GB" altLang="ja-GB" dirty="0">
                <a:hlinkClick r:id="rId4"/>
              </a:rPr>
              <a:t>https://claude.ai/public/artifacts/d07b7208-44e6-4d47-8f54-079161fe30eb</a:t>
            </a:r>
            <a:r>
              <a:rPr kumimoji="1" lang="en-GB" altLang="ja-GB" dirty="0"/>
              <a:t> </a:t>
            </a:r>
            <a:endParaRPr kumimoji="1" lang="ja-GB" altLang="en-US" dirty="0"/>
          </a:p>
        </p:txBody>
      </p:sp>
      <p:sp>
        <p:nvSpPr>
          <p:cNvPr id="7" name="テキスト ボックス 6">
            <a:extLst>
              <a:ext uri="{FF2B5EF4-FFF2-40B4-BE49-F238E27FC236}">
                <a16:creationId xmlns:a16="http://schemas.microsoft.com/office/drawing/2014/main" id="{D7DEA4F7-2593-D7A0-2E9F-3992E891ACFB}"/>
              </a:ext>
            </a:extLst>
          </p:cNvPr>
          <p:cNvSpPr txBox="1"/>
          <p:nvPr/>
        </p:nvSpPr>
        <p:spPr>
          <a:xfrm>
            <a:off x="780737" y="6427447"/>
            <a:ext cx="7582525" cy="369332"/>
          </a:xfrm>
          <a:prstGeom prst="rect">
            <a:avLst/>
          </a:prstGeom>
          <a:noFill/>
        </p:spPr>
        <p:txBody>
          <a:bodyPr wrap="none" rtlCol="0">
            <a:spAutoFit/>
          </a:bodyPr>
          <a:lstStyle/>
          <a:p>
            <a:r>
              <a:rPr kumimoji="1" lang="en-US" altLang="ja-GB"/>
              <a:t>※PC</a:t>
            </a:r>
            <a:r>
              <a:rPr kumimoji="1" lang="ja-GB" altLang="en-US"/>
              <a:t>・タブレット推奨，スマホはレイアウトが崩れる可能性が高いです</a:t>
            </a:r>
          </a:p>
        </p:txBody>
      </p:sp>
    </p:spTree>
    <p:extLst>
      <p:ext uri="{BB962C8B-B14F-4D97-AF65-F5344CB8AC3E}">
        <p14:creationId xmlns:p14="http://schemas.microsoft.com/office/powerpoint/2010/main" val="395531290"/>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851B9-05EA-54D7-F8A5-A4439B67C89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8392448-F69A-E63F-0D16-AA6EBF76A82C}"/>
              </a:ext>
            </a:extLst>
          </p:cNvPr>
          <p:cNvSpPr>
            <a:spLocks noGrp="1"/>
          </p:cNvSpPr>
          <p:nvPr>
            <p:ph type="title"/>
          </p:nvPr>
        </p:nvSpPr>
        <p:spPr/>
        <p:txBody>
          <a:bodyPr/>
          <a:lstStyle/>
          <a:p>
            <a:r>
              <a:rPr kumimoji="1" lang="ja-GB" altLang="en-US"/>
              <a:t>二分探索：ソートされた配列を高速に探索する方法</a:t>
            </a:r>
          </a:p>
        </p:txBody>
      </p:sp>
      <p:sp>
        <p:nvSpPr>
          <p:cNvPr id="3" name="コンテンツ プレースホルダー 2">
            <a:extLst>
              <a:ext uri="{FF2B5EF4-FFF2-40B4-BE49-F238E27FC236}">
                <a16:creationId xmlns:a16="http://schemas.microsoft.com/office/drawing/2014/main" id="{B0F90F51-C1C1-B8C5-43B4-1B0244DEF1EF}"/>
              </a:ext>
            </a:extLst>
          </p:cNvPr>
          <p:cNvSpPr>
            <a:spLocks noGrp="1"/>
          </p:cNvSpPr>
          <p:nvPr>
            <p:ph idx="1"/>
          </p:nvPr>
        </p:nvSpPr>
        <p:spPr/>
        <p:txBody>
          <a:bodyPr>
            <a:normAutofit/>
          </a:bodyPr>
          <a:lstStyle/>
          <a:p>
            <a:pPr marL="0" indent="0">
              <a:buNone/>
            </a:pPr>
            <a:r>
              <a:rPr kumimoji="1" lang="ja-GB" altLang="en-US" sz="1800">
                <a:solidFill>
                  <a:srgbClr val="2F2523"/>
                </a:solidFill>
              </a:rPr>
              <a:t>探索の開始位置を配列の先頭とする</a:t>
            </a:r>
            <a:endParaRPr kumimoji="1" lang="en-US" altLang="ja-GB" sz="1800">
              <a:solidFill>
                <a:srgbClr val="2F2523"/>
              </a:solidFill>
            </a:endParaRPr>
          </a:p>
          <a:p>
            <a:pPr marL="0" indent="0">
              <a:buNone/>
            </a:pPr>
            <a:r>
              <a:rPr kumimoji="1" lang="ja-GB" altLang="en-US" sz="1800">
                <a:solidFill>
                  <a:srgbClr val="2F2523"/>
                </a:solidFill>
              </a:rPr>
              <a:t>探索の終了位置を配列の末尾とする</a:t>
            </a:r>
            <a:endParaRPr kumimoji="1" lang="en-US" altLang="ja-GB" sz="1800">
              <a:solidFill>
                <a:srgbClr val="2F2523"/>
              </a:solidFill>
            </a:endParaRPr>
          </a:p>
          <a:p>
            <a:pPr marL="0" indent="0">
              <a:buNone/>
            </a:pPr>
            <a:r>
              <a:rPr lang="ja-GB" altLang="en-US" sz="1800">
                <a:solidFill>
                  <a:srgbClr val="2F2523"/>
                </a:solidFill>
              </a:rPr>
              <a:t>（開始位置</a:t>
            </a:r>
            <a:r>
              <a:rPr lang="en-US" altLang="ja-GB" sz="1800">
                <a:solidFill>
                  <a:srgbClr val="2F2523"/>
                </a:solidFill>
              </a:rPr>
              <a:t> ≦ </a:t>
            </a:r>
            <a:r>
              <a:rPr lang="ja-GB" altLang="en-US" sz="1800">
                <a:solidFill>
                  <a:srgbClr val="2F2523"/>
                </a:solidFill>
              </a:rPr>
              <a:t>終了位置）の間，以下を繰り返す</a:t>
            </a:r>
            <a:r>
              <a:rPr lang="en-US" altLang="ja-GB" sz="1800">
                <a:solidFill>
                  <a:srgbClr val="2F2523"/>
                </a:solidFill>
              </a:rPr>
              <a:t>{</a:t>
            </a:r>
          </a:p>
          <a:p>
            <a:pPr marL="0" indent="0">
              <a:buNone/>
            </a:pPr>
            <a:r>
              <a:rPr kumimoji="1" lang="ja-GB" altLang="en-US" sz="1800">
                <a:solidFill>
                  <a:srgbClr val="2F2523"/>
                </a:solidFill>
              </a:rPr>
              <a:t>　　探索範囲の中央を計算する</a:t>
            </a:r>
            <a:r>
              <a:rPr lang="ja-GB" altLang="en-US" sz="1800">
                <a:solidFill>
                  <a:srgbClr val="2F2523"/>
                </a:solidFill>
              </a:rPr>
              <a:t>．ただし，中央が少数なら切り捨てる．</a:t>
            </a:r>
            <a:endParaRPr kumimoji="1" lang="en-US" altLang="ja-GB" sz="1800">
              <a:solidFill>
                <a:srgbClr val="2F2523"/>
              </a:solidFill>
            </a:endParaRPr>
          </a:p>
          <a:p>
            <a:pPr marL="0" indent="0">
              <a:buNone/>
            </a:pPr>
            <a:r>
              <a:rPr kumimoji="1" lang="ja-GB" altLang="en-US" sz="1800">
                <a:solidFill>
                  <a:srgbClr val="2F2523"/>
                </a:solidFill>
              </a:rPr>
              <a:t>　　中央の位置にある値と探している値を比べる</a:t>
            </a:r>
            <a:endParaRPr kumimoji="1" lang="en-US" altLang="ja-GB" sz="1800">
              <a:solidFill>
                <a:srgbClr val="2F2523"/>
              </a:solidFill>
            </a:endParaRPr>
          </a:p>
          <a:p>
            <a:pPr marL="0" indent="0">
              <a:buNone/>
            </a:pPr>
            <a:r>
              <a:rPr kumimoji="1" lang="ja-GB" altLang="en-US" sz="1800">
                <a:solidFill>
                  <a:srgbClr val="2F2523"/>
                </a:solidFill>
              </a:rPr>
              <a:t>　　もし（中央の値</a:t>
            </a:r>
            <a:r>
              <a:rPr kumimoji="1" lang="en-US" altLang="ja-GB" sz="1800">
                <a:solidFill>
                  <a:srgbClr val="2F2523"/>
                </a:solidFill>
              </a:rPr>
              <a:t> == </a:t>
            </a:r>
            <a:r>
              <a:rPr lang="ja-GB" altLang="en-US" sz="1800">
                <a:solidFill>
                  <a:srgbClr val="2F2523"/>
                </a:solidFill>
              </a:rPr>
              <a:t>探している値</a:t>
            </a:r>
            <a:r>
              <a:rPr kumimoji="1" lang="ja-GB" altLang="en-US" sz="1800">
                <a:solidFill>
                  <a:srgbClr val="2F2523"/>
                </a:solidFill>
              </a:rPr>
              <a:t>）ならば，</a:t>
            </a:r>
            <a:r>
              <a:rPr kumimoji="1" lang="en-US" altLang="ja-GB" sz="1800">
                <a:solidFill>
                  <a:srgbClr val="2F2523"/>
                </a:solidFill>
              </a:rPr>
              <a:t>{</a:t>
            </a:r>
          </a:p>
          <a:p>
            <a:pPr marL="0" indent="0">
              <a:buNone/>
            </a:pPr>
            <a:r>
              <a:rPr lang="ja-GB" altLang="en-US" sz="1800">
                <a:solidFill>
                  <a:srgbClr val="2F2523"/>
                </a:solidFill>
              </a:rPr>
              <a:t>　　　　探している値の位置を中央の値として動作終了</a:t>
            </a:r>
            <a:endParaRPr lang="en-US" altLang="ja-GB" sz="1800">
              <a:solidFill>
                <a:srgbClr val="2F2523"/>
              </a:solidFill>
            </a:endParaRPr>
          </a:p>
          <a:p>
            <a:pPr marL="0" indent="0">
              <a:buNone/>
            </a:pPr>
            <a:r>
              <a:rPr lang="ja-JP" altLang="en-US" sz="1800">
                <a:solidFill>
                  <a:srgbClr val="2F2523"/>
                </a:solidFill>
              </a:rPr>
              <a:t>　　</a:t>
            </a:r>
            <a:r>
              <a:rPr lang="en-US" altLang="ja-GB" sz="1800">
                <a:solidFill>
                  <a:srgbClr val="2F2523"/>
                </a:solidFill>
              </a:rPr>
              <a:t>}</a:t>
            </a:r>
          </a:p>
          <a:p>
            <a:pPr marL="0" indent="0">
              <a:buNone/>
            </a:pPr>
            <a:r>
              <a:rPr kumimoji="1" lang="ja-GB" altLang="en-US" sz="1800">
                <a:solidFill>
                  <a:srgbClr val="2F2523"/>
                </a:solidFill>
              </a:rPr>
              <a:t>　　もし（中央の値</a:t>
            </a:r>
            <a:r>
              <a:rPr kumimoji="1" lang="en-US" altLang="ja-GB" sz="1800">
                <a:solidFill>
                  <a:srgbClr val="2F2523"/>
                </a:solidFill>
              </a:rPr>
              <a:t> </a:t>
            </a:r>
            <a:r>
              <a:rPr kumimoji="1" lang="ja-GB" altLang="en-US" sz="1800">
                <a:solidFill>
                  <a:srgbClr val="2F2523"/>
                </a:solidFill>
              </a:rPr>
              <a:t>＜</a:t>
            </a:r>
            <a:r>
              <a:rPr kumimoji="1" lang="en-US" altLang="ja-GB" sz="1800">
                <a:solidFill>
                  <a:srgbClr val="2F2523"/>
                </a:solidFill>
              </a:rPr>
              <a:t> </a:t>
            </a:r>
            <a:r>
              <a:rPr kumimoji="1" lang="ja-GB" altLang="en-US" sz="1800">
                <a:solidFill>
                  <a:srgbClr val="2F2523"/>
                </a:solidFill>
              </a:rPr>
              <a:t>探している値）ならば</a:t>
            </a:r>
            <a:r>
              <a:rPr kumimoji="1" lang="en-US" altLang="ja-GB" sz="1800">
                <a:solidFill>
                  <a:srgbClr val="2F2523"/>
                </a:solidFill>
              </a:rPr>
              <a:t>{</a:t>
            </a:r>
          </a:p>
          <a:p>
            <a:pPr marL="0" indent="0">
              <a:buNone/>
            </a:pPr>
            <a:r>
              <a:rPr lang="ja-GB" altLang="en-US" sz="1800">
                <a:solidFill>
                  <a:srgbClr val="2F2523"/>
                </a:solidFill>
              </a:rPr>
              <a:t>　　　　終了位置を中央の一つ後ろに変更する</a:t>
            </a:r>
            <a:endParaRPr lang="en-US" altLang="ja-GB" sz="1800">
              <a:solidFill>
                <a:srgbClr val="2F2523"/>
              </a:solidFill>
            </a:endParaRPr>
          </a:p>
          <a:p>
            <a:pPr marL="0" indent="0">
              <a:buNone/>
            </a:pPr>
            <a:r>
              <a:rPr lang="ja-JP" altLang="en-US" sz="1800">
                <a:solidFill>
                  <a:srgbClr val="2F2523"/>
                </a:solidFill>
              </a:rPr>
              <a:t>　　</a:t>
            </a:r>
            <a:r>
              <a:rPr lang="en-US" altLang="ja-GB" sz="1800">
                <a:solidFill>
                  <a:srgbClr val="2F2523"/>
                </a:solidFill>
              </a:rPr>
              <a:t>}</a:t>
            </a:r>
          </a:p>
          <a:p>
            <a:pPr marL="0" indent="0">
              <a:buNone/>
            </a:pPr>
            <a:r>
              <a:rPr kumimoji="1" lang="ja-GB" altLang="en-US" sz="1800">
                <a:solidFill>
                  <a:srgbClr val="2F2523"/>
                </a:solidFill>
              </a:rPr>
              <a:t>　　もし（中央の値</a:t>
            </a:r>
            <a:r>
              <a:rPr kumimoji="1" lang="en-US" altLang="ja-GB" sz="1800">
                <a:solidFill>
                  <a:srgbClr val="2F2523"/>
                </a:solidFill>
              </a:rPr>
              <a:t> &gt; </a:t>
            </a:r>
            <a:r>
              <a:rPr kumimoji="1" lang="ja-GB" altLang="en-US" sz="1800">
                <a:solidFill>
                  <a:srgbClr val="2F2523"/>
                </a:solidFill>
              </a:rPr>
              <a:t>探している値）ならば</a:t>
            </a:r>
            <a:r>
              <a:rPr kumimoji="1" lang="en-US" altLang="ja-GB" sz="1800">
                <a:solidFill>
                  <a:srgbClr val="2F2523"/>
                </a:solidFill>
              </a:rPr>
              <a:t>{</a:t>
            </a:r>
          </a:p>
          <a:p>
            <a:pPr marL="0" indent="0">
              <a:buNone/>
            </a:pPr>
            <a:r>
              <a:rPr kumimoji="1" lang="ja-GB" altLang="en-US" sz="1800">
                <a:solidFill>
                  <a:srgbClr val="2F2523"/>
                </a:solidFill>
              </a:rPr>
              <a:t>　　　　開始位置を中央の一つ後ろに変更する</a:t>
            </a:r>
            <a:endParaRPr kumimoji="1" lang="en-US" altLang="ja-GB" sz="1800">
              <a:solidFill>
                <a:srgbClr val="2F2523"/>
              </a:solidFill>
            </a:endParaRPr>
          </a:p>
          <a:p>
            <a:pPr marL="0" indent="0">
              <a:buNone/>
            </a:pPr>
            <a:r>
              <a:rPr kumimoji="1" lang="ja-JP" altLang="en-US" sz="1800">
                <a:solidFill>
                  <a:srgbClr val="2F2523"/>
                </a:solidFill>
              </a:rPr>
              <a:t>　　</a:t>
            </a:r>
            <a:r>
              <a:rPr kumimoji="1" lang="en-US" altLang="ja-GB" sz="1800">
                <a:solidFill>
                  <a:srgbClr val="2F2523"/>
                </a:solidFill>
              </a:rPr>
              <a:t>}</a:t>
            </a:r>
          </a:p>
          <a:p>
            <a:pPr marL="0" indent="0">
              <a:buNone/>
            </a:pPr>
            <a:r>
              <a:rPr kumimoji="1" lang="en-US" altLang="ja-GB" sz="1800">
                <a:solidFill>
                  <a:srgbClr val="2F2523"/>
                </a:solidFill>
              </a:rPr>
              <a:t>}</a:t>
            </a:r>
          </a:p>
          <a:p>
            <a:pPr marL="0" indent="0">
              <a:buNone/>
            </a:pPr>
            <a:r>
              <a:rPr kumimoji="1" lang="ja-GB" altLang="en-US" sz="1800">
                <a:solidFill>
                  <a:srgbClr val="2F2523"/>
                </a:solidFill>
              </a:rPr>
              <a:t>繰り返しが終了したら，探したい値は存在しないと判断する</a:t>
            </a:r>
          </a:p>
        </p:txBody>
      </p:sp>
    </p:spTree>
    <p:extLst>
      <p:ext uri="{BB962C8B-B14F-4D97-AF65-F5344CB8AC3E}">
        <p14:creationId xmlns:p14="http://schemas.microsoft.com/office/powerpoint/2010/main" val="530880113"/>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ACD1DB-C90F-7CD5-AA78-F865A8CB00A0}"/>
              </a:ext>
            </a:extLst>
          </p:cNvPr>
          <p:cNvSpPr>
            <a:spLocks noGrp="1"/>
          </p:cNvSpPr>
          <p:nvPr>
            <p:ph type="title"/>
          </p:nvPr>
        </p:nvSpPr>
        <p:spPr/>
        <p:txBody>
          <a:bodyPr/>
          <a:lstStyle/>
          <a:p>
            <a:r>
              <a:rPr kumimoji="1" lang="en-US" altLang="ja-GB"/>
              <a:t>Web</a:t>
            </a:r>
            <a:r>
              <a:rPr kumimoji="1" lang="ja-GB" altLang="en-US"/>
              <a:t>アプリでの動作説明</a:t>
            </a:r>
          </a:p>
        </p:txBody>
      </p:sp>
      <p:pic>
        <p:nvPicPr>
          <p:cNvPr id="6" name="コンテンツ プレースホルダー 5">
            <a:extLst>
              <a:ext uri="{FF2B5EF4-FFF2-40B4-BE49-F238E27FC236}">
                <a16:creationId xmlns:a16="http://schemas.microsoft.com/office/drawing/2014/main" id="{A27E35A4-5536-2C59-3848-1689DC864FDC}"/>
              </a:ext>
            </a:extLst>
          </p:cNvPr>
          <p:cNvPicPr>
            <a:picLocks noGrp="1" noChangeAspect="1"/>
          </p:cNvPicPr>
          <p:nvPr>
            <p:ph idx="1"/>
          </p:nvPr>
        </p:nvPicPr>
        <p:blipFill>
          <a:blip r:embed="rId2"/>
          <a:stretch/>
        </p:blipFill>
        <p:spPr>
          <a:xfrm>
            <a:off x="993937" y="837298"/>
            <a:ext cx="6962850" cy="5452150"/>
          </a:xfrm>
        </p:spPr>
      </p:pic>
      <p:sp>
        <p:nvSpPr>
          <p:cNvPr id="4" name="テキスト ボックス 3">
            <a:extLst>
              <a:ext uri="{FF2B5EF4-FFF2-40B4-BE49-F238E27FC236}">
                <a16:creationId xmlns:a16="http://schemas.microsoft.com/office/drawing/2014/main" id="{90C18E97-361F-CBE9-40C8-4FAB6499F9B6}"/>
              </a:ext>
            </a:extLst>
          </p:cNvPr>
          <p:cNvSpPr txBox="1"/>
          <p:nvPr/>
        </p:nvSpPr>
        <p:spPr>
          <a:xfrm>
            <a:off x="993937" y="6135126"/>
            <a:ext cx="7156126" cy="369332"/>
          </a:xfrm>
          <a:prstGeom prst="rect">
            <a:avLst/>
          </a:prstGeom>
          <a:noFill/>
        </p:spPr>
        <p:txBody>
          <a:bodyPr wrap="none" rtlCol="0">
            <a:spAutoFit/>
          </a:bodyPr>
          <a:lstStyle/>
          <a:p>
            <a:r>
              <a:rPr kumimoji="1" lang="en-GB" altLang="ja-GB">
                <a:hlinkClick r:id="rId3"/>
              </a:rPr>
              <a:t>https://claude.ai/public/artifacts/4ac68507-ef42-4c2e-9a05-9af4fa555d5e</a:t>
            </a:r>
            <a:r>
              <a:rPr kumimoji="1" lang="en-GB" altLang="ja-GB"/>
              <a:t> </a:t>
            </a:r>
            <a:endParaRPr kumimoji="1" lang="ja-GB" altLang="en-US"/>
          </a:p>
        </p:txBody>
      </p:sp>
      <p:sp>
        <p:nvSpPr>
          <p:cNvPr id="9" name="テキスト ボックス 8">
            <a:extLst>
              <a:ext uri="{FF2B5EF4-FFF2-40B4-BE49-F238E27FC236}">
                <a16:creationId xmlns:a16="http://schemas.microsoft.com/office/drawing/2014/main" id="{C6D0EC12-4A9F-E3D6-049E-541E84B12A1C}"/>
              </a:ext>
            </a:extLst>
          </p:cNvPr>
          <p:cNvSpPr txBox="1"/>
          <p:nvPr/>
        </p:nvSpPr>
        <p:spPr>
          <a:xfrm>
            <a:off x="780737" y="6427447"/>
            <a:ext cx="7582525" cy="369332"/>
          </a:xfrm>
          <a:prstGeom prst="rect">
            <a:avLst/>
          </a:prstGeom>
          <a:noFill/>
        </p:spPr>
        <p:txBody>
          <a:bodyPr wrap="none" rtlCol="0">
            <a:spAutoFit/>
          </a:bodyPr>
          <a:lstStyle/>
          <a:p>
            <a:r>
              <a:rPr kumimoji="1" lang="en-US" altLang="ja-GB"/>
              <a:t>※PC</a:t>
            </a:r>
            <a:r>
              <a:rPr kumimoji="1" lang="ja-GB" altLang="en-US"/>
              <a:t>・タブレット推奨，スマホはレイアウトが崩れる可能性が高いです</a:t>
            </a:r>
          </a:p>
        </p:txBody>
      </p:sp>
    </p:spTree>
    <p:extLst>
      <p:ext uri="{BB962C8B-B14F-4D97-AF65-F5344CB8AC3E}">
        <p14:creationId xmlns:p14="http://schemas.microsoft.com/office/powerpoint/2010/main" val="1656692440"/>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FBDAF-2952-AB42-505C-578B807B3B2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DC30FE4-7A11-FA93-1291-5696EFF99402}"/>
              </a:ext>
            </a:extLst>
          </p:cNvPr>
          <p:cNvSpPr>
            <a:spLocks noGrp="1"/>
          </p:cNvSpPr>
          <p:nvPr>
            <p:ph type="title"/>
          </p:nvPr>
        </p:nvSpPr>
        <p:spPr/>
        <p:txBody>
          <a:bodyPr/>
          <a:lstStyle/>
          <a:p>
            <a:r>
              <a:rPr lang="ja-GB" altLang="en-US" dirty="0"/>
              <a:t>所要時間表の作成</a:t>
            </a:r>
            <a:endParaRPr kumimoji="1" lang="ja-GB" altLang="en-US" dirty="0"/>
          </a:p>
        </p:txBody>
      </p:sp>
      <p:sp>
        <p:nvSpPr>
          <p:cNvPr id="3" name="コンテンツ プレースホルダー 2">
            <a:extLst>
              <a:ext uri="{FF2B5EF4-FFF2-40B4-BE49-F238E27FC236}">
                <a16:creationId xmlns:a16="http://schemas.microsoft.com/office/drawing/2014/main" id="{57B150A2-914C-7D45-4186-B2292A28923D}"/>
              </a:ext>
            </a:extLst>
          </p:cNvPr>
          <p:cNvSpPr>
            <a:spLocks noGrp="1"/>
          </p:cNvSpPr>
          <p:nvPr>
            <p:ph idx="1"/>
          </p:nvPr>
        </p:nvSpPr>
        <p:spPr/>
        <p:txBody>
          <a:bodyPr/>
          <a:lstStyle/>
          <a:p>
            <a:pPr marL="0" indent="0">
              <a:buNone/>
            </a:pPr>
            <a:r>
              <a:rPr lang="en-US" altLang="ja-GB" dirty="0"/>
              <a:t>①</a:t>
            </a:r>
            <a:r>
              <a:rPr lang="ja-GB" altLang="en-US" dirty="0"/>
              <a:t>ある作業</a:t>
            </a:r>
            <a:r>
              <a:rPr lang="en-US" altLang="ja-GB" dirty="0"/>
              <a:t>(</a:t>
            </a:r>
            <a:r>
              <a:rPr lang="en-US" altLang="ja-GB" dirty="0" err="1"/>
              <a:t>i,j</a:t>
            </a:r>
            <a:r>
              <a:rPr lang="en-US" altLang="ja-GB" dirty="0"/>
              <a:t>)</a:t>
            </a:r>
            <a:r>
              <a:rPr lang="ja-GB" altLang="en-US" dirty="0"/>
              <a:t>の</a:t>
            </a:r>
            <a:r>
              <a:rPr lang="en-US" altLang="ja-GB" dirty="0" err="1"/>
              <a:t>i</a:t>
            </a:r>
            <a:r>
              <a:rPr lang="ja-GB" altLang="en-US" dirty="0"/>
              <a:t>を縦方向に探索し，</a:t>
            </a:r>
            <a:r>
              <a:rPr lang="en-US" altLang="ja-GB" dirty="0"/>
              <a:t>②j</a:t>
            </a:r>
            <a:r>
              <a:rPr lang="ja-GB" altLang="en-US" dirty="0"/>
              <a:t>を横方向に探索し，</a:t>
            </a:r>
            <a:br>
              <a:rPr lang="en-US" altLang="ja-GB" dirty="0"/>
            </a:br>
            <a:r>
              <a:rPr lang="ja-GB" altLang="en-US" dirty="0"/>
              <a:t>その交点座標にあたる欄内に所要時間を入力する</a:t>
            </a:r>
            <a:endParaRPr lang="en-US" altLang="ja-GB" dirty="0"/>
          </a:p>
          <a:p>
            <a:endParaRPr kumimoji="1" lang="ja-GB" altLang="en-US" dirty="0"/>
          </a:p>
        </p:txBody>
      </p:sp>
      <p:pic>
        <p:nvPicPr>
          <p:cNvPr id="5" name="コンテンツ プレースホルダー 4">
            <a:extLst>
              <a:ext uri="{FF2B5EF4-FFF2-40B4-BE49-F238E27FC236}">
                <a16:creationId xmlns:a16="http://schemas.microsoft.com/office/drawing/2014/main" id="{53FE8CFA-0151-64C5-90B3-9862AC17EC08}"/>
              </a:ext>
            </a:extLst>
          </p:cNvPr>
          <p:cNvPicPr>
            <a:picLocks noChangeAspect="1"/>
          </p:cNvPicPr>
          <p:nvPr/>
        </p:nvPicPr>
        <p:blipFill>
          <a:blip r:embed="rId2"/>
          <a:srcRect/>
          <a:stretch/>
        </p:blipFill>
        <p:spPr>
          <a:xfrm>
            <a:off x="5058448" y="2379277"/>
            <a:ext cx="3266456" cy="2917517"/>
          </a:xfrm>
          <a:prstGeom prst="rect">
            <a:avLst/>
          </a:prstGeom>
        </p:spPr>
      </p:pic>
      <p:graphicFrame>
        <p:nvGraphicFramePr>
          <p:cNvPr id="6" name="表 5">
            <a:extLst>
              <a:ext uri="{FF2B5EF4-FFF2-40B4-BE49-F238E27FC236}">
                <a16:creationId xmlns:a16="http://schemas.microsoft.com/office/drawing/2014/main" id="{EA626B65-05AE-F896-B30E-5BF577DCACB6}"/>
              </a:ext>
            </a:extLst>
          </p:cNvPr>
          <p:cNvGraphicFramePr>
            <a:graphicFrameLocks noGrp="1"/>
          </p:cNvGraphicFramePr>
          <p:nvPr/>
        </p:nvGraphicFramePr>
        <p:xfrm>
          <a:off x="390700" y="2362862"/>
          <a:ext cx="3465324" cy="2987040"/>
        </p:xfrm>
        <a:graphic>
          <a:graphicData uri="http://schemas.openxmlformats.org/drawingml/2006/table">
            <a:tbl>
              <a:tblPr firstRow="1" bandRow="1">
                <a:tableStyleId>{5C22544A-7EE6-4342-B048-85BDC9FD1C3A}</a:tableStyleId>
              </a:tblPr>
              <a:tblGrid>
                <a:gridCol w="1155108">
                  <a:extLst>
                    <a:ext uri="{9D8B030D-6E8A-4147-A177-3AD203B41FA5}">
                      <a16:colId xmlns:a16="http://schemas.microsoft.com/office/drawing/2014/main" val="3691675347"/>
                    </a:ext>
                  </a:extLst>
                </a:gridCol>
                <a:gridCol w="1155108">
                  <a:extLst>
                    <a:ext uri="{9D8B030D-6E8A-4147-A177-3AD203B41FA5}">
                      <a16:colId xmlns:a16="http://schemas.microsoft.com/office/drawing/2014/main" val="928111709"/>
                    </a:ext>
                  </a:extLst>
                </a:gridCol>
                <a:gridCol w="1155108">
                  <a:extLst>
                    <a:ext uri="{9D8B030D-6E8A-4147-A177-3AD203B41FA5}">
                      <a16:colId xmlns:a16="http://schemas.microsoft.com/office/drawing/2014/main" val="4014108102"/>
                    </a:ext>
                  </a:extLst>
                </a:gridCol>
              </a:tblGrid>
              <a:tr h="183483">
                <a:tc>
                  <a:txBody>
                    <a:bodyPr/>
                    <a:lstStyle/>
                    <a:p>
                      <a:pPr algn="ctr"/>
                      <a:r>
                        <a:rPr lang="ja-GB" altLang="en-US" sz="1400" dirty="0"/>
                        <a:t>作業記号</a:t>
                      </a:r>
                    </a:p>
                  </a:txBody>
                  <a:tcPr/>
                </a:tc>
                <a:tc>
                  <a:txBody>
                    <a:bodyPr/>
                    <a:lstStyle/>
                    <a:p>
                      <a:pPr algn="ctr"/>
                      <a:r>
                        <a:rPr lang="ja-GB" altLang="en-US" sz="1400" dirty="0"/>
                        <a:t>作業</a:t>
                      </a:r>
                      <a:r>
                        <a:rPr lang="en-US" altLang="ja-GB" sz="1400" dirty="0"/>
                        <a:t>(</a:t>
                      </a:r>
                      <a:r>
                        <a:rPr lang="en-US" altLang="ja-GB" sz="1400" dirty="0" err="1"/>
                        <a:t>i,j</a:t>
                      </a:r>
                      <a:r>
                        <a:rPr lang="en-US" altLang="ja-GB" sz="1400" dirty="0"/>
                        <a:t>)</a:t>
                      </a:r>
                      <a:endParaRPr lang="ja-GB" altLang="en-US" sz="1400" dirty="0"/>
                    </a:p>
                  </a:txBody>
                  <a:tcPr/>
                </a:tc>
                <a:tc>
                  <a:txBody>
                    <a:bodyPr/>
                    <a:lstStyle/>
                    <a:p>
                      <a:pPr algn="ctr"/>
                      <a:r>
                        <a:rPr lang="ja-GB" altLang="en-US" sz="1400" dirty="0"/>
                        <a:t>所要日数</a:t>
                      </a:r>
                      <a:r>
                        <a:rPr lang="en-US" altLang="ja-GB" sz="1400" dirty="0"/>
                        <a:t> </a:t>
                      </a:r>
                      <a:r>
                        <a:rPr lang="en-US" altLang="ja-GB" sz="1400" dirty="0" err="1"/>
                        <a:t>D</a:t>
                      </a:r>
                      <a:r>
                        <a:rPr lang="en-US" altLang="ja-GB" sz="1400" baseline="-25000" dirty="0" err="1"/>
                        <a:t>i,j</a:t>
                      </a:r>
                      <a:endParaRPr lang="ja-GB" altLang="en-US" sz="1400" baseline="-25000" dirty="0"/>
                    </a:p>
                  </a:txBody>
                  <a:tcPr/>
                </a:tc>
                <a:extLst>
                  <a:ext uri="{0D108BD9-81ED-4DB2-BD59-A6C34878D82A}">
                    <a16:rowId xmlns:a16="http://schemas.microsoft.com/office/drawing/2014/main" val="3671063893"/>
                  </a:ext>
                </a:extLst>
              </a:tr>
              <a:tr h="185302">
                <a:tc>
                  <a:txBody>
                    <a:bodyPr/>
                    <a:lstStyle/>
                    <a:p>
                      <a:pPr algn="ctr"/>
                      <a:r>
                        <a:rPr lang="en-US" altLang="ja-GB" sz="1600" dirty="0">
                          <a:solidFill>
                            <a:srgbClr val="0070C0"/>
                          </a:solidFill>
                        </a:rPr>
                        <a:t>A</a:t>
                      </a:r>
                      <a:endParaRPr lang="ja-GB" altLang="en-US" sz="1600" dirty="0">
                        <a:solidFill>
                          <a:srgbClr val="0070C0"/>
                        </a:solidFill>
                      </a:endParaRPr>
                    </a:p>
                  </a:txBody>
                  <a:tcPr/>
                </a:tc>
                <a:tc>
                  <a:txBody>
                    <a:bodyPr/>
                    <a:lstStyle/>
                    <a:p>
                      <a:pPr algn="ctr"/>
                      <a:r>
                        <a:rPr lang="en-US" altLang="ja-GB" sz="1600" dirty="0">
                          <a:solidFill>
                            <a:srgbClr val="0070C0"/>
                          </a:solidFill>
                        </a:rPr>
                        <a:t>(1,2)</a:t>
                      </a:r>
                      <a:endParaRPr lang="ja-GB" altLang="en-US" sz="1600" dirty="0">
                        <a:solidFill>
                          <a:srgbClr val="0070C0"/>
                        </a:solidFill>
                      </a:endParaRPr>
                    </a:p>
                  </a:txBody>
                  <a:tcPr/>
                </a:tc>
                <a:tc>
                  <a:txBody>
                    <a:bodyPr/>
                    <a:lstStyle/>
                    <a:p>
                      <a:pPr algn="ctr"/>
                      <a:r>
                        <a:rPr lang="en-US" altLang="ja-GB" sz="1600" dirty="0">
                          <a:solidFill>
                            <a:srgbClr val="0070C0"/>
                          </a:solidFill>
                        </a:rPr>
                        <a:t>3</a:t>
                      </a:r>
                      <a:endParaRPr lang="ja-GB" altLang="en-US" sz="1600" dirty="0">
                        <a:solidFill>
                          <a:srgbClr val="0070C0"/>
                        </a:solidFill>
                      </a:endParaRPr>
                    </a:p>
                  </a:txBody>
                  <a:tcPr/>
                </a:tc>
                <a:extLst>
                  <a:ext uri="{0D108BD9-81ED-4DB2-BD59-A6C34878D82A}">
                    <a16:rowId xmlns:a16="http://schemas.microsoft.com/office/drawing/2014/main" val="3344703274"/>
                  </a:ext>
                </a:extLst>
              </a:tr>
              <a:tr h="185302">
                <a:tc>
                  <a:txBody>
                    <a:bodyPr/>
                    <a:lstStyle/>
                    <a:p>
                      <a:pPr algn="ctr"/>
                      <a:r>
                        <a:rPr lang="en-US" altLang="ja-GB" sz="1600" dirty="0"/>
                        <a:t>B</a:t>
                      </a:r>
                      <a:endParaRPr lang="ja-GB" altLang="en-US" sz="1600" dirty="0"/>
                    </a:p>
                  </a:txBody>
                  <a:tcPr/>
                </a:tc>
                <a:tc>
                  <a:txBody>
                    <a:bodyPr/>
                    <a:lstStyle/>
                    <a:p>
                      <a:pPr algn="ctr"/>
                      <a:r>
                        <a:rPr lang="en-US" altLang="ja-GB" sz="1600" dirty="0"/>
                        <a:t>(1,3)</a:t>
                      </a:r>
                      <a:endParaRPr lang="ja-GB" altLang="en-US" sz="1600" dirty="0"/>
                    </a:p>
                  </a:txBody>
                  <a:tcPr/>
                </a:tc>
                <a:tc>
                  <a:txBody>
                    <a:bodyPr/>
                    <a:lstStyle/>
                    <a:p>
                      <a:pPr algn="ctr"/>
                      <a:r>
                        <a:rPr lang="en-US" altLang="ja-GB" sz="1600" dirty="0"/>
                        <a:t>2</a:t>
                      </a:r>
                      <a:endParaRPr lang="ja-GB" altLang="en-US" sz="1600" dirty="0"/>
                    </a:p>
                  </a:txBody>
                  <a:tcPr/>
                </a:tc>
                <a:extLst>
                  <a:ext uri="{0D108BD9-81ED-4DB2-BD59-A6C34878D82A}">
                    <a16:rowId xmlns:a16="http://schemas.microsoft.com/office/drawing/2014/main" val="4177507280"/>
                  </a:ext>
                </a:extLst>
              </a:tr>
              <a:tr h="185302">
                <a:tc>
                  <a:txBody>
                    <a:bodyPr/>
                    <a:lstStyle/>
                    <a:p>
                      <a:pPr algn="ctr"/>
                      <a:r>
                        <a:rPr lang="en-US" altLang="ja-GB" sz="1600" dirty="0"/>
                        <a:t>C</a:t>
                      </a:r>
                      <a:endParaRPr lang="ja-GB" altLang="en-US" sz="1600" dirty="0"/>
                    </a:p>
                  </a:txBody>
                  <a:tcPr/>
                </a:tc>
                <a:tc>
                  <a:txBody>
                    <a:bodyPr/>
                    <a:lstStyle/>
                    <a:p>
                      <a:pPr algn="ctr"/>
                      <a:r>
                        <a:rPr lang="en-US" altLang="ja-GB" sz="1600" dirty="0"/>
                        <a:t>(2,4)</a:t>
                      </a:r>
                      <a:endParaRPr lang="ja-GB" altLang="en-US" sz="1600" dirty="0"/>
                    </a:p>
                  </a:txBody>
                  <a:tcPr/>
                </a:tc>
                <a:tc>
                  <a:txBody>
                    <a:bodyPr/>
                    <a:lstStyle/>
                    <a:p>
                      <a:pPr algn="ctr"/>
                      <a:r>
                        <a:rPr lang="en-US" altLang="ja-GB" sz="1600" dirty="0"/>
                        <a:t>4</a:t>
                      </a:r>
                      <a:endParaRPr lang="ja-GB" altLang="en-US" sz="1600" dirty="0"/>
                    </a:p>
                  </a:txBody>
                  <a:tcPr/>
                </a:tc>
                <a:extLst>
                  <a:ext uri="{0D108BD9-81ED-4DB2-BD59-A6C34878D82A}">
                    <a16:rowId xmlns:a16="http://schemas.microsoft.com/office/drawing/2014/main" val="3414689720"/>
                  </a:ext>
                </a:extLst>
              </a:tr>
              <a:tr h="185302">
                <a:tc>
                  <a:txBody>
                    <a:bodyPr/>
                    <a:lstStyle/>
                    <a:p>
                      <a:pPr algn="ctr"/>
                      <a:r>
                        <a:rPr lang="en-US" altLang="ja-GB" sz="1600" dirty="0"/>
                        <a:t>D</a:t>
                      </a:r>
                      <a:endParaRPr lang="ja-GB" altLang="en-US" sz="1600" dirty="0"/>
                    </a:p>
                  </a:txBody>
                  <a:tcPr/>
                </a:tc>
                <a:tc>
                  <a:txBody>
                    <a:bodyPr/>
                    <a:lstStyle/>
                    <a:p>
                      <a:pPr algn="ctr"/>
                      <a:r>
                        <a:rPr lang="en-US" altLang="ja-GB" sz="1600" dirty="0"/>
                        <a:t>(3,4)</a:t>
                      </a:r>
                      <a:endParaRPr lang="ja-GB" altLang="en-US" sz="1600" dirty="0"/>
                    </a:p>
                  </a:txBody>
                  <a:tcPr/>
                </a:tc>
                <a:tc>
                  <a:txBody>
                    <a:bodyPr/>
                    <a:lstStyle/>
                    <a:p>
                      <a:pPr algn="ctr"/>
                      <a:r>
                        <a:rPr lang="en-US" altLang="ja-GB" sz="1600" dirty="0"/>
                        <a:t>5</a:t>
                      </a:r>
                      <a:endParaRPr lang="ja-GB" altLang="en-US" sz="1600" dirty="0"/>
                    </a:p>
                  </a:txBody>
                  <a:tcPr/>
                </a:tc>
                <a:extLst>
                  <a:ext uri="{0D108BD9-81ED-4DB2-BD59-A6C34878D82A}">
                    <a16:rowId xmlns:a16="http://schemas.microsoft.com/office/drawing/2014/main" val="3373349507"/>
                  </a:ext>
                </a:extLst>
              </a:tr>
              <a:tr h="185302">
                <a:tc>
                  <a:txBody>
                    <a:bodyPr/>
                    <a:lstStyle/>
                    <a:p>
                      <a:pPr algn="ctr"/>
                      <a:r>
                        <a:rPr lang="en-US" altLang="ja-GB" sz="1600" dirty="0"/>
                        <a:t>E</a:t>
                      </a:r>
                      <a:endParaRPr lang="ja-GB" altLang="en-US" sz="1600" dirty="0"/>
                    </a:p>
                  </a:txBody>
                  <a:tcPr/>
                </a:tc>
                <a:tc>
                  <a:txBody>
                    <a:bodyPr/>
                    <a:lstStyle/>
                    <a:p>
                      <a:pPr algn="ctr"/>
                      <a:r>
                        <a:rPr lang="en-US" altLang="ja-GB" sz="1600" dirty="0"/>
                        <a:t>(2,5)</a:t>
                      </a:r>
                      <a:endParaRPr lang="ja-GB" altLang="en-US" sz="1600" dirty="0"/>
                    </a:p>
                  </a:txBody>
                  <a:tcPr/>
                </a:tc>
                <a:tc>
                  <a:txBody>
                    <a:bodyPr/>
                    <a:lstStyle/>
                    <a:p>
                      <a:pPr algn="ctr"/>
                      <a:r>
                        <a:rPr lang="en-US" altLang="ja-GB" sz="1600" dirty="0"/>
                        <a:t>1</a:t>
                      </a:r>
                      <a:endParaRPr lang="ja-GB" altLang="en-US" sz="1600" dirty="0"/>
                    </a:p>
                  </a:txBody>
                  <a:tcPr/>
                </a:tc>
                <a:extLst>
                  <a:ext uri="{0D108BD9-81ED-4DB2-BD59-A6C34878D82A}">
                    <a16:rowId xmlns:a16="http://schemas.microsoft.com/office/drawing/2014/main" val="2991419434"/>
                  </a:ext>
                </a:extLst>
              </a:tr>
              <a:tr h="185302">
                <a:tc>
                  <a:txBody>
                    <a:bodyPr/>
                    <a:lstStyle/>
                    <a:p>
                      <a:pPr algn="ctr"/>
                      <a:r>
                        <a:rPr lang="en-US" altLang="ja-GB" sz="1600" dirty="0"/>
                        <a:t>F</a:t>
                      </a:r>
                      <a:endParaRPr lang="ja-GB" altLang="en-US" sz="1600" dirty="0"/>
                    </a:p>
                  </a:txBody>
                  <a:tcPr/>
                </a:tc>
                <a:tc>
                  <a:txBody>
                    <a:bodyPr/>
                    <a:lstStyle/>
                    <a:p>
                      <a:pPr algn="ctr"/>
                      <a:r>
                        <a:rPr lang="en-US" altLang="ja-GB" sz="1600" dirty="0"/>
                        <a:t>(4,6)</a:t>
                      </a:r>
                      <a:endParaRPr lang="ja-GB" altLang="en-US" sz="1600" dirty="0"/>
                    </a:p>
                  </a:txBody>
                  <a:tcPr/>
                </a:tc>
                <a:tc>
                  <a:txBody>
                    <a:bodyPr/>
                    <a:lstStyle/>
                    <a:p>
                      <a:pPr algn="ctr"/>
                      <a:r>
                        <a:rPr lang="en-US" altLang="ja-GB" sz="1600" dirty="0"/>
                        <a:t>6</a:t>
                      </a:r>
                      <a:endParaRPr lang="ja-GB" altLang="en-US" sz="1600" dirty="0"/>
                    </a:p>
                  </a:txBody>
                  <a:tcPr/>
                </a:tc>
                <a:extLst>
                  <a:ext uri="{0D108BD9-81ED-4DB2-BD59-A6C34878D82A}">
                    <a16:rowId xmlns:a16="http://schemas.microsoft.com/office/drawing/2014/main" val="3985016094"/>
                  </a:ext>
                </a:extLst>
              </a:tr>
              <a:tr h="185302">
                <a:tc>
                  <a:txBody>
                    <a:bodyPr/>
                    <a:lstStyle/>
                    <a:p>
                      <a:pPr algn="ctr"/>
                      <a:r>
                        <a:rPr lang="en-US" altLang="ja-GB" sz="1600" dirty="0"/>
                        <a:t>G</a:t>
                      </a:r>
                      <a:endParaRPr lang="ja-GB" altLang="en-US" sz="1600" dirty="0"/>
                    </a:p>
                  </a:txBody>
                  <a:tcPr/>
                </a:tc>
                <a:tc>
                  <a:txBody>
                    <a:bodyPr/>
                    <a:lstStyle/>
                    <a:p>
                      <a:pPr algn="ctr"/>
                      <a:r>
                        <a:rPr lang="en-US" altLang="ja-GB" sz="1600" dirty="0"/>
                        <a:t>(4,5)</a:t>
                      </a:r>
                      <a:endParaRPr lang="ja-GB" altLang="en-US" sz="1600" dirty="0"/>
                    </a:p>
                  </a:txBody>
                  <a:tcPr/>
                </a:tc>
                <a:tc>
                  <a:txBody>
                    <a:bodyPr/>
                    <a:lstStyle/>
                    <a:p>
                      <a:pPr algn="ctr"/>
                      <a:r>
                        <a:rPr lang="en-US" altLang="ja-GB" sz="1600" dirty="0"/>
                        <a:t>3</a:t>
                      </a:r>
                      <a:endParaRPr lang="ja-GB" altLang="en-US" sz="1600" dirty="0"/>
                    </a:p>
                  </a:txBody>
                  <a:tcPr/>
                </a:tc>
                <a:extLst>
                  <a:ext uri="{0D108BD9-81ED-4DB2-BD59-A6C34878D82A}">
                    <a16:rowId xmlns:a16="http://schemas.microsoft.com/office/drawing/2014/main" val="852509030"/>
                  </a:ext>
                </a:extLst>
              </a:tr>
              <a:tr h="185302">
                <a:tc>
                  <a:txBody>
                    <a:bodyPr/>
                    <a:lstStyle/>
                    <a:p>
                      <a:pPr algn="ctr"/>
                      <a:r>
                        <a:rPr lang="en-US" altLang="ja-GB" sz="1600" dirty="0"/>
                        <a:t>H</a:t>
                      </a:r>
                      <a:endParaRPr lang="ja-GB" altLang="en-US" sz="1600" dirty="0"/>
                    </a:p>
                  </a:txBody>
                  <a:tcPr/>
                </a:tc>
                <a:tc>
                  <a:txBody>
                    <a:bodyPr/>
                    <a:lstStyle/>
                    <a:p>
                      <a:pPr algn="ctr"/>
                      <a:r>
                        <a:rPr lang="en-US" altLang="ja-GB" sz="1600" dirty="0"/>
                        <a:t>(5,6)</a:t>
                      </a:r>
                      <a:endParaRPr lang="ja-GB" altLang="en-US" sz="1600" dirty="0"/>
                    </a:p>
                  </a:txBody>
                  <a:tcPr/>
                </a:tc>
                <a:tc>
                  <a:txBody>
                    <a:bodyPr/>
                    <a:lstStyle/>
                    <a:p>
                      <a:pPr algn="ctr"/>
                      <a:r>
                        <a:rPr lang="en-US" altLang="ja-GB" sz="1600" dirty="0"/>
                        <a:t>2</a:t>
                      </a:r>
                      <a:endParaRPr lang="ja-GB" altLang="en-US" sz="1600" dirty="0"/>
                    </a:p>
                  </a:txBody>
                  <a:tcPr/>
                </a:tc>
                <a:extLst>
                  <a:ext uri="{0D108BD9-81ED-4DB2-BD59-A6C34878D82A}">
                    <a16:rowId xmlns:a16="http://schemas.microsoft.com/office/drawing/2014/main" val="3285484398"/>
                  </a:ext>
                </a:extLst>
              </a:tr>
            </a:tbl>
          </a:graphicData>
        </a:graphic>
      </p:graphicFrame>
      <p:cxnSp>
        <p:nvCxnSpPr>
          <p:cNvPr id="12" name="直線矢印コネクタ 11">
            <a:extLst>
              <a:ext uri="{FF2B5EF4-FFF2-40B4-BE49-F238E27FC236}">
                <a16:creationId xmlns:a16="http://schemas.microsoft.com/office/drawing/2014/main" id="{4B8A899A-62CD-BA61-ABA5-15FDE355CB9E}"/>
              </a:ext>
            </a:extLst>
          </p:cNvPr>
          <p:cNvCxnSpPr>
            <a:cxnSpLocks/>
          </p:cNvCxnSpPr>
          <p:nvPr/>
        </p:nvCxnSpPr>
        <p:spPr>
          <a:xfrm>
            <a:off x="8446405" y="3052436"/>
            <a:ext cx="0" cy="38379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291BE133-0D97-0CAE-5C0D-E35394F19DE0}"/>
              </a:ext>
            </a:extLst>
          </p:cNvPr>
          <p:cNvCxnSpPr>
            <a:cxnSpLocks/>
          </p:cNvCxnSpPr>
          <p:nvPr/>
        </p:nvCxnSpPr>
        <p:spPr>
          <a:xfrm>
            <a:off x="5473946" y="3351294"/>
            <a:ext cx="44659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7229BF3A-8875-710C-31ED-844B66CFDC0C}"/>
              </a:ext>
            </a:extLst>
          </p:cNvPr>
          <p:cNvSpPr txBox="1"/>
          <p:nvPr/>
        </p:nvSpPr>
        <p:spPr>
          <a:xfrm>
            <a:off x="5080229" y="3166628"/>
            <a:ext cx="415498" cy="369332"/>
          </a:xfrm>
          <a:prstGeom prst="rect">
            <a:avLst/>
          </a:prstGeom>
          <a:noFill/>
        </p:spPr>
        <p:txBody>
          <a:bodyPr wrap="none" rtlCol="0">
            <a:spAutoFit/>
          </a:bodyPr>
          <a:lstStyle/>
          <a:p>
            <a:r>
              <a:rPr kumimoji="1" lang="en-US" altLang="ja-GB" b="1" dirty="0"/>
              <a:t>②</a:t>
            </a:r>
            <a:endParaRPr kumimoji="1" lang="ja-GB" altLang="en-US" b="1" dirty="0"/>
          </a:p>
        </p:txBody>
      </p:sp>
      <p:sp>
        <p:nvSpPr>
          <p:cNvPr id="19" name="テキスト ボックス 18">
            <a:extLst>
              <a:ext uri="{FF2B5EF4-FFF2-40B4-BE49-F238E27FC236}">
                <a16:creationId xmlns:a16="http://schemas.microsoft.com/office/drawing/2014/main" id="{DAF4487C-2BE5-7A72-1D29-CD2AE84070ED}"/>
              </a:ext>
            </a:extLst>
          </p:cNvPr>
          <p:cNvSpPr txBox="1"/>
          <p:nvPr/>
        </p:nvSpPr>
        <p:spPr>
          <a:xfrm>
            <a:off x="8247045" y="2762766"/>
            <a:ext cx="415498" cy="369332"/>
          </a:xfrm>
          <a:prstGeom prst="rect">
            <a:avLst/>
          </a:prstGeom>
          <a:noFill/>
        </p:spPr>
        <p:txBody>
          <a:bodyPr wrap="none" rtlCol="0">
            <a:spAutoFit/>
          </a:bodyPr>
          <a:lstStyle/>
          <a:p>
            <a:r>
              <a:rPr kumimoji="1" lang="en-US" altLang="ja-GB" b="1" dirty="0">
                <a:solidFill>
                  <a:srgbClr val="0070C0"/>
                </a:solidFill>
              </a:rPr>
              <a:t>①</a:t>
            </a:r>
            <a:endParaRPr kumimoji="1" lang="ja-GB" altLang="en-US" b="1" dirty="0">
              <a:solidFill>
                <a:srgbClr val="0070C0"/>
              </a:solidFill>
            </a:endParaRPr>
          </a:p>
        </p:txBody>
      </p:sp>
    </p:spTree>
    <p:extLst>
      <p:ext uri="{BB962C8B-B14F-4D97-AF65-F5344CB8AC3E}">
        <p14:creationId xmlns:p14="http://schemas.microsoft.com/office/powerpoint/2010/main" val="743464907"/>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F0863-B8C2-E6B8-A1D8-21A14533104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401BB01-02C2-53C3-5D81-873066899F38}"/>
              </a:ext>
            </a:extLst>
          </p:cNvPr>
          <p:cNvSpPr>
            <a:spLocks noGrp="1"/>
          </p:cNvSpPr>
          <p:nvPr>
            <p:ph type="title"/>
          </p:nvPr>
        </p:nvSpPr>
        <p:spPr/>
        <p:txBody>
          <a:bodyPr/>
          <a:lstStyle/>
          <a:p>
            <a:r>
              <a:rPr lang="ja-GB" altLang="en-US" dirty="0"/>
              <a:t>所要時間表の作成</a:t>
            </a:r>
            <a:endParaRPr kumimoji="1" lang="ja-GB" altLang="en-US" dirty="0"/>
          </a:p>
        </p:txBody>
      </p:sp>
      <p:sp>
        <p:nvSpPr>
          <p:cNvPr id="3" name="コンテンツ プレースホルダー 2">
            <a:extLst>
              <a:ext uri="{FF2B5EF4-FFF2-40B4-BE49-F238E27FC236}">
                <a16:creationId xmlns:a16="http://schemas.microsoft.com/office/drawing/2014/main" id="{57C06137-7F8F-B6D8-A54E-F6BAF8E54F71}"/>
              </a:ext>
            </a:extLst>
          </p:cNvPr>
          <p:cNvSpPr>
            <a:spLocks noGrp="1"/>
          </p:cNvSpPr>
          <p:nvPr>
            <p:ph idx="1"/>
          </p:nvPr>
        </p:nvSpPr>
        <p:spPr/>
        <p:txBody>
          <a:bodyPr/>
          <a:lstStyle/>
          <a:p>
            <a:pPr marL="0" indent="0">
              <a:buNone/>
            </a:pPr>
            <a:r>
              <a:rPr lang="en-US" altLang="ja-GB" dirty="0"/>
              <a:t>①</a:t>
            </a:r>
            <a:r>
              <a:rPr lang="ja-GB" altLang="en-US" dirty="0"/>
              <a:t>ある作業</a:t>
            </a:r>
            <a:r>
              <a:rPr lang="en-US" altLang="ja-GB" dirty="0"/>
              <a:t>(</a:t>
            </a:r>
            <a:r>
              <a:rPr lang="en-US" altLang="ja-GB" dirty="0" err="1"/>
              <a:t>i,j</a:t>
            </a:r>
            <a:r>
              <a:rPr lang="en-US" altLang="ja-GB" dirty="0"/>
              <a:t>)</a:t>
            </a:r>
            <a:r>
              <a:rPr lang="ja-GB" altLang="en-US" dirty="0"/>
              <a:t>の</a:t>
            </a:r>
            <a:r>
              <a:rPr lang="en-US" altLang="ja-GB" dirty="0" err="1"/>
              <a:t>i</a:t>
            </a:r>
            <a:r>
              <a:rPr lang="ja-GB" altLang="en-US" dirty="0"/>
              <a:t>を縦方向に探索し，</a:t>
            </a:r>
            <a:r>
              <a:rPr lang="en-US" altLang="ja-GB" dirty="0"/>
              <a:t>②j</a:t>
            </a:r>
            <a:r>
              <a:rPr lang="ja-GB" altLang="en-US" dirty="0"/>
              <a:t>を横方向に探索し，</a:t>
            </a:r>
            <a:br>
              <a:rPr lang="en-US" altLang="ja-GB" dirty="0"/>
            </a:br>
            <a:r>
              <a:rPr lang="ja-GB" altLang="en-US" dirty="0"/>
              <a:t>その交点座標にあたる欄内に所要時間を入力する</a:t>
            </a:r>
            <a:endParaRPr lang="en-US" altLang="ja-GB" dirty="0"/>
          </a:p>
          <a:p>
            <a:endParaRPr kumimoji="1" lang="ja-GB" altLang="en-US" dirty="0"/>
          </a:p>
        </p:txBody>
      </p:sp>
      <p:pic>
        <p:nvPicPr>
          <p:cNvPr id="5" name="コンテンツ プレースホルダー 4">
            <a:extLst>
              <a:ext uri="{FF2B5EF4-FFF2-40B4-BE49-F238E27FC236}">
                <a16:creationId xmlns:a16="http://schemas.microsoft.com/office/drawing/2014/main" id="{736E0E1B-F561-57FA-8DE3-318E3F19A3E8}"/>
              </a:ext>
            </a:extLst>
          </p:cNvPr>
          <p:cNvPicPr>
            <a:picLocks noChangeAspect="1"/>
          </p:cNvPicPr>
          <p:nvPr/>
        </p:nvPicPr>
        <p:blipFill>
          <a:blip r:embed="rId2"/>
          <a:srcRect/>
          <a:stretch/>
        </p:blipFill>
        <p:spPr>
          <a:xfrm>
            <a:off x="5058448" y="2384124"/>
            <a:ext cx="3266456" cy="2907824"/>
          </a:xfrm>
          <a:prstGeom prst="rect">
            <a:avLst/>
          </a:prstGeom>
        </p:spPr>
      </p:pic>
      <p:graphicFrame>
        <p:nvGraphicFramePr>
          <p:cNvPr id="6" name="表 5">
            <a:extLst>
              <a:ext uri="{FF2B5EF4-FFF2-40B4-BE49-F238E27FC236}">
                <a16:creationId xmlns:a16="http://schemas.microsoft.com/office/drawing/2014/main" id="{06743832-F3FC-B228-9899-862CDEBB83F4}"/>
              </a:ext>
            </a:extLst>
          </p:cNvPr>
          <p:cNvGraphicFramePr>
            <a:graphicFrameLocks noGrp="1"/>
          </p:cNvGraphicFramePr>
          <p:nvPr/>
        </p:nvGraphicFramePr>
        <p:xfrm>
          <a:off x="390700" y="2362862"/>
          <a:ext cx="3465324" cy="2987040"/>
        </p:xfrm>
        <a:graphic>
          <a:graphicData uri="http://schemas.openxmlformats.org/drawingml/2006/table">
            <a:tbl>
              <a:tblPr firstRow="1" bandRow="1">
                <a:tableStyleId>{5C22544A-7EE6-4342-B048-85BDC9FD1C3A}</a:tableStyleId>
              </a:tblPr>
              <a:tblGrid>
                <a:gridCol w="1155108">
                  <a:extLst>
                    <a:ext uri="{9D8B030D-6E8A-4147-A177-3AD203B41FA5}">
                      <a16:colId xmlns:a16="http://schemas.microsoft.com/office/drawing/2014/main" val="3691675347"/>
                    </a:ext>
                  </a:extLst>
                </a:gridCol>
                <a:gridCol w="1155108">
                  <a:extLst>
                    <a:ext uri="{9D8B030D-6E8A-4147-A177-3AD203B41FA5}">
                      <a16:colId xmlns:a16="http://schemas.microsoft.com/office/drawing/2014/main" val="928111709"/>
                    </a:ext>
                  </a:extLst>
                </a:gridCol>
                <a:gridCol w="1155108">
                  <a:extLst>
                    <a:ext uri="{9D8B030D-6E8A-4147-A177-3AD203B41FA5}">
                      <a16:colId xmlns:a16="http://schemas.microsoft.com/office/drawing/2014/main" val="4014108102"/>
                    </a:ext>
                  </a:extLst>
                </a:gridCol>
              </a:tblGrid>
              <a:tr h="183483">
                <a:tc>
                  <a:txBody>
                    <a:bodyPr/>
                    <a:lstStyle/>
                    <a:p>
                      <a:pPr algn="ctr"/>
                      <a:r>
                        <a:rPr lang="ja-GB" altLang="en-US" sz="1400" dirty="0"/>
                        <a:t>作業記号</a:t>
                      </a:r>
                    </a:p>
                  </a:txBody>
                  <a:tcPr/>
                </a:tc>
                <a:tc>
                  <a:txBody>
                    <a:bodyPr/>
                    <a:lstStyle/>
                    <a:p>
                      <a:pPr algn="ctr"/>
                      <a:r>
                        <a:rPr lang="ja-GB" altLang="en-US" sz="1400" dirty="0"/>
                        <a:t>作業</a:t>
                      </a:r>
                      <a:r>
                        <a:rPr lang="en-US" altLang="ja-GB" sz="1400" dirty="0"/>
                        <a:t>(</a:t>
                      </a:r>
                      <a:r>
                        <a:rPr lang="en-US" altLang="ja-GB" sz="1400" dirty="0" err="1"/>
                        <a:t>i,j</a:t>
                      </a:r>
                      <a:r>
                        <a:rPr lang="en-US" altLang="ja-GB" sz="1400" dirty="0"/>
                        <a:t>)</a:t>
                      </a:r>
                      <a:endParaRPr lang="ja-GB" altLang="en-US" sz="1400" dirty="0"/>
                    </a:p>
                  </a:txBody>
                  <a:tcPr/>
                </a:tc>
                <a:tc>
                  <a:txBody>
                    <a:bodyPr/>
                    <a:lstStyle/>
                    <a:p>
                      <a:pPr algn="ctr"/>
                      <a:r>
                        <a:rPr lang="ja-GB" altLang="en-US" sz="1400" dirty="0"/>
                        <a:t>所要日数</a:t>
                      </a:r>
                      <a:r>
                        <a:rPr lang="en-US" altLang="ja-GB" sz="1400" dirty="0"/>
                        <a:t> </a:t>
                      </a:r>
                      <a:r>
                        <a:rPr lang="en-US" altLang="ja-GB" sz="1400" dirty="0" err="1"/>
                        <a:t>D</a:t>
                      </a:r>
                      <a:r>
                        <a:rPr lang="en-US" altLang="ja-GB" sz="1400" baseline="-25000" dirty="0" err="1"/>
                        <a:t>i,j</a:t>
                      </a:r>
                      <a:endParaRPr lang="ja-GB" altLang="en-US" sz="1400" baseline="-25000" dirty="0"/>
                    </a:p>
                  </a:txBody>
                  <a:tcPr/>
                </a:tc>
                <a:extLst>
                  <a:ext uri="{0D108BD9-81ED-4DB2-BD59-A6C34878D82A}">
                    <a16:rowId xmlns:a16="http://schemas.microsoft.com/office/drawing/2014/main" val="3671063893"/>
                  </a:ext>
                </a:extLst>
              </a:tr>
              <a:tr h="185302">
                <a:tc>
                  <a:txBody>
                    <a:bodyPr/>
                    <a:lstStyle/>
                    <a:p>
                      <a:pPr algn="ctr"/>
                      <a:r>
                        <a:rPr lang="en-US" altLang="ja-GB" sz="1600" dirty="0"/>
                        <a:t>A</a:t>
                      </a:r>
                      <a:endParaRPr lang="ja-GB" altLang="en-US" sz="1600" dirty="0"/>
                    </a:p>
                  </a:txBody>
                  <a:tcPr/>
                </a:tc>
                <a:tc>
                  <a:txBody>
                    <a:bodyPr/>
                    <a:lstStyle/>
                    <a:p>
                      <a:pPr algn="ctr"/>
                      <a:r>
                        <a:rPr lang="en-US" altLang="ja-GB" sz="1600" dirty="0"/>
                        <a:t>(1,2)</a:t>
                      </a:r>
                      <a:endParaRPr lang="ja-GB" altLang="en-US" sz="1600" dirty="0"/>
                    </a:p>
                  </a:txBody>
                  <a:tcPr/>
                </a:tc>
                <a:tc>
                  <a:txBody>
                    <a:bodyPr/>
                    <a:lstStyle/>
                    <a:p>
                      <a:pPr algn="ctr"/>
                      <a:r>
                        <a:rPr lang="en-US" altLang="ja-GB" sz="1600" dirty="0"/>
                        <a:t>3</a:t>
                      </a:r>
                      <a:endParaRPr lang="ja-GB" altLang="en-US" sz="1600" dirty="0"/>
                    </a:p>
                  </a:txBody>
                  <a:tcPr/>
                </a:tc>
                <a:extLst>
                  <a:ext uri="{0D108BD9-81ED-4DB2-BD59-A6C34878D82A}">
                    <a16:rowId xmlns:a16="http://schemas.microsoft.com/office/drawing/2014/main" val="3344703274"/>
                  </a:ext>
                </a:extLst>
              </a:tr>
              <a:tr h="185302">
                <a:tc>
                  <a:txBody>
                    <a:bodyPr/>
                    <a:lstStyle/>
                    <a:p>
                      <a:pPr algn="ctr"/>
                      <a:r>
                        <a:rPr lang="en-US" altLang="ja-GB" sz="1600" dirty="0">
                          <a:solidFill>
                            <a:srgbClr val="0070C0"/>
                          </a:solidFill>
                        </a:rPr>
                        <a:t>B</a:t>
                      </a:r>
                      <a:endParaRPr lang="ja-GB" altLang="en-US" sz="1600" dirty="0">
                        <a:solidFill>
                          <a:srgbClr val="0070C0"/>
                        </a:solidFill>
                      </a:endParaRPr>
                    </a:p>
                  </a:txBody>
                  <a:tcPr/>
                </a:tc>
                <a:tc>
                  <a:txBody>
                    <a:bodyPr/>
                    <a:lstStyle/>
                    <a:p>
                      <a:pPr algn="ctr"/>
                      <a:r>
                        <a:rPr lang="en-US" altLang="ja-GB" sz="1600" dirty="0">
                          <a:solidFill>
                            <a:srgbClr val="0070C0"/>
                          </a:solidFill>
                        </a:rPr>
                        <a:t>(1,3)</a:t>
                      </a:r>
                      <a:endParaRPr lang="ja-GB" altLang="en-US" sz="1600" dirty="0">
                        <a:solidFill>
                          <a:srgbClr val="0070C0"/>
                        </a:solidFill>
                      </a:endParaRPr>
                    </a:p>
                  </a:txBody>
                  <a:tcPr/>
                </a:tc>
                <a:tc>
                  <a:txBody>
                    <a:bodyPr/>
                    <a:lstStyle/>
                    <a:p>
                      <a:pPr algn="ctr"/>
                      <a:r>
                        <a:rPr lang="en-US" altLang="ja-GB" sz="1600" dirty="0">
                          <a:solidFill>
                            <a:srgbClr val="0070C0"/>
                          </a:solidFill>
                        </a:rPr>
                        <a:t>2</a:t>
                      </a:r>
                      <a:endParaRPr lang="ja-GB" altLang="en-US" sz="1600" dirty="0">
                        <a:solidFill>
                          <a:srgbClr val="0070C0"/>
                        </a:solidFill>
                      </a:endParaRPr>
                    </a:p>
                  </a:txBody>
                  <a:tcPr/>
                </a:tc>
                <a:extLst>
                  <a:ext uri="{0D108BD9-81ED-4DB2-BD59-A6C34878D82A}">
                    <a16:rowId xmlns:a16="http://schemas.microsoft.com/office/drawing/2014/main" val="4177507280"/>
                  </a:ext>
                </a:extLst>
              </a:tr>
              <a:tr h="185302">
                <a:tc>
                  <a:txBody>
                    <a:bodyPr/>
                    <a:lstStyle/>
                    <a:p>
                      <a:pPr algn="ctr"/>
                      <a:r>
                        <a:rPr lang="en-US" altLang="ja-GB" sz="1600" dirty="0"/>
                        <a:t>C</a:t>
                      </a:r>
                      <a:endParaRPr lang="ja-GB" altLang="en-US" sz="1600" dirty="0"/>
                    </a:p>
                  </a:txBody>
                  <a:tcPr/>
                </a:tc>
                <a:tc>
                  <a:txBody>
                    <a:bodyPr/>
                    <a:lstStyle/>
                    <a:p>
                      <a:pPr algn="ctr"/>
                      <a:r>
                        <a:rPr lang="en-US" altLang="ja-GB" sz="1600" dirty="0"/>
                        <a:t>(2,4)</a:t>
                      </a:r>
                      <a:endParaRPr lang="ja-GB" altLang="en-US" sz="1600" dirty="0"/>
                    </a:p>
                  </a:txBody>
                  <a:tcPr/>
                </a:tc>
                <a:tc>
                  <a:txBody>
                    <a:bodyPr/>
                    <a:lstStyle/>
                    <a:p>
                      <a:pPr algn="ctr"/>
                      <a:r>
                        <a:rPr lang="en-US" altLang="ja-GB" sz="1600" dirty="0"/>
                        <a:t>4</a:t>
                      </a:r>
                      <a:endParaRPr lang="ja-GB" altLang="en-US" sz="1600" dirty="0"/>
                    </a:p>
                  </a:txBody>
                  <a:tcPr/>
                </a:tc>
                <a:extLst>
                  <a:ext uri="{0D108BD9-81ED-4DB2-BD59-A6C34878D82A}">
                    <a16:rowId xmlns:a16="http://schemas.microsoft.com/office/drawing/2014/main" val="3414689720"/>
                  </a:ext>
                </a:extLst>
              </a:tr>
              <a:tr h="185302">
                <a:tc>
                  <a:txBody>
                    <a:bodyPr/>
                    <a:lstStyle/>
                    <a:p>
                      <a:pPr algn="ctr"/>
                      <a:r>
                        <a:rPr lang="en-US" altLang="ja-GB" sz="1600" dirty="0"/>
                        <a:t>D</a:t>
                      </a:r>
                      <a:endParaRPr lang="ja-GB" altLang="en-US" sz="1600" dirty="0"/>
                    </a:p>
                  </a:txBody>
                  <a:tcPr/>
                </a:tc>
                <a:tc>
                  <a:txBody>
                    <a:bodyPr/>
                    <a:lstStyle/>
                    <a:p>
                      <a:pPr algn="ctr"/>
                      <a:r>
                        <a:rPr lang="en-US" altLang="ja-GB" sz="1600" dirty="0"/>
                        <a:t>(3,4)</a:t>
                      </a:r>
                      <a:endParaRPr lang="ja-GB" altLang="en-US" sz="1600" dirty="0"/>
                    </a:p>
                  </a:txBody>
                  <a:tcPr/>
                </a:tc>
                <a:tc>
                  <a:txBody>
                    <a:bodyPr/>
                    <a:lstStyle/>
                    <a:p>
                      <a:pPr algn="ctr"/>
                      <a:r>
                        <a:rPr lang="en-US" altLang="ja-GB" sz="1600" dirty="0"/>
                        <a:t>5</a:t>
                      </a:r>
                      <a:endParaRPr lang="ja-GB" altLang="en-US" sz="1600" dirty="0"/>
                    </a:p>
                  </a:txBody>
                  <a:tcPr/>
                </a:tc>
                <a:extLst>
                  <a:ext uri="{0D108BD9-81ED-4DB2-BD59-A6C34878D82A}">
                    <a16:rowId xmlns:a16="http://schemas.microsoft.com/office/drawing/2014/main" val="3373349507"/>
                  </a:ext>
                </a:extLst>
              </a:tr>
              <a:tr h="185302">
                <a:tc>
                  <a:txBody>
                    <a:bodyPr/>
                    <a:lstStyle/>
                    <a:p>
                      <a:pPr algn="ctr"/>
                      <a:r>
                        <a:rPr lang="en-US" altLang="ja-GB" sz="1600" dirty="0"/>
                        <a:t>E</a:t>
                      </a:r>
                      <a:endParaRPr lang="ja-GB" altLang="en-US" sz="1600" dirty="0"/>
                    </a:p>
                  </a:txBody>
                  <a:tcPr/>
                </a:tc>
                <a:tc>
                  <a:txBody>
                    <a:bodyPr/>
                    <a:lstStyle/>
                    <a:p>
                      <a:pPr algn="ctr"/>
                      <a:r>
                        <a:rPr lang="en-US" altLang="ja-GB" sz="1600" dirty="0"/>
                        <a:t>(2,5)</a:t>
                      </a:r>
                      <a:endParaRPr lang="ja-GB" altLang="en-US" sz="1600" dirty="0"/>
                    </a:p>
                  </a:txBody>
                  <a:tcPr/>
                </a:tc>
                <a:tc>
                  <a:txBody>
                    <a:bodyPr/>
                    <a:lstStyle/>
                    <a:p>
                      <a:pPr algn="ctr"/>
                      <a:r>
                        <a:rPr lang="en-US" altLang="ja-GB" sz="1600" dirty="0"/>
                        <a:t>1</a:t>
                      </a:r>
                      <a:endParaRPr lang="ja-GB" altLang="en-US" sz="1600" dirty="0"/>
                    </a:p>
                  </a:txBody>
                  <a:tcPr/>
                </a:tc>
                <a:extLst>
                  <a:ext uri="{0D108BD9-81ED-4DB2-BD59-A6C34878D82A}">
                    <a16:rowId xmlns:a16="http://schemas.microsoft.com/office/drawing/2014/main" val="2991419434"/>
                  </a:ext>
                </a:extLst>
              </a:tr>
              <a:tr h="185302">
                <a:tc>
                  <a:txBody>
                    <a:bodyPr/>
                    <a:lstStyle/>
                    <a:p>
                      <a:pPr algn="ctr"/>
                      <a:r>
                        <a:rPr lang="en-US" altLang="ja-GB" sz="1600" dirty="0"/>
                        <a:t>F</a:t>
                      </a:r>
                      <a:endParaRPr lang="ja-GB" altLang="en-US" sz="1600" dirty="0"/>
                    </a:p>
                  </a:txBody>
                  <a:tcPr/>
                </a:tc>
                <a:tc>
                  <a:txBody>
                    <a:bodyPr/>
                    <a:lstStyle/>
                    <a:p>
                      <a:pPr algn="ctr"/>
                      <a:r>
                        <a:rPr lang="en-US" altLang="ja-GB" sz="1600" dirty="0"/>
                        <a:t>(4,6)</a:t>
                      </a:r>
                      <a:endParaRPr lang="ja-GB" altLang="en-US" sz="1600" dirty="0"/>
                    </a:p>
                  </a:txBody>
                  <a:tcPr/>
                </a:tc>
                <a:tc>
                  <a:txBody>
                    <a:bodyPr/>
                    <a:lstStyle/>
                    <a:p>
                      <a:pPr algn="ctr"/>
                      <a:r>
                        <a:rPr lang="en-US" altLang="ja-GB" sz="1600" dirty="0"/>
                        <a:t>6</a:t>
                      </a:r>
                      <a:endParaRPr lang="ja-GB" altLang="en-US" sz="1600" dirty="0"/>
                    </a:p>
                  </a:txBody>
                  <a:tcPr/>
                </a:tc>
                <a:extLst>
                  <a:ext uri="{0D108BD9-81ED-4DB2-BD59-A6C34878D82A}">
                    <a16:rowId xmlns:a16="http://schemas.microsoft.com/office/drawing/2014/main" val="3985016094"/>
                  </a:ext>
                </a:extLst>
              </a:tr>
              <a:tr h="185302">
                <a:tc>
                  <a:txBody>
                    <a:bodyPr/>
                    <a:lstStyle/>
                    <a:p>
                      <a:pPr algn="ctr"/>
                      <a:r>
                        <a:rPr lang="en-US" altLang="ja-GB" sz="1600" dirty="0"/>
                        <a:t>G</a:t>
                      </a:r>
                      <a:endParaRPr lang="ja-GB" altLang="en-US" sz="1600" dirty="0"/>
                    </a:p>
                  </a:txBody>
                  <a:tcPr/>
                </a:tc>
                <a:tc>
                  <a:txBody>
                    <a:bodyPr/>
                    <a:lstStyle/>
                    <a:p>
                      <a:pPr algn="ctr"/>
                      <a:r>
                        <a:rPr lang="en-US" altLang="ja-GB" sz="1600" dirty="0"/>
                        <a:t>(4,5)</a:t>
                      </a:r>
                      <a:endParaRPr lang="ja-GB" altLang="en-US" sz="1600" dirty="0"/>
                    </a:p>
                  </a:txBody>
                  <a:tcPr/>
                </a:tc>
                <a:tc>
                  <a:txBody>
                    <a:bodyPr/>
                    <a:lstStyle/>
                    <a:p>
                      <a:pPr algn="ctr"/>
                      <a:r>
                        <a:rPr lang="en-US" altLang="ja-GB" sz="1600" dirty="0"/>
                        <a:t>3</a:t>
                      </a:r>
                      <a:endParaRPr lang="ja-GB" altLang="en-US" sz="1600" dirty="0"/>
                    </a:p>
                  </a:txBody>
                  <a:tcPr/>
                </a:tc>
                <a:extLst>
                  <a:ext uri="{0D108BD9-81ED-4DB2-BD59-A6C34878D82A}">
                    <a16:rowId xmlns:a16="http://schemas.microsoft.com/office/drawing/2014/main" val="852509030"/>
                  </a:ext>
                </a:extLst>
              </a:tr>
              <a:tr h="185302">
                <a:tc>
                  <a:txBody>
                    <a:bodyPr/>
                    <a:lstStyle/>
                    <a:p>
                      <a:pPr algn="ctr"/>
                      <a:r>
                        <a:rPr lang="en-US" altLang="ja-GB" sz="1600" dirty="0"/>
                        <a:t>H</a:t>
                      </a:r>
                      <a:endParaRPr lang="ja-GB" altLang="en-US" sz="1600" dirty="0"/>
                    </a:p>
                  </a:txBody>
                  <a:tcPr/>
                </a:tc>
                <a:tc>
                  <a:txBody>
                    <a:bodyPr/>
                    <a:lstStyle/>
                    <a:p>
                      <a:pPr algn="ctr"/>
                      <a:r>
                        <a:rPr lang="en-US" altLang="ja-GB" sz="1600" dirty="0"/>
                        <a:t>(5,6)</a:t>
                      </a:r>
                      <a:endParaRPr lang="ja-GB" altLang="en-US" sz="1600" dirty="0"/>
                    </a:p>
                  </a:txBody>
                  <a:tcPr/>
                </a:tc>
                <a:tc>
                  <a:txBody>
                    <a:bodyPr/>
                    <a:lstStyle/>
                    <a:p>
                      <a:pPr algn="ctr"/>
                      <a:r>
                        <a:rPr lang="en-US" altLang="ja-GB" sz="1600" dirty="0"/>
                        <a:t>2</a:t>
                      </a:r>
                      <a:endParaRPr lang="ja-GB" altLang="en-US" sz="1600" dirty="0"/>
                    </a:p>
                  </a:txBody>
                  <a:tcPr/>
                </a:tc>
                <a:extLst>
                  <a:ext uri="{0D108BD9-81ED-4DB2-BD59-A6C34878D82A}">
                    <a16:rowId xmlns:a16="http://schemas.microsoft.com/office/drawing/2014/main" val="3285484398"/>
                  </a:ext>
                </a:extLst>
              </a:tr>
            </a:tbl>
          </a:graphicData>
        </a:graphic>
      </p:graphicFrame>
    </p:spTree>
    <p:extLst>
      <p:ext uri="{BB962C8B-B14F-4D97-AF65-F5344CB8AC3E}">
        <p14:creationId xmlns:p14="http://schemas.microsoft.com/office/powerpoint/2010/main" val="2718396685"/>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BC6A9-3E18-8568-3218-F96C6F2C886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A7D2964-0F46-A66D-3760-5E4FDC163431}"/>
              </a:ext>
            </a:extLst>
          </p:cNvPr>
          <p:cNvSpPr>
            <a:spLocks noGrp="1"/>
          </p:cNvSpPr>
          <p:nvPr>
            <p:ph type="title"/>
          </p:nvPr>
        </p:nvSpPr>
        <p:spPr/>
        <p:txBody>
          <a:bodyPr/>
          <a:lstStyle/>
          <a:p>
            <a:r>
              <a:rPr lang="ja-GB" altLang="en-US" dirty="0"/>
              <a:t>所要時間表の作成</a:t>
            </a:r>
            <a:endParaRPr kumimoji="1" lang="ja-GB" altLang="en-US" dirty="0"/>
          </a:p>
        </p:txBody>
      </p:sp>
      <p:sp>
        <p:nvSpPr>
          <p:cNvPr id="3" name="コンテンツ プレースホルダー 2">
            <a:extLst>
              <a:ext uri="{FF2B5EF4-FFF2-40B4-BE49-F238E27FC236}">
                <a16:creationId xmlns:a16="http://schemas.microsoft.com/office/drawing/2014/main" id="{4E86288A-344D-4114-F690-CA7B0218A2C4}"/>
              </a:ext>
            </a:extLst>
          </p:cNvPr>
          <p:cNvSpPr>
            <a:spLocks noGrp="1"/>
          </p:cNvSpPr>
          <p:nvPr>
            <p:ph idx="1"/>
          </p:nvPr>
        </p:nvSpPr>
        <p:spPr/>
        <p:txBody>
          <a:bodyPr/>
          <a:lstStyle/>
          <a:p>
            <a:pPr marL="0" indent="0">
              <a:buNone/>
            </a:pPr>
            <a:r>
              <a:rPr lang="en-US" altLang="ja-GB" dirty="0"/>
              <a:t>①</a:t>
            </a:r>
            <a:r>
              <a:rPr lang="ja-GB" altLang="en-US" dirty="0"/>
              <a:t>ある作業</a:t>
            </a:r>
            <a:r>
              <a:rPr lang="en-US" altLang="ja-GB" dirty="0"/>
              <a:t>(</a:t>
            </a:r>
            <a:r>
              <a:rPr lang="en-US" altLang="ja-GB" dirty="0" err="1"/>
              <a:t>i,j</a:t>
            </a:r>
            <a:r>
              <a:rPr lang="en-US" altLang="ja-GB" dirty="0"/>
              <a:t>)</a:t>
            </a:r>
            <a:r>
              <a:rPr lang="ja-GB" altLang="en-US" dirty="0"/>
              <a:t>の</a:t>
            </a:r>
            <a:r>
              <a:rPr lang="en-US" altLang="ja-GB" dirty="0" err="1"/>
              <a:t>i</a:t>
            </a:r>
            <a:r>
              <a:rPr lang="ja-GB" altLang="en-US" dirty="0"/>
              <a:t>を縦方向に探索し，</a:t>
            </a:r>
            <a:r>
              <a:rPr lang="en-US" altLang="ja-GB" dirty="0"/>
              <a:t>②j</a:t>
            </a:r>
            <a:r>
              <a:rPr lang="ja-GB" altLang="en-US" dirty="0"/>
              <a:t>を横方向に探索し，</a:t>
            </a:r>
            <a:br>
              <a:rPr lang="en-US" altLang="ja-GB" dirty="0"/>
            </a:br>
            <a:r>
              <a:rPr lang="ja-GB" altLang="en-US" dirty="0"/>
              <a:t>その交点座標にあたる欄内に所要時間を入力する</a:t>
            </a:r>
            <a:endParaRPr lang="en-US" altLang="ja-GB" dirty="0"/>
          </a:p>
          <a:p>
            <a:endParaRPr kumimoji="1" lang="ja-GB" altLang="en-US" dirty="0"/>
          </a:p>
        </p:txBody>
      </p:sp>
      <p:pic>
        <p:nvPicPr>
          <p:cNvPr id="5" name="コンテンツ プレースホルダー 4">
            <a:extLst>
              <a:ext uri="{FF2B5EF4-FFF2-40B4-BE49-F238E27FC236}">
                <a16:creationId xmlns:a16="http://schemas.microsoft.com/office/drawing/2014/main" id="{67D2C900-2BFD-FC2D-AA81-BABC5771F1DC}"/>
              </a:ext>
            </a:extLst>
          </p:cNvPr>
          <p:cNvPicPr>
            <a:picLocks noChangeAspect="1"/>
          </p:cNvPicPr>
          <p:nvPr/>
        </p:nvPicPr>
        <p:blipFill>
          <a:blip r:embed="rId2"/>
          <a:srcRect/>
          <a:stretch/>
        </p:blipFill>
        <p:spPr>
          <a:xfrm>
            <a:off x="5058448" y="2389517"/>
            <a:ext cx="3266456" cy="2897035"/>
          </a:xfrm>
          <a:prstGeom prst="rect">
            <a:avLst/>
          </a:prstGeom>
        </p:spPr>
      </p:pic>
      <p:graphicFrame>
        <p:nvGraphicFramePr>
          <p:cNvPr id="6" name="表 5">
            <a:extLst>
              <a:ext uri="{FF2B5EF4-FFF2-40B4-BE49-F238E27FC236}">
                <a16:creationId xmlns:a16="http://schemas.microsoft.com/office/drawing/2014/main" id="{5482A570-9B62-922E-D50A-6D8F8C595487}"/>
              </a:ext>
            </a:extLst>
          </p:cNvPr>
          <p:cNvGraphicFramePr>
            <a:graphicFrameLocks noGrp="1"/>
          </p:cNvGraphicFramePr>
          <p:nvPr/>
        </p:nvGraphicFramePr>
        <p:xfrm>
          <a:off x="390700" y="2362862"/>
          <a:ext cx="3465324" cy="2987040"/>
        </p:xfrm>
        <a:graphic>
          <a:graphicData uri="http://schemas.openxmlformats.org/drawingml/2006/table">
            <a:tbl>
              <a:tblPr firstRow="1" bandRow="1">
                <a:tableStyleId>{5C22544A-7EE6-4342-B048-85BDC9FD1C3A}</a:tableStyleId>
              </a:tblPr>
              <a:tblGrid>
                <a:gridCol w="1155108">
                  <a:extLst>
                    <a:ext uri="{9D8B030D-6E8A-4147-A177-3AD203B41FA5}">
                      <a16:colId xmlns:a16="http://schemas.microsoft.com/office/drawing/2014/main" val="3691675347"/>
                    </a:ext>
                  </a:extLst>
                </a:gridCol>
                <a:gridCol w="1155108">
                  <a:extLst>
                    <a:ext uri="{9D8B030D-6E8A-4147-A177-3AD203B41FA5}">
                      <a16:colId xmlns:a16="http://schemas.microsoft.com/office/drawing/2014/main" val="928111709"/>
                    </a:ext>
                  </a:extLst>
                </a:gridCol>
                <a:gridCol w="1155108">
                  <a:extLst>
                    <a:ext uri="{9D8B030D-6E8A-4147-A177-3AD203B41FA5}">
                      <a16:colId xmlns:a16="http://schemas.microsoft.com/office/drawing/2014/main" val="4014108102"/>
                    </a:ext>
                  </a:extLst>
                </a:gridCol>
              </a:tblGrid>
              <a:tr h="183483">
                <a:tc>
                  <a:txBody>
                    <a:bodyPr/>
                    <a:lstStyle/>
                    <a:p>
                      <a:pPr algn="ctr"/>
                      <a:r>
                        <a:rPr lang="ja-GB" altLang="en-US" sz="1400" dirty="0"/>
                        <a:t>作業記号</a:t>
                      </a:r>
                    </a:p>
                  </a:txBody>
                  <a:tcPr/>
                </a:tc>
                <a:tc>
                  <a:txBody>
                    <a:bodyPr/>
                    <a:lstStyle/>
                    <a:p>
                      <a:pPr algn="ctr"/>
                      <a:r>
                        <a:rPr lang="ja-GB" altLang="en-US" sz="1400" dirty="0"/>
                        <a:t>作業</a:t>
                      </a:r>
                      <a:r>
                        <a:rPr lang="en-US" altLang="ja-GB" sz="1400" dirty="0"/>
                        <a:t>(</a:t>
                      </a:r>
                      <a:r>
                        <a:rPr lang="en-US" altLang="ja-GB" sz="1400" dirty="0" err="1"/>
                        <a:t>i,j</a:t>
                      </a:r>
                      <a:r>
                        <a:rPr lang="en-US" altLang="ja-GB" sz="1400" dirty="0"/>
                        <a:t>)</a:t>
                      </a:r>
                      <a:endParaRPr lang="ja-GB" altLang="en-US" sz="1400" dirty="0"/>
                    </a:p>
                  </a:txBody>
                  <a:tcPr/>
                </a:tc>
                <a:tc>
                  <a:txBody>
                    <a:bodyPr/>
                    <a:lstStyle/>
                    <a:p>
                      <a:pPr algn="ctr"/>
                      <a:r>
                        <a:rPr lang="ja-GB" altLang="en-US" sz="1400" dirty="0"/>
                        <a:t>所要日数</a:t>
                      </a:r>
                      <a:r>
                        <a:rPr lang="en-US" altLang="ja-GB" sz="1400" dirty="0"/>
                        <a:t> </a:t>
                      </a:r>
                      <a:r>
                        <a:rPr lang="en-US" altLang="ja-GB" sz="1400" dirty="0" err="1"/>
                        <a:t>D</a:t>
                      </a:r>
                      <a:r>
                        <a:rPr lang="en-US" altLang="ja-GB" sz="1400" baseline="-25000" dirty="0" err="1"/>
                        <a:t>i,j</a:t>
                      </a:r>
                      <a:endParaRPr lang="ja-GB" altLang="en-US" sz="1400" baseline="-25000" dirty="0"/>
                    </a:p>
                  </a:txBody>
                  <a:tcPr/>
                </a:tc>
                <a:extLst>
                  <a:ext uri="{0D108BD9-81ED-4DB2-BD59-A6C34878D82A}">
                    <a16:rowId xmlns:a16="http://schemas.microsoft.com/office/drawing/2014/main" val="3671063893"/>
                  </a:ext>
                </a:extLst>
              </a:tr>
              <a:tr h="185302">
                <a:tc>
                  <a:txBody>
                    <a:bodyPr/>
                    <a:lstStyle/>
                    <a:p>
                      <a:pPr algn="ctr"/>
                      <a:r>
                        <a:rPr lang="en-US" altLang="ja-GB" sz="1600" dirty="0"/>
                        <a:t>A</a:t>
                      </a:r>
                      <a:endParaRPr lang="ja-GB" altLang="en-US" sz="1600" dirty="0"/>
                    </a:p>
                  </a:txBody>
                  <a:tcPr/>
                </a:tc>
                <a:tc>
                  <a:txBody>
                    <a:bodyPr/>
                    <a:lstStyle/>
                    <a:p>
                      <a:pPr algn="ctr"/>
                      <a:r>
                        <a:rPr lang="en-US" altLang="ja-GB" sz="1600" dirty="0"/>
                        <a:t>(1,2)</a:t>
                      </a:r>
                      <a:endParaRPr lang="ja-GB" altLang="en-US" sz="1600" dirty="0"/>
                    </a:p>
                  </a:txBody>
                  <a:tcPr/>
                </a:tc>
                <a:tc>
                  <a:txBody>
                    <a:bodyPr/>
                    <a:lstStyle/>
                    <a:p>
                      <a:pPr algn="ctr"/>
                      <a:r>
                        <a:rPr lang="en-US" altLang="ja-GB" sz="1600" dirty="0"/>
                        <a:t>3</a:t>
                      </a:r>
                      <a:endParaRPr lang="ja-GB" altLang="en-US" sz="1600" dirty="0"/>
                    </a:p>
                  </a:txBody>
                  <a:tcPr/>
                </a:tc>
                <a:extLst>
                  <a:ext uri="{0D108BD9-81ED-4DB2-BD59-A6C34878D82A}">
                    <a16:rowId xmlns:a16="http://schemas.microsoft.com/office/drawing/2014/main" val="3344703274"/>
                  </a:ext>
                </a:extLst>
              </a:tr>
              <a:tr h="185302">
                <a:tc>
                  <a:txBody>
                    <a:bodyPr/>
                    <a:lstStyle/>
                    <a:p>
                      <a:pPr algn="ctr"/>
                      <a:r>
                        <a:rPr lang="en-US" altLang="ja-GB" sz="1600" dirty="0"/>
                        <a:t>B</a:t>
                      </a:r>
                      <a:endParaRPr lang="ja-GB" altLang="en-US" sz="1600" dirty="0"/>
                    </a:p>
                  </a:txBody>
                  <a:tcPr/>
                </a:tc>
                <a:tc>
                  <a:txBody>
                    <a:bodyPr/>
                    <a:lstStyle/>
                    <a:p>
                      <a:pPr algn="ctr"/>
                      <a:r>
                        <a:rPr lang="en-US" altLang="ja-GB" sz="1600" dirty="0"/>
                        <a:t>(1,3)</a:t>
                      </a:r>
                      <a:endParaRPr lang="ja-GB" altLang="en-US" sz="1600" dirty="0"/>
                    </a:p>
                  </a:txBody>
                  <a:tcPr/>
                </a:tc>
                <a:tc>
                  <a:txBody>
                    <a:bodyPr/>
                    <a:lstStyle/>
                    <a:p>
                      <a:pPr algn="ctr"/>
                      <a:r>
                        <a:rPr lang="en-US" altLang="ja-GB" sz="1600" dirty="0"/>
                        <a:t>2</a:t>
                      </a:r>
                      <a:endParaRPr lang="ja-GB" altLang="en-US" sz="1600" dirty="0"/>
                    </a:p>
                  </a:txBody>
                  <a:tcPr/>
                </a:tc>
                <a:extLst>
                  <a:ext uri="{0D108BD9-81ED-4DB2-BD59-A6C34878D82A}">
                    <a16:rowId xmlns:a16="http://schemas.microsoft.com/office/drawing/2014/main" val="4177507280"/>
                  </a:ext>
                </a:extLst>
              </a:tr>
              <a:tr h="185302">
                <a:tc>
                  <a:txBody>
                    <a:bodyPr/>
                    <a:lstStyle/>
                    <a:p>
                      <a:pPr algn="ctr"/>
                      <a:r>
                        <a:rPr lang="en-US" altLang="ja-GB" sz="1600" dirty="0">
                          <a:solidFill>
                            <a:srgbClr val="0070C0"/>
                          </a:solidFill>
                        </a:rPr>
                        <a:t>C</a:t>
                      </a:r>
                      <a:endParaRPr lang="ja-GB" altLang="en-US" sz="1600" dirty="0">
                        <a:solidFill>
                          <a:srgbClr val="0070C0"/>
                        </a:solidFill>
                      </a:endParaRPr>
                    </a:p>
                  </a:txBody>
                  <a:tcPr/>
                </a:tc>
                <a:tc>
                  <a:txBody>
                    <a:bodyPr/>
                    <a:lstStyle/>
                    <a:p>
                      <a:pPr algn="ctr"/>
                      <a:r>
                        <a:rPr lang="en-US" altLang="ja-GB" sz="1600" dirty="0">
                          <a:solidFill>
                            <a:srgbClr val="0070C0"/>
                          </a:solidFill>
                        </a:rPr>
                        <a:t>(2,4)</a:t>
                      </a:r>
                      <a:endParaRPr lang="ja-GB" altLang="en-US" sz="1600" dirty="0">
                        <a:solidFill>
                          <a:srgbClr val="0070C0"/>
                        </a:solidFill>
                      </a:endParaRPr>
                    </a:p>
                  </a:txBody>
                  <a:tcPr/>
                </a:tc>
                <a:tc>
                  <a:txBody>
                    <a:bodyPr/>
                    <a:lstStyle/>
                    <a:p>
                      <a:pPr algn="ctr"/>
                      <a:r>
                        <a:rPr lang="en-US" altLang="ja-GB" sz="1600" dirty="0">
                          <a:solidFill>
                            <a:srgbClr val="0070C0"/>
                          </a:solidFill>
                        </a:rPr>
                        <a:t>4</a:t>
                      </a:r>
                      <a:endParaRPr lang="ja-GB" altLang="en-US" sz="1600" dirty="0">
                        <a:solidFill>
                          <a:srgbClr val="0070C0"/>
                        </a:solidFill>
                      </a:endParaRPr>
                    </a:p>
                  </a:txBody>
                  <a:tcPr/>
                </a:tc>
                <a:extLst>
                  <a:ext uri="{0D108BD9-81ED-4DB2-BD59-A6C34878D82A}">
                    <a16:rowId xmlns:a16="http://schemas.microsoft.com/office/drawing/2014/main" val="3414689720"/>
                  </a:ext>
                </a:extLst>
              </a:tr>
              <a:tr h="185302">
                <a:tc>
                  <a:txBody>
                    <a:bodyPr/>
                    <a:lstStyle/>
                    <a:p>
                      <a:pPr algn="ctr"/>
                      <a:r>
                        <a:rPr lang="en-US" altLang="ja-GB" sz="1600" dirty="0"/>
                        <a:t>D</a:t>
                      </a:r>
                      <a:endParaRPr lang="ja-GB" altLang="en-US" sz="1600" dirty="0"/>
                    </a:p>
                  </a:txBody>
                  <a:tcPr/>
                </a:tc>
                <a:tc>
                  <a:txBody>
                    <a:bodyPr/>
                    <a:lstStyle/>
                    <a:p>
                      <a:pPr algn="ctr"/>
                      <a:r>
                        <a:rPr lang="en-US" altLang="ja-GB" sz="1600" dirty="0"/>
                        <a:t>(3,4)</a:t>
                      </a:r>
                      <a:endParaRPr lang="ja-GB" altLang="en-US" sz="1600" dirty="0"/>
                    </a:p>
                  </a:txBody>
                  <a:tcPr/>
                </a:tc>
                <a:tc>
                  <a:txBody>
                    <a:bodyPr/>
                    <a:lstStyle/>
                    <a:p>
                      <a:pPr algn="ctr"/>
                      <a:r>
                        <a:rPr lang="en-US" altLang="ja-GB" sz="1600" dirty="0"/>
                        <a:t>5</a:t>
                      </a:r>
                      <a:endParaRPr lang="ja-GB" altLang="en-US" sz="1600" dirty="0"/>
                    </a:p>
                  </a:txBody>
                  <a:tcPr/>
                </a:tc>
                <a:extLst>
                  <a:ext uri="{0D108BD9-81ED-4DB2-BD59-A6C34878D82A}">
                    <a16:rowId xmlns:a16="http://schemas.microsoft.com/office/drawing/2014/main" val="3373349507"/>
                  </a:ext>
                </a:extLst>
              </a:tr>
              <a:tr h="185302">
                <a:tc>
                  <a:txBody>
                    <a:bodyPr/>
                    <a:lstStyle/>
                    <a:p>
                      <a:pPr algn="ctr"/>
                      <a:r>
                        <a:rPr lang="en-US" altLang="ja-GB" sz="1600" dirty="0"/>
                        <a:t>E</a:t>
                      </a:r>
                      <a:endParaRPr lang="ja-GB" altLang="en-US" sz="1600" dirty="0"/>
                    </a:p>
                  </a:txBody>
                  <a:tcPr/>
                </a:tc>
                <a:tc>
                  <a:txBody>
                    <a:bodyPr/>
                    <a:lstStyle/>
                    <a:p>
                      <a:pPr algn="ctr"/>
                      <a:r>
                        <a:rPr lang="en-US" altLang="ja-GB" sz="1600" dirty="0"/>
                        <a:t>(2,5)</a:t>
                      </a:r>
                      <a:endParaRPr lang="ja-GB" altLang="en-US" sz="1600" dirty="0"/>
                    </a:p>
                  </a:txBody>
                  <a:tcPr/>
                </a:tc>
                <a:tc>
                  <a:txBody>
                    <a:bodyPr/>
                    <a:lstStyle/>
                    <a:p>
                      <a:pPr algn="ctr"/>
                      <a:r>
                        <a:rPr lang="en-US" altLang="ja-GB" sz="1600" dirty="0"/>
                        <a:t>1</a:t>
                      </a:r>
                      <a:endParaRPr lang="ja-GB" altLang="en-US" sz="1600" dirty="0"/>
                    </a:p>
                  </a:txBody>
                  <a:tcPr/>
                </a:tc>
                <a:extLst>
                  <a:ext uri="{0D108BD9-81ED-4DB2-BD59-A6C34878D82A}">
                    <a16:rowId xmlns:a16="http://schemas.microsoft.com/office/drawing/2014/main" val="2991419434"/>
                  </a:ext>
                </a:extLst>
              </a:tr>
              <a:tr h="185302">
                <a:tc>
                  <a:txBody>
                    <a:bodyPr/>
                    <a:lstStyle/>
                    <a:p>
                      <a:pPr algn="ctr"/>
                      <a:r>
                        <a:rPr lang="en-US" altLang="ja-GB" sz="1600" dirty="0"/>
                        <a:t>F</a:t>
                      </a:r>
                      <a:endParaRPr lang="ja-GB" altLang="en-US" sz="1600" dirty="0"/>
                    </a:p>
                  </a:txBody>
                  <a:tcPr/>
                </a:tc>
                <a:tc>
                  <a:txBody>
                    <a:bodyPr/>
                    <a:lstStyle/>
                    <a:p>
                      <a:pPr algn="ctr"/>
                      <a:r>
                        <a:rPr lang="en-US" altLang="ja-GB" sz="1600" dirty="0"/>
                        <a:t>(4,6)</a:t>
                      </a:r>
                      <a:endParaRPr lang="ja-GB" altLang="en-US" sz="1600" dirty="0"/>
                    </a:p>
                  </a:txBody>
                  <a:tcPr/>
                </a:tc>
                <a:tc>
                  <a:txBody>
                    <a:bodyPr/>
                    <a:lstStyle/>
                    <a:p>
                      <a:pPr algn="ctr"/>
                      <a:r>
                        <a:rPr lang="en-US" altLang="ja-GB" sz="1600" dirty="0"/>
                        <a:t>6</a:t>
                      </a:r>
                      <a:endParaRPr lang="ja-GB" altLang="en-US" sz="1600" dirty="0"/>
                    </a:p>
                  </a:txBody>
                  <a:tcPr/>
                </a:tc>
                <a:extLst>
                  <a:ext uri="{0D108BD9-81ED-4DB2-BD59-A6C34878D82A}">
                    <a16:rowId xmlns:a16="http://schemas.microsoft.com/office/drawing/2014/main" val="3985016094"/>
                  </a:ext>
                </a:extLst>
              </a:tr>
              <a:tr h="185302">
                <a:tc>
                  <a:txBody>
                    <a:bodyPr/>
                    <a:lstStyle/>
                    <a:p>
                      <a:pPr algn="ctr"/>
                      <a:r>
                        <a:rPr lang="en-US" altLang="ja-GB" sz="1600" dirty="0"/>
                        <a:t>G</a:t>
                      </a:r>
                      <a:endParaRPr lang="ja-GB" altLang="en-US" sz="1600" dirty="0"/>
                    </a:p>
                  </a:txBody>
                  <a:tcPr/>
                </a:tc>
                <a:tc>
                  <a:txBody>
                    <a:bodyPr/>
                    <a:lstStyle/>
                    <a:p>
                      <a:pPr algn="ctr"/>
                      <a:r>
                        <a:rPr lang="en-US" altLang="ja-GB" sz="1600" dirty="0"/>
                        <a:t>(4,5)</a:t>
                      </a:r>
                      <a:endParaRPr lang="ja-GB" altLang="en-US" sz="1600" dirty="0"/>
                    </a:p>
                  </a:txBody>
                  <a:tcPr/>
                </a:tc>
                <a:tc>
                  <a:txBody>
                    <a:bodyPr/>
                    <a:lstStyle/>
                    <a:p>
                      <a:pPr algn="ctr"/>
                      <a:r>
                        <a:rPr lang="en-US" altLang="ja-GB" sz="1600" dirty="0"/>
                        <a:t>3</a:t>
                      </a:r>
                      <a:endParaRPr lang="ja-GB" altLang="en-US" sz="1600" dirty="0"/>
                    </a:p>
                  </a:txBody>
                  <a:tcPr/>
                </a:tc>
                <a:extLst>
                  <a:ext uri="{0D108BD9-81ED-4DB2-BD59-A6C34878D82A}">
                    <a16:rowId xmlns:a16="http://schemas.microsoft.com/office/drawing/2014/main" val="852509030"/>
                  </a:ext>
                </a:extLst>
              </a:tr>
              <a:tr h="185302">
                <a:tc>
                  <a:txBody>
                    <a:bodyPr/>
                    <a:lstStyle/>
                    <a:p>
                      <a:pPr algn="ctr"/>
                      <a:r>
                        <a:rPr lang="en-US" altLang="ja-GB" sz="1600" dirty="0"/>
                        <a:t>H</a:t>
                      </a:r>
                      <a:endParaRPr lang="ja-GB" altLang="en-US" sz="1600" dirty="0"/>
                    </a:p>
                  </a:txBody>
                  <a:tcPr/>
                </a:tc>
                <a:tc>
                  <a:txBody>
                    <a:bodyPr/>
                    <a:lstStyle/>
                    <a:p>
                      <a:pPr algn="ctr"/>
                      <a:r>
                        <a:rPr lang="en-US" altLang="ja-GB" sz="1600" dirty="0"/>
                        <a:t>(5,6)</a:t>
                      </a:r>
                      <a:endParaRPr lang="ja-GB" altLang="en-US" sz="1600" dirty="0"/>
                    </a:p>
                  </a:txBody>
                  <a:tcPr/>
                </a:tc>
                <a:tc>
                  <a:txBody>
                    <a:bodyPr/>
                    <a:lstStyle/>
                    <a:p>
                      <a:pPr algn="ctr"/>
                      <a:r>
                        <a:rPr lang="en-US" altLang="ja-GB" sz="1600" dirty="0"/>
                        <a:t>2</a:t>
                      </a:r>
                      <a:endParaRPr lang="ja-GB" altLang="en-US" sz="1600" dirty="0"/>
                    </a:p>
                  </a:txBody>
                  <a:tcPr/>
                </a:tc>
                <a:extLst>
                  <a:ext uri="{0D108BD9-81ED-4DB2-BD59-A6C34878D82A}">
                    <a16:rowId xmlns:a16="http://schemas.microsoft.com/office/drawing/2014/main" val="3285484398"/>
                  </a:ext>
                </a:extLst>
              </a:tr>
            </a:tbl>
          </a:graphicData>
        </a:graphic>
      </p:graphicFrame>
    </p:spTree>
    <p:extLst>
      <p:ext uri="{BB962C8B-B14F-4D97-AF65-F5344CB8AC3E}">
        <p14:creationId xmlns:p14="http://schemas.microsoft.com/office/powerpoint/2010/main" val="861910680"/>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D7C6F-4539-1430-2054-C40829B864F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771A0B9-9876-D541-24B9-3DF324D8CF37}"/>
              </a:ext>
            </a:extLst>
          </p:cNvPr>
          <p:cNvSpPr>
            <a:spLocks noGrp="1"/>
          </p:cNvSpPr>
          <p:nvPr>
            <p:ph type="title"/>
          </p:nvPr>
        </p:nvSpPr>
        <p:spPr/>
        <p:txBody>
          <a:bodyPr/>
          <a:lstStyle/>
          <a:p>
            <a:r>
              <a:rPr lang="ja-GB" altLang="en-US" dirty="0"/>
              <a:t>所要時間表の作成</a:t>
            </a:r>
            <a:endParaRPr kumimoji="1" lang="ja-GB" altLang="en-US" dirty="0"/>
          </a:p>
        </p:txBody>
      </p:sp>
      <p:sp>
        <p:nvSpPr>
          <p:cNvPr id="3" name="コンテンツ プレースホルダー 2">
            <a:extLst>
              <a:ext uri="{FF2B5EF4-FFF2-40B4-BE49-F238E27FC236}">
                <a16:creationId xmlns:a16="http://schemas.microsoft.com/office/drawing/2014/main" id="{899C13E6-F2F7-D4DA-1386-653FA7348CCE}"/>
              </a:ext>
            </a:extLst>
          </p:cNvPr>
          <p:cNvSpPr>
            <a:spLocks noGrp="1"/>
          </p:cNvSpPr>
          <p:nvPr>
            <p:ph idx="1"/>
          </p:nvPr>
        </p:nvSpPr>
        <p:spPr/>
        <p:txBody>
          <a:bodyPr/>
          <a:lstStyle/>
          <a:p>
            <a:pPr marL="0" indent="0">
              <a:buNone/>
            </a:pPr>
            <a:r>
              <a:rPr lang="en-US" altLang="ja-GB" dirty="0"/>
              <a:t>①</a:t>
            </a:r>
            <a:r>
              <a:rPr lang="ja-GB" altLang="en-US" dirty="0"/>
              <a:t>ある作業</a:t>
            </a:r>
            <a:r>
              <a:rPr lang="en-US" altLang="ja-GB" dirty="0"/>
              <a:t>(</a:t>
            </a:r>
            <a:r>
              <a:rPr lang="en-US" altLang="ja-GB" dirty="0" err="1"/>
              <a:t>i,j</a:t>
            </a:r>
            <a:r>
              <a:rPr lang="en-US" altLang="ja-GB" dirty="0"/>
              <a:t>)</a:t>
            </a:r>
            <a:r>
              <a:rPr lang="ja-GB" altLang="en-US" dirty="0"/>
              <a:t>の</a:t>
            </a:r>
            <a:r>
              <a:rPr lang="en-US" altLang="ja-GB" dirty="0" err="1"/>
              <a:t>i</a:t>
            </a:r>
            <a:r>
              <a:rPr lang="ja-GB" altLang="en-US" dirty="0"/>
              <a:t>を縦方向に探索し，</a:t>
            </a:r>
            <a:r>
              <a:rPr lang="en-US" altLang="ja-GB" dirty="0"/>
              <a:t>②j</a:t>
            </a:r>
            <a:r>
              <a:rPr lang="ja-GB" altLang="en-US" dirty="0"/>
              <a:t>を横方向に探索し，</a:t>
            </a:r>
            <a:br>
              <a:rPr lang="en-US" altLang="ja-GB" dirty="0"/>
            </a:br>
            <a:r>
              <a:rPr lang="ja-GB" altLang="en-US" dirty="0"/>
              <a:t>その交点座標にあたる欄内に所要時間を入力する</a:t>
            </a:r>
            <a:endParaRPr lang="en-US" altLang="ja-GB" dirty="0"/>
          </a:p>
          <a:p>
            <a:endParaRPr kumimoji="1" lang="ja-GB" altLang="en-US" dirty="0"/>
          </a:p>
        </p:txBody>
      </p:sp>
      <p:pic>
        <p:nvPicPr>
          <p:cNvPr id="5" name="コンテンツ プレースホルダー 4">
            <a:extLst>
              <a:ext uri="{FF2B5EF4-FFF2-40B4-BE49-F238E27FC236}">
                <a16:creationId xmlns:a16="http://schemas.microsoft.com/office/drawing/2014/main" id="{D425A068-0166-C40D-D4BE-04B5A9BC671C}"/>
              </a:ext>
            </a:extLst>
          </p:cNvPr>
          <p:cNvPicPr>
            <a:picLocks noChangeAspect="1"/>
          </p:cNvPicPr>
          <p:nvPr/>
        </p:nvPicPr>
        <p:blipFill>
          <a:blip r:embed="rId2"/>
          <a:srcRect/>
          <a:stretch/>
        </p:blipFill>
        <p:spPr>
          <a:xfrm>
            <a:off x="5058448" y="2384657"/>
            <a:ext cx="3266456" cy="2906756"/>
          </a:xfrm>
          <a:prstGeom prst="rect">
            <a:avLst/>
          </a:prstGeom>
        </p:spPr>
      </p:pic>
      <p:graphicFrame>
        <p:nvGraphicFramePr>
          <p:cNvPr id="6" name="表 5">
            <a:extLst>
              <a:ext uri="{FF2B5EF4-FFF2-40B4-BE49-F238E27FC236}">
                <a16:creationId xmlns:a16="http://schemas.microsoft.com/office/drawing/2014/main" id="{8F2E194D-E493-9517-37F9-406E0578F295}"/>
              </a:ext>
            </a:extLst>
          </p:cNvPr>
          <p:cNvGraphicFramePr>
            <a:graphicFrameLocks noGrp="1"/>
          </p:cNvGraphicFramePr>
          <p:nvPr/>
        </p:nvGraphicFramePr>
        <p:xfrm>
          <a:off x="390700" y="2362862"/>
          <a:ext cx="3465324" cy="2987040"/>
        </p:xfrm>
        <a:graphic>
          <a:graphicData uri="http://schemas.openxmlformats.org/drawingml/2006/table">
            <a:tbl>
              <a:tblPr firstRow="1" bandRow="1">
                <a:tableStyleId>{5C22544A-7EE6-4342-B048-85BDC9FD1C3A}</a:tableStyleId>
              </a:tblPr>
              <a:tblGrid>
                <a:gridCol w="1155108">
                  <a:extLst>
                    <a:ext uri="{9D8B030D-6E8A-4147-A177-3AD203B41FA5}">
                      <a16:colId xmlns:a16="http://schemas.microsoft.com/office/drawing/2014/main" val="3691675347"/>
                    </a:ext>
                  </a:extLst>
                </a:gridCol>
                <a:gridCol w="1155108">
                  <a:extLst>
                    <a:ext uri="{9D8B030D-6E8A-4147-A177-3AD203B41FA5}">
                      <a16:colId xmlns:a16="http://schemas.microsoft.com/office/drawing/2014/main" val="928111709"/>
                    </a:ext>
                  </a:extLst>
                </a:gridCol>
                <a:gridCol w="1155108">
                  <a:extLst>
                    <a:ext uri="{9D8B030D-6E8A-4147-A177-3AD203B41FA5}">
                      <a16:colId xmlns:a16="http://schemas.microsoft.com/office/drawing/2014/main" val="4014108102"/>
                    </a:ext>
                  </a:extLst>
                </a:gridCol>
              </a:tblGrid>
              <a:tr h="183483">
                <a:tc>
                  <a:txBody>
                    <a:bodyPr/>
                    <a:lstStyle/>
                    <a:p>
                      <a:pPr algn="ctr"/>
                      <a:r>
                        <a:rPr lang="ja-GB" altLang="en-US" sz="1400" dirty="0"/>
                        <a:t>作業記号</a:t>
                      </a:r>
                    </a:p>
                  </a:txBody>
                  <a:tcPr/>
                </a:tc>
                <a:tc>
                  <a:txBody>
                    <a:bodyPr/>
                    <a:lstStyle/>
                    <a:p>
                      <a:pPr algn="ctr"/>
                      <a:r>
                        <a:rPr lang="ja-GB" altLang="en-US" sz="1400" dirty="0"/>
                        <a:t>作業</a:t>
                      </a:r>
                      <a:r>
                        <a:rPr lang="en-US" altLang="ja-GB" sz="1400" dirty="0"/>
                        <a:t>(</a:t>
                      </a:r>
                      <a:r>
                        <a:rPr lang="en-US" altLang="ja-GB" sz="1400" dirty="0" err="1"/>
                        <a:t>i,j</a:t>
                      </a:r>
                      <a:r>
                        <a:rPr lang="en-US" altLang="ja-GB" sz="1400" dirty="0"/>
                        <a:t>)</a:t>
                      </a:r>
                      <a:endParaRPr lang="ja-GB" altLang="en-US" sz="1400" dirty="0"/>
                    </a:p>
                  </a:txBody>
                  <a:tcPr/>
                </a:tc>
                <a:tc>
                  <a:txBody>
                    <a:bodyPr/>
                    <a:lstStyle/>
                    <a:p>
                      <a:pPr algn="ctr"/>
                      <a:r>
                        <a:rPr lang="ja-GB" altLang="en-US" sz="1400" dirty="0"/>
                        <a:t>所要日数</a:t>
                      </a:r>
                      <a:r>
                        <a:rPr lang="en-US" altLang="ja-GB" sz="1400" dirty="0"/>
                        <a:t> </a:t>
                      </a:r>
                      <a:r>
                        <a:rPr lang="en-US" altLang="ja-GB" sz="1400" dirty="0" err="1"/>
                        <a:t>D</a:t>
                      </a:r>
                      <a:r>
                        <a:rPr lang="en-US" altLang="ja-GB" sz="1400" baseline="-25000" dirty="0" err="1"/>
                        <a:t>i,j</a:t>
                      </a:r>
                      <a:endParaRPr lang="ja-GB" altLang="en-US" sz="1400" baseline="-25000" dirty="0"/>
                    </a:p>
                  </a:txBody>
                  <a:tcPr/>
                </a:tc>
                <a:extLst>
                  <a:ext uri="{0D108BD9-81ED-4DB2-BD59-A6C34878D82A}">
                    <a16:rowId xmlns:a16="http://schemas.microsoft.com/office/drawing/2014/main" val="3671063893"/>
                  </a:ext>
                </a:extLst>
              </a:tr>
              <a:tr h="185302">
                <a:tc>
                  <a:txBody>
                    <a:bodyPr/>
                    <a:lstStyle/>
                    <a:p>
                      <a:pPr algn="ctr"/>
                      <a:r>
                        <a:rPr lang="en-US" altLang="ja-GB" sz="1600" dirty="0"/>
                        <a:t>A</a:t>
                      </a:r>
                      <a:endParaRPr lang="ja-GB" altLang="en-US" sz="1600" dirty="0"/>
                    </a:p>
                  </a:txBody>
                  <a:tcPr/>
                </a:tc>
                <a:tc>
                  <a:txBody>
                    <a:bodyPr/>
                    <a:lstStyle/>
                    <a:p>
                      <a:pPr algn="ctr"/>
                      <a:r>
                        <a:rPr lang="en-US" altLang="ja-GB" sz="1600" dirty="0"/>
                        <a:t>(1,2)</a:t>
                      </a:r>
                      <a:endParaRPr lang="ja-GB" altLang="en-US" sz="1600" dirty="0"/>
                    </a:p>
                  </a:txBody>
                  <a:tcPr/>
                </a:tc>
                <a:tc>
                  <a:txBody>
                    <a:bodyPr/>
                    <a:lstStyle/>
                    <a:p>
                      <a:pPr algn="ctr"/>
                      <a:r>
                        <a:rPr lang="en-US" altLang="ja-GB" sz="1600" dirty="0"/>
                        <a:t>3</a:t>
                      </a:r>
                      <a:endParaRPr lang="ja-GB" altLang="en-US" sz="1600" dirty="0"/>
                    </a:p>
                  </a:txBody>
                  <a:tcPr/>
                </a:tc>
                <a:extLst>
                  <a:ext uri="{0D108BD9-81ED-4DB2-BD59-A6C34878D82A}">
                    <a16:rowId xmlns:a16="http://schemas.microsoft.com/office/drawing/2014/main" val="3344703274"/>
                  </a:ext>
                </a:extLst>
              </a:tr>
              <a:tr h="185302">
                <a:tc>
                  <a:txBody>
                    <a:bodyPr/>
                    <a:lstStyle/>
                    <a:p>
                      <a:pPr algn="ctr"/>
                      <a:r>
                        <a:rPr lang="en-US" altLang="ja-GB" sz="1600" dirty="0"/>
                        <a:t>B</a:t>
                      </a:r>
                      <a:endParaRPr lang="ja-GB" altLang="en-US" sz="1600" dirty="0"/>
                    </a:p>
                  </a:txBody>
                  <a:tcPr/>
                </a:tc>
                <a:tc>
                  <a:txBody>
                    <a:bodyPr/>
                    <a:lstStyle/>
                    <a:p>
                      <a:pPr algn="ctr"/>
                      <a:r>
                        <a:rPr lang="en-US" altLang="ja-GB" sz="1600" dirty="0"/>
                        <a:t>(1,3)</a:t>
                      </a:r>
                      <a:endParaRPr lang="ja-GB" altLang="en-US" sz="1600" dirty="0"/>
                    </a:p>
                  </a:txBody>
                  <a:tcPr/>
                </a:tc>
                <a:tc>
                  <a:txBody>
                    <a:bodyPr/>
                    <a:lstStyle/>
                    <a:p>
                      <a:pPr algn="ctr"/>
                      <a:r>
                        <a:rPr lang="en-US" altLang="ja-GB" sz="1600" dirty="0"/>
                        <a:t>2</a:t>
                      </a:r>
                      <a:endParaRPr lang="ja-GB" altLang="en-US" sz="1600" dirty="0"/>
                    </a:p>
                  </a:txBody>
                  <a:tcPr/>
                </a:tc>
                <a:extLst>
                  <a:ext uri="{0D108BD9-81ED-4DB2-BD59-A6C34878D82A}">
                    <a16:rowId xmlns:a16="http://schemas.microsoft.com/office/drawing/2014/main" val="4177507280"/>
                  </a:ext>
                </a:extLst>
              </a:tr>
              <a:tr h="185302">
                <a:tc>
                  <a:txBody>
                    <a:bodyPr/>
                    <a:lstStyle/>
                    <a:p>
                      <a:pPr algn="ctr"/>
                      <a:r>
                        <a:rPr lang="en-US" altLang="ja-GB" sz="1600" dirty="0"/>
                        <a:t>C</a:t>
                      </a:r>
                      <a:endParaRPr lang="ja-GB" altLang="en-US" sz="1600" dirty="0"/>
                    </a:p>
                  </a:txBody>
                  <a:tcPr/>
                </a:tc>
                <a:tc>
                  <a:txBody>
                    <a:bodyPr/>
                    <a:lstStyle/>
                    <a:p>
                      <a:pPr algn="ctr"/>
                      <a:r>
                        <a:rPr lang="en-US" altLang="ja-GB" sz="1600" dirty="0"/>
                        <a:t>(2,4)</a:t>
                      </a:r>
                      <a:endParaRPr lang="ja-GB" altLang="en-US" sz="1600" dirty="0"/>
                    </a:p>
                  </a:txBody>
                  <a:tcPr/>
                </a:tc>
                <a:tc>
                  <a:txBody>
                    <a:bodyPr/>
                    <a:lstStyle/>
                    <a:p>
                      <a:pPr algn="ctr"/>
                      <a:r>
                        <a:rPr lang="en-US" altLang="ja-GB" sz="1600" dirty="0"/>
                        <a:t>4</a:t>
                      </a:r>
                      <a:endParaRPr lang="ja-GB" altLang="en-US" sz="1600" dirty="0"/>
                    </a:p>
                  </a:txBody>
                  <a:tcPr/>
                </a:tc>
                <a:extLst>
                  <a:ext uri="{0D108BD9-81ED-4DB2-BD59-A6C34878D82A}">
                    <a16:rowId xmlns:a16="http://schemas.microsoft.com/office/drawing/2014/main" val="3414689720"/>
                  </a:ext>
                </a:extLst>
              </a:tr>
              <a:tr h="185302">
                <a:tc>
                  <a:txBody>
                    <a:bodyPr/>
                    <a:lstStyle/>
                    <a:p>
                      <a:pPr algn="ctr"/>
                      <a:r>
                        <a:rPr lang="en-US" altLang="ja-GB" sz="1600" dirty="0">
                          <a:solidFill>
                            <a:srgbClr val="0070C0"/>
                          </a:solidFill>
                        </a:rPr>
                        <a:t>D</a:t>
                      </a:r>
                      <a:endParaRPr lang="ja-GB" altLang="en-US" sz="1600" dirty="0">
                        <a:solidFill>
                          <a:srgbClr val="0070C0"/>
                        </a:solidFill>
                      </a:endParaRPr>
                    </a:p>
                  </a:txBody>
                  <a:tcPr/>
                </a:tc>
                <a:tc>
                  <a:txBody>
                    <a:bodyPr/>
                    <a:lstStyle/>
                    <a:p>
                      <a:pPr algn="ctr"/>
                      <a:r>
                        <a:rPr lang="en-US" altLang="ja-GB" sz="1600" dirty="0">
                          <a:solidFill>
                            <a:srgbClr val="0070C0"/>
                          </a:solidFill>
                        </a:rPr>
                        <a:t>(3,4)</a:t>
                      </a:r>
                      <a:endParaRPr lang="ja-GB" altLang="en-US" sz="1600" dirty="0">
                        <a:solidFill>
                          <a:srgbClr val="0070C0"/>
                        </a:solidFill>
                      </a:endParaRPr>
                    </a:p>
                  </a:txBody>
                  <a:tcPr/>
                </a:tc>
                <a:tc>
                  <a:txBody>
                    <a:bodyPr/>
                    <a:lstStyle/>
                    <a:p>
                      <a:pPr algn="ctr"/>
                      <a:r>
                        <a:rPr lang="en-US" altLang="ja-GB" sz="1600" dirty="0">
                          <a:solidFill>
                            <a:srgbClr val="0070C0"/>
                          </a:solidFill>
                        </a:rPr>
                        <a:t>5</a:t>
                      </a:r>
                      <a:endParaRPr lang="ja-GB" altLang="en-US" sz="1600" dirty="0">
                        <a:solidFill>
                          <a:srgbClr val="0070C0"/>
                        </a:solidFill>
                      </a:endParaRPr>
                    </a:p>
                  </a:txBody>
                  <a:tcPr/>
                </a:tc>
                <a:extLst>
                  <a:ext uri="{0D108BD9-81ED-4DB2-BD59-A6C34878D82A}">
                    <a16:rowId xmlns:a16="http://schemas.microsoft.com/office/drawing/2014/main" val="3373349507"/>
                  </a:ext>
                </a:extLst>
              </a:tr>
              <a:tr h="185302">
                <a:tc>
                  <a:txBody>
                    <a:bodyPr/>
                    <a:lstStyle/>
                    <a:p>
                      <a:pPr algn="ctr"/>
                      <a:r>
                        <a:rPr lang="en-US" altLang="ja-GB" sz="1600" dirty="0"/>
                        <a:t>E</a:t>
                      </a:r>
                      <a:endParaRPr lang="ja-GB" altLang="en-US" sz="1600" dirty="0"/>
                    </a:p>
                  </a:txBody>
                  <a:tcPr/>
                </a:tc>
                <a:tc>
                  <a:txBody>
                    <a:bodyPr/>
                    <a:lstStyle/>
                    <a:p>
                      <a:pPr algn="ctr"/>
                      <a:r>
                        <a:rPr lang="en-US" altLang="ja-GB" sz="1600" dirty="0"/>
                        <a:t>(2,5)</a:t>
                      </a:r>
                      <a:endParaRPr lang="ja-GB" altLang="en-US" sz="1600" dirty="0"/>
                    </a:p>
                  </a:txBody>
                  <a:tcPr/>
                </a:tc>
                <a:tc>
                  <a:txBody>
                    <a:bodyPr/>
                    <a:lstStyle/>
                    <a:p>
                      <a:pPr algn="ctr"/>
                      <a:r>
                        <a:rPr lang="en-US" altLang="ja-GB" sz="1600" dirty="0"/>
                        <a:t>1</a:t>
                      </a:r>
                      <a:endParaRPr lang="ja-GB" altLang="en-US" sz="1600" dirty="0"/>
                    </a:p>
                  </a:txBody>
                  <a:tcPr/>
                </a:tc>
                <a:extLst>
                  <a:ext uri="{0D108BD9-81ED-4DB2-BD59-A6C34878D82A}">
                    <a16:rowId xmlns:a16="http://schemas.microsoft.com/office/drawing/2014/main" val="2991419434"/>
                  </a:ext>
                </a:extLst>
              </a:tr>
              <a:tr h="185302">
                <a:tc>
                  <a:txBody>
                    <a:bodyPr/>
                    <a:lstStyle/>
                    <a:p>
                      <a:pPr algn="ctr"/>
                      <a:r>
                        <a:rPr lang="en-US" altLang="ja-GB" sz="1600" dirty="0"/>
                        <a:t>F</a:t>
                      </a:r>
                      <a:endParaRPr lang="ja-GB" altLang="en-US" sz="1600" dirty="0"/>
                    </a:p>
                  </a:txBody>
                  <a:tcPr/>
                </a:tc>
                <a:tc>
                  <a:txBody>
                    <a:bodyPr/>
                    <a:lstStyle/>
                    <a:p>
                      <a:pPr algn="ctr"/>
                      <a:r>
                        <a:rPr lang="en-US" altLang="ja-GB" sz="1600" dirty="0"/>
                        <a:t>(4,6)</a:t>
                      </a:r>
                      <a:endParaRPr lang="ja-GB" altLang="en-US" sz="1600" dirty="0"/>
                    </a:p>
                  </a:txBody>
                  <a:tcPr/>
                </a:tc>
                <a:tc>
                  <a:txBody>
                    <a:bodyPr/>
                    <a:lstStyle/>
                    <a:p>
                      <a:pPr algn="ctr"/>
                      <a:r>
                        <a:rPr lang="en-US" altLang="ja-GB" sz="1600" dirty="0"/>
                        <a:t>6</a:t>
                      </a:r>
                      <a:endParaRPr lang="ja-GB" altLang="en-US" sz="1600" dirty="0"/>
                    </a:p>
                  </a:txBody>
                  <a:tcPr/>
                </a:tc>
                <a:extLst>
                  <a:ext uri="{0D108BD9-81ED-4DB2-BD59-A6C34878D82A}">
                    <a16:rowId xmlns:a16="http://schemas.microsoft.com/office/drawing/2014/main" val="3985016094"/>
                  </a:ext>
                </a:extLst>
              </a:tr>
              <a:tr h="185302">
                <a:tc>
                  <a:txBody>
                    <a:bodyPr/>
                    <a:lstStyle/>
                    <a:p>
                      <a:pPr algn="ctr"/>
                      <a:r>
                        <a:rPr lang="en-US" altLang="ja-GB" sz="1600" dirty="0"/>
                        <a:t>G</a:t>
                      </a:r>
                      <a:endParaRPr lang="ja-GB" altLang="en-US" sz="1600" dirty="0"/>
                    </a:p>
                  </a:txBody>
                  <a:tcPr/>
                </a:tc>
                <a:tc>
                  <a:txBody>
                    <a:bodyPr/>
                    <a:lstStyle/>
                    <a:p>
                      <a:pPr algn="ctr"/>
                      <a:r>
                        <a:rPr lang="en-US" altLang="ja-GB" sz="1600" dirty="0"/>
                        <a:t>(4,5)</a:t>
                      </a:r>
                      <a:endParaRPr lang="ja-GB" altLang="en-US" sz="1600" dirty="0"/>
                    </a:p>
                  </a:txBody>
                  <a:tcPr/>
                </a:tc>
                <a:tc>
                  <a:txBody>
                    <a:bodyPr/>
                    <a:lstStyle/>
                    <a:p>
                      <a:pPr algn="ctr"/>
                      <a:r>
                        <a:rPr lang="en-US" altLang="ja-GB" sz="1600" dirty="0"/>
                        <a:t>3</a:t>
                      </a:r>
                      <a:endParaRPr lang="ja-GB" altLang="en-US" sz="1600" dirty="0"/>
                    </a:p>
                  </a:txBody>
                  <a:tcPr/>
                </a:tc>
                <a:extLst>
                  <a:ext uri="{0D108BD9-81ED-4DB2-BD59-A6C34878D82A}">
                    <a16:rowId xmlns:a16="http://schemas.microsoft.com/office/drawing/2014/main" val="852509030"/>
                  </a:ext>
                </a:extLst>
              </a:tr>
              <a:tr h="185302">
                <a:tc>
                  <a:txBody>
                    <a:bodyPr/>
                    <a:lstStyle/>
                    <a:p>
                      <a:pPr algn="ctr"/>
                      <a:r>
                        <a:rPr lang="en-US" altLang="ja-GB" sz="1600" dirty="0"/>
                        <a:t>H</a:t>
                      </a:r>
                      <a:endParaRPr lang="ja-GB" altLang="en-US" sz="1600" dirty="0"/>
                    </a:p>
                  </a:txBody>
                  <a:tcPr/>
                </a:tc>
                <a:tc>
                  <a:txBody>
                    <a:bodyPr/>
                    <a:lstStyle/>
                    <a:p>
                      <a:pPr algn="ctr"/>
                      <a:r>
                        <a:rPr lang="en-US" altLang="ja-GB" sz="1600" dirty="0"/>
                        <a:t>(5,6)</a:t>
                      </a:r>
                      <a:endParaRPr lang="ja-GB" altLang="en-US" sz="1600" dirty="0"/>
                    </a:p>
                  </a:txBody>
                  <a:tcPr/>
                </a:tc>
                <a:tc>
                  <a:txBody>
                    <a:bodyPr/>
                    <a:lstStyle/>
                    <a:p>
                      <a:pPr algn="ctr"/>
                      <a:r>
                        <a:rPr lang="en-US" altLang="ja-GB" sz="1600" dirty="0"/>
                        <a:t>2</a:t>
                      </a:r>
                      <a:endParaRPr lang="ja-GB" altLang="en-US" sz="1600" dirty="0"/>
                    </a:p>
                  </a:txBody>
                  <a:tcPr/>
                </a:tc>
                <a:extLst>
                  <a:ext uri="{0D108BD9-81ED-4DB2-BD59-A6C34878D82A}">
                    <a16:rowId xmlns:a16="http://schemas.microsoft.com/office/drawing/2014/main" val="3285484398"/>
                  </a:ext>
                </a:extLst>
              </a:tr>
            </a:tbl>
          </a:graphicData>
        </a:graphic>
      </p:graphicFrame>
    </p:spTree>
    <p:extLst>
      <p:ext uri="{BB962C8B-B14F-4D97-AF65-F5344CB8AC3E}">
        <p14:creationId xmlns:p14="http://schemas.microsoft.com/office/powerpoint/2010/main" val="3593919776"/>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18BA5-D839-463E-DF8A-CE8C17ED0FD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1C3BE3C-99B9-DC85-E4FB-89082DD0FA6C}"/>
              </a:ext>
            </a:extLst>
          </p:cNvPr>
          <p:cNvSpPr>
            <a:spLocks noGrp="1"/>
          </p:cNvSpPr>
          <p:nvPr>
            <p:ph type="title"/>
          </p:nvPr>
        </p:nvSpPr>
        <p:spPr/>
        <p:txBody>
          <a:bodyPr/>
          <a:lstStyle/>
          <a:p>
            <a:r>
              <a:rPr lang="ja-GB" altLang="en-US" dirty="0"/>
              <a:t>所要時間表の作成</a:t>
            </a:r>
            <a:endParaRPr kumimoji="1" lang="ja-GB" altLang="en-US" dirty="0"/>
          </a:p>
        </p:txBody>
      </p:sp>
      <p:sp>
        <p:nvSpPr>
          <p:cNvPr id="3" name="コンテンツ プレースホルダー 2">
            <a:extLst>
              <a:ext uri="{FF2B5EF4-FFF2-40B4-BE49-F238E27FC236}">
                <a16:creationId xmlns:a16="http://schemas.microsoft.com/office/drawing/2014/main" id="{4032F39A-D0DB-4A01-7565-512907CCD868}"/>
              </a:ext>
            </a:extLst>
          </p:cNvPr>
          <p:cNvSpPr>
            <a:spLocks noGrp="1"/>
          </p:cNvSpPr>
          <p:nvPr>
            <p:ph idx="1"/>
          </p:nvPr>
        </p:nvSpPr>
        <p:spPr/>
        <p:txBody>
          <a:bodyPr/>
          <a:lstStyle/>
          <a:p>
            <a:pPr marL="0" indent="0">
              <a:buNone/>
            </a:pPr>
            <a:r>
              <a:rPr lang="en-US" altLang="ja-GB" dirty="0"/>
              <a:t>①</a:t>
            </a:r>
            <a:r>
              <a:rPr lang="ja-GB" altLang="en-US" dirty="0"/>
              <a:t>ある作業</a:t>
            </a:r>
            <a:r>
              <a:rPr lang="en-US" altLang="ja-GB" dirty="0"/>
              <a:t>(</a:t>
            </a:r>
            <a:r>
              <a:rPr lang="en-US" altLang="ja-GB" dirty="0" err="1"/>
              <a:t>i,j</a:t>
            </a:r>
            <a:r>
              <a:rPr lang="en-US" altLang="ja-GB" dirty="0"/>
              <a:t>)</a:t>
            </a:r>
            <a:r>
              <a:rPr lang="ja-GB" altLang="en-US" dirty="0"/>
              <a:t>の</a:t>
            </a:r>
            <a:r>
              <a:rPr lang="en-US" altLang="ja-GB" dirty="0" err="1"/>
              <a:t>i</a:t>
            </a:r>
            <a:r>
              <a:rPr lang="ja-GB" altLang="en-US" dirty="0"/>
              <a:t>を縦方向に探索し，</a:t>
            </a:r>
            <a:r>
              <a:rPr lang="en-US" altLang="ja-GB" dirty="0"/>
              <a:t>②j</a:t>
            </a:r>
            <a:r>
              <a:rPr lang="ja-GB" altLang="en-US" dirty="0"/>
              <a:t>を横方向に探索し，</a:t>
            </a:r>
            <a:br>
              <a:rPr lang="en-US" altLang="ja-GB" dirty="0"/>
            </a:br>
            <a:r>
              <a:rPr lang="ja-GB" altLang="en-US" dirty="0"/>
              <a:t>その交点座標にあたる欄内に所要時間を入力する</a:t>
            </a:r>
            <a:endParaRPr lang="en-US" altLang="ja-GB" dirty="0"/>
          </a:p>
          <a:p>
            <a:endParaRPr kumimoji="1" lang="ja-GB" altLang="en-US" dirty="0"/>
          </a:p>
        </p:txBody>
      </p:sp>
      <p:pic>
        <p:nvPicPr>
          <p:cNvPr id="5" name="コンテンツ プレースホルダー 4">
            <a:extLst>
              <a:ext uri="{FF2B5EF4-FFF2-40B4-BE49-F238E27FC236}">
                <a16:creationId xmlns:a16="http://schemas.microsoft.com/office/drawing/2014/main" id="{E36CB2B5-0696-7B08-FC90-440F38A12E1E}"/>
              </a:ext>
            </a:extLst>
          </p:cNvPr>
          <p:cNvPicPr>
            <a:picLocks noChangeAspect="1"/>
          </p:cNvPicPr>
          <p:nvPr/>
        </p:nvPicPr>
        <p:blipFill>
          <a:blip r:embed="rId2"/>
          <a:srcRect/>
          <a:stretch/>
        </p:blipFill>
        <p:spPr>
          <a:xfrm>
            <a:off x="5058448" y="2384657"/>
            <a:ext cx="3266456" cy="2906756"/>
          </a:xfrm>
          <a:prstGeom prst="rect">
            <a:avLst/>
          </a:prstGeom>
        </p:spPr>
      </p:pic>
      <p:graphicFrame>
        <p:nvGraphicFramePr>
          <p:cNvPr id="6" name="表 5">
            <a:extLst>
              <a:ext uri="{FF2B5EF4-FFF2-40B4-BE49-F238E27FC236}">
                <a16:creationId xmlns:a16="http://schemas.microsoft.com/office/drawing/2014/main" id="{31CDC39D-F365-CDFF-AC3E-91C42D18E9D4}"/>
              </a:ext>
            </a:extLst>
          </p:cNvPr>
          <p:cNvGraphicFramePr>
            <a:graphicFrameLocks noGrp="1"/>
          </p:cNvGraphicFramePr>
          <p:nvPr/>
        </p:nvGraphicFramePr>
        <p:xfrm>
          <a:off x="390700" y="2362862"/>
          <a:ext cx="3465324" cy="2987040"/>
        </p:xfrm>
        <a:graphic>
          <a:graphicData uri="http://schemas.openxmlformats.org/drawingml/2006/table">
            <a:tbl>
              <a:tblPr firstRow="1" bandRow="1">
                <a:tableStyleId>{5C22544A-7EE6-4342-B048-85BDC9FD1C3A}</a:tableStyleId>
              </a:tblPr>
              <a:tblGrid>
                <a:gridCol w="1155108">
                  <a:extLst>
                    <a:ext uri="{9D8B030D-6E8A-4147-A177-3AD203B41FA5}">
                      <a16:colId xmlns:a16="http://schemas.microsoft.com/office/drawing/2014/main" val="3691675347"/>
                    </a:ext>
                  </a:extLst>
                </a:gridCol>
                <a:gridCol w="1155108">
                  <a:extLst>
                    <a:ext uri="{9D8B030D-6E8A-4147-A177-3AD203B41FA5}">
                      <a16:colId xmlns:a16="http://schemas.microsoft.com/office/drawing/2014/main" val="928111709"/>
                    </a:ext>
                  </a:extLst>
                </a:gridCol>
                <a:gridCol w="1155108">
                  <a:extLst>
                    <a:ext uri="{9D8B030D-6E8A-4147-A177-3AD203B41FA5}">
                      <a16:colId xmlns:a16="http://schemas.microsoft.com/office/drawing/2014/main" val="4014108102"/>
                    </a:ext>
                  </a:extLst>
                </a:gridCol>
              </a:tblGrid>
              <a:tr h="183483">
                <a:tc>
                  <a:txBody>
                    <a:bodyPr/>
                    <a:lstStyle/>
                    <a:p>
                      <a:pPr algn="ctr"/>
                      <a:r>
                        <a:rPr lang="ja-GB" altLang="en-US" sz="1400" dirty="0"/>
                        <a:t>作業記号</a:t>
                      </a:r>
                    </a:p>
                  </a:txBody>
                  <a:tcPr/>
                </a:tc>
                <a:tc>
                  <a:txBody>
                    <a:bodyPr/>
                    <a:lstStyle/>
                    <a:p>
                      <a:pPr algn="ctr"/>
                      <a:r>
                        <a:rPr lang="ja-GB" altLang="en-US" sz="1400" dirty="0"/>
                        <a:t>作業</a:t>
                      </a:r>
                      <a:r>
                        <a:rPr lang="en-US" altLang="ja-GB" sz="1400" dirty="0"/>
                        <a:t>(</a:t>
                      </a:r>
                      <a:r>
                        <a:rPr lang="en-US" altLang="ja-GB" sz="1400" dirty="0" err="1"/>
                        <a:t>i,j</a:t>
                      </a:r>
                      <a:r>
                        <a:rPr lang="en-US" altLang="ja-GB" sz="1400" dirty="0"/>
                        <a:t>)</a:t>
                      </a:r>
                      <a:endParaRPr lang="ja-GB" altLang="en-US" sz="1400" dirty="0"/>
                    </a:p>
                  </a:txBody>
                  <a:tcPr/>
                </a:tc>
                <a:tc>
                  <a:txBody>
                    <a:bodyPr/>
                    <a:lstStyle/>
                    <a:p>
                      <a:pPr algn="ctr"/>
                      <a:r>
                        <a:rPr lang="ja-GB" altLang="en-US" sz="1400" dirty="0"/>
                        <a:t>所要日数</a:t>
                      </a:r>
                      <a:r>
                        <a:rPr lang="en-US" altLang="ja-GB" sz="1400" dirty="0"/>
                        <a:t> </a:t>
                      </a:r>
                      <a:r>
                        <a:rPr lang="en-US" altLang="ja-GB" sz="1400" dirty="0" err="1"/>
                        <a:t>D</a:t>
                      </a:r>
                      <a:r>
                        <a:rPr lang="en-US" altLang="ja-GB" sz="1400" baseline="-25000" dirty="0" err="1"/>
                        <a:t>i,j</a:t>
                      </a:r>
                      <a:endParaRPr lang="ja-GB" altLang="en-US" sz="1400" baseline="-25000" dirty="0"/>
                    </a:p>
                  </a:txBody>
                  <a:tcPr/>
                </a:tc>
                <a:extLst>
                  <a:ext uri="{0D108BD9-81ED-4DB2-BD59-A6C34878D82A}">
                    <a16:rowId xmlns:a16="http://schemas.microsoft.com/office/drawing/2014/main" val="3671063893"/>
                  </a:ext>
                </a:extLst>
              </a:tr>
              <a:tr h="185302">
                <a:tc>
                  <a:txBody>
                    <a:bodyPr/>
                    <a:lstStyle/>
                    <a:p>
                      <a:pPr algn="ctr"/>
                      <a:r>
                        <a:rPr lang="en-US" altLang="ja-GB" sz="1600" dirty="0"/>
                        <a:t>A</a:t>
                      </a:r>
                      <a:endParaRPr lang="ja-GB" altLang="en-US" sz="1600" dirty="0"/>
                    </a:p>
                  </a:txBody>
                  <a:tcPr/>
                </a:tc>
                <a:tc>
                  <a:txBody>
                    <a:bodyPr/>
                    <a:lstStyle/>
                    <a:p>
                      <a:pPr algn="ctr"/>
                      <a:r>
                        <a:rPr lang="en-US" altLang="ja-GB" sz="1600" dirty="0"/>
                        <a:t>(1,2)</a:t>
                      </a:r>
                      <a:endParaRPr lang="ja-GB" altLang="en-US" sz="1600" dirty="0"/>
                    </a:p>
                  </a:txBody>
                  <a:tcPr/>
                </a:tc>
                <a:tc>
                  <a:txBody>
                    <a:bodyPr/>
                    <a:lstStyle/>
                    <a:p>
                      <a:pPr algn="ctr"/>
                      <a:r>
                        <a:rPr lang="en-US" altLang="ja-GB" sz="1600" dirty="0"/>
                        <a:t>3</a:t>
                      </a:r>
                      <a:endParaRPr lang="ja-GB" altLang="en-US" sz="1600" dirty="0"/>
                    </a:p>
                  </a:txBody>
                  <a:tcPr/>
                </a:tc>
                <a:extLst>
                  <a:ext uri="{0D108BD9-81ED-4DB2-BD59-A6C34878D82A}">
                    <a16:rowId xmlns:a16="http://schemas.microsoft.com/office/drawing/2014/main" val="3344703274"/>
                  </a:ext>
                </a:extLst>
              </a:tr>
              <a:tr h="185302">
                <a:tc>
                  <a:txBody>
                    <a:bodyPr/>
                    <a:lstStyle/>
                    <a:p>
                      <a:pPr algn="ctr"/>
                      <a:r>
                        <a:rPr lang="en-US" altLang="ja-GB" sz="1600" dirty="0"/>
                        <a:t>B</a:t>
                      </a:r>
                      <a:endParaRPr lang="ja-GB" altLang="en-US" sz="1600" dirty="0"/>
                    </a:p>
                  </a:txBody>
                  <a:tcPr/>
                </a:tc>
                <a:tc>
                  <a:txBody>
                    <a:bodyPr/>
                    <a:lstStyle/>
                    <a:p>
                      <a:pPr algn="ctr"/>
                      <a:r>
                        <a:rPr lang="en-US" altLang="ja-GB" sz="1600" dirty="0"/>
                        <a:t>(1,3)</a:t>
                      </a:r>
                      <a:endParaRPr lang="ja-GB" altLang="en-US" sz="1600" dirty="0"/>
                    </a:p>
                  </a:txBody>
                  <a:tcPr/>
                </a:tc>
                <a:tc>
                  <a:txBody>
                    <a:bodyPr/>
                    <a:lstStyle/>
                    <a:p>
                      <a:pPr algn="ctr"/>
                      <a:r>
                        <a:rPr lang="en-US" altLang="ja-GB" sz="1600" dirty="0"/>
                        <a:t>2</a:t>
                      </a:r>
                      <a:endParaRPr lang="ja-GB" altLang="en-US" sz="1600" dirty="0"/>
                    </a:p>
                  </a:txBody>
                  <a:tcPr/>
                </a:tc>
                <a:extLst>
                  <a:ext uri="{0D108BD9-81ED-4DB2-BD59-A6C34878D82A}">
                    <a16:rowId xmlns:a16="http://schemas.microsoft.com/office/drawing/2014/main" val="4177507280"/>
                  </a:ext>
                </a:extLst>
              </a:tr>
              <a:tr h="185302">
                <a:tc>
                  <a:txBody>
                    <a:bodyPr/>
                    <a:lstStyle/>
                    <a:p>
                      <a:pPr algn="ctr"/>
                      <a:r>
                        <a:rPr lang="en-US" altLang="ja-GB" sz="1600" dirty="0"/>
                        <a:t>C</a:t>
                      </a:r>
                      <a:endParaRPr lang="ja-GB" altLang="en-US" sz="1600" dirty="0"/>
                    </a:p>
                  </a:txBody>
                  <a:tcPr/>
                </a:tc>
                <a:tc>
                  <a:txBody>
                    <a:bodyPr/>
                    <a:lstStyle/>
                    <a:p>
                      <a:pPr algn="ctr"/>
                      <a:r>
                        <a:rPr lang="en-US" altLang="ja-GB" sz="1600" dirty="0"/>
                        <a:t>(2,4)</a:t>
                      </a:r>
                      <a:endParaRPr lang="ja-GB" altLang="en-US" sz="1600" dirty="0"/>
                    </a:p>
                  </a:txBody>
                  <a:tcPr/>
                </a:tc>
                <a:tc>
                  <a:txBody>
                    <a:bodyPr/>
                    <a:lstStyle/>
                    <a:p>
                      <a:pPr algn="ctr"/>
                      <a:r>
                        <a:rPr lang="en-US" altLang="ja-GB" sz="1600" dirty="0"/>
                        <a:t>4</a:t>
                      </a:r>
                      <a:endParaRPr lang="ja-GB" altLang="en-US" sz="1600" dirty="0"/>
                    </a:p>
                  </a:txBody>
                  <a:tcPr/>
                </a:tc>
                <a:extLst>
                  <a:ext uri="{0D108BD9-81ED-4DB2-BD59-A6C34878D82A}">
                    <a16:rowId xmlns:a16="http://schemas.microsoft.com/office/drawing/2014/main" val="3414689720"/>
                  </a:ext>
                </a:extLst>
              </a:tr>
              <a:tr h="185302">
                <a:tc>
                  <a:txBody>
                    <a:bodyPr/>
                    <a:lstStyle/>
                    <a:p>
                      <a:pPr algn="ctr"/>
                      <a:r>
                        <a:rPr lang="en-US" altLang="ja-GB" sz="1600" dirty="0"/>
                        <a:t>D</a:t>
                      </a:r>
                      <a:endParaRPr lang="ja-GB" altLang="en-US" sz="1600" dirty="0"/>
                    </a:p>
                  </a:txBody>
                  <a:tcPr/>
                </a:tc>
                <a:tc>
                  <a:txBody>
                    <a:bodyPr/>
                    <a:lstStyle/>
                    <a:p>
                      <a:pPr algn="ctr"/>
                      <a:r>
                        <a:rPr lang="en-US" altLang="ja-GB" sz="1600" dirty="0"/>
                        <a:t>(3,4)</a:t>
                      </a:r>
                      <a:endParaRPr lang="ja-GB" altLang="en-US" sz="1600" dirty="0"/>
                    </a:p>
                  </a:txBody>
                  <a:tcPr/>
                </a:tc>
                <a:tc>
                  <a:txBody>
                    <a:bodyPr/>
                    <a:lstStyle/>
                    <a:p>
                      <a:pPr algn="ctr"/>
                      <a:r>
                        <a:rPr lang="en-US" altLang="ja-GB" sz="1600" dirty="0"/>
                        <a:t>5</a:t>
                      </a:r>
                      <a:endParaRPr lang="ja-GB" altLang="en-US" sz="1600" dirty="0"/>
                    </a:p>
                  </a:txBody>
                  <a:tcPr/>
                </a:tc>
                <a:extLst>
                  <a:ext uri="{0D108BD9-81ED-4DB2-BD59-A6C34878D82A}">
                    <a16:rowId xmlns:a16="http://schemas.microsoft.com/office/drawing/2014/main" val="3373349507"/>
                  </a:ext>
                </a:extLst>
              </a:tr>
              <a:tr h="185302">
                <a:tc>
                  <a:txBody>
                    <a:bodyPr/>
                    <a:lstStyle/>
                    <a:p>
                      <a:pPr algn="ctr"/>
                      <a:r>
                        <a:rPr lang="en-US" altLang="ja-GB" sz="1600" dirty="0">
                          <a:solidFill>
                            <a:srgbClr val="0070C0"/>
                          </a:solidFill>
                        </a:rPr>
                        <a:t>E</a:t>
                      </a:r>
                      <a:endParaRPr lang="ja-GB" altLang="en-US" sz="1600" dirty="0">
                        <a:solidFill>
                          <a:srgbClr val="0070C0"/>
                        </a:solidFill>
                      </a:endParaRPr>
                    </a:p>
                  </a:txBody>
                  <a:tcPr/>
                </a:tc>
                <a:tc>
                  <a:txBody>
                    <a:bodyPr/>
                    <a:lstStyle/>
                    <a:p>
                      <a:pPr algn="ctr"/>
                      <a:r>
                        <a:rPr lang="en-US" altLang="ja-GB" sz="1600" dirty="0">
                          <a:solidFill>
                            <a:srgbClr val="0070C0"/>
                          </a:solidFill>
                        </a:rPr>
                        <a:t>(2,5)</a:t>
                      </a:r>
                      <a:endParaRPr lang="ja-GB" altLang="en-US" sz="1600" dirty="0">
                        <a:solidFill>
                          <a:srgbClr val="0070C0"/>
                        </a:solidFill>
                      </a:endParaRPr>
                    </a:p>
                  </a:txBody>
                  <a:tcPr/>
                </a:tc>
                <a:tc>
                  <a:txBody>
                    <a:bodyPr/>
                    <a:lstStyle/>
                    <a:p>
                      <a:pPr algn="ctr"/>
                      <a:r>
                        <a:rPr lang="en-US" altLang="ja-GB" sz="1600" dirty="0">
                          <a:solidFill>
                            <a:srgbClr val="0070C0"/>
                          </a:solidFill>
                        </a:rPr>
                        <a:t>1</a:t>
                      </a:r>
                      <a:endParaRPr lang="ja-GB" altLang="en-US" sz="1600" dirty="0">
                        <a:solidFill>
                          <a:srgbClr val="0070C0"/>
                        </a:solidFill>
                      </a:endParaRPr>
                    </a:p>
                  </a:txBody>
                  <a:tcPr/>
                </a:tc>
                <a:extLst>
                  <a:ext uri="{0D108BD9-81ED-4DB2-BD59-A6C34878D82A}">
                    <a16:rowId xmlns:a16="http://schemas.microsoft.com/office/drawing/2014/main" val="2991419434"/>
                  </a:ext>
                </a:extLst>
              </a:tr>
              <a:tr h="185302">
                <a:tc>
                  <a:txBody>
                    <a:bodyPr/>
                    <a:lstStyle/>
                    <a:p>
                      <a:pPr algn="ctr"/>
                      <a:r>
                        <a:rPr lang="en-US" altLang="ja-GB" sz="1600" dirty="0"/>
                        <a:t>F</a:t>
                      </a:r>
                      <a:endParaRPr lang="ja-GB" altLang="en-US" sz="1600" dirty="0"/>
                    </a:p>
                  </a:txBody>
                  <a:tcPr/>
                </a:tc>
                <a:tc>
                  <a:txBody>
                    <a:bodyPr/>
                    <a:lstStyle/>
                    <a:p>
                      <a:pPr algn="ctr"/>
                      <a:r>
                        <a:rPr lang="en-US" altLang="ja-GB" sz="1600" dirty="0"/>
                        <a:t>(4,6)</a:t>
                      </a:r>
                      <a:endParaRPr lang="ja-GB" altLang="en-US" sz="1600" dirty="0"/>
                    </a:p>
                  </a:txBody>
                  <a:tcPr/>
                </a:tc>
                <a:tc>
                  <a:txBody>
                    <a:bodyPr/>
                    <a:lstStyle/>
                    <a:p>
                      <a:pPr algn="ctr"/>
                      <a:r>
                        <a:rPr lang="en-US" altLang="ja-GB" sz="1600" dirty="0"/>
                        <a:t>6</a:t>
                      </a:r>
                      <a:endParaRPr lang="ja-GB" altLang="en-US" sz="1600" dirty="0"/>
                    </a:p>
                  </a:txBody>
                  <a:tcPr/>
                </a:tc>
                <a:extLst>
                  <a:ext uri="{0D108BD9-81ED-4DB2-BD59-A6C34878D82A}">
                    <a16:rowId xmlns:a16="http://schemas.microsoft.com/office/drawing/2014/main" val="3985016094"/>
                  </a:ext>
                </a:extLst>
              </a:tr>
              <a:tr h="185302">
                <a:tc>
                  <a:txBody>
                    <a:bodyPr/>
                    <a:lstStyle/>
                    <a:p>
                      <a:pPr algn="ctr"/>
                      <a:r>
                        <a:rPr lang="en-US" altLang="ja-GB" sz="1600" dirty="0"/>
                        <a:t>G</a:t>
                      </a:r>
                      <a:endParaRPr lang="ja-GB" altLang="en-US" sz="1600" dirty="0"/>
                    </a:p>
                  </a:txBody>
                  <a:tcPr/>
                </a:tc>
                <a:tc>
                  <a:txBody>
                    <a:bodyPr/>
                    <a:lstStyle/>
                    <a:p>
                      <a:pPr algn="ctr"/>
                      <a:r>
                        <a:rPr lang="en-US" altLang="ja-GB" sz="1600" dirty="0"/>
                        <a:t>(4,5)</a:t>
                      </a:r>
                      <a:endParaRPr lang="ja-GB" altLang="en-US" sz="1600" dirty="0"/>
                    </a:p>
                  </a:txBody>
                  <a:tcPr/>
                </a:tc>
                <a:tc>
                  <a:txBody>
                    <a:bodyPr/>
                    <a:lstStyle/>
                    <a:p>
                      <a:pPr algn="ctr"/>
                      <a:r>
                        <a:rPr lang="en-US" altLang="ja-GB" sz="1600" dirty="0"/>
                        <a:t>3</a:t>
                      </a:r>
                      <a:endParaRPr lang="ja-GB" altLang="en-US" sz="1600" dirty="0"/>
                    </a:p>
                  </a:txBody>
                  <a:tcPr/>
                </a:tc>
                <a:extLst>
                  <a:ext uri="{0D108BD9-81ED-4DB2-BD59-A6C34878D82A}">
                    <a16:rowId xmlns:a16="http://schemas.microsoft.com/office/drawing/2014/main" val="852509030"/>
                  </a:ext>
                </a:extLst>
              </a:tr>
              <a:tr h="185302">
                <a:tc>
                  <a:txBody>
                    <a:bodyPr/>
                    <a:lstStyle/>
                    <a:p>
                      <a:pPr algn="ctr"/>
                      <a:r>
                        <a:rPr lang="en-US" altLang="ja-GB" sz="1600" dirty="0"/>
                        <a:t>H</a:t>
                      </a:r>
                      <a:endParaRPr lang="ja-GB" altLang="en-US" sz="1600" dirty="0"/>
                    </a:p>
                  </a:txBody>
                  <a:tcPr/>
                </a:tc>
                <a:tc>
                  <a:txBody>
                    <a:bodyPr/>
                    <a:lstStyle/>
                    <a:p>
                      <a:pPr algn="ctr"/>
                      <a:r>
                        <a:rPr lang="en-US" altLang="ja-GB" sz="1600" dirty="0"/>
                        <a:t>(5,6)</a:t>
                      </a:r>
                      <a:endParaRPr lang="ja-GB" altLang="en-US" sz="1600" dirty="0"/>
                    </a:p>
                  </a:txBody>
                  <a:tcPr/>
                </a:tc>
                <a:tc>
                  <a:txBody>
                    <a:bodyPr/>
                    <a:lstStyle/>
                    <a:p>
                      <a:pPr algn="ctr"/>
                      <a:r>
                        <a:rPr lang="en-US" altLang="ja-GB" sz="1600" dirty="0"/>
                        <a:t>2</a:t>
                      </a:r>
                      <a:endParaRPr lang="ja-GB" altLang="en-US" sz="1600" dirty="0"/>
                    </a:p>
                  </a:txBody>
                  <a:tcPr/>
                </a:tc>
                <a:extLst>
                  <a:ext uri="{0D108BD9-81ED-4DB2-BD59-A6C34878D82A}">
                    <a16:rowId xmlns:a16="http://schemas.microsoft.com/office/drawing/2014/main" val="3285484398"/>
                  </a:ext>
                </a:extLst>
              </a:tr>
            </a:tbl>
          </a:graphicData>
        </a:graphic>
      </p:graphicFrame>
    </p:spTree>
    <p:extLst>
      <p:ext uri="{BB962C8B-B14F-4D97-AF65-F5344CB8AC3E}">
        <p14:creationId xmlns:p14="http://schemas.microsoft.com/office/powerpoint/2010/main" val="2625083434"/>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BD5E4-41F6-E2B6-76C9-E8B26D5E1AE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66BB188-996D-608D-5319-0710C40E95B5}"/>
              </a:ext>
            </a:extLst>
          </p:cNvPr>
          <p:cNvSpPr>
            <a:spLocks noGrp="1"/>
          </p:cNvSpPr>
          <p:nvPr>
            <p:ph type="title"/>
          </p:nvPr>
        </p:nvSpPr>
        <p:spPr/>
        <p:txBody>
          <a:bodyPr>
            <a:normAutofit/>
          </a:bodyPr>
          <a:lstStyle/>
          <a:p>
            <a:r>
              <a:rPr lang="ja-GB" altLang="en-US" dirty="0"/>
              <a:t>所要時間表の作成</a:t>
            </a:r>
            <a:endParaRPr kumimoji="1" lang="ja-GB" altLang="en-US" dirty="0"/>
          </a:p>
        </p:txBody>
      </p:sp>
      <p:sp>
        <p:nvSpPr>
          <p:cNvPr id="3" name="コンテンツ プレースホルダー 2">
            <a:extLst>
              <a:ext uri="{FF2B5EF4-FFF2-40B4-BE49-F238E27FC236}">
                <a16:creationId xmlns:a16="http://schemas.microsoft.com/office/drawing/2014/main" id="{7D6E5F14-7DDF-82FF-C4F3-767F2B025E8A}"/>
              </a:ext>
            </a:extLst>
          </p:cNvPr>
          <p:cNvSpPr>
            <a:spLocks noGrp="1"/>
          </p:cNvSpPr>
          <p:nvPr>
            <p:ph idx="1"/>
          </p:nvPr>
        </p:nvSpPr>
        <p:spPr/>
        <p:txBody>
          <a:bodyPr/>
          <a:lstStyle/>
          <a:p>
            <a:pPr marL="0" indent="0">
              <a:buNone/>
            </a:pPr>
            <a:r>
              <a:rPr lang="en-US" altLang="ja-GB" dirty="0"/>
              <a:t>①</a:t>
            </a:r>
            <a:r>
              <a:rPr lang="ja-GB" altLang="en-US" dirty="0"/>
              <a:t>ある作業</a:t>
            </a:r>
            <a:r>
              <a:rPr lang="en-US" altLang="ja-GB" dirty="0"/>
              <a:t>(</a:t>
            </a:r>
            <a:r>
              <a:rPr lang="en-US" altLang="ja-GB" dirty="0" err="1"/>
              <a:t>i,j</a:t>
            </a:r>
            <a:r>
              <a:rPr lang="en-US" altLang="ja-GB" dirty="0"/>
              <a:t>)</a:t>
            </a:r>
            <a:r>
              <a:rPr lang="ja-GB" altLang="en-US" dirty="0"/>
              <a:t>の</a:t>
            </a:r>
            <a:r>
              <a:rPr lang="en-US" altLang="ja-GB" dirty="0" err="1"/>
              <a:t>i</a:t>
            </a:r>
            <a:r>
              <a:rPr lang="ja-GB" altLang="en-US" dirty="0"/>
              <a:t>を縦方向に探索し，</a:t>
            </a:r>
            <a:r>
              <a:rPr lang="en-US" altLang="ja-GB" dirty="0"/>
              <a:t>②j</a:t>
            </a:r>
            <a:r>
              <a:rPr lang="ja-GB" altLang="en-US" dirty="0"/>
              <a:t>を横方向に探索し，</a:t>
            </a:r>
            <a:br>
              <a:rPr lang="en-US" altLang="ja-GB" dirty="0"/>
            </a:br>
            <a:r>
              <a:rPr lang="ja-GB" altLang="en-US" dirty="0"/>
              <a:t>その交点座標にあたる欄内に所要時間を入力する</a:t>
            </a:r>
            <a:endParaRPr lang="en-US" altLang="ja-GB" dirty="0"/>
          </a:p>
          <a:p>
            <a:endParaRPr kumimoji="1" lang="ja-GB" altLang="en-US" dirty="0"/>
          </a:p>
        </p:txBody>
      </p:sp>
      <p:pic>
        <p:nvPicPr>
          <p:cNvPr id="5" name="コンテンツ プレースホルダー 4">
            <a:extLst>
              <a:ext uri="{FF2B5EF4-FFF2-40B4-BE49-F238E27FC236}">
                <a16:creationId xmlns:a16="http://schemas.microsoft.com/office/drawing/2014/main" id="{F4D54318-7533-76A8-8876-982342595DCC}"/>
              </a:ext>
            </a:extLst>
          </p:cNvPr>
          <p:cNvPicPr>
            <a:picLocks noChangeAspect="1"/>
          </p:cNvPicPr>
          <p:nvPr/>
        </p:nvPicPr>
        <p:blipFill>
          <a:blip r:embed="rId2"/>
          <a:srcRect/>
          <a:stretch/>
        </p:blipFill>
        <p:spPr>
          <a:xfrm>
            <a:off x="5058448" y="2385194"/>
            <a:ext cx="3266456" cy="2905683"/>
          </a:xfrm>
          <a:prstGeom prst="rect">
            <a:avLst/>
          </a:prstGeom>
        </p:spPr>
      </p:pic>
      <p:graphicFrame>
        <p:nvGraphicFramePr>
          <p:cNvPr id="6" name="表 5">
            <a:extLst>
              <a:ext uri="{FF2B5EF4-FFF2-40B4-BE49-F238E27FC236}">
                <a16:creationId xmlns:a16="http://schemas.microsoft.com/office/drawing/2014/main" id="{EACAC4E3-E1FF-4813-5045-52DE7C663E9E}"/>
              </a:ext>
            </a:extLst>
          </p:cNvPr>
          <p:cNvGraphicFramePr>
            <a:graphicFrameLocks noGrp="1"/>
          </p:cNvGraphicFramePr>
          <p:nvPr/>
        </p:nvGraphicFramePr>
        <p:xfrm>
          <a:off x="390700" y="2362862"/>
          <a:ext cx="3465324" cy="2987040"/>
        </p:xfrm>
        <a:graphic>
          <a:graphicData uri="http://schemas.openxmlformats.org/drawingml/2006/table">
            <a:tbl>
              <a:tblPr firstRow="1" bandRow="1">
                <a:tableStyleId>{5C22544A-7EE6-4342-B048-85BDC9FD1C3A}</a:tableStyleId>
              </a:tblPr>
              <a:tblGrid>
                <a:gridCol w="1155108">
                  <a:extLst>
                    <a:ext uri="{9D8B030D-6E8A-4147-A177-3AD203B41FA5}">
                      <a16:colId xmlns:a16="http://schemas.microsoft.com/office/drawing/2014/main" val="3691675347"/>
                    </a:ext>
                  </a:extLst>
                </a:gridCol>
                <a:gridCol w="1155108">
                  <a:extLst>
                    <a:ext uri="{9D8B030D-6E8A-4147-A177-3AD203B41FA5}">
                      <a16:colId xmlns:a16="http://schemas.microsoft.com/office/drawing/2014/main" val="928111709"/>
                    </a:ext>
                  </a:extLst>
                </a:gridCol>
                <a:gridCol w="1155108">
                  <a:extLst>
                    <a:ext uri="{9D8B030D-6E8A-4147-A177-3AD203B41FA5}">
                      <a16:colId xmlns:a16="http://schemas.microsoft.com/office/drawing/2014/main" val="4014108102"/>
                    </a:ext>
                  </a:extLst>
                </a:gridCol>
              </a:tblGrid>
              <a:tr h="183483">
                <a:tc>
                  <a:txBody>
                    <a:bodyPr/>
                    <a:lstStyle/>
                    <a:p>
                      <a:pPr algn="ctr"/>
                      <a:r>
                        <a:rPr lang="ja-GB" altLang="en-US" sz="1400" dirty="0"/>
                        <a:t>作業記号</a:t>
                      </a:r>
                    </a:p>
                  </a:txBody>
                  <a:tcPr/>
                </a:tc>
                <a:tc>
                  <a:txBody>
                    <a:bodyPr/>
                    <a:lstStyle/>
                    <a:p>
                      <a:pPr algn="ctr"/>
                      <a:r>
                        <a:rPr lang="ja-GB" altLang="en-US" sz="1400" dirty="0"/>
                        <a:t>作業</a:t>
                      </a:r>
                      <a:r>
                        <a:rPr lang="en-US" altLang="ja-GB" sz="1400" dirty="0"/>
                        <a:t>(</a:t>
                      </a:r>
                      <a:r>
                        <a:rPr lang="en-US" altLang="ja-GB" sz="1400" dirty="0" err="1"/>
                        <a:t>i,j</a:t>
                      </a:r>
                      <a:r>
                        <a:rPr lang="en-US" altLang="ja-GB" sz="1400" dirty="0"/>
                        <a:t>)</a:t>
                      </a:r>
                      <a:endParaRPr lang="ja-GB" altLang="en-US" sz="1400" dirty="0"/>
                    </a:p>
                  </a:txBody>
                  <a:tcPr/>
                </a:tc>
                <a:tc>
                  <a:txBody>
                    <a:bodyPr/>
                    <a:lstStyle/>
                    <a:p>
                      <a:pPr algn="ctr"/>
                      <a:r>
                        <a:rPr lang="ja-GB" altLang="en-US" sz="1400" dirty="0"/>
                        <a:t>所要日数</a:t>
                      </a:r>
                      <a:r>
                        <a:rPr lang="en-US" altLang="ja-GB" sz="1400" dirty="0"/>
                        <a:t> </a:t>
                      </a:r>
                      <a:r>
                        <a:rPr lang="en-US" altLang="ja-GB" sz="1400" dirty="0" err="1"/>
                        <a:t>D</a:t>
                      </a:r>
                      <a:r>
                        <a:rPr lang="en-US" altLang="ja-GB" sz="1400" baseline="-25000" dirty="0" err="1"/>
                        <a:t>i,j</a:t>
                      </a:r>
                      <a:endParaRPr lang="ja-GB" altLang="en-US" sz="1400" baseline="-25000" dirty="0"/>
                    </a:p>
                  </a:txBody>
                  <a:tcPr/>
                </a:tc>
                <a:extLst>
                  <a:ext uri="{0D108BD9-81ED-4DB2-BD59-A6C34878D82A}">
                    <a16:rowId xmlns:a16="http://schemas.microsoft.com/office/drawing/2014/main" val="3671063893"/>
                  </a:ext>
                </a:extLst>
              </a:tr>
              <a:tr h="185302">
                <a:tc>
                  <a:txBody>
                    <a:bodyPr/>
                    <a:lstStyle/>
                    <a:p>
                      <a:pPr algn="ctr"/>
                      <a:r>
                        <a:rPr lang="en-US" altLang="ja-GB" sz="1600" dirty="0"/>
                        <a:t>A</a:t>
                      </a:r>
                      <a:endParaRPr lang="ja-GB" altLang="en-US" sz="1600" dirty="0"/>
                    </a:p>
                  </a:txBody>
                  <a:tcPr/>
                </a:tc>
                <a:tc>
                  <a:txBody>
                    <a:bodyPr/>
                    <a:lstStyle/>
                    <a:p>
                      <a:pPr algn="ctr"/>
                      <a:r>
                        <a:rPr lang="en-US" altLang="ja-GB" sz="1600" dirty="0"/>
                        <a:t>(1,2)</a:t>
                      </a:r>
                      <a:endParaRPr lang="ja-GB" altLang="en-US" sz="1600" dirty="0"/>
                    </a:p>
                  </a:txBody>
                  <a:tcPr/>
                </a:tc>
                <a:tc>
                  <a:txBody>
                    <a:bodyPr/>
                    <a:lstStyle/>
                    <a:p>
                      <a:pPr algn="ctr"/>
                      <a:r>
                        <a:rPr lang="en-US" altLang="ja-GB" sz="1600" dirty="0"/>
                        <a:t>3</a:t>
                      </a:r>
                      <a:endParaRPr lang="ja-GB" altLang="en-US" sz="1600" dirty="0"/>
                    </a:p>
                  </a:txBody>
                  <a:tcPr/>
                </a:tc>
                <a:extLst>
                  <a:ext uri="{0D108BD9-81ED-4DB2-BD59-A6C34878D82A}">
                    <a16:rowId xmlns:a16="http://schemas.microsoft.com/office/drawing/2014/main" val="3344703274"/>
                  </a:ext>
                </a:extLst>
              </a:tr>
              <a:tr h="185302">
                <a:tc>
                  <a:txBody>
                    <a:bodyPr/>
                    <a:lstStyle/>
                    <a:p>
                      <a:pPr algn="ctr"/>
                      <a:r>
                        <a:rPr lang="en-US" altLang="ja-GB" sz="1600" dirty="0"/>
                        <a:t>B</a:t>
                      </a:r>
                      <a:endParaRPr lang="ja-GB" altLang="en-US" sz="1600" dirty="0"/>
                    </a:p>
                  </a:txBody>
                  <a:tcPr/>
                </a:tc>
                <a:tc>
                  <a:txBody>
                    <a:bodyPr/>
                    <a:lstStyle/>
                    <a:p>
                      <a:pPr algn="ctr"/>
                      <a:r>
                        <a:rPr lang="en-US" altLang="ja-GB" sz="1600" dirty="0"/>
                        <a:t>(1,3)</a:t>
                      </a:r>
                      <a:endParaRPr lang="ja-GB" altLang="en-US" sz="1600" dirty="0"/>
                    </a:p>
                  </a:txBody>
                  <a:tcPr/>
                </a:tc>
                <a:tc>
                  <a:txBody>
                    <a:bodyPr/>
                    <a:lstStyle/>
                    <a:p>
                      <a:pPr algn="ctr"/>
                      <a:r>
                        <a:rPr lang="en-US" altLang="ja-GB" sz="1600" dirty="0"/>
                        <a:t>2</a:t>
                      </a:r>
                      <a:endParaRPr lang="ja-GB" altLang="en-US" sz="1600" dirty="0"/>
                    </a:p>
                  </a:txBody>
                  <a:tcPr/>
                </a:tc>
                <a:extLst>
                  <a:ext uri="{0D108BD9-81ED-4DB2-BD59-A6C34878D82A}">
                    <a16:rowId xmlns:a16="http://schemas.microsoft.com/office/drawing/2014/main" val="4177507280"/>
                  </a:ext>
                </a:extLst>
              </a:tr>
              <a:tr h="185302">
                <a:tc>
                  <a:txBody>
                    <a:bodyPr/>
                    <a:lstStyle/>
                    <a:p>
                      <a:pPr algn="ctr"/>
                      <a:r>
                        <a:rPr lang="en-US" altLang="ja-GB" sz="1600" dirty="0"/>
                        <a:t>C</a:t>
                      </a:r>
                      <a:endParaRPr lang="ja-GB" altLang="en-US" sz="1600" dirty="0"/>
                    </a:p>
                  </a:txBody>
                  <a:tcPr/>
                </a:tc>
                <a:tc>
                  <a:txBody>
                    <a:bodyPr/>
                    <a:lstStyle/>
                    <a:p>
                      <a:pPr algn="ctr"/>
                      <a:r>
                        <a:rPr lang="en-US" altLang="ja-GB" sz="1600" dirty="0"/>
                        <a:t>(2,4)</a:t>
                      </a:r>
                      <a:endParaRPr lang="ja-GB" altLang="en-US" sz="1600" dirty="0"/>
                    </a:p>
                  </a:txBody>
                  <a:tcPr/>
                </a:tc>
                <a:tc>
                  <a:txBody>
                    <a:bodyPr/>
                    <a:lstStyle/>
                    <a:p>
                      <a:pPr algn="ctr"/>
                      <a:r>
                        <a:rPr lang="en-US" altLang="ja-GB" sz="1600" dirty="0"/>
                        <a:t>4</a:t>
                      </a:r>
                      <a:endParaRPr lang="ja-GB" altLang="en-US" sz="1600" dirty="0"/>
                    </a:p>
                  </a:txBody>
                  <a:tcPr/>
                </a:tc>
                <a:extLst>
                  <a:ext uri="{0D108BD9-81ED-4DB2-BD59-A6C34878D82A}">
                    <a16:rowId xmlns:a16="http://schemas.microsoft.com/office/drawing/2014/main" val="3414689720"/>
                  </a:ext>
                </a:extLst>
              </a:tr>
              <a:tr h="185302">
                <a:tc>
                  <a:txBody>
                    <a:bodyPr/>
                    <a:lstStyle/>
                    <a:p>
                      <a:pPr algn="ctr"/>
                      <a:r>
                        <a:rPr lang="en-US" altLang="ja-GB" sz="1600" dirty="0"/>
                        <a:t>D</a:t>
                      </a:r>
                      <a:endParaRPr lang="ja-GB" altLang="en-US" sz="1600" dirty="0"/>
                    </a:p>
                  </a:txBody>
                  <a:tcPr/>
                </a:tc>
                <a:tc>
                  <a:txBody>
                    <a:bodyPr/>
                    <a:lstStyle/>
                    <a:p>
                      <a:pPr algn="ctr"/>
                      <a:r>
                        <a:rPr lang="en-US" altLang="ja-GB" sz="1600" dirty="0"/>
                        <a:t>(3,4)</a:t>
                      </a:r>
                      <a:endParaRPr lang="ja-GB" altLang="en-US" sz="1600" dirty="0"/>
                    </a:p>
                  </a:txBody>
                  <a:tcPr/>
                </a:tc>
                <a:tc>
                  <a:txBody>
                    <a:bodyPr/>
                    <a:lstStyle/>
                    <a:p>
                      <a:pPr algn="ctr"/>
                      <a:r>
                        <a:rPr lang="en-US" altLang="ja-GB" sz="1600" dirty="0"/>
                        <a:t>5</a:t>
                      </a:r>
                      <a:endParaRPr lang="ja-GB" altLang="en-US" sz="1600" dirty="0"/>
                    </a:p>
                  </a:txBody>
                  <a:tcPr/>
                </a:tc>
                <a:extLst>
                  <a:ext uri="{0D108BD9-81ED-4DB2-BD59-A6C34878D82A}">
                    <a16:rowId xmlns:a16="http://schemas.microsoft.com/office/drawing/2014/main" val="3373349507"/>
                  </a:ext>
                </a:extLst>
              </a:tr>
              <a:tr h="185302">
                <a:tc>
                  <a:txBody>
                    <a:bodyPr/>
                    <a:lstStyle/>
                    <a:p>
                      <a:pPr algn="ctr"/>
                      <a:r>
                        <a:rPr lang="en-US" altLang="ja-GB" sz="1600" dirty="0"/>
                        <a:t>E</a:t>
                      </a:r>
                      <a:endParaRPr lang="ja-GB" altLang="en-US" sz="1600" dirty="0"/>
                    </a:p>
                  </a:txBody>
                  <a:tcPr/>
                </a:tc>
                <a:tc>
                  <a:txBody>
                    <a:bodyPr/>
                    <a:lstStyle/>
                    <a:p>
                      <a:pPr algn="ctr"/>
                      <a:r>
                        <a:rPr lang="en-US" altLang="ja-GB" sz="1600" dirty="0"/>
                        <a:t>(2,5)</a:t>
                      </a:r>
                      <a:endParaRPr lang="ja-GB" altLang="en-US" sz="1600" dirty="0"/>
                    </a:p>
                  </a:txBody>
                  <a:tcPr/>
                </a:tc>
                <a:tc>
                  <a:txBody>
                    <a:bodyPr/>
                    <a:lstStyle/>
                    <a:p>
                      <a:pPr algn="ctr"/>
                      <a:r>
                        <a:rPr lang="en-US" altLang="ja-GB" sz="1600" dirty="0"/>
                        <a:t>1</a:t>
                      </a:r>
                      <a:endParaRPr lang="ja-GB" altLang="en-US" sz="1600" dirty="0"/>
                    </a:p>
                  </a:txBody>
                  <a:tcPr/>
                </a:tc>
                <a:extLst>
                  <a:ext uri="{0D108BD9-81ED-4DB2-BD59-A6C34878D82A}">
                    <a16:rowId xmlns:a16="http://schemas.microsoft.com/office/drawing/2014/main" val="2991419434"/>
                  </a:ext>
                </a:extLst>
              </a:tr>
              <a:tr h="185302">
                <a:tc>
                  <a:txBody>
                    <a:bodyPr/>
                    <a:lstStyle/>
                    <a:p>
                      <a:pPr algn="ctr"/>
                      <a:r>
                        <a:rPr lang="en-US" altLang="ja-GB" sz="1600" dirty="0">
                          <a:solidFill>
                            <a:srgbClr val="0070C0"/>
                          </a:solidFill>
                        </a:rPr>
                        <a:t>F</a:t>
                      </a:r>
                      <a:endParaRPr lang="ja-GB" altLang="en-US" sz="1600" dirty="0">
                        <a:solidFill>
                          <a:srgbClr val="0070C0"/>
                        </a:solidFill>
                      </a:endParaRPr>
                    </a:p>
                  </a:txBody>
                  <a:tcPr/>
                </a:tc>
                <a:tc>
                  <a:txBody>
                    <a:bodyPr/>
                    <a:lstStyle/>
                    <a:p>
                      <a:pPr algn="ctr"/>
                      <a:r>
                        <a:rPr lang="en-US" altLang="ja-GB" sz="1600" dirty="0">
                          <a:solidFill>
                            <a:srgbClr val="0070C0"/>
                          </a:solidFill>
                        </a:rPr>
                        <a:t>(4,6)</a:t>
                      </a:r>
                      <a:endParaRPr lang="ja-GB" altLang="en-US" sz="1600" dirty="0">
                        <a:solidFill>
                          <a:srgbClr val="0070C0"/>
                        </a:solidFill>
                      </a:endParaRPr>
                    </a:p>
                  </a:txBody>
                  <a:tcPr/>
                </a:tc>
                <a:tc>
                  <a:txBody>
                    <a:bodyPr/>
                    <a:lstStyle/>
                    <a:p>
                      <a:pPr algn="ctr"/>
                      <a:r>
                        <a:rPr lang="en-US" altLang="ja-GB" sz="1600" dirty="0">
                          <a:solidFill>
                            <a:srgbClr val="0070C0"/>
                          </a:solidFill>
                        </a:rPr>
                        <a:t>6</a:t>
                      </a:r>
                      <a:endParaRPr lang="ja-GB" altLang="en-US" sz="1600" dirty="0">
                        <a:solidFill>
                          <a:srgbClr val="0070C0"/>
                        </a:solidFill>
                      </a:endParaRPr>
                    </a:p>
                  </a:txBody>
                  <a:tcPr/>
                </a:tc>
                <a:extLst>
                  <a:ext uri="{0D108BD9-81ED-4DB2-BD59-A6C34878D82A}">
                    <a16:rowId xmlns:a16="http://schemas.microsoft.com/office/drawing/2014/main" val="3985016094"/>
                  </a:ext>
                </a:extLst>
              </a:tr>
              <a:tr h="185302">
                <a:tc>
                  <a:txBody>
                    <a:bodyPr/>
                    <a:lstStyle/>
                    <a:p>
                      <a:pPr algn="ctr"/>
                      <a:r>
                        <a:rPr lang="en-US" altLang="ja-GB" sz="1600" dirty="0"/>
                        <a:t>G</a:t>
                      </a:r>
                      <a:endParaRPr lang="ja-GB" altLang="en-US" sz="1600" dirty="0"/>
                    </a:p>
                  </a:txBody>
                  <a:tcPr/>
                </a:tc>
                <a:tc>
                  <a:txBody>
                    <a:bodyPr/>
                    <a:lstStyle/>
                    <a:p>
                      <a:pPr algn="ctr"/>
                      <a:r>
                        <a:rPr lang="en-US" altLang="ja-GB" sz="1600" dirty="0"/>
                        <a:t>(4,5)</a:t>
                      </a:r>
                      <a:endParaRPr lang="ja-GB" altLang="en-US" sz="1600" dirty="0"/>
                    </a:p>
                  </a:txBody>
                  <a:tcPr/>
                </a:tc>
                <a:tc>
                  <a:txBody>
                    <a:bodyPr/>
                    <a:lstStyle/>
                    <a:p>
                      <a:pPr algn="ctr"/>
                      <a:r>
                        <a:rPr lang="en-US" altLang="ja-GB" sz="1600" dirty="0"/>
                        <a:t>3</a:t>
                      </a:r>
                      <a:endParaRPr lang="ja-GB" altLang="en-US" sz="1600" dirty="0"/>
                    </a:p>
                  </a:txBody>
                  <a:tcPr/>
                </a:tc>
                <a:extLst>
                  <a:ext uri="{0D108BD9-81ED-4DB2-BD59-A6C34878D82A}">
                    <a16:rowId xmlns:a16="http://schemas.microsoft.com/office/drawing/2014/main" val="852509030"/>
                  </a:ext>
                </a:extLst>
              </a:tr>
              <a:tr h="185302">
                <a:tc>
                  <a:txBody>
                    <a:bodyPr/>
                    <a:lstStyle/>
                    <a:p>
                      <a:pPr algn="ctr"/>
                      <a:r>
                        <a:rPr lang="en-US" altLang="ja-GB" sz="1600" dirty="0"/>
                        <a:t>H</a:t>
                      </a:r>
                      <a:endParaRPr lang="ja-GB" altLang="en-US" sz="1600" dirty="0"/>
                    </a:p>
                  </a:txBody>
                  <a:tcPr/>
                </a:tc>
                <a:tc>
                  <a:txBody>
                    <a:bodyPr/>
                    <a:lstStyle/>
                    <a:p>
                      <a:pPr algn="ctr"/>
                      <a:r>
                        <a:rPr lang="en-US" altLang="ja-GB" sz="1600" dirty="0"/>
                        <a:t>(5,6)</a:t>
                      </a:r>
                      <a:endParaRPr lang="ja-GB" altLang="en-US" sz="1600" dirty="0"/>
                    </a:p>
                  </a:txBody>
                  <a:tcPr/>
                </a:tc>
                <a:tc>
                  <a:txBody>
                    <a:bodyPr/>
                    <a:lstStyle/>
                    <a:p>
                      <a:pPr algn="ctr"/>
                      <a:r>
                        <a:rPr lang="en-US" altLang="ja-GB" sz="1600" dirty="0"/>
                        <a:t>2</a:t>
                      </a:r>
                      <a:endParaRPr lang="ja-GB" altLang="en-US" sz="1600" dirty="0"/>
                    </a:p>
                  </a:txBody>
                  <a:tcPr/>
                </a:tc>
                <a:extLst>
                  <a:ext uri="{0D108BD9-81ED-4DB2-BD59-A6C34878D82A}">
                    <a16:rowId xmlns:a16="http://schemas.microsoft.com/office/drawing/2014/main" val="3285484398"/>
                  </a:ext>
                </a:extLst>
              </a:tr>
            </a:tbl>
          </a:graphicData>
        </a:graphic>
      </p:graphicFrame>
    </p:spTree>
    <p:extLst>
      <p:ext uri="{BB962C8B-B14F-4D97-AF65-F5344CB8AC3E}">
        <p14:creationId xmlns:p14="http://schemas.microsoft.com/office/powerpoint/2010/main" val="2608066707"/>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6EB46-D94D-6225-3D48-2319962D6E8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68C2AB9-5FAF-F405-5B18-2C544FC1755D}"/>
              </a:ext>
            </a:extLst>
          </p:cNvPr>
          <p:cNvSpPr>
            <a:spLocks noGrp="1"/>
          </p:cNvSpPr>
          <p:nvPr>
            <p:ph type="title"/>
          </p:nvPr>
        </p:nvSpPr>
        <p:spPr/>
        <p:txBody>
          <a:bodyPr/>
          <a:lstStyle/>
          <a:p>
            <a:r>
              <a:rPr lang="ja-GB" altLang="en-US" dirty="0"/>
              <a:t>所要時間表の作成</a:t>
            </a:r>
            <a:endParaRPr kumimoji="1" lang="ja-GB" altLang="en-US" dirty="0"/>
          </a:p>
        </p:txBody>
      </p:sp>
      <p:sp>
        <p:nvSpPr>
          <p:cNvPr id="3" name="コンテンツ プレースホルダー 2">
            <a:extLst>
              <a:ext uri="{FF2B5EF4-FFF2-40B4-BE49-F238E27FC236}">
                <a16:creationId xmlns:a16="http://schemas.microsoft.com/office/drawing/2014/main" id="{582ECEF4-0B66-90EC-6829-EDFD56E78565}"/>
              </a:ext>
            </a:extLst>
          </p:cNvPr>
          <p:cNvSpPr>
            <a:spLocks noGrp="1"/>
          </p:cNvSpPr>
          <p:nvPr>
            <p:ph idx="1"/>
          </p:nvPr>
        </p:nvSpPr>
        <p:spPr/>
        <p:txBody>
          <a:bodyPr/>
          <a:lstStyle/>
          <a:p>
            <a:pPr marL="0" indent="0">
              <a:buNone/>
            </a:pPr>
            <a:r>
              <a:rPr lang="en-US" altLang="ja-GB" dirty="0"/>
              <a:t>①</a:t>
            </a:r>
            <a:r>
              <a:rPr lang="ja-GB" altLang="en-US" dirty="0"/>
              <a:t>ある作業</a:t>
            </a:r>
            <a:r>
              <a:rPr lang="en-US" altLang="ja-GB" dirty="0"/>
              <a:t>(</a:t>
            </a:r>
            <a:r>
              <a:rPr lang="en-US" altLang="ja-GB" dirty="0" err="1"/>
              <a:t>i,j</a:t>
            </a:r>
            <a:r>
              <a:rPr lang="en-US" altLang="ja-GB" dirty="0"/>
              <a:t>)</a:t>
            </a:r>
            <a:r>
              <a:rPr lang="ja-GB" altLang="en-US" dirty="0"/>
              <a:t>の</a:t>
            </a:r>
            <a:r>
              <a:rPr lang="en-US" altLang="ja-GB" dirty="0" err="1"/>
              <a:t>i</a:t>
            </a:r>
            <a:r>
              <a:rPr lang="ja-GB" altLang="en-US" dirty="0"/>
              <a:t>を縦方向に探索し，</a:t>
            </a:r>
            <a:r>
              <a:rPr lang="en-US" altLang="ja-GB" dirty="0"/>
              <a:t>②j</a:t>
            </a:r>
            <a:r>
              <a:rPr lang="ja-GB" altLang="en-US" dirty="0"/>
              <a:t>を横方向に探索し，</a:t>
            </a:r>
            <a:br>
              <a:rPr lang="en-US" altLang="ja-GB" dirty="0"/>
            </a:br>
            <a:r>
              <a:rPr lang="ja-GB" altLang="en-US" dirty="0"/>
              <a:t>その交点座標にあたる欄内に所要時間を入力する</a:t>
            </a:r>
            <a:endParaRPr lang="en-US" altLang="ja-GB" dirty="0"/>
          </a:p>
          <a:p>
            <a:endParaRPr kumimoji="1" lang="ja-GB" altLang="en-US" dirty="0"/>
          </a:p>
        </p:txBody>
      </p:sp>
      <p:pic>
        <p:nvPicPr>
          <p:cNvPr id="5" name="コンテンツ プレースホルダー 4">
            <a:extLst>
              <a:ext uri="{FF2B5EF4-FFF2-40B4-BE49-F238E27FC236}">
                <a16:creationId xmlns:a16="http://schemas.microsoft.com/office/drawing/2014/main" id="{559272E3-982E-E448-46BE-F4A4ADA21D72}"/>
              </a:ext>
            </a:extLst>
          </p:cNvPr>
          <p:cNvPicPr>
            <a:picLocks noChangeAspect="1"/>
          </p:cNvPicPr>
          <p:nvPr/>
        </p:nvPicPr>
        <p:blipFill>
          <a:blip r:embed="rId2"/>
          <a:srcRect/>
          <a:stretch/>
        </p:blipFill>
        <p:spPr>
          <a:xfrm>
            <a:off x="5058448" y="2382057"/>
            <a:ext cx="3266456" cy="2911956"/>
          </a:xfrm>
          <a:prstGeom prst="rect">
            <a:avLst/>
          </a:prstGeom>
        </p:spPr>
      </p:pic>
      <p:graphicFrame>
        <p:nvGraphicFramePr>
          <p:cNvPr id="6" name="表 5">
            <a:extLst>
              <a:ext uri="{FF2B5EF4-FFF2-40B4-BE49-F238E27FC236}">
                <a16:creationId xmlns:a16="http://schemas.microsoft.com/office/drawing/2014/main" id="{2B6C16F0-A2F5-CDFA-87A1-3D95C9643479}"/>
              </a:ext>
            </a:extLst>
          </p:cNvPr>
          <p:cNvGraphicFramePr>
            <a:graphicFrameLocks noGrp="1"/>
          </p:cNvGraphicFramePr>
          <p:nvPr/>
        </p:nvGraphicFramePr>
        <p:xfrm>
          <a:off x="390700" y="2362862"/>
          <a:ext cx="3465324" cy="2987040"/>
        </p:xfrm>
        <a:graphic>
          <a:graphicData uri="http://schemas.openxmlformats.org/drawingml/2006/table">
            <a:tbl>
              <a:tblPr firstRow="1" bandRow="1">
                <a:tableStyleId>{5C22544A-7EE6-4342-B048-85BDC9FD1C3A}</a:tableStyleId>
              </a:tblPr>
              <a:tblGrid>
                <a:gridCol w="1155108">
                  <a:extLst>
                    <a:ext uri="{9D8B030D-6E8A-4147-A177-3AD203B41FA5}">
                      <a16:colId xmlns:a16="http://schemas.microsoft.com/office/drawing/2014/main" val="3691675347"/>
                    </a:ext>
                  </a:extLst>
                </a:gridCol>
                <a:gridCol w="1155108">
                  <a:extLst>
                    <a:ext uri="{9D8B030D-6E8A-4147-A177-3AD203B41FA5}">
                      <a16:colId xmlns:a16="http://schemas.microsoft.com/office/drawing/2014/main" val="928111709"/>
                    </a:ext>
                  </a:extLst>
                </a:gridCol>
                <a:gridCol w="1155108">
                  <a:extLst>
                    <a:ext uri="{9D8B030D-6E8A-4147-A177-3AD203B41FA5}">
                      <a16:colId xmlns:a16="http://schemas.microsoft.com/office/drawing/2014/main" val="4014108102"/>
                    </a:ext>
                  </a:extLst>
                </a:gridCol>
              </a:tblGrid>
              <a:tr h="183483">
                <a:tc>
                  <a:txBody>
                    <a:bodyPr/>
                    <a:lstStyle/>
                    <a:p>
                      <a:pPr algn="ctr"/>
                      <a:r>
                        <a:rPr lang="ja-GB" altLang="en-US" sz="1400" dirty="0"/>
                        <a:t>作業記号</a:t>
                      </a:r>
                    </a:p>
                  </a:txBody>
                  <a:tcPr/>
                </a:tc>
                <a:tc>
                  <a:txBody>
                    <a:bodyPr/>
                    <a:lstStyle/>
                    <a:p>
                      <a:pPr algn="ctr"/>
                      <a:r>
                        <a:rPr lang="ja-GB" altLang="en-US" sz="1400" dirty="0"/>
                        <a:t>作業</a:t>
                      </a:r>
                      <a:r>
                        <a:rPr lang="en-US" altLang="ja-GB" sz="1400" dirty="0"/>
                        <a:t>(</a:t>
                      </a:r>
                      <a:r>
                        <a:rPr lang="en-US" altLang="ja-GB" sz="1400" dirty="0" err="1"/>
                        <a:t>i,j</a:t>
                      </a:r>
                      <a:r>
                        <a:rPr lang="en-US" altLang="ja-GB" sz="1400" dirty="0"/>
                        <a:t>)</a:t>
                      </a:r>
                      <a:endParaRPr lang="ja-GB" altLang="en-US" sz="1400" dirty="0"/>
                    </a:p>
                  </a:txBody>
                  <a:tcPr/>
                </a:tc>
                <a:tc>
                  <a:txBody>
                    <a:bodyPr/>
                    <a:lstStyle/>
                    <a:p>
                      <a:pPr algn="ctr"/>
                      <a:r>
                        <a:rPr lang="ja-GB" altLang="en-US" sz="1400" dirty="0"/>
                        <a:t>所要日数</a:t>
                      </a:r>
                      <a:r>
                        <a:rPr lang="en-US" altLang="ja-GB" sz="1400" dirty="0"/>
                        <a:t> </a:t>
                      </a:r>
                      <a:r>
                        <a:rPr lang="en-US" altLang="ja-GB" sz="1400" dirty="0" err="1"/>
                        <a:t>D</a:t>
                      </a:r>
                      <a:r>
                        <a:rPr lang="en-US" altLang="ja-GB" sz="1400" baseline="-25000" dirty="0" err="1"/>
                        <a:t>i,j</a:t>
                      </a:r>
                      <a:endParaRPr lang="ja-GB" altLang="en-US" sz="1400" baseline="-25000" dirty="0"/>
                    </a:p>
                  </a:txBody>
                  <a:tcPr/>
                </a:tc>
                <a:extLst>
                  <a:ext uri="{0D108BD9-81ED-4DB2-BD59-A6C34878D82A}">
                    <a16:rowId xmlns:a16="http://schemas.microsoft.com/office/drawing/2014/main" val="3671063893"/>
                  </a:ext>
                </a:extLst>
              </a:tr>
              <a:tr h="185302">
                <a:tc>
                  <a:txBody>
                    <a:bodyPr/>
                    <a:lstStyle/>
                    <a:p>
                      <a:pPr algn="ctr"/>
                      <a:r>
                        <a:rPr lang="en-US" altLang="ja-GB" sz="1600" dirty="0"/>
                        <a:t>A</a:t>
                      </a:r>
                      <a:endParaRPr lang="ja-GB" altLang="en-US" sz="1600" dirty="0"/>
                    </a:p>
                  </a:txBody>
                  <a:tcPr/>
                </a:tc>
                <a:tc>
                  <a:txBody>
                    <a:bodyPr/>
                    <a:lstStyle/>
                    <a:p>
                      <a:pPr algn="ctr"/>
                      <a:r>
                        <a:rPr lang="en-US" altLang="ja-GB" sz="1600" dirty="0"/>
                        <a:t>(1,2)</a:t>
                      </a:r>
                      <a:endParaRPr lang="ja-GB" altLang="en-US" sz="1600" dirty="0"/>
                    </a:p>
                  </a:txBody>
                  <a:tcPr/>
                </a:tc>
                <a:tc>
                  <a:txBody>
                    <a:bodyPr/>
                    <a:lstStyle/>
                    <a:p>
                      <a:pPr algn="ctr"/>
                      <a:r>
                        <a:rPr lang="en-US" altLang="ja-GB" sz="1600" dirty="0"/>
                        <a:t>3</a:t>
                      </a:r>
                      <a:endParaRPr lang="ja-GB" altLang="en-US" sz="1600" dirty="0"/>
                    </a:p>
                  </a:txBody>
                  <a:tcPr/>
                </a:tc>
                <a:extLst>
                  <a:ext uri="{0D108BD9-81ED-4DB2-BD59-A6C34878D82A}">
                    <a16:rowId xmlns:a16="http://schemas.microsoft.com/office/drawing/2014/main" val="3344703274"/>
                  </a:ext>
                </a:extLst>
              </a:tr>
              <a:tr h="185302">
                <a:tc>
                  <a:txBody>
                    <a:bodyPr/>
                    <a:lstStyle/>
                    <a:p>
                      <a:pPr algn="ctr"/>
                      <a:r>
                        <a:rPr lang="en-US" altLang="ja-GB" sz="1600" dirty="0"/>
                        <a:t>B</a:t>
                      </a:r>
                      <a:endParaRPr lang="ja-GB" altLang="en-US" sz="1600" dirty="0"/>
                    </a:p>
                  </a:txBody>
                  <a:tcPr/>
                </a:tc>
                <a:tc>
                  <a:txBody>
                    <a:bodyPr/>
                    <a:lstStyle/>
                    <a:p>
                      <a:pPr algn="ctr"/>
                      <a:r>
                        <a:rPr lang="en-US" altLang="ja-GB" sz="1600" dirty="0"/>
                        <a:t>(1,3)</a:t>
                      </a:r>
                      <a:endParaRPr lang="ja-GB" altLang="en-US" sz="1600" dirty="0"/>
                    </a:p>
                  </a:txBody>
                  <a:tcPr/>
                </a:tc>
                <a:tc>
                  <a:txBody>
                    <a:bodyPr/>
                    <a:lstStyle/>
                    <a:p>
                      <a:pPr algn="ctr"/>
                      <a:r>
                        <a:rPr lang="en-US" altLang="ja-GB" sz="1600" dirty="0"/>
                        <a:t>2</a:t>
                      </a:r>
                      <a:endParaRPr lang="ja-GB" altLang="en-US" sz="1600" dirty="0"/>
                    </a:p>
                  </a:txBody>
                  <a:tcPr/>
                </a:tc>
                <a:extLst>
                  <a:ext uri="{0D108BD9-81ED-4DB2-BD59-A6C34878D82A}">
                    <a16:rowId xmlns:a16="http://schemas.microsoft.com/office/drawing/2014/main" val="4177507280"/>
                  </a:ext>
                </a:extLst>
              </a:tr>
              <a:tr h="185302">
                <a:tc>
                  <a:txBody>
                    <a:bodyPr/>
                    <a:lstStyle/>
                    <a:p>
                      <a:pPr algn="ctr"/>
                      <a:r>
                        <a:rPr lang="en-US" altLang="ja-GB" sz="1600" dirty="0"/>
                        <a:t>C</a:t>
                      </a:r>
                      <a:endParaRPr lang="ja-GB" altLang="en-US" sz="1600" dirty="0"/>
                    </a:p>
                  </a:txBody>
                  <a:tcPr/>
                </a:tc>
                <a:tc>
                  <a:txBody>
                    <a:bodyPr/>
                    <a:lstStyle/>
                    <a:p>
                      <a:pPr algn="ctr"/>
                      <a:r>
                        <a:rPr lang="en-US" altLang="ja-GB" sz="1600" dirty="0"/>
                        <a:t>(2,4)</a:t>
                      </a:r>
                      <a:endParaRPr lang="ja-GB" altLang="en-US" sz="1600" dirty="0"/>
                    </a:p>
                  </a:txBody>
                  <a:tcPr/>
                </a:tc>
                <a:tc>
                  <a:txBody>
                    <a:bodyPr/>
                    <a:lstStyle/>
                    <a:p>
                      <a:pPr algn="ctr"/>
                      <a:r>
                        <a:rPr lang="en-US" altLang="ja-GB" sz="1600" dirty="0"/>
                        <a:t>4</a:t>
                      </a:r>
                      <a:endParaRPr lang="ja-GB" altLang="en-US" sz="1600" dirty="0"/>
                    </a:p>
                  </a:txBody>
                  <a:tcPr/>
                </a:tc>
                <a:extLst>
                  <a:ext uri="{0D108BD9-81ED-4DB2-BD59-A6C34878D82A}">
                    <a16:rowId xmlns:a16="http://schemas.microsoft.com/office/drawing/2014/main" val="3414689720"/>
                  </a:ext>
                </a:extLst>
              </a:tr>
              <a:tr h="185302">
                <a:tc>
                  <a:txBody>
                    <a:bodyPr/>
                    <a:lstStyle/>
                    <a:p>
                      <a:pPr algn="ctr"/>
                      <a:r>
                        <a:rPr lang="en-US" altLang="ja-GB" sz="1600" dirty="0"/>
                        <a:t>D</a:t>
                      </a:r>
                      <a:endParaRPr lang="ja-GB" altLang="en-US" sz="1600" dirty="0"/>
                    </a:p>
                  </a:txBody>
                  <a:tcPr/>
                </a:tc>
                <a:tc>
                  <a:txBody>
                    <a:bodyPr/>
                    <a:lstStyle/>
                    <a:p>
                      <a:pPr algn="ctr"/>
                      <a:r>
                        <a:rPr lang="en-US" altLang="ja-GB" sz="1600" dirty="0"/>
                        <a:t>(3,4)</a:t>
                      </a:r>
                      <a:endParaRPr lang="ja-GB" altLang="en-US" sz="1600" dirty="0"/>
                    </a:p>
                  </a:txBody>
                  <a:tcPr/>
                </a:tc>
                <a:tc>
                  <a:txBody>
                    <a:bodyPr/>
                    <a:lstStyle/>
                    <a:p>
                      <a:pPr algn="ctr"/>
                      <a:r>
                        <a:rPr lang="en-US" altLang="ja-GB" sz="1600" dirty="0"/>
                        <a:t>5</a:t>
                      </a:r>
                      <a:endParaRPr lang="ja-GB" altLang="en-US" sz="1600" dirty="0"/>
                    </a:p>
                  </a:txBody>
                  <a:tcPr/>
                </a:tc>
                <a:extLst>
                  <a:ext uri="{0D108BD9-81ED-4DB2-BD59-A6C34878D82A}">
                    <a16:rowId xmlns:a16="http://schemas.microsoft.com/office/drawing/2014/main" val="3373349507"/>
                  </a:ext>
                </a:extLst>
              </a:tr>
              <a:tr h="185302">
                <a:tc>
                  <a:txBody>
                    <a:bodyPr/>
                    <a:lstStyle/>
                    <a:p>
                      <a:pPr algn="ctr"/>
                      <a:r>
                        <a:rPr lang="en-US" altLang="ja-GB" sz="1600" dirty="0"/>
                        <a:t>E</a:t>
                      </a:r>
                      <a:endParaRPr lang="ja-GB" altLang="en-US" sz="1600" dirty="0"/>
                    </a:p>
                  </a:txBody>
                  <a:tcPr/>
                </a:tc>
                <a:tc>
                  <a:txBody>
                    <a:bodyPr/>
                    <a:lstStyle/>
                    <a:p>
                      <a:pPr algn="ctr"/>
                      <a:r>
                        <a:rPr lang="en-US" altLang="ja-GB" sz="1600" dirty="0"/>
                        <a:t>(2,5)</a:t>
                      </a:r>
                      <a:endParaRPr lang="ja-GB" altLang="en-US" sz="1600" dirty="0"/>
                    </a:p>
                  </a:txBody>
                  <a:tcPr/>
                </a:tc>
                <a:tc>
                  <a:txBody>
                    <a:bodyPr/>
                    <a:lstStyle/>
                    <a:p>
                      <a:pPr algn="ctr"/>
                      <a:r>
                        <a:rPr lang="en-US" altLang="ja-GB" sz="1600" dirty="0"/>
                        <a:t>1</a:t>
                      </a:r>
                      <a:endParaRPr lang="ja-GB" altLang="en-US" sz="1600" dirty="0"/>
                    </a:p>
                  </a:txBody>
                  <a:tcPr/>
                </a:tc>
                <a:extLst>
                  <a:ext uri="{0D108BD9-81ED-4DB2-BD59-A6C34878D82A}">
                    <a16:rowId xmlns:a16="http://schemas.microsoft.com/office/drawing/2014/main" val="2991419434"/>
                  </a:ext>
                </a:extLst>
              </a:tr>
              <a:tr h="185302">
                <a:tc>
                  <a:txBody>
                    <a:bodyPr/>
                    <a:lstStyle/>
                    <a:p>
                      <a:pPr algn="ctr"/>
                      <a:r>
                        <a:rPr lang="en-US" altLang="ja-GB" sz="1600" dirty="0"/>
                        <a:t>F</a:t>
                      </a:r>
                      <a:endParaRPr lang="ja-GB" altLang="en-US" sz="1600" dirty="0"/>
                    </a:p>
                  </a:txBody>
                  <a:tcPr/>
                </a:tc>
                <a:tc>
                  <a:txBody>
                    <a:bodyPr/>
                    <a:lstStyle/>
                    <a:p>
                      <a:pPr algn="ctr"/>
                      <a:r>
                        <a:rPr lang="en-US" altLang="ja-GB" sz="1600" dirty="0"/>
                        <a:t>(4,6)</a:t>
                      </a:r>
                      <a:endParaRPr lang="ja-GB" altLang="en-US" sz="1600" dirty="0"/>
                    </a:p>
                  </a:txBody>
                  <a:tcPr/>
                </a:tc>
                <a:tc>
                  <a:txBody>
                    <a:bodyPr/>
                    <a:lstStyle/>
                    <a:p>
                      <a:pPr algn="ctr"/>
                      <a:r>
                        <a:rPr lang="en-US" altLang="ja-GB" sz="1600" dirty="0"/>
                        <a:t>6</a:t>
                      </a:r>
                      <a:endParaRPr lang="ja-GB" altLang="en-US" sz="1600" dirty="0"/>
                    </a:p>
                  </a:txBody>
                  <a:tcPr/>
                </a:tc>
                <a:extLst>
                  <a:ext uri="{0D108BD9-81ED-4DB2-BD59-A6C34878D82A}">
                    <a16:rowId xmlns:a16="http://schemas.microsoft.com/office/drawing/2014/main" val="3985016094"/>
                  </a:ext>
                </a:extLst>
              </a:tr>
              <a:tr h="185302">
                <a:tc>
                  <a:txBody>
                    <a:bodyPr/>
                    <a:lstStyle/>
                    <a:p>
                      <a:pPr algn="ctr"/>
                      <a:r>
                        <a:rPr lang="en-US" altLang="ja-GB" sz="1600" dirty="0">
                          <a:solidFill>
                            <a:srgbClr val="0070C0"/>
                          </a:solidFill>
                        </a:rPr>
                        <a:t>G</a:t>
                      </a:r>
                      <a:endParaRPr lang="ja-GB" altLang="en-US" sz="1600" dirty="0">
                        <a:solidFill>
                          <a:srgbClr val="0070C0"/>
                        </a:solidFill>
                      </a:endParaRPr>
                    </a:p>
                  </a:txBody>
                  <a:tcPr/>
                </a:tc>
                <a:tc>
                  <a:txBody>
                    <a:bodyPr/>
                    <a:lstStyle/>
                    <a:p>
                      <a:pPr algn="ctr"/>
                      <a:r>
                        <a:rPr lang="en-US" altLang="ja-GB" sz="1600" dirty="0">
                          <a:solidFill>
                            <a:srgbClr val="0070C0"/>
                          </a:solidFill>
                        </a:rPr>
                        <a:t>(4,5)</a:t>
                      </a:r>
                      <a:endParaRPr lang="ja-GB" altLang="en-US" sz="1600" dirty="0">
                        <a:solidFill>
                          <a:srgbClr val="0070C0"/>
                        </a:solidFill>
                      </a:endParaRPr>
                    </a:p>
                  </a:txBody>
                  <a:tcPr/>
                </a:tc>
                <a:tc>
                  <a:txBody>
                    <a:bodyPr/>
                    <a:lstStyle/>
                    <a:p>
                      <a:pPr algn="ctr"/>
                      <a:r>
                        <a:rPr lang="en-US" altLang="ja-GB" sz="1600" dirty="0">
                          <a:solidFill>
                            <a:srgbClr val="0070C0"/>
                          </a:solidFill>
                        </a:rPr>
                        <a:t>3</a:t>
                      </a:r>
                      <a:endParaRPr lang="ja-GB" altLang="en-US" sz="1600" dirty="0">
                        <a:solidFill>
                          <a:srgbClr val="0070C0"/>
                        </a:solidFill>
                      </a:endParaRPr>
                    </a:p>
                  </a:txBody>
                  <a:tcPr/>
                </a:tc>
                <a:extLst>
                  <a:ext uri="{0D108BD9-81ED-4DB2-BD59-A6C34878D82A}">
                    <a16:rowId xmlns:a16="http://schemas.microsoft.com/office/drawing/2014/main" val="852509030"/>
                  </a:ext>
                </a:extLst>
              </a:tr>
              <a:tr h="185302">
                <a:tc>
                  <a:txBody>
                    <a:bodyPr/>
                    <a:lstStyle/>
                    <a:p>
                      <a:pPr algn="ctr"/>
                      <a:r>
                        <a:rPr lang="en-US" altLang="ja-GB" sz="1600" dirty="0"/>
                        <a:t>H</a:t>
                      </a:r>
                      <a:endParaRPr lang="ja-GB" altLang="en-US" sz="1600" dirty="0"/>
                    </a:p>
                  </a:txBody>
                  <a:tcPr/>
                </a:tc>
                <a:tc>
                  <a:txBody>
                    <a:bodyPr/>
                    <a:lstStyle/>
                    <a:p>
                      <a:pPr algn="ctr"/>
                      <a:r>
                        <a:rPr lang="en-US" altLang="ja-GB" sz="1600" dirty="0"/>
                        <a:t>(5,6)</a:t>
                      </a:r>
                      <a:endParaRPr lang="ja-GB" altLang="en-US" sz="1600" dirty="0"/>
                    </a:p>
                  </a:txBody>
                  <a:tcPr/>
                </a:tc>
                <a:tc>
                  <a:txBody>
                    <a:bodyPr/>
                    <a:lstStyle/>
                    <a:p>
                      <a:pPr algn="ctr"/>
                      <a:r>
                        <a:rPr lang="en-US" altLang="ja-GB" sz="1600" dirty="0"/>
                        <a:t>2</a:t>
                      </a:r>
                      <a:endParaRPr lang="ja-GB" altLang="en-US" sz="1600" dirty="0"/>
                    </a:p>
                  </a:txBody>
                  <a:tcPr/>
                </a:tc>
                <a:extLst>
                  <a:ext uri="{0D108BD9-81ED-4DB2-BD59-A6C34878D82A}">
                    <a16:rowId xmlns:a16="http://schemas.microsoft.com/office/drawing/2014/main" val="3285484398"/>
                  </a:ext>
                </a:extLst>
              </a:tr>
            </a:tbl>
          </a:graphicData>
        </a:graphic>
      </p:graphicFrame>
    </p:spTree>
    <p:extLst>
      <p:ext uri="{BB962C8B-B14F-4D97-AF65-F5344CB8AC3E}">
        <p14:creationId xmlns:p14="http://schemas.microsoft.com/office/powerpoint/2010/main" val="1634845414"/>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CF76F-B087-560C-FE3D-014712D238E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220DF5F-58C8-4B81-4EC7-55505F53EDB1}"/>
              </a:ext>
            </a:extLst>
          </p:cNvPr>
          <p:cNvSpPr>
            <a:spLocks noGrp="1"/>
          </p:cNvSpPr>
          <p:nvPr>
            <p:ph type="title"/>
          </p:nvPr>
        </p:nvSpPr>
        <p:spPr/>
        <p:txBody>
          <a:bodyPr/>
          <a:lstStyle/>
          <a:p>
            <a:r>
              <a:rPr lang="ja-GB" altLang="en-US" dirty="0"/>
              <a:t>所要時間表の作成</a:t>
            </a:r>
            <a:endParaRPr kumimoji="1" lang="ja-GB" altLang="en-US" dirty="0"/>
          </a:p>
        </p:txBody>
      </p:sp>
      <p:sp>
        <p:nvSpPr>
          <p:cNvPr id="3" name="コンテンツ プレースホルダー 2">
            <a:extLst>
              <a:ext uri="{FF2B5EF4-FFF2-40B4-BE49-F238E27FC236}">
                <a16:creationId xmlns:a16="http://schemas.microsoft.com/office/drawing/2014/main" id="{C31AB5BF-4923-DEBF-F5D9-8F993AAA9E49}"/>
              </a:ext>
            </a:extLst>
          </p:cNvPr>
          <p:cNvSpPr>
            <a:spLocks noGrp="1"/>
          </p:cNvSpPr>
          <p:nvPr>
            <p:ph idx="1"/>
          </p:nvPr>
        </p:nvSpPr>
        <p:spPr/>
        <p:txBody>
          <a:bodyPr/>
          <a:lstStyle/>
          <a:p>
            <a:pPr marL="0" indent="0">
              <a:buNone/>
            </a:pPr>
            <a:r>
              <a:rPr lang="en-US" altLang="ja-GB" dirty="0"/>
              <a:t>①</a:t>
            </a:r>
            <a:r>
              <a:rPr lang="ja-GB" altLang="en-US" dirty="0"/>
              <a:t>ある作業</a:t>
            </a:r>
            <a:r>
              <a:rPr lang="en-US" altLang="ja-GB" dirty="0"/>
              <a:t>(</a:t>
            </a:r>
            <a:r>
              <a:rPr lang="en-US" altLang="ja-GB" dirty="0" err="1"/>
              <a:t>i,j</a:t>
            </a:r>
            <a:r>
              <a:rPr lang="en-US" altLang="ja-GB" dirty="0"/>
              <a:t>)</a:t>
            </a:r>
            <a:r>
              <a:rPr lang="ja-GB" altLang="en-US" dirty="0"/>
              <a:t>の</a:t>
            </a:r>
            <a:r>
              <a:rPr lang="en-US" altLang="ja-GB" dirty="0" err="1"/>
              <a:t>i</a:t>
            </a:r>
            <a:r>
              <a:rPr lang="ja-GB" altLang="en-US" dirty="0"/>
              <a:t>を縦方向に探索し，</a:t>
            </a:r>
            <a:r>
              <a:rPr lang="en-US" altLang="ja-GB" dirty="0"/>
              <a:t>②j</a:t>
            </a:r>
            <a:r>
              <a:rPr lang="ja-GB" altLang="en-US" dirty="0"/>
              <a:t>を横方向に探索し，</a:t>
            </a:r>
            <a:br>
              <a:rPr lang="en-US" altLang="ja-GB" dirty="0"/>
            </a:br>
            <a:r>
              <a:rPr lang="ja-GB" altLang="en-US" dirty="0"/>
              <a:t>その交点座標にあたる欄内に所要時間を入力する</a:t>
            </a:r>
            <a:endParaRPr lang="en-US" altLang="ja-GB" dirty="0"/>
          </a:p>
          <a:p>
            <a:endParaRPr kumimoji="1" lang="ja-GB" altLang="en-US" dirty="0"/>
          </a:p>
        </p:txBody>
      </p:sp>
      <p:pic>
        <p:nvPicPr>
          <p:cNvPr id="5" name="コンテンツ プレースホルダー 4">
            <a:extLst>
              <a:ext uri="{FF2B5EF4-FFF2-40B4-BE49-F238E27FC236}">
                <a16:creationId xmlns:a16="http://schemas.microsoft.com/office/drawing/2014/main" id="{FEAEA70D-A587-1BA1-4168-67AC3DE57C32}"/>
              </a:ext>
            </a:extLst>
          </p:cNvPr>
          <p:cNvPicPr>
            <a:picLocks noChangeAspect="1"/>
          </p:cNvPicPr>
          <p:nvPr/>
        </p:nvPicPr>
        <p:blipFill>
          <a:blip r:embed="rId2"/>
          <a:srcRect/>
          <a:stretch/>
        </p:blipFill>
        <p:spPr>
          <a:xfrm>
            <a:off x="5058448" y="2384123"/>
            <a:ext cx="3266456" cy="2907824"/>
          </a:xfrm>
          <a:prstGeom prst="rect">
            <a:avLst/>
          </a:prstGeom>
        </p:spPr>
      </p:pic>
      <p:graphicFrame>
        <p:nvGraphicFramePr>
          <p:cNvPr id="6" name="表 5">
            <a:extLst>
              <a:ext uri="{FF2B5EF4-FFF2-40B4-BE49-F238E27FC236}">
                <a16:creationId xmlns:a16="http://schemas.microsoft.com/office/drawing/2014/main" id="{D003A1F7-94EB-2321-311C-B5DC2A55F8A6}"/>
              </a:ext>
            </a:extLst>
          </p:cNvPr>
          <p:cNvGraphicFramePr>
            <a:graphicFrameLocks noGrp="1"/>
          </p:cNvGraphicFramePr>
          <p:nvPr/>
        </p:nvGraphicFramePr>
        <p:xfrm>
          <a:off x="390700" y="2362862"/>
          <a:ext cx="3465324" cy="2987040"/>
        </p:xfrm>
        <a:graphic>
          <a:graphicData uri="http://schemas.openxmlformats.org/drawingml/2006/table">
            <a:tbl>
              <a:tblPr firstRow="1" bandRow="1">
                <a:tableStyleId>{5C22544A-7EE6-4342-B048-85BDC9FD1C3A}</a:tableStyleId>
              </a:tblPr>
              <a:tblGrid>
                <a:gridCol w="1155108">
                  <a:extLst>
                    <a:ext uri="{9D8B030D-6E8A-4147-A177-3AD203B41FA5}">
                      <a16:colId xmlns:a16="http://schemas.microsoft.com/office/drawing/2014/main" val="3691675347"/>
                    </a:ext>
                  </a:extLst>
                </a:gridCol>
                <a:gridCol w="1155108">
                  <a:extLst>
                    <a:ext uri="{9D8B030D-6E8A-4147-A177-3AD203B41FA5}">
                      <a16:colId xmlns:a16="http://schemas.microsoft.com/office/drawing/2014/main" val="928111709"/>
                    </a:ext>
                  </a:extLst>
                </a:gridCol>
                <a:gridCol w="1155108">
                  <a:extLst>
                    <a:ext uri="{9D8B030D-6E8A-4147-A177-3AD203B41FA5}">
                      <a16:colId xmlns:a16="http://schemas.microsoft.com/office/drawing/2014/main" val="4014108102"/>
                    </a:ext>
                  </a:extLst>
                </a:gridCol>
              </a:tblGrid>
              <a:tr h="183483">
                <a:tc>
                  <a:txBody>
                    <a:bodyPr/>
                    <a:lstStyle/>
                    <a:p>
                      <a:pPr algn="ctr"/>
                      <a:r>
                        <a:rPr lang="ja-GB" altLang="en-US" sz="1400" dirty="0"/>
                        <a:t>作業記号</a:t>
                      </a:r>
                    </a:p>
                  </a:txBody>
                  <a:tcPr/>
                </a:tc>
                <a:tc>
                  <a:txBody>
                    <a:bodyPr/>
                    <a:lstStyle/>
                    <a:p>
                      <a:pPr algn="ctr"/>
                      <a:r>
                        <a:rPr lang="ja-GB" altLang="en-US" sz="1400" dirty="0"/>
                        <a:t>作業</a:t>
                      </a:r>
                      <a:r>
                        <a:rPr lang="en-US" altLang="ja-GB" sz="1400" dirty="0"/>
                        <a:t>(</a:t>
                      </a:r>
                      <a:r>
                        <a:rPr lang="en-US" altLang="ja-GB" sz="1400" dirty="0" err="1"/>
                        <a:t>i,j</a:t>
                      </a:r>
                      <a:r>
                        <a:rPr lang="en-US" altLang="ja-GB" sz="1400" dirty="0"/>
                        <a:t>)</a:t>
                      </a:r>
                      <a:endParaRPr lang="ja-GB" altLang="en-US" sz="1400" dirty="0"/>
                    </a:p>
                  </a:txBody>
                  <a:tcPr/>
                </a:tc>
                <a:tc>
                  <a:txBody>
                    <a:bodyPr/>
                    <a:lstStyle/>
                    <a:p>
                      <a:pPr algn="ctr"/>
                      <a:r>
                        <a:rPr lang="ja-GB" altLang="en-US" sz="1400" dirty="0"/>
                        <a:t>所要日数</a:t>
                      </a:r>
                      <a:r>
                        <a:rPr lang="en-US" altLang="ja-GB" sz="1400" dirty="0"/>
                        <a:t> </a:t>
                      </a:r>
                      <a:r>
                        <a:rPr lang="en-US" altLang="ja-GB" sz="1400" dirty="0" err="1"/>
                        <a:t>D</a:t>
                      </a:r>
                      <a:r>
                        <a:rPr lang="en-US" altLang="ja-GB" sz="1400" baseline="-25000" dirty="0" err="1"/>
                        <a:t>i,j</a:t>
                      </a:r>
                      <a:endParaRPr lang="ja-GB" altLang="en-US" sz="1400" baseline="-25000" dirty="0"/>
                    </a:p>
                  </a:txBody>
                  <a:tcPr/>
                </a:tc>
                <a:extLst>
                  <a:ext uri="{0D108BD9-81ED-4DB2-BD59-A6C34878D82A}">
                    <a16:rowId xmlns:a16="http://schemas.microsoft.com/office/drawing/2014/main" val="3671063893"/>
                  </a:ext>
                </a:extLst>
              </a:tr>
              <a:tr h="185302">
                <a:tc>
                  <a:txBody>
                    <a:bodyPr/>
                    <a:lstStyle/>
                    <a:p>
                      <a:pPr algn="ctr"/>
                      <a:r>
                        <a:rPr lang="en-US" altLang="ja-GB" sz="1600" dirty="0"/>
                        <a:t>A</a:t>
                      </a:r>
                      <a:endParaRPr lang="ja-GB" altLang="en-US" sz="1600" dirty="0"/>
                    </a:p>
                  </a:txBody>
                  <a:tcPr/>
                </a:tc>
                <a:tc>
                  <a:txBody>
                    <a:bodyPr/>
                    <a:lstStyle/>
                    <a:p>
                      <a:pPr algn="ctr"/>
                      <a:r>
                        <a:rPr lang="en-US" altLang="ja-GB" sz="1600" dirty="0"/>
                        <a:t>(1,2)</a:t>
                      </a:r>
                      <a:endParaRPr lang="ja-GB" altLang="en-US" sz="1600" dirty="0"/>
                    </a:p>
                  </a:txBody>
                  <a:tcPr/>
                </a:tc>
                <a:tc>
                  <a:txBody>
                    <a:bodyPr/>
                    <a:lstStyle/>
                    <a:p>
                      <a:pPr algn="ctr"/>
                      <a:r>
                        <a:rPr lang="en-US" altLang="ja-GB" sz="1600" dirty="0"/>
                        <a:t>3</a:t>
                      </a:r>
                      <a:endParaRPr lang="ja-GB" altLang="en-US" sz="1600" dirty="0"/>
                    </a:p>
                  </a:txBody>
                  <a:tcPr/>
                </a:tc>
                <a:extLst>
                  <a:ext uri="{0D108BD9-81ED-4DB2-BD59-A6C34878D82A}">
                    <a16:rowId xmlns:a16="http://schemas.microsoft.com/office/drawing/2014/main" val="3344703274"/>
                  </a:ext>
                </a:extLst>
              </a:tr>
              <a:tr h="185302">
                <a:tc>
                  <a:txBody>
                    <a:bodyPr/>
                    <a:lstStyle/>
                    <a:p>
                      <a:pPr algn="ctr"/>
                      <a:r>
                        <a:rPr lang="en-US" altLang="ja-GB" sz="1600" dirty="0"/>
                        <a:t>B</a:t>
                      </a:r>
                      <a:endParaRPr lang="ja-GB" altLang="en-US" sz="1600" dirty="0"/>
                    </a:p>
                  </a:txBody>
                  <a:tcPr/>
                </a:tc>
                <a:tc>
                  <a:txBody>
                    <a:bodyPr/>
                    <a:lstStyle/>
                    <a:p>
                      <a:pPr algn="ctr"/>
                      <a:r>
                        <a:rPr lang="en-US" altLang="ja-GB" sz="1600" dirty="0"/>
                        <a:t>(1,3)</a:t>
                      </a:r>
                      <a:endParaRPr lang="ja-GB" altLang="en-US" sz="1600" dirty="0"/>
                    </a:p>
                  </a:txBody>
                  <a:tcPr/>
                </a:tc>
                <a:tc>
                  <a:txBody>
                    <a:bodyPr/>
                    <a:lstStyle/>
                    <a:p>
                      <a:pPr algn="ctr"/>
                      <a:r>
                        <a:rPr lang="en-US" altLang="ja-GB" sz="1600" dirty="0"/>
                        <a:t>2</a:t>
                      </a:r>
                      <a:endParaRPr lang="ja-GB" altLang="en-US" sz="1600" dirty="0"/>
                    </a:p>
                  </a:txBody>
                  <a:tcPr/>
                </a:tc>
                <a:extLst>
                  <a:ext uri="{0D108BD9-81ED-4DB2-BD59-A6C34878D82A}">
                    <a16:rowId xmlns:a16="http://schemas.microsoft.com/office/drawing/2014/main" val="4177507280"/>
                  </a:ext>
                </a:extLst>
              </a:tr>
              <a:tr h="185302">
                <a:tc>
                  <a:txBody>
                    <a:bodyPr/>
                    <a:lstStyle/>
                    <a:p>
                      <a:pPr algn="ctr"/>
                      <a:r>
                        <a:rPr lang="en-US" altLang="ja-GB" sz="1600" dirty="0"/>
                        <a:t>C</a:t>
                      </a:r>
                      <a:endParaRPr lang="ja-GB" altLang="en-US" sz="1600" dirty="0"/>
                    </a:p>
                  </a:txBody>
                  <a:tcPr/>
                </a:tc>
                <a:tc>
                  <a:txBody>
                    <a:bodyPr/>
                    <a:lstStyle/>
                    <a:p>
                      <a:pPr algn="ctr"/>
                      <a:r>
                        <a:rPr lang="en-US" altLang="ja-GB" sz="1600" dirty="0"/>
                        <a:t>(2,4)</a:t>
                      </a:r>
                      <a:endParaRPr lang="ja-GB" altLang="en-US" sz="1600" dirty="0"/>
                    </a:p>
                  </a:txBody>
                  <a:tcPr/>
                </a:tc>
                <a:tc>
                  <a:txBody>
                    <a:bodyPr/>
                    <a:lstStyle/>
                    <a:p>
                      <a:pPr algn="ctr"/>
                      <a:r>
                        <a:rPr lang="en-US" altLang="ja-GB" sz="1600" dirty="0"/>
                        <a:t>4</a:t>
                      </a:r>
                      <a:endParaRPr lang="ja-GB" altLang="en-US" sz="1600" dirty="0"/>
                    </a:p>
                  </a:txBody>
                  <a:tcPr/>
                </a:tc>
                <a:extLst>
                  <a:ext uri="{0D108BD9-81ED-4DB2-BD59-A6C34878D82A}">
                    <a16:rowId xmlns:a16="http://schemas.microsoft.com/office/drawing/2014/main" val="3414689720"/>
                  </a:ext>
                </a:extLst>
              </a:tr>
              <a:tr h="185302">
                <a:tc>
                  <a:txBody>
                    <a:bodyPr/>
                    <a:lstStyle/>
                    <a:p>
                      <a:pPr algn="ctr"/>
                      <a:r>
                        <a:rPr lang="en-US" altLang="ja-GB" sz="1600" dirty="0"/>
                        <a:t>D</a:t>
                      </a:r>
                      <a:endParaRPr lang="ja-GB" altLang="en-US" sz="1600" dirty="0"/>
                    </a:p>
                  </a:txBody>
                  <a:tcPr/>
                </a:tc>
                <a:tc>
                  <a:txBody>
                    <a:bodyPr/>
                    <a:lstStyle/>
                    <a:p>
                      <a:pPr algn="ctr"/>
                      <a:r>
                        <a:rPr lang="en-US" altLang="ja-GB" sz="1600" dirty="0"/>
                        <a:t>(3,4)</a:t>
                      </a:r>
                      <a:endParaRPr lang="ja-GB" altLang="en-US" sz="1600" dirty="0"/>
                    </a:p>
                  </a:txBody>
                  <a:tcPr/>
                </a:tc>
                <a:tc>
                  <a:txBody>
                    <a:bodyPr/>
                    <a:lstStyle/>
                    <a:p>
                      <a:pPr algn="ctr"/>
                      <a:r>
                        <a:rPr lang="en-US" altLang="ja-GB" sz="1600" dirty="0"/>
                        <a:t>5</a:t>
                      </a:r>
                      <a:endParaRPr lang="ja-GB" altLang="en-US" sz="1600" dirty="0"/>
                    </a:p>
                  </a:txBody>
                  <a:tcPr/>
                </a:tc>
                <a:extLst>
                  <a:ext uri="{0D108BD9-81ED-4DB2-BD59-A6C34878D82A}">
                    <a16:rowId xmlns:a16="http://schemas.microsoft.com/office/drawing/2014/main" val="3373349507"/>
                  </a:ext>
                </a:extLst>
              </a:tr>
              <a:tr h="185302">
                <a:tc>
                  <a:txBody>
                    <a:bodyPr/>
                    <a:lstStyle/>
                    <a:p>
                      <a:pPr algn="ctr"/>
                      <a:r>
                        <a:rPr lang="en-US" altLang="ja-GB" sz="1600" dirty="0"/>
                        <a:t>E</a:t>
                      </a:r>
                      <a:endParaRPr lang="ja-GB" altLang="en-US" sz="1600" dirty="0"/>
                    </a:p>
                  </a:txBody>
                  <a:tcPr/>
                </a:tc>
                <a:tc>
                  <a:txBody>
                    <a:bodyPr/>
                    <a:lstStyle/>
                    <a:p>
                      <a:pPr algn="ctr"/>
                      <a:r>
                        <a:rPr lang="en-US" altLang="ja-GB" sz="1600" dirty="0"/>
                        <a:t>(2,5)</a:t>
                      </a:r>
                      <a:endParaRPr lang="ja-GB" altLang="en-US" sz="1600" dirty="0"/>
                    </a:p>
                  </a:txBody>
                  <a:tcPr/>
                </a:tc>
                <a:tc>
                  <a:txBody>
                    <a:bodyPr/>
                    <a:lstStyle/>
                    <a:p>
                      <a:pPr algn="ctr"/>
                      <a:r>
                        <a:rPr lang="en-US" altLang="ja-GB" sz="1600" dirty="0"/>
                        <a:t>1</a:t>
                      </a:r>
                      <a:endParaRPr lang="ja-GB" altLang="en-US" sz="1600" dirty="0"/>
                    </a:p>
                  </a:txBody>
                  <a:tcPr/>
                </a:tc>
                <a:extLst>
                  <a:ext uri="{0D108BD9-81ED-4DB2-BD59-A6C34878D82A}">
                    <a16:rowId xmlns:a16="http://schemas.microsoft.com/office/drawing/2014/main" val="2991419434"/>
                  </a:ext>
                </a:extLst>
              </a:tr>
              <a:tr h="185302">
                <a:tc>
                  <a:txBody>
                    <a:bodyPr/>
                    <a:lstStyle/>
                    <a:p>
                      <a:pPr algn="ctr"/>
                      <a:r>
                        <a:rPr lang="en-US" altLang="ja-GB" sz="1600" dirty="0"/>
                        <a:t>F</a:t>
                      </a:r>
                      <a:endParaRPr lang="ja-GB" altLang="en-US" sz="1600" dirty="0"/>
                    </a:p>
                  </a:txBody>
                  <a:tcPr/>
                </a:tc>
                <a:tc>
                  <a:txBody>
                    <a:bodyPr/>
                    <a:lstStyle/>
                    <a:p>
                      <a:pPr algn="ctr"/>
                      <a:r>
                        <a:rPr lang="en-US" altLang="ja-GB" sz="1600" dirty="0"/>
                        <a:t>(4,6)</a:t>
                      </a:r>
                      <a:endParaRPr lang="ja-GB" altLang="en-US" sz="1600" dirty="0"/>
                    </a:p>
                  </a:txBody>
                  <a:tcPr/>
                </a:tc>
                <a:tc>
                  <a:txBody>
                    <a:bodyPr/>
                    <a:lstStyle/>
                    <a:p>
                      <a:pPr algn="ctr"/>
                      <a:r>
                        <a:rPr lang="en-US" altLang="ja-GB" sz="1600" dirty="0"/>
                        <a:t>6</a:t>
                      </a:r>
                      <a:endParaRPr lang="ja-GB" altLang="en-US" sz="1600" dirty="0"/>
                    </a:p>
                  </a:txBody>
                  <a:tcPr/>
                </a:tc>
                <a:extLst>
                  <a:ext uri="{0D108BD9-81ED-4DB2-BD59-A6C34878D82A}">
                    <a16:rowId xmlns:a16="http://schemas.microsoft.com/office/drawing/2014/main" val="3985016094"/>
                  </a:ext>
                </a:extLst>
              </a:tr>
              <a:tr h="185302">
                <a:tc>
                  <a:txBody>
                    <a:bodyPr/>
                    <a:lstStyle/>
                    <a:p>
                      <a:pPr algn="ctr"/>
                      <a:r>
                        <a:rPr lang="en-US" altLang="ja-GB" sz="1600" dirty="0"/>
                        <a:t>G</a:t>
                      </a:r>
                      <a:endParaRPr lang="ja-GB" altLang="en-US" sz="1600" dirty="0"/>
                    </a:p>
                  </a:txBody>
                  <a:tcPr/>
                </a:tc>
                <a:tc>
                  <a:txBody>
                    <a:bodyPr/>
                    <a:lstStyle/>
                    <a:p>
                      <a:pPr algn="ctr"/>
                      <a:r>
                        <a:rPr lang="en-US" altLang="ja-GB" sz="1600" dirty="0"/>
                        <a:t>(4,5)</a:t>
                      </a:r>
                      <a:endParaRPr lang="ja-GB" altLang="en-US" sz="1600" dirty="0"/>
                    </a:p>
                  </a:txBody>
                  <a:tcPr/>
                </a:tc>
                <a:tc>
                  <a:txBody>
                    <a:bodyPr/>
                    <a:lstStyle/>
                    <a:p>
                      <a:pPr algn="ctr"/>
                      <a:r>
                        <a:rPr lang="en-US" altLang="ja-GB" sz="1600" dirty="0"/>
                        <a:t>3</a:t>
                      </a:r>
                      <a:endParaRPr lang="ja-GB" altLang="en-US" sz="1600" dirty="0"/>
                    </a:p>
                  </a:txBody>
                  <a:tcPr/>
                </a:tc>
                <a:extLst>
                  <a:ext uri="{0D108BD9-81ED-4DB2-BD59-A6C34878D82A}">
                    <a16:rowId xmlns:a16="http://schemas.microsoft.com/office/drawing/2014/main" val="852509030"/>
                  </a:ext>
                </a:extLst>
              </a:tr>
              <a:tr h="185302">
                <a:tc>
                  <a:txBody>
                    <a:bodyPr/>
                    <a:lstStyle/>
                    <a:p>
                      <a:pPr algn="ctr"/>
                      <a:r>
                        <a:rPr lang="en-US" altLang="ja-GB" sz="1600" dirty="0">
                          <a:solidFill>
                            <a:srgbClr val="0070C0"/>
                          </a:solidFill>
                        </a:rPr>
                        <a:t>H</a:t>
                      </a:r>
                      <a:endParaRPr lang="ja-GB" altLang="en-US" sz="1600" dirty="0">
                        <a:solidFill>
                          <a:srgbClr val="0070C0"/>
                        </a:solidFill>
                      </a:endParaRPr>
                    </a:p>
                  </a:txBody>
                  <a:tcPr/>
                </a:tc>
                <a:tc>
                  <a:txBody>
                    <a:bodyPr/>
                    <a:lstStyle/>
                    <a:p>
                      <a:pPr algn="ctr"/>
                      <a:r>
                        <a:rPr lang="en-US" altLang="ja-GB" sz="1600" dirty="0">
                          <a:solidFill>
                            <a:srgbClr val="0070C0"/>
                          </a:solidFill>
                        </a:rPr>
                        <a:t>(5,6)</a:t>
                      </a:r>
                      <a:endParaRPr lang="ja-GB" altLang="en-US" sz="1600" dirty="0">
                        <a:solidFill>
                          <a:srgbClr val="0070C0"/>
                        </a:solidFill>
                      </a:endParaRPr>
                    </a:p>
                  </a:txBody>
                  <a:tcPr/>
                </a:tc>
                <a:tc>
                  <a:txBody>
                    <a:bodyPr/>
                    <a:lstStyle/>
                    <a:p>
                      <a:pPr algn="ctr"/>
                      <a:r>
                        <a:rPr lang="en-US" altLang="ja-GB" sz="1600" dirty="0">
                          <a:solidFill>
                            <a:srgbClr val="0070C0"/>
                          </a:solidFill>
                        </a:rPr>
                        <a:t>2</a:t>
                      </a:r>
                      <a:endParaRPr lang="ja-GB" altLang="en-US" sz="1600" dirty="0">
                        <a:solidFill>
                          <a:srgbClr val="0070C0"/>
                        </a:solidFill>
                      </a:endParaRPr>
                    </a:p>
                  </a:txBody>
                  <a:tcPr/>
                </a:tc>
                <a:extLst>
                  <a:ext uri="{0D108BD9-81ED-4DB2-BD59-A6C34878D82A}">
                    <a16:rowId xmlns:a16="http://schemas.microsoft.com/office/drawing/2014/main" val="3285484398"/>
                  </a:ext>
                </a:extLst>
              </a:tr>
            </a:tbl>
          </a:graphicData>
        </a:graphic>
      </p:graphicFrame>
    </p:spTree>
    <p:extLst>
      <p:ext uri="{BB962C8B-B14F-4D97-AF65-F5344CB8AC3E}">
        <p14:creationId xmlns:p14="http://schemas.microsoft.com/office/powerpoint/2010/main" val="97743250"/>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B822B2-797C-BD52-89C9-85C22BE3B97F}"/>
              </a:ext>
            </a:extLst>
          </p:cNvPr>
          <p:cNvSpPr>
            <a:spLocks noGrp="1"/>
          </p:cNvSpPr>
          <p:nvPr>
            <p:ph type="title"/>
          </p:nvPr>
        </p:nvSpPr>
        <p:spPr/>
        <p:txBody>
          <a:bodyPr/>
          <a:lstStyle/>
          <a:p>
            <a:r>
              <a:rPr kumimoji="1" lang="ja-GB" altLang="en-US" dirty="0"/>
              <a:t>所要時間表を用いた</a:t>
            </a:r>
            <a:r>
              <a:rPr kumimoji="1" lang="en-US" altLang="ja-GB" dirty="0"/>
              <a:t>ET</a:t>
            </a:r>
            <a:r>
              <a:rPr kumimoji="1" lang="ja-GB" altLang="en-US" dirty="0"/>
              <a:t>の計算</a:t>
            </a:r>
          </a:p>
        </p:txBody>
      </p:sp>
      <p:sp>
        <p:nvSpPr>
          <p:cNvPr id="3" name="コンテンツ プレースホルダー 2">
            <a:extLst>
              <a:ext uri="{FF2B5EF4-FFF2-40B4-BE49-F238E27FC236}">
                <a16:creationId xmlns:a16="http://schemas.microsoft.com/office/drawing/2014/main" id="{3B0E15DC-3ACB-8DA3-748D-38A6BEDC0C8F}"/>
              </a:ext>
            </a:extLst>
          </p:cNvPr>
          <p:cNvSpPr>
            <a:spLocks noGrp="1"/>
          </p:cNvSpPr>
          <p:nvPr>
            <p:ph idx="1"/>
          </p:nvPr>
        </p:nvSpPr>
        <p:spPr/>
        <p:txBody>
          <a:bodyPr/>
          <a:lstStyle/>
          <a:p>
            <a:pPr marL="457200" indent="-457200">
              <a:buFont typeface="+mj-lt"/>
              <a:buAutoNum type="arabicPeriod"/>
            </a:pPr>
            <a:r>
              <a:rPr kumimoji="1" lang="en-US" altLang="ja-GB" dirty="0"/>
              <a:t>ET</a:t>
            </a:r>
            <a:r>
              <a:rPr kumimoji="1" lang="en-US" altLang="ja-GB" baseline="-25000" dirty="0"/>
              <a:t>0</a:t>
            </a:r>
            <a:r>
              <a:rPr kumimoji="1" lang="en-US" altLang="ja-GB" dirty="0"/>
              <a:t>=0</a:t>
            </a:r>
            <a:endParaRPr kumimoji="1" lang="ja-GB" altLang="en-US" baseline="-25000" dirty="0"/>
          </a:p>
        </p:txBody>
      </p:sp>
      <p:pic>
        <p:nvPicPr>
          <p:cNvPr id="5" name="図 4">
            <a:extLst>
              <a:ext uri="{FF2B5EF4-FFF2-40B4-BE49-F238E27FC236}">
                <a16:creationId xmlns:a16="http://schemas.microsoft.com/office/drawing/2014/main" id="{9D6F01AE-842A-F5CC-4769-54C82E62948A}"/>
              </a:ext>
            </a:extLst>
          </p:cNvPr>
          <p:cNvPicPr>
            <a:picLocks noChangeAspect="1"/>
          </p:cNvPicPr>
          <p:nvPr/>
        </p:nvPicPr>
        <p:blipFill>
          <a:blip r:embed="rId2"/>
          <a:srcRect/>
          <a:stretch/>
        </p:blipFill>
        <p:spPr>
          <a:xfrm>
            <a:off x="2825189" y="3429000"/>
            <a:ext cx="3493622" cy="3119306"/>
          </a:xfrm>
          <a:prstGeom prst="rect">
            <a:avLst/>
          </a:prstGeom>
        </p:spPr>
      </p:pic>
    </p:spTree>
    <p:extLst>
      <p:ext uri="{BB962C8B-B14F-4D97-AF65-F5344CB8AC3E}">
        <p14:creationId xmlns:p14="http://schemas.microsoft.com/office/powerpoint/2010/main" val="4026853142"/>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20C5A-3D04-4552-4143-7338D114588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2146D69-F49F-CBE9-69C0-DFB96C7E78E2}"/>
              </a:ext>
            </a:extLst>
          </p:cNvPr>
          <p:cNvSpPr>
            <a:spLocks noGrp="1"/>
          </p:cNvSpPr>
          <p:nvPr>
            <p:ph type="title"/>
          </p:nvPr>
        </p:nvSpPr>
        <p:spPr/>
        <p:txBody>
          <a:bodyPr/>
          <a:lstStyle/>
          <a:p>
            <a:r>
              <a:rPr kumimoji="1" lang="ja-GB" altLang="en-US" dirty="0"/>
              <a:t>所要時間表を用いた</a:t>
            </a:r>
            <a:r>
              <a:rPr kumimoji="1" lang="en-US" altLang="ja-GB" dirty="0"/>
              <a:t>ET</a:t>
            </a:r>
            <a:r>
              <a:rPr kumimoji="1" lang="ja-GB" altLang="en-US" dirty="0"/>
              <a:t>の計算</a:t>
            </a:r>
          </a:p>
        </p:txBody>
      </p:sp>
      <p:sp>
        <p:nvSpPr>
          <p:cNvPr id="3" name="コンテンツ プレースホルダー 2">
            <a:extLst>
              <a:ext uri="{FF2B5EF4-FFF2-40B4-BE49-F238E27FC236}">
                <a16:creationId xmlns:a16="http://schemas.microsoft.com/office/drawing/2014/main" id="{37AB9213-3E64-6631-FBB1-A9615B6F845F}"/>
              </a:ext>
            </a:extLst>
          </p:cNvPr>
          <p:cNvSpPr>
            <a:spLocks noGrp="1"/>
          </p:cNvSpPr>
          <p:nvPr>
            <p:ph idx="1"/>
          </p:nvPr>
        </p:nvSpPr>
        <p:spPr/>
        <p:txBody>
          <a:bodyPr/>
          <a:lstStyle/>
          <a:p>
            <a:pPr marL="457200" indent="-457200">
              <a:buFont typeface="+mj-lt"/>
              <a:buAutoNum type="arabicPeriod"/>
            </a:pPr>
            <a:r>
              <a:rPr kumimoji="1" lang="en-US" altLang="ja-GB" dirty="0"/>
              <a:t>ET</a:t>
            </a:r>
            <a:r>
              <a:rPr kumimoji="1" lang="en-US" altLang="ja-GB" baseline="-25000" dirty="0"/>
              <a:t>0</a:t>
            </a:r>
            <a:r>
              <a:rPr kumimoji="1" lang="en-US" altLang="ja-GB" dirty="0"/>
              <a:t>=0</a:t>
            </a:r>
          </a:p>
          <a:p>
            <a:pPr marL="457200" indent="-457200">
              <a:buFont typeface="+mj-lt"/>
              <a:buAutoNum type="arabicPeriod"/>
            </a:pPr>
            <a:r>
              <a:rPr kumimoji="1" lang="en-US" altLang="ja-GB" dirty="0" err="1"/>
              <a:t>ET</a:t>
            </a:r>
            <a:r>
              <a:rPr kumimoji="1" lang="en-US" altLang="ja-GB" baseline="-25000" dirty="0" err="1"/>
              <a:t>i</a:t>
            </a:r>
            <a:r>
              <a:rPr kumimoji="1" lang="ja-GB" altLang="en-US" dirty="0"/>
              <a:t>は以下の手順で導出</a:t>
            </a:r>
            <a:endParaRPr kumimoji="1" lang="en-US" altLang="ja-GB" dirty="0"/>
          </a:p>
          <a:p>
            <a:pPr marL="457200" lvl="1" indent="0">
              <a:buNone/>
            </a:pPr>
            <a:r>
              <a:rPr kumimoji="1" lang="ja-GB" altLang="en-US" dirty="0">
                <a:solidFill>
                  <a:srgbClr val="0070C0"/>
                </a:solidFill>
              </a:rPr>
              <a:t>「</a:t>
            </a:r>
            <a:r>
              <a:rPr kumimoji="1" lang="en-US" altLang="ja-GB" dirty="0" err="1">
                <a:solidFill>
                  <a:srgbClr val="0070C0"/>
                </a:solidFill>
              </a:rPr>
              <a:t>i</a:t>
            </a:r>
            <a:r>
              <a:rPr kumimoji="1" lang="ja-GB" altLang="en-US" dirty="0">
                <a:solidFill>
                  <a:srgbClr val="0070C0"/>
                </a:solidFill>
              </a:rPr>
              <a:t>」と同じ値を持つ「</a:t>
            </a:r>
            <a:r>
              <a:rPr kumimoji="1" lang="en-US" altLang="ja-GB" dirty="0">
                <a:solidFill>
                  <a:srgbClr val="0070C0"/>
                </a:solidFill>
              </a:rPr>
              <a:t>j</a:t>
            </a:r>
            <a:r>
              <a:rPr kumimoji="1" lang="ja-GB" altLang="en-US" dirty="0">
                <a:solidFill>
                  <a:srgbClr val="0070C0"/>
                </a:solidFill>
              </a:rPr>
              <a:t>」の列を縦方向に探索</a:t>
            </a:r>
            <a:endParaRPr kumimoji="1" lang="en-US" altLang="ja-GB" dirty="0">
              <a:solidFill>
                <a:srgbClr val="0070C0"/>
              </a:solidFill>
            </a:endParaRPr>
          </a:p>
          <a:p>
            <a:pPr marL="914400" lvl="2" indent="0">
              <a:buNone/>
            </a:pPr>
            <a:r>
              <a:rPr lang="ja-GB" altLang="en-US" dirty="0"/>
              <a:t>例）</a:t>
            </a:r>
            <a:r>
              <a:rPr lang="en-US" altLang="ja-GB" dirty="0"/>
              <a:t>ET</a:t>
            </a:r>
            <a:r>
              <a:rPr lang="en-US" altLang="ja-GB" baseline="-25000" dirty="0"/>
              <a:t>2</a:t>
            </a:r>
            <a:r>
              <a:rPr lang="ja-GB" altLang="en-US" dirty="0"/>
              <a:t>なら，</a:t>
            </a:r>
            <a:r>
              <a:rPr lang="en-US" altLang="ja-GB" dirty="0"/>
              <a:t>j=2</a:t>
            </a:r>
            <a:r>
              <a:rPr lang="ja-GB" altLang="en-US" dirty="0"/>
              <a:t>の列を探す</a:t>
            </a:r>
            <a:endParaRPr lang="en-US" altLang="ja-GB" dirty="0"/>
          </a:p>
          <a:p>
            <a:pPr marL="457200" lvl="1" indent="0">
              <a:buNone/>
            </a:pPr>
            <a:r>
              <a:rPr kumimoji="1" lang="ja-GB" altLang="en-US" dirty="0">
                <a:solidFill>
                  <a:srgbClr val="0070C0"/>
                </a:solidFill>
              </a:rPr>
              <a:t>値のある箇所を見つけて，その値とその真横にある</a:t>
            </a:r>
            <a:r>
              <a:rPr kumimoji="1" lang="en-US" altLang="ja-GB" dirty="0" err="1">
                <a:solidFill>
                  <a:srgbClr val="0070C0"/>
                </a:solidFill>
              </a:rPr>
              <a:t>ETi</a:t>
            </a:r>
            <a:r>
              <a:rPr kumimoji="1" lang="ja-GB" altLang="en-US" dirty="0">
                <a:solidFill>
                  <a:srgbClr val="0070C0"/>
                </a:solidFill>
              </a:rPr>
              <a:t>を加算</a:t>
            </a:r>
            <a:endParaRPr kumimoji="1" lang="en-US" altLang="ja-GB" dirty="0">
              <a:solidFill>
                <a:srgbClr val="0070C0"/>
              </a:solidFill>
            </a:endParaRPr>
          </a:p>
          <a:p>
            <a:pPr marL="914400" lvl="2" indent="0">
              <a:buNone/>
            </a:pPr>
            <a:r>
              <a:rPr lang="ja-GB" altLang="en-US" dirty="0"/>
              <a:t>例）</a:t>
            </a:r>
            <a:r>
              <a:rPr lang="en-US" altLang="ja-GB" dirty="0"/>
              <a:t> ET</a:t>
            </a:r>
            <a:r>
              <a:rPr lang="en-US" altLang="ja-GB" baseline="-25000" dirty="0"/>
              <a:t>2</a:t>
            </a:r>
            <a:r>
              <a:rPr lang="ja-GB" altLang="en-US" dirty="0"/>
              <a:t>なら，「</a:t>
            </a:r>
            <a:r>
              <a:rPr lang="en-US" altLang="ja-GB" dirty="0">
                <a:solidFill>
                  <a:schemeClr val="accent2"/>
                </a:solidFill>
              </a:rPr>
              <a:t>3+0=3</a:t>
            </a:r>
            <a:r>
              <a:rPr lang="ja-GB" altLang="en-US" dirty="0"/>
              <a:t>」</a:t>
            </a:r>
            <a:endParaRPr kumimoji="1" lang="ja-GB" altLang="en-US" dirty="0"/>
          </a:p>
        </p:txBody>
      </p:sp>
      <p:pic>
        <p:nvPicPr>
          <p:cNvPr id="5" name="図 4">
            <a:extLst>
              <a:ext uri="{FF2B5EF4-FFF2-40B4-BE49-F238E27FC236}">
                <a16:creationId xmlns:a16="http://schemas.microsoft.com/office/drawing/2014/main" id="{A1060E4D-5FFB-3A3B-01E2-CD2D3277919F}"/>
              </a:ext>
            </a:extLst>
          </p:cNvPr>
          <p:cNvPicPr>
            <a:picLocks noChangeAspect="1"/>
          </p:cNvPicPr>
          <p:nvPr/>
        </p:nvPicPr>
        <p:blipFill>
          <a:blip r:embed="rId2"/>
          <a:srcRect/>
          <a:stretch/>
        </p:blipFill>
        <p:spPr>
          <a:xfrm>
            <a:off x="2830992" y="3429000"/>
            <a:ext cx="3482016" cy="3119306"/>
          </a:xfrm>
          <a:prstGeom prst="rect">
            <a:avLst/>
          </a:prstGeom>
        </p:spPr>
      </p:pic>
    </p:spTree>
    <p:extLst>
      <p:ext uri="{BB962C8B-B14F-4D97-AF65-F5344CB8AC3E}">
        <p14:creationId xmlns:p14="http://schemas.microsoft.com/office/powerpoint/2010/main" val="4189291550"/>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28F69-F23A-7E6A-0E9B-65D1F0B5255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FDC249C-EE4F-076E-A43A-77BE29C6687E}"/>
              </a:ext>
            </a:extLst>
          </p:cNvPr>
          <p:cNvSpPr>
            <a:spLocks noGrp="1"/>
          </p:cNvSpPr>
          <p:nvPr>
            <p:ph type="title"/>
          </p:nvPr>
        </p:nvSpPr>
        <p:spPr/>
        <p:txBody>
          <a:bodyPr/>
          <a:lstStyle/>
          <a:p>
            <a:r>
              <a:rPr kumimoji="1" lang="ja-GB" altLang="en-US" dirty="0"/>
              <a:t>所要時間表を用いた</a:t>
            </a:r>
            <a:r>
              <a:rPr kumimoji="1" lang="en-US" altLang="ja-GB" dirty="0"/>
              <a:t>ET</a:t>
            </a:r>
            <a:r>
              <a:rPr kumimoji="1" lang="ja-GB" altLang="en-US" dirty="0"/>
              <a:t>の計算</a:t>
            </a:r>
          </a:p>
        </p:txBody>
      </p:sp>
      <p:sp>
        <p:nvSpPr>
          <p:cNvPr id="3" name="コンテンツ プレースホルダー 2">
            <a:extLst>
              <a:ext uri="{FF2B5EF4-FFF2-40B4-BE49-F238E27FC236}">
                <a16:creationId xmlns:a16="http://schemas.microsoft.com/office/drawing/2014/main" id="{2525D4F1-FC22-EE7A-1705-7488294BC622}"/>
              </a:ext>
            </a:extLst>
          </p:cNvPr>
          <p:cNvSpPr>
            <a:spLocks noGrp="1"/>
          </p:cNvSpPr>
          <p:nvPr>
            <p:ph idx="1"/>
          </p:nvPr>
        </p:nvSpPr>
        <p:spPr/>
        <p:txBody>
          <a:bodyPr/>
          <a:lstStyle/>
          <a:p>
            <a:pPr marL="457200" indent="-457200">
              <a:buFont typeface="+mj-lt"/>
              <a:buAutoNum type="arabicPeriod"/>
            </a:pPr>
            <a:r>
              <a:rPr kumimoji="1" lang="en-US" altLang="ja-GB" dirty="0"/>
              <a:t>ET</a:t>
            </a:r>
            <a:r>
              <a:rPr kumimoji="1" lang="en-US" altLang="ja-GB" baseline="-25000" dirty="0"/>
              <a:t>0</a:t>
            </a:r>
            <a:r>
              <a:rPr kumimoji="1" lang="en-US" altLang="ja-GB" dirty="0"/>
              <a:t>=0</a:t>
            </a:r>
          </a:p>
          <a:p>
            <a:pPr marL="457200" indent="-457200">
              <a:buFont typeface="+mj-lt"/>
              <a:buAutoNum type="arabicPeriod"/>
            </a:pPr>
            <a:r>
              <a:rPr kumimoji="1" lang="en-US" altLang="ja-GB" dirty="0" err="1"/>
              <a:t>ET</a:t>
            </a:r>
            <a:r>
              <a:rPr kumimoji="1" lang="en-US" altLang="ja-GB" baseline="-25000" dirty="0" err="1"/>
              <a:t>i</a:t>
            </a:r>
            <a:r>
              <a:rPr kumimoji="1" lang="ja-GB" altLang="en-US" dirty="0"/>
              <a:t>は以下の手順で導出</a:t>
            </a:r>
            <a:endParaRPr kumimoji="1" lang="en-US" altLang="ja-GB" dirty="0"/>
          </a:p>
          <a:p>
            <a:pPr marL="457200" lvl="1" indent="0">
              <a:buNone/>
            </a:pPr>
            <a:r>
              <a:rPr kumimoji="1" lang="ja-GB" altLang="en-US" dirty="0">
                <a:solidFill>
                  <a:srgbClr val="0070C0"/>
                </a:solidFill>
              </a:rPr>
              <a:t>「</a:t>
            </a:r>
            <a:r>
              <a:rPr kumimoji="1" lang="en-US" altLang="ja-GB" dirty="0" err="1">
                <a:solidFill>
                  <a:srgbClr val="0070C0"/>
                </a:solidFill>
              </a:rPr>
              <a:t>i</a:t>
            </a:r>
            <a:r>
              <a:rPr kumimoji="1" lang="ja-GB" altLang="en-US" dirty="0">
                <a:solidFill>
                  <a:srgbClr val="0070C0"/>
                </a:solidFill>
              </a:rPr>
              <a:t>」と同じ値を持つ「</a:t>
            </a:r>
            <a:r>
              <a:rPr kumimoji="1" lang="en-US" altLang="ja-GB" dirty="0">
                <a:solidFill>
                  <a:srgbClr val="0070C0"/>
                </a:solidFill>
              </a:rPr>
              <a:t>j</a:t>
            </a:r>
            <a:r>
              <a:rPr kumimoji="1" lang="ja-GB" altLang="en-US" dirty="0">
                <a:solidFill>
                  <a:srgbClr val="0070C0"/>
                </a:solidFill>
              </a:rPr>
              <a:t>」の列を縦方向に探索</a:t>
            </a:r>
            <a:endParaRPr kumimoji="1" lang="en-US" altLang="ja-GB" dirty="0">
              <a:solidFill>
                <a:srgbClr val="0070C0"/>
              </a:solidFill>
            </a:endParaRPr>
          </a:p>
          <a:p>
            <a:pPr marL="914400" lvl="2" indent="0">
              <a:buNone/>
            </a:pPr>
            <a:r>
              <a:rPr lang="ja-GB" altLang="en-US" dirty="0"/>
              <a:t>例）</a:t>
            </a:r>
            <a:r>
              <a:rPr lang="en-US" altLang="ja-GB" dirty="0"/>
              <a:t>ET</a:t>
            </a:r>
            <a:r>
              <a:rPr lang="en-US" altLang="ja-GB" baseline="-25000" dirty="0"/>
              <a:t>3</a:t>
            </a:r>
            <a:r>
              <a:rPr lang="ja-GB" altLang="en-US" dirty="0"/>
              <a:t>なら，</a:t>
            </a:r>
            <a:r>
              <a:rPr lang="en-US" altLang="ja-GB" dirty="0"/>
              <a:t>j=3</a:t>
            </a:r>
            <a:r>
              <a:rPr lang="ja-GB" altLang="en-US" dirty="0"/>
              <a:t>の列を探す</a:t>
            </a:r>
            <a:endParaRPr lang="en-US" altLang="ja-GB" dirty="0"/>
          </a:p>
          <a:p>
            <a:pPr marL="457200" lvl="1" indent="0">
              <a:buNone/>
            </a:pPr>
            <a:r>
              <a:rPr kumimoji="1" lang="ja-GB" altLang="en-US" dirty="0">
                <a:solidFill>
                  <a:srgbClr val="0070C0"/>
                </a:solidFill>
              </a:rPr>
              <a:t>値のある箇所を見つけて，その値とその真横にある</a:t>
            </a:r>
            <a:r>
              <a:rPr kumimoji="1" lang="en-US" altLang="ja-GB" dirty="0" err="1">
                <a:solidFill>
                  <a:srgbClr val="0070C0"/>
                </a:solidFill>
              </a:rPr>
              <a:t>ETi</a:t>
            </a:r>
            <a:r>
              <a:rPr kumimoji="1" lang="ja-GB" altLang="en-US" dirty="0">
                <a:solidFill>
                  <a:srgbClr val="0070C0"/>
                </a:solidFill>
              </a:rPr>
              <a:t>を加算</a:t>
            </a:r>
            <a:endParaRPr kumimoji="1" lang="en-US" altLang="ja-GB" dirty="0">
              <a:solidFill>
                <a:srgbClr val="0070C0"/>
              </a:solidFill>
            </a:endParaRPr>
          </a:p>
          <a:p>
            <a:pPr marL="914400" lvl="2" indent="0">
              <a:buNone/>
            </a:pPr>
            <a:r>
              <a:rPr lang="ja-GB" altLang="en-US" dirty="0"/>
              <a:t>例）</a:t>
            </a:r>
            <a:r>
              <a:rPr lang="en-US" altLang="ja-GB" dirty="0"/>
              <a:t> ET</a:t>
            </a:r>
            <a:r>
              <a:rPr lang="en-US" altLang="ja-GB" baseline="-25000" dirty="0"/>
              <a:t>3</a:t>
            </a:r>
            <a:r>
              <a:rPr lang="ja-GB" altLang="en-US" dirty="0"/>
              <a:t>なら，「</a:t>
            </a:r>
            <a:r>
              <a:rPr lang="en-US" altLang="ja-GB" dirty="0">
                <a:solidFill>
                  <a:schemeClr val="accent2"/>
                </a:solidFill>
              </a:rPr>
              <a:t>2+0=2</a:t>
            </a:r>
            <a:r>
              <a:rPr lang="ja-GB" altLang="en-US" dirty="0"/>
              <a:t>」</a:t>
            </a:r>
            <a:endParaRPr kumimoji="1" lang="ja-GB" altLang="en-US" dirty="0"/>
          </a:p>
        </p:txBody>
      </p:sp>
      <p:pic>
        <p:nvPicPr>
          <p:cNvPr id="5" name="図 4">
            <a:extLst>
              <a:ext uri="{FF2B5EF4-FFF2-40B4-BE49-F238E27FC236}">
                <a16:creationId xmlns:a16="http://schemas.microsoft.com/office/drawing/2014/main" id="{7AA30FA3-9CE0-35F4-D8BA-8A4AF7AFF783}"/>
              </a:ext>
            </a:extLst>
          </p:cNvPr>
          <p:cNvPicPr>
            <a:picLocks noChangeAspect="1"/>
          </p:cNvPicPr>
          <p:nvPr/>
        </p:nvPicPr>
        <p:blipFill>
          <a:blip r:embed="rId2"/>
          <a:srcRect/>
          <a:stretch/>
        </p:blipFill>
        <p:spPr>
          <a:xfrm>
            <a:off x="2830992" y="3429000"/>
            <a:ext cx="3482016" cy="3119306"/>
          </a:xfrm>
          <a:prstGeom prst="rect">
            <a:avLst/>
          </a:prstGeom>
        </p:spPr>
      </p:pic>
    </p:spTree>
    <p:extLst>
      <p:ext uri="{BB962C8B-B14F-4D97-AF65-F5344CB8AC3E}">
        <p14:creationId xmlns:p14="http://schemas.microsoft.com/office/powerpoint/2010/main" val="3944314247"/>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C0E6A-EE0C-5E38-F28E-DDC071F4747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5E8A811-F0C8-9350-B677-352E2F7C7E79}"/>
              </a:ext>
            </a:extLst>
          </p:cNvPr>
          <p:cNvSpPr>
            <a:spLocks noGrp="1"/>
          </p:cNvSpPr>
          <p:nvPr>
            <p:ph type="title"/>
          </p:nvPr>
        </p:nvSpPr>
        <p:spPr/>
        <p:txBody>
          <a:bodyPr/>
          <a:lstStyle/>
          <a:p>
            <a:r>
              <a:rPr kumimoji="1" lang="ja-GB" altLang="en-US" dirty="0"/>
              <a:t>所要時間表を用いた</a:t>
            </a:r>
            <a:r>
              <a:rPr kumimoji="1" lang="en-US" altLang="ja-GB" dirty="0"/>
              <a:t>ET</a:t>
            </a:r>
            <a:r>
              <a:rPr kumimoji="1" lang="ja-GB" altLang="en-US" dirty="0"/>
              <a:t>の計算</a:t>
            </a:r>
          </a:p>
        </p:txBody>
      </p:sp>
      <p:sp>
        <p:nvSpPr>
          <p:cNvPr id="3" name="コンテンツ プレースホルダー 2">
            <a:extLst>
              <a:ext uri="{FF2B5EF4-FFF2-40B4-BE49-F238E27FC236}">
                <a16:creationId xmlns:a16="http://schemas.microsoft.com/office/drawing/2014/main" id="{FA44B58F-400E-8819-4739-54928CF22596}"/>
              </a:ext>
            </a:extLst>
          </p:cNvPr>
          <p:cNvSpPr>
            <a:spLocks noGrp="1"/>
          </p:cNvSpPr>
          <p:nvPr>
            <p:ph idx="1"/>
          </p:nvPr>
        </p:nvSpPr>
        <p:spPr/>
        <p:txBody>
          <a:bodyPr/>
          <a:lstStyle/>
          <a:p>
            <a:pPr marL="457200" indent="-457200">
              <a:buFont typeface="+mj-lt"/>
              <a:buAutoNum type="arabicPeriod"/>
            </a:pPr>
            <a:r>
              <a:rPr kumimoji="1" lang="en-US" altLang="ja-GB" dirty="0"/>
              <a:t>ET</a:t>
            </a:r>
            <a:r>
              <a:rPr kumimoji="1" lang="en-US" altLang="ja-GB" baseline="-25000" dirty="0"/>
              <a:t>0</a:t>
            </a:r>
            <a:r>
              <a:rPr kumimoji="1" lang="en-US" altLang="ja-GB" dirty="0"/>
              <a:t>=0</a:t>
            </a:r>
          </a:p>
          <a:p>
            <a:pPr marL="457200" indent="-457200">
              <a:buFont typeface="+mj-lt"/>
              <a:buAutoNum type="arabicPeriod"/>
            </a:pPr>
            <a:r>
              <a:rPr kumimoji="1" lang="en-US" altLang="ja-GB" dirty="0" err="1"/>
              <a:t>ET</a:t>
            </a:r>
            <a:r>
              <a:rPr kumimoji="1" lang="en-US" altLang="ja-GB" baseline="-25000" dirty="0" err="1"/>
              <a:t>i</a:t>
            </a:r>
            <a:r>
              <a:rPr kumimoji="1" lang="ja-GB" altLang="en-US" dirty="0"/>
              <a:t>は以下の手順で導出</a:t>
            </a:r>
            <a:endParaRPr kumimoji="1" lang="en-US" altLang="ja-GB" dirty="0"/>
          </a:p>
          <a:p>
            <a:pPr marL="457200" lvl="1" indent="0">
              <a:buNone/>
            </a:pPr>
            <a:r>
              <a:rPr kumimoji="1" lang="ja-GB" altLang="en-US" dirty="0">
                <a:solidFill>
                  <a:srgbClr val="0070C0"/>
                </a:solidFill>
              </a:rPr>
              <a:t>「</a:t>
            </a:r>
            <a:r>
              <a:rPr kumimoji="1" lang="en-US" altLang="ja-GB" dirty="0" err="1">
                <a:solidFill>
                  <a:srgbClr val="0070C0"/>
                </a:solidFill>
              </a:rPr>
              <a:t>i</a:t>
            </a:r>
            <a:r>
              <a:rPr kumimoji="1" lang="ja-GB" altLang="en-US" dirty="0">
                <a:solidFill>
                  <a:srgbClr val="0070C0"/>
                </a:solidFill>
              </a:rPr>
              <a:t>」と同じ値を持つ「</a:t>
            </a:r>
            <a:r>
              <a:rPr kumimoji="1" lang="en-US" altLang="ja-GB" dirty="0">
                <a:solidFill>
                  <a:srgbClr val="0070C0"/>
                </a:solidFill>
              </a:rPr>
              <a:t>j</a:t>
            </a:r>
            <a:r>
              <a:rPr kumimoji="1" lang="ja-GB" altLang="en-US" dirty="0">
                <a:solidFill>
                  <a:srgbClr val="0070C0"/>
                </a:solidFill>
              </a:rPr>
              <a:t>」の列を縦方向に探索</a:t>
            </a:r>
            <a:endParaRPr kumimoji="1" lang="en-US" altLang="ja-GB" dirty="0">
              <a:solidFill>
                <a:srgbClr val="0070C0"/>
              </a:solidFill>
            </a:endParaRPr>
          </a:p>
          <a:p>
            <a:pPr marL="914400" lvl="2" indent="0">
              <a:buNone/>
            </a:pPr>
            <a:r>
              <a:rPr lang="ja-GB" altLang="en-US" dirty="0"/>
              <a:t>例）</a:t>
            </a:r>
            <a:r>
              <a:rPr lang="en-US" altLang="ja-GB" dirty="0"/>
              <a:t>ET</a:t>
            </a:r>
            <a:r>
              <a:rPr lang="en-US" altLang="ja-GB" baseline="-25000" dirty="0"/>
              <a:t>2</a:t>
            </a:r>
            <a:r>
              <a:rPr lang="ja-GB" altLang="en-US" dirty="0"/>
              <a:t>なら，</a:t>
            </a:r>
            <a:r>
              <a:rPr lang="en-US" altLang="ja-GB" dirty="0"/>
              <a:t>j=2</a:t>
            </a:r>
            <a:r>
              <a:rPr lang="ja-GB" altLang="en-US" dirty="0"/>
              <a:t>の列を探す</a:t>
            </a:r>
            <a:endParaRPr lang="en-US" altLang="ja-GB" dirty="0"/>
          </a:p>
          <a:p>
            <a:pPr marL="457200" lvl="1" indent="0">
              <a:buNone/>
            </a:pPr>
            <a:r>
              <a:rPr kumimoji="1" lang="ja-GB" altLang="en-US" dirty="0">
                <a:solidFill>
                  <a:srgbClr val="2F2523"/>
                </a:solidFill>
              </a:rPr>
              <a:t>値のある箇所を見つけて，その値とその真横にある</a:t>
            </a:r>
            <a:r>
              <a:rPr kumimoji="1" lang="en-US" altLang="ja-GB" dirty="0" err="1">
                <a:solidFill>
                  <a:srgbClr val="2F2523"/>
                </a:solidFill>
              </a:rPr>
              <a:t>ETi</a:t>
            </a:r>
            <a:r>
              <a:rPr kumimoji="1" lang="ja-GB" altLang="en-US" dirty="0">
                <a:solidFill>
                  <a:srgbClr val="2F2523"/>
                </a:solidFill>
              </a:rPr>
              <a:t>を加算</a:t>
            </a:r>
            <a:endParaRPr kumimoji="1" lang="en-US" altLang="ja-GB" dirty="0">
              <a:solidFill>
                <a:srgbClr val="2F2523"/>
              </a:solidFill>
            </a:endParaRPr>
          </a:p>
          <a:p>
            <a:pPr marL="457200" lvl="1" indent="0">
              <a:buNone/>
            </a:pPr>
            <a:r>
              <a:rPr kumimoji="1" lang="ja-GB" altLang="en-US" dirty="0">
                <a:solidFill>
                  <a:srgbClr val="0070C0"/>
                </a:solidFill>
              </a:rPr>
              <a:t>複数の値がある場合は，その中で最大のものを採用</a:t>
            </a:r>
            <a:endParaRPr kumimoji="1" lang="en-US" altLang="ja-GB" dirty="0">
              <a:solidFill>
                <a:srgbClr val="0070C0"/>
              </a:solidFill>
            </a:endParaRPr>
          </a:p>
          <a:p>
            <a:pPr marL="914400" lvl="2" indent="0">
              <a:buNone/>
            </a:pPr>
            <a:r>
              <a:rPr lang="ja-GB" altLang="en-US" dirty="0">
                <a:solidFill>
                  <a:srgbClr val="2F2523"/>
                </a:solidFill>
              </a:rPr>
              <a:t>例）</a:t>
            </a:r>
            <a:r>
              <a:rPr lang="en-US" altLang="ja-GB" dirty="0">
                <a:solidFill>
                  <a:srgbClr val="2F2523"/>
                </a:solidFill>
              </a:rPr>
              <a:t>ET</a:t>
            </a:r>
            <a:r>
              <a:rPr lang="en-US" altLang="ja-GB" baseline="-25000" dirty="0">
                <a:solidFill>
                  <a:srgbClr val="2F2523"/>
                </a:solidFill>
              </a:rPr>
              <a:t>4</a:t>
            </a:r>
            <a:r>
              <a:rPr lang="ja-GB" altLang="en-US" dirty="0">
                <a:solidFill>
                  <a:srgbClr val="2F2523"/>
                </a:solidFill>
              </a:rPr>
              <a:t>なら，「</a:t>
            </a:r>
            <a:r>
              <a:rPr lang="en-US" altLang="ja-GB" dirty="0">
                <a:solidFill>
                  <a:schemeClr val="accent2"/>
                </a:solidFill>
              </a:rPr>
              <a:t>4+3=7</a:t>
            </a:r>
            <a:r>
              <a:rPr lang="ja-GB" altLang="en-US" dirty="0">
                <a:solidFill>
                  <a:srgbClr val="2F2523"/>
                </a:solidFill>
              </a:rPr>
              <a:t>」か，「</a:t>
            </a:r>
            <a:r>
              <a:rPr lang="en-US" altLang="ja-GB" dirty="0">
                <a:solidFill>
                  <a:schemeClr val="accent2"/>
                </a:solidFill>
              </a:rPr>
              <a:t>5+2=7</a:t>
            </a:r>
            <a:r>
              <a:rPr lang="ja-GB" altLang="en-US" dirty="0">
                <a:solidFill>
                  <a:srgbClr val="2F2523"/>
                </a:solidFill>
              </a:rPr>
              <a:t>」の大きい方を採用</a:t>
            </a:r>
            <a:r>
              <a:rPr lang="ja-GB" altLang="en-US" sz="1400" dirty="0">
                <a:solidFill>
                  <a:schemeClr val="tx1">
                    <a:lumMod val="50000"/>
                    <a:lumOff val="50000"/>
                  </a:schemeClr>
                </a:solidFill>
              </a:rPr>
              <a:t>（同じなので</a:t>
            </a:r>
            <a:r>
              <a:rPr lang="en-US" altLang="ja-GB" sz="1400" dirty="0">
                <a:solidFill>
                  <a:schemeClr val="tx1">
                    <a:lumMod val="50000"/>
                    <a:lumOff val="50000"/>
                  </a:schemeClr>
                </a:solidFill>
              </a:rPr>
              <a:t>7</a:t>
            </a:r>
            <a:r>
              <a:rPr lang="ja-GB" altLang="en-US" sz="1400" dirty="0">
                <a:solidFill>
                  <a:schemeClr val="tx1">
                    <a:lumMod val="50000"/>
                    <a:lumOff val="50000"/>
                  </a:schemeClr>
                </a:solidFill>
              </a:rPr>
              <a:t>にする）</a:t>
            </a:r>
            <a:endParaRPr kumimoji="1" lang="en-US" altLang="ja-GB" dirty="0">
              <a:solidFill>
                <a:schemeClr val="tx1">
                  <a:lumMod val="50000"/>
                  <a:lumOff val="50000"/>
                </a:schemeClr>
              </a:solidFill>
            </a:endParaRPr>
          </a:p>
        </p:txBody>
      </p:sp>
      <p:pic>
        <p:nvPicPr>
          <p:cNvPr id="5" name="図 4">
            <a:extLst>
              <a:ext uri="{FF2B5EF4-FFF2-40B4-BE49-F238E27FC236}">
                <a16:creationId xmlns:a16="http://schemas.microsoft.com/office/drawing/2014/main" id="{156ABF2F-D614-6C2C-12B3-6C6B5FD76195}"/>
              </a:ext>
            </a:extLst>
          </p:cNvPr>
          <p:cNvPicPr>
            <a:picLocks noChangeAspect="1"/>
          </p:cNvPicPr>
          <p:nvPr/>
        </p:nvPicPr>
        <p:blipFill>
          <a:blip r:embed="rId2"/>
          <a:srcRect/>
          <a:stretch/>
        </p:blipFill>
        <p:spPr>
          <a:xfrm>
            <a:off x="2830992" y="3443380"/>
            <a:ext cx="3482016" cy="3090546"/>
          </a:xfrm>
          <a:prstGeom prst="rect">
            <a:avLst/>
          </a:prstGeom>
        </p:spPr>
      </p:pic>
    </p:spTree>
    <p:extLst>
      <p:ext uri="{BB962C8B-B14F-4D97-AF65-F5344CB8AC3E}">
        <p14:creationId xmlns:p14="http://schemas.microsoft.com/office/powerpoint/2010/main" val="3001549820"/>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A6E59-B271-F240-F7FF-CCEA40A3239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C02FE7C-55C8-6A71-0D67-F3455FA88637}"/>
              </a:ext>
            </a:extLst>
          </p:cNvPr>
          <p:cNvSpPr>
            <a:spLocks noGrp="1"/>
          </p:cNvSpPr>
          <p:nvPr>
            <p:ph type="title"/>
          </p:nvPr>
        </p:nvSpPr>
        <p:spPr/>
        <p:txBody>
          <a:bodyPr/>
          <a:lstStyle/>
          <a:p>
            <a:r>
              <a:rPr kumimoji="1" lang="ja-GB" altLang="en-US" dirty="0"/>
              <a:t>所要時間表を用いた</a:t>
            </a:r>
            <a:r>
              <a:rPr kumimoji="1" lang="en-US" altLang="ja-GB" dirty="0"/>
              <a:t>ET</a:t>
            </a:r>
            <a:r>
              <a:rPr kumimoji="1" lang="ja-GB" altLang="en-US" dirty="0"/>
              <a:t>の計算</a:t>
            </a:r>
          </a:p>
        </p:txBody>
      </p:sp>
      <p:sp>
        <p:nvSpPr>
          <p:cNvPr id="3" name="コンテンツ プレースホルダー 2">
            <a:extLst>
              <a:ext uri="{FF2B5EF4-FFF2-40B4-BE49-F238E27FC236}">
                <a16:creationId xmlns:a16="http://schemas.microsoft.com/office/drawing/2014/main" id="{ED572DE4-80BD-8362-A64F-126BCA73A6EE}"/>
              </a:ext>
            </a:extLst>
          </p:cNvPr>
          <p:cNvSpPr>
            <a:spLocks noGrp="1"/>
          </p:cNvSpPr>
          <p:nvPr>
            <p:ph idx="1"/>
          </p:nvPr>
        </p:nvSpPr>
        <p:spPr/>
        <p:txBody>
          <a:bodyPr/>
          <a:lstStyle/>
          <a:p>
            <a:pPr marL="457200" indent="-457200">
              <a:buFont typeface="+mj-lt"/>
              <a:buAutoNum type="arabicPeriod"/>
            </a:pPr>
            <a:r>
              <a:rPr kumimoji="1" lang="en-US" altLang="ja-GB" dirty="0"/>
              <a:t>ET</a:t>
            </a:r>
            <a:r>
              <a:rPr kumimoji="1" lang="en-US" altLang="ja-GB" baseline="-25000" dirty="0"/>
              <a:t>0</a:t>
            </a:r>
            <a:r>
              <a:rPr kumimoji="1" lang="en-US" altLang="ja-GB" dirty="0"/>
              <a:t>=0</a:t>
            </a:r>
          </a:p>
          <a:p>
            <a:pPr marL="457200" indent="-457200">
              <a:buFont typeface="+mj-lt"/>
              <a:buAutoNum type="arabicPeriod"/>
            </a:pPr>
            <a:r>
              <a:rPr kumimoji="1" lang="en-US" altLang="ja-GB" dirty="0" err="1"/>
              <a:t>ET</a:t>
            </a:r>
            <a:r>
              <a:rPr kumimoji="1" lang="en-US" altLang="ja-GB" baseline="-25000" dirty="0" err="1"/>
              <a:t>i</a:t>
            </a:r>
            <a:r>
              <a:rPr kumimoji="1" lang="ja-GB" altLang="en-US" dirty="0"/>
              <a:t>は以下の手順で導出</a:t>
            </a:r>
            <a:endParaRPr kumimoji="1" lang="en-US" altLang="ja-GB" dirty="0"/>
          </a:p>
          <a:p>
            <a:pPr marL="457200" lvl="1" indent="0">
              <a:buNone/>
            </a:pPr>
            <a:r>
              <a:rPr kumimoji="1" lang="ja-GB" altLang="en-US" dirty="0">
                <a:solidFill>
                  <a:srgbClr val="0070C0"/>
                </a:solidFill>
              </a:rPr>
              <a:t>「</a:t>
            </a:r>
            <a:r>
              <a:rPr kumimoji="1" lang="en-US" altLang="ja-GB" dirty="0" err="1">
                <a:solidFill>
                  <a:srgbClr val="0070C0"/>
                </a:solidFill>
              </a:rPr>
              <a:t>i</a:t>
            </a:r>
            <a:r>
              <a:rPr kumimoji="1" lang="ja-GB" altLang="en-US" dirty="0">
                <a:solidFill>
                  <a:srgbClr val="0070C0"/>
                </a:solidFill>
              </a:rPr>
              <a:t>」と同じ値を持つ「</a:t>
            </a:r>
            <a:r>
              <a:rPr kumimoji="1" lang="en-US" altLang="ja-GB" dirty="0">
                <a:solidFill>
                  <a:srgbClr val="0070C0"/>
                </a:solidFill>
              </a:rPr>
              <a:t>j</a:t>
            </a:r>
            <a:r>
              <a:rPr kumimoji="1" lang="ja-GB" altLang="en-US" dirty="0">
                <a:solidFill>
                  <a:srgbClr val="0070C0"/>
                </a:solidFill>
              </a:rPr>
              <a:t>」の列を縦方向に探索</a:t>
            </a:r>
            <a:endParaRPr kumimoji="1" lang="en-US" altLang="ja-GB" dirty="0">
              <a:solidFill>
                <a:srgbClr val="0070C0"/>
              </a:solidFill>
            </a:endParaRPr>
          </a:p>
          <a:p>
            <a:pPr marL="914400" lvl="2" indent="0">
              <a:buNone/>
            </a:pPr>
            <a:r>
              <a:rPr lang="ja-GB" altLang="en-US" dirty="0"/>
              <a:t>例）</a:t>
            </a:r>
            <a:r>
              <a:rPr lang="en-US" altLang="ja-GB" dirty="0"/>
              <a:t>ET</a:t>
            </a:r>
            <a:r>
              <a:rPr lang="en-US" altLang="ja-GB" baseline="-25000" dirty="0"/>
              <a:t>2</a:t>
            </a:r>
            <a:r>
              <a:rPr lang="ja-GB" altLang="en-US" dirty="0"/>
              <a:t>なら，</a:t>
            </a:r>
            <a:r>
              <a:rPr lang="en-US" altLang="ja-GB" dirty="0"/>
              <a:t>j=2</a:t>
            </a:r>
            <a:r>
              <a:rPr lang="ja-GB" altLang="en-US" dirty="0"/>
              <a:t>の列を探す</a:t>
            </a:r>
            <a:endParaRPr lang="en-US" altLang="ja-GB" dirty="0"/>
          </a:p>
          <a:p>
            <a:pPr marL="457200" lvl="1" indent="0">
              <a:buNone/>
            </a:pPr>
            <a:r>
              <a:rPr kumimoji="1" lang="ja-GB" altLang="en-US" dirty="0">
                <a:solidFill>
                  <a:srgbClr val="2F2523"/>
                </a:solidFill>
              </a:rPr>
              <a:t>値のある箇所を見つけて，その値とその真横にある</a:t>
            </a:r>
            <a:r>
              <a:rPr kumimoji="1" lang="en-US" altLang="ja-GB" dirty="0" err="1">
                <a:solidFill>
                  <a:srgbClr val="2F2523"/>
                </a:solidFill>
              </a:rPr>
              <a:t>ETi</a:t>
            </a:r>
            <a:r>
              <a:rPr kumimoji="1" lang="ja-GB" altLang="en-US" dirty="0">
                <a:solidFill>
                  <a:srgbClr val="2F2523"/>
                </a:solidFill>
              </a:rPr>
              <a:t>を加算</a:t>
            </a:r>
            <a:endParaRPr kumimoji="1" lang="en-US" altLang="ja-GB" dirty="0">
              <a:solidFill>
                <a:srgbClr val="2F2523"/>
              </a:solidFill>
            </a:endParaRPr>
          </a:p>
          <a:p>
            <a:pPr marL="457200" lvl="1" indent="0">
              <a:buNone/>
            </a:pPr>
            <a:r>
              <a:rPr kumimoji="1" lang="ja-GB" altLang="en-US" dirty="0">
                <a:solidFill>
                  <a:srgbClr val="0070C0"/>
                </a:solidFill>
              </a:rPr>
              <a:t>複数の値がある場合は，その中で最大のものを採用</a:t>
            </a:r>
            <a:endParaRPr kumimoji="1" lang="en-US" altLang="ja-GB" dirty="0">
              <a:solidFill>
                <a:srgbClr val="0070C0"/>
              </a:solidFill>
            </a:endParaRPr>
          </a:p>
          <a:p>
            <a:pPr marL="914400" lvl="2" indent="0">
              <a:buNone/>
            </a:pPr>
            <a:r>
              <a:rPr lang="ja-GB" altLang="en-US" dirty="0">
                <a:solidFill>
                  <a:srgbClr val="2F2523"/>
                </a:solidFill>
              </a:rPr>
              <a:t>例）</a:t>
            </a:r>
            <a:r>
              <a:rPr lang="en-US" altLang="ja-GB" dirty="0">
                <a:solidFill>
                  <a:srgbClr val="2F2523"/>
                </a:solidFill>
              </a:rPr>
              <a:t>ET</a:t>
            </a:r>
            <a:r>
              <a:rPr lang="en-US" altLang="ja-GB" baseline="-25000" dirty="0">
                <a:solidFill>
                  <a:srgbClr val="2F2523"/>
                </a:solidFill>
              </a:rPr>
              <a:t>5</a:t>
            </a:r>
            <a:r>
              <a:rPr lang="ja-GB" altLang="en-US" dirty="0">
                <a:solidFill>
                  <a:srgbClr val="2F2523"/>
                </a:solidFill>
              </a:rPr>
              <a:t>なら，「</a:t>
            </a:r>
            <a:r>
              <a:rPr lang="en-US" altLang="ja-GB" dirty="0">
                <a:solidFill>
                  <a:schemeClr val="accent2"/>
                </a:solidFill>
              </a:rPr>
              <a:t>1+3=4</a:t>
            </a:r>
            <a:r>
              <a:rPr lang="ja-GB" altLang="en-US" dirty="0">
                <a:solidFill>
                  <a:srgbClr val="2F2523"/>
                </a:solidFill>
              </a:rPr>
              <a:t>」か，「</a:t>
            </a:r>
            <a:r>
              <a:rPr lang="en-US" altLang="ja-GB" dirty="0">
                <a:solidFill>
                  <a:schemeClr val="accent2"/>
                </a:solidFill>
              </a:rPr>
              <a:t>3+7=10</a:t>
            </a:r>
            <a:r>
              <a:rPr lang="ja-GB" altLang="en-US" dirty="0">
                <a:solidFill>
                  <a:srgbClr val="2F2523"/>
                </a:solidFill>
              </a:rPr>
              <a:t>」の大きい方を採用</a:t>
            </a:r>
            <a:endParaRPr kumimoji="1" lang="en-US" altLang="ja-GB" dirty="0">
              <a:solidFill>
                <a:schemeClr val="tx1">
                  <a:lumMod val="50000"/>
                  <a:lumOff val="50000"/>
                </a:schemeClr>
              </a:solidFill>
            </a:endParaRPr>
          </a:p>
        </p:txBody>
      </p:sp>
      <p:pic>
        <p:nvPicPr>
          <p:cNvPr id="5" name="図 4">
            <a:extLst>
              <a:ext uri="{FF2B5EF4-FFF2-40B4-BE49-F238E27FC236}">
                <a16:creationId xmlns:a16="http://schemas.microsoft.com/office/drawing/2014/main" id="{E7C2B8A3-CC76-8433-D1BE-A63D82C9E9FC}"/>
              </a:ext>
            </a:extLst>
          </p:cNvPr>
          <p:cNvPicPr>
            <a:picLocks noChangeAspect="1"/>
          </p:cNvPicPr>
          <p:nvPr/>
        </p:nvPicPr>
        <p:blipFill>
          <a:blip r:embed="rId2"/>
          <a:srcRect/>
          <a:stretch/>
        </p:blipFill>
        <p:spPr>
          <a:xfrm>
            <a:off x="2830992" y="3444545"/>
            <a:ext cx="3482016" cy="3088216"/>
          </a:xfrm>
          <a:prstGeom prst="rect">
            <a:avLst/>
          </a:prstGeom>
        </p:spPr>
      </p:pic>
    </p:spTree>
    <p:extLst>
      <p:ext uri="{BB962C8B-B14F-4D97-AF65-F5344CB8AC3E}">
        <p14:creationId xmlns:p14="http://schemas.microsoft.com/office/powerpoint/2010/main" val="3004596261"/>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F9F83-0876-217D-83CF-A0D8E225745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800A88B-89EE-D031-4ACD-C9345D4D4B02}"/>
              </a:ext>
            </a:extLst>
          </p:cNvPr>
          <p:cNvSpPr>
            <a:spLocks noGrp="1"/>
          </p:cNvSpPr>
          <p:nvPr>
            <p:ph type="title"/>
          </p:nvPr>
        </p:nvSpPr>
        <p:spPr/>
        <p:txBody>
          <a:bodyPr/>
          <a:lstStyle/>
          <a:p>
            <a:r>
              <a:rPr kumimoji="1" lang="ja-GB" altLang="en-US" dirty="0"/>
              <a:t>所要時間表を用いた</a:t>
            </a:r>
            <a:r>
              <a:rPr kumimoji="1" lang="en-US" altLang="ja-GB" dirty="0"/>
              <a:t>ET</a:t>
            </a:r>
            <a:r>
              <a:rPr kumimoji="1" lang="ja-GB" altLang="en-US" dirty="0"/>
              <a:t>の計算</a:t>
            </a:r>
          </a:p>
        </p:txBody>
      </p:sp>
      <p:sp>
        <p:nvSpPr>
          <p:cNvPr id="3" name="コンテンツ プレースホルダー 2">
            <a:extLst>
              <a:ext uri="{FF2B5EF4-FFF2-40B4-BE49-F238E27FC236}">
                <a16:creationId xmlns:a16="http://schemas.microsoft.com/office/drawing/2014/main" id="{2C812C28-1CEE-FB8C-DF55-1D45992C2A0A}"/>
              </a:ext>
            </a:extLst>
          </p:cNvPr>
          <p:cNvSpPr>
            <a:spLocks noGrp="1"/>
          </p:cNvSpPr>
          <p:nvPr>
            <p:ph idx="1"/>
          </p:nvPr>
        </p:nvSpPr>
        <p:spPr/>
        <p:txBody>
          <a:bodyPr/>
          <a:lstStyle/>
          <a:p>
            <a:pPr marL="457200" indent="-457200">
              <a:buFont typeface="+mj-lt"/>
              <a:buAutoNum type="arabicPeriod"/>
            </a:pPr>
            <a:r>
              <a:rPr kumimoji="1" lang="en-US" altLang="ja-GB" dirty="0"/>
              <a:t>ET</a:t>
            </a:r>
            <a:r>
              <a:rPr kumimoji="1" lang="en-US" altLang="ja-GB" baseline="-25000" dirty="0"/>
              <a:t>0</a:t>
            </a:r>
            <a:r>
              <a:rPr kumimoji="1" lang="en-US" altLang="ja-GB" dirty="0"/>
              <a:t>=0</a:t>
            </a:r>
          </a:p>
          <a:p>
            <a:pPr marL="457200" indent="-457200">
              <a:buFont typeface="+mj-lt"/>
              <a:buAutoNum type="arabicPeriod"/>
            </a:pPr>
            <a:r>
              <a:rPr kumimoji="1" lang="en-US" altLang="ja-GB" dirty="0" err="1"/>
              <a:t>ET</a:t>
            </a:r>
            <a:r>
              <a:rPr kumimoji="1" lang="en-US" altLang="ja-GB" baseline="-25000" dirty="0" err="1"/>
              <a:t>i</a:t>
            </a:r>
            <a:r>
              <a:rPr kumimoji="1" lang="ja-GB" altLang="en-US" dirty="0"/>
              <a:t>は以下の手順で導出</a:t>
            </a:r>
            <a:endParaRPr kumimoji="1" lang="en-US" altLang="ja-GB" dirty="0"/>
          </a:p>
          <a:p>
            <a:pPr marL="457200" lvl="1" indent="0">
              <a:buNone/>
            </a:pPr>
            <a:r>
              <a:rPr kumimoji="1" lang="ja-GB" altLang="en-US" dirty="0">
                <a:solidFill>
                  <a:srgbClr val="0070C0"/>
                </a:solidFill>
              </a:rPr>
              <a:t>「</a:t>
            </a:r>
            <a:r>
              <a:rPr kumimoji="1" lang="en-US" altLang="ja-GB" dirty="0" err="1">
                <a:solidFill>
                  <a:srgbClr val="0070C0"/>
                </a:solidFill>
              </a:rPr>
              <a:t>i</a:t>
            </a:r>
            <a:r>
              <a:rPr kumimoji="1" lang="ja-GB" altLang="en-US" dirty="0">
                <a:solidFill>
                  <a:srgbClr val="0070C0"/>
                </a:solidFill>
              </a:rPr>
              <a:t>」と同じ値を持つ「</a:t>
            </a:r>
            <a:r>
              <a:rPr kumimoji="1" lang="en-US" altLang="ja-GB" dirty="0">
                <a:solidFill>
                  <a:srgbClr val="0070C0"/>
                </a:solidFill>
              </a:rPr>
              <a:t>j</a:t>
            </a:r>
            <a:r>
              <a:rPr kumimoji="1" lang="ja-GB" altLang="en-US" dirty="0">
                <a:solidFill>
                  <a:srgbClr val="0070C0"/>
                </a:solidFill>
              </a:rPr>
              <a:t>」の列を縦方向に探索</a:t>
            </a:r>
            <a:endParaRPr kumimoji="1" lang="en-US" altLang="ja-GB" dirty="0">
              <a:solidFill>
                <a:srgbClr val="0070C0"/>
              </a:solidFill>
            </a:endParaRPr>
          </a:p>
          <a:p>
            <a:pPr marL="914400" lvl="2" indent="0">
              <a:buNone/>
            </a:pPr>
            <a:r>
              <a:rPr lang="ja-GB" altLang="en-US" dirty="0"/>
              <a:t>例）</a:t>
            </a:r>
            <a:r>
              <a:rPr lang="en-US" altLang="ja-GB" dirty="0"/>
              <a:t>ET</a:t>
            </a:r>
            <a:r>
              <a:rPr lang="en-US" altLang="ja-GB" baseline="-25000" dirty="0"/>
              <a:t>2</a:t>
            </a:r>
            <a:r>
              <a:rPr lang="ja-GB" altLang="en-US" dirty="0"/>
              <a:t>なら，</a:t>
            </a:r>
            <a:r>
              <a:rPr lang="en-US" altLang="ja-GB" dirty="0"/>
              <a:t>j=2</a:t>
            </a:r>
            <a:r>
              <a:rPr lang="ja-GB" altLang="en-US" dirty="0"/>
              <a:t>の列を探す</a:t>
            </a:r>
            <a:endParaRPr lang="en-US" altLang="ja-GB" dirty="0"/>
          </a:p>
          <a:p>
            <a:pPr marL="457200" lvl="1" indent="0">
              <a:buNone/>
            </a:pPr>
            <a:r>
              <a:rPr kumimoji="1" lang="ja-GB" altLang="en-US" dirty="0">
                <a:solidFill>
                  <a:srgbClr val="2F2523"/>
                </a:solidFill>
              </a:rPr>
              <a:t>値のある箇所を見つけて，その値とその真横にある</a:t>
            </a:r>
            <a:r>
              <a:rPr kumimoji="1" lang="en-US" altLang="ja-GB" dirty="0" err="1">
                <a:solidFill>
                  <a:srgbClr val="2F2523"/>
                </a:solidFill>
              </a:rPr>
              <a:t>ETi</a:t>
            </a:r>
            <a:r>
              <a:rPr kumimoji="1" lang="ja-GB" altLang="en-US" dirty="0">
                <a:solidFill>
                  <a:srgbClr val="2F2523"/>
                </a:solidFill>
              </a:rPr>
              <a:t>を加算</a:t>
            </a:r>
            <a:endParaRPr kumimoji="1" lang="en-US" altLang="ja-GB" dirty="0">
              <a:solidFill>
                <a:srgbClr val="2F2523"/>
              </a:solidFill>
            </a:endParaRPr>
          </a:p>
          <a:p>
            <a:pPr marL="457200" lvl="1" indent="0">
              <a:buNone/>
            </a:pPr>
            <a:r>
              <a:rPr kumimoji="1" lang="ja-GB" altLang="en-US" dirty="0">
                <a:solidFill>
                  <a:srgbClr val="0070C0"/>
                </a:solidFill>
              </a:rPr>
              <a:t>複数の値がある場合は，その中で最大のものを採用</a:t>
            </a:r>
            <a:endParaRPr kumimoji="1" lang="en-US" altLang="ja-GB" dirty="0">
              <a:solidFill>
                <a:srgbClr val="0070C0"/>
              </a:solidFill>
            </a:endParaRPr>
          </a:p>
          <a:p>
            <a:pPr marL="914400" lvl="2" indent="0">
              <a:buNone/>
            </a:pPr>
            <a:r>
              <a:rPr lang="ja-GB" altLang="en-US" dirty="0">
                <a:solidFill>
                  <a:srgbClr val="2F2523"/>
                </a:solidFill>
              </a:rPr>
              <a:t>例）</a:t>
            </a:r>
            <a:r>
              <a:rPr lang="en-US" altLang="ja-GB" dirty="0">
                <a:solidFill>
                  <a:srgbClr val="2F2523"/>
                </a:solidFill>
              </a:rPr>
              <a:t>ET</a:t>
            </a:r>
            <a:r>
              <a:rPr lang="en-US" altLang="ja-GB" baseline="-25000" dirty="0">
                <a:solidFill>
                  <a:srgbClr val="2F2523"/>
                </a:solidFill>
              </a:rPr>
              <a:t>6</a:t>
            </a:r>
            <a:r>
              <a:rPr lang="ja-GB" altLang="en-US" dirty="0">
                <a:solidFill>
                  <a:srgbClr val="2F2523"/>
                </a:solidFill>
              </a:rPr>
              <a:t>なら，「</a:t>
            </a:r>
            <a:r>
              <a:rPr lang="en-US" altLang="ja-GB" dirty="0">
                <a:solidFill>
                  <a:srgbClr val="2F2523"/>
                </a:solidFill>
              </a:rPr>
              <a:t>6+7=13</a:t>
            </a:r>
            <a:r>
              <a:rPr lang="ja-GB" altLang="en-US" dirty="0">
                <a:solidFill>
                  <a:srgbClr val="2F2523"/>
                </a:solidFill>
              </a:rPr>
              <a:t>」か，「</a:t>
            </a:r>
            <a:r>
              <a:rPr lang="en-US" altLang="ja-GB" dirty="0">
                <a:solidFill>
                  <a:srgbClr val="2F2523"/>
                </a:solidFill>
              </a:rPr>
              <a:t>2+10=12</a:t>
            </a:r>
            <a:r>
              <a:rPr lang="ja-GB" altLang="en-US" dirty="0">
                <a:solidFill>
                  <a:srgbClr val="2F2523"/>
                </a:solidFill>
              </a:rPr>
              <a:t>」の大きい方を採用</a:t>
            </a:r>
            <a:endParaRPr kumimoji="1" lang="en-US" altLang="ja-GB" dirty="0">
              <a:solidFill>
                <a:schemeClr val="tx1">
                  <a:lumMod val="50000"/>
                  <a:lumOff val="50000"/>
                </a:schemeClr>
              </a:solidFill>
            </a:endParaRPr>
          </a:p>
        </p:txBody>
      </p:sp>
      <p:pic>
        <p:nvPicPr>
          <p:cNvPr id="5" name="図 4">
            <a:extLst>
              <a:ext uri="{FF2B5EF4-FFF2-40B4-BE49-F238E27FC236}">
                <a16:creationId xmlns:a16="http://schemas.microsoft.com/office/drawing/2014/main" id="{EBEFCC89-353E-AD2E-CB2E-A21211CB1E66}"/>
              </a:ext>
            </a:extLst>
          </p:cNvPr>
          <p:cNvPicPr>
            <a:picLocks noChangeAspect="1"/>
          </p:cNvPicPr>
          <p:nvPr/>
        </p:nvPicPr>
        <p:blipFill>
          <a:blip r:embed="rId2"/>
          <a:srcRect/>
          <a:stretch/>
        </p:blipFill>
        <p:spPr>
          <a:xfrm>
            <a:off x="2842599" y="3444545"/>
            <a:ext cx="3458801" cy="3088216"/>
          </a:xfrm>
          <a:prstGeom prst="rect">
            <a:avLst/>
          </a:prstGeom>
        </p:spPr>
      </p:pic>
    </p:spTree>
    <p:extLst>
      <p:ext uri="{BB962C8B-B14F-4D97-AF65-F5344CB8AC3E}">
        <p14:creationId xmlns:p14="http://schemas.microsoft.com/office/powerpoint/2010/main" val="947620030"/>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C7D20B-39EB-AD6A-573C-342D0214EF2F}"/>
              </a:ext>
            </a:extLst>
          </p:cNvPr>
          <p:cNvSpPr>
            <a:spLocks noGrp="1"/>
          </p:cNvSpPr>
          <p:nvPr>
            <p:ph type="title"/>
          </p:nvPr>
        </p:nvSpPr>
        <p:spPr/>
        <p:txBody>
          <a:bodyPr/>
          <a:lstStyle/>
          <a:p>
            <a:r>
              <a:rPr kumimoji="1" lang="ja-GB" altLang="en-US" dirty="0"/>
              <a:t>所要時間表を用いた</a:t>
            </a:r>
            <a:r>
              <a:rPr kumimoji="1" lang="en-US" altLang="ja-GB" dirty="0"/>
              <a:t>LT</a:t>
            </a:r>
            <a:r>
              <a:rPr kumimoji="1" lang="ja-GB" altLang="en-US" dirty="0"/>
              <a:t>の計算</a:t>
            </a:r>
          </a:p>
        </p:txBody>
      </p:sp>
      <p:sp>
        <p:nvSpPr>
          <p:cNvPr id="3" name="コンテンツ プレースホルダー 2">
            <a:extLst>
              <a:ext uri="{FF2B5EF4-FFF2-40B4-BE49-F238E27FC236}">
                <a16:creationId xmlns:a16="http://schemas.microsoft.com/office/drawing/2014/main" id="{81CBBA1F-3940-B1FA-26DD-F0E13BD10245}"/>
              </a:ext>
            </a:extLst>
          </p:cNvPr>
          <p:cNvSpPr>
            <a:spLocks noGrp="1"/>
          </p:cNvSpPr>
          <p:nvPr>
            <p:ph idx="1"/>
          </p:nvPr>
        </p:nvSpPr>
        <p:spPr/>
        <p:txBody>
          <a:bodyPr/>
          <a:lstStyle/>
          <a:p>
            <a:pPr marL="457200" indent="-457200">
              <a:buFont typeface="+mj-lt"/>
              <a:buAutoNum type="arabicPeriod"/>
            </a:pPr>
            <a:r>
              <a:rPr lang="ja-GB" altLang="en-US" dirty="0"/>
              <a:t>最大の「</a:t>
            </a:r>
            <a:r>
              <a:rPr lang="en-US" altLang="ja-GB" dirty="0"/>
              <a:t>j</a:t>
            </a:r>
            <a:r>
              <a:rPr lang="ja-GB" altLang="en-US" dirty="0"/>
              <a:t>」について，</a:t>
            </a:r>
            <a:r>
              <a:rPr lang="en-US" altLang="ja-GB" dirty="0" err="1"/>
              <a:t>LT</a:t>
            </a:r>
            <a:r>
              <a:rPr lang="en-US" altLang="ja-GB" baseline="-25000" dirty="0" err="1"/>
              <a:t>j</a:t>
            </a:r>
            <a:r>
              <a:rPr lang="en-US" altLang="ja-GB" dirty="0"/>
              <a:t>=</a:t>
            </a:r>
            <a:r>
              <a:rPr lang="en-US" altLang="ja-GB" dirty="0" err="1"/>
              <a:t>ET</a:t>
            </a:r>
            <a:r>
              <a:rPr lang="en-US" altLang="ja-GB" baseline="-25000" dirty="0" err="1"/>
              <a:t>j</a:t>
            </a:r>
            <a:r>
              <a:rPr lang="ja-GB" altLang="en-US" dirty="0"/>
              <a:t>と代入</a:t>
            </a:r>
            <a:endParaRPr lang="en-US" altLang="ja-GB" dirty="0"/>
          </a:p>
          <a:p>
            <a:pPr marL="457200" indent="-457200">
              <a:buFont typeface="+mj-lt"/>
              <a:buAutoNum type="arabicPeriod"/>
            </a:pPr>
            <a:endParaRPr lang="en-US" altLang="ja-GB" dirty="0"/>
          </a:p>
        </p:txBody>
      </p:sp>
      <p:pic>
        <p:nvPicPr>
          <p:cNvPr id="4" name="図 3">
            <a:extLst>
              <a:ext uri="{FF2B5EF4-FFF2-40B4-BE49-F238E27FC236}">
                <a16:creationId xmlns:a16="http://schemas.microsoft.com/office/drawing/2014/main" id="{5CD31F3A-F8BE-956C-51FC-14B32DE40249}"/>
              </a:ext>
            </a:extLst>
          </p:cNvPr>
          <p:cNvPicPr>
            <a:picLocks noChangeAspect="1"/>
          </p:cNvPicPr>
          <p:nvPr/>
        </p:nvPicPr>
        <p:blipFill>
          <a:blip r:embed="rId2"/>
          <a:srcRect/>
          <a:stretch/>
        </p:blipFill>
        <p:spPr>
          <a:xfrm>
            <a:off x="2842599" y="3459391"/>
            <a:ext cx="3458801" cy="3058524"/>
          </a:xfrm>
          <a:prstGeom prst="rect">
            <a:avLst/>
          </a:prstGeom>
        </p:spPr>
      </p:pic>
    </p:spTree>
    <p:extLst>
      <p:ext uri="{BB962C8B-B14F-4D97-AF65-F5344CB8AC3E}">
        <p14:creationId xmlns:p14="http://schemas.microsoft.com/office/powerpoint/2010/main" val="851128456"/>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E2A16-121A-C83D-B1BE-28D0E5B6F7F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CA45DD2-99BE-D657-E7C6-EE7EA6B8BE3F}"/>
              </a:ext>
            </a:extLst>
          </p:cNvPr>
          <p:cNvSpPr>
            <a:spLocks noGrp="1"/>
          </p:cNvSpPr>
          <p:nvPr>
            <p:ph type="title"/>
          </p:nvPr>
        </p:nvSpPr>
        <p:spPr/>
        <p:txBody>
          <a:bodyPr/>
          <a:lstStyle/>
          <a:p>
            <a:r>
              <a:rPr kumimoji="1" lang="ja-GB" altLang="en-US" dirty="0"/>
              <a:t>所要時間表を用いた</a:t>
            </a:r>
            <a:r>
              <a:rPr kumimoji="1" lang="en-US" altLang="ja-GB" dirty="0"/>
              <a:t>LT</a:t>
            </a:r>
            <a:r>
              <a:rPr kumimoji="1" lang="ja-GB" altLang="en-US" dirty="0"/>
              <a:t>の計算</a:t>
            </a:r>
          </a:p>
        </p:txBody>
      </p:sp>
      <p:sp>
        <p:nvSpPr>
          <p:cNvPr id="3" name="コンテンツ プレースホルダー 2">
            <a:extLst>
              <a:ext uri="{FF2B5EF4-FFF2-40B4-BE49-F238E27FC236}">
                <a16:creationId xmlns:a16="http://schemas.microsoft.com/office/drawing/2014/main" id="{CD9E9B79-6048-2666-B9CC-835FCA14A4F0}"/>
              </a:ext>
            </a:extLst>
          </p:cNvPr>
          <p:cNvSpPr>
            <a:spLocks noGrp="1"/>
          </p:cNvSpPr>
          <p:nvPr>
            <p:ph idx="1"/>
          </p:nvPr>
        </p:nvSpPr>
        <p:spPr/>
        <p:txBody>
          <a:bodyPr/>
          <a:lstStyle/>
          <a:p>
            <a:pPr marL="457200" indent="-457200">
              <a:buFont typeface="+mj-lt"/>
              <a:buAutoNum type="arabicPeriod"/>
            </a:pPr>
            <a:r>
              <a:rPr lang="ja-GB" altLang="en-US" dirty="0"/>
              <a:t>最大の「</a:t>
            </a:r>
            <a:r>
              <a:rPr lang="en-US" altLang="ja-GB" dirty="0"/>
              <a:t>j</a:t>
            </a:r>
            <a:r>
              <a:rPr lang="ja-GB" altLang="en-US" dirty="0"/>
              <a:t>」について，</a:t>
            </a:r>
            <a:r>
              <a:rPr lang="en-US" altLang="ja-GB" dirty="0" err="1"/>
              <a:t>LT</a:t>
            </a:r>
            <a:r>
              <a:rPr lang="en-US" altLang="ja-GB" baseline="-25000" dirty="0" err="1"/>
              <a:t>j</a:t>
            </a:r>
            <a:r>
              <a:rPr lang="en-US" altLang="ja-GB" dirty="0"/>
              <a:t>=</a:t>
            </a:r>
            <a:r>
              <a:rPr lang="en-US" altLang="ja-GB" dirty="0" err="1"/>
              <a:t>ET</a:t>
            </a:r>
            <a:r>
              <a:rPr lang="en-US" altLang="ja-GB" baseline="-25000" dirty="0" err="1"/>
              <a:t>j</a:t>
            </a:r>
            <a:r>
              <a:rPr lang="ja-GB" altLang="en-US" dirty="0"/>
              <a:t>と代入</a:t>
            </a:r>
            <a:endParaRPr lang="en-US" altLang="ja-GB" dirty="0"/>
          </a:p>
          <a:p>
            <a:pPr marL="457200" indent="-457200">
              <a:buFont typeface="+mj-lt"/>
              <a:buAutoNum type="arabicPeriod"/>
            </a:pPr>
            <a:r>
              <a:rPr lang="ja-GB" altLang="en-US" dirty="0"/>
              <a:t>その他</a:t>
            </a:r>
            <a:r>
              <a:rPr lang="en-US" altLang="ja-GB" dirty="0" err="1"/>
              <a:t>LT</a:t>
            </a:r>
            <a:r>
              <a:rPr lang="en-US" altLang="ja-GB" baseline="-25000" dirty="0" err="1"/>
              <a:t>j</a:t>
            </a:r>
            <a:r>
              <a:rPr lang="ja-GB" altLang="en-US" dirty="0"/>
              <a:t>は以下の手順で導出</a:t>
            </a:r>
            <a:endParaRPr lang="en-US" altLang="ja-GB" dirty="0"/>
          </a:p>
          <a:p>
            <a:pPr lvl="1"/>
            <a:r>
              <a:rPr lang="ja-GB" altLang="en-US" dirty="0"/>
              <a:t>「</a:t>
            </a:r>
            <a:r>
              <a:rPr lang="en-US" altLang="ja-GB" dirty="0"/>
              <a:t>j</a:t>
            </a:r>
            <a:r>
              <a:rPr lang="ja-GB" altLang="en-US" dirty="0"/>
              <a:t>」と同じ値を持つ「</a:t>
            </a:r>
            <a:r>
              <a:rPr lang="en-US" altLang="ja-GB" dirty="0" err="1"/>
              <a:t>i</a:t>
            </a:r>
            <a:r>
              <a:rPr lang="ja-GB" altLang="en-US" dirty="0"/>
              <a:t>」の列を横方向に探索</a:t>
            </a:r>
            <a:endParaRPr lang="en-US" altLang="ja-GB" dirty="0"/>
          </a:p>
          <a:p>
            <a:pPr lvl="1"/>
            <a:r>
              <a:rPr lang="ja-GB" altLang="en-US" dirty="0"/>
              <a:t>値のある箇所にて，その真上にある</a:t>
            </a:r>
            <a:r>
              <a:rPr lang="en-US" altLang="ja-GB" dirty="0" err="1"/>
              <a:t>LT</a:t>
            </a:r>
            <a:r>
              <a:rPr lang="en-US" altLang="ja-GB" baseline="-25000" dirty="0" err="1"/>
              <a:t>j</a:t>
            </a:r>
            <a:r>
              <a:rPr lang="ja-GB" altLang="en-US" dirty="0"/>
              <a:t>からその値を減算</a:t>
            </a:r>
            <a:endParaRPr lang="en-US" altLang="ja-GB" dirty="0"/>
          </a:p>
        </p:txBody>
      </p:sp>
      <p:pic>
        <p:nvPicPr>
          <p:cNvPr id="4" name="図 3">
            <a:extLst>
              <a:ext uri="{FF2B5EF4-FFF2-40B4-BE49-F238E27FC236}">
                <a16:creationId xmlns:a16="http://schemas.microsoft.com/office/drawing/2014/main" id="{563F2375-D234-5556-FB5B-C0EE968F0817}"/>
              </a:ext>
            </a:extLst>
          </p:cNvPr>
          <p:cNvPicPr>
            <a:picLocks noChangeAspect="1"/>
          </p:cNvPicPr>
          <p:nvPr/>
        </p:nvPicPr>
        <p:blipFill>
          <a:blip r:embed="rId2"/>
          <a:srcRect/>
          <a:stretch/>
        </p:blipFill>
        <p:spPr>
          <a:xfrm>
            <a:off x="2857994" y="3459391"/>
            <a:ext cx="3428010" cy="3058524"/>
          </a:xfrm>
          <a:prstGeom prst="rect">
            <a:avLst/>
          </a:prstGeom>
        </p:spPr>
      </p:pic>
    </p:spTree>
    <p:extLst>
      <p:ext uri="{BB962C8B-B14F-4D97-AF65-F5344CB8AC3E}">
        <p14:creationId xmlns:p14="http://schemas.microsoft.com/office/powerpoint/2010/main" val="2732503477"/>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15CBE-0FD0-985F-449F-7D36C15B413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1738035-20E3-C32F-54E7-F7CED8939DF9}"/>
              </a:ext>
            </a:extLst>
          </p:cNvPr>
          <p:cNvSpPr>
            <a:spLocks noGrp="1"/>
          </p:cNvSpPr>
          <p:nvPr>
            <p:ph type="title"/>
          </p:nvPr>
        </p:nvSpPr>
        <p:spPr/>
        <p:txBody>
          <a:bodyPr/>
          <a:lstStyle/>
          <a:p>
            <a:r>
              <a:rPr kumimoji="1" lang="ja-GB" altLang="en-US" dirty="0"/>
              <a:t>所要時間表を用いた</a:t>
            </a:r>
            <a:r>
              <a:rPr kumimoji="1" lang="en-US" altLang="ja-GB" dirty="0"/>
              <a:t>LT</a:t>
            </a:r>
            <a:r>
              <a:rPr kumimoji="1" lang="ja-GB" altLang="en-US" dirty="0"/>
              <a:t>の計算</a:t>
            </a:r>
          </a:p>
        </p:txBody>
      </p:sp>
      <p:sp>
        <p:nvSpPr>
          <p:cNvPr id="3" name="コンテンツ プレースホルダー 2">
            <a:extLst>
              <a:ext uri="{FF2B5EF4-FFF2-40B4-BE49-F238E27FC236}">
                <a16:creationId xmlns:a16="http://schemas.microsoft.com/office/drawing/2014/main" id="{6066D319-D9F6-326B-C98B-98FD9CC5C2F7}"/>
              </a:ext>
            </a:extLst>
          </p:cNvPr>
          <p:cNvSpPr>
            <a:spLocks noGrp="1"/>
          </p:cNvSpPr>
          <p:nvPr>
            <p:ph idx="1"/>
          </p:nvPr>
        </p:nvSpPr>
        <p:spPr/>
        <p:txBody>
          <a:bodyPr/>
          <a:lstStyle/>
          <a:p>
            <a:pPr marL="457200" indent="-457200">
              <a:buFont typeface="+mj-lt"/>
              <a:buAutoNum type="arabicPeriod"/>
            </a:pPr>
            <a:r>
              <a:rPr lang="ja-GB" altLang="en-US" dirty="0"/>
              <a:t>最大の「</a:t>
            </a:r>
            <a:r>
              <a:rPr lang="en-US" altLang="ja-GB" dirty="0"/>
              <a:t>j</a:t>
            </a:r>
            <a:r>
              <a:rPr lang="ja-GB" altLang="en-US" dirty="0"/>
              <a:t>」について，</a:t>
            </a:r>
            <a:r>
              <a:rPr lang="en-US" altLang="ja-GB" dirty="0" err="1"/>
              <a:t>LT</a:t>
            </a:r>
            <a:r>
              <a:rPr lang="en-US" altLang="ja-GB" baseline="-25000" dirty="0" err="1"/>
              <a:t>j</a:t>
            </a:r>
            <a:r>
              <a:rPr lang="en-US" altLang="ja-GB" dirty="0"/>
              <a:t>=</a:t>
            </a:r>
            <a:r>
              <a:rPr lang="en-US" altLang="ja-GB" dirty="0" err="1"/>
              <a:t>ET</a:t>
            </a:r>
            <a:r>
              <a:rPr lang="en-US" altLang="ja-GB" baseline="-25000" dirty="0" err="1"/>
              <a:t>j</a:t>
            </a:r>
            <a:r>
              <a:rPr lang="ja-GB" altLang="en-US" dirty="0"/>
              <a:t>と代入</a:t>
            </a:r>
            <a:endParaRPr lang="en-US" altLang="ja-GB" dirty="0"/>
          </a:p>
          <a:p>
            <a:pPr marL="457200" indent="-457200">
              <a:buFont typeface="+mj-lt"/>
              <a:buAutoNum type="arabicPeriod"/>
            </a:pPr>
            <a:r>
              <a:rPr lang="ja-GB" altLang="en-US" dirty="0"/>
              <a:t>その他</a:t>
            </a:r>
            <a:r>
              <a:rPr lang="en-US" altLang="ja-GB" dirty="0" err="1"/>
              <a:t>LT</a:t>
            </a:r>
            <a:r>
              <a:rPr lang="en-US" altLang="ja-GB" baseline="-25000" dirty="0" err="1"/>
              <a:t>j</a:t>
            </a:r>
            <a:r>
              <a:rPr lang="ja-GB" altLang="en-US" dirty="0"/>
              <a:t>は以下の手順で導出</a:t>
            </a:r>
            <a:endParaRPr lang="en-US" altLang="ja-GB" dirty="0"/>
          </a:p>
          <a:p>
            <a:pPr lvl="1"/>
            <a:r>
              <a:rPr lang="ja-GB" altLang="en-US" dirty="0"/>
              <a:t>「</a:t>
            </a:r>
            <a:r>
              <a:rPr lang="en-US" altLang="ja-GB" dirty="0"/>
              <a:t>j</a:t>
            </a:r>
            <a:r>
              <a:rPr lang="ja-GB" altLang="en-US" dirty="0"/>
              <a:t>」と同じ値を持つ「</a:t>
            </a:r>
            <a:r>
              <a:rPr lang="en-US" altLang="ja-GB" dirty="0" err="1"/>
              <a:t>i</a:t>
            </a:r>
            <a:r>
              <a:rPr lang="ja-GB" altLang="en-US" dirty="0"/>
              <a:t>」の列を横方向に探索</a:t>
            </a:r>
            <a:endParaRPr lang="en-US" altLang="ja-GB" dirty="0"/>
          </a:p>
          <a:p>
            <a:pPr lvl="1"/>
            <a:r>
              <a:rPr lang="ja-GB" altLang="en-US" dirty="0"/>
              <a:t>値のある箇所にて，その真上にある</a:t>
            </a:r>
            <a:r>
              <a:rPr lang="en-US" altLang="ja-GB" dirty="0" err="1"/>
              <a:t>LT</a:t>
            </a:r>
            <a:r>
              <a:rPr lang="en-US" altLang="ja-GB" baseline="-25000" dirty="0" err="1"/>
              <a:t>j</a:t>
            </a:r>
            <a:r>
              <a:rPr lang="ja-GB" altLang="en-US" dirty="0"/>
              <a:t>からその値を減算</a:t>
            </a:r>
            <a:endParaRPr lang="en-US" altLang="ja-GB" dirty="0"/>
          </a:p>
        </p:txBody>
      </p:sp>
      <p:pic>
        <p:nvPicPr>
          <p:cNvPr id="4" name="図 3">
            <a:extLst>
              <a:ext uri="{FF2B5EF4-FFF2-40B4-BE49-F238E27FC236}">
                <a16:creationId xmlns:a16="http://schemas.microsoft.com/office/drawing/2014/main" id="{EF06081E-F025-D10C-EB90-17A685466EA3}"/>
              </a:ext>
            </a:extLst>
          </p:cNvPr>
          <p:cNvPicPr>
            <a:picLocks noChangeAspect="1"/>
          </p:cNvPicPr>
          <p:nvPr/>
        </p:nvPicPr>
        <p:blipFill>
          <a:blip r:embed="rId2"/>
          <a:srcRect/>
          <a:stretch/>
        </p:blipFill>
        <p:spPr>
          <a:xfrm>
            <a:off x="2857994" y="3459391"/>
            <a:ext cx="3428010" cy="3058524"/>
          </a:xfrm>
          <a:prstGeom prst="rect">
            <a:avLst/>
          </a:prstGeom>
        </p:spPr>
      </p:pic>
    </p:spTree>
    <p:extLst>
      <p:ext uri="{BB962C8B-B14F-4D97-AF65-F5344CB8AC3E}">
        <p14:creationId xmlns:p14="http://schemas.microsoft.com/office/powerpoint/2010/main" val="580463265"/>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A374B-FC13-0833-9AB0-A1CC1E895C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3DA77CE-3C62-3102-A160-756F336F2202}"/>
              </a:ext>
            </a:extLst>
          </p:cNvPr>
          <p:cNvSpPr>
            <a:spLocks noGrp="1"/>
          </p:cNvSpPr>
          <p:nvPr>
            <p:ph type="title"/>
          </p:nvPr>
        </p:nvSpPr>
        <p:spPr/>
        <p:txBody>
          <a:bodyPr/>
          <a:lstStyle/>
          <a:p>
            <a:r>
              <a:rPr kumimoji="1" lang="ja-GB" altLang="en-US" dirty="0"/>
              <a:t>所要時間表を用いた</a:t>
            </a:r>
            <a:r>
              <a:rPr kumimoji="1" lang="en-US" altLang="ja-GB" dirty="0"/>
              <a:t>LT</a:t>
            </a:r>
            <a:r>
              <a:rPr kumimoji="1" lang="ja-GB" altLang="en-US" dirty="0"/>
              <a:t>の計算</a:t>
            </a:r>
          </a:p>
        </p:txBody>
      </p:sp>
      <p:sp>
        <p:nvSpPr>
          <p:cNvPr id="3" name="コンテンツ プレースホルダー 2">
            <a:extLst>
              <a:ext uri="{FF2B5EF4-FFF2-40B4-BE49-F238E27FC236}">
                <a16:creationId xmlns:a16="http://schemas.microsoft.com/office/drawing/2014/main" id="{77929888-2ECE-8477-390F-04D72087406C}"/>
              </a:ext>
            </a:extLst>
          </p:cNvPr>
          <p:cNvSpPr>
            <a:spLocks noGrp="1"/>
          </p:cNvSpPr>
          <p:nvPr>
            <p:ph idx="1"/>
          </p:nvPr>
        </p:nvSpPr>
        <p:spPr/>
        <p:txBody>
          <a:bodyPr/>
          <a:lstStyle/>
          <a:p>
            <a:pPr marL="457200" indent="-457200">
              <a:buFont typeface="+mj-lt"/>
              <a:buAutoNum type="arabicPeriod"/>
            </a:pPr>
            <a:r>
              <a:rPr lang="ja-GB" altLang="en-US" dirty="0"/>
              <a:t>最大の「</a:t>
            </a:r>
            <a:r>
              <a:rPr lang="en-US" altLang="ja-GB" dirty="0"/>
              <a:t>j</a:t>
            </a:r>
            <a:r>
              <a:rPr lang="ja-GB" altLang="en-US" dirty="0"/>
              <a:t>」について，</a:t>
            </a:r>
            <a:r>
              <a:rPr lang="en-US" altLang="ja-GB" dirty="0" err="1"/>
              <a:t>LT</a:t>
            </a:r>
            <a:r>
              <a:rPr lang="en-US" altLang="ja-GB" baseline="-25000" dirty="0" err="1"/>
              <a:t>j</a:t>
            </a:r>
            <a:r>
              <a:rPr lang="en-US" altLang="ja-GB" dirty="0"/>
              <a:t>=</a:t>
            </a:r>
            <a:r>
              <a:rPr lang="en-US" altLang="ja-GB" dirty="0" err="1"/>
              <a:t>ET</a:t>
            </a:r>
            <a:r>
              <a:rPr lang="en-US" altLang="ja-GB" baseline="-25000" dirty="0" err="1"/>
              <a:t>j</a:t>
            </a:r>
            <a:r>
              <a:rPr lang="ja-GB" altLang="en-US" dirty="0"/>
              <a:t>と代入</a:t>
            </a:r>
            <a:endParaRPr lang="en-US" altLang="ja-GB" dirty="0"/>
          </a:p>
          <a:p>
            <a:pPr marL="457200" indent="-457200">
              <a:buFont typeface="+mj-lt"/>
              <a:buAutoNum type="arabicPeriod"/>
            </a:pPr>
            <a:r>
              <a:rPr lang="ja-GB" altLang="en-US" dirty="0"/>
              <a:t>その他</a:t>
            </a:r>
            <a:r>
              <a:rPr lang="en-US" altLang="ja-GB" dirty="0" err="1"/>
              <a:t>LT</a:t>
            </a:r>
            <a:r>
              <a:rPr lang="en-US" altLang="ja-GB" baseline="-25000" dirty="0" err="1"/>
              <a:t>j</a:t>
            </a:r>
            <a:r>
              <a:rPr lang="ja-GB" altLang="en-US" dirty="0"/>
              <a:t>は以下の手順で導出</a:t>
            </a:r>
            <a:endParaRPr lang="en-US" altLang="ja-GB" dirty="0"/>
          </a:p>
          <a:p>
            <a:pPr lvl="1"/>
            <a:r>
              <a:rPr lang="ja-GB" altLang="en-US" dirty="0"/>
              <a:t>「</a:t>
            </a:r>
            <a:r>
              <a:rPr lang="en-US" altLang="ja-GB" dirty="0"/>
              <a:t>j</a:t>
            </a:r>
            <a:r>
              <a:rPr lang="ja-GB" altLang="en-US" dirty="0"/>
              <a:t>」と同じ値を持つ「</a:t>
            </a:r>
            <a:r>
              <a:rPr lang="en-US" altLang="ja-GB" dirty="0" err="1"/>
              <a:t>i</a:t>
            </a:r>
            <a:r>
              <a:rPr lang="ja-GB" altLang="en-US" dirty="0"/>
              <a:t>」の列を横方向に探索</a:t>
            </a:r>
            <a:endParaRPr lang="en-US" altLang="ja-GB" dirty="0"/>
          </a:p>
          <a:p>
            <a:pPr lvl="1"/>
            <a:r>
              <a:rPr lang="ja-GB" altLang="en-US" dirty="0"/>
              <a:t>値のある箇所にて，その真上にある</a:t>
            </a:r>
            <a:r>
              <a:rPr lang="en-US" altLang="ja-GB" dirty="0" err="1"/>
              <a:t>LT</a:t>
            </a:r>
            <a:r>
              <a:rPr lang="en-US" altLang="ja-GB" baseline="-25000" dirty="0" err="1"/>
              <a:t>j</a:t>
            </a:r>
            <a:r>
              <a:rPr lang="ja-GB" altLang="en-US" dirty="0"/>
              <a:t>からその値を減算</a:t>
            </a:r>
            <a:endParaRPr lang="en-US" altLang="ja-GB" dirty="0"/>
          </a:p>
          <a:p>
            <a:pPr lvl="1"/>
            <a:r>
              <a:rPr lang="ja-GB" altLang="en-US" dirty="0">
                <a:solidFill>
                  <a:srgbClr val="0070C0"/>
                </a:solidFill>
              </a:rPr>
              <a:t>複数の値がある場合は，その中で最小のものを採用</a:t>
            </a:r>
            <a:endParaRPr lang="en-US" altLang="ja-GB" dirty="0">
              <a:solidFill>
                <a:srgbClr val="0070C0"/>
              </a:solidFill>
            </a:endParaRPr>
          </a:p>
        </p:txBody>
      </p:sp>
      <p:pic>
        <p:nvPicPr>
          <p:cNvPr id="4" name="図 3">
            <a:extLst>
              <a:ext uri="{FF2B5EF4-FFF2-40B4-BE49-F238E27FC236}">
                <a16:creationId xmlns:a16="http://schemas.microsoft.com/office/drawing/2014/main" id="{4709EB7F-E87B-95CA-5F1D-23E36F75FE0E}"/>
              </a:ext>
            </a:extLst>
          </p:cNvPr>
          <p:cNvPicPr>
            <a:picLocks noChangeAspect="1"/>
          </p:cNvPicPr>
          <p:nvPr/>
        </p:nvPicPr>
        <p:blipFill>
          <a:blip r:embed="rId2"/>
          <a:srcRect/>
          <a:stretch/>
        </p:blipFill>
        <p:spPr>
          <a:xfrm>
            <a:off x="2859226" y="3459391"/>
            <a:ext cx="3425546" cy="3058524"/>
          </a:xfrm>
          <a:prstGeom prst="rect">
            <a:avLst/>
          </a:prstGeom>
        </p:spPr>
      </p:pic>
    </p:spTree>
    <p:extLst>
      <p:ext uri="{BB962C8B-B14F-4D97-AF65-F5344CB8AC3E}">
        <p14:creationId xmlns:p14="http://schemas.microsoft.com/office/powerpoint/2010/main" val="2914350270"/>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291DD-2231-EDFE-6277-5C58C0D7969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F4138A0-096A-DBCC-B0D7-445D64E0E7C9}"/>
              </a:ext>
            </a:extLst>
          </p:cNvPr>
          <p:cNvSpPr>
            <a:spLocks noGrp="1"/>
          </p:cNvSpPr>
          <p:nvPr>
            <p:ph type="title"/>
          </p:nvPr>
        </p:nvSpPr>
        <p:spPr/>
        <p:txBody>
          <a:bodyPr/>
          <a:lstStyle/>
          <a:p>
            <a:r>
              <a:rPr kumimoji="1" lang="ja-GB" altLang="en-US" dirty="0"/>
              <a:t>所要時間表を用いた</a:t>
            </a:r>
            <a:r>
              <a:rPr kumimoji="1" lang="en-US" altLang="ja-GB" dirty="0"/>
              <a:t>LT</a:t>
            </a:r>
            <a:r>
              <a:rPr kumimoji="1" lang="ja-GB" altLang="en-US" dirty="0"/>
              <a:t>の計算</a:t>
            </a:r>
          </a:p>
        </p:txBody>
      </p:sp>
      <p:sp>
        <p:nvSpPr>
          <p:cNvPr id="3" name="コンテンツ プレースホルダー 2">
            <a:extLst>
              <a:ext uri="{FF2B5EF4-FFF2-40B4-BE49-F238E27FC236}">
                <a16:creationId xmlns:a16="http://schemas.microsoft.com/office/drawing/2014/main" id="{E4E28A3E-79F4-C7D2-268D-31BF1771135D}"/>
              </a:ext>
            </a:extLst>
          </p:cNvPr>
          <p:cNvSpPr>
            <a:spLocks noGrp="1"/>
          </p:cNvSpPr>
          <p:nvPr>
            <p:ph idx="1"/>
          </p:nvPr>
        </p:nvSpPr>
        <p:spPr/>
        <p:txBody>
          <a:bodyPr/>
          <a:lstStyle/>
          <a:p>
            <a:pPr marL="457200" indent="-457200">
              <a:buFont typeface="+mj-lt"/>
              <a:buAutoNum type="arabicPeriod"/>
            </a:pPr>
            <a:r>
              <a:rPr lang="ja-GB" altLang="en-US" dirty="0"/>
              <a:t>最大の「</a:t>
            </a:r>
            <a:r>
              <a:rPr lang="en-US" altLang="ja-GB" dirty="0"/>
              <a:t>j</a:t>
            </a:r>
            <a:r>
              <a:rPr lang="ja-GB" altLang="en-US" dirty="0"/>
              <a:t>」について，</a:t>
            </a:r>
            <a:r>
              <a:rPr lang="en-US" altLang="ja-GB" dirty="0" err="1"/>
              <a:t>LT</a:t>
            </a:r>
            <a:r>
              <a:rPr lang="en-US" altLang="ja-GB" baseline="-25000" dirty="0" err="1"/>
              <a:t>j</a:t>
            </a:r>
            <a:r>
              <a:rPr lang="en-US" altLang="ja-GB" dirty="0"/>
              <a:t>=</a:t>
            </a:r>
            <a:r>
              <a:rPr lang="en-US" altLang="ja-GB" dirty="0" err="1"/>
              <a:t>ET</a:t>
            </a:r>
            <a:r>
              <a:rPr lang="en-US" altLang="ja-GB" baseline="-25000" dirty="0" err="1"/>
              <a:t>j</a:t>
            </a:r>
            <a:r>
              <a:rPr lang="ja-GB" altLang="en-US" dirty="0"/>
              <a:t>と代入</a:t>
            </a:r>
            <a:endParaRPr lang="en-US" altLang="ja-GB" dirty="0"/>
          </a:p>
          <a:p>
            <a:pPr marL="457200" indent="-457200">
              <a:buFont typeface="+mj-lt"/>
              <a:buAutoNum type="arabicPeriod"/>
            </a:pPr>
            <a:r>
              <a:rPr lang="ja-GB" altLang="en-US" dirty="0"/>
              <a:t>その他</a:t>
            </a:r>
            <a:r>
              <a:rPr lang="en-US" altLang="ja-GB" dirty="0" err="1"/>
              <a:t>LT</a:t>
            </a:r>
            <a:r>
              <a:rPr lang="en-US" altLang="ja-GB" baseline="-25000" dirty="0" err="1"/>
              <a:t>j</a:t>
            </a:r>
            <a:r>
              <a:rPr lang="ja-GB" altLang="en-US" dirty="0"/>
              <a:t>は以下の手順で導出</a:t>
            </a:r>
            <a:endParaRPr lang="en-US" altLang="ja-GB" dirty="0"/>
          </a:p>
          <a:p>
            <a:pPr lvl="1"/>
            <a:r>
              <a:rPr lang="ja-GB" altLang="en-US" dirty="0"/>
              <a:t>「</a:t>
            </a:r>
            <a:r>
              <a:rPr lang="en-US" altLang="ja-GB" dirty="0"/>
              <a:t>j</a:t>
            </a:r>
            <a:r>
              <a:rPr lang="ja-GB" altLang="en-US" dirty="0"/>
              <a:t>」と同じ値を持つ「</a:t>
            </a:r>
            <a:r>
              <a:rPr lang="en-US" altLang="ja-GB" dirty="0" err="1"/>
              <a:t>i</a:t>
            </a:r>
            <a:r>
              <a:rPr lang="ja-GB" altLang="en-US" dirty="0"/>
              <a:t>」の列を横方向に探索</a:t>
            </a:r>
            <a:endParaRPr lang="en-US" altLang="ja-GB" dirty="0"/>
          </a:p>
          <a:p>
            <a:pPr lvl="1"/>
            <a:r>
              <a:rPr lang="ja-GB" altLang="en-US" dirty="0">
                <a:solidFill>
                  <a:srgbClr val="0070C0"/>
                </a:solidFill>
              </a:rPr>
              <a:t>値のある箇所にて，その真上にある</a:t>
            </a:r>
            <a:r>
              <a:rPr lang="en-US" altLang="ja-GB" dirty="0" err="1">
                <a:solidFill>
                  <a:srgbClr val="0070C0"/>
                </a:solidFill>
              </a:rPr>
              <a:t>LT</a:t>
            </a:r>
            <a:r>
              <a:rPr lang="en-US" altLang="ja-GB" baseline="-25000" dirty="0" err="1">
                <a:solidFill>
                  <a:srgbClr val="0070C0"/>
                </a:solidFill>
              </a:rPr>
              <a:t>j</a:t>
            </a:r>
            <a:r>
              <a:rPr lang="ja-GB" altLang="en-US" dirty="0">
                <a:solidFill>
                  <a:srgbClr val="0070C0"/>
                </a:solidFill>
              </a:rPr>
              <a:t>からその値を減算</a:t>
            </a:r>
            <a:endParaRPr lang="en-US" altLang="ja-GB" dirty="0">
              <a:solidFill>
                <a:srgbClr val="0070C0"/>
              </a:solidFill>
            </a:endParaRPr>
          </a:p>
          <a:p>
            <a:pPr lvl="1"/>
            <a:r>
              <a:rPr lang="ja-GB" altLang="en-US" dirty="0"/>
              <a:t>複数の値がある場合は，その中で最小のものを採用</a:t>
            </a:r>
            <a:endParaRPr lang="en-US" altLang="ja-GB" dirty="0"/>
          </a:p>
        </p:txBody>
      </p:sp>
      <p:pic>
        <p:nvPicPr>
          <p:cNvPr id="4" name="図 3">
            <a:extLst>
              <a:ext uri="{FF2B5EF4-FFF2-40B4-BE49-F238E27FC236}">
                <a16:creationId xmlns:a16="http://schemas.microsoft.com/office/drawing/2014/main" id="{CBE4F9ED-4721-B768-D81E-0037EF034B9A}"/>
              </a:ext>
            </a:extLst>
          </p:cNvPr>
          <p:cNvPicPr>
            <a:picLocks noChangeAspect="1"/>
          </p:cNvPicPr>
          <p:nvPr/>
        </p:nvPicPr>
        <p:blipFill>
          <a:blip r:embed="rId2"/>
          <a:srcRect/>
          <a:stretch/>
        </p:blipFill>
        <p:spPr>
          <a:xfrm>
            <a:off x="2859226" y="3459391"/>
            <a:ext cx="3425546" cy="3058524"/>
          </a:xfrm>
          <a:prstGeom prst="rect">
            <a:avLst/>
          </a:prstGeom>
        </p:spPr>
      </p:pic>
    </p:spTree>
    <p:extLst>
      <p:ext uri="{BB962C8B-B14F-4D97-AF65-F5344CB8AC3E}">
        <p14:creationId xmlns:p14="http://schemas.microsoft.com/office/powerpoint/2010/main" val="2259758971"/>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50ACA-7530-71D1-D236-DF76492B226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644330C-04E1-3667-4767-A621ABC9F112}"/>
              </a:ext>
            </a:extLst>
          </p:cNvPr>
          <p:cNvSpPr>
            <a:spLocks noGrp="1"/>
          </p:cNvSpPr>
          <p:nvPr>
            <p:ph type="title"/>
          </p:nvPr>
        </p:nvSpPr>
        <p:spPr/>
        <p:txBody>
          <a:bodyPr/>
          <a:lstStyle/>
          <a:p>
            <a:r>
              <a:rPr kumimoji="1" lang="ja-GB" altLang="en-US" dirty="0"/>
              <a:t>所要時間表を用いた</a:t>
            </a:r>
            <a:r>
              <a:rPr kumimoji="1" lang="en-US" altLang="ja-GB" dirty="0"/>
              <a:t>LT</a:t>
            </a:r>
            <a:r>
              <a:rPr kumimoji="1" lang="ja-GB" altLang="en-US" dirty="0"/>
              <a:t>の計算</a:t>
            </a:r>
          </a:p>
        </p:txBody>
      </p:sp>
      <p:sp>
        <p:nvSpPr>
          <p:cNvPr id="3" name="コンテンツ プレースホルダー 2">
            <a:extLst>
              <a:ext uri="{FF2B5EF4-FFF2-40B4-BE49-F238E27FC236}">
                <a16:creationId xmlns:a16="http://schemas.microsoft.com/office/drawing/2014/main" id="{D221E32B-8B73-D094-6755-643C1A5A95F3}"/>
              </a:ext>
            </a:extLst>
          </p:cNvPr>
          <p:cNvSpPr>
            <a:spLocks noGrp="1"/>
          </p:cNvSpPr>
          <p:nvPr>
            <p:ph idx="1"/>
          </p:nvPr>
        </p:nvSpPr>
        <p:spPr/>
        <p:txBody>
          <a:bodyPr/>
          <a:lstStyle/>
          <a:p>
            <a:pPr marL="457200" indent="-457200">
              <a:buFont typeface="+mj-lt"/>
              <a:buAutoNum type="arabicPeriod"/>
            </a:pPr>
            <a:r>
              <a:rPr lang="ja-GB" altLang="en-US" dirty="0"/>
              <a:t>最大の「</a:t>
            </a:r>
            <a:r>
              <a:rPr lang="en-US" altLang="ja-GB" dirty="0"/>
              <a:t>j</a:t>
            </a:r>
            <a:r>
              <a:rPr lang="ja-GB" altLang="en-US" dirty="0"/>
              <a:t>」について，</a:t>
            </a:r>
            <a:r>
              <a:rPr lang="en-US" altLang="ja-GB" dirty="0" err="1"/>
              <a:t>LT</a:t>
            </a:r>
            <a:r>
              <a:rPr lang="en-US" altLang="ja-GB" baseline="-25000" dirty="0" err="1"/>
              <a:t>j</a:t>
            </a:r>
            <a:r>
              <a:rPr lang="en-US" altLang="ja-GB" dirty="0"/>
              <a:t>=</a:t>
            </a:r>
            <a:r>
              <a:rPr lang="en-US" altLang="ja-GB" dirty="0" err="1"/>
              <a:t>ET</a:t>
            </a:r>
            <a:r>
              <a:rPr lang="en-US" altLang="ja-GB" baseline="-25000" dirty="0" err="1"/>
              <a:t>j</a:t>
            </a:r>
            <a:r>
              <a:rPr lang="ja-GB" altLang="en-US" dirty="0"/>
              <a:t>と代入</a:t>
            </a:r>
            <a:endParaRPr lang="en-US" altLang="ja-GB" dirty="0"/>
          </a:p>
          <a:p>
            <a:pPr marL="457200" indent="-457200">
              <a:buFont typeface="+mj-lt"/>
              <a:buAutoNum type="arabicPeriod"/>
            </a:pPr>
            <a:r>
              <a:rPr lang="ja-GB" altLang="en-US" dirty="0"/>
              <a:t>その他</a:t>
            </a:r>
            <a:r>
              <a:rPr lang="en-US" altLang="ja-GB" dirty="0" err="1"/>
              <a:t>LT</a:t>
            </a:r>
            <a:r>
              <a:rPr lang="en-US" altLang="ja-GB" baseline="-25000" dirty="0" err="1"/>
              <a:t>j</a:t>
            </a:r>
            <a:r>
              <a:rPr lang="ja-GB" altLang="en-US" dirty="0"/>
              <a:t>は以下の手順で導出</a:t>
            </a:r>
            <a:endParaRPr lang="en-US" altLang="ja-GB" dirty="0"/>
          </a:p>
          <a:p>
            <a:pPr lvl="1"/>
            <a:r>
              <a:rPr lang="ja-GB" altLang="en-US" dirty="0"/>
              <a:t>「</a:t>
            </a:r>
            <a:r>
              <a:rPr lang="en-US" altLang="ja-GB" dirty="0"/>
              <a:t>j</a:t>
            </a:r>
            <a:r>
              <a:rPr lang="ja-GB" altLang="en-US" dirty="0"/>
              <a:t>」と同じ値を持つ「</a:t>
            </a:r>
            <a:r>
              <a:rPr lang="en-US" altLang="ja-GB" dirty="0" err="1"/>
              <a:t>i</a:t>
            </a:r>
            <a:r>
              <a:rPr lang="ja-GB" altLang="en-US" dirty="0"/>
              <a:t>」の列を横方向に探索</a:t>
            </a:r>
            <a:endParaRPr lang="en-US" altLang="ja-GB" dirty="0"/>
          </a:p>
          <a:p>
            <a:pPr lvl="1"/>
            <a:r>
              <a:rPr lang="ja-GB" altLang="en-US" dirty="0"/>
              <a:t>値のある箇所にて，その真上にある</a:t>
            </a:r>
            <a:r>
              <a:rPr lang="en-US" altLang="ja-GB" dirty="0" err="1"/>
              <a:t>LT</a:t>
            </a:r>
            <a:r>
              <a:rPr lang="en-US" altLang="ja-GB" baseline="-25000" dirty="0" err="1"/>
              <a:t>j</a:t>
            </a:r>
            <a:r>
              <a:rPr lang="ja-GB" altLang="en-US" dirty="0"/>
              <a:t>からその値を減算</a:t>
            </a:r>
            <a:endParaRPr lang="en-US" altLang="ja-GB" dirty="0"/>
          </a:p>
          <a:p>
            <a:pPr lvl="1"/>
            <a:r>
              <a:rPr lang="ja-GB" altLang="en-US" dirty="0"/>
              <a:t>複数の値がある場合は，その中で最小のものを採用</a:t>
            </a:r>
            <a:endParaRPr lang="en-US" altLang="ja-GB" dirty="0"/>
          </a:p>
        </p:txBody>
      </p:sp>
      <p:pic>
        <p:nvPicPr>
          <p:cNvPr id="4" name="図 3">
            <a:extLst>
              <a:ext uri="{FF2B5EF4-FFF2-40B4-BE49-F238E27FC236}">
                <a16:creationId xmlns:a16="http://schemas.microsoft.com/office/drawing/2014/main" id="{91E8F897-342C-9F08-5809-382FD7DEFA8E}"/>
              </a:ext>
            </a:extLst>
          </p:cNvPr>
          <p:cNvPicPr>
            <a:picLocks noChangeAspect="1"/>
          </p:cNvPicPr>
          <p:nvPr/>
        </p:nvPicPr>
        <p:blipFill>
          <a:blip r:embed="rId2"/>
          <a:srcRect/>
          <a:stretch/>
        </p:blipFill>
        <p:spPr>
          <a:xfrm>
            <a:off x="2857994" y="3462833"/>
            <a:ext cx="3428010" cy="3051640"/>
          </a:xfrm>
          <a:prstGeom prst="rect">
            <a:avLst/>
          </a:prstGeom>
        </p:spPr>
      </p:pic>
    </p:spTree>
    <p:extLst>
      <p:ext uri="{BB962C8B-B14F-4D97-AF65-F5344CB8AC3E}">
        <p14:creationId xmlns:p14="http://schemas.microsoft.com/office/powerpoint/2010/main" val="1473862961"/>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8EACD-2EAB-5F81-C2E4-88DD7F6DEF2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2BA6ED5-0A78-0E98-3833-3C4C74C75D09}"/>
              </a:ext>
            </a:extLst>
          </p:cNvPr>
          <p:cNvSpPr>
            <a:spLocks noGrp="1"/>
          </p:cNvSpPr>
          <p:nvPr>
            <p:ph type="title"/>
          </p:nvPr>
        </p:nvSpPr>
        <p:spPr/>
        <p:txBody>
          <a:bodyPr/>
          <a:lstStyle/>
          <a:p>
            <a:r>
              <a:rPr kumimoji="1" lang="ja-GB" altLang="en-US" dirty="0"/>
              <a:t>所要時間表を用いた</a:t>
            </a:r>
            <a:r>
              <a:rPr kumimoji="1" lang="en-US" altLang="ja-GB" dirty="0"/>
              <a:t>LT</a:t>
            </a:r>
            <a:r>
              <a:rPr kumimoji="1" lang="ja-GB" altLang="en-US" dirty="0"/>
              <a:t>の計算</a:t>
            </a:r>
          </a:p>
        </p:txBody>
      </p:sp>
      <p:sp>
        <p:nvSpPr>
          <p:cNvPr id="3" name="コンテンツ プレースホルダー 2">
            <a:extLst>
              <a:ext uri="{FF2B5EF4-FFF2-40B4-BE49-F238E27FC236}">
                <a16:creationId xmlns:a16="http://schemas.microsoft.com/office/drawing/2014/main" id="{9E62D386-80A8-1D29-FC4B-B7DD3E34BB6E}"/>
              </a:ext>
            </a:extLst>
          </p:cNvPr>
          <p:cNvSpPr>
            <a:spLocks noGrp="1"/>
          </p:cNvSpPr>
          <p:nvPr>
            <p:ph idx="1"/>
          </p:nvPr>
        </p:nvSpPr>
        <p:spPr/>
        <p:txBody>
          <a:bodyPr/>
          <a:lstStyle/>
          <a:p>
            <a:pPr marL="457200" indent="-457200">
              <a:buFont typeface="+mj-lt"/>
              <a:buAutoNum type="arabicPeriod"/>
            </a:pPr>
            <a:r>
              <a:rPr lang="ja-GB" altLang="en-US" dirty="0"/>
              <a:t>最大の「</a:t>
            </a:r>
            <a:r>
              <a:rPr lang="en-US" altLang="ja-GB" dirty="0"/>
              <a:t>j</a:t>
            </a:r>
            <a:r>
              <a:rPr lang="ja-GB" altLang="en-US" dirty="0"/>
              <a:t>」について，</a:t>
            </a:r>
            <a:r>
              <a:rPr lang="en-US" altLang="ja-GB" dirty="0" err="1"/>
              <a:t>LT</a:t>
            </a:r>
            <a:r>
              <a:rPr lang="en-US" altLang="ja-GB" baseline="-25000" dirty="0" err="1"/>
              <a:t>j</a:t>
            </a:r>
            <a:r>
              <a:rPr lang="en-US" altLang="ja-GB" dirty="0"/>
              <a:t>=</a:t>
            </a:r>
            <a:r>
              <a:rPr lang="en-US" altLang="ja-GB" dirty="0" err="1"/>
              <a:t>ET</a:t>
            </a:r>
            <a:r>
              <a:rPr lang="en-US" altLang="ja-GB" baseline="-25000" dirty="0" err="1"/>
              <a:t>j</a:t>
            </a:r>
            <a:r>
              <a:rPr lang="ja-GB" altLang="en-US" dirty="0"/>
              <a:t>と代入</a:t>
            </a:r>
            <a:endParaRPr lang="en-US" altLang="ja-GB" dirty="0"/>
          </a:p>
          <a:p>
            <a:pPr marL="457200" indent="-457200">
              <a:buFont typeface="+mj-lt"/>
              <a:buAutoNum type="arabicPeriod"/>
            </a:pPr>
            <a:r>
              <a:rPr lang="ja-GB" altLang="en-US" dirty="0"/>
              <a:t>その他</a:t>
            </a:r>
            <a:r>
              <a:rPr lang="en-US" altLang="ja-GB" dirty="0" err="1"/>
              <a:t>LT</a:t>
            </a:r>
            <a:r>
              <a:rPr lang="en-US" altLang="ja-GB" baseline="-25000" dirty="0" err="1"/>
              <a:t>j</a:t>
            </a:r>
            <a:r>
              <a:rPr lang="ja-GB" altLang="en-US" dirty="0"/>
              <a:t>は以下の手順で導出</a:t>
            </a:r>
            <a:endParaRPr lang="en-US" altLang="ja-GB" dirty="0"/>
          </a:p>
          <a:p>
            <a:pPr lvl="1"/>
            <a:r>
              <a:rPr lang="ja-GB" altLang="en-US" dirty="0"/>
              <a:t>「</a:t>
            </a:r>
            <a:r>
              <a:rPr lang="en-US" altLang="ja-GB" dirty="0"/>
              <a:t>j</a:t>
            </a:r>
            <a:r>
              <a:rPr lang="ja-GB" altLang="en-US" dirty="0"/>
              <a:t>」と同じ値を持つ「</a:t>
            </a:r>
            <a:r>
              <a:rPr lang="en-US" altLang="ja-GB" dirty="0" err="1"/>
              <a:t>i</a:t>
            </a:r>
            <a:r>
              <a:rPr lang="ja-GB" altLang="en-US" dirty="0"/>
              <a:t>」の列を横方向に探索</a:t>
            </a:r>
            <a:endParaRPr lang="en-US" altLang="ja-GB" dirty="0"/>
          </a:p>
          <a:p>
            <a:pPr lvl="1"/>
            <a:r>
              <a:rPr lang="ja-GB" altLang="en-US" dirty="0"/>
              <a:t>値のある箇所にて，その真上にある</a:t>
            </a:r>
            <a:r>
              <a:rPr lang="en-US" altLang="ja-GB" dirty="0" err="1"/>
              <a:t>LT</a:t>
            </a:r>
            <a:r>
              <a:rPr lang="en-US" altLang="ja-GB" baseline="-25000" dirty="0" err="1"/>
              <a:t>j</a:t>
            </a:r>
            <a:r>
              <a:rPr lang="ja-GB" altLang="en-US" dirty="0"/>
              <a:t>からその値を減算</a:t>
            </a:r>
            <a:endParaRPr lang="en-US" altLang="ja-GB" dirty="0"/>
          </a:p>
          <a:p>
            <a:pPr lvl="1"/>
            <a:r>
              <a:rPr lang="ja-GB" altLang="en-US" dirty="0"/>
              <a:t>複数の値がある場合は，その中で最小のものを採用</a:t>
            </a:r>
            <a:endParaRPr lang="en-US" altLang="ja-GB" dirty="0"/>
          </a:p>
        </p:txBody>
      </p:sp>
      <p:pic>
        <p:nvPicPr>
          <p:cNvPr id="4" name="図 3">
            <a:extLst>
              <a:ext uri="{FF2B5EF4-FFF2-40B4-BE49-F238E27FC236}">
                <a16:creationId xmlns:a16="http://schemas.microsoft.com/office/drawing/2014/main" id="{A9D728F2-12D6-1DE5-CAA2-67320D0C5214}"/>
              </a:ext>
            </a:extLst>
          </p:cNvPr>
          <p:cNvPicPr>
            <a:picLocks noChangeAspect="1"/>
          </p:cNvPicPr>
          <p:nvPr/>
        </p:nvPicPr>
        <p:blipFill>
          <a:blip r:embed="rId2"/>
          <a:srcRect/>
          <a:stretch/>
        </p:blipFill>
        <p:spPr>
          <a:xfrm>
            <a:off x="2857994" y="3463393"/>
            <a:ext cx="3428010" cy="3050520"/>
          </a:xfrm>
          <a:prstGeom prst="rect">
            <a:avLst/>
          </a:prstGeom>
        </p:spPr>
      </p:pic>
    </p:spTree>
    <p:extLst>
      <p:ext uri="{BB962C8B-B14F-4D97-AF65-F5344CB8AC3E}">
        <p14:creationId xmlns:p14="http://schemas.microsoft.com/office/powerpoint/2010/main" val="34764703"/>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5B598C-07A5-9A88-B0D0-0AE69F2B4108}"/>
              </a:ext>
            </a:extLst>
          </p:cNvPr>
          <p:cNvSpPr>
            <a:spLocks noGrp="1"/>
          </p:cNvSpPr>
          <p:nvPr>
            <p:ph type="title"/>
          </p:nvPr>
        </p:nvSpPr>
        <p:spPr/>
        <p:txBody>
          <a:bodyPr/>
          <a:lstStyle/>
          <a:p>
            <a:r>
              <a:rPr kumimoji="1" lang="ja-GB" altLang="en-US" dirty="0"/>
              <a:t>前回の計算結果との整合を確認</a:t>
            </a:r>
          </a:p>
        </p:txBody>
      </p:sp>
      <p:pic>
        <p:nvPicPr>
          <p:cNvPr id="39" name="図 38">
            <a:extLst>
              <a:ext uri="{FF2B5EF4-FFF2-40B4-BE49-F238E27FC236}">
                <a16:creationId xmlns:a16="http://schemas.microsoft.com/office/drawing/2014/main" id="{2E1AD6D3-FD31-A525-18B2-0271BADFB315}"/>
              </a:ext>
            </a:extLst>
          </p:cNvPr>
          <p:cNvPicPr>
            <a:picLocks noChangeAspect="1"/>
          </p:cNvPicPr>
          <p:nvPr/>
        </p:nvPicPr>
        <p:blipFill>
          <a:blip r:embed="rId2"/>
          <a:stretch>
            <a:fillRect/>
          </a:stretch>
        </p:blipFill>
        <p:spPr>
          <a:xfrm>
            <a:off x="685800" y="1095223"/>
            <a:ext cx="7772400" cy="2134075"/>
          </a:xfrm>
          <a:prstGeom prst="rect">
            <a:avLst/>
          </a:prstGeom>
        </p:spPr>
      </p:pic>
      <p:pic>
        <p:nvPicPr>
          <p:cNvPr id="40" name="図 39">
            <a:extLst>
              <a:ext uri="{FF2B5EF4-FFF2-40B4-BE49-F238E27FC236}">
                <a16:creationId xmlns:a16="http://schemas.microsoft.com/office/drawing/2014/main" id="{292DD2D1-33A1-B7BC-1543-AF777B705D6D}"/>
              </a:ext>
            </a:extLst>
          </p:cNvPr>
          <p:cNvPicPr>
            <a:picLocks noChangeAspect="1"/>
          </p:cNvPicPr>
          <p:nvPr/>
        </p:nvPicPr>
        <p:blipFill>
          <a:blip r:embed="rId3"/>
          <a:srcRect/>
          <a:stretch/>
        </p:blipFill>
        <p:spPr>
          <a:xfrm>
            <a:off x="314325" y="3808601"/>
            <a:ext cx="3320120" cy="2954511"/>
          </a:xfrm>
          <a:prstGeom prst="rect">
            <a:avLst/>
          </a:prstGeom>
        </p:spPr>
      </p:pic>
      <p:graphicFrame>
        <p:nvGraphicFramePr>
          <p:cNvPr id="41" name="表 40">
            <a:extLst>
              <a:ext uri="{FF2B5EF4-FFF2-40B4-BE49-F238E27FC236}">
                <a16:creationId xmlns:a16="http://schemas.microsoft.com/office/drawing/2014/main" id="{55FB8F0E-6F66-D18B-C077-26C2F718D7BB}"/>
              </a:ext>
            </a:extLst>
          </p:cNvPr>
          <p:cNvGraphicFramePr>
            <a:graphicFrameLocks noGrp="1"/>
          </p:cNvGraphicFramePr>
          <p:nvPr/>
        </p:nvGraphicFramePr>
        <p:xfrm>
          <a:off x="4749828" y="3987916"/>
          <a:ext cx="4079847" cy="2595880"/>
        </p:xfrm>
        <a:graphic>
          <a:graphicData uri="http://schemas.openxmlformats.org/drawingml/2006/table">
            <a:tbl>
              <a:tblPr firstRow="1" bandRow="1">
                <a:tableStyleId>{5C22544A-7EE6-4342-B048-85BDC9FD1C3A}</a:tableStyleId>
              </a:tblPr>
              <a:tblGrid>
                <a:gridCol w="1359949">
                  <a:extLst>
                    <a:ext uri="{9D8B030D-6E8A-4147-A177-3AD203B41FA5}">
                      <a16:colId xmlns:a16="http://schemas.microsoft.com/office/drawing/2014/main" val="4118980223"/>
                    </a:ext>
                  </a:extLst>
                </a:gridCol>
                <a:gridCol w="1359949">
                  <a:extLst>
                    <a:ext uri="{9D8B030D-6E8A-4147-A177-3AD203B41FA5}">
                      <a16:colId xmlns:a16="http://schemas.microsoft.com/office/drawing/2014/main" val="2224645626"/>
                    </a:ext>
                  </a:extLst>
                </a:gridCol>
                <a:gridCol w="1359949">
                  <a:extLst>
                    <a:ext uri="{9D8B030D-6E8A-4147-A177-3AD203B41FA5}">
                      <a16:colId xmlns:a16="http://schemas.microsoft.com/office/drawing/2014/main" val="4087283801"/>
                    </a:ext>
                  </a:extLst>
                </a:gridCol>
              </a:tblGrid>
              <a:tr h="370840">
                <a:tc>
                  <a:txBody>
                    <a:bodyPr/>
                    <a:lstStyle/>
                    <a:p>
                      <a:pPr algn="ctr"/>
                      <a:r>
                        <a:rPr lang="en-US" altLang="ja-GB" dirty="0" err="1"/>
                        <a:t>i</a:t>
                      </a:r>
                      <a:endParaRPr lang="ja-GB" altLang="en-US" dirty="0"/>
                    </a:p>
                  </a:txBody>
                  <a:tcPr/>
                </a:tc>
                <a:tc>
                  <a:txBody>
                    <a:bodyPr/>
                    <a:lstStyle/>
                    <a:p>
                      <a:pPr algn="ctr"/>
                      <a:r>
                        <a:rPr lang="en-US" altLang="ja-GB" dirty="0" err="1"/>
                        <a:t>ET</a:t>
                      </a:r>
                      <a:r>
                        <a:rPr lang="en-US" altLang="ja-GB" baseline="-25000" dirty="0" err="1"/>
                        <a:t>i</a:t>
                      </a:r>
                      <a:endParaRPr lang="ja-GB" altLang="en-US" baseline="-25000" dirty="0"/>
                    </a:p>
                  </a:txBody>
                  <a:tcPr/>
                </a:tc>
                <a:tc>
                  <a:txBody>
                    <a:bodyPr/>
                    <a:lstStyle/>
                    <a:p>
                      <a:pPr algn="ctr"/>
                      <a:r>
                        <a:rPr lang="en-US" altLang="ja-GB" dirty="0" err="1"/>
                        <a:t>LT</a:t>
                      </a:r>
                      <a:r>
                        <a:rPr lang="en-US" altLang="ja-GB" baseline="-25000" dirty="0" err="1"/>
                        <a:t>i</a:t>
                      </a:r>
                      <a:endParaRPr lang="ja-GB" altLang="en-US" baseline="-25000" dirty="0"/>
                    </a:p>
                  </a:txBody>
                  <a:tcPr/>
                </a:tc>
                <a:extLst>
                  <a:ext uri="{0D108BD9-81ED-4DB2-BD59-A6C34878D82A}">
                    <a16:rowId xmlns:a16="http://schemas.microsoft.com/office/drawing/2014/main" val="2141954007"/>
                  </a:ext>
                </a:extLst>
              </a:tr>
              <a:tr h="370840">
                <a:tc>
                  <a:txBody>
                    <a:bodyPr/>
                    <a:lstStyle/>
                    <a:p>
                      <a:pPr algn="ctr"/>
                      <a:r>
                        <a:rPr lang="en-US" altLang="ja-GB" dirty="0"/>
                        <a:t>1</a:t>
                      </a:r>
                      <a:endParaRPr lang="ja-GB" altLang="en-US" dirty="0"/>
                    </a:p>
                  </a:txBody>
                  <a:tcPr/>
                </a:tc>
                <a:tc>
                  <a:txBody>
                    <a:bodyPr/>
                    <a:lstStyle/>
                    <a:p>
                      <a:pPr algn="ctr"/>
                      <a:r>
                        <a:rPr lang="en-US" altLang="ja-GB" dirty="0"/>
                        <a:t>0</a:t>
                      </a:r>
                      <a:endParaRPr lang="ja-GB" altLang="en-US" dirty="0"/>
                    </a:p>
                  </a:txBody>
                  <a:tcPr/>
                </a:tc>
                <a:tc>
                  <a:txBody>
                    <a:bodyPr/>
                    <a:lstStyle/>
                    <a:p>
                      <a:pPr algn="ctr"/>
                      <a:r>
                        <a:rPr lang="en-US" altLang="ja-GB" dirty="0"/>
                        <a:t>0</a:t>
                      </a:r>
                      <a:endParaRPr lang="ja-GB" altLang="en-US" dirty="0"/>
                    </a:p>
                  </a:txBody>
                  <a:tcPr/>
                </a:tc>
                <a:extLst>
                  <a:ext uri="{0D108BD9-81ED-4DB2-BD59-A6C34878D82A}">
                    <a16:rowId xmlns:a16="http://schemas.microsoft.com/office/drawing/2014/main" val="1171458708"/>
                  </a:ext>
                </a:extLst>
              </a:tr>
              <a:tr h="370840">
                <a:tc>
                  <a:txBody>
                    <a:bodyPr/>
                    <a:lstStyle/>
                    <a:p>
                      <a:pPr algn="ctr"/>
                      <a:r>
                        <a:rPr lang="en-US" altLang="ja-GB" dirty="0"/>
                        <a:t>2</a:t>
                      </a:r>
                      <a:endParaRPr lang="ja-GB" altLang="en-US" dirty="0"/>
                    </a:p>
                  </a:txBody>
                  <a:tcPr/>
                </a:tc>
                <a:tc>
                  <a:txBody>
                    <a:bodyPr/>
                    <a:lstStyle/>
                    <a:p>
                      <a:pPr algn="ctr"/>
                      <a:r>
                        <a:rPr lang="en-US" altLang="ja-GB" dirty="0"/>
                        <a:t>3</a:t>
                      </a:r>
                      <a:endParaRPr lang="ja-GB" altLang="en-US" dirty="0"/>
                    </a:p>
                  </a:txBody>
                  <a:tcPr/>
                </a:tc>
                <a:tc>
                  <a:txBody>
                    <a:bodyPr/>
                    <a:lstStyle/>
                    <a:p>
                      <a:pPr algn="ctr"/>
                      <a:r>
                        <a:rPr lang="en-US" altLang="ja-GB" dirty="0"/>
                        <a:t>3</a:t>
                      </a:r>
                      <a:endParaRPr lang="ja-GB" altLang="en-US" dirty="0"/>
                    </a:p>
                  </a:txBody>
                  <a:tcPr/>
                </a:tc>
                <a:extLst>
                  <a:ext uri="{0D108BD9-81ED-4DB2-BD59-A6C34878D82A}">
                    <a16:rowId xmlns:a16="http://schemas.microsoft.com/office/drawing/2014/main" val="3447589641"/>
                  </a:ext>
                </a:extLst>
              </a:tr>
              <a:tr h="370840">
                <a:tc>
                  <a:txBody>
                    <a:bodyPr/>
                    <a:lstStyle/>
                    <a:p>
                      <a:pPr algn="ctr"/>
                      <a:r>
                        <a:rPr lang="en-US" altLang="ja-GB" dirty="0"/>
                        <a:t>3</a:t>
                      </a:r>
                      <a:endParaRPr lang="ja-GB" altLang="en-US" dirty="0"/>
                    </a:p>
                  </a:txBody>
                  <a:tcPr/>
                </a:tc>
                <a:tc>
                  <a:txBody>
                    <a:bodyPr/>
                    <a:lstStyle/>
                    <a:p>
                      <a:pPr algn="ctr"/>
                      <a:r>
                        <a:rPr lang="en-US" altLang="ja-GB" dirty="0"/>
                        <a:t>2</a:t>
                      </a:r>
                      <a:endParaRPr lang="ja-GB" altLang="en-US" dirty="0"/>
                    </a:p>
                  </a:txBody>
                  <a:tcPr/>
                </a:tc>
                <a:tc>
                  <a:txBody>
                    <a:bodyPr/>
                    <a:lstStyle/>
                    <a:p>
                      <a:pPr algn="ctr"/>
                      <a:r>
                        <a:rPr lang="en-US" altLang="ja-GB" dirty="0"/>
                        <a:t>2</a:t>
                      </a:r>
                      <a:endParaRPr lang="ja-GB" altLang="en-US" dirty="0"/>
                    </a:p>
                  </a:txBody>
                  <a:tcPr/>
                </a:tc>
                <a:extLst>
                  <a:ext uri="{0D108BD9-81ED-4DB2-BD59-A6C34878D82A}">
                    <a16:rowId xmlns:a16="http://schemas.microsoft.com/office/drawing/2014/main" val="1417322264"/>
                  </a:ext>
                </a:extLst>
              </a:tr>
              <a:tr h="370840">
                <a:tc>
                  <a:txBody>
                    <a:bodyPr/>
                    <a:lstStyle/>
                    <a:p>
                      <a:pPr algn="ctr"/>
                      <a:r>
                        <a:rPr lang="en-US" altLang="ja-GB" dirty="0"/>
                        <a:t>4</a:t>
                      </a:r>
                      <a:endParaRPr lang="ja-GB" altLang="en-US" dirty="0"/>
                    </a:p>
                  </a:txBody>
                  <a:tcPr/>
                </a:tc>
                <a:tc>
                  <a:txBody>
                    <a:bodyPr/>
                    <a:lstStyle/>
                    <a:p>
                      <a:pPr algn="ctr"/>
                      <a:r>
                        <a:rPr lang="en-US" altLang="ja-GB" dirty="0"/>
                        <a:t>7</a:t>
                      </a:r>
                      <a:endParaRPr lang="ja-GB" altLang="en-US" dirty="0"/>
                    </a:p>
                  </a:txBody>
                  <a:tcPr/>
                </a:tc>
                <a:tc>
                  <a:txBody>
                    <a:bodyPr/>
                    <a:lstStyle/>
                    <a:p>
                      <a:pPr algn="ctr"/>
                      <a:r>
                        <a:rPr lang="en-US" altLang="ja-GB" dirty="0"/>
                        <a:t>7</a:t>
                      </a:r>
                      <a:endParaRPr lang="ja-GB" altLang="en-US" dirty="0"/>
                    </a:p>
                  </a:txBody>
                  <a:tcPr/>
                </a:tc>
                <a:extLst>
                  <a:ext uri="{0D108BD9-81ED-4DB2-BD59-A6C34878D82A}">
                    <a16:rowId xmlns:a16="http://schemas.microsoft.com/office/drawing/2014/main" val="2577312266"/>
                  </a:ext>
                </a:extLst>
              </a:tr>
              <a:tr h="370840">
                <a:tc>
                  <a:txBody>
                    <a:bodyPr/>
                    <a:lstStyle/>
                    <a:p>
                      <a:pPr algn="ctr"/>
                      <a:r>
                        <a:rPr lang="en-US" altLang="ja-GB" dirty="0"/>
                        <a:t>5</a:t>
                      </a:r>
                      <a:endParaRPr lang="ja-GB" altLang="en-US" dirty="0"/>
                    </a:p>
                  </a:txBody>
                  <a:tcPr/>
                </a:tc>
                <a:tc>
                  <a:txBody>
                    <a:bodyPr/>
                    <a:lstStyle/>
                    <a:p>
                      <a:pPr algn="ctr"/>
                      <a:r>
                        <a:rPr lang="en-US" altLang="ja-GB" dirty="0"/>
                        <a:t>10</a:t>
                      </a:r>
                      <a:endParaRPr lang="ja-GB" altLang="en-US" dirty="0"/>
                    </a:p>
                  </a:txBody>
                  <a:tcPr/>
                </a:tc>
                <a:tc>
                  <a:txBody>
                    <a:bodyPr/>
                    <a:lstStyle/>
                    <a:p>
                      <a:pPr algn="ctr"/>
                      <a:r>
                        <a:rPr lang="en-US" altLang="ja-GB" dirty="0"/>
                        <a:t>11</a:t>
                      </a:r>
                      <a:endParaRPr lang="ja-GB" altLang="en-US" dirty="0"/>
                    </a:p>
                  </a:txBody>
                  <a:tcPr/>
                </a:tc>
                <a:extLst>
                  <a:ext uri="{0D108BD9-81ED-4DB2-BD59-A6C34878D82A}">
                    <a16:rowId xmlns:a16="http://schemas.microsoft.com/office/drawing/2014/main" val="1259246927"/>
                  </a:ext>
                </a:extLst>
              </a:tr>
              <a:tr h="370840">
                <a:tc>
                  <a:txBody>
                    <a:bodyPr/>
                    <a:lstStyle/>
                    <a:p>
                      <a:pPr algn="ctr"/>
                      <a:r>
                        <a:rPr lang="en-US" altLang="ja-GB" dirty="0"/>
                        <a:t>6</a:t>
                      </a:r>
                      <a:endParaRPr lang="ja-GB" altLang="en-US" dirty="0"/>
                    </a:p>
                  </a:txBody>
                  <a:tcPr/>
                </a:tc>
                <a:tc>
                  <a:txBody>
                    <a:bodyPr/>
                    <a:lstStyle/>
                    <a:p>
                      <a:pPr algn="ctr"/>
                      <a:r>
                        <a:rPr lang="en-US" altLang="ja-GB" dirty="0"/>
                        <a:t>13</a:t>
                      </a:r>
                      <a:endParaRPr lang="ja-GB" altLang="en-US" dirty="0"/>
                    </a:p>
                  </a:txBody>
                  <a:tcPr/>
                </a:tc>
                <a:tc>
                  <a:txBody>
                    <a:bodyPr/>
                    <a:lstStyle/>
                    <a:p>
                      <a:pPr algn="ctr"/>
                      <a:r>
                        <a:rPr lang="en-US" altLang="ja-GB" dirty="0"/>
                        <a:t>13</a:t>
                      </a:r>
                      <a:endParaRPr lang="ja-GB" altLang="en-US" dirty="0"/>
                    </a:p>
                  </a:txBody>
                  <a:tcPr/>
                </a:tc>
                <a:extLst>
                  <a:ext uri="{0D108BD9-81ED-4DB2-BD59-A6C34878D82A}">
                    <a16:rowId xmlns:a16="http://schemas.microsoft.com/office/drawing/2014/main" val="1706612542"/>
                  </a:ext>
                </a:extLst>
              </a:tr>
            </a:tbl>
          </a:graphicData>
        </a:graphic>
      </p:graphicFrame>
      <p:sp>
        <p:nvSpPr>
          <p:cNvPr id="42" name="右矢印 41">
            <a:extLst>
              <a:ext uri="{FF2B5EF4-FFF2-40B4-BE49-F238E27FC236}">
                <a16:creationId xmlns:a16="http://schemas.microsoft.com/office/drawing/2014/main" id="{9653A60B-BB6D-95F9-C252-EBBEE4D82294}"/>
              </a:ext>
            </a:extLst>
          </p:cNvPr>
          <p:cNvSpPr/>
          <p:nvPr/>
        </p:nvSpPr>
        <p:spPr>
          <a:xfrm>
            <a:off x="3702932" y="5285856"/>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43" name="右矢印 42">
            <a:extLst>
              <a:ext uri="{FF2B5EF4-FFF2-40B4-BE49-F238E27FC236}">
                <a16:creationId xmlns:a16="http://schemas.microsoft.com/office/drawing/2014/main" id="{096B4A78-0E80-FEBA-DB9B-84B13D8DB4AC}"/>
              </a:ext>
            </a:extLst>
          </p:cNvPr>
          <p:cNvSpPr/>
          <p:nvPr/>
        </p:nvSpPr>
        <p:spPr>
          <a:xfrm rot="5400000">
            <a:off x="6197359" y="3216210"/>
            <a:ext cx="700151" cy="48463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GB" altLang="en-US"/>
          </a:p>
        </p:txBody>
      </p:sp>
      <p:cxnSp>
        <p:nvCxnSpPr>
          <p:cNvPr id="45" name="直線コネクタ 44">
            <a:extLst>
              <a:ext uri="{FF2B5EF4-FFF2-40B4-BE49-F238E27FC236}">
                <a16:creationId xmlns:a16="http://schemas.microsoft.com/office/drawing/2014/main" id="{AF4249AD-8E01-BDD9-5707-199ABFF8E7F6}"/>
              </a:ext>
            </a:extLst>
          </p:cNvPr>
          <p:cNvCxnSpPr>
            <a:cxnSpLocks/>
          </p:cNvCxnSpPr>
          <p:nvPr/>
        </p:nvCxnSpPr>
        <p:spPr>
          <a:xfrm>
            <a:off x="314325" y="3371911"/>
            <a:ext cx="85153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016940"/>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C15AED-5E1B-A484-A871-036FFA5156C2}"/>
              </a:ext>
            </a:extLst>
          </p:cNvPr>
          <p:cNvSpPr>
            <a:spLocks noGrp="1"/>
          </p:cNvSpPr>
          <p:nvPr>
            <p:ph type="title"/>
          </p:nvPr>
        </p:nvSpPr>
        <p:spPr/>
        <p:txBody>
          <a:bodyPr/>
          <a:lstStyle/>
          <a:p>
            <a:r>
              <a:rPr kumimoji="1" lang="en-US" altLang="ja-GB" dirty="0"/>
              <a:t>ES</a:t>
            </a:r>
            <a:r>
              <a:rPr lang="ja-GB" altLang="en-US" dirty="0"/>
              <a:t>，</a:t>
            </a:r>
            <a:r>
              <a:rPr lang="en-US" altLang="ja-GB" dirty="0"/>
              <a:t>EF</a:t>
            </a:r>
            <a:r>
              <a:rPr lang="ja-GB" altLang="en-US" dirty="0"/>
              <a:t>，</a:t>
            </a:r>
            <a:r>
              <a:rPr lang="en-US" altLang="ja-GB" dirty="0"/>
              <a:t>LF</a:t>
            </a:r>
            <a:r>
              <a:rPr lang="ja-GB" altLang="en-US" dirty="0"/>
              <a:t>，</a:t>
            </a:r>
            <a:r>
              <a:rPr lang="en-US" altLang="ja-GB" dirty="0"/>
              <a:t>LS</a:t>
            </a:r>
            <a:r>
              <a:rPr lang="ja-GB" altLang="en-US" dirty="0"/>
              <a:t>，</a:t>
            </a:r>
            <a:r>
              <a:rPr lang="en-US" altLang="ja-GB" dirty="0"/>
              <a:t>TF</a:t>
            </a:r>
            <a:r>
              <a:rPr lang="ja-GB" altLang="en-US" dirty="0"/>
              <a:t>，</a:t>
            </a:r>
            <a:r>
              <a:rPr lang="en-US" altLang="ja-GB" dirty="0"/>
              <a:t>FF</a:t>
            </a:r>
            <a:r>
              <a:rPr lang="ja-GB" altLang="en-US" dirty="0"/>
              <a:t>，</a:t>
            </a:r>
            <a:r>
              <a:rPr lang="en-US" altLang="ja-GB" dirty="0"/>
              <a:t>CP</a:t>
            </a:r>
            <a:r>
              <a:rPr lang="ja-GB" altLang="en-US" dirty="0"/>
              <a:t>の記述方法</a:t>
            </a:r>
            <a:endParaRPr kumimoji="1" lang="ja-GB" altLang="en-US" dirty="0"/>
          </a:p>
        </p:txBody>
      </p:sp>
      <p:sp>
        <p:nvSpPr>
          <p:cNvPr id="3" name="コンテンツ プレースホルダー 2">
            <a:extLst>
              <a:ext uri="{FF2B5EF4-FFF2-40B4-BE49-F238E27FC236}">
                <a16:creationId xmlns:a16="http://schemas.microsoft.com/office/drawing/2014/main" id="{6FFBF83C-5F55-1E95-D2E5-9DB5D9A6F718}"/>
              </a:ext>
            </a:extLst>
          </p:cNvPr>
          <p:cNvSpPr>
            <a:spLocks noGrp="1"/>
          </p:cNvSpPr>
          <p:nvPr>
            <p:ph idx="1"/>
          </p:nvPr>
        </p:nvSpPr>
        <p:spPr/>
        <p:txBody>
          <a:bodyPr/>
          <a:lstStyle/>
          <a:p>
            <a:pPr marL="0" indent="0">
              <a:buNone/>
            </a:pPr>
            <a:r>
              <a:rPr kumimoji="1" lang="ja-GB" altLang="en-US" dirty="0"/>
              <a:t>数式と判定条件をそのままプログラムとして利用可能</a:t>
            </a:r>
            <a:endParaRPr kumimoji="1" lang="en-US" altLang="ja-GB" dirty="0"/>
          </a:p>
          <a:p>
            <a:pPr lvl="1"/>
            <a:r>
              <a:rPr kumimoji="1" lang="en-US" altLang="ja-GB" dirty="0" err="1"/>
              <a:t>ES</a:t>
            </a:r>
            <a:r>
              <a:rPr kumimoji="1" lang="en-US" altLang="ja-GB" baseline="-25000" dirty="0" err="1"/>
              <a:t>ij</a:t>
            </a:r>
            <a:r>
              <a:rPr kumimoji="1" lang="en-US" altLang="ja-GB" dirty="0"/>
              <a:t> = </a:t>
            </a:r>
            <a:r>
              <a:rPr kumimoji="1" lang="en-US" altLang="ja-GB" dirty="0" err="1">
                <a:solidFill>
                  <a:srgbClr val="0070C0"/>
                </a:solidFill>
              </a:rPr>
              <a:t>ET</a:t>
            </a:r>
            <a:r>
              <a:rPr kumimoji="1" lang="en-US" altLang="ja-GB" baseline="-25000" dirty="0" err="1">
                <a:solidFill>
                  <a:srgbClr val="0070C0"/>
                </a:solidFill>
              </a:rPr>
              <a:t>i</a:t>
            </a:r>
            <a:endParaRPr kumimoji="1" lang="en-US" altLang="ja-GB" baseline="-25000" dirty="0">
              <a:solidFill>
                <a:srgbClr val="0070C0"/>
              </a:solidFill>
            </a:endParaRPr>
          </a:p>
          <a:p>
            <a:pPr lvl="1"/>
            <a:r>
              <a:rPr lang="en-US" altLang="ja-GB" dirty="0" err="1"/>
              <a:t>EF</a:t>
            </a:r>
            <a:r>
              <a:rPr lang="en-US" altLang="ja-GB" baseline="-25000" dirty="0" err="1"/>
              <a:t>ij</a:t>
            </a:r>
            <a:r>
              <a:rPr lang="en-US" altLang="ja-GB" dirty="0"/>
              <a:t> = </a:t>
            </a:r>
            <a:r>
              <a:rPr lang="en-US" altLang="ja-GB" dirty="0" err="1"/>
              <a:t>ES</a:t>
            </a:r>
            <a:r>
              <a:rPr lang="en-US" altLang="ja-GB" baseline="-25000" dirty="0" err="1"/>
              <a:t>ij</a:t>
            </a:r>
            <a:r>
              <a:rPr lang="en-US" altLang="ja-GB" dirty="0"/>
              <a:t> + </a:t>
            </a:r>
            <a:r>
              <a:rPr lang="en-US" altLang="ja-GB" dirty="0" err="1"/>
              <a:t>D</a:t>
            </a:r>
            <a:r>
              <a:rPr lang="en-US" altLang="ja-GB" baseline="-25000" dirty="0" err="1"/>
              <a:t>ij</a:t>
            </a:r>
            <a:endParaRPr lang="en-US" altLang="ja-GB" dirty="0"/>
          </a:p>
          <a:p>
            <a:pPr lvl="1"/>
            <a:r>
              <a:rPr lang="en-US" altLang="ja-GB" dirty="0" err="1"/>
              <a:t>LF</a:t>
            </a:r>
            <a:r>
              <a:rPr lang="en-US" altLang="ja-GB" baseline="-25000" dirty="0" err="1"/>
              <a:t>ij</a:t>
            </a:r>
            <a:r>
              <a:rPr lang="en-US" altLang="ja-GB" dirty="0"/>
              <a:t> = </a:t>
            </a:r>
            <a:r>
              <a:rPr lang="en-US" altLang="ja-GB" dirty="0" err="1">
                <a:solidFill>
                  <a:srgbClr val="0070C0"/>
                </a:solidFill>
              </a:rPr>
              <a:t>LT</a:t>
            </a:r>
            <a:r>
              <a:rPr lang="en-US" altLang="ja-GB" baseline="-25000" dirty="0" err="1">
                <a:solidFill>
                  <a:srgbClr val="0070C0"/>
                </a:solidFill>
              </a:rPr>
              <a:t>j</a:t>
            </a:r>
            <a:endParaRPr lang="en-US" altLang="ja-GB" baseline="-25000" dirty="0">
              <a:solidFill>
                <a:srgbClr val="0070C0"/>
              </a:solidFill>
            </a:endParaRPr>
          </a:p>
          <a:p>
            <a:pPr lvl="1"/>
            <a:r>
              <a:rPr lang="en-US" altLang="ja-GB" dirty="0" err="1"/>
              <a:t>LS</a:t>
            </a:r>
            <a:r>
              <a:rPr lang="en-US" altLang="ja-GB" baseline="-25000" dirty="0" err="1"/>
              <a:t>ij</a:t>
            </a:r>
            <a:r>
              <a:rPr lang="en-US" altLang="ja-GB" dirty="0"/>
              <a:t> = </a:t>
            </a:r>
            <a:r>
              <a:rPr lang="en-US" altLang="ja-GB" dirty="0" err="1"/>
              <a:t>LF</a:t>
            </a:r>
            <a:r>
              <a:rPr lang="en-US" altLang="ja-GB" baseline="-25000" dirty="0" err="1"/>
              <a:t>ij</a:t>
            </a:r>
            <a:r>
              <a:rPr lang="en-US" altLang="ja-GB" dirty="0"/>
              <a:t> – </a:t>
            </a:r>
            <a:r>
              <a:rPr lang="en-US" altLang="ja-GB" dirty="0" err="1"/>
              <a:t>D</a:t>
            </a:r>
            <a:r>
              <a:rPr lang="en-US" altLang="ja-GB" baseline="-25000" dirty="0" err="1"/>
              <a:t>ij</a:t>
            </a:r>
            <a:endParaRPr lang="en-US" altLang="ja-GB" dirty="0"/>
          </a:p>
          <a:p>
            <a:pPr lvl="1"/>
            <a:endParaRPr lang="en-US" altLang="ja-GB" dirty="0"/>
          </a:p>
          <a:p>
            <a:pPr lvl="1"/>
            <a:r>
              <a:rPr lang="en-US" altLang="ja-GB" dirty="0" err="1"/>
              <a:t>TF</a:t>
            </a:r>
            <a:r>
              <a:rPr lang="en-US" altLang="ja-GB" baseline="-25000" dirty="0" err="1"/>
              <a:t>ij</a:t>
            </a:r>
            <a:r>
              <a:rPr lang="en-US" altLang="ja-GB" baseline="-25000" dirty="0"/>
              <a:t> </a:t>
            </a:r>
            <a:r>
              <a:rPr lang="en-US" altLang="ja-GB" dirty="0"/>
              <a:t>= </a:t>
            </a:r>
            <a:r>
              <a:rPr lang="en-US" altLang="ja-GB" dirty="0" err="1"/>
              <a:t>LF</a:t>
            </a:r>
            <a:r>
              <a:rPr lang="en-US" altLang="ja-GB" baseline="-25000" dirty="0" err="1"/>
              <a:t>ij</a:t>
            </a:r>
            <a:r>
              <a:rPr lang="en-US" altLang="ja-GB" dirty="0"/>
              <a:t> – </a:t>
            </a:r>
            <a:r>
              <a:rPr lang="en-US" altLang="ja-GB" dirty="0" err="1"/>
              <a:t>EF</a:t>
            </a:r>
            <a:r>
              <a:rPr lang="en-US" altLang="ja-GB" baseline="-25000" dirty="0" err="1"/>
              <a:t>ij</a:t>
            </a:r>
            <a:endParaRPr lang="en-US" altLang="ja-GB" dirty="0"/>
          </a:p>
          <a:p>
            <a:pPr lvl="1"/>
            <a:r>
              <a:rPr lang="en-US" altLang="ja-GB" dirty="0" err="1"/>
              <a:t>FF</a:t>
            </a:r>
            <a:r>
              <a:rPr lang="en-US" altLang="ja-GB" baseline="-25000" dirty="0" err="1"/>
              <a:t>ij</a:t>
            </a:r>
            <a:r>
              <a:rPr lang="en-US" altLang="ja-GB" dirty="0"/>
              <a:t> = </a:t>
            </a:r>
            <a:r>
              <a:rPr lang="en-US" altLang="ja-GB" dirty="0" err="1"/>
              <a:t>ES</a:t>
            </a:r>
            <a:r>
              <a:rPr lang="en-US" altLang="ja-GB" baseline="-25000" dirty="0" err="1"/>
              <a:t>jk</a:t>
            </a:r>
            <a:r>
              <a:rPr lang="en-US" altLang="ja-GB" dirty="0"/>
              <a:t> – </a:t>
            </a:r>
            <a:r>
              <a:rPr lang="en-US" altLang="ja-GB" dirty="0" err="1"/>
              <a:t>EF</a:t>
            </a:r>
            <a:r>
              <a:rPr lang="en-US" altLang="ja-GB" baseline="-25000" dirty="0" err="1"/>
              <a:t>ij</a:t>
            </a:r>
            <a:endParaRPr lang="en-US" altLang="ja-GB" dirty="0"/>
          </a:p>
          <a:p>
            <a:pPr lvl="1"/>
            <a:endParaRPr lang="en-US" altLang="ja-GB" dirty="0"/>
          </a:p>
          <a:p>
            <a:pPr lvl="1"/>
            <a:r>
              <a:rPr lang="ja-GB" altLang="en-US" dirty="0"/>
              <a:t>もし（</a:t>
            </a:r>
            <a:r>
              <a:rPr lang="en-US" altLang="ja-GB" dirty="0" err="1"/>
              <a:t>TF</a:t>
            </a:r>
            <a:r>
              <a:rPr lang="en-US" altLang="ja-GB" baseline="-25000" dirty="0" err="1"/>
              <a:t>ij</a:t>
            </a:r>
            <a:r>
              <a:rPr lang="en-US" altLang="ja-GB" dirty="0"/>
              <a:t>==0</a:t>
            </a:r>
            <a:r>
              <a:rPr lang="ja-GB" altLang="en-US"/>
              <a:t>）ならば</a:t>
            </a:r>
            <a:r>
              <a:rPr lang="en-US" altLang="ja-GB"/>
              <a:t>CP</a:t>
            </a:r>
            <a:r>
              <a:rPr lang="en-US" altLang="ja-GB" baseline="-25000"/>
              <a:t>ij</a:t>
            </a:r>
            <a:r>
              <a:rPr lang="ja-GB" altLang="en-US" dirty="0"/>
              <a:t>は「</a:t>
            </a:r>
            <a:r>
              <a:rPr lang="en-US" altLang="ja-GB" dirty="0"/>
              <a:t>*</a:t>
            </a:r>
            <a:r>
              <a:rPr lang="ja-GB" altLang="en-US" dirty="0"/>
              <a:t>」，そうでないなら</a:t>
            </a:r>
            <a:r>
              <a:rPr lang="en-US" altLang="ja-GB" dirty="0" err="1"/>
              <a:t>CP</a:t>
            </a:r>
            <a:r>
              <a:rPr lang="en-US" altLang="ja-GB" baseline="-25000" dirty="0" err="1"/>
              <a:t>ij</a:t>
            </a:r>
            <a:r>
              <a:rPr lang="ja-GB" altLang="en-US" dirty="0"/>
              <a:t>は空欄</a:t>
            </a:r>
            <a:r>
              <a:rPr lang="ja-GB" altLang="en-US" sz="1600" dirty="0">
                <a:solidFill>
                  <a:schemeClr val="tx1">
                    <a:lumMod val="50000"/>
                    <a:lumOff val="50000"/>
                  </a:schemeClr>
                </a:solidFill>
              </a:rPr>
              <a:t>（条件分岐）</a:t>
            </a:r>
            <a:endParaRPr kumimoji="1" lang="ja-GB" altLang="en-US" dirty="0">
              <a:solidFill>
                <a:schemeClr val="tx1">
                  <a:lumMod val="50000"/>
                  <a:lumOff val="50000"/>
                </a:schemeClr>
              </a:solidFill>
            </a:endParaRPr>
          </a:p>
        </p:txBody>
      </p:sp>
      <p:pic>
        <p:nvPicPr>
          <p:cNvPr id="6" name="図 5">
            <a:extLst>
              <a:ext uri="{FF2B5EF4-FFF2-40B4-BE49-F238E27FC236}">
                <a16:creationId xmlns:a16="http://schemas.microsoft.com/office/drawing/2014/main" id="{B15DBCCF-9C72-D6A1-7163-EF86DE5F5F12}"/>
              </a:ext>
            </a:extLst>
          </p:cNvPr>
          <p:cNvPicPr>
            <a:picLocks noChangeAspect="1"/>
          </p:cNvPicPr>
          <p:nvPr/>
        </p:nvPicPr>
        <p:blipFill>
          <a:blip r:embed="rId2"/>
          <a:stretch>
            <a:fillRect/>
          </a:stretch>
        </p:blipFill>
        <p:spPr>
          <a:xfrm>
            <a:off x="1108736" y="4325494"/>
            <a:ext cx="6800773" cy="2532505"/>
          </a:xfrm>
          <a:prstGeom prst="rect">
            <a:avLst/>
          </a:prstGeom>
        </p:spPr>
      </p:pic>
    </p:spTree>
    <p:extLst>
      <p:ext uri="{BB962C8B-B14F-4D97-AF65-F5344CB8AC3E}">
        <p14:creationId xmlns:p14="http://schemas.microsoft.com/office/powerpoint/2010/main" val="4268213089"/>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009B0-9E1E-4916-A17F-35A1522F27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2552A0-0022-F400-F19B-23C909F7717B}"/>
              </a:ext>
            </a:extLst>
          </p:cNvPr>
          <p:cNvSpPr>
            <a:spLocks noGrp="1"/>
          </p:cNvSpPr>
          <p:nvPr>
            <p:ph type="title"/>
          </p:nvPr>
        </p:nvSpPr>
        <p:spPr/>
        <p:txBody>
          <a:bodyPr/>
          <a:lstStyle/>
          <a:p>
            <a:r>
              <a:rPr lang="ja-GB" altLang="en-US" dirty="0"/>
              <a:t>第</a:t>
            </a:r>
            <a:r>
              <a:rPr lang="en-US" altLang="ja-GB" dirty="0"/>
              <a:t>15</a:t>
            </a:r>
            <a:r>
              <a:rPr lang="ja-GB" altLang="en-US" dirty="0"/>
              <a:t>回：授業内容</a:t>
            </a:r>
            <a:endParaRPr kumimoji="1" lang="ja-GB" altLang="en-US" dirty="0"/>
          </a:p>
        </p:txBody>
      </p:sp>
      <p:sp>
        <p:nvSpPr>
          <p:cNvPr id="3" name="コンテンツ プレースホルダー 2">
            <a:extLst>
              <a:ext uri="{FF2B5EF4-FFF2-40B4-BE49-F238E27FC236}">
                <a16:creationId xmlns:a16="http://schemas.microsoft.com/office/drawing/2014/main" id="{C98B8A6C-1EBF-9BE4-0311-3A6B3BCB5379}"/>
              </a:ext>
            </a:extLst>
          </p:cNvPr>
          <p:cNvSpPr>
            <a:spLocks noGrp="1"/>
          </p:cNvSpPr>
          <p:nvPr>
            <p:ph idx="1"/>
          </p:nvPr>
        </p:nvSpPr>
        <p:spPr/>
        <p:txBody>
          <a:bodyPr/>
          <a:lstStyle/>
          <a:p>
            <a:pPr marL="457200" indent="-457200">
              <a:buFont typeface="+mj-lt"/>
              <a:buAutoNum type="arabicPeriod"/>
            </a:pPr>
            <a:r>
              <a:rPr kumimoji="1" lang="en-US" altLang="ja-GB" dirty="0"/>
              <a:t>PERT</a:t>
            </a:r>
            <a:r>
              <a:rPr lang="ja-GB" altLang="en-US" dirty="0"/>
              <a:t>の自動計算</a:t>
            </a:r>
            <a:endParaRPr kumimoji="1" lang="en-US" altLang="ja-GB" dirty="0"/>
          </a:p>
          <a:p>
            <a:pPr lvl="1"/>
            <a:r>
              <a:rPr kumimoji="1" lang="ja-GB" altLang="en-US" dirty="0"/>
              <a:t>記述しやすい</a:t>
            </a:r>
            <a:r>
              <a:rPr kumimoji="1" lang="en-US" altLang="ja-GB" dirty="0"/>
              <a:t>ET</a:t>
            </a:r>
            <a:r>
              <a:rPr kumimoji="1" lang="ja-GB" altLang="en-US" dirty="0"/>
              <a:t>，</a:t>
            </a:r>
            <a:r>
              <a:rPr kumimoji="1" lang="en-US" altLang="ja-GB" dirty="0"/>
              <a:t>LT</a:t>
            </a:r>
            <a:r>
              <a:rPr kumimoji="1" lang="ja-GB" altLang="en-US" dirty="0"/>
              <a:t>の計算方法</a:t>
            </a:r>
            <a:endParaRPr kumimoji="1" lang="en-US" altLang="ja-GB" dirty="0"/>
          </a:p>
          <a:p>
            <a:pPr lvl="1"/>
            <a:r>
              <a:rPr lang="en-US" altLang="ja-GB" dirty="0"/>
              <a:t>ES</a:t>
            </a:r>
            <a:r>
              <a:rPr lang="ja-GB" altLang="en-US" dirty="0"/>
              <a:t>，</a:t>
            </a:r>
            <a:r>
              <a:rPr lang="en-US" altLang="ja-GB" dirty="0"/>
              <a:t>EF</a:t>
            </a:r>
            <a:r>
              <a:rPr lang="ja-GB" altLang="en-US" dirty="0"/>
              <a:t>，</a:t>
            </a:r>
            <a:r>
              <a:rPr lang="en-US" altLang="ja-GB" dirty="0"/>
              <a:t>LF</a:t>
            </a:r>
            <a:r>
              <a:rPr lang="ja-GB" altLang="en-US" dirty="0"/>
              <a:t>，</a:t>
            </a:r>
            <a:r>
              <a:rPr lang="en-US" altLang="ja-GB" dirty="0"/>
              <a:t>LS</a:t>
            </a:r>
            <a:r>
              <a:rPr lang="ja-GB" altLang="en-US" dirty="0"/>
              <a:t>，</a:t>
            </a:r>
            <a:r>
              <a:rPr lang="en-US" altLang="ja-GB" dirty="0"/>
              <a:t>TF</a:t>
            </a:r>
            <a:r>
              <a:rPr lang="ja-GB" altLang="en-US" dirty="0"/>
              <a:t>，</a:t>
            </a:r>
            <a:r>
              <a:rPr lang="en-US" altLang="ja-GB" dirty="0"/>
              <a:t>FF</a:t>
            </a:r>
            <a:r>
              <a:rPr lang="ja-GB" altLang="en-US" dirty="0"/>
              <a:t>，</a:t>
            </a:r>
            <a:r>
              <a:rPr lang="en-US" altLang="ja-GB" dirty="0"/>
              <a:t>CP</a:t>
            </a:r>
            <a:r>
              <a:rPr lang="ja-GB" altLang="en-US" dirty="0"/>
              <a:t>の記述方法</a:t>
            </a:r>
            <a:endParaRPr lang="en-US" altLang="ja-GB" dirty="0"/>
          </a:p>
          <a:p>
            <a:pPr lvl="1"/>
            <a:endParaRPr kumimoji="1" lang="en-US" altLang="ja-GB" dirty="0"/>
          </a:p>
          <a:p>
            <a:pPr marL="457200" indent="-457200">
              <a:buFont typeface="+mj-lt"/>
              <a:buAutoNum type="arabicPeriod"/>
            </a:pPr>
            <a:r>
              <a:rPr lang="ja-GB" altLang="en-US" dirty="0"/>
              <a:t>決定表の自動計算</a:t>
            </a:r>
            <a:endParaRPr lang="en-US" altLang="ja-GB" dirty="0"/>
          </a:p>
          <a:p>
            <a:pPr lvl="1"/>
            <a:r>
              <a:rPr lang="ja-GB" altLang="en-US" dirty="0"/>
              <a:t>決定表，条件分岐，決定木の関係</a:t>
            </a:r>
            <a:endParaRPr lang="en-US" altLang="ja-GB" dirty="0"/>
          </a:p>
          <a:p>
            <a:pPr lvl="1"/>
            <a:endParaRPr lang="en-US" altLang="ja-GB" dirty="0"/>
          </a:p>
        </p:txBody>
      </p:sp>
    </p:spTree>
    <p:extLst>
      <p:ext uri="{BB962C8B-B14F-4D97-AF65-F5344CB8AC3E}">
        <p14:creationId xmlns:p14="http://schemas.microsoft.com/office/powerpoint/2010/main" val="3429098758"/>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2157C5-FF88-9E48-ADF0-43706FD475E5}"/>
              </a:ext>
            </a:extLst>
          </p:cNvPr>
          <p:cNvSpPr>
            <a:spLocks noGrp="1"/>
          </p:cNvSpPr>
          <p:nvPr>
            <p:ph type="title"/>
          </p:nvPr>
        </p:nvSpPr>
        <p:spPr/>
        <p:txBody>
          <a:bodyPr/>
          <a:lstStyle/>
          <a:p>
            <a:r>
              <a:rPr kumimoji="1" lang="ja-GB" altLang="en-US" dirty="0"/>
              <a:t>決定表（</a:t>
            </a:r>
            <a:r>
              <a:rPr kumimoji="1" lang="en-US" altLang="ja-GB" dirty="0"/>
              <a:t>Decision Table</a:t>
            </a:r>
            <a:r>
              <a:rPr kumimoji="1" lang="ja-GB" altLang="en-US" dirty="0"/>
              <a:t>）</a:t>
            </a:r>
          </a:p>
        </p:txBody>
      </p:sp>
      <p:sp>
        <p:nvSpPr>
          <p:cNvPr id="3" name="コンテンツ プレースホルダー 2">
            <a:extLst>
              <a:ext uri="{FF2B5EF4-FFF2-40B4-BE49-F238E27FC236}">
                <a16:creationId xmlns:a16="http://schemas.microsoft.com/office/drawing/2014/main" id="{B6E6250B-FC94-6B14-E6BE-474237604702}"/>
              </a:ext>
            </a:extLst>
          </p:cNvPr>
          <p:cNvSpPr>
            <a:spLocks noGrp="1"/>
          </p:cNvSpPr>
          <p:nvPr>
            <p:ph idx="1"/>
          </p:nvPr>
        </p:nvSpPr>
        <p:spPr/>
        <p:txBody>
          <a:bodyPr/>
          <a:lstStyle/>
          <a:p>
            <a:pPr marL="0" indent="0">
              <a:buNone/>
            </a:pPr>
            <a:r>
              <a:rPr kumimoji="1" lang="ja-GB" altLang="en-US" dirty="0"/>
              <a:t>条件と結果の対応関係を一覧できる表</a:t>
            </a:r>
            <a:endParaRPr kumimoji="1" lang="en-US" altLang="ja-GB" dirty="0"/>
          </a:p>
          <a:p>
            <a:pPr lvl="1"/>
            <a:endParaRPr kumimoji="1" lang="ja-GB" altLang="en-US" dirty="0"/>
          </a:p>
        </p:txBody>
      </p:sp>
      <p:graphicFrame>
        <p:nvGraphicFramePr>
          <p:cNvPr id="6" name="表 5">
            <a:extLst>
              <a:ext uri="{FF2B5EF4-FFF2-40B4-BE49-F238E27FC236}">
                <a16:creationId xmlns:a16="http://schemas.microsoft.com/office/drawing/2014/main" id="{82797B6E-16B3-622A-2F00-FABC99132CFB}"/>
              </a:ext>
            </a:extLst>
          </p:cNvPr>
          <p:cNvGraphicFramePr>
            <a:graphicFrameLocks noGrp="1"/>
          </p:cNvGraphicFramePr>
          <p:nvPr/>
        </p:nvGraphicFramePr>
        <p:xfrm>
          <a:off x="314325" y="1500103"/>
          <a:ext cx="4320000" cy="1854200"/>
        </p:xfrm>
        <a:graphic>
          <a:graphicData uri="http://schemas.openxmlformats.org/drawingml/2006/table">
            <a:tbl>
              <a:tblPr bandRow="1">
                <a:tableStyleId>{5C22544A-7EE6-4342-B048-85BDC9FD1C3A}</a:tableStyleId>
              </a:tblPr>
              <a:tblGrid>
                <a:gridCol w="864000">
                  <a:extLst>
                    <a:ext uri="{9D8B030D-6E8A-4147-A177-3AD203B41FA5}">
                      <a16:colId xmlns:a16="http://schemas.microsoft.com/office/drawing/2014/main" val="196654212"/>
                    </a:ext>
                  </a:extLst>
                </a:gridCol>
                <a:gridCol w="864000">
                  <a:extLst>
                    <a:ext uri="{9D8B030D-6E8A-4147-A177-3AD203B41FA5}">
                      <a16:colId xmlns:a16="http://schemas.microsoft.com/office/drawing/2014/main" val="3587798998"/>
                    </a:ext>
                  </a:extLst>
                </a:gridCol>
                <a:gridCol w="864000">
                  <a:extLst>
                    <a:ext uri="{9D8B030D-6E8A-4147-A177-3AD203B41FA5}">
                      <a16:colId xmlns:a16="http://schemas.microsoft.com/office/drawing/2014/main" val="730188351"/>
                    </a:ext>
                  </a:extLst>
                </a:gridCol>
                <a:gridCol w="864000">
                  <a:extLst>
                    <a:ext uri="{9D8B030D-6E8A-4147-A177-3AD203B41FA5}">
                      <a16:colId xmlns:a16="http://schemas.microsoft.com/office/drawing/2014/main" val="1623471268"/>
                    </a:ext>
                  </a:extLst>
                </a:gridCol>
                <a:gridCol w="864000">
                  <a:extLst>
                    <a:ext uri="{9D8B030D-6E8A-4147-A177-3AD203B41FA5}">
                      <a16:colId xmlns:a16="http://schemas.microsoft.com/office/drawing/2014/main" val="211111563"/>
                    </a:ext>
                  </a:extLst>
                </a:gridCol>
              </a:tblGrid>
              <a:tr h="370840">
                <a:tc>
                  <a:txBody>
                    <a:bodyPr/>
                    <a:lstStyle/>
                    <a:p>
                      <a:pPr algn="ctr"/>
                      <a:r>
                        <a:rPr lang="ja-GB" altLang="en-US" b="1" dirty="0">
                          <a:solidFill>
                            <a:srgbClr val="002060"/>
                          </a:solidFill>
                        </a:rPr>
                        <a:t>条件</a:t>
                      </a:r>
                      <a:r>
                        <a:rPr lang="en-US" altLang="ja-GB" b="1" dirty="0">
                          <a:solidFill>
                            <a:srgbClr val="002060"/>
                          </a:solidFill>
                        </a:rPr>
                        <a:t>1</a:t>
                      </a:r>
                      <a:endParaRPr lang="ja-GB"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20000"/>
                        <a:lumOff val="80000"/>
                      </a:schemeClr>
                    </a:solidFill>
                  </a:tcPr>
                </a:tc>
                <a:extLst>
                  <a:ext uri="{0D108BD9-81ED-4DB2-BD59-A6C34878D82A}">
                    <a16:rowId xmlns:a16="http://schemas.microsoft.com/office/drawing/2014/main" val="520366626"/>
                  </a:ext>
                </a:extLst>
              </a:tr>
              <a:tr h="370840">
                <a:tc>
                  <a:txBody>
                    <a:bodyPr/>
                    <a:lstStyle/>
                    <a:p>
                      <a:pPr algn="ctr"/>
                      <a:r>
                        <a:rPr lang="ja-GB" altLang="en-US" b="1" dirty="0">
                          <a:solidFill>
                            <a:srgbClr val="002060"/>
                          </a:solidFill>
                        </a:rPr>
                        <a:t>条件</a:t>
                      </a:r>
                      <a:r>
                        <a:rPr lang="en-US" altLang="ja-GB" b="1" dirty="0">
                          <a:solidFill>
                            <a:srgbClr val="002060"/>
                          </a:solidFill>
                        </a:rPr>
                        <a:t>2</a:t>
                      </a:r>
                      <a:endParaRPr lang="ja-GB"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552777604"/>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1</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20000"/>
                        <a:lumOff val="80000"/>
                      </a:schemeClr>
                    </a:solidFill>
                  </a:tcPr>
                </a:tc>
                <a:extLst>
                  <a:ext uri="{0D108BD9-81ED-4DB2-BD59-A6C34878D82A}">
                    <a16:rowId xmlns:a16="http://schemas.microsoft.com/office/drawing/2014/main" val="3194411520"/>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2</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solidFill>
                      <a:schemeClr val="accent6">
                        <a:lumMod val="20000"/>
                        <a:lumOff val="80000"/>
                      </a:schemeClr>
                    </a:solidFill>
                  </a:tcPr>
                </a:tc>
                <a:tc>
                  <a:txBody>
                    <a:bodyPr/>
                    <a:lstStyle/>
                    <a:p>
                      <a:pPr algn="ctr"/>
                      <a:endParaRPr lang="ja-GB" altLang="en-US" dirty="0">
                        <a:solidFill>
                          <a:srgbClr val="2D350F"/>
                        </a:solidFill>
                      </a:endParaRPr>
                    </a:p>
                  </a:txBody>
                  <a:tcPr>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solidFill>
                      <a:schemeClr val="accent6">
                        <a:lumMod val="20000"/>
                        <a:lumOff val="80000"/>
                      </a:schemeClr>
                    </a:solidFill>
                  </a:tcPr>
                </a:tc>
                <a:extLst>
                  <a:ext uri="{0D108BD9-81ED-4DB2-BD59-A6C34878D82A}">
                    <a16:rowId xmlns:a16="http://schemas.microsoft.com/office/drawing/2014/main" val="2249085906"/>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3</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453916129"/>
                  </a:ext>
                </a:extLst>
              </a:tr>
            </a:tbl>
          </a:graphicData>
        </a:graphic>
      </p:graphicFrame>
      <p:sp>
        <p:nvSpPr>
          <p:cNvPr id="7" name="テキスト ボックス 6">
            <a:extLst>
              <a:ext uri="{FF2B5EF4-FFF2-40B4-BE49-F238E27FC236}">
                <a16:creationId xmlns:a16="http://schemas.microsoft.com/office/drawing/2014/main" id="{5BC56E01-E328-4640-B27F-4A091A54EA8A}"/>
              </a:ext>
            </a:extLst>
          </p:cNvPr>
          <p:cNvSpPr txBox="1"/>
          <p:nvPr/>
        </p:nvSpPr>
        <p:spPr>
          <a:xfrm>
            <a:off x="4869952" y="1500103"/>
            <a:ext cx="3724096" cy="1200329"/>
          </a:xfrm>
          <a:prstGeom prst="rect">
            <a:avLst/>
          </a:prstGeom>
          <a:noFill/>
        </p:spPr>
        <p:txBody>
          <a:bodyPr wrap="none" rtlCol="0">
            <a:spAutoFit/>
          </a:bodyPr>
          <a:lstStyle/>
          <a:p>
            <a:r>
              <a:rPr kumimoji="1" lang="ja-GB" altLang="en-US" dirty="0"/>
              <a:t>条件</a:t>
            </a:r>
            <a:r>
              <a:rPr kumimoji="1" lang="en-US" altLang="ja-GB" dirty="0"/>
              <a:t>1 and </a:t>
            </a:r>
            <a:r>
              <a:rPr kumimoji="1" lang="ja-GB" altLang="en-US" dirty="0"/>
              <a:t>条件</a:t>
            </a:r>
            <a:r>
              <a:rPr kumimoji="1" lang="en-US" altLang="ja-GB" dirty="0"/>
              <a:t>2 </a:t>
            </a:r>
            <a:r>
              <a:rPr kumimoji="1" lang="ja-JP" altLang="en-US"/>
              <a:t>　　</a:t>
            </a:r>
            <a:r>
              <a:rPr kumimoji="1" lang="en-US" altLang="ja-JP" dirty="0"/>
              <a:t> </a:t>
            </a:r>
            <a:r>
              <a:rPr kumimoji="1" lang="en-US" altLang="ja-GB" dirty="0"/>
              <a:t> </a:t>
            </a:r>
            <a:r>
              <a:rPr kumimoji="1" lang="ja-JP" altLang="en-US"/>
              <a:t>　　</a:t>
            </a:r>
            <a:r>
              <a:rPr kumimoji="1" lang="en-US" altLang="ja-JP" dirty="0"/>
              <a:t>→ </a:t>
            </a:r>
            <a:r>
              <a:rPr kumimoji="1" lang="ja-GB" altLang="en-US" dirty="0"/>
              <a:t>結果</a:t>
            </a:r>
            <a:r>
              <a:rPr kumimoji="1" lang="en-US" altLang="ja-GB" dirty="0"/>
              <a:t>1</a:t>
            </a:r>
          </a:p>
          <a:p>
            <a:r>
              <a:rPr kumimoji="1" lang="ja-GB" altLang="en-US" dirty="0"/>
              <a:t>条件</a:t>
            </a:r>
            <a:r>
              <a:rPr kumimoji="1" lang="en-US" altLang="ja-GB" dirty="0"/>
              <a:t>1 and not (</a:t>
            </a:r>
            <a:r>
              <a:rPr kumimoji="1" lang="ja-GB" altLang="en-US" dirty="0"/>
              <a:t>条件</a:t>
            </a:r>
            <a:r>
              <a:rPr kumimoji="1" lang="en-US" altLang="ja-GB" dirty="0"/>
              <a:t>2) </a:t>
            </a:r>
            <a:r>
              <a:rPr kumimoji="1" lang="ja-JP" altLang="en-US"/>
              <a:t>　　</a:t>
            </a:r>
            <a:r>
              <a:rPr kumimoji="1" lang="en-US" altLang="ja-JP" dirty="0"/>
              <a:t> </a:t>
            </a:r>
            <a:r>
              <a:rPr kumimoji="1" lang="en-US" altLang="ja-GB" dirty="0"/>
              <a:t>→ </a:t>
            </a:r>
            <a:r>
              <a:rPr kumimoji="1" lang="ja-GB" altLang="en-US" dirty="0"/>
              <a:t>結果</a:t>
            </a:r>
            <a:r>
              <a:rPr kumimoji="1" lang="en-US" altLang="ja-GB" dirty="0"/>
              <a:t>2</a:t>
            </a:r>
          </a:p>
          <a:p>
            <a:r>
              <a:rPr kumimoji="1" lang="en-US" altLang="ja-GB" dirty="0"/>
              <a:t>not(</a:t>
            </a:r>
            <a:r>
              <a:rPr kumimoji="1" lang="ja-GB" altLang="en-US" dirty="0"/>
              <a:t>条件</a:t>
            </a:r>
            <a:r>
              <a:rPr kumimoji="1" lang="en-US" altLang="ja-GB" dirty="0"/>
              <a:t>1) and </a:t>
            </a:r>
            <a:r>
              <a:rPr kumimoji="1" lang="ja-GB" altLang="en-US" dirty="0"/>
              <a:t>条件</a:t>
            </a:r>
            <a:r>
              <a:rPr kumimoji="1" lang="en-US" altLang="ja-GB" dirty="0"/>
              <a:t>2   </a:t>
            </a:r>
            <a:r>
              <a:rPr kumimoji="1" lang="ja-JP" altLang="en-US"/>
              <a:t>　　</a:t>
            </a:r>
            <a:r>
              <a:rPr kumimoji="1" lang="en-US" altLang="ja-GB" dirty="0"/>
              <a:t>→ </a:t>
            </a:r>
            <a:r>
              <a:rPr kumimoji="1" lang="ja-GB" altLang="en-US" dirty="0"/>
              <a:t>結果</a:t>
            </a:r>
            <a:r>
              <a:rPr kumimoji="1" lang="en-US" altLang="ja-GB" dirty="0"/>
              <a:t>3</a:t>
            </a:r>
          </a:p>
          <a:p>
            <a:r>
              <a:rPr kumimoji="1" lang="en-US" altLang="ja-GB" dirty="0"/>
              <a:t>not(</a:t>
            </a:r>
            <a:r>
              <a:rPr kumimoji="1" lang="ja-GB" altLang="en-US" dirty="0"/>
              <a:t>条件</a:t>
            </a:r>
            <a:r>
              <a:rPr kumimoji="1" lang="en-US" altLang="ja-GB" dirty="0"/>
              <a:t>1) and not(</a:t>
            </a:r>
            <a:r>
              <a:rPr kumimoji="1" lang="ja-GB" altLang="en-US" dirty="0"/>
              <a:t>条件</a:t>
            </a:r>
            <a:r>
              <a:rPr kumimoji="1" lang="en-US" altLang="ja-GB" dirty="0"/>
              <a:t>2)   → </a:t>
            </a:r>
            <a:r>
              <a:rPr kumimoji="1" lang="ja-GB" altLang="en-US" dirty="0"/>
              <a:t>結果</a:t>
            </a:r>
            <a:r>
              <a:rPr kumimoji="1" lang="en-US" altLang="ja-GB" dirty="0"/>
              <a:t>2</a:t>
            </a:r>
            <a:endParaRPr kumimoji="1" lang="ja-GB" altLang="en-US" dirty="0"/>
          </a:p>
        </p:txBody>
      </p:sp>
    </p:spTree>
    <p:extLst>
      <p:ext uri="{BB962C8B-B14F-4D97-AF65-F5344CB8AC3E}">
        <p14:creationId xmlns:p14="http://schemas.microsoft.com/office/powerpoint/2010/main" val="1564936166"/>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3B15F-B48F-3AD6-92AB-99297E249B6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A5BAD98-264C-BB46-C4E5-A7ABE3BC7D9F}"/>
              </a:ext>
            </a:extLst>
          </p:cNvPr>
          <p:cNvSpPr>
            <a:spLocks noGrp="1"/>
          </p:cNvSpPr>
          <p:nvPr>
            <p:ph type="title"/>
          </p:nvPr>
        </p:nvSpPr>
        <p:spPr/>
        <p:txBody>
          <a:bodyPr/>
          <a:lstStyle/>
          <a:p>
            <a:r>
              <a:rPr kumimoji="1" lang="ja-GB" altLang="en-US" dirty="0"/>
              <a:t>決定表（</a:t>
            </a:r>
            <a:r>
              <a:rPr kumimoji="1" lang="en-US" altLang="ja-GB" dirty="0"/>
              <a:t>Decision Table</a:t>
            </a:r>
            <a:r>
              <a:rPr kumimoji="1" lang="ja-GB" altLang="en-US" dirty="0"/>
              <a:t>）の</a:t>
            </a:r>
            <a:r>
              <a:rPr lang="ja-GB" altLang="en-US" dirty="0"/>
              <a:t>基本的な記法</a:t>
            </a:r>
            <a:endParaRPr kumimoji="1" lang="ja-GB" altLang="en-US" dirty="0"/>
          </a:p>
        </p:txBody>
      </p:sp>
      <p:sp>
        <p:nvSpPr>
          <p:cNvPr id="3" name="コンテンツ プレースホルダー 2">
            <a:extLst>
              <a:ext uri="{FF2B5EF4-FFF2-40B4-BE49-F238E27FC236}">
                <a16:creationId xmlns:a16="http://schemas.microsoft.com/office/drawing/2014/main" id="{CA959D03-34DE-D8DA-9F2D-A985583BC2D4}"/>
              </a:ext>
            </a:extLst>
          </p:cNvPr>
          <p:cNvSpPr>
            <a:spLocks noGrp="1"/>
          </p:cNvSpPr>
          <p:nvPr>
            <p:ph idx="1"/>
          </p:nvPr>
        </p:nvSpPr>
        <p:spPr/>
        <p:txBody>
          <a:bodyPr/>
          <a:lstStyle/>
          <a:p>
            <a:pPr marL="0" indent="0">
              <a:buNone/>
            </a:pPr>
            <a:r>
              <a:rPr lang="ja-GB" altLang="en-US" dirty="0"/>
              <a:t>条件と結果の対応関係を一覧できる表</a:t>
            </a:r>
            <a:endParaRPr lang="en-US" altLang="ja-GB" dirty="0"/>
          </a:p>
          <a:p>
            <a:pPr marL="0" indent="0">
              <a:buNone/>
            </a:pPr>
            <a:endParaRPr lang="en-US" altLang="ja-GB" dirty="0"/>
          </a:p>
          <a:p>
            <a:pPr marL="0" indent="0">
              <a:buNone/>
            </a:pPr>
            <a:endParaRPr lang="en-US" altLang="ja-GB" dirty="0"/>
          </a:p>
          <a:p>
            <a:pPr marL="0" indent="0">
              <a:buNone/>
            </a:pPr>
            <a:endParaRPr lang="en-US" altLang="ja-GB" dirty="0"/>
          </a:p>
          <a:p>
            <a:pPr marL="0" indent="0">
              <a:buNone/>
            </a:pPr>
            <a:endParaRPr lang="en-US" altLang="ja-GB" dirty="0"/>
          </a:p>
          <a:p>
            <a:pPr lvl="3"/>
            <a:endParaRPr lang="en-US" altLang="ja-GB" dirty="0"/>
          </a:p>
          <a:p>
            <a:pPr lvl="3"/>
            <a:endParaRPr lang="en-US" altLang="ja-GB" dirty="0"/>
          </a:p>
          <a:p>
            <a:pPr lvl="4"/>
            <a:endParaRPr lang="en-US" altLang="ja-GB" dirty="0"/>
          </a:p>
          <a:p>
            <a:pPr marL="0" indent="0">
              <a:buNone/>
            </a:pPr>
            <a:r>
              <a:rPr lang="ja-GB" altLang="en-US" dirty="0"/>
              <a:t>表現方法</a:t>
            </a:r>
            <a:endParaRPr lang="en-US" altLang="ja-GB" dirty="0"/>
          </a:p>
          <a:p>
            <a:pPr lvl="1"/>
            <a:r>
              <a:rPr lang="ja-GB" altLang="en-US" dirty="0"/>
              <a:t>国家規格（</a:t>
            </a:r>
            <a:r>
              <a:rPr lang="en-US" altLang="ja-GB" dirty="0"/>
              <a:t>JIS X 0125:1986</a:t>
            </a:r>
            <a:r>
              <a:rPr lang="ja-GB" altLang="en-US" dirty="0"/>
              <a:t>）として定められた厳密な記法が存在するが，</a:t>
            </a:r>
            <a:br>
              <a:rPr lang="en-US" altLang="ja-GB" dirty="0"/>
            </a:br>
            <a:r>
              <a:rPr lang="ja-GB" altLang="en-US" dirty="0"/>
              <a:t>本授業では簡単のため概念的な説明のみに留める</a:t>
            </a:r>
          </a:p>
          <a:p>
            <a:pPr lvl="1"/>
            <a:r>
              <a:rPr kumimoji="1" lang="ja-GB" altLang="en-US" dirty="0"/>
              <a:t>同一の内容をプログラミング言語（</a:t>
            </a:r>
            <a:r>
              <a:rPr lang="ja-GB" altLang="en-US" dirty="0">
                <a:solidFill>
                  <a:srgbClr val="0070C0"/>
                </a:solidFill>
              </a:rPr>
              <a:t>条件分岐</a:t>
            </a:r>
            <a:r>
              <a:rPr lang="ja-GB" altLang="en-US" dirty="0"/>
              <a:t>）やフローチャート（</a:t>
            </a:r>
            <a:r>
              <a:rPr lang="ja-GB" altLang="en-US" dirty="0">
                <a:solidFill>
                  <a:srgbClr val="0070C0"/>
                </a:solidFill>
              </a:rPr>
              <a:t>ツリー</a:t>
            </a:r>
            <a:r>
              <a:rPr lang="ja-GB" altLang="en-US" dirty="0"/>
              <a:t>）で</a:t>
            </a:r>
            <a:br>
              <a:rPr lang="en-US" altLang="ja-GB" dirty="0"/>
            </a:br>
            <a:r>
              <a:rPr lang="ja-GB" altLang="en-US" dirty="0"/>
              <a:t>表現することもできる</a:t>
            </a:r>
            <a:endParaRPr kumimoji="1" lang="ja-GB" altLang="en-US" dirty="0"/>
          </a:p>
        </p:txBody>
      </p:sp>
      <p:graphicFrame>
        <p:nvGraphicFramePr>
          <p:cNvPr id="6" name="表 5">
            <a:extLst>
              <a:ext uri="{FF2B5EF4-FFF2-40B4-BE49-F238E27FC236}">
                <a16:creationId xmlns:a16="http://schemas.microsoft.com/office/drawing/2014/main" id="{B451A986-FDBF-B341-631C-4B0F4F145132}"/>
              </a:ext>
            </a:extLst>
          </p:cNvPr>
          <p:cNvGraphicFramePr>
            <a:graphicFrameLocks noGrp="1"/>
          </p:cNvGraphicFramePr>
          <p:nvPr/>
        </p:nvGraphicFramePr>
        <p:xfrm>
          <a:off x="2411999" y="1322869"/>
          <a:ext cx="4320000" cy="1854200"/>
        </p:xfrm>
        <a:graphic>
          <a:graphicData uri="http://schemas.openxmlformats.org/drawingml/2006/table">
            <a:tbl>
              <a:tblPr bandRow="1">
                <a:tableStyleId>{5C22544A-7EE6-4342-B048-85BDC9FD1C3A}</a:tableStyleId>
              </a:tblPr>
              <a:tblGrid>
                <a:gridCol w="864000">
                  <a:extLst>
                    <a:ext uri="{9D8B030D-6E8A-4147-A177-3AD203B41FA5}">
                      <a16:colId xmlns:a16="http://schemas.microsoft.com/office/drawing/2014/main" val="196654212"/>
                    </a:ext>
                  </a:extLst>
                </a:gridCol>
                <a:gridCol w="864000">
                  <a:extLst>
                    <a:ext uri="{9D8B030D-6E8A-4147-A177-3AD203B41FA5}">
                      <a16:colId xmlns:a16="http://schemas.microsoft.com/office/drawing/2014/main" val="3587798998"/>
                    </a:ext>
                  </a:extLst>
                </a:gridCol>
                <a:gridCol w="864000">
                  <a:extLst>
                    <a:ext uri="{9D8B030D-6E8A-4147-A177-3AD203B41FA5}">
                      <a16:colId xmlns:a16="http://schemas.microsoft.com/office/drawing/2014/main" val="730188351"/>
                    </a:ext>
                  </a:extLst>
                </a:gridCol>
                <a:gridCol w="864000">
                  <a:extLst>
                    <a:ext uri="{9D8B030D-6E8A-4147-A177-3AD203B41FA5}">
                      <a16:colId xmlns:a16="http://schemas.microsoft.com/office/drawing/2014/main" val="1623471268"/>
                    </a:ext>
                  </a:extLst>
                </a:gridCol>
                <a:gridCol w="864000">
                  <a:extLst>
                    <a:ext uri="{9D8B030D-6E8A-4147-A177-3AD203B41FA5}">
                      <a16:colId xmlns:a16="http://schemas.microsoft.com/office/drawing/2014/main" val="211111563"/>
                    </a:ext>
                  </a:extLst>
                </a:gridCol>
              </a:tblGrid>
              <a:tr h="370840">
                <a:tc>
                  <a:txBody>
                    <a:bodyPr/>
                    <a:lstStyle/>
                    <a:p>
                      <a:pPr algn="ctr"/>
                      <a:r>
                        <a:rPr lang="ja-GB" altLang="en-US" b="1" dirty="0">
                          <a:solidFill>
                            <a:srgbClr val="002060"/>
                          </a:solidFill>
                        </a:rPr>
                        <a:t>条件</a:t>
                      </a:r>
                      <a:r>
                        <a:rPr lang="en-US" altLang="ja-GB" b="1" dirty="0">
                          <a:solidFill>
                            <a:srgbClr val="002060"/>
                          </a:solidFill>
                        </a:rPr>
                        <a:t>1</a:t>
                      </a:r>
                      <a:endParaRPr lang="ja-GB"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20000"/>
                        <a:lumOff val="80000"/>
                      </a:schemeClr>
                    </a:solidFill>
                  </a:tcPr>
                </a:tc>
                <a:extLst>
                  <a:ext uri="{0D108BD9-81ED-4DB2-BD59-A6C34878D82A}">
                    <a16:rowId xmlns:a16="http://schemas.microsoft.com/office/drawing/2014/main" val="520366626"/>
                  </a:ext>
                </a:extLst>
              </a:tr>
              <a:tr h="370840">
                <a:tc>
                  <a:txBody>
                    <a:bodyPr/>
                    <a:lstStyle/>
                    <a:p>
                      <a:pPr algn="ctr"/>
                      <a:r>
                        <a:rPr lang="ja-GB" altLang="en-US" b="1" dirty="0">
                          <a:solidFill>
                            <a:srgbClr val="002060"/>
                          </a:solidFill>
                        </a:rPr>
                        <a:t>条件</a:t>
                      </a:r>
                      <a:r>
                        <a:rPr lang="en-US" altLang="ja-GB" b="1" dirty="0">
                          <a:solidFill>
                            <a:srgbClr val="002060"/>
                          </a:solidFill>
                        </a:rPr>
                        <a:t>2</a:t>
                      </a:r>
                      <a:endParaRPr lang="ja-GB"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552777604"/>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1</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20000"/>
                        <a:lumOff val="80000"/>
                      </a:schemeClr>
                    </a:solidFill>
                  </a:tcPr>
                </a:tc>
                <a:extLst>
                  <a:ext uri="{0D108BD9-81ED-4DB2-BD59-A6C34878D82A}">
                    <a16:rowId xmlns:a16="http://schemas.microsoft.com/office/drawing/2014/main" val="3194411520"/>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2</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solidFill>
                      <a:schemeClr val="accent6">
                        <a:lumMod val="20000"/>
                        <a:lumOff val="80000"/>
                      </a:schemeClr>
                    </a:solidFill>
                  </a:tcPr>
                </a:tc>
                <a:tc>
                  <a:txBody>
                    <a:bodyPr/>
                    <a:lstStyle/>
                    <a:p>
                      <a:pPr algn="ctr"/>
                      <a:endParaRPr lang="ja-GB" altLang="en-US" dirty="0">
                        <a:solidFill>
                          <a:srgbClr val="2D350F"/>
                        </a:solidFill>
                      </a:endParaRPr>
                    </a:p>
                  </a:txBody>
                  <a:tcPr>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solidFill>
                      <a:schemeClr val="accent6">
                        <a:lumMod val="20000"/>
                        <a:lumOff val="80000"/>
                      </a:schemeClr>
                    </a:solidFill>
                  </a:tcPr>
                </a:tc>
                <a:extLst>
                  <a:ext uri="{0D108BD9-81ED-4DB2-BD59-A6C34878D82A}">
                    <a16:rowId xmlns:a16="http://schemas.microsoft.com/office/drawing/2014/main" val="2249085906"/>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3</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453916129"/>
                  </a:ext>
                </a:extLst>
              </a:tr>
            </a:tbl>
          </a:graphicData>
        </a:graphic>
      </p:graphicFrame>
      <p:sp>
        <p:nvSpPr>
          <p:cNvPr id="5" name="テキスト ボックス 4">
            <a:extLst>
              <a:ext uri="{FF2B5EF4-FFF2-40B4-BE49-F238E27FC236}">
                <a16:creationId xmlns:a16="http://schemas.microsoft.com/office/drawing/2014/main" id="{538ADD3A-A859-B878-DFD0-4BD0BCBFD1A7}"/>
              </a:ext>
            </a:extLst>
          </p:cNvPr>
          <p:cNvSpPr txBox="1"/>
          <p:nvPr/>
        </p:nvSpPr>
        <p:spPr>
          <a:xfrm>
            <a:off x="556182" y="1510881"/>
            <a:ext cx="1338828" cy="369332"/>
          </a:xfrm>
          <a:prstGeom prst="rect">
            <a:avLst/>
          </a:prstGeom>
          <a:noFill/>
        </p:spPr>
        <p:txBody>
          <a:bodyPr wrap="none" rtlCol="0">
            <a:spAutoFit/>
          </a:bodyPr>
          <a:lstStyle/>
          <a:p>
            <a:r>
              <a:rPr kumimoji="1" lang="ja-GB" altLang="en-US" dirty="0">
                <a:solidFill>
                  <a:srgbClr val="2D350F"/>
                </a:solidFill>
              </a:rPr>
              <a:t>条件記述部</a:t>
            </a:r>
          </a:p>
        </p:txBody>
      </p:sp>
      <p:sp>
        <p:nvSpPr>
          <p:cNvPr id="9" name="テキスト ボックス 8">
            <a:extLst>
              <a:ext uri="{FF2B5EF4-FFF2-40B4-BE49-F238E27FC236}">
                <a16:creationId xmlns:a16="http://schemas.microsoft.com/office/drawing/2014/main" id="{A5540CC5-0C40-E39C-6F40-643EE0AB3388}"/>
              </a:ext>
            </a:extLst>
          </p:cNvPr>
          <p:cNvSpPr txBox="1"/>
          <p:nvPr/>
        </p:nvSpPr>
        <p:spPr>
          <a:xfrm>
            <a:off x="556182" y="2492839"/>
            <a:ext cx="1338828" cy="369332"/>
          </a:xfrm>
          <a:prstGeom prst="rect">
            <a:avLst/>
          </a:prstGeom>
          <a:noFill/>
        </p:spPr>
        <p:txBody>
          <a:bodyPr wrap="none" rtlCol="0">
            <a:spAutoFit/>
          </a:bodyPr>
          <a:lstStyle/>
          <a:p>
            <a:r>
              <a:rPr kumimoji="1" lang="ja-GB" altLang="en-US" dirty="0">
                <a:solidFill>
                  <a:srgbClr val="2D350F"/>
                </a:solidFill>
              </a:rPr>
              <a:t>動作記述部</a:t>
            </a:r>
          </a:p>
        </p:txBody>
      </p:sp>
      <p:sp>
        <p:nvSpPr>
          <p:cNvPr id="10" name="テキスト ボックス 9">
            <a:extLst>
              <a:ext uri="{FF2B5EF4-FFF2-40B4-BE49-F238E27FC236}">
                <a16:creationId xmlns:a16="http://schemas.microsoft.com/office/drawing/2014/main" id="{FDD71CBD-4743-0EAB-AC75-C17AFF5B31F2}"/>
              </a:ext>
            </a:extLst>
          </p:cNvPr>
          <p:cNvSpPr txBox="1"/>
          <p:nvPr/>
        </p:nvSpPr>
        <p:spPr>
          <a:xfrm>
            <a:off x="2411999" y="3419785"/>
            <a:ext cx="877163" cy="369332"/>
          </a:xfrm>
          <a:prstGeom prst="rect">
            <a:avLst/>
          </a:prstGeom>
          <a:noFill/>
        </p:spPr>
        <p:txBody>
          <a:bodyPr wrap="none" rtlCol="0">
            <a:spAutoFit/>
          </a:bodyPr>
          <a:lstStyle/>
          <a:p>
            <a:r>
              <a:rPr kumimoji="1" lang="ja-GB" altLang="en-US" dirty="0">
                <a:solidFill>
                  <a:srgbClr val="2D350F"/>
                </a:solidFill>
              </a:rPr>
              <a:t>記述部</a:t>
            </a:r>
          </a:p>
        </p:txBody>
      </p:sp>
      <p:sp>
        <p:nvSpPr>
          <p:cNvPr id="11" name="テキスト ボックス 10">
            <a:extLst>
              <a:ext uri="{FF2B5EF4-FFF2-40B4-BE49-F238E27FC236}">
                <a16:creationId xmlns:a16="http://schemas.microsoft.com/office/drawing/2014/main" id="{BDC65BA3-FADC-2602-F014-55475238DC12}"/>
              </a:ext>
            </a:extLst>
          </p:cNvPr>
          <p:cNvSpPr txBox="1"/>
          <p:nvPr/>
        </p:nvSpPr>
        <p:spPr>
          <a:xfrm>
            <a:off x="4551065" y="3419785"/>
            <a:ext cx="877163" cy="369332"/>
          </a:xfrm>
          <a:prstGeom prst="rect">
            <a:avLst/>
          </a:prstGeom>
          <a:noFill/>
        </p:spPr>
        <p:txBody>
          <a:bodyPr wrap="none" rtlCol="0">
            <a:spAutoFit/>
          </a:bodyPr>
          <a:lstStyle/>
          <a:p>
            <a:r>
              <a:rPr kumimoji="1" lang="ja-GB" altLang="en-US" dirty="0">
                <a:solidFill>
                  <a:srgbClr val="2D350F"/>
                </a:solidFill>
              </a:rPr>
              <a:t>指定部</a:t>
            </a:r>
          </a:p>
        </p:txBody>
      </p:sp>
      <p:sp>
        <p:nvSpPr>
          <p:cNvPr id="12" name="テキスト ボックス 11">
            <a:extLst>
              <a:ext uri="{FF2B5EF4-FFF2-40B4-BE49-F238E27FC236}">
                <a16:creationId xmlns:a16="http://schemas.microsoft.com/office/drawing/2014/main" id="{7BF0C5FD-2663-3C22-03BF-2138CDC774F6}"/>
              </a:ext>
            </a:extLst>
          </p:cNvPr>
          <p:cNvSpPr txBox="1"/>
          <p:nvPr/>
        </p:nvSpPr>
        <p:spPr>
          <a:xfrm>
            <a:off x="7045458" y="1510881"/>
            <a:ext cx="877163" cy="369332"/>
          </a:xfrm>
          <a:prstGeom prst="rect">
            <a:avLst/>
          </a:prstGeom>
          <a:noFill/>
        </p:spPr>
        <p:txBody>
          <a:bodyPr wrap="none" rtlCol="0">
            <a:spAutoFit/>
          </a:bodyPr>
          <a:lstStyle/>
          <a:p>
            <a:r>
              <a:rPr kumimoji="1" lang="ja-GB" altLang="en-US" dirty="0">
                <a:solidFill>
                  <a:srgbClr val="2D350F"/>
                </a:solidFill>
              </a:rPr>
              <a:t>条件部</a:t>
            </a:r>
          </a:p>
        </p:txBody>
      </p:sp>
      <p:sp>
        <p:nvSpPr>
          <p:cNvPr id="13" name="テキスト ボックス 12">
            <a:extLst>
              <a:ext uri="{FF2B5EF4-FFF2-40B4-BE49-F238E27FC236}">
                <a16:creationId xmlns:a16="http://schemas.microsoft.com/office/drawing/2014/main" id="{35BF1BEA-3B42-1F47-EFAB-886A85144607}"/>
              </a:ext>
            </a:extLst>
          </p:cNvPr>
          <p:cNvSpPr txBox="1"/>
          <p:nvPr/>
        </p:nvSpPr>
        <p:spPr>
          <a:xfrm>
            <a:off x="7045458" y="2492839"/>
            <a:ext cx="877163" cy="369332"/>
          </a:xfrm>
          <a:prstGeom prst="rect">
            <a:avLst/>
          </a:prstGeom>
          <a:noFill/>
        </p:spPr>
        <p:txBody>
          <a:bodyPr wrap="none" rtlCol="0">
            <a:spAutoFit/>
          </a:bodyPr>
          <a:lstStyle/>
          <a:p>
            <a:r>
              <a:rPr kumimoji="1" lang="ja-GB" altLang="en-US" dirty="0">
                <a:solidFill>
                  <a:srgbClr val="2D350F"/>
                </a:solidFill>
              </a:rPr>
              <a:t>動作部</a:t>
            </a:r>
          </a:p>
        </p:txBody>
      </p:sp>
      <p:sp>
        <p:nvSpPr>
          <p:cNvPr id="14" name="左中かっこ 13">
            <a:extLst>
              <a:ext uri="{FF2B5EF4-FFF2-40B4-BE49-F238E27FC236}">
                <a16:creationId xmlns:a16="http://schemas.microsoft.com/office/drawing/2014/main" id="{4FC4EEF8-36B3-F36B-FBC4-0A70356900DE}"/>
              </a:ext>
            </a:extLst>
          </p:cNvPr>
          <p:cNvSpPr/>
          <p:nvPr/>
        </p:nvSpPr>
        <p:spPr>
          <a:xfrm rot="10800000">
            <a:off x="6794622" y="1322868"/>
            <a:ext cx="155448" cy="717483"/>
          </a:xfrm>
          <a:prstGeom prst="leftBrace">
            <a:avLst/>
          </a:prstGeom>
          <a:ln w="19050">
            <a:solidFill>
              <a:srgbClr val="2D350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GB" altLang="en-US"/>
          </a:p>
        </p:txBody>
      </p:sp>
      <p:sp>
        <p:nvSpPr>
          <p:cNvPr id="15" name="左中かっこ 14">
            <a:extLst>
              <a:ext uri="{FF2B5EF4-FFF2-40B4-BE49-F238E27FC236}">
                <a16:creationId xmlns:a16="http://schemas.microsoft.com/office/drawing/2014/main" id="{89BEFE23-1D9F-1AE4-1E6C-132D2955503B}"/>
              </a:ext>
            </a:extLst>
          </p:cNvPr>
          <p:cNvSpPr/>
          <p:nvPr/>
        </p:nvSpPr>
        <p:spPr>
          <a:xfrm rot="10800000">
            <a:off x="6794622" y="2070502"/>
            <a:ext cx="155448" cy="1106566"/>
          </a:xfrm>
          <a:prstGeom prst="leftBrace">
            <a:avLst/>
          </a:prstGeom>
          <a:ln w="19050">
            <a:solidFill>
              <a:srgbClr val="2D350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GB" altLang="en-US"/>
          </a:p>
        </p:txBody>
      </p:sp>
      <p:sp>
        <p:nvSpPr>
          <p:cNvPr id="16" name="左中かっこ 15">
            <a:extLst>
              <a:ext uri="{FF2B5EF4-FFF2-40B4-BE49-F238E27FC236}">
                <a16:creationId xmlns:a16="http://schemas.microsoft.com/office/drawing/2014/main" id="{0113B208-4C87-931B-5D94-8F488D9811DD}"/>
              </a:ext>
            </a:extLst>
          </p:cNvPr>
          <p:cNvSpPr/>
          <p:nvPr/>
        </p:nvSpPr>
        <p:spPr>
          <a:xfrm rot="16200000">
            <a:off x="2772858" y="2875900"/>
            <a:ext cx="155448" cy="877165"/>
          </a:xfrm>
          <a:prstGeom prst="leftBrace">
            <a:avLst/>
          </a:prstGeom>
          <a:ln w="19050">
            <a:solidFill>
              <a:srgbClr val="2D350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GB" altLang="en-US"/>
          </a:p>
        </p:txBody>
      </p:sp>
      <p:sp>
        <p:nvSpPr>
          <p:cNvPr id="17" name="左中かっこ 16">
            <a:extLst>
              <a:ext uri="{FF2B5EF4-FFF2-40B4-BE49-F238E27FC236}">
                <a16:creationId xmlns:a16="http://schemas.microsoft.com/office/drawing/2014/main" id="{519C1C25-2C0E-BADF-D19A-3878B31F04E6}"/>
              </a:ext>
            </a:extLst>
          </p:cNvPr>
          <p:cNvSpPr/>
          <p:nvPr/>
        </p:nvSpPr>
        <p:spPr>
          <a:xfrm rot="16200000">
            <a:off x="4952187" y="1612393"/>
            <a:ext cx="155448" cy="3404180"/>
          </a:xfrm>
          <a:prstGeom prst="leftBrace">
            <a:avLst/>
          </a:prstGeom>
          <a:ln w="19050">
            <a:solidFill>
              <a:srgbClr val="2D350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GB" altLang="en-US"/>
          </a:p>
        </p:txBody>
      </p:sp>
      <p:cxnSp>
        <p:nvCxnSpPr>
          <p:cNvPr id="19" name="直線コネクタ 18">
            <a:extLst>
              <a:ext uri="{FF2B5EF4-FFF2-40B4-BE49-F238E27FC236}">
                <a16:creationId xmlns:a16="http://schemas.microsoft.com/office/drawing/2014/main" id="{3E1BF67A-EDED-5F2F-7ADC-60EB176CAA80}"/>
              </a:ext>
            </a:extLst>
          </p:cNvPr>
          <p:cNvCxnSpPr>
            <a:cxnSpLocks/>
            <a:stCxn id="5" idx="3"/>
          </p:cNvCxnSpPr>
          <p:nvPr/>
        </p:nvCxnSpPr>
        <p:spPr>
          <a:xfrm flipV="1">
            <a:off x="1895010" y="1510881"/>
            <a:ext cx="603932" cy="184666"/>
          </a:xfrm>
          <a:prstGeom prst="line">
            <a:avLst/>
          </a:prstGeom>
          <a:ln>
            <a:solidFill>
              <a:srgbClr val="2F2523"/>
            </a:solidFill>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850ACCA1-2F2A-34A1-4CC1-588D8B8FA2DD}"/>
              </a:ext>
            </a:extLst>
          </p:cNvPr>
          <p:cNvCxnSpPr>
            <a:cxnSpLocks/>
            <a:stCxn id="5" idx="3"/>
          </p:cNvCxnSpPr>
          <p:nvPr/>
        </p:nvCxnSpPr>
        <p:spPr>
          <a:xfrm>
            <a:off x="1895010" y="1695547"/>
            <a:ext cx="603932" cy="195546"/>
          </a:xfrm>
          <a:prstGeom prst="line">
            <a:avLst/>
          </a:prstGeom>
          <a:ln>
            <a:solidFill>
              <a:srgbClr val="2F2523"/>
            </a:solidFill>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EC3D79B9-3ABF-8A47-DE51-71D171B7F533}"/>
              </a:ext>
            </a:extLst>
          </p:cNvPr>
          <p:cNvCxnSpPr>
            <a:cxnSpLocks/>
            <a:stCxn id="9" idx="3"/>
          </p:cNvCxnSpPr>
          <p:nvPr/>
        </p:nvCxnSpPr>
        <p:spPr>
          <a:xfrm flipV="1">
            <a:off x="1895010" y="2248034"/>
            <a:ext cx="654037" cy="429471"/>
          </a:xfrm>
          <a:prstGeom prst="line">
            <a:avLst/>
          </a:prstGeom>
          <a:ln>
            <a:solidFill>
              <a:srgbClr val="2F2523"/>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60FE2E20-6AED-A65E-3FAB-CBCD88F0FB03}"/>
              </a:ext>
            </a:extLst>
          </p:cNvPr>
          <p:cNvCxnSpPr>
            <a:cxnSpLocks/>
            <a:stCxn id="9" idx="3"/>
          </p:cNvCxnSpPr>
          <p:nvPr/>
        </p:nvCxnSpPr>
        <p:spPr>
          <a:xfrm flipV="1">
            <a:off x="1895010" y="2620712"/>
            <a:ext cx="654037" cy="56793"/>
          </a:xfrm>
          <a:prstGeom prst="line">
            <a:avLst/>
          </a:prstGeom>
          <a:ln>
            <a:solidFill>
              <a:srgbClr val="2F2523"/>
            </a:solidFill>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EBEAD9F2-E349-86DC-9734-9015864D5D2B}"/>
              </a:ext>
            </a:extLst>
          </p:cNvPr>
          <p:cNvCxnSpPr>
            <a:cxnSpLocks/>
          </p:cNvCxnSpPr>
          <p:nvPr/>
        </p:nvCxnSpPr>
        <p:spPr>
          <a:xfrm>
            <a:off x="1895010" y="2674456"/>
            <a:ext cx="603932" cy="359990"/>
          </a:xfrm>
          <a:prstGeom prst="line">
            <a:avLst/>
          </a:prstGeom>
          <a:ln>
            <a:solidFill>
              <a:srgbClr val="2F252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4429281"/>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44E6BE-39B0-5586-6C28-DECFFCDE0831}"/>
              </a:ext>
            </a:extLst>
          </p:cNvPr>
          <p:cNvSpPr>
            <a:spLocks noGrp="1"/>
          </p:cNvSpPr>
          <p:nvPr>
            <p:ph type="title"/>
          </p:nvPr>
        </p:nvSpPr>
        <p:spPr/>
        <p:txBody>
          <a:bodyPr/>
          <a:lstStyle/>
          <a:p>
            <a:r>
              <a:rPr kumimoji="1" lang="ja-GB" altLang="en-US" dirty="0"/>
              <a:t>条件分岐を用いた記述</a:t>
            </a:r>
          </a:p>
        </p:txBody>
      </p:sp>
      <p:sp>
        <p:nvSpPr>
          <p:cNvPr id="4" name="テキスト ボックス 3">
            <a:extLst>
              <a:ext uri="{FF2B5EF4-FFF2-40B4-BE49-F238E27FC236}">
                <a16:creationId xmlns:a16="http://schemas.microsoft.com/office/drawing/2014/main" id="{C90407DE-A2D1-C92F-7268-35805A710FC8}"/>
              </a:ext>
            </a:extLst>
          </p:cNvPr>
          <p:cNvSpPr txBox="1"/>
          <p:nvPr/>
        </p:nvSpPr>
        <p:spPr>
          <a:xfrm>
            <a:off x="5138828" y="2517554"/>
            <a:ext cx="3336234" cy="2677656"/>
          </a:xfrm>
          <a:prstGeom prst="rect">
            <a:avLst/>
          </a:prstGeom>
          <a:noFill/>
        </p:spPr>
        <p:txBody>
          <a:bodyPr wrap="none" rtlCol="0">
            <a:spAutoFit/>
          </a:bodyPr>
          <a:lstStyle/>
          <a:p>
            <a:r>
              <a:rPr kumimoji="1" lang="ja-JP" altLang="en-US" sz="1400" b="1">
                <a:solidFill>
                  <a:srgbClr val="0070C0"/>
                </a:solidFill>
              </a:rPr>
              <a:t>もし（</a:t>
            </a:r>
            <a:r>
              <a:rPr kumimoji="1" lang="ja-GB" altLang="en-US" sz="1400" b="1" dirty="0">
                <a:solidFill>
                  <a:srgbClr val="0070C0"/>
                </a:solidFill>
              </a:rPr>
              <a:t>条件</a:t>
            </a:r>
            <a:r>
              <a:rPr kumimoji="1" lang="en-US" altLang="ja-GB" sz="1400" b="1" dirty="0">
                <a:solidFill>
                  <a:srgbClr val="0070C0"/>
                </a:solidFill>
              </a:rPr>
              <a:t>1 AND </a:t>
            </a:r>
            <a:r>
              <a:rPr kumimoji="1" lang="ja-GB" altLang="en-US" sz="1400" b="1" dirty="0">
                <a:solidFill>
                  <a:srgbClr val="0070C0"/>
                </a:solidFill>
              </a:rPr>
              <a:t>条件</a:t>
            </a:r>
            <a:r>
              <a:rPr kumimoji="1" lang="en-US" altLang="ja-GB" sz="1400" b="1" dirty="0">
                <a:solidFill>
                  <a:srgbClr val="0070C0"/>
                </a:solidFill>
              </a:rPr>
              <a:t>2</a:t>
            </a:r>
            <a:r>
              <a:rPr kumimoji="1" lang="ja-JP" altLang="en-US" sz="1400" b="1">
                <a:solidFill>
                  <a:srgbClr val="0070C0"/>
                </a:solidFill>
              </a:rPr>
              <a:t>）なら</a:t>
            </a:r>
            <a:r>
              <a:rPr kumimoji="1" lang="ja-JP" altLang="en-US" sz="1400" b="1"/>
              <a:t> </a:t>
            </a:r>
            <a:r>
              <a:rPr kumimoji="1" lang="en-US" altLang="ja-JP" sz="1400" b="1" dirty="0"/>
              <a:t>{</a:t>
            </a:r>
          </a:p>
          <a:p>
            <a:r>
              <a:rPr kumimoji="1" lang="ja-JP" altLang="en-US" sz="1400" b="1"/>
              <a:t>　</a:t>
            </a:r>
            <a:r>
              <a:rPr kumimoji="1" lang="ja-GB" altLang="en-US" sz="1400" b="1" dirty="0"/>
              <a:t>結果</a:t>
            </a:r>
            <a:r>
              <a:rPr kumimoji="1" lang="en-US" altLang="ja-GB" sz="1400" b="1" dirty="0"/>
              <a:t>1</a:t>
            </a:r>
            <a:endParaRPr kumimoji="1" lang="ja-JP" altLang="en-US" sz="1400" b="1"/>
          </a:p>
          <a:p>
            <a:r>
              <a:rPr kumimoji="1" lang="en-US" altLang="ja-JP" sz="1400" b="1" dirty="0"/>
              <a:t>}</a:t>
            </a:r>
          </a:p>
          <a:p>
            <a:r>
              <a:rPr kumimoji="1" lang="ja-JP" altLang="en-US" sz="1400" b="1">
                <a:solidFill>
                  <a:srgbClr val="0070C0"/>
                </a:solidFill>
              </a:rPr>
              <a:t>もし（</a:t>
            </a:r>
            <a:r>
              <a:rPr kumimoji="1" lang="ja-GB" altLang="en-US" sz="1400" b="1" dirty="0">
                <a:solidFill>
                  <a:srgbClr val="0070C0"/>
                </a:solidFill>
              </a:rPr>
              <a:t>条件</a:t>
            </a:r>
            <a:r>
              <a:rPr kumimoji="1" lang="en-US" altLang="ja-GB" sz="1400" b="1" dirty="0">
                <a:solidFill>
                  <a:srgbClr val="0070C0"/>
                </a:solidFill>
              </a:rPr>
              <a:t>1 AND NOT</a:t>
            </a:r>
            <a:r>
              <a:rPr kumimoji="1" lang="ja-GB" altLang="en-US" sz="1400" b="1" dirty="0">
                <a:solidFill>
                  <a:srgbClr val="0070C0"/>
                </a:solidFill>
              </a:rPr>
              <a:t>条件</a:t>
            </a:r>
            <a:r>
              <a:rPr kumimoji="1" lang="en-US" altLang="ja-GB" sz="1400" b="1" dirty="0">
                <a:solidFill>
                  <a:srgbClr val="0070C0"/>
                </a:solidFill>
              </a:rPr>
              <a:t>2</a:t>
            </a:r>
            <a:r>
              <a:rPr kumimoji="1" lang="ja-JP" altLang="en-US" sz="1400" b="1">
                <a:solidFill>
                  <a:srgbClr val="0070C0"/>
                </a:solidFill>
              </a:rPr>
              <a:t>）なら</a:t>
            </a:r>
            <a:r>
              <a:rPr kumimoji="1" lang="ja-JP" altLang="en-US" sz="1400" b="1"/>
              <a:t> </a:t>
            </a:r>
            <a:r>
              <a:rPr kumimoji="1" lang="en-US" altLang="ja-JP" sz="1400" b="1" dirty="0"/>
              <a:t>{</a:t>
            </a:r>
          </a:p>
          <a:p>
            <a:r>
              <a:rPr kumimoji="1" lang="ja-JP" altLang="en-US" sz="1400" b="1"/>
              <a:t>　</a:t>
            </a:r>
            <a:r>
              <a:rPr kumimoji="1" lang="en-US" altLang="ja-JP" sz="1400" b="1" dirty="0"/>
              <a:t> </a:t>
            </a:r>
            <a:r>
              <a:rPr kumimoji="1" lang="ja-GB" altLang="en-US" sz="1400" b="1" dirty="0"/>
              <a:t>結果</a:t>
            </a:r>
            <a:r>
              <a:rPr kumimoji="1" lang="en-US" altLang="ja-GB" sz="1400" b="1" dirty="0"/>
              <a:t>2</a:t>
            </a:r>
            <a:endParaRPr kumimoji="1" lang="ja-JP" altLang="en-US" sz="1400" b="1"/>
          </a:p>
          <a:p>
            <a:r>
              <a:rPr kumimoji="1" lang="en-US" altLang="ja-JP" sz="1400" b="1" dirty="0"/>
              <a:t>}</a:t>
            </a:r>
          </a:p>
          <a:p>
            <a:r>
              <a:rPr kumimoji="1" lang="ja-JP" altLang="en-US" sz="1400" b="1">
                <a:solidFill>
                  <a:srgbClr val="0070C0"/>
                </a:solidFill>
              </a:rPr>
              <a:t>もし（</a:t>
            </a:r>
            <a:r>
              <a:rPr kumimoji="1" lang="en-US" altLang="ja-JP" sz="1400" b="1" dirty="0">
                <a:solidFill>
                  <a:srgbClr val="0070C0"/>
                </a:solidFill>
              </a:rPr>
              <a:t>NOT</a:t>
            </a:r>
            <a:r>
              <a:rPr kumimoji="1" lang="ja-GB" altLang="en-US" sz="1400" b="1" dirty="0">
                <a:solidFill>
                  <a:srgbClr val="0070C0"/>
                </a:solidFill>
              </a:rPr>
              <a:t>条件</a:t>
            </a:r>
            <a:r>
              <a:rPr kumimoji="1" lang="en-US" altLang="ja-GB" sz="1400" b="1" dirty="0">
                <a:solidFill>
                  <a:srgbClr val="0070C0"/>
                </a:solidFill>
              </a:rPr>
              <a:t>1 AND </a:t>
            </a:r>
            <a:r>
              <a:rPr kumimoji="1" lang="ja-GB" altLang="en-US" sz="1400" b="1" dirty="0">
                <a:solidFill>
                  <a:srgbClr val="0070C0"/>
                </a:solidFill>
              </a:rPr>
              <a:t>条件</a:t>
            </a:r>
            <a:r>
              <a:rPr kumimoji="1" lang="en-US" altLang="ja-GB" sz="1400" b="1" dirty="0">
                <a:solidFill>
                  <a:srgbClr val="0070C0"/>
                </a:solidFill>
              </a:rPr>
              <a:t>2</a:t>
            </a:r>
            <a:r>
              <a:rPr kumimoji="1" lang="ja-JP" altLang="en-US" sz="1400" b="1">
                <a:solidFill>
                  <a:srgbClr val="0070C0"/>
                </a:solidFill>
              </a:rPr>
              <a:t>）なら</a:t>
            </a:r>
            <a:r>
              <a:rPr kumimoji="1" lang="ja-JP" altLang="en-US" sz="1400" b="1"/>
              <a:t> </a:t>
            </a:r>
            <a:r>
              <a:rPr kumimoji="1" lang="en-US" altLang="ja-JP" sz="1400" b="1" dirty="0"/>
              <a:t>{</a:t>
            </a:r>
          </a:p>
          <a:p>
            <a:r>
              <a:rPr kumimoji="1" lang="ja-JP" altLang="en-US" sz="1400" b="1"/>
              <a:t>　</a:t>
            </a:r>
            <a:r>
              <a:rPr kumimoji="1" lang="en-US" altLang="ja-JP" sz="1400" b="1" dirty="0"/>
              <a:t> </a:t>
            </a:r>
            <a:r>
              <a:rPr kumimoji="1" lang="ja-GB" altLang="en-US" sz="1400" b="1" dirty="0"/>
              <a:t>結果</a:t>
            </a:r>
            <a:r>
              <a:rPr kumimoji="1" lang="en-US" altLang="ja-GB" sz="1400" b="1" dirty="0"/>
              <a:t>3</a:t>
            </a:r>
            <a:endParaRPr kumimoji="1" lang="ja-JP" altLang="en-US" sz="1400" b="1"/>
          </a:p>
          <a:p>
            <a:r>
              <a:rPr kumimoji="1" lang="en-US" altLang="ja-JP" sz="1400" b="1" dirty="0"/>
              <a:t>}</a:t>
            </a:r>
          </a:p>
          <a:p>
            <a:r>
              <a:rPr kumimoji="1" lang="ja-JP" altLang="en-US" sz="1400" b="1">
                <a:solidFill>
                  <a:srgbClr val="0070C0"/>
                </a:solidFill>
              </a:rPr>
              <a:t>もし（</a:t>
            </a:r>
            <a:r>
              <a:rPr kumimoji="1" lang="en-US" altLang="ja-JP" sz="1400" b="1" dirty="0">
                <a:solidFill>
                  <a:srgbClr val="0070C0"/>
                </a:solidFill>
              </a:rPr>
              <a:t>NOT</a:t>
            </a:r>
            <a:r>
              <a:rPr kumimoji="1" lang="ja-GB" altLang="en-US" sz="1400" b="1" dirty="0">
                <a:solidFill>
                  <a:srgbClr val="0070C0"/>
                </a:solidFill>
              </a:rPr>
              <a:t>条件</a:t>
            </a:r>
            <a:r>
              <a:rPr kumimoji="1" lang="en-US" altLang="ja-GB" sz="1400" b="1" dirty="0">
                <a:solidFill>
                  <a:srgbClr val="0070C0"/>
                </a:solidFill>
              </a:rPr>
              <a:t>1 AND NOT</a:t>
            </a:r>
            <a:r>
              <a:rPr kumimoji="1" lang="ja-GB" altLang="en-US" sz="1400" b="1" dirty="0">
                <a:solidFill>
                  <a:srgbClr val="0070C0"/>
                </a:solidFill>
              </a:rPr>
              <a:t>条件</a:t>
            </a:r>
            <a:r>
              <a:rPr kumimoji="1" lang="en-US" altLang="ja-GB" sz="1400" b="1" dirty="0">
                <a:solidFill>
                  <a:srgbClr val="0070C0"/>
                </a:solidFill>
              </a:rPr>
              <a:t>2</a:t>
            </a:r>
            <a:r>
              <a:rPr kumimoji="1" lang="ja-JP" altLang="en-US" sz="1400" b="1">
                <a:solidFill>
                  <a:srgbClr val="0070C0"/>
                </a:solidFill>
              </a:rPr>
              <a:t>）なら</a:t>
            </a:r>
            <a:r>
              <a:rPr kumimoji="1" lang="ja-JP" altLang="en-US" sz="1400" b="1"/>
              <a:t> </a:t>
            </a:r>
            <a:r>
              <a:rPr kumimoji="1" lang="en-US" altLang="ja-JP" sz="1400" b="1" dirty="0"/>
              <a:t>{</a:t>
            </a:r>
          </a:p>
          <a:p>
            <a:r>
              <a:rPr kumimoji="1" lang="ja-JP" altLang="en-US" sz="1400" b="1"/>
              <a:t>　</a:t>
            </a:r>
            <a:r>
              <a:rPr kumimoji="1" lang="en-US" altLang="ja-JP" sz="1400" b="1" dirty="0"/>
              <a:t> </a:t>
            </a:r>
            <a:r>
              <a:rPr kumimoji="1" lang="ja-GB" altLang="en-US" sz="1400" b="1" dirty="0"/>
              <a:t>結果</a:t>
            </a:r>
            <a:r>
              <a:rPr kumimoji="1" lang="en-US" altLang="ja-GB" sz="1400" b="1" dirty="0"/>
              <a:t>4</a:t>
            </a:r>
            <a:endParaRPr kumimoji="1" lang="ja-JP" altLang="en-US" sz="1400" b="1"/>
          </a:p>
          <a:p>
            <a:r>
              <a:rPr kumimoji="1" lang="en-US" altLang="ja-JP" sz="1400" b="1" dirty="0"/>
              <a:t>}</a:t>
            </a:r>
          </a:p>
        </p:txBody>
      </p:sp>
      <p:graphicFrame>
        <p:nvGraphicFramePr>
          <p:cNvPr id="5" name="表 4">
            <a:extLst>
              <a:ext uri="{FF2B5EF4-FFF2-40B4-BE49-F238E27FC236}">
                <a16:creationId xmlns:a16="http://schemas.microsoft.com/office/drawing/2014/main" id="{CBA22FE7-E01B-CC1C-A811-E43ABC95FE75}"/>
              </a:ext>
            </a:extLst>
          </p:cNvPr>
          <p:cNvGraphicFramePr>
            <a:graphicFrameLocks noGrp="1"/>
          </p:cNvGraphicFramePr>
          <p:nvPr/>
        </p:nvGraphicFramePr>
        <p:xfrm>
          <a:off x="550724" y="2929282"/>
          <a:ext cx="4320000" cy="1854200"/>
        </p:xfrm>
        <a:graphic>
          <a:graphicData uri="http://schemas.openxmlformats.org/drawingml/2006/table">
            <a:tbl>
              <a:tblPr bandRow="1">
                <a:tableStyleId>{5C22544A-7EE6-4342-B048-85BDC9FD1C3A}</a:tableStyleId>
              </a:tblPr>
              <a:tblGrid>
                <a:gridCol w="864000">
                  <a:extLst>
                    <a:ext uri="{9D8B030D-6E8A-4147-A177-3AD203B41FA5}">
                      <a16:colId xmlns:a16="http://schemas.microsoft.com/office/drawing/2014/main" val="196654212"/>
                    </a:ext>
                  </a:extLst>
                </a:gridCol>
                <a:gridCol w="864000">
                  <a:extLst>
                    <a:ext uri="{9D8B030D-6E8A-4147-A177-3AD203B41FA5}">
                      <a16:colId xmlns:a16="http://schemas.microsoft.com/office/drawing/2014/main" val="3587798998"/>
                    </a:ext>
                  </a:extLst>
                </a:gridCol>
                <a:gridCol w="864000">
                  <a:extLst>
                    <a:ext uri="{9D8B030D-6E8A-4147-A177-3AD203B41FA5}">
                      <a16:colId xmlns:a16="http://schemas.microsoft.com/office/drawing/2014/main" val="730188351"/>
                    </a:ext>
                  </a:extLst>
                </a:gridCol>
                <a:gridCol w="864000">
                  <a:extLst>
                    <a:ext uri="{9D8B030D-6E8A-4147-A177-3AD203B41FA5}">
                      <a16:colId xmlns:a16="http://schemas.microsoft.com/office/drawing/2014/main" val="1623471268"/>
                    </a:ext>
                  </a:extLst>
                </a:gridCol>
                <a:gridCol w="864000">
                  <a:extLst>
                    <a:ext uri="{9D8B030D-6E8A-4147-A177-3AD203B41FA5}">
                      <a16:colId xmlns:a16="http://schemas.microsoft.com/office/drawing/2014/main" val="211111563"/>
                    </a:ext>
                  </a:extLst>
                </a:gridCol>
              </a:tblGrid>
              <a:tr h="370840">
                <a:tc>
                  <a:txBody>
                    <a:bodyPr/>
                    <a:lstStyle/>
                    <a:p>
                      <a:pPr algn="ctr"/>
                      <a:r>
                        <a:rPr lang="ja-GB" altLang="en-US" b="1" dirty="0">
                          <a:solidFill>
                            <a:srgbClr val="002060"/>
                          </a:solidFill>
                        </a:rPr>
                        <a:t>条件</a:t>
                      </a:r>
                      <a:r>
                        <a:rPr lang="en-US" altLang="ja-GB" b="1" dirty="0">
                          <a:solidFill>
                            <a:srgbClr val="002060"/>
                          </a:solidFill>
                        </a:rPr>
                        <a:t>1</a:t>
                      </a:r>
                      <a:endParaRPr lang="ja-GB"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20000"/>
                        <a:lumOff val="80000"/>
                      </a:schemeClr>
                    </a:solidFill>
                  </a:tcPr>
                </a:tc>
                <a:extLst>
                  <a:ext uri="{0D108BD9-81ED-4DB2-BD59-A6C34878D82A}">
                    <a16:rowId xmlns:a16="http://schemas.microsoft.com/office/drawing/2014/main" val="520366626"/>
                  </a:ext>
                </a:extLst>
              </a:tr>
              <a:tr h="370840">
                <a:tc>
                  <a:txBody>
                    <a:bodyPr/>
                    <a:lstStyle/>
                    <a:p>
                      <a:pPr algn="ctr"/>
                      <a:r>
                        <a:rPr lang="ja-GB" altLang="en-US" b="1" dirty="0">
                          <a:solidFill>
                            <a:srgbClr val="002060"/>
                          </a:solidFill>
                        </a:rPr>
                        <a:t>条件</a:t>
                      </a:r>
                      <a:r>
                        <a:rPr lang="en-US" altLang="ja-GB" b="1" dirty="0">
                          <a:solidFill>
                            <a:srgbClr val="002060"/>
                          </a:solidFill>
                        </a:rPr>
                        <a:t>2</a:t>
                      </a:r>
                      <a:endParaRPr lang="ja-GB"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552777604"/>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1</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20000"/>
                        <a:lumOff val="80000"/>
                      </a:schemeClr>
                    </a:solidFill>
                  </a:tcPr>
                </a:tc>
                <a:extLst>
                  <a:ext uri="{0D108BD9-81ED-4DB2-BD59-A6C34878D82A}">
                    <a16:rowId xmlns:a16="http://schemas.microsoft.com/office/drawing/2014/main" val="3194411520"/>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2</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solidFill>
                      <a:schemeClr val="accent6">
                        <a:lumMod val="20000"/>
                        <a:lumOff val="80000"/>
                      </a:schemeClr>
                    </a:solidFill>
                  </a:tcPr>
                </a:tc>
                <a:tc>
                  <a:txBody>
                    <a:bodyPr/>
                    <a:lstStyle/>
                    <a:p>
                      <a:pPr algn="ctr"/>
                      <a:endParaRPr lang="ja-GB" altLang="en-US" dirty="0">
                        <a:solidFill>
                          <a:srgbClr val="2D350F"/>
                        </a:solidFill>
                      </a:endParaRPr>
                    </a:p>
                  </a:txBody>
                  <a:tcPr>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solidFill>
                      <a:schemeClr val="accent6">
                        <a:lumMod val="20000"/>
                        <a:lumOff val="80000"/>
                      </a:schemeClr>
                    </a:solidFill>
                  </a:tcPr>
                </a:tc>
                <a:extLst>
                  <a:ext uri="{0D108BD9-81ED-4DB2-BD59-A6C34878D82A}">
                    <a16:rowId xmlns:a16="http://schemas.microsoft.com/office/drawing/2014/main" val="2249085906"/>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3</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453916129"/>
                  </a:ext>
                </a:extLst>
              </a:tr>
            </a:tbl>
          </a:graphicData>
        </a:graphic>
      </p:graphicFrame>
      <p:sp>
        <p:nvSpPr>
          <p:cNvPr id="6" name="テキスト ボックス 5">
            <a:extLst>
              <a:ext uri="{FF2B5EF4-FFF2-40B4-BE49-F238E27FC236}">
                <a16:creationId xmlns:a16="http://schemas.microsoft.com/office/drawing/2014/main" id="{F968FCCD-9108-7BA8-8947-89229C76E8E3}"/>
              </a:ext>
            </a:extLst>
          </p:cNvPr>
          <p:cNvSpPr txBox="1"/>
          <p:nvPr/>
        </p:nvSpPr>
        <p:spPr>
          <a:xfrm>
            <a:off x="5625590" y="5534904"/>
            <a:ext cx="3185487" cy="646331"/>
          </a:xfrm>
          <a:prstGeom prst="rect">
            <a:avLst/>
          </a:prstGeom>
          <a:noFill/>
        </p:spPr>
        <p:txBody>
          <a:bodyPr wrap="none" rtlCol="0">
            <a:spAutoFit/>
          </a:bodyPr>
          <a:lstStyle/>
          <a:p>
            <a:pPr algn="ctr"/>
            <a:r>
              <a:rPr kumimoji="1" lang="ja-GB" altLang="en-US" dirty="0"/>
              <a:t>疑似コードで書いた条件分岐</a:t>
            </a:r>
            <a:br>
              <a:rPr kumimoji="1" lang="en-US" altLang="ja-GB" dirty="0"/>
            </a:br>
            <a:r>
              <a:rPr kumimoji="1" lang="ja-GB" altLang="en-US" dirty="0"/>
              <a:t>（プログラミング言語）</a:t>
            </a:r>
          </a:p>
        </p:txBody>
      </p:sp>
    </p:spTree>
    <p:extLst>
      <p:ext uri="{BB962C8B-B14F-4D97-AF65-F5344CB8AC3E}">
        <p14:creationId xmlns:p14="http://schemas.microsoft.com/office/powerpoint/2010/main" val="4052291170"/>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0C0EB8-8B81-115C-878C-0DD9D81B6089}"/>
              </a:ext>
            </a:extLst>
          </p:cNvPr>
          <p:cNvSpPr>
            <a:spLocks noGrp="1"/>
          </p:cNvSpPr>
          <p:nvPr>
            <p:ph type="title"/>
          </p:nvPr>
        </p:nvSpPr>
        <p:spPr/>
        <p:txBody>
          <a:bodyPr/>
          <a:lstStyle/>
          <a:p>
            <a:r>
              <a:rPr kumimoji="1" lang="ja-GB" altLang="en-US" dirty="0"/>
              <a:t>決定木</a:t>
            </a:r>
          </a:p>
        </p:txBody>
      </p:sp>
      <p:graphicFrame>
        <p:nvGraphicFramePr>
          <p:cNvPr id="4" name="表 3">
            <a:extLst>
              <a:ext uri="{FF2B5EF4-FFF2-40B4-BE49-F238E27FC236}">
                <a16:creationId xmlns:a16="http://schemas.microsoft.com/office/drawing/2014/main" id="{EE5BA066-F084-3DD3-5FE7-ACC207A9DB9F}"/>
              </a:ext>
            </a:extLst>
          </p:cNvPr>
          <p:cNvGraphicFramePr>
            <a:graphicFrameLocks noGrp="1"/>
          </p:cNvGraphicFramePr>
          <p:nvPr/>
        </p:nvGraphicFramePr>
        <p:xfrm>
          <a:off x="314325" y="2930806"/>
          <a:ext cx="4320000" cy="1854200"/>
        </p:xfrm>
        <a:graphic>
          <a:graphicData uri="http://schemas.openxmlformats.org/drawingml/2006/table">
            <a:tbl>
              <a:tblPr bandRow="1">
                <a:tableStyleId>{5C22544A-7EE6-4342-B048-85BDC9FD1C3A}</a:tableStyleId>
              </a:tblPr>
              <a:tblGrid>
                <a:gridCol w="864000">
                  <a:extLst>
                    <a:ext uri="{9D8B030D-6E8A-4147-A177-3AD203B41FA5}">
                      <a16:colId xmlns:a16="http://schemas.microsoft.com/office/drawing/2014/main" val="196654212"/>
                    </a:ext>
                  </a:extLst>
                </a:gridCol>
                <a:gridCol w="864000">
                  <a:extLst>
                    <a:ext uri="{9D8B030D-6E8A-4147-A177-3AD203B41FA5}">
                      <a16:colId xmlns:a16="http://schemas.microsoft.com/office/drawing/2014/main" val="3587798998"/>
                    </a:ext>
                  </a:extLst>
                </a:gridCol>
                <a:gridCol w="864000">
                  <a:extLst>
                    <a:ext uri="{9D8B030D-6E8A-4147-A177-3AD203B41FA5}">
                      <a16:colId xmlns:a16="http://schemas.microsoft.com/office/drawing/2014/main" val="730188351"/>
                    </a:ext>
                  </a:extLst>
                </a:gridCol>
                <a:gridCol w="864000">
                  <a:extLst>
                    <a:ext uri="{9D8B030D-6E8A-4147-A177-3AD203B41FA5}">
                      <a16:colId xmlns:a16="http://schemas.microsoft.com/office/drawing/2014/main" val="1623471268"/>
                    </a:ext>
                  </a:extLst>
                </a:gridCol>
                <a:gridCol w="864000">
                  <a:extLst>
                    <a:ext uri="{9D8B030D-6E8A-4147-A177-3AD203B41FA5}">
                      <a16:colId xmlns:a16="http://schemas.microsoft.com/office/drawing/2014/main" val="211111563"/>
                    </a:ext>
                  </a:extLst>
                </a:gridCol>
              </a:tblGrid>
              <a:tr h="370840">
                <a:tc>
                  <a:txBody>
                    <a:bodyPr/>
                    <a:lstStyle/>
                    <a:p>
                      <a:pPr algn="ctr"/>
                      <a:r>
                        <a:rPr lang="ja-GB" altLang="en-US" b="1" dirty="0">
                          <a:solidFill>
                            <a:srgbClr val="002060"/>
                          </a:solidFill>
                        </a:rPr>
                        <a:t>条件</a:t>
                      </a:r>
                      <a:r>
                        <a:rPr lang="en-US" altLang="ja-GB" b="1" dirty="0">
                          <a:solidFill>
                            <a:srgbClr val="002060"/>
                          </a:solidFill>
                        </a:rPr>
                        <a:t>1</a:t>
                      </a:r>
                      <a:endParaRPr lang="ja-GB"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20000"/>
                        <a:lumOff val="80000"/>
                      </a:schemeClr>
                    </a:solidFill>
                  </a:tcPr>
                </a:tc>
                <a:extLst>
                  <a:ext uri="{0D108BD9-81ED-4DB2-BD59-A6C34878D82A}">
                    <a16:rowId xmlns:a16="http://schemas.microsoft.com/office/drawing/2014/main" val="520366626"/>
                  </a:ext>
                </a:extLst>
              </a:tr>
              <a:tr h="370840">
                <a:tc>
                  <a:txBody>
                    <a:bodyPr/>
                    <a:lstStyle/>
                    <a:p>
                      <a:pPr algn="ctr"/>
                      <a:r>
                        <a:rPr lang="ja-GB" altLang="en-US" b="1" dirty="0">
                          <a:solidFill>
                            <a:srgbClr val="002060"/>
                          </a:solidFill>
                        </a:rPr>
                        <a:t>条件</a:t>
                      </a:r>
                      <a:r>
                        <a:rPr lang="en-US" altLang="ja-GB" b="1" dirty="0">
                          <a:solidFill>
                            <a:srgbClr val="002060"/>
                          </a:solidFill>
                        </a:rPr>
                        <a:t>2</a:t>
                      </a:r>
                      <a:endParaRPr lang="ja-GB"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552777604"/>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1</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20000"/>
                        <a:lumOff val="80000"/>
                      </a:schemeClr>
                    </a:solidFill>
                  </a:tcPr>
                </a:tc>
                <a:extLst>
                  <a:ext uri="{0D108BD9-81ED-4DB2-BD59-A6C34878D82A}">
                    <a16:rowId xmlns:a16="http://schemas.microsoft.com/office/drawing/2014/main" val="3194411520"/>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2</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solidFill>
                      <a:schemeClr val="accent6">
                        <a:lumMod val="20000"/>
                        <a:lumOff val="80000"/>
                      </a:schemeClr>
                    </a:solidFill>
                  </a:tcPr>
                </a:tc>
                <a:tc>
                  <a:txBody>
                    <a:bodyPr/>
                    <a:lstStyle/>
                    <a:p>
                      <a:pPr algn="ctr"/>
                      <a:endParaRPr lang="ja-GB" altLang="en-US" dirty="0">
                        <a:solidFill>
                          <a:srgbClr val="2D350F"/>
                        </a:solidFill>
                      </a:endParaRPr>
                    </a:p>
                  </a:txBody>
                  <a:tcPr>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solidFill>
                      <a:schemeClr val="accent6">
                        <a:lumMod val="20000"/>
                        <a:lumOff val="80000"/>
                      </a:schemeClr>
                    </a:solidFill>
                  </a:tcPr>
                </a:tc>
                <a:extLst>
                  <a:ext uri="{0D108BD9-81ED-4DB2-BD59-A6C34878D82A}">
                    <a16:rowId xmlns:a16="http://schemas.microsoft.com/office/drawing/2014/main" val="2249085906"/>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3</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453916129"/>
                  </a:ext>
                </a:extLst>
              </a:tr>
            </a:tbl>
          </a:graphicData>
        </a:graphic>
      </p:graphicFrame>
      <p:sp>
        <p:nvSpPr>
          <p:cNvPr id="5" name="ひし形 4">
            <a:extLst>
              <a:ext uri="{FF2B5EF4-FFF2-40B4-BE49-F238E27FC236}">
                <a16:creationId xmlns:a16="http://schemas.microsoft.com/office/drawing/2014/main" id="{99661B64-D232-6C70-C7BD-927C63758804}"/>
              </a:ext>
            </a:extLst>
          </p:cNvPr>
          <p:cNvSpPr/>
          <p:nvPr/>
        </p:nvSpPr>
        <p:spPr>
          <a:xfrm>
            <a:off x="6673039" y="2514865"/>
            <a:ext cx="1090569" cy="521949"/>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000" dirty="0"/>
              <a:t>条件</a:t>
            </a:r>
            <a:r>
              <a:rPr kumimoji="1" lang="en-US" altLang="ja-GB" sz="1000" dirty="0"/>
              <a:t>1</a:t>
            </a:r>
            <a:endParaRPr kumimoji="1" lang="ja-GB" altLang="en-US" sz="1000" dirty="0"/>
          </a:p>
        </p:txBody>
      </p:sp>
      <p:sp>
        <p:nvSpPr>
          <p:cNvPr id="6" name="ひし形 5">
            <a:extLst>
              <a:ext uri="{FF2B5EF4-FFF2-40B4-BE49-F238E27FC236}">
                <a16:creationId xmlns:a16="http://schemas.microsoft.com/office/drawing/2014/main" id="{82527CF0-03D6-8974-E3CB-483C76F00CF8}"/>
              </a:ext>
            </a:extLst>
          </p:cNvPr>
          <p:cNvSpPr/>
          <p:nvPr/>
        </p:nvSpPr>
        <p:spPr>
          <a:xfrm>
            <a:off x="5705911" y="3555101"/>
            <a:ext cx="1090569" cy="521949"/>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000" dirty="0"/>
              <a:t>条件</a:t>
            </a:r>
            <a:r>
              <a:rPr kumimoji="1" lang="en-US" altLang="ja-GB" sz="1000" dirty="0"/>
              <a:t>2</a:t>
            </a:r>
            <a:endParaRPr kumimoji="1" lang="ja-GB" altLang="en-US" sz="1000" dirty="0"/>
          </a:p>
        </p:txBody>
      </p:sp>
      <p:sp>
        <p:nvSpPr>
          <p:cNvPr id="7" name="ひし形 6">
            <a:extLst>
              <a:ext uri="{FF2B5EF4-FFF2-40B4-BE49-F238E27FC236}">
                <a16:creationId xmlns:a16="http://schemas.microsoft.com/office/drawing/2014/main" id="{18549A51-6DFC-67A1-1F3C-31AAB27B6F18}"/>
              </a:ext>
            </a:extLst>
          </p:cNvPr>
          <p:cNvSpPr/>
          <p:nvPr/>
        </p:nvSpPr>
        <p:spPr>
          <a:xfrm>
            <a:off x="7640166" y="3555101"/>
            <a:ext cx="1090569" cy="521949"/>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000" dirty="0"/>
              <a:t>条件</a:t>
            </a:r>
            <a:r>
              <a:rPr kumimoji="1" lang="en-US" altLang="ja-GB" sz="1000" dirty="0"/>
              <a:t>2</a:t>
            </a:r>
            <a:endParaRPr kumimoji="1" lang="ja-GB" altLang="en-US" sz="1000" dirty="0"/>
          </a:p>
        </p:txBody>
      </p:sp>
      <p:cxnSp>
        <p:nvCxnSpPr>
          <p:cNvPr id="9" name="直線矢印コネクタ 8">
            <a:extLst>
              <a:ext uri="{FF2B5EF4-FFF2-40B4-BE49-F238E27FC236}">
                <a16:creationId xmlns:a16="http://schemas.microsoft.com/office/drawing/2014/main" id="{187C82F3-352F-B008-B198-12B80571DA9E}"/>
              </a:ext>
            </a:extLst>
          </p:cNvPr>
          <p:cNvCxnSpPr>
            <a:cxnSpLocks/>
            <a:stCxn id="5" idx="2"/>
            <a:endCxn id="6" idx="0"/>
          </p:cNvCxnSpPr>
          <p:nvPr/>
        </p:nvCxnSpPr>
        <p:spPr>
          <a:xfrm flipH="1">
            <a:off x="6251196" y="3036814"/>
            <a:ext cx="967128" cy="5182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67B7A8A2-1305-2AF9-1D5D-824BCFCC53C2}"/>
              </a:ext>
            </a:extLst>
          </p:cNvPr>
          <p:cNvCxnSpPr>
            <a:cxnSpLocks/>
            <a:stCxn id="5" idx="2"/>
            <a:endCxn id="7" idx="0"/>
          </p:cNvCxnSpPr>
          <p:nvPr/>
        </p:nvCxnSpPr>
        <p:spPr>
          <a:xfrm>
            <a:off x="7218324" y="3036814"/>
            <a:ext cx="967127" cy="5182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56961570-2D7E-495E-F27C-4F059B1149B4}"/>
              </a:ext>
            </a:extLst>
          </p:cNvPr>
          <p:cNvCxnSpPr>
            <a:cxnSpLocks/>
            <a:stCxn id="6" idx="2"/>
            <a:endCxn id="19" idx="0"/>
          </p:cNvCxnSpPr>
          <p:nvPr/>
        </p:nvCxnSpPr>
        <p:spPr>
          <a:xfrm flipH="1">
            <a:off x="5705911" y="4077050"/>
            <a:ext cx="545285" cy="837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89A265C8-10ED-46EC-8E94-3E3BD265D55B}"/>
              </a:ext>
            </a:extLst>
          </p:cNvPr>
          <p:cNvCxnSpPr>
            <a:cxnSpLocks/>
            <a:stCxn id="6" idx="2"/>
            <a:endCxn id="20" idx="0"/>
          </p:cNvCxnSpPr>
          <p:nvPr/>
        </p:nvCxnSpPr>
        <p:spPr>
          <a:xfrm>
            <a:off x="6251196" y="4077050"/>
            <a:ext cx="546681" cy="837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B7837135-E32E-67B3-0436-574F96D8A858}"/>
              </a:ext>
            </a:extLst>
          </p:cNvPr>
          <p:cNvSpPr/>
          <p:nvPr/>
        </p:nvSpPr>
        <p:spPr>
          <a:xfrm>
            <a:off x="5450047" y="4914118"/>
            <a:ext cx="511728" cy="3103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000" dirty="0"/>
              <a:t>結果</a:t>
            </a:r>
            <a:r>
              <a:rPr kumimoji="1" lang="en-US" altLang="ja-GB" sz="1000" dirty="0"/>
              <a:t>1</a:t>
            </a:r>
            <a:endParaRPr kumimoji="1" lang="ja-GB" altLang="en-US" sz="1000" dirty="0"/>
          </a:p>
        </p:txBody>
      </p:sp>
      <p:sp>
        <p:nvSpPr>
          <p:cNvPr id="20" name="正方形/長方形 19">
            <a:extLst>
              <a:ext uri="{FF2B5EF4-FFF2-40B4-BE49-F238E27FC236}">
                <a16:creationId xmlns:a16="http://schemas.microsoft.com/office/drawing/2014/main" id="{DBFA9FAA-DAEE-7892-035F-E299CBBD83B7}"/>
              </a:ext>
            </a:extLst>
          </p:cNvPr>
          <p:cNvSpPr/>
          <p:nvPr/>
        </p:nvSpPr>
        <p:spPr>
          <a:xfrm>
            <a:off x="6542013" y="4914117"/>
            <a:ext cx="511728" cy="3103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000" dirty="0"/>
              <a:t>結果</a:t>
            </a:r>
            <a:r>
              <a:rPr kumimoji="1" lang="en-US" altLang="ja-GB" sz="1000" dirty="0"/>
              <a:t>2</a:t>
            </a:r>
            <a:endParaRPr kumimoji="1" lang="ja-GB" altLang="en-US" sz="1000" dirty="0"/>
          </a:p>
        </p:txBody>
      </p:sp>
      <p:sp>
        <p:nvSpPr>
          <p:cNvPr id="21" name="正方形/長方形 20">
            <a:extLst>
              <a:ext uri="{FF2B5EF4-FFF2-40B4-BE49-F238E27FC236}">
                <a16:creationId xmlns:a16="http://schemas.microsoft.com/office/drawing/2014/main" id="{5D352570-BC1F-41A7-24F3-B0F3789EF161}"/>
              </a:ext>
            </a:extLst>
          </p:cNvPr>
          <p:cNvSpPr/>
          <p:nvPr/>
        </p:nvSpPr>
        <p:spPr>
          <a:xfrm>
            <a:off x="7397781" y="4914118"/>
            <a:ext cx="511728" cy="3103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000" dirty="0"/>
              <a:t>結果</a:t>
            </a:r>
            <a:r>
              <a:rPr kumimoji="1" lang="en-US" altLang="ja-GB" sz="1000" dirty="0"/>
              <a:t>3</a:t>
            </a:r>
            <a:endParaRPr kumimoji="1" lang="ja-GB" altLang="en-US" sz="1000" dirty="0"/>
          </a:p>
        </p:txBody>
      </p:sp>
      <p:sp>
        <p:nvSpPr>
          <p:cNvPr id="22" name="正方形/長方形 21">
            <a:extLst>
              <a:ext uri="{FF2B5EF4-FFF2-40B4-BE49-F238E27FC236}">
                <a16:creationId xmlns:a16="http://schemas.microsoft.com/office/drawing/2014/main" id="{2BD54B3B-4387-4DCD-5A03-208D2DEC6B19}"/>
              </a:ext>
            </a:extLst>
          </p:cNvPr>
          <p:cNvSpPr/>
          <p:nvPr/>
        </p:nvSpPr>
        <p:spPr>
          <a:xfrm>
            <a:off x="8489747" y="4914117"/>
            <a:ext cx="511728" cy="3103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000" dirty="0"/>
              <a:t>結果</a:t>
            </a:r>
            <a:r>
              <a:rPr kumimoji="1" lang="en-US" altLang="ja-GB" sz="1000" dirty="0"/>
              <a:t>1</a:t>
            </a:r>
            <a:endParaRPr kumimoji="1" lang="ja-GB" altLang="en-US" sz="1000" dirty="0"/>
          </a:p>
        </p:txBody>
      </p:sp>
      <p:cxnSp>
        <p:nvCxnSpPr>
          <p:cNvPr id="29" name="直線矢印コネクタ 28">
            <a:extLst>
              <a:ext uri="{FF2B5EF4-FFF2-40B4-BE49-F238E27FC236}">
                <a16:creationId xmlns:a16="http://schemas.microsoft.com/office/drawing/2014/main" id="{77CEB827-413E-9002-F54B-EFEE135D09DB}"/>
              </a:ext>
            </a:extLst>
          </p:cNvPr>
          <p:cNvCxnSpPr>
            <a:cxnSpLocks/>
            <a:stCxn id="7" idx="2"/>
            <a:endCxn id="21" idx="0"/>
          </p:cNvCxnSpPr>
          <p:nvPr/>
        </p:nvCxnSpPr>
        <p:spPr>
          <a:xfrm flipH="1">
            <a:off x="7653645" y="4077050"/>
            <a:ext cx="531806" cy="837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3676F925-0786-A22B-F41F-F1A0606B37BD}"/>
              </a:ext>
            </a:extLst>
          </p:cNvPr>
          <p:cNvCxnSpPr>
            <a:cxnSpLocks/>
            <a:stCxn id="7" idx="2"/>
            <a:endCxn id="22" idx="0"/>
          </p:cNvCxnSpPr>
          <p:nvPr/>
        </p:nvCxnSpPr>
        <p:spPr>
          <a:xfrm>
            <a:off x="8185451" y="4077050"/>
            <a:ext cx="560160" cy="837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4EE95E26-D0AA-8E7C-844F-B8FAECDD5124}"/>
              </a:ext>
            </a:extLst>
          </p:cNvPr>
          <p:cNvSpPr txBox="1"/>
          <p:nvPr/>
        </p:nvSpPr>
        <p:spPr>
          <a:xfrm>
            <a:off x="5940060" y="2910504"/>
            <a:ext cx="867610" cy="523220"/>
          </a:xfrm>
          <a:prstGeom prst="rect">
            <a:avLst/>
          </a:prstGeom>
          <a:noFill/>
        </p:spPr>
        <p:txBody>
          <a:bodyPr wrap="none" rtlCol="0">
            <a:spAutoFit/>
          </a:bodyPr>
          <a:lstStyle/>
          <a:p>
            <a:pPr algn="ctr"/>
            <a:r>
              <a:rPr kumimoji="1" lang="en-US" altLang="ja-GB" sz="1400" dirty="0"/>
              <a:t>○</a:t>
            </a:r>
            <a:br>
              <a:rPr kumimoji="1" lang="en-US" altLang="ja-GB" sz="1400" dirty="0"/>
            </a:br>
            <a:r>
              <a:rPr kumimoji="1" lang="ja-GB" altLang="en-US" sz="1400" dirty="0"/>
              <a:t>（</a:t>
            </a:r>
            <a:r>
              <a:rPr kumimoji="1" lang="en-US" altLang="ja-GB" sz="1400" dirty="0"/>
              <a:t>True</a:t>
            </a:r>
            <a:r>
              <a:rPr kumimoji="1" lang="ja-GB" altLang="en-US" sz="1400" dirty="0"/>
              <a:t>）</a:t>
            </a:r>
          </a:p>
        </p:txBody>
      </p:sp>
      <p:sp>
        <p:nvSpPr>
          <p:cNvPr id="37" name="テキスト ボックス 36">
            <a:extLst>
              <a:ext uri="{FF2B5EF4-FFF2-40B4-BE49-F238E27FC236}">
                <a16:creationId xmlns:a16="http://schemas.microsoft.com/office/drawing/2014/main" id="{6703B8C2-FD5F-54E3-29A5-D6135FBF5951}"/>
              </a:ext>
            </a:extLst>
          </p:cNvPr>
          <p:cNvSpPr txBox="1"/>
          <p:nvPr/>
        </p:nvSpPr>
        <p:spPr>
          <a:xfrm>
            <a:off x="7727421" y="2910504"/>
            <a:ext cx="909223" cy="523220"/>
          </a:xfrm>
          <a:prstGeom prst="rect">
            <a:avLst/>
          </a:prstGeom>
          <a:noFill/>
        </p:spPr>
        <p:txBody>
          <a:bodyPr wrap="none" rtlCol="0">
            <a:spAutoFit/>
          </a:bodyPr>
          <a:lstStyle/>
          <a:p>
            <a:pPr algn="ctr"/>
            <a:r>
              <a:rPr kumimoji="1" lang="en-US" altLang="ja-GB" sz="1400" dirty="0"/>
              <a:t>×</a:t>
            </a:r>
            <a:br>
              <a:rPr kumimoji="1" lang="en-US" altLang="ja-GB" sz="1400" dirty="0"/>
            </a:br>
            <a:r>
              <a:rPr kumimoji="1" lang="ja-GB" altLang="en-US" sz="1400" dirty="0"/>
              <a:t>（</a:t>
            </a:r>
            <a:r>
              <a:rPr kumimoji="1" lang="en-US" altLang="ja-GB" sz="1400" dirty="0"/>
              <a:t>False</a:t>
            </a:r>
            <a:r>
              <a:rPr kumimoji="1" lang="ja-GB" altLang="en-US" sz="1400" dirty="0"/>
              <a:t>）</a:t>
            </a:r>
          </a:p>
        </p:txBody>
      </p:sp>
      <p:sp>
        <p:nvSpPr>
          <p:cNvPr id="38" name="テキスト ボックス 37">
            <a:extLst>
              <a:ext uri="{FF2B5EF4-FFF2-40B4-BE49-F238E27FC236}">
                <a16:creationId xmlns:a16="http://schemas.microsoft.com/office/drawing/2014/main" id="{11C233AD-EB6B-82FE-E5B6-D8C3631EBD39}"/>
              </a:ext>
            </a:extLst>
          </p:cNvPr>
          <p:cNvSpPr txBox="1"/>
          <p:nvPr/>
        </p:nvSpPr>
        <p:spPr>
          <a:xfrm>
            <a:off x="5295876" y="4077050"/>
            <a:ext cx="867610" cy="523220"/>
          </a:xfrm>
          <a:prstGeom prst="rect">
            <a:avLst/>
          </a:prstGeom>
          <a:noFill/>
        </p:spPr>
        <p:txBody>
          <a:bodyPr wrap="none" rtlCol="0">
            <a:spAutoFit/>
          </a:bodyPr>
          <a:lstStyle/>
          <a:p>
            <a:pPr algn="ctr"/>
            <a:r>
              <a:rPr kumimoji="1" lang="en-US" altLang="ja-GB" sz="1400" dirty="0"/>
              <a:t>○</a:t>
            </a:r>
            <a:br>
              <a:rPr kumimoji="1" lang="en-US" altLang="ja-GB" sz="1400" dirty="0"/>
            </a:br>
            <a:r>
              <a:rPr kumimoji="1" lang="ja-GB" altLang="en-US" sz="1400" dirty="0"/>
              <a:t>（</a:t>
            </a:r>
            <a:r>
              <a:rPr kumimoji="1" lang="en-US" altLang="ja-GB" sz="1400" dirty="0"/>
              <a:t>True</a:t>
            </a:r>
            <a:r>
              <a:rPr kumimoji="1" lang="ja-GB" altLang="en-US" sz="1400" dirty="0"/>
              <a:t>）</a:t>
            </a:r>
          </a:p>
        </p:txBody>
      </p:sp>
      <p:sp>
        <p:nvSpPr>
          <p:cNvPr id="39" name="テキスト ボックス 38">
            <a:extLst>
              <a:ext uri="{FF2B5EF4-FFF2-40B4-BE49-F238E27FC236}">
                <a16:creationId xmlns:a16="http://schemas.microsoft.com/office/drawing/2014/main" id="{A53A8927-FEB5-9AB7-77F6-C37560C79A39}"/>
              </a:ext>
            </a:extLst>
          </p:cNvPr>
          <p:cNvSpPr txBox="1"/>
          <p:nvPr/>
        </p:nvSpPr>
        <p:spPr>
          <a:xfrm>
            <a:off x="6348698" y="4077050"/>
            <a:ext cx="909223" cy="523220"/>
          </a:xfrm>
          <a:prstGeom prst="rect">
            <a:avLst/>
          </a:prstGeom>
          <a:noFill/>
        </p:spPr>
        <p:txBody>
          <a:bodyPr wrap="none" rtlCol="0">
            <a:spAutoFit/>
          </a:bodyPr>
          <a:lstStyle/>
          <a:p>
            <a:pPr algn="ctr"/>
            <a:r>
              <a:rPr kumimoji="1" lang="en-US" altLang="ja-GB" sz="1400" dirty="0"/>
              <a:t>×</a:t>
            </a:r>
            <a:br>
              <a:rPr kumimoji="1" lang="en-US" altLang="ja-GB" sz="1400" dirty="0"/>
            </a:br>
            <a:r>
              <a:rPr kumimoji="1" lang="ja-GB" altLang="en-US" sz="1400" dirty="0"/>
              <a:t>（</a:t>
            </a:r>
            <a:r>
              <a:rPr kumimoji="1" lang="en-US" altLang="ja-GB" sz="1400" dirty="0"/>
              <a:t>False</a:t>
            </a:r>
            <a:r>
              <a:rPr kumimoji="1" lang="ja-GB" altLang="en-US" sz="1400" dirty="0"/>
              <a:t>）</a:t>
            </a:r>
          </a:p>
        </p:txBody>
      </p:sp>
      <p:sp>
        <p:nvSpPr>
          <p:cNvPr id="40" name="テキスト ボックス 39">
            <a:extLst>
              <a:ext uri="{FF2B5EF4-FFF2-40B4-BE49-F238E27FC236}">
                <a16:creationId xmlns:a16="http://schemas.microsoft.com/office/drawing/2014/main" id="{41900D09-2ED1-7956-43FB-8370F792F7D1}"/>
              </a:ext>
            </a:extLst>
          </p:cNvPr>
          <p:cNvSpPr txBox="1"/>
          <p:nvPr/>
        </p:nvSpPr>
        <p:spPr>
          <a:xfrm>
            <a:off x="7222591" y="4080504"/>
            <a:ext cx="867610" cy="523220"/>
          </a:xfrm>
          <a:prstGeom prst="rect">
            <a:avLst/>
          </a:prstGeom>
          <a:noFill/>
        </p:spPr>
        <p:txBody>
          <a:bodyPr wrap="none" rtlCol="0">
            <a:spAutoFit/>
          </a:bodyPr>
          <a:lstStyle/>
          <a:p>
            <a:pPr algn="ctr"/>
            <a:r>
              <a:rPr kumimoji="1" lang="en-US" altLang="ja-GB" sz="1400" dirty="0"/>
              <a:t>○</a:t>
            </a:r>
            <a:br>
              <a:rPr kumimoji="1" lang="en-US" altLang="ja-GB" sz="1400" dirty="0"/>
            </a:br>
            <a:r>
              <a:rPr kumimoji="1" lang="ja-GB" altLang="en-US" sz="1400" dirty="0"/>
              <a:t>（</a:t>
            </a:r>
            <a:r>
              <a:rPr kumimoji="1" lang="en-US" altLang="ja-GB" sz="1400" dirty="0"/>
              <a:t>True</a:t>
            </a:r>
            <a:r>
              <a:rPr kumimoji="1" lang="ja-GB" altLang="en-US" sz="1400" dirty="0"/>
              <a:t>）</a:t>
            </a:r>
          </a:p>
        </p:txBody>
      </p:sp>
      <p:sp>
        <p:nvSpPr>
          <p:cNvPr id="41" name="テキスト ボックス 40">
            <a:extLst>
              <a:ext uri="{FF2B5EF4-FFF2-40B4-BE49-F238E27FC236}">
                <a16:creationId xmlns:a16="http://schemas.microsoft.com/office/drawing/2014/main" id="{CFECA6C2-3706-03E3-E467-8A177EB7DFD8}"/>
              </a:ext>
            </a:extLst>
          </p:cNvPr>
          <p:cNvSpPr txBox="1"/>
          <p:nvPr/>
        </p:nvSpPr>
        <p:spPr>
          <a:xfrm>
            <a:off x="8275413" y="4080504"/>
            <a:ext cx="909223" cy="523220"/>
          </a:xfrm>
          <a:prstGeom prst="rect">
            <a:avLst/>
          </a:prstGeom>
          <a:noFill/>
        </p:spPr>
        <p:txBody>
          <a:bodyPr wrap="none" rtlCol="0">
            <a:spAutoFit/>
          </a:bodyPr>
          <a:lstStyle/>
          <a:p>
            <a:pPr algn="ctr"/>
            <a:r>
              <a:rPr kumimoji="1" lang="en-US" altLang="ja-GB" sz="1400" dirty="0"/>
              <a:t>×</a:t>
            </a:r>
            <a:br>
              <a:rPr kumimoji="1" lang="en-US" altLang="ja-GB" sz="1400" dirty="0"/>
            </a:br>
            <a:r>
              <a:rPr kumimoji="1" lang="ja-GB" altLang="en-US" sz="1400" dirty="0"/>
              <a:t>（</a:t>
            </a:r>
            <a:r>
              <a:rPr kumimoji="1" lang="en-US" altLang="ja-GB" sz="1400" dirty="0"/>
              <a:t>False</a:t>
            </a:r>
            <a:r>
              <a:rPr kumimoji="1" lang="ja-GB" altLang="en-US" sz="1400" dirty="0"/>
              <a:t>）</a:t>
            </a:r>
          </a:p>
        </p:txBody>
      </p:sp>
      <p:sp>
        <p:nvSpPr>
          <p:cNvPr id="42" name="テキスト ボックス 41">
            <a:extLst>
              <a:ext uri="{FF2B5EF4-FFF2-40B4-BE49-F238E27FC236}">
                <a16:creationId xmlns:a16="http://schemas.microsoft.com/office/drawing/2014/main" id="{82E79455-612D-9405-3D24-6C192A822E1F}"/>
              </a:ext>
            </a:extLst>
          </p:cNvPr>
          <p:cNvSpPr txBox="1"/>
          <p:nvPr/>
        </p:nvSpPr>
        <p:spPr>
          <a:xfrm>
            <a:off x="6318076" y="5534904"/>
            <a:ext cx="1800494" cy="646331"/>
          </a:xfrm>
          <a:prstGeom prst="rect">
            <a:avLst/>
          </a:prstGeom>
          <a:noFill/>
        </p:spPr>
        <p:txBody>
          <a:bodyPr wrap="none" rtlCol="0">
            <a:spAutoFit/>
          </a:bodyPr>
          <a:lstStyle/>
          <a:p>
            <a:pPr algn="ctr"/>
            <a:r>
              <a:rPr kumimoji="1" lang="ja-GB" altLang="en-US" dirty="0"/>
              <a:t>フローチャート</a:t>
            </a:r>
            <a:endParaRPr kumimoji="1" lang="en-US" altLang="ja-GB" dirty="0"/>
          </a:p>
          <a:p>
            <a:pPr algn="ctr"/>
            <a:r>
              <a:rPr kumimoji="1" lang="ja-GB" altLang="en-US" dirty="0"/>
              <a:t>（木構造）</a:t>
            </a:r>
          </a:p>
        </p:txBody>
      </p:sp>
    </p:spTree>
    <p:extLst>
      <p:ext uri="{BB962C8B-B14F-4D97-AF65-F5344CB8AC3E}">
        <p14:creationId xmlns:p14="http://schemas.microsoft.com/office/powerpoint/2010/main" val="223970535"/>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6E328-2142-C7D3-0B79-428FE519697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5097263-C23B-4984-9BBE-0D17781ADF70}"/>
              </a:ext>
            </a:extLst>
          </p:cNvPr>
          <p:cNvSpPr>
            <a:spLocks noGrp="1"/>
          </p:cNvSpPr>
          <p:nvPr>
            <p:ph type="title"/>
          </p:nvPr>
        </p:nvSpPr>
        <p:spPr/>
        <p:txBody>
          <a:bodyPr/>
          <a:lstStyle/>
          <a:p>
            <a:r>
              <a:rPr kumimoji="1" lang="ja-GB" altLang="en-US" dirty="0"/>
              <a:t>決定木（別の書き方）</a:t>
            </a:r>
          </a:p>
        </p:txBody>
      </p:sp>
      <p:graphicFrame>
        <p:nvGraphicFramePr>
          <p:cNvPr id="4" name="表 3">
            <a:extLst>
              <a:ext uri="{FF2B5EF4-FFF2-40B4-BE49-F238E27FC236}">
                <a16:creationId xmlns:a16="http://schemas.microsoft.com/office/drawing/2014/main" id="{B111DB96-F9FE-20EE-0268-695A9B676C78}"/>
              </a:ext>
            </a:extLst>
          </p:cNvPr>
          <p:cNvGraphicFramePr>
            <a:graphicFrameLocks noGrp="1"/>
          </p:cNvGraphicFramePr>
          <p:nvPr/>
        </p:nvGraphicFramePr>
        <p:xfrm>
          <a:off x="314325" y="2930806"/>
          <a:ext cx="4320000" cy="1854200"/>
        </p:xfrm>
        <a:graphic>
          <a:graphicData uri="http://schemas.openxmlformats.org/drawingml/2006/table">
            <a:tbl>
              <a:tblPr bandRow="1">
                <a:tableStyleId>{5C22544A-7EE6-4342-B048-85BDC9FD1C3A}</a:tableStyleId>
              </a:tblPr>
              <a:tblGrid>
                <a:gridCol w="864000">
                  <a:extLst>
                    <a:ext uri="{9D8B030D-6E8A-4147-A177-3AD203B41FA5}">
                      <a16:colId xmlns:a16="http://schemas.microsoft.com/office/drawing/2014/main" val="196654212"/>
                    </a:ext>
                  </a:extLst>
                </a:gridCol>
                <a:gridCol w="864000">
                  <a:extLst>
                    <a:ext uri="{9D8B030D-6E8A-4147-A177-3AD203B41FA5}">
                      <a16:colId xmlns:a16="http://schemas.microsoft.com/office/drawing/2014/main" val="3587798998"/>
                    </a:ext>
                  </a:extLst>
                </a:gridCol>
                <a:gridCol w="864000">
                  <a:extLst>
                    <a:ext uri="{9D8B030D-6E8A-4147-A177-3AD203B41FA5}">
                      <a16:colId xmlns:a16="http://schemas.microsoft.com/office/drawing/2014/main" val="730188351"/>
                    </a:ext>
                  </a:extLst>
                </a:gridCol>
                <a:gridCol w="864000">
                  <a:extLst>
                    <a:ext uri="{9D8B030D-6E8A-4147-A177-3AD203B41FA5}">
                      <a16:colId xmlns:a16="http://schemas.microsoft.com/office/drawing/2014/main" val="1623471268"/>
                    </a:ext>
                  </a:extLst>
                </a:gridCol>
                <a:gridCol w="864000">
                  <a:extLst>
                    <a:ext uri="{9D8B030D-6E8A-4147-A177-3AD203B41FA5}">
                      <a16:colId xmlns:a16="http://schemas.microsoft.com/office/drawing/2014/main" val="211111563"/>
                    </a:ext>
                  </a:extLst>
                </a:gridCol>
              </a:tblGrid>
              <a:tr h="370840">
                <a:tc>
                  <a:txBody>
                    <a:bodyPr/>
                    <a:lstStyle/>
                    <a:p>
                      <a:pPr algn="ctr"/>
                      <a:r>
                        <a:rPr lang="ja-GB" altLang="en-US" b="1" dirty="0">
                          <a:solidFill>
                            <a:srgbClr val="002060"/>
                          </a:solidFill>
                        </a:rPr>
                        <a:t>条件</a:t>
                      </a:r>
                      <a:r>
                        <a:rPr lang="en-US" altLang="ja-GB" b="1" dirty="0">
                          <a:solidFill>
                            <a:srgbClr val="002060"/>
                          </a:solidFill>
                        </a:rPr>
                        <a:t>1</a:t>
                      </a:r>
                      <a:endParaRPr lang="ja-GB"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20000"/>
                        <a:lumOff val="80000"/>
                      </a:schemeClr>
                    </a:solidFill>
                  </a:tcPr>
                </a:tc>
                <a:extLst>
                  <a:ext uri="{0D108BD9-81ED-4DB2-BD59-A6C34878D82A}">
                    <a16:rowId xmlns:a16="http://schemas.microsoft.com/office/drawing/2014/main" val="520366626"/>
                  </a:ext>
                </a:extLst>
              </a:tr>
              <a:tr h="370840">
                <a:tc>
                  <a:txBody>
                    <a:bodyPr/>
                    <a:lstStyle/>
                    <a:p>
                      <a:pPr algn="ctr"/>
                      <a:r>
                        <a:rPr lang="ja-GB" altLang="en-US" b="1" dirty="0">
                          <a:solidFill>
                            <a:srgbClr val="002060"/>
                          </a:solidFill>
                        </a:rPr>
                        <a:t>条件</a:t>
                      </a:r>
                      <a:r>
                        <a:rPr lang="en-US" altLang="ja-GB" b="1" dirty="0">
                          <a:solidFill>
                            <a:srgbClr val="002060"/>
                          </a:solidFill>
                        </a:rPr>
                        <a:t>2</a:t>
                      </a:r>
                      <a:endParaRPr lang="ja-GB"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552777604"/>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1</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ct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20000"/>
                        <a:lumOff val="80000"/>
                      </a:schemeClr>
                    </a:solidFill>
                  </a:tcPr>
                </a:tc>
                <a:extLst>
                  <a:ext uri="{0D108BD9-81ED-4DB2-BD59-A6C34878D82A}">
                    <a16:rowId xmlns:a16="http://schemas.microsoft.com/office/drawing/2014/main" val="3194411520"/>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2</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solidFill>
                      <a:schemeClr val="accent6">
                        <a:lumMod val="20000"/>
                        <a:lumOff val="80000"/>
                      </a:schemeClr>
                    </a:solidFill>
                  </a:tcPr>
                </a:tc>
                <a:tc>
                  <a:txBody>
                    <a:bodyPr/>
                    <a:lstStyle/>
                    <a:p>
                      <a:pPr algn="ctr"/>
                      <a:endParaRPr lang="ja-GB" altLang="en-US" dirty="0">
                        <a:solidFill>
                          <a:srgbClr val="2D350F"/>
                        </a:solidFill>
                      </a:endParaRPr>
                    </a:p>
                  </a:txBody>
                  <a:tcPr>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solidFill>
                      <a:schemeClr val="accent6">
                        <a:lumMod val="20000"/>
                        <a:lumOff val="80000"/>
                      </a:schemeClr>
                    </a:solidFill>
                  </a:tcPr>
                </a:tc>
                <a:extLst>
                  <a:ext uri="{0D108BD9-81ED-4DB2-BD59-A6C34878D82A}">
                    <a16:rowId xmlns:a16="http://schemas.microsoft.com/office/drawing/2014/main" val="2249085906"/>
                  </a:ext>
                </a:extLst>
              </a:tr>
              <a:tr h="370840">
                <a:tc>
                  <a:txBody>
                    <a:bodyPr/>
                    <a:lstStyle/>
                    <a:p>
                      <a:pPr algn="ctr"/>
                      <a:r>
                        <a:rPr lang="ja-GB" altLang="en-US" b="1" dirty="0">
                          <a:solidFill>
                            <a:schemeClr val="accent6">
                              <a:lumMod val="50000"/>
                            </a:schemeClr>
                          </a:solidFill>
                        </a:rPr>
                        <a:t>結果</a:t>
                      </a:r>
                      <a:r>
                        <a:rPr lang="en-US" altLang="ja-GB" b="1" dirty="0">
                          <a:solidFill>
                            <a:schemeClr val="accent6">
                              <a:lumMod val="50000"/>
                            </a:schemeClr>
                          </a:solidFill>
                        </a:rPr>
                        <a:t>3</a:t>
                      </a:r>
                      <a:endParaRPr lang="ja-GB" altLang="en-US" b="1"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ja-GB" dirty="0">
                          <a:solidFill>
                            <a:srgbClr val="2D350F"/>
                          </a:solidFill>
                        </a:rPr>
                        <a:t>○</a:t>
                      </a:r>
                      <a:endParaRPr lang="ja-GB" altLang="en-US" dirty="0">
                        <a:solidFill>
                          <a:srgbClr val="2D350F"/>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ja-GB" altLang="en-US" dirty="0">
                        <a:solidFill>
                          <a:srgbClr val="2D350F"/>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453916129"/>
                  </a:ext>
                </a:extLst>
              </a:tr>
            </a:tbl>
          </a:graphicData>
        </a:graphic>
      </p:graphicFrame>
      <p:sp>
        <p:nvSpPr>
          <p:cNvPr id="5" name="ひし形 4">
            <a:extLst>
              <a:ext uri="{FF2B5EF4-FFF2-40B4-BE49-F238E27FC236}">
                <a16:creationId xmlns:a16="http://schemas.microsoft.com/office/drawing/2014/main" id="{E2076E5D-000B-6B08-9249-35933AA37861}"/>
              </a:ext>
            </a:extLst>
          </p:cNvPr>
          <p:cNvSpPr/>
          <p:nvPr/>
        </p:nvSpPr>
        <p:spPr>
          <a:xfrm>
            <a:off x="6673039" y="2514865"/>
            <a:ext cx="1090569" cy="521949"/>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000" b="1" dirty="0">
                <a:solidFill>
                  <a:schemeClr val="bg1"/>
                </a:solidFill>
              </a:rPr>
              <a:t>条件</a:t>
            </a:r>
            <a:r>
              <a:rPr kumimoji="1" lang="en-US" altLang="ja-GB" sz="1000" b="1" dirty="0">
                <a:solidFill>
                  <a:schemeClr val="bg1"/>
                </a:solidFill>
              </a:rPr>
              <a:t>2</a:t>
            </a:r>
            <a:endParaRPr kumimoji="1" lang="ja-GB" altLang="en-US" sz="1000" b="1" dirty="0">
              <a:solidFill>
                <a:schemeClr val="bg1"/>
              </a:solidFill>
            </a:endParaRPr>
          </a:p>
        </p:txBody>
      </p:sp>
      <p:sp>
        <p:nvSpPr>
          <p:cNvPr id="6" name="ひし形 5">
            <a:extLst>
              <a:ext uri="{FF2B5EF4-FFF2-40B4-BE49-F238E27FC236}">
                <a16:creationId xmlns:a16="http://schemas.microsoft.com/office/drawing/2014/main" id="{463A79C0-EC2F-B22E-62DD-67520CE5FF91}"/>
              </a:ext>
            </a:extLst>
          </p:cNvPr>
          <p:cNvSpPr/>
          <p:nvPr/>
        </p:nvSpPr>
        <p:spPr>
          <a:xfrm>
            <a:off x="5705911" y="3555101"/>
            <a:ext cx="1090569" cy="521949"/>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000" b="1" dirty="0"/>
              <a:t>条件</a:t>
            </a:r>
            <a:r>
              <a:rPr kumimoji="1" lang="en-US" altLang="ja-GB" sz="1000" b="1" dirty="0"/>
              <a:t>1</a:t>
            </a:r>
            <a:endParaRPr kumimoji="1" lang="ja-GB" altLang="en-US" sz="1000" b="1" dirty="0"/>
          </a:p>
        </p:txBody>
      </p:sp>
      <p:sp>
        <p:nvSpPr>
          <p:cNvPr id="7" name="ひし形 6">
            <a:extLst>
              <a:ext uri="{FF2B5EF4-FFF2-40B4-BE49-F238E27FC236}">
                <a16:creationId xmlns:a16="http://schemas.microsoft.com/office/drawing/2014/main" id="{F3F66F11-F4FC-785C-7FA3-4596441889C5}"/>
              </a:ext>
            </a:extLst>
          </p:cNvPr>
          <p:cNvSpPr/>
          <p:nvPr/>
        </p:nvSpPr>
        <p:spPr>
          <a:xfrm>
            <a:off x="7640166" y="3555101"/>
            <a:ext cx="1090569" cy="521949"/>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000" b="1" dirty="0"/>
              <a:t>条件</a:t>
            </a:r>
            <a:r>
              <a:rPr kumimoji="1" lang="en-US" altLang="ja-GB" sz="1000" b="1" dirty="0"/>
              <a:t>1</a:t>
            </a:r>
            <a:endParaRPr kumimoji="1" lang="ja-GB" altLang="en-US" sz="1000" b="1" dirty="0"/>
          </a:p>
        </p:txBody>
      </p:sp>
      <p:cxnSp>
        <p:nvCxnSpPr>
          <p:cNvPr id="9" name="直線矢印コネクタ 8">
            <a:extLst>
              <a:ext uri="{FF2B5EF4-FFF2-40B4-BE49-F238E27FC236}">
                <a16:creationId xmlns:a16="http://schemas.microsoft.com/office/drawing/2014/main" id="{43EF9CAA-3552-2250-0A13-0EF7D0F6D70E}"/>
              </a:ext>
            </a:extLst>
          </p:cNvPr>
          <p:cNvCxnSpPr>
            <a:cxnSpLocks/>
            <a:stCxn id="5" idx="2"/>
            <a:endCxn id="6" idx="0"/>
          </p:cNvCxnSpPr>
          <p:nvPr/>
        </p:nvCxnSpPr>
        <p:spPr>
          <a:xfrm flipH="1">
            <a:off x="6251196" y="3036814"/>
            <a:ext cx="967128" cy="5182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BF6729C0-261A-1E1B-17D0-73F7A6DF9CB0}"/>
              </a:ext>
            </a:extLst>
          </p:cNvPr>
          <p:cNvCxnSpPr>
            <a:cxnSpLocks/>
            <a:stCxn id="5" idx="2"/>
            <a:endCxn id="7" idx="0"/>
          </p:cNvCxnSpPr>
          <p:nvPr/>
        </p:nvCxnSpPr>
        <p:spPr>
          <a:xfrm>
            <a:off x="7218324" y="3036814"/>
            <a:ext cx="967127" cy="5182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AF9B12FA-0630-717C-63DD-0FC408B5F796}"/>
              </a:ext>
            </a:extLst>
          </p:cNvPr>
          <p:cNvCxnSpPr>
            <a:cxnSpLocks/>
            <a:stCxn id="6" idx="2"/>
            <a:endCxn id="19" idx="0"/>
          </p:cNvCxnSpPr>
          <p:nvPr/>
        </p:nvCxnSpPr>
        <p:spPr>
          <a:xfrm flipH="1">
            <a:off x="5705911" y="4077050"/>
            <a:ext cx="545285" cy="837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A8F69F0C-6EFB-DCA8-8648-9396DA4DBCF9}"/>
              </a:ext>
            </a:extLst>
          </p:cNvPr>
          <p:cNvCxnSpPr>
            <a:cxnSpLocks/>
            <a:stCxn id="6" idx="2"/>
            <a:endCxn id="20" idx="0"/>
          </p:cNvCxnSpPr>
          <p:nvPr/>
        </p:nvCxnSpPr>
        <p:spPr>
          <a:xfrm>
            <a:off x="6251196" y="4077050"/>
            <a:ext cx="546681" cy="837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FA8FEEF7-E9E1-21B4-C144-73E7AD59ABEF}"/>
              </a:ext>
            </a:extLst>
          </p:cNvPr>
          <p:cNvSpPr/>
          <p:nvPr/>
        </p:nvSpPr>
        <p:spPr>
          <a:xfrm>
            <a:off x="5450047" y="4914118"/>
            <a:ext cx="511728" cy="3103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000" dirty="0"/>
              <a:t>結果</a:t>
            </a:r>
            <a:r>
              <a:rPr kumimoji="1" lang="en-US" altLang="ja-GB" sz="1000" dirty="0"/>
              <a:t>1</a:t>
            </a:r>
            <a:endParaRPr kumimoji="1" lang="ja-GB" altLang="en-US" sz="1000" dirty="0"/>
          </a:p>
        </p:txBody>
      </p:sp>
      <p:sp>
        <p:nvSpPr>
          <p:cNvPr id="20" name="正方形/長方形 19">
            <a:extLst>
              <a:ext uri="{FF2B5EF4-FFF2-40B4-BE49-F238E27FC236}">
                <a16:creationId xmlns:a16="http://schemas.microsoft.com/office/drawing/2014/main" id="{0E9695ED-408D-47D2-5A3B-F336284B5004}"/>
              </a:ext>
            </a:extLst>
          </p:cNvPr>
          <p:cNvSpPr/>
          <p:nvPr/>
        </p:nvSpPr>
        <p:spPr>
          <a:xfrm>
            <a:off x="6542013" y="4914117"/>
            <a:ext cx="511728" cy="3103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000" dirty="0"/>
              <a:t>結果</a:t>
            </a:r>
            <a:r>
              <a:rPr kumimoji="1" lang="en-US" altLang="ja-GB" sz="1000" dirty="0"/>
              <a:t>3</a:t>
            </a:r>
            <a:endParaRPr kumimoji="1" lang="ja-GB" altLang="en-US" sz="1000" dirty="0"/>
          </a:p>
        </p:txBody>
      </p:sp>
      <p:sp>
        <p:nvSpPr>
          <p:cNvPr id="21" name="正方形/長方形 20">
            <a:extLst>
              <a:ext uri="{FF2B5EF4-FFF2-40B4-BE49-F238E27FC236}">
                <a16:creationId xmlns:a16="http://schemas.microsoft.com/office/drawing/2014/main" id="{B711C559-A5F0-2424-1629-6469EE3570B0}"/>
              </a:ext>
            </a:extLst>
          </p:cNvPr>
          <p:cNvSpPr/>
          <p:nvPr/>
        </p:nvSpPr>
        <p:spPr>
          <a:xfrm>
            <a:off x="7397781" y="4914118"/>
            <a:ext cx="511728" cy="3103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000" dirty="0"/>
              <a:t>結果</a:t>
            </a:r>
            <a:r>
              <a:rPr kumimoji="1" lang="en-US" altLang="ja-GB" sz="1000" dirty="0"/>
              <a:t>2</a:t>
            </a:r>
            <a:endParaRPr kumimoji="1" lang="ja-GB" altLang="en-US" sz="1000" dirty="0"/>
          </a:p>
        </p:txBody>
      </p:sp>
      <p:sp>
        <p:nvSpPr>
          <p:cNvPr id="22" name="正方形/長方形 21">
            <a:extLst>
              <a:ext uri="{FF2B5EF4-FFF2-40B4-BE49-F238E27FC236}">
                <a16:creationId xmlns:a16="http://schemas.microsoft.com/office/drawing/2014/main" id="{6E059D65-9178-71CC-CCAB-BC990D4226D0}"/>
              </a:ext>
            </a:extLst>
          </p:cNvPr>
          <p:cNvSpPr/>
          <p:nvPr/>
        </p:nvSpPr>
        <p:spPr>
          <a:xfrm>
            <a:off x="8489747" y="4914117"/>
            <a:ext cx="511728" cy="3103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000" dirty="0"/>
              <a:t>結果</a:t>
            </a:r>
            <a:r>
              <a:rPr kumimoji="1" lang="en-US" altLang="ja-GB" sz="1000" dirty="0"/>
              <a:t>1</a:t>
            </a:r>
            <a:endParaRPr kumimoji="1" lang="ja-GB" altLang="en-US" sz="1000" dirty="0"/>
          </a:p>
        </p:txBody>
      </p:sp>
      <p:cxnSp>
        <p:nvCxnSpPr>
          <p:cNvPr id="29" name="直線矢印コネクタ 28">
            <a:extLst>
              <a:ext uri="{FF2B5EF4-FFF2-40B4-BE49-F238E27FC236}">
                <a16:creationId xmlns:a16="http://schemas.microsoft.com/office/drawing/2014/main" id="{10715DE8-3739-65B5-0DB0-666CE2E71EB2}"/>
              </a:ext>
            </a:extLst>
          </p:cNvPr>
          <p:cNvCxnSpPr>
            <a:cxnSpLocks/>
            <a:stCxn id="7" idx="2"/>
            <a:endCxn id="21" idx="0"/>
          </p:cNvCxnSpPr>
          <p:nvPr/>
        </p:nvCxnSpPr>
        <p:spPr>
          <a:xfrm flipH="1">
            <a:off x="7653645" y="4077050"/>
            <a:ext cx="531806" cy="837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1F5266FE-D9E8-8F10-B746-64EAC483DD2B}"/>
              </a:ext>
            </a:extLst>
          </p:cNvPr>
          <p:cNvCxnSpPr>
            <a:cxnSpLocks/>
            <a:stCxn id="7" idx="2"/>
            <a:endCxn id="22" idx="0"/>
          </p:cNvCxnSpPr>
          <p:nvPr/>
        </p:nvCxnSpPr>
        <p:spPr>
          <a:xfrm>
            <a:off x="8185451" y="4077050"/>
            <a:ext cx="560160" cy="837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0C0C3815-C3D8-7C36-F3FF-7190D8F624B0}"/>
              </a:ext>
            </a:extLst>
          </p:cNvPr>
          <p:cNvSpPr txBox="1"/>
          <p:nvPr/>
        </p:nvSpPr>
        <p:spPr>
          <a:xfrm>
            <a:off x="5940060" y="2910504"/>
            <a:ext cx="867610" cy="523220"/>
          </a:xfrm>
          <a:prstGeom prst="rect">
            <a:avLst/>
          </a:prstGeom>
          <a:noFill/>
        </p:spPr>
        <p:txBody>
          <a:bodyPr wrap="none" rtlCol="0">
            <a:spAutoFit/>
          </a:bodyPr>
          <a:lstStyle/>
          <a:p>
            <a:pPr algn="ctr"/>
            <a:r>
              <a:rPr kumimoji="1" lang="en-US" altLang="ja-GB" sz="1400" dirty="0"/>
              <a:t>○</a:t>
            </a:r>
            <a:br>
              <a:rPr kumimoji="1" lang="en-US" altLang="ja-GB" sz="1400" dirty="0"/>
            </a:br>
            <a:r>
              <a:rPr kumimoji="1" lang="ja-GB" altLang="en-US" sz="1400" dirty="0"/>
              <a:t>（</a:t>
            </a:r>
            <a:r>
              <a:rPr kumimoji="1" lang="en-US" altLang="ja-GB" sz="1400" dirty="0"/>
              <a:t>True</a:t>
            </a:r>
            <a:r>
              <a:rPr kumimoji="1" lang="ja-GB" altLang="en-US" sz="1400" dirty="0"/>
              <a:t>）</a:t>
            </a:r>
          </a:p>
        </p:txBody>
      </p:sp>
      <p:sp>
        <p:nvSpPr>
          <p:cNvPr id="37" name="テキスト ボックス 36">
            <a:extLst>
              <a:ext uri="{FF2B5EF4-FFF2-40B4-BE49-F238E27FC236}">
                <a16:creationId xmlns:a16="http://schemas.microsoft.com/office/drawing/2014/main" id="{2AE1682D-C07E-72C7-4B08-CB28B0086A3E}"/>
              </a:ext>
            </a:extLst>
          </p:cNvPr>
          <p:cNvSpPr txBox="1"/>
          <p:nvPr/>
        </p:nvSpPr>
        <p:spPr>
          <a:xfrm>
            <a:off x="7727421" y="2910504"/>
            <a:ext cx="909223" cy="523220"/>
          </a:xfrm>
          <a:prstGeom prst="rect">
            <a:avLst/>
          </a:prstGeom>
          <a:noFill/>
        </p:spPr>
        <p:txBody>
          <a:bodyPr wrap="none" rtlCol="0">
            <a:spAutoFit/>
          </a:bodyPr>
          <a:lstStyle/>
          <a:p>
            <a:pPr algn="ctr"/>
            <a:r>
              <a:rPr kumimoji="1" lang="en-US" altLang="ja-GB" sz="1400" dirty="0"/>
              <a:t>×</a:t>
            </a:r>
            <a:br>
              <a:rPr kumimoji="1" lang="en-US" altLang="ja-GB" sz="1400" dirty="0"/>
            </a:br>
            <a:r>
              <a:rPr kumimoji="1" lang="ja-GB" altLang="en-US" sz="1400" dirty="0"/>
              <a:t>（</a:t>
            </a:r>
            <a:r>
              <a:rPr kumimoji="1" lang="en-US" altLang="ja-GB" sz="1400" dirty="0"/>
              <a:t>False</a:t>
            </a:r>
            <a:r>
              <a:rPr kumimoji="1" lang="ja-GB" altLang="en-US" sz="1400" dirty="0"/>
              <a:t>）</a:t>
            </a:r>
          </a:p>
        </p:txBody>
      </p:sp>
      <p:sp>
        <p:nvSpPr>
          <p:cNvPr id="38" name="テキスト ボックス 37">
            <a:extLst>
              <a:ext uri="{FF2B5EF4-FFF2-40B4-BE49-F238E27FC236}">
                <a16:creationId xmlns:a16="http://schemas.microsoft.com/office/drawing/2014/main" id="{EA6B8270-F764-DFB3-45D3-692278CFD26F}"/>
              </a:ext>
            </a:extLst>
          </p:cNvPr>
          <p:cNvSpPr txBox="1"/>
          <p:nvPr/>
        </p:nvSpPr>
        <p:spPr>
          <a:xfrm>
            <a:off x="5295876" y="4077050"/>
            <a:ext cx="867610" cy="523220"/>
          </a:xfrm>
          <a:prstGeom prst="rect">
            <a:avLst/>
          </a:prstGeom>
          <a:noFill/>
        </p:spPr>
        <p:txBody>
          <a:bodyPr wrap="none" rtlCol="0">
            <a:spAutoFit/>
          </a:bodyPr>
          <a:lstStyle/>
          <a:p>
            <a:pPr algn="ctr"/>
            <a:r>
              <a:rPr kumimoji="1" lang="en-US" altLang="ja-GB" sz="1400" dirty="0"/>
              <a:t>○</a:t>
            </a:r>
            <a:br>
              <a:rPr kumimoji="1" lang="en-US" altLang="ja-GB" sz="1400" dirty="0"/>
            </a:br>
            <a:r>
              <a:rPr kumimoji="1" lang="ja-GB" altLang="en-US" sz="1400" dirty="0"/>
              <a:t>（</a:t>
            </a:r>
            <a:r>
              <a:rPr kumimoji="1" lang="en-US" altLang="ja-GB" sz="1400" dirty="0"/>
              <a:t>True</a:t>
            </a:r>
            <a:r>
              <a:rPr kumimoji="1" lang="ja-GB" altLang="en-US" sz="1400" dirty="0"/>
              <a:t>）</a:t>
            </a:r>
          </a:p>
        </p:txBody>
      </p:sp>
      <p:sp>
        <p:nvSpPr>
          <p:cNvPr id="39" name="テキスト ボックス 38">
            <a:extLst>
              <a:ext uri="{FF2B5EF4-FFF2-40B4-BE49-F238E27FC236}">
                <a16:creationId xmlns:a16="http://schemas.microsoft.com/office/drawing/2014/main" id="{7B9639A9-C56F-C60C-A1C1-94A165FCBF6F}"/>
              </a:ext>
            </a:extLst>
          </p:cNvPr>
          <p:cNvSpPr txBox="1"/>
          <p:nvPr/>
        </p:nvSpPr>
        <p:spPr>
          <a:xfrm>
            <a:off x="6348698" y="4077050"/>
            <a:ext cx="909223" cy="523220"/>
          </a:xfrm>
          <a:prstGeom prst="rect">
            <a:avLst/>
          </a:prstGeom>
          <a:noFill/>
        </p:spPr>
        <p:txBody>
          <a:bodyPr wrap="none" rtlCol="0">
            <a:spAutoFit/>
          </a:bodyPr>
          <a:lstStyle/>
          <a:p>
            <a:pPr algn="ctr"/>
            <a:r>
              <a:rPr kumimoji="1" lang="en-US" altLang="ja-GB" sz="1400" dirty="0"/>
              <a:t>×</a:t>
            </a:r>
            <a:br>
              <a:rPr kumimoji="1" lang="en-US" altLang="ja-GB" sz="1400" dirty="0"/>
            </a:br>
            <a:r>
              <a:rPr kumimoji="1" lang="ja-GB" altLang="en-US" sz="1400" dirty="0"/>
              <a:t>（</a:t>
            </a:r>
            <a:r>
              <a:rPr kumimoji="1" lang="en-US" altLang="ja-GB" sz="1400" dirty="0"/>
              <a:t>False</a:t>
            </a:r>
            <a:r>
              <a:rPr kumimoji="1" lang="ja-GB" altLang="en-US" sz="1400" dirty="0"/>
              <a:t>）</a:t>
            </a:r>
          </a:p>
        </p:txBody>
      </p:sp>
      <p:sp>
        <p:nvSpPr>
          <p:cNvPr id="40" name="テキスト ボックス 39">
            <a:extLst>
              <a:ext uri="{FF2B5EF4-FFF2-40B4-BE49-F238E27FC236}">
                <a16:creationId xmlns:a16="http://schemas.microsoft.com/office/drawing/2014/main" id="{F5B7AE12-342F-6CC6-09AD-9E88074A8531}"/>
              </a:ext>
            </a:extLst>
          </p:cNvPr>
          <p:cNvSpPr txBox="1"/>
          <p:nvPr/>
        </p:nvSpPr>
        <p:spPr>
          <a:xfrm>
            <a:off x="7222591" y="4080504"/>
            <a:ext cx="867610" cy="523220"/>
          </a:xfrm>
          <a:prstGeom prst="rect">
            <a:avLst/>
          </a:prstGeom>
          <a:noFill/>
        </p:spPr>
        <p:txBody>
          <a:bodyPr wrap="none" rtlCol="0">
            <a:spAutoFit/>
          </a:bodyPr>
          <a:lstStyle/>
          <a:p>
            <a:pPr algn="ctr"/>
            <a:r>
              <a:rPr kumimoji="1" lang="en-US" altLang="ja-GB" sz="1400" dirty="0"/>
              <a:t>○</a:t>
            </a:r>
            <a:br>
              <a:rPr kumimoji="1" lang="en-US" altLang="ja-GB" sz="1400" dirty="0"/>
            </a:br>
            <a:r>
              <a:rPr kumimoji="1" lang="ja-GB" altLang="en-US" sz="1400" dirty="0"/>
              <a:t>（</a:t>
            </a:r>
            <a:r>
              <a:rPr kumimoji="1" lang="en-US" altLang="ja-GB" sz="1400" dirty="0"/>
              <a:t>True</a:t>
            </a:r>
            <a:r>
              <a:rPr kumimoji="1" lang="ja-GB" altLang="en-US" sz="1400" dirty="0"/>
              <a:t>）</a:t>
            </a:r>
          </a:p>
        </p:txBody>
      </p:sp>
      <p:sp>
        <p:nvSpPr>
          <p:cNvPr id="41" name="テキスト ボックス 40">
            <a:extLst>
              <a:ext uri="{FF2B5EF4-FFF2-40B4-BE49-F238E27FC236}">
                <a16:creationId xmlns:a16="http://schemas.microsoft.com/office/drawing/2014/main" id="{A5AD4AD9-7663-1904-B9D0-4534C1C6AECA}"/>
              </a:ext>
            </a:extLst>
          </p:cNvPr>
          <p:cNvSpPr txBox="1"/>
          <p:nvPr/>
        </p:nvSpPr>
        <p:spPr>
          <a:xfrm>
            <a:off x="8275413" y="4080504"/>
            <a:ext cx="909223" cy="523220"/>
          </a:xfrm>
          <a:prstGeom prst="rect">
            <a:avLst/>
          </a:prstGeom>
          <a:noFill/>
        </p:spPr>
        <p:txBody>
          <a:bodyPr wrap="none" rtlCol="0">
            <a:spAutoFit/>
          </a:bodyPr>
          <a:lstStyle/>
          <a:p>
            <a:pPr algn="ctr"/>
            <a:r>
              <a:rPr kumimoji="1" lang="en-US" altLang="ja-GB" sz="1400" dirty="0"/>
              <a:t>×</a:t>
            </a:r>
            <a:br>
              <a:rPr kumimoji="1" lang="en-US" altLang="ja-GB" sz="1400" dirty="0"/>
            </a:br>
            <a:r>
              <a:rPr kumimoji="1" lang="ja-GB" altLang="en-US" sz="1400" dirty="0"/>
              <a:t>（</a:t>
            </a:r>
            <a:r>
              <a:rPr kumimoji="1" lang="en-US" altLang="ja-GB" sz="1400" dirty="0"/>
              <a:t>False</a:t>
            </a:r>
            <a:r>
              <a:rPr kumimoji="1" lang="ja-GB" altLang="en-US" sz="1400" dirty="0"/>
              <a:t>）</a:t>
            </a:r>
          </a:p>
        </p:txBody>
      </p:sp>
      <p:sp>
        <p:nvSpPr>
          <p:cNvPr id="3" name="テキスト ボックス 2">
            <a:extLst>
              <a:ext uri="{FF2B5EF4-FFF2-40B4-BE49-F238E27FC236}">
                <a16:creationId xmlns:a16="http://schemas.microsoft.com/office/drawing/2014/main" id="{31305825-4DEB-758A-199E-A1CEA63A0F53}"/>
              </a:ext>
            </a:extLst>
          </p:cNvPr>
          <p:cNvSpPr txBox="1"/>
          <p:nvPr/>
        </p:nvSpPr>
        <p:spPr>
          <a:xfrm>
            <a:off x="6318076" y="5534904"/>
            <a:ext cx="1800494" cy="646331"/>
          </a:xfrm>
          <a:prstGeom prst="rect">
            <a:avLst/>
          </a:prstGeom>
          <a:noFill/>
        </p:spPr>
        <p:txBody>
          <a:bodyPr wrap="none" rtlCol="0">
            <a:spAutoFit/>
          </a:bodyPr>
          <a:lstStyle/>
          <a:p>
            <a:pPr algn="ctr"/>
            <a:r>
              <a:rPr kumimoji="1" lang="ja-GB" altLang="en-US" dirty="0"/>
              <a:t>フローチャート</a:t>
            </a:r>
            <a:endParaRPr kumimoji="1" lang="en-US" altLang="ja-GB" dirty="0"/>
          </a:p>
          <a:p>
            <a:pPr algn="ctr"/>
            <a:r>
              <a:rPr kumimoji="1" lang="ja-GB" altLang="en-US" dirty="0"/>
              <a:t>（木構造）</a:t>
            </a:r>
          </a:p>
        </p:txBody>
      </p:sp>
    </p:spTree>
    <p:extLst>
      <p:ext uri="{BB962C8B-B14F-4D97-AF65-F5344CB8AC3E}">
        <p14:creationId xmlns:p14="http://schemas.microsoft.com/office/powerpoint/2010/main" val="1718666778"/>
      </p:ext>
    </p:extLst>
  </p:cSld>
  <p:clrMapOvr>
    <a:masterClrMapping/>
  </p:clrMapOvr>
</p:sld>
</file>

<file path=ppt/theme/theme1.xml><?xml version="1.0" encoding="utf-8"?>
<a:theme xmlns:a="http://schemas.openxmlformats.org/drawingml/2006/main" name="Office テーマ">
  <a:themeElements>
    <a:clrScheme name="ユーザー定義 2">
      <a:dk1>
        <a:srgbClr val="000000"/>
      </a:dk1>
      <a:lt1>
        <a:srgbClr val="FFFFFF"/>
      </a:lt1>
      <a:dk2>
        <a:srgbClr val="44546A"/>
      </a:dk2>
      <a:lt2>
        <a:srgbClr val="E7E6E6"/>
      </a:lt2>
      <a:accent1>
        <a:srgbClr val="05518B"/>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テーマ">
  <a:themeElements>
    <a:clrScheme name="ユーザー定義 2">
      <a:dk1>
        <a:srgbClr val="000000"/>
      </a:dk1>
      <a:lt1>
        <a:srgbClr val="FFFFFF"/>
      </a:lt1>
      <a:dk2>
        <a:srgbClr val="44546A"/>
      </a:dk2>
      <a:lt2>
        <a:srgbClr val="E7E6E6"/>
      </a:lt2>
      <a:accent1>
        <a:srgbClr val="05518B"/>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9361</TotalTime>
  <Words>16667</Words>
  <Application>Microsoft Macintosh PowerPoint</Application>
  <PresentationFormat>画面に合わせる (4:3)</PresentationFormat>
  <Paragraphs>4609</Paragraphs>
  <Slides>274</Slides>
  <Notes>13</Notes>
  <HiddenSlides>0</HiddenSlides>
  <MMClips>0</MMClips>
  <ScaleCrop>false</ScaleCrop>
  <HeadingPairs>
    <vt:vector size="6" baseType="variant">
      <vt:variant>
        <vt:lpstr>使用されているフォント</vt:lpstr>
      </vt:variant>
      <vt:variant>
        <vt:i4>6</vt:i4>
      </vt:variant>
      <vt:variant>
        <vt:lpstr>テーマ</vt:lpstr>
      </vt:variant>
      <vt:variant>
        <vt:i4>2</vt:i4>
      </vt:variant>
      <vt:variant>
        <vt:lpstr>スライド タイトル</vt:lpstr>
      </vt:variant>
      <vt:variant>
        <vt:i4>274</vt:i4>
      </vt:variant>
    </vt:vector>
  </HeadingPairs>
  <TitlesOfParts>
    <vt:vector size="282" baseType="lpstr">
      <vt:lpstr>ui-monospace</vt:lpstr>
      <vt:lpstr>游ゴシック</vt:lpstr>
      <vt:lpstr>Yu Gothic UI</vt:lpstr>
      <vt:lpstr>Arial</vt:lpstr>
      <vt:lpstr>Calibri</vt:lpstr>
      <vt:lpstr>Cambria Math</vt:lpstr>
      <vt:lpstr>Office テーマ</vt:lpstr>
      <vt:lpstr>1_Office テーマ</vt:lpstr>
      <vt:lpstr>2025年度 コンピュータシステム 全説明スライド 画像圧縮 後半 </vt:lpstr>
      <vt:lpstr>2025年度 コンピュータシステム 第7回：データ構造 </vt:lpstr>
      <vt:lpstr>第7回：データ構造</vt:lpstr>
      <vt:lpstr>第7回：データ構造</vt:lpstr>
      <vt:lpstr>配列</vt:lpstr>
      <vt:lpstr>2次元配列（行列）</vt:lpstr>
      <vt:lpstr>多次元配列</vt:lpstr>
      <vt:lpstr>集合</vt:lpstr>
      <vt:lpstr>動作するプログラムの例（Python）</vt:lpstr>
      <vt:lpstr>集合が使えないと複雑な記述になる（Python）</vt:lpstr>
      <vt:lpstr>クラス</vt:lpstr>
      <vt:lpstr>第7回：データ構造</vt:lpstr>
      <vt:lpstr>キュー（待ち行列）</vt:lpstr>
      <vt:lpstr>スタック（積み上げ）</vt:lpstr>
      <vt:lpstr>連結リスト（リンクリスト）</vt:lpstr>
      <vt:lpstr>辞書</vt:lpstr>
      <vt:lpstr>各データ構造の直感的な整理</vt:lpstr>
      <vt:lpstr>第7回：データ構造</vt:lpstr>
      <vt:lpstr>ツリー（木構造）</vt:lpstr>
      <vt:lpstr>グラフ</vt:lpstr>
      <vt:lpstr>リレーショナルデータベース</vt:lpstr>
      <vt:lpstr>（リレーショナルにする利点の説明）</vt:lpstr>
      <vt:lpstr>第7回：データ構造</vt:lpstr>
      <vt:lpstr>2025年度 コンピュータシステム 第8回：アルゴリズム </vt:lpstr>
      <vt:lpstr>第8回：アルゴリズム</vt:lpstr>
      <vt:lpstr>第8回：アルゴリズム</vt:lpstr>
      <vt:lpstr>アルゴリズムを学ぶ理由</vt:lpstr>
      <vt:lpstr>比喩）数学を学ぶ理由</vt:lpstr>
      <vt:lpstr>アルゴリズムを学ぶ理由</vt:lpstr>
      <vt:lpstr>アルゴリズムを学ぶ理由</vt:lpstr>
      <vt:lpstr>アルゴリズムを使う上で重要なこと</vt:lpstr>
      <vt:lpstr>計算複雑性と概念的複雑性のトレードオフ</vt:lpstr>
      <vt:lpstr>アルゴリズムの速さをどう見積もるか？</vt:lpstr>
      <vt:lpstr>工夫1：時間計測方法の抽象化</vt:lpstr>
      <vt:lpstr>工夫2：想定パターンを減らす</vt:lpstr>
      <vt:lpstr>工夫3：計算時間の式を簡単にする</vt:lpstr>
      <vt:lpstr>漸近記法</vt:lpstr>
      <vt:lpstr>計算複雑性に基づくアルゴリズムの分類</vt:lpstr>
      <vt:lpstr>計算複雑性を考えることの重要性</vt:lpstr>
      <vt:lpstr>第8回：アルゴリズム</vt:lpstr>
      <vt:lpstr>具体例：ソート（並び替え）アルゴリズム</vt:lpstr>
      <vt:lpstr>具体例：ソート（並び替え）アルゴリズム</vt:lpstr>
      <vt:lpstr>挿入ソート</vt:lpstr>
      <vt:lpstr>挿入ソート（小さい具体例）</vt:lpstr>
      <vt:lpstr>選択ソート</vt:lpstr>
      <vt:lpstr>選択ソート（小さい具体例）</vt:lpstr>
      <vt:lpstr>具体例：ソート（並び替え）アルゴリズム</vt:lpstr>
      <vt:lpstr>クイックソート（直訳：速いソート）</vt:lpstr>
      <vt:lpstr>クイックソートの小さい具体例</vt:lpstr>
      <vt:lpstr>第8回：アルゴリズム</vt:lpstr>
      <vt:lpstr>空間計算量</vt:lpstr>
      <vt:lpstr>バケットソート</vt:lpstr>
      <vt:lpstr>問題条件の違い1：ソートの安定性</vt:lpstr>
      <vt:lpstr>マージソート（直訳：統合ソート）</vt:lpstr>
      <vt:lpstr>マージソート（直訳：統合ソート）</vt:lpstr>
      <vt:lpstr>マージソート（直訳：統合ソート）</vt:lpstr>
      <vt:lpstr>マージソート（直訳：統合ソート）</vt:lpstr>
      <vt:lpstr>マージソート（直訳：統合ソート）</vt:lpstr>
      <vt:lpstr>第8回：アルゴリズム</vt:lpstr>
      <vt:lpstr>2025年度 コンピュータシステム 第9回：演習（データ構造とアルゴリズム） </vt:lpstr>
      <vt:lpstr>第9回：演習 データ構造とアルゴリズム</vt:lpstr>
      <vt:lpstr>演習背景：アルゴリズムを学ぶ理由</vt:lpstr>
      <vt:lpstr>第9回：演習 データ構造とアルゴリズム</vt:lpstr>
      <vt:lpstr>ハノイの塔：関数の中で関数を使う複雑なパズル</vt:lpstr>
      <vt:lpstr>線形探索：配列から要素を探す基本的な方法</vt:lpstr>
      <vt:lpstr>二分探索：ソートされた配列を高速に探索する方法</vt:lpstr>
      <vt:lpstr>アルゴリズムの解説</vt:lpstr>
      <vt:lpstr>演習と期末試験の位置付け</vt:lpstr>
      <vt:lpstr>書籍例（講師が参考にした書籍）</vt:lpstr>
      <vt:lpstr>V. 計算機のハードウェア構成を知る</vt:lpstr>
      <vt:lpstr>授業内容</vt:lpstr>
      <vt:lpstr>授業の流れ</vt:lpstr>
      <vt:lpstr>2025年度 コンピュータシステム 第10回：計算機の中の情報表現 </vt:lpstr>
      <vt:lpstr>第10回：計算機の中の情報表現</vt:lpstr>
      <vt:lpstr>第10回：計算機の中の情報表現</vt:lpstr>
      <vt:lpstr>計算機内の情報表現</vt:lpstr>
      <vt:lpstr>数値化された情報はどのように計算機に入っているか？</vt:lpstr>
      <vt:lpstr>数値化された情報はどのように計算機に入っているか？</vt:lpstr>
      <vt:lpstr>数値化された情報はどのように計算機に入っているか？</vt:lpstr>
      <vt:lpstr>アナログとデジタル</vt:lpstr>
      <vt:lpstr>デジタル符号化の例：音声</vt:lpstr>
      <vt:lpstr>数値化された情報はどのように計算機に入っているか？</vt:lpstr>
      <vt:lpstr>2進数</vt:lpstr>
      <vt:lpstr>デジタル電子計算機と2進数表現</vt:lpstr>
      <vt:lpstr>数値化された情報はどのように計算機に入っているか？</vt:lpstr>
      <vt:lpstr>10進数と2進数の比較</vt:lpstr>
      <vt:lpstr>2進数→10進数の変換</vt:lpstr>
      <vt:lpstr>10進数→2進数の変換</vt:lpstr>
      <vt:lpstr>16進数</vt:lpstr>
      <vt:lpstr>16進数⇄2進数変換を説明するwebアプリ</vt:lpstr>
      <vt:lpstr>16進数→10進数の変換</vt:lpstr>
      <vt:lpstr>10進数→16進数変換を説明するwebアプリ</vt:lpstr>
      <vt:lpstr>第10回：計算機の中の情報表現</vt:lpstr>
      <vt:lpstr>2進数の使用例：2進接頭辞</vt:lpstr>
      <vt:lpstr>2進数の使用例：iPhone 16 Plusの性能</vt:lpstr>
      <vt:lpstr>16進数の使用例：カラーコード</vt:lpstr>
      <vt:lpstr>第10回：計算機の中の情報表現</vt:lpstr>
      <vt:lpstr>アルゴリズムを解読するときのコツ（一例）</vt:lpstr>
      <vt:lpstr>線形探索：配列から要素を探す基本的な方法</vt:lpstr>
      <vt:lpstr>Webアプリでの動作説明</vt:lpstr>
      <vt:lpstr>二分探索：ソートされた配列を高速に探索する方法</vt:lpstr>
      <vt:lpstr>Webアプリでの動作説明</vt:lpstr>
      <vt:lpstr>ハノイの塔：関数の中で関数を使う複雑なパズル</vt:lpstr>
      <vt:lpstr>ハノイの塔：関数の中で関数を使う複雑なパズル</vt:lpstr>
      <vt:lpstr>Webアプリでの動作説明</vt:lpstr>
      <vt:lpstr>2025年度 コンピュータシステム 第11回：演算とハードウェア構成 </vt:lpstr>
      <vt:lpstr>本日の内容</vt:lpstr>
      <vt:lpstr>コンピュータの意味</vt:lpstr>
      <vt:lpstr>計算機の中身：自動で計算する装置</vt:lpstr>
      <vt:lpstr>補足説明</vt:lpstr>
      <vt:lpstr>五大装置によるプログラム実行の流れ</vt:lpstr>
      <vt:lpstr>プログラム実行の流れ</vt:lpstr>
      <vt:lpstr>プログラム実行の流れ（例 A+B）</vt:lpstr>
      <vt:lpstr>プログラム実行の流れ（例 A+B）</vt:lpstr>
      <vt:lpstr>プログラム実行の流れ（例 A+B）</vt:lpstr>
      <vt:lpstr>プログラム実行の流れ（例 A+B）</vt:lpstr>
      <vt:lpstr>プログラム実行の流れ（例 A+B）</vt:lpstr>
      <vt:lpstr>プログラム実行の流れ（例 A+B）</vt:lpstr>
      <vt:lpstr>プログラム実行の流れ（例 A+B）</vt:lpstr>
      <vt:lpstr>実際のハードウェア構成</vt:lpstr>
      <vt:lpstr>実際のハードウェア構成</vt:lpstr>
      <vt:lpstr>中央処理装置（CPU，Central Processing Unit）</vt:lpstr>
      <vt:lpstr>専用プロセッサ</vt:lpstr>
      <vt:lpstr>実際のハードウェア構成</vt:lpstr>
      <vt:lpstr>主記憶装置（メモリ，メインメモリ）</vt:lpstr>
      <vt:lpstr>補助記憶装置（ストレージ）</vt:lpstr>
      <vt:lpstr>本日の内容</vt:lpstr>
      <vt:lpstr>計算機内部の情報表現</vt:lpstr>
      <vt:lpstr>デジタル電子計算機と2進数表現</vt:lpstr>
      <vt:lpstr>機械語：0と1で書かれたプログラム</vt:lpstr>
      <vt:lpstr>2進数の演算</vt:lpstr>
      <vt:lpstr>論理演算（集合演算）</vt:lpstr>
      <vt:lpstr>その他の論理演算</vt:lpstr>
      <vt:lpstr>ビット反転・シフト演算</vt:lpstr>
      <vt:lpstr>2進数の演算</vt:lpstr>
      <vt:lpstr>四則演算</vt:lpstr>
      <vt:lpstr>四則演算</vt:lpstr>
      <vt:lpstr>補数：減算を加算回路で行うための工夫</vt:lpstr>
      <vt:lpstr>減算の効率的な実装：加算とビット反転を流用</vt:lpstr>
      <vt:lpstr>四則演算</vt:lpstr>
      <vt:lpstr>乗算：加算とシフト</vt:lpstr>
      <vt:lpstr>剰算：減算とシフト</vt:lpstr>
      <vt:lpstr>小数の表現：浮動小数点</vt:lpstr>
      <vt:lpstr>本日の内容</vt:lpstr>
      <vt:lpstr>データベースの絞り込み</vt:lpstr>
      <vt:lpstr>Google検索演算子</vt:lpstr>
      <vt:lpstr>サブネットマスク</vt:lpstr>
      <vt:lpstr>2進化10進数</vt:lpstr>
      <vt:lpstr>VI. 計算機特有の数値表現に慣れる</vt:lpstr>
      <vt:lpstr>授業内容</vt:lpstr>
      <vt:lpstr>授業の流れ</vt:lpstr>
      <vt:lpstr>2025年度 コンピュータシステム 第12回：演習（基数と論理演算） </vt:lpstr>
      <vt:lpstr>第12回：演習（基数と論理演算）</vt:lpstr>
      <vt:lpstr>計算機でカラー画像を表示する仕組み</vt:lpstr>
      <vt:lpstr>RGB値の表記とその意味</vt:lpstr>
      <vt:lpstr>HEXカラーコードの表記とその意味</vt:lpstr>
      <vt:lpstr>16進数の使用例：カラーコード</vt:lpstr>
      <vt:lpstr>第12回：演習（基数と論理演算）</vt:lpstr>
      <vt:lpstr>論理演算（集合演算）</vt:lpstr>
      <vt:lpstr>その他の論理演算</vt:lpstr>
      <vt:lpstr>真理値表</vt:lpstr>
      <vt:lpstr>Webアプリ</vt:lpstr>
      <vt:lpstr>Google検索演算子</vt:lpstr>
      <vt:lpstr>第12回：演習（基数と論理演算）</vt:lpstr>
      <vt:lpstr>サブネットマスク</vt:lpstr>
      <vt:lpstr>IPアドレス※</vt:lpstr>
      <vt:lpstr>Webアプリ</vt:lpstr>
      <vt:lpstr>2025年度 コンピュータシステム 第12回：演習 基数と論理演算の解説 </vt:lpstr>
      <vt:lpstr>演習</vt:lpstr>
      <vt:lpstr>四則演算</vt:lpstr>
      <vt:lpstr>補数：減算を加算回路で行うための工夫</vt:lpstr>
      <vt:lpstr>減算の効率的な実装：加算とビット反転を流用</vt:lpstr>
      <vt:lpstr>演習</vt:lpstr>
      <vt:lpstr>RGB値の表記とその意味</vt:lpstr>
      <vt:lpstr>HEXカラーコードの表記とその意味</vt:lpstr>
      <vt:lpstr>RBG表現→HEXコード，HEXコード→RGB表現</vt:lpstr>
      <vt:lpstr>16進数→10進数の変換</vt:lpstr>
      <vt:lpstr>10進数→16進数変換を説明するwebアプリ</vt:lpstr>
      <vt:lpstr>検算用アプリ</vt:lpstr>
      <vt:lpstr>演習</vt:lpstr>
      <vt:lpstr>ヒント</vt:lpstr>
      <vt:lpstr>ヒント</vt:lpstr>
      <vt:lpstr>ヒント</vt:lpstr>
      <vt:lpstr>演習</vt:lpstr>
      <vt:lpstr>Webアプリ</vt:lpstr>
      <vt:lpstr>ヒント</vt:lpstr>
      <vt:lpstr>ヒント</vt:lpstr>
      <vt:lpstr>ヒント</vt:lpstr>
      <vt:lpstr>VII. 計算論的思考</vt:lpstr>
      <vt:lpstr>この授業について</vt:lpstr>
      <vt:lpstr>授業内容</vt:lpstr>
      <vt:lpstr>書籍案内</vt:lpstr>
      <vt:lpstr>2025年度 コンピュータシステム 第13回：問題解決のためのモデル（PERT図） </vt:lpstr>
      <vt:lpstr>本日の内容</vt:lpstr>
      <vt:lpstr>計算論的思考（Computational Thinking）</vt:lpstr>
      <vt:lpstr>計算論的思考とは，何であり，何でないか</vt:lpstr>
      <vt:lpstr>計算論的思考の具体例</vt:lpstr>
      <vt:lpstr>関連：情報社会の問題解決</vt:lpstr>
      <vt:lpstr>本日の内容</vt:lpstr>
      <vt:lpstr>オペレーションズ・リサーチ（OR）</vt:lpstr>
      <vt:lpstr>日程管理計画問題</vt:lpstr>
      <vt:lpstr>本日の内容</vt:lpstr>
      <vt:lpstr>アローダイアグラム（矢線図）</vt:lpstr>
      <vt:lpstr>最早結合点時刻（ET：earliest node time）</vt:lpstr>
      <vt:lpstr>数学モデルとしての表現</vt:lpstr>
      <vt:lpstr>書籍案内</vt:lpstr>
      <vt:lpstr>2025年度 コンピュータシステム 第14回：問題解決のためのモデル（決定表） </vt:lpstr>
      <vt:lpstr>書籍案内</vt:lpstr>
      <vt:lpstr>本日の内容</vt:lpstr>
      <vt:lpstr>日程管理計画問題</vt:lpstr>
      <vt:lpstr>アローダイアグラム（矢線図）</vt:lpstr>
      <vt:lpstr>最早結合点時刻（ET：earliest node time）</vt:lpstr>
      <vt:lpstr>最早結合点時刻（ET：earliest node time）</vt:lpstr>
      <vt:lpstr>最早結合点時刻（ET：earliest node time）</vt:lpstr>
      <vt:lpstr>最早結合点時刻（ET：earliest node time）</vt:lpstr>
      <vt:lpstr>最早結合点時刻（ET：earliest node time）</vt:lpstr>
      <vt:lpstr>最遅結合点時刻（LT：latest node time）</vt:lpstr>
      <vt:lpstr>最遅結合点時刻（LT：latest node time）</vt:lpstr>
      <vt:lpstr>最遅結合点時刻（LT：latest node time）</vt:lpstr>
      <vt:lpstr>最遅結合点時刻（LT：latest node time）</vt:lpstr>
      <vt:lpstr>最遅結合点時刻（LT：latest node time）</vt:lpstr>
      <vt:lpstr>本日の内容</vt:lpstr>
      <vt:lpstr>作業の日程計画</vt:lpstr>
      <vt:lpstr>作業日程の時刻</vt:lpstr>
      <vt:lpstr>作業日程の余裕</vt:lpstr>
      <vt:lpstr>全余裕時間（TF：Total Float）</vt:lpstr>
      <vt:lpstr>クリティカルパス（CP）</vt:lpstr>
      <vt:lpstr>全余裕時間（TF：Total Float）の別の計算方法</vt:lpstr>
      <vt:lpstr>自由余裕時間（FF：Free Float）</vt:lpstr>
      <vt:lpstr>本授業で用いる日程計画表の形式</vt:lpstr>
      <vt:lpstr>本日の内容</vt:lpstr>
      <vt:lpstr>決定表（Decision Table）</vt:lpstr>
      <vt:lpstr>決定表（Decision Table）</vt:lpstr>
      <vt:lpstr>決定表（Decision Table）の基本的な記法</vt:lpstr>
      <vt:lpstr>条件分岐の記述</vt:lpstr>
      <vt:lpstr>ツリー（木構造）</vt:lpstr>
      <vt:lpstr>2025年度 コンピュータシステム 第15回： 演習（PERT，決定表） </vt:lpstr>
      <vt:lpstr>第15回：授業内容</vt:lpstr>
      <vt:lpstr>PERTの自動計算</vt:lpstr>
      <vt:lpstr>所要時間表</vt:lpstr>
      <vt:lpstr>所要時間表の作成</vt:lpstr>
      <vt:lpstr>線形探索：配列から要素を探す基本的な方法</vt:lpstr>
      <vt:lpstr>Webアプリでの動作説明</vt:lpstr>
      <vt:lpstr>二分探索：ソートされた配列を高速に探索する方法</vt:lpstr>
      <vt:lpstr>Webアプリでの動作説明</vt:lpstr>
      <vt:lpstr>所要時間表の作成</vt:lpstr>
      <vt:lpstr>所要時間表の作成</vt:lpstr>
      <vt:lpstr>所要時間表の作成</vt:lpstr>
      <vt:lpstr>所要時間表の作成</vt:lpstr>
      <vt:lpstr>所要時間表の作成</vt:lpstr>
      <vt:lpstr>所要時間表の作成</vt:lpstr>
      <vt:lpstr>所要時間表の作成</vt:lpstr>
      <vt:lpstr>所要時間表の作成</vt:lpstr>
      <vt:lpstr>所要時間表を用いたETの計算</vt:lpstr>
      <vt:lpstr>所要時間表を用いたETの計算</vt:lpstr>
      <vt:lpstr>所要時間表を用いたETの計算</vt:lpstr>
      <vt:lpstr>所要時間表を用いたETの計算</vt:lpstr>
      <vt:lpstr>所要時間表を用いたETの計算</vt:lpstr>
      <vt:lpstr>所要時間表を用いたETの計算</vt:lpstr>
      <vt:lpstr>所要時間表を用いたLTの計算</vt:lpstr>
      <vt:lpstr>所要時間表を用いたLTの計算</vt:lpstr>
      <vt:lpstr>所要時間表を用いたLTの計算</vt:lpstr>
      <vt:lpstr>所要時間表を用いたLTの計算</vt:lpstr>
      <vt:lpstr>所要時間表を用いたLTの計算</vt:lpstr>
      <vt:lpstr>所要時間表を用いたLTの計算</vt:lpstr>
      <vt:lpstr>所要時間表を用いたLTの計算</vt:lpstr>
      <vt:lpstr>前回の計算結果との整合を確認</vt:lpstr>
      <vt:lpstr>ES，EF，LF，LS，TF，FF，CPの記述方法</vt:lpstr>
      <vt:lpstr>第15回：授業内容</vt:lpstr>
      <vt:lpstr>決定表（Decision Table）</vt:lpstr>
      <vt:lpstr>決定表（Decision Table）の基本的な記法</vt:lpstr>
      <vt:lpstr>条件分岐を用いた記述</vt:lpstr>
      <vt:lpstr>決定木</vt:lpstr>
      <vt:lpstr>決定木（別の書き方）</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TOMIOKA Rio</dc:creator>
  <cp:lastModifiedBy>TOMIOKA Rio</cp:lastModifiedBy>
  <cp:revision>63</cp:revision>
  <cp:lastPrinted>2025-04-04T23:32:17Z</cp:lastPrinted>
  <dcterms:created xsi:type="dcterms:W3CDTF">2021-06-08T09:51:30Z</dcterms:created>
  <dcterms:modified xsi:type="dcterms:W3CDTF">2025-09-26T09:42:50Z</dcterms:modified>
</cp:coreProperties>
</file>